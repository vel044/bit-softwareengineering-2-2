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02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4250" y="473963"/>
            <a:ext cx="46355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549E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07188" y="503427"/>
            <a:ext cx="3329622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140" y="1283716"/>
            <a:ext cx="8681719" cy="1384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3268" y="503427"/>
            <a:ext cx="25577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</a:t>
            </a:r>
            <a:r>
              <a:rPr spc="-90" dirty="0"/>
              <a:t> </a:t>
            </a:r>
            <a:r>
              <a:rPr dirty="0">
                <a:latin typeface="宋体"/>
                <a:cs typeface="宋体"/>
              </a:rPr>
              <a:t>软件工程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99184"/>
            <a:ext cx="7943850" cy="490982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软件工程是一门</a:t>
            </a:r>
            <a:r>
              <a:rPr sz="2400" dirty="0">
                <a:solidFill>
                  <a:srgbClr val="00663C"/>
                </a:solidFill>
                <a:latin typeface="宋体"/>
                <a:cs typeface="宋体"/>
              </a:rPr>
              <a:t>工程学科</a:t>
            </a:r>
            <a:endParaRPr sz="2400" dirty="0">
              <a:latin typeface="宋体"/>
              <a:cs typeface="宋体"/>
            </a:endParaRPr>
          </a:p>
          <a:p>
            <a:pPr marL="755650" marR="69215" lvl="1" indent="-285750" algn="just">
              <a:lnSpc>
                <a:spcPts val="1989"/>
              </a:lnSpc>
              <a:spcBef>
                <a:spcPts val="74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关注软件生产中的所有方面，从系统规范的早期阶段到系统开始 使用后的维护。</a:t>
            </a:r>
          </a:p>
          <a:p>
            <a:pPr marL="355600" indent="-342900">
              <a:lnSpc>
                <a:spcPct val="100000"/>
              </a:lnSpc>
              <a:spcBef>
                <a:spcPts val="300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663C"/>
                </a:solidFill>
                <a:latin typeface="宋体"/>
                <a:cs typeface="宋体"/>
              </a:rPr>
              <a:t>工程专业</a:t>
            </a:r>
            <a:r>
              <a:rPr sz="2400" dirty="0">
                <a:latin typeface="Times New Roman"/>
                <a:cs typeface="Times New Roman"/>
              </a:rPr>
              <a:t>:</a:t>
            </a:r>
          </a:p>
          <a:p>
            <a:pPr marL="755650" marR="5080" lvl="1" indent="-285750" algn="just">
              <a:lnSpc>
                <a:spcPct val="87500"/>
              </a:lnSpc>
              <a:spcBef>
                <a:spcPts val="72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意味着以最佳方式解决一个定义明确的（或在软件工程中模糊定 义的）问题，关注使用资源（如时间、人力和机器功率）</a:t>
            </a:r>
            <a:r>
              <a:rPr sz="2000" spc="-60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，尤其 在以下方面：</a:t>
            </a:r>
          </a:p>
          <a:p>
            <a:pPr marL="1155700" lvl="2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组织（即客户）</a:t>
            </a:r>
          </a:p>
          <a:p>
            <a:pPr marL="1155700" lvl="2" indent="-228600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财务</a:t>
            </a:r>
          </a:p>
          <a:p>
            <a:pPr marL="1155700" lvl="2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其他</a:t>
            </a:r>
          </a:p>
          <a:p>
            <a:pPr marL="755650" lvl="1" indent="-285750">
              <a:lnSpc>
                <a:spcPct val="100000"/>
              </a:lnSpc>
              <a:spcBef>
                <a:spcPts val="23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约束</a:t>
            </a:r>
            <a:r>
              <a:rPr sz="2000" dirty="0">
                <a:latin typeface="Times New Roman"/>
                <a:cs typeface="Times New Roman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295"/>
              </a:spcBef>
              <a:buClr>
                <a:srgbClr val="0065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00663C"/>
                </a:solidFill>
                <a:latin typeface="宋体"/>
                <a:cs typeface="宋体"/>
              </a:rPr>
              <a:t>软件工程的各个方面</a:t>
            </a:r>
            <a:r>
              <a:rPr sz="2400" dirty="0">
                <a:solidFill>
                  <a:srgbClr val="00663C"/>
                </a:solidFill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755650" lvl="1" indent="-285750">
              <a:lnSpc>
                <a:spcPct val="100000"/>
              </a:lnSpc>
              <a:spcBef>
                <a:spcPts val="32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包括：</a:t>
            </a:r>
          </a:p>
          <a:p>
            <a:pPr marL="1155700" lvl="2" indent="-228600">
              <a:lnSpc>
                <a:spcPct val="100000"/>
              </a:lnSpc>
              <a:spcBef>
                <a:spcPts val="20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技术流程</a:t>
            </a:r>
          </a:p>
          <a:p>
            <a:pPr marL="1155700" lvl="2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项目管理，工具，方法和理论的开发，以支持软件生产。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5537" y="503427"/>
            <a:ext cx="43529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</a:t>
            </a:r>
            <a:r>
              <a:rPr spc="5" dirty="0"/>
              <a:t>.</a:t>
            </a:r>
            <a:r>
              <a:rPr spc="-5" dirty="0"/>
              <a:t>1.</a:t>
            </a:r>
            <a:r>
              <a:rPr dirty="0">
                <a:latin typeface="宋体"/>
                <a:cs typeface="宋体"/>
              </a:rPr>
              <a:t>什么是软件工程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2993"/>
            <a:ext cx="7835900" cy="368554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549E39"/>
                </a:solidFill>
                <a:latin typeface="宋体"/>
                <a:cs typeface="宋体"/>
              </a:rPr>
              <a:t>软件</a:t>
            </a:r>
            <a:endParaRPr sz="2800" dirty="0">
              <a:latin typeface="宋体"/>
              <a:cs typeface="宋体"/>
            </a:endParaRPr>
          </a:p>
          <a:p>
            <a:pPr marL="755650" marR="62230" lvl="1" indent="-285750">
              <a:lnSpc>
                <a:spcPts val="2690"/>
              </a:lnSpc>
              <a:spcBef>
                <a:spcPts val="98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韦伯斯特词典：“与系统相关的整套程序，程序和相 关文档”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solidFill>
                  <a:srgbClr val="549E39"/>
                </a:solidFill>
                <a:latin typeface="宋体"/>
                <a:cs typeface="宋体"/>
              </a:rPr>
              <a:t>工程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韦伯斯特词典：“科学和数学原理的实际应用”</a:t>
            </a: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C00000"/>
              </a:buClr>
              <a:buFont typeface="Wingdings"/>
              <a:buChar char=""/>
            </a:pPr>
            <a:endParaRPr sz="3550" dirty="0">
              <a:latin typeface="宋体"/>
              <a:cs typeface="宋体"/>
            </a:endParaRPr>
          </a:p>
          <a:p>
            <a:pPr marL="355600" marR="5080" indent="-342900">
              <a:lnSpc>
                <a:spcPts val="3120"/>
              </a:lnSpc>
              <a:spcBef>
                <a:spcPts val="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软件工程是一门学科，其目标是在预算范围内按 时生成“无故障”</a:t>
            </a:r>
            <a:r>
              <a:rPr sz="2800" spc="-780" dirty="0">
                <a:highlight>
                  <a:srgbClr val="FFFF00"/>
                </a:highlight>
                <a:latin typeface="宋体"/>
                <a:cs typeface="宋体"/>
              </a:rPr>
              <a:t> 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软件，满足用户的需求。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2387" y="503427"/>
            <a:ext cx="6499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1.2.</a:t>
            </a:r>
            <a:r>
              <a:rPr spc="-90" dirty="0"/>
              <a:t> </a:t>
            </a:r>
            <a:r>
              <a:rPr dirty="0">
                <a:latin typeface="宋体"/>
                <a:cs typeface="宋体"/>
              </a:rPr>
              <a:t>软件工程面临的主要挑战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5770"/>
            <a:ext cx="7880350" cy="376364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663C"/>
                </a:solidFill>
                <a:latin typeface="宋体"/>
                <a:cs typeface="宋体"/>
              </a:rPr>
              <a:t>异质性</a:t>
            </a:r>
            <a:r>
              <a:rPr sz="3200" spc="-5" dirty="0">
                <a:solidFill>
                  <a:srgbClr val="00663C"/>
                </a:solidFill>
                <a:latin typeface="宋体"/>
                <a:cs typeface="宋体"/>
              </a:rPr>
              <a:t>（</a:t>
            </a:r>
            <a:r>
              <a:rPr sz="3200" spc="-5" dirty="0">
                <a:solidFill>
                  <a:srgbClr val="00663C"/>
                </a:solidFill>
                <a:latin typeface="Calibri"/>
                <a:cs typeface="Calibri"/>
              </a:rPr>
              <a:t>Heterogeneity</a:t>
            </a:r>
            <a:r>
              <a:rPr sz="3200" spc="-5" dirty="0">
                <a:solidFill>
                  <a:srgbClr val="00663C"/>
                </a:solidFill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marR="5080" lvl="1" indent="-285750">
              <a:lnSpc>
                <a:spcPts val="3120"/>
              </a:lnSpc>
              <a:spcBef>
                <a:spcPts val="11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研发用于构建可以应对异构平台和执行环境的 软件的技术</a:t>
            </a: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663C"/>
                </a:solidFill>
                <a:latin typeface="宋体"/>
                <a:cs typeface="宋体"/>
              </a:rPr>
              <a:t>交付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研发能够加快软件交付的技术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663C"/>
                </a:solidFill>
                <a:latin typeface="宋体"/>
                <a:cs typeface="宋体"/>
              </a:rPr>
              <a:t>信任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研发可以证明其用户能信任该软件的技术。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4386" y="503427"/>
            <a:ext cx="4975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1.3.</a:t>
            </a:r>
            <a:r>
              <a:rPr spc="-90" dirty="0"/>
              <a:t> </a:t>
            </a:r>
            <a:r>
              <a:rPr dirty="0">
                <a:latin typeface="宋体"/>
                <a:cs typeface="宋体"/>
              </a:rPr>
              <a:t>软件工程生命周期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8064500" cy="35350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73100" indent="-660400">
              <a:lnSpc>
                <a:spcPct val="100000"/>
              </a:lnSpc>
              <a:spcBef>
                <a:spcPts val="85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3200" dirty="0">
                <a:solidFill>
                  <a:srgbClr val="00663C"/>
                </a:solidFill>
                <a:latin typeface="宋体"/>
                <a:cs typeface="宋体"/>
              </a:rPr>
              <a:t>软件开发的</a:t>
            </a:r>
            <a:r>
              <a:rPr sz="3100" b="1" spc="145" dirty="0">
                <a:solidFill>
                  <a:srgbClr val="00663C"/>
                </a:solidFill>
                <a:latin typeface="宋体"/>
                <a:cs typeface="宋体"/>
              </a:rPr>
              <a:t>四个基本活动阶段</a:t>
            </a:r>
            <a:r>
              <a:rPr sz="3200" dirty="0">
                <a:solidFill>
                  <a:srgbClr val="00663C"/>
                </a:solidFill>
                <a:latin typeface="宋体"/>
                <a:cs typeface="宋体"/>
              </a:rPr>
              <a:t>和相关结果</a:t>
            </a:r>
            <a:endParaRPr sz="3200" dirty="0">
              <a:latin typeface="宋体"/>
              <a:cs typeface="宋体"/>
            </a:endParaRPr>
          </a:p>
          <a:p>
            <a:pPr marL="1047750" lvl="1" indent="-5778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800" dirty="0">
                <a:latin typeface="宋体"/>
                <a:cs typeface="宋体"/>
              </a:rPr>
              <a:t>软件需求规范</a:t>
            </a:r>
          </a:p>
          <a:p>
            <a:pPr marL="1047750" lvl="1" indent="-5778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800" dirty="0">
                <a:latin typeface="宋体"/>
                <a:cs typeface="宋体"/>
              </a:rPr>
              <a:t>软件开发</a:t>
            </a:r>
          </a:p>
          <a:p>
            <a:pPr marL="1422400" lvl="2" indent="-4953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421765" algn="l"/>
                <a:tab pos="1422400" algn="l"/>
              </a:tabLst>
            </a:pPr>
            <a:r>
              <a:rPr sz="2400" dirty="0">
                <a:latin typeface="宋体"/>
                <a:cs typeface="宋体"/>
              </a:rPr>
              <a:t>设计阶段</a:t>
            </a:r>
          </a:p>
          <a:p>
            <a:pPr marL="1422400" lvl="2" indent="-4953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421765" algn="l"/>
                <a:tab pos="1422400" algn="l"/>
              </a:tabLst>
            </a:pPr>
            <a:r>
              <a:rPr sz="2400" dirty="0">
                <a:latin typeface="宋体"/>
                <a:cs typeface="宋体"/>
              </a:rPr>
              <a:t>实施阶段</a:t>
            </a:r>
          </a:p>
          <a:p>
            <a:pPr marL="1047750" lvl="1" indent="-577850">
              <a:lnSpc>
                <a:spcPct val="100000"/>
              </a:lnSpc>
              <a:spcBef>
                <a:spcPts val="72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800" dirty="0">
                <a:latin typeface="宋体"/>
                <a:cs typeface="宋体"/>
              </a:rPr>
              <a:t>软件测试和验证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Calibri"/>
                <a:cs typeface="Calibri"/>
              </a:rPr>
              <a:t>verification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validation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 dirty="0">
              <a:latin typeface="宋体"/>
              <a:cs typeface="宋体"/>
            </a:endParaRPr>
          </a:p>
          <a:p>
            <a:pPr marL="1047750" lvl="1" indent="-5778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800" dirty="0">
                <a:latin typeface="宋体"/>
                <a:cs typeface="宋体"/>
              </a:rPr>
              <a:t>软件升级维护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1.3.1.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软件需求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2796"/>
            <a:ext cx="7775575" cy="44837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673100" indent="-660400">
              <a:lnSpc>
                <a:spcPct val="100000"/>
              </a:lnSpc>
              <a:spcBef>
                <a:spcPts val="72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2800" dirty="0">
                <a:latin typeface="宋体"/>
                <a:cs typeface="宋体"/>
              </a:rPr>
              <a:t>主要回答问题：该软件是什么。</a:t>
            </a:r>
          </a:p>
          <a:p>
            <a:pPr marL="673100" indent="-660400">
              <a:lnSpc>
                <a:spcPct val="100000"/>
              </a:lnSpc>
              <a:spcBef>
                <a:spcPts val="62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2800" dirty="0">
                <a:latin typeface="宋体"/>
                <a:cs typeface="宋体"/>
              </a:rPr>
              <a:t>从负责需求规范的团队定义需求开始</a:t>
            </a:r>
          </a:p>
          <a:p>
            <a:pPr marL="673100" indent="-660400">
              <a:lnSpc>
                <a:spcPct val="100000"/>
              </a:lnSpc>
              <a:spcBef>
                <a:spcPts val="650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需求工程流程</a:t>
            </a:r>
            <a:r>
              <a:rPr sz="2800" dirty="0">
                <a:latin typeface="宋体"/>
                <a:cs typeface="宋体"/>
              </a:rPr>
              <a:t>包括：</a:t>
            </a:r>
          </a:p>
          <a:p>
            <a:pPr marL="1047750" lvl="1" indent="-5778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400" dirty="0">
                <a:latin typeface="宋体"/>
                <a:cs typeface="宋体"/>
              </a:rPr>
              <a:t>提出需求和需求分析</a:t>
            </a:r>
          </a:p>
          <a:p>
            <a:pPr marL="1422400" lvl="2" indent="-4953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421765" algn="l"/>
                <a:tab pos="1422400" algn="l"/>
              </a:tabLst>
            </a:pPr>
            <a:r>
              <a:rPr sz="2000" dirty="0">
                <a:latin typeface="宋体"/>
                <a:cs typeface="宋体"/>
              </a:rPr>
              <a:t>领域理解</a:t>
            </a:r>
            <a:r>
              <a:rPr sz="2000" spc="-565" dirty="0">
                <a:latin typeface="宋体"/>
                <a:cs typeface="宋体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需求收集</a:t>
            </a:r>
            <a:r>
              <a:rPr sz="2000" spc="-560" dirty="0">
                <a:latin typeface="宋体"/>
                <a:cs typeface="宋体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分类</a:t>
            </a:r>
            <a:r>
              <a:rPr sz="2000" spc="-560" dirty="0">
                <a:latin typeface="宋体"/>
                <a:cs typeface="宋体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解决冲突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优先级</a:t>
            </a:r>
            <a:r>
              <a:rPr sz="2000" spc="-560" dirty="0">
                <a:latin typeface="宋体"/>
                <a:cs typeface="宋体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宋体"/>
                <a:cs typeface="宋体"/>
              </a:rPr>
              <a:t>需求检查</a:t>
            </a:r>
          </a:p>
          <a:p>
            <a:pPr marL="1047750" lvl="1" indent="-577850">
              <a:lnSpc>
                <a:spcPct val="100000"/>
              </a:lnSpc>
              <a:spcBef>
                <a:spcPts val="484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400" dirty="0">
                <a:latin typeface="宋体"/>
                <a:cs typeface="宋体"/>
              </a:rPr>
              <a:t>需求验证</a:t>
            </a:r>
          </a:p>
          <a:p>
            <a:pPr marL="1422400" lvl="2" indent="-4953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421765" algn="l"/>
                <a:tab pos="1422400" algn="l"/>
              </a:tabLst>
            </a:pPr>
            <a:r>
              <a:rPr sz="2000" dirty="0">
                <a:latin typeface="宋体"/>
                <a:cs typeface="宋体"/>
              </a:rPr>
              <a:t>表明由上述要求定义的系统是客户实际的期望</a:t>
            </a:r>
          </a:p>
          <a:p>
            <a:pPr marL="1422400" lvl="2" indent="-4953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421765" algn="l"/>
                <a:tab pos="1422400" algn="l"/>
              </a:tabLst>
            </a:pPr>
            <a:r>
              <a:rPr sz="2000" dirty="0">
                <a:latin typeface="宋体"/>
                <a:cs typeface="宋体"/>
              </a:rPr>
              <a:t>需求完整且统一，可以通过现有技术实现，并可以验证</a:t>
            </a:r>
          </a:p>
          <a:p>
            <a:pPr marL="673100" indent="-660400">
              <a:lnSpc>
                <a:spcPct val="100000"/>
              </a:lnSpc>
              <a:spcBef>
                <a:spcPts val="615"/>
              </a:spcBef>
              <a:buClr>
                <a:srgbClr val="00653C"/>
              </a:buClr>
              <a:buSzPct val="78571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2800" dirty="0">
                <a:latin typeface="宋体"/>
                <a:cs typeface="宋体"/>
              </a:rPr>
              <a:t>以需求管理结束</a:t>
            </a:r>
          </a:p>
          <a:p>
            <a:pPr marL="1047750" lvl="1" indent="-5778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400" dirty="0">
                <a:latin typeface="宋体"/>
                <a:cs typeface="宋体"/>
              </a:rPr>
              <a:t>理解和控制系统需求变更的过程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1.3.2.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软件开发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523637"/>
            <a:ext cx="6113780" cy="21507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15900">
              <a:lnSpc>
                <a:spcPct val="100000"/>
              </a:lnSpc>
              <a:spcBef>
                <a:spcPts val="855"/>
              </a:spcBef>
            </a:pPr>
            <a:r>
              <a:rPr sz="3200" dirty="0">
                <a:latin typeface="宋体"/>
                <a:cs typeface="宋体"/>
              </a:rPr>
              <a:t>主要回答问题：如何实现软件</a:t>
            </a:r>
          </a:p>
          <a:p>
            <a:pPr marL="590550" indent="-5778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589915" algn="l"/>
                <a:tab pos="590550" algn="l"/>
              </a:tabLst>
            </a:pPr>
            <a:r>
              <a:rPr sz="2800" dirty="0">
                <a:latin typeface="宋体"/>
                <a:cs typeface="宋体"/>
              </a:rPr>
              <a:t>让软件如规划的那样生产出来</a:t>
            </a:r>
          </a:p>
          <a:p>
            <a:pPr marL="590550" indent="-5778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589915" algn="l"/>
                <a:tab pos="590550" algn="l"/>
              </a:tabLst>
            </a:pPr>
            <a:r>
              <a:rPr sz="2800" dirty="0">
                <a:solidFill>
                  <a:srgbClr val="FF0000"/>
                </a:solidFill>
                <a:highlight>
                  <a:srgbClr val="FFFF00"/>
                </a:highlight>
                <a:latin typeface="宋体"/>
                <a:cs typeface="宋体"/>
              </a:rPr>
              <a:t>设计阶段</a:t>
            </a:r>
            <a:r>
              <a:rPr sz="2800" dirty="0">
                <a:highlight>
                  <a:srgbClr val="FFFF00"/>
                </a:highlight>
                <a:latin typeface="Calibri"/>
                <a:cs typeface="Calibri"/>
              </a:rPr>
              <a:t>:</a:t>
            </a:r>
            <a:r>
              <a:rPr sz="2800" spc="-8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800" dirty="0">
                <a:latin typeface="宋体"/>
                <a:cs typeface="宋体"/>
              </a:rPr>
              <a:t>实现设计目的的备选方案</a:t>
            </a:r>
          </a:p>
          <a:p>
            <a:pPr marL="590550" indent="-5778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589915" algn="l"/>
                <a:tab pos="590550" algn="l"/>
              </a:tabLst>
            </a:pPr>
            <a:r>
              <a:rPr sz="2800" dirty="0">
                <a:solidFill>
                  <a:srgbClr val="FF0000"/>
                </a:solidFill>
                <a:highlight>
                  <a:srgbClr val="FFFF00"/>
                </a:highlight>
                <a:latin typeface="宋体"/>
                <a:cs typeface="宋体"/>
              </a:rPr>
              <a:t>实现阶段</a:t>
            </a:r>
            <a:r>
              <a:rPr sz="2800" dirty="0">
                <a:highlight>
                  <a:srgbClr val="FFFF00"/>
                </a:highlight>
                <a:latin typeface="Calibri"/>
                <a:cs typeface="Calibri"/>
              </a:rPr>
              <a:t>: </a:t>
            </a:r>
            <a:r>
              <a:rPr sz="2800" dirty="0">
                <a:latin typeface="宋体"/>
                <a:cs typeface="宋体"/>
              </a:rPr>
              <a:t>实际代码开发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5506" y="503427"/>
            <a:ext cx="4853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1.3.3.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软件测试和验证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7816850" cy="36747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673100" indent="-660400">
              <a:lnSpc>
                <a:spcPct val="100000"/>
              </a:lnSpc>
              <a:spcBef>
                <a:spcPts val="85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3200" dirty="0">
                <a:latin typeface="宋体"/>
                <a:cs typeface="宋体"/>
              </a:rPr>
              <a:t>主要回答以下两个问题：</a:t>
            </a:r>
          </a:p>
          <a:p>
            <a:pPr marL="2841625" marR="1767205" indent="-355600">
              <a:lnSpc>
                <a:spcPct val="119300"/>
              </a:lnSpc>
              <a:spcBef>
                <a:spcPts val="20"/>
              </a:spcBef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我在做正确的产品吗？ 我做的产品对吗？</a:t>
            </a:r>
            <a:endParaRPr sz="2800" dirty="0">
              <a:latin typeface="宋体"/>
              <a:cs typeface="宋体"/>
            </a:endParaRPr>
          </a:p>
          <a:p>
            <a:pPr marL="1047750" marR="5080" lvl="1" indent="-577850">
              <a:lnSpc>
                <a:spcPts val="3100"/>
              </a:lnSpc>
              <a:spcBef>
                <a:spcPts val="125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800" dirty="0">
                <a:latin typeface="宋体"/>
                <a:cs typeface="宋体"/>
              </a:rPr>
              <a:t>必须对软件进行测试和验证，以确保其能够 满足客户的需求</a:t>
            </a:r>
          </a:p>
          <a:p>
            <a:pPr marL="673100" indent="-660400">
              <a:lnSpc>
                <a:spcPct val="100000"/>
              </a:lnSpc>
              <a:spcBef>
                <a:spcPts val="68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672465" algn="l"/>
                <a:tab pos="6731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软件升级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1047750" lvl="1" indent="-577850">
              <a:lnSpc>
                <a:spcPct val="100000"/>
              </a:lnSpc>
              <a:spcBef>
                <a:spcPts val="7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1047115" algn="l"/>
                <a:tab pos="1047750" algn="l"/>
              </a:tabLst>
            </a:pPr>
            <a:r>
              <a:rPr sz="2800" dirty="0">
                <a:latin typeface="宋体"/>
                <a:cs typeface="宋体"/>
              </a:rPr>
              <a:t>软件必须发展以满足客户不断变化的需求。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1.3.4.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软件升级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2475"/>
            <a:ext cx="7683500" cy="17856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软件必须发展以满足客户不断变化的需求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5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在交付软件和安装软件产品后开始</a:t>
            </a: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Clr>
                <a:srgbClr val="000000"/>
              </a:buClr>
              <a:buSzPct val="77611"/>
              <a:buFont typeface="Wingdings"/>
              <a:buChar char=""/>
              <a:tabLst>
                <a:tab pos="355600" algn="l"/>
              </a:tabLst>
            </a:pPr>
            <a:r>
              <a:rPr sz="3350" i="1" spc="-150" dirty="0">
                <a:solidFill>
                  <a:srgbClr val="FF0000"/>
                </a:solidFill>
                <a:highlight>
                  <a:srgbClr val="FFFF00"/>
                </a:highlight>
                <a:latin typeface="宋体"/>
                <a:cs typeface="宋体"/>
              </a:rPr>
              <a:t>维护</a:t>
            </a:r>
            <a:r>
              <a:rPr sz="3200" dirty="0">
                <a:latin typeface="宋体"/>
                <a:cs typeface="宋体"/>
              </a:rPr>
              <a:t>是此阶段的任务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673" y="489203"/>
            <a:ext cx="44551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Arial"/>
                <a:cs typeface="Arial"/>
              </a:rPr>
              <a:t>1.4.</a:t>
            </a:r>
            <a:r>
              <a:rPr sz="4400" spc="-100" dirty="0">
                <a:latin typeface="Arial"/>
                <a:cs typeface="Arial"/>
              </a:rPr>
              <a:t> </a:t>
            </a:r>
            <a:r>
              <a:rPr sz="4400" spc="-10" dirty="0">
                <a:latin typeface="宋体"/>
                <a:cs typeface="宋体"/>
              </a:rPr>
              <a:t>软件过程概念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786" y="1581403"/>
            <a:ext cx="7686040" cy="3990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>
              <a:lnSpc>
                <a:spcPct val="118300"/>
              </a:lnSpc>
              <a:spcBef>
                <a:spcPts val="100"/>
              </a:spcBef>
              <a:buClr>
                <a:srgbClr val="549E39"/>
              </a:buClr>
              <a:buSzPct val="97872"/>
              <a:buFont typeface="Arial Black"/>
              <a:buChar char="■"/>
              <a:tabLst>
                <a:tab pos="338455" algn="l"/>
                <a:tab pos="33909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概念</a:t>
            </a:r>
            <a:r>
              <a:rPr sz="3525" b="1" spc="135" baseline="1182" dirty="0">
                <a:latin typeface="宋体"/>
                <a:cs typeface="宋体"/>
              </a:rPr>
              <a:t>：</a:t>
            </a:r>
            <a:r>
              <a:rPr sz="2400" dirty="0">
                <a:latin typeface="宋体"/>
                <a:cs typeface="宋体"/>
              </a:rPr>
              <a:t>软件过程是指软件产品或软件系统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从产生、投入</a:t>
            </a:r>
            <a:r>
              <a:rPr sz="2400" u="sng" spc="-243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使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用到被淘汰</a:t>
            </a:r>
            <a:r>
              <a:rPr sz="2400" dirty="0">
                <a:latin typeface="宋体"/>
                <a:cs typeface="宋体"/>
              </a:rPr>
              <a:t>的全过程。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950">
              <a:latin typeface="宋体"/>
              <a:cs typeface="宋体"/>
            </a:endParaRPr>
          </a:p>
          <a:p>
            <a:pPr marL="13335" marR="3091815">
              <a:lnSpc>
                <a:spcPct val="121700"/>
              </a:lnSpc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需求：</a:t>
            </a:r>
            <a:r>
              <a:rPr sz="2400" dirty="0">
                <a:latin typeface="宋体"/>
                <a:cs typeface="宋体"/>
              </a:rPr>
              <a:t>包括问题分析和需求分析；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设计：</a:t>
            </a:r>
            <a:r>
              <a:rPr sz="2400" dirty="0">
                <a:latin typeface="宋体"/>
                <a:cs typeface="宋体"/>
              </a:rPr>
              <a:t>包括概要设计和详细设计；</a:t>
            </a:r>
            <a:endParaRPr sz="2400">
              <a:latin typeface="宋体"/>
              <a:cs typeface="宋体"/>
            </a:endParaRPr>
          </a:p>
          <a:p>
            <a:pPr marL="13335" marR="1567815">
              <a:lnSpc>
                <a:spcPct val="1183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实现：</a:t>
            </a:r>
            <a:r>
              <a:rPr sz="2400" dirty="0">
                <a:latin typeface="宋体"/>
                <a:cs typeface="宋体"/>
              </a:rPr>
              <a:t>把设计结果转换为可执行的程序代码； </a:t>
            </a: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测试：</a:t>
            </a:r>
            <a:r>
              <a:rPr sz="2400" dirty="0">
                <a:latin typeface="宋体"/>
                <a:cs typeface="宋体"/>
              </a:rPr>
              <a:t>包括单元测试、集成测试和确认测试；</a:t>
            </a:r>
            <a:endParaRPr sz="2400">
              <a:latin typeface="宋体"/>
              <a:cs typeface="宋体"/>
            </a:endParaRPr>
          </a:p>
          <a:p>
            <a:pPr marL="669925" marR="349250" indent="-657225">
              <a:lnSpc>
                <a:spcPct val="114999"/>
              </a:lnSpc>
              <a:spcBef>
                <a:spcPts val="70"/>
              </a:spcBef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维护：</a:t>
            </a:r>
            <a:r>
              <a:rPr sz="2400" dirty="0">
                <a:latin typeface="宋体"/>
                <a:cs typeface="宋体"/>
              </a:rPr>
              <a:t>是对投入运行的软件进行修改，使软件系统能适 应外界环境变化、实现功能扩充和质量改善。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4850" y="473963"/>
            <a:ext cx="5194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1.4.1</a:t>
            </a:r>
            <a:r>
              <a:rPr sz="4400" spc="-85" dirty="0"/>
              <a:t> </a:t>
            </a:r>
            <a:r>
              <a:rPr sz="4400" dirty="0">
                <a:latin typeface="宋体"/>
                <a:cs typeface="宋体"/>
              </a:rPr>
              <a:t>软件与软件过程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1283716"/>
            <a:ext cx="8559800" cy="13849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105700"/>
              </a:lnSpc>
              <a:spcBef>
                <a:spcPts val="145"/>
              </a:spcBef>
            </a:pPr>
            <a:r>
              <a:rPr sz="2800" dirty="0">
                <a:latin typeface="宋体"/>
                <a:cs typeface="宋体"/>
              </a:rPr>
              <a:t>软件工程用于软件开发的指导思想之一就是划分软件生 命周期，把软件开发的全过程分阶段、定任务，按先后 顺序依次完成。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9085" y="3264408"/>
            <a:ext cx="1593850" cy="530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9422" y="3333215"/>
            <a:ext cx="1273175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可行性与计划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51287" y="3761232"/>
            <a:ext cx="1166771" cy="5312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506048" y="3830040"/>
            <a:ext cx="857250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需求分析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29383" y="4264152"/>
            <a:ext cx="691895" cy="469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90800" y="4754879"/>
            <a:ext cx="691896" cy="469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61944" y="4258055"/>
            <a:ext cx="691896" cy="4693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681011" y="4285937"/>
          <a:ext cx="2590165" cy="985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2123">
                <a:tc gridSpan="2"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550" b="1" spc="75" dirty="0">
                          <a:latin typeface="宋体"/>
                          <a:cs typeface="宋体"/>
                        </a:rPr>
                        <a:t>设计</a:t>
                      </a:r>
                      <a:endParaRPr sz="155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550" b="1" spc="75" dirty="0">
                          <a:latin typeface="宋体"/>
                          <a:cs typeface="宋体"/>
                        </a:rPr>
                        <a:t>测试</a:t>
                      </a:r>
                      <a:endParaRPr sz="155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6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550" b="1" spc="75" dirty="0">
                          <a:latin typeface="宋体"/>
                          <a:cs typeface="宋体"/>
                        </a:rPr>
                        <a:t>实现</a:t>
                      </a:r>
                      <a:endParaRPr sz="155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3651503" y="3761232"/>
            <a:ext cx="1313688" cy="53124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64319" y="3830040"/>
            <a:ext cx="1065530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运行和维护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78888" y="3314423"/>
            <a:ext cx="13970" cy="2752725"/>
          </a:xfrm>
          <a:custGeom>
            <a:avLst/>
            <a:gdLst/>
            <a:ahLst/>
            <a:cxnLst/>
            <a:rect l="l" t="t" r="r" b="b"/>
            <a:pathLst>
              <a:path w="13970" h="2752725">
                <a:moveTo>
                  <a:pt x="13777" y="2752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68111" y="3761232"/>
            <a:ext cx="1316736" cy="53124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2389" y="3830040"/>
            <a:ext cx="1065530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运行和维护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95087" y="3877564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…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41170" y="3877564"/>
            <a:ext cx="152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…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526192" y="3795588"/>
            <a:ext cx="828040" cy="492125"/>
          </a:xfrm>
          <a:custGeom>
            <a:avLst/>
            <a:gdLst/>
            <a:ahLst/>
            <a:cxnLst/>
            <a:rect l="l" t="t" r="r" b="b"/>
            <a:pathLst>
              <a:path w="828040" h="492125">
                <a:moveTo>
                  <a:pt x="0" y="0"/>
                </a:moveTo>
                <a:lnTo>
                  <a:pt x="827523" y="0"/>
                </a:lnTo>
                <a:lnTo>
                  <a:pt x="827523" y="492123"/>
                </a:lnTo>
                <a:lnTo>
                  <a:pt x="0" y="49212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04759" y="3761232"/>
            <a:ext cx="691896" cy="472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719290" y="3830040"/>
            <a:ext cx="441325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报废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320460" y="3299480"/>
            <a:ext cx="13970" cy="2752725"/>
          </a:xfrm>
          <a:custGeom>
            <a:avLst/>
            <a:gdLst/>
            <a:ahLst/>
            <a:cxnLst/>
            <a:rect l="l" t="t" r="r" b="b"/>
            <a:pathLst>
              <a:path w="13970" h="2752725">
                <a:moveTo>
                  <a:pt x="13777" y="2752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00527" y="5565647"/>
            <a:ext cx="2566416" cy="4724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815758" y="5634456"/>
            <a:ext cx="2313305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软件工程生命周期各阶段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11187" y="3284537"/>
            <a:ext cx="13970" cy="2752725"/>
          </a:xfrm>
          <a:custGeom>
            <a:avLst/>
            <a:gdLst/>
            <a:ahLst/>
            <a:cxnLst/>
            <a:rect l="l" t="t" r="r" b="b"/>
            <a:pathLst>
              <a:path w="13970" h="2752725">
                <a:moveTo>
                  <a:pt x="13777" y="2752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519035" y="3299480"/>
            <a:ext cx="13970" cy="2752725"/>
          </a:xfrm>
          <a:custGeom>
            <a:avLst/>
            <a:gdLst/>
            <a:ahLst/>
            <a:cxnLst/>
            <a:rect l="l" t="t" r="r" b="b"/>
            <a:pathLst>
              <a:path w="13970" h="2752725">
                <a:moveTo>
                  <a:pt x="13777" y="27525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23639" y="5777781"/>
            <a:ext cx="2083435" cy="76200"/>
          </a:xfrm>
          <a:custGeom>
            <a:avLst/>
            <a:gdLst/>
            <a:ahLst/>
            <a:cxnLst/>
            <a:rect l="l" t="t" r="r" b="b"/>
            <a:pathLst>
              <a:path w="2083434" h="76200">
                <a:moveTo>
                  <a:pt x="2006842" y="44450"/>
                </a:moveTo>
                <a:lnTo>
                  <a:pt x="2006842" y="76199"/>
                </a:lnTo>
                <a:lnTo>
                  <a:pt x="2070342" y="44450"/>
                </a:lnTo>
                <a:lnTo>
                  <a:pt x="2006842" y="44450"/>
                </a:lnTo>
                <a:close/>
              </a:path>
              <a:path w="2083434" h="76200">
                <a:moveTo>
                  <a:pt x="2006842" y="31750"/>
                </a:moveTo>
                <a:lnTo>
                  <a:pt x="2006842" y="44450"/>
                </a:lnTo>
                <a:lnTo>
                  <a:pt x="2019545" y="44450"/>
                </a:lnTo>
                <a:lnTo>
                  <a:pt x="2019545" y="31750"/>
                </a:lnTo>
                <a:lnTo>
                  <a:pt x="2006842" y="31750"/>
                </a:lnTo>
                <a:close/>
              </a:path>
              <a:path w="2083434" h="76200">
                <a:moveTo>
                  <a:pt x="2006842" y="0"/>
                </a:moveTo>
                <a:lnTo>
                  <a:pt x="2006842" y="31750"/>
                </a:lnTo>
                <a:lnTo>
                  <a:pt x="2019545" y="31750"/>
                </a:lnTo>
                <a:lnTo>
                  <a:pt x="2019545" y="44450"/>
                </a:lnTo>
                <a:lnTo>
                  <a:pt x="2070344" y="44449"/>
                </a:lnTo>
                <a:lnTo>
                  <a:pt x="2083042" y="38100"/>
                </a:lnTo>
                <a:lnTo>
                  <a:pt x="2006842" y="0"/>
                </a:lnTo>
                <a:close/>
              </a:path>
              <a:path w="2083434" h="76200">
                <a:moveTo>
                  <a:pt x="0" y="31749"/>
                </a:moveTo>
                <a:lnTo>
                  <a:pt x="0" y="44449"/>
                </a:lnTo>
                <a:lnTo>
                  <a:pt x="2006842" y="44450"/>
                </a:lnTo>
                <a:lnTo>
                  <a:pt x="2006842" y="31750"/>
                </a:lnTo>
                <a:lnTo>
                  <a:pt x="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4964" y="5762838"/>
            <a:ext cx="2083435" cy="76200"/>
          </a:xfrm>
          <a:custGeom>
            <a:avLst/>
            <a:gdLst/>
            <a:ahLst/>
            <a:cxnLst/>
            <a:rect l="l" t="t" r="r" b="b"/>
            <a:pathLst>
              <a:path w="2083435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862"/>
                </a:lnTo>
                <a:lnTo>
                  <a:pt x="63497" y="42862"/>
                </a:lnTo>
                <a:lnTo>
                  <a:pt x="63497" y="33337"/>
                </a:lnTo>
                <a:lnTo>
                  <a:pt x="76200" y="33337"/>
                </a:lnTo>
                <a:lnTo>
                  <a:pt x="76200" y="0"/>
                </a:lnTo>
                <a:close/>
              </a:path>
              <a:path w="2083435" h="76200">
                <a:moveTo>
                  <a:pt x="76200" y="33337"/>
                </a:moveTo>
                <a:lnTo>
                  <a:pt x="63497" y="33337"/>
                </a:lnTo>
                <a:lnTo>
                  <a:pt x="63497" y="42862"/>
                </a:lnTo>
                <a:lnTo>
                  <a:pt x="76200" y="42862"/>
                </a:lnTo>
                <a:lnTo>
                  <a:pt x="76200" y="33337"/>
                </a:lnTo>
                <a:close/>
              </a:path>
              <a:path w="2083435" h="76200">
                <a:moveTo>
                  <a:pt x="76200" y="42862"/>
                </a:moveTo>
                <a:lnTo>
                  <a:pt x="63497" y="42862"/>
                </a:lnTo>
                <a:lnTo>
                  <a:pt x="76200" y="42862"/>
                </a:lnTo>
                <a:close/>
              </a:path>
              <a:path w="2083435" h="76200">
                <a:moveTo>
                  <a:pt x="2083043" y="33336"/>
                </a:moveTo>
                <a:lnTo>
                  <a:pt x="76200" y="33337"/>
                </a:lnTo>
                <a:lnTo>
                  <a:pt x="76200" y="42862"/>
                </a:lnTo>
                <a:lnTo>
                  <a:pt x="2083043" y="42861"/>
                </a:lnTo>
                <a:lnTo>
                  <a:pt x="2083043" y="3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92568" y="5565647"/>
            <a:ext cx="691896" cy="4724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05514" y="5634456"/>
            <a:ext cx="441325" cy="2647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退化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334237" y="5766823"/>
            <a:ext cx="330835" cy="76200"/>
          </a:xfrm>
          <a:custGeom>
            <a:avLst/>
            <a:gdLst/>
            <a:ahLst/>
            <a:cxnLst/>
            <a:rect l="l" t="t" r="r" b="b"/>
            <a:pathLst>
              <a:path w="33083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199" y="31749"/>
                </a:lnTo>
                <a:lnTo>
                  <a:pt x="76200" y="0"/>
                </a:lnTo>
                <a:close/>
              </a:path>
              <a:path w="330834" h="76200">
                <a:moveTo>
                  <a:pt x="330641" y="31749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199" y="44449"/>
                </a:lnTo>
                <a:lnTo>
                  <a:pt x="76200" y="31749"/>
                </a:lnTo>
                <a:lnTo>
                  <a:pt x="330641" y="31749"/>
                </a:lnTo>
                <a:close/>
              </a:path>
              <a:path w="330834" h="76200">
                <a:moveTo>
                  <a:pt x="76200" y="44449"/>
                </a:moveTo>
                <a:lnTo>
                  <a:pt x="63500" y="44450"/>
                </a:lnTo>
                <a:lnTo>
                  <a:pt x="76200" y="44450"/>
                </a:lnTo>
                <a:close/>
              </a:path>
              <a:path w="330834" h="76200">
                <a:moveTo>
                  <a:pt x="330641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330641" y="44449"/>
                </a:lnTo>
                <a:lnTo>
                  <a:pt x="330641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188394" y="5777781"/>
            <a:ext cx="330835" cy="76200"/>
          </a:xfrm>
          <a:custGeom>
            <a:avLst/>
            <a:gdLst/>
            <a:ahLst/>
            <a:cxnLst/>
            <a:rect l="l" t="t" r="r" b="b"/>
            <a:pathLst>
              <a:path w="330834" h="76200">
                <a:moveTo>
                  <a:pt x="317942" y="31749"/>
                </a:moveTo>
                <a:lnTo>
                  <a:pt x="267141" y="31749"/>
                </a:lnTo>
                <a:lnTo>
                  <a:pt x="267141" y="44449"/>
                </a:lnTo>
                <a:lnTo>
                  <a:pt x="254441" y="44449"/>
                </a:lnTo>
                <a:lnTo>
                  <a:pt x="254441" y="76199"/>
                </a:lnTo>
                <a:lnTo>
                  <a:pt x="330641" y="38099"/>
                </a:lnTo>
                <a:lnTo>
                  <a:pt x="317942" y="31749"/>
                </a:lnTo>
                <a:close/>
              </a:path>
              <a:path w="330834" h="76200">
                <a:moveTo>
                  <a:pt x="254441" y="31749"/>
                </a:moveTo>
                <a:lnTo>
                  <a:pt x="0" y="31750"/>
                </a:lnTo>
                <a:lnTo>
                  <a:pt x="0" y="44450"/>
                </a:lnTo>
                <a:lnTo>
                  <a:pt x="254441" y="44449"/>
                </a:lnTo>
                <a:lnTo>
                  <a:pt x="254441" y="31749"/>
                </a:lnTo>
                <a:close/>
              </a:path>
              <a:path w="330834" h="76200">
                <a:moveTo>
                  <a:pt x="267141" y="31749"/>
                </a:moveTo>
                <a:lnTo>
                  <a:pt x="254441" y="31749"/>
                </a:lnTo>
                <a:lnTo>
                  <a:pt x="254441" y="44449"/>
                </a:lnTo>
                <a:lnTo>
                  <a:pt x="267141" y="44449"/>
                </a:lnTo>
                <a:lnTo>
                  <a:pt x="267141" y="31749"/>
                </a:lnTo>
                <a:close/>
              </a:path>
              <a:path w="330834" h="76200">
                <a:moveTo>
                  <a:pt x="254441" y="0"/>
                </a:moveTo>
                <a:lnTo>
                  <a:pt x="254441" y="31749"/>
                </a:lnTo>
                <a:lnTo>
                  <a:pt x="317942" y="31749"/>
                </a:lnTo>
                <a:lnTo>
                  <a:pt x="254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250" y="473963"/>
            <a:ext cx="46355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1.4.2</a:t>
            </a:r>
            <a:r>
              <a:rPr sz="4400" spc="-85" dirty="0"/>
              <a:t> </a:t>
            </a:r>
            <a:r>
              <a:rPr sz="4400" dirty="0">
                <a:latin typeface="宋体"/>
                <a:cs typeface="宋体"/>
              </a:rPr>
              <a:t>软件开发模型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5487" y="1560575"/>
            <a:ext cx="2365248" cy="41269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7445" y="1680268"/>
            <a:ext cx="1261745" cy="8572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6289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2070"/>
              </a:spcBef>
            </a:pPr>
            <a:r>
              <a:rPr sz="2000" b="1" dirty="0">
                <a:latin typeface="微软雅黑"/>
                <a:cs typeface="微软雅黑"/>
              </a:rPr>
              <a:t>需求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99380" y="2751833"/>
            <a:ext cx="1261745" cy="8572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64795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2085"/>
              </a:spcBef>
            </a:pPr>
            <a:r>
              <a:rPr sz="2000" b="1" dirty="0">
                <a:latin typeface="微软雅黑"/>
                <a:cs typeface="微软雅黑"/>
              </a:rPr>
              <a:t>设计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71317" y="3823398"/>
            <a:ext cx="1261745" cy="8572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6289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2070"/>
              </a:spcBef>
            </a:pPr>
            <a:r>
              <a:rPr sz="2000" b="1" dirty="0">
                <a:latin typeface="微软雅黑"/>
                <a:cs typeface="微软雅黑"/>
              </a:rPr>
              <a:t>开发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3254" y="4894963"/>
            <a:ext cx="1261745" cy="8572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64160" rIns="0" bIns="0" rtlCol="0">
            <a:spAutoFit/>
          </a:bodyPr>
          <a:lstStyle/>
          <a:p>
            <a:pPr marL="376555">
              <a:lnSpc>
                <a:spcPct val="100000"/>
              </a:lnSpc>
              <a:spcBef>
                <a:spcPts val="2080"/>
              </a:spcBef>
            </a:pPr>
            <a:r>
              <a:rPr sz="2000" b="1" dirty="0">
                <a:latin typeface="微软雅黑"/>
                <a:cs typeface="微软雅黑"/>
              </a:rPr>
              <a:t>测试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40192" y="2108893"/>
            <a:ext cx="585470" cy="643255"/>
          </a:xfrm>
          <a:custGeom>
            <a:avLst/>
            <a:gdLst/>
            <a:ahLst/>
            <a:cxnLst/>
            <a:rect l="l" t="t" r="r" b="b"/>
            <a:pathLst>
              <a:path w="585470" h="643255">
                <a:moveTo>
                  <a:pt x="584880" y="428626"/>
                </a:moveTo>
                <a:lnTo>
                  <a:pt x="164327" y="428626"/>
                </a:lnTo>
                <a:lnTo>
                  <a:pt x="374604" y="642940"/>
                </a:lnTo>
                <a:lnTo>
                  <a:pt x="584880" y="428626"/>
                </a:lnTo>
                <a:close/>
              </a:path>
              <a:path w="585470" h="643255">
                <a:moveTo>
                  <a:pt x="423339" y="214313"/>
                </a:moveTo>
                <a:lnTo>
                  <a:pt x="59189" y="214313"/>
                </a:lnTo>
                <a:lnTo>
                  <a:pt x="107400" y="219972"/>
                </a:lnTo>
                <a:lnTo>
                  <a:pt x="151658" y="236092"/>
                </a:lnTo>
                <a:lnTo>
                  <a:pt x="190701" y="261387"/>
                </a:lnTo>
                <a:lnTo>
                  <a:pt x="223266" y="294573"/>
                </a:lnTo>
                <a:lnTo>
                  <a:pt x="248091" y="334365"/>
                </a:lnTo>
                <a:lnTo>
                  <a:pt x="263911" y="379478"/>
                </a:lnTo>
                <a:lnTo>
                  <a:pt x="269466" y="428626"/>
                </a:lnTo>
                <a:lnTo>
                  <a:pt x="479742" y="428626"/>
                </a:lnTo>
                <a:lnTo>
                  <a:pt x="477267" y="381888"/>
                </a:lnTo>
                <a:lnTo>
                  <a:pt x="470029" y="336646"/>
                </a:lnTo>
                <a:lnTo>
                  <a:pt x="458285" y="293122"/>
                </a:lnTo>
                <a:lnTo>
                  <a:pt x="442290" y="251577"/>
                </a:lnTo>
                <a:lnTo>
                  <a:pt x="423339" y="214313"/>
                </a:lnTo>
                <a:close/>
              </a:path>
              <a:path w="585470" h="643255">
                <a:moveTo>
                  <a:pt x="59189" y="0"/>
                </a:moveTo>
                <a:lnTo>
                  <a:pt x="44339" y="245"/>
                </a:lnTo>
                <a:lnTo>
                  <a:pt x="29521" y="1037"/>
                </a:lnTo>
                <a:lnTo>
                  <a:pt x="14741" y="2372"/>
                </a:lnTo>
                <a:lnTo>
                  <a:pt x="0" y="4246"/>
                </a:lnTo>
                <a:lnTo>
                  <a:pt x="29594" y="216416"/>
                </a:lnTo>
                <a:lnTo>
                  <a:pt x="36962" y="215479"/>
                </a:lnTo>
                <a:lnTo>
                  <a:pt x="44348" y="214814"/>
                </a:lnTo>
                <a:lnTo>
                  <a:pt x="51756" y="214424"/>
                </a:lnTo>
                <a:lnTo>
                  <a:pt x="59189" y="214313"/>
                </a:lnTo>
                <a:lnTo>
                  <a:pt x="423339" y="214313"/>
                </a:lnTo>
                <a:lnTo>
                  <a:pt x="422301" y="212273"/>
                </a:lnTo>
                <a:lnTo>
                  <a:pt x="398576" y="175471"/>
                </a:lnTo>
                <a:lnTo>
                  <a:pt x="371369" y="141433"/>
                </a:lnTo>
                <a:lnTo>
                  <a:pt x="340938" y="110420"/>
                </a:lnTo>
                <a:lnTo>
                  <a:pt x="307540" y="82694"/>
                </a:lnTo>
                <a:lnTo>
                  <a:pt x="271430" y="58515"/>
                </a:lnTo>
                <a:lnTo>
                  <a:pt x="232865" y="38147"/>
                </a:lnTo>
                <a:lnTo>
                  <a:pt x="192103" y="21850"/>
                </a:lnTo>
                <a:lnTo>
                  <a:pt x="149398" y="9885"/>
                </a:lnTo>
                <a:lnTo>
                  <a:pt x="105008" y="2514"/>
                </a:lnTo>
                <a:lnTo>
                  <a:pt x="591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40192" y="2108893"/>
            <a:ext cx="585470" cy="643255"/>
          </a:xfrm>
          <a:custGeom>
            <a:avLst/>
            <a:gdLst/>
            <a:ahLst/>
            <a:cxnLst/>
            <a:rect l="l" t="t" r="r" b="b"/>
            <a:pathLst>
              <a:path w="585470" h="643255">
                <a:moveTo>
                  <a:pt x="269465" y="428626"/>
                </a:moveTo>
                <a:lnTo>
                  <a:pt x="263911" y="379477"/>
                </a:lnTo>
                <a:lnTo>
                  <a:pt x="248090" y="334365"/>
                </a:lnTo>
                <a:lnTo>
                  <a:pt x="223266" y="294573"/>
                </a:lnTo>
                <a:lnTo>
                  <a:pt x="190700" y="261386"/>
                </a:lnTo>
                <a:lnTo>
                  <a:pt x="151657" y="236091"/>
                </a:lnTo>
                <a:lnTo>
                  <a:pt x="107399" y="219971"/>
                </a:lnTo>
                <a:lnTo>
                  <a:pt x="59189" y="214313"/>
                </a:lnTo>
                <a:lnTo>
                  <a:pt x="51755" y="214424"/>
                </a:lnTo>
                <a:lnTo>
                  <a:pt x="44347" y="214814"/>
                </a:lnTo>
                <a:lnTo>
                  <a:pt x="36962" y="215479"/>
                </a:lnTo>
                <a:lnTo>
                  <a:pt x="29594" y="216416"/>
                </a:lnTo>
                <a:lnTo>
                  <a:pt x="0" y="4246"/>
                </a:lnTo>
                <a:lnTo>
                  <a:pt x="14740" y="2371"/>
                </a:lnTo>
                <a:lnTo>
                  <a:pt x="29521" y="1036"/>
                </a:lnTo>
                <a:lnTo>
                  <a:pt x="44338" y="244"/>
                </a:lnTo>
                <a:lnTo>
                  <a:pt x="59189" y="0"/>
                </a:lnTo>
                <a:lnTo>
                  <a:pt x="105007" y="2514"/>
                </a:lnTo>
                <a:lnTo>
                  <a:pt x="149397" y="9885"/>
                </a:lnTo>
                <a:lnTo>
                  <a:pt x="192102" y="21850"/>
                </a:lnTo>
                <a:lnTo>
                  <a:pt x="232865" y="38147"/>
                </a:lnTo>
                <a:lnTo>
                  <a:pt x="271430" y="58515"/>
                </a:lnTo>
                <a:lnTo>
                  <a:pt x="307539" y="82693"/>
                </a:lnTo>
                <a:lnTo>
                  <a:pt x="340938" y="110419"/>
                </a:lnTo>
                <a:lnTo>
                  <a:pt x="371369" y="141432"/>
                </a:lnTo>
                <a:lnTo>
                  <a:pt x="398575" y="175470"/>
                </a:lnTo>
                <a:lnTo>
                  <a:pt x="422301" y="212272"/>
                </a:lnTo>
                <a:lnTo>
                  <a:pt x="442290" y="251576"/>
                </a:lnTo>
                <a:lnTo>
                  <a:pt x="458284" y="293121"/>
                </a:lnTo>
                <a:lnTo>
                  <a:pt x="470029" y="336645"/>
                </a:lnTo>
                <a:lnTo>
                  <a:pt x="477267" y="381887"/>
                </a:lnTo>
                <a:lnTo>
                  <a:pt x="479742" y="428586"/>
                </a:lnTo>
                <a:lnTo>
                  <a:pt x="584880" y="428626"/>
                </a:lnTo>
                <a:lnTo>
                  <a:pt x="374604" y="642939"/>
                </a:lnTo>
                <a:lnTo>
                  <a:pt x="164327" y="428626"/>
                </a:lnTo>
                <a:lnTo>
                  <a:pt x="269465" y="4286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12129" y="3180458"/>
            <a:ext cx="585470" cy="643255"/>
          </a:xfrm>
          <a:custGeom>
            <a:avLst/>
            <a:gdLst/>
            <a:ahLst/>
            <a:cxnLst/>
            <a:rect l="l" t="t" r="r" b="b"/>
            <a:pathLst>
              <a:path w="585470" h="643254">
                <a:moveTo>
                  <a:pt x="584880" y="428626"/>
                </a:moveTo>
                <a:lnTo>
                  <a:pt x="164326" y="428626"/>
                </a:lnTo>
                <a:lnTo>
                  <a:pt x="374604" y="642938"/>
                </a:lnTo>
                <a:lnTo>
                  <a:pt x="584880" y="428626"/>
                </a:lnTo>
                <a:close/>
              </a:path>
              <a:path w="585470" h="643254">
                <a:moveTo>
                  <a:pt x="423339" y="214313"/>
                </a:moveTo>
                <a:lnTo>
                  <a:pt x="59188" y="214313"/>
                </a:lnTo>
                <a:lnTo>
                  <a:pt x="107398" y="219972"/>
                </a:lnTo>
                <a:lnTo>
                  <a:pt x="151657" y="236092"/>
                </a:lnTo>
                <a:lnTo>
                  <a:pt x="190700" y="261387"/>
                </a:lnTo>
                <a:lnTo>
                  <a:pt x="223266" y="294573"/>
                </a:lnTo>
                <a:lnTo>
                  <a:pt x="248090" y="334365"/>
                </a:lnTo>
                <a:lnTo>
                  <a:pt x="263911" y="379478"/>
                </a:lnTo>
                <a:lnTo>
                  <a:pt x="269466" y="428626"/>
                </a:lnTo>
                <a:lnTo>
                  <a:pt x="479742" y="428626"/>
                </a:lnTo>
                <a:lnTo>
                  <a:pt x="477267" y="381888"/>
                </a:lnTo>
                <a:lnTo>
                  <a:pt x="470029" y="336646"/>
                </a:lnTo>
                <a:lnTo>
                  <a:pt x="458284" y="293122"/>
                </a:lnTo>
                <a:lnTo>
                  <a:pt x="442289" y="251577"/>
                </a:lnTo>
                <a:lnTo>
                  <a:pt x="423339" y="214313"/>
                </a:lnTo>
                <a:close/>
              </a:path>
              <a:path w="585470" h="643254">
                <a:moveTo>
                  <a:pt x="59188" y="0"/>
                </a:moveTo>
                <a:lnTo>
                  <a:pt x="44338" y="245"/>
                </a:lnTo>
                <a:lnTo>
                  <a:pt x="29521" y="1037"/>
                </a:lnTo>
                <a:lnTo>
                  <a:pt x="14740" y="2372"/>
                </a:lnTo>
                <a:lnTo>
                  <a:pt x="0" y="4246"/>
                </a:lnTo>
                <a:lnTo>
                  <a:pt x="29594" y="216416"/>
                </a:lnTo>
                <a:lnTo>
                  <a:pt x="36962" y="215479"/>
                </a:lnTo>
                <a:lnTo>
                  <a:pt x="44347" y="214814"/>
                </a:lnTo>
                <a:lnTo>
                  <a:pt x="51755" y="214424"/>
                </a:lnTo>
                <a:lnTo>
                  <a:pt x="59188" y="214313"/>
                </a:lnTo>
                <a:lnTo>
                  <a:pt x="423339" y="214313"/>
                </a:lnTo>
                <a:lnTo>
                  <a:pt x="422301" y="212272"/>
                </a:lnTo>
                <a:lnTo>
                  <a:pt x="398575" y="175470"/>
                </a:lnTo>
                <a:lnTo>
                  <a:pt x="371368" y="141432"/>
                </a:lnTo>
                <a:lnTo>
                  <a:pt x="340938" y="110419"/>
                </a:lnTo>
                <a:lnTo>
                  <a:pt x="307539" y="82693"/>
                </a:lnTo>
                <a:lnTo>
                  <a:pt x="271429" y="58515"/>
                </a:lnTo>
                <a:lnTo>
                  <a:pt x="232865" y="38147"/>
                </a:lnTo>
                <a:lnTo>
                  <a:pt x="192102" y="21850"/>
                </a:lnTo>
                <a:lnTo>
                  <a:pt x="149397" y="9885"/>
                </a:lnTo>
                <a:lnTo>
                  <a:pt x="105007" y="2514"/>
                </a:lnTo>
                <a:lnTo>
                  <a:pt x="591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12129" y="3180458"/>
            <a:ext cx="585470" cy="643255"/>
          </a:xfrm>
          <a:custGeom>
            <a:avLst/>
            <a:gdLst/>
            <a:ahLst/>
            <a:cxnLst/>
            <a:rect l="l" t="t" r="r" b="b"/>
            <a:pathLst>
              <a:path w="585470" h="643254">
                <a:moveTo>
                  <a:pt x="269465" y="428626"/>
                </a:moveTo>
                <a:lnTo>
                  <a:pt x="263911" y="379477"/>
                </a:lnTo>
                <a:lnTo>
                  <a:pt x="248090" y="334365"/>
                </a:lnTo>
                <a:lnTo>
                  <a:pt x="223266" y="294573"/>
                </a:lnTo>
                <a:lnTo>
                  <a:pt x="190700" y="261386"/>
                </a:lnTo>
                <a:lnTo>
                  <a:pt x="151657" y="236091"/>
                </a:lnTo>
                <a:lnTo>
                  <a:pt x="107399" y="219971"/>
                </a:lnTo>
                <a:lnTo>
                  <a:pt x="59189" y="214313"/>
                </a:lnTo>
                <a:lnTo>
                  <a:pt x="51755" y="214424"/>
                </a:lnTo>
                <a:lnTo>
                  <a:pt x="44347" y="214814"/>
                </a:lnTo>
                <a:lnTo>
                  <a:pt x="36962" y="215479"/>
                </a:lnTo>
                <a:lnTo>
                  <a:pt x="29594" y="216416"/>
                </a:lnTo>
                <a:lnTo>
                  <a:pt x="0" y="4246"/>
                </a:lnTo>
                <a:lnTo>
                  <a:pt x="14740" y="2371"/>
                </a:lnTo>
                <a:lnTo>
                  <a:pt x="29521" y="1036"/>
                </a:lnTo>
                <a:lnTo>
                  <a:pt x="44338" y="244"/>
                </a:lnTo>
                <a:lnTo>
                  <a:pt x="59189" y="0"/>
                </a:lnTo>
                <a:lnTo>
                  <a:pt x="105007" y="2514"/>
                </a:lnTo>
                <a:lnTo>
                  <a:pt x="149397" y="9885"/>
                </a:lnTo>
                <a:lnTo>
                  <a:pt x="192102" y="21850"/>
                </a:lnTo>
                <a:lnTo>
                  <a:pt x="232865" y="38147"/>
                </a:lnTo>
                <a:lnTo>
                  <a:pt x="271430" y="58515"/>
                </a:lnTo>
                <a:lnTo>
                  <a:pt x="307539" y="82693"/>
                </a:lnTo>
                <a:lnTo>
                  <a:pt x="340938" y="110419"/>
                </a:lnTo>
                <a:lnTo>
                  <a:pt x="371369" y="141432"/>
                </a:lnTo>
                <a:lnTo>
                  <a:pt x="398575" y="175470"/>
                </a:lnTo>
                <a:lnTo>
                  <a:pt x="422301" y="212272"/>
                </a:lnTo>
                <a:lnTo>
                  <a:pt x="442290" y="251576"/>
                </a:lnTo>
                <a:lnTo>
                  <a:pt x="458284" y="293121"/>
                </a:lnTo>
                <a:lnTo>
                  <a:pt x="470029" y="336645"/>
                </a:lnTo>
                <a:lnTo>
                  <a:pt x="477267" y="381887"/>
                </a:lnTo>
                <a:lnTo>
                  <a:pt x="479742" y="428586"/>
                </a:lnTo>
                <a:lnTo>
                  <a:pt x="584880" y="428626"/>
                </a:lnTo>
                <a:lnTo>
                  <a:pt x="374604" y="642939"/>
                </a:lnTo>
                <a:lnTo>
                  <a:pt x="164327" y="428626"/>
                </a:lnTo>
                <a:lnTo>
                  <a:pt x="269465" y="4286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284064" y="4252024"/>
            <a:ext cx="585470" cy="643255"/>
          </a:xfrm>
          <a:custGeom>
            <a:avLst/>
            <a:gdLst/>
            <a:ahLst/>
            <a:cxnLst/>
            <a:rect l="l" t="t" r="r" b="b"/>
            <a:pathLst>
              <a:path w="585470" h="643254">
                <a:moveTo>
                  <a:pt x="584880" y="428626"/>
                </a:moveTo>
                <a:lnTo>
                  <a:pt x="164327" y="428626"/>
                </a:lnTo>
                <a:lnTo>
                  <a:pt x="374604" y="642938"/>
                </a:lnTo>
                <a:lnTo>
                  <a:pt x="584880" y="428626"/>
                </a:lnTo>
                <a:close/>
              </a:path>
              <a:path w="585470" h="643254">
                <a:moveTo>
                  <a:pt x="423339" y="214313"/>
                </a:moveTo>
                <a:lnTo>
                  <a:pt x="59189" y="214313"/>
                </a:lnTo>
                <a:lnTo>
                  <a:pt x="107400" y="219972"/>
                </a:lnTo>
                <a:lnTo>
                  <a:pt x="151658" y="236092"/>
                </a:lnTo>
                <a:lnTo>
                  <a:pt x="190701" y="261387"/>
                </a:lnTo>
                <a:lnTo>
                  <a:pt x="223266" y="294573"/>
                </a:lnTo>
                <a:lnTo>
                  <a:pt x="248091" y="334365"/>
                </a:lnTo>
                <a:lnTo>
                  <a:pt x="263911" y="379478"/>
                </a:lnTo>
                <a:lnTo>
                  <a:pt x="269466" y="428626"/>
                </a:lnTo>
                <a:lnTo>
                  <a:pt x="479742" y="428626"/>
                </a:lnTo>
                <a:lnTo>
                  <a:pt x="477267" y="381888"/>
                </a:lnTo>
                <a:lnTo>
                  <a:pt x="470029" y="336646"/>
                </a:lnTo>
                <a:lnTo>
                  <a:pt x="458285" y="293122"/>
                </a:lnTo>
                <a:lnTo>
                  <a:pt x="442290" y="251577"/>
                </a:lnTo>
                <a:lnTo>
                  <a:pt x="423339" y="214313"/>
                </a:lnTo>
                <a:close/>
              </a:path>
              <a:path w="585470" h="643254">
                <a:moveTo>
                  <a:pt x="59189" y="0"/>
                </a:moveTo>
                <a:lnTo>
                  <a:pt x="44339" y="245"/>
                </a:lnTo>
                <a:lnTo>
                  <a:pt x="29521" y="1037"/>
                </a:lnTo>
                <a:lnTo>
                  <a:pt x="14741" y="2372"/>
                </a:lnTo>
                <a:lnTo>
                  <a:pt x="0" y="4246"/>
                </a:lnTo>
                <a:lnTo>
                  <a:pt x="29594" y="216416"/>
                </a:lnTo>
                <a:lnTo>
                  <a:pt x="36962" y="215479"/>
                </a:lnTo>
                <a:lnTo>
                  <a:pt x="44348" y="214814"/>
                </a:lnTo>
                <a:lnTo>
                  <a:pt x="51756" y="214424"/>
                </a:lnTo>
                <a:lnTo>
                  <a:pt x="59189" y="214313"/>
                </a:lnTo>
                <a:lnTo>
                  <a:pt x="423339" y="214313"/>
                </a:lnTo>
                <a:lnTo>
                  <a:pt x="422301" y="212272"/>
                </a:lnTo>
                <a:lnTo>
                  <a:pt x="398576" y="175470"/>
                </a:lnTo>
                <a:lnTo>
                  <a:pt x="371369" y="141432"/>
                </a:lnTo>
                <a:lnTo>
                  <a:pt x="340938" y="110419"/>
                </a:lnTo>
                <a:lnTo>
                  <a:pt x="307540" y="82693"/>
                </a:lnTo>
                <a:lnTo>
                  <a:pt x="271430" y="58515"/>
                </a:lnTo>
                <a:lnTo>
                  <a:pt x="232865" y="38147"/>
                </a:lnTo>
                <a:lnTo>
                  <a:pt x="192103" y="21850"/>
                </a:lnTo>
                <a:lnTo>
                  <a:pt x="149398" y="9885"/>
                </a:lnTo>
                <a:lnTo>
                  <a:pt x="105008" y="2514"/>
                </a:lnTo>
                <a:lnTo>
                  <a:pt x="5918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84064" y="4252024"/>
            <a:ext cx="585470" cy="643255"/>
          </a:xfrm>
          <a:custGeom>
            <a:avLst/>
            <a:gdLst/>
            <a:ahLst/>
            <a:cxnLst/>
            <a:rect l="l" t="t" r="r" b="b"/>
            <a:pathLst>
              <a:path w="585470" h="643254">
                <a:moveTo>
                  <a:pt x="269465" y="428626"/>
                </a:moveTo>
                <a:lnTo>
                  <a:pt x="263911" y="379477"/>
                </a:lnTo>
                <a:lnTo>
                  <a:pt x="248090" y="334365"/>
                </a:lnTo>
                <a:lnTo>
                  <a:pt x="223266" y="294573"/>
                </a:lnTo>
                <a:lnTo>
                  <a:pt x="190700" y="261386"/>
                </a:lnTo>
                <a:lnTo>
                  <a:pt x="151657" y="236091"/>
                </a:lnTo>
                <a:lnTo>
                  <a:pt x="107399" y="219971"/>
                </a:lnTo>
                <a:lnTo>
                  <a:pt x="59189" y="214313"/>
                </a:lnTo>
                <a:lnTo>
                  <a:pt x="51755" y="214424"/>
                </a:lnTo>
                <a:lnTo>
                  <a:pt x="44347" y="214814"/>
                </a:lnTo>
                <a:lnTo>
                  <a:pt x="36962" y="215479"/>
                </a:lnTo>
                <a:lnTo>
                  <a:pt x="29594" y="216416"/>
                </a:lnTo>
                <a:lnTo>
                  <a:pt x="0" y="4246"/>
                </a:lnTo>
                <a:lnTo>
                  <a:pt x="14740" y="2371"/>
                </a:lnTo>
                <a:lnTo>
                  <a:pt x="29521" y="1036"/>
                </a:lnTo>
                <a:lnTo>
                  <a:pt x="44338" y="244"/>
                </a:lnTo>
                <a:lnTo>
                  <a:pt x="59189" y="0"/>
                </a:lnTo>
                <a:lnTo>
                  <a:pt x="105007" y="2514"/>
                </a:lnTo>
                <a:lnTo>
                  <a:pt x="149397" y="9885"/>
                </a:lnTo>
                <a:lnTo>
                  <a:pt x="192102" y="21850"/>
                </a:lnTo>
                <a:lnTo>
                  <a:pt x="232865" y="38147"/>
                </a:lnTo>
                <a:lnTo>
                  <a:pt x="271430" y="58515"/>
                </a:lnTo>
                <a:lnTo>
                  <a:pt x="307539" y="82693"/>
                </a:lnTo>
                <a:lnTo>
                  <a:pt x="340938" y="110419"/>
                </a:lnTo>
                <a:lnTo>
                  <a:pt x="371369" y="141432"/>
                </a:lnTo>
                <a:lnTo>
                  <a:pt x="398575" y="175470"/>
                </a:lnTo>
                <a:lnTo>
                  <a:pt x="422301" y="212272"/>
                </a:lnTo>
                <a:lnTo>
                  <a:pt x="442290" y="251576"/>
                </a:lnTo>
                <a:lnTo>
                  <a:pt x="458284" y="293121"/>
                </a:lnTo>
                <a:lnTo>
                  <a:pt x="470029" y="336645"/>
                </a:lnTo>
                <a:lnTo>
                  <a:pt x="477267" y="381887"/>
                </a:lnTo>
                <a:lnTo>
                  <a:pt x="479742" y="428586"/>
                </a:lnTo>
                <a:lnTo>
                  <a:pt x="584880" y="428626"/>
                </a:lnTo>
                <a:lnTo>
                  <a:pt x="374604" y="642939"/>
                </a:lnTo>
                <a:lnTo>
                  <a:pt x="164327" y="428626"/>
                </a:lnTo>
                <a:lnTo>
                  <a:pt x="269465" y="428626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81600" y="1425095"/>
            <a:ext cx="3671228" cy="8572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4250" y="473963"/>
            <a:ext cx="46355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1.4.2</a:t>
            </a:r>
            <a:r>
              <a:rPr sz="4400" spc="-85" dirty="0"/>
              <a:t> </a:t>
            </a:r>
            <a:r>
              <a:rPr sz="4400" dirty="0">
                <a:latin typeface="宋体"/>
                <a:cs typeface="宋体"/>
              </a:rPr>
              <a:t>软件开发模型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28898" y="2653701"/>
            <a:ext cx="2365375" cy="3086100"/>
          </a:xfrm>
          <a:custGeom>
            <a:avLst/>
            <a:gdLst/>
            <a:ahLst/>
            <a:cxnLst/>
            <a:rect l="l" t="t" r="r" b="b"/>
            <a:pathLst>
              <a:path w="2365375" h="3086100">
                <a:moveTo>
                  <a:pt x="0" y="0"/>
                </a:moveTo>
                <a:lnTo>
                  <a:pt x="2365088" y="3085699"/>
                </a:lnTo>
              </a:path>
            </a:pathLst>
          </a:custGeom>
          <a:ln w="760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93986" y="2653701"/>
            <a:ext cx="2453640" cy="3086100"/>
          </a:xfrm>
          <a:custGeom>
            <a:avLst/>
            <a:gdLst/>
            <a:ahLst/>
            <a:cxnLst/>
            <a:rect l="l" t="t" r="r" b="b"/>
            <a:pathLst>
              <a:path w="2453640" h="3086100">
                <a:moveTo>
                  <a:pt x="0" y="3085699"/>
                </a:moveTo>
                <a:lnTo>
                  <a:pt x="2453202" y="0"/>
                </a:lnTo>
              </a:path>
            </a:pathLst>
          </a:custGeom>
          <a:ln w="760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05368" y="2891505"/>
            <a:ext cx="3855085" cy="2120900"/>
          </a:xfrm>
          <a:custGeom>
            <a:avLst/>
            <a:gdLst/>
            <a:ahLst/>
            <a:cxnLst/>
            <a:rect l="l" t="t" r="r" b="b"/>
            <a:pathLst>
              <a:path w="3855084" h="2120900">
                <a:moveTo>
                  <a:pt x="0" y="0"/>
                </a:moveTo>
                <a:lnTo>
                  <a:pt x="110110" y="147908"/>
                </a:lnTo>
                <a:lnTo>
                  <a:pt x="218267" y="295785"/>
                </a:lnTo>
                <a:lnTo>
                  <a:pt x="328442" y="441648"/>
                </a:lnTo>
                <a:lnTo>
                  <a:pt x="434583" y="585597"/>
                </a:lnTo>
                <a:lnTo>
                  <a:pt x="542740" y="727435"/>
                </a:lnTo>
                <a:lnTo>
                  <a:pt x="646863" y="865312"/>
                </a:lnTo>
                <a:lnTo>
                  <a:pt x="750986" y="999261"/>
                </a:lnTo>
                <a:lnTo>
                  <a:pt x="803080" y="1063184"/>
                </a:lnTo>
                <a:lnTo>
                  <a:pt x="853092" y="1127172"/>
                </a:lnTo>
                <a:lnTo>
                  <a:pt x="903169" y="1189147"/>
                </a:lnTo>
                <a:lnTo>
                  <a:pt x="953245" y="1251024"/>
                </a:lnTo>
                <a:lnTo>
                  <a:pt x="1001305" y="1308974"/>
                </a:lnTo>
                <a:lnTo>
                  <a:pt x="1049364" y="1367021"/>
                </a:lnTo>
                <a:lnTo>
                  <a:pt x="1097423" y="1422925"/>
                </a:lnTo>
                <a:lnTo>
                  <a:pt x="1145482" y="1476946"/>
                </a:lnTo>
                <a:lnTo>
                  <a:pt x="1191524" y="1528824"/>
                </a:lnTo>
                <a:lnTo>
                  <a:pt x="1237664" y="1578787"/>
                </a:lnTo>
                <a:lnTo>
                  <a:pt x="1281656" y="1626738"/>
                </a:lnTo>
                <a:lnTo>
                  <a:pt x="1325680" y="1672773"/>
                </a:lnTo>
                <a:lnTo>
                  <a:pt x="1369802" y="1716697"/>
                </a:lnTo>
                <a:lnTo>
                  <a:pt x="1411809" y="1758674"/>
                </a:lnTo>
                <a:lnTo>
                  <a:pt x="1453882" y="1796625"/>
                </a:lnTo>
                <a:lnTo>
                  <a:pt x="1493936" y="1834609"/>
                </a:lnTo>
                <a:lnTo>
                  <a:pt x="1532006" y="1866587"/>
                </a:lnTo>
                <a:lnTo>
                  <a:pt x="1572061" y="1898597"/>
                </a:lnTo>
                <a:lnTo>
                  <a:pt x="1590055" y="1912524"/>
                </a:lnTo>
                <a:lnTo>
                  <a:pt x="1608081" y="1926549"/>
                </a:lnTo>
                <a:lnTo>
                  <a:pt x="1626107" y="1940573"/>
                </a:lnTo>
                <a:lnTo>
                  <a:pt x="1644101" y="1954533"/>
                </a:lnTo>
                <a:lnTo>
                  <a:pt x="1660175" y="1966513"/>
                </a:lnTo>
                <a:lnTo>
                  <a:pt x="1676184" y="1978525"/>
                </a:lnTo>
                <a:lnTo>
                  <a:pt x="1692160" y="1990537"/>
                </a:lnTo>
                <a:lnTo>
                  <a:pt x="1708234" y="2000536"/>
                </a:lnTo>
                <a:lnTo>
                  <a:pt x="1724243" y="2010535"/>
                </a:lnTo>
                <a:lnTo>
                  <a:pt x="1768333" y="2040500"/>
                </a:lnTo>
                <a:lnTo>
                  <a:pt x="1822379" y="2070497"/>
                </a:lnTo>
                <a:lnTo>
                  <a:pt x="1872456" y="2094423"/>
                </a:lnTo>
                <a:lnTo>
                  <a:pt x="1920515" y="2110396"/>
                </a:lnTo>
                <a:lnTo>
                  <a:pt x="1964540" y="2118447"/>
                </a:lnTo>
                <a:lnTo>
                  <a:pt x="1986601" y="2120363"/>
                </a:lnTo>
                <a:lnTo>
                  <a:pt x="2008662" y="2120363"/>
                </a:lnTo>
                <a:lnTo>
                  <a:pt x="2030625" y="2118447"/>
                </a:lnTo>
                <a:lnTo>
                  <a:pt x="2052654" y="2116434"/>
                </a:lnTo>
                <a:lnTo>
                  <a:pt x="2074715" y="2110396"/>
                </a:lnTo>
                <a:lnTo>
                  <a:pt x="2096776" y="2104422"/>
                </a:lnTo>
                <a:lnTo>
                  <a:pt x="2118739" y="2094423"/>
                </a:lnTo>
                <a:lnTo>
                  <a:pt x="2142818" y="2084424"/>
                </a:lnTo>
                <a:lnTo>
                  <a:pt x="2164781" y="2072412"/>
                </a:lnTo>
                <a:lnTo>
                  <a:pt x="2190877" y="2060498"/>
                </a:lnTo>
                <a:lnTo>
                  <a:pt x="2214858" y="2044460"/>
                </a:lnTo>
                <a:lnTo>
                  <a:pt x="2242906" y="2028488"/>
                </a:lnTo>
                <a:lnTo>
                  <a:pt x="2268969" y="2010535"/>
                </a:lnTo>
                <a:lnTo>
                  <a:pt x="2299035" y="1990537"/>
                </a:lnTo>
                <a:lnTo>
                  <a:pt x="2329003" y="1970571"/>
                </a:lnTo>
                <a:lnTo>
                  <a:pt x="2359036" y="1948560"/>
                </a:lnTo>
                <a:lnTo>
                  <a:pt x="2393136" y="1924536"/>
                </a:lnTo>
                <a:lnTo>
                  <a:pt x="2427138" y="1898597"/>
                </a:lnTo>
                <a:lnTo>
                  <a:pt x="2463256" y="1870612"/>
                </a:lnTo>
                <a:lnTo>
                  <a:pt x="2501294" y="1842660"/>
                </a:lnTo>
                <a:lnTo>
                  <a:pt x="2539331" y="1810650"/>
                </a:lnTo>
                <a:lnTo>
                  <a:pt x="2577368" y="1776659"/>
                </a:lnTo>
                <a:lnTo>
                  <a:pt x="2615438" y="1740721"/>
                </a:lnTo>
                <a:lnTo>
                  <a:pt x="2655493" y="1702737"/>
                </a:lnTo>
                <a:lnTo>
                  <a:pt x="2697500" y="1662773"/>
                </a:lnTo>
                <a:lnTo>
                  <a:pt x="2737555" y="1618784"/>
                </a:lnTo>
                <a:lnTo>
                  <a:pt x="2779627" y="1574859"/>
                </a:lnTo>
                <a:lnTo>
                  <a:pt x="2821634" y="1530837"/>
                </a:lnTo>
                <a:lnTo>
                  <a:pt x="2865756" y="1482887"/>
                </a:lnTo>
                <a:lnTo>
                  <a:pt x="2909781" y="1432924"/>
                </a:lnTo>
                <a:lnTo>
                  <a:pt x="2953871" y="1382961"/>
                </a:lnTo>
                <a:lnTo>
                  <a:pt x="2997895" y="1330985"/>
                </a:lnTo>
                <a:lnTo>
                  <a:pt x="3041985" y="1279009"/>
                </a:lnTo>
                <a:lnTo>
                  <a:pt x="3088026" y="1223072"/>
                </a:lnTo>
                <a:lnTo>
                  <a:pt x="3180110" y="1111134"/>
                </a:lnTo>
                <a:lnTo>
                  <a:pt x="3274309" y="993223"/>
                </a:lnTo>
                <a:lnTo>
                  <a:pt x="3370427" y="873298"/>
                </a:lnTo>
                <a:lnTo>
                  <a:pt x="3464529" y="749446"/>
                </a:lnTo>
                <a:lnTo>
                  <a:pt x="3562664" y="623548"/>
                </a:lnTo>
                <a:lnTo>
                  <a:pt x="3660833" y="495637"/>
                </a:lnTo>
                <a:lnTo>
                  <a:pt x="3854990" y="237835"/>
                </a:lnTo>
              </a:path>
            </a:pathLst>
          </a:custGeom>
          <a:ln w="339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16264" y="3904015"/>
            <a:ext cx="2019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蜾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15191" y="3130477"/>
            <a:ext cx="6184265" cy="0"/>
          </a:xfrm>
          <a:custGeom>
            <a:avLst/>
            <a:gdLst/>
            <a:ahLst/>
            <a:cxnLst/>
            <a:rect l="l" t="t" r="r" b="b"/>
            <a:pathLst>
              <a:path w="6184265">
                <a:moveTo>
                  <a:pt x="0" y="0"/>
                </a:moveTo>
                <a:lnTo>
                  <a:pt x="6184155" y="0"/>
                </a:lnTo>
              </a:path>
            </a:pathLst>
          </a:custGeom>
          <a:ln w="1201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80476" y="3923945"/>
            <a:ext cx="3905250" cy="13970"/>
          </a:xfrm>
          <a:custGeom>
            <a:avLst/>
            <a:gdLst/>
            <a:ahLst/>
            <a:cxnLst/>
            <a:rect l="l" t="t" r="r" b="b"/>
            <a:pathLst>
              <a:path w="3905250" h="13970">
                <a:moveTo>
                  <a:pt x="50076" y="0"/>
                </a:moveTo>
                <a:lnTo>
                  <a:pt x="0" y="0"/>
                </a:lnTo>
                <a:lnTo>
                  <a:pt x="0" y="11914"/>
                </a:lnTo>
                <a:lnTo>
                  <a:pt x="50076" y="11914"/>
                </a:lnTo>
                <a:lnTo>
                  <a:pt x="50076" y="0"/>
                </a:lnTo>
                <a:close/>
              </a:path>
              <a:path w="3905250" h="13970">
                <a:moveTo>
                  <a:pt x="136173" y="0"/>
                </a:moveTo>
                <a:lnTo>
                  <a:pt x="86161" y="0"/>
                </a:lnTo>
                <a:lnTo>
                  <a:pt x="86161" y="11914"/>
                </a:lnTo>
                <a:lnTo>
                  <a:pt x="136173" y="11914"/>
                </a:lnTo>
                <a:lnTo>
                  <a:pt x="136173" y="0"/>
                </a:lnTo>
                <a:close/>
              </a:path>
              <a:path w="3905250" h="13970">
                <a:moveTo>
                  <a:pt x="224287" y="0"/>
                </a:moveTo>
                <a:lnTo>
                  <a:pt x="174210" y="0"/>
                </a:lnTo>
                <a:lnTo>
                  <a:pt x="174210" y="11914"/>
                </a:lnTo>
                <a:lnTo>
                  <a:pt x="224287" y="11914"/>
                </a:lnTo>
                <a:lnTo>
                  <a:pt x="224287" y="0"/>
                </a:lnTo>
                <a:close/>
              </a:path>
              <a:path w="3905250" h="13970">
                <a:moveTo>
                  <a:pt x="312433" y="0"/>
                </a:moveTo>
                <a:lnTo>
                  <a:pt x="262357" y="0"/>
                </a:lnTo>
                <a:lnTo>
                  <a:pt x="262357" y="11914"/>
                </a:lnTo>
                <a:lnTo>
                  <a:pt x="312433" y="11914"/>
                </a:lnTo>
                <a:lnTo>
                  <a:pt x="312433" y="0"/>
                </a:lnTo>
                <a:close/>
              </a:path>
              <a:path w="3905250" h="13970">
                <a:moveTo>
                  <a:pt x="400548" y="0"/>
                </a:moveTo>
                <a:lnTo>
                  <a:pt x="350471" y="0"/>
                </a:lnTo>
                <a:lnTo>
                  <a:pt x="350471" y="11914"/>
                </a:lnTo>
                <a:lnTo>
                  <a:pt x="400548" y="11914"/>
                </a:lnTo>
                <a:lnTo>
                  <a:pt x="400548" y="0"/>
                </a:lnTo>
                <a:close/>
              </a:path>
              <a:path w="3905250" h="13970">
                <a:moveTo>
                  <a:pt x="486644" y="0"/>
                </a:moveTo>
                <a:lnTo>
                  <a:pt x="436568" y="0"/>
                </a:lnTo>
                <a:lnTo>
                  <a:pt x="436568" y="11914"/>
                </a:lnTo>
                <a:lnTo>
                  <a:pt x="486644" y="11914"/>
                </a:lnTo>
                <a:lnTo>
                  <a:pt x="486644" y="0"/>
                </a:lnTo>
                <a:close/>
              </a:path>
              <a:path w="3905250" h="13970">
                <a:moveTo>
                  <a:pt x="574791" y="0"/>
                </a:moveTo>
                <a:lnTo>
                  <a:pt x="524714" y="0"/>
                </a:lnTo>
                <a:lnTo>
                  <a:pt x="524714" y="11914"/>
                </a:lnTo>
                <a:lnTo>
                  <a:pt x="574791" y="11914"/>
                </a:lnTo>
                <a:lnTo>
                  <a:pt x="574791" y="0"/>
                </a:lnTo>
                <a:close/>
              </a:path>
              <a:path w="3905250" h="13970">
                <a:moveTo>
                  <a:pt x="662905" y="0"/>
                </a:moveTo>
                <a:lnTo>
                  <a:pt x="612828" y="0"/>
                </a:lnTo>
                <a:lnTo>
                  <a:pt x="612828" y="11914"/>
                </a:lnTo>
                <a:lnTo>
                  <a:pt x="662905" y="11914"/>
                </a:lnTo>
                <a:lnTo>
                  <a:pt x="662905" y="0"/>
                </a:lnTo>
                <a:close/>
              </a:path>
              <a:path w="3905250" h="13970">
                <a:moveTo>
                  <a:pt x="751019" y="0"/>
                </a:moveTo>
                <a:lnTo>
                  <a:pt x="700942" y="0"/>
                </a:lnTo>
                <a:lnTo>
                  <a:pt x="700942" y="11914"/>
                </a:lnTo>
                <a:lnTo>
                  <a:pt x="751019" y="11914"/>
                </a:lnTo>
                <a:lnTo>
                  <a:pt x="751019" y="0"/>
                </a:lnTo>
                <a:close/>
              </a:path>
              <a:path w="3905250" h="13970">
                <a:moveTo>
                  <a:pt x="837148" y="0"/>
                </a:moveTo>
                <a:lnTo>
                  <a:pt x="787072" y="0"/>
                </a:lnTo>
                <a:lnTo>
                  <a:pt x="787072" y="11914"/>
                </a:lnTo>
                <a:lnTo>
                  <a:pt x="837148" y="11914"/>
                </a:lnTo>
                <a:lnTo>
                  <a:pt x="837148" y="0"/>
                </a:lnTo>
                <a:close/>
              </a:path>
              <a:path w="3905250" h="13970">
                <a:moveTo>
                  <a:pt x="925262" y="0"/>
                </a:moveTo>
                <a:lnTo>
                  <a:pt x="875186" y="0"/>
                </a:lnTo>
                <a:lnTo>
                  <a:pt x="875186" y="11914"/>
                </a:lnTo>
                <a:lnTo>
                  <a:pt x="925262" y="11914"/>
                </a:lnTo>
                <a:lnTo>
                  <a:pt x="925262" y="0"/>
                </a:lnTo>
                <a:close/>
              </a:path>
              <a:path w="3905250" h="13970">
                <a:moveTo>
                  <a:pt x="1013311" y="0"/>
                </a:moveTo>
                <a:lnTo>
                  <a:pt x="963300" y="0"/>
                </a:lnTo>
                <a:lnTo>
                  <a:pt x="963300" y="11914"/>
                </a:lnTo>
                <a:lnTo>
                  <a:pt x="1013311" y="11914"/>
                </a:lnTo>
                <a:lnTo>
                  <a:pt x="1013311" y="0"/>
                </a:lnTo>
                <a:close/>
              </a:path>
              <a:path w="3905250" h="13970">
                <a:moveTo>
                  <a:pt x="1101425" y="0"/>
                </a:moveTo>
                <a:lnTo>
                  <a:pt x="1051446" y="0"/>
                </a:lnTo>
                <a:lnTo>
                  <a:pt x="1051446" y="11914"/>
                </a:lnTo>
                <a:lnTo>
                  <a:pt x="1101425" y="11914"/>
                </a:lnTo>
                <a:lnTo>
                  <a:pt x="1101425" y="0"/>
                </a:lnTo>
                <a:close/>
              </a:path>
              <a:path w="3905250" h="13970">
                <a:moveTo>
                  <a:pt x="1187555" y="0"/>
                </a:moveTo>
                <a:lnTo>
                  <a:pt x="1137543" y="0"/>
                </a:lnTo>
                <a:lnTo>
                  <a:pt x="1137543" y="11914"/>
                </a:lnTo>
                <a:lnTo>
                  <a:pt x="1187555" y="11914"/>
                </a:lnTo>
                <a:lnTo>
                  <a:pt x="1187555" y="0"/>
                </a:lnTo>
                <a:close/>
              </a:path>
              <a:path w="3905250" h="13970">
                <a:moveTo>
                  <a:pt x="1275669" y="0"/>
                </a:moveTo>
                <a:lnTo>
                  <a:pt x="1225592" y="0"/>
                </a:lnTo>
                <a:lnTo>
                  <a:pt x="1225592" y="11914"/>
                </a:lnTo>
                <a:lnTo>
                  <a:pt x="1275669" y="11914"/>
                </a:lnTo>
                <a:lnTo>
                  <a:pt x="1275669" y="0"/>
                </a:lnTo>
                <a:close/>
              </a:path>
              <a:path w="3905250" h="13970">
                <a:moveTo>
                  <a:pt x="1363783" y="0"/>
                </a:moveTo>
                <a:lnTo>
                  <a:pt x="1313706" y="0"/>
                </a:lnTo>
                <a:lnTo>
                  <a:pt x="1313706" y="11914"/>
                </a:lnTo>
                <a:lnTo>
                  <a:pt x="1363783" y="11914"/>
                </a:lnTo>
                <a:lnTo>
                  <a:pt x="1363783" y="0"/>
                </a:lnTo>
                <a:close/>
              </a:path>
              <a:path w="3905250" h="13970">
                <a:moveTo>
                  <a:pt x="1451929" y="0"/>
                </a:moveTo>
                <a:lnTo>
                  <a:pt x="1401853" y="0"/>
                </a:lnTo>
                <a:lnTo>
                  <a:pt x="1401853" y="11914"/>
                </a:lnTo>
                <a:lnTo>
                  <a:pt x="1451929" y="11914"/>
                </a:lnTo>
                <a:lnTo>
                  <a:pt x="1451929" y="0"/>
                </a:lnTo>
                <a:close/>
              </a:path>
              <a:path w="3905250" h="13970">
                <a:moveTo>
                  <a:pt x="1538026" y="0"/>
                </a:moveTo>
                <a:lnTo>
                  <a:pt x="1487949" y="0"/>
                </a:lnTo>
                <a:lnTo>
                  <a:pt x="1487949" y="11914"/>
                </a:lnTo>
                <a:lnTo>
                  <a:pt x="1538026" y="11914"/>
                </a:lnTo>
                <a:lnTo>
                  <a:pt x="1538026" y="0"/>
                </a:lnTo>
                <a:close/>
              </a:path>
              <a:path w="3905250" h="13970">
                <a:moveTo>
                  <a:pt x="1626140" y="0"/>
                </a:moveTo>
                <a:lnTo>
                  <a:pt x="1576063" y="0"/>
                </a:lnTo>
                <a:lnTo>
                  <a:pt x="1576063" y="11914"/>
                </a:lnTo>
                <a:lnTo>
                  <a:pt x="1626140" y="13927"/>
                </a:lnTo>
                <a:lnTo>
                  <a:pt x="1626140" y="0"/>
                </a:lnTo>
                <a:close/>
              </a:path>
              <a:path w="3905250" h="13970">
                <a:moveTo>
                  <a:pt x="1714287" y="0"/>
                </a:moveTo>
                <a:lnTo>
                  <a:pt x="1664210" y="0"/>
                </a:lnTo>
                <a:lnTo>
                  <a:pt x="1664210" y="13927"/>
                </a:lnTo>
                <a:lnTo>
                  <a:pt x="1714287" y="13927"/>
                </a:lnTo>
                <a:lnTo>
                  <a:pt x="1714287" y="0"/>
                </a:lnTo>
                <a:close/>
              </a:path>
              <a:path w="3905250" h="13970">
                <a:moveTo>
                  <a:pt x="1802401" y="0"/>
                </a:moveTo>
                <a:lnTo>
                  <a:pt x="1752324" y="0"/>
                </a:lnTo>
                <a:lnTo>
                  <a:pt x="1752324" y="13927"/>
                </a:lnTo>
                <a:lnTo>
                  <a:pt x="1802401" y="13927"/>
                </a:lnTo>
                <a:lnTo>
                  <a:pt x="1802401" y="0"/>
                </a:lnTo>
                <a:close/>
              </a:path>
              <a:path w="3905250" h="13970">
                <a:moveTo>
                  <a:pt x="1888497" y="0"/>
                </a:moveTo>
                <a:lnTo>
                  <a:pt x="1838421" y="0"/>
                </a:lnTo>
                <a:lnTo>
                  <a:pt x="1838421" y="13927"/>
                </a:lnTo>
                <a:lnTo>
                  <a:pt x="1888497" y="13927"/>
                </a:lnTo>
                <a:lnTo>
                  <a:pt x="1888497" y="0"/>
                </a:lnTo>
                <a:close/>
              </a:path>
              <a:path w="3905250" h="13970">
                <a:moveTo>
                  <a:pt x="1976644" y="0"/>
                </a:moveTo>
                <a:lnTo>
                  <a:pt x="1926567" y="0"/>
                </a:lnTo>
                <a:lnTo>
                  <a:pt x="1926567" y="13927"/>
                </a:lnTo>
                <a:lnTo>
                  <a:pt x="1976644" y="13927"/>
                </a:lnTo>
                <a:lnTo>
                  <a:pt x="1976644" y="0"/>
                </a:lnTo>
                <a:close/>
              </a:path>
              <a:path w="3905250" h="13970">
                <a:moveTo>
                  <a:pt x="2064758" y="0"/>
                </a:moveTo>
                <a:lnTo>
                  <a:pt x="2014681" y="0"/>
                </a:lnTo>
                <a:lnTo>
                  <a:pt x="2014681" y="13927"/>
                </a:lnTo>
                <a:lnTo>
                  <a:pt x="2064758" y="13927"/>
                </a:lnTo>
                <a:lnTo>
                  <a:pt x="2064758" y="0"/>
                </a:lnTo>
                <a:close/>
              </a:path>
              <a:path w="3905250" h="13970">
                <a:moveTo>
                  <a:pt x="2152807" y="0"/>
                </a:moveTo>
                <a:lnTo>
                  <a:pt x="2102795" y="0"/>
                </a:lnTo>
                <a:lnTo>
                  <a:pt x="2102795" y="13927"/>
                </a:lnTo>
                <a:lnTo>
                  <a:pt x="2152807" y="13927"/>
                </a:lnTo>
                <a:lnTo>
                  <a:pt x="2152807" y="0"/>
                </a:lnTo>
                <a:close/>
              </a:path>
              <a:path w="3905250" h="13970">
                <a:moveTo>
                  <a:pt x="2238904" y="0"/>
                </a:moveTo>
                <a:lnTo>
                  <a:pt x="2188925" y="0"/>
                </a:lnTo>
                <a:lnTo>
                  <a:pt x="2188925" y="13927"/>
                </a:lnTo>
                <a:lnTo>
                  <a:pt x="2238904" y="13927"/>
                </a:lnTo>
                <a:lnTo>
                  <a:pt x="2238904" y="0"/>
                </a:lnTo>
                <a:close/>
              </a:path>
              <a:path w="3905250" h="13970">
                <a:moveTo>
                  <a:pt x="2327050" y="0"/>
                </a:moveTo>
                <a:lnTo>
                  <a:pt x="2277039" y="0"/>
                </a:lnTo>
                <a:lnTo>
                  <a:pt x="2277039" y="13927"/>
                </a:lnTo>
                <a:lnTo>
                  <a:pt x="2327050" y="13927"/>
                </a:lnTo>
                <a:lnTo>
                  <a:pt x="2327050" y="0"/>
                </a:lnTo>
                <a:close/>
              </a:path>
              <a:path w="3905250" h="13970">
                <a:moveTo>
                  <a:pt x="2415164" y="0"/>
                </a:moveTo>
                <a:lnTo>
                  <a:pt x="2365088" y="0"/>
                </a:lnTo>
                <a:lnTo>
                  <a:pt x="2365088" y="13927"/>
                </a:lnTo>
                <a:lnTo>
                  <a:pt x="2415164" y="13927"/>
                </a:lnTo>
                <a:lnTo>
                  <a:pt x="2415164" y="0"/>
                </a:lnTo>
                <a:close/>
              </a:path>
              <a:path w="3905250" h="13970">
                <a:moveTo>
                  <a:pt x="2503278" y="0"/>
                </a:moveTo>
                <a:lnTo>
                  <a:pt x="2453202" y="0"/>
                </a:lnTo>
                <a:lnTo>
                  <a:pt x="2453202" y="13927"/>
                </a:lnTo>
                <a:lnTo>
                  <a:pt x="2503278" y="13927"/>
                </a:lnTo>
                <a:lnTo>
                  <a:pt x="2503278" y="0"/>
                </a:lnTo>
                <a:close/>
              </a:path>
              <a:path w="3905250" h="13970">
                <a:moveTo>
                  <a:pt x="2589375" y="0"/>
                </a:moveTo>
                <a:lnTo>
                  <a:pt x="2539298" y="0"/>
                </a:lnTo>
                <a:lnTo>
                  <a:pt x="2539298" y="13927"/>
                </a:lnTo>
                <a:lnTo>
                  <a:pt x="2589375" y="13927"/>
                </a:lnTo>
                <a:lnTo>
                  <a:pt x="2589375" y="0"/>
                </a:lnTo>
                <a:close/>
              </a:path>
              <a:path w="3905250" h="13970">
                <a:moveTo>
                  <a:pt x="2677522" y="0"/>
                </a:moveTo>
                <a:lnTo>
                  <a:pt x="2627445" y="0"/>
                </a:lnTo>
                <a:lnTo>
                  <a:pt x="2627445" y="13927"/>
                </a:lnTo>
                <a:lnTo>
                  <a:pt x="2677522" y="13927"/>
                </a:lnTo>
                <a:lnTo>
                  <a:pt x="2677522" y="0"/>
                </a:lnTo>
                <a:close/>
              </a:path>
              <a:path w="3905250" h="13970">
                <a:moveTo>
                  <a:pt x="2765636" y="0"/>
                </a:moveTo>
                <a:lnTo>
                  <a:pt x="2715559" y="0"/>
                </a:lnTo>
                <a:lnTo>
                  <a:pt x="2715559" y="13927"/>
                </a:lnTo>
                <a:lnTo>
                  <a:pt x="2765636" y="13927"/>
                </a:lnTo>
                <a:lnTo>
                  <a:pt x="2765636" y="0"/>
                </a:lnTo>
                <a:close/>
              </a:path>
              <a:path w="3905250" h="13970">
                <a:moveTo>
                  <a:pt x="2853782" y="0"/>
                </a:moveTo>
                <a:lnTo>
                  <a:pt x="2803673" y="0"/>
                </a:lnTo>
                <a:lnTo>
                  <a:pt x="2803673" y="13927"/>
                </a:lnTo>
                <a:lnTo>
                  <a:pt x="2853782" y="13927"/>
                </a:lnTo>
                <a:lnTo>
                  <a:pt x="2853782" y="0"/>
                </a:lnTo>
                <a:close/>
              </a:path>
              <a:path w="3905250" h="13970">
                <a:moveTo>
                  <a:pt x="2939879" y="0"/>
                </a:moveTo>
                <a:lnTo>
                  <a:pt x="2889802" y="0"/>
                </a:lnTo>
                <a:lnTo>
                  <a:pt x="2889802" y="13927"/>
                </a:lnTo>
                <a:lnTo>
                  <a:pt x="2939879" y="13927"/>
                </a:lnTo>
                <a:lnTo>
                  <a:pt x="2939879" y="0"/>
                </a:lnTo>
                <a:close/>
              </a:path>
              <a:path w="3905250" h="13970">
                <a:moveTo>
                  <a:pt x="3027993" y="0"/>
                </a:moveTo>
                <a:lnTo>
                  <a:pt x="2977916" y="0"/>
                </a:lnTo>
                <a:lnTo>
                  <a:pt x="2977916" y="13927"/>
                </a:lnTo>
                <a:lnTo>
                  <a:pt x="3027993" y="13927"/>
                </a:lnTo>
                <a:lnTo>
                  <a:pt x="3027993" y="0"/>
                </a:lnTo>
                <a:close/>
              </a:path>
              <a:path w="3905250" h="13970">
                <a:moveTo>
                  <a:pt x="3116140" y="0"/>
                </a:moveTo>
                <a:lnTo>
                  <a:pt x="3066030" y="0"/>
                </a:lnTo>
                <a:lnTo>
                  <a:pt x="3066030" y="13927"/>
                </a:lnTo>
                <a:lnTo>
                  <a:pt x="3116140" y="13927"/>
                </a:lnTo>
                <a:lnTo>
                  <a:pt x="3116140" y="0"/>
                </a:lnTo>
                <a:close/>
              </a:path>
              <a:path w="3905250" h="13970">
                <a:moveTo>
                  <a:pt x="3204254" y="0"/>
                </a:moveTo>
                <a:lnTo>
                  <a:pt x="3154177" y="0"/>
                </a:lnTo>
                <a:lnTo>
                  <a:pt x="3154177" y="13927"/>
                </a:lnTo>
                <a:lnTo>
                  <a:pt x="3204254" y="13927"/>
                </a:lnTo>
                <a:lnTo>
                  <a:pt x="3204254" y="0"/>
                </a:lnTo>
                <a:close/>
              </a:path>
              <a:path w="3905250" h="13970">
                <a:moveTo>
                  <a:pt x="3290350" y="0"/>
                </a:moveTo>
                <a:lnTo>
                  <a:pt x="3240274" y="0"/>
                </a:lnTo>
                <a:lnTo>
                  <a:pt x="3240274" y="13927"/>
                </a:lnTo>
                <a:lnTo>
                  <a:pt x="3290350" y="13927"/>
                </a:lnTo>
                <a:lnTo>
                  <a:pt x="3290350" y="0"/>
                </a:lnTo>
                <a:close/>
              </a:path>
              <a:path w="3905250" h="13970">
                <a:moveTo>
                  <a:pt x="3378399" y="0"/>
                </a:moveTo>
                <a:lnTo>
                  <a:pt x="3328388" y="0"/>
                </a:lnTo>
                <a:lnTo>
                  <a:pt x="3328388" y="13927"/>
                </a:lnTo>
                <a:lnTo>
                  <a:pt x="3378399" y="13927"/>
                </a:lnTo>
                <a:lnTo>
                  <a:pt x="3378399" y="0"/>
                </a:lnTo>
                <a:close/>
              </a:path>
              <a:path w="3905250" h="13970">
                <a:moveTo>
                  <a:pt x="3466513" y="0"/>
                </a:moveTo>
                <a:lnTo>
                  <a:pt x="3416534" y="0"/>
                </a:lnTo>
                <a:lnTo>
                  <a:pt x="3416534" y="13927"/>
                </a:lnTo>
                <a:lnTo>
                  <a:pt x="3466513" y="13927"/>
                </a:lnTo>
                <a:lnTo>
                  <a:pt x="3466513" y="0"/>
                </a:lnTo>
                <a:close/>
              </a:path>
              <a:path w="3905250" h="13970">
                <a:moveTo>
                  <a:pt x="3554660" y="0"/>
                </a:moveTo>
                <a:lnTo>
                  <a:pt x="3504583" y="0"/>
                </a:lnTo>
                <a:lnTo>
                  <a:pt x="3504583" y="13927"/>
                </a:lnTo>
                <a:lnTo>
                  <a:pt x="3554660" y="13927"/>
                </a:lnTo>
                <a:lnTo>
                  <a:pt x="3554660" y="0"/>
                </a:lnTo>
                <a:close/>
              </a:path>
              <a:path w="3905250" h="13970">
                <a:moveTo>
                  <a:pt x="3640757" y="0"/>
                </a:moveTo>
                <a:lnTo>
                  <a:pt x="3590680" y="0"/>
                </a:lnTo>
                <a:lnTo>
                  <a:pt x="3590680" y="13927"/>
                </a:lnTo>
                <a:lnTo>
                  <a:pt x="3640757" y="13927"/>
                </a:lnTo>
                <a:lnTo>
                  <a:pt x="3640757" y="0"/>
                </a:lnTo>
                <a:close/>
              </a:path>
              <a:path w="3905250" h="13970">
                <a:moveTo>
                  <a:pt x="3728871" y="0"/>
                </a:moveTo>
                <a:lnTo>
                  <a:pt x="3678794" y="0"/>
                </a:lnTo>
                <a:lnTo>
                  <a:pt x="3678794" y="13927"/>
                </a:lnTo>
                <a:lnTo>
                  <a:pt x="3728871" y="13927"/>
                </a:lnTo>
                <a:lnTo>
                  <a:pt x="3728871" y="0"/>
                </a:lnTo>
                <a:close/>
              </a:path>
              <a:path w="3905250" h="13970">
                <a:moveTo>
                  <a:pt x="3817017" y="0"/>
                </a:moveTo>
                <a:lnTo>
                  <a:pt x="3766941" y="0"/>
                </a:lnTo>
                <a:lnTo>
                  <a:pt x="3766941" y="13927"/>
                </a:lnTo>
                <a:lnTo>
                  <a:pt x="3817017" y="13927"/>
                </a:lnTo>
                <a:lnTo>
                  <a:pt x="3817017" y="0"/>
                </a:lnTo>
                <a:close/>
              </a:path>
              <a:path w="3905250" h="13970">
                <a:moveTo>
                  <a:pt x="3905131" y="0"/>
                </a:moveTo>
                <a:lnTo>
                  <a:pt x="3855055" y="0"/>
                </a:lnTo>
                <a:lnTo>
                  <a:pt x="3855055" y="13927"/>
                </a:lnTo>
                <a:lnTo>
                  <a:pt x="3905131" y="13927"/>
                </a:lnTo>
                <a:lnTo>
                  <a:pt x="39051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79468" y="3929903"/>
            <a:ext cx="1540510" cy="0"/>
          </a:xfrm>
          <a:custGeom>
            <a:avLst/>
            <a:gdLst/>
            <a:ahLst/>
            <a:cxnLst/>
            <a:rect l="l" t="t" r="r" b="b"/>
            <a:pathLst>
              <a:path w="1540510">
                <a:moveTo>
                  <a:pt x="0" y="0"/>
                </a:moveTo>
                <a:lnTo>
                  <a:pt x="1540041" y="0"/>
                </a:lnTo>
              </a:path>
            </a:pathLst>
          </a:custGeom>
          <a:ln w="13929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6540" y="3923945"/>
            <a:ext cx="50165" cy="13970"/>
          </a:xfrm>
          <a:custGeom>
            <a:avLst/>
            <a:gdLst/>
            <a:ahLst/>
            <a:cxnLst/>
            <a:rect l="l" t="t" r="r" b="b"/>
            <a:pathLst>
              <a:path w="50164" h="13970">
                <a:moveTo>
                  <a:pt x="0" y="0"/>
                </a:moveTo>
                <a:lnTo>
                  <a:pt x="50076" y="0"/>
                </a:lnTo>
                <a:lnTo>
                  <a:pt x="50076" y="13927"/>
                </a:lnTo>
                <a:lnTo>
                  <a:pt x="0" y="11914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443679" y="3930909"/>
            <a:ext cx="2243455" cy="0"/>
          </a:xfrm>
          <a:custGeom>
            <a:avLst/>
            <a:gdLst/>
            <a:ahLst/>
            <a:cxnLst/>
            <a:rect l="l" t="t" r="r" b="b"/>
            <a:pathLst>
              <a:path w="2243454">
                <a:moveTo>
                  <a:pt x="0" y="0"/>
                </a:moveTo>
                <a:lnTo>
                  <a:pt x="2242936" y="0"/>
                </a:lnTo>
              </a:path>
            </a:pathLst>
          </a:custGeom>
          <a:ln w="15942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40421" y="3053501"/>
            <a:ext cx="182215" cy="245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75651" y="2874789"/>
            <a:ext cx="2019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柩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4444" y="4381700"/>
            <a:ext cx="37846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惬耽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50051" y="4852064"/>
            <a:ext cx="701040" cy="243840"/>
          </a:xfrm>
          <a:custGeom>
            <a:avLst/>
            <a:gdLst/>
            <a:ahLst/>
            <a:cxnLst/>
            <a:rect l="l" t="t" r="r" b="b"/>
            <a:pathLst>
              <a:path w="701039" h="243839">
                <a:moveTo>
                  <a:pt x="0" y="243789"/>
                </a:moveTo>
                <a:lnTo>
                  <a:pt x="700877" y="243789"/>
                </a:lnTo>
                <a:lnTo>
                  <a:pt x="700877" y="0"/>
                </a:lnTo>
                <a:lnTo>
                  <a:pt x="0" y="0"/>
                </a:lnTo>
                <a:lnTo>
                  <a:pt x="0" y="2437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26762" y="4282456"/>
            <a:ext cx="701040" cy="244475"/>
          </a:xfrm>
          <a:custGeom>
            <a:avLst/>
            <a:gdLst/>
            <a:ahLst/>
            <a:cxnLst/>
            <a:rect l="l" t="t" r="r" b="b"/>
            <a:pathLst>
              <a:path w="701039" h="244475">
                <a:moveTo>
                  <a:pt x="0" y="243871"/>
                </a:moveTo>
                <a:lnTo>
                  <a:pt x="700975" y="243871"/>
                </a:lnTo>
                <a:lnTo>
                  <a:pt x="700975" y="0"/>
                </a:lnTo>
                <a:lnTo>
                  <a:pt x="0" y="0"/>
                </a:lnTo>
                <a:lnTo>
                  <a:pt x="0" y="24387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03012" y="4287813"/>
            <a:ext cx="1892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瑾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49645" y="3600975"/>
            <a:ext cx="701040" cy="243840"/>
          </a:xfrm>
          <a:custGeom>
            <a:avLst/>
            <a:gdLst/>
            <a:ahLst/>
            <a:cxnLst/>
            <a:rect l="l" t="t" r="r" b="b"/>
            <a:pathLst>
              <a:path w="701040" h="243839">
                <a:moveTo>
                  <a:pt x="0" y="243789"/>
                </a:moveTo>
                <a:lnTo>
                  <a:pt x="700877" y="243789"/>
                </a:lnTo>
                <a:lnTo>
                  <a:pt x="700877" y="0"/>
                </a:lnTo>
                <a:lnTo>
                  <a:pt x="0" y="0"/>
                </a:lnTo>
                <a:lnTo>
                  <a:pt x="0" y="24378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501638" y="2894755"/>
            <a:ext cx="2019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35" dirty="0">
                <a:solidFill>
                  <a:srgbClr val="FF0000"/>
                </a:solidFill>
                <a:latin typeface="Microsoft JhengHei"/>
                <a:cs typeface="Microsoft JhengHei"/>
              </a:rPr>
              <a:t>疣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28452" y="2894755"/>
            <a:ext cx="2019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b="1" spc="35" dirty="0">
                <a:solidFill>
                  <a:srgbClr val="FF0000"/>
                </a:solidFill>
                <a:latin typeface="Microsoft JhengHei"/>
                <a:cs typeface="Microsoft JhengHei"/>
              </a:rPr>
              <a:t>颛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99795" y="3670237"/>
            <a:ext cx="23926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88595" algn="l"/>
                <a:tab pos="365125" algn="l"/>
                <a:tab pos="539115" algn="l"/>
                <a:tab pos="2203450" algn="l"/>
              </a:tabLst>
            </a:pPr>
            <a:r>
              <a:rPr sz="1350" spc="15" dirty="0">
                <a:latin typeface="宋体"/>
                <a:cs typeface="宋体"/>
              </a:rPr>
              <a:t>#	$	%	&amp;	</a:t>
            </a:r>
            <a:r>
              <a:rPr sz="1350" b="1" spc="35" dirty="0">
                <a:solidFill>
                  <a:srgbClr val="FF0000"/>
                </a:solidFill>
                <a:latin typeface="Microsoft JhengHei"/>
                <a:cs typeface="Microsoft JhengHei"/>
              </a:rPr>
              <a:t>颛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468719" y="4381700"/>
            <a:ext cx="261493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46125" algn="l"/>
                <a:tab pos="1273175" algn="l"/>
                <a:tab pos="2601595" algn="l"/>
              </a:tabLst>
            </a:pPr>
            <a:r>
              <a:rPr sz="1350" b="1" u="heavy" spc="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350" b="1" u="heavy" spc="3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icrosoft JhengHei"/>
                <a:cs typeface="Microsoft JhengHei"/>
              </a:rPr>
              <a:t>瑾	颛	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75336" y="4857340"/>
            <a:ext cx="2188845" cy="4445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353060" algn="r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盔杭</a:t>
            </a:r>
            <a:endParaRPr sz="1350">
              <a:latin typeface="宋体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  <a:tabLst>
                <a:tab pos="226695" algn="l"/>
                <a:tab pos="403225" algn="l"/>
                <a:tab pos="577215" algn="l"/>
                <a:tab pos="805815" algn="l"/>
                <a:tab pos="1089660" algn="l"/>
                <a:tab pos="1792605" algn="l"/>
              </a:tabLst>
            </a:pPr>
            <a:r>
              <a:rPr sz="2025" spc="22" baseline="-8230" dirty="0">
                <a:latin typeface="宋体"/>
                <a:cs typeface="宋体"/>
              </a:rPr>
              <a:t>)	*	+	,	</a:t>
            </a:r>
            <a:r>
              <a:rPr sz="1350" u="heavy" spc="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	</a:t>
            </a:r>
            <a:r>
              <a:rPr sz="1350" b="1" u="heavy" spc="3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Microsoft JhengHei"/>
                <a:cs typeface="Microsoft JhengHei"/>
              </a:rPr>
              <a:t>盔杭	颛</a:t>
            </a:r>
            <a:endParaRPr sz="1350">
              <a:latin typeface="Microsoft JhengHei"/>
              <a:cs typeface="Microsoft JhengHe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02444" y="3440271"/>
            <a:ext cx="6746875" cy="0"/>
          </a:xfrm>
          <a:custGeom>
            <a:avLst/>
            <a:gdLst/>
            <a:ahLst/>
            <a:cxnLst/>
            <a:rect l="l" t="t" r="r" b="b"/>
            <a:pathLst>
              <a:path w="6746875">
                <a:moveTo>
                  <a:pt x="0" y="0"/>
                </a:moveTo>
                <a:lnTo>
                  <a:pt x="6746794" y="0"/>
                </a:lnTo>
              </a:path>
            </a:pathLst>
          </a:custGeom>
          <a:ln w="43924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02444" y="3485234"/>
            <a:ext cx="6746875" cy="0"/>
          </a:xfrm>
          <a:custGeom>
            <a:avLst/>
            <a:gdLst/>
            <a:ahLst/>
            <a:cxnLst/>
            <a:rect l="l" t="t" r="r" b="b"/>
            <a:pathLst>
              <a:path w="6746875">
                <a:moveTo>
                  <a:pt x="0" y="0"/>
                </a:moveTo>
                <a:lnTo>
                  <a:pt x="6746794" y="0"/>
                </a:lnTo>
              </a:path>
            </a:pathLst>
          </a:custGeom>
          <a:ln w="13927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202444" y="4776288"/>
            <a:ext cx="6746875" cy="0"/>
          </a:xfrm>
          <a:custGeom>
            <a:avLst/>
            <a:gdLst/>
            <a:ahLst/>
            <a:cxnLst/>
            <a:rect l="l" t="t" r="r" b="b"/>
            <a:pathLst>
              <a:path w="6746875">
                <a:moveTo>
                  <a:pt x="0" y="0"/>
                </a:moveTo>
                <a:lnTo>
                  <a:pt x="6746794" y="0"/>
                </a:lnTo>
              </a:path>
            </a:pathLst>
          </a:custGeom>
          <a:ln w="45937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02444" y="4821235"/>
            <a:ext cx="6746875" cy="0"/>
          </a:xfrm>
          <a:custGeom>
            <a:avLst/>
            <a:gdLst/>
            <a:ahLst/>
            <a:cxnLst/>
            <a:rect l="l" t="t" r="r" b="b"/>
            <a:pathLst>
              <a:path w="6746875">
                <a:moveTo>
                  <a:pt x="0" y="0"/>
                </a:moveTo>
                <a:lnTo>
                  <a:pt x="6746794" y="0"/>
                </a:lnTo>
              </a:path>
            </a:pathLst>
          </a:custGeom>
          <a:ln w="1597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02444" y="4753319"/>
            <a:ext cx="6746875" cy="46355"/>
          </a:xfrm>
          <a:custGeom>
            <a:avLst/>
            <a:gdLst/>
            <a:ahLst/>
            <a:cxnLst/>
            <a:rect l="l" t="t" r="r" b="b"/>
            <a:pathLst>
              <a:path w="6746875" h="46354">
                <a:moveTo>
                  <a:pt x="0" y="0"/>
                </a:moveTo>
                <a:lnTo>
                  <a:pt x="6746794" y="2012"/>
                </a:lnTo>
                <a:lnTo>
                  <a:pt x="6746794" y="45937"/>
                </a:lnTo>
                <a:lnTo>
                  <a:pt x="0" y="45937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02444" y="4813249"/>
            <a:ext cx="6746875" cy="16510"/>
          </a:xfrm>
          <a:custGeom>
            <a:avLst/>
            <a:gdLst/>
            <a:ahLst/>
            <a:cxnLst/>
            <a:rect l="l" t="t" r="r" b="b"/>
            <a:pathLst>
              <a:path w="6746875" h="16510">
                <a:moveTo>
                  <a:pt x="0" y="0"/>
                </a:moveTo>
                <a:lnTo>
                  <a:pt x="6746794" y="1947"/>
                </a:lnTo>
                <a:lnTo>
                  <a:pt x="6746794" y="15972"/>
                </a:lnTo>
                <a:lnTo>
                  <a:pt x="0" y="15972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801398" y="4521591"/>
            <a:ext cx="3746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5" dirty="0">
                <a:latin typeface="宋体"/>
                <a:cs typeface="宋体"/>
              </a:rPr>
              <a:t>撑箩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34280" y="5556790"/>
            <a:ext cx="7289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哞粮</a:t>
            </a:r>
            <a:r>
              <a:rPr sz="1350" spc="15" dirty="0">
                <a:latin typeface="宋体"/>
                <a:cs typeface="宋体"/>
              </a:rPr>
              <a:t>撑</a:t>
            </a:r>
            <a:r>
              <a:rPr sz="1350" spc="35" dirty="0">
                <a:latin typeface="宋体"/>
                <a:cs typeface="宋体"/>
              </a:rPr>
              <a:t>箩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036945" y="3156615"/>
            <a:ext cx="2128520" cy="686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35"/>
              </a:spcBef>
              <a:tabLst>
                <a:tab pos="530860" algn="l"/>
                <a:tab pos="1405890" algn="l"/>
              </a:tabLst>
            </a:pPr>
            <a:r>
              <a:rPr sz="1350" spc="35" dirty="0">
                <a:latin typeface="宋体"/>
                <a:cs typeface="宋体"/>
              </a:rPr>
              <a:t>柩愁	梅	撑箩</a:t>
            </a:r>
            <a:endParaRPr sz="13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4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tabLst>
                <a:tab pos="175895" algn="l"/>
                <a:tab pos="352425" algn="l"/>
                <a:tab pos="526415" algn="l"/>
                <a:tab pos="1753870" algn="l"/>
              </a:tabLst>
            </a:pPr>
            <a:r>
              <a:rPr sz="1350" spc="15" dirty="0">
                <a:latin typeface="宋体"/>
                <a:cs typeface="宋体"/>
              </a:rPr>
              <a:t>#	$	2	3	撑箩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28842" y="5552862"/>
            <a:ext cx="72898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哞粮</a:t>
            </a:r>
            <a:r>
              <a:rPr sz="1350" spc="15" dirty="0">
                <a:latin typeface="宋体"/>
                <a:cs typeface="宋体"/>
              </a:rPr>
              <a:t>撑</a:t>
            </a:r>
            <a:r>
              <a:rPr sz="1350" spc="35" dirty="0">
                <a:latin typeface="宋体"/>
                <a:cs typeface="宋体"/>
              </a:rPr>
              <a:t>箩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169905" y="3148628"/>
            <a:ext cx="37846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柩愁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800599" y="2821563"/>
            <a:ext cx="701040" cy="2438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225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75"/>
              </a:spcBef>
            </a:pPr>
            <a:r>
              <a:rPr sz="1350" spc="35" dirty="0">
                <a:latin typeface="宋体"/>
                <a:cs typeface="宋体"/>
              </a:rPr>
              <a:t>疣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37669" y="4515617"/>
            <a:ext cx="427355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35" dirty="0">
                <a:latin typeface="宋体"/>
                <a:cs typeface="宋体"/>
              </a:rPr>
              <a:t>哞</a:t>
            </a:r>
            <a:r>
              <a:rPr sz="1350" spc="30" dirty="0">
                <a:latin typeface="宋体"/>
                <a:cs typeface="宋体"/>
              </a:rPr>
              <a:t>粮</a:t>
            </a:r>
            <a:r>
              <a:rPr sz="1350" i="1" spc="10" dirty="0">
                <a:latin typeface="Times New Roman"/>
                <a:cs typeface="Times New Roman"/>
              </a:rPr>
              <a:t>/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388780" y="4515617"/>
            <a:ext cx="374650" cy="2368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350" spc="15" dirty="0">
                <a:latin typeface="宋体"/>
                <a:cs typeface="宋体"/>
              </a:rPr>
              <a:t>撑箩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68738" y="1447860"/>
            <a:ext cx="3098252" cy="11022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1.4.2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软件开发模型</a:t>
            </a:r>
          </a:p>
        </p:txBody>
      </p:sp>
      <p:sp>
        <p:nvSpPr>
          <p:cNvPr id="3" name="object 3"/>
          <p:cNvSpPr/>
          <p:nvPr/>
        </p:nvSpPr>
        <p:spPr>
          <a:xfrm>
            <a:off x="1220050" y="1954012"/>
            <a:ext cx="6222868" cy="40690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2835" y="1514347"/>
            <a:ext cx="93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微软雅黑"/>
                <a:cs typeface="微软雅黑"/>
              </a:rPr>
              <a:t>迭代模型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340</Words>
  <Application>Microsoft Office PowerPoint</Application>
  <PresentationFormat>全屏显示(4:3)</PresentationFormat>
  <Paragraphs>122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Microsoft JhengHei</vt:lpstr>
      <vt:lpstr>华文行楷</vt:lpstr>
      <vt:lpstr>宋体</vt:lpstr>
      <vt:lpstr>微软雅黑</vt:lpstr>
      <vt:lpstr>Arial</vt:lpstr>
      <vt:lpstr>Arial Black</vt:lpstr>
      <vt:lpstr>Calibri</vt:lpstr>
      <vt:lpstr>Times New Roman</vt:lpstr>
      <vt:lpstr>Wingdings</vt:lpstr>
      <vt:lpstr>Office Theme</vt:lpstr>
      <vt:lpstr>1. 软件工程</vt:lpstr>
      <vt:lpstr>1.1.什么是软件工程</vt:lpstr>
      <vt:lpstr>1.2. 软件工程面临的主要挑战</vt:lpstr>
      <vt:lpstr>1.3. 软件工程生命周期</vt:lpstr>
      <vt:lpstr>1.3.1. 软件需求</vt:lpstr>
      <vt:lpstr>1.3.2. 软件开发</vt:lpstr>
      <vt:lpstr>1.3.3. 软件测试和验证</vt:lpstr>
      <vt:lpstr>1.3.4. 软件升级</vt:lpstr>
      <vt:lpstr>1.4. 软件过程概念</vt:lpstr>
      <vt:lpstr>1.4.1 软件与软件过程</vt:lpstr>
      <vt:lpstr>1.4.2 软件开发模型</vt:lpstr>
      <vt:lpstr>1.4.2 软件开发模型</vt:lpstr>
      <vt:lpstr>1.4.2 软件开发模型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软件工程</dc:title>
  <cp:lastModifiedBy>- Vel</cp:lastModifiedBy>
  <cp:revision>2</cp:revision>
  <dcterms:created xsi:type="dcterms:W3CDTF">2024-04-25T04:15:05Z</dcterms:created>
  <dcterms:modified xsi:type="dcterms:W3CDTF">2024-04-25T07:31:36Z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2024-02-27T00:00:00Z</vt:filetime>
  </property>
  <property fmtid="{D5CDD505-2E9C-101B-9397-08002B2CF9AE}" pid="3" name="LastSaved">
    <vt:filetime>2024-04-25T00:00:00Z</vt:filetime>
  </property>
</Properties>
</file>
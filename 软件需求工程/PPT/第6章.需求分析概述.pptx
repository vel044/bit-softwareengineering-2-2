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0066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1700" y="473963"/>
            <a:ext cx="226060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2759" y="1270733"/>
            <a:ext cx="8158480" cy="1741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yuxiazh@bit.edu.cn" TargetMode="External"/><Relationship Id="rId3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2790444"/>
            <a:ext cx="51816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第六章</a:t>
            </a:r>
            <a:r>
              <a:rPr dirty="0" spc="-129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需求分析概述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58978" y="3944620"/>
            <a:ext cx="4114800" cy="1720214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algn="ctr" marL="184150">
              <a:lnSpc>
                <a:spcPct val="100000"/>
              </a:lnSpc>
              <a:spcBef>
                <a:spcPts val="1465"/>
              </a:spcBef>
            </a:pPr>
            <a:r>
              <a:rPr dirty="0" sz="2800">
                <a:latin typeface="宋体"/>
                <a:cs typeface="宋体"/>
              </a:rPr>
              <a:t>张宇霞</a:t>
            </a:r>
            <a:endParaRPr sz="2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370"/>
              </a:spcBef>
            </a:pPr>
            <a:r>
              <a:rPr dirty="0" sz="2800">
                <a:latin typeface="宋体"/>
                <a:cs typeface="宋体"/>
              </a:rPr>
              <a:t>北京理工大学</a:t>
            </a:r>
            <a:r>
              <a:rPr dirty="0" sz="2800" spc="-100">
                <a:latin typeface="宋体"/>
                <a:cs typeface="宋体"/>
              </a:rPr>
              <a:t> </a:t>
            </a:r>
            <a:r>
              <a:rPr dirty="0" sz="2800">
                <a:latin typeface="宋体"/>
                <a:cs typeface="宋体"/>
              </a:rPr>
              <a:t>计算机学院</a:t>
            </a:r>
            <a:endParaRPr sz="2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2800" spc="-5">
                <a:latin typeface="Times New Roman"/>
                <a:cs typeface="Times New Roman"/>
              </a:rPr>
              <a:t>Email: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  <a:hlinkClick r:id="rId2"/>
              </a:rPr>
              <a:t>yuxiazh@bit.edu.cn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52000" y="505477"/>
            <a:ext cx="1439999" cy="14445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5473700" cy="397446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需求分析的根本任务</a:t>
            </a:r>
            <a:endParaRPr sz="3200">
              <a:latin typeface="宋体"/>
              <a:cs typeface="宋体"/>
            </a:endParaRPr>
          </a:p>
          <a:p>
            <a:pPr lvl="1" marL="852805" indent="-495934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dirty="0" sz="2800">
                <a:latin typeface="宋体"/>
                <a:cs typeface="宋体"/>
              </a:rPr>
              <a:t>建立分析模型</a:t>
            </a:r>
            <a:endParaRPr sz="2800">
              <a:latin typeface="宋体"/>
              <a:cs typeface="宋体"/>
            </a:endParaRPr>
          </a:p>
          <a:p>
            <a:pPr lvl="1" marL="852805" indent="-495934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dirty="0" sz="2800">
                <a:latin typeface="宋体"/>
                <a:cs typeface="宋体"/>
              </a:rPr>
              <a:t>建立解决方案</a:t>
            </a:r>
            <a:endParaRPr sz="28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25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需求分析技术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需求分析方法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前期需求阶段的建模与分析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84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需求分析的活动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9268" y="473963"/>
            <a:ext cx="56057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需求分析的根本任务</a:t>
            </a:r>
          </a:p>
        </p:txBody>
      </p:sp>
      <p:sp>
        <p:nvSpPr>
          <p:cNvPr id="3" name="object 3"/>
          <p:cNvSpPr/>
          <p:nvPr/>
        </p:nvSpPr>
        <p:spPr>
          <a:xfrm>
            <a:off x="2858978" y="2142844"/>
            <a:ext cx="0" cy="2945130"/>
          </a:xfrm>
          <a:custGeom>
            <a:avLst/>
            <a:gdLst/>
            <a:ahLst/>
            <a:cxnLst/>
            <a:rect l="l" t="t" r="r" b="b"/>
            <a:pathLst>
              <a:path w="0" h="2945129">
                <a:moveTo>
                  <a:pt x="0" y="0"/>
                </a:moveTo>
                <a:lnTo>
                  <a:pt x="0" y="2944646"/>
                </a:lnTo>
              </a:path>
            </a:pathLst>
          </a:custGeom>
          <a:ln w="562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12049" y="2142844"/>
            <a:ext cx="0" cy="2945130"/>
          </a:xfrm>
          <a:custGeom>
            <a:avLst/>
            <a:gdLst/>
            <a:ahLst/>
            <a:cxnLst/>
            <a:rect l="l" t="t" r="r" b="b"/>
            <a:pathLst>
              <a:path w="0" h="2945129">
                <a:moveTo>
                  <a:pt x="0" y="0"/>
                </a:moveTo>
                <a:lnTo>
                  <a:pt x="0" y="2944646"/>
                </a:lnTo>
              </a:path>
            </a:pathLst>
          </a:custGeom>
          <a:ln w="562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77949" y="2734107"/>
            <a:ext cx="2834640" cy="2056764"/>
          </a:xfrm>
          <a:custGeom>
            <a:avLst/>
            <a:gdLst/>
            <a:ahLst/>
            <a:cxnLst/>
            <a:rect l="l" t="t" r="r" b="b"/>
            <a:pathLst>
              <a:path w="2834640" h="2056764">
                <a:moveTo>
                  <a:pt x="2834099" y="1028229"/>
                </a:moveTo>
                <a:lnTo>
                  <a:pt x="1948068" y="1911669"/>
                </a:lnTo>
                <a:lnTo>
                  <a:pt x="2243412" y="1322718"/>
                </a:lnTo>
                <a:lnTo>
                  <a:pt x="0" y="2056459"/>
                </a:lnTo>
                <a:lnTo>
                  <a:pt x="102510" y="1028229"/>
                </a:lnTo>
                <a:lnTo>
                  <a:pt x="0" y="0"/>
                </a:lnTo>
                <a:lnTo>
                  <a:pt x="2243412" y="733767"/>
                </a:lnTo>
                <a:lnTo>
                  <a:pt x="1948068" y="144789"/>
                </a:lnTo>
                <a:lnTo>
                  <a:pt x="2834099" y="1028229"/>
                </a:lnTo>
                <a:close/>
              </a:path>
            </a:pathLst>
          </a:custGeom>
          <a:ln w="311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19583" y="3215223"/>
            <a:ext cx="1067435" cy="337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>
                <a:latin typeface="MS Gothic"/>
                <a:cs typeface="MS Gothic"/>
              </a:rPr>
              <a:t>需求分析</a:t>
            </a:r>
            <a:endParaRPr sz="2050">
              <a:latin typeface="MS Gothic"/>
              <a:cs typeface="MS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19583" y="3533580"/>
            <a:ext cx="1744980" cy="5727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481330" indent="-469265">
              <a:lnSpc>
                <a:spcPct val="100000"/>
              </a:lnSpc>
              <a:spcBef>
                <a:spcPts val="325"/>
              </a:spcBef>
              <a:buFont typeface="Symbol"/>
              <a:buChar char=""/>
              <a:tabLst>
                <a:tab pos="481330" algn="l"/>
                <a:tab pos="481965" algn="l"/>
              </a:tabLst>
            </a:pPr>
            <a:r>
              <a:rPr dirty="0" sz="1600" spc="40">
                <a:latin typeface="MS Gothic"/>
                <a:cs typeface="MS Gothic"/>
              </a:rPr>
              <a:t>建立分析模型</a:t>
            </a:r>
            <a:endParaRPr sz="1600">
              <a:latin typeface="MS Gothic"/>
              <a:cs typeface="MS Gothic"/>
            </a:endParaRPr>
          </a:p>
          <a:p>
            <a:pPr marL="481330" indent="-469265">
              <a:lnSpc>
                <a:spcPct val="100000"/>
              </a:lnSpc>
              <a:spcBef>
                <a:spcPts val="234"/>
              </a:spcBef>
              <a:buFont typeface="Symbol"/>
              <a:buChar char=""/>
              <a:tabLst>
                <a:tab pos="481330" algn="l"/>
                <a:tab pos="481965" algn="l"/>
              </a:tabLst>
            </a:pPr>
            <a:r>
              <a:rPr dirty="0" sz="1600" spc="40">
                <a:latin typeface="宋体"/>
                <a:cs typeface="宋体"/>
              </a:rPr>
              <a:t>创建解决方案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3932" y="3215223"/>
            <a:ext cx="1067435" cy="337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>
                <a:latin typeface="宋体"/>
                <a:cs typeface="宋体"/>
              </a:rPr>
              <a:t>获取结果</a:t>
            </a:r>
            <a:endParaRPr sz="20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3932" y="3533580"/>
            <a:ext cx="1536065" cy="5727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481330" indent="-469265">
              <a:lnSpc>
                <a:spcPct val="100000"/>
              </a:lnSpc>
              <a:spcBef>
                <a:spcPts val="325"/>
              </a:spcBef>
              <a:buFont typeface="Symbol"/>
              <a:buChar char=""/>
              <a:tabLst>
                <a:tab pos="481330" algn="l"/>
                <a:tab pos="481965" algn="l"/>
              </a:tabLst>
            </a:pPr>
            <a:r>
              <a:rPr dirty="0" sz="1600" spc="40">
                <a:latin typeface="MS Gothic"/>
                <a:cs typeface="MS Gothic"/>
              </a:rPr>
              <a:t>用</a:t>
            </a:r>
            <a:r>
              <a:rPr dirty="0" sz="1600" spc="40">
                <a:latin typeface="宋体"/>
                <a:cs typeface="宋体"/>
              </a:rPr>
              <a:t>户</a:t>
            </a:r>
            <a:r>
              <a:rPr dirty="0" sz="1600" spc="40">
                <a:latin typeface="MS Gothic"/>
                <a:cs typeface="MS Gothic"/>
              </a:rPr>
              <a:t>的理解</a:t>
            </a:r>
            <a:endParaRPr sz="1600">
              <a:latin typeface="MS Gothic"/>
              <a:cs typeface="MS Gothic"/>
            </a:endParaRPr>
          </a:p>
          <a:p>
            <a:pPr marL="481330" indent="-469265">
              <a:lnSpc>
                <a:spcPct val="100000"/>
              </a:lnSpc>
              <a:spcBef>
                <a:spcPts val="234"/>
              </a:spcBef>
              <a:buFont typeface="Symbol"/>
              <a:buChar char=""/>
              <a:tabLst>
                <a:tab pos="481330" algn="l"/>
                <a:tab pos="481965" algn="l"/>
              </a:tabLst>
            </a:pPr>
            <a:r>
              <a:rPr dirty="0" sz="1600" spc="40">
                <a:latin typeface="宋体"/>
                <a:cs typeface="宋体"/>
              </a:rPr>
              <a:t>问题的描述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9640" y="3223872"/>
            <a:ext cx="1588135" cy="337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>
                <a:latin typeface="MS Gothic"/>
                <a:cs typeface="MS Gothic"/>
              </a:rPr>
              <a:t>需求</a:t>
            </a:r>
            <a:r>
              <a:rPr dirty="0" sz="2050" spc="-5">
                <a:latin typeface="MS Gothic"/>
                <a:cs typeface="MS Gothic"/>
              </a:rPr>
              <a:t>开</a:t>
            </a:r>
            <a:r>
              <a:rPr dirty="0" sz="2050">
                <a:latin typeface="宋体"/>
                <a:cs typeface="宋体"/>
              </a:rPr>
              <a:t>发</a:t>
            </a:r>
            <a:r>
              <a:rPr dirty="0" sz="2050">
                <a:latin typeface="MS Gothic"/>
                <a:cs typeface="MS Gothic"/>
              </a:rPr>
              <a:t>目</a:t>
            </a:r>
            <a:r>
              <a:rPr dirty="0" sz="2050">
                <a:latin typeface="宋体"/>
                <a:cs typeface="宋体"/>
              </a:rPr>
              <a:t>标</a:t>
            </a:r>
            <a:endParaRPr sz="20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99640" y="3542229"/>
            <a:ext cx="1953260" cy="5727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481330" indent="-469265">
              <a:lnSpc>
                <a:spcPct val="100000"/>
              </a:lnSpc>
              <a:spcBef>
                <a:spcPts val="325"/>
              </a:spcBef>
              <a:buFont typeface="Symbol"/>
              <a:buChar char=""/>
              <a:tabLst>
                <a:tab pos="481330" algn="l"/>
                <a:tab pos="481965" algn="l"/>
              </a:tabLst>
            </a:pPr>
            <a:r>
              <a:rPr dirty="0" sz="1600" spc="40">
                <a:latin typeface="MS Gothic"/>
                <a:cs typeface="MS Gothic"/>
              </a:rPr>
              <a:t>共同的理解</a:t>
            </a:r>
            <a:endParaRPr sz="1600">
              <a:latin typeface="MS Gothic"/>
              <a:cs typeface="MS Gothic"/>
            </a:endParaRPr>
          </a:p>
          <a:p>
            <a:pPr marL="481330" indent="-469265">
              <a:lnSpc>
                <a:spcPct val="100000"/>
              </a:lnSpc>
              <a:spcBef>
                <a:spcPts val="234"/>
              </a:spcBef>
              <a:buFont typeface="Symbol"/>
              <a:buChar char=""/>
              <a:tabLst>
                <a:tab pos="481330" algn="l"/>
                <a:tab pos="481965" algn="l"/>
              </a:tabLst>
            </a:pPr>
            <a:r>
              <a:rPr dirty="0" sz="1600" spc="40">
                <a:latin typeface="MS Gothic"/>
                <a:cs typeface="MS Gothic"/>
              </a:rPr>
              <a:t>解决方案的描述</a:t>
            </a:r>
            <a:endParaRPr sz="16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9268" y="473963"/>
            <a:ext cx="56057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需求分析的根本任务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95770"/>
            <a:ext cx="7937500" cy="3446779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1.1.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宋体"/>
                <a:cs typeface="宋体"/>
              </a:rPr>
              <a:t>建立分析模型</a:t>
            </a:r>
            <a:endParaRPr sz="3200">
              <a:latin typeface="宋体"/>
              <a:cs typeface="宋体"/>
            </a:endParaRPr>
          </a:p>
          <a:p>
            <a:pPr algn="just" lvl="1" marL="755650" marR="62865" indent="-285750">
              <a:lnSpc>
                <a:spcPts val="3120"/>
              </a:lnSpc>
              <a:spcBef>
                <a:spcPts val="11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将复杂的系统分解成为简单的部分以及它们之 间的联系，确定本质特征</a:t>
            </a:r>
            <a:endParaRPr sz="2800">
              <a:latin typeface="宋体"/>
              <a:cs typeface="宋体"/>
            </a:endParaRPr>
          </a:p>
          <a:p>
            <a:pPr algn="just" lvl="1" marL="755650" indent="-285750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和用户达成对信息内容的共同理解</a:t>
            </a:r>
            <a:endParaRPr sz="2800">
              <a:latin typeface="宋体"/>
              <a:cs typeface="宋体"/>
            </a:endParaRPr>
          </a:p>
          <a:p>
            <a:pPr algn="just" lvl="1" marL="755650" marR="5080" indent="-285750">
              <a:lnSpc>
                <a:spcPct val="96800"/>
              </a:lnSpc>
              <a:spcBef>
                <a:spcPts val="944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分析的活动主要包括</a:t>
            </a:r>
            <a:r>
              <a:rPr dirty="0" baseline="1010" sz="4125" spc="127" b="1">
                <a:solidFill>
                  <a:srgbClr val="C00000"/>
                </a:solidFill>
                <a:latin typeface="宋体"/>
                <a:cs typeface="宋体"/>
              </a:rPr>
              <a:t>识别、定义和结构</a:t>
            </a:r>
            <a:r>
              <a:rPr dirty="0" baseline="1010" sz="4125" spc="120" b="1">
                <a:solidFill>
                  <a:srgbClr val="C00000"/>
                </a:solidFill>
                <a:latin typeface="宋体"/>
                <a:cs typeface="宋体"/>
              </a:rPr>
              <a:t>化</a:t>
            </a:r>
            <a:r>
              <a:rPr dirty="0" sz="2800">
                <a:latin typeface="宋体"/>
                <a:cs typeface="宋体"/>
              </a:rPr>
              <a:t>，它 的目的是获取某个可以转换为知识的事物的信 息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9268" y="336803"/>
            <a:ext cx="56057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需求分析的根本任务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95770"/>
            <a:ext cx="7880350" cy="382968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1.2.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宋体"/>
                <a:cs typeface="宋体"/>
              </a:rPr>
              <a:t>创建解决方案</a:t>
            </a:r>
            <a:endParaRPr sz="3200">
              <a:latin typeface="宋体"/>
              <a:cs typeface="宋体"/>
            </a:endParaRPr>
          </a:p>
          <a:p>
            <a:pPr lvl="1" marL="755650" marR="5080" indent="-285750">
              <a:lnSpc>
                <a:spcPts val="3120"/>
              </a:lnSpc>
              <a:spcBef>
                <a:spcPts val="11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将一个问题分解成独立的、更简单和易于管理 的子问题来帮助寻找解决方案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创建解决方案的过程是创造性的</a:t>
            </a:r>
            <a:endParaRPr sz="2800">
              <a:latin typeface="宋体"/>
              <a:cs typeface="宋体"/>
            </a:endParaRPr>
          </a:p>
          <a:p>
            <a:pPr lvl="1" marL="755650" marR="5080" indent="-285750">
              <a:lnSpc>
                <a:spcPts val="3220"/>
              </a:lnSpc>
              <a:spcBef>
                <a:spcPts val="10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帮助开发者建立问题的定义，并确定被定义的 事物之间的</a:t>
            </a:r>
            <a:r>
              <a:rPr dirty="0" baseline="1010" sz="4125" spc="127" b="1">
                <a:solidFill>
                  <a:srgbClr val="C00000"/>
                </a:solidFill>
                <a:latin typeface="宋体"/>
                <a:cs typeface="宋体"/>
              </a:rPr>
              <a:t>逻辑关系</a:t>
            </a:r>
            <a:endParaRPr baseline="1010" sz="4125">
              <a:latin typeface="宋体"/>
              <a:cs typeface="宋体"/>
            </a:endParaRPr>
          </a:p>
          <a:p>
            <a:pPr lvl="2" marL="1155065" marR="11430" indent="-228600">
              <a:lnSpc>
                <a:spcPts val="2690"/>
              </a:lnSpc>
              <a:spcBef>
                <a:spcPts val="900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这些逻辑关系可以形成信息的推理，进而可以被用 来验证解决方案的正确性。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5537" y="245363"/>
            <a:ext cx="43529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建立分析模型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96583"/>
            <a:ext cx="7835900" cy="4138929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algn="just" marL="355600" indent="-342900">
              <a:lnSpc>
                <a:spcPct val="100000"/>
              </a:lnSpc>
              <a:spcBef>
                <a:spcPts val="730"/>
              </a:spcBef>
              <a:buClr>
                <a:srgbClr val="00663C"/>
              </a:buClr>
              <a:buSzPct val="80000"/>
              <a:buFont typeface="Wingdings"/>
              <a:buChar char=""/>
              <a:tabLst>
                <a:tab pos="355600" algn="l"/>
              </a:tabLst>
            </a:pPr>
            <a:r>
              <a:rPr dirty="0" baseline="1010" sz="4125" spc="127" b="1">
                <a:latin typeface="宋体"/>
                <a:cs typeface="宋体"/>
              </a:rPr>
              <a:t>模型</a:t>
            </a:r>
            <a:endParaRPr baseline="1010" sz="4125">
              <a:latin typeface="宋体"/>
              <a:cs typeface="宋体"/>
            </a:endParaRPr>
          </a:p>
          <a:p>
            <a:pPr algn="just" lvl="1" marL="755650" marR="43815" indent="-285750">
              <a:lnSpc>
                <a:spcPts val="2400"/>
              </a:lnSpc>
              <a:spcBef>
                <a:spcPts val="1030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755650" algn="l"/>
              </a:tabLst>
            </a:pPr>
            <a:r>
              <a:rPr dirty="0" baseline="1182" sz="3525" spc="127" b="1">
                <a:solidFill>
                  <a:srgbClr val="009E5E"/>
                </a:solidFill>
                <a:latin typeface="宋体"/>
                <a:cs typeface="宋体"/>
              </a:rPr>
              <a:t>定义</a:t>
            </a:r>
            <a:r>
              <a:rPr dirty="0" baseline="1182" sz="3525" spc="135" b="1">
                <a:solidFill>
                  <a:srgbClr val="009E5E"/>
                </a:solidFill>
                <a:latin typeface="宋体"/>
                <a:cs typeface="宋体"/>
              </a:rPr>
              <a:t>：</a:t>
            </a:r>
            <a:r>
              <a:rPr dirty="0" sz="2400">
                <a:latin typeface="宋体"/>
                <a:cs typeface="宋体"/>
              </a:rPr>
              <a:t>“模型是对事物的抽象，帮助人们在创建一个 事物之前可以有更好的理解”</a:t>
            </a:r>
            <a:endParaRPr sz="2400">
              <a:latin typeface="宋体"/>
              <a:cs typeface="宋体"/>
            </a:endParaRPr>
          </a:p>
          <a:p>
            <a:pPr algn="just" lvl="1" marL="755650" indent="-285750">
              <a:lnSpc>
                <a:spcPct val="100000"/>
              </a:lnSpc>
              <a:spcBef>
                <a:spcPts val="3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集中</a:t>
            </a:r>
            <a:r>
              <a:rPr dirty="0" u="sng" baseline="1182" sz="3525" spc="127" b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关注问题的计算特</a:t>
            </a:r>
            <a:r>
              <a:rPr dirty="0" u="sng" baseline="1182" sz="3525" spc="135" b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性</a:t>
            </a:r>
            <a:r>
              <a:rPr dirty="0" sz="2400">
                <a:latin typeface="宋体"/>
                <a:cs typeface="宋体"/>
              </a:rPr>
              <a:t>（数据、功能、规则等等）</a:t>
            </a:r>
            <a:endParaRPr sz="2400">
              <a:latin typeface="宋体"/>
              <a:cs typeface="宋体"/>
            </a:endParaRPr>
          </a:p>
          <a:p>
            <a:pPr algn="just" lvl="1" marL="755650" marR="62865" indent="-285750">
              <a:lnSpc>
                <a:spcPct val="86700"/>
              </a:lnSpc>
              <a:spcBef>
                <a:spcPts val="8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“它是对系统进行思考和推理的一种方式。建模的目 标是建立系统的一个表示，这个表示以</a:t>
            </a:r>
            <a:r>
              <a:rPr dirty="0" sz="2400">
                <a:solidFill>
                  <a:srgbClr val="009E5E"/>
                </a:solidFill>
                <a:latin typeface="宋体"/>
                <a:cs typeface="宋体"/>
              </a:rPr>
              <a:t>精确一致的方 式</a:t>
            </a:r>
            <a:r>
              <a:rPr dirty="0" sz="2400">
                <a:latin typeface="宋体"/>
                <a:cs typeface="宋体"/>
              </a:rPr>
              <a:t>描述系统，使得系统的使用更加容易”</a:t>
            </a:r>
            <a:endParaRPr sz="2400">
              <a:latin typeface="宋体"/>
              <a:cs typeface="宋体"/>
            </a:endParaRPr>
          </a:p>
          <a:p>
            <a:pPr algn="just" lvl="1" marL="755650" indent="-285750">
              <a:lnSpc>
                <a:spcPct val="100000"/>
              </a:lnSpc>
              <a:spcBef>
                <a:spcPts val="31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建模方法</a:t>
            </a:r>
            <a:endParaRPr sz="24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000">
                <a:latin typeface="宋体"/>
                <a:cs typeface="宋体"/>
              </a:rPr>
              <a:t>抽象</a:t>
            </a:r>
            <a:endParaRPr sz="20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000">
                <a:latin typeface="宋体"/>
                <a:cs typeface="宋体"/>
              </a:rPr>
              <a:t>分解</a:t>
            </a:r>
            <a:endParaRPr sz="20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000">
                <a:latin typeface="宋体"/>
                <a:cs typeface="宋体"/>
              </a:rPr>
              <a:t>投影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8537" y="196595"/>
            <a:ext cx="71469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建立分析模型：建模方法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84580"/>
            <a:ext cx="8026400" cy="502031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抽象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Abstraction</a:t>
            </a:r>
            <a:r>
              <a:rPr dirty="0" sz="2400" spc="-5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一方面要求人们只关注重要的信息，忽略次要的内容</a:t>
            </a:r>
            <a:endParaRPr sz="20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宋体"/>
                <a:cs typeface="宋体"/>
              </a:rPr>
              <a:t>通过强调本质的特征，就减少了问题的复杂性</a:t>
            </a:r>
            <a:endParaRPr sz="1800">
              <a:latin typeface="宋体"/>
              <a:cs typeface="宋体"/>
            </a:endParaRPr>
          </a:p>
          <a:p>
            <a:pPr lvl="1" marL="755650" marR="151130" indent="-285750">
              <a:lnSpc>
                <a:spcPts val="2210"/>
              </a:lnSpc>
              <a:spcBef>
                <a:spcPts val="869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另一方面也要求人们将认知保留在适当的层次，</a:t>
            </a:r>
            <a:r>
              <a:rPr dirty="0" sz="2000">
                <a:solidFill>
                  <a:srgbClr val="009E5E"/>
                </a:solidFill>
                <a:latin typeface="宋体"/>
                <a:cs typeface="宋体"/>
              </a:rPr>
              <a:t>屏蔽更深层次的 细节</a:t>
            </a:r>
            <a:endParaRPr sz="2000">
              <a:latin typeface="宋体"/>
              <a:cs typeface="宋体"/>
            </a:endParaRPr>
          </a:p>
          <a:p>
            <a:pPr lvl="2" marL="1155065" marR="5080" indent="-228600">
              <a:lnSpc>
                <a:spcPts val="2020"/>
              </a:lnSpc>
              <a:spcBef>
                <a:spcPts val="72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宋体"/>
                <a:cs typeface="宋体"/>
              </a:rPr>
              <a:t>在问题的各元素之间推断出更广泛和更普遍的关系，帮助人们寻找解 决方案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分解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Decomposition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/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Partitioning</a:t>
            </a:r>
            <a:r>
              <a:rPr dirty="0" sz="2400" spc="-5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2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“分而治之”</a:t>
            </a:r>
            <a:endParaRPr sz="2000">
              <a:latin typeface="宋体"/>
              <a:cs typeface="宋体"/>
            </a:endParaRPr>
          </a:p>
          <a:p>
            <a:pPr lvl="2" marL="1155065" marR="5080" indent="-228600">
              <a:lnSpc>
                <a:spcPts val="1989"/>
              </a:lnSpc>
              <a:spcBef>
                <a:spcPts val="81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宋体"/>
                <a:cs typeface="宋体"/>
              </a:rPr>
              <a:t>将单个复杂和难以理解的问题分解成多个相对更容易的子问题，并</a:t>
            </a:r>
            <a:r>
              <a:rPr dirty="0" sz="1800">
                <a:solidFill>
                  <a:srgbClr val="009E5E"/>
                </a:solidFill>
                <a:latin typeface="宋体"/>
                <a:cs typeface="宋体"/>
              </a:rPr>
              <a:t>掌 握各子问题之间的联系</a:t>
            </a:r>
            <a:endParaRPr sz="1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09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分解的方案往往还能提供问题的解决思路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09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投影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Projection</a:t>
            </a:r>
            <a:r>
              <a:rPr dirty="0" sz="2400" spc="-5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多视点方法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8537" y="123444"/>
            <a:ext cx="71469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建立分析模型：业务模型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81193"/>
            <a:ext cx="7778750" cy="491998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3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问题世界与业务模型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使用问题域中的重要概念作为模型的组元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使用概念之间的业务联系作为组元之间的关系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3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使用了</a:t>
            </a:r>
            <a:r>
              <a:rPr dirty="0" sz="2800">
                <a:solidFill>
                  <a:srgbClr val="009E5E"/>
                </a:solidFill>
                <a:latin typeface="宋体"/>
                <a:cs typeface="宋体"/>
              </a:rPr>
              <a:t>业务描述</a:t>
            </a:r>
            <a:r>
              <a:rPr dirty="0" sz="2800">
                <a:latin typeface="宋体"/>
                <a:cs typeface="宋体"/>
              </a:rPr>
              <a:t>的方式，具有非形式化特征</a:t>
            </a:r>
            <a:endParaRPr sz="2800">
              <a:latin typeface="宋体"/>
              <a:cs typeface="宋体"/>
            </a:endParaRPr>
          </a:p>
          <a:p>
            <a:pPr lvl="1" marL="755650" marR="5080" indent="-285750">
              <a:lnSpc>
                <a:spcPts val="2690"/>
              </a:lnSpc>
              <a:spcBef>
                <a:spcPts val="108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业务模型元素（即业务概念和业务联系）的选取和定 义上具有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不准确、不确定和模糊化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可以抽取出需求信息中最重要和最本质的内容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可以达成用户和开发者的共同理解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1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非形式化特征使得它不适合于进行需求建模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不足以描述</a:t>
            </a:r>
            <a:r>
              <a:rPr dirty="0" sz="2400">
                <a:latin typeface="宋体"/>
                <a:cs typeface="宋体"/>
              </a:rPr>
              <a:t>一个有效的软件解决方案</a:t>
            </a:r>
            <a:endParaRPr sz="24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000">
                <a:latin typeface="宋体"/>
                <a:cs typeface="宋体"/>
              </a:rPr>
              <a:t>不准确、不确定和模糊化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8537" y="211836"/>
            <a:ext cx="71469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建立分析模型：计算模型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063" y="1199049"/>
            <a:ext cx="4279900" cy="391604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计算世界与计算模型</a:t>
            </a:r>
            <a:endParaRPr sz="2800">
              <a:latin typeface="宋体"/>
              <a:cs typeface="宋体"/>
            </a:endParaRPr>
          </a:p>
          <a:p>
            <a:pPr lvl="1" marL="755015" marR="163830" indent="-285750">
              <a:lnSpc>
                <a:spcPts val="2690"/>
              </a:lnSpc>
              <a:spcBef>
                <a:spcPts val="98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使用软件的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构成单位</a:t>
            </a:r>
            <a:r>
              <a:rPr dirty="0" sz="2400">
                <a:latin typeface="宋体"/>
                <a:cs typeface="宋体"/>
              </a:rPr>
              <a:t>作为 模型的</a:t>
            </a:r>
            <a:r>
              <a:rPr dirty="0" sz="2400">
                <a:solidFill>
                  <a:srgbClr val="009E5E"/>
                </a:solidFill>
                <a:latin typeface="宋体"/>
                <a:cs typeface="宋体"/>
              </a:rPr>
              <a:t>组元</a:t>
            </a:r>
            <a:endParaRPr sz="2400">
              <a:latin typeface="宋体"/>
              <a:cs typeface="宋体"/>
            </a:endParaRPr>
          </a:p>
          <a:p>
            <a:pPr lvl="1" marL="755015" marR="163830" indent="-285750">
              <a:lnSpc>
                <a:spcPts val="2710"/>
              </a:lnSpc>
              <a:spcBef>
                <a:spcPts val="89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软件构建单位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之间的关系 </a:t>
            </a:r>
            <a:r>
              <a:rPr dirty="0" sz="2400">
                <a:latin typeface="宋体"/>
                <a:cs typeface="宋体"/>
              </a:rPr>
              <a:t>作为模型组元之间的关系</a:t>
            </a:r>
            <a:endParaRPr sz="2400">
              <a:latin typeface="宋体"/>
              <a:cs typeface="宋体"/>
            </a:endParaRPr>
          </a:p>
          <a:p>
            <a:pPr marL="355600" marR="5080" indent="-342900">
              <a:lnSpc>
                <a:spcPts val="3100"/>
              </a:lnSpc>
              <a:spcBef>
                <a:spcPts val="118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基于计算科学建立的，具 有</a:t>
            </a:r>
            <a:r>
              <a:rPr dirty="0" sz="2800">
                <a:solidFill>
                  <a:srgbClr val="009E5E"/>
                </a:solidFill>
                <a:latin typeface="宋体"/>
                <a:cs typeface="宋体"/>
              </a:rPr>
              <a:t>形式化</a:t>
            </a:r>
            <a:r>
              <a:rPr dirty="0" sz="2800">
                <a:latin typeface="宋体"/>
                <a:cs typeface="宋体"/>
              </a:rPr>
              <a:t>的特征</a:t>
            </a:r>
            <a:endParaRPr sz="2800">
              <a:latin typeface="宋体"/>
              <a:cs typeface="宋体"/>
            </a:endParaRPr>
          </a:p>
          <a:p>
            <a:pPr lvl="1" marL="755015" marR="163830" indent="-285750">
              <a:lnSpc>
                <a:spcPts val="2710"/>
              </a:lnSpc>
              <a:spcBef>
                <a:spcPts val="10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400">
                <a:latin typeface="宋体"/>
                <a:cs typeface="宋体"/>
              </a:rPr>
              <a:t>信息的描述具有明确化、 准确化和确定化的特征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0" y="1661160"/>
            <a:ext cx="4572000" cy="3910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5537" y="211836"/>
            <a:ext cx="43529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建立分析模型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7880350" cy="375094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软件分析模型</a:t>
            </a:r>
            <a:endParaRPr sz="3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介于</a:t>
            </a:r>
            <a:r>
              <a:rPr dirty="0" sz="2800">
                <a:solidFill>
                  <a:srgbClr val="009E5E"/>
                </a:solidFill>
                <a:latin typeface="宋体"/>
                <a:cs typeface="宋体"/>
              </a:rPr>
              <a:t>业务模型</a:t>
            </a:r>
            <a:r>
              <a:rPr dirty="0" sz="2800">
                <a:latin typeface="宋体"/>
                <a:cs typeface="宋体"/>
              </a:rPr>
              <a:t>和</a:t>
            </a:r>
            <a:r>
              <a:rPr dirty="0" sz="2800">
                <a:solidFill>
                  <a:srgbClr val="009E5E"/>
                </a:solidFill>
                <a:latin typeface="宋体"/>
                <a:cs typeface="宋体"/>
              </a:rPr>
              <a:t>计算模型</a:t>
            </a:r>
            <a:r>
              <a:rPr dirty="0" sz="2800">
                <a:latin typeface="宋体"/>
                <a:cs typeface="宋体"/>
              </a:rPr>
              <a:t>二者之间的模型形式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使用了计算模型的组元形式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在组元的表现上采用了业务模型的表现方式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半形式化的</a:t>
            </a:r>
            <a:endParaRPr sz="3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不像计算模型那么严谨</a:t>
            </a:r>
            <a:endParaRPr sz="28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比业务模型更严格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76340" y="6309519"/>
            <a:ext cx="4174490" cy="0"/>
          </a:xfrm>
          <a:custGeom>
            <a:avLst/>
            <a:gdLst/>
            <a:ahLst/>
            <a:cxnLst/>
            <a:rect l="l" t="t" r="r" b="b"/>
            <a:pathLst>
              <a:path w="4174490" h="0">
                <a:moveTo>
                  <a:pt x="0" y="0"/>
                </a:moveTo>
                <a:lnTo>
                  <a:pt x="4174010" y="0"/>
                </a:lnTo>
              </a:path>
            </a:pathLst>
          </a:custGeom>
          <a:ln w="14288">
            <a:solidFill>
              <a:srgbClr val="0066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-6350" y="6309519"/>
            <a:ext cx="4572635" cy="0"/>
          </a:xfrm>
          <a:custGeom>
            <a:avLst/>
            <a:gdLst/>
            <a:ahLst/>
            <a:cxnLst/>
            <a:rect l="l" t="t" r="r" b="b"/>
            <a:pathLst>
              <a:path w="4572635" h="0">
                <a:moveTo>
                  <a:pt x="0" y="0"/>
                </a:moveTo>
                <a:lnTo>
                  <a:pt x="4572081" y="0"/>
                </a:lnTo>
              </a:path>
            </a:pathLst>
          </a:custGeom>
          <a:ln w="14288">
            <a:solidFill>
              <a:srgbClr val="0066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95537" y="102107"/>
            <a:ext cx="43529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建立分析模型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9740" y="934212"/>
            <a:ext cx="19939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三种模型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20167" y="2413552"/>
            <a:ext cx="57213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5">
                <a:latin typeface="MS Gothic"/>
                <a:cs typeface="MS Gothic"/>
              </a:rPr>
              <a:t>每</a:t>
            </a:r>
            <a:r>
              <a:rPr dirty="0" sz="1450" spc="-20">
                <a:latin typeface="MS Gothic"/>
                <a:cs typeface="MS Gothic"/>
              </a:rPr>
              <a:t>本</a:t>
            </a:r>
            <a:r>
              <a:rPr dirty="0" sz="1450" spc="-20">
                <a:latin typeface="宋体"/>
                <a:cs typeface="宋体"/>
              </a:rPr>
              <a:t>书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8655" y="2659961"/>
            <a:ext cx="111569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>
                <a:latin typeface="MS Gothic"/>
                <a:cs typeface="MS Gothic"/>
              </a:rPr>
              <a:t>都有至少一个</a:t>
            </a:r>
            <a:endParaRPr sz="145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1180" y="2906857"/>
            <a:ext cx="37719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5">
                <a:latin typeface="MS Gothic"/>
                <a:cs typeface="MS Gothic"/>
              </a:rPr>
              <a:t>作</a:t>
            </a:r>
            <a:r>
              <a:rPr dirty="0" sz="1450" spc="-1425">
                <a:latin typeface="MS Gothic"/>
                <a:cs typeface="MS Gothic"/>
              </a:rPr>
              <a:t>者</a:t>
            </a:r>
            <a:endParaRPr sz="1450">
              <a:latin typeface="MS Gothic"/>
              <a:cs typeface="MS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0712" y="1589942"/>
            <a:ext cx="1406525" cy="2174240"/>
          </a:xfrm>
          <a:custGeom>
            <a:avLst/>
            <a:gdLst/>
            <a:ahLst/>
            <a:cxnLst/>
            <a:rect l="l" t="t" r="r" b="b"/>
            <a:pathLst>
              <a:path w="1406525" h="2174240">
                <a:moveTo>
                  <a:pt x="0" y="2173802"/>
                </a:moveTo>
                <a:lnTo>
                  <a:pt x="1406375" y="2173802"/>
                </a:lnTo>
                <a:lnTo>
                  <a:pt x="1406375" y="0"/>
                </a:lnTo>
                <a:lnTo>
                  <a:pt x="0" y="0"/>
                </a:lnTo>
                <a:lnTo>
                  <a:pt x="0" y="2173802"/>
                </a:lnTo>
                <a:close/>
              </a:path>
            </a:pathLst>
          </a:custGeom>
          <a:ln w="219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67090" y="1585877"/>
            <a:ext cx="1236345" cy="2174240"/>
          </a:xfrm>
          <a:custGeom>
            <a:avLst/>
            <a:gdLst/>
            <a:ahLst/>
            <a:cxnLst/>
            <a:rect l="l" t="t" r="r" b="b"/>
            <a:pathLst>
              <a:path w="1236345" h="2174240">
                <a:moveTo>
                  <a:pt x="0" y="2173802"/>
                </a:moveTo>
                <a:lnTo>
                  <a:pt x="1235885" y="2173802"/>
                </a:lnTo>
                <a:lnTo>
                  <a:pt x="1235885" y="0"/>
                </a:lnTo>
                <a:lnTo>
                  <a:pt x="0" y="0"/>
                </a:lnTo>
                <a:lnTo>
                  <a:pt x="0" y="2173802"/>
                </a:lnTo>
                <a:close/>
              </a:path>
            </a:pathLst>
          </a:custGeom>
          <a:ln w="219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7211" y="1629319"/>
            <a:ext cx="2557780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671955" algn="l"/>
              </a:tabLst>
            </a:pPr>
            <a:r>
              <a:rPr dirty="0" sz="1750" spc="-35">
                <a:latin typeface="MS Gothic"/>
                <a:cs typeface="MS Gothic"/>
              </a:rPr>
              <a:t>需</a:t>
            </a:r>
            <a:r>
              <a:rPr dirty="0" sz="1750" spc="-40">
                <a:latin typeface="MS Gothic"/>
                <a:cs typeface="MS Gothic"/>
              </a:rPr>
              <a:t>求</a:t>
            </a:r>
            <a:r>
              <a:rPr dirty="0" sz="1750" spc="-35">
                <a:latin typeface="宋体"/>
                <a:cs typeface="宋体"/>
              </a:rPr>
              <a:t>获</a:t>
            </a:r>
            <a:r>
              <a:rPr dirty="0" sz="1750" spc="-35">
                <a:latin typeface="MS Gothic"/>
                <a:cs typeface="MS Gothic"/>
              </a:rPr>
              <a:t>取信息</a:t>
            </a:r>
            <a:r>
              <a:rPr dirty="0" sz="1750">
                <a:latin typeface="MS Gothic"/>
                <a:cs typeface="MS Gothic"/>
              </a:rPr>
              <a:t>	</a:t>
            </a:r>
            <a:r>
              <a:rPr dirty="0" sz="1750" spc="-35">
                <a:latin typeface="宋体"/>
                <a:cs typeface="宋体"/>
              </a:rPr>
              <a:t>业务模型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03030" y="1589942"/>
            <a:ext cx="2163445" cy="2174240"/>
          </a:xfrm>
          <a:custGeom>
            <a:avLst/>
            <a:gdLst/>
            <a:ahLst/>
            <a:cxnLst/>
            <a:rect l="l" t="t" r="r" b="b"/>
            <a:pathLst>
              <a:path w="2163445" h="2174240">
                <a:moveTo>
                  <a:pt x="0" y="2173802"/>
                </a:moveTo>
                <a:lnTo>
                  <a:pt x="2162871" y="2173802"/>
                </a:lnTo>
                <a:lnTo>
                  <a:pt x="2162871" y="0"/>
                </a:lnTo>
                <a:lnTo>
                  <a:pt x="0" y="0"/>
                </a:lnTo>
                <a:lnTo>
                  <a:pt x="0" y="2173802"/>
                </a:lnTo>
                <a:close/>
              </a:path>
            </a:pathLst>
          </a:custGeom>
          <a:ln w="221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72386" y="1691735"/>
            <a:ext cx="897890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35">
                <a:latin typeface="MS Gothic"/>
                <a:cs typeface="MS Gothic"/>
              </a:rPr>
              <a:t>分析模型</a:t>
            </a:r>
            <a:endParaRPr sz="1750">
              <a:latin typeface="MS Gothic"/>
              <a:cs typeface="MS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65720" y="1589942"/>
            <a:ext cx="3559175" cy="2174240"/>
          </a:xfrm>
          <a:custGeom>
            <a:avLst/>
            <a:gdLst/>
            <a:ahLst/>
            <a:cxnLst/>
            <a:rect l="l" t="t" r="r" b="b"/>
            <a:pathLst>
              <a:path w="3559175" h="2174240">
                <a:moveTo>
                  <a:pt x="0" y="2173802"/>
                </a:moveTo>
                <a:lnTo>
                  <a:pt x="3558946" y="2173802"/>
                </a:lnTo>
                <a:lnTo>
                  <a:pt x="3558946" y="0"/>
                </a:lnTo>
                <a:lnTo>
                  <a:pt x="0" y="0"/>
                </a:lnTo>
                <a:lnTo>
                  <a:pt x="0" y="2173802"/>
                </a:lnTo>
                <a:close/>
              </a:path>
            </a:pathLst>
          </a:custGeom>
          <a:ln w="222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739114" y="1617535"/>
            <a:ext cx="897890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35">
                <a:latin typeface="宋体"/>
                <a:cs typeface="宋体"/>
              </a:rPr>
              <a:t>计算模型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6896" y="2177498"/>
            <a:ext cx="963294" cy="1323975"/>
          </a:xfrm>
          <a:custGeom>
            <a:avLst/>
            <a:gdLst/>
            <a:ahLst/>
            <a:cxnLst/>
            <a:rect l="l" t="t" r="r" b="b"/>
            <a:pathLst>
              <a:path w="963294" h="1323975">
                <a:moveTo>
                  <a:pt x="963082" y="0"/>
                </a:moveTo>
                <a:lnTo>
                  <a:pt x="0" y="1"/>
                </a:lnTo>
                <a:lnTo>
                  <a:pt x="0" y="1070265"/>
                </a:lnTo>
                <a:lnTo>
                  <a:pt x="227270" y="1323467"/>
                </a:lnTo>
                <a:lnTo>
                  <a:pt x="963082" y="1323467"/>
                </a:lnTo>
                <a:lnTo>
                  <a:pt x="96308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6896" y="3247764"/>
            <a:ext cx="227329" cy="253365"/>
          </a:xfrm>
          <a:custGeom>
            <a:avLst/>
            <a:gdLst/>
            <a:ahLst/>
            <a:cxnLst/>
            <a:rect l="l" t="t" r="r" b="b"/>
            <a:pathLst>
              <a:path w="227330" h="253364">
                <a:moveTo>
                  <a:pt x="227270" y="0"/>
                </a:moveTo>
                <a:lnTo>
                  <a:pt x="0" y="0"/>
                </a:lnTo>
                <a:lnTo>
                  <a:pt x="227270" y="253201"/>
                </a:lnTo>
                <a:lnTo>
                  <a:pt x="22727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42689" y="2121646"/>
            <a:ext cx="963294" cy="1323975"/>
          </a:xfrm>
          <a:custGeom>
            <a:avLst/>
            <a:gdLst/>
            <a:ahLst/>
            <a:cxnLst/>
            <a:rect l="l" t="t" r="r" b="b"/>
            <a:pathLst>
              <a:path w="963294" h="1323975">
                <a:moveTo>
                  <a:pt x="963082" y="0"/>
                </a:moveTo>
                <a:lnTo>
                  <a:pt x="0" y="0"/>
                </a:lnTo>
                <a:lnTo>
                  <a:pt x="0" y="1070265"/>
                </a:lnTo>
                <a:lnTo>
                  <a:pt x="227270" y="1323466"/>
                </a:lnTo>
                <a:lnTo>
                  <a:pt x="963082" y="1323466"/>
                </a:lnTo>
                <a:lnTo>
                  <a:pt x="963082" y="0"/>
                </a:lnTo>
                <a:close/>
              </a:path>
            </a:pathLst>
          </a:custGeom>
          <a:solidFill>
            <a:srgbClr val="D8E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2689" y="3191912"/>
            <a:ext cx="227329" cy="253365"/>
          </a:xfrm>
          <a:custGeom>
            <a:avLst/>
            <a:gdLst/>
            <a:ahLst/>
            <a:cxnLst/>
            <a:rect l="l" t="t" r="r" b="b"/>
            <a:pathLst>
              <a:path w="227329" h="253364">
                <a:moveTo>
                  <a:pt x="227270" y="0"/>
                </a:moveTo>
                <a:lnTo>
                  <a:pt x="0" y="0"/>
                </a:lnTo>
                <a:lnTo>
                  <a:pt x="227270" y="253201"/>
                </a:lnTo>
                <a:lnTo>
                  <a:pt x="227270" y="0"/>
                </a:lnTo>
                <a:close/>
              </a:path>
            </a:pathLst>
          </a:custGeom>
          <a:solidFill>
            <a:srgbClr val="D8EB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2689" y="2121647"/>
            <a:ext cx="963294" cy="1323975"/>
          </a:xfrm>
          <a:custGeom>
            <a:avLst/>
            <a:gdLst/>
            <a:ahLst/>
            <a:cxnLst/>
            <a:rect l="l" t="t" r="r" b="b"/>
            <a:pathLst>
              <a:path w="963294" h="1323975">
                <a:moveTo>
                  <a:pt x="475383" y="1323466"/>
                </a:moveTo>
                <a:lnTo>
                  <a:pt x="227270" y="1323466"/>
                </a:lnTo>
                <a:lnTo>
                  <a:pt x="0" y="1070265"/>
                </a:lnTo>
                <a:lnTo>
                  <a:pt x="0" y="661257"/>
                </a:lnTo>
                <a:lnTo>
                  <a:pt x="0" y="0"/>
                </a:lnTo>
                <a:lnTo>
                  <a:pt x="475383" y="0"/>
                </a:lnTo>
                <a:lnTo>
                  <a:pt x="963082" y="0"/>
                </a:lnTo>
                <a:lnTo>
                  <a:pt x="963082" y="649164"/>
                </a:lnTo>
                <a:lnTo>
                  <a:pt x="963082" y="1323466"/>
                </a:lnTo>
                <a:lnTo>
                  <a:pt x="475383" y="1323466"/>
                </a:lnTo>
                <a:close/>
              </a:path>
            </a:pathLst>
          </a:custGeom>
          <a:ln w="68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42689" y="3191912"/>
            <a:ext cx="227329" cy="253365"/>
          </a:xfrm>
          <a:custGeom>
            <a:avLst/>
            <a:gdLst/>
            <a:ahLst/>
            <a:cxnLst/>
            <a:rect l="l" t="t" r="r" b="b"/>
            <a:pathLst>
              <a:path w="227329" h="253364">
                <a:moveTo>
                  <a:pt x="0" y="0"/>
                </a:moveTo>
                <a:lnTo>
                  <a:pt x="227270" y="0"/>
                </a:lnTo>
                <a:lnTo>
                  <a:pt x="227270" y="253201"/>
                </a:lnTo>
                <a:lnTo>
                  <a:pt x="0" y="0"/>
                </a:lnTo>
                <a:close/>
              </a:path>
            </a:pathLst>
          </a:custGeom>
          <a:ln w="68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42927" y="1977988"/>
            <a:ext cx="1306195" cy="532130"/>
          </a:xfrm>
          <a:custGeom>
            <a:avLst/>
            <a:gdLst/>
            <a:ahLst/>
            <a:cxnLst/>
            <a:rect l="l" t="t" r="r" b="b"/>
            <a:pathLst>
              <a:path w="1306195" h="532130">
                <a:moveTo>
                  <a:pt x="0" y="531536"/>
                </a:moveTo>
                <a:lnTo>
                  <a:pt x="1305607" y="531536"/>
                </a:lnTo>
                <a:lnTo>
                  <a:pt x="1305607" y="0"/>
                </a:lnTo>
                <a:lnTo>
                  <a:pt x="0" y="0"/>
                </a:lnTo>
                <a:lnTo>
                  <a:pt x="0" y="531536"/>
                </a:lnTo>
                <a:close/>
              </a:path>
            </a:pathLst>
          </a:custGeom>
          <a:ln w="223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302891" y="2318912"/>
            <a:ext cx="28003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latin typeface="Arial"/>
                <a:cs typeface="Arial"/>
              </a:rPr>
              <a:t>…</a:t>
            </a:r>
            <a:r>
              <a:rPr dirty="0" sz="1150" spc="-5">
                <a:latin typeface="Times New Roman"/>
                <a:cs typeface="Times New Roman"/>
              </a:rPr>
              <a:t>...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242927" y="1775497"/>
            <a:ext cx="1306195" cy="202565"/>
          </a:xfrm>
          <a:custGeom>
            <a:avLst/>
            <a:gdLst/>
            <a:ahLst/>
            <a:cxnLst/>
            <a:rect l="l" t="t" r="r" b="b"/>
            <a:pathLst>
              <a:path w="1306195" h="202564">
                <a:moveTo>
                  <a:pt x="0" y="202491"/>
                </a:moveTo>
                <a:lnTo>
                  <a:pt x="1305607" y="202491"/>
                </a:lnTo>
                <a:lnTo>
                  <a:pt x="1305607" y="0"/>
                </a:lnTo>
                <a:lnTo>
                  <a:pt x="0" y="0"/>
                </a:lnTo>
                <a:lnTo>
                  <a:pt x="0" y="202491"/>
                </a:lnTo>
                <a:close/>
              </a:path>
            </a:pathLst>
          </a:custGeom>
          <a:ln w="22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302891" y="1759300"/>
            <a:ext cx="1119505" cy="5721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34975">
              <a:lnSpc>
                <a:spcPct val="100000"/>
              </a:lnSpc>
              <a:spcBef>
                <a:spcPts val="125"/>
              </a:spcBef>
            </a:pPr>
            <a:r>
              <a:rPr dirty="0" sz="1150" spc="-5">
                <a:latin typeface="Times New Roman"/>
                <a:cs typeface="Times New Roman"/>
              </a:rPr>
              <a:t>Book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50" spc="-5">
                <a:latin typeface="MS Gothic"/>
                <a:cs typeface="MS Gothic"/>
              </a:rPr>
              <a:t>＃</a:t>
            </a:r>
            <a:r>
              <a:rPr dirty="0" sz="1150" spc="-5">
                <a:latin typeface="Times New Roman"/>
                <a:cs typeface="Times New Roman"/>
              </a:rPr>
              <a:t>ISBN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50" spc="-5">
                <a:latin typeface="Times New Roman"/>
                <a:cs typeface="Times New Roman"/>
              </a:rPr>
              <a:t>Title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-5">
                <a:latin typeface="Times New Roman"/>
                <a:cs typeface="Times New Roman"/>
              </a:rPr>
              <a:t>Varchar(100)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52026" y="3122218"/>
            <a:ext cx="1306195" cy="532130"/>
          </a:xfrm>
          <a:custGeom>
            <a:avLst/>
            <a:gdLst/>
            <a:ahLst/>
            <a:cxnLst/>
            <a:rect l="l" t="t" r="r" b="b"/>
            <a:pathLst>
              <a:path w="1306195" h="532129">
                <a:moveTo>
                  <a:pt x="0" y="531536"/>
                </a:moveTo>
                <a:lnTo>
                  <a:pt x="1305607" y="531536"/>
                </a:lnTo>
                <a:lnTo>
                  <a:pt x="1305607" y="0"/>
                </a:lnTo>
                <a:lnTo>
                  <a:pt x="0" y="0"/>
                </a:lnTo>
                <a:lnTo>
                  <a:pt x="0" y="531536"/>
                </a:lnTo>
                <a:close/>
              </a:path>
            </a:pathLst>
          </a:custGeom>
          <a:ln w="223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411991" y="3086644"/>
            <a:ext cx="1119505" cy="581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5">
                <a:latin typeface="MS Gothic"/>
                <a:cs typeface="MS Gothic"/>
              </a:rPr>
              <a:t>＃</a:t>
            </a:r>
            <a:r>
              <a:rPr dirty="0" sz="1150" spc="-5">
                <a:latin typeface="Times New Roman"/>
                <a:cs typeface="Times New Roman"/>
              </a:rPr>
              <a:t>ID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150" spc="-5">
                <a:latin typeface="Times New Roman"/>
                <a:cs typeface="Times New Roman"/>
              </a:rPr>
              <a:t>Name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-5">
                <a:latin typeface="Times New Roman"/>
                <a:cs typeface="Times New Roman"/>
              </a:rPr>
              <a:t>Varchar(50)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5">
                <a:latin typeface="Arial"/>
                <a:cs typeface="Arial"/>
              </a:rPr>
              <a:t>…</a:t>
            </a:r>
            <a:r>
              <a:rPr dirty="0" sz="1150" spc="-5">
                <a:latin typeface="Times New Roman"/>
                <a:cs typeface="Times New Roman"/>
              </a:rPr>
              <a:t>...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52026" y="2919726"/>
            <a:ext cx="1306195" cy="202565"/>
          </a:xfrm>
          <a:custGeom>
            <a:avLst/>
            <a:gdLst/>
            <a:ahLst/>
            <a:cxnLst/>
            <a:rect l="l" t="t" r="r" b="b"/>
            <a:pathLst>
              <a:path w="1306195" h="202564">
                <a:moveTo>
                  <a:pt x="0" y="202491"/>
                </a:moveTo>
                <a:lnTo>
                  <a:pt x="1305607" y="202491"/>
                </a:lnTo>
                <a:lnTo>
                  <a:pt x="1305607" y="0"/>
                </a:lnTo>
                <a:lnTo>
                  <a:pt x="0" y="0"/>
                </a:lnTo>
                <a:lnTo>
                  <a:pt x="0" y="202491"/>
                </a:lnTo>
                <a:close/>
              </a:path>
            </a:pathLst>
          </a:custGeom>
          <a:ln w="22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786034" y="2903530"/>
            <a:ext cx="43751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5">
                <a:latin typeface="Times New Roman"/>
                <a:cs typeface="Times New Roman"/>
              </a:rPr>
              <a:t>Author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242927" y="3070851"/>
            <a:ext cx="1306195" cy="647700"/>
          </a:xfrm>
          <a:custGeom>
            <a:avLst/>
            <a:gdLst/>
            <a:ahLst/>
            <a:cxnLst/>
            <a:rect l="l" t="t" r="r" b="b"/>
            <a:pathLst>
              <a:path w="1306195" h="647700">
                <a:moveTo>
                  <a:pt x="0" y="647670"/>
                </a:moveTo>
                <a:lnTo>
                  <a:pt x="1305607" y="647670"/>
                </a:lnTo>
                <a:lnTo>
                  <a:pt x="1305607" y="0"/>
                </a:lnTo>
                <a:lnTo>
                  <a:pt x="0" y="0"/>
                </a:lnTo>
                <a:lnTo>
                  <a:pt x="0" y="647670"/>
                </a:lnTo>
                <a:close/>
              </a:path>
            </a:pathLst>
          </a:custGeom>
          <a:ln w="22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302891" y="2986184"/>
            <a:ext cx="502284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latin typeface="MS Gothic"/>
                <a:cs typeface="MS Gothic"/>
              </a:rPr>
              <a:t>＃</a:t>
            </a:r>
            <a:r>
              <a:rPr dirty="0" sz="1150" spc="-5">
                <a:latin typeface="Times New Roman"/>
                <a:cs typeface="Times New Roman"/>
              </a:rPr>
              <a:t>ISBN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02891" y="3362687"/>
            <a:ext cx="509905" cy="41973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50" spc="-10">
                <a:latin typeface="MS Gothic"/>
                <a:cs typeface="MS Gothic"/>
              </a:rPr>
              <a:t>＃</a:t>
            </a:r>
            <a:r>
              <a:rPr dirty="0" sz="1150" spc="-5">
                <a:latin typeface="Times New Roman"/>
                <a:cs typeface="Times New Roman"/>
              </a:rPr>
              <a:t>NUM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5">
                <a:latin typeface="Arial"/>
                <a:cs typeface="Arial"/>
              </a:rPr>
              <a:t>…</a:t>
            </a:r>
            <a:r>
              <a:rPr dirty="0" sz="1150" spc="-5">
                <a:latin typeface="Times New Roman"/>
                <a:cs typeface="Times New Roman"/>
              </a:rPr>
              <a:t>...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242927" y="2868365"/>
            <a:ext cx="1306195" cy="202565"/>
          </a:xfrm>
          <a:custGeom>
            <a:avLst/>
            <a:gdLst/>
            <a:ahLst/>
            <a:cxnLst/>
            <a:rect l="l" t="t" r="r" b="b"/>
            <a:pathLst>
              <a:path w="1306195" h="202564">
                <a:moveTo>
                  <a:pt x="0" y="202491"/>
                </a:moveTo>
                <a:lnTo>
                  <a:pt x="1305607" y="202491"/>
                </a:lnTo>
                <a:lnTo>
                  <a:pt x="1305607" y="0"/>
                </a:lnTo>
                <a:lnTo>
                  <a:pt x="0" y="0"/>
                </a:lnTo>
                <a:lnTo>
                  <a:pt x="0" y="202491"/>
                </a:lnTo>
                <a:close/>
              </a:path>
            </a:pathLst>
          </a:custGeom>
          <a:ln w="22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701277" y="2852168"/>
            <a:ext cx="38862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5">
                <a:latin typeface="Times New Roman"/>
                <a:cs typeface="Times New Roman"/>
              </a:rPr>
              <a:t>Wrote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95821" y="2509524"/>
            <a:ext cx="0" cy="359410"/>
          </a:xfrm>
          <a:custGeom>
            <a:avLst/>
            <a:gdLst/>
            <a:ahLst/>
            <a:cxnLst/>
            <a:rect l="l" t="t" r="r" b="b"/>
            <a:pathLst>
              <a:path w="0" h="359410">
                <a:moveTo>
                  <a:pt x="0" y="0"/>
                </a:moveTo>
                <a:lnTo>
                  <a:pt x="0" y="358840"/>
                </a:lnTo>
              </a:path>
            </a:pathLst>
          </a:custGeom>
          <a:ln w="4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548534" y="3387986"/>
            <a:ext cx="803910" cy="6985"/>
          </a:xfrm>
          <a:custGeom>
            <a:avLst/>
            <a:gdLst/>
            <a:ahLst/>
            <a:cxnLst/>
            <a:rect l="l" t="t" r="r" b="b"/>
            <a:pathLst>
              <a:path w="803909" h="6985">
                <a:moveTo>
                  <a:pt x="0" y="6696"/>
                </a:moveTo>
                <a:lnTo>
                  <a:pt x="803492" y="0"/>
                </a:lnTo>
              </a:path>
            </a:pathLst>
          </a:custGeom>
          <a:ln w="44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975224" y="2658842"/>
            <a:ext cx="24384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5">
                <a:latin typeface="Times New Roman"/>
                <a:cs typeface="Times New Roman"/>
              </a:rPr>
              <a:t>1..n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19247" y="3161630"/>
            <a:ext cx="9842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5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77797" y="3385182"/>
            <a:ext cx="24384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5">
                <a:latin typeface="Times New Roman"/>
                <a:cs typeface="Times New Roman"/>
              </a:rPr>
              <a:t>0..n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174338" y="2368139"/>
            <a:ext cx="687070" cy="353695"/>
          </a:xfrm>
          <a:custGeom>
            <a:avLst/>
            <a:gdLst/>
            <a:ahLst/>
            <a:cxnLst/>
            <a:rect l="l" t="t" r="r" b="b"/>
            <a:pathLst>
              <a:path w="687070" h="353694">
                <a:moveTo>
                  <a:pt x="0" y="353659"/>
                </a:moveTo>
                <a:lnTo>
                  <a:pt x="686992" y="353659"/>
                </a:lnTo>
                <a:lnTo>
                  <a:pt x="686992" y="0"/>
                </a:lnTo>
                <a:lnTo>
                  <a:pt x="0" y="0"/>
                </a:lnTo>
                <a:lnTo>
                  <a:pt x="0" y="353659"/>
                </a:lnTo>
                <a:close/>
              </a:path>
            </a:pathLst>
          </a:custGeom>
          <a:ln w="223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414148" y="2406762"/>
            <a:ext cx="20764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>
                <a:latin typeface="宋体"/>
                <a:cs typeface="宋体"/>
              </a:rPr>
              <a:t>书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341881" y="3039920"/>
            <a:ext cx="721360" cy="318770"/>
          </a:xfrm>
          <a:custGeom>
            <a:avLst/>
            <a:gdLst/>
            <a:ahLst/>
            <a:cxnLst/>
            <a:rect l="l" t="t" r="r" b="b"/>
            <a:pathLst>
              <a:path w="721360" h="318770">
                <a:moveTo>
                  <a:pt x="0" y="318513"/>
                </a:moveTo>
                <a:lnTo>
                  <a:pt x="720926" y="318513"/>
                </a:lnTo>
                <a:lnTo>
                  <a:pt x="720926" y="0"/>
                </a:lnTo>
                <a:lnTo>
                  <a:pt x="0" y="0"/>
                </a:lnTo>
                <a:lnTo>
                  <a:pt x="0" y="318513"/>
                </a:lnTo>
                <a:close/>
              </a:path>
            </a:pathLst>
          </a:custGeom>
          <a:ln w="223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508119" y="3060979"/>
            <a:ext cx="38925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>
                <a:latin typeface="MS Gothic"/>
                <a:cs typeface="MS Gothic"/>
              </a:rPr>
              <a:t>作者</a:t>
            </a:r>
            <a:endParaRPr sz="1450">
              <a:latin typeface="MS Gothic"/>
              <a:cs typeface="MS Gothic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517861" y="2721798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4">
                <a:moveTo>
                  <a:pt x="0" y="0"/>
                </a:moveTo>
                <a:lnTo>
                  <a:pt x="0" y="340846"/>
                </a:lnTo>
              </a:path>
            </a:pathLst>
          </a:custGeom>
          <a:ln w="217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374530" y="3062645"/>
            <a:ext cx="287020" cy="295910"/>
          </a:xfrm>
          <a:custGeom>
            <a:avLst/>
            <a:gdLst/>
            <a:ahLst/>
            <a:cxnLst/>
            <a:rect l="l" t="t" r="r" b="b"/>
            <a:pathLst>
              <a:path w="287020" h="295910">
                <a:moveTo>
                  <a:pt x="143331" y="295395"/>
                </a:moveTo>
                <a:lnTo>
                  <a:pt x="286844" y="147707"/>
                </a:lnTo>
                <a:lnTo>
                  <a:pt x="143331" y="0"/>
                </a:lnTo>
                <a:lnTo>
                  <a:pt x="0" y="147707"/>
                </a:lnTo>
                <a:lnTo>
                  <a:pt x="143331" y="295395"/>
                </a:lnTo>
                <a:close/>
              </a:path>
            </a:pathLst>
          </a:custGeom>
          <a:ln w="221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61374" y="3199186"/>
            <a:ext cx="680720" cy="11430"/>
          </a:xfrm>
          <a:custGeom>
            <a:avLst/>
            <a:gdLst/>
            <a:ahLst/>
            <a:cxnLst/>
            <a:rect l="l" t="t" r="r" b="b"/>
            <a:pathLst>
              <a:path w="680720" h="11430">
                <a:moveTo>
                  <a:pt x="0" y="11166"/>
                </a:moveTo>
                <a:lnTo>
                  <a:pt x="680507" y="0"/>
                </a:lnTo>
              </a:path>
            </a:pathLst>
          </a:custGeom>
          <a:ln w="224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480637" y="2834247"/>
            <a:ext cx="41910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10">
                <a:latin typeface="Times New Roman"/>
                <a:cs typeface="Times New Roman"/>
              </a:rPr>
              <a:t>(0,</a:t>
            </a:r>
            <a:r>
              <a:rPr dirty="0" sz="1450" spc="-7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n)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23499" y="3369879"/>
            <a:ext cx="389255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20">
                <a:latin typeface="MS Gothic"/>
                <a:cs typeface="MS Gothic"/>
              </a:rPr>
              <a:t>写作</a:t>
            </a:r>
            <a:endParaRPr sz="1450">
              <a:latin typeface="MS Gothic"/>
              <a:cs typeface="MS Gothic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27889" y="3857279"/>
            <a:ext cx="3773170" cy="2795905"/>
          </a:xfrm>
          <a:custGeom>
            <a:avLst/>
            <a:gdLst/>
            <a:ahLst/>
            <a:cxnLst/>
            <a:rect l="l" t="t" r="r" b="b"/>
            <a:pathLst>
              <a:path w="3773170" h="2795904">
                <a:moveTo>
                  <a:pt x="0" y="2795367"/>
                </a:moveTo>
                <a:lnTo>
                  <a:pt x="3773115" y="2795367"/>
                </a:lnTo>
                <a:lnTo>
                  <a:pt x="3773115" y="0"/>
                </a:lnTo>
                <a:lnTo>
                  <a:pt x="0" y="0"/>
                </a:lnTo>
                <a:lnTo>
                  <a:pt x="0" y="2795367"/>
                </a:lnTo>
                <a:close/>
              </a:path>
            </a:pathLst>
          </a:custGeom>
          <a:ln w="243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200904" y="3857279"/>
            <a:ext cx="2287270" cy="2795905"/>
          </a:xfrm>
          <a:custGeom>
            <a:avLst/>
            <a:gdLst/>
            <a:ahLst/>
            <a:cxnLst/>
            <a:rect l="l" t="t" r="r" b="b"/>
            <a:pathLst>
              <a:path w="2287270" h="2795904">
                <a:moveTo>
                  <a:pt x="0" y="2795367"/>
                </a:moveTo>
                <a:lnTo>
                  <a:pt x="2286779" y="2795367"/>
                </a:lnTo>
                <a:lnTo>
                  <a:pt x="2286779" y="0"/>
                </a:lnTo>
                <a:lnTo>
                  <a:pt x="0" y="0"/>
                </a:lnTo>
                <a:lnTo>
                  <a:pt x="0" y="2795367"/>
                </a:lnTo>
                <a:close/>
              </a:path>
            </a:pathLst>
          </a:custGeom>
          <a:ln w="242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001347" y="4347174"/>
            <a:ext cx="686435" cy="1665605"/>
          </a:xfrm>
          <a:custGeom>
            <a:avLst/>
            <a:gdLst/>
            <a:ahLst/>
            <a:cxnLst/>
            <a:rect l="l" t="t" r="r" b="b"/>
            <a:pathLst>
              <a:path w="686435" h="1665604">
                <a:moveTo>
                  <a:pt x="0" y="1665061"/>
                </a:moveTo>
                <a:lnTo>
                  <a:pt x="686013" y="1665061"/>
                </a:lnTo>
                <a:lnTo>
                  <a:pt x="686013" y="0"/>
                </a:lnTo>
                <a:lnTo>
                  <a:pt x="0" y="0"/>
                </a:lnTo>
                <a:lnTo>
                  <a:pt x="0" y="1665061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001347" y="4347174"/>
            <a:ext cx="686435" cy="1665605"/>
          </a:xfrm>
          <a:custGeom>
            <a:avLst/>
            <a:gdLst/>
            <a:ahLst/>
            <a:cxnLst/>
            <a:rect l="l" t="t" r="r" b="b"/>
            <a:pathLst>
              <a:path w="686435" h="1665604">
                <a:moveTo>
                  <a:pt x="0" y="1665061"/>
                </a:moveTo>
                <a:lnTo>
                  <a:pt x="686013" y="1665061"/>
                </a:lnTo>
                <a:lnTo>
                  <a:pt x="686013" y="0"/>
                </a:lnTo>
                <a:lnTo>
                  <a:pt x="0" y="0"/>
                </a:lnTo>
                <a:lnTo>
                  <a:pt x="0" y="1665061"/>
                </a:lnTo>
                <a:close/>
              </a:path>
            </a:pathLst>
          </a:custGeom>
          <a:ln w="48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5210488" y="4644728"/>
            <a:ext cx="267970" cy="105029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12700" marR="5080">
              <a:lnSpc>
                <a:spcPts val="1920"/>
              </a:lnSpc>
              <a:spcBef>
                <a:spcPts val="484"/>
              </a:spcBef>
            </a:pPr>
            <a:r>
              <a:rPr dirty="0" sz="1900">
                <a:latin typeface="宋体"/>
                <a:cs typeface="宋体"/>
              </a:rPr>
              <a:t>计 算 模 型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487683" y="3857279"/>
            <a:ext cx="2287270" cy="2795905"/>
          </a:xfrm>
          <a:custGeom>
            <a:avLst/>
            <a:gdLst/>
            <a:ahLst/>
            <a:cxnLst/>
            <a:rect l="l" t="t" r="r" b="b"/>
            <a:pathLst>
              <a:path w="2287270" h="2795904">
                <a:moveTo>
                  <a:pt x="0" y="2795367"/>
                </a:moveTo>
                <a:lnTo>
                  <a:pt x="2286779" y="2795367"/>
                </a:lnTo>
                <a:lnTo>
                  <a:pt x="2286779" y="0"/>
                </a:lnTo>
                <a:lnTo>
                  <a:pt x="0" y="0"/>
                </a:lnTo>
                <a:lnTo>
                  <a:pt x="0" y="2795367"/>
                </a:lnTo>
                <a:close/>
              </a:path>
            </a:pathLst>
          </a:custGeom>
          <a:ln w="242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321000" y="4342762"/>
            <a:ext cx="662305" cy="1671955"/>
          </a:xfrm>
          <a:custGeom>
            <a:avLst/>
            <a:gdLst/>
            <a:ahLst/>
            <a:cxnLst/>
            <a:rect l="l" t="t" r="r" b="b"/>
            <a:pathLst>
              <a:path w="662304" h="1671954">
                <a:moveTo>
                  <a:pt x="0" y="1671466"/>
                </a:moveTo>
                <a:lnTo>
                  <a:pt x="661812" y="1671466"/>
                </a:lnTo>
                <a:lnTo>
                  <a:pt x="661812" y="0"/>
                </a:lnTo>
                <a:lnTo>
                  <a:pt x="0" y="0"/>
                </a:lnTo>
                <a:lnTo>
                  <a:pt x="0" y="1671466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321000" y="4342761"/>
            <a:ext cx="662305" cy="1671955"/>
          </a:xfrm>
          <a:custGeom>
            <a:avLst/>
            <a:gdLst/>
            <a:ahLst/>
            <a:cxnLst/>
            <a:rect l="l" t="t" r="r" b="b"/>
            <a:pathLst>
              <a:path w="662304" h="1671954">
                <a:moveTo>
                  <a:pt x="0" y="1671466"/>
                </a:moveTo>
                <a:lnTo>
                  <a:pt x="661812" y="1671466"/>
                </a:lnTo>
                <a:lnTo>
                  <a:pt x="661812" y="0"/>
                </a:lnTo>
                <a:lnTo>
                  <a:pt x="0" y="0"/>
                </a:lnTo>
                <a:lnTo>
                  <a:pt x="0" y="1671466"/>
                </a:lnTo>
                <a:close/>
              </a:path>
            </a:pathLst>
          </a:custGeom>
          <a:ln w="48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7518242" y="4643346"/>
            <a:ext cx="267970" cy="105029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12700" marR="5080">
              <a:lnSpc>
                <a:spcPts val="1920"/>
              </a:lnSpc>
              <a:spcBef>
                <a:spcPts val="484"/>
              </a:spcBef>
            </a:pPr>
            <a:r>
              <a:rPr dirty="0" sz="1900">
                <a:latin typeface="MS Gothic"/>
                <a:cs typeface="MS Gothic"/>
              </a:rPr>
              <a:t>机 器 指 令</a:t>
            </a:r>
            <a:endParaRPr sz="1900">
              <a:latin typeface="MS Gothic"/>
              <a:cs typeface="MS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47243" y="3873960"/>
            <a:ext cx="1155065" cy="367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spc="-30">
                <a:latin typeface="宋体"/>
                <a:cs typeface="宋体"/>
              </a:rPr>
              <a:t>计算世界</a:t>
            </a:r>
            <a:endParaRPr sz="2250">
              <a:latin typeface="宋体"/>
              <a:cs typeface="宋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130423" y="3836751"/>
            <a:ext cx="1155065" cy="367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spc="-30">
                <a:latin typeface="MS Gothic"/>
                <a:cs typeface="MS Gothic"/>
              </a:rPr>
              <a:t>机器世界</a:t>
            </a:r>
            <a:endParaRPr sz="2250">
              <a:latin typeface="MS Gothic"/>
              <a:cs typeface="MS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60162" y="3845087"/>
            <a:ext cx="1155065" cy="367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 spc="-30">
                <a:latin typeface="宋体"/>
                <a:cs typeface="宋体"/>
              </a:rPr>
              <a:t>问题世界</a:t>
            </a:r>
            <a:endParaRPr sz="2250">
              <a:latin typeface="宋体"/>
              <a:cs typeface="宋体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843740" y="4379198"/>
            <a:ext cx="715010" cy="1665605"/>
          </a:xfrm>
          <a:custGeom>
            <a:avLst/>
            <a:gdLst/>
            <a:ahLst/>
            <a:cxnLst/>
            <a:rect l="l" t="t" r="r" b="b"/>
            <a:pathLst>
              <a:path w="715010" h="1665604">
                <a:moveTo>
                  <a:pt x="0" y="1665061"/>
                </a:moveTo>
                <a:lnTo>
                  <a:pt x="714590" y="1665061"/>
                </a:lnTo>
                <a:lnTo>
                  <a:pt x="714590" y="0"/>
                </a:lnTo>
                <a:lnTo>
                  <a:pt x="0" y="0"/>
                </a:lnTo>
                <a:lnTo>
                  <a:pt x="0" y="1665061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843739" y="4379198"/>
            <a:ext cx="715010" cy="1665605"/>
          </a:xfrm>
          <a:custGeom>
            <a:avLst/>
            <a:gdLst/>
            <a:ahLst/>
            <a:cxnLst/>
            <a:rect l="l" t="t" r="r" b="b"/>
            <a:pathLst>
              <a:path w="715010" h="1665604">
                <a:moveTo>
                  <a:pt x="0" y="1665061"/>
                </a:moveTo>
                <a:lnTo>
                  <a:pt x="714590" y="1665061"/>
                </a:lnTo>
                <a:lnTo>
                  <a:pt x="714590" y="0"/>
                </a:lnTo>
                <a:lnTo>
                  <a:pt x="0" y="0"/>
                </a:lnTo>
                <a:lnTo>
                  <a:pt x="0" y="1665061"/>
                </a:lnTo>
                <a:close/>
              </a:path>
            </a:pathLst>
          </a:custGeom>
          <a:ln w="48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4067199" y="4676733"/>
            <a:ext cx="267970" cy="105029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12700" marR="5080">
              <a:lnSpc>
                <a:spcPts val="1920"/>
              </a:lnSpc>
              <a:spcBef>
                <a:spcPts val="484"/>
              </a:spcBef>
            </a:pPr>
            <a:r>
              <a:rPr dirty="0" sz="1900">
                <a:latin typeface="MS Gothic"/>
                <a:cs typeface="MS Gothic"/>
              </a:rPr>
              <a:t>分 析 模 型</a:t>
            </a:r>
            <a:endParaRPr sz="1900">
              <a:latin typeface="MS Gothic"/>
              <a:cs typeface="MS Gothic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144635" y="4347174"/>
            <a:ext cx="686435" cy="1665605"/>
          </a:xfrm>
          <a:custGeom>
            <a:avLst/>
            <a:gdLst/>
            <a:ahLst/>
            <a:cxnLst/>
            <a:rect l="l" t="t" r="r" b="b"/>
            <a:pathLst>
              <a:path w="686434" h="1665604">
                <a:moveTo>
                  <a:pt x="0" y="1665061"/>
                </a:moveTo>
                <a:lnTo>
                  <a:pt x="686013" y="1665061"/>
                </a:lnTo>
                <a:lnTo>
                  <a:pt x="686013" y="0"/>
                </a:lnTo>
                <a:lnTo>
                  <a:pt x="0" y="0"/>
                </a:lnTo>
                <a:lnTo>
                  <a:pt x="0" y="1665061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144636" y="4347174"/>
            <a:ext cx="686435" cy="1665605"/>
          </a:xfrm>
          <a:custGeom>
            <a:avLst/>
            <a:gdLst/>
            <a:ahLst/>
            <a:cxnLst/>
            <a:rect l="l" t="t" r="r" b="b"/>
            <a:pathLst>
              <a:path w="686434" h="1665604">
                <a:moveTo>
                  <a:pt x="0" y="1665061"/>
                </a:moveTo>
                <a:lnTo>
                  <a:pt x="686013" y="1665061"/>
                </a:lnTo>
                <a:lnTo>
                  <a:pt x="686013" y="0"/>
                </a:lnTo>
                <a:lnTo>
                  <a:pt x="0" y="0"/>
                </a:lnTo>
                <a:lnTo>
                  <a:pt x="0" y="1665061"/>
                </a:lnTo>
                <a:close/>
              </a:path>
            </a:pathLst>
          </a:custGeom>
          <a:ln w="48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353979" y="4644728"/>
            <a:ext cx="267970" cy="105029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12700" marR="5080">
              <a:lnSpc>
                <a:spcPts val="1920"/>
              </a:lnSpc>
              <a:spcBef>
                <a:spcPts val="484"/>
              </a:spcBef>
            </a:pPr>
            <a:r>
              <a:rPr dirty="0" sz="1900">
                <a:latin typeface="宋体"/>
                <a:cs typeface="宋体"/>
              </a:rPr>
              <a:t>编 码 模 型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939005" y="3939670"/>
            <a:ext cx="725170" cy="2684145"/>
          </a:xfrm>
          <a:custGeom>
            <a:avLst/>
            <a:gdLst/>
            <a:ahLst/>
            <a:cxnLst/>
            <a:rect l="l" t="t" r="r" b="b"/>
            <a:pathLst>
              <a:path w="725169" h="2684145">
                <a:moveTo>
                  <a:pt x="362407" y="720668"/>
                </a:moveTo>
                <a:lnTo>
                  <a:pt x="280262" y="285156"/>
                </a:lnTo>
                <a:lnTo>
                  <a:pt x="245360" y="785323"/>
                </a:lnTo>
                <a:lnTo>
                  <a:pt x="12415" y="285156"/>
                </a:lnTo>
                <a:lnTo>
                  <a:pt x="155262" y="946455"/>
                </a:lnTo>
                <a:lnTo>
                  <a:pt x="0" y="1070480"/>
                </a:lnTo>
                <a:lnTo>
                  <a:pt x="124891" y="1463091"/>
                </a:lnTo>
                <a:lnTo>
                  <a:pt x="4530" y="1812497"/>
                </a:lnTo>
                <a:lnTo>
                  <a:pt x="190164" y="1731738"/>
                </a:lnTo>
                <a:lnTo>
                  <a:pt x="159792" y="2188985"/>
                </a:lnTo>
                <a:lnTo>
                  <a:pt x="258880" y="1941727"/>
                </a:lnTo>
                <a:lnTo>
                  <a:pt x="284721" y="2683875"/>
                </a:lnTo>
                <a:lnTo>
                  <a:pt x="353407" y="1855743"/>
                </a:lnTo>
                <a:lnTo>
                  <a:pt x="444512" y="2452396"/>
                </a:lnTo>
                <a:lnTo>
                  <a:pt x="470454" y="1796353"/>
                </a:lnTo>
                <a:lnTo>
                  <a:pt x="608872" y="2248374"/>
                </a:lnTo>
                <a:lnTo>
                  <a:pt x="564981" y="1608058"/>
                </a:lnTo>
                <a:lnTo>
                  <a:pt x="724812" y="1651366"/>
                </a:lnTo>
                <a:lnTo>
                  <a:pt x="590823" y="1301553"/>
                </a:lnTo>
                <a:lnTo>
                  <a:pt x="707930" y="1011110"/>
                </a:lnTo>
                <a:lnTo>
                  <a:pt x="560451" y="908942"/>
                </a:lnTo>
                <a:lnTo>
                  <a:pt x="616755" y="553844"/>
                </a:lnTo>
                <a:lnTo>
                  <a:pt x="474984" y="661705"/>
                </a:lnTo>
                <a:lnTo>
                  <a:pt x="487296" y="0"/>
                </a:lnTo>
                <a:lnTo>
                  <a:pt x="362407" y="720668"/>
                </a:lnTo>
                <a:close/>
              </a:path>
            </a:pathLst>
          </a:custGeom>
          <a:ln w="75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172148" y="4969189"/>
            <a:ext cx="2070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5">
                <a:latin typeface="宋体"/>
                <a:cs typeface="宋体"/>
              </a:rPr>
              <a:t>圾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72149" y="5518153"/>
            <a:ext cx="20701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5">
                <a:latin typeface="宋体"/>
                <a:cs typeface="宋体"/>
              </a:rPr>
              <a:t>烯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2485869" y="4411222"/>
            <a:ext cx="715010" cy="1665605"/>
          </a:xfrm>
          <a:custGeom>
            <a:avLst/>
            <a:gdLst/>
            <a:ahLst/>
            <a:cxnLst/>
            <a:rect l="l" t="t" r="r" b="b"/>
            <a:pathLst>
              <a:path w="715010" h="1665604">
                <a:moveTo>
                  <a:pt x="0" y="1665061"/>
                </a:moveTo>
                <a:lnTo>
                  <a:pt x="714590" y="1665061"/>
                </a:lnTo>
                <a:lnTo>
                  <a:pt x="714590" y="0"/>
                </a:lnTo>
                <a:lnTo>
                  <a:pt x="0" y="0"/>
                </a:lnTo>
                <a:lnTo>
                  <a:pt x="0" y="1665061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485869" y="4411222"/>
            <a:ext cx="715010" cy="1665605"/>
          </a:xfrm>
          <a:custGeom>
            <a:avLst/>
            <a:gdLst/>
            <a:ahLst/>
            <a:cxnLst/>
            <a:rect l="l" t="t" r="r" b="b"/>
            <a:pathLst>
              <a:path w="715010" h="1665604">
                <a:moveTo>
                  <a:pt x="0" y="1665061"/>
                </a:moveTo>
                <a:lnTo>
                  <a:pt x="714590" y="1665061"/>
                </a:lnTo>
                <a:lnTo>
                  <a:pt x="714590" y="0"/>
                </a:lnTo>
                <a:lnTo>
                  <a:pt x="0" y="0"/>
                </a:lnTo>
                <a:lnTo>
                  <a:pt x="0" y="1665061"/>
                </a:lnTo>
                <a:close/>
              </a:path>
            </a:pathLst>
          </a:custGeom>
          <a:ln w="4846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2709531" y="4708757"/>
            <a:ext cx="267970" cy="105029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12700" marR="5080">
              <a:lnSpc>
                <a:spcPts val="1920"/>
              </a:lnSpc>
              <a:spcBef>
                <a:spcPts val="484"/>
              </a:spcBef>
            </a:pPr>
            <a:r>
              <a:rPr dirty="0" sz="1900">
                <a:latin typeface="宋体"/>
                <a:cs typeface="宋体"/>
              </a:rPr>
              <a:t>业 务 模 型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200904" y="6044259"/>
            <a:ext cx="1122045" cy="313690"/>
          </a:xfrm>
          <a:custGeom>
            <a:avLst/>
            <a:gdLst/>
            <a:ahLst/>
            <a:cxnLst/>
            <a:rect l="l" t="t" r="r" b="b"/>
            <a:pathLst>
              <a:path w="1122045" h="313689">
                <a:moveTo>
                  <a:pt x="0" y="0"/>
                </a:moveTo>
                <a:lnTo>
                  <a:pt x="58513" y="38138"/>
                </a:lnTo>
                <a:lnTo>
                  <a:pt x="116324" y="73843"/>
                </a:lnTo>
                <a:lnTo>
                  <a:pt x="173357" y="107105"/>
                </a:lnTo>
                <a:lnTo>
                  <a:pt x="229534" y="137917"/>
                </a:lnTo>
                <a:lnTo>
                  <a:pt x="284780" y="166270"/>
                </a:lnTo>
                <a:lnTo>
                  <a:pt x="339018" y="192156"/>
                </a:lnTo>
                <a:lnTo>
                  <a:pt x="392170" y="215566"/>
                </a:lnTo>
                <a:lnTo>
                  <a:pt x="444161" y="236494"/>
                </a:lnTo>
                <a:lnTo>
                  <a:pt x="494913" y="254929"/>
                </a:lnTo>
                <a:lnTo>
                  <a:pt x="544349" y="270864"/>
                </a:lnTo>
                <a:lnTo>
                  <a:pt x="592395" y="284292"/>
                </a:lnTo>
                <a:lnTo>
                  <a:pt x="638971" y="295202"/>
                </a:lnTo>
                <a:lnTo>
                  <a:pt x="684002" y="303588"/>
                </a:lnTo>
                <a:lnTo>
                  <a:pt x="727412" y="309441"/>
                </a:lnTo>
                <a:lnTo>
                  <a:pt x="769123" y="312752"/>
                </a:lnTo>
                <a:lnTo>
                  <a:pt x="809059" y="313515"/>
                </a:lnTo>
                <a:lnTo>
                  <a:pt x="847142" y="311719"/>
                </a:lnTo>
                <a:lnTo>
                  <a:pt x="917448" y="300422"/>
                </a:lnTo>
                <a:lnTo>
                  <a:pt x="979425" y="278794"/>
                </a:lnTo>
                <a:lnTo>
                  <a:pt x="1032462" y="246771"/>
                </a:lnTo>
                <a:lnTo>
                  <a:pt x="1075944" y="204286"/>
                </a:lnTo>
                <a:lnTo>
                  <a:pt x="1109259" y="151272"/>
                </a:lnTo>
                <a:lnTo>
                  <a:pt x="1121911" y="120797"/>
                </a:lnTo>
              </a:path>
            </a:pathLst>
          </a:custGeom>
          <a:ln w="48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265741" y="6012235"/>
            <a:ext cx="110489" cy="174625"/>
          </a:xfrm>
          <a:custGeom>
            <a:avLst/>
            <a:gdLst/>
            <a:ahLst/>
            <a:cxnLst/>
            <a:rect l="l" t="t" r="r" b="b"/>
            <a:pathLst>
              <a:path w="110489" h="174625">
                <a:moveTo>
                  <a:pt x="78451" y="0"/>
                </a:moveTo>
                <a:lnTo>
                  <a:pt x="0" y="158860"/>
                </a:lnTo>
                <a:lnTo>
                  <a:pt x="110316" y="174557"/>
                </a:lnTo>
                <a:lnTo>
                  <a:pt x="784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 rot="21540000">
            <a:off x="4550083" y="6088720"/>
            <a:ext cx="45408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 spc="-35">
                <a:latin typeface="宋体"/>
                <a:cs typeface="宋体"/>
              </a:rPr>
              <a:t>设</a:t>
            </a:r>
            <a:r>
              <a:rPr dirty="0" sz="1600" spc="-15">
                <a:latin typeface="宋体"/>
                <a:cs typeface="宋体"/>
              </a:rPr>
              <a:t>计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344193" y="6012235"/>
            <a:ext cx="1118235" cy="336550"/>
          </a:xfrm>
          <a:custGeom>
            <a:avLst/>
            <a:gdLst/>
            <a:ahLst/>
            <a:cxnLst/>
            <a:rect l="l" t="t" r="r" b="b"/>
            <a:pathLst>
              <a:path w="1118235" h="336550">
                <a:moveTo>
                  <a:pt x="0" y="0"/>
                </a:moveTo>
                <a:lnTo>
                  <a:pt x="57423" y="39761"/>
                </a:lnTo>
                <a:lnTo>
                  <a:pt x="114213" y="77070"/>
                </a:lnTo>
                <a:lnTo>
                  <a:pt x="170292" y="111916"/>
                </a:lnTo>
                <a:lnTo>
                  <a:pt x="225586" y="144289"/>
                </a:lnTo>
                <a:lnTo>
                  <a:pt x="280016" y="174177"/>
                </a:lnTo>
                <a:lnTo>
                  <a:pt x="333506" y="201572"/>
                </a:lnTo>
                <a:lnTo>
                  <a:pt x="385981" y="226461"/>
                </a:lnTo>
                <a:lnTo>
                  <a:pt x="437364" y="248836"/>
                </a:lnTo>
                <a:lnTo>
                  <a:pt x="487577" y="268685"/>
                </a:lnTo>
                <a:lnTo>
                  <a:pt x="536546" y="285998"/>
                </a:lnTo>
                <a:lnTo>
                  <a:pt x="584192" y="300765"/>
                </a:lnTo>
                <a:lnTo>
                  <a:pt x="630441" y="312976"/>
                </a:lnTo>
                <a:lnTo>
                  <a:pt x="675215" y="322619"/>
                </a:lnTo>
                <a:lnTo>
                  <a:pt x="718437" y="329685"/>
                </a:lnTo>
                <a:lnTo>
                  <a:pt x="760033" y="334163"/>
                </a:lnTo>
                <a:lnTo>
                  <a:pt x="799924" y="336043"/>
                </a:lnTo>
                <a:lnTo>
                  <a:pt x="838035" y="335314"/>
                </a:lnTo>
                <a:lnTo>
                  <a:pt x="908609" y="325988"/>
                </a:lnTo>
                <a:lnTo>
                  <a:pt x="971144" y="306103"/>
                </a:lnTo>
                <a:lnTo>
                  <a:pt x="1025028" y="275576"/>
                </a:lnTo>
                <a:lnTo>
                  <a:pt x="1069650" y="234323"/>
                </a:lnTo>
                <a:lnTo>
                  <a:pt x="1104398" y="182261"/>
                </a:lnTo>
                <a:lnTo>
                  <a:pt x="1117878" y="152151"/>
                </a:lnTo>
              </a:path>
            </a:pathLst>
          </a:custGeom>
          <a:ln w="48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404795" y="6012235"/>
            <a:ext cx="109855" cy="175895"/>
          </a:xfrm>
          <a:custGeom>
            <a:avLst/>
            <a:gdLst/>
            <a:ahLst/>
            <a:cxnLst/>
            <a:rect l="l" t="t" r="r" b="b"/>
            <a:pathLst>
              <a:path w="109854" h="175895">
                <a:moveTo>
                  <a:pt x="82887" y="0"/>
                </a:moveTo>
                <a:lnTo>
                  <a:pt x="0" y="156604"/>
                </a:lnTo>
                <a:lnTo>
                  <a:pt x="109710" y="175371"/>
                </a:lnTo>
                <a:lnTo>
                  <a:pt x="828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708214" y="6046496"/>
            <a:ext cx="403860" cy="267970"/>
          </a:xfrm>
          <a:custGeom>
            <a:avLst/>
            <a:gdLst/>
            <a:ahLst/>
            <a:cxnLst/>
            <a:rect l="l" t="t" r="r" b="b"/>
            <a:pathLst>
              <a:path w="403860" h="267970">
                <a:moveTo>
                  <a:pt x="0" y="267601"/>
                </a:moveTo>
                <a:lnTo>
                  <a:pt x="403347" y="267601"/>
                </a:lnTo>
                <a:lnTo>
                  <a:pt x="403347" y="0"/>
                </a:lnTo>
                <a:lnTo>
                  <a:pt x="0" y="0"/>
                </a:lnTo>
                <a:lnTo>
                  <a:pt x="0" y="267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5701564" y="6031151"/>
            <a:ext cx="429259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宋体"/>
                <a:cs typeface="宋体"/>
              </a:rPr>
              <a:t>编程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6487683" y="6012235"/>
            <a:ext cx="1137920" cy="337820"/>
          </a:xfrm>
          <a:custGeom>
            <a:avLst/>
            <a:gdLst/>
            <a:ahLst/>
            <a:cxnLst/>
            <a:rect l="l" t="t" r="r" b="b"/>
            <a:pathLst>
              <a:path w="1137920" h="337820">
                <a:moveTo>
                  <a:pt x="0" y="0"/>
                </a:moveTo>
                <a:lnTo>
                  <a:pt x="56389" y="38531"/>
                </a:lnTo>
                <a:lnTo>
                  <a:pt x="112183" y="74775"/>
                </a:lnTo>
                <a:lnTo>
                  <a:pt x="167311" y="108722"/>
                </a:lnTo>
                <a:lnTo>
                  <a:pt x="221705" y="140362"/>
                </a:lnTo>
                <a:lnTo>
                  <a:pt x="275293" y="169686"/>
                </a:lnTo>
                <a:lnTo>
                  <a:pt x="328007" y="196685"/>
                </a:lnTo>
                <a:lnTo>
                  <a:pt x="379775" y="221348"/>
                </a:lnTo>
                <a:lnTo>
                  <a:pt x="430527" y="243667"/>
                </a:lnTo>
                <a:lnTo>
                  <a:pt x="480195" y="263632"/>
                </a:lnTo>
                <a:lnTo>
                  <a:pt x="528707" y="281234"/>
                </a:lnTo>
                <a:lnTo>
                  <a:pt x="575995" y="296463"/>
                </a:lnTo>
                <a:lnTo>
                  <a:pt x="621987" y="309309"/>
                </a:lnTo>
                <a:lnTo>
                  <a:pt x="666613" y="319764"/>
                </a:lnTo>
                <a:lnTo>
                  <a:pt x="709805" y="327817"/>
                </a:lnTo>
                <a:lnTo>
                  <a:pt x="751491" y="333460"/>
                </a:lnTo>
                <a:lnTo>
                  <a:pt x="791602" y="336682"/>
                </a:lnTo>
                <a:lnTo>
                  <a:pt x="830067" y="337475"/>
                </a:lnTo>
                <a:lnTo>
                  <a:pt x="866818" y="335828"/>
                </a:lnTo>
                <a:lnTo>
                  <a:pt x="934893" y="325179"/>
                </a:lnTo>
                <a:lnTo>
                  <a:pt x="995267" y="304660"/>
                </a:lnTo>
                <a:lnTo>
                  <a:pt x="1047380" y="274195"/>
                </a:lnTo>
                <a:lnTo>
                  <a:pt x="1090671" y="233708"/>
                </a:lnTo>
                <a:lnTo>
                  <a:pt x="1124581" y="183124"/>
                </a:lnTo>
                <a:lnTo>
                  <a:pt x="1137843" y="154021"/>
                </a:lnTo>
              </a:path>
            </a:pathLst>
          </a:custGeom>
          <a:ln w="48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568251" y="6014228"/>
            <a:ext cx="109855" cy="175895"/>
          </a:xfrm>
          <a:custGeom>
            <a:avLst/>
            <a:gdLst/>
            <a:ahLst/>
            <a:cxnLst/>
            <a:rect l="l" t="t" r="r" b="b"/>
            <a:pathLst>
              <a:path w="109854" h="175895">
                <a:moveTo>
                  <a:pt x="83695" y="0"/>
                </a:moveTo>
                <a:lnTo>
                  <a:pt x="0" y="156217"/>
                </a:lnTo>
                <a:lnTo>
                  <a:pt x="109711" y="175493"/>
                </a:lnTo>
                <a:lnTo>
                  <a:pt x="83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861788" y="6047127"/>
            <a:ext cx="403860" cy="268605"/>
          </a:xfrm>
          <a:custGeom>
            <a:avLst/>
            <a:gdLst/>
            <a:ahLst/>
            <a:cxnLst/>
            <a:rect l="l" t="t" r="r" b="b"/>
            <a:pathLst>
              <a:path w="403859" h="268604">
                <a:moveTo>
                  <a:pt x="402" y="0"/>
                </a:moveTo>
                <a:lnTo>
                  <a:pt x="0" y="267601"/>
                </a:lnTo>
                <a:lnTo>
                  <a:pt x="403346" y="268292"/>
                </a:lnTo>
                <a:lnTo>
                  <a:pt x="403750" y="670"/>
                </a:lnTo>
                <a:lnTo>
                  <a:pt x="4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6855090" y="6032145"/>
            <a:ext cx="429259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>
                <a:latin typeface="宋体"/>
                <a:cs typeface="宋体"/>
              </a:rPr>
              <a:t>编</a:t>
            </a:r>
            <a:r>
              <a:rPr dirty="0" sz="1600" spc="-15">
                <a:latin typeface="宋体"/>
                <a:cs typeface="宋体"/>
              </a:rPr>
              <a:t>译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1676028" y="4878940"/>
            <a:ext cx="2167890" cy="739775"/>
          </a:xfrm>
          <a:custGeom>
            <a:avLst/>
            <a:gdLst/>
            <a:ahLst/>
            <a:cxnLst/>
            <a:rect l="l" t="t" r="r" b="b"/>
            <a:pathLst>
              <a:path w="2167890" h="739775">
                <a:moveTo>
                  <a:pt x="2167711" y="332788"/>
                </a:moveTo>
                <a:lnTo>
                  <a:pt x="1719995" y="691359"/>
                </a:lnTo>
                <a:lnTo>
                  <a:pt x="1827891" y="457693"/>
                </a:lnTo>
                <a:lnTo>
                  <a:pt x="19179" y="739345"/>
                </a:lnTo>
                <a:lnTo>
                  <a:pt x="123888" y="390432"/>
                </a:lnTo>
                <a:lnTo>
                  <a:pt x="0" y="47965"/>
                </a:lnTo>
                <a:lnTo>
                  <a:pt x="1821639" y="227240"/>
                </a:lnTo>
                <a:lnTo>
                  <a:pt x="1700836" y="0"/>
                </a:lnTo>
                <a:lnTo>
                  <a:pt x="2167711" y="332788"/>
                </a:lnTo>
                <a:close/>
              </a:path>
            </a:pathLst>
          </a:custGeom>
          <a:ln w="48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 rot="21540000">
            <a:off x="1855020" y="5153895"/>
            <a:ext cx="45408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 spc="-35">
                <a:latin typeface="MS Gothic"/>
                <a:cs typeface="MS Gothic"/>
              </a:rPr>
              <a:t>分</a:t>
            </a:r>
            <a:r>
              <a:rPr dirty="0" sz="1600" spc="-15">
                <a:latin typeface="MS Gothic"/>
                <a:cs typeface="MS Gothic"/>
              </a:rPr>
              <a:t>析</a:t>
            </a:r>
            <a:endParaRPr sz="1600">
              <a:latin typeface="MS Gothic"/>
              <a:cs typeface="MS Gothic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28650" y="1438836"/>
            <a:ext cx="7886700" cy="3536950"/>
          </a:xfrm>
          <a:custGeom>
            <a:avLst/>
            <a:gdLst/>
            <a:ahLst/>
            <a:cxnLst/>
            <a:rect l="l" t="t" r="r" b="b"/>
            <a:pathLst>
              <a:path w="7886700" h="3536950">
                <a:moveTo>
                  <a:pt x="3767895" y="2558679"/>
                </a:moveTo>
                <a:lnTo>
                  <a:pt x="2816938" y="2558679"/>
                </a:lnTo>
                <a:lnTo>
                  <a:pt x="3098084" y="3536665"/>
                </a:lnTo>
                <a:lnTo>
                  <a:pt x="3767895" y="2558679"/>
                </a:lnTo>
                <a:close/>
              </a:path>
              <a:path w="7886700" h="3536950">
                <a:moveTo>
                  <a:pt x="5093501" y="2445374"/>
                </a:moveTo>
                <a:lnTo>
                  <a:pt x="3845496" y="2445374"/>
                </a:lnTo>
                <a:lnTo>
                  <a:pt x="4836811" y="3231628"/>
                </a:lnTo>
                <a:lnTo>
                  <a:pt x="5093501" y="2445374"/>
                </a:lnTo>
                <a:close/>
              </a:path>
              <a:path w="7886700" h="3536950">
                <a:moveTo>
                  <a:pt x="6288020" y="2367109"/>
                </a:moveTo>
                <a:lnTo>
                  <a:pt x="5119052" y="2367109"/>
                </a:lnTo>
                <a:lnTo>
                  <a:pt x="6625192" y="2962776"/>
                </a:lnTo>
                <a:lnTo>
                  <a:pt x="6288020" y="2367109"/>
                </a:lnTo>
                <a:close/>
              </a:path>
              <a:path w="7886700" h="3536950">
                <a:moveTo>
                  <a:pt x="6239826" y="2281967"/>
                </a:moveTo>
                <a:lnTo>
                  <a:pt x="2069162" y="2281967"/>
                </a:lnTo>
                <a:lnTo>
                  <a:pt x="1738725" y="2884510"/>
                </a:lnTo>
                <a:lnTo>
                  <a:pt x="2816938" y="2558679"/>
                </a:lnTo>
                <a:lnTo>
                  <a:pt x="3767895" y="2558679"/>
                </a:lnTo>
                <a:lnTo>
                  <a:pt x="3845496" y="2445374"/>
                </a:lnTo>
                <a:lnTo>
                  <a:pt x="5093501" y="2445374"/>
                </a:lnTo>
                <a:lnTo>
                  <a:pt x="5119052" y="2367109"/>
                </a:lnTo>
                <a:lnTo>
                  <a:pt x="6288020" y="2367109"/>
                </a:lnTo>
                <a:lnTo>
                  <a:pt x="6239826" y="2281967"/>
                </a:lnTo>
                <a:close/>
              </a:path>
              <a:path w="7886700" h="3536950">
                <a:moveTo>
                  <a:pt x="135096" y="375770"/>
                </a:moveTo>
                <a:lnTo>
                  <a:pt x="1689432" y="1247165"/>
                </a:lnTo>
                <a:lnTo>
                  <a:pt x="0" y="1410572"/>
                </a:lnTo>
                <a:lnTo>
                  <a:pt x="1358995" y="1927974"/>
                </a:lnTo>
                <a:lnTo>
                  <a:pt x="49291" y="2388395"/>
                </a:lnTo>
                <a:lnTo>
                  <a:pt x="2069162" y="2281967"/>
                </a:lnTo>
                <a:lnTo>
                  <a:pt x="6239826" y="2281967"/>
                </a:lnTo>
                <a:lnTo>
                  <a:pt x="6147608" y="2119052"/>
                </a:lnTo>
                <a:lnTo>
                  <a:pt x="7706463" y="2119052"/>
                </a:lnTo>
                <a:lnTo>
                  <a:pt x="6428755" y="1715118"/>
                </a:lnTo>
                <a:lnTo>
                  <a:pt x="7703041" y="1332307"/>
                </a:lnTo>
                <a:lnTo>
                  <a:pt x="6098317" y="1197717"/>
                </a:lnTo>
                <a:lnTo>
                  <a:pt x="6311619" y="1034802"/>
                </a:lnTo>
                <a:lnTo>
                  <a:pt x="2669794" y="1034802"/>
                </a:lnTo>
                <a:lnTo>
                  <a:pt x="135096" y="375770"/>
                </a:lnTo>
                <a:close/>
              </a:path>
              <a:path w="7886700" h="3536950">
                <a:moveTo>
                  <a:pt x="7706463" y="2119052"/>
                </a:moveTo>
                <a:lnTo>
                  <a:pt x="6147608" y="2119052"/>
                </a:lnTo>
                <a:lnTo>
                  <a:pt x="7886700" y="2176031"/>
                </a:lnTo>
                <a:lnTo>
                  <a:pt x="7706463" y="2119052"/>
                </a:lnTo>
                <a:close/>
              </a:path>
              <a:path w="7886700" h="3536950">
                <a:moveTo>
                  <a:pt x="3049524" y="375770"/>
                </a:moveTo>
                <a:lnTo>
                  <a:pt x="2669794" y="1034802"/>
                </a:lnTo>
                <a:lnTo>
                  <a:pt x="6311619" y="1034802"/>
                </a:lnTo>
                <a:lnTo>
                  <a:pt x="6423093" y="949660"/>
                </a:lnTo>
                <a:lnTo>
                  <a:pt x="3943350" y="949660"/>
                </a:lnTo>
                <a:lnTo>
                  <a:pt x="3049524" y="375770"/>
                </a:lnTo>
                <a:close/>
              </a:path>
              <a:path w="7886700" h="3536950">
                <a:moveTo>
                  <a:pt x="5302345" y="0"/>
                </a:moveTo>
                <a:lnTo>
                  <a:pt x="3943350" y="949660"/>
                </a:lnTo>
                <a:lnTo>
                  <a:pt x="6423093" y="949660"/>
                </a:lnTo>
                <a:lnTo>
                  <a:pt x="6524922" y="871885"/>
                </a:lnTo>
                <a:lnTo>
                  <a:pt x="5168343" y="871885"/>
                </a:lnTo>
                <a:lnTo>
                  <a:pt x="5302345" y="0"/>
                </a:lnTo>
                <a:close/>
              </a:path>
              <a:path w="7886700" h="3536950">
                <a:moveTo>
                  <a:pt x="6710997" y="729764"/>
                </a:moveTo>
                <a:lnTo>
                  <a:pt x="5168343" y="871885"/>
                </a:lnTo>
                <a:lnTo>
                  <a:pt x="6524922" y="871885"/>
                </a:lnTo>
                <a:lnTo>
                  <a:pt x="6710997" y="7297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28650" y="1438836"/>
            <a:ext cx="7886700" cy="3536950"/>
          </a:xfrm>
          <a:custGeom>
            <a:avLst/>
            <a:gdLst/>
            <a:ahLst/>
            <a:cxnLst/>
            <a:rect l="l" t="t" r="r" b="b"/>
            <a:pathLst>
              <a:path w="7886700" h="3536950">
                <a:moveTo>
                  <a:pt x="3943350" y="949660"/>
                </a:moveTo>
                <a:lnTo>
                  <a:pt x="5302345" y="0"/>
                </a:lnTo>
                <a:lnTo>
                  <a:pt x="5168344" y="871886"/>
                </a:lnTo>
                <a:lnTo>
                  <a:pt x="6710998" y="729764"/>
                </a:lnTo>
                <a:lnTo>
                  <a:pt x="6098318" y="1197718"/>
                </a:lnTo>
                <a:lnTo>
                  <a:pt x="7703042" y="1332308"/>
                </a:lnTo>
                <a:lnTo>
                  <a:pt x="6428756" y="1715119"/>
                </a:lnTo>
                <a:lnTo>
                  <a:pt x="7886700" y="2176032"/>
                </a:lnTo>
                <a:lnTo>
                  <a:pt x="6147609" y="2119052"/>
                </a:lnTo>
                <a:lnTo>
                  <a:pt x="6625193" y="2962776"/>
                </a:lnTo>
                <a:lnTo>
                  <a:pt x="5119052" y="2367110"/>
                </a:lnTo>
                <a:lnTo>
                  <a:pt x="4836811" y="3231629"/>
                </a:lnTo>
                <a:lnTo>
                  <a:pt x="3845496" y="2445375"/>
                </a:lnTo>
                <a:lnTo>
                  <a:pt x="3098086" y="3536666"/>
                </a:lnTo>
                <a:lnTo>
                  <a:pt x="2816939" y="2558680"/>
                </a:lnTo>
                <a:lnTo>
                  <a:pt x="1738725" y="2884511"/>
                </a:lnTo>
                <a:lnTo>
                  <a:pt x="2069163" y="2281968"/>
                </a:lnTo>
                <a:lnTo>
                  <a:pt x="49291" y="2388396"/>
                </a:lnTo>
                <a:lnTo>
                  <a:pt x="1358995" y="1927974"/>
                </a:lnTo>
                <a:lnTo>
                  <a:pt x="0" y="1410573"/>
                </a:lnTo>
                <a:lnTo>
                  <a:pt x="1689433" y="1247166"/>
                </a:lnTo>
                <a:lnTo>
                  <a:pt x="135096" y="375770"/>
                </a:lnTo>
                <a:lnTo>
                  <a:pt x="2669794" y="1034802"/>
                </a:lnTo>
                <a:lnTo>
                  <a:pt x="3049524" y="375770"/>
                </a:lnTo>
                <a:lnTo>
                  <a:pt x="3943350" y="949660"/>
                </a:lnTo>
                <a:close/>
              </a:path>
            </a:pathLst>
          </a:custGeom>
          <a:ln w="25400">
            <a:solidFill>
              <a:srgbClr val="4F81B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2358722" y="2488691"/>
            <a:ext cx="4152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606165" algn="l"/>
              </a:tabLst>
            </a:pP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曾经有很</a:t>
            </a:r>
            <a:r>
              <a:rPr dirty="0" sz="2000" spc="-254">
                <a:solidFill>
                  <a:srgbClr val="FF0000"/>
                </a:solidFill>
                <a:latin typeface="宋体"/>
                <a:cs typeface="宋体"/>
              </a:rPr>
              <a:t>多</a:t>
            </a:r>
            <a:r>
              <a:rPr dirty="0" baseline="-9578" sz="2175" spc="-1800">
                <a:latin typeface="MS Gothic"/>
                <a:cs typeface="MS Gothic"/>
              </a:rPr>
              <a:t>（</a:t>
            </a:r>
            <a:r>
              <a:rPr dirty="0" sz="2000" spc="-825">
                <a:solidFill>
                  <a:srgbClr val="FF0000"/>
                </a:solidFill>
                <a:latin typeface="宋体"/>
                <a:cs typeface="宋体"/>
              </a:rPr>
              <a:t>的</a:t>
            </a:r>
            <a:r>
              <a:rPr dirty="0" baseline="-9578" sz="2175" spc="-202">
                <a:latin typeface="Times New Roman"/>
                <a:cs typeface="Times New Roman"/>
              </a:rPr>
              <a:t>1,</a:t>
            </a:r>
            <a:r>
              <a:rPr dirty="0" sz="2000" spc="-1395">
                <a:solidFill>
                  <a:srgbClr val="FF0000"/>
                </a:solidFill>
                <a:latin typeface="宋体"/>
                <a:cs typeface="宋体"/>
              </a:rPr>
              <a:t>研</a:t>
            </a:r>
            <a:r>
              <a:rPr dirty="0" baseline="-9578" sz="2175" spc="-592">
                <a:latin typeface="Times New Roman"/>
                <a:cs typeface="Times New Roman"/>
              </a:rPr>
              <a:t>n</a:t>
            </a:r>
            <a:r>
              <a:rPr dirty="0" baseline="-9578" sz="2175" spc="-592">
                <a:latin typeface="MS Gothic"/>
                <a:cs typeface="MS Gothic"/>
              </a:rPr>
              <a:t>）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究者尝试建立</a:t>
            </a:r>
            <a:r>
              <a:rPr dirty="0" sz="2000" spc="-1625">
                <a:solidFill>
                  <a:srgbClr val="FF0000"/>
                </a:solidFill>
                <a:latin typeface="宋体"/>
                <a:cs typeface="宋体"/>
              </a:rPr>
              <a:t>一</a:t>
            </a:r>
            <a:r>
              <a:rPr dirty="0" baseline="41062" sz="1725" spc="-7">
                <a:latin typeface="Times New Roman"/>
                <a:cs typeface="Times New Roman"/>
              </a:rPr>
              <a:t>1	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种能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396822" y="2793491"/>
            <a:ext cx="15367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够描述软件</a:t>
            </a:r>
            <a:r>
              <a:rPr dirty="0" sz="2000" spc="-1560">
                <a:solidFill>
                  <a:srgbClr val="FF0000"/>
                </a:solidFill>
                <a:latin typeface="宋体"/>
                <a:cs typeface="宋体"/>
              </a:rPr>
              <a:t>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3171522" y="3090871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 h="0">
                <a:moveTo>
                  <a:pt x="0" y="0"/>
                </a:moveTo>
                <a:lnTo>
                  <a:pt x="1270000" y="0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3920822" y="2793491"/>
            <a:ext cx="25654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发中各种情景的形式化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371422" y="3098291"/>
            <a:ext cx="41402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或半形式化模型语言，但</a:t>
            </a:r>
            <a:r>
              <a:rPr dirty="0" sz="2000" spc="-1120">
                <a:solidFill>
                  <a:srgbClr val="FF0000"/>
                </a:solidFill>
                <a:latin typeface="宋体"/>
                <a:cs typeface="宋体"/>
              </a:rPr>
              <a:t>最</a:t>
            </a:r>
            <a:r>
              <a:rPr dirty="0" baseline="7246" sz="1725" spc="-60">
                <a:latin typeface="MS Gothic"/>
                <a:cs typeface="MS Gothic"/>
              </a:rPr>
              <a:t>＃</a:t>
            </a:r>
            <a:r>
              <a:rPr dirty="0" sz="2000" spc="-1975">
                <a:solidFill>
                  <a:srgbClr val="FF0000"/>
                </a:solidFill>
                <a:latin typeface="宋体"/>
                <a:cs typeface="宋体"/>
              </a:rPr>
              <a:t>后</a:t>
            </a:r>
            <a:r>
              <a:rPr dirty="0" baseline="7246" sz="1725" spc="-7">
                <a:latin typeface="Times New Roman"/>
                <a:cs typeface="Times New Roman"/>
              </a:rPr>
              <a:t>ID</a:t>
            </a:r>
            <a:r>
              <a:rPr dirty="0" baseline="7246" sz="1725" spc="187"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都失败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396822" y="3375660"/>
            <a:ext cx="2794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28650" y="3895163"/>
            <a:ext cx="1308100" cy="2837815"/>
          </a:xfrm>
          <a:custGeom>
            <a:avLst/>
            <a:gdLst/>
            <a:ahLst/>
            <a:cxnLst/>
            <a:rect l="l" t="t" r="r" b="b"/>
            <a:pathLst>
              <a:path w="1308100" h="2837815">
                <a:moveTo>
                  <a:pt x="272641" y="476187"/>
                </a:moveTo>
                <a:lnTo>
                  <a:pt x="325329" y="1026858"/>
                </a:lnTo>
                <a:lnTo>
                  <a:pt x="70976" y="1086365"/>
                </a:lnTo>
                <a:lnTo>
                  <a:pt x="238304" y="1522751"/>
                </a:lnTo>
                <a:lnTo>
                  <a:pt x="0" y="1691551"/>
                </a:lnTo>
                <a:lnTo>
                  <a:pt x="201665" y="2019037"/>
                </a:lnTo>
                <a:lnTo>
                  <a:pt x="77819" y="2341531"/>
                </a:lnTo>
                <a:lnTo>
                  <a:pt x="290991" y="2396046"/>
                </a:lnTo>
                <a:lnTo>
                  <a:pt x="297774" y="2837423"/>
                </a:lnTo>
                <a:lnTo>
                  <a:pt x="455836" y="2380940"/>
                </a:lnTo>
                <a:lnTo>
                  <a:pt x="574969" y="2380940"/>
                </a:lnTo>
                <a:lnTo>
                  <a:pt x="597850" y="2281761"/>
                </a:lnTo>
                <a:lnTo>
                  <a:pt x="720642" y="2281761"/>
                </a:lnTo>
                <a:lnTo>
                  <a:pt x="737623" y="2093257"/>
                </a:lnTo>
                <a:lnTo>
                  <a:pt x="896199" y="2093257"/>
                </a:lnTo>
                <a:lnTo>
                  <a:pt x="886600" y="1885047"/>
                </a:lnTo>
                <a:lnTo>
                  <a:pt x="1084837" y="1885047"/>
                </a:lnTo>
                <a:lnTo>
                  <a:pt x="991975" y="1617069"/>
                </a:lnTo>
                <a:lnTo>
                  <a:pt x="1106434" y="1483079"/>
                </a:lnTo>
                <a:lnTo>
                  <a:pt x="1028614" y="1235067"/>
                </a:lnTo>
                <a:lnTo>
                  <a:pt x="1308100" y="872901"/>
                </a:lnTo>
                <a:lnTo>
                  <a:pt x="991975" y="858057"/>
                </a:lnTo>
                <a:lnTo>
                  <a:pt x="996374" y="838353"/>
                </a:lnTo>
                <a:lnTo>
                  <a:pt x="517789" y="838353"/>
                </a:lnTo>
                <a:lnTo>
                  <a:pt x="272641" y="476187"/>
                </a:lnTo>
                <a:close/>
              </a:path>
              <a:path w="1308100" h="2837815">
                <a:moveTo>
                  <a:pt x="574969" y="2380940"/>
                </a:moveTo>
                <a:lnTo>
                  <a:pt x="455836" y="2380940"/>
                </a:lnTo>
                <a:lnTo>
                  <a:pt x="526873" y="2589412"/>
                </a:lnTo>
                <a:lnTo>
                  <a:pt x="574969" y="2380940"/>
                </a:lnTo>
                <a:close/>
              </a:path>
              <a:path w="1308100" h="2837815">
                <a:moveTo>
                  <a:pt x="720642" y="2281761"/>
                </a:moveTo>
                <a:lnTo>
                  <a:pt x="597850" y="2281761"/>
                </a:lnTo>
                <a:lnTo>
                  <a:pt x="703224" y="2475127"/>
                </a:lnTo>
                <a:lnTo>
                  <a:pt x="720642" y="2281761"/>
                </a:lnTo>
                <a:close/>
              </a:path>
              <a:path w="1308100" h="2837815">
                <a:moveTo>
                  <a:pt x="896199" y="2093257"/>
                </a:moveTo>
                <a:lnTo>
                  <a:pt x="737623" y="2093257"/>
                </a:lnTo>
                <a:lnTo>
                  <a:pt x="904890" y="2281761"/>
                </a:lnTo>
                <a:lnTo>
                  <a:pt x="896199" y="2093257"/>
                </a:lnTo>
                <a:close/>
              </a:path>
              <a:path w="1308100" h="2837815">
                <a:moveTo>
                  <a:pt x="1084837" y="1885047"/>
                </a:moveTo>
                <a:lnTo>
                  <a:pt x="886600" y="1885047"/>
                </a:lnTo>
                <a:lnTo>
                  <a:pt x="1143194" y="2053454"/>
                </a:lnTo>
                <a:lnTo>
                  <a:pt x="1084837" y="1885047"/>
                </a:lnTo>
                <a:close/>
              </a:path>
              <a:path w="1308100" h="2837815">
                <a:moveTo>
                  <a:pt x="588766" y="247881"/>
                </a:moveTo>
                <a:lnTo>
                  <a:pt x="517789" y="838353"/>
                </a:lnTo>
                <a:lnTo>
                  <a:pt x="996374" y="838353"/>
                </a:lnTo>
                <a:lnTo>
                  <a:pt x="1014115" y="758879"/>
                </a:lnTo>
                <a:lnTo>
                  <a:pt x="879636" y="758879"/>
                </a:lnTo>
                <a:lnTo>
                  <a:pt x="883622" y="570374"/>
                </a:lnTo>
                <a:lnTo>
                  <a:pt x="694141" y="570374"/>
                </a:lnTo>
                <a:lnTo>
                  <a:pt x="588766" y="247881"/>
                </a:lnTo>
                <a:close/>
              </a:path>
              <a:path w="1308100" h="2837815">
                <a:moveTo>
                  <a:pt x="1090507" y="416680"/>
                </a:moveTo>
                <a:lnTo>
                  <a:pt x="879636" y="758879"/>
                </a:lnTo>
                <a:lnTo>
                  <a:pt x="1014115" y="758879"/>
                </a:lnTo>
                <a:lnTo>
                  <a:pt x="1090507" y="416680"/>
                </a:lnTo>
                <a:close/>
              </a:path>
              <a:path w="1308100" h="2837815">
                <a:moveTo>
                  <a:pt x="895685" y="0"/>
                </a:moveTo>
                <a:lnTo>
                  <a:pt x="694141" y="570374"/>
                </a:lnTo>
                <a:lnTo>
                  <a:pt x="883622" y="570374"/>
                </a:lnTo>
                <a:lnTo>
                  <a:pt x="895685" y="0"/>
                </a:lnTo>
                <a:close/>
              </a:path>
            </a:pathLst>
          </a:custGeom>
          <a:solidFill>
            <a:srgbClr val="F0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28650" y="3895163"/>
            <a:ext cx="1308100" cy="2837815"/>
          </a:xfrm>
          <a:custGeom>
            <a:avLst/>
            <a:gdLst/>
            <a:ahLst/>
            <a:cxnLst/>
            <a:rect l="l" t="t" r="r" b="b"/>
            <a:pathLst>
              <a:path w="1308100" h="2837815">
                <a:moveTo>
                  <a:pt x="694140" y="570374"/>
                </a:moveTo>
                <a:lnTo>
                  <a:pt x="895685" y="0"/>
                </a:lnTo>
                <a:lnTo>
                  <a:pt x="879636" y="758879"/>
                </a:lnTo>
                <a:lnTo>
                  <a:pt x="1090507" y="416680"/>
                </a:lnTo>
                <a:lnTo>
                  <a:pt x="991975" y="858058"/>
                </a:lnTo>
                <a:lnTo>
                  <a:pt x="1308100" y="872901"/>
                </a:lnTo>
                <a:lnTo>
                  <a:pt x="1028615" y="1235068"/>
                </a:lnTo>
                <a:lnTo>
                  <a:pt x="1106435" y="1483079"/>
                </a:lnTo>
                <a:lnTo>
                  <a:pt x="991975" y="1617069"/>
                </a:lnTo>
                <a:lnTo>
                  <a:pt x="1143195" y="2053454"/>
                </a:lnTo>
                <a:lnTo>
                  <a:pt x="886601" y="1885048"/>
                </a:lnTo>
                <a:lnTo>
                  <a:pt x="904890" y="2281762"/>
                </a:lnTo>
                <a:lnTo>
                  <a:pt x="737623" y="2093257"/>
                </a:lnTo>
                <a:lnTo>
                  <a:pt x="703224" y="2475127"/>
                </a:lnTo>
                <a:lnTo>
                  <a:pt x="597850" y="2281762"/>
                </a:lnTo>
                <a:lnTo>
                  <a:pt x="526873" y="2589412"/>
                </a:lnTo>
                <a:lnTo>
                  <a:pt x="455836" y="2380940"/>
                </a:lnTo>
                <a:lnTo>
                  <a:pt x="297774" y="2837424"/>
                </a:lnTo>
                <a:lnTo>
                  <a:pt x="290991" y="2396047"/>
                </a:lnTo>
                <a:lnTo>
                  <a:pt x="77819" y="2341532"/>
                </a:lnTo>
                <a:lnTo>
                  <a:pt x="201665" y="2019037"/>
                </a:lnTo>
                <a:lnTo>
                  <a:pt x="0" y="1691551"/>
                </a:lnTo>
                <a:lnTo>
                  <a:pt x="238304" y="1522751"/>
                </a:lnTo>
                <a:lnTo>
                  <a:pt x="70976" y="1086366"/>
                </a:lnTo>
                <a:lnTo>
                  <a:pt x="325329" y="1026858"/>
                </a:lnTo>
                <a:lnTo>
                  <a:pt x="272642" y="476188"/>
                </a:lnTo>
                <a:lnTo>
                  <a:pt x="517789" y="838353"/>
                </a:lnTo>
                <a:lnTo>
                  <a:pt x="588766" y="247880"/>
                </a:lnTo>
                <a:lnTo>
                  <a:pt x="694140" y="570374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1082214" y="4537964"/>
            <a:ext cx="321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295">
                <a:latin typeface="宋体"/>
                <a:cs typeface="宋体"/>
              </a:rPr>
              <a:t>需</a:t>
            </a:r>
            <a:r>
              <a:rPr dirty="0" baseline="-5747" sz="2175" spc="-37">
                <a:latin typeface="宋体"/>
                <a:cs typeface="宋体"/>
              </a:rPr>
              <a:t>酗</a:t>
            </a:r>
            <a:endParaRPr baseline="-5747" sz="2175">
              <a:latin typeface="宋体"/>
              <a:cs typeface="宋体"/>
            </a:endParaRPr>
          </a:p>
        </p:txBody>
      </p:sp>
      <p:sp>
        <p:nvSpPr>
          <p:cNvPr id="101" name="object 10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97" name="object 97"/>
          <p:cNvSpPr txBox="1"/>
          <p:nvPr/>
        </p:nvSpPr>
        <p:spPr>
          <a:xfrm>
            <a:off x="1082214" y="4740589"/>
            <a:ext cx="321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5432" sz="2700" spc="-1942">
                <a:latin typeface="宋体"/>
                <a:cs typeface="宋体"/>
              </a:rPr>
              <a:t>求</a:t>
            </a:r>
            <a:r>
              <a:rPr dirty="0" sz="1450" spc="-25">
                <a:latin typeface="宋体"/>
                <a:cs typeface="宋体"/>
              </a:rPr>
              <a:t>曲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82214" y="5083555"/>
            <a:ext cx="321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295">
                <a:latin typeface="宋体"/>
                <a:cs typeface="宋体"/>
              </a:rPr>
              <a:t>获</a:t>
            </a:r>
            <a:r>
              <a:rPr dirty="0" baseline="-7662" sz="2175" spc="-37">
                <a:latin typeface="宋体"/>
                <a:cs typeface="宋体"/>
              </a:rPr>
              <a:t>权</a:t>
            </a:r>
            <a:endParaRPr baseline="-7662" sz="2175">
              <a:latin typeface="宋体"/>
              <a:cs typeface="宋体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082214" y="5289553"/>
            <a:ext cx="321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5432" sz="2700" spc="-1942">
                <a:latin typeface="宋体"/>
                <a:cs typeface="宋体"/>
              </a:rPr>
              <a:t>取</a:t>
            </a:r>
            <a:r>
              <a:rPr dirty="0" sz="1450" spc="-25">
                <a:latin typeface="宋体"/>
                <a:cs typeface="宋体"/>
              </a:rPr>
              <a:t>刑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107614" y="5629147"/>
            <a:ext cx="254000" cy="556260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4"/>
              </a:spcBef>
            </a:pPr>
            <a:r>
              <a:rPr dirty="0" sz="1800">
                <a:latin typeface="宋体"/>
                <a:cs typeface="宋体"/>
              </a:rPr>
              <a:t>信 息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7337" y="251459"/>
            <a:ext cx="60293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建立分析模型：视点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2546350" cy="11207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模型的描述</a:t>
            </a:r>
            <a:endParaRPr sz="3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多视点方法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29901" y="1755856"/>
            <a:ext cx="5450588" cy="37342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6736" y="257556"/>
            <a:ext cx="54705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建立分析模型过程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7917"/>
            <a:ext cx="8178800" cy="316801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需求建模</a:t>
            </a:r>
            <a:endParaRPr sz="3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通常的做法是：</a:t>
            </a:r>
            <a:endParaRPr sz="2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先依据获取的问题域信息建立初步的模型。</a:t>
            </a:r>
            <a:endParaRPr sz="2400">
              <a:latin typeface="宋体"/>
              <a:cs typeface="宋体"/>
            </a:endParaRPr>
          </a:p>
          <a:p>
            <a:pPr lvl="2" marL="1155065" marR="309880" indent="-228600">
              <a:lnSpc>
                <a:spcPts val="2690"/>
              </a:lnSpc>
              <a:spcBef>
                <a:spcPts val="1090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然后分析用户需求，对模型进行调整，得到一个中 间形式的模型形式。</a:t>
            </a:r>
            <a:endParaRPr sz="2400">
              <a:latin typeface="宋体"/>
              <a:cs typeface="宋体"/>
            </a:endParaRPr>
          </a:p>
          <a:p>
            <a:pPr lvl="2" marL="1155065" marR="5080" indent="-228600">
              <a:lnSpc>
                <a:spcPts val="2710"/>
              </a:lnSpc>
              <a:spcBef>
                <a:spcPts val="890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最后，对调整后的模型进行逻辑推理和验证，如果 符合预期的期望，那么它就是最终的解决方案模型。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27006" y="4823348"/>
            <a:ext cx="1216025" cy="1204595"/>
          </a:xfrm>
          <a:custGeom>
            <a:avLst/>
            <a:gdLst/>
            <a:ahLst/>
            <a:cxnLst/>
            <a:rect l="l" t="t" r="r" b="b"/>
            <a:pathLst>
              <a:path w="1216025" h="1204595">
                <a:moveTo>
                  <a:pt x="607880" y="0"/>
                </a:moveTo>
                <a:lnTo>
                  <a:pt x="560373" y="1811"/>
                </a:lnTo>
                <a:lnTo>
                  <a:pt x="513867" y="7158"/>
                </a:lnTo>
                <a:lnTo>
                  <a:pt x="468496" y="15905"/>
                </a:lnTo>
                <a:lnTo>
                  <a:pt x="424395" y="27919"/>
                </a:lnTo>
                <a:lnTo>
                  <a:pt x="381700" y="43066"/>
                </a:lnTo>
                <a:lnTo>
                  <a:pt x="340546" y="61212"/>
                </a:lnTo>
                <a:lnTo>
                  <a:pt x="301068" y="82223"/>
                </a:lnTo>
                <a:lnTo>
                  <a:pt x="263400" y="105965"/>
                </a:lnTo>
                <a:lnTo>
                  <a:pt x="227678" y="132305"/>
                </a:lnTo>
                <a:lnTo>
                  <a:pt x="194038" y="161108"/>
                </a:lnTo>
                <a:lnTo>
                  <a:pt x="162614" y="192241"/>
                </a:lnTo>
                <a:lnTo>
                  <a:pt x="133542" y="225569"/>
                </a:lnTo>
                <a:lnTo>
                  <a:pt x="106956" y="260959"/>
                </a:lnTo>
                <a:lnTo>
                  <a:pt x="82991" y="298277"/>
                </a:lnTo>
                <a:lnTo>
                  <a:pt x="61784" y="337389"/>
                </a:lnTo>
                <a:lnTo>
                  <a:pt x="43468" y="378162"/>
                </a:lnTo>
                <a:lnTo>
                  <a:pt x="28180" y="420460"/>
                </a:lnTo>
                <a:lnTo>
                  <a:pt x="16054" y="464151"/>
                </a:lnTo>
                <a:lnTo>
                  <a:pt x="7225" y="509100"/>
                </a:lnTo>
                <a:lnTo>
                  <a:pt x="1828" y="555174"/>
                </a:lnTo>
                <a:lnTo>
                  <a:pt x="0" y="602239"/>
                </a:lnTo>
                <a:lnTo>
                  <a:pt x="1828" y="649306"/>
                </a:lnTo>
                <a:lnTo>
                  <a:pt x="7225" y="695383"/>
                </a:lnTo>
                <a:lnTo>
                  <a:pt x="16054" y="740334"/>
                </a:lnTo>
                <a:lnTo>
                  <a:pt x="28180" y="784027"/>
                </a:lnTo>
                <a:lnTo>
                  <a:pt x="43468" y="826327"/>
                </a:lnTo>
                <a:lnTo>
                  <a:pt x="61784" y="867101"/>
                </a:lnTo>
                <a:lnTo>
                  <a:pt x="82991" y="906215"/>
                </a:lnTo>
                <a:lnTo>
                  <a:pt x="106956" y="943534"/>
                </a:lnTo>
                <a:lnTo>
                  <a:pt x="133542" y="978925"/>
                </a:lnTo>
                <a:lnTo>
                  <a:pt x="162614" y="1012255"/>
                </a:lnTo>
                <a:lnTo>
                  <a:pt x="194038" y="1043388"/>
                </a:lnTo>
                <a:lnTo>
                  <a:pt x="227678" y="1072192"/>
                </a:lnTo>
                <a:lnTo>
                  <a:pt x="263400" y="1098532"/>
                </a:lnTo>
                <a:lnTo>
                  <a:pt x="301068" y="1122274"/>
                </a:lnTo>
                <a:lnTo>
                  <a:pt x="340546" y="1143286"/>
                </a:lnTo>
                <a:lnTo>
                  <a:pt x="381700" y="1161432"/>
                </a:lnTo>
                <a:lnTo>
                  <a:pt x="424395" y="1176579"/>
                </a:lnTo>
                <a:lnTo>
                  <a:pt x="468496" y="1188593"/>
                </a:lnTo>
                <a:lnTo>
                  <a:pt x="513867" y="1197340"/>
                </a:lnTo>
                <a:lnTo>
                  <a:pt x="560373" y="1202686"/>
                </a:lnTo>
                <a:lnTo>
                  <a:pt x="607880" y="1204498"/>
                </a:lnTo>
                <a:lnTo>
                  <a:pt x="655395" y="1202686"/>
                </a:lnTo>
                <a:lnTo>
                  <a:pt x="701909" y="1197340"/>
                </a:lnTo>
                <a:lnTo>
                  <a:pt x="747287" y="1188593"/>
                </a:lnTo>
                <a:lnTo>
                  <a:pt x="791393" y="1176579"/>
                </a:lnTo>
                <a:lnTo>
                  <a:pt x="834092" y="1161432"/>
                </a:lnTo>
                <a:lnTo>
                  <a:pt x="875251" y="1143286"/>
                </a:lnTo>
                <a:lnTo>
                  <a:pt x="914732" y="1122274"/>
                </a:lnTo>
                <a:lnTo>
                  <a:pt x="952402" y="1098532"/>
                </a:lnTo>
                <a:lnTo>
                  <a:pt x="988126" y="1072192"/>
                </a:lnTo>
                <a:lnTo>
                  <a:pt x="1021767" y="1043388"/>
                </a:lnTo>
                <a:lnTo>
                  <a:pt x="1053192" y="1012255"/>
                </a:lnTo>
                <a:lnTo>
                  <a:pt x="1082265" y="978925"/>
                </a:lnTo>
                <a:lnTo>
                  <a:pt x="1108851" y="943534"/>
                </a:lnTo>
                <a:lnTo>
                  <a:pt x="1132815" y="906215"/>
                </a:lnTo>
                <a:lnTo>
                  <a:pt x="1154022" y="867101"/>
                </a:lnTo>
                <a:lnTo>
                  <a:pt x="1172337" y="826327"/>
                </a:lnTo>
                <a:lnTo>
                  <a:pt x="1187625" y="784027"/>
                </a:lnTo>
                <a:lnTo>
                  <a:pt x="1199750" y="740334"/>
                </a:lnTo>
                <a:lnTo>
                  <a:pt x="1208579" y="695383"/>
                </a:lnTo>
                <a:lnTo>
                  <a:pt x="1213975" y="649306"/>
                </a:lnTo>
                <a:lnTo>
                  <a:pt x="1215804" y="602239"/>
                </a:lnTo>
                <a:lnTo>
                  <a:pt x="1213975" y="555174"/>
                </a:lnTo>
                <a:lnTo>
                  <a:pt x="1208579" y="509100"/>
                </a:lnTo>
                <a:lnTo>
                  <a:pt x="1199750" y="464151"/>
                </a:lnTo>
                <a:lnTo>
                  <a:pt x="1187625" y="420460"/>
                </a:lnTo>
                <a:lnTo>
                  <a:pt x="1172337" y="378162"/>
                </a:lnTo>
                <a:lnTo>
                  <a:pt x="1154022" y="337389"/>
                </a:lnTo>
                <a:lnTo>
                  <a:pt x="1132815" y="298277"/>
                </a:lnTo>
                <a:lnTo>
                  <a:pt x="1108851" y="260959"/>
                </a:lnTo>
                <a:lnTo>
                  <a:pt x="1082265" y="225569"/>
                </a:lnTo>
                <a:lnTo>
                  <a:pt x="1053192" y="192241"/>
                </a:lnTo>
                <a:lnTo>
                  <a:pt x="1021767" y="161108"/>
                </a:lnTo>
                <a:lnTo>
                  <a:pt x="988126" y="132305"/>
                </a:lnTo>
                <a:lnTo>
                  <a:pt x="952402" y="105965"/>
                </a:lnTo>
                <a:lnTo>
                  <a:pt x="914732" y="82223"/>
                </a:lnTo>
                <a:lnTo>
                  <a:pt x="875251" y="61212"/>
                </a:lnTo>
                <a:lnTo>
                  <a:pt x="834092" y="43066"/>
                </a:lnTo>
                <a:lnTo>
                  <a:pt x="791393" y="27919"/>
                </a:lnTo>
                <a:lnTo>
                  <a:pt x="747287" y="15905"/>
                </a:lnTo>
                <a:lnTo>
                  <a:pt x="701909" y="7158"/>
                </a:lnTo>
                <a:lnTo>
                  <a:pt x="655395" y="1811"/>
                </a:lnTo>
                <a:lnTo>
                  <a:pt x="60788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27007" y="4823347"/>
            <a:ext cx="1216025" cy="1204595"/>
          </a:xfrm>
          <a:custGeom>
            <a:avLst/>
            <a:gdLst/>
            <a:ahLst/>
            <a:cxnLst/>
            <a:rect l="l" t="t" r="r" b="b"/>
            <a:pathLst>
              <a:path w="1216025" h="1204595">
                <a:moveTo>
                  <a:pt x="0" y="602240"/>
                </a:moveTo>
                <a:lnTo>
                  <a:pt x="1828" y="555175"/>
                </a:lnTo>
                <a:lnTo>
                  <a:pt x="7225" y="509101"/>
                </a:lnTo>
                <a:lnTo>
                  <a:pt x="16054" y="464152"/>
                </a:lnTo>
                <a:lnTo>
                  <a:pt x="28180" y="420461"/>
                </a:lnTo>
                <a:lnTo>
                  <a:pt x="43468" y="378163"/>
                </a:lnTo>
                <a:lnTo>
                  <a:pt x="61784" y="337390"/>
                </a:lnTo>
                <a:lnTo>
                  <a:pt x="82991" y="298278"/>
                </a:lnTo>
                <a:lnTo>
                  <a:pt x="106955" y="260960"/>
                </a:lnTo>
                <a:lnTo>
                  <a:pt x="133541" y="225570"/>
                </a:lnTo>
                <a:lnTo>
                  <a:pt x="162614" y="192241"/>
                </a:lnTo>
                <a:lnTo>
                  <a:pt x="194038" y="161108"/>
                </a:lnTo>
                <a:lnTo>
                  <a:pt x="227678" y="132305"/>
                </a:lnTo>
                <a:lnTo>
                  <a:pt x="263400" y="105966"/>
                </a:lnTo>
                <a:lnTo>
                  <a:pt x="301067" y="82223"/>
                </a:lnTo>
                <a:lnTo>
                  <a:pt x="340546" y="61212"/>
                </a:lnTo>
                <a:lnTo>
                  <a:pt x="381700" y="43066"/>
                </a:lnTo>
                <a:lnTo>
                  <a:pt x="424395" y="27919"/>
                </a:lnTo>
                <a:lnTo>
                  <a:pt x="468496" y="15905"/>
                </a:lnTo>
                <a:lnTo>
                  <a:pt x="513867" y="7158"/>
                </a:lnTo>
                <a:lnTo>
                  <a:pt x="560374" y="1811"/>
                </a:lnTo>
                <a:lnTo>
                  <a:pt x="607880" y="0"/>
                </a:lnTo>
                <a:lnTo>
                  <a:pt x="655395" y="1811"/>
                </a:lnTo>
                <a:lnTo>
                  <a:pt x="701909" y="7158"/>
                </a:lnTo>
                <a:lnTo>
                  <a:pt x="747287" y="15905"/>
                </a:lnTo>
                <a:lnTo>
                  <a:pt x="791393" y="27919"/>
                </a:lnTo>
                <a:lnTo>
                  <a:pt x="834093" y="43066"/>
                </a:lnTo>
                <a:lnTo>
                  <a:pt x="875251" y="61212"/>
                </a:lnTo>
                <a:lnTo>
                  <a:pt x="914733" y="82223"/>
                </a:lnTo>
                <a:lnTo>
                  <a:pt x="952403" y="105966"/>
                </a:lnTo>
                <a:lnTo>
                  <a:pt x="988126" y="132305"/>
                </a:lnTo>
                <a:lnTo>
                  <a:pt x="1021767" y="161108"/>
                </a:lnTo>
                <a:lnTo>
                  <a:pt x="1053192" y="192241"/>
                </a:lnTo>
                <a:lnTo>
                  <a:pt x="1082265" y="225570"/>
                </a:lnTo>
                <a:lnTo>
                  <a:pt x="1108851" y="260960"/>
                </a:lnTo>
                <a:lnTo>
                  <a:pt x="1132815" y="298278"/>
                </a:lnTo>
                <a:lnTo>
                  <a:pt x="1154022" y="337390"/>
                </a:lnTo>
                <a:lnTo>
                  <a:pt x="1172337" y="378163"/>
                </a:lnTo>
                <a:lnTo>
                  <a:pt x="1187625" y="420461"/>
                </a:lnTo>
                <a:lnTo>
                  <a:pt x="1199751" y="464152"/>
                </a:lnTo>
                <a:lnTo>
                  <a:pt x="1208579" y="509101"/>
                </a:lnTo>
                <a:lnTo>
                  <a:pt x="1213975" y="555175"/>
                </a:lnTo>
                <a:lnTo>
                  <a:pt x="1215804" y="602240"/>
                </a:lnTo>
                <a:lnTo>
                  <a:pt x="1213975" y="649307"/>
                </a:lnTo>
                <a:lnTo>
                  <a:pt x="1208579" y="695383"/>
                </a:lnTo>
                <a:lnTo>
                  <a:pt x="1199751" y="740335"/>
                </a:lnTo>
                <a:lnTo>
                  <a:pt x="1187625" y="784028"/>
                </a:lnTo>
                <a:lnTo>
                  <a:pt x="1172337" y="826328"/>
                </a:lnTo>
                <a:lnTo>
                  <a:pt x="1154022" y="867102"/>
                </a:lnTo>
                <a:lnTo>
                  <a:pt x="1132815" y="906215"/>
                </a:lnTo>
                <a:lnTo>
                  <a:pt x="1108851" y="943535"/>
                </a:lnTo>
                <a:lnTo>
                  <a:pt x="1082265" y="978926"/>
                </a:lnTo>
                <a:lnTo>
                  <a:pt x="1053192" y="1012255"/>
                </a:lnTo>
                <a:lnTo>
                  <a:pt x="1021767" y="1043388"/>
                </a:lnTo>
                <a:lnTo>
                  <a:pt x="988126" y="1072192"/>
                </a:lnTo>
                <a:lnTo>
                  <a:pt x="952403" y="1098532"/>
                </a:lnTo>
                <a:lnTo>
                  <a:pt x="914733" y="1122275"/>
                </a:lnTo>
                <a:lnTo>
                  <a:pt x="875251" y="1143286"/>
                </a:lnTo>
                <a:lnTo>
                  <a:pt x="834093" y="1161432"/>
                </a:lnTo>
                <a:lnTo>
                  <a:pt x="791393" y="1176579"/>
                </a:lnTo>
                <a:lnTo>
                  <a:pt x="747287" y="1188593"/>
                </a:lnTo>
                <a:lnTo>
                  <a:pt x="701909" y="1197340"/>
                </a:lnTo>
                <a:lnTo>
                  <a:pt x="655395" y="1202687"/>
                </a:lnTo>
                <a:lnTo>
                  <a:pt x="607880" y="1204499"/>
                </a:lnTo>
                <a:lnTo>
                  <a:pt x="560374" y="1202687"/>
                </a:lnTo>
                <a:lnTo>
                  <a:pt x="513867" y="1197340"/>
                </a:lnTo>
                <a:lnTo>
                  <a:pt x="468496" y="1188593"/>
                </a:lnTo>
                <a:lnTo>
                  <a:pt x="424395" y="1176579"/>
                </a:lnTo>
                <a:lnTo>
                  <a:pt x="381700" y="1161432"/>
                </a:lnTo>
                <a:lnTo>
                  <a:pt x="340546" y="1143286"/>
                </a:lnTo>
                <a:lnTo>
                  <a:pt x="301067" y="1122275"/>
                </a:lnTo>
                <a:lnTo>
                  <a:pt x="263400" y="1098532"/>
                </a:lnTo>
                <a:lnTo>
                  <a:pt x="227678" y="1072192"/>
                </a:lnTo>
                <a:lnTo>
                  <a:pt x="194038" y="1043388"/>
                </a:lnTo>
                <a:lnTo>
                  <a:pt x="162614" y="1012255"/>
                </a:lnTo>
                <a:lnTo>
                  <a:pt x="133541" y="978926"/>
                </a:lnTo>
                <a:lnTo>
                  <a:pt x="106955" y="943535"/>
                </a:lnTo>
                <a:lnTo>
                  <a:pt x="82991" y="906215"/>
                </a:lnTo>
                <a:lnTo>
                  <a:pt x="61784" y="867102"/>
                </a:lnTo>
                <a:lnTo>
                  <a:pt x="43468" y="826328"/>
                </a:lnTo>
                <a:lnTo>
                  <a:pt x="28180" y="784028"/>
                </a:lnTo>
                <a:lnTo>
                  <a:pt x="16054" y="740335"/>
                </a:lnTo>
                <a:lnTo>
                  <a:pt x="7225" y="695383"/>
                </a:lnTo>
                <a:lnTo>
                  <a:pt x="1828" y="649307"/>
                </a:lnTo>
                <a:lnTo>
                  <a:pt x="0" y="602240"/>
                </a:lnTo>
                <a:close/>
              </a:path>
            </a:pathLst>
          </a:custGeom>
          <a:ln w="5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93366" y="5298861"/>
            <a:ext cx="883285" cy="229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50">
                <a:latin typeface="宋体"/>
                <a:cs typeface="宋体"/>
              </a:rPr>
              <a:t>问题域建模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60517" y="4823348"/>
            <a:ext cx="1216025" cy="1204595"/>
          </a:xfrm>
          <a:custGeom>
            <a:avLst/>
            <a:gdLst/>
            <a:ahLst/>
            <a:cxnLst/>
            <a:rect l="l" t="t" r="r" b="b"/>
            <a:pathLst>
              <a:path w="1216025" h="1204595">
                <a:moveTo>
                  <a:pt x="607943" y="0"/>
                </a:moveTo>
                <a:lnTo>
                  <a:pt x="560425" y="1811"/>
                </a:lnTo>
                <a:lnTo>
                  <a:pt x="513909" y="7158"/>
                </a:lnTo>
                <a:lnTo>
                  <a:pt x="468529" y="15905"/>
                </a:lnTo>
                <a:lnTo>
                  <a:pt x="424421" y="27919"/>
                </a:lnTo>
                <a:lnTo>
                  <a:pt x="381719" y="43066"/>
                </a:lnTo>
                <a:lnTo>
                  <a:pt x="340559" y="61212"/>
                </a:lnTo>
                <a:lnTo>
                  <a:pt x="301076" y="82223"/>
                </a:lnTo>
                <a:lnTo>
                  <a:pt x="263405" y="105965"/>
                </a:lnTo>
                <a:lnTo>
                  <a:pt x="227681" y="132305"/>
                </a:lnTo>
                <a:lnTo>
                  <a:pt x="194038" y="161108"/>
                </a:lnTo>
                <a:lnTo>
                  <a:pt x="162613" y="192241"/>
                </a:lnTo>
                <a:lnTo>
                  <a:pt x="133539" y="225569"/>
                </a:lnTo>
                <a:lnTo>
                  <a:pt x="106953" y="260959"/>
                </a:lnTo>
                <a:lnTo>
                  <a:pt x="82989" y="298277"/>
                </a:lnTo>
                <a:lnTo>
                  <a:pt x="61781" y="337389"/>
                </a:lnTo>
                <a:lnTo>
                  <a:pt x="43466" y="378162"/>
                </a:lnTo>
                <a:lnTo>
                  <a:pt x="28178" y="420460"/>
                </a:lnTo>
                <a:lnTo>
                  <a:pt x="16053" y="464151"/>
                </a:lnTo>
                <a:lnTo>
                  <a:pt x="7224" y="509100"/>
                </a:lnTo>
                <a:lnTo>
                  <a:pt x="1828" y="555174"/>
                </a:lnTo>
                <a:lnTo>
                  <a:pt x="0" y="602239"/>
                </a:lnTo>
                <a:lnTo>
                  <a:pt x="1828" y="649306"/>
                </a:lnTo>
                <a:lnTo>
                  <a:pt x="7224" y="695383"/>
                </a:lnTo>
                <a:lnTo>
                  <a:pt x="16053" y="740334"/>
                </a:lnTo>
                <a:lnTo>
                  <a:pt x="28178" y="784027"/>
                </a:lnTo>
                <a:lnTo>
                  <a:pt x="43466" y="826327"/>
                </a:lnTo>
                <a:lnTo>
                  <a:pt x="61781" y="867101"/>
                </a:lnTo>
                <a:lnTo>
                  <a:pt x="82989" y="906215"/>
                </a:lnTo>
                <a:lnTo>
                  <a:pt x="106953" y="943534"/>
                </a:lnTo>
                <a:lnTo>
                  <a:pt x="133539" y="978925"/>
                </a:lnTo>
                <a:lnTo>
                  <a:pt x="162613" y="1012255"/>
                </a:lnTo>
                <a:lnTo>
                  <a:pt x="194038" y="1043388"/>
                </a:lnTo>
                <a:lnTo>
                  <a:pt x="227681" y="1072192"/>
                </a:lnTo>
                <a:lnTo>
                  <a:pt x="263405" y="1098532"/>
                </a:lnTo>
                <a:lnTo>
                  <a:pt x="301076" y="1122274"/>
                </a:lnTo>
                <a:lnTo>
                  <a:pt x="340559" y="1143286"/>
                </a:lnTo>
                <a:lnTo>
                  <a:pt x="381719" y="1161432"/>
                </a:lnTo>
                <a:lnTo>
                  <a:pt x="424421" y="1176579"/>
                </a:lnTo>
                <a:lnTo>
                  <a:pt x="468529" y="1188593"/>
                </a:lnTo>
                <a:lnTo>
                  <a:pt x="513909" y="1197340"/>
                </a:lnTo>
                <a:lnTo>
                  <a:pt x="560425" y="1202686"/>
                </a:lnTo>
                <a:lnTo>
                  <a:pt x="607943" y="1204498"/>
                </a:lnTo>
                <a:lnTo>
                  <a:pt x="655432" y="1202686"/>
                </a:lnTo>
                <a:lnTo>
                  <a:pt x="701922" y="1197340"/>
                </a:lnTo>
                <a:lnTo>
                  <a:pt x="747279" y="1188593"/>
                </a:lnTo>
                <a:lnTo>
                  <a:pt x="791366" y="1176579"/>
                </a:lnTo>
                <a:lnTo>
                  <a:pt x="834048" y="1161432"/>
                </a:lnTo>
                <a:lnTo>
                  <a:pt x="875191" y="1143286"/>
                </a:lnTo>
                <a:lnTo>
                  <a:pt x="914660" y="1122274"/>
                </a:lnTo>
                <a:lnTo>
                  <a:pt x="952318" y="1098532"/>
                </a:lnTo>
                <a:lnTo>
                  <a:pt x="988032" y="1072192"/>
                </a:lnTo>
                <a:lnTo>
                  <a:pt x="1021665" y="1043388"/>
                </a:lnTo>
                <a:lnTo>
                  <a:pt x="1053083" y="1012255"/>
                </a:lnTo>
                <a:lnTo>
                  <a:pt x="1082151" y="978925"/>
                </a:lnTo>
                <a:lnTo>
                  <a:pt x="1108732" y="943534"/>
                </a:lnTo>
                <a:lnTo>
                  <a:pt x="1132693" y="906215"/>
                </a:lnTo>
                <a:lnTo>
                  <a:pt x="1153897" y="867101"/>
                </a:lnTo>
                <a:lnTo>
                  <a:pt x="1172210" y="826327"/>
                </a:lnTo>
                <a:lnTo>
                  <a:pt x="1187497" y="784027"/>
                </a:lnTo>
                <a:lnTo>
                  <a:pt x="1199621" y="740334"/>
                </a:lnTo>
                <a:lnTo>
                  <a:pt x="1208449" y="695383"/>
                </a:lnTo>
                <a:lnTo>
                  <a:pt x="1213845" y="649306"/>
                </a:lnTo>
                <a:lnTo>
                  <a:pt x="1215674" y="602239"/>
                </a:lnTo>
                <a:lnTo>
                  <a:pt x="1213845" y="555174"/>
                </a:lnTo>
                <a:lnTo>
                  <a:pt x="1208449" y="509100"/>
                </a:lnTo>
                <a:lnTo>
                  <a:pt x="1199621" y="464151"/>
                </a:lnTo>
                <a:lnTo>
                  <a:pt x="1187497" y="420460"/>
                </a:lnTo>
                <a:lnTo>
                  <a:pt x="1172210" y="378162"/>
                </a:lnTo>
                <a:lnTo>
                  <a:pt x="1153897" y="337389"/>
                </a:lnTo>
                <a:lnTo>
                  <a:pt x="1132693" y="298277"/>
                </a:lnTo>
                <a:lnTo>
                  <a:pt x="1108732" y="260959"/>
                </a:lnTo>
                <a:lnTo>
                  <a:pt x="1082151" y="225569"/>
                </a:lnTo>
                <a:lnTo>
                  <a:pt x="1053083" y="192241"/>
                </a:lnTo>
                <a:lnTo>
                  <a:pt x="1021665" y="161108"/>
                </a:lnTo>
                <a:lnTo>
                  <a:pt x="988032" y="132305"/>
                </a:lnTo>
                <a:lnTo>
                  <a:pt x="952318" y="105965"/>
                </a:lnTo>
                <a:lnTo>
                  <a:pt x="914660" y="82223"/>
                </a:lnTo>
                <a:lnTo>
                  <a:pt x="875191" y="61212"/>
                </a:lnTo>
                <a:lnTo>
                  <a:pt x="834048" y="43066"/>
                </a:lnTo>
                <a:lnTo>
                  <a:pt x="791366" y="27919"/>
                </a:lnTo>
                <a:lnTo>
                  <a:pt x="747279" y="15905"/>
                </a:lnTo>
                <a:lnTo>
                  <a:pt x="701922" y="7158"/>
                </a:lnTo>
                <a:lnTo>
                  <a:pt x="655432" y="1811"/>
                </a:lnTo>
                <a:lnTo>
                  <a:pt x="607943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60518" y="4823347"/>
            <a:ext cx="1216025" cy="1204595"/>
          </a:xfrm>
          <a:custGeom>
            <a:avLst/>
            <a:gdLst/>
            <a:ahLst/>
            <a:cxnLst/>
            <a:rect l="l" t="t" r="r" b="b"/>
            <a:pathLst>
              <a:path w="1216025" h="1204595">
                <a:moveTo>
                  <a:pt x="0" y="602240"/>
                </a:moveTo>
                <a:lnTo>
                  <a:pt x="1828" y="555175"/>
                </a:lnTo>
                <a:lnTo>
                  <a:pt x="7224" y="509101"/>
                </a:lnTo>
                <a:lnTo>
                  <a:pt x="16053" y="464152"/>
                </a:lnTo>
                <a:lnTo>
                  <a:pt x="28178" y="420461"/>
                </a:lnTo>
                <a:lnTo>
                  <a:pt x="43466" y="378163"/>
                </a:lnTo>
                <a:lnTo>
                  <a:pt x="61781" y="337390"/>
                </a:lnTo>
                <a:lnTo>
                  <a:pt x="82989" y="298278"/>
                </a:lnTo>
                <a:lnTo>
                  <a:pt x="106953" y="260960"/>
                </a:lnTo>
                <a:lnTo>
                  <a:pt x="133540" y="225570"/>
                </a:lnTo>
                <a:lnTo>
                  <a:pt x="162613" y="192241"/>
                </a:lnTo>
                <a:lnTo>
                  <a:pt x="194039" y="161108"/>
                </a:lnTo>
                <a:lnTo>
                  <a:pt x="227681" y="132305"/>
                </a:lnTo>
                <a:lnTo>
                  <a:pt x="263406" y="105966"/>
                </a:lnTo>
                <a:lnTo>
                  <a:pt x="301077" y="82223"/>
                </a:lnTo>
                <a:lnTo>
                  <a:pt x="340560" y="61212"/>
                </a:lnTo>
                <a:lnTo>
                  <a:pt x="381720" y="43066"/>
                </a:lnTo>
                <a:lnTo>
                  <a:pt x="424422" y="27919"/>
                </a:lnTo>
                <a:lnTo>
                  <a:pt x="468530" y="15905"/>
                </a:lnTo>
                <a:lnTo>
                  <a:pt x="513910" y="7158"/>
                </a:lnTo>
                <a:lnTo>
                  <a:pt x="560426" y="1811"/>
                </a:lnTo>
                <a:lnTo>
                  <a:pt x="607944" y="0"/>
                </a:lnTo>
                <a:lnTo>
                  <a:pt x="655433" y="1811"/>
                </a:lnTo>
                <a:lnTo>
                  <a:pt x="701924" y="7158"/>
                </a:lnTo>
                <a:lnTo>
                  <a:pt x="747280" y="15905"/>
                </a:lnTo>
                <a:lnTo>
                  <a:pt x="791367" y="27919"/>
                </a:lnTo>
                <a:lnTo>
                  <a:pt x="834049" y="43066"/>
                </a:lnTo>
                <a:lnTo>
                  <a:pt x="875193" y="61212"/>
                </a:lnTo>
                <a:lnTo>
                  <a:pt x="914661" y="82223"/>
                </a:lnTo>
                <a:lnTo>
                  <a:pt x="952320" y="105966"/>
                </a:lnTo>
                <a:lnTo>
                  <a:pt x="988033" y="132305"/>
                </a:lnTo>
                <a:lnTo>
                  <a:pt x="1021666" y="161108"/>
                </a:lnTo>
                <a:lnTo>
                  <a:pt x="1053084" y="192241"/>
                </a:lnTo>
                <a:lnTo>
                  <a:pt x="1082152" y="225570"/>
                </a:lnTo>
                <a:lnTo>
                  <a:pt x="1108733" y="260960"/>
                </a:lnTo>
                <a:lnTo>
                  <a:pt x="1132694" y="298278"/>
                </a:lnTo>
                <a:lnTo>
                  <a:pt x="1153898" y="337390"/>
                </a:lnTo>
                <a:lnTo>
                  <a:pt x="1172211" y="378163"/>
                </a:lnTo>
                <a:lnTo>
                  <a:pt x="1187498" y="420461"/>
                </a:lnTo>
                <a:lnTo>
                  <a:pt x="1199622" y="464152"/>
                </a:lnTo>
                <a:lnTo>
                  <a:pt x="1208450" y="509101"/>
                </a:lnTo>
                <a:lnTo>
                  <a:pt x="1213846" y="555175"/>
                </a:lnTo>
                <a:lnTo>
                  <a:pt x="1215675" y="602240"/>
                </a:lnTo>
                <a:lnTo>
                  <a:pt x="1213846" y="649307"/>
                </a:lnTo>
                <a:lnTo>
                  <a:pt x="1208450" y="695383"/>
                </a:lnTo>
                <a:lnTo>
                  <a:pt x="1199622" y="740335"/>
                </a:lnTo>
                <a:lnTo>
                  <a:pt x="1187498" y="784028"/>
                </a:lnTo>
                <a:lnTo>
                  <a:pt x="1172211" y="826328"/>
                </a:lnTo>
                <a:lnTo>
                  <a:pt x="1153898" y="867102"/>
                </a:lnTo>
                <a:lnTo>
                  <a:pt x="1132694" y="906215"/>
                </a:lnTo>
                <a:lnTo>
                  <a:pt x="1108733" y="943535"/>
                </a:lnTo>
                <a:lnTo>
                  <a:pt x="1082152" y="978926"/>
                </a:lnTo>
                <a:lnTo>
                  <a:pt x="1053084" y="1012255"/>
                </a:lnTo>
                <a:lnTo>
                  <a:pt x="1021666" y="1043388"/>
                </a:lnTo>
                <a:lnTo>
                  <a:pt x="988033" y="1072192"/>
                </a:lnTo>
                <a:lnTo>
                  <a:pt x="952320" y="1098532"/>
                </a:lnTo>
                <a:lnTo>
                  <a:pt x="914661" y="1122275"/>
                </a:lnTo>
                <a:lnTo>
                  <a:pt x="875193" y="1143286"/>
                </a:lnTo>
                <a:lnTo>
                  <a:pt x="834049" y="1161432"/>
                </a:lnTo>
                <a:lnTo>
                  <a:pt x="791367" y="1176579"/>
                </a:lnTo>
                <a:lnTo>
                  <a:pt x="747280" y="1188593"/>
                </a:lnTo>
                <a:lnTo>
                  <a:pt x="701924" y="1197340"/>
                </a:lnTo>
                <a:lnTo>
                  <a:pt x="655433" y="1202687"/>
                </a:lnTo>
                <a:lnTo>
                  <a:pt x="607944" y="1204499"/>
                </a:lnTo>
                <a:lnTo>
                  <a:pt x="560426" y="1202687"/>
                </a:lnTo>
                <a:lnTo>
                  <a:pt x="513910" y="1197340"/>
                </a:lnTo>
                <a:lnTo>
                  <a:pt x="468530" y="1188593"/>
                </a:lnTo>
                <a:lnTo>
                  <a:pt x="424422" y="1176579"/>
                </a:lnTo>
                <a:lnTo>
                  <a:pt x="381720" y="1161432"/>
                </a:lnTo>
                <a:lnTo>
                  <a:pt x="340560" y="1143286"/>
                </a:lnTo>
                <a:lnTo>
                  <a:pt x="301077" y="1122275"/>
                </a:lnTo>
                <a:lnTo>
                  <a:pt x="263406" y="1098532"/>
                </a:lnTo>
                <a:lnTo>
                  <a:pt x="227681" y="1072192"/>
                </a:lnTo>
                <a:lnTo>
                  <a:pt x="194039" y="1043388"/>
                </a:lnTo>
                <a:lnTo>
                  <a:pt x="162613" y="1012255"/>
                </a:lnTo>
                <a:lnTo>
                  <a:pt x="133540" y="978926"/>
                </a:lnTo>
                <a:lnTo>
                  <a:pt x="106953" y="943535"/>
                </a:lnTo>
                <a:lnTo>
                  <a:pt x="82989" y="906215"/>
                </a:lnTo>
                <a:lnTo>
                  <a:pt x="61781" y="867102"/>
                </a:lnTo>
                <a:lnTo>
                  <a:pt x="43466" y="826328"/>
                </a:lnTo>
                <a:lnTo>
                  <a:pt x="28178" y="784028"/>
                </a:lnTo>
                <a:lnTo>
                  <a:pt x="16053" y="740335"/>
                </a:lnTo>
                <a:lnTo>
                  <a:pt x="7224" y="695383"/>
                </a:lnTo>
                <a:lnTo>
                  <a:pt x="1828" y="649307"/>
                </a:lnTo>
                <a:lnTo>
                  <a:pt x="0" y="602240"/>
                </a:lnTo>
                <a:close/>
              </a:path>
            </a:pathLst>
          </a:custGeom>
          <a:ln w="5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41100" y="5298861"/>
            <a:ext cx="1054735" cy="229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50">
                <a:latin typeface="MS Gothic"/>
                <a:cs typeface="MS Gothic"/>
              </a:rPr>
              <a:t>解决方案建模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93719" y="4823348"/>
            <a:ext cx="1216025" cy="1204595"/>
          </a:xfrm>
          <a:custGeom>
            <a:avLst/>
            <a:gdLst/>
            <a:ahLst/>
            <a:cxnLst/>
            <a:rect l="l" t="t" r="r" b="b"/>
            <a:pathLst>
              <a:path w="1216025" h="1204595">
                <a:moveTo>
                  <a:pt x="607943" y="0"/>
                </a:moveTo>
                <a:lnTo>
                  <a:pt x="560425" y="1811"/>
                </a:lnTo>
                <a:lnTo>
                  <a:pt x="513909" y="7158"/>
                </a:lnTo>
                <a:lnTo>
                  <a:pt x="468529" y="15905"/>
                </a:lnTo>
                <a:lnTo>
                  <a:pt x="424421" y="27919"/>
                </a:lnTo>
                <a:lnTo>
                  <a:pt x="381719" y="43066"/>
                </a:lnTo>
                <a:lnTo>
                  <a:pt x="340559" y="61212"/>
                </a:lnTo>
                <a:lnTo>
                  <a:pt x="301076" y="82223"/>
                </a:lnTo>
                <a:lnTo>
                  <a:pt x="263405" y="105965"/>
                </a:lnTo>
                <a:lnTo>
                  <a:pt x="227681" y="132305"/>
                </a:lnTo>
                <a:lnTo>
                  <a:pt x="194038" y="161108"/>
                </a:lnTo>
                <a:lnTo>
                  <a:pt x="162613" y="192241"/>
                </a:lnTo>
                <a:lnTo>
                  <a:pt x="133539" y="225569"/>
                </a:lnTo>
                <a:lnTo>
                  <a:pt x="106953" y="260959"/>
                </a:lnTo>
                <a:lnTo>
                  <a:pt x="82989" y="298277"/>
                </a:lnTo>
                <a:lnTo>
                  <a:pt x="61781" y="337389"/>
                </a:lnTo>
                <a:lnTo>
                  <a:pt x="43466" y="378162"/>
                </a:lnTo>
                <a:lnTo>
                  <a:pt x="28178" y="420460"/>
                </a:lnTo>
                <a:lnTo>
                  <a:pt x="16053" y="464151"/>
                </a:lnTo>
                <a:lnTo>
                  <a:pt x="7224" y="509100"/>
                </a:lnTo>
                <a:lnTo>
                  <a:pt x="1828" y="555174"/>
                </a:lnTo>
                <a:lnTo>
                  <a:pt x="0" y="602239"/>
                </a:lnTo>
                <a:lnTo>
                  <a:pt x="1828" y="649306"/>
                </a:lnTo>
                <a:lnTo>
                  <a:pt x="7224" y="695383"/>
                </a:lnTo>
                <a:lnTo>
                  <a:pt x="16053" y="740334"/>
                </a:lnTo>
                <a:lnTo>
                  <a:pt x="28178" y="784027"/>
                </a:lnTo>
                <a:lnTo>
                  <a:pt x="43466" y="826327"/>
                </a:lnTo>
                <a:lnTo>
                  <a:pt x="61781" y="867101"/>
                </a:lnTo>
                <a:lnTo>
                  <a:pt x="82989" y="906215"/>
                </a:lnTo>
                <a:lnTo>
                  <a:pt x="106953" y="943534"/>
                </a:lnTo>
                <a:lnTo>
                  <a:pt x="133539" y="978925"/>
                </a:lnTo>
                <a:lnTo>
                  <a:pt x="162613" y="1012255"/>
                </a:lnTo>
                <a:lnTo>
                  <a:pt x="194038" y="1043388"/>
                </a:lnTo>
                <a:lnTo>
                  <a:pt x="227681" y="1072192"/>
                </a:lnTo>
                <a:lnTo>
                  <a:pt x="263405" y="1098532"/>
                </a:lnTo>
                <a:lnTo>
                  <a:pt x="301076" y="1122274"/>
                </a:lnTo>
                <a:lnTo>
                  <a:pt x="340559" y="1143286"/>
                </a:lnTo>
                <a:lnTo>
                  <a:pt x="381719" y="1161432"/>
                </a:lnTo>
                <a:lnTo>
                  <a:pt x="424421" y="1176579"/>
                </a:lnTo>
                <a:lnTo>
                  <a:pt x="468529" y="1188593"/>
                </a:lnTo>
                <a:lnTo>
                  <a:pt x="513909" y="1197340"/>
                </a:lnTo>
                <a:lnTo>
                  <a:pt x="560425" y="1202686"/>
                </a:lnTo>
                <a:lnTo>
                  <a:pt x="607943" y="1204498"/>
                </a:lnTo>
                <a:lnTo>
                  <a:pt x="655434" y="1202686"/>
                </a:lnTo>
                <a:lnTo>
                  <a:pt x="701928" y="1197340"/>
                </a:lnTo>
                <a:lnTo>
                  <a:pt x="747290" y="1188593"/>
                </a:lnTo>
                <a:lnTo>
                  <a:pt x="791386" y="1176579"/>
                </a:lnTo>
                <a:lnTo>
                  <a:pt x="834079" y="1161432"/>
                </a:lnTo>
                <a:lnTo>
                  <a:pt x="875234" y="1143286"/>
                </a:lnTo>
                <a:lnTo>
                  <a:pt x="914716" y="1122274"/>
                </a:lnTo>
                <a:lnTo>
                  <a:pt x="952388" y="1098532"/>
                </a:lnTo>
                <a:lnTo>
                  <a:pt x="988117" y="1072192"/>
                </a:lnTo>
                <a:lnTo>
                  <a:pt x="1021765" y="1043388"/>
                </a:lnTo>
                <a:lnTo>
                  <a:pt x="1053198" y="1012255"/>
                </a:lnTo>
                <a:lnTo>
                  <a:pt x="1082281" y="978925"/>
                </a:lnTo>
                <a:lnTo>
                  <a:pt x="1108877" y="943534"/>
                </a:lnTo>
                <a:lnTo>
                  <a:pt x="1132852" y="906215"/>
                </a:lnTo>
                <a:lnTo>
                  <a:pt x="1154069" y="867101"/>
                </a:lnTo>
                <a:lnTo>
                  <a:pt x="1172394" y="826327"/>
                </a:lnTo>
                <a:lnTo>
                  <a:pt x="1187691" y="784027"/>
                </a:lnTo>
                <a:lnTo>
                  <a:pt x="1199824" y="740334"/>
                </a:lnTo>
                <a:lnTo>
                  <a:pt x="1208659" y="695383"/>
                </a:lnTo>
                <a:lnTo>
                  <a:pt x="1214059" y="649306"/>
                </a:lnTo>
                <a:lnTo>
                  <a:pt x="1215889" y="602239"/>
                </a:lnTo>
                <a:lnTo>
                  <a:pt x="1214059" y="555174"/>
                </a:lnTo>
                <a:lnTo>
                  <a:pt x="1208659" y="509100"/>
                </a:lnTo>
                <a:lnTo>
                  <a:pt x="1199824" y="464151"/>
                </a:lnTo>
                <a:lnTo>
                  <a:pt x="1187691" y="420460"/>
                </a:lnTo>
                <a:lnTo>
                  <a:pt x="1172394" y="378162"/>
                </a:lnTo>
                <a:lnTo>
                  <a:pt x="1154069" y="337389"/>
                </a:lnTo>
                <a:lnTo>
                  <a:pt x="1132852" y="298277"/>
                </a:lnTo>
                <a:lnTo>
                  <a:pt x="1108877" y="260959"/>
                </a:lnTo>
                <a:lnTo>
                  <a:pt x="1082281" y="225569"/>
                </a:lnTo>
                <a:lnTo>
                  <a:pt x="1053198" y="192241"/>
                </a:lnTo>
                <a:lnTo>
                  <a:pt x="1021765" y="161108"/>
                </a:lnTo>
                <a:lnTo>
                  <a:pt x="988117" y="132305"/>
                </a:lnTo>
                <a:lnTo>
                  <a:pt x="952388" y="105965"/>
                </a:lnTo>
                <a:lnTo>
                  <a:pt x="914716" y="82223"/>
                </a:lnTo>
                <a:lnTo>
                  <a:pt x="875234" y="61212"/>
                </a:lnTo>
                <a:lnTo>
                  <a:pt x="834079" y="43066"/>
                </a:lnTo>
                <a:lnTo>
                  <a:pt x="791386" y="27919"/>
                </a:lnTo>
                <a:lnTo>
                  <a:pt x="747290" y="15905"/>
                </a:lnTo>
                <a:lnTo>
                  <a:pt x="701928" y="7158"/>
                </a:lnTo>
                <a:lnTo>
                  <a:pt x="655434" y="1811"/>
                </a:lnTo>
                <a:lnTo>
                  <a:pt x="607943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93719" y="4823347"/>
            <a:ext cx="1216025" cy="1204595"/>
          </a:xfrm>
          <a:custGeom>
            <a:avLst/>
            <a:gdLst/>
            <a:ahLst/>
            <a:cxnLst/>
            <a:rect l="l" t="t" r="r" b="b"/>
            <a:pathLst>
              <a:path w="1216025" h="1204595">
                <a:moveTo>
                  <a:pt x="0" y="602240"/>
                </a:moveTo>
                <a:lnTo>
                  <a:pt x="1828" y="555175"/>
                </a:lnTo>
                <a:lnTo>
                  <a:pt x="7224" y="509101"/>
                </a:lnTo>
                <a:lnTo>
                  <a:pt x="16053" y="464152"/>
                </a:lnTo>
                <a:lnTo>
                  <a:pt x="28178" y="420461"/>
                </a:lnTo>
                <a:lnTo>
                  <a:pt x="43466" y="378163"/>
                </a:lnTo>
                <a:lnTo>
                  <a:pt x="61781" y="337390"/>
                </a:lnTo>
                <a:lnTo>
                  <a:pt x="82989" y="298278"/>
                </a:lnTo>
                <a:lnTo>
                  <a:pt x="106953" y="260960"/>
                </a:lnTo>
                <a:lnTo>
                  <a:pt x="133540" y="225570"/>
                </a:lnTo>
                <a:lnTo>
                  <a:pt x="162613" y="192241"/>
                </a:lnTo>
                <a:lnTo>
                  <a:pt x="194039" y="161108"/>
                </a:lnTo>
                <a:lnTo>
                  <a:pt x="227681" y="132305"/>
                </a:lnTo>
                <a:lnTo>
                  <a:pt x="263406" y="105966"/>
                </a:lnTo>
                <a:lnTo>
                  <a:pt x="301077" y="82223"/>
                </a:lnTo>
                <a:lnTo>
                  <a:pt x="340560" y="61212"/>
                </a:lnTo>
                <a:lnTo>
                  <a:pt x="381720" y="43066"/>
                </a:lnTo>
                <a:lnTo>
                  <a:pt x="424422" y="27919"/>
                </a:lnTo>
                <a:lnTo>
                  <a:pt x="468530" y="15905"/>
                </a:lnTo>
                <a:lnTo>
                  <a:pt x="513910" y="7158"/>
                </a:lnTo>
                <a:lnTo>
                  <a:pt x="560426" y="1811"/>
                </a:lnTo>
                <a:lnTo>
                  <a:pt x="607944" y="0"/>
                </a:lnTo>
                <a:lnTo>
                  <a:pt x="655435" y="1811"/>
                </a:lnTo>
                <a:lnTo>
                  <a:pt x="701929" y="7158"/>
                </a:lnTo>
                <a:lnTo>
                  <a:pt x="747292" y="15905"/>
                </a:lnTo>
                <a:lnTo>
                  <a:pt x="791387" y="27919"/>
                </a:lnTo>
                <a:lnTo>
                  <a:pt x="834080" y="43066"/>
                </a:lnTo>
                <a:lnTo>
                  <a:pt x="875235" y="61212"/>
                </a:lnTo>
                <a:lnTo>
                  <a:pt x="914717" y="82223"/>
                </a:lnTo>
                <a:lnTo>
                  <a:pt x="952389" y="105966"/>
                </a:lnTo>
                <a:lnTo>
                  <a:pt x="988118" y="132305"/>
                </a:lnTo>
                <a:lnTo>
                  <a:pt x="1021766" y="161108"/>
                </a:lnTo>
                <a:lnTo>
                  <a:pt x="1053199" y="192241"/>
                </a:lnTo>
                <a:lnTo>
                  <a:pt x="1082282" y="225570"/>
                </a:lnTo>
                <a:lnTo>
                  <a:pt x="1108878" y="260960"/>
                </a:lnTo>
                <a:lnTo>
                  <a:pt x="1132852" y="298278"/>
                </a:lnTo>
                <a:lnTo>
                  <a:pt x="1154070" y="337390"/>
                </a:lnTo>
                <a:lnTo>
                  <a:pt x="1172395" y="378163"/>
                </a:lnTo>
                <a:lnTo>
                  <a:pt x="1187692" y="420461"/>
                </a:lnTo>
                <a:lnTo>
                  <a:pt x="1199825" y="464152"/>
                </a:lnTo>
                <a:lnTo>
                  <a:pt x="1208659" y="509101"/>
                </a:lnTo>
                <a:lnTo>
                  <a:pt x="1214059" y="555175"/>
                </a:lnTo>
                <a:lnTo>
                  <a:pt x="1215889" y="602240"/>
                </a:lnTo>
                <a:lnTo>
                  <a:pt x="1214059" y="649307"/>
                </a:lnTo>
                <a:lnTo>
                  <a:pt x="1208659" y="695383"/>
                </a:lnTo>
                <a:lnTo>
                  <a:pt x="1199825" y="740335"/>
                </a:lnTo>
                <a:lnTo>
                  <a:pt x="1187692" y="784028"/>
                </a:lnTo>
                <a:lnTo>
                  <a:pt x="1172395" y="826328"/>
                </a:lnTo>
                <a:lnTo>
                  <a:pt x="1154070" y="867102"/>
                </a:lnTo>
                <a:lnTo>
                  <a:pt x="1132852" y="906215"/>
                </a:lnTo>
                <a:lnTo>
                  <a:pt x="1108878" y="943535"/>
                </a:lnTo>
                <a:lnTo>
                  <a:pt x="1082282" y="978926"/>
                </a:lnTo>
                <a:lnTo>
                  <a:pt x="1053199" y="1012255"/>
                </a:lnTo>
                <a:lnTo>
                  <a:pt x="1021766" y="1043388"/>
                </a:lnTo>
                <a:lnTo>
                  <a:pt x="988118" y="1072192"/>
                </a:lnTo>
                <a:lnTo>
                  <a:pt x="952389" y="1098532"/>
                </a:lnTo>
                <a:lnTo>
                  <a:pt x="914717" y="1122275"/>
                </a:lnTo>
                <a:lnTo>
                  <a:pt x="875235" y="1143286"/>
                </a:lnTo>
                <a:lnTo>
                  <a:pt x="834080" y="1161432"/>
                </a:lnTo>
                <a:lnTo>
                  <a:pt x="791387" y="1176579"/>
                </a:lnTo>
                <a:lnTo>
                  <a:pt x="747292" y="1188593"/>
                </a:lnTo>
                <a:lnTo>
                  <a:pt x="701929" y="1197340"/>
                </a:lnTo>
                <a:lnTo>
                  <a:pt x="655435" y="1202687"/>
                </a:lnTo>
                <a:lnTo>
                  <a:pt x="607944" y="1204499"/>
                </a:lnTo>
                <a:lnTo>
                  <a:pt x="560426" y="1202687"/>
                </a:lnTo>
                <a:lnTo>
                  <a:pt x="513910" y="1197340"/>
                </a:lnTo>
                <a:lnTo>
                  <a:pt x="468530" y="1188593"/>
                </a:lnTo>
                <a:lnTo>
                  <a:pt x="424422" y="1176579"/>
                </a:lnTo>
                <a:lnTo>
                  <a:pt x="381720" y="1161432"/>
                </a:lnTo>
                <a:lnTo>
                  <a:pt x="340560" y="1143286"/>
                </a:lnTo>
                <a:lnTo>
                  <a:pt x="301077" y="1122275"/>
                </a:lnTo>
                <a:lnTo>
                  <a:pt x="263406" y="1098532"/>
                </a:lnTo>
                <a:lnTo>
                  <a:pt x="227681" y="1072192"/>
                </a:lnTo>
                <a:lnTo>
                  <a:pt x="194039" y="1043388"/>
                </a:lnTo>
                <a:lnTo>
                  <a:pt x="162613" y="1012255"/>
                </a:lnTo>
                <a:lnTo>
                  <a:pt x="133540" y="978926"/>
                </a:lnTo>
                <a:lnTo>
                  <a:pt x="106953" y="943535"/>
                </a:lnTo>
                <a:lnTo>
                  <a:pt x="82989" y="906215"/>
                </a:lnTo>
                <a:lnTo>
                  <a:pt x="61781" y="867102"/>
                </a:lnTo>
                <a:lnTo>
                  <a:pt x="43466" y="826328"/>
                </a:lnTo>
                <a:lnTo>
                  <a:pt x="28178" y="784028"/>
                </a:lnTo>
                <a:lnTo>
                  <a:pt x="16053" y="740335"/>
                </a:lnTo>
                <a:lnTo>
                  <a:pt x="7224" y="695383"/>
                </a:lnTo>
                <a:lnTo>
                  <a:pt x="1828" y="649307"/>
                </a:lnTo>
                <a:lnTo>
                  <a:pt x="0" y="602240"/>
                </a:lnTo>
                <a:close/>
              </a:path>
            </a:pathLst>
          </a:custGeom>
          <a:ln w="5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074302" y="5298861"/>
            <a:ext cx="1054735" cy="229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50">
                <a:latin typeface="宋体"/>
                <a:cs typeface="宋体"/>
              </a:rPr>
              <a:t>创建解决方案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33600" y="5425587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39816" y="0"/>
                </a:lnTo>
              </a:path>
            </a:pathLst>
          </a:custGeom>
          <a:ln w="5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42811" y="5425587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 h="0">
                <a:moveTo>
                  <a:pt x="0" y="0"/>
                </a:moveTo>
                <a:lnTo>
                  <a:pt x="247681" y="0"/>
                </a:lnTo>
              </a:path>
            </a:pathLst>
          </a:custGeom>
          <a:ln w="5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62480" y="5382245"/>
            <a:ext cx="131445" cy="86995"/>
          </a:xfrm>
          <a:custGeom>
            <a:avLst/>
            <a:gdLst/>
            <a:ahLst/>
            <a:cxnLst/>
            <a:rect l="l" t="t" r="r" b="b"/>
            <a:pathLst>
              <a:path w="131445" h="86995">
                <a:moveTo>
                  <a:pt x="0" y="0"/>
                </a:moveTo>
                <a:lnTo>
                  <a:pt x="0" y="86683"/>
                </a:lnTo>
                <a:lnTo>
                  <a:pt x="131239" y="433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384225" y="5055422"/>
            <a:ext cx="368935" cy="696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12900"/>
              </a:lnSpc>
              <a:spcBef>
                <a:spcPts val="90"/>
              </a:spcBef>
            </a:pPr>
            <a:r>
              <a:rPr dirty="0" sz="1300" spc="40">
                <a:latin typeface="MS Gothic"/>
                <a:cs typeface="MS Gothic"/>
              </a:rPr>
              <a:t>信息 共同 理解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00398" y="5425587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 h="0">
                <a:moveTo>
                  <a:pt x="0" y="0"/>
                </a:moveTo>
                <a:lnTo>
                  <a:pt x="139817" y="0"/>
                </a:lnTo>
              </a:path>
            </a:pathLst>
          </a:custGeom>
          <a:ln w="5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09609" y="5425587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 h="0">
                <a:moveTo>
                  <a:pt x="0" y="0"/>
                </a:moveTo>
                <a:lnTo>
                  <a:pt x="247680" y="0"/>
                </a:lnTo>
              </a:path>
            </a:pathLst>
          </a:custGeom>
          <a:ln w="5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29278" y="5382245"/>
            <a:ext cx="131445" cy="86995"/>
          </a:xfrm>
          <a:custGeom>
            <a:avLst/>
            <a:gdLst/>
            <a:ahLst/>
            <a:cxnLst/>
            <a:rect l="l" t="t" r="r" b="b"/>
            <a:pathLst>
              <a:path w="131445" h="86995">
                <a:moveTo>
                  <a:pt x="0" y="0"/>
                </a:moveTo>
                <a:lnTo>
                  <a:pt x="0" y="86683"/>
                </a:lnTo>
                <a:lnTo>
                  <a:pt x="131239" y="433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451024" y="5167262"/>
            <a:ext cx="368935" cy="4730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2900"/>
              </a:lnSpc>
              <a:spcBef>
                <a:spcPts val="90"/>
              </a:spcBef>
            </a:pPr>
            <a:r>
              <a:rPr dirty="0" sz="1300" spc="45">
                <a:latin typeface="MS Gothic"/>
                <a:cs typeface="MS Gothic"/>
              </a:rPr>
              <a:t>解决 方案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14234" y="5425587"/>
            <a:ext cx="45085" cy="0"/>
          </a:xfrm>
          <a:custGeom>
            <a:avLst/>
            <a:gdLst/>
            <a:ahLst/>
            <a:cxnLst/>
            <a:rect l="l" t="t" r="r" b="b"/>
            <a:pathLst>
              <a:path w="45084" h="0">
                <a:moveTo>
                  <a:pt x="0" y="0"/>
                </a:moveTo>
                <a:lnTo>
                  <a:pt x="44605" y="0"/>
                </a:lnTo>
              </a:path>
            </a:pathLst>
          </a:custGeom>
          <a:ln w="5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76193" y="5425587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1824" y="0"/>
                </a:lnTo>
              </a:path>
            </a:pathLst>
          </a:custGeom>
          <a:ln w="5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147901" y="5382245"/>
            <a:ext cx="131445" cy="86995"/>
          </a:xfrm>
          <a:custGeom>
            <a:avLst/>
            <a:gdLst/>
            <a:ahLst/>
            <a:cxnLst/>
            <a:rect l="l" t="t" r="r" b="b"/>
            <a:pathLst>
              <a:path w="131445" h="86995">
                <a:moveTo>
                  <a:pt x="0" y="0"/>
                </a:moveTo>
                <a:lnTo>
                  <a:pt x="0" y="86683"/>
                </a:lnTo>
                <a:lnTo>
                  <a:pt x="131239" y="433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421752" y="5298861"/>
            <a:ext cx="711835" cy="229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50">
                <a:latin typeface="MS Gothic"/>
                <a:cs typeface="MS Gothic"/>
              </a:rPr>
              <a:t>系</a:t>
            </a:r>
            <a:r>
              <a:rPr dirty="0" sz="1300" spc="50">
                <a:latin typeface="宋体"/>
                <a:cs typeface="宋体"/>
              </a:rPr>
              <a:t>统</a:t>
            </a:r>
            <a:r>
              <a:rPr dirty="0" sz="1300" spc="50">
                <a:latin typeface="MS Gothic"/>
                <a:cs typeface="MS Gothic"/>
              </a:rPr>
              <a:t>模型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86123" y="5425587"/>
            <a:ext cx="120650" cy="0"/>
          </a:xfrm>
          <a:custGeom>
            <a:avLst/>
            <a:gdLst/>
            <a:ahLst/>
            <a:cxnLst/>
            <a:rect l="l" t="t" r="r" b="b"/>
            <a:pathLst>
              <a:path w="120650" h="0">
                <a:moveTo>
                  <a:pt x="0" y="0"/>
                </a:moveTo>
                <a:lnTo>
                  <a:pt x="120581" y="0"/>
                </a:lnTo>
              </a:path>
            </a:pathLst>
          </a:custGeom>
          <a:ln w="5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2061" y="5425587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5" h="0">
                <a:moveTo>
                  <a:pt x="0" y="0"/>
                </a:moveTo>
                <a:lnTo>
                  <a:pt x="227845" y="0"/>
                </a:lnTo>
              </a:path>
            </a:pathLst>
          </a:custGeom>
          <a:ln w="5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795767" y="5382245"/>
            <a:ext cx="131445" cy="86995"/>
          </a:xfrm>
          <a:custGeom>
            <a:avLst/>
            <a:gdLst/>
            <a:ahLst/>
            <a:cxnLst/>
            <a:rect l="l" t="t" r="r" b="b"/>
            <a:pathLst>
              <a:path w="131444" h="86995">
                <a:moveTo>
                  <a:pt x="0" y="0"/>
                </a:moveTo>
                <a:lnTo>
                  <a:pt x="0" y="86683"/>
                </a:lnTo>
                <a:lnTo>
                  <a:pt x="131239" y="433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93640" y="5298861"/>
            <a:ext cx="711835" cy="229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50">
                <a:latin typeface="宋体"/>
                <a:cs typeface="宋体"/>
              </a:rPr>
              <a:t>获取笔录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337" y="202691"/>
            <a:ext cx="43529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1.2.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建立解决方案</a:t>
            </a:r>
          </a:p>
        </p:txBody>
      </p:sp>
      <p:sp>
        <p:nvSpPr>
          <p:cNvPr id="3" name="object 3"/>
          <p:cNvSpPr/>
          <p:nvPr/>
        </p:nvSpPr>
        <p:spPr>
          <a:xfrm>
            <a:off x="480460" y="2029183"/>
            <a:ext cx="2850515" cy="1924685"/>
          </a:xfrm>
          <a:custGeom>
            <a:avLst/>
            <a:gdLst/>
            <a:ahLst/>
            <a:cxnLst/>
            <a:rect l="l" t="t" r="r" b="b"/>
            <a:pathLst>
              <a:path w="2850515" h="1924685">
                <a:moveTo>
                  <a:pt x="1424961" y="0"/>
                </a:moveTo>
                <a:lnTo>
                  <a:pt x="1367650" y="764"/>
                </a:lnTo>
                <a:lnTo>
                  <a:pt x="1310913" y="3037"/>
                </a:lnTo>
                <a:lnTo>
                  <a:pt x="1254794" y="6790"/>
                </a:lnTo>
                <a:lnTo>
                  <a:pt x="1199333" y="11995"/>
                </a:lnTo>
                <a:lnTo>
                  <a:pt x="1144575" y="18622"/>
                </a:lnTo>
                <a:lnTo>
                  <a:pt x="1090562" y="26644"/>
                </a:lnTo>
                <a:lnTo>
                  <a:pt x="1037336" y="36030"/>
                </a:lnTo>
                <a:lnTo>
                  <a:pt x="984940" y="46753"/>
                </a:lnTo>
                <a:lnTo>
                  <a:pt x="933416" y="58784"/>
                </a:lnTo>
                <a:lnTo>
                  <a:pt x="882807" y="72094"/>
                </a:lnTo>
                <a:lnTo>
                  <a:pt x="833156" y="86655"/>
                </a:lnTo>
                <a:lnTo>
                  <a:pt x="784504" y="102436"/>
                </a:lnTo>
                <a:lnTo>
                  <a:pt x="736896" y="119411"/>
                </a:lnTo>
                <a:lnTo>
                  <a:pt x="690372" y="137549"/>
                </a:lnTo>
                <a:lnTo>
                  <a:pt x="644976" y="156823"/>
                </a:lnTo>
                <a:lnTo>
                  <a:pt x="600751" y="177203"/>
                </a:lnTo>
                <a:lnTo>
                  <a:pt x="557739" y="198662"/>
                </a:lnTo>
                <a:lnTo>
                  <a:pt x="515982" y="221169"/>
                </a:lnTo>
                <a:lnTo>
                  <a:pt x="475523" y="244696"/>
                </a:lnTo>
                <a:lnTo>
                  <a:pt x="436405" y="269215"/>
                </a:lnTo>
                <a:lnTo>
                  <a:pt x="398670" y="294697"/>
                </a:lnTo>
                <a:lnTo>
                  <a:pt x="362361" y="321113"/>
                </a:lnTo>
                <a:lnTo>
                  <a:pt x="327520" y="348434"/>
                </a:lnTo>
                <a:lnTo>
                  <a:pt x="294190" y="376632"/>
                </a:lnTo>
                <a:lnTo>
                  <a:pt x="262414" y="405678"/>
                </a:lnTo>
                <a:lnTo>
                  <a:pt x="232233" y="435543"/>
                </a:lnTo>
                <a:lnTo>
                  <a:pt x="203691" y="466198"/>
                </a:lnTo>
                <a:lnTo>
                  <a:pt x="176831" y="497615"/>
                </a:lnTo>
                <a:lnTo>
                  <a:pt x="151694" y="529764"/>
                </a:lnTo>
                <a:lnTo>
                  <a:pt x="128324" y="562618"/>
                </a:lnTo>
                <a:lnTo>
                  <a:pt x="106762" y="596147"/>
                </a:lnTo>
                <a:lnTo>
                  <a:pt x="87052" y="630322"/>
                </a:lnTo>
                <a:lnTo>
                  <a:pt x="69236" y="665116"/>
                </a:lnTo>
                <a:lnTo>
                  <a:pt x="53356" y="700499"/>
                </a:lnTo>
                <a:lnTo>
                  <a:pt x="39456" y="736442"/>
                </a:lnTo>
                <a:lnTo>
                  <a:pt x="27577" y="772916"/>
                </a:lnTo>
                <a:lnTo>
                  <a:pt x="17763" y="809894"/>
                </a:lnTo>
                <a:lnTo>
                  <a:pt x="10055" y="847346"/>
                </a:lnTo>
                <a:lnTo>
                  <a:pt x="4497" y="885243"/>
                </a:lnTo>
                <a:lnTo>
                  <a:pt x="1131" y="923556"/>
                </a:lnTo>
                <a:lnTo>
                  <a:pt x="0" y="962258"/>
                </a:lnTo>
                <a:lnTo>
                  <a:pt x="1131" y="1000960"/>
                </a:lnTo>
                <a:lnTo>
                  <a:pt x="4497" y="1039273"/>
                </a:lnTo>
                <a:lnTo>
                  <a:pt x="10055" y="1077170"/>
                </a:lnTo>
                <a:lnTo>
                  <a:pt x="17763" y="1114621"/>
                </a:lnTo>
                <a:lnTo>
                  <a:pt x="27577" y="1151598"/>
                </a:lnTo>
                <a:lnTo>
                  <a:pt x="39456" y="1188072"/>
                </a:lnTo>
                <a:lnTo>
                  <a:pt x="53356" y="1224015"/>
                </a:lnTo>
                <a:lnTo>
                  <a:pt x="69236" y="1259396"/>
                </a:lnTo>
                <a:lnTo>
                  <a:pt x="87052" y="1294189"/>
                </a:lnTo>
                <a:lnTo>
                  <a:pt x="106762" y="1328364"/>
                </a:lnTo>
                <a:lnTo>
                  <a:pt x="128324" y="1361892"/>
                </a:lnTo>
                <a:lnTo>
                  <a:pt x="151694" y="1394744"/>
                </a:lnTo>
                <a:lnTo>
                  <a:pt x="176831" y="1426893"/>
                </a:lnTo>
                <a:lnTo>
                  <a:pt x="203691" y="1458308"/>
                </a:lnTo>
                <a:lnTo>
                  <a:pt x="232233" y="1488962"/>
                </a:lnTo>
                <a:lnTo>
                  <a:pt x="262414" y="1518826"/>
                </a:lnTo>
                <a:lnTo>
                  <a:pt x="294190" y="1547870"/>
                </a:lnTo>
                <a:lnTo>
                  <a:pt x="327520" y="1576067"/>
                </a:lnTo>
                <a:lnTo>
                  <a:pt x="362361" y="1603387"/>
                </a:lnTo>
                <a:lnTo>
                  <a:pt x="398670" y="1629802"/>
                </a:lnTo>
                <a:lnTo>
                  <a:pt x="436405" y="1655282"/>
                </a:lnTo>
                <a:lnTo>
                  <a:pt x="475523" y="1679800"/>
                </a:lnTo>
                <a:lnTo>
                  <a:pt x="515982" y="1703326"/>
                </a:lnTo>
                <a:lnTo>
                  <a:pt x="557739" y="1725832"/>
                </a:lnTo>
                <a:lnTo>
                  <a:pt x="600751" y="1747289"/>
                </a:lnTo>
                <a:lnTo>
                  <a:pt x="644976" y="1767668"/>
                </a:lnTo>
                <a:lnTo>
                  <a:pt x="690372" y="1786941"/>
                </a:lnTo>
                <a:lnTo>
                  <a:pt x="736896" y="1805078"/>
                </a:lnTo>
                <a:lnTo>
                  <a:pt x="784504" y="1822052"/>
                </a:lnTo>
                <a:lnTo>
                  <a:pt x="833156" y="1837832"/>
                </a:lnTo>
                <a:lnTo>
                  <a:pt x="882807" y="1852392"/>
                </a:lnTo>
                <a:lnTo>
                  <a:pt x="933416" y="1865701"/>
                </a:lnTo>
                <a:lnTo>
                  <a:pt x="984940" y="1877731"/>
                </a:lnTo>
                <a:lnTo>
                  <a:pt x="1037336" y="1888453"/>
                </a:lnTo>
                <a:lnTo>
                  <a:pt x="1090562" y="1897839"/>
                </a:lnTo>
                <a:lnTo>
                  <a:pt x="1144575" y="1905860"/>
                </a:lnTo>
                <a:lnTo>
                  <a:pt x="1199333" y="1912487"/>
                </a:lnTo>
                <a:lnTo>
                  <a:pt x="1254794" y="1917691"/>
                </a:lnTo>
                <a:lnTo>
                  <a:pt x="1310913" y="1921444"/>
                </a:lnTo>
                <a:lnTo>
                  <a:pt x="1367650" y="1923717"/>
                </a:lnTo>
                <a:lnTo>
                  <a:pt x="1424961" y="1924481"/>
                </a:lnTo>
                <a:lnTo>
                  <a:pt x="1482272" y="1923717"/>
                </a:lnTo>
                <a:lnTo>
                  <a:pt x="1539008" y="1921444"/>
                </a:lnTo>
                <a:lnTo>
                  <a:pt x="1595128" y="1917691"/>
                </a:lnTo>
                <a:lnTo>
                  <a:pt x="1650588" y="1912487"/>
                </a:lnTo>
                <a:lnTo>
                  <a:pt x="1705347" y="1905860"/>
                </a:lnTo>
                <a:lnTo>
                  <a:pt x="1759360" y="1897839"/>
                </a:lnTo>
                <a:lnTo>
                  <a:pt x="1812587" y="1888453"/>
                </a:lnTo>
                <a:lnTo>
                  <a:pt x="1864983" y="1877731"/>
                </a:lnTo>
                <a:lnTo>
                  <a:pt x="1916507" y="1865701"/>
                </a:lnTo>
                <a:lnTo>
                  <a:pt x="1967117" y="1852392"/>
                </a:lnTo>
                <a:lnTo>
                  <a:pt x="2016769" y="1837832"/>
                </a:lnTo>
                <a:lnTo>
                  <a:pt x="2065421" y="1822052"/>
                </a:lnTo>
                <a:lnTo>
                  <a:pt x="2113030" y="1805078"/>
                </a:lnTo>
                <a:lnTo>
                  <a:pt x="2159554" y="1786941"/>
                </a:lnTo>
                <a:lnTo>
                  <a:pt x="2204950" y="1767668"/>
                </a:lnTo>
                <a:lnTo>
                  <a:pt x="2249176" y="1747289"/>
                </a:lnTo>
                <a:lnTo>
                  <a:pt x="2292189" y="1725832"/>
                </a:lnTo>
                <a:lnTo>
                  <a:pt x="2333946" y="1703326"/>
                </a:lnTo>
                <a:lnTo>
                  <a:pt x="2374406" y="1679800"/>
                </a:lnTo>
                <a:lnTo>
                  <a:pt x="2413524" y="1655282"/>
                </a:lnTo>
                <a:lnTo>
                  <a:pt x="2451260" y="1629802"/>
                </a:lnTo>
                <a:lnTo>
                  <a:pt x="2487570" y="1603387"/>
                </a:lnTo>
                <a:lnTo>
                  <a:pt x="2522411" y="1576067"/>
                </a:lnTo>
                <a:lnTo>
                  <a:pt x="2555742" y="1547870"/>
                </a:lnTo>
                <a:lnTo>
                  <a:pt x="2587519" y="1518826"/>
                </a:lnTo>
                <a:lnTo>
                  <a:pt x="2617700" y="1488962"/>
                </a:lnTo>
                <a:lnTo>
                  <a:pt x="2646242" y="1458308"/>
                </a:lnTo>
                <a:lnTo>
                  <a:pt x="2673103" y="1426893"/>
                </a:lnTo>
                <a:lnTo>
                  <a:pt x="2698241" y="1394744"/>
                </a:lnTo>
                <a:lnTo>
                  <a:pt x="2721612" y="1361892"/>
                </a:lnTo>
                <a:lnTo>
                  <a:pt x="2743174" y="1328364"/>
                </a:lnTo>
                <a:lnTo>
                  <a:pt x="2762885" y="1294189"/>
                </a:lnTo>
                <a:lnTo>
                  <a:pt x="2780701" y="1259396"/>
                </a:lnTo>
                <a:lnTo>
                  <a:pt x="2796581" y="1224015"/>
                </a:lnTo>
                <a:lnTo>
                  <a:pt x="2810482" y="1188072"/>
                </a:lnTo>
                <a:lnTo>
                  <a:pt x="2822361" y="1151598"/>
                </a:lnTo>
                <a:lnTo>
                  <a:pt x="2832175" y="1114621"/>
                </a:lnTo>
                <a:lnTo>
                  <a:pt x="2839883" y="1077170"/>
                </a:lnTo>
                <a:lnTo>
                  <a:pt x="2845441" y="1039273"/>
                </a:lnTo>
                <a:lnTo>
                  <a:pt x="2848807" y="1000960"/>
                </a:lnTo>
                <a:lnTo>
                  <a:pt x="2849939" y="962258"/>
                </a:lnTo>
                <a:lnTo>
                  <a:pt x="2848807" y="923556"/>
                </a:lnTo>
                <a:lnTo>
                  <a:pt x="2845441" y="885243"/>
                </a:lnTo>
                <a:lnTo>
                  <a:pt x="2839883" y="847346"/>
                </a:lnTo>
                <a:lnTo>
                  <a:pt x="2832175" y="809894"/>
                </a:lnTo>
                <a:lnTo>
                  <a:pt x="2822361" y="772916"/>
                </a:lnTo>
                <a:lnTo>
                  <a:pt x="2810482" y="736442"/>
                </a:lnTo>
                <a:lnTo>
                  <a:pt x="2796581" y="700499"/>
                </a:lnTo>
                <a:lnTo>
                  <a:pt x="2780701" y="665116"/>
                </a:lnTo>
                <a:lnTo>
                  <a:pt x="2762885" y="630322"/>
                </a:lnTo>
                <a:lnTo>
                  <a:pt x="2743174" y="596147"/>
                </a:lnTo>
                <a:lnTo>
                  <a:pt x="2721612" y="562618"/>
                </a:lnTo>
                <a:lnTo>
                  <a:pt x="2698241" y="529764"/>
                </a:lnTo>
                <a:lnTo>
                  <a:pt x="2673103" y="497615"/>
                </a:lnTo>
                <a:lnTo>
                  <a:pt x="2646242" y="466198"/>
                </a:lnTo>
                <a:lnTo>
                  <a:pt x="2617700" y="435543"/>
                </a:lnTo>
                <a:lnTo>
                  <a:pt x="2587519" y="405678"/>
                </a:lnTo>
                <a:lnTo>
                  <a:pt x="2555742" y="376632"/>
                </a:lnTo>
                <a:lnTo>
                  <a:pt x="2522411" y="348434"/>
                </a:lnTo>
                <a:lnTo>
                  <a:pt x="2487570" y="321113"/>
                </a:lnTo>
                <a:lnTo>
                  <a:pt x="2451260" y="294697"/>
                </a:lnTo>
                <a:lnTo>
                  <a:pt x="2413524" y="269215"/>
                </a:lnTo>
                <a:lnTo>
                  <a:pt x="2374406" y="244696"/>
                </a:lnTo>
                <a:lnTo>
                  <a:pt x="2333946" y="221169"/>
                </a:lnTo>
                <a:lnTo>
                  <a:pt x="2292189" y="198662"/>
                </a:lnTo>
                <a:lnTo>
                  <a:pt x="2249176" y="177203"/>
                </a:lnTo>
                <a:lnTo>
                  <a:pt x="2204950" y="156823"/>
                </a:lnTo>
                <a:lnTo>
                  <a:pt x="2159554" y="137549"/>
                </a:lnTo>
                <a:lnTo>
                  <a:pt x="2113030" y="119411"/>
                </a:lnTo>
                <a:lnTo>
                  <a:pt x="2065421" y="102436"/>
                </a:lnTo>
                <a:lnTo>
                  <a:pt x="2016769" y="86655"/>
                </a:lnTo>
                <a:lnTo>
                  <a:pt x="1967117" y="72094"/>
                </a:lnTo>
                <a:lnTo>
                  <a:pt x="1916507" y="58784"/>
                </a:lnTo>
                <a:lnTo>
                  <a:pt x="1864983" y="46753"/>
                </a:lnTo>
                <a:lnTo>
                  <a:pt x="1812587" y="36030"/>
                </a:lnTo>
                <a:lnTo>
                  <a:pt x="1759360" y="26644"/>
                </a:lnTo>
                <a:lnTo>
                  <a:pt x="1705347" y="18622"/>
                </a:lnTo>
                <a:lnTo>
                  <a:pt x="1650588" y="11995"/>
                </a:lnTo>
                <a:lnTo>
                  <a:pt x="1595128" y="6790"/>
                </a:lnTo>
                <a:lnTo>
                  <a:pt x="1539008" y="3037"/>
                </a:lnTo>
                <a:lnTo>
                  <a:pt x="1482272" y="764"/>
                </a:lnTo>
                <a:lnTo>
                  <a:pt x="142496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0460" y="2029184"/>
            <a:ext cx="2850515" cy="1924685"/>
          </a:xfrm>
          <a:custGeom>
            <a:avLst/>
            <a:gdLst/>
            <a:ahLst/>
            <a:cxnLst/>
            <a:rect l="l" t="t" r="r" b="b"/>
            <a:pathLst>
              <a:path w="2850515" h="1924685">
                <a:moveTo>
                  <a:pt x="0" y="962257"/>
                </a:moveTo>
                <a:lnTo>
                  <a:pt x="1131" y="923556"/>
                </a:lnTo>
                <a:lnTo>
                  <a:pt x="4497" y="885242"/>
                </a:lnTo>
                <a:lnTo>
                  <a:pt x="10055" y="847345"/>
                </a:lnTo>
                <a:lnTo>
                  <a:pt x="17763" y="809893"/>
                </a:lnTo>
                <a:lnTo>
                  <a:pt x="27577" y="772916"/>
                </a:lnTo>
                <a:lnTo>
                  <a:pt x="39456" y="736441"/>
                </a:lnTo>
                <a:lnTo>
                  <a:pt x="53356" y="700498"/>
                </a:lnTo>
                <a:lnTo>
                  <a:pt x="69236" y="665115"/>
                </a:lnTo>
                <a:lnTo>
                  <a:pt x="87052" y="630322"/>
                </a:lnTo>
                <a:lnTo>
                  <a:pt x="106762" y="596146"/>
                </a:lnTo>
                <a:lnTo>
                  <a:pt x="128324" y="562617"/>
                </a:lnTo>
                <a:lnTo>
                  <a:pt x="151694" y="529764"/>
                </a:lnTo>
                <a:lnTo>
                  <a:pt x="176831" y="497614"/>
                </a:lnTo>
                <a:lnTo>
                  <a:pt x="203691" y="466197"/>
                </a:lnTo>
                <a:lnTo>
                  <a:pt x="232233" y="435542"/>
                </a:lnTo>
                <a:lnTo>
                  <a:pt x="262414" y="405678"/>
                </a:lnTo>
                <a:lnTo>
                  <a:pt x="294190" y="376632"/>
                </a:lnTo>
                <a:lnTo>
                  <a:pt x="327520" y="348434"/>
                </a:lnTo>
                <a:lnTo>
                  <a:pt x="362361" y="321113"/>
                </a:lnTo>
                <a:lnTo>
                  <a:pt x="398670" y="294697"/>
                </a:lnTo>
                <a:lnTo>
                  <a:pt x="436405" y="269215"/>
                </a:lnTo>
                <a:lnTo>
                  <a:pt x="475523" y="244696"/>
                </a:lnTo>
                <a:lnTo>
                  <a:pt x="515982" y="221169"/>
                </a:lnTo>
                <a:lnTo>
                  <a:pt x="557739" y="198661"/>
                </a:lnTo>
                <a:lnTo>
                  <a:pt x="600751" y="177203"/>
                </a:lnTo>
                <a:lnTo>
                  <a:pt x="644976" y="156823"/>
                </a:lnTo>
                <a:lnTo>
                  <a:pt x="690372" y="137549"/>
                </a:lnTo>
                <a:lnTo>
                  <a:pt x="736895" y="119411"/>
                </a:lnTo>
                <a:lnTo>
                  <a:pt x="784504" y="102436"/>
                </a:lnTo>
                <a:lnTo>
                  <a:pt x="833155" y="86654"/>
                </a:lnTo>
                <a:lnTo>
                  <a:pt x="882807" y="72094"/>
                </a:lnTo>
                <a:lnTo>
                  <a:pt x="933416" y="58784"/>
                </a:lnTo>
                <a:lnTo>
                  <a:pt x="984940" y="46753"/>
                </a:lnTo>
                <a:lnTo>
                  <a:pt x="1037336" y="36030"/>
                </a:lnTo>
                <a:lnTo>
                  <a:pt x="1090562" y="26643"/>
                </a:lnTo>
                <a:lnTo>
                  <a:pt x="1144575" y="18622"/>
                </a:lnTo>
                <a:lnTo>
                  <a:pt x="1199333" y="11995"/>
                </a:lnTo>
                <a:lnTo>
                  <a:pt x="1254793" y="6790"/>
                </a:lnTo>
                <a:lnTo>
                  <a:pt x="1310913" y="3037"/>
                </a:lnTo>
                <a:lnTo>
                  <a:pt x="1367650" y="764"/>
                </a:lnTo>
                <a:lnTo>
                  <a:pt x="1424961" y="0"/>
                </a:lnTo>
                <a:lnTo>
                  <a:pt x="1482272" y="764"/>
                </a:lnTo>
                <a:lnTo>
                  <a:pt x="1539008" y="3037"/>
                </a:lnTo>
                <a:lnTo>
                  <a:pt x="1595128" y="6790"/>
                </a:lnTo>
                <a:lnTo>
                  <a:pt x="1650588" y="11995"/>
                </a:lnTo>
                <a:lnTo>
                  <a:pt x="1705347" y="18622"/>
                </a:lnTo>
                <a:lnTo>
                  <a:pt x="1759360" y="26643"/>
                </a:lnTo>
                <a:lnTo>
                  <a:pt x="1812587" y="36030"/>
                </a:lnTo>
                <a:lnTo>
                  <a:pt x="1864983" y="46753"/>
                </a:lnTo>
                <a:lnTo>
                  <a:pt x="1916507" y="58784"/>
                </a:lnTo>
                <a:lnTo>
                  <a:pt x="1967117" y="72094"/>
                </a:lnTo>
                <a:lnTo>
                  <a:pt x="2016769" y="86654"/>
                </a:lnTo>
                <a:lnTo>
                  <a:pt x="2065420" y="102436"/>
                </a:lnTo>
                <a:lnTo>
                  <a:pt x="2113030" y="119411"/>
                </a:lnTo>
                <a:lnTo>
                  <a:pt x="2159554" y="137549"/>
                </a:lnTo>
                <a:lnTo>
                  <a:pt x="2204950" y="156823"/>
                </a:lnTo>
                <a:lnTo>
                  <a:pt x="2249176" y="177203"/>
                </a:lnTo>
                <a:lnTo>
                  <a:pt x="2292189" y="198661"/>
                </a:lnTo>
                <a:lnTo>
                  <a:pt x="2333946" y="221169"/>
                </a:lnTo>
                <a:lnTo>
                  <a:pt x="2374406" y="244696"/>
                </a:lnTo>
                <a:lnTo>
                  <a:pt x="2413524" y="269215"/>
                </a:lnTo>
                <a:lnTo>
                  <a:pt x="2451260" y="294697"/>
                </a:lnTo>
                <a:lnTo>
                  <a:pt x="2487570" y="321113"/>
                </a:lnTo>
                <a:lnTo>
                  <a:pt x="2522411" y="348434"/>
                </a:lnTo>
                <a:lnTo>
                  <a:pt x="2555742" y="376632"/>
                </a:lnTo>
                <a:lnTo>
                  <a:pt x="2587519" y="405678"/>
                </a:lnTo>
                <a:lnTo>
                  <a:pt x="2617700" y="435542"/>
                </a:lnTo>
                <a:lnTo>
                  <a:pt x="2646242" y="466197"/>
                </a:lnTo>
                <a:lnTo>
                  <a:pt x="2673103" y="497614"/>
                </a:lnTo>
                <a:lnTo>
                  <a:pt x="2698241" y="529764"/>
                </a:lnTo>
                <a:lnTo>
                  <a:pt x="2721612" y="562617"/>
                </a:lnTo>
                <a:lnTo>
                  <a:pt x="2743174" y="596146"/>
                </a:lnTo>
                <a:lnTo>
                  <a:pt x="2762884" y="630322"/>
                </a:lnTo>
                <a:lnTo>
                  <a:pt x="2780701" y="665115"/>
                </a:lnTo>
                <a:lnTo>
                  <a:pt x="2796581" y="700498"/>
                </a:lnTo>
                <a:lnTo>
                  <a:pt x="2810481" y="736441"/>
                </a:lnTo>
                <a:lnTo>
                  <a:pt x="2822360" y="772916"/>
                </a:lnTo>
                <a:lnTo>
                  <a:pt x="2832175" y="809893"/>
                </a:lnTo>
                <a:lnTo>
                  <a:pt x="2839883" y="847345"/>
                </a:lnTo>
                <a:lnTo>
                  <a:pt x="2845441" y="885242"/>
                </a:lnTo>
                <a:lnTo>
                  <a:pt x="2848807" y="923556"/>
                </a:lnTo>
                <a:lnTo>
                  <a:pt x="2849939" y="962257"/>
                </a:lnTo>
                <a:lnTo>
                  <a:pt x="2848807" y="1000959"/>
                </a:lnTo>
                <a:lnTo>
                  <a:pt x="2845441" y="1039272"/>
                </a:lnTo>
                <a:lnTo>
                  <a:pt x="2839883" y="1077169"/>
                </a:lnTo>
                <a:lnTo>
                  <a:pt x="2832175" y="1114620"/>
                </a:lnTo>
                <a:lnTo>
                  <a:pt x="2822360" y="1151597"/>
                </a:lnTo>
                <a:lnTo>
                  <a:pt x="2810481" y="1188072"/>
                </a:lnTo>
                <a:lnTo>
                  <a:pt x="2796581" y="1224014"/>
                </a:lnTo>
                <a:lnTo>
                  <a:pt x="2780701" y="1259396"/>
                </a:lnTo>
                <a:lnTo>
                  <a:pt x="2762884" y="1294188"/>
                </a:lnTo>
                <a:lnTo>
                  <a:pt x="2743174" y="1328363"/>
                </a:lnTo>
                <a:lnTo>
                  <a:pt x="2721612" y="1361891"/>
                </a:lnTo>
                <a:lnTo>
                  <a:pt x="2698241" y="1394744"/>
                </a:lnTo>
                <a:lnTo>
                  <a:pt x="2673103" y="1426892"/>
                </a:lnTo>
                <a:lnTo>
                  <a:pt x="2646242" y="1458308"/>
                </a:lnTo>
                <a:lnTo>
                  <a:pt x="2617700" y="1488962"/>
                </a:lnTo>
                <a:lnTo>
                  <a:pt x="2587519" y="1518825"/>
                </a:lnTo>
                <a:lnTo>
                  <a:pt x="2555742" y="1547870"/>
                </a:lnTo>
                <a:lnTo>
                  <a:pt x="2522411" y="1576066"/>
                </a:lnTo>
                <a:lnTo>
                  <a:pt x="2487570" y="1603386"/>
                </a:lnTo>
                <a:lnTo>
                  <a:pt x="2451260" y="1629801"/>
                </a:lnTo>
                <a:lnTo>
                  <a:pt x="2413524" y="1655281"/>
                </a:lnTo>
                <a:lnTo>
                  <a:pt x="2374406" y="1679799"/>
                </a:lnTo>
                <a:lnTo>
                  <a:pt x="2333946" y="1703325"/>
                </a:lnTo>
                <a:lnTo>
                  <a:pt x="2292189" y="1725831"/>
                </a:lnTo>
                <a:lnTo>
                  <a:pt x="2249176" y="1747288"/>
                </a:lnTo>
                <a:lnTo>
                  <a:pt x="2204950" y="1767667"/>
                </a:lnTo>
                <a:lnTo>
                  <a:pt x="2159554" y="1786940"/>
                </a:lnTo>
                <a:lnTo>
                  <a:pt x="2113030" y="1805077"/>
                </a:lnTo>
                <a:lnTo>
                  <a:pt x="2065420" y="1822051"/>
                </a:lnTo>
                <a:lnTo>
                  <a:pt x="2016769" y="1837832"/>
                </a:lnTo>
                <a:lnTo>
                  <a:pt x="1967117" y="1852391"/>
                </a:lnTo>
                <a:lnTo>
                  <a:pt x="1916507" y="1865700"/>
                </a:lnTo>
                <a:lnTo>
                  <a:pt x="1864983" y="1877730"/>
                </a:lnTo>
                <a:lnTo>
                  <a:pt x="1812587" y="1888452"/>
                </a:lnTo>
                <a:lnTo>
                  <a:pt x="1759360" y="1897838"/>
                </a:lnTo>
                <a:lnTo>
                  <a:pt x="1705347" y="1905859"/>
                </a:lnTo>
                <a:lnTo>
                  <a:pt x="1650588" y="1912486"/>
                </a:lnTo>
                <a:lnTo>
                  <a:pt x="1595128" y="1917691"/>
                </a:lnTo>
                <a:lnTo>
                  <a:pt x="1539008" y="1921444"/>
                </a:lnTo>
                <a:lnTo>
                  <a:pt x="1482272" y="1923716"/>
                </a:lnTo>
                <a:lnTo>
                  <a:pt x="1424961" y="1924480"/>
                </a:lnTo>
                <a:lnTo>
                  <a:pt x="1367650" y="1923716"/>
                </a:lnTo>
                <a:lnTo>
                  <a:pt x="1310913" y="1921444"/>
                </a:lnTo>
                <a:lnTo>
                  <a:pt x="1254793" y="1917691"/>
                </a:lnTo>
                <a:lnTo>
                  <a:pt x="1199333" y="1912486"/>
                </a:lnTo>
                <a:lnTo>
                  <a:pt x="1144575" y="1905859"/>
                </a:lnTo>
                <a:lnTo>
                  <a:pt x="1090562" y="1897838"/>
                </a:lnTo>
                <a:lnTo>
                  <a:pt x="1037336" y="1888452"/>
                </a:lnTo>
                <a:lnTo>
                  <a:pt x="984940" y="1877730"/>
                </a:lnTo>
                <a:lnTo>
                  <a:pt x="933416" y="1865700"/>
                </a:lnTo>
                <a:lnTo>
                  <a:pt x="882807" y="1852391"/>
                </a:lnTo>
                <a:lnTo>
                  <a:pt x="833155" y="1837832"/>
                </a:lnTo>
                <a:lnTo>
                  <a:pt x="784504" y="1822051"/>
                </a:lnTo>
                <a:lnTo>
                  <a:pt x="736895" y="1805077"/>
                </a:lnTo>
                <a:lnTo>
                  <a:pt x="690372" y="1786940"/>
                </a:lnTo>
                <a:lnTo>
                  <a:pt x="644976" y="1767667"/>
                </a:lnTo>
                <a:lnTo>
                  <a:pt x="600751" y="1747288"/>
                </a:lnTo>
                <a:lnTo>
                  <a:pt x="557739" y="1725831"/>
                </a:lnTo>
                <a:lnTo>
                  <a:pt x="515982" y="1703325"/>
                </a:lnTo>
                <a:lnTo>
                  <a:pt x="475523" y="1679799"/>
                </a:lnTo>
                <a:lnTo>
                  <a:pt x="436405" y="1655281"/>
                </a:lnTo>
                <a:lnTo>
                  <a:pt x="398670" y="1629801"/>
                </a:lnTo>
                <a:lnTo>
                  <a:pt x="362361" y="1603386"/>
                </a:lnTo>
                <a:lnTo>
                  <a:pt x="327520" y="1576066"/>
                </a:lnTo>
                <a:lnTo>
                  <a:pt x="294190" y="1547870"/>
                </a:lnTo>
                <a:lnTo>
                  <a:pt x="262414" y="1518825"/>
                </a:lnTo>
                <a:lnTo>
                  <a:pt x="232233" y="1488962"/>
                </a:lnTo>
                <a:lnTo>
                  <a:pt x="203691" y="1458308"/>
                </a:lnTo>
                <a:lnTo>
                  <a:pt x="176831" y="1426892"/>
                </a:lnTo>
                <a:lnTo>
                  <a:pt x="151694" y="1394744"/>
                </a:lnTo>
                <a:lnTo>
                  <a:pt x="128324" y="1361891"/>
                </a:lnTo>
                <a:lnTo>
                  <a:pt x="106762" y="1328363"/>
                </a:lnTo>
                <a:lnTo>
                  <a:pt x="87052" y="1294188"/>
                </a:lnTo>
                <a:lnTo>
                  <a:pt x="69236" y="1259396"/>
                </a:lnTo>
                <a:lnTo>
                  <a:pt x="53356" y="1224014"/>
                </a:lnTo>
                <a:lnTo>
                  <a:pt x="39456" y="1188072"/>
                </a:lnTo>
                <a:lnTo>
                  <a:pt x="27577" y="1151597"/>
                </a:lnTo>
                <a:lnTo>
                  <a:pt x="17763" y="1114620"/>
                </a:lnTo>
                <a:lnTo>
                  <a:pt x="10055" y="1077169"/>
                </a:lnTo>
                <a:lnTo>
                  <a:pt x="4497" y="1039272"/>
                </a:lnTo>
                <a:lnTo>
                  <a:pt x="1131" y="1000959"/>
                </a:lnTo>
                <a:lnTo>
                  <a:pt x="0" y="962257"/>
                </a:lnTo>
                <a:close/>
              </a:path>
            </a:pathLst>
          </a:custGeom>
          <a:ln w="41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00706" y="2004846"/>
            <a:ext cx="2898775" cy="1957070"/>
          </a:xfrm>
          <a:custGeom>
            <a:avLst/>
            <a:gdLst/>
            <a:ahLst/>
            <a:cxnLst/>
            <a:rect l="l" t="t" r="r" b="b"/>
            <a:pathLst>
              <a:path w="2898775" h="1957070">
                <a:moveTo>
                  <a:pt x="1449124" y="0"/>
                </a:moveTo>
                <a:lnTo>
                  <a:pt x="1392218" y="740"/>
                </a:lnTo>
                <a:lnTo>
                  <a:pt x="1335868" y="2943"/>
                </a:lnTo>
                <a:lnTo>
                  <a:pt x="1280114" y="6582"/>
                </a:lnTo>
                <a:lnTo>
                  <a:pt x="1224997" y="11630"/>
                </a:lnTo>
                <a:lnTo>
                  <a:pt x="1170557" y="18058"/>
                </a:lnTo>
                <a:lnTo>
                  <a:pt x="1116833" y="25841"/>
                </a:lnTo>
                <a:lnTo>
                  <a:pt x="1063868" y="34951"/>
                </a:lnTo>
                <a:lnTo>
                  <a:pt x="1011699" y="45360"/>
                </a:lnTo>
                <a:lnTo>
                  <a:pt x="960369" y="57042"/>
                </a:lnTo>
                <a:lnTo>
                  <a:pt x="909917" y="69969"/>
                </a:lnTo>
                <a:lnTo>
                  <a:pt x="860383" y="84114"/>
                </a:lnTo>
                <a:lnTo>
                  <a:pt x="811808" y="99451"/>
                </a:lnTo>
                <a:lnTo>
                  <a:pt x="764232" y="115951"/>
                </a:lnTo>
                <a:lnTo>
                  <a:pt x="717695" y="133587"/>
                </a:lnTo>
                <a:lnTo>
                  <a:pt x="672238" y="152333"/>
                </a:lnTo>
                <a:lnTo>
                  <a:pt x="627900" y="172162"/>
                </a:lnTo>
                <a:lnTo>
                  <a:pt x="584722" y="193045"/>
                </a:lnTo>
                <a:lnTo>
                  <a:pt x="542744" y="214956"/>
                </a:lnTo>
                <a:lnTo>
                  <a:pt x="502007" y="237868"/>
                </a:lnTo>
                <a:lnTo>
                  <a:pt x="462550" y="261753"/>
                </a:lnTo>
                <a:lnTo>
                  <a:pt x="424415" y="286584"/>
                </a:lnTo>
                <a:lnTo>
                  <a:pt x="387640" y="312335"/>
                </a:lnTo>
                <a:lnTo>
                  <a:pt x="352267" y="338977"/>
                </a:lnTo>
                <a:lnTo>
                  <a:pt x="318336" y="366484"/>
                </a:lnTo>
                <a:lnTo>
                  <a:pt x="285887" y="394829"/>
                </a:lnTo>
                <a:lnTo>
                  <a:pt x="254960" y="423984"/>
                </a:lnTo>
                <a:lnTo>
                  <a:pt x="225595" y="453922"/>
                </a:lnTo>
                <a:lnTo>
                  <a:pt x="197834" y="484616"/>
                </a:lnTo>
                <a:lnTo>
                  <a:pt x="171715" y="516039"/>
                </a:lnTo>
                <a:lnTo>
                  <a:pt x="147279" y="548163"/>
                </a:lnTo>
                <a:lnTo>
                  <a:pt x="124567" y="580962"/>
                </a:lnTo>
                <a:lnTo>
                  <a:pt x="103619" y="614408"/>
                </a:lnTo>
                <a:lnTo>
                  <a:pt x="84475" y="648474"/>
                </a:lnTo>
                <a:lnTo>
                  <a:pt x="67175" y="683133"/>
                </a:lnTo>
                <a:lnTo>
                  <a:pt x="51759" y="718357"/>
                </a:lnTo>
                <a:lnTo>
                  <a:pt x="38269" y="754120"/>
                </a:lnTo>
                <a:lnTo>
                  <a:pt x="17223" y="827152"/>
                </a:lnTo>
                <a:lnTo>
                  <a:pt x="4359" y="902012"/>
                </a:lnTo>
                <a:lnTo>
                  <a:pt x="1096" y="940060"/>
                </a:lnTo>
                <a:lnTo>
                  <a:pt x="0" y="978482"/>
                </a:lnTo>
                <a:lnTo>
                  <a:pt x="1096" y="1016905"/>
                </a:lnTo>
                <a:lnTo>
                  <a:pt x="4359" y="1054953"/>
                </a:lnTo>
                <a:lnTo>
                  <a:pt x="17223" y="1129813"/>
                </a:lnTo>
                <a:lnTo>
                  <a:pt x="38269" y="1202846"/>
                </a:lnTo>
                <a:lnTo>
                  <a:pt x="51759" y="1238609"/>
                </a:lnTo>
                <a:lnTo>
                  <a:pt x="67175" y="1273834"/>
                </a:lnTo>
                <a:lnTo>
                  <a:pt x="84475" y="1308493"/>
                </a:lnTo>
                <a:lnTo>
                  <a:pt x="103619" y="1342559"/>
                </a:lnTo>
                <a:lnTo>
                  <a:pt x="124567" y="1376006"/>
                </a:lnTo>
                <a:lnTo>
                  <a:pt x="147279" y="1408805"/>
                </a:lnTo>
                <a:lnTo>
                  <a:pt x="171715" y="1440930"/>
                </a:lnTo>
                <a:lnTo>
                  <a:pt x="197834" y="1472353"/>
                </a:lnTo>
                <a:lnTo>
                  <a:pt x="225595" y="1503048"/>
                </a:lnTo>
                <a:lnTo>
                  <a:pt x="254960" y="1532986"/>
                </a:lnTo>
                <a:lnTo>
                  <a:pt x="285887" y="1562142"/>
                </a:lnTo>
                <a:lnTo>
                  <a:pt x="318336" y="1590487"/>
                </a:lnTo>
                <a:lnTo>
                  <a:pt x="352267" y="1617995"/>
                </a:lnTo>
                <a:lnTo>
                  <a:pt x="387640" y="1644638"/>
                </a:lnTo>
                <a:lnTo>
                  <a:pt x="424415" y="1670389"/>
                </a:lnTo>
                <a:lnTo>
                  <a:pt x="462550" y="1695221"/>
                </a:lnTo>
                <a:lnTo>
                  <a:pt x="502007" y="1719107"/>
                </a:lnTo>
                <a:lnTo>
                  <a:pt x="542744" y="1742019"/>
                </a:lnTo>
                <a:lnTo>
                  <a:pt x="584722" y="1763931"/>
                </a:lnTo>
                <a:lnTo>
                  <a:pt x="627900" y="1784814"/>
                </a:lnTo>
                <a:lnTo>
                  <a:pt x="672238" y="1804643"/>
                </a:lnTo>
                <a:lnTo>
                  <a:pt x="717695" y="1823390"/>
                </a:lnTo>
                <a:lnTo>
                  <a:pt x="764232" y="1841027"/>
                </a:lnTo>
                <a:lnTo>
                  <a:pt x="811808" y="1857527"/>
                </a:lnTo>
                <a:lnTo>
                  <a:pt x="860383" y="1872864"/>
                </a:lnTo>
                <a:lnTo>
                  <a:pt x="909917" y="1887010"/>
                </a:lnTo>
                <a:lnTo>
                  <a:pt x="960369" y="1899938"/>
                </a:lnTo>
                <a:lnTo>
                  <a:pt x="1011699" y="1911620"/>
                </a:lnTo>
                <a:lnTo>
                  <a:pt x="1063868" y="1922029"/>
                </a:lnTo>
                <a:lnTo>
                  <a:pt x="1116833" y="1931139"/>
                </a:lnTo>
                <a:lnTo>
                  <a:pt x="1170557" y="1938922"/>
                </a:lnTo>
                <a:lnTo>
                  <a:pt x="1224997" y="1945351"/>
                </a:lnTo>
                <a:lnTo>
                  <a:pt x="1280114" y="1950399"/>
                </a:lnTo>
                <a:lnTo>
                  <a:pt x="1335868" y="1954038"/>
                </a:lnTo>
                <a:lnTo>
                  <a:pt x="1392218" y="1956241"/>
                </a:lnTo>
                <a:lnTo>
                  <a:pt x="1449124" y="1956982"/>
                </a:lnTo>
                <a:lnTo>
                  <a:pt x="1506019" y="1956241"/>
                </a:lnTo>
                <a:lnTo>
                  <a:pt x="1562358" y="1954038"/>
                </a:lnTo>
                <a:lnTo>
                  <a:pt x="1618103" y="1950399"/>
                </a:lnTo>
                <a:lnTo>
                  <a:pt x="1673212" y="1945351"/>
                </a:lnTo>
                <a:lnTo>
                  <a:pt x="1727644" y="1938922"/>
                </a:lnTo>
                <a:lnTo>
                  <a:pt x="1781361" y="1931139"/>
                </a:lnTo>
                <a:lnTo>
                  <a:pt x="1834322" y="1922029"/>
                </a:lnTo>
                <a:lnTo>
                  <a:pt x="1886485" y="1911620"/>
                </a:lnTo>
                <a:lnTo>
                  <a:pt x="1937811" y="1899938"/>
                </a:lnTo>
                <a:lnTo>
                  <a:pt x="1988261" y="1887010"/>
                </a:lnTo>
                <a:lnTo>
                  <a:pt x="2037792" y="1872864"/>
                </a:lnTo>
                <a:lnTo>
                  <a:pt x="2086365" y="1857527"/>
                </a:lnTo>
                <a:lnTo>
                  <a:pt x="2133941" y="1841027"/>
                </a:lnTo>
                <a:lnTo>
                  <a:pt x="2180477" y="1823390"/>
                </a:lnTo>
                <a:lnTo>
                  <a:pt x="2225935" y="1804643"/>
                </a:lnTo>
                <a:lnTo>
                  <a:pt x="2270274" y="1784814"/>
                </a:lnTo>
                <a:lnTo>
                  <a:pt x="2313453" y="1763931"/>
                </a:lnTo>
                <a:lnTo>
                  <a:pt x="2355433" y="1742019"/>
                </a:lnTo>
                <a:lnTo>
                  <a:pt x="2396172" y="1719107"/>
                </a:lnTo>
                <a:lnTo>
                  <a:pt x="2435631" y="1695221"/>
                </a:lnTo>
                <a:lnTo>
                  <a:pt x="2473770" y="1670389"/>
                </a:lnTo>
                <a:lnTo>
                  <a:pt x="2510547" y="1644638"/>
                </a:lnTo>
                <a:lnTo>
                  <a:pt x="2545924" y="1617995"/>
                </a:lnTo>
                <a:lnTo>
                  <a:pt x="2579858" y="1590487"/>
                </a:lnTo>
                <a:lnTo>
                  <a:pt x="2612312" y="1562142"/>
                </a:lnTo>
                <a:lnTo>
                  <a:pt x="2643242" y="1532986"/>
                </a:lnTo>
                <a:lnTo>
                  <a:pt x="2672611" y="1503048"/>
                </a:lnTo>
                <a:lnTo>
                  <a:pt x="2700377" y="1472353"/>
                </a:lnTo>
                <a:lnTo>
                  <a:pt x="2726500" y="1440930"/>
                </a:lnTo>
                <a:lnTo>
                  <a:pt x="2750939" y="1408805"/>
                </a:lnTo>
                <a:lnTo>
                  <a:pt x="2773655" y="1376006"/>
                </a:lnTo>
                <a:lnTo>
                  <a:pt x="2794607" y="1342559"/>
                </a:lnTo>
                <a:lnTo>
                  <a:pt x="2813755" y="1308493"/>
                </a:lnTo>
                <a:lnTo>
                  <a:pt x="2831059" y="1273834"/>
                </a:lnTo>
                <a:lnTo>
                  <a:pt x="2846477" y="1238609"/>
                </a:lnTo>
                <a:lnTo>
                  <a:pt x="2859971" y="1202846"/>
                </a:lnTo>
                <a:lnTo>
                  <a:pt x="2881021" y="1129813"/>
                </a:lnTo>
                <a:lnTo>
                  <a:pt x="2893888" y="1054953"/>
                </a:lnTo>
                <a:lnTo>
                  <a:pt x="2897152" y="1016905"/>
                </a:lnTo>
                <a:lnTo>
                  <a:pt x="2898249" y="978482"/>
                </a:lnTo>
                <a:lnTo>
                  <a:pt x="2897152" y="940059"/>
                </a:lnTo>
                <a:lnTo>
                  <a:pt x="2893888" y="902011"/>
                </a:lnTo>
                <a:lnTo>
                  <a:pt x="2881021" y="827148"/>
                </a:lnTo>
                <a:lnTo>
                  <a:pt x="2859971" y="754111"/>
                </a:lnTo>
                <a:lnTo>
                  <a:pt x="2846477" y="718345"/>
                </a:lnTo>
                <a:lnTo>
                  <a:pt x="2831059" y="683117"/>
                </a:lnTo>
                <a:lnTo>
                  <a:pt x="2813755" y="648455"/>
                </a:lnTo>
                <a:lnTo>
                  <a:pt x="2794607" y="614385"/>
                </a:lnTo>
                <a:lnTo>
                  <a:pt x="2773655" y="580936"/>
                </a:lnTo>
                <a:lnTo>
                  <a:pt x="2750939" y="548133"/>
                </a:lnTo>
                <a:lnTo>
                  <a:pt x="2726500" y="516004"/>
                </a:lnTo>
                <a:lnTo>
                  <a:pt x="2700377" y="484578"/>
                </a:lnTo>
                <a:lnTo>
                  <a:pt x="2672611" y="453879"/>
                </a:lnTo>
                <a:lnTo>
                  <a:pt x="2643242" y="423937"/>
                </a:lnTo>
                <a:lnTo>
                  <a:pt x="2612312" y="394778"/>
                </a:lnTo>
                <a:lnTo>
                  <a:pt x="2579858" y="366430"/>
                </a:lnTo>
                <a:lnTo>
                  <a:pt x="2545924" y="338919"/>
                </a:lnTo>
                <a:lnTo>
                  <a:pt x="2510547" y="312273"/>
                </a:lnTo>
                <a:lnTo>
                  <a:pt x="2473770" y="286519"/>
                </a:lnTo>
                <a:lnTo>
                  <a:pt x="2435631" y="261685"/>
                </a:lnTo>
                <a:lnTo>
                  <a:pt x="2396172" y="237797"/>
                </a:lnTo>
                <a:lnTo>
                  <a:pt x="2355433" y="214883"/>
                </a:lnTo>
                <a:lnTo>
                  <a:pt x="2313453" y="192971"/>
                </a:lnTo>
                <a:lnTo>
                  <a:pt x="2270274" y="172086"/>
                </a:lnTo>
                <a:lnTo>
                  <a:pt x="2225935" y="152257"/>
                </a:lnTo>
                <a:lnTo>
                  <a:pt x="2180477" y="133511"/>
                </a:lnTo>
                <a:lnTo>
                  <a:pt x="2133941" y="115874"/>
                </a:lnTo>
                <a:lnTo>
                  <a:pt x="2086365" y="99375"/>
                </a:lnTo>
                <a:lnTo>
                  <a:pt x="2037792" y="84040"/>
                </a:lnTo>
                <a:lnTo>
                  <a:pt x="1988261" y="69897"/>
                </a:lnTo>
                <a:lnTo>
                  <a:pt x="1937811" y="56973"/>
                </a:lnTo>
                <a:lnTo>
                  <a:pt x="1886485" y="45295"/>
                </a:lnTo>
                <a:lnTo>
                  <a:pt x="1834322" y="34891"/>
                </a:lnTo>
                <a:lnTo>
                  <a:pt x="1781361" y="25787"/>
                </a:lnTo>
                <a:lnTo>
                  <a:pt x="1727644" y="18010"/>
                </a:lnTo>
                <a:lnTo>
                  <a:pt x="1673212" y="11589"/>
                </a:lnTo>
                <a:lnTo>
                  <a:pt x="1618103" y="6550"/>
                </a:lnTo>
                <a:lnTo>
                  <a:pt x="1562358" y="2921"/>
                </a:lnTo>
                <a:lnTo>
                  <a:pt x="1506019" y="728"/>
                </a:lnTo>
                <a:lnTo>
                  <a:pt x="144912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00705" y="2004847"/>
            <a:ext cx="2898775" cy="1957070"/>
          </a:xfrm>
          <a:custGeom>
            <a:avLst/>
            <a:gdLst/>
            <a:ahLst/>
            <a:cxnLst/>
            <a:rect l="l" t="t" r="r" b="b"/>
            <a:pathLst>
              <a:path w="2898775" h="1957070">
                <a:moveTo>
                  <a:pt x="0" y="978482"/>
                </a:moveTo>
                <a:lnTo>
                  <a:pt x="1096" y="940059"/>
                </a:lnTo>
                <a:lnTo>
                  <a:pt x="4359" y="902012"/>
                </a:lnTo>
                <a:lnTo>
                  <a:pt x="17223" y="827152"/>
                </a:lnTo>
                <a:lnTo>
                  <a:pt x="38269" y="754119"/>
                </a:lnTo>
                <a:lnTo>
                  <a:pt x="51759" y="718357"/>
                </a:lnTo>
                <a:lnTo>
                  <a:pt x="67175" y="683132"/>
                </a:lnTo>
                <a:lnTo>
                  <a:pt x="84475" y="648473"/>
                </a:lnTo>
                <a:lnTo>
                  <a:pt x="103619" y="614407"/>
                </a:lnTo>
                <a:lnTo>
                  <a:pt x="124567" y="580961"/>
                </a:lnTo>
                <a:lnTo>
                  <a:pt x="147279" y="548163"/>
                </a:lnTo>
                <a:lnTo>
                  <a:pt x="171715" y="516038"/>
                </a:lnTo>
                <a:lnTo>
                  <a:pt x="197833" y="484616"/>
                </a:lnTo>
                <a:lnTo>
                  <a:pt x="225595" y="453922"/>
                </a:lnTo>
                <a:lnTo>
                  <a:pt x="254960" y="423983"/>
                </a:lnTo>
                <a:lnTo>
                  <a:pt x="285887" y="394829"/>
                </a:lnTo>
                <a:lnTo>
                  <a:pt x="318336" y="366484"/>
                </a:lnTo>
                <a:lnTo>
                  <a:pt x="352267" y="338977"/>
                </a:lnTo>
                <a:lnTo>
                  <a:pt x="387640" y="312334"/>
                </a:lnTo>
                <a:lnTo>
                  <a:pt x="424415" y="286584"/>
                </a:lnTo>
                <a:lnTo>
                  <a:pt x="462550" y="261753"/>
                </a:lnTo>
                <a:lnTo>
                  <a:pt x="502007" y="237867"/>
                </a:lnTo>
                <a:lnTo>
                  <a:pt x="542744" y="214956"/>
                </a:lnTo>
                <a:lnTo>
                  <a:pt x="584722" y="193045"/>
                </a:lnTo>
                <a:lnTo>
                  <a:pt x="627900" y="172161"/>
                </a:lnTo>
                <a:lnTo>
                  <a:pt x="672238" y="152333"/>
                </a:lnTo>
                <a:lnTo>
                  <a:pt x="717695" y="133587"/>
                </a:lnTo>
                <a:lnTo>
                  <a:pt x="764232" y="115951"/>
                </a:lnTo>
                <a:lnTo>
                  <a:pt x="811808" y="99451"/>
                </a:lnTo>
                <a:lnTo>
                  <a:pt x="860383" y="84114"/>
                </a:lnTo>
                <a:lnTo>
                  <a:pt x="909917" y="69969"/>
                </a:lnTo>
                <a:lnTo>
                  <a:pt x="960369" y="57042"/>
                </a:lnTo>
                <a:lnTo>
                  <a:pt x="1011699" y="45360"/>
                </a:lnTo>
                <a:lnTo>
                  <a:pt x="1063867" y="34951"/>
                </a:lnTo>
                <a:lnTo>
                  <a:pt x="1116833" y="25841"/>
                </a:lnTo>
                <a:lnTo>
                  <a:pt x="1170556" y="18058"/>
                </a:lnTo>
                <a:lnTo>
                  <a:pt x="1224997" y="11630"/>
                </a:lnTo>
                <a:lnTo>
                  <a:pt x="1280114" y="6582"/>
                </a:lnTo>
                <a:lnTo>
                  <a:pt x="1335868" y="2943"/>
                </a:lnTo>
                <a:lnTo>
                  <a:pt x="1392218" y="740"/>
                </a:lnTo>
                <a:lnTo>
                  <a:pt x="1449124" y="0"/>
                </a:lnTo>
                <a:lnTo>
                  <a:pt x="1506019" y="728"/>
                </a:lnTo>
                <a:lnTo>
                  <a:pt x="1562358" y="2921"/>
                </a:lnTo>
                <a:lnTo>
                  <a:pt x="1618103" y="6550"/>
                </a:lnTo>
                <a:lnTo>
                  <a:pt x="1673211" y="11589"/>
                </a:lnTo>
                <a:lnTo>
                  <a:pt x="1727644" y="18010"/>
                </a:lnTo>
                <a:lnTo>
                  <a:pt x="1781361" y="25787"/>
                </a:lnTo>
                <a:lnTo>
                  <a:pt x="1834321" y="34891"/>
                </a:lnTo>
                <a:lnTo>
                  <a:pt x="1886485" y="45295"/>
                </a:lnTo>
                <a:lnTo>
                  <a:pt x="1937811" y="56973"/>
                </a:lnTo>
                <a:lnTo>
                  <a:pt x="1988260" y="69897"/>
                </a:lnTo>
                <a:lnTo>
                  <a:pt x="2037792" y="84040"/>
                </a:lnTo>
                <a:lnTo>
                  <a:pt x="2086365" y="99375"/>
                </a:lnTo>
                <a:lnTo>
                  <a:pt x="2133940" y="115874"/>
                </a:lnTo>
                <a:lnTo>
                  <a:pt x="2180477" y="133511"/>
                </a:lnTo>
                <a:lnTo>
                  <a:pt x="2225935" y="152257"/>
                </a:lnTo>
                <a:lnTo>
                  <a:pt x="2270274" y="172086"/>
                </a:lnTo>
                <a:lnTo>
                  <a:pt x="2313453" y="192970"/>
                </a:lnTo>
                <a:lnTo>
                  <a:pt x="2355432" y="214883"/>
                </a:lnTo>
                <a:lnTo>
                  <a:pt x="2396172" y="237797"/>
                </a:lnTo>
                <a:lnTo>
                  <a:pt x="2435631" y="261685"/>
                </a:lnTo>
                <a:lnTo>
                  <a:pt x="2473769" y="286519"/>
                </a:lnTo>
                <a:lnTo>
                  <a:pt x="2510547" y="312273"/>
                </a:lnTo>
                <a:lnTo>
                  <a:pt x="2545923" y="338919"/>
                </a:lnTo>
                <a:lnTo>
                  <a:pt x="2579858" y="366430"/>
                </a:lnTo>
                <a:lnTo>
                  <a:pt x="2612311" y="394778"/>
                </a:lnTo>
                <a:lnTo>
                  <a:pt x="2643242" y="423937"/>
                </a:lnTo>
                <a:lnTo>
                  <a:pt x="2672611" y="453879"/>
                </a:lnTo>
                <a:lnTo>
                  <a:pt x="2700377" y="484577"/>
                </a:lnTo>
                <a:lnTo>
                  <a:pt x="2726499" y="516004"/>
                </a:lnTo>
                <a:lnTo>
                  <a:pt x="2750939" y="548132"/>
                </a:lnTo>
                <a:lnTo>
                  <a:pt x="2773655" y="580935"/>
                </a:lnTo>
                <a:lnTo>
                  <a:pt x="2794607" y="614385"/>
                </a:lnTo>
                <a:lnTo>
                  <a:pt x="2813755" y="648455"/>
                </a:lnTo>
                <a:lnTo>
                  <a:pt x="2831058" y="683117"/>
                </a:lnTo>
                <a:lnTo>
                  <a:pt x="2846477" y="718345"/>
                </a:lnTo>
                <a:lnTo>
                  <a:pt x="2859970" y="754110"/>
                </a:lnTo>
                <a:lnTo>
                  <a:pt x="2881021" y="827148"/>
                </a:lnTo>
                <a:lnTo>
                  <a:pt x="2893888" y="902011"/>
                </a:lnTo>
                <a:lnTo>
                  <a:pt x="2897152" y="940059"/>
                </a:lnTo>
                <a:lnTo>
                  <a:pt x="2898248" y="978482"/>
                </a:lnTo>
                <a:lnTo>
                  <a:pt x="2897152" y="1016904"/>
                </a:lnTo>
                <a:lnTo>
                  <a:pt x="2893888" y="1054952"/>
                </a:lnTo>
                <a:lnTo>
                  <a:pt x="2881021" y="1129812"/>
                </a:lnTo>
                <a:lnTo>
                  <a:pt x="2859970" y="1202845"/>
                </a:lnTo>
                <a:lnTo>
                  <a:pt x="2846477" y="1238608"/>
                </a:lnTo>
                <a:lnTo>
                  <a:pt x="2831058" y="1273833"/>
                </a:lnTo>
                <a:lnTo>
                  <a:pt x="2813755" y="1308492"/>
                </a:lnTo>
                <a:lnTo>
                  <a:pt x="2794607" y="1342559"/>
                </a:lnTo>
                <a:lnTo>
                  <a:pt x="2773655" y="1376005"/>
                </a:lnTo>
                <a:lnTo>
                  <a:pt x="2750939" y="1408804"/>
                </a:lnTo>
                <a:lnTo>
                  <a:pt x="2726499" y="1440929"/>
                </a:lnTo>
                <a:lnTo>
                  <a:pt x="2700377" y="1472353"/>
                </a:lnTo>
                <a:lnTo>
                  <a:pt x="2672611" y="1503047"/>
                </a:lnTo>
                <a:lnTo>
                  <a:pt x="2643242" y="1532986"/>
                </a:lnTo>
                <a:lnTo>
                  <a:pt x="2612311" y="1562141"/>
                </a:lnTo>
                <a:lnTo>
                  <a:pt x="2579858" y="1590486"/>
                </a:lnTo>
                <a:lnTo>
                  <a:pt x="2545923" y="1617994"/>
                </a:lnTo>
                <a:lnTo>
                  <a:pt x="2510547" y="1644637"/>
                </a:lnTo>
                <a:lnTo>
                  <a:pt x="2473769" y="1670388"/>
                </a:lnTo>
                <a:lnTo>
                  <a:pt x="2435631" y="1695220"/>
                </a:lnTo>
                <a:lnTo>
                  <a:pt x="2396172" y="1719106"/>
                </a:lnTo>
                <a:lnTo>
                  <a:pt x="2355432" y="1742018"/>
                </a:lnTo>
                <a:lnTo>
                  <a:pt x="2313453" y="1763930"/>
                </a:lnTo>
                <a:lnTo>
                  <a:pt x="2270274" y="1784814"/>
                </a:lnTo>
                <a:lnTo>
                  <a:pt x="2225935" y="1804643"/>
                </a:lnTo>
                <a:lnTo>
                  <a:pt x="2180477" y="1823389"/>
                </a:lnTo>
                <a:lnTo>
                  <a:pt x="2133940" y="1841026"/>
                </a:lnTo>
                <a:lnTo>
                  <a:pt x="2086365" y="1857527"/>
                </a:lnTo>
                <a:lnTo>
                  <a:pt x="2037792" y="1872864"/>
                </a:lnTo>
                <a:lnTo>
                  <a:pt x="1988260" y="1887009"/>
                </a:lnTo>
                <a:lnTo>
                  <a:pt x="1937811" y="1899937"/>
                </a:lnTo>
                <a:lnTo>
                  <a:pt x="1886485" y="1911619"/>
                </a:lnTo>
                <a:lnTo>
                  <a:pt x="1834321" y="1922029"/>
                </a:lnTo>
                <a:lnTo>
                  <a:pt x="1781361" y="1931139"/>
                </a:lnTo>
                <a:lnTo>
                  <a:pt x="1727644" y="1938922"/>
                </a:lnTo>
                <a:lnTo>
                  <a:pt x="1673211" y="1945351"/>
                </a:lnTo>
                <a:lnTo>
                  <a:pt x="1618103" y="1950398"/>
                </a:lnTo>
                <a:lnTo>
                  <a:pt x="1562358" y="1954037"/>
                </a:lnTo>
                <a:lnTo>
                  <a:pt x="1506019" y="1956241"/>
                </a:lnTo>
                <a:lnTo>
                  <a:pt x="1449124" y="1956981"/>
                </a:lnTo>
                <a:lnTo>
                  <a:pt x="1392218" y="1956241"/>
                </a:lnTo>
                <a:lnTo>
                  <a:pt x="1335868" y="1954037"/>
                </a:lnTo>
                <a:lnTo>
                  <a:pt x="1280114" y="1950398"/>
                </a:lnTo>
                <a:lnTo>
                  <a:pt x="1224997" y="1945351"/>
                </a:lnTo>
                <a:lnTo>
                  <a:pt x="1170556" y="1938922"/>
                </a:lnTo>
                <a:lnTo>
                  <a:pt x="1116833" y="1931139"/>
                </a:lnTo>
                <a:lnTo>
                  <a:pt x="1063867" y="1922029"/>
                </a:lnTo>
                <a:lnTo>
                  <a:pt x="1011699" y="1911619"/>
                </a:lnTo>
                <a:lnTo>
                  <a:pt x="960369" y="1899937"/>
                </a:lnTo>
                <a:lnTo>
                  <a:pt x="909917" y="1887009"/>
                </a:lnTo>
                <a:lnTo>
                  <a:pt x="860383" y="1872864"/>
                </a:lnTo>
                <a:lnTo>
                  <a:pt x="811808" y="1857527"/>
                </a:lnTo>
                <a:lnTo>
                  <a:pt x="764232" y="1841026"/>
                </a:lnTo>
                <a:lnTo>
                  <a:pt x="717695" y="1823389"/>
                </a:lnTo>
                <a:lnTo>
                  <a:pt x="672238" y="1804643"/>
                </a:lnTo>
                <a:lnTo>
                  <a:pt x="627900" y="1784814"/>
                </a:lnTo>
                <a:lnTo>
                  <a:pt x="584722" y="1763930"/>
                </a:lnTo>
                <a:lnTo>
                  <a:pt x="542744" y="1742018"/>
                </a:lnTo>
                <a:lnTo>
                  <a:pt x="502007" y="1719106"/>
                </a:lnTo>
                <a:lnTo>
                  <a:pt x="462550" y="1695220"/>
                </a:lnTo>
                <a:lnTo>
                  <a:pt x="424415" y="1670388"/>
                </a:lnTo>
                <a:lnTo>
                  <a:pt x="387640" y="1644637"/>
                </a:lnTo>
                <a:lnTo>
                  <a:pt x="352267" y="1617994"/>
                </a:lnTo>
                <a:lnTo>
                  <a:pt x="318336" y="1590486"/>
                </a:lnTo>
                <a:lnTo>
                  <a:pt x="285887" y="1562141"/>
                </a:lnTo>
                <a:lnTo>
                  <a:pt x="254960" y="1532986"/>
                </a:lnTo>
                <a:lnTo>
                  <a:pt x="225595" y="1503047"/>
                </a:lnTo>
                <a:lnTo>
                  <a:pt x="197833" y="1472353"/>
                </a:lnTo>
                <a:lnTo>
                  <a:pt x="171715" y="1440929"/>
                </a:lnTo>
                <a:lnTo>
                  <a:pt x="147279" y="1408804"/>
                </a:lnTo>
                <a:lnTo>
                  <a:pt x="124567" y="1376005"/>
                </a:lnTo>
                <a:lnTo>
                  <a:pt x="103619" y="1342559"/>
                </a:lnTo>
                <a:lnTo>
                  <a:pt x="84475" y="1308492"/>
                </a:lnTo>
                <a:lnTo>
                  <a:pt x="67175" y="1273833"/>
                </a:lnTo>
                <a:lnTo>
                  <a:pt x="51759" y="1238608"/>
                </a:lnTo>
                <a:lnTo>
                  <a:pt x="38269" y="1202845"/>
                </a:lnTo>
                <a:lnTo>
                  <a:pt x="17223" y="1129812"/>
                </a:lnTo>
                <a:lnTo>
                  <a:pt x="4359" y="1054952"/>
                </a:lnTo>
                <a:lnTo>
                  <a:pt x="1096" y="1016904"/>
                </a:lnTo>
                <a:lnTo>
                  <a:pt x="0" y="978482"/>
                </a:lnTo>
                <a:close/>
              </a:path>
            </a:pathLst>
          </a:custGeom>
          <a:ln w="41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33070" y="2176171"/>
            <a:ext cx="527685" cy="1614805"/>
          </a:xfrm>
          <a:custGeom>
            <a:avLst/>
            <a:gdLst/>
            <a:ahLst/>
            <a:cxnLst/>
            <a:rect l="l" t="t" r="r" b="b"/>
            <a:pathLst>
              <a:path w="527685" h="1614804">
                <a:moveTo>
                  <a:pt x="0" y="1614573"/>
                </a:moveTo>
                <a:lnTo>
                  <a:pt x="527250" y="1614573"/>
                </a:lnTo>
                <a:lnTo>
                  <a:pt x="527250" y="0"/>
                </a:lnTo>
                <a:lnTo>
                  <a:pt x="0" y="0"/>
                </a:lnTo>
                <a:lnTo>
                  <a:pt x="0" y="1614573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33070" y="2176189"/>
            <a:ext cx="527685" cy="1614805"/>
          </a:xfrm>
          <a:custGeom>
            <a:avLst/>
            <a:gdLst/>
            <a:ahLst/>
            <a:cxnLst/>
            <a:rect l="l" t="t" r="r" b="b"/>
            <a:pathLst>
              <a:path w="527685" h="1614804">
                <a:moveTo>
                  <a:pt x="0" y="1614573"/>
                </a:moveTo>
                <a:lnTo>
                  <a:pt x="527250" y="1614573"/>
                </a:lnTo>
                <a:lnTo>
                  <a:pt x="527250" y="0"/>
                </a:lnTo>
                <a:lnTo>
                  <a:pt x="0" y="0"/>
                </a:lnTo>
                <a:lnTo>
                  <a:pt x="0" y="1614573"/>
                </a:lnTo>
                <a:close/>
              </a:path>
            </a:pathLst>
          </a:custGeom>
          <a:ln w="40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133070" y="2207733"/>
            <a:ext cx="527685" cy="14966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44145" marR="136525">
              <a:lnSpc>
                <a:spcPct val="102000"/>
              </a:lnSpc>
              <a:spcBef>
                <a:spcPts val="55"/>
              </a:spcBef>
            </a:pPr>
            <a:r>
              <a:rPr dirty="0" sz="1900" spc="-20">
                <a:latin typeface="宋体"/>
                <a:cs typeface="宋体"/>
              </a:rPr>
              <a:t>问 题 </a:t>
            </a:r>
            <a:r>
              <a:rPr dirty="0" sz="1900" spc="-20">
                <a:latin typeface="MS Gothic"/>
                <a:cs typeface="MS Gothic"/>
              </a:rPr>
              <a:t>域 描 述</a:t>
            </a:r>
            <a:endParaRPr sz="1900">
              <a:latin typeface="MS Gothic"/>
              <a:cs typeface="MS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1668" y="4261557"/>
            <a:ext cx="1457325" cy="55880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dirty="0" sz="1600" spc="10">
                <a:latin typeface="MS Gothic"/>
                <a:cs typeface="MS Gothic"/>
              </a:rPr>
              <a:t>整</a:t>
            </a:r>
            <a:r>
              <a:rPr dirty="0" sz="1600" spc="5">
                <a:latin typeface="MS Gothic"/>
                <a:cs typeface="MS Gothic"/>
              </a:rPr>
              <a:t>个</a:t>
            </a:r>
            <a:r>
              <a:rPr dirty="0" sz="1600" spc="10">
                <a:latin typeface="宋体"/>
                <a:cs typeface="宋体"/>
              </a:rPr>
              <a:t>领</a:t>
            </a:r>
            <a:r>
              <a:rPr dirty="0" sz="1600" spc="10">
                <a:latin typeface="MS Gothic"/>
                <a:cs typeface="MS Gothic"/>
              </a:rPr>
              <a:t>域</a:t>
            </a:r>
            <a:r>
              <a:rPr dirty="0" sz="1600" spc="10">
                <a:latin typeface="宋体"/>
                <a:cs typeface="宋体"/>
              </a:rPr>
              <a:t>现</a:t>
            </a:r>
            <a:r>
              <a:rPr dirty="0" sz="1600" spc="10">
                <a:latin typeface="MS Gothic"/>
                <a:cs typeface="MS Gothic"/>
              </a:rPr>
              <a:t>状是</a:t>
            </a:r>
            <a:endParaRPr sz="1600">
              <a:latin typeface="MS Gothic"/>
              <a:cs typeface="MS Gothic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dirty="0" sz="1600" spc="10">
                <a:latin typeface="宋体"/>
                <a:cs typeface="宋体"/>
              </a:rPr>
              <a:t>这样运作的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74534" y="3790763"/>
            <a:ext cx="22225" cy="782955"/>
          </a:xfrm>
          <a:custGeom>
            <a:avLst/>
            <a:gdLst/>
            <a:ahLst/>
            <a:cxnLst/>
            <a:rect l="l" t="t" r="r" b="b"/>
            <a:pathLst>
              <a:path w="22225" h="782954">
                <a:moveTo>
                  <a:pt x="0" y="782820"/>
                </a:moveTo>
                <a:lnTo>
                  <a:pt x="22152" y="782820"/>
                </a:lnTo>
                <a:lnTo>
                  <a:pt x="22152" y="0"/>
                </a:lnTo>
              </a:path>
            </a:pathLst>
          </a:custGeom>
          <a:ln w="4089">
            <a:solidFill>
              <a:srgbClr val="4677B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35087" y="2190467"/>
            <a:ext cx="125285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35">
                <a:latin typeface="宋体"/>
                <a:cs typeface="宋体"/>
              </a:rPr>
              <a:t>现实世界</a:t>
            </a:r>
            <a:endParaRPr sz="245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10138" y="2127239"/>
            <a:ext cx="579755" cy="1712595"/>
          </a:xfrm>
          <a:custGeom>
            <a:avLst/>
            <a:gdLst/>
            <a:ahLst/>
            <a:cxnLst/>
            <a:rect l="l" t="t" r="r" b="b"/>
            <a:pathLst>
              <a:path w="579754" h="1712595">
                <a:moveTo>
                  <a:pt x="0" y="1712438"/>
                </a:moveTo>
                <a:lnTo>
                  <a:pt x="579649" y="1712438"/>
                </a:lnTo>
                <a:lnTo>
                  <a:pt x="579649" y="0"/>
                </a:lnTo>
                <a:lnTo>
                  <a:pt x="0" y="0"/>
                </a:lnTo>
                <a:lnTo>
                  <a:pt x="0" y="1712438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10137" y="2127239"/>
            <a:ext cx="579755" cy="1712595"/>
          </a:xfrm>
          <a:custGeom>
            <a:avLst/>
            <a:gdLst/>
            <a:ahLst/>
            <a:cxnLst/>
            <a:rect l="l" t="t" r="r" b="b"/>
            <a:pathLst>
              <a:path w="579754" h="1712595">
                <a:moveTo>
                  <a:pt x="0" y="1712438"/>
                </a:moveTo>
                <a:lnTo>
                  <a:pt x="579649" y="1712438"/>
                </a:lnTo>
                <a:lnTo>
                  <a:pt x="579649" y="0"/>
                </a:lnTo>
                <a:lnTo>
                  <a:pt x="0" y="0"/>
                </a:lnTo>
                <a:lnTo>
                  <a:pt x="0" y="1712438"/>
                </a:lnTo>
                <a:close/>
              </a:path>
            </a:pathLst>
          </a:custGeom>
          <a:ln w="4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210138" y="2352719"/>
            <a:ext cx="579755" cy="120650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just" marL="170180" marR="162560">
              <a:lnSpc>
                <a:spcPct val="102499"/>
              </a:lnSpc>
              <a:spcBef>
                <a:spcPts val="45"/>
              </a:spcBef>
            </a:pPr>
            <a:r>
              <a:rPr dirty="0" sz="1900" spc="-20">
                <a:latin typeface="宋体"/>
                <a:cs typeface="宋体"/>
              </a:rPr>
              <a:t>规 </a:t>
            </a:r>
            <a:r>
              <a:rPr dirty="0" sz="1900" spc="-20">
                <a:latin typeface="MS Gothic"/>
                <a:cs typeface="MS Gothic"/>
              </a:rPr>
              <a:t>格 </a:t>
            </a:r>
            <a:r>
              <a:rPr dirty="0" sz="1900" spc="-20">
                <a:latin typeface="宋体"/>
                <a:cs typeface="宋体"/>
              </a:rPr>
              <a:t>说 </a:t>
            </a:r>
            <a:r>
              <a:rPr dirty="0" sz="1900" spc="-25">
                <a:latin typeface="MS Gothic"/>
                <a:cs typeface="MS Gothic"/>
              </a:rPr>
              <a:t>明</a:t>
            </a:r>
            <a:endParaRPr sz="1900">
              <a:latin typeface="MS Gothic"/>
              <a:cs typeface="MS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65936" y="4123475"/>
            <a:ext cx="145732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4935" marR="5080" indent="-102870">
              <a:lnSpc>
                <a:spcPct val="109300"/>
              </a:lnSpc>
              <a:spcBef>
                <a:spcPts val="95"/>
              </a:spcBef>
            </a:pPr>
            <a:r>
              <a:rPr dirty="0" sz="1600" spc="10">
                <a:latin typeface="MS Gothic"/>
                <a:cs typeface="MS Gothic"/>
              </a:rPr>
              <a:t>将要构建的</a:t>
            </a:r>
            <a:r>
              <a:rPr dirty="0" sz="1600" spc="5">
                <a:latin typeface="MS Gothic"/>
                <a:cs typeface="MS Gothic"/>
              </a:rPr>
              <a:t>系</a:t>
            </a:r>
            <a:r>
              <a:rPr dirty="0" sz="1600" spc="5">
                <a:latin typeface="宋体"/>
                <a:cs typeface="宋体"/>
              </a:rPr>
              <a:t>统 </a:t>
            </a:r>
            <a:r>
              <a:rPr dirty="0" sz="1600" spc="10">
                <a:latin typeface="MS Gothic"/>
                <a:cs typeface="MS Gothic"/>
              </a:rPr>
              <a:t>是</a:t>
            </a:r>
            <a:r>
              <a:rPr dirty="0" sz="1600" spc="10">
                <a:latin typeface="宋体"/>
                <a:cs typeface="宋体"/>
              </a:rPr>
              <a:t>这</a:t>
            </a:r>
            <a:r>
              <a:rPr dirty="0" sz="1600" spc="5">
                <a:latin typeface="宋体"/>
                <a:cs typeface="宋体"/>
              </a:rPr>
              <a:t>样</a:t>
            </a:r>
            <a:r>
              <a:rPr dirty="0" sz="1600" spc="10">
                <a:latin typeface="MS Gothic"/>
                <a:cs typeface="MS Gothic"/>
              </a:rPr>
              <a:t>运作的</a:t>
            </a:r>
            <a:endParaRPr sz="1600">
              <a:latin typeface="MS Gothic"/>
              <a:cs typeface="MS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55691" y="3839678"/>
            <a:ext cx="44450" cy="972819"/>
          </a:xfrm>
          <a:custGeom>
            <a:avLst/>
            <a:gdLst/>
            <a:ahLst/>
            <a:cxnLst/>
            <a:rect l="l" t="t" r="r" b="b"/>
            <a:pathLst>
              <a:path w="44450" h="972820">
                <a:moveTo>
                  <a:pt x="0" y="972251"/>
                </a:moveTo>
                <a:lnTo>
                  <a:pt x="44305" y="972251"/>
                </a:lnTo>
                <a:lnTo>
                  <a:pt x="44305" y="0"/>
                </a:lnTo>
              </a:path>
            </a:pathLst>
          </a:custGeom>
          <a:ln w="4089">
            <a:solidFill>
              <a:srgbClr val="4677B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471896" y="2214976"/>
            <a:ext cx="125285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35">
                <a:latin typeface="宋体"/>
                <a:cs typeface="宋体"/>
              </a:rPr>
              <a:t>计算世界</a:t>
            </a:r>
            <a:endParaRPr sz="24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78449" y="3784644"/>
            <a:ext cx="725170" cy="544830"/>
          </a:xfrm>
          <a:prstGeom prst="rect">
            <a:avLst/>
          </a:prstGeom>
          <a:solidFill>
            <a:srgbClr val="E8EEF7"/>
          </a:solidFill>
          <a:ln w="4123">
            <a:solidFill>
              <a:srgbClr val="000000"/>
            </a:solidFill>
          </a:ln>
        </p:spPr>
        <p:txBody>
          <a:bodyPr wrap="square" lIns="0" tIns="10731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845"/>
              </a:spcBef>
            </a:pPr>
            <a:r>
              <a:rPr dirty="0" sz="1900" spc="-25">
                <a:latin typeface="MS Gothic"/>
                <a:cs typeface="MS Gothic"/>
              </a:rPr>
              <a:t>需求</a:t>
            </a:r>
            <a:endParaRPr sz="1900">
              <a:latin typeface="MS Gothic"/>
              <a:cs typeface="MS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3873" y="4506221"/>
            <a:ext cx="145732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300"/>
              </a:lnSpc>
              <a:spcBef>
                <a:spcPts val="95"/>
              </a:spcBef>
            </a:pPr>
            <a:r>
              <a:rPr dirty="0" sz="1600" spc="10">
                <a:latin typeface="MS Gothic"/>
                <a:cs typeface="MS Gothic"/>
              </a:rPr>
              <a:t>用</a:t>
            </a:r>
            <a:r>
              <a:rPr dirty="0" sz="1600" spc="10">
                <a:latin typeface="宋体"/>
                <a:cs typeface="宋体"/>
              </a:rPr>
              <a:t>户</a:t>
            </a:r>
            <a:r>
              <a:rPr dirty="0" sz="1600" spc="5">
                <a:latin typeface="MS Gothic"/>
                <a:cs typeface="MS Gothic"/>
              </a:rPr>
              <a:t>希望有些事 情</a:t>
            </a:r>
            <a:r>
              <a:rPr dirty="0" sz="1600" spc="5">
                <a:latin typeface="MS Gothic"/>
                <a:cs typeface="MS Gothic"/>
              </a:rPr>
              <a:t>能</a:t>
            </a:r>
            <a:r>
              <a:rPr dirty="0" sz="1600" spc="10">
                <a:latin typeface="宋体"/>
                <a:cs typeface="宋体"/>
              </a:rPr>
              <a:t>这</a:t>
            </a:r>
            <a:r>
              <a:rPr dirty="0" sz="1600" spc="5">
                <a:latin typeface="宋体"/>
                <a:cs typeface="宋体"/>
              </a:rPr>
              <a:t>样</a:t>
            </a:r>
            <a:r>
              <a:rPr dirty="0" sz="1600" spc="10">
                <a:latin typeface="MS Gothic"/>
                <a:cs typeface="MS Gothic"/>
              </a:rPr>
              <a:t>子运作</a:t>
            </a:r>
            <a:endParaRPr sz="1600">
              <a:latin typeface="MS Gothic"/>
              <a:cs typeface="MS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40730" y="4328954"/>
            <a:ext cx="0" cy="122555"/>
          </a:xfrm>
          <a:custGeom>
            <a:avLst/>
            <a:gdLst/>
            <a:ahLst/>
            <a:cxnLst/>
            <a:rect l="l" t="t" r="r" b="b"/>
            <a:pathLst>
              <a:path w="0" h="122554">
                <a:moveTo>
                  <a:pt x="0" y="0"/>
                </a:moveTo>
                <a:lnTo>
                  <a:pt x="0" y="122305"/>
                </a:lnTo>
                <a:lnTo>
                  <a:pt x="0" y="0"/>
                </a:lnTo>
                <a:close/>
              </a:path>
            </a:pathLst>
          </a:custGeom>
          <a:ln w="4089">
            <a:solidFill>
              <a:srgbClr val="4677B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60303" y="2983502"/>
            <a:ext cx="1550035" cy="0"/>
          </a:xfrm>
          <a:custGeom>
            <a:avLst/>
            <a:gdLst/>
            <a:ahLst/>
            <a:cxnLst/>
            <a:rect l="l" t="t" r="r" b="b"/>
            <a:pathLst>
              <a:path w="1550035" h="0">
                <a:moveTo>
                  <a:pt x="0" y="0"/>
                </a:moveTo>
                <a:lnTo>
                  <a:pt x="1549833" y="0"/>
                </a:lnTo>
              </a:path>
            </a:pathLst>
          </a:custGeom>
          <a:ln w="4142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40730" y="2983502"/>
            <a:ext cx="869950" cy="795020"/>
          </a:xfrm>
          <a:custGeom>
            <a:avLst/>
            <a:gdLst/>
            <a:ahLst/>
            <a:cxnLst/>
            <a:rect l="l" t="t" r="r" b="b"/>
            <a:pathLst>
              <a:path w="869950" h="795020">
                <a:moveTo>
                  <a:pt x="0" y="795023"/>
                </a:moveTo>
                <a:lnTo>
                  <a:pt x="0" y="0"/>
                </a:lnTo>
                <a:lnTo>
                  <a:pt x="869406" y="0"/>
                </a:lnTo>
              </a:path>
            </a:pathLst>
          </a:custGeom>
          <a:ln w="4118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33764" y="2567529"/>
            <a:ext cx="1219835" cy="824230"/>
          </a:xfrm>
          <a:custGeom>
            <a:avLst/>
            <a:gdLst/>
            <a:ahLst/>
            <a:cxnLst/>
            <a:rect l="l" t="t" r="r" b="b"/>
            <a:pathLst>
              <a:path w="1219835" h="824229">
                <a:moveTo>
                  <a:pt x="609828" y="0"/>
                </a:moveTo>
                <a:lnTo>
                  <a:pt x="554323" y="1684"/>
                </a:lnTo>
                <a:lnTo>
                  <a:pt x="500213" y="6639"/>
                </a:lnTo>
                <a:lnTo>
                  <a:pt x="447715" y="14719"/>
                </a:lnTo>
                <a:lnTo>
                  <a:pt x="397043" y="25780"/>
                </a:lnTo>
                <a:lnTo>
                  <a:pt x="348413" y="39673"/>
                </a:lnTo>
                <a:lnTo>
                  <a:pt x="302040" y="56255"/>
                </a:lnTo>
                <a:lnTo>
                  <a:pt x="258140" y="75379"/>
                </a:lnTo>
                <a:lnTo>
                  <a:pt x="216928" y="96899"/>
                </a:lnTo>
                <a:lnTo>
                  <a:pt x="178618" y="120670"/>
                </a:lnTo>
                <a:lnTo>
                  <a:pt x="143427" y="146546"/>
                </a:lnTo>
                <a:lnTo>
                  <a:pt x="111570" y="174380"/>
                </a:lnTo>
                <a:lnTo>
                  <a:pt x="83261" y="204028"/>
                </a:lnTo>
                <a:lnTo>
                  <a:pt x="58717" y="235344"/>
                </a:lnTo>
                <a:lnTo>
                  <a:pt x="38153" y="268180"/>
                </a:lnTo>
                <a:lnTo>
                  <a:pt x="9825" y="337836"/>
                </a:lnTo>
                <a:lnTo>
                  <a:pt x="0" y="411829"/>
                </a:lnTo>
                <a:lnTo>
                  <a:pt x="2492" y="449320"/>
                </a:lnTo>
                <a:lnTo>
                  <a:pt x="21784" y="521324"/>
                </a:lnTo>
                <a:lnTo>
                  <a:pt x="58717" y="588389"/>
                </a:lnTo>
                <a:lnTo>
                  <a:pt x="83261" y="619706"/>
                </a:lnTo>
                <a:lnTo>
                  <a:pt x="111570" y="649352"/>
                </a:lnTo>
                <a:lnTo>
                  <a:pt x="143427" y="677183"/>
                </a:lnTo>
                <a:lnTo>
                  <a:pt x="178618" y="703052"/>
                </a:lnTo>
                <a:lnTo>
                  <a:pt x="216928" y="726815"/>
                </a:lnTo>
                <a:lnTo>
                  <a:pt x="258140" y="748326"/>
                </a:lnTo>
                <a:lnTo>
                  <a:pt x="302040" y="767441"/>
                </a:lnTo>
                <a:lnTo>
                  <a:pt x="348413" y="784013"/>
                </a:lnTo>
                <a:lnTo>
                  <a:pt x="397043" y="797898"/>
                </a:lnTo>
                <a:lnTo>
                  <a:pt x="447715" y="808950"/>
                </a:lnTo>
                <a:lnTo>
                  <a:pt x="500213" y="817024"/>
                </a:lnTo>
                <a:lnTo>
                  <a:pt x="554323" y="821975"/>
                </a:lnTo>
                <a:lnTo>
                  <a:pt x="609828" y="823658"/>
                </a:lnTo>
                <a:lnTo>
                  <a:pt x="665330" y="821975"/>
                </a:lnTo>
                <a:lnTo>
                  <a:pt x="719436" y="817024"/>
                </a:lnTo>
                <a:lnTo>
                  <a:pt x="771930" y="808950"/>
                </a:lnTo>
                <a:lnTo>
                  <a:pt x="822597" y="797898"/>
                </a:lnTo>
                <a:lnTo>
                  <a:pt x="871222" y="784013"/>
                </a:lnTo>
                <a:lnTo>
                  <a:pt x="917590" y="767441"/>
                </a:lnTo>
                <a:lnTo>
                  <a:pt x="961485" y="748326"/>
                </a:lnTo>
                <a:lnTo>
                  <a:pt x="1002693" y="726815"/>
                </a:lnTo>
                <a:lnTo>
                  <a:pt x="1040997" y="703052"/>
                </a:lnTo>
                <a:lnTo>
                  <a:pt x="1076183" y="677183"/>
                </a:lnTo>
                <a:lnTo>
                  <a:pt x="1108036" y="649352"/>
                </a:lnTo>
                <a:lnTo>
                  <a:pt x="1136340" y="619706"/>
                </a:lnTo>
                <a:lnTo>
                  <a:pt x="1160880" y="588389"/>
                </a:lnTo>
                <a:lnTo>
                  <a:pt x="1181441" y="555547"/>
                </a:lnTo>
                <a:lnTo>
                  <a:pt x="1209764" y="485867"/>
                </a:lnTo>
                <a:lnTo>
                  <a:pt x="1219588" y="411829"/>
                </a:lnTo>
                <a:lnTo>
                  <a:pt x="1217096" y="374363"/>
                </a:lnTo>
                <a:lnTo>
                  <a:pt x="1197808" y="302393"/>
                </a:lnTo>
                <a:lnTo>
                  <a:pt x="1160880" y="235344"/>
                </a:lnTo>
                <a:lnTo>
                  <a:pt x="1136340" y="204028"/>
                </a:lnTo>
                <a:lnTo>
                  <a:pt x="1108036" y="174380"/>
                </a:lnTo>
                <a:lnTo>
                  <a:pt x="1076183" y="146546"/>
                </a:lnTo>
                <a:lnTo>
                  <a:pt x="1040997" y="120670"/>
                </a:lnTo>
                <a:lnTo>
                  <a:pt x="1002693" y="96899"/>
                </a:lnTo>
                <a:lnTo>
                  <a:pt x="961485" y="75379"/>
                </a:lnTo>
                <a:lnTo>
                  <a:pt x="917590" y="56255"/>
                </a:lnTo>
                <a:lnTo>
                  <a:pt x="871222" y="39673"/>
                </a:lnTo>
                <a:lnTo>
                  <a:pt x="822597" y="25780"/>
                </a:lnTo>
                <a:lnTo>
                  <a:pt x="771930" y="14719"/>
                </a:lnTo>
                <a:lnTo>
                  <a:pt x="719436" y="6639"/>
                </a:lnTo>
                <a:lnTo>
                  <a:pt x="665330" y="1684"/>
                </a:lnTo>
                <a:lnTo>
                  <a:pt x="609828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33763" y="2567530"/>
            <a:ext cx="1219835" cy="824230"/>
          </a:xfrm>
          <a:custGeom>
            <a:avLst/>
            <a:gdLst/>
            <a:ahLst/>
            <a:cxnLst/>
            <a:rect l="l" t="t" r="r" b="b"/>
            <a:pathLst>
              <a:path w="1219835" h="824229">
                <a:moveTo>
                  <a:pt x="0" y="411829"/>
                </a:moveTo>
                <a:lnTo>
                  <a:pt x="9825" y="337836"/>
                </a:lnTo>
                <a:lnTo>
                  <a:pt x="38153" y="268180"/>
                </a:lnTo>
                <a:lnTo>
                  <a:pt x="58717" y="235343"/>
                </a:lnTo>
                <a:lnTo>
                  <a:pt x="83261" y="204028"/>
                </a:lnTo>
                <a:lnTo>
                  <a:pt x="111570" y="174380"/>
                </a:lnTo>
                <a:lnTo>
                  <a:pt x="143427" y="146546"/>
                </a:lnTo>
                <a:lnTo>
                  <a:pt x="178618" y="120670"/>
                </a:lnTo>
                <a:lnTo>
                  <a:pt x="216928" y="96899"/>
                </a:lnTo>
                <a:lnTo>
                  <a:pt x="258140" y="75379"/>
                </a:lnTo>
                <a:lnTo>
                  <a:pt x="302041" y="56255"/>
                </a:lnTo>
                <a:lnTo>
                  <a:pt x="348413" y="39673"/>
                </a:lnTo>
                <a:lnTo>
                  <a:pt x="397043" y="25780"/>
                </a:lnTo>
                <a:lnTo>
                  <a:pt x="447715" y="14719"/>
                </a:lnTo>
                <a:lnTo>
                  <a:pt x="500213" y="6639"/>
                </a:lnTo>
                <a:lnTo>
                  <a:pt x="554323" y="1684"/>
                </a:lnTo>
                <a:lnTo>
                  <a:pt x="609828" y="0"/>
                </a:lnTo>
                <a:lnTo>
                  <a:pt x="665330" y="1684"/>
                </a:lnTo>
                <a:lnTo>
                  <a:pt x="719436" y="6639"/>
                </a:lnTo>
                <a:lnTo>
                  <a:pt x="771930" y="14719"/>
                </a:lnTo>
                <a:lnTo>
                  <a:pt x="822597" y="25780"/>
                </a:lnTo>
                <a:lnTo>
                  <a:pt x="871222" y="39673"/>
                </a:lnTo>
                <a:lnTo>
                  <a:pt x="917590" y="56255"/>
                </a:lnTo>
                <a:lnTo>
                  <a:pt x="961486" y="75379"/>
                </a:lnTo>
                <a:lnTo>
                  <a:pt x="1002693" y="96899"/>
                </a:lnTo>
                <a:lnTo>
                  <a:pt x="1040997" y="120670"/>
                </a:lnTo>
                <a:lnTo>
                  <a:pt x="1076184" y="146546"/>
                </a:lnTo>
                <a:lnTo>
                  <a:pt x="1108036" y="174380"/>
                </a:lnTo>
                <a:lnTo>
                  <a:pt x="1136340" y="204028"/>
                </a:lnTo>
                <a:lnTo>
                  <a:pt x="1160881" y="235343"/>
                </a:lnTo>
                <a:lnTo>
                  <a:pt x="1181441" y="268180"/>
                </a:lnTo>
                <a:lnTo>
                  <a:pt x="1209765" y="337836"/>
                </a:lnTo>
                <a:lnTo>
                  <a:pt x="1219588" y="411829"/>
                </a:lnTo>
                <a:lnTo>
                  <a:pt x="1217097" y="449320"/>
                </a:lnTo>
                <a:lnTo>
                  <a:pt x="1209765" y="485867"/>
                </a:lnTo>
                <a:lnTo>
                  <a:pt x="1181441" y="555546"/>
                </a:lnTo>
                <a:lnTo>
                  <a:pt x="1160881" y="588389"/>
                </a:lnTo>
                <a:lnTo>
                  <a:pt x="1136340" y="619706"/>
                </a:lnTo>
                <a:lnTo>
                  <a:pt x="1108036" y="649352"/>
                </a:lnTo>
                <a:lnTo>
                  <a:pt x="1076184" y="677182"/>
                </a:lnTo>
                <a:lnTo>
                  <a:pt x="1040997" y="703052"/>
                </a:lnTo>
                <a:lnTo>
                  <a:pt x="1002693" y="726815"/>
                </a:lnTo>
                <a:lnTo>
                  <a:pt x="961486" y="748326"/>
                </a:lnTo>
                <a:lnTo>
                  <a:pt x="917590" y="767440"/>
                </a:lnTo>
                <a:lnTo>
                  <a:pt x="871222" y="784013"/>
                </a:lnTo>
                <a:lnTo>
                  <a:pt x="822597" y="797897"/>
                </a:lnTo>
                <a:lnTo>
                  <a:pt x="771930" y="808950"/>
                </a:lnTo>
                <a:lnTo>
                  <a:pt x="719436" y="817024"/>
                </a:lnTo>
                <a:lnTo>
                  <a:pt x="665330" y="821975"/>
                </a:lnTo>
                <a:lnTo>
                  <a:pt x="609828" y="823658"/>
                </a:lnTo>
                <a:lnTo>
                  <a:pt x="554323" y="821975"/>
                </a:lnTo>
                <a:lnTo>
                  <a:pt x="500213" y="817024"/>
                </a:lnTo>
                <a:lnTo>
                  <a:pt x="447715" y="808950"/>
                </a:lnTo>
                <a:lnTo>
                  <a:pt x="397043" y="797897"/>
                </a:lnTo>
                <a:lnTo>
                  <a:pt x="348413" y="784013"/>
                </a:lnTo>
                <a:lnTo>
                  <a:pt x="302041" y="767440"/>
                </a:lnTo>
                <a:lnTo>
                  <a:pt x="258140" y="748326"/>
                </a:lnTo>
                <a:lnTo>
                  <a:pt x="216928" y="726815"/>
                </a:lnTo>
                <a:lnTo>
                  <a:pt x="178618" y="703052"/>
                </a:lnTo>
                <a:lnTo>
                  <a:pt x="143427" y="677182"/>
                </a:lnTo>
                <a:lnTo>
                  <a:pt x="111570" y="649352"/>
                </a:lnTo>
                <a:lnTo>
                  <a:pt x="83261" y="619706"/>
                </a:lnTo>
                <a:lnTo>
                  <a:pt x="58717" y="588389"/>
                </a:lnTo>
                <a:lnTo>
                  <a:pt x="38153" y="555546"/>
                </a:lnTo>
                <a:lnTo>
                  <a:pt x="9825" y="485867"/>
                </a:lnTo>
                <a:lnTo>
                  <a:pt x="2492" y="449320"/>
                </a:lnTo>
                <a:lnTo>
                  <a:pt x="0" y="411829"/>
                </a:lnTo>
                <a:close/>
              </a:path>
            </a:pathLst>
          </a:custGeom>
          <a:ln w="41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624350" y="2827710"/>
            <a:ext cx="63944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10">
                <a:latin typeface="宋体"/>
                <a:cs typeface="宋体"/>
              </a:rPr>
              <a:t>问题域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53352" y="2979359"/>
            <a:ext cx="579755" cy="4445"/>
          </a:xfrm>
          <a:custGeom>
            <a:avLst/>
            <a:gdLst/>
            <a:ahLst/>
            <a:cxnLst/>
            <a:rect l="l" t="t" r="r" b="b"/>
            <a:pathLst>
              <a:path w="579755" h="4444">
                <a:moveTo>
                  <a:pt x="-2071" y="2071"/>
                </a:moveTo>
                <a:lnTo>
                  <a:pt x="581789" y="2071"/>
                </a:lnTo>
              </a:path>
            </a:pathLst>
          </a:custGeom>
          <a:ln w="8284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387466" y="2567529"/>
            <a:ext cx="1219835" cy="824230"/>
          </a:xfrm>
          <a:custGeom>
            <a:avLst/>
            <a:gdLst/>
            <a:ahLst/>
            <a:cxnLst/>
            <a:rect l="l" t="t" r="r" b="b"/>
            <a:pathLst>
              <a:path w="1219834" h="824229">
                <a:moveTo>
                  <a:pt x="609879" y="0"/>
                </a:moveTo>
                <a:lnTo>
                  <a:pt x="554383" y="1684"/>
                </a:lnTo>
                <a:lnTo>
                  <a:pt x="500280" y="6639"/>
                </a:lnTo>
                <a:lnTo>
                  <a:pt x="447786" y="14719"/>
                </a:lnTo>
                <a:lnTo>
                  <a:pt x="397115" y="25780"/>
                </a:lnTo>
                <a:lnTo>
                  <a:pt x="348484" y="39673"/>
                </a:lnTo>
                <a:lnTo>
                  <a:pt x="302109" y="56255"/>
                </a:lnTo>
                <a:lnTo>
                  <a:pt x="258204" y="75379"/>
                </a:lnTo>
                <a:lnTo>
                  <a:pt x="216985" y="96899"/>
                </a:lnTo>
                <a:lnTo>
                  <a:pt x="178669" y="120670"/>
                </a:lnTo>
                <a:lnTo>
                  <a:pt x="143471" y="146546"/>
                </a:lnTo>
                <a:lnTo>
                  <a:pt x="111606" y="174380"/>
                </a:lnTo>
                <a:lnTo>
                  <a:pt x="83290" y="204028"/>
                </a:lnTo>
                <a:lnTo>
                  <a:pt x="58738" y="235344"/>
                </a:lnTo>
                <a:lnTo>
                  <a:pt x="38167" y="268180"/>
                </a:lnTo>
                <a:lnTo>
                  <a:pt x="9829" y="337836"/>
                </a:lnTo>
                <a:lnTo>
                  <a:pt x="0" y="411829"/>
                </a:lnTo>
                <a:lnTo>
                  <a:pt x="2493" y="449320"/>
                </a:lnTo>
                <a:lnTo>
                  <a:pt x="21792" y="521324"/>
                </a:lnTo>
                <a:lnTo>
                  <a:pt x="58738" y="588389"/>
                </a:lnTo>
                <a:lnTo>
                  <a:pt x="83290" y="619706"/>
                </a:lnTo>
                <a:lnTo>
                  <a:pt x="111606" y="649352"/>
                </a:lnTo>
                <a:lnTo>
                  <a:pt x="143471" y="677183"/>
                </a:lnTo>
                <a:lnTo>
                  <a:pt x="178669" y="703052"/>
                </a:lnTo>
                <a:lnTo>
                  <a:pt x="216985" y="726815"/>
                </a:lnTo>
                <a:lnTo>
                  <a:pt x="258204" y="748326"/>
                </a:lnTo>
                <a:lnTo>
                  <a:pt x="302109" y="767441"/>
                </a:lnTo>
                <a:lnTo>
                  <a:pt x="348484" y="784013"/>
                </a:lnTo>
                <a:lnTo>
                  <a:pt x="397115" y="797898"/>
                </a:lnTo>
                <a:lnTo>
                  <a:pt x="447786" y="808950"/>
                </a:lnTo>
                <a:lnTo>
                  <a:pt x="500280" y="817024"/>
                </a:lnTo>
                <a:lnTo>
                  <a:pt x="554383" y="821975"/>
                </a:lnTo>
                <a:lnTo>
                  <a:pt x="609879" y="823658"/>
                </a:lnTo>
                <a:lnTo>
                  <a:pt x="665400" y="821975"/>
                </a:lnTo>
                <a:lnTo>
                  <a:pt x="719523" y="817024"/>
                </a:lnTo>
                <a:lnTo>
                  <a:pt x="772032" y="808950"/>
                </a:lnTo>
                <a:lnTo>
                  <a:pt x="822712" y="797898"/>
                </a:lnTo>
                <a:lnTo>
                  <a:pt x="871348" y="784013"/>
                </a:lnTo>
                <a:lnTo>
                  <a:pt x="917726" y="767441"/>
                </a:lnTo>
                <a:lnTo>
                  <a:pt x="961629" y="748326"/>
                </a:lnTo>
                <a:lnTo>
                  <a:pt x="1002844" y="726815"/>
                </a:lnTo>
                <a:lnTo>
                  <a:pt x="1041154" y="703052"/>
                </a:lnTo>
                <a:lnTo>
                  <a:pt x="1076344" y="677183"/>
                </a:lnTo>
                <a:lnTo>
                  <a:pt x="1108201" y="649352"/>
                </a:lnTo>
                <a:lnTo>
                  <a:pt x="1136507" y="619706"/>
                </a:lnTo>
                <a:lnTo>
                  <a:pt x="1161049" y="588389"/>
                </a:lnTo>
                <a:lnTo>
                  <a:pt x="1181611" y="555547"/>
                </a:lnTo>
                <a:lnTo>
                  <a:pt x="1209936" y="485867"/>
                </a:lnTo>
                <a:lnTo>
                  <a:pt x="1219760" y="411829"/>
                </a:lnTo>
                <a:lnTo>
                  <a:pt x="1217268" y="374363"/>
                </a:lnTo>
                <a:lnTo>
                  <a:pt x="1197978" y="302393"/>
                </a:lnTo>
                <a:lnTo>
                  <a:pt x="1161049" y="235344"/>
                </a:lnTo>
                <a:lnTo>
                  <a:pt x="1136507" y="204028"/>
                </a:lnTo>
                <a:lnTo>
                  <a:pt x="1108201" y="174380"/>
                </a:lnTo>
                <a:lnTo>
                  <a:pt x="1076344" y="146546"/>
                </a:lnTo>
                <a:lnTo>
                  <a:pt x="1041154" y="120670"/>
                </a:lnTo>
                <a:lnTo>
                  <a:pt x="1002844" y="96899"/>
                </a:lnTo>
                <a:lnTo>
                  <a:pt x="961629" y="75379"/>
                </a:lnTo>
                <a:lnTo>
                  <a:pt x="917726" y="56255"/>
                </a:lnTo>
                <a:lnTo>
                  <a:pt x="871348" y="39673"/>
                </a:lnTo>
                <a:lnTo>
                  <a:pt x="822712" y="25780"/>
                </a:lnTo>
                <a:lnTo>
                  <a:pt x="772032" y="14719"/>
                </a:lnTo>
                <a:lnTo>
                  <a:pt x="719523" y="6639"/>
                </a:lnTo>
                <a:lnTo>
                  <a:pt x="665400" y="1684"/>
                </a:lnTo>
                <a:lnTo>
                  <a:pt x="609879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387465" y="2567530"/>
            <a:ext cx="1219835" cy="824230"/>
          </a:xfrm>
          <a:custGeom>
            <a:avLst/>
            <a:gdLst/>
            <a:ahLst/>
            <a:cxnLst/>
            <a:rect l="l" t="t" r="r" b="b"/>
            <a:pathLst>
              <a:path w="1219834" h="824229">
                <a:moveTo>
                  <a:pt x="0" y="411829"/>
                </a:moveTo>
                <a:lnTo>
                  <a:pt x="9829" y="337836"/>
                </a:lnTo>
                <a:lnTo>
                  <a:pt x="38167" y="268180"/>
                </a:lnTo>
                <a:lnTo>
                  <a:pt x="58738" y="235343"/>
                </a:lnTo>
                <a:lnTo>
                  <a:pt x="83290" y="204028"/>
                </a:lnTo>
                <a:lnTo>
                  <a:pt x="111606" y="174380"/>
                </a:lnTo>
                <a:lnTo>
                  <a:pt x="143471" y="146546"/>
                </a:lnTo>
                <a:lnTo>
                  <a:pt x="178669" y="120670"/>
                </a:lnTo>
                <a:lnTo>
                  <a:pt x="216985" y="96899"/>
                </a:lnTo>
                <a:lnTo>
                  <a:pt x="258204" y="75379"/>
                </a:lnTo>
                <a:lnTo>
                  <a:pt x="302109" y="56255"/>
                </a:lnTo>
                <a:lnTo>
                  <a:pt x="348484" y="39673"/>
                </a:lnTo>
                <a:lnTo>
                  <a:pt x="397115" y="25780"/>
                </a:lnTo>
                <a:lnTo>
                  <a:pt x="447786" y="14719"/>
                </a:lnTo>
                <a:lnTo>
                  <a:pt x="500281" y="6639"/>
                </a:lnTo>
                <a:lnTo>
                  <a:pt x="554384" y="1684"/>
                </a:lnTo>
                <a:lnTo>
                  <a:pt x="609879" y="0"/>
                </a:lnTo>
                <a:lnTo>
                  <a:pt x="665400" y="1684"/>
                </a:lnTo>
                <a:lnTo>
                  <a:pt x="719523" y="6639"/>
                </a:lnTo>
                <a:lnTo>
                  <a:pt x="772031" y="14719"/>
                </a:lnTo>
                <a:lnTo>
                  <a:pt x="822712" y="25780"/>
                </a:lnTo>
                <a:lnTo>
                  <a:pt x="871348" y="39673"/>
                </a:lnTo>
                <a:lnTo>
                  <a:pt x="917725" y="56255"/>
                </a:lnTo>
                <a:lnTo>
                  <a:pt x="961629" y="75379"/>
                </a:lnTo>
                <a:lnTo>
                  <a:pt x="1002843" y="96899"/>
                </a:lnTo>
                <a:lnTo>
                  <a:pt x="1041153" y="120670"/>
                </a:lnTo>
                <a:lnTo>
                  <a:pt x="1076344" y="146546"/>
                </a:lnTo>
                <a:lnTo>
                  <a:pt x="1108200" y="174380"/>
                </a:lnTo>
                <a:lnTo>
                  <a:pt x="1136506" y="204028"/>
                </a:lnTo>
                <a:lnTo>
                  <a:pt x="1161048" y="235343"/>
                </a:lnTo>
                <a:lnTo>
                  <a:pt x="1181610" y="268180"/>
                </a:lnTo>
                <a:lnTo>
                  <a:pt x="1209935" y="337836"/>
                </a:lnTo>
                <a:lnTo>
                  <a:pt x="1219759" y="411829"/>
                </a:lnTo>
                <a:lnTo>
                  <a:pt x="1217267" y="449320"/>
                </a:lnTo>
                <a:lnTo>
                  <a:pt x="1209935" y="485867"/>
                </a:lnTo>
                <a:lnTo>
                  <a:pt x="1181610" y="555546"/>
                </a:lnTo>
                <a:lnTo>
                  <a:pt x="1161048" y="588389"/>
                </a:lnTo>
                <a:lnTo>
                  <a:pt x="1136506" y="619706"/>
                </a:lnTo>
                <a:lnTo>
                  <a:pt x="1108200" y="649352"/>
                </a:lnTo>
                <a:lnTo>
                  <a:pt x="1076344" y="677182"/>
                </a:lnTo>
                <a:lnTo>
                  <a:pt x="1041153" y="703052"/>
                </a:lnTo>
                <a:lnTo>
                  <a:pt x="1002843" y="726815"/>
                </a:lnTo>
                <a:lnTo>
                  <a:pt x="961629" y="748326"/>
                </a:lnTo>
                <a:lnTo>
                  <a:pt x="917725" y="767440"/>
                </a:lnTo>
                <a:lnTo>
                  <a:pt x="871348" y="784013"/>
                </a:lnTo>
                <a:lnTo>
                  <a:pt x="822712" y="797897"/>
                </a:lnTo>
                <a:lnTo>
                  <a:pt x="772031" y="808950"/>
                </a:lnTo>
                <a:lnTo>
                  <a:pt x="719523" y="817024"/>
                </a:lnTo>
                <a:lnTo>
                  <a:pt x="665400" y="821975"/>
                </a:lnTo>
                <a:lnTo>
                  <a:pt x="609879" y="823658"/>
                </a:lnTo>
                <a:lnTo>
                  <a:pt x="554384" y="821975"/>
                </a:lnTo>
                <a:lnTo>
                  <a:pt x="500281" y="817024"/>
                </a:lnTo>
                <a:lnTo>
                  <a:pt x="447786" y="808950"/>
                </a:lnTo>
                <a:lnTo>
                  <a:pt x="397115" y="797897"/>
                </a:lnTo>
                <a:lnTo>
                  <a:pt x="348484" y="784013"/>
                </a:lnTo>
                <a:lnTo>
                  <a:pt x="302109" y="767440"/>
                </a:lnTo>
                <a:lnTo>
                  <a:pt x="258204" y="748326"/>
                </a:lnTo>
                <a:lnTo>
                  <a:pt x="216985" y="726815"/>
                </a:lnTo>
                <a:lnTo>
                  <a:pt x="178669" y="703052"/>
                </a:lnTo>
                <a:lnTo>
                  <a:pt x="143471" y="677182"/>
                </a:lnTo>
                <a:lnTo>
                  <a:pt x="111606" y="649352"/>
                </a:lnTo>
                <a:lnTo>
                  <a:pt x="83290" y="619706"/>
                </a:lnTo>
                <a:lnTo>
                  <a:pt x="58738" y="588389"/>
                </a:lnTo>
                <a:lnTo>
                  <a:pt x="38167" y="555546"/>
                </a:lnTo>
                <a:lnTo>
                  <a:pt x="9829" y="485867"/>
                </a:lnTo>
                <a:lnTo>
                  <a:pt x="2493" y="449320"/>
                </a:lnTo>
                <a:lnTo>
                  <a:pt x="0" y="411829"/>
                </a:lnTo>
                <a:close/>
              </a:path>
            </a:pathLst>
          </a:custGeom>
          <a:ln w="41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678086" y="2827710"/>
            <a:ext cx="63944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10">
                <a:latin typeface="MS Gothic"/>
                <a:cs typeface="MS Gothic"/>
              </a:rPr>
              <a:t>解</a:t>
            </a:r>
            <a:r>
              <a:rPr dirty="0" sz="1600" spc="5">
                <a:latin typeface="MS Gothic"/>
                <a:cs typeface="MS Gothic"/>
              </a:rPr>
              <a:t>系</a:t>
            </a:r>
            <a:r>
              <a:rPr dirty="0" sz="1600" spc="10">
                <a:latin typeface="宋体"/>
                <a:cs typeface="宋体"/>
              </a:rPr>
              <a:t>统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789855" y="2979359"/>
            <a:ext cx="598170" cy="4445"/>
          </a:xfrm>
          <a:custGeom>
            <a:avLst/>
            <a:gdLst/>
            <a:ahLst/>
            <a:cxnLst/>
            <a:rect l="l" t="t" r="r" b="b"/>
            <a:pathLst>
              <a:path w="598170" h="4444">
                <a:moveTo>
                  <a:pt x="-2071" y="2071"/>
                </a:moveTo>
                <a:lnTo>
                  <a:pt x="599681" y="2071"/>
                </a:lnTo>
              </a:path>
            </a:pathLst>
          </a:custGeom>
          <a:ln w="8284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962400" y="2595563"/>
            <a:ext cx="914400" cy="142875"/>
          </a:xfrm>
          <a:custGeom>
            <a:avLst/>
            <a:gdLst/>
            <a:ahLst/>
            <a:cxnLst/>
            <a:rect l="l" t="t" r="r" b="b"/>
            <a:pathLst>
              <a:path w="914400" h="142875">
                <a:moveTo>
                  <a:pt x="771525" y="85724"/>
                </a:moveTo>
                <a:lnTo>
                  <a:pt x="771525" y="142875"/>
                </a:lnTo>
                <a:lnTo>
                  <a:pt x="885825" y="85725"/>
                </a:lnTo>
                <a:lnTo>
                  <a:pt x="771525" y="85724"/>
                </a:lnTo>
                <a:close/>
              </a:path>
              <a:path w="914400" h="142875">
                <a:moveTo>
                  <a:pt x="771525" y="57149"/>
                </a:moveTo>
                <a:lnTo>
                  <a:pt x="771525" y="85724"/>
                </a:lnTo>
                <a:lnTo>
                  <a:pt x="785812" y="85725"/>
                </a:lnTo>
                <a:lnTo>
                  <a:pt x="785812" y="57150"/>
                </a:lnTo>
                <a:lnTo>
                  <a:pt x="771525" y="57149"/>
                </a:lnTo>
                <a:close/>
              </a:path>
              <a:path w="914400" h="142875">
                <a:moveTo>
                  <a:pt x="771525" y="0"/>
                </a:moveTo>
                <a:lnTo>
                  <a:pt x="771525" y="57149"/>
                </a:lnTo>
                <a:lnTo>
                  <a:pt x="785812" y="57150"/>
                </a:lnTo>
                <a:lnTo>
                  <a:pt x="785812" y="85725"/>
                </a:lnTo>
                <a:lnTo>
                  <a:pt x="885827" y="85723"/>
                </a:lnTo>
                <a:lnTo>
                  <a:pt x="914400" y="71437"/>
                </a:lnTo>
                <a:lnTo>
                  <a:pt x="771525" y="0"/>
                </a:lnTo>
                <a:close/>
              </a:path>
              <a:path w="914400" h="142875">
                <a:moveTo>
                  <a:pt x="0" y="57148"/>
                </a:moveTo>
                <a:lnTo>
                  <a:pt x="0" y="85723"/>
                </a:lnTo>
                <a:lnTo>
                  <a:pt x="771525" y="85724"/>
                </a:lnTo>
                <a:lnTo>
                  <a:pt x="771525" y="57149"/>
                </a:lnTo>
                <a:lnTo>
                  <a:pt x="0" y="57148"/>
                </a:lnTo>
                <a:close/>
              </a:path>
            </a:pathLst>
          </a:custGeom>
          <a:solidFill>
            <a:srgbClr val="009E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279140" y="1176020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9E5E"/>
                </a:solidFill>
                <a:latin typeface="宋体"/>
                <a:cs typeface="宋体"/>
              </a:rPr>
              <a:t>需求分析的目标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19600" y="1676400"/>
            <a:ext cx="0" cy="990600"/>
          </a:xfrm>
          <a:custGeom>
            <a:avLst/>
            <a:gdLst/>
            <a:ahLst/>
            <a:cxnLst/>
            <a:rect l="l" t="t" r="r" b="b"/>
            <a:pathLst>
              <a:path w="0" h="990600">
                <a:moveTo>
                  <a:pt x="0" y="0"/>
                </a:moveTo>
                <a:lnTo>
                  <a:pt x="1" y="990600"/>
                </a:lnTo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7981" y="220980"/>
            <a:ext cx="588835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1.2</a:t>
            </a:r>
            <a:r>
              <a:rPr dirty="0" spc="-90">
                <a:latin typeface="Calibri"/>
                <a:cs typeface="Calibri"/>
              </a:rPr>
              <a:t> </a:t>
            </a:r>
            <a:r>
              <a:rPr dirty="0"/>
              <a:t>建立解决方案的过程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381" y="1189686"/>
            <a:ext cx="1216660" cy="363855"/>
          </a:xfrm>
          <a:prstGeom prst="rect">
            <a:avLst/>
          </a:prstGeom>
          <a:solidFill>
            <a:srgbClr val="E8EEF7"/>
          </a:solidFill>
          <a:ln w="3244">
            <a:solidFill>
              <a:srgbClr val="000000"/>
            </a:solidFill>
          </a:ln>
        </p:spPr>
        <p:txBody>
          <a:bodyPr wrap="square" lIns="0" tIns="59690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470"/>
              </a:spcBef>
            </a:pPr>
            <a:r>
              <a:rPr dirty="0" sz="1450" spc="50">
                <a:latin typeface="宋体"/>
                <a:cs typeface="宋体"/>
              </a:rPr>
              <a:t>问题域描述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3675" y="1955455"/>
            <a:ext cx="1005840" cy="363855"/>
          </a:xfrm>
          <a:prstGeom prst="rect">
            <a:avLst/>
          </a:prstGeom>
          <a:solidFill>
            <a:srgbClr val="E8EEF7"/>
          </a:solidFill>
          <a:ln w="3245">
            <a:solidFill>
              <a:srgbClr val="000000"/>
            </a:solidFill>
          </a:ln>
        </p:spPr>
        <p:txBody>
          <a:bodyPr wrap="square" lIns="0" tIns="59690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470"/>
              </a:spcBef>
            </a:pPr>
            <a:r>
              <a:rPr dirty="0" sz="1450" spc="50">
                <a:latin typeface="MS Gothic"/>
                <a:cs typeface="MS Gothic"/>
              </a:rPr>
              <a:t>分析模型</a:t>
            </a:r>
            <a:endParaRPr sz="14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381" y="1936316"/>
            <a:ext cx="1237615" cy="382905"/>
          </a:xfrm>
          <a:prstGeom prst="rect">
            <a:avLst/>
          </a:prstGeom>
          <a:solidFill>
            <a:srgbClr val="E8EEF7"/>
          </a:solidFill>
          <a:ln w="3244">
            <a:solidFill>
              <a:srgbClr val="000000"/>
            </a:solidFill>
          </a:ln>
        </p:spPr>
        <p:txBody>
          <a:bodyPr wrap="square" lIns="0" tIns="69215" rIns="0" bIns="0" rtlCol="0" vert="horz">
            <a:spAutoFit/>
          </a:bodyPr>
          <a:lstStyle/>
          <a:p>
            <a:pPr marL="236220">
              <a:lnSpc>
                <a:spcPct val="100000"/>
              </a:lnSpc>
              <a:spcBef>
                <a:spcPts val="545"/>
              </a:spcBef>
            </a:pPr>
            <a:r>
              <a:rPr dirty="0" sz="1450" spc="50">
                <a:latin typeface="MS Gothic"/>
                <a:cs typeface="MS Gothic"/>
              </a:rPr>
              <a:t>用</a:t>
            </a:r>
            <a:r>
              <a:rPr dirty="0" sz="1450" spc="50">
                <a:latin typeface="宋体"/>
                <a:cs typeface="宋体"/>
              </a:rPr>
              <a:t>户</a:t>
            </a:r>
            <a:r>
              <a:rPr dirty="0" sz="1450" spc="50">
                <a:latin typeface="MS Gothic"/>
                <a:cs typeface="MS Gothic"/>
              </a:rPr>
              <a:t>需求</a:t>
            </a:r>
            <a:endParaRPr sz="1450">
              <a:latin typeface="MS Gothic"/>
              <a:cs typeface="MS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47625" y="1371561"/>
            <a:ext cx="553720" cy="356235"/>
          </a:xfrm>
          <a:custGeom>
            <a:avLst/>
            <a:gdLst/>
            <a:ahLst/>
            <a:cxnLst/>
            <a:rect l="l" t="t" r="r" b="b"/>
            <a:pathLst>
              <a:path w="553719" h="356235">
                <a:moveTo>
                  <a:pt x="0" y="0"/>
                </a:moveTo>
                <a:lnTo>
                  <a:pt x="553680" y="355793"/>
                </a:lnTo>
              </a:path>
            </a:pathLst>
          </a:custGeom>
          <a:ln w="3251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72934" y="1691006"/>
            <a:ext cx="115570" cy="92710"/>
          </a:xfrm>
          <a:custGeom>
            <a:avLst/>
            <a:gdLst/>
            <a:ahLst/>
            <a:cxnLst/>
            <a:rect l="l" t="t" r="r" b="b"/>
            <a:pathLst>
              <a:path w="115569" h="92710">
                <a:moveTo>
                  <a:pt x="40918" y="0"/>
                </a:moveTo>
                <a:lnTo>
                  <a:pt x="0" y="62552"/>
                </a:lnTo>
                <a:lnTo>
                  <a:pt x="115252" y="92146"/>
                </a:lnTo>
                <a:lnTo>
                  <a:pt x="40918" y="0"/>
                </a:lnTo>
                <a:close/>
              </a:path>
            </a:pathLst>
          </a:custGeom>
          <a:solidFill>
            <a:srgbClr val="467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68602" y="1833358"/>
            <a:ext cx="529590" cy="294640"/>
          </a:xfrm>
          <a:custGeom>
            <a:avLst/>
            <a:gdLst/>
            <a:ahLst/>
            <a:cxnLst/>
            <a:rect l="l" t="t" r="r" b="b"/>
            <a:pathLst>
              <a:path w="529589" h="294639">
                <a:moveTo>
                  <a:pt x="0" y="294389"/>
                </a:moveTo>
                <a:lnTo>
                  <a:pt x="529292" y="0"/>
                </a:lnTo>
              </a:path>
            </a:pathLst>
          </a:custGeom>
          <a:ln w="3249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71297" y="1783152"/>
            <a:ext cx="117475" cy="87630"/>
          </a:xfrm>
          <a:custGeom>
            <a:avLst/>
            <a:gdLst/>
            <a:ahLst/>
            <a:cxnLst/>
            <a:rect l="l" t="t" r="r" b="b"/>
            <a:pathLst>
              <a:path w="117475" h="87630">
                <a:moveTo>
                  <a:pt x="116889" y="0"/>
                </a:moveTo>
                <a:lnTo>
                  <a:pt x="0" y="22273"/>
                </a:lnTo>
                <a:lnTo>
                  <a:pt x="36826" y="87270"/>
                </a:lnTo>
                <a:lnTo>
                  <a:pt x="116889" y="0"/>
                </a:lnTo>
                <a:close/>
              </a:path>
            </a:pathLst>
          </a:custGeom>
          <a:solidFill>
            <a:srgbClr val="467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88187" y="1508753"/>
            <a:ext cx="1121410" cy="549275"/>
          </a:xfrm>
          <a:custGeom>
            <a:avLst/>
            <a:gdLst/>
            <a:ahLst/>
            <a:cxnLst/>
            <a:rect l="l" t="t" r="r" b="b"/>
            <a:pathLst>
              <a:path w="1121410" h="549275">
                <a:moveTo>
                  <a:pt x="560581" y="0"/>
                </a:moveTo>
                <a:lnTo>
                  <a:pt x="499497" y="1610"/>
                </a:lnTo>
                <a:lnTo>
                  <a:pt x="440319" y="6329"/>
                </a:lnTo>
                <a:lnTo>
                  <a:pt x="383388" y="13989"/>
                </a:lnTo>
                <a:lnTo>
                  <a:pt x="329047" y="24424"/>
                </a:lnTo>
                <a:lnTo>
                  <a:pt x="277638" y="37465"/>
                </a:lnTo>
                <a:lnTo>
                  <a:pt x="229502" y="52945"/>
                </a:lnTo>
                <a:lnTo>
                  <a:pt x="184982" y="70697"/>
                </a:lnTo>
                <a:lnTo>
                  <a:pt x="144419" y="90553"/>
                </a:lnTo>
                <a:lnTo>
                  <a:pt x="108155" y="112346"/>
                </a:lnTo>
                <a:lnTo>
                  <a:pt x="76532" y="135908"/>
                </a:lnTo>
                <a:lnTo>
                  <a:pt x="28577" y="187671"/>
                </a:lnTo>
                <a:lnTo>
                  <a:pt x="3289" y="244501"/>
                </a:lnTo>
                <a:lnTo>
                  <a:pt x="0" y="274398"/>
                </a:lnTo>
                <a:lnTo>
                  <a:pt x="3289" y="304298"/>
                </a:lnTo>
                <a:lnTo>
                  <a:pt x="28577" y="361132"/>
                </a:lnTo>
                <a:lnTo>
                  <a:pt x="76532" y="412895"/>
                </a:lnTo>
                <a:lnTo>
                  <a:pt x="108155" y="436457"/>
                </a:lnTo>
                <a:lnTo>
                  <a:pt x="144419" y="458249"/>
                </a:lnTo>
                <a:lnTo>
                  <a:pt x="184982" y="478105"/>
                </a:lnTo>
                <a:lnTo>
                  <a:pt x="229502" y="495855"/>
                </a:lnTo>
                <a:lnTo>
                  <a:pt x="277638" y="511335"/>
                </a:lnTo>
                <a:lnTo>
                  <a:pt x="329047" y="524375"/>
                </a:lnTo>
                <a:lnTo>
                  <a:pt x="383388" y="534808"/>
                </a:lnTo>
                <a:lnTo>
                  <a:pt x="440319" y="542468"/>
                </a:lnTo>
                <a:lnTo>
                  <a:pt x="499497" y="547187"/>
                </a:lnTo>
                <a:lnTo>
                  <a:pt x="560581" y="548797"/>
                </a:lnTo>
                <a:lnTo>
                  <a:pt x="621665" y="547187"/>
                </a:lnTo>
                <a:lnTo>
                  <a:pt x="680844" y="542468"/>
                </a:lnTo>
                <a:lnTo>
                  <a:pt x="737774" y="534808"/>
                </a:lnTo>
                <a:lnTo>
                  <a:pt x="792115" y="524375"/>
                </a:lnTo>
                <a:lnTo>
                  <a:pt x="843524" y="511335"/>
                </a:lnTo>
                <a:lnTo>
                  <a:pt x="891660" y="495855"/>
                </a:lnTo>
                <a:lnTo>
                  <a:pt x="936181" y="478105"/>
                </a:lnTo>
                <a:lnTo>
                  <a:pt x="976744" y="458249"/>
                </a:lnTo>
                <a:lnTo>
                  <a:pt x="1013008" y="436457"/>
                </a:lnTo>
                <a:lnTo>
                  <a:pt x="1044631" y="412895"/>
                </a:lnTo>
                <a:lnTo>
                  <a:pt x="1092586" y="361132"/>
                </a:lnTo>
                <a:lnTo>
                  <a:pt x="1117874" y="304298"/>
                </a:lnTo>
                <a:lnTo>
                  <a:pt x="1121163" y="274398"/>
                </a:lnTo>
                <a:lnTo>
                  <a:pt x="1117874" y="244501"/>
                </a:lnTo>
                <a:lnTo>
                  <a:pt x="1092586" y="187671"/>
                </a:lnTo>
                <a:lnTo>
                  <a:pt x="1044631" y="135908"/>
                </a:lnTo>
                <a:lnTo>
                  <a:pt x="1013008" y="112346"/>
                </a:lnTo>
                <a:lnTo>
                  <a:pt x="976744" y="90553"/>
                </a:lnTo>
                <a:lnTo>
                  <a:pt x="936181" y="70697"/>
                </a:lnTo>
                <a:lnTo>
                  <a:pt x="891660" y="52945"/>
                </a:lnTo>
                <a:lnTo>
                  <a:pt x="843524" y="37465"/>
                </a:lnTo>
                <a:lnTo>
                  <a:pt x="792115" y="24424"/>
                </a:lnTo>
                <a:lnTo>
                  <a:pt x="737774" y="13989"/>
                </a:lnTo>
                <a:lnTo>
                  <a:pt x="680844" y="6329"/>
                </a:lnTo>
                <a:lnTo>
                  <a:pt x="621665" y="1610"/>
                </a:lnTo>
                <a:lnTo>
                  <a:pt x="560581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88188" y="1508753"/>
            <a:ext cx="1121410" cy="549275"/>
          </a:xfrm>
          <a:custGeom>
            <a:avLst/>
            <a:gdLst/>
            <a:ahLst/>
            <a:cxnLst/>
            <a:rect l="l" t="t" r="r" b="b"/>
            <a:pathLst>
              <a:path w="1121410" h="549275">
                <a:moveTo>
                  <a:pt x="0" y="274398"/>
                </a:moveTo>
                <a:lnTo>
                  <a:pt x="12928" y="215536"/>
                </a:lnTo>
                <a:lnTo>
                  <a:pt x="49892" y="161072"/>
                </a:lnTo>
                <a:lnTo>
                  <a:pt x="108155" y="112346"/>
                </a:lnTo>
                <a:lnTo>
                  <a:pt x="144419" y="90553"/>
                </a:lnTo>
                <a:lnTo>
                  <a:pt x="184982" y="70697"/>
                </a:lnTo>
                <a:lnTo>
                  <a:pt x="229502" y="52945"/>
                </a:lnTo>
                <a:lnTo>
                  <a:pt x="277638" y="37465"/>
                </a:lnTo>
                <a:lnTo>
                  <a:pt x="329047" y="24424"/>
                </a:lnTo>
                <a:lnTo>
                  <a:pt x="383388" y="13989"/>
                </a:lnTo>
                <a:lnTo>
                  <a:pt x="440319" y="6329"/>
                </a:lnTo>
                <a:lnTo>
                  <a:pt x="499497" y="1610"/>
                </a:lnTo>
                <a:lnTo>
                  <a:pt x="560581" y="0"/>
                </a:lnTo>
                <a:lnTo>
                  <a:pt x="621665" y="1610"/>
                </a:lnTo>
                <a:lnTo>
                  <a:pt x="680844" y="6329"/>
                </a:lnTo>
                <a:lnTo>
                  <a:pt x="737774" y="13989"/>
                </a:lnTo>
                <a:lnTo>
                  <a:pt x="792115" y="24424"/>
                </a:lnTo>
                <a:lnTo>
                  <a:pt x="843524" y="37465"/>
                </a:lnTo>
                <a:lnTo>
                  <a:pt x="891660" y="52945"/>
                </a:lnTo>
                <a:lnTo>
                  <a:pt x="936180" y="70697"/>
                </a:lnTo>
                <a:lnTo>
                  <a:pt x="976743" y="90553"/>
                </a:lnTo>
                <a:lnTo>
                  <a:pt x="1013007" y="112346"/>
                </a:lnTo>
                <a:lnTo>
                  <a:pt x="1044630" y="135908"/>
                </a:lnTo>
                <a:lnTo>
                  <a:pt x="1092585" y="187670"/>
                </a:lnTo>
                <a:lnTo>
                  <a:pt x="1117874" y="244501"/>
                </a:lnTo>
                <a:lnTo>
                  <a:pt x="1121163" y="274398"/>
                </a:lnTo>
                <a:lnTo>
                  <a:pt x="1117874" y="304298"/>
                </a:lnTo>
                <a:lnTo>
                  <a:pt x="1108234" y="333265"/>
                </a:lnTo>
                <a:lnTo>
                  <a:pt x="1071270" y="387730"/>
                </a:lnTo>
                <a:lnTo>
                  <a:pt x="1013007" y="436457"/>
                </a:lnTo>
                <a:lnTo>
                  <a:pt x="976743" y="458249"/>
                </a:lnTo>
                <a:lnTo>
                  <a:pt x="936180" y="478104"/>
                </a:lnTo>
                <a:lnTo>
                  <a:pt x="891660" y="495855"/>
                </a:lnTo>
                <a:lnTo>
                  <a:pt x="843524" y="511335"/>
                </a:lnTo>
                <a:lnTo>
                  <a:pt x="792115" y="524375"/>
                </a:lnTo>
                <a:lnTo>
                  <a:pt x="737774" y="534808"/>
                </a:lnTo>
                <a:lnTo>
                  <a:pt x="680844" y="542468"/>
                </a:lnTo>
                <a:lnTo>
                  <a:pt x="621665" y="547187"/>
                </a:lnTo>
                <a:lnTo>
                  <a:pt x="560581" y="548797"/>
                </a:lnTo>
                <a:lnTo>
                  <a:pt x="499497" y="547187"/>
                </a:lnTo>
                <a:lnTo>
                  <a:pt x="440319" y="542468"/>
                </a:lnTo>
                <a:lnTo>
                  <a:pt x="383388" y="534808"/>
                </a:lnTo>
                <a:lnTo>
                  <a:pt x="329047" y="524375"/>
                </a:lnTo>
                <a:lnTo>
                  <a:pt x="277638" y="511335"/>
                </a:lnTo>
                <a:lnTo>
                  <a:pt x="229502" y="495855"/>
                </a:lnTo>
                <a:lnTo>
                  <a:pt x="184982" y="478104"/>
                </a:lnTo>
                <a:lnTo>
                  <a:pt x="144419" y="458249"/>
                </a:lnTo>
                <a:lnTo>
                  <a:pt x="108155" y="436457"/>
                </a:lnTo>
                <a:lnTo>
                  <a:pt x="76532" y="412895"/>
                </a:lnTo>
                <a:lnTo>
                  <a:pt x="28577" y="361131"/>
                </a:lnTo>
                <a:lnTo>
                  <a:pt x="3289" y="304298"/>
                </a:lnTo>
                <a:lnTo>
                  <a:pt x="0" y="274398"/>
                </a:lnTo>
                <a:close/>
              </a:path>
            </a:pathLst>
          </a:custGeom>
          <a:ln w="32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54301" y="1643583"/>
            <a:ext cx="78930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50">
                <a:latin typeface="MS Gothic"/>
                <a:cs typeface="MS Gothic"/>
              </a:rPr>
              <a:t>需求分析</a:t>
            </a:r>
            <a:endParaRPr sz="1450">
              <a:latin typeface="MS Gothic"/>
              <a:cs typeface="MS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09351" y="1783152"/>
            <a:ext cx="345440" cy="288290"/>
          </a:xfrm>
          <a:custGeom>
            <a:avLst/>
            <a:gdLst/>
            <a:ahLst/>
            <a:cxnLst/>
            <a:rect l="l" t="t" r="r" b="b"/>
            <a:pathLst>
              <a:path w="345439" h="288289">
                <a:moveTo>
                  <a:pt x="0" y="0"/>
                </a:moveTo>
                <a:lnTo>
                  <a:pt x="345214" y="288095"/>
                </a:lnTo>
              </a:path>
            </a:pathLst>
          </a:custGeom>
          <a:ln w="3254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23058" y="2036737"/>
            <a:ext cx="111125" cy="100965"/>
          </a:xfrm>
          <a:custGeom>
            <a:avLst/>
            <a:gdLst/>
            <a:ahLst/>
            <a:cxnLst/>
            <a:rect l="l" t="t" r="r" b="b"/>
            <a:pathLst>
              <a:path w="111125" h="100964">
                <a:moveTo>
                  <a:pt x="48555" y="0"/>
                </a:moveTo>
                <a:lnTo>
                  <a:pt x="0" y="57014"/>
                </a:lnTo>
                <a:lnTo>
                  <a:pt x="110615" y="100587"/>
                </a:lnTo>
                <a:lnTo>
                  <a:pt x="48555" y="0"/>
                </a:lnTo>
                <a:close/>
              </a:path>
            </a:pathLst>
          </a:custGeom>
          <a:solidFill>
            <a:srgbClr val="467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332720" y="1170546"/>
            <a:ext cx="1005840" cy="382905"/>
          </a:xfrm>
          <a:prstGeom prst="rect">
            <a:avLst/>
          </a:prstGeom>
          <a:solidFill>
            <a:srgbClr val="E8EEF7"/>
          </a:solidFill>
          <a:ln w="3245">
            <a:solidFill>
              <a:srgbClr val="000000"/>
            </a:solidFill>
          </a:ln>
        </p:spPr>
        <p:txBody>
          <a:bodyPr wrap="square" lIns="0" tIns="69215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545"/>
              </a:spcBef>
            </a:pPr>
            <a:r>
              <a:rPr dirty="0" sz="1450" spc="50">
                <a:latin typeface="宋体"/>
                <a:cs typeface="宋体"/>
              </a:rPr>
              <a:t>软件需求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09351" y="1434639"/>
            <a:ext cx="350520" cy="348615"/>
          </a:xfrm>
          <a:custGeom>
            <a:avLst/>
            <a:gdLst/>
            <a:ahLst/>
            <a:cxnLst/>
            <a:rect l="l" t="t" r="r" b="b"/>
            <a:pathLst>
              <a:path w="350520" h="348614">
                <a:moveTo>
                  <a:pt x="0" y="348512"/>
                </a:moveTo>
                <a:lnTo>
                  <a:pt x="350397" y="0"/>
                </a:lnTo>
              </a:path>
            </a:pathLst>
          </a:custGeom>
          <a:ln w="3257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26468" y="1361984"/>
            <a:ext cx="106680" cy="106045"/>
          </a:xfrm>
          <a:custGeom>
            <a:avLst/>
            <a:gdLst/>
            <a:ahLst/>
            <a:cxnLst/>
            <a:rect l="l" t="t" r="r" b="b"/>
            <a:pathLst>
              <a:path w="106679" h="106044">
                <a:moveTo>
                  <a:pt x="106250" y="0"/>
                </a:moveTo>
                <a:lnTo>
                  <a:pt x="0" y="52961"/>
                </a:lnTo>
                <a:lnTo>
                  <a:pt x="53329" y="105558"/>
                </a:lnTo>
                <a:lnTo>
                  <a:pt x="106250" y="0"/>
                </a:lnTo>
                <a:close/>
              </a:path>
            </a:pathLst>
          </a:custGeom>
          <a:solidFill>
            <a:srgbClr val="467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81364" y="1591715"/>
            <a:ext cx="773430" cy="363855"/>
          </a:xfrm>
          <a:custGeom>
            <a:avLst/>
            <a:gdLst/>
            <a:ahLst/>
            <a:cxnLst/>
            <a:rect l="l" t="t" r="r" b="b"/>
            <a:pathLst>
              <a:path w="773429" h="363855">
                <a:moveTo>
                  <a:pt x="0" y="363735"/>
                </a:moveTo>
                <a:lnTo>
                  <a:pt x="773261" y="363735"/>
                </a:lnTo>
                <a:lnTo>
                  <a:pt x="773261" y="0"/>
                </a:lnTo>
                <a:lnTo>
                  <a:pt x="0" y="0"/>
                </a:lnTo>
                <a:lnTo>
                  <a:pt x="0" y="363735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581365" y="1591714"/>
            <a:ext cx="773430" cy="363855"/>
          </a:xfrm>
          <a:prstGeom prst="rect">
            <a:avLst/>
          </a:prstGeom>
          <a:ln w="3247">
            <a:solidFill>
              <a:srgbClr val="000000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216535">
              <a:lnSpc>
                <a:spcPct val="100000"/>
              </a:lnSpc>
              <a:spcBef>
                <a:spcPts val="425"/>
              </a:spcBef>
            </a:pPr>
            <a:r>
              <a:rPr dirty="0" sz="1450" spc="30">
                <a:latin typeface="Times New Roman"/>
                <a:cs typeface="Times New Roman"/>
              </a:rPr>
              <a:t>SRS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37948" y="1361984"/>
            <a:ext cx="572770" cy="365760"/>
          </a:xfrm>
          <a:custGeom>
            <a:avLst/>
            <a:gdLst/>
            <a:ahLst/>
            <a:cxnLst/>
            <a:rect l="l" t="t" r="r" b="b"/>
            <a:pathLst>
              <a:path w="572770" h="365760">
                <a:moveTo>
                  <a:pt x="0" y="0"/>
                </a:moveTo>
                <a:lnTo>
                  <a:pt x="572311" y="365585"/>
                </a:lnTo>
              </a:path>
            </a:pathLst>
          </a:custGeom>
          <a:ln w="3250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81888" y="1691195"/>
            <a:ext cx="115570" cy="92075"/>
          </a:xfrm>
          <a:custGeom>
            <a:avLst/>
            <a:gdLst/>
            <a:ahLst/>
            <a:cxnLst/>
            <a:rect l="l" t="t" r="r" b="b"/>
            <a:pathLst>
              <a:path w="115570" h="92075">
                <a:moveTo>
                  <a:pt x="40782" y="0"/>
                </a:moveTo>
                <a:lnTo>
                  <a:pt x="0" y="62660"/>
                </a:lnTo>
                <a:lnTo>
                  <a:pt x="115253" y="91956"/>
                </a:lnTo>
                <a:lnTo>
                  <a:pt x="40782" y="0"/>
                </a:lnTo>
                <a:close/>
              </a:path>
            </a:pathLst>
          </a:custGeom>
          <a:solidFill>
            <a:srgbClr val="467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338903" y="1832102"/>
            <a:ext cx="567690" cy="305435"/>
          </a:xfrm>
          <a:custGeom>
            <a:avLst/>
            <a:gdLst/>
            <a:ahLst/>
            <a:cxnLst/>
            <a:rect l="l" t="t" r="r" b="b"/>
            <a:pathLst>
              <a:path w="567689" h="305435">
                <a:moveTo>
                  <a:pt x="0" y="305222"/>
                </a:moveTo>
                <a:lnTo>
                  <a:pt x="567264" y="0"/>
                </a:lnTo>
              </a:path>
            </a:pathLst>
          </a:custGeom>
          <a:ln w="3248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79977" y="1783152"/>
            <a:ext cx="117475" cy="86360"/>
          </a:xfrm>
          <a:custGeom>
            <a:avLst/>
            <a:gdLst/>
            <a:ahLst/>
            <a:cxnLst/>
            <a:rect l="l" t="t" r="r" b="b"/>
            <a:pathLst>
              <a:path w="117475" h="86360">
                <a:moveTo>
                  <a:pt x="117163" y="0"/>
                </a:moveTo>
                <a:lnTo>
                  <a:pt x="0" y="20640"/>
                </a:lnTo>
                <a:lnTo>
                  <a:pt x="36008" y="86149"/>
                </a:lnTo>
                <a:lnTo>
                  <a:pt x="117163" y="0"/>
                </a:lnTo>
                <a:close/>
              </a:path>
            </a:pathLst>
          </a:custGeom>
          <a:solidFill>
            <a:srgbClr val="467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997142" y="1508753"/>
            <a:ext cx="1121410" cy="549275"/>
          </a:xfrm>
          <a:custGeom>
            <a:avLst/>
            <a:gdLst/>
            <a:ahLst/>
            <a:cxnLst/>
            <a:rect l="l" t="t" r="r" b="b"/>
            <a:pathLst>
              <a:path w="1121409" h="549275">
                <a:moveTo>
                  <a:pt x="560717" y="0"/>
                </a:moveTo>
                <a:lnTo>
                  <a:pt x="499631" y="1610"/>
                </a:lnTo>
                <a:lnTo>
                  <a:pt x="440448" y="6329"/>
                </a:lnTo>
                <a:lnTo>
                  <a:pt x="383510" y="13989"/>
                </a:lnTo>
                <a:lnTo>
                  <a:pt x="329160" y="24424"/>
                </a:lnTo>
                <a:lnTo>
                  <a:pt x="277739" y="37465"/>
                </a:lnTo>
                <a:lnTo>
                  <a:pt x="229591" y="52945"/>
                </a:lnTo>
                <a:lnTo>
                  <a:pt x="185057" y="70697"/>
                </a:lnTo>
                <a:lnTo>
                  <a:pt x="144480" y="90553"/>
                </a:lnTo>
                <a:lnTo>
                  <a:pt x="108203" y="112346"/>
                </a:lnTo>
                <a:lnTo>
                  <a:pt x="76567" y="135908"/>
                </a:lnTo>
                <a:lnTo>
                  <a:pt x="28591" y="187671"/>
                </a:lnTo>
                <a:lnTo>
                  <a:pt x="3290" y="244501"/>
                </a:lnTo>
                <a:lnTo>
                  <a:pt x="0" y="274398"/>
                </a:lnTo>
                <a:lnTo>
                  <a:pt x="3290" y="304298"/>
                </a:lnTo>
                <a:lnTo>
                  <a:pt x="28591" y="361132"/>
                </a:lnTo>
                <a:lnTo>
                  <a:pt x="76567" y="412895"/>
                </a:lnTo>
                <a:lnTo>
                  <a:pt x="108203" y="436457"/>
                </a:lnTo>
                <a:lnTo>
                  <a:pt x="144480" y="458249"/>
                </a:lnTo>
                <a:lnTo>
                  <a:pt x="185057" y="478105"/>
                </a:lnTo>
                <a:lnTo>
                  <a:pt x="229591" y="495855"/>
                </a:lnTo>
                <a:lnTo>
                  <a:pt x="277739" y="511335"/>
                </a:lnTo>
                <a:lnTo>
                  <a:pt x="329160" y="524375"/>
                </a:lnTo>
                <a:lnTo>
                  <a:pt x="383510" y="534808"/>
                </a:lnTo>
                <a:lnTo>
                  <a:pt x="440448" y="542468"/>
                </a:lnTo>
                <a:lnTo>
                  <a:pt x="499631" y="547187"/>
                </a:lnTo>
                <a:lnTo>
                  <a:pt x="560717" y="548797"/>
                </a:lnTo>
                <a:lnTo>
                  <a:pt x="621801" y="547187"/>
                </a:lnTo>
                <a:lnTo>
                  <a:pt x="680980" y="542468"/>
                </a:lnTo>
                <a:lnTo>
                  <a:pt x="737910" y="534808"/>
                </a:lnTo>
                <a:lnTo>
                  <a:pt x="792251" y="524375"/>
                </a:lnTo>
                <a:lnTo>
                  <a:pt x="843660" y="511335"/>
                </a:lnTo>
                <a:lnTo>
                  <a:pt x="891796" y="495855"/>
                </a:lnTo>
                <a:lnTo>
                  <a:pt x="936316" y="478105"/>
                </a:lnTo>
                <a:lnTo>
                  <a:pt x="976880" y="458249"/>
                </a:lnTo>
                <a:lnTo>
                  <a:pt x="1013144" y="436457"/>
                </a:lnTo>
                <a:lnTo>
                  <a:pt x="1044767" y="412895"/>
                </a:lnTo>
                <a:lnTo>
                  <a:pt x="1092722" y="361132"/>
                </a:lnTo>
                <a:lnTo>
                  <a:pt x="1118010" y="304298"/>
                </a:lnTo>
                <a:lnTo>
                  <a:pt x="1121299" y="274398"/>
                </a:lnTo>
                <a:lnTo>
                  <a:pt x="1118010" y="244501"/>
                </a:lnTo>
                <a:lnTo>
                  <a:pt x="1092722" y="187671"/>
                </a:lnTo>
                <a:lnTo>
                  <a:pt x="1044767" y="135908"/>
                </a:lnTo>
                <a:lnTo>
                  <a:pt x="1013144" y="112346"/>
                </a:lnTo>
                <a:lnTo>
                  <a:pt x="976880" y="90553"/>
                </a:lnTo>
                <a:lnTo>
                  <a:pt x="936316" y="70697"/>
                </a:lnTo>
                <a:lnTo>
                  <a:pt x="891796" y="52945"/>
                </a:lnTo>
                <a:lnTo>
                  <a:pt x="843660" y="37465"/>
                </a:lnTo>
                <a:lnTo>
                  <a:pt x="792251" y="24424"/>
                </a:lnTo>
                <a:lnTo>
                  <a:pt x="737910" y="13989"/>
                </a:lnTo>
                <a:lnTo>
                  <a:pt x="680980" y="6329"/>
                </a:lnTo>
                <a:lnTo>
                  <a:pt x="621801" y="1610"/>
                </a:lnTo>
                <a:lnTo>
                  <a:pt x="560717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97143" y="1508753"/>
            <a:ext cx="1121410" cy="549275"/>
          </a:xfrm>
          <a:custGeom>
            <a:avLst/>
            <a:gdLst/>
            <a:ahLst/>
            <a:cxnLst/>
            <a:rect l="l" t="t" r="r" b="b"/>
            <a:pathLst>
              <a:path w="1121409" h="549275">
                <a:moveTo>
                  <a:pt x="0" y="274398"/>
                </a:moveTo>
                <a:lnTo>
                  <a:pt x="12935" y="215536"/>
                </a:lnTo>
                <a:lnTo>
                  <a:pt x="49916" y="161072"/>
                </a:lnTo>
                <a:lnTo>
                  <a:pt x="108203" y="112346"/>
                </a:lnTo>
                <a:lnTo>
                  <a:pt x="144480" y="90553"/>
                </a:lnTo>
                <a:lnTo>
                  <a:pt x="185057" y="70697"/>
                </a:lnTo>
                <a:lnTo>
                  <a:pt x="229591" y="52945"/>
                </a:lnTo>
                <a:lnTo>
                  <a:pt x="277739" y="37465"/>
                </a:lnTo>
                <a:lnTo>
                  <a:pt x="329160" y="24424"/>
                </a:lnTo>
                <a:lnTo>
                  <a:pt x="383510" y="13989"/>
                </a:lnTo>
                <a:lnTo>
                  <a:pt x="440449" y="6329"/>
                </a:lnTo>
                <a:lnTo>
                  <a:pt x="499632" y="1610"/>
                </a:lnTo>
                <a:lnTo>
                  <a:pt x="560718" y="0"/>
                </a:lnTo>
                <a:lnTo>
                  <a:pt x="621802" y="1610"/>
                </a:lnTo>
                <a:lnTo>
                  <a:pt x="680980" y="6329"/>
                </a:lnTo>
                <a:lnTo>
                  <a:pt x="737910" y="13989"/>
                </a:lnTo>
                <a:lnTo>
                  <a:pt x="792251" y="24424"/>
                </a:lnTo>
                <a:lnTo>
                  <a:pt x="843660" y="37465"/>
                </a:lnTo>
                <a:lnTo>
                  <a:pt x="891796" y="52945"/>
                </a:lnTo>
                <a:lnTo>
                  <a:pt x="936317" y="70697"/>
                </a:lnTo>
                <a:lnTo>
                  <a:pt x="976880" y="90553"/>
                </a:lnTo>
                <a:lnTo>
                  <a:pt x="1013144" y="112346"/>
                </a:lnTo>
                <a:lnTo>
                  <a:pt x="1044767" y="135908"/>
                </a:lnTo>
                <a:lnTo>
                  <a:pt x="1092722" y="187670"/>
                </a:lnTo>
                <a:lnTo>
                  <a:pt x="1118010" y="244501"/>
                </a:lnTo>
                <a:lnTo>
                  <a:pt x="1121299" y="274398"/>
                </a:lnTo>
                <a:lnTo>
                  <a:pt x="1118010" y="304298"/>
                </a:lnTo>
                <a:lnTo>
                  <a:pt x="1108370" y="333265"/>
                </a:lnTo>
                <a:lnTo>
                  <a:pt x="1071407" y="387730"/>
                </a:lnTo>
                <a:lnTo>
                  <a:pt x="1013144" y="436457"/>
                </a:lnTo>
                <a:lnTo>
                  <a:pt x="976880" y="458249"/>
                </a:lnTo>
                <a:lnTo>
                  <a:pt x="936317" y="478104"/>
                </a:lnTo>
                <a:lnTo>
                  <a:pt x="891796" y="495855"/>
                </a:lnTo>
                <a:lnTo>
                  <a:pt x="843660" y="511335"/>
                </a:lnTo>
                <a:lnTo>
                  <a:pt x="792251" y="524375"/>
                </a:lnTo>
                <a:lnTo>
                  <a:pt x="737910" y="534808"/>
                </a:lnTo>
                <a:lnTo>
                  <a:pt x="680980" y="542468"/>
                </a:lnTo>
                <a:lnTo>
                  <a:pt x="621802" y="547187"/>
                </a:lnTo>
                <a:lnTo>
                  <a:pt x="560718" y="548797"/>
                </a:lnTo>
                <a:lnTo>
                  <a:pt x="499632" y="547187"/>
                </a:lnTo>
                <a:lnTo>
                  <a:pt x="440449" y="542468"/>
                </a:lnTo>
                <a:lnTo>
                  <a:pt x="383510" y="534808"/>
                </a:lnTo>
                <a:lnTo>
                  <a:pt x="329160" y="524375"/>
                </a:lnTo>
                <a:lnTo>
                  <a:pt x="277739" y="511335"/>
                </a:lnTo>
                <a:lnTo>
                  <a:pt x="229591" y="495855"/>
                </a:lnTo>
                <a:lnTo>
                  <a:pt x="185057" y="478104"/>
                </a:lnTo>
                <a:lnTo>
                  <a:pt x="144480" y="458249"/>
                </a:lnTo>
                <a:lnTo>
                  <a:pt x="108203" y="436457"/>
                </a:lnTo>
                <a:lnTo>
                  <a:pt x="76567" y="412895"/>
                </a:lnTo>
                <a:lnTo>
                  <a:pt x="28591" y="361131"/>
                </a:lnTo>
                <a:lnTo>
                  <a:pt x="3290" y="304298"/>
                </a:lnTo>
                <a:lnTo>
                  <a:pt x="0" y="274398"/>
                </a:lnTo>
                <a:close/>
              </a:path>
            </a:pathLst>
          </a:custGeom>
          <a:ln w="32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163393" y="1643583"/>
            <a:ext cx="78930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50">
                <a:latin typeface="宋体"/>
                <a:cs typeface="宋体"/>
              </a:rPr>
              <a:t>规格说明</a:t>
            </a:r>
            <a:endParaRPr sz="145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18443" y="1775723"/>
            <a:ext cx="360045" cy="7620"/>
          </a:xfrm>
          <a:custGeom>
            <a:avLst/>
            <a:gdLst/>
            <a:ahLst/>
            <a:cxnLst/>
            <a:rect l="l" t="t" r="r" b="b"/>
            <a:pathLst>
              <a:path w="360045" h="7619">
                <a:moveTo>
                  <a:pt x="0" y="7428"/>
                </a:moveTo>
                <a:lnTo>
                  <a:pt x="359536" y="0"/>
                </a:lnTo>
              </a:path>
            </a:pathLst>
          </a:custGeom>
          <a:ln w="3241">
            <a:solidFill>
              <a:srgbClr val="4677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67747" y="1738646"/>
            <a:ext cx="113664" cy="74930"/>
          </a:xfrm>
          <a:custGeom>
            <a:avLst/>
            <a:gdLst/>
            <a:ahLst/>
            <a:cxnLst/>
            <a:rect l="l" t="t" r="r" b="b"/>
            <a:pathLst>
              <a:path w="113665" h="74930">
                <a:moveTo>
                  <a:pt x="0" y="0"/>
                </a:moveTo>
                <a:lnTo>
                  <a:pt x="1499" y="74546"/>
                </a:lnTo>
                <a:lnTo>
                  <a:pt x="113616" y="34942"/>
                </a:lnTo>
                <a:lnTo>
                  <a:pt x="0" y="0"/>
                </a:lnTo>
                <a:close/>
              </a:path>
            </a:pathLst>
          </a:custGeom>
          <a:solidFill>
            <a:srgbClr val="467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85799" y="1915731"/>
            <a:ext cx="2133600" cy="1447800"/>
          </a:xfrm>
          <a:custGeom>
            <a:avLst/>
            <a:gdLst/>
            <a:ahLst/>
            <a:cxnLst/>
            <a:rect l="l" t="t" r="r" b="b"/>
            <a:pathLst>
              <a:path w="2133600" h="1447800">
                <a:moveTo>
                  <a:pt x="2133600" y="0"/>
                </a:moveTo>
                <a:lnTo>
                  <a:pt x="0" y="144780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86200" y="1915731"/>
            <a:ext cx="4572000" cy="2286000"/>
          </a:xfrm>
          <a:custGeom>
            <a:avLst/>
            <a:gdLst/>
            <a:ahLst/>
            <a:cxnLst/>
            <a:rect l="l" t="t" r="r" b="b"/>
            <a:pathLst>
              <a:path w="4572000" h="2286000">
                <a:moveTo>
                  <a:pt x="0" y="0"/>
                </a:moveTo>
                <a:lnTo>
                  <a:pt x="4572000" y="228600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276187" y="3014872"/>
            <a:ext cx="979169" cy="1165860"/>
          </a:xfrm>
          <a:prstGeom prst="rect">
            <a:avLst/>
          </a:prstGeom>
          <a:solidFill>
            <a:srgbClr val="E8EEF7"/>
          </a:solidFill>
          <a:ln w="3450">
            <a:solidFill>
              <a:srgbClr val="000000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580"/>
              </a:spcBef>
            </a:pPr>
            <a:r>
              <a:rPr dirty="0" sz="2000" spc="35">
                <a:latin typeface="MS Gothic"/>
                <a:cs typeface="MS Gothic"/>
              </a:rPr>
              <a:t>外因</a:t>
            </a:r>
            <a:endParaRPr sz="2000">
              <a:latin typeface="MS Gothic"/>
              <a:cs typeface="MS Gothic"/>
            </a:endParaRPr>
          </a:p>
          <a:p>
            <a:pPr marL="57150">
              <a:lnSpc>
                <a:spcPct val="100000"/>
              </a:lnSpc>
              <a:spcBef>
                <a:spcPts val="259"/>
              </a:spcBef>
            </a:pPr>
            <a:r>
              <a:rPr dirty="0" sz="1350" spc="5">
                <a:latin typeface="宋体"/>
                <a:cs typeface="宋体"/>
              </a:rPr>
              <a:t>问题背景</a:t>
            </a:r>
            <a:endParaRPr sz="1350">
              <a:latin typeface="宋体"/>
              <a:cs typeface="宋体"/>
            </a:endParaRPr>
          </a:p>
          <a:p>
            <a:pPr marL="57150">
              <a:lnSpc>
                <a:spcPct val="100000"/>
              </a:lnSpc>
              <a:spcBef>
                <a:spcPts val="165"/>
              </a:spcBef>
            </a:pPr>
            <a:r>
              <a:rPr dirty="0" sz="1350" spc="5">
                <a:latin typeface="MS Gothic"/>
                <a:cs typeface="MS Gothic"/>
              </a:rPr>
              <a:t>需求</a:t>
            </a:r>
            <a:endParaRPr sz="1350">
              <a:latin typeface="MS Gothic"/>
              <a:cs typeface="MS Gothic"/>
            </a:endParaRPr>
          </a:p>
          <a:p>
            <a:pPr marL="57150">
              <a:lnSpc>
                <a:spcPct val="100000"/>
              </a:lnSpc>
              <a:spcBef>
                <a:spcPts val="165"/>
              </a:spcBef>
            </a:pPr>
            <a:r>
              <a:rPr dirty="0" sz="1350" spc="5">
                <a:latin typeface="MS Gothic"/>
                <a:cs typeface="MS Gothic"/>
              </a:rPr>
              <a:t>技</a:t>
            </a:r>
            <a:r>
              <a:rPr dirty="0" sz="1350" spc="5">
                <a:latin typeface="宋体"/>
                <a:cs typeface="宋体"/>
              </a:rPr>
              <a:t>术</a:t>
            </a:r>
            <a:r>
              <a:rPr dirty="0" sz="1350" spc="5">
                <a:latin typeface="MS Gothic"/>
                <a:cs typeface="MS Gothic"/>
              </a:rPr>
              <a:t>、方法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76187" y="4398620"/>
            <a:ext cx="979169" cy="1084580"/>
          </a:xfrm>
          <a:prstGeom prst="rect">
            <a:avLst/>
          </a:prstGeom>
          <a:solidFill>
            <a:srgbClr val="E8EEF7"/>
          </a:solidFill>
          <a:ln w="3450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260"/>
              </a:spcBef>
            </a:pPr>
            <a:r>
              <a:rPr dirty="0" sz="2000" spc="35">
                <a:latin typeface="MS Gothic"/>
                <a:cs typeface="MS Gothic"/>
              </a:rPr>
              <a:t>内因</a:t>
            </a:r>
            <a:endParaRPr sz="2000">
              <a:latin typeface="MS Gothic"/>
              <a:cs typeface="MS Gothic"/>
            </a:endParaRPr>
          </a:p>
          <a:p>
            <a:pPr algn="just" marL="57150" marR="174625">
              <a:lnSpc>
                <a:spcPct val="110200"/>
              </a:lnSpc>
              <a:spcBef>
                <a:spcPts val="90"/>
              </a:spcBef>
            </a:pPr>
            <a:r>
              <a:rPr dirty="0" sz="1350" spc="5">
                <a:latin typeface="MS Gothic"/>
                <a:cs typeface="MS Gothic"/>
              </a:rPr>
              <a:t>技</a:t>
            </a:r>
            <a:r>
              <a:rPr dirty="0" sz="1350" spc="5">
                <a:latin typeface="宋体"/>
                <a:cs typeface="宋体"/>
              </a:rPr>
              <a:t>术</a:t>
            </a:r>
            <a:r>
              <a:rPr dirty="0" sz="1350" spc="5">
                <a:latin typeface="MS Gothic"/>
                <a:cs typeface="MS Gothic"/>
              </a:rPr>
              <a:t>背景 知</a:t>
            </a:r>
            <a:r>
              <a:rPr dirty="0" sz="1350" spc="5">
                <a:latin typeface="宋体"/>
                <a:cs typeface="宋体"/>
              </a:rPr>
              <a:t>识</a:t>
            </a:r>
            <a:r>
              <a:rPr dirty="0" sz="1350" spc="5">
                <a:latin typeface="MS Gothic"/>
                <a:cs typeface="MS Gothic"/>
              </a:rPr>
              <a:t>背景 </a:t>
            </a:r>
            <a:r>
              <a:rPr dirty="0" sz="1350" spc="5">
                <a:latin typeface="宋体"/>
                <a:cs typeface="宋体"/>
              </a:rPr>
              <a:t>经验</a:t>
            </a:r>
            <a:r>
              <a:rPr dirty="0" sz="1350" i="1">
                <a:latin typeface="Times New Roman"/>
                <a:cs typeface="Times New Roman"/>
              </a:rPr>
              <a:t>/</a:t>
            </a:r>
            <a:r>
              <a:rPr dirty="0" sz="1350" spc="5">
                <a:latin typeface="宋体"/>
                <a:cs typeface="宋体"/>
              </a:rPr>
              <a:t>习惯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80375" y="4204371"/>
            <a:ext cx="1224280" cy="610870"/>
          </a:xfrm>
          <a:prstGeom prst="rect">
            <a:avLst/>
          </a:prstGeom>
          <a:solidFill>
            <a:srgbClr val="E8EEF7"/>
          </a:solidFill>
          <a:ln w="3447">
            <a:solidFill>
              <a:srgbClr val="000000"/>
            </a:solidFill>
          </a:ln>
        </p:spPr>
        <p:txBody>
          <a:bodyPr wrap="square" lIns="0" tIns="174625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375"/>
              </a:spcBef>
            </a:pPr>
            <a:r>
              <a:rPr dirty="0" sz="1550" spc="35">
                <a:latin typeface="MS Gothic"/>
                <a:cs typeface="MS Gothic"/>
              </a:rPr>
              <a:t>解决方案</a:t>
            </a:r>
            <a:endParaRPr sz="1550">
              <a:latin typeface="MS Gothic"/>
              <a:cs typeface="MS Gothic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20577" y="4102660"/>
            <a:ext cx="1224280" cy="814069"/>
          </a:xfrm>
          <a:custGeom>
            <a:avLst/>
            <a:gdLst/>
            <a:ahLst/>
            <a:cxnLst/>
            <a:rect l="l" t="t" r="r" b="b"/>
            <a:pathLst>
              <a:path w="1224279" h="814070">
                <a:moveTo>
                  <a:pt x="611959" y="0"/>
                </a:moveTo>
                <a:lnTo>
                  <a:pt x="556265" y="1663"/>
                </a:lnTo>
                <a:lnTo>
                  <a:pt x="501971" y="6556"/>
                </a:lnTo>
                <a:lnTo>
                  <a:pt x="449292" y="14536"/>
                </a:lnTo>
                <a:lnTo>
                  <a:pt x="398445" y="25459"/>
                </a:lnTo>
                <a:lnTo>
                  <a:pt x="349646" y="39182"/>
                </a:lnTo>
                <a:lnTo>
                  <a:pt x="303112" y="55560"/>
                </a:lnTo>
                <a:lnTo>
                  <a:pt x="259058" y="74449"/>
                </a:lnTo>
                <a:lnTo>
                  <a:pt x="217700" y="95707"/>
                </a:lnTo>
                <a:lnTo>
                  <a:pt x="179255" y="119189"/>
                </a:lnTo>
                <a:lnTo>
                  <a:pt x="143940" y="144751"/>
                </a:lnTo>
                <a:lnTo>
                  <a:pt x="111969" y="172250"/>
                </a:lnTo>
                <a:lnTo>
                  <a:pt x="83560" y="201543"/>
                </a:lnTo>
                <a:lnTo>
                  <a:pt x="58928" y="232485"/>
                </a:lnTo>
                <a:lnTo>
                  <a:pt x="38290" y="264932"/>
                </a:lnTo>
                <a:lnTo>
                  <a:pt x="9860" y="333769"/>
                </a:lnTo>
                <a:lnTo>
                  <a:pt x="0" y="406904"/>
                </a:lnTo>
                <a:lnTo>
                  <a:pt x="2501" y="443959"/>
                </a:lnTo>
                <a:lnTo>
                  <a:pt x="21862" y="515128"/>
                </a:lnTo>
                <a:lnTo>
                  <a:pt x="58928" y="581416"/>
                </a:lnTo>
                <a:lnTo>
                  <a:pt x="83560" y="612370"/>
                </a:lnTo>
                <a:lnTo>
                  <a:pt x="111969" y="641673"/>
                </a:lnTo>
                <a:lnTo>
                  <a:pt x="143940" y="669182"/>
                </a:lnTo>
                <a:lnTo>
                  <a:pt x="179255" y="694752"/>
                </a:lnTo>
                <a:lnTo>
                  <a:pt x="217700" y="718241"/>
                </a:lnTo>
                <a:lnTo>
                  <a:pt x="259058" y="739504"/>
                </a:lnTo>
                <a:lnTo>
                  <a:pt x="303112" y="758398"/>
                </a:lnTo>
                <a:lnTo>
                  <a:pt x="349646" y="774779"/>
                </a:lnTo>
                <a:lnTo>
                  <a:pt x="398445" y="788503"/>
                </a:lnTo>
                <a:lnTo>
                  <a:pt x="449292" y="799428"/>
                </a:lnTo>
                <a:lnTo>
                  <a:pt x="501971" y="807409"/>
                </a:lnTo>
                <a:lnTo>
                  <a:pt x="556265" y="812303"/>
                </a:lnTo>
                <a:lnTo>
                  <a:pt x="611959" y="813967"/>
                </a:lnTo>
                <a:lnTo>
                  <a:pt x="667653" y="812303"/>
                </a:lnTo>
                <a:lnTo>
                  <a:pt x="721948" y="807409"/>
                </a:lnTo>
                <a:lnTo>
                  <a:pt x="774626" y="799428"/>
                </a:lnTo>
                <a:lnTo>
                  <a:pt x="825473" y="788503"/>
                </a:lnTo>
                <a:lnTo>
                  <a:pt x="874272" y="774779"/>
                </a:lnTo>
                <a:lnTo>
                  <a:pt x="920807" y="758398"/>
                </a:lnTo>
                <a:lnTo>
                  <a:pt x="964861" y="739504"/>
                </a:lnTo>
                <a:lnTo>
                  <a:pt x="1006218" y="718241"/>
                </a:lnTo>
                <a:lnTo>
                  <a:pt x="1044663" y="694752"/>
                </a:lnTo>
                <a:lnTo>
                  <a:pt x="1079979" y="669182"/>
                </a:lnTo>
                <a:lnTo>
                  <a:pt x="1111949" y="641673"/>
                </a:lnTo>
                <a:lnTo>
                  <a:pt x="1140358" y="612370"/>
                </a:lnTo>
                <a:lnTo>
                  <a:pt x="1164990" y="581416"/>
                </a:lnTo>
                <a:lnTo>
                  <a:pt x="1185628" y="548954"/>
                </a:lnTo>
                <a:lnTo>
                  <a:pt x="1214058" y="480082"/>
                </a:lnTo>
                <a:lnTo>
                  <a:pt x="1223919" y="406904"/>
                </a:lnTo>
                <a:lnTo>
                  <a:pt x="1221418" y="369871"/>
                </a:lnTo>
                <a:lnTo>
                  <a:pt x="1202056" y="298741"/>
                </a:lnTo>
                <a:lnTo>
                  <a:pt x="1164990" y="232485"/>
                </a:lnTo>
                <a:lnTo>
                  <a:pt x="1140358" y="201543"/>
                </a:lnTo>
                <a:lnTo>
                  <a:pt x="1111949" y="172250"/>
                </a:lnTo>
                <a:lnTo>
                  <a:pt x="1079979" y="144751"/>
                </a:lnTo>
                <a:lnTo>
                  <a:pt x="1044663" y="119189"/>
                </a:lnTo>
                <a:lnTo>
                  <a:pt x="1006218" y="95707"/>
                </a:lnTo>
                <a:lnTo>
                  <a:pt x="964861" y="74449"/>
                </a:lnTo>
                <a:lnTo>
                  <a:pt x="920807" y="55560"/>
                </a:lnTo>
                <a:lnTo>
                  <a:pt x="874272" y="39182"/>
                </a:lnTo>
                <a:lnTo>
                  <a:pt x="825473" y="25459"/>
                </a:lnTo>
                <a:lnTo>
                  <a:pt x="774626" y="14536"/>
                </a:lnTo>
                <a:lnTo>
                  <a:pt x="721948" y="6556"/>
                </a:lnTo>
                <a:lnTo>
                  <a:pt x="667653" y="1663"/>
                </a:lnTo>
                <a:lnTo>
                  <a:pt x="611959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20577" y="4102660"/>
            <a:ext cx="1224280" cy="814069"/>
          </a:xfrm>
          <a:custGeom>
            <a:avLst/>
            <a:gdLst/>
            <a:ahLst/>
            <a:cxnLst/>
            <a:rect l="l" t="t" r="r" b="b"/>
            <a:pathLst>
              <a:path w="1224279" h="814070">
                <a:moveTo>
                  <a:pt x="0" y="406904"/>
                </a:moveTo>
                <a:lnTo>
                  <a:pt x="9860" y="333769"/>
                </a:lnTo>
                <a:lnTo>
                  <a:pt x="38290" y="264932"/>
                </a:lnTo>
                <a:lnTo>
                  <a:pt x="58928" y="232485"/>
                </a:lnTo>
                <a:lnTo>
                  <a:pt x="83560" y="201543"/>
                </a:lnTo>
                <a:lnTo>
                  <a:pt x="111969" y="172250"/>
                </a:lnTo>
                <a:lnTo>
                  <a:pt x="143940" y="144751"/>
                </a:lnTo>
                <a:lnTo>
                  <a:pt x="179255" y="119189"/>
                </a:lnTo>
                <a:lnTo>
                  <a:pt x="217700" y="95707"/>
                </a:lnTo>
                <a:lnTo>
                  <a:pt x="259057" y="74449"/>
                </a:lnTo>
                <a:lnTo>
                  <a:pt x="303111" y="55559"/>
                </a:lnTo>
                <a:lnTo>
                  <a:pt x="349646" y="39182"/>
                </a:lnTo>
                <a:lnTo>
                  <a:pt x="398445" y="25459"/>
                </a:lnTo>
                <a:lnTo>
                  <a:pt x="449292" y="14536"/>
                </a:lnTo>
                <a:lnTo>
                  <a:pt x="501970" y="6556"/>
                </a:lnTo>
                <a:lnTo>
                  <a:pt x="556265" y="1663"/>
                </a:lnTo>
                <a:lnTo>
                  <a:pt x="611959" y="0"/>
                </a:lnTo>
                <a:lnTo>
                  <a:pt x="667653" y="1663"/>
                </a:lnTo>
                <a:lnTo>
                  <a:pt x="721948" y="6556"/>
                </a:lnTo>
                <a:lnTo>
                  <a:pt x="774626" y="14536"/>
                </a:lnTo>
                <a:lnTo>
                  <a:pt x="825473" y="25459"/>
                </a:lnTo>
                <a:lnTo>
                  <a:pt x="874272" y="39182"/>
                </a:lnTo>
                <a:lnTo>
                  <a:pt x="920807" y="55559"/>
                </a:lnTo>
                <a:lnTo>
                  <a:pt x="964861" y="74449"/>
                </a:lnTo>
                <a:lnTo>
                  <a:pt x="1006218" y="95707"/>
                </a:lnTo>
                <a:lnTo>
                  <a:pt x="1044663" y="119189"/>
                </a:lnTo>
                <a:lnTo>
                  <a:pt x="1079978" y="144751"/>
                </a:lnTo>
                <a:lnTo>
                  <a:pt x="1111949" y="172250"/>
                </a:lnTo>
                <a:lnTo>
                  <a:pt x="1140358" y="201543"/>
                </a:lnTo>
                <a:lnTo>
                  <a:pt x="1164990" y="232485"/>
                </a:lnTo>
                <a:lnTo>
                  <a:pt x="1185628" y="264932"/>
                </a:lnTo>
                <a:lnTo>
                  <a:pt x="1214058" y="333769"/>
                </a:lnTo>
                <a:lnTo>
                  <a:pt x="1223919" y="406904"/>
                </a:lnTo>
                <a:lnTo>
                  <a:pt x="1221417" y="443960"/>
                </a:lnTo>
                <a:lnTo>
                  <a:pt x="1214058" y="480082"/>
                </a:lnTo>
                <a:lnTo>
                  <a:pt x="1185628" y="548954"/>
                </a:lnTo>
                <a:lnTo>
                  <a:pt x="1164990" y="581416"/>
                </a:lnTo>
                <a:lnTo>
                  <a:pt x="1140358" y="612370"/>
                </a:lnTo>
                <a:lnTo>
                  <a:pt x="1111949" y="641674"/>
                </a:lnTo>
                <a:lnTo>
                  <a:pt x="1079978" y="669182"/>
                </a:lnTo>
                <a:lnTo>
                  <a:pt x="1044663" y="694752"/>
                </a:lnTo>
                <a:lnTo>
                  <a:pt x="1006218" y="718241"/>
                </a:lnTo>
                <a:lnTo>
                  <a:pt x="964861" y="739504"/>
                </a:lnTo>
                <a:lnTo>
                  <a:pt x="920807" y="758398"/>
                </a:lnTo>
                <a:lnTo>
                  <a:pt x="874272" y="774779"/>
                </a:lnTo>
                <a:lnTo>
                  <a:pt x="825473" y="788503"/>
                </a:lnTo>
                <a:lnTo>
                  <a:pt x="774626" y="799428"/>
                </a:lnTo>
                <a:lnTo>
                  <a:pt x="721948" y="807409"/>
                </a:lnTo>
                <a:lnTo>
                  <a:pt x="667653" y="812303"/>
                </a:lnTo>
                <a:lnTo>
                  <a:pt x="611959" y="813967"/>
                </a:lnTo>
                <a:lnTo>
                  <a:pt x="556265" y="812303"/>
                </a:lnTo>
                <a:lnTo>
                  <a:pt x="501970" y="807409"/>
                </a:lnTo>
                <a:lnTo>
                  <a:pt x="449292" y="799428"/>
                </a:lnTo>
                <a:lnTo>
                  <a:pt x="398445" y="788503"/>
                </a:lnTo>
                <a:lnTo>
                  <a:pt x="349646" y="774779"/>
                </a:lnTo>
                <a:lnTo>
                  <a:pt x="303111" y="758398"/>
                </a:lnTo>
                <a:lnTo>
                  <a:pt x="259057" y="739504"/>
                </a:lnTo>
                <a:lnTo>
                  <a:pt x="217700" y="718241"/>
                </a:lnTo>
                <a:lnTo>
                  <a:pt x="179255" y="694752"/>
                </a:lnTo>
                <a:lnTo>
                  <a:pt x="143940" y="669182"/>
                </a:lnTo>
                <a:lnTo>
                  <a:pt x="111969" y="641674"/>
                </a:lnTo>
                <a:lnTo>
                  <a:pt x="83560" y="612370"/>
                </a:lnTo>
                <a:lnTo>
                  <a:pt x="58928" y="581416"/>
                </a:lnTo>
                <a:lnTo>
                  <a:pt x="38290" y="548954"/>
                </a:lnTo>
                <a:lnTo>
                  <a:pt x="9860" y="480082"/>
                </a:lnTo>
                <a:lnTo>
                  <a:pt x="2501" y="443960"/>
                </a:lnTo>
                <a:lnTo>
                  <a:pt x="0" y="406904"/>
                </a:lnTo>
                <a:close/>
              </a:path>
            </a:pathLst>
          </a:custGeom>
          <a:ln w="34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017455" y="4362047"/>
            <a:ext cx="62992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35">
                <a:latin typeface="宋体"/>
                <a:cs typeface="宋体"/>
              </a:rPr>
              <a:t>创造性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255314" y="3597690"/>
            <a:ext cx="1372870" cy="854710"/>
          </a:xfrm>
          <a:custGeom>
            <a:avLst/>
            <a:gdLst/>
            <a:ahLst/>
            <a:cxnLst/>
            <a:rect l="l" t="t" r="r" b="b"/>
            <a:pathLst>
              <a:path w="1372870" h="854710">
                <a:moveTo>
                  <a:pt x="0" y="0"/>
                </a:moveTo>
                <a:lnTo>
                  <a:pt x="1372576" y="854298"/>
                </a:lnTo>
              </a:path>
            </a:pathLst>
          </a:custGeom>
          <a:ln w="34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598387" y="4413079"/>
            <a:ext cx="122555" cy="96520"/>
          </a:xfrm>
          <a:custGeom>
            <a:avLst/>
            <a:gdLst/>
            <a:ahLst/>
            <a:cxnLst/>
            <a:rect l="l" t="t" r="r" b="b"/>
            <a:pathLst>
              <a:path w="122554" h="96520">
                <a:moveTo>
                  <a:pt x="42025" y="0"/>
                </a:moveTo>
                <a:lnTo>
                  <a:pt x="0" y="67194"/>
                </a:lnTo>
                <a:lnTo>
                  <a:pt x="122190" y="96484"/>
                </a:lnTo>
                <a:lnTo>
                  <a:pt x="42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55314" y="4540434"/>
            <a:ext cx="1360805" cy="400685"/>
          </a:xfrm>
          <a:custGeom>
            <a:avLst/>
            <a:gdLst/>
            <a:ahLst/>
            <a:cxnLst/>
            <a:rect l="l" t="t" r="r" b="b"/>
            <a:pathLst>
              <a:path w="1360804" h="400685">
                <a:moveTo>
                  <a:pt x="0" y="400357"/>
                </a:moveTo>
                <a:lnTo>
                  <a:pt x="1360487" y="0"/>
                </a:lnTo>
              </a:path>
            </a:pathLst>
          </a:custGeom>
          <a:ln w="34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595076" y="4505257"/>
            <a:ext cx="125730" cy="76200"/>
          </a:xfrm>
          <a:custGeom>
            <a:avLst/>
            <a:gdLst/>
            <a:ahLst/>
            <a:cxnLst/>
            <a:rect l="l" t="t" r="r" b="b"/>
            <a:pathLst>
              <a:path w="125729" h="76200">
                <a:moveTo>
                  <a:pt x="0" y="0"/>
                </a:moveTo>
                <a:lnTo>
                  <a:pt x="22452" y="75953"/>
                </a:lnTo>
                <a:lnTo>
                  <a:pt x="125501" y="43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944496" y="4509564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6641" y="0"/>
                </a:lnTo>
              </a:path>
            </a:pathLst>
          </a:custGeom>
          <a:ln w="34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661208" y="4469936"/>
            <a:ext cx="119380" cy="79375"/>
          </a:xfrm>
          <a:custGeom>
            <a:avLst/>
            <a:gdLst/>
            <a:ahLst/>
            <a:cxnLst/>
            <a:rect l="l" t="t" r="r" b="b"/>
            <a:pathLst>
              <a:path w="119379" h="79375">
                <a:moveTo>
                  <a:pt x="0" y="0"/>
                </a:moveTo>
                <a:lnTo>
                  <a:pt x="0" y="79255"/>
                </a:lnTo>
                <a:lnTo>
                  <a:pt x="119167" y="396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276187" y="5782417"/>
            <a:ext cx="979169" cy="351790"/>
          </a:xfrm>
          <a:prstGeom prst="rect">
            <a:avLst/>
          </a:prstGeom>
          <a:solidFill>
            <a:srgbClr val="E8EEF7"/>
          </a:solidFill>
          <a:ln w="3446">
            <a:solidFill>
              <a:srgbClr val="000000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55"/>
              </a:spcBef>
            </a:pPr>
            <a:r>
              <a:rPr dirty="0" sz="2000" spc="35">
                <a:latin typeface="MS Gothic"/>
                <a:cs typeface="MS Gothic"/>
              </a:rPr>
              <a:t>灵感</a:t>
            </a:r>
            <a:endParaRPr sz="2000">
              <a:latin typeface="MS Gothic"/>
              <a:cs typeface="MS Gothic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255314" y="4586379"/>
            <a:ext cx="1388110" cy="1372235"/>
          </a:xfrm>
          <a:custGeom>
            <a:avLst/>
            <a:gdLst/>
            <a:ahLst/>
            <a:cxnLst/>
            <a:rect l="l" t="t" r="r" b="b"/>
            <a:pathLst>
              <a:path w="1388110" h="1372235">
                <a:moveTo>
                  <a:pt x="0" y="1371917"/>
                </a:moveTo>
                <a:lnTo>
                  <a:pt x="1387688" y="0"/>
                </a:lnTo>
              </a:path>
            </a:pathLst>
          </a:custGeom>
          <a:ln w="34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07885" y="4509564"/>
            <a:ext cx="113030" cy="112395"/>
          </a:xfrm>
          <a:custGeom>
            <a:avLst/>
            <a:gdLst/>
            <a:ahLst/>
            <a:cxnLst/>
            <a:rect l="l" t="t" r="r" b="b"/>
            <a:pathLst>
              <a:path w="113029" h="112395">
                <a:moveTo>
                  <a:pt x="112692" y="0"/>
                </a:moveTo>
                <a:lnTo>
                  <a:pt x="0" y="55566"/>
                </a:lnTo>
                <a:lnTo>
                  <a:pt x="55986" y="111848"/>
                </a:lnTo>
                <a:lnTo>
                  <a:pt x="1126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196595"/>
            <a:ext cx="22606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2151" y="1226820"/>
            <a:ext cx="5473700" cy="3646804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459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需求分析的根本任务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36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solidFill>
                  <a:srgbClr val="FF0000"/>
                </a:solidFill>
                <a:latin typeface="宋体"/>
                <a:cs typeface="宋体"/>
              </a:rPr>
              <a:t>需求分析技术</a:t>
            </a:r>
            <a:endParaRPr sz="3200">
              <a:latin typeface="宋体"/>
              <a:cs typeface="宋体"/>
            </a:endParaRPr>
          </a:p>
          <a:p>
            <a:pPr lvl="1" marL="852805" indent="-495300">
              <a:lnSpc>
                <a:spcPct val="100000"/>
              </a:lnSpc>
              <a:spcBef>
                <a:spcPts val="37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常用需求分析技术</a:t>
            </a:r>
            <a:endParaRPr sz="2800">
              <a:latin typeface="宋体"/>
              <a:cs typeface="宋体"/>
            </a:endParaRPr>
          </a:p>
          <a:p>
            <a:pPr lvl="1" marL="852805" indent="-495300">
              <a:lnSpc>
                <a:spcPct val="100000"/>
              </a:lnSpc>
              <a:spcBef>
                <a:spcPts val="33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需求分析技术的发展过程</a:t>
            </a:r>
            <a:endParaRPr sz="28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345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需求分析方法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36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前期需求阶段的建模与分析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455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需求分析的活动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6736" y="284988"/>
            <a:ext cx="54705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2.1.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常用需求分析技术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063" y="1412747"/>
            <a:ext cx="4473575" cy="4483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342265" marR="2839720" indent="-342265">
              <a:lnSpc>
                <a:spcPts val="2390"/>
              </a:lnSpc>
              <a:spcBef>
                <a:spcPts val="100"/>
              </a:spcBef>
              <a:buClr>
                <a:srgbClr val="00663C"/>
              </a:buClr>
              <a:buSzPct val="80000"/>
              <a:buFont typeface="Wingdings"/>
              <a:buChar char=""/>
              <a:tabLst>
                <a:tab pos="342265" algn="l"/>
                <a:tab pos="342900" algn="l"/>
              </a:tabLst>
            </a:pPr>
            <a:r>
              <a:rPr dirty="0" sz="2000">
                <a:latin typeface="宋体"/>
                <a:cs typeface="宋体"/>
              </a:rPr>
              <a:t>结构化技术</a:t>
            </a:r>
            <a:endParaRPr sz="2000">
              <a:latin typeface="宋体"/>
              <a:cs typeface="宋体"/>
            </a:endParaRPr>
          </a:p>
          <a:p>
            <a:pPr algn="r" lvl="1" marL="285115" marR="2795270" indent="-285115">
              <a:lnSpc>
                <a:spcPts val="2150"/>
              </a:lnSpc>
              <a:buClr>
                <a:srgbClr val="C00000"/>
              </a:buClr>
              <a:buSzPct val="61111"/>
              <a:buFont typeface="Wingdings"/>
              <a:buChar char=""/>
              <a:tabLst>
                <a:tab pos="285115" algn="l"/>
                <a:tab pos="285750" algn="l"/>
              </a:tabLst>
            </a:pPr>
            <a:r>
              <a:rPr dirty="0" sz="1800">
                <a:latin typeface="宋体"/>
                <a:cs typeface="宋体"/>
              </a:rPr>
              <a:t>过程建模</a:t>
            </a:r>
            <a:endParaRPr sz="1800">
              <a:latin typeface="宋体"/>
              <a:cs typeface="宋体"/>
            </a:endParaRPr>
          </a:p>
          <a:p>
            <a:pPr lvl="2" marL="1155700" indent="-229235">
              <a:lnSpc>
                <a:spcPts val="1910"/>
              </a:lnSpc>
              <a:spcBef>
                <a:spcPts val="5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数据流图</a:t>
            </a:r>
            <a:r>
              <a:rPr dirty="0" sz="1600" spc="-5">
                <a:latin typeface="Calibri"/>
                <a:cs typeface="Calibri"/>
              </a:rPr>
              <a:t>Data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Flow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Diagram</a:t>
            </a:r>
            <a:endParaRPr sz="1600">
              <a:latin typeface="Calibri"/>
              <a:cs typeface="Calibri"/>
            </a:endParaRPr>
          </a:p>
          <a:p>
            <a:pPr lvl="2" marL="1155700" indent="-229235">
              <a:lnSpc>
                <a:spcPts val="1910"/>
              </a:lnSpc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上下文图</a:t>
            </a:r>
            <a:r>
              <a:rPr dirty="0" sz="1600" spc="-5">
                <a:latin typeface="Calibri"/>
                <a:cs typeface="Calibri"/>
              </a:rPr>
              <a:t>Context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Diagram</a:t>
            </a:r>
            <a:endParaRPr sz="1600">
              <a:latin typeface="Calibri"/>
              <a:cs typeface="Calibri"/>
            </a:endParaRPr>
          </a:p>
          <a:p>
            <a:pPr lvl="2" marL="1155700" indent="-229235">
              <a:lnSpc>
                <a:spcPts val="1910"/>
              </a:lnSpc>
              <a:spcBef>
                <a:spcPts val="7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微规格说明</a:t>
            </a:r>
            <a:r>
              <a:rPr dirty="0" sz="1600" spc="-5">
                <a:latin typeface="Calibri"/>
                <a:cs typeface="Calibri"/>
              </a:rPr>
              <a:t>Mini-Specification</a:t>
            </a:r>
            <a:endParaRPr sz="1600">
              <a:latin typeface="Calibri"/>
              <a:cs typeface="Calibri"/>
            </a:endParaRPr>
          </a:p>
          <a:p>
            <a:pPr lvl="2" marL="1155700" indent="-229235">
              <a:lnSpc>
                <a:spcPts val="1905"/>
              </a:lnSpc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数据字典</a:t>
            </a:r>
            <a:r>
              <a:rPr dirty="0" sz="1600" spc="-5">
                <a:latin typeface="Calibri"/>
                <a:cs typeface="Calibri"/>
              </a:rPr>
              <a:t>Data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Dictionary</a:t>
            </a:r>
            <a:endParaRPr sz="1600">
              <a:latin typeface="Calibri"/>
              <a:cs typeface="Calibri"/>
            </a:endParaRPr>
          </a:p>
          <a:p>
            <a:pPr algn="r" lvl="1" marL="285115" marR="2795270" indent="-285115">
              <a:lnSpc>
                <a:spcPts val="2155"/>
              </a:lnSpc>
              <a:buClr>
                <a:srgbClr val="C00000"/>
              </a:buClr>
              <a:buSzPct val="61111"/>
              <a:buFont typeface="Wingdings"/>
              <a:buChar char=""/>
              <a:tabLst>
                <a:tab pos="285115" algn="l"/>
                <a:tab pos="285750" algn="l"/>
              </a:tabLst>
            </a:pPr>
            <a:r>
              <a:rPr dirty="0" sz="1800">
                <a:latin typeface="宋体"/>
                <a:cs typeface="宋体"/>
              </a:rPr>
              <a:t>数据建模</a:t>
            </a:r>
            <a:endParaRPr sz="1800">
              <a:latin typeface="宋体"/>
              <a:cs typeface="宋体"/>
            </a:endParaRPr>
          </a:p>
          <a:p>
            <a:pPr lvl="2" marL="1155700" indent="-229235">
              <a:lnSpc>
                <a:spcPts val="1914"/>
              </a:lnSpc>
              <a:spcBef>
                <a:spcPts val="3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实体关系图</a:t>
            </a:r>
            <a:r>
              <a:rPr dirty="0" sz="1600" spc="-5">
                <a:latin typeface="Calibri"/>
                <a:cs typeface="Calibri"/>
              </a:rPr>
              <a:t>Entity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Relationship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Diagram</a:t>
            </a:r>
            <a:endParaRPr sz="1600">
              <a:latin typeface="Calibri"/>
              <a:cs typeface="Calibri"/>
            </a:endParaRPr>
          </a:p>
          <a:p>
            <a:pPr algn="r" lvl="1" marL="285115" marR="2795270" indent="-285115">
              <a:lnSpc>
                <a:spcPts val="2125"/>
              </a:lnSpc>
              <a:buClr>
                <a:srgbClr val="C00000"/>
              </a:buClr>
              <a:buSzPct val="61111"/>
              <a:buFont typeface="Wingdings"/>
              <a:buChar char=""/>
              <a:tabLst>
                <a:tab pos="285115" algn="l"/>
                <a:tab pos="285750" algn="l"/>
              </a:tabLst>
            </a:pPr>
            <a:r>
              <a:rPr dirty="0" sz="1800">
                <a:latin typeface="宋体"/>
                <a:cs typeface="宋体"/>
              </a:rPr>
              <a:t>行为建模</a:t>
            </a:r>
            <a:endParaRPr sz="1800">
              <a:latin typeface="宋体"/>
              <a:cs typeface="宋体"/>
            </a:endParaRPr>
          </a:p>
          <a:p>
            <a:pPr lvl="2" marL="1155700" marR="260350" indent="-228600">
              <a:lnSpc>
                <a:spcPts val="1580"/>
              </a:lnSpc>
              <a:spcBef>
                <a:spcPts val="30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状态</a:t>
            </a:r>
            <a:r>
              <a:rPr dirty="0" sz="1600">
                <a:latin typeface="Calibri"/>
                <a:cs typeface="Calibri"/>
              </a:rPr>
              <a:t>(</a:t>
            </a:r>
            <a:r>
              <a:rPr dirty="0" sz="1600">
                <a:latin typeface="宋体"/>
                <a:cs typeface="宋体"/>
              </a:rPr>
              <a:t>转换</a:t>
            </a:r>
            <a:r>
              <a:rPr dirty="0" sz="1600">
                <a:latin typeface="Calibri"/>
                <a:cs typeface="Calibri"/>
              </a:rPr>
              <a:t>)</a:t>
            </a:r>
            <a:r>
              <a:rPr dirty="0" sz="1600">
                <a:latin typeface="宋体"/>
                <a:cs typeface="宋体"/>
              </a:rPr>
              <a:t>图</a:t>
            </a:r>
            <a:r>
              <a:rPr dirty="0" sz="1600" spc="-10">
                <a:latin typeface="Calibri"/>
                <a:cs typeface="Calibri"/>
              </a:rPr>
              <a:t>/</a:t>
            </a:r>
            <a:r>
              <a:rPr dirty="0" sz="1600">
                <a:latin typeface="宋体"/>
                <a:cs typeface="宋体"/>
              </a:rPr>
              <a:t>矩阵</a:t>
            </a:r>
            <a:r>
              <a:rPr dirty="0" sz="1600" spc="-5">
                <a:latin typeface="Calibri"/>
                <a:cs typeface="Calibri"/>
              </a:rPr>
              <a:t>State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(Transition)  Diagram/Matrix</a:t>
            </a:r>
            <a:endParaRPr sz="1600">
              <a:latin typeface="Calibri"/>
              <a:cs typeface="Calibri"/>
            </a:endParaRPr>
          </a:p>
          <a:p>
            <a:pPr lvl="1" marL="755650" indent="-285750">
              <a:lnSpc>
                <a:spcPct val="100000"/>
              </a:lnSpc>
              <a:buClr>
                <a:srgbClr val="C00000"/>
              </a:buClr>
              <a:buSzPct val="6111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1800">
                <a:latin typeface="宋体"/>
                <a:cs typeface="宋体"/>
              </a:rPr>
              <a:t>过程</a:t>
            </a:r>
            <a:r>
              <a:rPr dirty="0" sz="1800">
                <a:latin typeface="Calibri"/>
                <a:cs typeface="Calibri"/>
              </a:rPr>
              <a:t>/</a:t>
            </a:r>
            <a:r>
              <a:rPr dirty="0" sz="1800">
                <a:latin typeface="宋体"/>
                <a:cs typeface="宋体"/>
              </a:rPr>
              <a:t>数据关系建模</a:t>
            </a:r>
            <a:endParaRPr sz="1800">
              <a:latin typeface="宋体"/>
              <a:cs typeface="宋体"/>
            </a:endParaRPr>
          </a:p>
          <a:p>
            <a:pPr lvl="2" marL="1155700" indent="-229235">
              <a:lnSpc>
                <a:spcPts val="1914"/>
              </a:lnSpc>
              <a:spcBef>
                <a:spcPts val="3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功能实体矩阵</a:t>
            </a:r>
            <a:r>
              <a:rPr dirty="0" sz="1600" spc="-5">
                <a:latin typeface="Calibri"/>
                <a:cs typeface="Calibri"/>
              </a:rPr>
              <a:t>Function/Entity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Matrix</a:t>
            </a:r>
            <a:endParaRPr sz="1600">
              <a:latin typeface="Calibri"/>
              <a:cs typeface="Calibri"/>
            </a:endParaRPr>
          </a:p>
          <a:p>
            <a:pPr lvl="1" marL="755650" indent="-285750">
              <a:lnSpc>
                <a:spcPts val="2125"/>
              </a:lnSpc>
              <a:buClr>
                <a:srgbClr val="C00000"/>
              </a:buClr>
              <a:buSzPct val="6111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1800">
                <a:latin typeface="宋体"/>
                <a:cs typeface="宋体"/>
              </a:rPr>
              <a:t>信息工程方法</a:t>
            </a:r>
            <a:endParaRPr sz="1800">
              <a:latin typeface="宋体"/>
              <a:cs typeface="宋体"/>
            </a:endParaRPr>
          </a:p>
          <a:p>
            <a:pPr lvl="2" marL="1155700" marR="276225" indent="-228600">
              <a:lnSpc>
                <a:spcPts val="1610"/>
              </a:lnSpc>
              <a:spcBef>
                <a:spcPts val="28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功能分解图</a:t>
            </a:r>
            <a:r>
              <a:rPr dirty="0" sz="1600" spc="-5">
                <a:latin typeface="Calibri"/>
                <a:cs typeface="Calibri"/>
              </a:rPr>
              <a:t>Function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Decomposition  Diagram</a:t>
            </a:r>
            <a:endParaRPr sz="1600">
              <a:latin typeface="Calibri"/>
              <a:cs typeface="Calibri"/>
            </a:endParaRPr>
          </a:p>
          <a:p>
            <a:pPr lvl="2" marL="1155700" marR="584835" indent="-228600">
              <a:lnSpc>
                <a:spcPct val="77500"/>
              </a:lnSpc>
              <a:spcBef>
                <a:spcPts val="40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过程依赖图</a:t>
            </a:r>
            <a:r>
              <a:rPr dirty="0" sz="1600" spc="-5">
                <a:latin typeface="Calibri"/>
                <a:cs typeface="Calibri"/>
              </a:rPr>
              <a:t>Process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Dependency  Diagram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7598" y="1390621"/>
            <a:ext cx="3510279" cy="319849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60"/>
              </a:spcBef>
              <a:buClr>
                <a:srgbClr val="00663C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000">
                <a:latin typeface="宋体"/>
                <a:cs typeface="宋体"/>
              </a:rPr>
              <a:t>面向对象技术</a:t>
            </a:r>
            <a:endParaRPr sz="2000">
              <a:latin typeface="宋体"/>
              <a:cs typeface="宋体"/>
            </a:endParaRPr>
          </a:p>
          <a:p>
            <a:pPr lvl="1" marL="682625" indent="-326390">
              <a:lnSpc>
                <a:spcPct val="100000"/>
              </a:lnSpc>
              <a:spcBef>
                <a:spcPts val="415"/>
              </a:spcBef>
              <a:buClr>
                <a:srgbClr val="C0504D"/>
              </a:buClr>
              <a:buSzPct val="61111"/>
              <a:buFont typeface="Wingdings"/>
              <a:buChar char=""/>
              <a:tabLst>
                <a:tab pos="681990" algn="l"/>
                <a:tab pos="682625" algn="l"/>
              </a:tabLst>
            </a:pPr>
            <a:r>
              <a:rPr dirty="0" sz="1800">
                <a:latin typeface="Arial"/>
                <a:cs typeface="Arial"/>
              </a:rPr>
              <a:t>UML</a:t>
            </a:r>
            <a:endParaRPr sz="1800">
              <a:latin typeface="Arial"/>
              <a:cs typeface="Arial"/>
            </a:endParaRPr>
          </a:p>
          <a:p>
            <a:pPr lvl="2" marL="1035050" indent="-35179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1034415" algn="l"/>
                <a:tab pos="1035050" algn="l"/>
              </a:tabLst>
            </a:pPr>
            <a:r>
              <a:rPr dirty="0" sz="1600">
                <a:latin typeface="宋体"/>
                <a:cs typeface="宋体"/>
              </a:rPr>
              <a:t>用例图</a:t>
            </a:r>
            <a:r>
              <a:rPr dirty="0" sz="1600" spc="-5">
                <a:latin typeface="Arial"/>
                <a:cs typeface="Arial"/>
              </a:rPr>
              <a:t>Use-Case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Diagram</a:t>
            </a:r>
            <a:endParaRPr sz="1600">
              <a:latin typeface="Arial"/>
              <a:cs typeface="Arial"/>
            </a:endParaRPr>
          </a:p>
          <a:p>
            <a:pPr lvl="2" marL="1035050" indent="-35179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034415" algn="l"/>
                <a:tab pos="1035050" algn="l"/>
              </a:tabLst>
            </a:pPr>
            <a:r>
              <a:rPr dirty="0" sz="1600">
                <a:latin typeface="宋体"/>
                <a:cs typeface="宋体"/>
              </a:rPr>
              <a:t>类图</a:t>
            </a:r>
            <a:r>
              <a:rPr dirty="0" sz="1600" spc="-5">
                <a:latin typeface="Arial"/>
                <a:cs typeface="Arial"/>
              </a:rPr>
              <a:t>Class Diagram</a:t>
            </a:r>
            <a:endParaRPr sz="1600">
              <a:latin typeface="Arial"/>
              <a:cs typeface="Arial"/>
            </a:endParaRPr>
          </a:p>
          <a:p>
            <a:pPr lvl="2" marL="1035050" marR="88265" indent="-351155">
              <a:lnSpc>
                <a:spcPct val="99400"/>
              </a:lnSpc>
              <a:spcBef>
                <a:spcPts val="370"/>
              </a:spcBef>
              <a:buFont typeface="Arial"/>
              <a:buChar char="•"/>
              <a:tabLst>
                <a:tab pos="1034415" algn="l"/>
                <a:tab pos="1035050" algn="l"/>
              </a:tabLst>
            </a:pPr>
            <a:r>
              <a:rPr dirty="0" sz="1600">
                <a:latin typeface="宋体"/>
                <a:cs typeface="宋体"/>
              </a:rPr>
              <a:t>交互图（顺序图</a:t>
            </a:r>
            <a:r>
              <a:rPr dirty="0" sz="1600" spc="5">
                <a:latin typeface="Arial"/>
                <a:cs typeface="Arial"/>
              </a:rPr>
              <a:t>/</a:t>
            </a:r>
            <a:r>
              <a:rPr dirty="0" sz="1600">
                <a:latin typeface="宋体"/>
                <a:cs typeface="宋体"/>
              </a:rPr>
              <a:t>通信图）  </a:t>
            </a:r>
            <a:r>
              <a:rPr dirty="0" sz="1600" spc="-5">
                <a:latin typeface="Arial"/>
                <a:cs typeface="Arial"/>
              </a:rPr>
              <a:t>Interaction</a:t>
            </a:r>
            <a:r>
              <a:rPr dirty="0" sz="1600" spc="-5">
                <a:latin typeface="宋体"/>
                <a:cs typeface="宋体"/>
              </a:rPr>
              <a:t>（</a:t>
            </a:r>
            <a:r>
              <a:rPr dirty="0" sz="1600" spc="-5">
                <a:latin typeface="Arial"/>
                <a:cs typeface="Arial"/>
              </a:rPr>
              <a:t>Sequence </a:t>
            </a:r>
            <a:r>
              <a:rPr dirty="0" sz="1600">
                <a:latin typeface="Arial"/>
                <a:cs typeface="Arial"/>
              </a:rPr>
              <a:t>/ 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o</a:t>
            </a:r>
            <a:r>
              <a:rPr dirty="0" sz="1600">
                <a:latin typeface="Arial"/>
                <a:cs typeface="Arial"/>
              </a:rPr>
              <a:t>mm</a:t>
            </a:r>
            <a:r>
              <a:rPr dirty="0" sz="1600" spc="-5">
                <a:latin typeface="Arial"/>
                <a:cs typeface="Arial"/>
              </a:rPr>
              <a:t>un</a:t>
            </a:r>
            <a:r>
              <a:rPr dirty="0" sz="1600" spc="-10">
                <a:latin typeface="Arial"/>
                <a:cs typeface="Arial"/>
              </a:rPr>
              <a:t>i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 spc="5">
                <a:latin typeface="Arial"/>
                <a:cs typeface="Arial"/>
              </a:rPr>
              <a:t>t</a:t>
            </a:r>
            <a:r>
              <a:rPr dirty="0" sz="1600" spc="-1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on</a:t>
            </a:r>
            <a:r>
              <a:rPr dirty="0" sz="1600">
                <a:latin typeface="宋体"/>
                <a:cs typeface="宋体"/>
              </a:rPr>
              <a:t>）</a:t>
            </a:r>
            <a:r>
              <a:rPr dirty="0" sz="1600" spc="-10">
                <a:latin typeface="Arial"/>
                <a:cs typeface="Arial"/>
              </a:rPr>
              <a:t>Di</a:t>
            </a:r>
            <a:r>
              <a:rPr dirty="0" sz="1600" spc="-5">
                <a:latin typeface="Arial"/>
                <a:cs typeface="Arial"/>
              </a:rPr>
              <a:t>ag</a:t>
            </a:r>
            <a:r>
              <a:rPr dirty="0" sz="160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>
                <a:latin typeface="Arial"/>
                <a:cs typeface="Arial"/>
              </a:rPr>
              <a:t>m</a:t>
            </a:r>
            <a:endParaRPr sz="1600">
              <a:latin typeface="Arial"/>
              <a:cs typeface="Arial"/>
            </a:endParaRPr>
          </a:p>
          <a:p>
            <a:pPr lvl="2" marL="1035050" indent="-35179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034415" algn="l"/>
                <a:tab pos="1035050" algn="l"/>
              </a:tabLst>
            </a:pPr>
            <a:r>
              <a:rPr dirty="0" sz="1600">
                <a:latin typeface="宋体"/>
                <a:cs typeface="宋体"/>
              </a:rPr>
              <a:t>活动图</a:t>
            </a:r>
            <a:r>
              <a:rPr dirty="0" sz="1600" spc="-5">
                <a:latin typeface="Arial"/>
                <a:cs typeface="Arial"/>
              </a:rPr>
              <a:t>Activity Diagram</a:t>
            </a:r>
            <a:endParaRPr sz="1600">
              <a:latin typeface="Arial"/>
              <a:cs typeface="Arial"/>
            </a:endParaRPr>
          </a:p>
          <a:p>
            <a:pPr lvl="2" marL="1035050" marR="582295" indent="-35115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1034415" algn="l"/>
                <a:tab pos="1035050" algn="l"/>
              </a:tabLst>
            </a:pPr>
            <a:r>
              <a:rPr dirty="0" sz="1600">
                <a:latin typeface="宋体"/>
                <a:cs typeface="宋体"/>
              </a:rPr>
              <a:t>对象约束语言</a:t>
            </a:r>
            <a:r>
              <a:rPr dirty="0" sz="1600" spc="-5">
                <a:latin typeface="Arial"/>
                <a:cs typeface="Arial"/>
              </a:rPr>
              <a:t>Object  Constraint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Language</a:t>
            </a:r>
            <a:endParaRPr sz="1600">
              <a:latin typeface="Arial"/>
              <a:cs typeface="Arial"/>
            </a:endParaRPr>
          </a:p>
          <a:p>
            <a:pPr lvl="2" marL="1035050" indent="-35179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1034415" algn="l"/>
                <a:tab pos="1035050" algn="l"/>
              </a:tabLst>
            </a:pPr>
            <a:r>
              <a:rPr dirty="0" sz="1600">
                <a:latin typeface="宋体"/>
                <a:cs typeface="宋体"/>
              </a:rPr>
              <a:t>状态图</a:t>
            </a:r>
            <a:r>
              <a:rPr dirty="0" sz="1600">
                <a:latin typeface="Arial"/>
                <a:cs typeface="Arial"/>
              </a:rPr>
              <a:t>State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Chart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Diagram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7381" y="211836"/>
            <a:ext cx="532955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2.1</a:t>
            </a:r>
            <a:r>
              <a:rPr dirty="0" spc="-90">
                <a:latin typeface="Calibri"/>
                <a:cs typeface="Calibri"/>
              </a:rPr>
              <a:t> </a:t>
            </a:r>
            <a:r>
              <a:rPr dirty="0"/>
              <a:t>常用需求分析技术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7874000" cy="367728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技术的综合运用</a:t>
            </a:r>
            <a:endParaRPr sz="3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如何为各个视角选择需求分析技术？</a:t>
            </a:r>
            <a:endParaRPr sz="2800">
              <a:latin typeface="宋体"/>
              <a:cs typeface="宋体"/>
            </a:endParaRPr>
          </a:p>
          <a:p>
            <a:pPr lvl="2" marL="1155065" marR="5080" indent="-228600">
              <a:lnSpc>
                <a:spcPts val="2710"/>
              </a:lnSpc>
              <a:spcBef>
                <a:spcPts val="969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每一种需求分析技术都有自己的特点，具有在应用 上的独特性</a:t>
            </a:r>
            <a:endParaRPr sz="24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15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如何实现它们之间的配合？</a:t>
            </a:r>
            <a:endParaRPr sz="2800">
              <a:latin typeface="宋体"/>
              <a:cs typeface="宋体"/>
            </a:endParaRPr>
          </a:p>
          <a:p>
            <a:pPr lvl="2" marL="1155065" marR="5080" indent="-228600">
              <a:lnSpc>
                <a:spcPts val="2710"/>
              </a:lnSpc>
              <a:spcBef>
                <a:spcPts val="970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只有通过多种需求分析技术的有机结合与集成才能 充分的描述复杂应用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8537" y="230124"/>
            <a:ext cx="71469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2.2.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需求分析技术的发展过程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7836"/>
            <a:ext cx="7884795" cy="43802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传统分析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6111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1800">
                <a:latin typeface="宋体"/>
                <a:cs typeface="宋体"/>
              </a:rPr>
              <a:t>没有方法</a:t>
            </a:r>
            <a:r>
              <a:rPr dirty="0" sz="1800" spc="-495">
                <a:latin typeface="宋体"/>
                <a:cs typeface="宋体"/>
              </a:rPr>
              <a:t> </a:t>
            </a:r>
            <a:r>
              <a:rPr dirty="0" sz="1800" spc="-5">
                <a:latin typeface="Calibri"/>
                <a:cs typeface="Calibri"/>
              </a:rPr>
              <a:t>(1950’s)</a:t>
            </a:r>
            <a:endParaRPr sz="1800">
              <a:latin typeface="Calibri"/>
              <a:cs typeface="Calibri"/>
            </a:endParaRPr>
          </a:p>
          <a:p>
            <a:pPr lvl="2" marL="1155700" indent="-228600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宋体"/>
                <a:cs typeface="宋体"/>
              </a:rPr>
              <a:t>依赖个体才智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>
                <a:latin typeface="宋体"/>
                <a:cs typeface="宋体"/>
              </a:rPr>
              <a:t>依据个人习惯</a:t>
            </a:r>
            <a:endParaRPr sz="1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宋体"/>
                <a:cs typeface="宋体"/>
              </a:rPr>
              <a:t>缺乏结构、不可重复、不可测量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>
                <a:latin typeface="宋体"/>
                <a:cs typeface="宋体"/>
              </a:rPr>
              <a:t>冗长、混乱、偏颇、无结构等等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5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结构化分析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6111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1800">
                <a:latin typeface="宋体"/>
                <a:cs typeface="宋体"/>
              </a:rPr>
              <a:t>传统结构化分析</a:t>
            </a:r>
            <a:r>
              <a:rPr dirty="0" sz="1800" spc="-495">
                <a:latin typeface="宋体"/>
                <a:cs typeface="宋体"/>
              </a:rPr>
              <a:t> </a:t>
            </a:r>
            <a:r>
              <a:rPr dirty="0" sz="1800" spc="-5">
                <a:latin typeface="Calibri"/>
                <a:cs typeface="Calibri"/>
              </a:rPr>
              <a:t>(late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1960’s),</a:t>
            </a:r>
            <a:r>
              <a:rPr dirty="0" sz="1800">
                <a:latin typeface="宋体"/>
                <a:cs typeface="宋体"/>
              </a:rPr>
              <a:t>现代结构化分析</a:t>
            </a:r>
            <a:r>
              <a:rPr dirty="0" sz="1800" spc="-490">
                <a:latin typeface="宋体"/>
                <a:cs typeface="宋体"/>
              </a:rPr>
              <a:t> </a:t>
            </a:r>
            <a:r>
              <a:rPr dirty="0" sz="1800" spc="-5">
                <a:latin typeface="Calibri"/>
                <a:cs typeface="Calibri"/>
              </a:rPr>
              <a:t>(late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1970’s)</a:t>
            </a:r>
            <a:endParaRPr sz="1800">
              <a:latin typeface="Calibri"/>
              <a:cs typeface="Calibri"/>
            </a:endParaRPr>
          </a:p>
          <a:p>
            <a:pPr lvl="2" marL="11557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600">
                <a:latin typeface="宋体"/>
                <a:cs typeface="宋体"/>
              </a:rPr>
              <a:t>以数据流动为中心，以</a:t>
            </a:r>
            <a:r>
              <a:rPr dirty="0" sz="1600">
                <a:latin typeface="Calibri"/>
                <a:cs typeface="Calibri"/>
              </a:rPr>
              <a:t>DFD</a:t>
            </a:r>
            <a:r>
              <a:rPr dirty="0" sz="1600">
                <a:latin typeface="宋体"/>
                <a:cs typeface="宋体"/>
              </a:rPr>
              <a:t>为核心技术，辅助</a:t>
            </a:r>
            <a:r>
              <a:rPr dirty="0" sz="1600">
                <a:latin typeface="Calibri"/>
                <a:cs typeface="Calibri"/>
              </a:rPr>
              <a:t>ERD,STD…</a:t>
            </a:r>
            <a:endParaRPr sz="1600">
              <a:latin typeface="Calibri"/>
              <a:cs typeface="Calibri"/>
            </a:endParaRPr>
          </a:p>
          <a:p>
            <a:pPr lvl="1" marL="755650" indent="-285750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61111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1800">
                <a:latin typeface="宋体"/>
                <a:cs typeface="宋体"/>
              </a:rPr>
              <a:t>信息工程</a:t>
            </a:r>
            <a:r>
              <a:rPr dirty="0" sz="1800" spc="-495">
                <a:latin typeface="宋体"/>
                <a:cs typeface="宋体"/>
              </a:rPr>
              <a:t> </a:t>
            </a:r>
            <a:r>
              <a:rPr dirty="0" sz="1800" spc="-5">
                <a:latin typeface="Calibri"/>
                <a:cs typeface="Calibri"/>
              </a:rPr>
              <a:t>(late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1980’s)</a:t>
            </a:r>
            <a:endParaRPr sz="1800">
              <a:latin typeface="Calibri"/>
              <a:cs typeface="Calibri"/>
            </a:endParaRPr>
          </a:p>
          <a:p>
            <a:pPr lvl="2" marL="11557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latin typeface="宋体"/>
                <a:cs typeface="宋体"/>
              </a:rPr>
              <a:t>以数据知识结构为基础</a:t>
            </a:r>
            <a:r>
              <a:rPr dirty="0" sz="1800" spc="-5">
                <a:latin typeface="宋体"/>
                <a:cs typeface="宋体"/>
              </a:rPr>
              <a:t>，</a:t>
            </a:r>
            <a:r>
              <a:rPr dirty="0" sz="1800" spc="-5">
                <a:latin typeface="Calibri"/>
                <a:cs typeface="Calibri"/>
              </a:rPr>
              <a:t>ERD</a:t>
            </a:r>
            <a:r>
              <a:rPr dirty="0" sz="1800">
                <a:latin typeface="宋体"/>
                <a:cs typeface="宋体"/>
              </a:rPr>
              <a:t>为核心技术，辅助</a:t>
            </a:r>
            <a:r>
              <a:rPr dirty="0" sz="1800">
                <a:latin typeface="Calibri"/>
                <a:cs typeface="Calibri"/>
              </a:rPr>
              <a:t>DFD</a:t>
            </a:r>
            <a:r>
              <a:rPr dirty="0" sz="1800">
                <a:latin typeface="宋体"/>
                <a:cs typeface="宋体"/>
              </a:rPr>
              <a:t>，</a:t>
            </a:r>
            <a:r>
              <a:rPr dirty="0" sz="1800">
                <a:latin typeface="Calibri"/>
                <a:cs typeface="Calibri"/>
              </a:rPr>
              <a:t>STD,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FDD,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PD…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5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400">
                <a:latin typeface="宋体"/>
                <a:cs typeface="宋体"/>
              </a:rPr>
              <a:t>面向对象分析</a:t>
            </a:r>
            <a:r>
              <a:rPr dirty="0" sz="2400" spc="-670">
                <a:latin typeface="宋体"/>
                <a:cs typeface="宋体"/>
              </a:rPr>
              <a:t> 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Calibri"/>
                <a:cs typeface="Calibri"/>
              </a:rPr>
              <a:t>1990’s</a:t>
            </a:r>
            <a:r>
              <a:rPr dirty="0" sz="2400" spc="-5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以对象为中心，以</a:t>
            </a:r>
            <a:r>
              <a:rPr dirty="0" sz="2000" spc="-5">
                <a:latin typeface="Calibri"/>
                <a:cs typeface="Calibri"/>
              </a:rPr>
              <a:t>UML</a:t>
            </a:r>
            <a:r>
              <a:rPr dirty="0" sz="2000" spc="-5">
                <a:latin typeface="宋体"/>
                <a:cs typeface="宋体"/>
              </a:rPr>
              <a:t>（</a:t>
            </a:r>
            <a:r>
              <a:rPr dirty="0" sz="2000">
                <a:latin typeface="宋体"/>
                <a:cs typeface="宋体"/>
              </a:rPr>
              <a:t>类图）为核心技术</a:t>
            </a:r>
            <a:endParaRPr sz="20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以全面思想革新为理想，以承继结构化技术为现实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5443" y="81788"/>
            <a:ext cx="58534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libri"/>
                <a:cs typeface="Calibri"/>
              </a:rPr>
              <a:t>2.2.</a:t>
            </a:r>
            <a:r>
              <a:rPr dirty="0" sz="3600" spc="-90">
                <a:latin typeface="Calibri"/>
                <a:cs typeface="Calibri"/>
              </a:rPr>
              <a:t> </a:t>
            </a:r>
            <a:r>
              <a:rPr dirty="0" sz="3600"/>
              <a:t>需求分析技术的发展过程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47726" y="1441164"/>
            <a:ext cx="1240155" cy="372110"/>
          </a:xfrm>
          <a:prstGeom prst="rect">
            <a:avLst/>
          </a:prstGeom>
          <a:solidFill>
            <a:srgbClr val="E8EEF7"/>
          </a:solidFill>
          <a:ln w="3500">
            <a:solidFill>
              <a:srgbClr val="000000"/>
            </a:solidFill>
          </a:ln>
        </p:spPr>
        <p:txBody>
          <a:bodyPr wrap="square" lIns="0" tIns="109855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865"/>
              </a:spcBef>
            </a:pPr>
            <a:r>
              <a:rPr dirty="0" sz="900" spc="15">
                <a:latin typeface="MS Gothic"/>
                <a:cs typeface="MS Gothic"/>
              </a:rPr>
              <a:t>数据流</a:t>
            </a:r>
            <a:r>
              <a:rPr dirty="0" sz="900" spc="15">
                <a:latin typeface="宋体"/>
                <a:cs typeface="宋体"/>
              </a:rPr>
              <a:t>图</a:t>
            </a:r>
            <a:r>
              <a:rPr dirty="0" sz="900" spc="10">
                <a:latin typeface="Times New Roman"/>
                <a:cs typeface="Times New Roman"/>
              </a:rPr>
              <a:t>DFD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67503" y="676259"/>
            <a:ext cx="0" cy="86995"/>
          </a:xfrm>
          <a:custGeom>
            <a:avLst/>
            <a:gdLst/>
            <a:ahLst/>
            <a:cxnLst/>
            <a:rect l="l" t="t" r="r" b="b"/>
            <a:pathLst>
              <a:path w="0" h="86995">
                <a:moveTo>
                  <a:pt x="0" y="0"/>
                </a:moveTo>
                <a:lnTo>
                  <a:pt x="0" y="86482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27273" y="1320290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4" h="121284">
                <a:moveTo>
                  <a:pt x="80460" y="0"/>
                </a:moveTo>
                <a:lnTo>
                  <a:pt x="0" y="0"/>
                </a:lnTo>
                <a:lnTo>
                  <a:pt x="40231" y="120756"/>
                </a:lnTo>
                <a:lnTo>
                  <a:pt x="80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90687" y="762742"/>
            <a:ext cx="153670" cy="583565"/>
          </a:xfrm>
          <a:custGeom>
            <a:avLst/>
            <a:gdLst/>
            <a:ahLst/>
            <a:cxnLst/>
            <a:rect l="l" t="t" r="r" b="b"/>
            <a:pathLst>
              <a:path w="153669" h="583565">
                <a:moveTo>
                  <a:pt x="0" y="583362"/>
                </a:moveTo>
                <a:lnTo>
                  <a:pt x="153472" y="583362"/>
                </a:lnTo>
                <a:lnTo>
                  <a:pt x="153472" y="0"/>
                </a:lnTo>
                <a:lnTo>
                  <a:pt x="0" y="0"/>
                </a:lnTo>
                <a:lnTo>
                  <a:pt x="0" y="583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99924" y="754417"/>
            <a:ext cx="142240" cy="60896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900">
                <a:latin typeface="MS Gothic"/>
                <a:cs typeface="MS Gothic"/>
              </a:rPr>
              <a:t>形式化方法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0874" y="1358472"/>
            <a:ext cx="1240155" cy="372110"/>
          </a:xfrm>
          <a:prstGeom prst="rect">
            <a:avLst/>
          </a:prstGeom>
          <a:solidFill>
            <a:srgbClr val="E8EEF7"/>
          </a:solidFill>
          <a:ln w="3500">
            <a:solidFill>
              <a:srgbClr val="000000"/>
            </a:solidFill>
          </a:ln>
        </p:spPr>
        <p:txBody>
          <a:bodyPr wrap="square" lIns="0" tIns="109855" rIns="0" bIns="0" rtlCol="0" vert="horz">
            <a:spAutoFit/>
          </a:bodyPr>
          <a:lstStyle/>
          <a:p>
            <a:pPr marL="194945">
              <a:lnSpc>
                <a:spcPct val="100000"/>
              </a:lnSpc>
              <a:spcBef>
                <a:spcPts val="865"/>
              </a:spcBef>
            </a:pPr>
            <a:r>
              <a:rPr dirty="0" sz="900" spc="15">
                <a:latin typeface="MS Gothic"/>
                <a:cs typeface="MS Gothic"/>
              </a:rPr>
              <a:t>状</a:t>
            </a:r>
            <a:r>
              <a:rPr dirty="0" sz="900" spc="15">
                <a:latin typeface="宋体"/>
                <a:cs typeface="宋体"/>
              </a:rPr>
              <a:t>态转</a:t>
            </a:r>
            <a:r>
              <a:rPr dirty="0" sz="900" spc="15">
                <a:latin typeface="MS Gothic"/>
                <a:cs typeface="MS Gothic"/>
              </a:rPr>
              <a:t>移</a:t>
            </a:r>
            <a:r>
              <a:rPr dirty="0" sz="900" spc="15">
                <a:latin typeface="宋体"/>
                <a:cs typeface="宋体"/>
              </a:rPr>
              <a:t>图</a:t>
            </a:r>
            <a:r>
              <a:rPr dirty="0" sz="900">
                <a:latin typeface="Times New Roman"/>
                <a:cs typeface="Times New Roman"/>
              </a:rPr>
              <a:t>/</a:t>
            </a:r>
            <a:r>
              <a:rPr dirty="0" sz="900" spc="15">
                <a:latin typeface="MS Gothic"/>
                <a:cs typeface="MS Gothic"/>
              </a:rPr>
              <a:t>矩</a:t>
            </a:r>
            <a:r>
              <a:rPr dirty="0" sz="900" spc="15">
                <a:latin typeface="宋体"/>
                <a:cs typeface="宋体"/>
              </a:rPr>
              <a:t>阵</a:t>
            </a:r>
            <a:endParaRPr sz="9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40650" y="696968"/>
            <a:ext cx="0" cy="93345"/>
          </a:xfrm>
          <a:custGeom>
            <a:avLst/>
            <a:gdLst/>
            <a:ahLst/>
            <a:cxnLst/>
            <a:rect l="l" t="t" r="r" b="b"/>
            <a:pathLst>
              <a:path w="0" h="93345">
                <a:moveTo>
                  <a:pt x="0" y="0"/>
                </a:moveTo>
                <a:lnTo>
                  <a:pt x="0" y="93045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00422" y="1237599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4">
                <a:moveTo>
                  <a:pt x="80459" y="0"/>
                </a:moveTo>
                <a:lnTo>
                  <a:pt x="0" y="0"/>
                </a:lnTo>
                <a:lnTo>
                  <a:pt x="40229" y="120755"/>
                </a:lnTo>
                <a:lnTo>
                  <a:pt x="80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93870" y="790014"/>
            <a:ext cx="294005" cy="466725"/>
          </a:xfrm>
          <a:custGeom>
            <a:avLst/>
            <a:gdLst/>
            <a:ahLst/>
            <a:cxnLst/>
            <a:rect l="l" t="t" r="r" b="b"/>
            <a:pathLst>
              <a:path w="294004" h="466725">
                <a:moveTo>
                  <a:pt x="0" y="466689"/>
                </a:moveTo>
                <a:lnTo>
                  <a:pt x="293403" y="466689"/>
                </a:lnTo>
                <a:lnTo>
                  <a:pt x="293403" y="0"/>
                </a:lnTo>
                <a:lnTo>
                  <a:pt x="0" y="0"/>
                </a:lnTo>
                <a:lnTo>
                  <a:pt x="0" y="466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003106" y="781690"/>
            <a:ext cx="292735" cy="4921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900">
                <a:latin typeface="MS Gothic"/>
                <a:cs typeface="MS Gothic"/>
              </a:rPr>
              <a:t>有限状</a:t>
            </a:r>
            <a:r>
              <a:rPr dirty="0" sz="900">
                <a:latin typeface="宋体"/>
                <a:cs typeface="宋体"/>
              </a:rPr>
              <a:t>态</a:t>
            </a:r>
            <a:endParaRPr sz="900">
              <a:latin typeface="宋体"/>
              <a:cs typeface="宋体"/>
            </a:endParaRPr>
          </a:p>
          <a:p>
            <a:pPr marL="70485"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latin typeface="MS Gothic"/>
                <a:cs typeface="MS Gothic"/>
              </a:rPr>
              <a:t>机思想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9433" y="2415816"/>
            <a:ext cx="1240155" cy="372110"/>
          </a:xfrm>
          <a:prstGeom prst="rect">
            <a:avLst/>
          </a:prstGeom>
          <a:solidFill>
            <a:srgbClr val="E8EEF7"/>
          </a:solidFill>
          <a:ln w="3500">
            <a:solidFill>
              <a:srgbClr val="000000"/>
            </a:solidFill>
          </a:ln>
        </p:spPr>
        <p:txBody>
          <a:bodyPr wrap="square" lIns="0" tIns="109855" rIns="0" bIns="0" rtlCol="0" vert="horz">
            <a:spAutoFit/>
          </a:bodyPr>
          <a:lstStyle/>
          <a:p>
            <a:pPr marL="211454">
              <a:lnSpc>
                <a:spcPct val="100000"/>
              </a:lnSpc>
              <a:spcBef>
                <a:spcPts val="865"/>
              </a:spcBef>
            </a:pPr>
            <a:r>
              <a:rPr dirty="0" sz="900" spc="15">
                <a:latin typeface="宋体"/>
                <a:cs typeface="宋体"/>
              </a:rPr>
              <a:t>实体关系图</a:t>
            </a:r>
            <a:r>
              <a:rPr dirty="0" sz="900" spc="10">
                <a:latin typeface="Times New Roman"/>
                <a:cs typeface="Times New Roman"/>
              </a:rPr>
              <a:t>ERD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7708" y="1057619"/>
            <a:ext cx="155829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5">
                <a:latin typeface="Times New Roman"/>
                <a:cs typeface="Times New Roman"/>
              </a:rPr>
              <a:t>Early 1970's ~ Mid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-5">
                <a:latin typeface="Times New Roman"/>
                <a:cs typeface="Times New Roman"/>
              </a:rPr>
              <a:t>1970's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79210" y="2085079"/>
            <a:ext cx="0" cy="102870"/>
          </a:xfrm>
          <a:custGeom>
            <a:avLst/>
            <a:gdLst/>
            <a:ahLst/>
            <a:cxnLst/>
            <a:rect l="l" t="t" r="r" b="b"/>
            <a:pathLst>
              <a:path w="0" h="102869">
                <a:moveTo>
                  <a:pt x="0" y="0"/>
                </a:moveTo>
                <a:lnTo>
                  <a:pt x="0" y="10281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238980" y="2295089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60" y="0"/>
                </a:moveTo>
                <a:lnTo>
                  <a:pt x="0" y="0"/>
                </a:lnTo>
                <a:lnTo>
                  <a:pt x="40229" y="120756"/>
                </a:lnTo>
                <a:lnTo>
                  <a:pt x="80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001734" y="2179572"/>
            <a:ext cx="572135" cy="142240"/>
          </a:xfrm>
          <a:prstGeom prst="rect">
            <a:avLst/>
          </a:prstGeom>
        </p:spPr>
        <p:txBody>
          <a:bodyPr wrap="square" lIns="0" tIns="1270" rIns="0" bIns="0" rtlCol="0" vert="vert">
            <a:spAutoFit/>
          </a:bodyPr>
          <a:lstStyle/>
          <a:p>
            <a:pPr algn="just" marL="12700" marR="5080">
              <a:lnSpc>
                <a:spcPts val="1100"/>
              </a:lnSpc>
              <a:spcBef>
                <a:spcPts val="10"/>
              </a:spcBef>
            </a:pPr>
            <a:r>
              <a:rPr dirty="0" sz="900">
                <a:latin typeface="MS Gothic"/>
                <a:cs typeface="MS Gothic"/>
              </a:rPr>
              <a:t>分 离 数</a:t>
            </a:r>
            <a:endParaRPr sz="9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900">
                <a:latin typeface="MS Gothic"/>
                <a:cs typeface="MS Gothic"/>
              </a:rPr>
              <a:t>据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7751" y="2340256"/>
            <a:ext cx="1033144" cy="516890"/>
          </a:xfrm>
          <a:prstGeom prst="rect">
            <a:avLst/>
          </a:prstGeom>
          <a:solidFill>
            <a:srgbClr val="E8EEF7"/>
          </a:solidFill>
          <a:ln w="3499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algn="just" marL="166370" marR="158750">
              <a:lnSpc>
                <a:spcPct val="111900"/>
              </a:lnSpc>
              <a:spcBef>
                <a:spcPts val="100"/>
              </a:spcBef>
            </a:pPr>
            <a:r>
              <a:rPr dirty="0" sz="900" spc="15">
                <a:latin typeface="MS Gothic"/>
                <a:cs typeface="MS Gothic"/>
              </a:rPr>
              <a:t>功</a:t>
            </a:r>
            <a:r>
              <a:rPr dirty="0" sz="900" spc="10">
                <a:latin typeface="MS Gothic"/>
                <a:cs typeface="MS Gothic"/>
              </a:rPr>
              <a:t>能</a:t>
            </a:r>
            <a:r>
              <a:rPr dirty="0" sz="900" spc="15">
                <a:latin typeface="宋体"/>
                <a:cs typeface="宋体"/>
              </a:rPr>
              <a:t>实</a:t>
            </a:r>
            <a:r>
              <a:rPr dirty="0" sz="900" spc="15">
                <a:latin typeface="MS Gothic"/>
                <a:cs typeface="MS Gothic"/>
              </a:rPr>
              <a:t>体矩</a:t>
            </a:r>
            <a:r>
              <a:rPr dirty="0" sz="900" spc="15">
                <a:latin typeface="宋体"/>
                <a:cs typeface="宋体"/>
              </a:rPr>
              <a:t>阵 实体生命历史 </a:t>
            </a:r>
            <a:r>
              <a:rPr dirty="0" sz="900" spc="15">
                <a:latin typeface="MS Gothic"/>
                <a:cs typeface="MS Gothic"/>
              </a:rPr>
              <a:t>事</a:t>
            </a:r>
            <a:r>
              <a:rPr dirty="0" sz="900" spc="10">
                <a:latin typeface="MS Gothic"/>
                <a:cs typeface="MS Gothic"/>
              </a:rPr>
              <a:t>件</a:t>
            </a:r>
            <a:r>
              <a:rPr dirty="0" sz="900" spc="15">
                <a:latin typeface="宋体"/>
                <a:cs typeface="宋体"/>
              </a:rPr>
              <a:t>实</a:t>
            </a:r>
            <a:r>
              <a:rPr dirty="0" sz="900" spc="15">
                <a:latin typeface="MS Gothic"/>
                <a:cs typeface="MS Gothic"/>
              </a:rPr>
              <a:t>体矩</a:t>
            </a:r>
            <a:r>
              <a:rPr dirty="0" sz="900" spc="15">
                <a:latin typeface="宋体"/>
                <a:cs typeface="宋体"/>
              </a:rPr>
              <a:t>阵</a:t>
            </a:r>
            <a:endParaRPr sz="9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98841" y="2262858"/>
            <a:ext cx="345440" cy="339090"/>
          </a:xfrm>
          <a:custGeom>
            <a:avLst/>
            <a:gdLst/>
            <a:ahLst/>
            <a:cxnLst/>
            <a:rect l="l" t="t" r="r" b="b"/>
            <a:pathLst>
              <a:path w="345439" h="339089">
                <a:moveTo>
                  <a:pt x="0" y="339079"/>
                </a:moveTo>
                <a:lnTo>
                  <a:pt x="344871" y="0"/>
                </a:lnTo>
              </a:path>
            </a:pathLst>
          </a:custGeom>
          <a:ln w="3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08294" y="2185271"/>
            <a:ext cx="114300" cy="113664"/>
          </a:xfrm>
          <a:custGeom>
            <a:avLst/>
            <a:gdLst/>
            <a:ahLst/>
            <a:cxnLst/>
            <a:rect l="l" t="t" r="r" b="b"/>
            <a:pathLst>
              <a:path w="114300" h="113664">
                <a:moveTo>
                  <a:pt x="114277" y="0"/>
                </a:moveTo>
                <a:lnTo>
                  <a:pt x="0" y="55857"/>
                </a:lnTo>
                <a:lnTo>
                  <a:pt x="56409" y="113318"/>
                </a:lnTo>
                <a:lnTo>
                  <a:pt x="114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67503" y="1813232"/>
            <a:ext cx="614045" cy="1305560"/>
          </a:xfrm>
          <a:custGeom>
            <a:avLst/>
            <a:gdLst/>
            <a:ahLst/>
            <a:cxnLst/>
            <a:rect l="l" t="t" r="r" b="b"/>
            <a:pathLst>
              <a:path w="614045" h="1305560">
                <a:moveTo>
                  <a:pt x="0" y="0"/>
                </a:moveTo>
                <a:lnTo>
                  <a:pt x="613946" y="1305418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40784" y="3092400"/>
            <a:ext cx="88265" cy="126364"/>
          </a:xfrm>
          <a:custGeom>
            <a:avLst/>
            <a:gdLst/>
            <a:ahLst/>
            <a:cxnLst/>
            <a:rect l="l" t="t" r="r" b="b"/>
            <a:pathLst>
              <a:path w="88264" h="126364">
                <a:moveTo>
                  <a:pt x="72734" y="0"/>
                </a:moveTo>
                <a:lnTo>
                  <a:pt x="0" y="34272"/>
                </a:lnTo>
                <a:lnTo>
                  <a:pt x="87748" y="126297"/>
                </a:lnTo>
                <a:lnTo>
                  <a:pt x="727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 rot="3840000">
            <a:off x="3170035" y="2455948"/>
            <a:ext cx="262398" cy="1168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900" spc="-5">
                <a:latin typeface="MS Gothic"/>
                <a:cs typeface="MS Gothic"/>
              </a:rPr>
              <a:t>效 </a:t>
            </a:r>
            <a:r>
              <a:rPr dirty="0" sz="900" spc="15">
                <a:latin typeface="MS Gothic"/>
                <a:cs typeface="MS Gothic"/>
              </a:rPr>
              <a:t>率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61748" y="1730540"/>
            <a:ext cx="1379220" cy="268605"/>
          </a:xfrm>
          <a:custGeom>
            <a:avLst/>
            <a:gdLst/>
            <a:ahLst/>
            <a:cxnLst/>
            <a:rect l="l" t="t" r="r" b="b"/>
            <a:pathLst>
              <a:path w="1379220" h="268605">
                <a:moveTo>
                  <a:pt x="1378902" y="0"/>
                </a:moveTo>
                <a:lnTo>
                  <a:pt x="0" y="268200"/>
                </a:lnTo>
              </a:path>
            </a:pathLst>
          </a:custGeom>
          <a:ln w="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53157" y="1957322"/>
            <a:ext cx="126364" cy="79375"/>
          </a:xfrm>
          <a:custGeom>
            <a:avLst/>
            <a:gdLst/>
            <a:ahLst/>
            <a:cxnLst/>
            <a:rect l="l" t="t" r="r" b="b"/>
            <a:pathLst>
              <a:path w="126364" h="79375">
                <a:moveTo>
                  <a:pt x="110778" y="0"/>
                </a:moveTo>
                <a:lnTo>
                  <a:pt x="0" y="62565"/>
                </a:lnTo>
                <a:lnTo>
                  <a:pt x="126084" y="79046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91661" y="2511941"/>
            <a:ext cx="1485265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5">
                <a:latin typeface="Times New Roman"/>
                <a:cs typeface="Times New Roman"/>
              </a:rPr>
              <a:t>Mid 1970's ~ Mid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-5">
                <a:latin typeface="Times New Roman"/>
                <a:cs typeface="Times New Roman"/>
              </a:rPr>
              <a:t>1980's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20874" y="3218814"/>
            <a:ext cx="1240155" cy="372110"/>
          </a:xfrm>
          <a:prstGeom prst="rect">
            <a:avLst/>
          </a:prstGeom>
          <a:solidFill>
            <a:srgbClr val="E8EEF7"/>
          </a:solidFill>
          <a:ln w="3500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dirty="0" sz="900" spc="15">
                <a:latin typeface="MS Gothic"/>
                <a:cs typeface="MS Gothic"/>
              </a:rPr>
              <a:t>状</a:t>
            </a:r>
            <a:r>
              <a:rPr dirty="0" sz="900" spc="15">
                <a:latin typeface="宋体"/>
                <a:cs typeface="宋体"/>
              </a:rPr>
              <a:t>态图</a:t>
            </a:r>
            <a:endParaRPr sz="9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900" spc="5">
                <a:latin typeface="MS Gothic"/>
                <a:cs typeface="MS Gothic"/>
              </a:rPr>
              <a:t>（</a:t>
            </a:r>
            <a:r>
              <a:rPr dirty="0" sz="900" spc="5">
                <a:latin typeface="Times New Roman"/>
                <a:cs typeface="Times New Roman"/>
              </a:rPr>
              <a:t>State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5">
                <a:latin typeface="Times New Roman"/>
                <a:cs typeface="Times New Roman"/>
              </a:rPr>
              <a:t>Chart</a:t>
            </a:r>
            <a:r>
              <a:rPr dirty="0" sz="900" spc="5">
                <a:latin typeface="MS Gothic"/>
                <a:cs typeface="MS Gothic"/>
              </a:rPr>
              <a:t>）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926108" y="3218814"/>
            <a:ext cx="1405255" cy="372110"/>
          </a:xfrm>
          <a:custGeom>
            <a:avLst/>
            <a:gdLst/>
            <a:ahLst/>
            <a:cxnLst/>
            <a:rect l="l" t="t" r="r" b="b"/>
            <a:pathLst>
              <a:path w="1405254" h="372110">
                <a:moveTo>
                  <a:pt x="0" y="372068"/>
                </a:moveTo>
                <a:lnTo>
                  <a:pt x="1404819" y="372068"/>
                </a:lnTo>
                <a:lnTo>
                  <a:pt x="1404819" y="0"/>
                </a:lnTo>
                <a:lnTo>
                  <a:pt x="0" y="0"/>
                </a:lnTo>
                <a:lnTo>
                  <a:pt x="0" y="372068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26107" y="3218814"/>
            <a:ext cx="1405255" cy="372110"/>
          </a:xfrm>
          <a:custGeom>
            <a:avLst/>
            <a:gdLst/>
            <a:ahLst/>
            <a:cxnLst/>
            <a:rect l="l" t="t" r="r" b="b"/>
            <a:pathLst>
              <a:path w="1405254" h="372110">
                <a:moveTo>
                  <a:pt x="0" y="372068"/>
                </a:moveTo>
                <a:lnTo>
                  <a:pt x="1404818" y="372068"/>
                </a:lnTo>
                <a:lnTo>
                  <a:pt x="1404818" y="0"/>
                </a:lnTo>
                <a:lnTo>
                  <a:pt x="0" y="0"/>
                </a:lnTo>
                <a:lnTo>
                  <a:pt x="0" y="372068"/>
                </a:lnTo>
                <a:close/>
              </a:path>
            </a:pathLst>
          </a:custGeom>
          <a:ln w="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974627" y="3313775"/>
            <a:ext cx="130810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15">
                <a:latin typeface="MS Gothic"/>
                <a:cs typeface="MS Gothic"/>
              </a:rPr>
              <a:t>功能分解</a:t>
            </a:r>
            <a:r>
              <a:rPr dirty="0" sz="900" spc="15">
                <a:latin typeface="宋体"/>
                <a:cs typeface="宋体"/>
              </a:rPr>
              <a:t>图</a:t>
            </a:r>
            <a:r>
              <a:rPr dirty="0" sz="900" spc="15">
                <a:latin typeface="MS Gothic"/>
                <a:cs typeface="MS Gothic"/>
              </a:rPr>
              <a:t>、</a:t>
            </a:r>
            <a:r>
              <a:rPr dirty="0" sz="900" spc="15">
                <a:latin typeface="宋体"/>
                <a:cs typeface="宋体"/>
              </a:rPr>
              <a:t>过程依赖图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91776" y="1320198"/>
            <a:ext cx="135255" cy="654050"/>
          </a:xfrm>
          <a:custGeom>
            <a:avLst/>
            <a:gdLst/>
            <a:ahLst/>
            <a:cxnLst/>
            <a:rect l="l" t="t" r="r" b="b"/>
            <a:pathLst>
              <a:path w="135254" h="654050">
                <a:moveTo>
                  <a:pt x="134856" y="0"/>
                </a:moveTo>
                <a:lnTo>
                  <a:pt x="108609" y="4281"/>
                </a:lnTo>
                <a:lnTo>
                  <a:pt x="87176" y="15957"/>
                </a:lnTo>
                <a:lnTo>
                  <a:pt x="72726" y="33272"/>
                </a:lnTo>
                <a:lnTo>
                  <a:pt x="67428" y="54473"/>
                </a:lnTo>
                <a:lnTo>
                  <a:pt x="67428" y="272365"/>
                </a:lnTo>
                <a:lnTo>
                  <a:pt x="62129" y="293569"/>
                </a:lnTo>
                <a:lnTo>
                  <a:pt x="47679" y="310884"/>
                </a:lnTo>
                <a:lnTo>
                  <a:pt x="26247" y="322558"/>
                </a:lnTo>
                <a:lnTo>
                  <a:pt x="0" y="326838"/>
                </a:lnTo>
                <a:lnTo>
                  <a:pt x="26247" y="331120"/>
                </a:lnTo>
                <a:lnTo>
                  <a:pt x="47679" y="342795"/>
                </a:lnTo>
                <a:lnTo>
                  <a:pt x="62129" y="360110"/>
                </a:lnTo>
                <a:lnTo>
                  <a:pt x="67428" y="381311"/>
                </a:lnTo>
                <a:lnTo>
                  <a:pt x="67428" y="599205"/>
                </a:lnTo>
                <a:lnTo>
                  <a:pt x="72726" y="620407"/>
                </a:lnTo>
                <a:lnTo>
                  <a:pt x="87176" y="637722"/>
                </a:lnTo>
                <a:lnTo>
                  <a:pt x="108609" y="649397"/>
                </a:lnTo>
                <a:lnTo>
                  <a:pt x="134856" y="653678"/>
                </a:lnTo>
              </a:path>
            </a:pathLst>
          </a:custGeom>
          <a:ln w="8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769609" y="1312987"/>
            <a:ext cx="725170" cy="640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</a:pPr>
            <a:r>
              <a:rPr dirty="0" sz="900" spc="15">
                <a:latin typeface="MS Gothic"/>
                <a:cs typeface="MS Gothic"/>
              </a:rPr>
              <a:t>数据流</a:t>
            </a:r>
            <a:r>
              <a:rPr dirty="0" sz="900" spc="15">
                <a:latin typeface="宋体"/>
                <a:cs typeface="宋体"/>
              </a:rPr>
              <a:t>图</a:t>
            </a:r>
            <a:r>
              <a:rPr dirty="0" sz="900" spc="10">
                <a:latin typeface="Times New Roman"/>
                <a:cs typeface="Times New Roman"/>
              </a:rPr>
              <a:t>DFD </a:t>
            </a:r>
            <a:r>
              <a:rPr dirty="0" sz="900" spc="15">
                <a:latin typeface="MS Gothic"/>
                <a:cs typeface="MS Gothic"/>
              </a:rPr>
              <a:t>上下文</a:t>
            </a:r>
            <a:r>
              <a:rPr dirty="0" sz="900" spc="15">
                <a:latin typeface="宋体"/>
                <a:cs typeface="宋体"/>
              </a:rPr>
              <a:t>图</a:t>
            </a:r>
            <a:endParaRPr sz="900">
              <a:latin typeface="宋体"/>
              <a:cs typeface="宋体"/>
            </a:endParaRPr>
          </a:p>
          <a:p>
            <a:pPr marL="12700" marR="121285">
              <a:lnSpc>
                <a:spcPts val="1210"/>
              </a:lnSpc>
              <a:spcBef>
                <a:spcPts val="60"/>
              </a:spcBef>
            </a:pPr>
            <a:r>
              <a:rPr dirty="0" sz="900" spc="15">
                <a:latin typeface="MS Gothic"/>
                <a:cs typeface="MS Gothic"/>
              </a:rPr>
              <a:t>微</a:t>
            </a:r>
            <a:r>
              <a:rPr dirty="0" sz="900" spc="15">
                <a:latin typeface="宋体"/>
                <a:cs typeface="宋体"/>
              </a:rPr>
              <a:t>规</a:t>
            </a:r>
            <a:r>
              <a:rPr dirty="0" sz="900" spc="15">
                <a:latin typeface="MS Gothic"/>
                <a:cs typeface="MS Gothic"/>
              </a:rPr>
              <a:t>格</a:t>
            </a:r>
            <a:r>
              <a:rPr dirty="0" sz="900" spc="15">
                <a:latin typeface="宋体"/>
                <a:cs typeface="宋体"/>
              </a:rPr>
              <a:t>说</a:t>
            </a:r>
            <a:r>
              <a:rPr dirty="0" sz="900" spc="10">
                <a:latin typeface="MS Gothic"/>
                <a:cs typeface="MS Gothic"/>
              </a:rPr>
              <a:t>明 </a:t>
            </a:r>
            <a:r>
              <a:rPr dirty="0" sz="900" spc="15">
                <a:latin typeface="MS Gothic"/>
                <a:cs typeface="MS Gothic"/>
              </a:rPr>
              <a:t>数据字典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967503" y="1813232"/>
            <a:ext cx="2162810" cy="275590"/>
          </a:xfrm>
          <a:custGeom>
            <a:avLst/>
            <a:gdLst/>
            <a:ahLst/>
            <a:cxnLst/>
            <a:rect l="l" t="t" r="r" b="b"/>
            <a:pathLst>
              <a:path w="2162810" h="275589">
                <a:moveTo>
                  <a:pt x="0" y="0"/>
                </a:moveTo>
                <a:lnTo>
                  <a:pt x="2162660" y="275346"/>
                </a:lnTo>
              </a:path>
            </a:pathLst>
          </a:custGeom>
          <a:ln w="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115152" y="2047306"/>
            <a:ext cx="125095" cy="80010"/>
          </a:xfrm>
          <a:custGeom>
            <a:avLst/>
            <a:gdLst/>
            <a:ahLst/>
            <a:cxnLst/>
            <a:rect l="l" t="t" r="r" b="b"/>
            <a:pathLst>
              <a:path w="125095" h="80010">
                <a:moveTo>
                  <a:pt x="10203" y="0"/>
                </a:moveTo>
                <a:lnTo>
                  <a:pt x="0" y="79921"/>
                </a:lnTo>
                <a:lnTo>
                  <a:pt x="124772" y="55274"/>
                </a:lnTo>
                <a:lnTo>
                  <a:pt x="102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198799" y="1757364"/>
            <a:ext cx="492125" cy="305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785">
              <a:lnSpc>
                <a:spcPct val="102099"/>
              </a:lnSpc>
              <a:spcBef>
                <a:spcPts val="95"/>
              </a:spcBef>
            </a:pPr>
            <a:r>
              <a:rPr dirty="0" sz="900" spc="15">
                <a:latin typeface="MS Gothic"/>
                <a:cs typeface="MS Gothic"/>
              </a:rPr>
              <a:t>建立功 </a:t>
            </a:r>
            <a:r>
              <a:rPr dirty="0" sz="900" spc="15">
                <a:latin typeface="MS Gothic"/>
                <a:cs typeface="MS Gothic"/>
              </a:rPr>
              <a:t>能、事件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98799" y="2027168"/>
            <a:ext cx="492125" cy="32639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900" spc="15">
                <a:latin typeface="MS Gothic"/>
                <a:cs typeface="MS Gothic"/>
              </a:rPr>
              <a:t>与</a:t>
            </a:r>
            <a:r>
              <a:rPr dirty="0" sz="900" spc="15">
                <a:latin typeface="宋体"/>
                <a:cs typeface="宋体"/>
              </a:rPr>
              <a:t>实</a:t>
            </a:r>
            <a:r>
              <a:rPr dirty="0" sz="900" spc="15">
                <a:latin typeface="MS Gothic"/>
                <a:cs typeface="MS Gothic"/>
              </a:rPr>
              <a:t>体的</a:t>
            </a:r>
            <a:endParaRPr sz="900">
              <a:latin typeface="MS Gothic"/>
              <a:cs typeface="MS Gothic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latin typeface="宋体"/>
                <a:cs typeface="宋体"/>
              </a:rPr>
              <a:t>联系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653156" y="2185271"/>
            <a:ext cx="85090" cy="79375"/>
          </a:xfrm>
          <a:custGeom>
            <a:avLst/>
            <a:gdLst/>
            <a:ahLst/>
            <a:cxnLst/>
            <a:rect l="l" t="t" r="r" b="b"/>
            <a:pathLst>
              <a:path w="85089" h="79375">
                <a:moveTo>
                  <a:pt x="0" y="0"/>
                </a:moveTo>
                <a:lnTo>
                  <a:pt x="84541" y="79337"/>
                </a:lnTo>
              </a:path>
            </a:pathLst>
          </a:custGeom>
          <a:ln w="3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702862" y="2228294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4" h="112394">
                <a:moveTo>
                  <a:pt x="54951" y="0"/>
                </a:moveTo>
                <a:lnTo>
                  <a:pt x="0" y="58773"/>
                </a:lnTo>
                <a:lnTo>
                  <a:pt x="115587" y="112005"/>
                </a:lnTo>
                <a:lnTo>
                  <a:pt x="549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306330" y="4355641"/>
            <a:ext cx="868044" cy="372110"/>
          </a:xfrm>
          <a:prstGeom prst="rect">
            <a:avLst/>
          </a:prstGeom>
          <a:solidFill>
            <a:srgbClr val="E8EEF7"/>
          </a:solidFill>
          <a:ln w="3499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</a:pPr>
            <a:r>
              <a:rPr dirty="0" sz="900" spc="15">
                <a:latin typeface="宋体"/>
                <a:cs typeface="宋体"/>
              </a:rPr>
              <a:t>业务过程模型</a:t>
            </a:r>
            <a:endParaRPr sz="9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71430" y="4376322"/>
            <a:ext cx="454659" cy="351790"/>
          </a:xfrm>
          <a:prstGeom prst="rect">
            <a:avLst/>
          </a:prstGeom>
          <a:solidFill>
            <a:srgbClr val="E8EEF7"/>
          </a:solidFill>
          <a:ln w="3499">
            <a:solidFill>
              <a:srgbClr val="000000"/>
            </a:solidFill>
          </a:ln>
        </p:spPr>
        <p:txBody>
          <a:bodyPr wrap="square" lIns="0" tIns="95885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755"/>
              </a:spcBef>
            </a:pPr>
            <a:r>
              <a:rPr dirty="0" sz="900" spc="10">
                <a:latin typeface="Times New Roman"/>
                <a:cs typeface="Times New Roman"/>
              </a:rPr>
              <a:t>OMT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140650" y="1730540"/>
            <a:ext cx="0" cy="278130"/>
          </a:xfrm>
          <a:custGeom>
            <a:avLst/>
            <a:gdLst/>
            <a:ahLst/>
            <a:cxnLst/>
            <a:rect l="l" t="t" r="r" b="b"/>
            <a:pathLst>
              <a:path w="0" h="278130">
                <a:moveTo>
                  <a:pt x="0" y="0"/>
                </a:moveTo>
                <a:lnTo>
                  <a:pt x="0" y="278015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140650" y="2931975"/>
            <a:ext cx="0" cy="176530"/>
          </a:xfrm>
          <a:custGeom>
            <a:avLst/>
            <a:gdLst/>
            <a:ahLst/>
            <a:cxnLst/>
            <a:rect l="l" t="t" r="r" b="b"/>
            <a:pathLst>
              <a:path w="0" h="176530">
                <a:moveTo>
                  <a:pt x="0" y="0"/>
                </a:moveTo>
                <a:lnTo>
                  <a:pt x="0" y="176029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100422" y="3097941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59" y="0"/>
                </a:moveTo>
                <a:lnTo>
                  <a:pt x="0" y="0"/>
                </a:lnTo>
                <a:lnTo>
                  <a:pt x="40229" y="120756"/>
                </a:lnTo>
                <a:lnTo>
                  <a:pt x="80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064246" y="2000188"/>
            <a:ext cx="154940" cy="949325"/>
          </a:xfrm>
          <a:prstGeom prst="rect">
            <a:avLst/>
          </a:prstGeom>
        </p:spPr>
        <p:txBody>
          <a:bodyPr wrap="square" lIns="0" tIns="190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5">
                <a:latin typeface="Times New Roman"/>
                <a:cs typeface="Times New Roman"/>
              </a:rPr>
              <a:t>David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 spc="5">
                <a:latin typeface="Times New Roman"/>
                <a:cs typeface="Times New Roman"/>
              </a:rPr>
              <a:t>Harel</a:t>
            </a:r>
            <a:r>
              <a:rPr dirty="0" sz="900" spc="15">
                <a:latin typeface="MS Gothic"/>
                <a:cs typeface="MS Gothic"/>
              </a:rPr>
              <a:t>的</a:t>
            </a:r>
            <a:r>
              <a:rPr dirty="0" sz="900" spc="15">
                <a:latin typeface="宋体"/>
                <a:cs typeface="宋体"/>
              </a:rPr>
              <a:t>发</a:t>
            </a:r>
            <a:r>
              <a:rPr dirty="0" sz="900" spc="15">
                <a:latin typeface="MS Gothic"/>
                <a:cs typeface="MS Gothic"/>
              </a:rPr>
              <a:t>展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74242" y="3310710"/>
            <a:ext cx="695325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5">
                <a:latin typeface="Times New Roman"/>
                <a:cs typeface="Times New Roman"/>
              </a:rPr>
              <a:t>Late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-5">
                <a:latin typeface="Times New Roman"/>
                <a:cs typeface="Times New Roman"/>
              </a:rPr>
              <a:t>1980's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88469" y="5002519"/>
            <a:ext cx="82931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5">
                <a:latin typeface="Times New Roman"/>
                <a:cs typeface="Times New Roman"/>
              </a:rPr>
              <a:t>1990's</a:t>
            </a:r>
            <a:r>
              <a:rPr dirty="0" sz="1150" spc="-5">
                <a:latin typeface="MS Gothic"/>
                <a:cs typeface="MS Gothic"/>
              </a:rPr>
              <a:t>～</a:t>
            </a:r>
            <a:r>
              <a:rPr dirty="0" sz="1150" spc="-5">
                <a:latin typeface="Times New Roman"/>
                <a:cs typeface="Times New Roman"/>
              </a:rPr>
              <a:t>Now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279210" y="2787885"/>
            <a:ext cx="864235" cy="1492885"/>
          </a:xfrm>
          <a:custGeom>
            <a:avLst/>
            <a:gdLst/>
            <a:ahLst/>
            <a:cxnLst/>
            <a:rect l="l" t="t" r="r" b="b"/>
            <a:pathLst>
              <a:path w="864235" h="1492885">
                <a:moveTo>
                  <a:pt x="0" y="0"/>
                </a:moveTo>
                <a:lnTo>
                  <a:pt x="863927" y="1492678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103345" y="4251686"/>
            <a:ext cx="95885" cy="125095"/>
          </a:xfrm>
          <a:custGeom>
            <a:avLst/>
            <a:gdLst/>
            <a:ahLst/>
            <a:cxnLst/>
            <a:rect l="l" t="t" r="r" b="b"/>
            <a:pathLst>
              <a:path w="95885" h="125095">
                <a:moveTo>
                  <a:pt x="69674" y="0"/>
                </a:moveTo>
                <a:lnTo>
                  <a:pt x="0" y="40251"/>
                </a:lnTo>
                <a:lnTo>
                  <a:pt x="95328" y="124547"/>
                </a:lnTo>
                <a:lnTo>
                  <a:pt x="696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 rot="3540000">
            <a:off x="4531206" y="3522159"/>
            <a:ext cx="420421" cy="1168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baseline="3086" sz="1350" spc="-15">
                <a:latin typeface="Times New Roman"/>
                <a:cs typeface="Times New Roman"/>
              </a:rPr>
              <a:t>OO</a:t>
            </a:r>
            <a:r>
              <a:rPr dirty="0" sz="900">
                <a:latin typeface="MS Gothic"/>
                <a:cs typeface="MS Gothic"/>
              </a:rPr>
              <a:t>思</a:t>
            </a:r>
            <a:r>
              <a:rPr dirty="0" sz="900" spc="15">
                <a:latin typeface="MS Gothic"/>
                <a:cs typeface="MS Gothic"/>
              </a:rPr>
              <a:t>想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50028" y="1813232"/>
            <a:ext cx="217804" cy="2432685"/>
          </a:xfrm>
          <a:custGeom>
            <a:avLst/>
            <a:gdLst/>
            <a:ahLst/>
            <a:cxnLst/>
            <a:rect l="l" t="t" r="r" b="b"/>
            <a:pathLst>
              <a:path w="217805" h="2432685">
                <a:moveTo>
                  <a:pt x="217475" y="0"/>
                </a:moveTo>
                <a:lnTo>
                  <a:pt x="0" y="2432183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710818" y="4231706"/>
            <a:ext cx="80645" cy="124460"/>
          </a:xfrm>
          <a:custGeom>
            <a:avLst/>
            <a:gdLst/>
            <a:ahLst/>
            <a:cxnLst/>
            <a:rect l="l" t="t" r="r" b="b"/>
            <a:pathLst>
              <a:path w="80644" h="124460">
                <a:moveTo>
                  <a:pt x="0" y="0"/>
                </a:moveTo>
                <a:lnTo>
                  <a:pt x="29443" y="123964"/>
                </a:lnTo>
                <a:lnTo>
                  <a:pt x="80168" y="7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746675" y="2724735"/>
            <a:ext cx="215265" cy="711200"/>
          </a:xfrm>
          <a:custGeom>
            <a:avLst/>
            <a:gdLst/>
            <a:ahLst/>
            <a:cxnLst/>
            <a:rect l="l" t="t" r="r" b="b"/>
            <a:pathLst>
              <a:path w="215264" h="711200">
                <a:moveTo>
                  <a:pt x="62240" y="0"/>
                </a:moveTo>
                <a:lnTo>
                  <a:pt x="0" y="697264"/>
                </a:lnTo>
                <a:lnTo>
                  <a:pt x="152758" y="710972"/>
                </a:lnTo>
                <a:lnTo>
                  <a:pt x="215144" y="13709"/>
                </a:lnTo>
                <a:lnTo>
                  <a:pt x="62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 rot="5700000">
            <a:off x="2502466" y="3026478"/>
            <a:ext cx="710083" cy="1168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900" spc="5">
                <a:latin typeface="宋体"/>
                <a:cs typeface="宋体"/>
              </a:rPr>
              <a:t>业 务 过 程 再 </a:t>
            </a:r>
            <a:r>
              <a:rPr dirty="0" sz="900" spc="15">
                <a:latin typeface="宋体"/>
                <a:cs typeface="宋体"/>
              </a:rPr>
              <a:t>造</a:t>
            </a:r>
            <a:endParaRPr sz="900">
              <a:latin typeface="宋体"/>
              <a:cs typeface="宋体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549811" y="4376322"/>
            <a:ext cx="744220" cy="351790"/>
          </a:xfrm>
          <a:custGeom>
            <a:avLst/>
            <a:gdLst/>
            <a:ahLst/>
            <a:cxnLst/>
            <a:rect l="l" t="t" r="r" b="b"/>
            <a:pathLst>
              <a:path w="744220" h="351789">
                <a:moveTo>
                  <a:pt x="0" y="351388"/>
                </a:moveTo>
                <a:lnTo>
                  <a:pt x="743732" y="351388"/>
                </a:lnTo>
                <a:lnTo>
                  <a:pt x="743732" y="0"/>
                </a:lnTo>
                <a:lnTo>
                  <a:pt x="0" y="0"/>
                </a:lnTo>
                <a:lnTo>
                  <a:pt x="0" y="351388"/>
                </a:lnTo>
                <a:close/>
              </a:path>
            </a:pathLst>
          </a:custGeom>
          <a:ln w="3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551561" y="4378072"/>
            <a:ext cx="761365" cy="347980"/>
          </a:xfrm>
          <a:prstGeom prst="rect">
            <a:avLst/>
          </a:prstGeom>
          <a:solidFill>
            <a:srgbClr val="E8EEF7"/>
          </a:solidFill>
        </p:spPr>
        <p:txBody>
          <a:bodyPr wrap="square" lIns="0" tIns="97790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770"/>
              </a:spcBef>
            </a:pPr>
            <a:r>
              <a:rPr dirty="0" sz="900" spc="5">
                <a:latin typeface="Times New Roman"/>
                <a:cs typeface="Times New Roman"/>
              </a:rPr>
              <a:t>Booch</a:t>
            </a:r>
            <a:r>
              <a:rPr dirty="0" sz="900" spc="15">
                <a:latin typeface="MS Gothic"/>
                <a:cs typeface="MS Gothic"/>
              </a:rPr>
              <a:t>方法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334882" y="4376322"/>
            <a:ext cx="495934" cy="351790"/>
          </a:xfrm>
          <a:custGeom>
            <a:avLst/>
            <a:gdLst/>
            <a:ahLst/>
            <a:cxnLst/>
            <a:rect l="l" t="t" r="r" b="b"/>
            <a:pathLst>
              <a:path w="495934" h="351789">
                <a:moveTo>
                  <a:pt x="0" y="351388"/>
                </a:moveTo>
                <a:lnTo>
                  <a:pt x="495821" y="351388"/>
                </a:lnTo>
                <a:lnTo>
                  <a:pt x="495821" y="0"/>
                </a:lnTo>
                <a:lnTo>
                  <a:pt x="0" y="0"/>
                </a:lnTo>
                <a:lnTo>
                  <a:pt x="0" y="351388"/>
                </a:lnTo>
                <a:close/>
              </a:path>
            </a:pathLst>
          </a:custGeom>
          <a:ln w="3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315963" y="4378071"/>
            <a:ext cx="513080" cy="347980"/>
          </a:xfrm>
          <a:prstGeom prst="rect">
            <a:avLst/>
          </a:prstGeom>
          <a:solidFill>
            <a:srgbClr val="E8EEF7"/>
          </a:solidFill>
        </p:spPr>
        <p:txBody>
          <a:bodyPr wrap="square" lIns="0" tIns="9461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745"/>
              </a:spcBef>
            </a:pPr>
            <a:r>
              <a:rPr dirty="0" sz="900" spc="10">
                <a:latin typeface="Times New Roman"/>
                <a:cs typeface="Times New Roman"/>
              </a:rPr>
              <a:t>OOSE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421988" y="5699183"/>
            <a:ext cx="4297045" cy="351790"/>
          </a:xfrm>
          <a:prstGeom prst="rect">
            <a:avLst/>
          </a:prstGeom>
          <a:solidFill>
            <a:srgbClr val="E8EEF7"/>
          </a:solidFill>
          <a:ln w="3500">
            <a:solidFill>
              <a:srgbClr val="00000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dirty="0" sz="900" spc="10">
                <a:latin typeface="Times New Roman"/>
                <a:cs typeface="Times New Roman"/>
              </a:rPr>
              <a:t>UML</a:t>
            </a:r>
            <a:r>
              <a:rPr dirty="0" sz="900" spc="10">
                <a:latin typeface="MS Gothic"/>
                <a:cs typeface="MS Gothic"/>
              </a:rPr>
              <a:t>（</a:t>
            </a:r>
            <a:r>
              <a:rPr dirty="0" sz="900" spc="15">
                <a:latin typeface="MS Gothic"/>
                <a:cs typeface="MS Gothic"/>
              </a:rPr>
              <a:t>需求分析部分）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265080" y="5699183"/>
            <a:ext cx="826769" cy="351790"/>
          </a:xfrm>
          <a:prstGeom prst="rect">
            <a:avLst/>
          </a:prstGeom>
          <a:solidFill>
            <a:srgbClr val="E8EEF7"/>
          </a:solidFill>
          <a:ln w="3499">
            <a:solidFill>
              <a:srgbClr val="00000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785"/>
              </a:spcBef>
            </a:pPr>
            <a:r>
              <a:rPr dirty="0" sz="900" spc="5">
                <a:latin typeface="Times New Roman"/>
                <a:cs typeface="Times New Roman"/>
              </a:rPr>
              <a:t>Petri</a:t>
            </a:r>
            <a:r>
              <a:rPr dirty="0" sz="900" spc="15">
                <a:latin typeface="MS Gothic"/>
                <a:cs typeface="MS Gothic"/>
              </a:rPr>
              <a:t>网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740262" y="4727710"/>
            <a:ext cx="1253490" cy="906780"/>
          </a:xfrm>
          <a:custGeom>
            <a:avLst/>
            <a:gdLst/>
            <a:ahLst/>
            <a:cxnLst/>
            <a:rect l="l" t="t" r="r" b="b"/>
            <a:pathLst>
              <a:path w="1253489" h="906779">
                <a:moveTo>
                  <a:pt x="0" y="0"/>
                </a:moveTo>
                <a:lnTo>
                  <a:pt x="1253110" y="906617"/>
                </a:lnTo>
              </a:path>
            </a:pathLst>
          </a:custGeom>
          <a:ln w="3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961742" y="5595811"/>
            <a:ext cx="121285" cy="103505"/>
          </a:xfrm>
          <a:custGeom>
            <a:avLst/>
            <a:gdLst/>
            <a:ahLst/>
            <a:cxnLst/>
            <a:rect l="l" t="t" r="r" b="b"/>
            <a:pathLst>
              <a:path w="121285" h="103504">
                <a:moveTo>
                  <a:pt x="47081" y="0"/>
                </a:moveTo>
                <a:lnTo>
                  <a:pt x="0" y="65234"/>
                </a:lnTo>
                <a:lnTo>
                  <a:pt x="121273" y="103371"/>
                </a:lnTo>
                <a:lnTo>
                  <a:pt x="470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 rot="2100000">
            <a:off x="3228550" y="5152309"/>
            <a:ext cx="370685" cy="1168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baseline="3086" sz="1350">
                <a:latin typeface="MS Gothic"/>
                <a:cs typeface="MS Gothic"/>
              </a:rPr>
              <a:t>活</a:t>
            </a:r>
            <a:r>
              <a:rPr dirty="0" sz="900">
                <a:latin typeface="宋体"/>
                <a:cs typeface="宋体"/>
              </a:rPr>
              <a:t>动</a:t>
            </a:r>
            <a:r>
              <a:rPr dirty="0" sz="900" spc="15">
                <a:latin typeface="宋体"/>
                <a:cs typeface="宋体"/>
              </a:rPr>
              <a:t>图</a:t>
            </a:r>
            <a:endParaRPr sz="900">
              <a:latin typeface="宋体"/>
              <a:cs typeface="宋体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198672" y="4727710"/>
            <a:ext cx="0" cy="365125"/>
          </a:xfrm>
          <a:custGeom>
            <a:avLst/>
            <a:gdLst/>
            <a:ahLst/>
            <a:cxnLst/>
            <a:rect l="l" t="t" r="r" b="b"/>
            <a:pathLst>
              <a:path w="0" h="365125">
                <a:moveTo>
                  <a:pt x="0" y="0"/>
                </a:moveTo>
                <a:lnTo>
                  <a:pt x="0" y="364572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198672" y="5325628"/>
            <a:ext cx="0" cy="262890"/>
          </a:xfrm>
          <a:custGeom>
            <a:avLst/>
            <a:gdLst/>
            <a:ahLst/>
            <a:cxnLst/>
            <a:rect l="l" t="t" r="r" b="b"/>
            <a:pathLst>
              <a:path w="0" h="262889">
                <a:moveTo>
                  <a:pt x="0" y="0"/>
                </a:moveTo>
                <a:lnTo>
                  <a:pt x="0" y="262862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158444" y="5578428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59" y="0"/>
                </a:moveTo>
                <a:lnTo>
                  <a:pt x="0" y="0"/>
                </a:lnTo>
                <a:lnTo>
                  <a:pt x="40229" y="120755"/>
                </a:lnTo>
                <a:lnTo>
                  <a:pt x="80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5131239" y="5083957"/>
            <a:ext cx="142240" cy="259079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900">
                <a:latin typeface="宋体"/>
                <a:cs typeface="宋体"/>
              </a:rPr>
              <a:t>类图</a:t>
            </a:r>
            <a:endParaRPr sz="900">
              <a:latin typeface="宋体"/>
              <a:cs typeface="宋体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582822" y="4727710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4">
                <a:moveTo>
                  <a:pt x="0" y="0"/>
                </a:moveTo>
                <a:lnTo>
                  <a:pt x="0" y="306236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582822" y="5383964"/>
            <a:ext cx="0" cy="205104"/>
          </a:xfrm>
          <a:custGeom>
            <a:avLst/>
            <a:gdLst/>
            <a:ahLst/>
            <a:cxnLst/>
            <a:rect l="l" t="t" r="r" b="b"/>
            <a:pathLst>
              <a:path w="0" h="205104">
                <a:moveTo>
                  <a:pt x="0" y="0"/>
                </a:moveTo>
                <a:lnTo>
                  <a:pt x="0" y="204526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542592" y="5578428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60" y="0"/>
                </a:moveTo>
                <a:lnTo>
                  <a:pt x="0" y="0"/>
                </a:lnTo>
                <a:lnTo>
                  <a:pt x="40231" y="120755"/>
                </a:lnTo>
                <a:lnTo>
                  <a:pt x="80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6438572" y="5025621"/>
            <a:ext cx="295910" cy="3759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900">
                <a:latin typeface="MS Gothic"/>
                <a:cs typeface="MS Gothic"/>
              </a:rPr>
              <a:t>用例</a:t>
            </a:r>
            <a:r>
              <a:rPr dirty="0" sz="900">
                <a:latin typeface="宋体"/>
                <a:cs typeface="宋体"/>
              </a:rPr>
              <a:t>图</a:t>
            </a:r>
            <a:endParaRPr sz="9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latin typeface="MS Gothic"/>
                <a:cs typeface="MS Gothic"/>
              </a:rPr>
              <a:t>交互</a:t>
            </a:r>
            <a:r>
              <a:rPr dirty="0" sz="900">
                <a:latin typeface="宋体"/>
                <a:cs typeface="宋体"/>
              </a:rPr>
              <a:t>图</a:t>
            </a:r>
            <a:endParaRPr sz="900">
              <a:latin typeface="宋体"/>
              <a:cs typeface="宋体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921649" y="4727710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4">
                <a:moveTo>
                  <a:pt x="0" y="0"/>
                </a:moveTo>
                <a:lnTo>
                  <a:pt x="0" y="306236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921649" y="5383964"/>
            <a:ext cx="0" cy="205104"/>
          </a:xfrm>
          <a:custGeom>
            <a:avLst/>
            <a:gdLst/>
            <a:ahLst/>
            <a:cxnLst/>
            <a:rect l="l" t="t" r="r" b="b"/>
            <a:pathLst>
              <a:path w="0" h="205104">
                <a:moveTo>
                  <a:pt x="0" y="0"/>
                </a:moveTo>
                <a:lnTo>
                  <a:pt x="0" y="204526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881419" y="5578428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60" y="0"/>
                </a:moveTo>
                <a:lnTo>
                  <a:pt x="0" y="0"/>
                </a:lnTo>
                <a:lnTo>
                  <a:pt x="40231" y="120755"/>
                </a:lnTo>
                <a:lnTo>
                  <a:pt x="80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5777545" y="5025621"/>
            <a:ext cx="295910" cy="3759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70485">
              <a:lnSpc>
                <a:spcPts val="1070"/>
              </a:lnSpc>
            </a:pPr>
            <a:r>
              <a:rPr dirty="0" sz="900" spc="15">
                <a:latin typeface="宋体"/>
                <a:cs typeface="宋体"/>
              </a:rPr>
              <a:t>类图</a:t>
            </a:r>
            <a:endParaRPr sz="9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latin typeface="MS Gothic"/>
                <a:cs typeface="MS Gothic"/>
              </a:rPr>
              <a:t>交互</a:t>
            </a:r>
            <a:r>
              <a:rPr dirty="0" sz="900">
                <a:latin typeface="宋体"/>
                <a:cs typeface="宋体"/>
              </a:rPr>
              <a:t>图</a:t>
            </a:r>
            <a:endParaRPr sz="900">
              <a:latin typeface="宋体"/>
              <a:cs typeface="宋体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140650" y="3590883"/>
            <a:ext cx="0" cy="422909"/>
          </a:xfrm>
          <a:custGeom>
            <a:avLst/>
            <a:gdLst/>
            <a:ahLst/>
            <a:cxnLst/>
            <a:rect l="l" t="t" r="r" b="b"/>
            <a:pathLst>
              <a:path w="0" h="422910">
                <a:moveTo>
                  <a:pt x="0" y="0"/>
                </a:moveTo>
                <a:lnTo>
                  <a:pt x="0" y="422631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140650" y="5267510"/>
            <a:ext cx="0" cy="321310"/>
          </a:xfrm>
          <a:custGeom>
            <a:avLst/>
            <a:gdLst/>
            <a:ahLst/>
            <a:cxnLst/>
            <a:rect l="l" t="t" r="r" b="b"/>
            <a:pathLst>
              <a:path w="0" h="321310">
                <a:moveTo>
                  <a:pt x="0" y="0"/>
                </a:moveTo>
                <a:lnTo>
                  <a:pt x="0" y="320980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100422" y="5578428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59" y="0"/>
                </a:moveTo>
                <a:lnTo>
                  <a:pt x="0" y="0"/>
                </a:lnTo>
                <a:lnTo>
                  <a:pt x="40229" y="120755"/>
                </a:lnTo>
                <a:lnTo>
                  <a:pt x="80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7064246" y="4005204"/>
            <a:ext cx="154940" cy="1279525"/>
          </a:xfrm>
          <a:prstGeom prst="rect">
            <a:avLst/>
          </a:prstGeom>
        </p:spPr>
        <p:txBody>
          <a:bodyPr wrap="square" lIns="0" tIns="190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15">
                <a:latin typeface="MS Gothic"/>
                <a:cs typeface="MS Gothic"/>
              </a:rPr>
              <a:t>状</a:t>
            </a:r>
            <a:r>
              <a:rPr dirty="0" sz="900" spc="15">
                <a:latin typeface="宋体"/>
                <a:cs typeface="宋体"/>
              </a:rPr>
              <a:t>态图</a:t>
            </a:r>
            <a:r>
              <a:rPr dirty="0" sz="900" spc="5">
                <a:latin typeface="MS Gothic"/>
                <a:cs typeface="MS Gothic"/>
              </a:rPr>
              <a:t>（</a:t>
            </a:r>
            <a:r>
              <a:rPr dirty="0" sz="900" spc="5">
                <a:latin typeface="Times New Roman"/>
                <a:cs typeface="Times New Roman"/>
              </a:rPr>
              <a:t>State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5">
                <a:latin typeface="Times New Roman"/>
                <a:cs typeface="Times New Roman"/>
              </a:rPr>
              <a:t>Diagram</a:t>
            </a:r>
            <a:r>
              <a:rPr dirty="0" sz="900" spc="5">
                <a:latin typeface="MS Gothic"/>
                <a:cs typeface="MS Gothic"/>
              </a:rPr>
              <a:t>）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678167" y="5017072"/>
            <a:ext cx="0" cy="161925"/>
          </a:xfrm>
          <a:custGeom>
            <a:avLst/>
            <a:gdLst/>
            <a:ahLst/>
            <a:cxnLst/>
            <a:rect l="l" t="t" r="r" b="b"/>
            <a:pathLst>
              <a:path w="0" h="161925">
                <a:moveTo>
                  <a:pt x="0" y="0"/>
                </a:moveTo>
                <a:lnTo>
                  <a:pt x="0" y="161518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678167" y="5528608"/>
            <a:ext cx="0" cy="60325"/>
          </a:xfrm>
          <a:custGeom>
            <a:avLst/>
            <a:gdLst/>
            <a:ahLst/>
            <a:cxnLst/>
            <a:rect l="l" t="t" r="r" b="b"/>
            <a:pathLst>
              <a:path w="0" h="60325">
                <a:moveTo>
                  <a:pt x="0" y="0"/>
                </a:moveTo>
                <a:lnTo>
                  <a:pt x="0" y="59882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637938" y="5578428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4" h="121285">
                <a:moveTo>
                  <a:pt x="80459" y="0"/>
                </a:moveTo>
                <a:lnTo>
                  <a:pt x="0" y="0"/>
                </a:lnTo>
                <a:lnTo>
                  <a:pt x="40229" y="120755"/>
                </a:lnTo>
                <a:lnTo>
                  <a:pt x="80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601497" y="5178590"/>
            <a:ext cx="153670" cy="350520"/>
          </a:xfrm>
          <a:custGeom>
            <a:avLst/>
            <a:gdLst/>
            <a:ahLst/>
            <a:cxnLst/>
            <a:rect l="l" t="t" r="r" b="b"/>
            <a:pathLst>
              <a:path w="153669" h="350520">
                <a:moveTo>
                  <a:pt x="0" y="350017"/>
                </a:moveTo>
                <a:lnTo>
                  <a:pt x="153472" y="350017"/>
                </a:lnTo>
                <a:lnTo>
                  <a:pt x="153472" y="0"/>
                </a:lnTo>
                <a:lnTo>
                  <a:pt x="0" y="0"/>
                </a:lnTo>
                <a:lnTo>
                  <a:pt x="0" y="350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2610734" y="5170266"/>
            <a:ext cx="142240" cy="3759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900">
                <a:latin typeface="MS Gothic"/>
                <a:cs typeface="MS Gothic"/>
              </a:rPr>
              <a:t>工作流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339341" y="4645004"/>
            <a:ext cx="620395" cy="351790"/>
          </a:xfrm>
          <a:prstGeom prst="rect">
            <a:avLst/>
          </a:prstGeom>
          <a:solidFill>
            <a:srgbClr val="E8EEF7"/>
          </a:solidFill>
          <a:ln w="3499">
            <a:solidFill>
              <a:srgbClr val="000000"/>
            </a:solidFill>
          </a:ln>
        </p:spPr>
        <p:txBody>
          <a:bodyPr wrap="square" lIns="0" tIns="96520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760"/>
              </a:spcBef>
            </a:pPr>
            <a:r>
              <a:rPr dirty="0" sz="900" spc="10">
                <a:latin typeface="Times New Roman"/>
                <a:cs typeface="Times New Roman"/>
              </a:rPr>
              <a:t>ORM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103713" y="4645004"/>
            <a:ext cx="785495" cy="351790"/>
          </a:xfrm>
          <a:prstGeom prst="rect">
            <a:avLst/>
          </a:prstGeom>
          <a:solidFill>
            <a:srgbClr val="E8EEF7"/>
          </a:solidFill>
          <a:ln w="3499">
            <a:solidFill>
              <a:srgbClr val="000000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900" spc="15">
                <a:latin typeface="宋体"/>
                <a:cs typeface="宋体"/>
              </a:rPr>
              <a:t>对象约束语</a:t>
            </a:r>
            <a:endParaRPr sz="9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15">
                <a:latin typeface="MS Gothic"/>
                <a:cs typeface="MS Gothic"/>
              </a:rPr>
              <a:t>言</a:t>
            </a:r>
            <a:r>
              <a:rPr dirty="0" sz="900" spc="10">
                <a:latin typeface="Times New Roman"/>
                <a:cs typeface="Times New Roman"/>
              </a:rPr>
              <a:t>OCL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720944" y="4086886"/>
            <a:ext cx="403860" cy="474345"/>
          </a:xfrm>
          <a:custGeom>
            <a:avLst/>
            <a:gdLst/>
            <a:ahLst/>
            <a:cxnLst/>
            <a:rect l="l" t="t" r="r" b="b"/>
            <a:pathLst>
              <a:path w="403860" h="474345">
                <a:moveTo>
                  <a:pt x="403467" y="0"/>
                </a:moveTo>
                <a:lnTo>
                  <a:pt x="0" y="473836"/>
                </a:lnTo>
              </a:path>
            </a:pathLst>
          </a:custGeom>
          <a:ln w="3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649230" y="4527034"/>
            <a:ext cx="109220" cy="118110"/>
          </a:xfrm>
          <a:custGeom>
            <a:avLst/>
            <a:gdLst/>
            <a:ahLst/>
            <a:cxnLst/>
            <a:rect l="l" t="t" r="r" b="b"/>
            <a:pathLst>
              <a:path w="109220" h="118110">
                <a:moveTo>
                  <a:pt x="47663" y="0"/>
                </a:moveTo>
                <a:lnTo>
                  <a:pt x="0" y="117984"/>
                </a:lnTo>
                <a:lnTo>
                  <a:pt x="108883" y="52209"/>
                </a:lnTo>
                <a:lnTo>
                  <a:pt x="47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621682" y="4085282"/>
            <a:ext cx="536575" cy="554990"/>
          </a:xfrm>
          <a:custGeom>
            <a:avLst/>
            <a:gdLst/>
            <a:ahLst/>
            <a:cxnLst/>
            <a:rect l="l" t="t" r="r" b="b"/>
            <a:pathLst>
              <a:path w="536575" h="554989">
                <a:moveTo>
                  <a:pt x="302454" y="0"/>
                </a:moveTo>
                <a:lnTo>
                  <a:pt x="0" y="355267"/>
                </a:lnTo>
                <a:lnTo>
                  <a:pt x="233654" y="554485"/>
                </a:lnTo>
                <a:lnTo>
                  <a:pt x="536110" y="199218"/>
                </a:lnTo>
                <a:lnTo>
                  <a:pt x="3024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 rot="7800000">
            <a:off x="3817237" y="4359510"/>
            <a:ext cx="261830" cy="1168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900">
                <a:latin typeface="MS Gothic"/>
                <a:cs typeface="MS Gothic"/>
              </a:rPr>
              <a:t>复 </a:t>
            </a:r>
            <a:r>
              <a:rPr dirty="0" sz="900" spc="15">
                <a:latin typeface="宋体"/>
                <a:cs typeface="宋体"/>
              </a:rPr>
              <a:t>杂</a:t>
            </a:r>
            <a:endParaRPr sz="900">
              <a:latin typeface="宋体"/>
              <a:cs typeface="宋体"/>
            </a:endParaRPr>
          </a:p>
        </p:txBody>
      </p:sp>
      <p:sp>
        <p:nvSpPr>
          <p:cNvPr id="90" name="object 90"/>
          <p:cNvSpPr txBox="1"/>
          <p:nvPr/>
        </p:nvSpPr>
        <p:spPr>
          <a:xfrm rot="7800000">
            <a:off x="3590122" y="4260254"/>
            <a:ext cx="482359" cy="1168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900">
                <a:latin typeface="宋体"/>
                <a:cs typeface="宋体"/>
              </a:rPr>
              <a:t>业 务 规 </a:t>
            </a:r>
            <a:r>
              <a:rPr dirty="0" sz="900" spc="15">
                <a:latin typeface="宋体"/>
                <a:cs typeface="宋体"/>
              </a:rPr>
              <a:t>则</a:t>
            </a:r>
            <a:endParaRPr sz="900">
              <a:latin typeface="宋体"/>
              <a:cs typeface="宋体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124411" y="4086886"/>
            <a:ext cx="310515" cy="466090"/>
          </a:xfrm>
          <a:custGeom>
            <a:avLst/>
            <a:gdLst/>
            <a:ahLst/>
            <a:cxnLst/>
            <a:rect l="l" t="t" r="r" b="b"/>
            <a:pathLst>
              <a:path w="310514" h="466089">
                <a:moveTo>
                  <a:pt x="0" y="0"/>
                </a:moveTo>
                <a:lnTo>
                  <a:pt x="310471" y="465960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395820" y="4522221"/>
            <a:ext cx="100965" cy="123189"/>
          </a:xfrm>
          <a:custGeom>
            <a:avLst/>
            <a:gdLst/>
            <a:ahLst/>
            <a:cxnLst/>
            <a:rect l="l" t="t" r="r" b="b"/>
            <a:pathLst>
              <a:path w="100964" h="123189">
                <a:moveTo>
                  <a:pt x="66903" y="0"/>
                </a:moveTo>
                <a:lnTo>
                  <a:pt x="0" y="44626"/>
                </a:lnTo>
                <a:lnTo>
                  <a:pt x="100429" y="122797"/>
                </a:lnTo>
                <a:lnTo>
                  <a:pt x="66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056488" y="4086740"/>
            <a:ext cx="502920" cy="551180"/>
          </a:xfrm>
          <a:custGeom>
            <a:avLst/>
            <a:gdLst/>
            <a:ahLst/>
            <a:cxnLst/>
            <a:rect l="l" t="t" r="r" b="b"/>
            <a:pathLst>
              <a:path w="502920" h="551179">
                <a:moveTo>
                  <a:pt x="244149" y="0"/>
                </a:moveTo>
                <a:lnTo>
                  <a:pt x="0" y="162904"/>
                </a:lnTo>
                <a:lnTo>
                  <a:pt x="258725" y="551131"/>
                </a:lnTo>
                <a:lnTo>
                  <a:pt x="502876" y="388373"/>
                </a:lnTo>
                <a:lnTo>
                  <a:pt x="2441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 rot="3360000">
            <a:off x="4139154" y="4261248"/>
            <a:ext cx="481743" cy="1168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900">
                <a:latin typeface="MS Gothic"/>
                <a:cs typeface="MS Gothic"/>
              </a:rPr>
              <a:t>复 </a:t>
            </a:r>
            <a:r>
              <a:rPr dirty="0" sz="900">
                <a:latin typeface="宋体"/>
                <a:cs typeface="宋体"/>
              </a:rPr>
              <a:t>杂 业 </a:t>
            </a:r>
            <a:r>
              <a:rPr dirty="0" sz="900" spc="15">
                <a:latin typeface="宋体"/>
                <a:cs typeface="宋体"/>
              </a:rPr>
              <a:t>务</a:t>
            </a:r>
            <a:endParaRPr sz="900">
              <a:latin typeface="宋体"/>
              <a:cs typeface="宋体"/>
            </a:endParaRPr>
          </a:p>
        </p:txBody>
      </p:sp>
      <p:sp>
        <p:nvSpPr>
          <p:cNvPr id="95" name="object 95"/>
          <p:cNvSpPr txBox="1"/>
          <p:nvPr/>
        </p:nvSpPr>
        <p:spPr>
          <a:xfrm rot="3360000">
            <a:off x="4124211" y="4344575"/>
            <a:ext cx="261830" cy="1168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900">
                <a:latin typeface="宋体"/>
                <a:cs typeface="宋体"/>
              </a:rPr>
              <a:t>规 </a:t>
            </a:r>
            <a:r>
              <a:rPr dirty="0" sz="900" spc="15">
                <a:latin typeface="宋体"/>
                <a:cs typeface="宋体"/>
              </a:rPr>
              <a:t>则</a:t>
            </a:r>
            <a:endParaRPr sz="900">
              <a:latin typeface="宋体"/>
              <a:cs typeface="宋体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4496248" y="4996392"/>
            <a:ext cx="0" cy="230504"/>
          </a:xfrm>
          <a:custGeom>
            <a:avLst/>
            <a:gdLst/>
            <a:ahLst/>
            <a:cxnLst/>
            <a:rect l="l" t="t" r="r" b="b"/>
            <a:pathLst>
              <a:path w="0" h="230504">
                <a:moveTo>
                  <a:pt x="0" y="0"/>
                </a:moveTo>
                <a:lnTo>
                  <a:pt x="0" y="230441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496248" y="5460179"/>
            <a:ext cx="0" cy="128905"/>
          </a:xfrm>
          <a:custGeom>
            <a:avLst/>
            <a:gdLst/>
            <a:ahLst/>
            <a:cxnLst/>
            <a:rect l="l" t="t" r="r" b="b"/>
            <a:pathLst>
              <a:path w="0" h="128904">
                <a:moveTo>
                  <a:pt x="0" y="0"/>
                </a:moveTo>
                <a:lnTo>
                  <a:pt x="0" y="128311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456019" y="5578428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59" y="0"/>
                </a:moveTo>
                <a:lnTo>
                  <a:pt x="0" y="0"/>
                </a:lnTo>
                <a:lnTo>
                  <a:pt x="40229" y="120755"/>
                </a:lnTo>
                <a:lnTo>
                  <a:pt x="80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4423342" y="5218510"/>
            <a:ext cx="154940" cy="259079"/>
          </a:xfrm>
          <a:prstGeom prst="rect">
            <a:avLst/>
          </a:prstGeom>
        </p:spPr>
        <p:txBody>
          <a:bodyPr wrap="square" lIns="0" tIns="190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>
                <a:latin typeface="Times New Roman"/>
                <a:cs typeface="Times New Roman"/>
              </a:rPr>
              <a:t>OCL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808414" y="758951"/>
            <a:ext cx="7654290" cy="0"/>
          </a:xfrm>
          <a:custGeom>
            <a:avLst/>
            <a:gdLst/>
            <a:ahLst/>
            <a:cxnLst/>
            <a:rect l="l" t="t" r="r" b="b"/>
            <a:pathLst>
              <a:path w="7654290" h="0">
                <a:moveTo>
                  <a:pt x="0" y="0"/>
                </a:moveTo>
                <a:lnTo>
                  <a:pt x="7654291" y="0"/>
                </a:lnTo>
              </a:path>
            </a:pathLst>
          </a:custGeom>
          <a:ln w="31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18909" y="2950059"/>
            <a:ext cx="7644130" cy="0"/>
          </a:xfrm>
          <a:custGeom>
            <a:avLst/>
            <a:gdLst/>
            <a:ahLst/>
            <a:cxnLst/>
            <a:rect l="l" t="t" r="r" b="b"/>
            <a:pathLst>
              <a:path w="7644130" h="0">
                <a:moveTo>
                  <a:pt x="0" y="0"/>
                </a:moveTo>
                <a:lnTo>
                  <a:pt x="7643797" y="0"/>
                </a:lnTo>
              </a:path>
            </a:pathLst>
          </a:custGeom>
          <a:ln w="31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818909" y="3983485"/>
            <a:ext cx="7644130" cy="0"/>
          </a:xfrm>
          <a:custGeom>
            <a:avLst/>
            <a:gdLst/>
            <a:ahLst/>
            <a:cxnLst/>
            <a:rect l="l" t="t" r="r" b="b"/>
            <a:pathLst>
              <a:path w="7644130" h="0">
                <a:moveTo>
                  <a:pt x="0" y="0"/>
                </a:moveTo>
                <a:lnTo>
                  <a:pt x="7643797" y="0"/>
                </a:lnTo>
              </a:path>
            </a:pathLst>
          </a:custGeom>
          <a:ln w="31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818909" y="6174609"/>
            <a:ext cx="7644130" cy="0"/>
          </a:xfrm>
          <a:custGeom>
            <a:avLst/>
            <a:gdLst/>
            <a:ahLst/>
            <a:cxnLst/>
            <a:rect l="l" t="t" r="r" b="b"/>
            <a:pathLst>
              <a:path w="7644130" h="0">
                <a:moveTo>
                  <a:pt x="0" y="0"/>
                </a:moveTo>
                <a:lnTo>
                  <a:pt x="7643797" y="0"/>
                </a:lnTo>
              </a:path>
            </a:pathLst>
          </a:custGeom>
          <a:ln w="31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942863" y="2167770"/>
            <a:ext cx="7106920" cy="0"/>
          </a:xfrm>
          <a:custGeom>
            <a:avLst/>
            <a:gdLst/>
            <a:ahLst/>
            <a:cxnLst/>
            <a:rect l="l" t="t" r="r" b="b"/>
            <a:pathLst>
              <a:path w="7106920" h="0">
                <a:moveTo>
                  <a:pt x="0" y="0"/>
                </a:moveTo>
                <a:lnTo>
                  <a:pt x="7106755" y="0"/>
                </a:lnTo>
              </a:path>
            </a:pathLst>
          </a:custGeom>
          <a:ln w="1750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8297558" y="869644"/>
            <a:ext cx="0" cy="674370"/>
          </a:xfrm>
          <a:custGeom>
            <a:avLst/>
            <a:gdLst/>
            <a:ahLst/>
            <a:cxnLst/>
            <a:rect l="l" t="t" r="r" b="b"/>
            <a:pathLst>
              <a:path w="0" h="674369">
                <a:moveTo>
                  <a:pt x="0" y="0"/>
                </a:moveTo>
                <a:lnTo>
                  <a:pt x="0" y="674366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8297558" y="2156541"/>
            <a:ext cx="0" cy="683260"/>
          </a:xfrm>
          <a:custGeom>
            <a:avLst/>
            <a:gdLst/>
            <a:ahLst/>
            <a:cxnLst/>
            <a:rect l="l" t="t" r="r" b="b"/>
            <a:pathLst>
              <a:path w="0" h="683260">
                <a:moveTo>
                  <a:pt x="0" y="0"/>
                </a:moveTo>
                <a:lnTo>
                  <a:pt x="0" y="682825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8257330" y="758950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4">
                <a:moveTo>
                  <a:pt x="40229" y="0"/>
                </a:moveTo>
                <a:lnTo>
                  <a:pt x="0" y="120755"/>
                </a:lnTo>
                <a:lnTo>
                  <a:pt x="80459" y="120755"/>
                </a:lnTo>
                <a:lnTo>
                  <a:pt x="40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8257330" y="2829303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59" y="0"/>
                </a:moveTo>
                <a:lnTo>
                  <a:pt x="0" y="0"/>
                </a:lnTo>
                <a:lnTo>
                  <a:pt x="40229" y="120756"/>
                </a:lnTo>
                <a:lnTo>
                  <a:pt x="80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 txBox="1"/>
          <p:nvPr/>
        </p:nvSpPr>
        <p:spPr>
          <a:xfrm>
            <a:off x="8188966" y="1535685"/>
            <a:ext cx="229870" cy="6381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800"/>
              </a:lnSpc>
            </a:pPr>
            <a:r>
              <a:rPr dirty="0" sz="1600">
                <a:latin typeface="宋体"/>
                <a:cs typeface="宋体"/>
              </a:rPr>
              <a:t>结构化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8257330" y="2950060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40229" y="0"/>
                </a:moveTo>
                <a:lnTo>
                  <a:pt x="0" y="120755"/>
                </a:lnTo>
                <a:lnTo>
                  <a:pt x="80459" y="120755"/>
                </a:lnTo>
                <a:lnTo>
                  <a:pt x="40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8257330" y="3862730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59" y="0"/>
                </a:moveTo>
                <a:lnTo>
                  <a:pt x="0" y="0"/>
                </a:lnTo>
                <a:lnTo>
                  <a:pt x="40229" y="120755"/>
                </a:lnTo>
                <a:lnTo>
                  <a:pt x="80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8163169" y="3053898"/>
            <a:ext cx="268605" cy="817244"/>
          </a:xfrm>
          <a:custGeom>
            <a:avLst/>
            <a:gdLst/>
            <a:ahLst/>
            <a:cxnLst/>
            <a:rect l="l" t="t" r="r" b="b"/>
            <a:pathLst>
              <a:path w="268604" h="817245">
                <a:moveTo>
                  <a:pt x="0" y="816707"/>
                </a:moveTo>
                <a:lnTo>
                  <a:pt x="268565" y="816707"/>
                </a:lnTo>
                <a:lnTo>
                  <a:pt x="268565" y="0"/>
                </a:lnTo>
                <a:lnTo>
                  <a:pt x="0" y="0"/>
                </a:lnTo>
                <a:lnTo>
                  <a:pt x="0" y="8167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 txBox="1"/>
          <p:nvPr/>
        </p:nvSpPr>
        <p:spPr>
          <a:xfrm>
            <a:off x="8188966" y="3045573"/>
            <a:ext cx="229870" cy="842644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800"/>
              </a:lnSpc>
            </a:pPr>
            <a:r>
              <a:rPr dirty="0" sz="1600">
                <a:latin typeface="MS Gothic"/>
                <a:cs typeface="MS Gothic"/>
              </a:rPr>
              <a:t>信息工程</a:t>
            </a:r>
            <a:endParaRPr sz="1600">
              <a:latin typeface="MS Gothic"/>
              <a:cs typeface="MS Gothic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8297558" y="4094179"/>
            <a:ext cx="0" cy="572770"/>
          </a:xfrm>
          <a:custGeom>
            <a:avLst/>
            <a:gdLst/>
            <a:ahLst/>
            <a:cxnLst/>
            <a:rect l="l" t="t" r="r" b="b"/>
            <a:pathLst>
              <a:path w="0" h="572770">
                <a:moveTo>
                  <a:pt x="0" y="0"/>
                </a:moveTo>
                <a:lnTo>
                  <a:pt x="0" y="572263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8297558" y="5483150"/>
            <a:ext cx="0" cy="581025"/>
          </a:xfrm>
          <a:custGeom>
            <a:avLst/>
            <a:gdLst/>
            <a:ahLst/>
            <a:cxnLst/>
            <a:rect l="l" t="t" r="r" b="b"/>
            <a:pathLst>
              <a:path w="0" h="581025">
                <a:moveTo>
                  <a:pt x="0" y="0"/>
                </a:moveTo>
                <a:lnTo>
                  <a:pt x="0" y="580766"/>
                </a:lnTo>
              </a:path>
            </a:pathLst>
          </a:custGeom>
          <a:ln w="34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8257330" y="3983485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40229" y="0"/>
                </a:moveTo>
                <a:lnTo>
                  <a:pt x="0" y="120756"/>
                </a:lnTo>
                <a:lnTo>
                  <a:pt x="80459" y="120756"/>
                </a:lnTo>
                <a:lnTo>
                  <a:pt x="40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8257330" y="6053853"/>
            <a:ext cx="80645" cy="121285"/>
          </a:xfrm>
          <a:custGeom>
            <a:avLst/>
            <a:gdLst/>
            <a:ahLst/>
            <a:cxnLst/>
            <a:rect l="l" t="t" r="r" b="b"/>
            <a:pathLst>
              <a:path w="80645" h="121285">
                <a:moveTo>
                  <a:pt x="80459" y="0"/>
                </a:moveTo>
                <a:lnTo>
                  <a:pt x="0" y="0"/>
                </a:lnTo>
                <a:lnTo>
                  <a:pt x="40229" y="120756"/>
                </a:lnTo>
                <a:lnTo>
                  <a:pt x="804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8188966" y="4658132"/>
            <a:ext cx="229870" cy="842644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800"/>
              </a:lnSpc>
            </a:pPr>
            <a:r>
              <a:rPr dirty="0" sz="1600">
                <a:latin typeface="MS Gothic"/>
                <a:cs typeface="MS Gothic"/>
              </a:rPr>
              <a:t>面向</a:t>
            </a:r>
            <a:r>
              <a:rPr dirty="0" sz="1600" spc="-5">
                <a:latin typeface="宋体"/>
                <a:cs typeface="宋体"/>
              </a:rPr>
              <a:t>对</a:t>
            </a:r>
            <a:r>
              <a:rPr dirty="0" sz="1600">
                <a:latin typeface="MS Gothic"/>
                <a:cs typeface="MS Gothic"/>
              </a:rPr>
              <a:t>象</a:t>
            </a:r>
            <a:endParaRPr sz="1600">
              <a:latin typeface="MS Gothic"/>
              <a:cs typeface="MS Gothic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544605" y="699246"/>
            <a:ext cx="8142605" cy="1351915"/>
          </a:xfrm>
          <a:custGeom>
            <a:avLst/>
            <a:gdLst/>
            <a:ahLst/>
            <a:cxnLst/>
            <a:rect l="l" t="t" r="r" b="b"/>
            <a:pathLst>
              <a:path w="8142605" h="1351914">
                <a:moveTo>
                  <a:pt x="0" y="0"/>
                </a:moveTo>
                <a:lnTo>
                  <a:pt x="8142194" y="0"/>
                </a:lnTo>
                <a:lnTo>
                  <a:pt x="8142194" y="1351429"/>
                </a:lnTo>
                <a:lnTo>
                  <a:pt x="0" y="135142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44605" y="2111189"/>
            <a:ext cx="8142605" cy="887730"/>
          </a:xfrm>
          <a:custGeom>
            <a:avLst/>
            <a:gdLst/>
            <a:ahLst/>
            <a:cxnLst/>
            <a:rect l="l" t="t" r="r" b="b"/>
            <a:pathLst>
              <a:path w="8142605" h="887730">
                <a:moveTo>
                  <a:pt x="0" y="0"/>
                </a:moveTo>
                <a:lnTo>
                  <a:pt x="8142194" y="0"/>
                </a:lnTo>
                <a:lnTo>
                  <a:pt x="8142194" y="887506"/>
                </a:lnTo>
                <a:lnTo>
                  <a:pt x="0" y="887506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544605" y="3836894"/>
            <a:ext cx="8142605" cy="2322195"/>
          </a:xfrm>
          <a:custGeom>
            <a:avLst/>
            <a:gdLst/>
            <a:ahLst/>
            <a:cxnLst/>
            <a:rect l="l" t="t" r="r" b="b"/>
            <a:pathLst>
              <a:path w="8142605" h="2322195">
                <a:moveTo>
                  <a:pt x="0" y="0"/>
                </a:moveTo>
                <a:lnTo>
                  <a:pt x="8142194" y="0"/>
                </a:lnTo>
                <a:lnTo>
                  <a:pt x="8142194" y="2321858"/>
                </a:lnTo>
                <a:lnTo>
                  <a:pt x="0" y="2321858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475"/>
            <a:ext cx="5473700" cy="29489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需求分析的根本任务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需求分析技术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solidFill>
                  <a:srgbClr val="FF0000"/>
                </a:solidFill>
                <a:latin typeface="宋体"/>
                <a:cs typeface="宋体"/>
              </a:rPr>
              <a:t>需求分析方法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4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前期需求阶段的建模与分析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需求分析的活动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468" y="196595"/>
            <a:ext cx="392937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3.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需求分析方法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075" y="1028700"/>
            <a:ext cx="24003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结构化分析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8281" y="2493788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89" h="0">
                <a:moveTo>
                  <a:pt x="0" y="0"/>
                </a:moveTo>
                <a:lnTo>
                  <a:pt x="1164296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48281" y="1911268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89" h="0">
                <a:moveTo>
                  <a:pt x="0" y="0"/>
                </a:moveTo>
                <a:lnTo>
                  <a:pt x="1164296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089225" y="2079593"/>
            <a:ext cx="68262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MS Gothic"/>
                <a:cs typeface="MS Gothic"/>
              </a:rPr>
              <a:t>上下文</a:t>
            </a:r>
            <a:r>
              <a:rPr dirty="0" sz="1300" spc="-10">
                <a:latin typeface="宋体"/>
                <a:cs typeface="宋体"/>
              </a:rPr>
              <a:t>图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04433" y="1620111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89" h="1165225">
                <a:moveTo>
                  <a:pt x="582169" y="0"/>
                </a:moveTo>
                <a:lnTo>
                  <a:pt x="534422" y="1930"/>
                </a:lnTo>
                <a:lnTo>
                  <a:pt x="487738" y="7622"/>
                </a:lnTo>
                <a:lnTo>
                  <a:pt x="442267" y="16925"/>
                </a:lnTo>
                <a:lnTo>
                  <a:pt x="398159" y="29690"/>
                </a:lnTo>
                <a:lnTo>
                  <a:pt x="355563" y="45766"/>
                </a:lnTo>
                <a:lnTo>
                  <a:pt x="314629" y="65003"/>
                </a:lnTo>
                <a:lnTo>
                  <a:pt x="275507" y="87252"/>
                </a:lnTo>
                <a:lnTo>
                  <a:pt x="238348" y="112363"/>
                </a:lnTo>
                <a:lnTo>
                  <a:pt x="203300" y="140185"/>
                </a:lnTo>
                <a:lnTo>
                  <a:pt x="170513" y="170569"/>
                </a:lnTo>
                <a:lnTo>
                  <a:pt x="140138" y="203365"/>
                </a:lnTo>
                <a:lnTo>
                  <a:pt x="112325" y="238423"/>
                </a:lnTo>
                <a:lnTo>
                  <a:pt x="87222" y="275592"/>
                </a:lnTo>
                <a:lnTo>
                  <a:pt x="64980" y="314723"/>
                </a:lnTo>
                <a:lnTo>
                  <a:pt x="45749" y="355667"/>
                </a:lnTo>
                <a:lnTo>
                  <a:pt x="29679" y="398272"/>
                </a:lnTo>
                <a:lnTo>
                  <a:pt x="16919" y="442389"/>
                </a:lnTo>
                <a:lnTo>
                  <a:pt x="7619" y="487869"/>
                </a:lnTo>
                <a:lnTo>
                  <a:pt x="1929" y="534561"/>
                </a:lnTo>
                <a:lnTo>
                  <a:pt x="0" y="582315"/>
                </a:lnTo>
                <a:lnTo>
                  <a:pt x="1929" y="630098"/>
                </a:lnTo>
                <a:lnTo>
                  <a:pt x="7619" y="676816"/>
                </a:lnTo>
                <a:lnTo>
                  <a:pt x="16919" y="722319"/>
                </a:lnTo>
                <a:lnTo>
                  <a:pt x="29679" y="766457"/>
                </a:lnTo>
                <a:lnTo>
                  <a:pt x="45749" y="809081"/>
                </a:lnTo>
                <a:lnTo>
                  <a:pt x="64980" y="850041"/>
                </a:lnTo>
                <a:lnTo>
                  <a:pt x="87222" y="889186"/>
                </a:lnTo>
                <a:lnTo>
                  <a:pt x="112325" y="926367"/>
                </a:lnTo>
                <a:lnTo>
                  <a:pt x="140138" y="961435"/>
                </a:lnTo>
                <a:lnTo>
                  <a:pt x="170513" y="994239"/>
                </a:lnTo>
                <a:lnTo>
                  <a:pt x="203300" y="1024630"/>
                </a:lnTo>
                <a:lnTo>
                  <a:pt x="238348" y="1052458"/>
                </a:lnTo>
                <a:lnTo>
                  <a:pt x="275507" y="1077573"/>
                </a:lnTo>
                <a:lnTo>
                  <a:pt x="314629" y="1099825"/>
                </a:lnTo>
                <a:lnTo>
                  <a:pt x="355563" y="1119065"/>
                </a:lnTo>
                <a:lnTo>
                  <a:pt x="398159" y="1135143"/>
                </a:lnTo>
                <a:lnTo>
                  <a:pt x="442267" y="1147908"/>
                </a:lnTo>
                <a:lnTo>
                  <a:pt x="487738" y="1157212"/>
                </a:lnTo>
                <a:lnTo>
                  <a:pt x="534422" y="1162904"/>
                </a:lnTo>
                <a:lnTo>
                  <a:pt x="582169" y="1164835"/>
                </a:lnTo>
                <a:lnTo>
                  <a:pt x="629918" y="1162904"/>
                </a:lnTo>
                <a:lnTo>
                  <a:pt x="676605" y="1157212"/>
                </a:lnTo>
                <a:lnTo>
                  <a:pt x="722078" y="1147908"/>
                </a:lnTo>
                <a:lnTo>
                  <a:pt x="766189" y="1135143"/>
                </a:lnTo>
                <a:lnTo>
                  <a:pt x="808787" y="1119065"/>
                </a:lnTo>
                <a:lnTo>
                  <a:pt x="849722" y="1099825"/>
                </a:lnTo>
                <a:lnTo>
                  <a:pt x="888845" y="1077573"/>
                </a:lnTo>
                <a:lnTo>
                  <a:pt x="926006" y="1052458"/>
                </a:lnTo>
                <a:lnTo>
                  <a:pt x="961055" y="1024630"/>
                </a:lnTo>
                <a:lnTo>
                  <a:pt x="993842" y="994239"/>
                </a:lnTo>
                <a:lnTo>
                  <a:pt x="1024218" y="961435"/>
                </a:lnTo>
                <a:lnTo>
                  <a:pt x="1052032" y="926367"/>
                </a:lnTo>
                <a:lnTo>
                  <a:pt x="1077135" y="889186"/>
                </a:lnTo>
                <a:lnTo>
                  <a:pt x="1099377" y="850041"/>
                </a:lnTo>
                <a:lnTo>
                  <a:pt x="1118608" y="809081"/>
                </a:lnTo>
                <a:lnTo>
                  <a:pt x="1134679" y="766457"/>
                </a:lnTo>
                <a:lnTo>
                  <a:pt x="1147439" y="722319"/>
                </a:lnTo>
                <a:lnTo>
                  <a:pt x="1156739" y="676816"/>
                </a:lnTo>
                <a:lnTo>
                  <a:pt x="1162428" y="630098"/>
                </a:lnTo>
                <a:lnTo>
                  <a:pt x="1164358" y="582315"/>
                </a:lnTo>
                <a:lnTo>
                  <a:pt x="1162428" y="534561"/>
                </a:lnTo>
                <a:lnTo>
                  <a:pt x="1156739" y="487869"/>
                </a:lnTo>
                <a:lnTo>
                  <a:pt x="1147439" y="442389"/>
                </a:lnTo>
                <a:lnTo>
                  <a:pt x="1134679" y="398272"/>
                </a:lnTo>
                <a:lnTo>
                  <a:pt x="1118608" y="355667"/>
                </a:lnTo>
                <a:lnTo>
                  <a:pt x="1099377" y="314723"/>
                </a:lnTo>
                <a:lnTo>
                  <a:pt x="1077135" y="275592"/>
                </a:lnTo>
                <a:lnTo>
                  <a:pt x="1052032" y="238423"/>
                </a:lnTo>
                <a:lnTo>
                  <a:pt x="1024218" y="203365"/>
                </a:lnTo>
                <a:lnTo>
                  <a:pt x="993842" y="170569"/>
                </a:lnTo>
                <a:lnTo>
                  <a:pt x="961055" y="140185"/>
                </a:lnTo>
                <a:lnTo>
                  <a:pt x="926006" y="112363"/>
                </a:lnTo>
                <a:lnTo>
                  <a:pt x="888845" y="87252"/>
                </a:lnTo>
                <a:lnTo>
                  <a:pt x="849722" y="65003"/>
                </a:lnTo>
                <a:lnTo>
                  <a:pt x="808787" y="45766"/>
                </a:lnTo>
                <a:lnTo>
                  <a:pt x="766189" y="29690"/>
                </a:lnTo>
                <a:lnTo>
                  <a:pt x="722078" y="16925"/>
                </a:lnTo>
                <a:lnTo>
                  <a:pt x="676605" y="7622"/>
                </a:lnTo>
                <a:lnTo>
                  <a:pt x="629918" y="1930"/>
                </a:lnTo>
                <a:lnTo>
                  <a:pt x="582169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04434" y="1620111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89" h="1165225">
                <a:moveTo>
                  <a:pt x="0" y="582314"/>
                </a:moveTo>
                <a:lnTo>
                  <a:pt x="1929" y="534560"/>
                </a:lnTo>
                <a:lnTo>
                  <a:pt x="7619" y="487868"/>
                </a:lnTo>
                <a:lnTo>
                  <a:pt x="16919" y="442389"/>
                </a:lnTo>
                <a:lnTo>
                  <a:pt x="29679" y="398271"/>
                </a:lnTo>
                <a:lnTo>
                  <a:pt x="45749" y="355666"/>
                </a:lnTo>
                <a:lnTo>
                  <a:pt x="64980" y="314723"/>
                </a:lnTo>
                <a:lnTo>
                  <a:pt x="87222" y="275591"/>
                </a:lnTo>
                <a:lnTo>
                  <a:pt x="112325" y="238422"/>
                </a:lnTo>
                <a:lnTo>
                  <a:pt x="140138" y="203365"/>
                </a:lnTo>
                <a:lnTo>
                  <a:pt x="170513" y="170569"/>
                </a:lnTo>
                <a:lnTo>
                  <a:pt x="203300" y="140185"/>
                </a:lnTo>
                <a:lnTo>
                  <a:pt x="238348" y="112363"/>
                </a:lnTo>
                <a:lnTo>
                  <a:pt x="275507" y="87252"/>
                </a:lnTo>
                <a:lnTo>
                  <a:pt x="314629" y="65003"/>
                </a:lnTo>
                <a:lnTo>
                  <a:pt x="355563" y="45766"/>
                </a:lnTo>
                <a:lnTo>
                  <a:pt x="398159" y="29690"/>
                </a:lnTo>
                <a:lnTo>
                  <a:pt x="442267" y="16925"/>
                </a:lnTo>
                <a:lnTo>
                  <a:pt x="487738" y="7622"/>
                </a:lnTo>
                <a:lnTo>
                  <a:pt x="534422" y="1930"/>
                </a:lnTo>
                <a:lnTo>
                  <a:pt x="582168" y="0"/>
                </a:lnTo>
                <a:lnTo>
                  <a:pt x="629918" y="1930"/>
                </a:lnTo>
                <a:lnTo>
                  <a:pt x="676605" y="7622"/>
                </a:lnTo>
                <a:lnTo>
                  <a:pt x="722078" y="16925"/>
                </a:lnTo>
                <a:lnTo>
                  <a:pt x="766188" y="29690"/>
                </a:lnTo>
                <a:lnTo>
                  <a:pt x="808786" y="45766"/>
                </a:lnTo>
                <a:lnTo>
                  <a:pt x="849721" y="65003"/>
                </a:lnTo>
                <a:lnTo>
                  <a:pt x="888845" y="87252"/>
                </a:lnTo>
                <a:lnTo>
                  <a:pt x="926005" y="112363"/>
                </a:lnTo>
                <a:lnTo>
                  <a:pt x="961054" y="140185"/>
                </a:lnTo>
                <a:lnTo>
                  <a:pt x="993842" y="170569"/>
                </a:lnTo>
                <a:lnTo>
                  <a:pt x="1024217" y="203365"/>
                </a:lnTo>
                <a:lnTo>
                  <a:pt x="1052031" y="238422"/>
                </a:lnTo>
                <a:lnTo>
                  <a:pt x="1077134" y="275591"/>
                </a:lnTo>
                <a:lnTo>
                  <a:pt x="1099376" y="314723"/>
                </a:lnTo>
                <a:lnTo>
                  <a:pt x="1118608" y="355666"/>
                </a:lnTo>
                <a:lnTo>
                  <a:pt x="1134678" y="398271"/>
                </a:lnTo>
                <a:lnTo>
                  <a:pt x="1147438" y="442389"/>
                </a:lnTo>
                <a:lnTo>
                  <a:pt x="1156738" y="487868"/>
                </a:lnTo>
                <a:lnTo>
                  <a:pt x="1162428" y="534560"/>
                </a:lnTo>
                <a:lnTo>
                  <a:pt x="1164358" y="582314"/>
                </a:lnTo>
                <a:lnTo>
                  <a:pt x="1162428" y="630097"/>
                </a:lnTo>
                <a:lnTo>
                  <a:pt x="1156738" y="676815"/>
                </a:lnTo>
                <a:lnTo>
                  <a:pt x="1147438" y="722318"/>
                </a:lnTo>
                <a:lnTo>
                  <a:pt x="1134678" y="766457"/>
                </a:lnTo>
                <a:lnTo>
                  <a:pt x="1118608" y="809080"/>
                </a:lnTo>
                <a:lnTo>
                  <a:pt x="1099376" y="850040"/>
                </a:lnTo>
                <a:lnTo>
                  <a:pt x="1077134" y="889185"/>
                </a:lnTo>
                <a:lnTo>
                  <a:pt x="1052031" y="926366"/>
                </a:lnTo>
                <a:lnTo>
                  <a:pt x="1024217" y="961434"/>
                </a:lnTo>
                <a:lnTo>
                  <a:pt x="993842" y="994238"/>
                </a:lnTo>
                <a:lnTo>
                  <a:pt x="961054" y="1024629"/>
                </a:lnTo>
                <a:lnTo>
                  <a:pt x="926005" y="1052457"/>
                </a:lnTo>
                <a:lnTo>
                  <a:pt x="888845" y="1077572"/>
                </a:lnTo>
                <a:lnTo>
                  <a:pt x="849721" y="1099824"/>
                </a:lnTo>
                <a:lnTo>
                  <a:pt x="808786" y="1119064"/>
                </a:lnTo>
                <a:lnTo>
                  <a:pt x="766188" y="1135142"/>
                </a:lnTo>
                <a:lnTo>
                  <a:pt x="722078" y="1147907"/>
                </a:lnTo>
                <a:lnTo>
                  <a:pt x="676605" y="1157211"/>
                </a:lnTo>
                <a:lnTo>
                  <a:pt x="629918" y="1162903"/>
                </a:lnTo>
                <a:lnTo>
                  <a:pt x="582168" y="1164833"/>
                </a:lnTo>
                <a:lnTo>
                  <a:pt x="534422" y="1162903"/>
                </a:lnTo>
                <a:lnTo>
                  <a:pt x="487738" y="1157211"/>
                </a:lnTo>
                <a:lnTo>
                  <a:pt x="442267" y="1147907"/>
                </a:lnTo>
                <a:lnTo>
                  <a:pt x="398159" y="1135142"/>
                </a:lnTo>
                <a:lnTo>
                  <a:pt x="355563" y="1119064"/>
                </a:lnTo>
                <a:lnTo>
                  <a:pt x="314629" y="1099824"/>
                </a:lnTo>
                <a:lnTo>
                  <a:pt x="275507" y="1077572"/>
                </a:lnTo>
                <a:lnTo>
                  <a:pt x="238348" y="1052457"/>
                </a:lnTo>
                <a:lnTo>
                  <a:pt x="203300" y="1024629"/>
                </a:lnTo>
                <a:lnTo>
                  <a:pt x="170513" y="994238"/>
                </a:lnTo>
                <a:lnTo>
                  <a:pt x="140138" y="961434"/>
                </a:lnTo>
                <a:lnTo>
                  <a:pt x="112325" y="926366"/>
                </a:lnTo>
                <a:lnTo>
                  <a:pt x="87222" y="889185"/>
                </a:lnTo>
                <a:lnTo>
                  <a:pt x="64980" y="850040"/>
                </a:lnTo>
                <a:lnTo>
                  <a:pt x="45749" y="809080"/>
                </a:lnTo>
                <a:lnTo>
                  <a:pt x="29679" y="766457"/>
                </a:lnTo>
                <a:lnTo>
                  <a:pt x="16919" y="722318"/>
                </a:lnTo>
                <a:lnTo>
                  <a:pt x="7619" y="676815"/>
                </a:lnTo>
                <a:lnTo>
                  <a:pt x="1929" y="630097"/>
                </a:lnTo>
                <a:lnTo>
                  <a:pt x="0" y="582314"/>
                </a:lnTo>
                <a:close/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81074" y="1952197"/>
            <a:ext cx="1011555" cy="44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995" marR="5080" indent="-328930">
              <a:lnSpc>
                <a:spcPct val="106800"/>
              </a:lnSpc>
              <a:spcBef>
                <a:spcPts val="100"/>
              </a:spcBef>
            </a:pPr>
            <a:r>
              <a:rPr dirty="0" sz="1300" spc="-10">
                <a:latin typeface="宋体"/>
                <a:cs typeface="宋体"/>
              </a:rPr>
              <a:t>发现业务</a:t>
            </a:r>
            <a:r>
              <a:rPr dirty="0" sz="1300" spc="-5">
                <a:latin typeface="Arial"/>
                <a:cs typeface="Arial"/>
              </a:rPr>
              <a:t>“</a:t>
            </a:r>
            <a:r>
              <a:rPr dirty="0" sz="1300" spc="65">
                <a:latin typeface="Arial"/>
                <a:cs typeface="Arial"/>
              </a:rPr>
              <a:t> </a:t>
            </a:r>
            <a:r>
              <a:rPr dirty="0" sz="1300" spc="-10">
                <a:latin typeface="MS Gothic"/>
                <a:cs typeface="MS Gothic"/>
              </a:rPr>
              <a:t>事 件</a:t>
            </a:r>
            <a:r>
              <a:rPr dirty="0" sz="1300" spc="-5">
                <a:latin typeface="Arial"/>
                <a:cs typeface="Arial"/>
              </a:rPr>
              <a:t>”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33697" y="2901449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90" h="1165225">
                <a:moveTo>
                  <a:pt x="582251" y="0"/>
                </a:moveTo>
                <a:lnTo>
                  <a:pt x="534490" y="1930"/>
                </a:lnTo>
                <a:lnTo>
                  <a:pt x="487793" y="7622"/>
                </a:lnTo>
                <a:lnTo>
                  <a:pt x="442311" y="16926"/>
                </a:lnTo>
                <a:lnTo>
                  <a:pt x="398193" y="29691"/>
                </a:lnTo>
                <a:lnTo>
                  <a:pt x="355589" y="45769"/>
                </a:lnTo>
                <a:lnTo>
                  <a:pt x="314648" y="65009"/>
                </a:lnTo>
                <a:lnTo>
                  <a:pt x="275521" y="87261"/>
                </a:lnTo>
                <a:lnTo>
                  <a:pt x="238357" y="112376"/>
                </a:lnTo>
                <a:lnTo>
                  <a:pt x="203305" y="140203"/>
                </a:lnTo>
                <a:lnTo>
                  <a:pt x="170516" y="170594"/>
                </a:lnTo>
                <a:lnTo>
                  <a:pt x="140139" y="203398"/>
                </a:lnTo>
                <a:lnTo>
                  <a:pt x="112324" y="238466"/>
                </a:lnTo>
                <a:lnTo>
                  <a:pt x="87221" y="275648"/>
                </a:lnTo>
                <a:lnTo>
                  <a:pt x="64979" y="314793"/>
                </a:lnTo>
                <a:lnTo>
                  <a:pt x="45748" y="355752"/>
                </a:lnTo>
                <a:lnTo>
                  <a:pt x="29678" y="398376"/>
                </a:lnTo>
                <a:lnTo>
                  <a:pt x="16918" y="442515"/>
                </a:lnTo>
                <a:lnTo>
                  <a:pt x="7619" y="488018"/>
                </a:lnTo>
                <a:lnTo>
                  <a:pt x="1929" y="534736"/>
                </a:lnTo>
                <a:lnTo>
                  <a:pt x="0" y="582519"/>
                </a:lnTo>
                <a:lnTo>
                  <a:pt x="1929" y="630273"/>
                </a:lnTo>
                <a:lnTo>
                  <a:pt x="7619" y="676965"/>
                </a:lnTo>
                <a:lnTo>
                  <a:pt x="16918" y="722444"/>
                </a:lnTo>
                <a:lnTo>
                  <a:pt x="29678" y="766562"/>
                </a:lnTo>
                <a:lnTo>
                  <a:pt x="45748" y="809167"/>
                </a:lnTo>
                <a:lnTo>
                  <a:pt x="64979" y="850110"/>
                </a:lnTo>
                <a:lnTo>
                  <a:pt x="87221" y="889241"/>
                </a:lnTo>
                <a:lnTo>
                  <a:pt x="112324" y="926411"/>
                </a:lnTo>
                <a:lnTo>
                  <a:pt x="140139" y="961468"/>
                </a:lnTo>
                <a:lnTo>
                  <a:pt x="170516" y="994264"/>
                </a:lnTo>
                <a:lnTo>
                  <a:pt x="203305" y="1024648"/>
                </a:lnTo>
                <a:lnTo>
                  <a:pt x="238357" y="1052470"/>
                </a:lnTo>
                <a:lnTo>
                  <a:pt x="275521" y="1077581"/>
                </a:lnTo>
                <a:lnTo>
                  <a:pt x="314648" y="1099830"/>
                </a:lnTo>
                <a:lnTo>
                  <a:pt x="355589" y="1119067"/>
                </a:lnTo>
                <a:lnTo>
                  <a:pt x="398193" y="1135143"/>
                </a:lnTo>
                <a:lnTo>
                  <a:pt x="442311" y="1147908"/>
                </a:lnTo>
                <a:lnTo>
                  <a:pt x="487793" y="1157211"/>
                </a:lnTo>
                <a:lnTo>
                  <a:pt x="534490" y="1162903"/>
                </a:lnTo>
                <a:lnTo>
                  <a:pt x="582251" y="1164833"/>
                </a:lnTo>
                <a:lnTo>
                  <a:pt x="629983" y="1162903"/>
                </a:lnTo>
                <a:lnTo>
                  <a:pt x="676653" y="1157211"/>
                </a:lnTo>
                <a:lnTo>
                  <a:pt x="722112" y="1147908"/>
                </a:lnTo>
                <a:lnTo>
                  <a:pt x="766209" y="1135143"/>
                </a:lnTo>
                <a:lnTo>
                  <a:pt x="808795" y="1119067"/>
                </a:lnTo>
                <a:lnTo>
                  <a:pt x="849719" y="1099830"/>
                </a:lnTo>
                <a:lnTo>
                  <a:pt x="888832" y="1077581"/>
                </a:lnTo>
                <a:lnTo>
                  <a:pt x="925984" y="1052470"/>
                </a:lnTo>
                <a:lnTo>
                  <a:pt x="961025" y="1024648"/>
                </a:lnTo>
                <a:lnTo>
                  <a:pt x="993806" y="994264"/>
                </a:lnTo>
                <a:lnTo>
                  <a:pt x="1024176" y="961468"/>
                </a:lnTo>
                <a:lnTo>
                  <a:pt x="1051985" y="926411"/>
                </a:lnTo>
                <a:lnTo>
                  <a:pt x="1077084" y="889241"/>
                </a:lnTo>
                <a:lnTo>
                  <a:pt x="1099323" y="850110"/>
                </a:lnTo>
                <a:lnTo>
                  <a:pt x="1118551" y="809167"/>
                </a:lnTo>
                <a:lnTo>
                  <a:pt x="1134620" y="766562"/>
                </a:lnTo>
                <a:lnTo>
                  <a:pt x="1147378" y="722444"/>
                </a:lnTo>
                <a:lnTo>
                  <a:pt x="1156677" y="676965"/>
                </a:lnTo>
                <a:lnTo>
                  <a:pt x="1162366" y="630273"/>
                </a:lnTo>
                <a:lnTo>
                  <a:pt x="1164296" y="582519"/>
                </a:lnTo>
                <a:lnTo>
                  <a:pt x="1162366" y="534736"/>
                </a:lnTo>
                <a:lnTo>
                  <a:pt x="1156677" y="488018"/>
                </a:lnTo>
                <a:lnTo>
                  <a:pt x="1147378" y="442515"/>
                </a:lnTo>
                <a:lnTo>
                  <a:pt x="1134620" y="398376"/>
                </a:lnTo>
                <a:lnTo>
                  <a:pt x="1118551" y="355752"/>
                </a:lnTo>
                <a:lnTo>
                  <a:pt x="1099323" y="314793"/>
                </a:lnTo>
                <a:lnTo>
                  <a:pt x="1077084" y="275648"/>
                </a:lnTo>
                <a:lnTo>
                  <a:pt x="1051985" y="238466"/>
                </a:lnTo>
                <a:lnTo>
                  <a:pt x="1024176" y="203398"/>
                </a:lnTo>
                <a:lnTo>
                  <a:pt x="993806" y="170594"/>
                </a:lnTo>
                <a:lnTo>
                  <a:pt x="961025" y="140203"/>
                </a:lnTo>
                <a:lnTo>
                  <a:pt x="925984" y="112376"/>
                </a:lnTo>
                <a:lnTo>
                  <a:pt x="888832" y="87261"/>
                </a:lnTo>
                <a:lnTo>
                  <a:pt x="849719" y="65009"/>
                </a:lnTo>
                <a:lnTo>
                  <a:pt x="808795" y="45769"/>
                </a:lnTo>
                <a:lnTo>
                  <a:pt x="766209" y="29691"/>
                </a:lnTo>
                <a:lnTo>
                  <a:pt x="722112" y="16926"/>
                </a:lnTo>
                <a:lnTo>
                  <a:pt x="676653" y="7622"/>
                </a:lnTo>
                <a:lnTo>
                  <a:pt x="629983" y="1930"/>
                </a:lnTo>
                <a:lnTo>
                  <a:pt x="582251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933699" y="2901449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90" h="1165225">
                <a:moveTo>
                  <a:pt x="0" y="582519"/>
                </a:moveTo>
                <a:lnTo>
                  <a:pt x="1929" y="534736"/>
                </a:lnTo>
                <a:lnTo>
                  <a:pt x="7619" y="488018"/>
                </a:lnTo>
                <a:lnTo>
                  <a:pt x="16918" y="442515"/>
                </a:lnTo>
                <a:lnTo>
                  <a:pt x="29678" y="398376"/>
                </a:lnTo>
                <a:lnTo>
                  <a:pt x="45748" y="355753"/>
                </a:lnTo>
                <a:lnTo>
                  <a:pt x="64979" y="314793"/>
                </a:lnTo>
                <a:lnTo>
                  <a:pt x="87221" y="275648"/>
                </a:lnTo>
                <a:lnTo>
                  <a:pt x="112324" y="238466"/>
                </a:lnTo>
                <a:lnTo>
                  <a:pt x="140139" y="203399"/>
                </a:lnTo>
                <a:lnTo>
                  <a:pt x="170516" y="170595"/>
                </a:lnTo>
                <a:lnTo>
                  <a:pt x="203305" y="140204"/>
                </a:lnTo>
                <a:lnTo>
                  <a:pt x="238356" y="112376"/>
                </a:lnTo>
                <a:lnTo>
                  <a:pt x="275521" y="87261"/>
                </a:lnTo>
                <a:lnTo>
                  <a:pt x="314648" y="65009"/>
                </a:lnTo>
                <a:lnTo>
                  <a:pt x="355589" y="45769"/>
                </a:lnTo>
                <a:lnTo>
                  <a:pt x="398193" y="29691"/>
                </a:lnTo>
                <a:lnTo>
                  <a:pt x="442311" y="16926"/>
                </a:lnTo>
                <a:lnTo>
                  <a:pt x="487793" y="7622"/>
                </a:lnTo>
                <a:lnTo>
                  <a:pt x="534489" y="1930"/>
                </a:lnTo>
                <a:lnTo>
                  <a:pt x="582251" y="0"/>
                </a:lnTo>
                <a:lnTo>
                  <a:pt x="629983" y="1930"/>
                </a:lnTo>
                <a:lnTo>
                  <a:pt x="676653" y="7622"/>
                </a:lnTo>
                <a:lnTo>
                  <a:pt x="722111" y="16926"/>
                </a:lnTo>
                <a:lnTo>
                  <a:pt x="766208" y="29691"/>
                </a:lnTo>
                <a:lnTo>
                  <a:pt x="808794" y="45769"/>
                </a:lnTo>
                <a:lnTo>
                  <a:pt x="849718" y="65009"/>
                </a:lnTo>
                <a:lnTo>
                  <a:pt x="888831" y="87261"/>
                </a:lnTo>
                <a:lnTo>
                  <a:pt x="925984" y="112376"/>
                </a:lnTo>
                <a:lnTo>
                  <a:pt x="961025" y="140204"/>
                </a:lnTo>
                <a:lnTo>
                  <a:pt x="993806" y="170595"/>
                </a:lnTo>
                <a:lnTo>
                  <a:pt x="1024175" y="203399"/>
                </a:lnTo>
                <a:lnTo>
                  <a:pt x="1051985" y="238466"/>
                </a:lnTo>
                <a:lnTo>
                  <a:pt x="1077084" y="275648"/>
                </a:lnTo>
                <a:lnTo>
                  <a:pt x="1099323" y="314793"/>
                </a:lnTo>
                <a:lnTo>
                  <a:pt x="1118551" y="355753"/>
                </a:lnTo>
                <a:lnTo>
                  <a:pt x="1134620" y="398376"/>
                </a:lnTo>
                <a:lnTo>
                  <a:pt x="1147378" y="442515"/>
                </a:lnTo>
                <a:lnTo>
                  <a:pt x="1156677" y="488018"/>
                </a:lnTo>
                <a:lnTo>
                  <a:pt x="1162367" y="534736"/>
                </a:lnTo>
                <a:lnTo>
                  <a:pt x="1164296" y="582519"/>
                </a:lnTo>
                <a:lnTo>
                  <a:pt x="1162367" y="630273"/>
                </a:lnTo>
                <a:lnTo>
                  <a:pt x="1156677" y="676965"/>
                </a:lnTo>
                <a:lnTo>
                  <a:pt x="1147378" y="722444"/>
                </a:lnTo>
                <a:lnTo>
                  <a:pt x="1134620" y="766562"/>
                </a:lnTo>
                <a:lnTo>
                  <a:pt x="1118551" y="809167"/>
                </a:lnTo>
                <a:lnTo>
                  <a:pt x="1099323" y="850110"/>
                </a:lnTo>
                <a:lnTo>
                  <a:pt x="1077084" y="889242"/>
                </a:lnTo>
                <a:lnTo>
                  <a:pt x="1051985" y="926411"/>
                </a:lnTo>
                <a:lnTo>
                  <a:pt x="1024175" y="961468"/>
                </a:lnTo>
                <a:lnTo>
                  <a:pt x="993806" y="994264"/>
                </a:lnTo>
                <a:lnTo>
                  <a:pt x="961025" y="1024648"/>
                </a:lnTo>
                <a:lnTo>
                  <a:pt x="925984" y="1052470"/>
                </a:lnTo>
                <a:lnTo>
                  <a:pt x="888831" y="1077581"/>
                </a:lnTo>
                <a:lnTo>
                  <a:pt x="849718" y="1099830"/>
                </a:lnTo>
                <a:lnTo>
                  <a:pt x="808794" y="1119067"/>
                </a:lnTo>
                <a:lnTo>
                  <a:pt x="766208" y="1135143"/>
                </a:lnTo>
                <a:lnTo>
                  <a:pt x="722111" y="1147908"/>
                </a:lnTo>
                <a:lnTo>
                  <a:pt x="676653" y="1157211"/>
                </a:lnTo>
                <a:lnTo>
                  <a:pt x="629983" y="1162903"/>
                </a:lnTo>
                <a:lnTo>
                  <a:pt x="582251" y="1164833"/>
                </a:lnTo>
                <a:lnTo>
                  <a:pt x="534489" y="1162903"/>
                </a:lnTo>
                <a:lnTo>
                  <a:pt x="487793" y="1157211"/>
                </a:lnTo>
                <a:lnTo>
                  <a:pt x="442311" y="1147908"/>
                </a:lnTo>
                <a:lnTo>
                  <a:pt x="398193" y="1135143"/>
                </a:lnTo>
                <a:lnTo>
                  <a:pt x="355589" y="1119067"/>
                </a:lnTo>
                <a:lnTo>
                  <a:pt x="314648" y="1099830"/>
                </a:lnTo>
                <a:lnTo>
                  <a:pt x="275521" y="1077581"/>
                </a:lnTo>
                <a:lnTo>
                  <a:pt x="238356" y="1052470"/>
                </a:lnTo>
                <a:lnTo>
                  <a:pt x="203305" y="1024648"/>
                </a:lnTo>
                <a:lnTo>
                  <a:pt x="170516" y="994264"/>
                </a:lnTo>
                <a:lnTo>
                  <a:pt x="140139" y="961468"/>
                </a:lnTo>
                <a:lnTo>
                  <a:pt x="112324" y="926411"/>
                </a:lnTo>
                <a:lnTo>
                  <a:pt x="87221" y="889242"/>
                </a:lnTo>
                <a:lnTo>
                  <a:pt x="64979" y="850110"/>
                </a:lnTo>
                <a:lnTo>
                  <a:pt x="45748" y="809167"/>
                </a:lnTo>
                <a:lnTo>
                  <a:pt x="29678" y="766562"/>
                </a:lnTo>
                <a:lnTo>
                  <a:pt x="16918" y="722444"/>
                </a:lnTo>
                <a:lnTo>
                  <a:pt x="7619" y="676965"/>
                </a:lnTo>
                <a:lnTo>
                  <a:pt x="1929" y="630273"/>
                </a:lnTo>
                <a:lnTo>
                  <a:pt x="0" y="582519"/>
                </a:lnTo>
                <a:close/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10339" y="3247920"/>
            <a:ext cx="101155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MS Gothic"/>
                <a:cs typeface="MS Gothic"/>
              </a:rPr>
              <a:t>描述</a:t>
            </a:r>
            <a:r>
              <a:rPr dirty="0" sz="1300" spc="-10">
                <a:latin typeface="宋体"/>
                <a:cs typeface="宋体"/>
              </a:rPr>
              <a:t>业务</a:t>
            </a:r>
            <a:r>
              <a:rPr dirty="0" sz="1300" spc="-5">
                <a:latin typeface="Arial"/>
                <a:cs typeface="Arial"/>
              </a:rPr>
              <a:t>“</a:t>
            </a:r>
            <a:r>
              <a:rPr dirty="0" sz="1300" spc="70">
                <a:latin typeface="Arial"/>
                <a:cs typeface="Arial"/>
              </a:rPr>
              <a:t> </a:t>
            </a:r>
            <a:r>
              <a:rPr dirty="0" sz="1300" spc="-10">
                <a:latin typeface="MS Gothic"/>
                <a:cs typeface="MS Gothic"/>
              </a:rPr>
              <a:t>事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8946" y="3459558"/>
            <a:ext cx="24447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MS Gothic"/>
                <a:cs typeface="MS Gothic"/>
              </a:rPr>
              <a:t>物</a:t>
            </a:r>
            <a:r>
              <a:rPr dirty="0" sz="1300" spc="-5">
                <a:latin typeface="Arial"/>
                <a:cs typeface="Arial"/>
              </a:rPr>
              <a:t>”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09186" y="3775126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89" h="0">
                <a:moveTo>
                  <a:pt x="0" y="0"/>
                </a:moveTo>
                <a:lnTo>
                  <a:pt x="1164317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09186" y="3192606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89" h="0">
                <a:moveTo>
                  <a:pt x="0" y="0"/>
                </a:moveTo>
                <a:lnTo>
                  <a:pt x="1164317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563009" y="3233535"/>
            <a:ext cx="1057275" cy="45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3855" marR="5080" indent="-351790">
              <a:lnSpc>
                <a:spcPct val="109200"/>
              </a:lnSpc>
              <a:spcBef>
                <a:spcPts val="100"/>
              </a:spcBef>
            </a:pPr>
            <a:r>
              <a:rPr dirty="0" sz="1300" spc="-10">
                <a:latin typeface="MS Gothic"/>
                <a:cs typeface="MS Gothic"/>
              </a:rPr>
              <a:t>事件列表</a:t>
            </a:r>
            <a:r>
              <a:rPr dirty="0" sz="1300" spc="-10" i="1">
                <a:latin typeface="Times New Roman"/>
                <a:cs typeface="Times New Roman"/>
              </a:rPr>
              <a:t>/</a:t>
            </a:r>
            <a:r>
              <a:rPr dirty="0" sz="1300" spc="-10">
                <a:latin typeface="MS Gothic"/>
                <a:cs typeface="MS Gothic"/>
              </a:rPr>
              <a:t>功能 </a:t>
            </a:r>
            <a:r>
              <a:rPr dirty="0" sz="1300" spc="-10">
                <a:latin typeface="MS Gothic"/>
                <a:cs typeface="MS Gothic"/>
              </a:rPr>
              <a:t>列表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75575" y="1620111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90" h="1165225">
                <a:moveTo>
                  <a:pt x="582044" y="0"/>
                </a:moveTo>
                <a:lnTo>
                  <a:pt x="534313" y="1930"/>
                </a:lnTo>
                <a:lnTo>
                  <a:pt x="487642" y="7622"/>
                </a:lnTo>
                <a:lnTo>
                  <a:pt x="442184" y="16925"/>
                </a:lnTo>
                <a:lnTo>
                  <a:pt x="398087" y="29690"/>
                </a:lnTo>
                <a:lnTo>
                  <a:pt x="355502" y="45766"/>
                </a:lnTo>
                <a:lnTo>
                  <a:pt x="314577" y="65003"/>
                </a:lnTo>
                <a:lnTo>
                  <a:pt x="275464" y="87252"/>
                </a:lnTo>
                <a:lnTo>
                  <a:pt x="238312" y="112363"/>
                </a:lnTo>
                <a:lnTo>
                  <a:pt x="203271" y="140185"/>
                </a:lnTo>
                <a:lnTo>
                  <a:pt x="170490" y="170569"/>
                </a:lnTo>
                <a:lnTo>
                  <a:pt x="140120" y="203365"/>
                </a:lnTo>
                <a:lnTo>
                  <a:pt x="112311" y="238423"/>
                </a:lnTo>
                <a:lnTo>
                  <a:pt x="87212" y="275592"/>
                </a:lnTo>
                <a:lnTo>
                  <a:pt x="64973" y="314723"/>
                </a:lnTo>
                <a:lnTo>
                  <a:pt x="45745" y="355667"/>
                </a:lnTo>
                <a:lnTo>
                  <a:pt x="29676" y="398272"/>
                </a:lnTo>
                <a:lnTo>
                  <a:pt x="16917" y="442389"/>
                </a:lnTo>
                <a:lnTo>
                  <a:pt x="7618" y="487869"/>
                </a:lnTo>
                <a:lnTo>
                  <a:pt x="1929" y="534561"/>
                </a:lnTo>
                <a:lnTo>
                  <a:pt x="0" y="582315"/>
                </a:lnTo>
                <a:lnTo>
                  <a:pt x="1929" y="630098"/>
                </a:lnTo>
                <a:lnTo>
                  <a:pt x="7618" y="676816"/>
                </a:lnTo>
                <a:lnTo>
                  <a:pt x="16917" y="722319"/>
                </a:lnTo>
                <a:lnTo>
                  <a:pt x="29676" y="766457"/>
                </a:lnTo>
                <a:lnTo>
                  <a:pt x="45745" y="809081"/>
                </a:lnTo>
                <a:lnTo>
                  <a:pt x="64973" y="850041"/>
                </a:lnTo>
                <a:lnTo>
                  <a:pt x="87212" y="889186"/>
                </a:lnTo>
                <a:lnTo>
                  <a:pt x="112311" y="926367"/>
                </a:lnTo>
                <a:lnTo>
                  <a:pt x="140120" y="961435"/>
                </a:lnTo>
                <a:lnTo>
                  <a:pt x="170490" y="994239"/>
                </a:lnTo>
                <a:lnTo>
                  <a:pt x="203271" y="1024630"/>
                </a:lnTo>
                <a:lnTo>
                  <a:pt x="238312" y="1052458"/>
                </a:lnTo>
                <a:lnTo>
                  <a:pt x="275464" y="1077573"/>
                </a:lnTo>
                <a:lnTo>
                  <a:pt x="314577" y="1099825"/>
                </a:lnTo>
                <a:lnTo>
                  <a:pt x="355502" y="1119065"/>
                </a:lnTo>
                <a:lnTo>
                  <a:pt x="398087" y="1135143"/>
                </a:lnTo>
                <a:lnTo>
                  <a:pt x="442184" y="1147908"/>
                </a:lnTo>
                <a:lnTo>
                  <a:pt x="487642" y="1157212"/>
                </a:lnTo>
                <a:lnTo>
                  <a:pt x="534313" y="1162904"/>
                </a:lnTo>
                <a:lnTo>
                  <a:pt x="582044" y="1164835"/>
                </a:lnTo>
                <a:lnTo>
                  <a:pt x="629806" y="1162904"/>
                </a:lnTo>
                <a:lnTo>
                  <a:pt x="676502" y="1157212"/>
                </a:lnTo>
                <a:lnTo>
                  <a:pt x="721984" y="1147908"/>
                </a:lnTo>
                <a:lnTo>
                  <a:pt x="766102" y="1135143"/>
                </a:lnTo>
                <a:lnTo>
                  <a:pt x="808707" y="1119065"/>
                </a:lnTo>
                <a:lnTo>
                  <a:pt x="849647" y="1099825"/>
                </a:lnTo>
                <a:lnTo>
                  <a:pt x="888775" y="1077573"/>
                </a:lnTo>
                <a:lnTo>
                  <a:pt x="925939" y="1052458"/>
                </a:lnTo>
                <a:lnTo>
                  <a:pt x="960990" y="1024630"/>
                </a:lnTo>
                <a:lnTo>
                  <a:pt x="993780" y="994239"/>
                </a:lnTo>
                <a:lnTo>
                  <a:pt x="1024156" y="961435"/>
                </a:lnTo>
                <a:lnTo>
                  <a:pt x="1051971" y="926367"/>
                </a:lnTo>
                <a:lnTo>
                  <a:pt x="1077075" y="889186"/>
                </a:lnTo>
                <a:lnTo>
                  <a:pt x="1099317" y="850041"/>
                </a:lnTo>
                <a:lnTo>
                  <a:pt x="1118548" y="809081"/>
                </a:lnTo>
                <a:lnTo>
                  <a:pt x="1134618" y="766457"/>
                </a:lnTo>
                <a:lnTo>
                  <a:pt x="1147378" y="722319"/>
                </a:lnTo>
                <a:lnTo>
                  <a:pt x="1156677" y="676816"/>
                </a:lnTo>
                <a:lnTo>
                  <a:pt x="1162366" y="630098"/>
                </a:lnTo>
                <a:lnTo>
                  <a:pt x="1164296" y="582315"/>
                </a:lnTo>
                <a:lnTo>
                  <a:pt x="1162366" y="534561"/>
                </a:lnTo>
                <a:lnTo>
                  <a:pt x="1156677" y="487869"/>
                </a:lnTo>
                <a:lnTo>
                  <a:pt x="1147378" y="442389"/>
                </a:lnTo>
                <a:lnTo>
                  <a:pt x="1134618" y="398272"/>
                </a:lnTo>
                <a:lnTo>
                  <a:pt x="1118548" y="355667"/>
                </a:lnTo>
                <a:lnTo>
                  <a:pt x="1099317" y="314723"/>
                </a:lnTo>
                <a:lnTo>
                  <a:pt x="1077075" y="275592"/>
                </a:lnTo>
                <a:lnTo>
                  <a:pt x="1051971" y="238423"/>
                </a:lnTo>
                <a:lnTo>
                  <a:pt x="1024156" y="203365"/>
                </a:lnTo>
                <a:lnTo>
                  <a:pt x="993780" y="170569"/>
                </a:lnTo>
                <a:lnTo>
                  <a:pt x="960990" y="140185"/>
                </a:lnTo>
                <a:lnTo>
                  <a:pt x="925939" y="112363"/>
                </a:lnTo>
                <a:lnTo>
                  <a:pt x="888775" y="87252"/>
                </a:lnTo>
                <a:lnTo>
                  <a:pt x="849647" y="65003"/>
                </a:lnTo>
                <a:lnTo>
                  <a:pt x="808707" y="45766"/>
                </a:lnTo>
                <a:lnTo>
                  <a:pt x="766102" y="29690"/>
                </a:lnTo>
                <a:lnTo>
                  <a:pt x="721984" y="16925"/>
                </a:lnTo>
                <a:lnTo>
                  <a:pt x="676502" y="7622"/>
                </a:lnTo>
                <a:lnTo>
                  <a:pt x="629806" y="1930"/>
                </a:lnTo>
                <a:lnTo>
                  <a:pt x="582044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75576" y="1620111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90" h="1165225">
                <a:moveTo>
                  <a:pt x="0" y="582314"/>
                </a:moveTo>
                <a:lnTo>
                  <a:pt x="1929" y="534560"/>
                </a:lnTo>
                <a:lnTo>
                  <a:pt x="7618" y="487868"/>
                </a:lnTo>
                <a:lnTo>
                  <a:pt x="16917" y="442389"/>
                </a:lnTo>
                <a:lnTo>
                  <a:pt x="29676" y="398271"/>
                </a:lnTo>
                <a:lnTo>
                  <a:pt x="45745" y="355666"/>
                </a:lnTo>
                <a:lnTo>
                  <a:pt x="64973" y="314723"/>
                </a:lnTo>
                <a:lnTo>
                  <a:pt x="87212" y="275591"/>
                </a:lnTo>
                <a:lnTo>
                  <a:pt x="112311" y="238422"/>
                </a:lnTo>
                <a:lnTo>
                  <a:pt x="140120" y="203365"/>
                </a:lnTo>
                <a:lnTo>
                  <a:pt x="170490" y="170569"/>
                </a:lnTo>
                <a:lnTo>
                  <a:pt x="203271" y="140185"/>
                </a:lnTo>
                <a:lnTo>
                  <a:pt x="238312" y="112363"/>
                </a:lnTo>
                <a:lnTo>
                  <a:pt x="275464" y="87252"/>
                </a:lnTo>
                <a:lnTo>
                  <a:pt x="314578" y="65003"/>
                </a:lnTo>
                <a:lnTo>
                  <a:pt x="355502" y="45766"/>
                </a:lnTo>
                <a:lnTo>
                  <a:pt x="398088" y="29690"/>
                </a:lnTo>
                <a:lnTo>
                  <a:pt x="442185" y="16925"/>
                </a:lnTo>
                <a:lnTo>
                  <a:pt x="487643" y="7622"/>
                </a:lnTo>
                <a:lnTo>
                  <a:pt x="534313" y="1930"/>
                </a:lnTo>
                <a:lnTo>
                  <a:pt x="582045" y="0"/>
                </a:lnTo>
                <a:lnTo>
                  <a:pt x="629806" y="1930"/>
                </a:lnTo>
                <a:lnTo>
                  <a:pt x="676503" y="7622"/>
                </a:lnTo>
                <a:lnTo>
                  <a:pt x="721985" y="16925"/>
                </a:lnTo>
                <a:lnTo>
                  <a:pt x="766103" y="29690"/>
                </a:lnTo>
                <a:lnTo>
                  <a:pt x="808707" y="45766"/>
                </a:lnTo>
                <a:lnTo>
                  <a:pt x="849648" y="65003"/>
                </a:lnTo>
                <a:lnTo>
                  <a:pt x="888775" y="87252"/>
                </a:lnTo>
                <a:lnTo>
                  <a:pt x="925939" y="112363"/>
                </a:lnTo>
                <a:lnTo>
                  <a:pt x="960991" y="140185"/>
                </a:lnTo>
                <a:lnTo>
                  <a:pt x="993780" y="170569"/>
                </a:lnTo>
                <a:lnTo>
                  <a:pt x="1024157" y="203365"/>
                </a:lnTo>
                <a:lnTo>
                  <a:pt x="1051972" y="238422"/>
                </a:lnTo>
                <a:lnTo>
                  <a:pt x="1077075" y="275591"/>
                </a:lnTo>
                <a:lnTo>
                  <a:pt x="1099317" y="314723"/>
                </a:lnTo>
                <a:lnTo>
                  <a:pt x="1118548" y="355666"/>
                </a:lnTo>
                <a:lnTo>
                  <a:pt x="1134618" y="398271"/>
                </a:lnTo>
                <a:lnTo>
                  <a:pt x="1147378" y="442389"/>
                </a:lnTo>
                <a:lnTo>
                  <a:pt x="1156677" y="487868"/>
                </a:lnTo>
                <a:lnTo>
                  <a:pt x="1162367" y="534560"/>
                </a:lnTo>
                <a:lnTo>
                  <a:pt x="1164296" y="582314"/>
                </a:lnTo>
                <a:lnTo>
                  <a:pt x="1162367" y="630097"/>
                </a:lnTo>
                <a:lnTo>
                  <a:pt x="1156677" y="676815"/>
                </a:lnTo>
                <a:lnTo>
                  <a:pt x="1147378" y="722318"/>
                </a:lnTo>
                <a:lnTo>
                  <a:pt x="1134618" y="766457"/>
                </a:lnTo>
                <a:lnTo>
                  <a:pt x="1118548" y="809080"/>
                </a:lnTo>
                <a:lnTo>
                  <a:pt x="1099317" y="850040"/>
                </a:lnTo>
                <a:lnTo>
                  <a:pt x="1077075" y="889185"/>
                </a:lnTo>
                <a:lnTo>
                  <a:pt x="1051972" y="926366"/>
                </a:lnTo>
                <a:lnTo>
                  <a:pt x="1024157" y="961434"/>
                </a:lnTo>
                <a:lnTo>
                  <a:pt x="993780" y="994238"/>
                </a:lnTo>
                <a:lnTo>
                  <a:pt x="960991" y="1024629"/>
                </a:lnTo>
                <a:lnTo>
                  <a:pt x="925939" y="1052457"/>
                </a:lnTo>
                <a:lnTo>
                  <a:pt x="888775" y="1077572"/>
                </a:lnTo>
                <a:lnTo>
                  <a:pt x="849648" y="1099824"/>
                </a:lnTo>
                <a:lnTo>
                  <a:pt x="808707" y="1119064"/>
                </a:lnTo>
                <a:lnTo>
                  <a:pt x="766103" y="1135142"/>
                </a:lnTo>
                <a:lnTo>
                  <a:pt x="721985" y="1147907"/>
                </a:lnTo>
                <a:lnTo>
                  <a:pt x="676503" y="1157211"/>
                </a:lnTo>
                <a:lnTo>
                  <a:pt x="629806" y="1162903"/>
                </a:lnTo>
                <a:lnTo>
                  <a:pt x="582045" y="1164833"/>
                </a:lnTo>
                <a:lnTo>
                  <a:pt x="534313" y="1162903"/>
                </a:lnTo>
                <a:lnTo>
                  <a:pt x="487643" y="1157211"/>
                </a:lnTo>
                <a:lnTo>
                  <a:pt x="442185" y="1147907"/>
                </a:lnTo>
                <a:lnTo>
                  <a:pt x="398088" y="1135142"/>
                </a:lnTo>
                <a:lnTo>
                  <a:pt x="355502" y="1119064"/>
                </a:lnTo>
                <a:lnTo>
                  <a:pt x="314578" y="1099824"/>
                </a:lnTo>
                <a:lnTo>
                  <a:pt x="275464" y="1077572"/>
                </a:lnTo>
                <a:lnTo>
                  <a:pt x="238312" y="1052457"/>
                </a:lnTo>
                <a:lnTo>
                  <a:pt x="203271" y="1024629"/>
                </a:lnTo>
                <a:lnTo>
                  <a:pt x="170490" y="994238"/>
                </a:lnTo>
                <a:lnTo>
                  <a:pt x="140120" y="961434"/>
                </a:lnTo>
                <a:lnTo>
                  <a:pt x="112311" y="926366"/>
                </a:lnTo>
                <a:lnTo>
                  <a:pt x="87212" y="889185"/>
                </a:lnTo>
                <a:lnTo>
                  <a:pt x="64973" y="850040"/>
                </a:lnTo>
                <a:lnTo>
                  <a:pt x="45745" y="809080"/>
                </a:lnTo>
                <a:lnTo>
                  <a:pt x="29676" y="766457"/>
                </a:lnTo>
                <a:lnTo>
                  <a:pt x="16917" y="722318"/>
                </a:lnTo>
                <a:lnTo>
                  <a:pt x="7618" y="676815"/>
                </a:lnTo>
                <a:lnTo>
                  <a:pt x="1929" y="630097"/>
                </a:lnTo>
                <a:lnTo>
                  <a:pt x="0" y="582314"/>
                </a:lnTo>
                <a:close/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952216" y="1966582"/>
            <a:ext cx="101155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宋体"/>
                <a:cs typeface="宋体"/>
              </a:rPr>
              <a:t>发现业务</a:t>
            </a:r>
            <a:r>
              <a:rPr dirty="0" sz="1300" spc="-5">
                <a:latin typeface="Arial"/>
                <a:cs typeface="Arial"/>
              </a:rPr>
              <a:t>“</a:t>
            </a:r>
            <a:r>
              <a:rPr dirty="0" sz="1300" spc="70">
                <a:latin typeface="Arial"/>
                <a:cs typeface="Arial"/>
              </a:rPr>
              <a:t> </a:t>
            </a:r>
            <a:r>
              <a:rPr dirty="0" sz="1300" spc="-10">
                <a:latin typeface="MS Gothic"/>
                <a:cs typeface="MS Gothic"/>
              </a:rPr>
              <a:t>事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80824" y="2178220"/>
            <a:ext cx="24447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MS Gothic"/>
                <a:cs typeface="MS Gothic"/>
              </a:rPr>
              <a:t>物</a:t>
            </a:r>
            <a:r>
              <a:rPr dirty="0" sz="1300" spc="-5">
                <a:latin typeface="Arial"/>
                <a:cs typeface="Arial"/>
              </a:rPr>
              <a:t>”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5479" y="3775126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90" h="0">
                <a:moveTo>
                  <a:pt x="0" y="0"/>
                </a:moveTo>
                <a:lnTo>
                  <a:pt x="1164296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45479" y="3192606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90" h="0">
                <a:moveTo>
                  <a:pt x="0" y="0"/>
                </a:moveTo>
                <a:lnTo>
                  <a:pt x="1164296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486423" y="3233535"/>
            <a:ext cx="682625" cy="45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dirty="0" sz="1300" spc="-10">
                <a:latin typeface="MS Gothic"/>
                <a:cs typeface="MS Gothic"/>
              </a:rPr>
              <a:t>概念列表 数据字典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704433" y="2901449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89" h="1165225">
                <a:moveTo>
                  <a:pt x="582169" y="0"/>
                </a:moveTo>
                <a:lnTo>
                  <a:pt x="534422" y="1930"/>
                </a:lnTo>
                <a:lnTo>
                  <a:pt x="487738" y="7622"/>
                </a:lnTo>
                <a:lnTo>
                  <a:pt x="442267" y="16926"/>
                </a:lnTo>
                <a:lnTo>
                  <a:pt x="398159" y="29691"/>
                </a:lnTo>
                <a:lnTo>
                  <a:pt x="355563" y="45769"/>
                </a:lnTo>
                <a:lnTo>
                  <a:pt x="314629" y="65009"/>
                </a:lnTo>
                <a:lnTo>
                  <a:pt x="275507" y="87261"/>
                </a:lnTo>
                <a:lnTo>
                  <a:pt x="238348" y="112376"/>
                </a:lnTo>
                <a:lnTo>
                  <a:pt x="203300" y="140203"/>
                </a:lnTo>
                <a:lnTo>
                  <a:pt x="170513" y="170594"/>
                </a:lnTo>
                <a:lnTo>
                  <a:pt x="140138" y="203398"/>
                </a:lnTo>
                <a:lnTo>
                  <a:pt x="112325" y="238466"/>
                </a:lnTo>
                <a:lnTo>
                  <a:pt x="87222" y="275648"/>
                </a:lnTo>
                <a:lnTo>
                  <a:pt x="64980" y="314793"/>
                </a:lnTo>
                <a:lnTo>
                  <a:pt x="45749" y="355752"/>
                </a:lnTo>
                <a:lnTo>
                  <a:pt x="29679" y="398376"/>
                </a:lnTo>
                <a:lnTo>
                  <a:pt x="16919" y="442515"/>
                </a:lnTo>
                <a:lnTo>
                  <a:pt x="7619" y="488018"/>
                </a:lnTo>
                <a:lnTo>
                  <a:pt x="1929" y="534736"/>
                </a:lnTo>
                <a:lnTo>
                  <a:pt x="0" y="582519"/>
                </a:lnTo>
                <a:lnTo>
                  <a:pt x="1929" y="630273"/>
                </a:lnTo>
                <a:lnTo>
                  <a:pt x="7619" y="676965"/>
                </a:lnTo>
                <a:lnTo>
                  <a:pt x="16919" y="722444"/>
                </a:lnTo>
                <a:lnTo>
                  <a:pt x="29679" y="766562"/>
                </a:lnTo>
                <a:lnTo>
                  <a:pt x="45749" y="809167"/>
                </a:lnTo>
                <a:lnTo>
                  <a:pt x="64980" y="850110"/>
                </a:lnTo>
                <a:lnTo>
                  <a:pt x="87222" y="889241"/>
                </a:lnTo>
                <a:lnTo>
                  <a:pt x="112325" y="926411"/>
                </a:lnTo>
                <a:lnTo>
                  <a:pt x="140138" y="961468"/>
                </a:lnTo>
                <a:lnTo>
                  <a:pt x="170513" y="994264"/>
                </a:lnTo>
                <a:lnTo>
                  <a:pt x="203300" y="1024648"/>
                </a:lnTo>
                <a:lnTo>
                  <a:pt x="238348" y="1052470"/>
                </a:lnTo>
                <a:lnTo>
                  <a:pt x="275507" y="1077581"/>
                </a:lnTo>
                <a:lnTo>
                  <a:pt x="314629" y="1099830"/>
                </a:lnTo>
                <a:lnTo>
                  <a:pt x="355563" y="1119067"/>
                </a:lnTo>
                <a:lnTo>
                  <a:pt x="398159" y="1135143"/>
                </a:lnTo>
                <a:lnTo>
                  <a:pt x="442267" y="1147908"/>
                </a:lnTo>
                <a:lnTo>
                  <a:pt x="487738" y="1157211"/>
                </a:lnTo>
                <a:lnTo>
                  <a:pt x="534422" y="1162903"/>
                </a:lnTo>
                <a:lnTo>
                  <a:pt x="582169" y="1164833"/>
                </a:lnTo>
                <a:lnTo>
                  <a:pt x="629918" y="1162903"/>
                </a:lnTo>
                <a:lnTo>
                  <a:pt x="676605" y="1157211"/>
                </a:lnTo>
                <a:lnTo>
                  <a:pt x="722078" y="1147908"/>
                </a:lnTo>
                <a:lnTo>
                  <a:pt x="766189" y="1135143"/>
                </a:lnTo>
                <a:lnTo>
                  <a:pt x="808787" y="1119067"/>
                </a:lnTo>
                <a:lnTo>
                  <a:pt x="849722" y="1099830"/>
                </a:lnTo>
                <a:lnTo>
                  <a:pt x="888845" y="1077581"/>
                </a:lnTo>
                <a:lnTo>
                  <a:pt x="926006" y="1052470"/>
                </a:lnTo>
                <a:lnTo>
                  <a:pt x="961055" y="1024648"/>
                </a:lnTo>
                <a:lnTo>
                  <a:pt x="993842" y="994264"/>
                </a:lnTo>
                <a:lnTo>
                  <a:pt x="1024218" y="961468"/>
                </a:lnTo>
                <a:lnTo>
                  <a:pt x="1052032" y="926411"/>
                </a:lnTo>
                <a:lnTo>
                  <a:pt x="1077135" y="889241"/>
                </a:lnTo>
                <a:lnTo>
                  <a:pt x="1099377" y="850110"/>
                </a:lnTo>
                <a:lnTo>
                  <a:pt x="1118608" y="809167"/>
                </a:lnTo>
                <a:lnTo>
                  <a:pt x="1134679" y="766562"/>
                </a:lnTo>
                <a:lnTo>
                  <a:pt x="1147439" y="722444"/>
                </a:lnTo>
                <a:lnTo>
                  <a:pt x="1156739" y="676965"/>
                </a:lnTo>
                <a:lnTo>
                  <a:pt x="1162428" y="630273"/>
                </a:lnTo>
                <a:lnTo>
                  <a:pt x="1164358" y="582519"/>
                </a:lnTo>
                <a:lnTo>
                  <a:pt x="1162428" y="534736"/>
                </a:lnTo>
                <a:lnTo>
                  <a:pt x="1156739" y="488018"/>
                </a:lnTo>
                <a:lnTo>
                  <a:pt x="1147439" y="442515"/>
                </a:lnTo>
                <a:lnTo>
                  <a:pt x="1134679" y="398376"/>
                </a:lnTo>
                <a:lnTo>
                  <a:pt x="1118608" y="355752"/>
                </a:lnTo>
                <a:lnTo>
                  <a:pt x="1099377" y="314793"/>
                </a:lnTo>
                <a:lnTo>
                  <a:pt x="1077135" y="275648"/>
                </a:lnTo>
                <a:lnTo>
                  <a:pt x="1052032" y="238466"/>
                </a:lnTo>
                <a:lnTo>
                  <a:pt x="1024218" y="203398"/>
                </a:lnTo>
                <a:lnTo>
                  <a:pt x="993842" y="170594"/>
                </a:lnTo>
                <a:lnTo>
                  <a:pt x="961055" y="140203"/>
                </a:lnTo>
                <a:lnTo>
                  <a:pt x="926006" y="112376"/>
                </a:lnTo>
                <a:lnTo>
                  <a:pt x="888845" y="87261"/>
                </a:lnTo>
                <a:lnTo>
                  <a:pt x="849722" y="65009"/>
                </a:lnTo>
                <a:lnTo>
                  <a:pt x="808787" y="45769"/>
                </a:lnTo>
                <a:lnTo>
                  <a:pt x="766189" y="29691"/>
                </a:lnTo>
                <a:lnTo>
                  <a:pt x="722078" y="16926"/>
                </a:lnTo>
                <a:lnTo>
                  <a:pt x="676605" y="7622"/>
                </a:lnTo>
                <a:lnTo>
                  <a:pt x="629918" y="1930"/>
                </a:lnTo>
                <a:lnTo>
                  <a:pt x="582169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04434" y="2901449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89" h="1165225">
                <a:moveTo>
                  <a:pt x="0" y="582519"/>
                </a:moveTo>
                <a:lnTo>
                  <a:pt x="1929" y="534736"/>
                </a:lnTo>
                <a:lnTo>
                  <a:pt x="7619" y="488018"/>
                </a:lnTo>
                <a:lnTo>
                  <a:pt x="16919" y="442515"/>
                </a:lnTo>
                <a:lnTo>
                  <a:pt x="29679" y="398376"/>
                </a:lnTo>
                <a:lnTo>
                  <a:pt x="45749" y="355753"/>
                </a:lnTo>
                <a:lnTo>
                  <a:pt x="64980" y="314793"/>
                </a:lnTo>
                <a:lnTo>
                  <a:pt x="87222" y="275648"/>
                </a:lnTo>
                <a:lnTo>
                  <a:pt x="112325" y="238466"/>
                </a:lnTo>
                <a:lnTo>
                  <a:pt x="140138" y="203399"/>
                </a:lnTo>
                <a:lnTo>
                  <a:pt x="170513" y="170595"/>
                </a:lnTo>
                <a:lnTo>
                  <a:pt x="203300" y="140204"/>
                </a:lnTo>
                <a:lnTo>
                  <a:pt x="238348" y="112376"/>
                </a:lnTo>
                <a:lnTo>
                  <a:pt x="275507" y="87261"/>
                </a:lnTo>
                <a:lnTo>
                  <a:pt x="314629" y="65009"/>
                </a:lnTo>
                <a:lnTo>
                  <a:pt x="355563" y="45769"/>
                </a:lnTo>
                <a:lnTo>
                  <a:pt x="398159" y="29691"/>
                </a:lnTo>
                <a:lnTo>
                  <a:pt x="442267" y="16926"/>
                </a:lnTo>
                <a:lnTo>
                  <a:pt x="487738" y="7622"/>
                </a:lnTo>
                <a:lnTo>
                  <a:pt x="534422" y="1930"/>
                </a:lnTo>
                <a:lnTo>
                  <a:pt x="582168" y="0"/>
                </a:lnTo>
                <a:lnTo>
                  <a:pt x="629918" y="1930"/>
                </a:lnTo>
                <a:lnTo>
                  <a:pt x="676605" y="7622"/>
                </a:lnTo>
                <a:lnTo>
                  <a:pt x="722078" y="16926"/>
                </a:lnTo>
                <a:lnTo>
                  <a:pt x="766188" y="29691"/>
                </a:lnTo>
                <a:lnTo>
                  <a:pt x="808786" y="45769"/>
                </a:lnTo>
                <a:lnTo>
                  <a:pt x="849721" y="65009"/>
                </a:lnTo>
                <a:lnTo>
                  <a:pt x="888845" y="87261"/>
                </a:lnTo>
                <a:lnTo>
                  <a:pt x="926005" y="112376"/>
                </a:lnTo>
                <a:lnTo>
                  <a:pt x="961054" y="140204"/>
                </a:lnTo>
                <a:lnTo>
                  <a:pt x="993842" y="170595"/>
                </a:lnTo>
                <a:lnTo>
                  <a:pt x="1024217" y="203399"/>
                </a:lnTo>
                <a:lnTo>
                  <a:pt x="1052031" y="238466"/>
                </a:lnTo>
                <a:lnTo>
                  <a:pt x="1077134" y="275648"/>
                </a:lnTo>
                <a:lnTo>
                  <a:pt x="1099376" y="314793"/>
                </a:lnTo>
                <a:lnTo>
                  <a:pt x="1118608" y="355753"/>
                </a:lnTo>
                <a:lnTo>
                  <a:pt x="1134678" y="398376"/>
                </a:lnTo>
                <a:lnTo>
                  <a:pt x="1147438" y="442515"/>
                </a:lnTo>
                <a:lnTo>
                  <a:pt x="1156738" y="488018"/>
                </a:lnTo>
                <a:lnTo>
                  <a:pt x="1162428" y="534736"/>
                </a:lnTo>
                <a:lnTo>
                  <a:pt x="1164358" y="582519"/>
                </a:lnTo>
                <a:lnTo>
                  <a:pt x="1162428" y="630273"/>
                </a:lnTo>
                <a:lnTo>
                  <a:pt x="1156738" y="676965"/>
                </a:lnTo>
                <a:lnTo>
                  <a:pt x="1147438" y="722444"/>
                </a:lnTo>
                <a:lnTo>
                  <a:pt x="1134678" y="766562"/>
                </a:lnTo>
                <a:lnTo>
                  <a:pt x="1118608" y="809167"/>
                </a:lnTo>
                <a:lnTo>
                  <a:pt x="1099376" y="850110"/>
                </a:lnTo>
                <a:lnTo>
                  <a:pt x="1077134" y="889242"/>
                </a:lnTo>
                <a:lnTo>
                  <a:pt x="1052031" y="926411"/>
                </a:lnTo>
                <a:lnTo>
                  <a:pt x="1024217" y="961468"/>
                </a:lnTo>
                <a:lnTo>
                  <a:pt x="993842" y="994264"/>
                </a:lnTo>
                <a:lnTo>
                  <a:pt x="961054" y="1024648"/>
                </a:lnTo>
                <a:lnTo>
                  <a:pt x="926005" y="1052470"/>
                </a:lnTo>
                <a:lnTo>
                  <a:pt x="888845" y="1077581"/>
                </a:lnTo>
                <a:lnTo>
                  <a:pt x="849721" y="1099830"/>
                </a:lnTo>
                <a:lnTo>
                  <a:pt x="808786" y="1119067"/>
                </a:lnTo>
                <a:lnTo>
                  <a:pt x="766188" y="1135143"/>
                </a:lnTo>
                <a:lnTo>
                  <a:pt x="722078" y="1147908"/>
                </a:lnTo>
                <a:lnTo>
                  <a:pt x="676605" y="1157211"/>
                </a:lnTo>
                <a:lnTo>
                  <a:pt x="629918" y="1162903"/>
                </a:lnTo>
                <a:lnTo>
                  <a:pt x="582168" y="1164833"/>
                </a:lnTo>
                <a:lnTo>
                  <a:pt x="534422" y="1162903"/>
                </a:lnTo>
                <a:lnTo>
                  <a:pt x="487738" y="1157211"/>
                </a:lnTo>
                <a:lnTo>
                  <a:pt x="442267" y="1147908"/>
                </a:lnTo>
                <a:lnTo>
                  <a:pt x="398159" y="1135143"/>
                </a:lnTo>
                <a:lnTo>
                  <a:pt x="355563" y="1119067"/>
                </a:lnTo>
                <a:lnTo>
                  <a:pt x="314629" y="1099830"/>
                </a:lnTo>
                <a:lnTo>
                  <a:pt x="275507" y="1077581"/>
                </a:lnTo>
                <a:lnTo>
                  <a:pt x="238348" y="1052470"/>
                </a:lnTo>
                <a:lnTo>
                  <a:pt x="203300" y="1024648"/>
                </a:lnTo>
                <a:lnTo>
                  <a:pt x="170513" y="994264"/>
                </a:lnTo>
                <a:lnTo>
                  <a:pt x="140138" y="961468"/>
                </a:lnTo>
                <a:lnTo>
                  <a:pt x="112325" y="926411"/>
                </a:lnTo>
                <a:lnTo>
                  <a:pt x="87222" y="889242"/>
                </a:lnTo>
                <a:lnTo>
                  <a:pt x="64980" y="850110"/>
                </a:lnTo>
                <a:lnTo>
                  <a:pt x="45749" y="809167"/>
                </a:lnTo>
                <a:lnTo>
                  <a:pt x="29679" y="766562"/>
                </a:lnTo>
                <a:lnTo>
                  <a:pt x="16919" y="722444"/>
                </a:lnTo>
                <a:lnTo>
                  <a:pt x="7619" y="676965"/>
                </a:lnTo>
                <a:lnTo>
                  <a:pt x="1929" y="630273"/>
                </a:lnTo>
                <a:lnTo>
                  <a:pt x="0" y="582519"/>
                </a:lnTo>
                <a:close/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781074" y="3233534"/>
            <a:ext cx="1011555" cy="44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995" marR="5080" indent="-328930">
              <a:lnSpc>
                <a:spcPct val="106800"/>
              </a:lnSpc>
              <a:spcBef>
                <a:spcPts val="100"/>
              </a:spcBef>
            </a:pPr>
            <a:r>
              <a:rPr dirty="0" sz="1300" spc="-10">
                <a:latin typeface="MS Gothic"/>
                <a:cs typeface="MS Gothic"/>
              </a:rPr>
              <a:t>描述</a:t>
            </a:r>
            <a:r>
              <a:rPr dirty="0" sz="1300" spc="-10">
                <a:latin typeface="宋体"/>
                <a:cs typeface="宋体"/>
              </a:rPr>
              <a:t>业务</a:t>
            </a:r>
            <a:r>
              <a:rPr dirty="0" sz="1300" spc="-5">
                <a:latin typeface="Arial"/>
                <a:cs typeface="Arial"/>
              </a:rPr>
              <a:t>“</a:t>
            </a:r>
            <a:r>
              <a:rPr dirty="0" sz="1300" spc="65">
                <a:latin typeface="Arial"/>
                <a:cs typeface="Arial"/>
              </a:rPr>
              <a:t> </a:t>
            </a:r>
            <a:r>
              <a:rPr dirty="0" sz="1300" spc="-10">
                <a:latin typeface="MS Gothic"/>
                <a:cs typeface="MS Gothic"/>
              </a:rPr>
              <a:t>事 件</a:t>
            </a:r>
            <a:r>
              <a:rPr dirty="0" sz="1300" spc="-5">
                <a:latin typeface="Arial"/>
                <a:cs typeface="Arial"/>
              </a:rPr>
              <a:t>”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09186" y="5056484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89" h="0">
                <a:moveTo>
                  <a:pt x="0" y="0"/>
                </a:moveTo>
                <a:lnTo>
                  <a:pt x="1164317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09186" y="4474047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89" h="0">
                <a:moveTo>
                  <a:pt x="0" y="0"/>
                </a:moveTo>
                <a:lnTo>
                  <a:pt x="1164317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563009" y="4515016"/>
            <a:ext cx="1057275" cy="45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1940" marR="5080" indent="-269875">
              <a:lnSpc>
                <a:spcPct val="109200"/>
              </a:lnSpc>
              <a:spcBef>
                <a:spcPts val="100"/>
              </a:spcBef>
            </a:pPr>
            <a:r>
              <a:rPr dirty="0" sz="1300" spc="-10">
                <a:latin typeface="MS Gothic"/>
                <a:cs typeface="MS Gothic"/>
              </a:rPr>
              <a:t>数据流</a:t>
            </a:r>
            <a:r>
              <a:rPr dirty="0" sz="1300" spc="-10">
                <a:latin typeface="宋体"/>
                <a:cs typeface="宋体"/>
              </a:rPr>
              <a:t>图</a:t>
            </a:r>
            <a:r>
              <a:rPr dirty="0" sz="1300" spc="-10" i="1">
                <a:latin typeface="Times New Roman"/>
                <a:cs typeface="Times New Roman"/>
              </a:rPr>
              <a:t>/</a:t>
            </a:r>
            <a:r>
              <a:rPr dirty="0" sz="1300" spc="-10">
                <a:latin typeface="MS Gothic"/>
                <a:cs typeface="MS Gothic"/>
              </a:rPr>
              <a:t>状</a:t>
            </a:r>
            <a:r>
              <a:rPr dirty="0" sz="1300" spc="-5">
                <a:latin typeface="宋体"/>
                <a:cs typeface="宋体"/>
              </a:rPr>
              <a:t>态 </a:t>
            </a:r>
            <a:r>
              <a:rPr dirty="0" sz="1300" spc="-10">
                <a:latin typeface="宋体"/>
                <a:cs typeface="宋体"/>
              </a:rPr>
              <a:t>转移图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45479" y="4881749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90" h="0">
                <a:moveTo>
                  <a:pt x="0" y="0"/>
                </a:moveTo>
                <a:lnTo>
                  <a:pt x="1164296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45479" y="4299291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90" h="0">
                <a:moveTo>
                  <a:pt x="0" y="0"/>
                </a:moveTo>
                <a:lnTo>
                  <a:pt x="1164296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404271" y="4467533"/>
            <a:ext cx="84709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宋体"/>
                <a:cs typeface="宋体"/>
              </a:rPr>
              <a:t>实体关系图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75575" y="4590530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90" h="1165225">
                <a:moveTo>
                  <a:pt x="582044" y="0"/>
                </a:moveTo>
                <a:lnTo>
                  <a:pt x="534313" y="1930"/>
                </a:lnTo>
                <a:lnTo>
                  <a:pt x="487642" y="7623"/>
                </a:lnTo>
                <a:lnTo>
                  <a:pt x="442184" y="16927"/>
                </a:lnTo>
                <a:lnTo>
                  <a:pt x="398087" y="29693"/>
                </a:lnTo>
                <a:lnTo>
                  <a:pt x="355502" y="45771"/>
                </a:lnTo>
                <a:lnTo>
                  <a:pt x="314577" y="65011"/>
                </a:lnTo>
                <a:lnTo>
                  <a:pt x="275464" y="87263"/>
                </a:lnTo>
                <a:lnTo>
                  <a:pt x="238312" y="112378"/>
                </a:lnTo>
                <a:lnTo>
                  <a:pt x="203271" y="140205"/>
                </a:lnTo>
                <a:lnTo>
                  <a:pt x="170490" y="170595"/>
                </a:lnTo>
                <a:lnTo>
                  <a:pt x="140120" y="203397"/>
                </a:lnTo>
                <a:lnTo>
                  <a:pt x="112311" y="238462"/>
                </a:lnTo>
                <a:lnTo>
                  <a:pt x="87212" y="275640"/>
                </a:lnTo>
                <a:lnTo>
                  <a:pt x="64973" y="314781"/>
                </a:lnTo>
                <a:lnTo>
                  <a:pt x="45745" y="355735"/>
                </a:lnTo>
                <a:lnTo>
                  <a:pt x="29676" y="398353"/>
                </a:lnTo>
                <a:lnTo>
                  <a:pt x="16917" y="442483"/>
                </a:lnTo>
                <a:lnTo>
                  <a:pt x="7618" y="487978"/>
                </a:lnTo>
                <a:lnTo>
                  <a:pt x="1929" y="534685"/>
                </a:lnTo>
                <a:lnTo>
                  <a:pt x="0" y="582457"/>
                </a:lnTo>
                <a:lnTo>
                  <a:pt x="1929" y="630226"/>
                </a:lnTo>
                <a:lnTo>
                  <a:pt x="7618" y="676931"/>
                </a:lnTo>
                <a:lnTo>
                  <a:pt x="16917" y="722423"/>
                </a:lnTo>
                <a:lnTo>
                  <a:pt x="29676" y="766552"/>
                </a:lnTo>
                <a:lnTo>
                  <a:pt x="45745" y="809168"/>
                </a:lnTo>
                <a:lnTo>
                  <a:pt x="64973" y="850120"/>
                </a:lnTo>
                <a:lnTo>
                  <a:pt x="87212" y="889260"/>
                </a:lnTo>
                <a:lnTo>
                  <a:pt x="112311" y="926437"/>
                </a:lnTo>
                <a:lnTo>
                  <a:pt x="140120" y="961501"/>
                </a:lnTo>
                <a:lnTo>
                  <a:pt x="170490" y="994303"/>
                </a:lnTo>
                <a:lnTo>
                  <a:pt x="203271" y="1024691"/>
                </a:lnTo>
                <a:lnTo>
                  <a:pt x="238312" y="1052518"/>
                </a:lnTo>
                <a:lnTo>
                  <a:pt x="275464" y="1077632"/>
                </a:lnTo>
                <a:lnTo>
                  <a:pt x="314577" y="1099884"/>
                </a:lnTo>
                <a:lnTo>
                  <a:pt x="355502" y="1119124"/>
                </a:lnTo>
                <a:lnTo>
                  <a:pt x="398087" y="1135202"/>
                </a:lnTo>
                <a:lnTo>
                  <a:pt x="442184" y="1147968"/>
                </a:lnTo>
                <a:lnTo>
                  <a:pt x="487642" y="1157272"/>
                </a:lnTo>
                <a:lnTo>
                  <a:pt x="534313" y="1162964"/>
                </a:lnTo>
                <a:lnTo>
                  <a:pt x="582044" y="1164895"/>
                </a:lnTo>
                <a:lnTo>
                  <a:pt x="629806" y="1162964"/>
                </a:lnTo>
                <a:lnTo>
                  <a:pt x="676502" y="1157272"/>
                </a:lnTo>
                <a:lnTo>
                  <a:pt x="721984" y="1147968"/>
                </a:lnTo>
                <a:lnTo>
                  <a:pt x="766102" y="1135202"/>
                </a:lnTo>
                <a:lnTo>
                  <a:pt x="808707" y="1119124"/>
                </a:lnTo>
                <a:lnTo>
                  <a:pt x="849647" y="1099884"/>
                </a:lnTo>
                <a:lnTo>
                  <a:pt x="888775" y="1077632"/>
                </a:lnTo>
                <a:lnTo>
                  <a:pt x="925939" y="1052518"/>
                </a:lnTo>
                <a:lnTo>
                  <a:pt x="960990" y="1024691"/>
                </a:lnTo>
                <a:lnTo>
                  <a:pt x="993780" y="994303"/>
                </a:lnTo>
                <a:lnTo>
                  <a:pt x="1024156" y="961501"/>
                </a:lnTo>
                <a:lnTo>
                  <a:pt x="1051971" y="926437"/>
                </a:lnTo>
                <a:lnTo>
                  <a:pt x="1077075" y="889260"/>
                </a:lnTo>
                <a:lnTo>
                  <a:pt x="1099317" y="850120"/>
                </a:lnTo>
                <a:lnTo>
                  <a:pt x="1118548" y="809168"/>
                </a:lnTo>
                <a:lnTo>
                  <a:pt x="1134618" y="766552"/>
                </a:lnTo>
                <a:lnTo>
                  <a:pt x="1147378" y="722423"/>
                </a:lnTo>
                <a:lnTo>
                  <a:pt x="1156677" y="676931"/>
                </a:lnTo>
                <a:lnTo>
                  <a:pt x="1162366" y="630226"/>
                </a:lnTo>
                <a:lnTo>
                  <a:pt x="1164296" y="582457"/>
                </a:lnTo>
                <a:lnTo>
                  <a:pt x="1162366" y="534685"/>
                </a:lnTo>
                <a:lnTo>
                  <a:pt x="1156677" y="487978"/>
                </a:lnTo>
                <a:lnTo>
                  <a:pt x="1147378" y="442483"/>
                </a:lnTo>
                <a:lnTo>
                  <a:pt x="1134618" y="398353"/>
                </a:lnTo>
                <a:lnTo>
                  <a:pt x="1118548" y="355735"/>
                </a:lnTo>
                <a:lnTo>
                  <a:pt x="1099317" y="314781"/>
                </a:lnTo>
                <a:lnTo>
                  <a:pt x="1077075" y="275640"/>
                </a:lnTo>
                <a:lnTo>
                  <a:pt x="1051971" y="238462"/>
                </a:lnTo>
                <a:lnTo>
                  <a:pt x="1024156" y="203397"/>
                </a:lnTo>
                <a:lnTo>
                  <a:pt x="993780" y="170595"/>
                </a:lnTo>
                <a:lnTo>
                  <a:pt x="960990" y="140205"/>
                </a:lnTo>
                <a:lnTo>
                  <a:pt x="925939" y="112378"/>
                </a:lnTo>
                <a:lnTo>
                  <a:pt x="888775" y="87263"/>
                </a:lnTo>
                <a:lnTo>
                  <a:pt x="849647" y="65011"/>
                </a:lnTo>
                <a:lnTo>
                  <a:pt x="808707" y="45771"/>
                </a:lnTo>
                <a:lnTo>
                  <a:pt x="766102" y="29693"/>
                </a:lnTo>
                <a:lnTo>
                  <a:pt x="721984" y="16927"/>
                </a:lnTo>
                <a:lnTo>
                  <a:pt x="676502" y="7623"/>
                </a:lnTo>
                <a:lnTo>
                  <a:pt x="629806" y="1930"/>
                </a:lnTo>
                <a:lnTo>
                  <a:pt x="582044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875576" y="4590530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90" h="1165225">
                <a:moveTo>
                  <a:pt x="0" y="582458"/>
                </a:moveTo>
                <a:lnTo>
                  <a:pt x="1929" y="534686"/>
                </a:lnTo>
                <a:lnTo>
                  <a:pt x="7618" y="487978"/>
                </a:lnTo>
                <a:lnTo>
                  <a:pt x="16917" y="442484"/>
                </a:lnTo>
                <a:lnTo>
                  <a:pt x="29676" y="398353"/>
                </a:lnTo>
                <a:lnTo>
                  <a:pt x="45745" y="355735"/>
                </a:lnTo>
                <a:lnTo>
                  <a:pt x="64973" y="314781"/>
                </a:lnTo>
                <a:lnTo>
                  <a:pt x="87212" y="275640"/>
                </a:lnTo>
                <a:lnTo>
                  <a:pt x="112311" y="238462"/>
                </a:lnTo>
                <a:lnTo>
                  <a:pt x="140120" y="203397"/>
                </a:lnTo>
                <a:lnTo>
                  <a:pt x="170490" y="170595"/>
                </a:lnTo>
                <a:lnTo>
                  <a:pt x="203271" y="140205"/>
                </a:lnTo>
                <a:lnTo>
                  <a:pt x="238312" y="112378"/>
                </a:lnTo>
                <a:lnTo>
                  <a:pt x="275464" y="87263"/>
                </a:lnTo>
                <a:lnTo>
                  <a:pt x="314578" y="65011"/>
                </a:lnTo>
                <a:lnTo>
                  <a:pt x="355502" y="45771"/>
                </a:lnTo>
                <a:lnTo>
                  <a:pt x="398088" y="29693"/>
                </a:lnTo>
                <a:lnTo>
                  <a:pt x="442185" y="16927"/>
                </a:lnTo>
                <a:lnTo>
                  <a:pt x="487643" y="7623"/>
                </a:lnTo>
                <a:lnTo>
                  <a:pt x="534313" y="1930"/>
                </a:lnTo>
                <a:lnTo>
                  <a:pt x="582045" y="0"/>
                </a:lnTo>
                <a:lnTo>
                  <a:pt x="629806" y="1930"/>
                </a:lnTo>
                <a:lnTo>
                  <a:pt x="676503" y="7623"/>
                </a:lnTo>
                <a:lnTo>
                  <a:pt x="721985" y="16927"/>
                </a:lnTo>
                <a:lnTo>
                  <a:pt x="766103" y="29693"/>
                </a:lnTo>
                <a:lnTo>
                  <a:pt x="808707" y="45771"/>
                </a:lnTo>
                <a:lnTo>
                  <a:pt x="849648" y="65011"/>
                </a:lnTo>
                <a:lnTo>
                  <a:pt x="888775" y="87263"/>
                </a:lnTo>
                <a:lnTo>
                  <a:pt x="925939" y="112378"/>
                </a:lnTo>
                <a:lnTo>
                  <a:pt x="960991" y="140205"/>
                </a:lnTo>
                <a:lnTo>
                  <a:pt x="993780" y="170595"/>
                </a:lnTo>
                <a:lnTo>
                  <a:pt x="1024157" y="203397"/>
                </a:lnTo>
                <a:lnTo>
                  <a:pt x="1051972" y="238462"/>
                </a:lnTo>
                <a:lnTo>
                  <a:pt x="1077075" y="275640"/>
                </a:lnTo>
                <a:lnTo>
                  <a:pt x="1099317" y="314781"/>
                </a:lnTo>
                <a:lnTo>
                  <a:pt x="1118548" y="355735"/>
                </a:lnTo>
                <a:lnTo>
                  <a:pt x="1134618" y="398353"/>
                </a:lnTo>
                <a:lnTo>
                  <a:pt x="1147378" y="442484"/>
                </a:lnTo>
                <a:lnTo>
                  <a:pt x="1156677" y="487978"/>
                </a:lnTo>
                <a:lnTo>
                  <a:pt x="1162367" y="534686"/>
                </a:lnTo>
                <a:lnTo>
                  <a:pt x="1164296" y="582458"/>
                </a:lnTo>
                <a:lnTo>
                  <a:pt x="1162367" y="630226"/>
                </a:lnTo>
                <a:lnTo>
                  <a:pt x="1156677" y="676932"/>
                </a:lnTo>
                <a:lnTo>
                  <a:pt x="1147378" y="722424"/>
                </a:lnTo>
                <a:lnTo>
                  <a:pt x="1134618" y="766552"/>
                </a:lnTo>
                <a:lnTo>
                  <a:pt x="1118548" y="809168"/>
                </a:lnTo>
                <a:lnTo>
                  <a:pt x="1099317" y="850121"/>
                </a:lnTo>
                <a:lnTo>
                  <a:pt x="1077075" y="889260"/>
                </a:lnTo>
                <a:lnTo>
                  <a:pt x="1051972" y="926437"/>
                </a:lnTo>
                <a:lnTo>
                  <a:pt x="1024157" y="961501"/>
                </a:lnTo>
                <a:lnTo>
                  <a:pt x="993780" y="994303"/>
                </a:lnTo>
                <a:lnTo>
                  <a:pt x="960991" y="1024691"/>
                </a:lnTo>
                <a:lnTo>
                  <a:pt x="925939" y="1052518"/>
                </a:lnTo>
                <a:lnTo>
                  <a:pt x="888775" y="1077632"/>
                </a:lnTo>
                <a:lnTo>
                  <a:pt x="849648" y="1099884"/>
                </a:lnTo>
                <a:lnTo>
                  <a:pt x="808707" y="1119124"/>
                </a:lnTo>
                <a:lnTo>
                  <a:pt x="766103" y="1135202"/>
                </a:lnTo>
                <a:lnTo>
                  <a:pt x="721985" y="1147968"/>
                </a:lnTo>
                <a:lnTo>
                  <a:pt x="676503" y="1157272"/>
                </a:lnTo>
                <a:lnTo>
                  <a:pt x="629806" y="1162964"/>
                </a:lnTo>
                <a:lnTo>
                  <a:pt x="582045" y="1164895"/>
                </a:lnTo>
                <a:lnTo>
                  <a:pt x="534313" y="1162964"/>
                </a:lnTo>
                <a:lnTo>
                  <a:pt x="487643" y="1157272"/>
                </a:lnTo>
                <a:lnTo>
                  <a:pt x="442185" y="1147968"/>
                </a:lnTo>
                <a:lnTo>
                  <a:pt x="398088" y="1135202"/>
                </a:lnTo>
                <a:lnTo>
                  <a:pt x="355502" y="1119124"/>
                </a:lnTo>
                <a:lnTo>
                  <a:pt x="314578" y="1099884"/>
                </a:lnTo>
                <a:lnTo>
                  <a:pt x="275464" y="1077632"/>
                </a:lnTo>
                <a:lnTo>
                  <a:pt x="238312" y="1052518"/>
                </a:lnTo>
                <a:lnTo>
                  <a:pt x="203271" y="1024691"/>
                </a:lnTo>
                <a:lnTo>
                  <a:pt x="170490" y="994303"/>
                </a:lnTo>
                <a:lnTo>
                  <a:pt x="140120" y="961501"/>
                </a:lnTo>
                <a:lnTo>
                  <a:pt x="112311" y="926437"/>
                </a:lnTo>
                <a:lnTo>
                  <a:pt x="87212" y="889260"/>
                </a:lnTo>
                <a:lnTo>
                  <a:pt x="64973" y="850121"/>
                </a:lnTo>
                <a:lnTo>
                  <a:pt x="45745" y="809168"/>
                </a:lnTo>
                <a:lnTo>
                  <a:pt x="29676" y="766552"/>
                </a:lnTo>
                <a:lnTo>
                  <a:pt x="16917" y="722424"/>
                </a:lnTo>
                <a:lnTo>
                  <a:pt x="7618" y="676932"/>
                </a:lnTo>
                <a:lnTo>
                  <a:pt x="1929" y="630226"/>
                </a:lnTo>
                <a:lnTo>
                  <a:pt x="0" y="582458"/>
                </a:lnTo>
                <a:close/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952216" y="4922718"/>
            <a:ext cx="1011555" cy="44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2909" marR="5080" indent="-410845">
              <a:lnSpc>
                <a:spcPct val="106800"/>
              </a:lnSpc>
              <a:spcBef>
                <a:spcPts val="100"/>
              </a:spcBef>
            </a:pPr>
            <a:r>
              <a:rPr dirty="0" sz="1300" spc="-10">
                <a:latin typeface="MS Gothic"/>
                <a:cs typeface="MS Gothic"/>
              </a:rPr>
              <a:t>关</a:t>
            </a:r>
            <a:r>
              <a:rPr dirty="0" sz="1300" spc="-10">
                <a:latin typeface="宋体"/>
                <a:cs typeface="宋体"/>
              </a:rPr>
              <a:t>联</a:t>
            </a:r>
            <a:r>
              <a:rPr dirty="0" sz="1300" spc="-10">
                <a:latin typeface="MS Gothic"/>
                <a:cs typeface="MS Gothic"/>
              </a:rPr>
              <a:t>功能与数 </a:t>
            </a:r>
            <a:r>
              <a:rPr dirty="0" sz="1300" spc="-10">
                <a:latin typeface="MS Gothic"/>
                <a:cs typeface="MS Gothic"/>
              </a:rPr>
              <a:t>据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245479" y="5988413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90" h="0">
                <a:moveTo>
                  <a:pt x="0" y="0"/>
                </a:moveTo>
                <a:lnTo>
                  <a:pt x="1164296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245479" y="5289471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90" h="0">
                <a:moveTo>
                  <a:pt x="0" y="0"/>
                </a:moveTo>
                <a:lnTo>
                  <a:pt x="1164296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322119" y="5280511"/>
            <a:ext cx="1011555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9200"/>
              </a:lnSpc>
              <a:spcBef>
                <a:spcPts val="100"/>
              </a:spcBef>
            </a:pPr>
            <a:r>
              <a:rPr dirty="0" sz="1300" spc="-10">
                <a:latin typeface="MS Gothic"/>
                <a:cs typeface="MS Gothic"/>
              </a:rPr>
              <a:t>功能</a:t>
            </a:r>
            <a:r>
              <a:rPr dirty="0" sz="1300" spc="-10">
                <a:latin typeface="宋体"/>
                <a:cs typeface="宋体"/>
              </a:rPr>
              <a:t>实</a:t>
            </a:r>
            <a:r>
              <a:rPr dirty="0" sz="1300" spc="-10">
                <a:latin typeface="MS Gothic"/>
                <a:cs typeface="MS Gothic"/>
              </a:rPr>
              <a:t>体矩</a:t>
            </a:r>
            <a:r>
              <a:rPr dirty="0" sz="1300" spc="-5">
                <a:latin typeface="宋体"/>
                <a:cs typeface="宋体"/>
              </a:rPr>
              <a:t>阵 </a:t>
            </a:r>
            <a:r>
              <a:rPr dirty="0" sz="1300" spc="-10">
                <a:latin typeface="MS Gothic"/>
                <a:cs typeface="MS Gothic"/>
              </a:rPr>
              <a:t>事件</a:t>
            </a:r>
            <a:r>
              <a:rPr dirty="0" sz="1300" spc="-10">
                <a:latin typeface="宋体"/>
                <a:cs typeface="宋体"/>
              </a:rPr>
              <a:t>实</a:t>
            </a:r>
            <a:r>
              <a:rPr dirty="0" sz="1300" spc="-10">
                <a:latin typeface="MS Gothic"/>
                <a:cs typeface="MS Gothic"/>
              </a:rPr>
              <a:t>体矩</a:t>
            </a:r>
            <a:r>
              <a:rPr dirty="0" sz="1300" spc="-10">
                <a:latin typeface="宋体"/>
                <a:cs typeface="宋体"/>
              </a:rPr>
              <a:t>阵 实体生命历史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704433" y="4182786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89" h="1165225">
                <a:moveTo>
                  <a:pt x="582169" y="0"/>
                </a:moveTo>
                <a:lnTo>
                  <a:pt x="534422" y="1931"/>
                </a:lnTo>
                <a:lnTo>
                  <a:pt x="487738" y="7624"/>
                </a:lnTo>
                <a:lnTo>
                  <a:pt x="442267" y="16929"/>
                </a:lnTo>
                <a:lnTo>
                  <a:pt x="398159" y="29697"/>
                </a:lnTo>
                <a:lnTo>
                  <a:pt x="355563" y="45777"/>
                </a:lnTo>
                <a:lnTo>
                  <a:pt x="314629" y="65019"/>
                </a:lnTo>
                <a:lnTo>
                  <a:pt x="275507" y="87274"/>
                </a:lnTo>
                <a:lnTo>
                  <a:pt x="238348" y="112391"/>
                </a:lnTo>
                <a:lnTo>
                  <a:pt x="203300" y="140221"/>
                </a:lnTo>
                <a:lnTo>
                  <a:pt x="170513" y="170613"/>
                </a:lnTo>
                <a:lnTo>
                  <a:pt x="140138" y="203417"/>
                </a:lnTo>
                <a:lnTo>
                  <a:pt x="112325" y="238484"/>
                </a:lnTo>
                <a:lnTo>
                  <a:pt x="87222" y="275664"/>
                </a:lnTo>
                <a:lnTo>
                  <a:pt x="64980" y="314806"/>
                </a:lnTo>
                <a:lnTo>
                  <a:pt x="45749" y="355761"/>
                </a:lnTo>
                <a:lnTo>
                  <a:pt x="29679" y="398379"/>
                </a:lnTo>
                <a:lnTo>
                  <a:pt x="16919" y="442510"/>
                </a:lnTo>
                <a:lnTo>
                  <a:pt x="7619" y="488003"/>
                </a:lnTo>
                <a:lnTo>
                  <a:pt x="1929" y="534710"/>
                </a:lnTo>
                <a:lnTo>
                  <a:pt x="0" y="582479"/>
                </a:lnTo>
                <a:lnTo>
                  <a:pt x="1929" y="630247"/>
                </a:lnTo>
                <a:lnTo>
                  <a:pt x="7619" y="676953"/>
                </a:lnTo>
                <a:lnTo>
                  <a:pt x="16919" y="722444"/>
                </a:lnTo>
                <a:lnTo>
                  <a:pt x="29679" y="766573"/>
                </a:lnTo>
                <a:lnTo>
                  <a:pt x="45749" y="809189"/>
                </a:lnTo>
                <a:lnTo>
                  <a:pt x="64980" y="850141"/>
                </a:lnTo>
                <a:lnTo>
                  <a:pt x="87222" y="889281"/>
                </a:lnTo>
                <a:lnTo>
                  <a:pt x="112325" y="926458"/>
                </a:lnTo>
                <a:lnTo>
                  <a:pt x="140138" y="961522"/>
                </a:lnTo>
                <a:lnTo>
                  <a:pt x="170513" y="994323"/>
                </a:lnTo>
                <a:lnTo>
                  <a:pt x="203300" y="1024712"/>
                </a:lnTo>
                <a:lnTo>
                  <a:pt x="238348" y="1052539"/>
                </a:lnTo>
                <a:lnTo>
                  <a:pt x="275507" y="1077653"/>
                </a:lnTo>
                <a:lnTo>
                  <a:pt x="314629" y="1099905"/>
                </a:lnTo>
                <a:lnTo>
                  <a:pt x="355563" y="1119145"/>
                </a:lnTo>
                <a:lnTo>
                  <a:pt x="398159" y="1135223"/>
                </a:lnTo>
                <a:lnTo>
                  <a:pt x="442267" y="1147989"/>
                </a:lnTo>
                <a:lnTo>
                  <a:pt x="487738" y="1157293"/>
                </a:lnTo>
                <a:lnTo>
                  <a:pt x="534422" y="1162985"/>
                </a:lnTo>
                <a:lnTo>
                  <a:pt x="582169" y="1164916"/>
                </a:lnTo>
                <a:lnTo>
                  <a:pt x="629918" y="1162985"/>
                </a:lnTo>
                <a:lnTo>
                  <a:pt x="676605" y="1157293"/>
                </a:lnTo>
                <a:lnTo>
                  <a:pt x="722078" y="1147989"/>
                </a:lnTo>
                <a:lnTo>
                  <a:pt x="766189" y="1135223"/>
                </a:lnTo>
                <a:lnTo>
                  <a:pt x="808787" y="1119145"/>
                </a:lnTo>
                <a:lnTo>
                  <a:pt x="849722" y="1099905"/>
                </a:lnTo>
                <a:lnTo>
                  <a:pt x="888845" y="1077653"/>
                </a:lnTo>
                <a:lnTo>
                  <a:pt x="926006" y="1052539"/>
                </a:lnTo>
                <a:lnTo>
                  <a:pt x="961055" y="1024712"/>
                </a:lnTo>
                <a:lnTo>
                  <a:pt x="993842" y="994323"/>
                </a:lnTo>
                <a:lnTo>
                  <a:pt x="1024218" y="961522"/>
                </a:lnTo>
                <a:lnTo>
                  <a:pt x="1052032" y="926458"/>
                </a:lnTo>
                <a:lnTo>
                  <a:pt x="1077135" y="889281"/>
                </a:lnTo>
                <a:lnTo>
                  <a:pt x="1099377" y="850141"/>
                </a:lnTo>
                <a:lnTo>
                  <a:pt x="1118608" y="809189"/>
                </a:lnTo>
                <a:lnTo>
                  <a:pt x="1134679" y="766573"/>
                </a:lnTo>
                <a:lnTo>
                  <a:pt x="1147439" y="722444"/>
                </a:lnTo>
                <a:lnTo>
                  <a:pt x="1156739" y="676953"/>
                </a:lnTo>
                <a:lnTo>
                  <a:pt x="1162428" y="630247"/>
                </a:lnTo>
                <a:lnTo>
                  <a:pt x="1164358" y="582479"/>
                </a:lnTo>
                <a:lnTo>
                  <a:pt x="1162428" y="534710"/>
                </a:lnTo>
                <a:lnTo>
                  <a:pt x="1156739" y="488003"/>
                </a:lnTo>
                <a:lnTo>
                  <a:pt x="1147439" y="442510"/>
                </a:lnTo>
                <a:lnTo>
                  <a:pt x="1134679" y="398379"/>
                </a:lnTo>
                <a:lnTo>
                  <a:pt x="1118608" y="355761"/>
                </a:lnTo>
                <a:lnTo>
                  <a:pt x="1099377" y="314806"/>
                </a:lnTo>
                <a:lnTo>
                  <a:pt x="1077135" y="275664"/>
                </a:lnTo>
                <a:lnTo>
                  <a:pt x="1052032" y="238484"/>
                </a:lnTo>
                <a:lnTo>
                  <a:pt x="1024218" y="203417"/>
                </a:lnTo>
                <a:lnTo>
                  <a:pt x="993842" y="170613"/>
                </a:lnTo>
                <a:lnTo>
                  <a:pt x="961055" y="140221"/>
                </a:lnTo>
                <a:lnTo>
                  <a:pt x="926006" y="112391"/>
                </a:lnTo>
                <a:lnTo>
                  <a:pt x="888845" y="87274"/>
                </a:lnTo>
                <a:lnTo>
                  <a:pt x="849722" y="65019"/>
                </a:lnTo>
                <a:lnTo>
                  <a:pt x="808787" y="45777"/>
                </a:lnTo>
                <a:lnTo>
                  <a:pt x="766189" y="29697"/>
                </a:lnTo>
                <a:lnTo>
                  <a:pt x="722078" y="16929"/>
                </a:lnTo>
                <a:lnTo>
                  <a:pt x="676605" y="7624"/>
                </a:lnTo>
                <a:lnTo>
                  <a:pt x="629918" y="1931"/>
                </a:lnTo>
                <a:lnTo>
                  <a:pt x="582169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04434" y="4182787"/>
            <a:ext cx="1164590" cy="1165225"/>
          </a:xfrm>
          <a:custGeom>
            <a:avLst/>
            <a:gdLst/>
            <a:ahLst/>
            <a:cxnLst/>
            <a:rect l="l" t="t" r="r" b="b"/>
            <a:pathLst>
              <a:path w="1164589" h="1165225">
                <a:moveTo>
                  <a:pt x="0" y="582478"/>
                </a:moveTo>
                <a:lnTo>
                  <a:pt x="1929" y="534709"/>
                </a:lnTo>
                <a:lnTo>
                  <a:pt x="7619" y="488003"/>
                </a:lnTo>
                <a:lnTo>
                  <a:pt x="16919" y="442510"/>
                </a:lnTo>
                <a:lnTo>
                  <a:pt x="29679" y="398379"/>
                </a:lnTo>
                <a:lnTo>
                  <a:pt x="45749" y="355761"/>
                </a:lnTo>
                <a:lnTo>
                  <a:pt x="64980" y="314806"/>
                </a:lnTo>
                <a:lnTo>
                  <a:pt x="87222" y="275664"/>
                </a:lnTo>
                <a:lnTo>
                  <a:pt x="112325" y="238484"/>
                </a:lnTo>
                <a:lnTo>
                  <a:pt x="140138" y="203417"/>
                </a:lnTo>
                <a:lnTo>
                  <a:pt x="170513" y="170613"/>
                </a:lnTo>
                <a:lnTo>
                  <a:pt x="203300" y="140221"/>
                </a:lnTo>
                <a:lnTo>
                  <a:pt x="238348" y="112391"/>
                </a:lnTo>
                <a:lnTo>
                  <a:pt x="275507" y="87274"/>
                </a:lnTo>
                <a:lnTo>
                  <a:pt x="314629" y="65019"/>
                </a:lnTo>
                <a:lnTo>
                  <a:pt x="355563" y="45777"/>
                </a:lnTo>
                <a:lnTo>
                  <a:pt x="398159" y="29697"/>
                </a:lnTo>
                <a:lnTo>
                  <a:pt x="442267" y="16929"/>
                </a:lnTo>
                <a:lnTo>
                  <a:pt x="487738" y="7624"/>
                </a:lnTo>
                <a:lnTo>
                  <a:pt x="534422" y="1931"/>
                </a:lnTo>
                <a:lnTo>
                  <a:pt x="582168" y="0"/>
                </a:lnTo>
                <a:lnTo>
                  <a:pt x="629918" y="1931"/>
                </a:lnTo>
                <a:lnTo>
                  <a:pt x="676605" y="7624"/>
                </a:lnTo>
                <a:lnTo>
                  <a:pt x="722078" y="16929"/>
                </a:lnTo>
                <a:lnTo>
                  <a:pt x="766188" y="29697"/>
                </a:lnTo>
                <a:lnTo>
                  <a:pt x="808786" y="45777"/>
                </a:lnTo>
                <a:lnTo>
                  <a:pt x="849721" y="65019"/>
                </a:lnTo>
                <a:lnTo>
                  <a:pt x="888845" y="87274"/>
                </a:lnTo>
                <a:lnTo>
                  <a:pt x="926005" y="112391"/>
                </a:lnTo>
                <a:lnTo>
                  <a:pt x="961054" y="140221"/>
                </a:lnTo>
                <a:lnTo>
                  <a:pt x="993842" y="170613"/>
                </a:lnTo>
                <a:lnTo>
                  <a:pt x="1024217" y="203417"/>
                </a:lnTo>
                <a:lnTo>
                  <a:pt x="1052031" y="238484"/>
                </a:lnTo>
                <a:lnTo>
                  <a:pt x="1077134" y="275664"/>
                </a:lnTo>
                <a:lnTo>
                  <a:pt x="1099376" y="314806"/>
                </a:lnTo>
                <a:lnTo>
                  <a:pt x="1118608" y="355761"/>
                </a:lnTo>
                <a:lnTo>
                  <a:pt x="1134678" y="398379"/>
                </a:lnTo>
                <a:lnTo>
                  <a:pt x="1147438" y="442510"/>
                </a:lnTo>
                <a:lnTo>
                  <a:pt x="1156738" y="488003"/>
                </a:lnTo>
                <a:lnTo>
                  <a:pt x="1162428" y="534709"/>
                </a:lnTo>
                <a:lnTo>
                  <a:pt x="1164358" y="582478"/>
                </a:lnTo>
                <a:lnTo>
                  <a:pt x="1162428" y="630247"/>
                </a:lnTo>
                <a:lnTo>
                  <a:pt x="1156738" y="676952"/>
                </a:lnTo>
                <a:lnTo>
                  <a:pt x="1147438" y="722444"/>
                </a:lnTo>
                <a:lnTo>
                  <a:pt x="1134678" y="766573"/>
                </a:lnTo>
                <a:lnTo>
                  <a:pt x="1118608" y="809188"/>
                </a:lnTo>
                <a:lnTo>
                  <a:pt x="1099376" y="850141"/>
                </a:lnTo>
                <a:lnTo>
                  <a:pt x="1077134" y="889281"/>
                </a:lnTo>
                <a:lnTo>
                  <a:pt x="1052031" y="926458"/>
                </a:lnTo>
                <a:lnTo>
                  <a:pt x="1024217" y="961522"/>
                </a:lnTo>
                <a:lnTo>
                  <a:pt x="993842" y="994323"/>
                </a:lnTo>
                <a:lnTo>
                  <a:pt x="961054" y="1024712"/>
                </a:lnTo>
                <a:lnTo>
                  <a:pt x="926005" y="1052539"/>
                </a:lnTo>
                <a:lnTo>
                  <a:pt x="888845" y="1077653"/>
                </a:lnTo>
                <a:lnTo>
                  <a:pt x="849721" y="1099905"/>
                </a:lnTo>
                <a:lnTo>
                  <a:pt x="808786" y="1119145"/>
                </a:lnTo>
                <a:lnTo>
                  <a:pt x="766188" y="1135222"/>
                </a:lnTo>
                <a:lnTo>
                  <a:pt x="722078" y="1147988"/>
                </a:lnTo>
                <a:lnTo>
                  <a:pt x="676605" y="1157292"/>
                </a:lnTo>
                <a:lnTo>
                  <a:pt x="629918" y="1162985"/>
                </a:lnTo>
                <a:lnTo>
                  <a:pt x="582168" y="1164916"/>
                </a:lnTo>
                <a:lnTo>
                  <a:pt x="534422" y="1162985"/>
                </a:lnTo>
                <a:lnTo>
                  <a:pt x="487738" y="1157292"/>
                </a:lnTo>
                <a:lnTo>
                  <a:pt x="442267" y="1147988"/>
                </a:lnTo>
                <a:lnTo>
                  <a:pt x="398159" y="1135222"/>
                </a:lnTo>
                <a:lnTo>
                  <a:pt x="355563" y="1119145"/>
                </a:lnTo>
                <a:lnTo>
                  <a:pt x="314629" y="1099905"/>
                </a:lnTo>
                <a:lnTo>
                  <a:pt x="275507" y="1077653"/>
                </a:lnTo>
                <a:lnTo>
                  <a:pt x="238348" y="1052539"/>
                </a:lnTo>
                <a:lnTo>
                  <a:pt x="203300" y="1024712"/>
                </a:lnTo>
                <a:lnTo>
                  <a:pt x="170513" y="994323"/>
                </a:lnTo>
                <a:lnTo>
                  <a:pt x="140138" y="961522"/>
                </a:lnTo>
                <a:lnTo>
                  <a:pt x="112325" y="926458"/>
                </a:lnTo>
                <a:lnTo>
                  <a:pt x="87222" y="889281"/>
                </a:lnTo>
                <a:lnTo>
                  <a:pt x="64980" y="850141"/>
                </a:lnTo>
                <a:lnTo>
                  <a:pt x="45749" y="809188"/>
                </a:lnTo>
                <a:lnTo>
                  <a:pt x="29679" y="766573"/>
                </a:lnTo>
                <a:lnTo>
                  <a:pt x="16919" y="722444"/>
                </a:lnTo>
                <a:lnTo>
                  <a:pt x="7619" y="676952"/>
                </a:lnTo>
                <a:lnTo>
                  <a:pt x="1929" y="630247"/>
                </a:lnTo>
                <a:lnTo>
                  <a:pt x="0" y="582478"/>
                </a:lnTo>
                <a:close/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781074" y="4515037"/>
            <a:ext cx="1011555" cy="44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995" marR="5080" indent="-328930">
              <a:lnSpc>
                <a:spcPct val="106800"/>
              </a:lnSpc>
              <a:spcBef>
                <a:spcPts val="100"/>
              </a:spcBef>
            </a:pPr>
            <a:r>
              <a:rPr dirty="0" sz="1300" spc="-10">
                <a:latin typeface="宋体"/>
                <a:cs typeface="宋体"/>
              </a:rPr>
              <a:t>细化业务</a:t>
            </a:r>
            <a:r>
              <a:rPr dirty="0" sz="1300" spc="-5">
                <a:latin typeface="Arial"/>
                <a:cs typeface="Arial"/>
              </a:rPr>
              <a:t>“</a:t>
            </a:r>
            <a:r>
              <a:rPr dirty="0" sz="1300" spc="65">
                <a:latin typeface="Arial"/>
                <a:cs typeface="Arial"/>
              </a:rPr>
              <a:t> </a:t>
            </a:r>
            <a:r>
              <a:rPr dirty="0" sz="1300" spc="-10">
                <a:latin typeface="MS Gothic"/>
                <a:cs typeface="MS Gothic"/>
              </a:rPr>
              <a:t>事 件</a:t>
            </a:r>
            <a:r>
              <a:rPr dirty="0" sz="1300" spc="-5">
                <a:latin typeface="Arial"/>
                <a:cs typeface="Arial"/>
              </a:rPr>
              <a:t>”</a:t>
            </a:r>
            <a:endParaRPr sz="13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421859" y="5988413"/>
            <a:ext cx="1455420" cy="0"/>
          </a:xfrm>
          <a:custGeom>
            <a:avLst/>
            <a:gdLst/>
            <a:ahLst/>
            <a:cxnLst/>
            <a:rect l="l" t="t" r="r" b="b"/>
            <a:pathLst>
              <a:path w="1455420" h="0">
                <a:moveTo>
                  <a:pt x="0" y="0"/>
                </a:moveTo>
                <a:lnTo>
                  <a:pt x="1455381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421859" y="5405955"/>
            <a:ext cx="1455420" cy="0"/>
          </a:xfrm>
          <a:custGeom>
            <a:avLst/>
            <a:gdLst/>
            <a:ahLst/>
            <a:cxnLst/>
            <a:rect l="l" t="t" r="r" b="b"/>
            <a:pathLst>
              <a:path w="1455420" h="0">
                <a:moveTo>
                  <a:pt x="0" y="0"/>
                </a:moveTo>
                <a:lnTo>
                  <a:pt x="1455381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725916" y="5446924"/>
            <a:ext cx="847090" cy="458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4615" marR="5080" indent="-82550">
              <a:lnSpc>
                <a:spcPct val="109200"/>
              </a:lnSpc>
              <a:spcBef>
                <a:spcPts val="100"/>
              </a:spcBef>
            </a:pPr>
            <a:r>
              <a:rPr dirty="0" sz="1300" spc="-10">
                <a:latin typeface="MS Gothic"/>
                <a:cs typeface="MS Gothic"/>
              </a:rPr>
              <a:t>微</a:t>
            </a:r>
            <a:r>
              <a:rPr dirty="0" sz="1300" spc="-10">
                <a:latin typeface="宋体"/>
                <a:cs typeface="宋体"/>
              </a:rPr>
              <a:t>规</a:t>
            </a:r>
            <a:r>
              <a:rPr dirty="0" sz="1300" spc="-10">
                <a:latin typeface="MS Gothic"/>
                <a:cs typeface="MS Gothic"/>
              </a:rPr>
              <a:t>格</a:t>
            </a:r>
            <a:r>
              <a:rPr dirty="0" sz="1300" spc="-10">
                <a:latin typeface="宋体"/>
                <a:cs typeface="宋体"/>
              </a:rPr>
              <a:t>说</a:t>
            </a:r>
            <a:r>
              <a:rPr dirty="0" sz="1300" spc="-5">
                <a:latin typeface="MS Gothic"/>
                <a:cs typeface="MS Gothic"/>
              </a:rPr>
              <a:t>明 </a:t>
            </a:r>
            <a:r>
              <a:rPr dirty="0" sz="1300" spc="-10">
                <a:latin typeface="MS Gothic"/>
                <a:cs typeface="MS Gothic"/>
              </a:rPr>
              <a:t>数据字典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984010" y="2202425"/>
            <a:ext cx="1864360" cy="0"/>
          </a:xfrm>
          <a:custGeom>
            <a:avLst/>
            <a:gdLst/>
            <a:ahLst/>
            <a:cxnLst/>
            <a:rect l="l" t="t" r="r" b="b"/>
            <a:pathLst>
              <a:path w="1864360" h="0">
                <a:moveTo>
                  <a:pt x="1864271" y="0"/>
                </a:moveTo>
                <a:lnTo>
                  <a:pt x="0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868792" y="2160508"/>
            <a:ext cx="125730" cy="84455"/>
          </a:xfrm>
          <a:custGeom>
            <a:avLst/>
            <a:gdLst/>
            <a:ahLst/>
            <a:cxnLst/>
            <a:rect l="l" t="t" r="r" b="b"/>
            <a:pathLst>
              <a:path w="125730" h="84455">
                <a:moveTo>
                  <a:pt x="125691" y="0"/>
                </a:moveTo>
                <a:lnTo>
                  <a:pt x="0" y="41917"/>
                </a:lnTo>
                <a:lnTo>
                  <a:pt x="125691" y="83833"/>
                </a:lnTo>
                <a:lnTo>
                  <a:pt x="125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012578" y="2202425"/>
            <a:ext cx="1748155" cy="0"/>
          </a:xfrm>
          <a:custGeom>
            <a:avLst/>
            <a:gdLst/>
            <a:ahLst/>
            <a:cxnLst/>
            <a:rect l="l" t="t" r="r" b="b"/>
            <a:pathLst>
              <a:path w="1748154" h="0">
                <a:moveTo>
                  <a:pt x="0" y="0"/>
                </a:moveTo>
                <a:lnTo>
                  <a:pt x="1747780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749882" y="2160508"/>
            <a:ext cx="125730" cy="84455"/>
          </a:xfrm>
          <a:custGeom>
            <a:avLst/>
            <a:gdLst/>
            <a:ahLst/>
            <a:cxnLst/>
            <a:rect l="l" t="t" r="r" b="b"/>
            <a:pathLst>
              <a:path w="125729" h="84455">
                <a:moveTo>
                  <a:pt x="0" y="0"/>
                </a:moveTo>
                <a:lnTo>
                  <a:pt x="0" y="83833"/>
                </a:lnTo>
                <a:lnTo>
                  <a:pt x="125693" y="419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286603" y="2784945"/>
            <a:ext cx="1122680" cy="641985"/>
          </a:xfrm>
          <a:custGeom>
            <a:avLst/>
            <a:gdLst/>
            <a:ahLst/>
            <a:cxnLst/>
            <a:rect l="l" t="t" r="r" b="b"/>
            <a:pathLst>
              <a:path w="1122679" h="641985">
                <a:moveTo>
                  <a:pt x="0" y="0"/>
                </a:moveTo>
                <a:lnTo>
                  <a:pt x="1122543" y="641696"/>
                </a:lnTo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379263" y="3385135"/>
            <a:ext cx="130175" cy="99060"/>
          </a:xfrm>
          <a:custGeom>
            <a:avLst/>
            <a:gdLst/>
            <a:ahLst/>
            <a:cxnLst/>
            <a:rect l="l" t="t" r="r" b="b"/>
            <a:pathLst>
              <a:path w="130175" h="99060">
                <a:moveTo>
                  <a:pt x="41569" y="0"/>
                </a:moveTo>
                <a:lnTo>
                  <a:pt x="0" y="72737"/>
                </a:lnTo>
                <a:lnTo>
                  <a:pt x="129923" y="98833"/>
                </a:lnTo>
                <a:lnTo>
                  <a:pt x="41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505688" y="2784945"/>
            <a:ext cx="952500" cy="635000"/>
          </a:xfrm>
          <a:custGeom>
            <a:avLst/>
            <a:gdLst/>
            <a:ahLst/>
            <a:cxnLst/>
            <a:rect l="l" t="t" r="r" b="b"/>
            <a:pathLst>
              <a:path w="952500" h="635000">
                <a:moveTo>
                  <a:pt x="951934" y="0"/>
                </a:moveTo>
                <a:lnTo>
                  <a:pt x="0" y="634915"/>
                </a:lnTo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409774" y="3379177"/>
            <a:ext cx="128270" cy="105410"/>
          </a:xfrm>
          <a:custGeom>
            <a:avLst/>
            <a:gdLst/>
            <a:ahLst/>
            <a:cxnLst/>
            <a:rect l="l" t="t" r="r" b="b"/>
            <a:pathLst>
              <a:path w="128270" h="105410">
                <a:moveTo>
                  <a:pt x="81330" y="0"/>
                </a:moveTo>
                <a:lnTo>
                  <a:pt x="0" y="104791"/>
                </a:lnTo>
                <a:lnTo>
                  <a:pt x="127746" y="69860"/>
                </a:lnTo>
                <a:lnTo>
                  <a:pt x="813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984010" y="3483969"/>
            <a:ext cx="525780" cy="0"/>
          </a:xfrm>
          <a:custGeom>
            <a:avLst/>
            <a:gdLst/>
            <a:ahLst/>
            <a:cxnLst/>
            <a:rect l="l" t="t" r="r" b="b"/>
            <a:pathLst>
              <a:path w="525779" h="0">
                <a:moveTo>
                  <a:pt x="525176" y="0"/>
                </a:moveTo>
                <a:lnTo>
                  <a:pt x="0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868792" y="3442051"/>
            <a:ext cx="125730" cy="84455"/>
          </a:xfrm>
          <a:custGeom>
            <a:avLst/>
            <a:gdLst/>
            <a:ahLst/>
            <a:cxnLst/>
            <a:rect l="l" t="t" r="r" b="b"/>
            <a:pathLst>
              <a:path w="125730" h="84454">
                <a:moveTo>
                  <a:pt x="125691" y="0"/>
                </a:moveTo>
                <a:lnTo>
                  <a:pt x="0" y="41917"/>
                </a:lnTo>
                <a:lnTo>
                  <a:pt x="125691" y="83833"/>
                </a:lnTo>
                <a:lnTo>
                  <a:pt x="125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409776" y="3483969"/>
            <a:ext cx="408940" cy="0"/>
          </a:xfrm>
          <a:custGeom>
            <a:avLst/>
            <a:gdLst/>
            <a:ahLst/>
            <a:cxnLst/>
            <a:rect l="l" t="t" r="r" b="b"/>
            <a:pathLst>
              <a:path w="408940" h="0">
                <a:moveTo>
                  <a:pt x="0" y="0"/>
                </a:moveTo>
                <a:lnTo>
                  <a:pt x="408705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808005" y="3442051"/>
            <a:ext cx="125730" cy="84455"/>
          </a:xfrm>
          <a:custGeom>
            <a:avLst/>
            <a:gdLst/>
            <a:ahLst/>
            <a:cxnLst/>
            <a:rect l="l" t="t" r="r" b="b"/>
            <a:pathLst>
              <a:path w="125729" h="84454">
                <a:moveTo>
                  <a:pt x="0" y="0"/>
                </a:moveTo>
                <a:lnTo>
                  <a:pt x="0" y="83833"/>
                </a:lnTo>
                <a:lnTo>
                  <a:pt x="125691" y="419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86603" y="4066283"/>
            <a:ext cx="1122680" cy="641985"/>
          </a:xfrm>
          <a:custGeom>
            <a:avLst/>
            <a:gdLst/>
            <a:ahLst/>
            <a:cxnLst/>
            <a:rect l="l" t="t" r="r" b="b"/>
            <a:pathLst>
              <a:path w="1122679" h="641985">
                <a:moveTo>
                  <a:pt x="0" y="0"/>
                </a:moveTo>
                <a:lnTo>
                  <a:pt x="1122543" y="641799"/>
                </a:lnTo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379263" y="4666474"/>
            <a:ext cx="130175" cy="99060"/>
          </a:xfrm>
          <a:custGeom>
            <a:avLst/>
            <a:gdLst/>
            <a:ahLst/>
            <a:cxnLst/>
            <a:rect l="l" t="t" r="r" b="b"/>
            <a:pathLst>
              <a:path w="130175" h="99060">
                <a:moveTo>
                  <a:pt x="41569" y="0"/>
                </a:moveTo>
                <a:lnTo>
                  <a:pt x="0" y="72798"/>
                </a:lnTo>
                <a:lnTo>
                  <a:pt x="129923" y="98792"/>
                </a:lnTo>
                <a:lnTo>
                  <a:pt x="41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513903" y="4066283"/>
            <a:ext cx="1002665" cy="474980"/>
          </a:xfrm>
          <a:custGeom>
            <a:avLst/>
            <a:gdLst/>
            <a:ahLst/>
            <a:cxnLst/>
            <a:rect l="l" t="t" r="r" b="b"/>
            <a:pathLst>
              <a:path w="1002665" h="474979">
                <a:moveTo>
                  <a:pt x="1002046" y="0"/>
                </a:moveTo>
                <a:lnTo>
                  <a:pt x="0" y="474912"/>
                </a:lnTo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409774" y="4498827"/>
            <a:ext cx="131445" cy="92075"/>
          </a:xfrm>
          <a:custGeom>
            <a:avLst/>
            <a:gdLst/>
            <a:ahLst/>
            <a:cxnLst/>
            <a:rect l="l" t="t" r="r" b="b"/>
            <a:pathLst>
              <a:path w="131445" h="92075">
                <a:moveTo>
                  <a:pt x="95707" y="0"/>
                </a:moveTo>
                <a:lnTo>
                  <a:pt x="0" y="91702"/>
                </a:lnTo>
                <a:lnTo>
                  <a:pt x="131443" y="75758"/>
                </a:lnTo>
                <a:lnTo>
                  <a:pt x="957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984010" y="4765265"/>
            <a:ext cx="525780" cy="0"/>
          </a:xfrm>
          <a:custGeom>
            <a:avLst/>
            <a:gdLst/>
            <a:ahLst/>
            <a:cxnLst/>
            <a:rect l="l" t="t" r="r" b="b"/>
            <a:pathLst>
              <a:path w="525779" h="0">
                <a:moveTo>
                  <a:pt x="525176" y="0"/>
                </a:moveTo>
                <a:lnTo>
                  <a:pt x="0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868792" y="4723349"/>
            <a:ext cx="125730" cy="84455"/>
          </a:xfrm>
          <a:custGeom>
            <a:avLst/>
            <a:gdLst/>
            <a:ahLst/>
            <a:cxnLst/>
            <a:rect l="l" t="t" r="r" b="b"/>
            <a:pathLst>
              <a:path w="125730" h="84454">
                <a:moveTo>
                  <a:pt x="125691" y="0"/>
                </a:moveTo>
                <a:lnTo>
                  <a:pt x="0" y="41916"/>
                </a:lnTo>
                <a:lnTo>
                  <a:pt x="125691" y="83832"/>
                </a:lnTo>
                <a:lnTo>
                  <a:pt x="125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286603" y="5347703"/>
            <a:ext cx="1025525" cy="315595"/>
          </a:xfrm>
          <a:custGeom>
            <a:avLst/>
            <a:gdLst/>
            <a:ahLst/>
            <a:cxnLst/>
            <a:rect l="l" t="t" r="r" b="b"/>
            <a:pathLst>
              <a:path w="1025525" h="315595">
                <a:moveTo>
                  <a:pt x="0" y="0"/>
                </a:moveTo>
                <a:lnTo>
                  <a:pt x="1025131" y="315588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289409" y="5620141"/>
            <a:ext cx="132715" cy="80645"/>
          </a:xfrm>
          <a:custGeom>
            <a:avLst/>
            <a:gdLst/>
            <a:ahLst/>
            <a:cxnLst/>
            <a:rect l="l" t="t" r="r" b="b"/>
            <a:pathLst>
              <a:path w="132714" h="80645">
                <a:moveTo>
                  <a:pt x="24645" y="0"/>
                </a:moveTo>
                <a:lnTo>
                  <a:pt x="0" y="80114"/>
                </a:lnTo>
                <a:lnTo>
                  <a:pt x="132449" y="77032"/>
                </a:lnTo>
                <a:lnTo>
                  <a:pt x="24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673504" y="4765265"/>
            <a:ext cx="3088005" cy="393700"/>
          </a:xfrm>
          <a:custGeom>
            <a:avLst/>
            <a:gdLst/>
            <a:ahLst/>
            <a:cxnLst/>
            <a:rect l="l" t="t" r="r" b="b"/>
            <a:pathLst>
              <a:path w="3088004" h="393700">
                <a:moveTo>
                  <a:pt x="0" y="0"/>
                </a:moveTo>
                <a:lnTo>
                  <a:pt x="3087676" y="393154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745569" y="5115516"/>
            <a:ext cx="130175" cy="83185"/>
          </a:xfrm>
          <a:custGeom>
            <a:avLst/>
            <a:gdLst/>
            <a:ahLst/>
            <a:cxnLst/>
            <a:rect l="l" t="t" r="r" b="b"/>
            <a:pathLst>
              <a:path w="130175" h="83185">
                <a:moveTo>
                  <a:pt x="10474" y="0"/>
                </a:moveTo>
                <a:lnTo>
                  <a:pt x="0" y="83176"/>
                </a:lnTo>
                <a:lnTo>
                  <a:pt x="130006" y="57471"/>
                </a:lnTo>
                <a:lnTo>
                  <a:pt x="10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409776" y="4590530"/>
            <a:ext cx="932815" cy="0"/>
          </a:xfrm>
          <a:custGeom>
            <a:avLst/>
            <a:gdLst/>
            <a:ahLst/>
            <a:cxnLst/>
            <a:rect l="l" t="t" r="r" b="b"/>
            <a:pathLst>
              <a:path w="932815" h="0">
                <a:moveTo>
                  <a:pt x="0" y="0"/>
                </a:moveTo>
                <a:lnTo>
                  <a:pt x="932628" y="0"/>
                </a:lnTo>
              </a:path>
            </a:pathLst>
          </a:custGeom>
          <a:ln w="4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331928" y="4548614"/>
            <a:ext cx="125730" cy="84455"/>
          </a:xfrm>
          <a:custGeom>
            <a:avLst/>
            <a:gdLst/>
            <a:ahLst/>
            <a:cxnLst/>
            <a:rect l="l" t="t" r="r" b="b"/>
            <a:pathLst>
              <a:path w="125729" h="84454">
                <a:moveTo>
                  <a:pt x="0" y="0"/>
                </a:moveTo>
                <a:lnTo>
                  <a:pt x="0" y="83832"/>
                </a:lnTo>
                <a:lnTo>
                  <a:pt x="125691" y="419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491311" y="5172988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09" h="384810">
                <a:moveTo>
                  <a:pt x="384265" y="0"/>
                </a:moveTo>
                <a:lnTo>
                  <a:pt x="0" y="384442"/>
                </a:lnTo>
              </a:path>
            </a:pathLst>
          </a:custGeom>
          <a:ln w="49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409774" y="5520383"/>
            <a:ext cx="118745" cy="118745"/>
          </a:xfrm>
          <a:custGeom>
            <a:avLst/>
            <a:gdLst/>
            <a:ahLst/>
            <a:cxnLst/>
            <a:rect l="l" t="t" r="r" b="b"/>
            <a:pathLst>
              <a:path w="118745" h="118745">
                <a:moveTo>
                  <a:pt x="59354" y="0"/>
                </a:moveTo>
                <a:lnTo>
                  <a:pt x="0" y="118558"/>
                </a:lnTo>
                <a:lnTo>
                  <a:pt x="118504" y="59279"/>
                </a:lnTo>
                <a:lnTo>
                  <a:pt x="593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218102" y="1328738"/>
            <a:ext cx="4424680" cy="4834890"/>
          </a:xfrm>
          <a:custGeom>
            <a:avLst/>
            <a:gdLst/>
            <a:ahLst/>
            <a:cxnLst/>
            <a:rect l="l" t="t" r="r" b="b"/>
            <a:pathLst>
              <a:path w="4424680" h="4834890">
                <a:moveTo>
                  <a:pt x="0" y="4834399"/>
                </a:moveTo>
                <a:lnTo>
                  <a:pt x="4424492" y="4834399"/>
                </a:lnTo>
                <a:lnTo>
                  <a:pt x="4424492" y="0"/>
                </a:lnTo>
                <a:lnTo>
                  <a:pt x="0" y="0"/>
                </a:lnTo>
                <a:lnTo>
                  <a:pt x="0" y="4834399"/>
                </a:lnTo>
                <a:close/>
              </a:path>
            </a:pathLst>
          </a:custGeom>
          <a:ln w="147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4766779" y="1397411"/>
            <a:ext cx="1011555" cy="321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10">
                <a:latin typeface="MS Gothic"/>
                <a:cs typeface="MS Gothic"/>
              </a:rPr>
              <a:t>系</a:t>
            </a:r>
            <a:r>
              <a:rPr dirty="0" sz="1950" spc="-10">
                <a:latin typeface="宋体"/>
                <a:cs typeface="宋体"/>
              </a:rPr>
              <a:t>统</a:t>
            </a:r>
            <a:r>
              <a:rPr dirty="0" sz="1950" spc="-10">
                <a:latin typeface="MS Gothic"/>
                <a:cs typeface="MS Gothic"/>
              </a:rPr>
              <a:t>模型</a:t>
            </a:r>
            <a:endParaRPr sz="1950">
              <a:latin typeface="MS Gothic"/>
              <a:cs typeface="MS Gothic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468" y="190500"/>
            <a:ext cx="392937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3.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需求分析方法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9596"/>
            <a:ext cx="28067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面向对象分析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93905" y="2625369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0" y="0"/>
                </a:moveTo>
                <a:lnTo>
                  <a:pt x="1279934" y="0"/>
                </a:lnTo>
              </a:path>
            </a:pathLst>
          </a:custGeom>
          <a:ln w="54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93905" y="1985845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0" y="0"/>
                </a:moveTo>
                <a:lnTo>
                  <a:pt x="1279934" y="0"/>
                </a:lnTo>
              </a:path>
            </a:pathLst>
          </a:custGeom>
          <a:ln w="54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93905" y="3648608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0" y="0"/>
                </a:moveTo>
                <a:lnTo>
                  <a:pt x="1279934" y="0"/>
                </a:lnTo>
              </a:path>
            </a:pathLst>
          </a:custGeom>
          <a:ln w="54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93905" y="3009084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0" y="0"/>
                </a:moveTo>
                <a:lnTo>
                  <a:pt x="1279934" y="0"/>
                </a:lnTo>
              </a:path>
            </a:pathLst>
          </a:custGeom>
          <a:ln w="54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97819" y="1922006"/>
            <a:ext cx="1280160" cy="1278890"/>
          </a:xfrm>
          <a:custGeom>
            <a:avLst/>
            <a:gdLst/>
            <a:ahLst/>
            <a:cxnLst/>
            <a:rect l="l" t="t" r="r" b="b"/>
            <a:pathLst>
              <a:path w="1280160" h="1278889">
                <a:moveTo>
                  <a:pt x="639988" y="0"/>
                </a:moveTo>
                <a:lnTo>
                  <a:pt x="592225" y="1753"/>
                </a:lnTo>
                <a:lnTo>
                  <a:pt x="545415" y="6932"/>
                </a:lnTo>
                <a:lnTo>
                  <a:pt x="499683" y="15413"/>
                </a:lnTo>
                <a:lnTo>
                  <a:pt x="455151" y="27071"/>
                </a:lnTo>
                <a:lnTo>
                  <a:pt x="411944" y="41784"/>
                </a:lnTo>
                <a:lnTo>
                  <a:pt x="370185" y="59428"/>
                </a:lnTo>
                <a:lnTo>
                  <a:pt x="329999" y="79880"/>
                </a:lnTo>
                <a:lnTo>
                  <a:pt x="291508" y="103015"/>
                </a:lnTo>
                <a:lnTo>
                  <a:pt x="254837" y="128711"/>
                </a:lnTo>
                <a:lnTo>
                  <a:pt x="220109" y="156843"/>
                </a:lnTo>
                <a:lnTo>
                  <a:pt x="187448" y="187289"/>
                </a:lnTo>
                <a:lnTo>
                  <a:pt x="156978" y="219924"/>
                </a:lnTo>
                <a:lnTo>
                  <a:pt x="128823" y="254625"/>
                </a:lnTo>
                <a:lnTo>
                  <a:pt x="103106" y="291269"/>
                </a:lnTo>
                <a:lnTo>
                  <a:pt x="79951" y="329731"/>
                </a:lnTo>
                <a:lnTo>
                  <a:pt x="59482" y="369890"/>
                </a:lnTo>
                <a:lnTo>
                  <a:pt x="41822" y="411620"/>
                </a:lnTo>
                <a:lnTo>
                  <a:pt x="27096" y="454798"/>
                </a:lnTo>
                <a:lnTo>
                  <a:pt x="15427" y="499301"/>
                </a:lnTo>
                <a:lnTo>
                  <a:pt x="6939" y="545005"/>
                </a:lnTo>
                <a:lnTo>
                  <a:pt x="1755" y="591787"/>
                </a:lnTo>
                <a:lnTo>
                  <a:pt x="0" y="639523"/>
                </a:lnTo>
                <a:lnTo>
                  <a:pt x="1755" y="687230"/>
                </a:lnTo>
                <a:lnTo>
                  <a:pt x="6939" y="733985"/>
                </a:lnTo>
                <a:lnTo>
                  <a:pt x="15427" y="779666"/>
                </a:lnTo>
                <a:lnTo>
                  <a:pt x="27096" y="824147"/>
                </a:lnTo>
                <a:lnTo>
                  <a:pt x="41822" y="867306"/>
                </a:lnTo>
                <a:lnTo>
                  <a:pt x="59482" y="909019"/>
                </a:lnTo>
                <a:lnTo>
                  <a:pt x="79951" y="949162"/>
                </a:lnTo>
                <a:lnTo>
                  <a:pt x="103106" y="987611"/>
                </a:lnTo>
                <a:lnTo>
                  <a:pt x="128823" y="1024243"/>
                </a:lnTo>
                <a:lnTo>
                  <a:pt x="156978" y="1058934"/>
                </a:lnTo>
                <a:lnTo>
                  <a:pt x="187448" y="1091561"/>
                </a:lnTo>
                <a:lnTo>
                  <a:pt x="220109" y="1122000"/>
                </a:lnTo>
                <a:lnTo>
                  <a:pt x="254837" y="1150126"/>
                </a:lnTo>
                <a:lnTo>
                  <a:pt x="291508" y="1175817"/>
                </a:lnTo>
                <a:lnTo>
                  <a:pt x="329999" y="1198949"/>
                </a:lnTo>
                <a:lnTo>
                  <a:pt x="370185" y="1219398"/>
                </a:lnTo>
                <a:lnTo>
                  <a:pt x="411944" y="1237040"/>
                </a:lnTo>
                <a:lnTo>
                  <a:pt x="455151" y="1251752"/>
                </a:lnTo>
                <a:lnTo>
                  <a:pt x="499683" y="1263410"/>
                </a:lnTo>
                <a:lnTo>
                  <a:pt x="545415" y="1271890"/>
                </a:lnTo>
                <a:lnTo>
                  <a:pt x="592225" y="1277068"/>
                </a:lnTo>
                <a:lnTo>
                  <a:pt x="639988" y="1278822"/>
                </a:lnTo>
                <a:lnTo>
                  <a:pt x="687754" y="1277068"/>
                </a:lnTo>
                <a:lnTo>
                  <a:pt x="734566" y="1271890"/>
                </a:lnTo>
                <a:lnTo>
                  <a:pt x="780301" y="1263410"/>
                </a:lnTo>
                <a:lnTo>
                  <a:pt x="824835" y="1251752"/>
                </a:lnTo>
                <a:lnTo>
                  <a:pt x="868044" y="1237040"/>
                </a:lnTo>
                <a:lnTo>
                  <a:pt x="909805" y="1219398"/>
                </a:lnTo>
                <a:lnTo>
                  <a:pt x="949993" y="1198949"/>
                </a:lnTo>
                <a:lnTo>
                  <a:pt x="988485" y="1175817"/>
                </a:lnTo>
                <a:lnTo>
                  <a:pt x="1025158" y="1150126"/>
                </a:lnTo>
                <a:lnTo>
                  <a:pt x="1059887" y="1122000"/>
                </a:lnTo>
                <a:lnTo>
                  <a:pt x="1092549" y="1091561"/>
                </a:lnTo>
                <a:lnTo>
                  <a:pt x="1123019" y="1058934"/>
                </a:lnTo>
                <a:lnTo>
                  <a:pt x="1151175" y="1024243"/>
                </a:lnTo>
                <a:lnTo>
                  <a:pt x="1176893" y="987611"/>
                </a:lnTo>
                <a:lnTo>
                  <a:pt x="1200048" y="949162"/>
                </a:lnTo>
                <a:lnTo>
                  <a:pt x="1220518" y="909019"/>
                </a:lnTo>
                <a:lnTo>
                  <a:pt x="1238178" y="867306"/>
                </a:lnTo>
                <a:lnTo>
                  <a:pt x="1252904" y="824147"/>
                </a:lnTo>
                <a:lnTo>
                  <a:pt x="1264573" y="779666"/>
                </a:lnTo>
                <a:lnTo>
                  <a:pt x="1273062" y="733985"/>
                </a:lnTo>
                <a:lnTo>
                  <a:pt x="1278245" y="687230"/>
                </a:lnTo>
                <a:lnTo>
                  <a:pt x="1280001" y="639523"/>
                </a:lnTo>
                <a:lnTo>
                  <a:pt x="1278245" y="591787"/>
                </a:lnTo>
                <a:lnTo>
                  <a:pt x="1273062" y="545005"/>
                </a:lnTo>
                <a:lnTo>
                  <a:pt x="1264573" y="499301"/>
                </a:lnTo>
                <a:lnTo>
                  <a:pt x="1252904" y="454798"/>
                </a:lnTo>
                <a:lnTo>
                  <a:pt x="1238178" y="411620"/>
                </a:lnTo>
                <a:lnTo>
                  <a:pt x="1220518" y="369890"/>
                </a:lnTo>
                <a:lnTo>
                  <a:pt x="1200048" y="329731"/>
                </a:lnTo>
                <a:lnTo>
                  <a:pt x="1176893" y="291269"/>
                </a:lnTo>
                <a:lnTo>
                  <a:pt x="1151175" y="254625"/>
                </a:lnTo>
                <a:lnTo>
                  <a:pt x="1123019" y="219924"/>
                </a:lnTo>
                <a:lnTo>
                  <a:pt x="1092549" y="187289"/>
                </a:lnTo>
                <a:lnTo>
                  <a:pt x="1059887" y="156843"/>
                </a:lnTo>
                <a:lnTo>
                  <a:pt x="1025158" y="128711"/>
                </a:lnTo>
                <a:lnTo>
                  <a:pt x="988485" y="103015"/>
                </a:lnTo>
                <a:lnTo>
                  <a:pt x="949993" y="79880"/>
                </a:lnTo>
                <a:lnTo>
                  <a:pt x="909805" y="59428"/>
                </a:lnTo>
                <a:lnTo>
                  <a:pt x="868044" y="41784"/>
                </a:lnTo>
                <a:lnTo>
                  <a:pt x="824835" y="27071"/>
                </a:lnTo>
                <a:lnTo>
                  <a:pt x="780301" y="15413"/>
                </a:lnTo>
                <a:lnTo>
                  <a:pt x="734566" y="6932"/>
                </a:lnTo>
                <a:lnTo>
                  <a:pt x="687754" y="1753"/>
                </a:lnTo>
                <a:lnTo>
                  <a:pt x="63998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97818" y="1922005"/>
            <a:ext cx="1280160" cy="1278890"/>
          </a:xfrm>
          <a:custGeom>
            <a:avLst/>
            <a:gdLst/>
            <a:ahLst/>
            <a:cxnLst/>
            <a:rect l="l" t="t" r="r" b="b"/>
            <a:pathLst>
              <a:path w="1280160" h="1278889">
                <a:moveTo>
                  <a:pt x="0" y="639524"/>
                </a:moveTo>
                <a:lnTo>
                  <a:pt x="1755" y="591788"/>
                </a:lnTo>
                <a:lnTo>
                  <a:pt x="6939" y="545006"/>
                </a:lnTo>
                <a:lnTo>
                  <a:pt x="15427" y="499302"/>
                </a:lnTo>
                <a:lnTo>
                  <a:pt x="27096" y="454798"/>
                </a:lnTo>
                <a:lnTo>
                  <a:pt x="41822" y="411620"/>
                </a:lnTo>
                <a:lnTo>
                  <a:pt x="59482" y="369890"/>
                </a:lnTo>
                <a:lnTo>
                  <a:pt x="79951" y="329732"/>
                </a:lnTo>
                <a:lnTo>
                  <a:pt x="103106" y="291269"/>
                </a:lnTo>
                <a:lnTo>
                  <a:pt x="128823" y="254625"/>
                </a:lnTo>
                <a:lnTo>
                  <a:pt x="156979" y="219924"/>
                </a:lnTo>
                <a:lnTo>
                  <a:pt x="187449" y="187289"/>
                </a:lnTo>
                <a:lnTo>
                  <a:pt x="220110" y="156843"/>
                </a:lnTo>
                <a:lnTo>
                  <a:pt x="254837" y="128711"/>
                </a:lnTo>
                <a:lnTo>
                  <a:pt x="291509" y="103015"/>
                </a:lnTo>
                <a:lnTo>
                  <a:pt x="330000" y="79880"/>
                </a:lnTo>
                <a:lnTo>
                  <a:pt x="370186" y="59429"/>
                </a:lnTo>
                <a:lnTo>
                  <a:pt x="411945" y="41784"/>
                </a:lnTo>
                <a:lnTo>
                  <a:pt x="455152" y="27071"/>
                </a:lnTo>
                <a:lnTo>
                  <a:pt x="499684" y="15413"/>
                </a:lnTo>
                <a:lnTo>
                  <a:pt x="545417" y="6932"/>
                </a:lnTo>
                <a:lnTo>
                  <a:pt x="592226" y="1753"/>
                </a:lnTo>
                <a:lnTo>
                  <a:pt x="639989" y="0"/>
                </a:lnTo>
                <a:lnTo>
                  <a:pt x="687755" y="1753"/>
                </a:lnTo>
                <a:lnTo>
                  <a:pt x="734568" y="6932"/>
                </a:lnTo>
                <a:lnTo>
                  <a:pt x="780303" y="15413"/>
                </a:lnTo>
                <a:lnTo>
                  <a:pt x="824836" y="27071"/>
                </a:lnTo>
                <a:lnTo>
                  <a:pt x="868046" y="41784"/>
                </a:lnTo>
                <a:lnTo>
                  <a:pt x="909806" y="59429"/>
                </a:lnTo>
                <a:lnTo>
                  <a:pt x="949994" y="79880"/>
                </a:lnTo>
                <a:lnTo>
                  <a:pt x="988487" y="103015"/>
                </a:lnTo>
                <a:lnTo>
                  <a:pt x="1025159" y="128711"/>
                </a:lnTo>
                <a:lnTo>
                  <a:pt x="1059888" y="156843"/>
                </a:lnTo>
                <a:lnTo>
                  <a:pt x="1092550" y="187289"/>
                </a:lnTo>
                <a:lnTo>
                  <a:pt x="1123020" y="219924"/>
                </a:lnTo>
                <a:lnTo>
                  <a:pt x="1151176" y="254625"/>
                </a:lnTo>
                <a:lnTo>
                  <a:pt x="1176894" y="291269"/>
                </a:lnTo>
                <a:lnTo>
                  <a:pt x="1200049" y="329732"/>
                </a:lnTo>
                <a:lnTo>
                  <a:pt x="1220519" y="369890"/>
                </a:lnTo>
                <a:lnTo>
                  <a:pt x="1238178" y="411620"/>
                </a:lnTo>
                <a:lnTo>
                  <a:pt x="1252905" y="454798"/>
                </a:lnTo>
                <a:lnTo>
                  <a:pt x="1264574" y="499302"/>
                </a:lnTo>
                <a:lnTo>
                  <a:pt x="1273062" y="545006"/>
                </a:lnTo>
                <a:lnTo>
                  <a:pt x="1278246" y="591788"/>
                </a:lnTo>
                <a:lnTo>
                  <a:pt x="1280002" y="639524"/>
                </a:lnTo>
                <a:lnTo>
                  <a:pt x="1278246" y="687231"/>
                </a:lnTo>
                <a:lnTo>
                  <a:pt x="1273062" y="733986"/>
                </a:lnTo>
                <a:lnTo>
                  <a:pt x="1264574" y="779666"/>
                </a:lnTo>
                <a:lnTo>
                  <a:pt x="1252905" y="824148"/>
                </a:lnTo>
                <a:lnTo>
                  <a:pt x="1238178" y="867306"/>
                </a:lnTo>
                <a:lnTo>
                  <a:pt x="1220519" y="909019"/>
                </a:lnTo>
                <a:lnTo>
                  <a:pt x="1200049" y="949162"/>
                </a:lnTo>
                <a:lnTo>
                  <a:pt x="1176894" y="987612"/>
                </a:lnTo>
                <a:lnTo>
                  <a:pt x="1151176" y="1024244"/>
                </a:lnTo>
                <a:lnTo>
                  <a:pt x="1123020" y="1058935"/>
                </a:lnTo>
                <a:lnTo>
                  <a:pt x="1092550" y="1091562"/>
                </a:lnTo>
                <a:lnTo>
                  <a:pt x="1059888" y="1122000"/>
                </a:lnTo>
                <a:lnTo>
                  <a:pt x="1025159" y="1150127"/>
                </a:lnTo>
                <a:lnTo>
                  <a:pt x="988487" y="1175818"/>
                </a:lnTo>
                <a:lnTo>
                  <a:pt x="949994" y="1198950"/>
                </a:lnTo>
                <a:lnTo>
                  <a:pt x="909806" y="1219399"/>
                </a:lnTo>
                <a:lnTo>
                  <a:pt x="868046" y="1237041"/>
                </a:lnTo>
                <a:lnTo>
                  <a:pt x="824836" y="1251752"/>
                </a:lnTo>
                <a:lnTo>
                  <a:pt x="780303" y="1263410"/>
                </a:lnTo>
                <a:lnTo>
                  <a:pt x="734568" y="1271890"/>
                </a:lnTo>
                <a:lnTo>
                  <a:pt x="687755" y="1277069"/>
                </a:lnTo>
                <a:lnTo>
                  <a:pt x="639989" y="1278823"/>
                </a:lnTo>
                <a:lnTo>
                  <a:pt x="592226" y="1277069"/>
                </a:lnTo>
                <a:lnTo>
                  <a:pt x="545417" y="1271890"/>
                </a:lnTo>
                <a:lnTo>
                  <a:pt x="499684" y="1263410"/>
                </a:lnTo>
                <a:lnTo>
                  <a:pt x="455152" y="1251752"/>
                </a:lnTo>
                <a:lnTo>
                  <a:pt x="411945" y="1237041"/>
                </a:lnTo>
                <a:lnTo>
                  <a:pt x="370186" y="1219399"/>
                </a:lnTo>
                <a:lnTo>
                  <a:pt x="330000" y="1198950"/>
                </a:lnTo>
                <a:lnTo>
                  <a:pt x="291509" y="1175818"/>
                </a:lnTo>
                <a:lnTo>
                  <a:pt x="254837" y="1150127"/>
                </a:lnTo>
                <a:lnTo>
                  <a:pt x="220110" y="1122000"/>
                </a:lnTo>
                <a:lnTo>
                  <a:pt x="187449" y="1091562"/>
                </a:lnTo>
                <a:lnTo>
                  <a:pt x="156979" y="1058935"/>
                </a:lnTo>
                <a:lnTo>
                  <a:pt x="128823" y="1024244"/>
                </a:lnTo>
                <a:lnTo>
                  <a:pt x="103106" y="987612"/>
                </a:lnTo>
                <a:lnTo>
                  <a:pt x="79951" y="949162"/>
                </a:lnTo>
                <a:lnTo>
                  <a:pt x="59482" y="909019"/>
                </a:lnTo>
                <a:lnTo>
                  <a:pt x="41822" y="867306"/>
                </a:lnTo>
                <a:lnTo>
                  <a:pt x="27096" y="824148"/>
                </a:lnTo>
                <a:lnTo>
                  <a:pt x="15427" y="779666"/>
                </a:lnTo>
                <a:lnTo>
                  <a:pt x="6939" y="733986"/>
                </a:lnTo>
                <a:lnTo>
                  <a:pt x="1755" y="687231"/>
                </a:lnTo>
                <a:lnTo>
                  <a:pt x="0" y="639524"/>
                </a:lnTo>
                <a:close/>
              </a:path>
            </a:pathLst>
          </a:custGeom>
          <a:ln w="54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783332" y="2287831"/>
            <a:ext cx="1109345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dirty="0" sz="1400" spc="20">
                <a:latin typeface="宋体"/>
                <a:cs typeface="宋体"/>
              </a:rPr>
              <a:t>细化系统的对</a:t>
            </a:r>
            <a:endParaRPr sz="14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dirty="0" sz="1400" spc="20">
                <a:latin typeface="MS Gothic"/>
                <a:cs typeface="MS Gothic"/>
              </a:rPr>
              <a:t>外交互</a:t>
            </a:r>
            <a:endParaRPr sz="1400">
              <a:latin typeface="MS Gothic"/>
              <a:cs typeface="MS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93905" y="4671600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0" y="0"/>
                </a:moveTo>
                <a:lnTo>
                  <a:pt x="1279934" y="0"/>
                </a:lnTo>
              </a:path>
            </a:pathLst>
          </a:custGeom>
          <a:ln w="54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93905" y="4032098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0" y="0"/>
                </a:moveTo>
                <a:lnTo>
                  <a:pt x="1279934" y="0"/>
                </a:lnTo>
              </a:path>
            </a:pathLst>
          </a:custGeom>
          <a:ln w="54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93905" y="6014443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0" y="0"/>
                </a:moveTo>
                <a:lnTo>
                  <a:pt x="1279934" y="0"/>
                </a:lnTo>
              </a:path>
            </a:pathLst>
          </a:custGeom>
          <a:ln w="54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93905" y="5055269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0" y="0"/>
                </a:moveTo>
                <a:lnTo>
                  <a:pt x="1279934" y="0"/>
                </a:lnTo>
              </a:path>
            </a:pathLst>
          </a:custGeom>
          <a:ln w="54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97819" y="3328734"/>
            <a:ext cx="1280160" cy="1279525"/>
          </a:xfrm>
          <a:custGeom>
            <a:avLst/>
            <a:gdLst/>
            <a:ahLst/>
            <a:cxnLst/>
            <a:rect l="l" t="t" r="r" b="b"/>
            <a:pathLst>
              <a:path w="1280160" h="1279525">
                <a:moveTo>
                  <a:pt x="639988" y="0"/>
                </a:moveTo>
                <a:lnTo>
                  <a:pt x="592225" y="1753"/>
                </a:lnTo>
                <a:lnTo>
                  <a:pt x="545415" y="6932"/>
                </a:lnTo>
                <a:lnTo>
                  <a:pt x="499683" y="15413"/>
                </a:lnTo>
                <a:lnTo>
                  <a:pt x="455151" y="27071"/>
                </a:lnTo>
                <a:lnTo>
                  <a:pt x="411944" y="41784"/>
                </a:lnTo>
                <a:lnTo>
                  <a:pt x="370185" y="59428"/>
                </a:lnTo>
                <a:lnTo>
                  <a:pt x="329999" y="79880"/>
                </a:lnTo>
                <a:lnTo>
                  <a:pt x="291508" y="103015"/>
                </a:lnTo>
                <a:lnTo>
                  <a:pt x="254837" y="128711"/>
                </a:lnTo>
                <a:lnTo>
                  <a:pt x="220109" y="156843"/>
                </a:lnTo>
                <a:lnTo>
                  <a:pt x="187448" y="187289"/>
                </a:lnTo>
                <a:lnTo>
                  <a:pt x="156978" y="219924"/>
                </a:lnTo>
                <a:lnTo>
                  <a:pt x="128823" y="254625"/>
                </a:lnTo>
                <a:lnTo>
                  <a:pt x="103106" y="291269"/>
                </a:lnTo>
                <a:lnTo>
                  <a:pt x="79951" y="329731"/>
                </a:lnTo>
                <a:lnTo>
                  <a:pt x="59482" y="369890"/>
                </a:lnTo>
                <a:lnTo>
                  <a:pt x="41822" y="411620"/>
                </a:lnTo>
                <a:lnTo>
                  <a:pt x="27096" y="454798"/>
                </a:lnTo>
                <a:lnTo>
                  <a:pt x="15427" y="499301"/>
                </a:lnTo>
                <a:lnTo>
                  <a:pt x="6939" y="545005"/>
                </a:lnTo>
                <a:lnTo>
                  <a:pt x="1755" y="591787"/>
                </a:lnTo>
                <a:lnTo>
                  <a:pt x="0" y="639523"/>
                </a:lnTo>
                <a:lnTo>
                  <a:pt x="1755" y="687242"/>
                </a:lnTo>
                <a:lnTo>
                  <a:pt x="6939" y="734008"/>
                </a:lnTo>
                <a:lnTo>
                  <a:pt x="15427" y="779699"/>
                </a:lnTo>
                <a:lnTo>
                  <a:pt x="27096" y="824190"/>
                </a:lnTo>
                <a:lnTo>
                  <a:pt x="41822" y="867357"/>
                </a:lnTo>
                <a:lnTo>
                  <a:pt x="59482" y="909078"/>
                </a:lnTo>
                <a:lnTo>
                  <a:pt x="79951" y="949229"/>
                </a:lnTo>
                <a:lnTo>
                  <a:pt x="103106" y="987685"/>
                </a:lnTo>
                <a:lnTo>
                  <a:pt x="128823" y="1024323"/>
                </a:lnTo>
                <a:lnTo>
                  <a:pt x="156978" y="1059020"/>
                </a:lnTo>
                <a:lnTo>
                  <a:pt x="187448" y="1091651"/>
                </a:lnTo>
                <a:lnTo>
                  <a:pt x="220109" y="1122094"/>
                </a:lnTo>
                <a:lnTo>
                  <a:pt x="254837" y="1150225"/>
                </a:lnTo>
                <a:lnTo>
                  <a:pt x="291508" y="1175919"/>
                </a:lnTo>
                <a:lnTo>
                  <a:pt x="329999" y="1199054"/>
                </a:lnTo>
                <a:lnTo>
                  <a:pt x="370185" y="1219505"/>
                </a:lnTo>
                <a:lnTo>
                  <a:pt x="411944" y="1237149"/>
                </a:lnTo>
                <a:lnTo>
                  <a:pt x="455151" y="1251862"/>
                </a:lnTo>
                <a:lnTo>
                  <a:pt x="499683" y="1263521"/>
                </a:lnTo>
                <a:lnTo>
                  <a:pt x="545415" y="1272002"/>
                </a:lnTo>
                <a:lnTo>
                  <a:pt x="592225" y="1277181"/>
                </a:lnTo>
                <a:lnTo>
                  <a:pt x="639988" y="1278935"/>
                </a:lnTo>
                <a:lnTo>
                  <a:pt x="687754" y="1277181"/>
                </a:lnTo>
                <a:lnTo>
                  <a:pt x="734566" y="1272002"/>
                </a:lnTo>
                <a:lnTo>
                  <a:pt x="780301" y="1263521"/>
                </a:lnTo>
                <a:lnTo>
                  <a:pt x="824835" y="1251862"/>
                </a:lnTo>
                <a:lnTo>
                  <a:pt x="868044" y="1237149"/>
                </a:lnTo>
                <a:lnTo>
                  <a:pt x="909805" y="1219505"/>
                </a:lnTo>
                <a:lnTo>
                  <a:pt x="949993" y="1199054"/>
                </a:lnTo>
                <a:lnTo>
                  <a:pt x="988485" y="1175919"/>
                </a:lnTo>
                <a:lnTo>
                  <a:pt x="1025158" y="1150225"/>
                </a:lnTo>
                <a:lnTo>
                  <a:pt x="1059887" y="1122094"/>
                </a:lnTo>
                <a:lnTo>
                  <a:pt x="1092549" y="1091651"/>
                </a:lnTo>
                <a:lnTo>
                  <a:pt x="1123019" y="1059020"/>
                </a:lnTo>
                <a:lnTo>
                  <a:pt x="1151175" y="1024323"/>
                </a:lnTo>
                <a:lnTo>
                  <a:pt x="1176893" y="987685"/>
                </a:lnTo>
                <a:lnTo>
                  <a:pt x="1200048" y="949229"/>
                </a:lnTo>
                <a:lnTo>
                  <a:pt x="1220518" y="909078"/>
                </a:lnTo>
                <a:lnTo>
                  <a:pt x="1238178" y="867357"/>
                </a:lnTo>
                <a:lnTo>
                  <a:pt x="1252904" y="824190"/>
                </a:lnTo>
                <a:lnTo>
                  <a:pt x="1264573" y="779699"/>
                </a:lnTo>
                <a:lnTo>
                  <a:pt x="1273062" y="734008"/>
                </a:lnTo>
                <a:lnTo>
                  <a:pt x="1278245" y="687242"/>
                </a:lnTo>
                <a:lnTo>
                  <a:pt x="1280001" y="639523"/>
                </a:lnTo>
                <a:lnTo>
                  <a:pt x="1278245" y="591787"/>
                </a:lnTo>
                <a:lnTo>
                  <a:pt x="1273062" y="545005"/>
                </a:lnTo>
                <a:lnTo>
                  <a:pt x="1264573" y="499301"/>
                </a:lnTo>
                <a:lnTo>
                  <a:pt x="1252904" y="454798"/>
                </a:lnTo>
                <a:lnTo>
                  <a:pt x="1238178" y="411620"/>
                </a:lnTo>
                <a:lnTo>
                  <a:pt x="1220518" y="369890"/>
                </a:lnTo>
                <a:lnTo>
                  <a:pt x="1200048" y="329731"/>
                </a:lnTo>
                <a:lnTo>
                  <a:pt x="1176893" y="291269"/>
                </a:lnTo>
                <a:lnTo>
                  <a:pt x="1151175" y="254625"/>
                </a:lnTo>
                <a:lnTo>
                  <a:pt x="1123019" y="219924"/>
                </a:lnTo>
                <a:lnTo>
                  <a:pt x="1092549" y="187289"/>
                </a:lnTo>
                <a:lnTo>
                  <a:pt x="1059887" y="156843"/>
                </a:lnTo>
                <a:lnTo>
                  <a:pt x="1025158" y="128711"/>
                </a:lnTo>
                <a:lnTo>
                  <a:pt x="988485" y="103015"/>
                </a:lnTo>
                <a:lnTo>
                  <a:pt x="949993" y="79880"/>
                </a:lnTo>
                <a:lnTo>
                  <a:pt x="909805" y="59428"/>
                </a:lnTo>
                <a:lnTo>
                  <a:pt x="868044" y="41784"/>
                </a:lnTo>
                <a:lnTo>
                  <a:pt x="824835" y="27071"/>
                </a:lnTo>
                <a:lnTo>
                  <a:pt x="780301" y="15413"/>
                </a:lnTo>
                <a:lnTo>
                  <a:pt x="734566" y="6932"/>
                </a:lnTo>
                <a:lnTo>
                  <a:pt x="687754" y="1753"/>
                </a:lnTo>
                <a:lnTo>
                  <a:pt x="63998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97818" y="3328733"/>
            <a:ext cx="1280160" cy="1279525"/>
          </a:xfrm>
          <a:custGeom>
            <a:avLst/>
            <a:gdLst/>
            <a:ahLst/>
            <a:cxnLst/>
            <a:rect l="l" t="t" r="r" b="b"/>
            <a:pathLst>
              <a:path w="1280160" h="1279525">
                <a:moveTo>
                  <a:pt x="0" y="639524"/>
                </a:moveTo>
                <a:lnTo>
                  <a:pt x="1755" y="591788"/>
                </a:lnTo>
                <a:lnTo>
                  <a:pt x="6939" y="545006"/>
                </a:lnTo>
                <a:lnTo>
                  <a:pt x="15427" y="499302"/>
                </a:lnTo>
                <a:lnTo>
                  <a:pt x="27096" y="454798"/>
                </a:lnTo>
                <a:lnTo>
                  <a:pt x="41822" y="411620"/>
                </a:lnTo>
                <a:lnTo>
                  <a:pt x="59482" y="369890"/>
                </a:lnTo>
                <a:lnTo>
                  <a:pt x="79951" y="329732"/>
                </a:lnTo>
                <a:lnTo>
                  <a:pt x="103106" y="291269"/>
                </a:lnTo>
                <a:lnTo>
                  <a:pt x="128823" y="254625"/>
                </a:lnTo>
                <a:lnTo>
                  <a:pt x="156979" y="219924"/>
                </a:lnTo>
                <a:lnTo>
                  <a:pt x="187449" y="187289"/>
                </a:lnTo>
                <a:lnTo>
                  <a:pt x="220110" y="156843"/>
                </a:lnTo>
                <a:lnTo>
                  <a:pt x="254837" y="128711"/>
                </a:lnTo>
                <a:lnTo>
                  <a:pt x="291509" y="103015"/>
                </a:lnTo>
                <a:lnTo>
                  <a:pt x="330000" y="79880"/>
                </a:lnTo>
                <a:lnTo>
                  <a:pt x="370186" y="59429"/>
                </a:lnTo>
                <a:lnTo>
                  <a:pt x="411945" y="41784"/>
                </a:lnTo>
                <a:lnTo>
                  <a:pt x="455152" y="27071"/>
                </a:lnTo>
                <a:lnTo>
                  <a:pt x="499684" y="15413"/>
                </a:lnTo>
                <a:lnTo>
                  <a:pt x="545417" y="6932"/>
                </a:lnTo>
                <a:lnTo>
                  <a:pt x="592226" y="1753"/>
                </a:lnTo>
                <a:lnTo>
                  <a:pt x="639989" y="0"/>
                </a:lnTo>
                <a:lnTo>
                  <a:pt x="687755" y="1753"/>
                </a:lnTo>
                <a:lnTo>
                  <a:pt x="734568" y="6932"/>
                </a:lnTo>
                <a:lnTo>
                  <a:pt x="780303" y="15413"/>
                </a:lnTo>
                <a:lnTo>
                  <a:pt x="824836" y="27071"/>
                </a:lnTo>
                <a:lnTo>
                  <a:pt x="868046" y="41784"/>
                </a:lnTo>
                <a:lnTo>
                  <a:pt x="909806" y="59429"/>
                </a:lnTo>
                <a:lnTo>
                  <a:pt x="949994" y="79880"/>
                </a:lnTo>
                <a:lnTo>
                  <a:pt x="988487" y="103015"/>
                </a:lnTo>
                <a:lnTo>
                  <a:pt x="1025159" y="128711"/>
                </a:lnTo>
                <a:lnTo>
                  <a:pt x="1059888" y="156843"/>
                </a:lnTo>
                <a:lnTo>
                  <a:pt x="1092550" y="187289"/>
                </a:lnTo>
                <a:lnTo>
                  <a:pt x="1123020" y="219924"/>
                </a:lnTo>
                <a:lnTo>
                  <a:pt x="1151176" y="254625"/>
                </a:lnTo>
                <a:lnTo>
                  <a:pt x="1176894" y="291269"/>
                </a:lnTo>
                <a:lnTo>
                  <a:pt x="1200049" y="329732"/>
                </a:lnTo>
                <a:lnTo>
                  <a:pt x="1220519" y="369890"/>
                </a:lnTo>
                <a:lnTo>
                  <a:pt x="1238178" y="411620"/>
                </a:lnTo>
                <a:lnTo>
                  <a:pt x="1252905" y="454798"/>
                </a:lnTo>
                <a:lnTo>
                  <a:pt x="1264574" y="499302"/>
                </a:lnTo>
                <a:lnTo>
                  <a:pt x="1273062" y="545006"/>
                </a:lnTo>
                <a:lnTo>
                  <a:pt x="1278246" y="591788"/>
                </a:lnTo>
                <a:lnTo>
                  <a:pt x="1280002" y="639524"/>
                </a:lnTo>
                <a:lnTo>
                  <a:pt x="1278246" y="687243"/>
                </a:lnTo>
                <a:lnTo>
                  <a:pt x="1273062" y="734009"/>
                </a:lnTo>
                <a:lnTo>
                  <a:pt x="1264574" y="779699"/>
                </a:lnTo>
                <a:lnTo>
                  <a:pt x="1252905" y="824190"/>
                </a:lnTo>
                <a:lnTo>
                  <a:pt x="1238178" y="867358"/>
                </a:lnTo>
                <a:lnTo>
                  <a:pt x="1220519" y="909079"/>
                </a:lnTo>
                <a:lnTo>
                  <a:pt x="1200049" y="949229"/>
                </a:lnTo>
                <a:lnTo>
                  <a:pt x="1176894" y="987685"/>
                </a:lnTo>
                <a:lnTo>
                  <a:pt x="1151176" y="1024324"/>
                </a:lnTo>
                <a:lnTo>
                  <a:pt x="1123020" y="1059020"/>
                </a:lnTo>
                <a:lnTo>
                  <a:pt x="1092550" y="1091652"/>
                </a:lnTo>
                <a:lnTo>
                  <a:pt x="1059888" y="1122095"/>
                </a:lnTo>
                <a:lnTo>
                  <a:pt x="1025159" y="1150225"/>
                </a:lnTo>
                <a:lnTo>
                  <a:pt x="988487" y="1175920"/>
                </a:lnTo>
                <a:lnTo>
                  <a:pt x="949994" y="1199054"/>
                </a:lnTo>
                <a:lnTo>
                  <a:pt x="909806" y="1219505"/>
                </a:lnTo>
                <a:lnTo>
                  <a:pt x="868046" y="1237149"/>
                </a:lnTo>
                <a:lnTo>
                  <a:pt x="824836" y="1251863"/>
                </a:lnTo>
                <a:lnTo>
                  <a:pt x="780303" y="1263522"/>
                </a:lnTo>
                <a:lnTo>
                  <a:pt x="734568" y="1272003"/>
                </a:lnTo>
                <a:lnTo>
                  <a:pt x="687755" y="1277182"/>
                </a:lnTo>
                <a:lnTo>
                  <a:pt x="639989" y="1278936"/>
                </a:lnTo>
                <a:lnTo>
                  <a:pt x="592226" y="1277182"/>
                </a:lnTo>
                <a:lnTo>
                  <a:pt x="545417" y="1272003"/>
                </a:lnTo>
                <a:lnTo>
                  <a:pt x="499684" y="1263522"/>
                </a:lnTo>
                <a:lnTo>
                  <a:pt x="455152" y="1251863"/>
                </a:lnTo>
                <a:lnTo>
                  <a:pt x="411945" y="1237149"/>
                </a:lnTo>
                <a:lnTo>
                  <a:pt x="370186" y="1219505"/>
                </a:lnTo>
                <a:lnTo>
                  <a:pt x="330000" y="1199054"/>
                </a:lnTo>
                <a:lnTo>
                  <a:pt x="291509" y="1175920"/>
                </a:lnTo>
                <a:lnTo>
                  <a:pt x="254837" y="1150225"/>
                </a:lnTo>
                <a:lnTo>
                  <a:pt x="220110" y="1122095"/>
                </a:lnTo>
                <a:lnTo>
                  <a:pt x="187449" y="1091652"/>
                </a:lnTo>
                <a:lnTo>
                  <a:pt x="156979" y="1059020"/>
                </a:lnTo>
                <a:lnTo>
                  <a:pt x="128823" y="1024324"/>
                </a:lnTo>
                <a:lnTo>
                  <a:pt x="103106" y="987685"/>
                </a:lnTo>
                <a:lnTo>
                  <a:pt x="79951" y="949229"/>
                </a:lnTo>
                <a:lnTo>
                  <a:pt x="59482" y="909079"/>
                </a:lnTo>
                <a:lnTo>
                  <a:pt x="41822" y="867358"/>
                </a:lnTo>
                <a:lnTo>
                  <a:pt x="27096" y="824190"/>
                </a:lnTo>
                <a:lnTo>
                  <a:pt x="15427" y="779699"/>
                </a:lnTo>
                <a:lnTo>
                  <a:pt x="6939" y="734009"/>
                </a:lnTo>
                <a:lnTo>
                  <a:pt x="1755" y="687243"/>
                </a:lnTo>
                <a:lnTo>
                  <a:pt x="0" y="639524"/>
                </a:lnTo>
                <a:close/>
              </a:path>
            </a:pathLst>
          </a:custGeom>
          <a:ln w="54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783332" y="3694559"/>
            <a:ext cx="1109345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dirty="0" sz="1400" spc="20">
                <a:latin typeface="MS Gothic"/>
                <a:cs typeface="MS Gothic"/>
              </a:rPr>
              <a:t>明确用例中的</a:t>
            </a:r>
            <a:endParaRPr sz="1400">
              <a:latin typeface="MS Gothic"/>
              <a:cs typeface="MS Gothic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dirty="0" sz="1400" spc="20">
                <a:latin typeface="宋体"/>
                <a:cs typeface="宋体"/>
              </a:rPr>
              <a:t>协作对象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33846" y="3584544"/>
            <a:ext cx="1280160" cy="1278890"/>
          </a:xfrm>
          <a:custGeom>
            <a:avLst/>
            <a:gdLst/>
            <a:ahLst/>
            <a:cxnLst/>
            <a:rect l="l" t="t" r="r" b="b"/>
            <a:pathLst>
              <a:path w="1280159" h="1278889">
                <a:moveTo>
                  <a:pt x="640079" y="0"/>
                </a:moveTo>
                <a:lnTo>
                  <a:pt x="592302" y="1753"/>
                </a:lnTo>
                <a:lnTo>
                  <a:pt x="545479" y="6932"/>
                </a:lnTo>
                <a:lnTo>
                  <a:pt x="499735" y="15413"/>
                </a:lnTo>
                <a:lnTo>
                  <a:pt x="455193" y="27071"/>
                </a:lnTo>
                <a:lnTo>
                  <a:pt x="411978" y="41784"/>
                </a:lnTo>
                <a:lnTo>
                  <a:pt x="370211" y="59427"/>
                </a:lnTo>
                <a:lnTo>
                  <a:pt x="330018" y="79878"/>
                </a:lnTo>
                <a:lnTo>
                  <a:pt x="291522" y="103012"/>
                </a:lnTo>
                <a:lnTo>
                  <a:pt x="254846" y="128706"/>
                </a:lnTo>
                <a:lnTo>
                  <a:pt x="220115" y="156837"/>
                </a:lnTo>
                <a:lnTo>
                  <a:pt x="187452" y="187280"/>
                </a:lnTo>
                <a:lnTo>
                  <a:pt x="156980" y="219913"/>
                </a:lnTo>
                <a:lnTo>
                  <a:pt x="128823" y="254611"/>
                </a:lnTo>
                <a:lnTo>
                  <a:pt x="103105" y="291251"/>
                </a:lnTo>
                <a:lnTo>
                  <a:pt x="79949" y="329710"/>
                </a:lnTo>
                <a:lnTo>
                  <a:pt x="59480" y="369864"/>
                </a:lnTo>
                <a:lnTo>
                  <a:pt x="41821" y="411589"/>
                </a:lnTo>
                <a:lnTo>
                  <a:pt x="27095" y="454761"/>
                </a:lnTo>
                <a:lnTo>
                  <a:pt x="15426" y="499258"/>
                </a:lnTo>
                <a:lnTo>
                  <a:pt x="6938" y="544955"/>
                </a:lnTo>
                <a:lnTo>
                  <a:pt x="1755" y="591729"/>
                </a:lnTo>
                <a:lnTo>
                  <a:pt x="0" y="639456"/>
                </a:lnTo>
                <a:lnTo>
                  <a:pt x="1755" y="687177"/>
                </a:lnTo>
                <a:lnTo>
                  <a:pt x="6938" y="733946"/>
                </a:lnTo>
                <a:lnTo>
                  <a:pt x="15426" y="779639"/>
                </a:lnTo>
                <a:lnTo>
                  <a:pt x="27095" y="824132"/>
                </a:lnTo>
                <a:lnTo>
                  <a:pt x="41821" y="867302"/>
                </a:lnTo>
                <a:lnTo>
                  <a:pt x="59480" y="909024"/>
                </a:lnTo>
                <a:lnTo>
                  <a:pt x="79949" y="949176"/>
                </a:lnTo>
                <a:lnTo>
                  <a:pt x="103105" y="987633"/>
                </a:lnTo>
                <a:lnTo>
                  <a:pt x="128823" y="1024273"/>
                </a:lnTo>
                <a:lnTo>
                  <a:pt x="156980" y="1058971"/>
                </a:lnTo>
                <a:lnTo>
                  <a:pt x="187452" y="1091603"/>
                </a:lnTo>
                <a:lnTo>
                  <a:pt x="220115" y="1122047"/>
                </a:lnTo>
                <a:lnTo>
                  <a:pt x="254846" y="1150178"/>
                </a:lnTo>
                <a:lnTo>
                  <a:pt x="291522" y="1175872"/>
                </a:lnTo>
                <a:lnTo>
                  <a:pt x="330018" y="1199007"/>
                </a:lnTo>
                <a:lnTo>
                  <a:pt x="370211" y="1219459"/>
                </a:lnTo>
                <a:lnTo>
                  <a:pt x="411978" y="1237103"/>
                </a:lnTo>
                <a:lnTo>
                  <a:pt x="455193" y="1251816"/>
                </a:lnTo>
                <a:lnTo>
                  <a:pt x="499735" y="1263475"/>
                </a:lnTo>
                <a:lnTo>
                  <a:pt x="545479" y="1271956"/>
                </a:lnTo>
                <a:lnTo>
                  <a:pt x="592302" y="1277136"/>
                </a:lnTo>
                <a:lnTo>
                  <a:pt x="640079" y="1278890"/>
                </a:lnTo>
                <a:lnTo>
                  <a:pt x="687828" y="1277136"/>
                </a:lnTo>
                <a:lnTo>
                  <a:pt x="734623" y="1271956"/>
                </a:lnTo>
                <a:lnTo>
                  <a:pt x="780343" y="1263475"/>
                </a:lnTo>
                <a:lnTo>
                  <a:pt x="824863" y="1251816"/>
                </a:lnTo>
                <a:lnTo>
                  <a:pt x="868060" y="1237103"/>
                </a:lnTo>
                <a:lnTo>
                  <a:pt x="909809" y="1219459"/>
                </a:lnTo>
                <a:lnTo>
                  <a:pt x="949986" y="1199007"/>
                </a:lnTo>
                <a:lnTo>
                  <a:pt x="988469" y="1175872"/>
                </a:lnTo>
                <a:lnTo>
                  <a:pt x="1025133" y="1150178"/>
                </a:lnTo>
                <a:lnTo>
                  <a:pt x="1059855" y="1122047"/>
                </a:lnTo>
                <a:lnTo>
                  <a:pt x="1092510" y="1091603"/>
                </a:lnTo>
                <a:lnTo>
                  <a:pt x="1122975" y="1058971"/>
                </a:lnTo>
                <a:lnTo>
                  <a:pt x="1151126" y="1024273"/>
                </a:lnTo>
                <a:lnTo>
                  <a:pt x="1176839" y="987633"/>
                </a:lnTo>
                <a:lnTo>
                  <a:pt x="1199991" y="949176"/>
                </a:lnTo>
                <a:lnTo>
                  <a:pt x="1220457" y="909024"/>
                </a:lnTo>
                <a:lnTo>
                  <a:pt x="1238115" y="867302"/>
                </a:lnTo>
                <a:lnTo>
                  <a:pt x="1252839" y="824132"/>
                </a:lnTo>
                <a:lnTo>
                  <a:pt x="1264507" y="779639"/>
                </a:lnTo>
                <a:lnTo>
                  <a:pt x="1272995" y="733946"/>
                </a:lnTo>
                <a:lnTo>
                  <a:pt x="1278178" y="687177"/>
                </a:lnTo>
                <a:lnTo>
                  <a:pt x="1279933" y="639456"/>
                </a:lnTo>
                <a:lnTo>
                  <a:pt x="1278178" y="591729"/>
                </a:lnTo>
                <a:lnTo>
                  <a:pt x="1272995" y="544955"/>
                </a:lnTo>
                <a:lnTo>
                  <a:pt x="1264507" y="499258"/>
                </a:lnTo>
                <a:lnTo>
                  <a:pt x="1252839" y="454761"/>
                </a:lnTo>
                <a:lnTo>
                  <a:pt x="1238115" y="411589"/>
                </a:lnTo>
                <a:lnTo>
                  <a:pt x="1220457" y="369864"/>
                </a:lnTo>
                <a:lnTo>
                  <a:pt x="1199991" y="329710"/>
                </a:lnTo>
                <a:lnTo>
                  <a:pt x="1176839" y="291251"/>
                </a:lnTo>
                <a:lnTo>
                  <a:pt x="1151126" y="254611"/>
                </a:lnTo>
                <a:lnTo>
                  <a:pt x="1122975" y="219913"/>
                </a:lnTo>
                <a:lnTo>
                  <a:pt x="1092510" y="187280"/>
                </a:lnTo>
                <a:lnTo>
                  <a:pt x="1059855" y="156837"/>
                </a:lnTo>
                <a:lnTo>
                  <a:pt x="1025133" y="128706"/>
                </a:lnTo>
                <a:lnTo>
                  <a:pt x="988469" y="103012"/>
                </a:lnTo>
                <a:lnTo>
                  <a:pt x="949986" y="79878"/>
                </a:lnTo>
                <a:lnTo>
                  <a:pt x="909809" y="59427"/>
                </a:lnTo>
                <a:lnTo>
                  <a:pt x="868060" y="41784"/>
                </a:lnTo>
                <a:lnTo>
                  <a:pt x="824863" y="27071"/>
                </a:lnTo>
                <a:lnTo>
                  <a:pt x="780343" y="15413"/>
                </a:lnTo>
                <a:lnTo>
                  <a:pt x="734623" y="6932"/>
                </a:lnTo>
                <a:lnTo>
                  <a:pt x="687828" y="1753"/>
                </a:lnTo>
                <a:lnTo>
                  <a:pt x="640079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33847" y="3584543"/>
            <a:ext cx="1280160" cy="1278890"/>
          </a:xfrm>
          <a:custGeom>
            <a:avLst/>
            <a:gdLst/>
            <a:ahLst/>
            <a:cxnLst/>
            <a:rect l="l" t="t" r="r" b="b"/>
            <a:pathLst>
              <a:path w="1280159" h="1278889">
                <a:moveTo>
                  <a:pt x="0" y="639456"/>
                </a:moveTo>
                <a:lnTo>
                  <a:pt x="1755" y="591729"/>
                </a:lnTo>
                <a:lnTo>
                  <a:pt x="6938" y="544955"/>
                </a:lnTo>
                <a:lnTo>
                  <a:pt x="15426" y="499258"/>
                </a:lnTo>
                <a:lnTo>
                  <a:pt x="27095" y="454761"/>
                </a:lnTo>
                <a:lnTo>
                  <a:pt x="41821" y="411589"/>
                </a:lnTo>
                <a:lnTo>
                  <a:pt x="59480" y="369864"/>
                </a:lnTo>
                <a:lnTo>
                  <a:pt x="79949" y="329710"/>
                </a:lnTo>
                <a:lnTo>
                  <a:pt x="103105" y="291252"/>
                </a:lnTo>
                <a:lnTo>
                  <a:pt x="128823" y="254611"/>
                </a:lnTo>
                <a:lnTo>
                  <a:pt x="156980" y="219913"/>
                </a:lnTo>
                <a:lnTo>
                  <a:pt x="187452" y="187280"/>
                </a:lnTo>
                <a:lnTo>
                  <a:pt x="220115" y="156837"/>
                </a:lnTo>
                <a:lnTo>
                  <a:pt x="254846" y="128706"/>
                </a:lnTo>
                <a:lnTo>
                  <a:pt x="291522" y="103012"/>
                </a:lnTo>
                <a:lnTo>
                  <a:pt x="330018" y="79878"/>
                </a:lnTo>
                <a:lnTo>
                  <a:pt x="370211" y="59427"/>
                </a:lnTo>
                <a:lnTo>
                  <a:pt x="411978" y="41784"/>
                </a:lnTo>
                <a:lnTo>
                  <a:pt x="455194" y="27071"/>
                </a:lnTo>
                <a:lnTo>
                  <a:pt x="499735" y="15413"/>
                </a:lnTo>
                <a:lnTo>
                  <a:pt x="545479" y="6932"/>
                </a:lnTo>
                <a:lnTo>
                  <a:pt x="592302" y="1753"/>
                </a:lnTo>
                <a:lnTo>
                  <a:pt x="640080" y="0"/>
                </a:lnTo>
                <a:lnTo>
                  <a:pt x="687828" y="1753"/>
                </a:lnTo>
                <a:lnTo>
                  <a:pt x="734624" y="6932"/>
                </a:lnTo>
                <a:lnTo>
                  <a:pt x="780344" y="15413"/>
                </a:lnTo>
                <a:lnTo>
                  <a:pt x="824864" y="27071"/>
                </a:lnTo>
                <a:lnTo>
                  <a:pt x="868060" y="41784"/>
                </a:lnTo>
                <a:lnTo>
                  <a:pt x="909809" y="59427"/>
                </a:lnTo>
                <a:lnTo>
                  <a:pt x="949987" y="79878"/>
                </a:lnTo>
                <a:lnTo>
                  <a:pt x="988470" y="103012"/>
                </a:lnTo>
                <a:lnTo>
                  <a:pt x="1025134" y="128706"/>
                </a:lnTo>
                <a:lnTo>
                  <a:pt x="1059855" y="156837"/>
                </a:lnTo>
                <a:lnTo>
                  <a:pt x="1092510" y="187280"/>
                </a:lnTo>
                <a:lnTo>
                  <a:pt x="1122975" y="219913"/>
                </a:lnTo>
                <a:lnTo>
                  <a:pt x="1151126" y="254611"/>
                </a:lnTo>
                <a:lnTo>
                  <a:pt x="1176839" y="291252"/>
                </a:lnTo>
                <a:lnTo>
                  <a:pt x="1199991" y="329710"/>
                </a:lnTo>
                <a:lnTo>
                  <a:pt x="1220458" y="369864"/>
                </a:lnTo>
                <a:lnTo>
                  <a:pt x="1238115" y="411589"/>
                </a:lnTo>
                <a:lnTo>
                  <a:pt x="1252840" y="454761"/>
                </a:lnTo>
                <a:lnTo>
                  <a:pt x="1264508" y="499258"/>
                </a:lnTo>
                <a:lnTo>
                  <a:pt x="1272995" y="544955"/>
                </a:lnTo>
                <a:lnTo>
                  <a:pt x="1278179" y="591729"/>
                </a:lnTo>
                <a:lnTo>
                  <a:pt x="1279934" y="639456"/>
                </a:lnTo>
                <a:lnTo>
                  <a:pt x="1278179" y="687178"/>
                </a:lnTo>
                <a:lnTo>
                  <a:pt x="1272995" y="733947"/>
                </a:lnTo>
                <a:lnTo>
                  <a:pt x="1264508" y="779640"/>
                </a:lnTo>
                <a:lnTo>
                  <a:pt x="1252840" y="824133"/>
                </a:lnTo>
                <a:lnTo>
                  <a:pt x="1238115" y="867303"/>
                </a:lnTo>
                <a:lnTo>
                  <a:pt x="1220458" y="909025"/>
                </a:lnTo>
                <a:lnTo>
                  <a:pt x="1199991" y="949177"/>
                </a:lnTo>
                <a:lnTo>
                  <a:pt x="1176839" y="987634"/>
                </a:lnTo>
                <a:lnTo>
                  <a:pt x="1151126" y="1024274"/>
                </a:lnTo>
                <a:lnTo>
                  <a:pt x="1122975" y="1058972"/>
                </a:lnTo>
                <a:lnTo>
                  <a:pt x="1092510" y="1091604"/>
                </a:lnTo>
                <a:lnTo>
                  <a:pt x="1059855" y="1122048"/>
                </a:lnTo>
                <a:lnTo>
                  <a:pt x="1025134" y="1150179"/>
                </a:lnTo>
                <a:lnTo>
                  <a:pt x="988470" y="1175873"/>
                </a:lnTo>
                <a:lnTo>
                  <a:pt x="949987" y="1199008"/>
                </a:lnTo>
                <a:lnTo>
                  <a:pt x="909809" y="1219460"/>
                </a:lnTo>
                <a:lnTo>
                  <a:pt x="868060" y="1237104"/>
                </a:lnTo>
                <a:lnTo>
                  <a:pt x="824864" y="1251817"/>
                </a:lnTo>
                <a:lnTo>
                  <a:pt x="780344" y="1263477"/>
                </a:lnTo>
                <a:lnTo>
                  <a:pt x="734624" y="1271958"/>
                </a:lnTo>
                <a:lnTo>
                  <a:pt x="687828" y="1277137"/>
                </a:lnTo>
                <a:lnTo>
                  <a:pt x="640080" y="1278891"/>
                </a:lnTo>
                <a:lnTo>
                  <a:pt x="592302" y="1277137"/>
                </a:lnTo>
                <a:lnTo>
                  <a:pt x="545479" y="1271958"/>
                </a:lnTo>
                <a:lnTo>
                  <a:pt x="499735" y="1263477"/>
                </a:lnTo>
                <a:lnTo>
                  <a:pt x="455194" y="1251817"/>
                </a:lnTo>
                <a:lnTo>
                  <a:pt x="411978" y="1237104"/>
                </a:lnTo>
                <a:lnTo>
                  <a:pt x="370211" y="1219460"/>
                </a:lnTo>
                <a:lnTo>
                  <a:pt x="330018" y="1199008"/>
                </a:lnTo>
                <a:lnTo>
                  <a:pt x="291522" y="1175873"/>
                </a:lnTo>
                <a:lnTo>
                  <a:pt x="254846" y="1150179"/>
                </a:lnTo>
                <a:lnTo>
                  <a:pt x="220115" y="1122048"/>
                </a:lnTo>
                <a:lnTo>
                  <a:pt x="187452" y="1091604"/>
                </a:lnTo>
                <a:lnTo>
                  <a:pt x="156980" y="1058972"/>
                </a:lnTo>
                <a:lnTo>
                  <a:pt x="128823" y="1024274"/>
                </a:lnTo>
                <a:lnTo>
                  <a:pt x="103105" y="987634"/>
                </a:lnTo>
                <a:lnTo>
                  <a:pt x="79949" y="949177"/>
                </a:lnTo>
                <a:lnTo>
                  <a:pt x="59480" y="909025"/>
                </a:lnTo>
                <a:lnTo>
                  <a:pt x="41821" y="867303"/>
                </a:lnTo>
                <a:lnTo>
                  <a:pt x="27095" y="824133"/>
                </a:lnTo>
                <a:lnTo>
                  <a:pt x="15426" y="779640"/>
                </a:lnTo>
                <a:lnTo>
                  <a:pt x="6938" y="733947"/>
                </a:lnTo>
                <a:lnTo>
                  <a:pt x="1755" y="687178"/>
                </a:lnTo>
                <a:lnTo>
                  <a:pt x="0" y="639456"/>
                </a:lnTo>
                <a:close/>
              </a:path>
            </a:pathLst>
          </a:custGeom>
          <a:ln w="54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519360" y="3950392"/>
            <a:ext cx="1109345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dirty="0" sz="1400" spc="20">
                <a:latin typeface="MS Gothic"/>
                <a:cs typeface="MS Gothic"/>
              </a:rPr>
              <a:t>明确用例中的</a:t>
            </a:r>
            <a:endParaRPr sz="1400">
              <a:latin typeface="MS Gothic"/>
              <a:cs typeface="MS Gothic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dirty="0" sz="1400" spc="20">
                <a:latin typeface="宋体"/>
                <a:cs typeface="宋体"/>
              </a:rPr>
              <a:t>协作行为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01772" y="2305720"/>
            <a:ext cx="1092200" cy="229870"/>
          </a:xfrm>
          <a:custGeom>
            <a:avLst/>
            <a:gdLst/>
            <a:ahLst/>
            <a:cxnLst/>
            <a:rect l="l" t="t" r="r" b="b"/>
            <a:pathLst>
              <a:path w="1092200" h="229869">
                <a:moveTo>
                  <a:pt x="1092132" y="0"/>
                </a:moveTo>
                <a:lnTo>
                  <a:pt x="0" y="229642"/>
                </a:lnTo>
              </a:path>
            </a:pathLst>
          </a:custGeom>
          <a:ln w="54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77820" y="2487990"/>
            <a:ext cx="144780" cy="90170"/>
          </a:xfrm>
          <a:custGeom>
            <a:avLst/>
            <a:gdLst/>
            <a:ahLst/>
            <a:cxnLst/>
            <a:rect l="l" t="t" r="r" b="b"/>
            <a:pathLst>
              <a:path w="144779" h="90169">
                <a:moveTo>
                  <a:pt x="125713" y="0"/>
                </a:moveTo>
                <a:lnTo>
                  <a:pt x="0" y="73539"/>
                </a:lnTo>
                <a:lnTo>
                  <a:pt x="144701" y="90007"/>
                </a:lnTo>
                <a:lnTo>
                  <a:pt x="1257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977820" y="2561529"/>
            <a:ext cx="1109345" cy="699770"/>
          </a:xfrm>
          <a:custGeom>
            <a:avLst/>
            <a:gdLst/>
            <a:ahLst/>
            <a:cxnLst/>
            <a:rect l="l" t="t" r="r" b="b"/>
            <a:pathLst>
              <a:path w="1109345" h="699770">
                <a:moveTo>
                  <a:pt x="0" y="0"/>
                </a:moveTo>
                <a:lnTo>
                  <a:pt x="1108839" y="699754"/>
                </a:lnTo>
              </a:path>
            </a:pathLst>
          </a:custGeom>
          <a:ln w="54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52341" y="3216168"/>
            <a:ext cx="141605" cy="113030"/>
          </a:xfrm>
          <a:custGeom>
            <a:avLst/>
            <a:gdLst/>
            <a:ahLst/>
            <a:cxnLst/>
            <a:rect l="l" t="t" r="r" b="b"/>
            <a:pathLst>
              <a:path w="141604" h="113029">
                <a:moveTo>
                  <a:pt x="49220" y="0"/>
                </a:moveTo>
                <a:lnTo>
                  <a:pt x="0" y="77826"/>
                </a:lnTo>
                <a:lnTo>
                  <a:pt x="141563" y="112566"/>
                </a:lnTo>
                <a:lnTo>
                  <a:pt x="49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089896" y="3328733"/>
            <a:ext cx="1104265" cy="581025"/>
          </a:xfrm>
          <a:custGeom>
            <a:avLst/>
            <a:gdLst/>
            <a:ahLst/>
            <a:cxnLst/>
            <a:rect l="l" t="t" r="r" b="b"/>
            <a:pathLst>
              <a:path w="1104264" h="581025">
                <a:moveTo>
                  <a:pt x="1104008" y="0"/>
                </a:moveTo>
                <a:lnTo>
                  <a:pt x="0" y="580647"/>
                </a:lnTo>
              </a:path>
            </a:pathLst>
          </a:custGeom>
          <a:ln w="54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77820" y="3863138"/>
            <a:ext cx="144145" cy="105410"/>
          </a:xfrm>
          <a:custGeom>
            <a:avLst/>
            <a:gdLst/>
            <a:ahLst/>
            <a:cxnLst/>
            <a:rect l="l" t="t" r="r" b="b"/>
            <a:pathLst>
              <a:path w="144145" h="105410">
                <a:moveTo>
                  <a:pt x="100810" y="0"/>
                </a:moveTo>
                <a:lnTo>
                  <a:pt x="0" y="105120"/>
                </a:lnTo>
                <a:lnTo>
                  <a:pt x="143729" y="81434"/>
                </a:lnTo>
                <a:lnTo>
                  <a:pt x="1008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977820" y="3968258"/>
            <a:ext cx="1095375" cy="346075"/>
          </a:xfrm>
          <a:custGeom>
            <a:avLst/>
            <a:gdLst/>
            <a:ahLst/>
            <a:cxnLst/>
            <a:rect l="l" t="t" r="r" b="b"/>
            <a:pathLst>
              <a:path w="1095375" h="346075">
                <a:moveTo>
                  <a:pt x="0" y="0"/>
                </a:moveTo>
                <a:lnTo>
                  <a:pt x="1095293" y="345523"/>
                </a:lnTo>
              </a:path>
            </a:pathLst>
          </a:custGeom>
          <a:ln w="54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48277" y="4266432"/>
            <a:ext cx="146050" cy="88265"/>
          </a:xfrm>
          <a:custGeom>
            <a:avLst/>
            <a:gdLst/>
            <a:ahLst/>
            <a:cxnLst/>
            <a:rect l="l" t="t" r="r" b="b"/>
            <a:pathLst>
              <a:path w="146050" h="88264">
                <a:moveTo>
                  <a:pt x="27545" y="0"/>
                </a:moveTo>
                <a:lnTo>
                  <a:pt x="0" y="87773"/>
                </a:lnTo>
                <a:lnTo>
                  <a:pt x="145627" y="85450"/>
                </a:lnTo>
                <a:lnTo>
                  <a:pt x="275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473839" y="3328733"/>
            <a:ext cx="868044" cy="808990"/>
          </a:xfrm>
          <a:custGeom>
            <a:avLst/>
            <a:gdLst/>
            <a:ahLst/>
            <a:cxnLst/>
            <a:rect l="l" t="t" r="r" b="b"/>
            <a:pathLst>
              <a:path w="868045" h="808989">
                <a:moveTo>
                  <a:pt x="0" y="0"/>
                </a:moveTo>
                <a:lnTo>
                  <a:pt x="867438" y="808936"/>
                </a:lnTo>
              </a:path>
            </a:pathLst>
          </a:custGeom>
          <a:ln w="54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301314" y="4096163"/>
            <a:ext cx="132715" cy="128270"/>
          </a:xfrm>
          <a:custGeom>
            <a:avLst/>
            <a:gdLst/>
            <a:ahLst/>
            <a:cxnLst/>
            <a:rect l="l" t="t" r="r" b="b"/>
            <a:pathLst>
              <a:path w="132715" h="128270">
                <a:moveTo>
                  <a:pt x="62991" y="0"/>
                </a:moveTo>
                <a:lnTo>
                  <a:pt x="0" y="67222"/>
                </a:lnTo>
                <a:lnTo>
                  <a:pt x="132532" y="127836"/>
                </a:lnTo>
                <a:lnTo>
                  <a:pt x="629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548572" y="4224000"/>
            <a:ext cx="885825" cy="1209040"/>
          </a:xfrm>
          <a:custGeom>
            <a:avLst/>
            <a:gdLst/>
            <a:ahLst/>
            <a:cxnLst/>
            <a:rect l="l" t="t" r="r" b="b"/>
            <a:pathLst>
              <a:path w="885825" h="1209039">
                <a:moveTo>
                  <a:pt x="885274" y="0"/>
                </a:moveTo>
                <a:lnTo>
                  <a:pt x="0" y="1208735"/>
                </a:lnTo>
              </a:path>
            </a:pathLst>
          </a:custGeom>
          <a:ln w="54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473838" y="5396282"/>
            <a:ext cx="119380" cy="139065"/>
          </a:xfrm>
          <a:custGeom>
            <a:avLst/>
            <a:gdLst/>
            <a:ahLst/>
            <a:cxnLst/>
            <a:rect l="l" t="t" r="r" b="b"/>
            <a:pathLst>
              <a:path w="119379" h="139064">
                <a:moveTo>
                  <a:pt x="44477" y="0"/>
                </a:moveTo>
                <a:lnTo>
                  <a:pt x="0" y="138574"/>
                </a:lnTo>
                <a:lnTo>
                  <a:pt x="118758" y="54342"/>
                </a:lnTo>
                <a:lnTo>
                  <a:pt x="444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745826" y="1154596"/>
            <a:ext cx="2304415" cy="5052060"/>
          </a:xfrm>
          <a:prstGeom prst="rect">
            <a:avLst/>
          </a:prstGeom>
          <a:ln w="16253">
            <a:solidFill>
              <a:srgbClr val="000000"/>
            </a:solidFill>
          </a:ln>
        </p:spPr>
        <p:txBody>
          <a:bodyPr wrap="square" lIns="0" tIns="176530" rIns="0" bIns="0" rtlCol="0" vert="horz">
            <a:spAutoFit/>
          </a:bodyPr>
          <a:lstStyle/>
          <a:p>
            <a:pPr algn="ctr" marR="120014">
              <a:lnSpc>
                <a:spcPct val="100000"/>
              </a:lnSpc>
              <a:spcBef>
                <a:spcPts val="1390"/>
              </a:spcBef>
            </a:pPr>
            <a:r>
              <a:rPr dirty="0" sz="2100" spc="30">
                <a:latin typeface="MS Gothic"/>
                <a:cs typeface="MS Gothic"/>
              </a:rPr>
              <a:t>系</a:t>
            </a:r>
            <a:r>
              <a:rPr dirty="0" sz="2100" spc="30">
                <a:latin typeface="宋体"/>
                <a:cs typeface="宋体"/>
              </a:rPr>
              <a:t>统</a:t>
            </a:r>
            <a:r>
              <a:rPr dirty="0" sz="2100" spc="30">
                <a:latin typeface="MS Gothic"/>
                <a:cs typeface="MS Gothic"/>
              </a:rPr>
              <a:t>模型</a:t>
            </a:r>
            <a:endParaRPr sz="210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2100">
              <a:latin typeface="MS Gothic"/>
              <a:cs typeface="MS Gothic"/>
            </a:endParaRPr>
          </a:p>
          <a:p>
            <a:pPr algn="ctr" marR="120014">
              <a:lnSpc>
                <a:spcPct val="100000"/>
              </a:lnSpc>
              <a:spcBef>
                <a:spcPts val="1530"/>
              </a:spcBef>
            </a:pPr>
            <a:r>
              <a:rPr dirty="0" sz="1400" spc="20">
                <a:latin typeface="MS Gothic"/>
                <a:cs typeface="MS Gothic"/>
              </a:rPr>
              <a:t>系</a:t>
            </a:r>
            <a:r>
              <a:rPr dirty="0" sz="1400" spc="20">
                <a:latin typeface="宋体"/>
                <a:cs typeface="宋体"/>
              </a:rPr>
              <a:t>统</a:t>
            </a:r>
            <a:r>
              <a:rPr dirty="0" sz="1400" spc="20">
                <a:latin typeface="MS Gothic"/>
                <a:cs typeface="MS Gothic"/>
              </a:rPr>
              <a:t>用例</a:t>
            </a:r>
            <a:r>
              <a:rPr dirty="0" sz="1400" spc="20">
                <a:latin typeface="宋体"/>
                <a:cs typeface="宋体"/>
              </a:rPr>
              <a:t>图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50">
              <a:latin typeface="宋体"/>
              <a:cs typeface="宋体"/>
            </a:endParaRPr>
          </a:p>
          <a:p>
            <a:pPr algn="ctr" marL="520700" marR="641350">
              <a:lnSpc>
                <a:spcPct val="111300"/>
              </a:lnSpc>
            </a:pPr>
            <a:r>
              <a:rPr dirty="0" sz="1400" spc="20">
                <a:latin typeface="MS Gothic"/>
                <a:cs typeface="MS Gothic"/>
              </a:rPr>
              <a:t>用例模型</a:t>
            </a:r>
            <a:r>
              <a:rPr dirty="0" sz="1400" spc="5" i="1">
                <a:latin typeface="Times New Roman"/>
                <a:cs typeface="Times New Roman"/>
              </a:rPr>
              <a:t>/</a:t>
            </a:r>
            <a:r>
              <a:rPr dirty="0" sz="1400" spc="15">
                <a:latin typeface="MS Gothic"/>
                <a:cs typeface="MS Gothic"/>
              </a:rPr>
              <a:t>用例 </a:t>
            </a:r>
            <a:r>
              <a:rPr dirty="0" sz="1400" spc="20">
                <a:latin typeface="MS Gothic"/>
                <a:cs typeface="MS Gothic"/>
              </a:rPr>
              <a:t>描述</a:t>
            </a:r>
            <a:endParaRPr sz="140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14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MS Gothic"/>
              <a:cs typeface="MS Gothic"/>
            </a:endParaRPr>
          </a:p>
          <a:p>
            <a:pPr algn="ctr" marL="520700" marR="641350">
              <a:lnSpc>
                <a:spcPct val="111300"/>
              </a:lnSpc>
            </a:pPr>
            <a:r>
              <a:rPr dirty="0" sz="1400" spc="20">
                <a:latin typeface="MS Gothic"/>
                <a:cs typeface="MS Gothic"/>
              </a:rPr>
              <a:t>概念</a:t>
            </a:r>
            <a:r>
              <a:rPr dirty="0" sz="1400" spc="20">
                <a:latin typeface="宋体"/>
                <a:cs typeface="宋体"/>
              </a:rPr>
              <a:t>类图</a:t>
            </a:r>
            <a:r>
              <a:rPr dirty="0" sz="1400" spc="5" i="1">
                <a:latin typeface="Times New Roman"/>
                <a:cs typeface="Times New Roman"/>
              </a:rPr>
              <a:t>/</a:t>
            </a:r>
            <a:r>
              <a:rPr dirty="0" sz="1400" spc="15">
                <a:latin typeface="宋体"/>
                <a:cs typeface="宋体"/>
              </a:rPr>
              <a:t>领域 </a:t>
            </a:r>
            <a:r>
              <a:rPr dirty="0" sz="1400" spc="20">
                <a:latin typeface="MS Gothic"/>
                <a:cs typeface="MS Gothic"/>
              </a:rPr>
              <a:t>模型</a:t>
            </a:r>
            <a:endParaRPr sz="140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14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MS Gothic"/>
              <a:cs typeface="MS Gothic"/>
            </a:endParaRPr>
          </a:p>
          <a:p>
            <a:pPr algn="just" marL="470534" marR="1283335">
              <a:lnSpc>
                <a:spcPct val="101499"/>
              </a:lnSpc>
            </a:pPr>
            <a:r>
              <a:rPr dirty="0" sz="1400" spc="20">
                <a:latin typeface="MS Gothic"/>
                <a:cs typeface="MS Gothic"/>
              </a:rPr>
              <a:t>交互</a:t>
            </a:r>
            <a:r>
              <a:rPr dirty="0" sz="1400" spc="15">
                <a:latin typeface="宋体"/>
                <a:cs typeface="宋体"/>
              </a:rPr>
              <a:t>图 </a:t>
            </a:r>
            <a:r>
              <a:rPr dirty="0" sz="1400" spc="20">
                <a:latin typeface="MS Gothic"/>
                <a:cs typeface="MS Gothic"/>
              </a:rPr>
              <a:t>状</a:t>
            </a:r>
            <a:r>
              <a:rPr dirty="0" sz="1400" spc="15">
                <a:latin typeface="宋体"/>
                <a:cs typeface="宋体"/>
              </a:rPr>
              <a:t>态图 </a:t>
            </a:r>
            <a:r>
              <a:rPr dirty="0" sz="1400" spc="20">
                <a:latin typeface="MS Gothic"/>
                <a:cs typeface="MS Gothic"/>
              </a:rPr>
              <a:t>活</a:t>
            </a:r>
            <a:r>
              <a:rPr dirty="0" sz="1400" spc="20">
                <a:latin typeface="宋体"/>
                <a:cs typeface="宋体"/>
              </a:rPr>
              <a:t>动图</a:t>
            </a:r>
            <a:endParaRPr sz="1400">
              <a:latin typeface="宋体"/>
              <a:cs typeface="宋体"/>
            </a:endParaRPr>
          </a:p>
          <a:p>
            <a:pPr algn="ctr" marR="120014">
              <a:lnSpc>
                <a:spcPct val="100000"/>
              </a:lnSpc>
              <a:spcBef>
                <a:spcPts val="25"/>
              </a:spcBef>
            </a:pPr>
            <a:r>
              <a:rPr dirty="0" sz="1400" spc="20">
                <a:latin typeface="宋体"/>
                <a:cs typeface="宋体"/>
              </a:rPr>
              <a:t>对象约束语言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475"/>
            <a:ext cx="5473700" cy="29489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需求分析的根本任务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需求分析技术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需求分析方法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4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solidFill>
                  <a:srgbClr val="FF0000"/>
                </a:solidFill>
                <a:latin typeface="宋体"/>
                <a:cs typeface="宋体"/>
              </a:rPr>
              <a:t>前期需求阶段的建模与分析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需求分析的活动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300" y="196595"/>
            <a:ext cx="56134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面向问题与面向解系统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3602" y="1549715"/>
            <a:ext cx="1318260" cy="567690"/>
          </a:xfrm>
          <a:prstGeom prst="rect">
            <a:avLst/>
          </a:prstGeom>
          <a:solidFill>
            <a:srgbClr val="E8EEF7"/>
          </a:solidFill>
          <a:ln w="5057">
            <a:solidFill>
              <a:srgbClr val="000000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</a:pPr>
            <a:r>
              <a:rPr dirty="0" sz="1300" spc="30">
                <a:latin typeface="宋体"/>
                <a:cs typeface="宋体"/>
              </a:rPr>
              <a:t>问题世界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25557" y="1549715"/>
            <a:ext cx="1318260" cy="567690"/>
          </a:xfrm>
          <a:prstGeom prst="rect">
            <a:avLst/>
          </a:prstGeom>
          <a:solidFill>
            <a:srgbClr val="E8EEF7"/>
          </a:solidFill>
          <a:ln w="5057">
            <a:solidFill>
              <a:srgbClr val="000000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</a:pPr>
            <a:r>
              <a:rPr dirty="0" sz="1300" spc="30">
                <a:latin typeface="宋体"/>
                <a:cs typeface="宋体"/>
              </a:rPr>
              <a:t>计算世界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0587" y="1549715"/>
            <a:ext cx="1138555" cy="567690"/>
          </a:xfrm>
          <a:prstGeom prst="rect">
            <a:avLst/>
          </a:prstGeom>
          <a:solidFill>
            <a:srgbClr val="E8EEF7"/>
          </a:solidFill>
          <a:ln w="5057">
            <a:solidFill>
              <a:srgbClr val="000000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230504">
              <a:lnSpc>
                <a:spcPct val="100000"/>
              </a:lnSpc>
            </a:pPr>
            <a:r>
              <a:rPr dirty="0" sz="1300" spc="30">
                <a:latin typeface="MS Gothic"/>
                <a:cs typeface="MS Gothic"/>
              </a:rPr>
              <a:t>分析技</a:t>
            </a:r>
            <a:r>
              <a:rPr dirty="0" sz="1300" spc="30">
                <a:latin typeface="宋体"/>
                <a:cs typeface="宋体"/>
              </a:rPr>
              <a:t>术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91627" y="1594606"/>
            <a:ext cx="521334" cy="119380"/>
          </a:xfrm>
          <a:custGeom>
            <a:avLst/>
            <a:gdLst/>
            <a:ahLst/>
            <a:cxnLst/>
            <a:rect l="l" t="t" r="r" b="b"/>
            <a:pathLst>
              <a:path w="521335" h="119380">
                <a:moveTo>
                  <a:pt x="0" y="119269"/>
                </a:moveTo>
                <a:lnTo>
                  <a:pt x="34256" y="90860"/>
                </a:lnTo>
                <a:lnTo>
                  <a:pt x="71376" y="66196"/>
                </a:lnTo>
                <a:lnTo>
                  <a:pt x="111000" y="45333"/>
                </a:lnTo>
                <a:lnTo>
                  <a:pt x="152767" y="28328"/>
                </a:lnTo>
                <a:lnTo>
                  <a:pt x="196320" y="15236"/>
                </a:lnTo>
                <a:lnTo>
                  <a:pt x="241298" y="6113"/>
                </a:lnTo>
                <a:lnTo>
                  <a:pt x="287341" y="1015"/>
                </a:lnTo>
                <a:lnTo>
                  <a:pt x="334090" y="0"/>
                </a:lnTo>
                <a:lnTo>
                  <a:pt x="381185" y="3121"/>
                </a:lnTo>
                <a:lnTo>
                  <a:pt x="428267" y="10437"/>
                </a:lnTo>
                <a:lnTo>
                  <a:pt x="474977" y="22002"/>
                </a:lnTo>
                <a:lnTo>
                  <a:pt x="520954" y="37873"/>
                </a:lnTo>
              </a:path>
            </a:pathLst>
          </a:custGeom>
          <a:ln w="50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0313" y="1575071"/>
            <a:ext cx="180340" cy="139065"/>
          </a:xfrm>
          <a:custGeom>
            <a:avLst/>
            <a:gdLst/>
            <a:ahLst/>
            <a:cxnLst/>
            <a:rect l="l" t="t" r="r" b="b"/>
            <a:pathLst>
              <a:path w="180339" h="139064">
                <a:moveTo>
                  <a:pt x="59386" y="0"/>
                </a:moveTo>
                <a:lnTo>
                  <a:pt x="0" y="100032"/>
                </a:lnTo>
                <a:lnTo>
                  <a:pt x="180273" y="138803"/>
                </a:lnTo>
                <a:lnTo>
                  <a:pt x="593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88868" y="1502976"/>
            <a:ext cx="1887855" cy="153035"/>
          </a:xfrm>
          <a:custGeom>
            <a:avLst/>
            <a:gdLst/>
            <a:ahLst/>
            <a:cxnLst/>
            <a:rect l="l" t="t" r="r" b="b"/>
            <a:pathLst>
              <a:path w="1887854" h="153035">
                <a:moveTo>
                  <a:pt x="0" y="151194"/>
                </a:moveTo>
                <a:lnTo>
                  <a:pt x="38236" y="136030"/>
                </a:lnTo>
                <a:lnTo>
                  <a:pt x="77671" y="121667"/>
                </a:lnTo>
                <a:lnTo>
                  <a:pt x="118252" y="108104"/>
                </a:lnTo>
                <a:lnTo>
                  <a:pt x="159923" y="95343"/>
                </a:lnTo>
                <a:lnTo>
                  <a:pt x="202633" y="83383"/>
                </a:lnTo>
                <a:lnTo>
                  <a:pt x="246326" y="72223"/>
                </a:lnTo>
                <a:lnTo>
                  <a:pt x="290949" y="61864"/>
                </a:lnTo>
                <a:lnTo>
                  <a:pt x="336447" y="52306"/>
                </a:lnTo>
                <a:lnTo>
                  <a:pt x="382767" y="43548"/>
                </a:lnTo>
                <a:lnTo>
                  <a:pt x="429856" y="35591"/>
                </a:lnTo>
                <a:lnTo>
                  <a:pt x="477658" y="28435"/>
                </a:lnTo>
                <a:lnTo>
                  <a:pt x="526121" y="22079"/>
                </a:lnTo>
                <a:lnTo>
                  <a:pt x="575190" y="16523"/>
                </a:lnTo>
                <a:lnTo>
                  <a:pt x="624812" y="11769"/>
                </a:lnTo>
                <a:lnTo>
                  <a:pt x="674932" y="7814"/>
                </a:lnTo>
                <a:lnTo>
                  <a:pt x="725497" y="4660"/>
                </a:lnTo>
                <a:lnTo>
                  <a:pt x="776452" y="2306"/>
                </a:lnTo>
                <a:lnTo>
                  <a:pt x="827745" y="753"/>
                </a:lnTo>
                <a:lnTo>
                  <a:pt x="879321" y="0"/>
                </a:lnTo>
                <a:lnTo>
                  <a:pt x="931125" y="46"/>
                </a:lnTo>
                <a:lnTo>
                  <a:pt x="983105" y="894"/>
                </a:lnTo>
                <a:lnTo>
                  <a:pt x="1035206" y="2541"/>
                </a:lnTo>
                <a:lnTo>
                  <a:pt x="1087375" y="4988"/>
                </a:lnTo>
                <a:lnTo>
                  <a:pt x="1139557" y="8236"/>
                </a:lnTo>
                <a:lnTo>
                  <a:pt x="1191699" y="12283"/>
                </a:lnTo>
                <a:lnTo>
                  <a:pt x="1243747" y="17130"/>
                </a:lnTo>
                <a:lnTo>
                  <a:pt x="1295646" y="22777"/>
                </a:lnTo>
                <a:lnTo>
                  <a:pt x="1347344" y="29225"/>
                </a:lnTo>
                <a:lnTo>
                  <a:pt x="1398785" y="36471"/>
                </a:lnTo>
                <a:lnTo>
                  <a:pt x="1449917" y="44518"/>
                </a:lnTo>
                <a:lnTo>
                  <a:pt x="1500685" y="53364"/>
                </a:lnTo>
                <a:lnTo>
                  <a:pt x="1551036" y="63011"/>
                </a:lnTo>
                <a:lnTo>
                  <a:pt x="1600915" y="73456"/>
                </a:lnTo>
                <a:lnTo>
                  <a:pt x="1650269" y="84702"/>
                </a:lnTo>
                <a:lnTo>
                  <a:pt x="1699043" y="96747"/>
                </a:lnTo>
                <a:lnTo>
                  <a:pt x="1747184" y="109591"/>
                </a:lnTo>
                <a:lnTo>
                  <a:pt x="1794639" y="123235"/>
                </a:lnTo>
                <a:lnTo>
                  <a:pt x="1841352" y="137678"/>
                </a:lnTo>
                <a:lnTo>
                  <a:pt x="1887271" y="152921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41478" y="1596447"/>
            <a:ext cx="184150" cy="117475"/>
          </a:xfrm>
          <a:custGeom>
            <a:avLst/>
            <a:gdLst/>
            <a:ahLst/>
            <a:cxnLst/>
            <a:rect l="l" t="t" r="r" b="b"/>
            <a:pathLst>
              <a:path w="184150" h="117475">
                <a:moveTo>
                  <a:pt x="42268" y="0"/>
                </a:moveTo>
                <a:lnTo>
                  <a:pt x="0" y="108331"/>
                </a:lnTo>
                <a:lnTo>
                  <a:pt x="184077" y="117428"/>
                </a:lnTo>
                <a:lnTo>
                  <a:pt x="42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08921" y="2012353"/>
            <a:ext cx="542290" cy="179705"/>
          </a:xfrm>
          <a:custGeom>
            <a:avLst/>
            <a:gdLst/>
            <a:ahLst/>
            <a:cxnLst/>
            <a:rect l="l" t="t" r="r" b="b"/>
            <a:pathLst>
              <a:path w="542289" h="179705">
                <a:moveTo>
                  <a:pt x="541665" y="0"/>
                </a:moveTo>
                <a:lnTo>
                  <a:pt x="508742" y="41094"/>
                </a:lnTo>
                <a:lnTo>
                  <a:pt x="473195" y="76971"/>
                </a:lnTo>
                <a:lnTo>
                  <a:pt x="435343" y="107568"/>
                </a:lnTo>
                <a:lnTo>
                  <a:pt x="395504" y="132820"/>
                </a:lnTo>
                <a:lnTo>
                  <a:pt x="353995" y="152664"/>
                </a:lnTo>
                <a:lnTo>
                  <a:pt x="311135" y="167034"/>
                </a:lnTo>
                <a:lnTo>
                  <a:pt x="267243" y="175866"/>
                </a:lnTo>
                <a:lnTo>
                  <a:pt x="222635" y="179097"/>
                </a:lnTo>
                <a:lnTo>
                  <a:pt x="177630" y="176663"/>
                </a:lnTo>
                <a:lnTo>
                  <a:pt x="132546" y="168498"/>
                </a:lnTo>
                <a:lnTo>
                  <a:pt x="87701" y="154539"/>
                </a:lnTo>
                <a:lnTo>
                  <a:pt x="43413" y="134722"/>
                </a:lnTo>
                <a:lnTo>
                  <a:pt x="0" y="108983"/>
                </a:lnTo>
              </a:path>
            </a:pathLst>
          </a:custGeom>
          <a:ln w="5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91627" y="2012353"/>
            <a:ext cx="168275" cy="161925"/>
          </a:xfrm>
          <a:custGeom>
            <a:avLst/>
            <a:gdLst/>
            <a:ahLst/>
            <a:cxnLst/>
            <a:rect l="l" t="t" r="r" b="b"/>
            <a:pathLst>
              <a:path w="168275" h="161925">
                <a:moveTo>
                  <a:pt x="0" y="0"/>
                </a:moveTo>
                <a:lnTo>
                  <a:pt x="88129" y="161422"/>
                </a:lnTo>
                <a:lnTo>
                  <a:pt x="167803" y="763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39976" y="1952670"/>
            <a:ext cx="1885950" cy="211454"/>
          </a:xfrm>
          <a:custGeom>
            <a:avLst/>
            <a:gdLst/>
            <a:ahLst/>
            <a:cxnLst/>
            <a:rect l="l" t="t" r="r" b="b"/>
            <a:pathLst>
              <a:path w="1885950" h="211455">
                <a:moveTo>
                  <a:pt x="0" y="112921"/>
                </a:moveTo>
                <a:lnTo>
                  <a:pt x="43218" y="125230"/>
                </a:lnTo>
                <a:lnTo>
                  <a:pt x="87361" y="136700"/>
                </a:lnTo>
                <a:lnTo>
                  <a:pt x="132373" y="147333"/>
                </a:lnTo>
                <a:lnTo>
                  <a:pt x="178203" y="157134"/>
                </a:lnTo>
                <a:lnTo>
                  <a:pt x="224797" y="166105"/>
                </a:lnTo>
                <a:lnTo>
                  <a:pt x="272102" y="174249"/>
                </a:lnTo>
                <a:lnTo>
                  <a:pt x="320066" y="181570"/>
                </a:lnTo>
                <a:lnTo>
                  <a:pt x="368636" y="188070"/>
                </a:lnTo>
                <a:lnTo>
                  <a:pt x="417758" y="193754"/>
                </a:lnTo>
                <a:lnTo>
                  <a:pt x="467379" y="198623"/>
                </a:lnTo>
                <a:lnTo>
                  <a:pt x="517447" y="202681"/>
                </a:lnTo>
                <a:lnTo>
                  <a:pt x="567909" y="205932"/>
                </a:lnTo>
                <a:lnTo>
                  <a:pt x="618711" y="208379"/>
                </a:lnTo>
                <a:lnTo>
                  <a:pt x="669800" y="210024"/>
                </a:lnTo>
                <a:lnTo>
                  <a:pt x="721125" y="210871"/>
                </a:lnTo>
                <a:lnTo>
                  <a:pt x="772631" y="210923"/>
                </a:lnTo>
                <a:lnTo>
                  <a:pt x="824266" y="210184"/>
                </a:lnTo>
                <a:lnTo>
                  <a:pt x="875976" y="208655"/>
                </a:lnTo>
                <a:lnTo>
                  <a:pt x="927710" y="206342"/>
                </a:lnTo>
                <a:lnTo>
                  <a:pt x="979413" y="203245"/>
                </a:lnTo>
                <a:lnTo>
                  <a:pt x="1031033" y="199370"/>
                </a:lnTo>
                <a:lnTo>
                  <a:pt x="1082516" y="194719"/>
                </a:lnTo>
                <a:lnTo>
                  <a:pt x="1133811" y="189295"/>
                </a:lnTo>
                <a:lnTo>
                  <a:pt x="1184863" y="183102"/>
                </a:lnTo>
                <a:lnTo>
                  <a:pt x="1235621" y="176142"/>
                </a:lnTo>
                <a:lnTo>
                  <a:pt x="1286030" y="168419"/>
                </a:lnTo>
                <a:lnTo>
                  <a:pt x="1336039" y="159935"/>
                </a:lnTo>
                <a:lnTo>
                  <a:pt x="1385593" y="150695"/>
                </a:lnTo>
                <a:lnTo>
                  <a:pt x="1434641" y="140701"/>
                </a:lnTo>
                <a:lnTo>
                  <a:pt x="1483128" y="129956"/>
                </a:lnTo>
                <a:lnTo>
                  <a:pt x="1531003" y="118464"/>
                </a:lnTo>
                <a:lnTo>
                  <a:pt x="1578212" y="106228"/>
                </a:lnTo>
                <a:lnTo>
                  <a:pt x="1624702" y="93250"/>
                </a:lnTo>
                <a:lnTo>
                  <a:pt x="1670420" y="79535"/>
                </a:lnTo>
                <a:lnTo>
                  <a:pt x="1715314" y="65085"/>
                </a:lnTo>
                <a:lnTo>
                  <a:pt x="1759329" y="49903"/>
                </a:lnTo>
                <a:lnTo>
                  <a:pt x="1802414" y="33993"/>
                </a:lnTo>
                <a:lnTo>
                  <a:pt x="1844515" y="17357"/>
                </a:lnTo>
                <a:lnTo>
                  <a:pt x="188558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88866" y="2012353"/>
            <a:ext cx="184785" cy="113030"/>
          </a:xfrm>
          <a:custGeom>
            <a:avLst/>
            <a:gdLst/>
            <a:ahLst/>
            <a:cxnLst/>
            <a:rect l="l" t="t" r="r" b="b"/>
            <a:pathLst>
              <a:path w="184785" h="113030">
                <a:moveTo>
                  <a:pt x="0" y="0"/>
                </a:moveTo>
                <a:lnTo>
                  <a:pt x="145614" y="112880"/>
                </a:lnTo>
                <a:lnTo>
                  <a:pt x="184289" y="32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173602" y="2624261"/>
            <a:ext cx="1318260" cy="567690"/>
          </a:xfrm>
          <a:prstGeom prst="rect">
            <a:avLst/>
          </a:prstGeom>
          <a:solidFill>
            <a:srgbClr val="E8EEF7"/>
          </a:solidFill>
          <a:ln w="5057">
            <a:solidFill>
              <a:srgbClr val="000000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</a:pPr>
            <a:r>
              <a:rPr dirty="0" sz="1300" spc="30">
                <a:latin typeface="宋体"/>
                <a:cs typeface="宋体"/>
              </a:rPr>
              <a:t>问题世界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25557" y="2624261"/>
            <a:ext cx="1318260" cy="567690"/>
          </a:xfrm>
          <a:prstGeom prst="rect">
            <a:avLst/>
          </a:prstGeom>
          <a:solidFill>
            <a:srgbClr val="E8EEF7"/>
          </a:solidFill>
          <a:ln w="5057">
            <a:solidFill>
              <a:srgbClr val="000000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</a:pPr>
            <a:r>
              <a:rPr dirty="0" sz="1300" spc="30">
                <a:latin typeface="宋体"/>
                <a:cs typeface="宋体"/>
              </a:rPr>
              <a:t>计算世界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28528" y="2669034"/>
            <a:ext cx="1138555" cy="567690"/>
          </a:xfrm>
          <a:prstGeom prst="rect">
            <a:avLst/>
          </a:prstGeom>
          <a:solidFill>
            <a:srgbClr val="E8EEF7"/>
          </a:solidFill>
          <a:ln w="5057">
            <a:solidFill>
              <a:srgbClr val="000000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230504">
              <a:lnSpc>
                <a:spcPct val="100000"/>
              </a:lnSpc>
            </a:pPr>
            <a:r>
              <a:rPr dirty="0" sz="1300" spc="30">
                <a:latin typeface="MS Gothic"/>
                <a:cs typeface="MS Gothic"/>
              </a:rPr>
              <a:t>分析技</a:t>
            </a:r>
            <a:r>
              <a:rPr dirty="0" sz="1300" spc="30">
                <a:latin typeface="宋体"/>
                <a:cs typeface="宋体"/>
              </a:rPr>
              <a:t>术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666596" y="2669137"/>
            <a:ext cx="521334" cy="119380"/>
          </a:xfrm>
          <a:custGeom>
            <a:avLst/>
            <a:gdLst/>
            <a:ahLst/>
            <a:cxnLst/>
            <a:rect l="l" t="t" r="r" b="b"/>
            <a:pathLst>
              <a:path w="521334" h="119380">
                <a:moveTo>
                  <a:pt x="0" y="119283"/>
                </a:moveTo>
                <a:lnTo>
                  <a:pt x="34300" y="90869"/>
                </a:lnTo>
                <a:lnTo>
                  <a:pt x="71449" y="66201"/>
                </a:lnTo>
                <a:lnTo>
                  <a:pt x="111089" y="45335"/>
                </a:lnTo>
                <a:lnTo>
                  <a:pt x="152861" y="28328"/>
                </a:lnTo>
                <a:lnTo>
                  <a:pt x="196410" y="15234"/>
                </a:lnTo>
                <a:lnTo>
                  <a:pt x="241377" y="6111"/>
                </a:lnTo>
                <a:lnTo>
                  <a:pt x="287405" y="1014"/>
                </a:lnTo>
                <a:lnTo>
                  <a:pt x="334137" y="0"/>
                </a:lnTo>
                <a:lnTo>
                  <a:pt x="381215" y="3123"/>
                </a:lnTo>
                <a:lnTo>
                  <a:pt x="428282" y="10442"/>
                </a:lnTo>
                <a:lnTo>
                  <a:pt x="474981" y="22011"/>
                </a:lnTo>
                <a:lnTo>
                  <a:pt x="520954" y="37887"/>
                </a:lnTo>
              </a:path>
            </a:pathLst>
          </a:custGeom>
          <a:ln w="50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45281" y="2649595"/>
            <a:ext cx="180340" cy="139065"/>
          </a:xfrm>
          <a:custGeom>
            <a:avLst/>
            <a:gdLst/>
            <a:ahLst/>
            <a:cxnLst/>
            <a:rect l="l" t="t" r="r" b="b"/>
            <a:pathLst>
              <a:path w="180340" h="139064">
                <a:moveTo>
                  <a:pt x="59387" y="0"/>
                </a:moveTo>
                <a:lnTo>
                  <a:pt x="0" y="100054"/>
                </a:lnTo>
                <a:lnTo>
                  <a:pt x="180273" y="138824"/>
                </a:lnTo>
                <a:lnTo>
                  <a:pt x="59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91627" y="2577511"/>
            <a:ext cx="1887855" cy="153035"/>
          </a:xfrm>
          <a:custGeom>
            <a:avLst/>
            <a:gdLst/>
            <a:ahLst/>
            <a:cxnLst/>
            <a:rect l="l" t="t" r="r" b="b"/>
            <a:pathLst>
              <a:path w="1887854" h="153035">
                <a:moveTo>
                  <a:pt x="0" y="151205"/>
                </a:moveTo>
                <a:lnTo>
                  <a:pt x="38236" y="136039"/>
                </a:lnTo>
                <a:lnTo>
                  <a:pt x="77671" y="121674"/>
                </a:lnTo>
                <a:lnTo>
                  <a:pt x="118252" y="108111"/>
                </a:lnTo>
                <a:lnTo>
                  <a:pt x="159923" y="95348"/>
                </a:lnTo>
                <a:lnTo>
                  <a:pt x="202633" y="83387"/>
                </a:lnTo>
                <a:lnTo>
                  <a:pt x="246326" y="72226"/>
                </a:lnTo>
                <a:lnTo>
                  <a:pt x="290949" y="61867"/>
                </a:lnTo>
                <a:lnTo>
                  <a:pt x="336447" y="52308"/>
                </a:lnTo>
                <a:lnTo>
                  <a:pt x="382767" y="43550"/>
                </a:lnTo>
                <a:lnTo>
                  <a:pt x="429856" y="35592"/>
                </a:lnTo>
                <a:lnTo>
                  <a:pt x="477658" y="28435"/>
                </a:lnTo>
                <a:lnTo>
                  <a:pt x="526121" y="22079"/>
                </a:lnTo>
                <a:lnTo>
                  <a:pt x="575190" y="16524"/>
                </a:lnTo>
                <a:lnTo>
                  <a:pt x="624812" y="11769"/>
                </a:lnTo>
                <a:lnTo>
                  <a:pt x="674932" y="7814"/>
                </a:lnTo>
                <a:lnTo>
                  <a:pt x="725497" y="4660"/>
                </a:lnTo>
                <a:lnTo>
                  <a:pt x="776452" y="2306"/>
                </a:lnTo>
                <a:lnTo>
                  <a:pt x="827745" y="753"/>
                </a:lnTo>
                <a:lnTo>
                  <a:pt x="879321" y="0"/>
                </a:lnTo>
                <a:lnTo>
                  <a:pt x="931125" y="46"/>
                </a:lnTo>
                <a:lnTo>
                  <a:pt x="983105" y="894"/>
                </a:lnTo>
                <a:lnTo>
                  <a:pt x="1035206" y="2541"/>
                </a:lnTo>
                <a:lnTo>
                  <a:pt x="1087375" y="4988"/>
                </a:lnTo>
                <a:lnTo>
                  <a:pt x="1139557" y="8235"/>
                </a:lnTo>
                <a:lnTo>
                  <a:pt x="1191699" y="12283"/>
                </a:lnTo>
                <a:lnTo>
                  <a:pt x="1243747" y="17130"/>
                </a:lnTo>
                <a:lnTo>
                  <a:pt x="1295646" y="22777"/>
                </a:lnTo>
                <a:lnTo>
                  <a:pt x="1347344" y="29224"/>
                </a:lnTo>
                <a:lnTo>
                  <a:pt x="1398785" y="36470"/>
                </a:lnTo>
                <a:lnTo>
                  <a:pt x="1449917" y="44516"/>
                </a:lnTo>
                <a:lnTo>
                  <a:pt x="1500685" y="53362"/>
                </a:lnTo>
                <a:lnTo>
                  <a:pt x="1551036" y="63008"/>
                </a:lnTo>
                <a:lnTo>
                  <a:pt x="1600915" y="73453"/>
                </a:lnTo>
                <a:lnTo>
                  <a:pt x="1650269" y="84697"/>
                </a:lnTo>
                <a:lnTo>
                  <a:pt x="1699043" y="96741"/>
                </a:lnTo>
                <a:lnTo>
                  <a:pt x="1747184" y="109585"/>
                </a:lnTo>
                <a:lnTo>
                  <a:pt x="1794639" y="123227"/>
                </a:lnTo>
                <a:lnTo>
                  <a:pt x="1841352" y="137669"/>
                </a:lnTo>
                <a:lnTo>
                  <a:pt x="1887271" y="152911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44238" y="2670992"/>
            <a:ext cx="184785" cy="117475"/>
          </a:xfrm>
          <a:custGeom>
            <a:avLst/>
            <a:gdLst/>
            <a:ahLst/>
            <a:cxnLst/>
            <a:rect l="l" t="t" r="r" b="b"/>
            <a:pathLst>
              <a:path w="184785" h="117475">
                <a:moveTo>
                  <a:pt x="42268" y="0"/>
                </a:moveTo>
                <a:lnTo>
                  <a:pt x="0" y="108331"/>
                </a:lnTo>
                <a:lnTo>
                  <a:pt x="184288" y="117428"/>
                </a:lnTo>
                <a:lnTo>
                  <a:pt x="42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84102" y="3086898"/>
            <a:ext cx="541655" cy="179705"/>
          </a:xfrm>
          <a:custGeom>
            <a:avLst/>
            <a:gdLst/>
            <a:ahLst/>
            <a:cxnLst/>
            <a:rect l="l" t="t" r="r" b="b"/>
            <a:pathLst>
              <a:path w="541654" h="179704">
                <a:moveTo>
                  <a:pt x="541454" y="0"/>
                </a:moveTo>
                <a:lnTo>
                  <a:pt x="508572" y="41091"/>
                </a:lnTo>
                <a:lnTo>
                  <a:pt x="473054" y="76966"/>
                </a:lnTo>
                <a:lnTo>
                  <a:pt x="435221" y="107561"/>
                </a:lnTo>
                <a:lnTo>
                  <a:pt x="395392" y="132812"/>
                </a:lnTo>
                <a:lnTo>
                  <a:pt x="353888" y="152655"/>
                </a:lnTo>
                <a:lnTo>
                  <a:pt x="311030" y="167024"/>
                </a:lnTo>
                <a:lnTo>
                  <a:pt x="267137" y="175857"/>
                </a:lnTo>
                <a:lnTo>
                  <a:pt x="222530" y="179088"/>
                </a:lnTo>
                <a:lnTo>
                  <a:pt x="177530" y="176655"/>
                </a:lnTo>
                <a:lnTo>
                  <a:pt x="132457" y="168491"/>
                </a:lnTo>
                <a:lnTo>
                  <a:pt x="87630" y="154534"/>
                </a:lnTo>
                <a:lnTo>
                  <a:pt x="43371" y="134720"/>
                </a:lnTo>
                <a:lnTo>
                  <a:pt x="0" y="108983"/>
                </a:lnTo>
              </a:path>
            </a:pathLst>
          </a:custGeom>
          <a:ln w="5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66595" y="3086898"/>
            <a:ext cx="168275" cy="161925"/>
          </a:xfrm>
          <a:custGeom>
            <a:avLst/>
            <a:gdLst/>
            <a:ahLst/>
            <a:cxnLst/>
            <a:rect l="l" t="t" r="r" b="b"/>
            <a:pathLst>
              <a:path w="168275" h="161925">
                <a:moveTo>
                  <a:pt x="0" y="0"/>
                </a:moveTo>
                <a:lnTo>
                  <a:pt x="88339" y="161422"/>
                </a:lnTo>
                <a:lnTo>
                  <a:pt x="167803" y="763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42736" y="3027194"/>
            <a:ext cx="1885950" cy="211454"/>
          </a:xfrm>
          <a:custGeom>
            <a:avLst/>
            <a:gdLst/>
            <a:ahLst/>
            <a:cxnLst/>
            <a:rect l="l" t="t" r="r" b="b"/>
            <a:pathLst>
              <a:path w="1885950" h="211455">
                <a:moveTo>
                  <a:pt x="0" y="112921"/>
                </a:moveTo>
                <a:lnTo>
                  <a:pt x="43218" y="125231"/>
                </a:lnTo>
                <a:lnTo>
                  <a:pt x="87361" y="136702"/>
                </a:lnTo>
                <a:lnTo>
                  <a:pt x="132373" y="147337"/>
                </a:lnTo>
                <a:lnTo>
                  <a:pt x="178203" y="157138"/>
                </a:lnTo>
                <a:lnTo>
                  <a:pt x="224797" y="166110"/>
                </a:lnTo>
                <a:lnTo>
                  <a:pt x="272103" y="174255"/>
                </a:lnTo>
                <a:lnTo>
                  <a:pt x="320068" y="181576"/>
                </a:lnTo>
                <a:lnTo>
                  <a:pt x="368638" y="188077"/>
                </a:lnTo>
                <a:lnTo>
                  <a:pt x="417760" y="193760"/>
                </a:lnTo>
                <a:lnTo>
                  <a:pt x="467383" y="198630"/>
                </a:lnTo>
                <a:lnTo>
                  <a:pt x="517452" y="202689"/>
                </a:lnTo>
                <a:lnTo>
                  <a:pt x="567915" y="205940"/>
                </a:lnTo>
                <a:lnTo>
                  <a:pt x="618719" y="208386"/>
                </a:lnTo>
                <a:lnTo>
                  <a:pt x="669810" y="210032"/>
                </a:lnTo>
                <a:lnTo>
                  <a:pt x="721137" y="210878"/>
                </a:lnTo>
                <a:lnTo>
                  <a:pt x="772646" y="210930"/>
                </a:lnTo>
                <a:lnTo>
                  <a:pt x="824283" y="210191"/>
                </a:lnTo>
                <a:lnTo>
                  <a:pt x="875997" y="208662"/>
                </a:lnTo>
                <a:lnTo>
                  <a:pt x="927734" y="206348"/>
                </a:lnTo>
                <a:lnTo>
                  <a:pt x="979441" y="203252"/>
                </a:lnTo>
                <a:lnTo>
                  <a:pt x="1031065" y="199376"/>
                </a:lnTo>
                <a:lnTo>
                  <a:pt x="1082554" y="194725"/>
                </a:lnTo>
                <a:lnTo>
                  <a:pt x="1133854" y="189300"/>
                </a:lnTo>
                <a:lnTo>
                  <a:pt x="1184913" y="183106"/>
                </a:lnTo>
                <a:lnTo>
                  <a:pt x="1235677" y="176146"/>
                </a:lnTo>
                <a:lnTo>
                  <a:pt x="1286093" y="168422"/>
                </a:lnTo>
                <a:lnTo>
                  <a:pt x="1336109" y="159939"/>
                </a:lnTo>
                <a:lnTo>
                  <a:pt x="1385671" y="150698"/>
                </a:lnTo>
                <a:lnTo>
                  <a:pt x="1434728" y="140703"/>
                </a:lnTo>
                <a:lnTo>
                  <a:pt x="1483225" y="129958"/>
                </a:lnTo>
                <a:lnTo>
                  <a:pt x="1531109" y="118466"/>
                </a:lnTo>
                <a:lnTo>
                  <a:pt x="1578329" y="106229"/>
                </a:lnTo>
                <a:lnTo>
                  <a:pt x="1624830" y="93251"/>
                </a:lnTo>
                <a:lnTo>
                  <a:pt x="1670560" y="79536"/>
                </a:lnTo>
                <a:lnTo>
                  <a:pt x="1715466" y="65085"/>
                </a:lnTo>
                <a:lnTo>
                  <a:pt x="1759495" y="49903"/>
                </a:lnTo>
                <a:lnTo>
                  <a:pt x="1802595" y="33993"/>
                </a:lnTo>
                <a:lnTo>
                  <a:pt x="1844711" y="17357"/>
                </a:lnTo>
                <a:lnTo>
                  <a:pt x="188579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91627" y="3086898"/>
            <a:ext cx="184785" cy="113030"/>
          </a:xfrm>
          <a:custGeom>
            <a:avLst/>
            <a:gdLst/>
            <a:ahLst/>
            <a:cxnLst/>
            <a:rect l="l" t="t" r="r" b="b"/>
            <a:pathLst>
              <a:path w="184785" h="113030">
                <a:moveTo>
                  <a:pt x="0" y="0"/>
                </a:moveTo>
                <a:lnTo>
                  <a:pt x="145613" y="112858"/>
                </a:lnTo>
                <a:lnTo>
                  <a:pt x="184288" y="32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26147" y="1691462"/>
            <a:ext cx="1040130" cy="3289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950" spc="45">
                <a:latin typeface="MS Gothic"/>
                <a:cs typeface="MS Gothic"/>
              </a:rPr>
              <a:t>面</a:t>
            </a:r>
            <a:r>
              <a:rPr dirty="0" sz="1950" spc="40">
                <a:latin typeface="MS Gothic"/>
                <a:cs typeface="MS Gothic"/>
              </a:rPr>
              <a:t>向</a:t>
            </a:r>
            <a:r>
              <a:rPr dirty="0" sz="1950" spc="45">
                <a:latin typeface="宋体"/>
                <a:cs typeface="宋体"/>
              </a:rPr>
              <a:t>问题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8552" y="2695689"/>
            <a:ext cx="1293495" cy="3289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950" spc="45">
                <a:latin typeface="MS Gothic"/>
                <a:cs typeface="MS Gothic"/>
              </a:rPr>
              <a:t>面向解</a:t>
            </a:r>
            <a:r>
              <a:rPr dirty="0" sz="1950" spc="40">
                <a:latin typeface="MS Gothic"/>
                <a:cs typeface="MS Gothic"/>
              </a:rPr>
              <a:t>系</a:t>
            </a:r>
            <a:r>
              <a:rPr dirty="0" sz="1950" spc="45">
                <a:latin typeface="宋体"/>
                <a:cs typeface="宋体"/>
              </a:rPr>
              <a:t>统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7789" y="4921058"/>
            <a:ext cx="1288415" cy="553085"/>
          </a:xfrm>
          <a:prstGeom prst="rect">
            <a:avLst/>
          </a:prstGeom>
          <a:solidFill>
            <a:srgbClr val="E8EEF7"/>
          </a:solidFill>
          <a:ln w="4930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</a:pPr>
            <a:r>
              <a:rPr dirty="0" sz="1300">
                <a:latin typeface="宋体"/>
                <a:cs typeface="宋体"/>
              </a:rPr>
              <a:t>问题世界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28469" y="4921058"/>
            <a:ext cx="1288415" cy="553085"/>
          </a:xfrm>
          <a:prstGeom prst="rect">
            <a:avLst/>
          </a:prstGeom>
          <a:solidFill>
            <a:srgbClr val="E8EEF7"/>
          </a:solidFill>
          <a:ln w="4930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</a:pPr>
            <a:r>
              <a:rPr dirty="0" sz="1300">
                <a:latin typeface="宋体"/>
                <a:cs typeface="宋体"/>
              </a:rPr>
              <a:t>计算世界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72225" y="4921058"/>
            <a:ext cx="1112520" cy="553085"/>
          </a:xfrm>
          <a:prstGeom prst="rect">
            <a:avLst/>
          </a:prstGeom>
          <a:solidFill>
            <a:srgbClr val="E8EEF7"/>
          </a:solidFill>
          <a:ln w="4931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307975" marR="135255" indent="-165735">
              <a:lnSpc>
                <a:spcPct val="106700"/>
              </a:lnSpc>
              <a:spcBef>
                <a:spcPts val="305"/>
              </a:spcBef>
            </a:pPr>
            <a:r>
              <a:rPr dirty="0" sz="1300">
                <a:latin typeface="MS Gothic"/>
                <a:cs typeface="MS Gothic"/>
              </a:rPr>
              <a:t>面向解系</a:t>
            </a:r>
            <a:r>
              <a:rPr dirty="0" sz="1300">
                <a:latin typeface="宋体"/>
                <a:cs typeface="宋体"/>
              </a:rPr>
              <a:t>统 </a:t>
            </a:r>
            <a:r>
              <a:rPr dirty="0" sz="1300">
                <a:latin typeface="MS Gothic"/>
                <a:cs typeface="MS Gothic"/>
              </a:rPr>
              <a:t>的建模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784541" y="4964707"/>
            <a:ext cx="509270" cy="116839"/>
          </a:xfrm>
          <a:custGeom>
            <a:avLst/>
            <a:gdLst/>
            <a:ahLst/>
            <a:cxnLst/>
            <a:rect l="l" t="t" r="r" b="b"/>
            <a:pathLst>
              <a:path w="509270" h="116839">
                <a:moveTo>
                  <a:pt x="0" y="116331"/>
                </a:moveTo>
                <a:lnTo>
                  <a:pt x="36708" y="86309"/>
                </a:lnTo>
                <a:lnTo>
                  <a:pt x="76691" y="60636"/>
                </a:lnTo>
                <a:lnTo>
                  <a:pt x="119495" y="39383"/>
                </a:lnTo>
                <a:lnTo>
                  <a:pt x="164667" y="22622"/>
                </a:lnTo>
                <a:lnTo>
                  <a:pt x="211752" y="10424"/>
                </a:lnTo>
                <a:lnTo>
                  <a:pt x="260298" y="2859"/>
                </a:lnTo>
                <a:lnTo>
                  <a:pt x="309852" y="0"/>
                </a:lnTo>
                <a:lnTo>
                  <a:pt x="359959" y="1915"/>
                </a:lnTo>
                <a:lnTo>
                  <a:pt x="410167" y="8678"/>
                </a:lnTo>
                <a:lnTo>
                  <a:pt x="460022" y="20359"/>
                </a:lnTo>
                <a:lnTo>
                  <a:pt x="509071" y="37028"/>
                </a:lnTo>
              </a:path>
            </a:pathLst>
          </a:custGeom>
          <a:ln w="49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252308" y="4945768"/>
            <a:ext cx="176530" cy="135890"/>
          </a:xfrm>
          <a:custGeom>
            <a:avLst/>
            <a:gdLst/>
            <a:ahLst/>
            <a:cxnLst/>
            <a:rect l="l" t="t" r="r" b="b"/>
            <a:pathLst>
              <a:path w="176529" h="135889">
                <a:moveTo>
                  <a:pt x="58031" y="0"/>
                </a:moveTo>
                <a:lnTo>
                  <a:pt x="0" y="97508"/>
                </a:lnTo>
                <a:lnTo>
                  <a:pt x="176160" y="135271"/>
                </a:lnTo>
                <a:lnTo>
                  <a:pt x="58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81994" y="4875444"/>
            <a:ext cx="1844675" cy="149225"/>
          </a:xfrm>
          <a:custGeom>
            <a:avLst/>
            <a:gdLst/>
            <a:ahLst/>
            <a:cxnLst/>
            <a:rect l="l" t="t" r="r" b="b"/>
            <a:pathLst>
              <a:path w="1844675" h="149225">
                <a:moveTo>
                  <a:pt x="0" y="147431"/>
                </a:moveTo>
                <a:lnTo>
                  <a:pt x="38363" y="132273"/>
                </a:lnTo>
                <a:lnTo>
                  <a:pt x="77959" y="117937"/>
                </a:lnTo>
                <a:lnTo>
                  <a:pt x="118731" y="104423"/>
                </a:lnTo>
                <a:lnTo>
                  <a:pt x="160622" y="91732"/>
                </a:lnTo>
                <a:lnTo>
                  <a:pt x="203575" y="79863"/>
                </a:lnTo>
                <a:lnTo>
                  <a:pt x="247533" y="68817"/>
                </a:lnTo>
                <a:lnTo>
                  <a:pt x="292439" y="58592"/>
                </a:lnTo>
                <a:lnTo>
                  <a:pt x="338237" y="49189"/>
                </a:lnTo>
                <a:lnTo>
                  <a:pt x="384869" y="40609"/>
                </a:lnTo>
                <a:lnTo>
                  <a:pt x="432278" y="32850"/>
                </a:lnTo>
                <a:lnTo>
                  <a:pt x="480407" y="25913"/>
                </a:lnTo>
                <a:lnTo>
                  <a:pt x="529201" y="19798"/>
                </a:lnTo>
                <a:lnTo>
                  <a:pt x="578600" y="14505"/>
                </a:lnTo>
                <a:lnTo>
                  <a:pt x="628550" y="10033"/>
                </a:lnTo>
                <a:lnTo>
                  <a:pt x="678992" y="6383"/>
                </a:lnTo>
                <a:lnTo>
                  <a:pt x="729870" y="3555"/>
                </a:lnTo>
                <a:lnTo>
                  <a:pt x="781127" y="1548"/>
                </a:lnTo>
                <a:lnTo>
                  <a:pt x="832706" y="363"/>
                </a:lnTo>
                <a:lnTo>
                  <a:pt x="884550" y="0"/>
                </a:lnTo>
                <a:lnTo>
                  <a:pt x="936601" y="457"/>
                </a:lnTo>
                <a:lnTo>
                  <a:pt x="988805" y="1736"/>
                </a:lnTo>
                <a:lnTo>
                  <a:pt x="1041102" y="3837"/>
                </a:lnTo>
                <a:lnTo>
                  <a:pt x="1093437" y="6758"/>
                </a:lnTo>
                <a:lnTo>
                  <a:pt x="1145752" y="10501"/>
                </a:lnTo>
                <a:lnTo>
                  <a:pt x="1197990" y="15065"/>
                </a:lnTo>
                <a:lnTo>
                  <a:pt x="1250095" y="20450"/>
                </a:lnTo>
                <a:lnTo>
                  <a:pt x="1302010" y="26656"/>
                </a:lnTo>
                <a:lnTo>
                  <a:pt x="1353677" y="33682"/>
                </a:lnTo>
                <a:lnTo>
                  <a:pt x="1405040" y="41530"/>
                </a:lnTo>
                <a:lnTo>
                  <a:pt x="1456042" y="50199"/>
                </a:lnTo>
                <a:lnTo>
                  <a:pt x="1506625" y="59689"/>
                </a:lnTo>
                <a:lnTo>
                  <a:pt x="1556734" y="69999"/>
                </a:lnTo>
                <a:lnTo>
                  <a:pt x="1606310" y="81130"/>
                </a:lnTo>
                <a:lnTo>
                  <a:pt x="1655298" y="93081"/>
                </a:lnTo>
                <a:lnTo>
                  <a:pt x="1703640" y="105854"/>
                </a:lnTo>
                <a:lnTo>
                  <a:pt x="1751279" y="119446"/>
                </a:lnTo>
                <a:lnTo>
                  <a:pt x="1798158" y="133860"/>
                </a:lnTo>
                <a:lnTo>
                  <a:pt x="1844221" y="149093"/>
                </a:lnTo>
              </a:path>
            </a:pathLst>
          </a:custGeom>
          <a:ln w="49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92346" y="4966620"/>
            <a:ext cx="180340" cy="114935"/>
          </a:xfrm>
          <a:custGeom>
            <a:avLst/>
            <a:gdLst/>
            <a:ahLst/>
            <a:cxnLst/>
            <a:rect l="l" t="t" r="r" b="b"/>
            <a:pathLst>
              <a:path w="180339" h="114935">
                <a:moveTo>
                  <a:pt x="41304" y="0"/>
                </a:moveTo>
                <a:lnTo>
                  <a:pt x="0" y="105573"/>
                </a:lnTo>
                <a:lnTo>
                  <a:pt x="179878" y="114419"/>
                </a:lnTo>
                <a:lnTo>
                  <a:pt x="413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99160" y="5371941"/>
            <a:ext cx="529590" cy="174625"/>
          </a:xfrm>
          <a:custGeom>
            <a:avLst/>
            <a:gdLst/>
            <a:ahLst/>
            <a:cxnLst/>
            <a:rect l="l" t="t" r="r" b="b"/>
            <a:pathLst>
              <a:path w="529590" h="174625">
                <a:moveTo>
                  <a:pt x="529310" y="0"/>
                </a:moveTo>
                <a:lnTo>
                  <a:pt x="497178" y="40043"/>
                </a:lnTo>
                <a:lnTo>
                  <a:pt x="462469" y="75004"/>
                </a:lnTo>
                <a:lnTo>
                  <a:pt x="425497" y="104819"/>
                </a:lnTo>
                <a:lnTo>
                  <a:pt x="386573" y="129427"/>
                </a:lnTo>
                <a:lnTo>
                  <a:pt x="346010" y="148763"/>
                </a:lnTo>
                <a:lnTo>
                  <a:pt x="304121" y="162767"/>
                </a:lnTo>
                <a:lnTo>
                  <a:pt x="261218" y="171375"/>
                </a:lnTo>
                <a:lnTo>
                  <a:pt x="217613" y="174524"/>
                </a:lnTo>
                <a:lnTo>
                  <a:pt x="173619" y="172153"/>
                </a:lnTo>
                <a:lnTo>
                  <a:pt x="129548" y="164198"/>
                </a:lnTo>
                <a:lnTo>
                  <a:pt x="85713" y="150598"/>
                </a:lnTo>
                <a:lnTo>
                  <a:pt x="42426" y="131289"/>
                </a:lnTo>
                <a:lnTo>
                  <a:pt x="0" y="106209"/>
                </a:lnTo>
              </a:path>
            </a:pathLst>
          </a:custGeom>
          <a:ln w="49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784540" y="5371941"/>
            <a:ext cx="164465" cy="157480"/>
          </a:xfrm>
          <a:custGeom>
            <a:avLst/>
            <a:gdLst/>
            <a:ahLst/>
            <a:cxnLst/>
            <a:rect l="l" t="t" r="r" b="b"/>
            <a:pathLst>
              <a:path w="164465" h="157479">
                <a:moveTo>
                  <a:pt x="0" y="0"/>
                </a:moveTo>
                <a:lnTo>
                  <a:pt x="86325" y="157292"/>
                </a:lnTo>
                <a:lnTo>
                  <a:pt x="163976" y="744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829656" y="5313756"/>
            <a:ext cx="1842770" cy="205740"/>
          </a:xfrm>
          <a:custGeom>
            <a:avLst/>
            <a:gdLst/>
            <a:ahLst/>
            <a:cxnLst/>
            <a:rect l="l" t="t" r="r" b="b"/>
            <a:pathLst>
              <a:path w="1842770" h="205739">
                <a:moveTo>
                  <a:pt x="0" y="110047"/>
                </a:moveTo>
                <a:lnTo>
                  <a:pt x="43356" y="122347"/>
                </a:lnTo>
                <a:lnTo>
                  <a:pt x="87662" y="133786"/>
                </a:lnTo>
                <a:lnTo>
                  <a:pt x="132861" y="144367"/>
                </a:lnTo>
                <a:lnTo>
                  <a:pt x="178896" y="154093"/>
                </a:lnTo>
                <a:lnTo>
                  <a:pt x="225713" y="162967"/>
                </a:lnTo>
                <a:lnTo>
                  <a:pt x="273255" y="170994"/>
                </a:lnTo>
                <a:lnTo>
                  <a:pt x="321466" y="178175"/>
                </a:lnTo>
                <a:lnTo>
                  <a:pt x="370289" y="184516"/>
                </a:lnTo>
                <a:lnTo>
                  <a:pt x="419671" y="190018"/>
                </a:lnTo>
                <a:lnTo>
                  <a:pt x="469553" y="194685"/>
                </a:lnTo>
                <a:lnTo>
                  <a:pt x="519881" y="198521"/>
                </a:lnTo>
                <a:lnTo>
                  <a:pt x="570598" y="201528"/>
                </a:lnTo>
                <a:lnTo>
                  <a:pt x="621648" y="203711"/>
                </a:lnTo>
                <a:lnTo>
                  <a:pt x="672976" y="205073"/>
                </a:lnTo>
                <a:lnTo>
                  <a:pt x="724525" y="205616"/>
                </a:lnTo>
                <a:lnTo>
                  <a:pt x="776240" y="205345"/>
                </a:lnTo>
                <a:lnTo>
                  <a:pt x="828064" y="204262"/>
                </a:lnTo>
                <a:lnTo>
                  <a:pt x="879941" y="202372"/>
                </a:lnTo>
                <a:lnTo>
                  <a:pt x="931817" y="199676"/>
                </a:lnTo>
                <a:lnTo>
                  <a:pt x="983634" y="196179"/>
                </a:lnTo>
                <a:lnTo>
                  <a:pt x="1035336" y="191884"/>
                </a:lnTo>
                <a:lnTo>
                  <a:pt x="1086869" y="186795"/>
                </a:lnTo>
                <a:lnTo>
                  <a:pt x="1138175" y="180913"/>
                </a:lnTo>
                <a:lnTo>
                  <a:pt x="1189199" y="174244"/>
                </a:lnTo>
                <a:lnTo>
                  <a:pt x="1239885" y="166790"/>
                </a:lnTo>
                <a:lnTo>
                  <a:pt x="1290177" y="158555"/>
                </a:lnTo>
                <a:lnTo>
                  <a:pt x="1340018" y="149542"/>
                </a:lnTo>
                <a:lnTo>
                  <a:pt x="1389354" y="139754"/>
                </a:lnTo>
                <a:lnTo>
                  <a:pt x="1438128" y="129195"/>
                </a:lnTo>
                <a:lnTo>
                  <a:pt x="1486283" y="117867"/>
                </a:lnTo>
                <a:lnTo>
                  <a:pt x="1533765" y="105775"/>
                </a:lnTo>
                <a:lnTo>
                  <a:pt x="1580517" y="92922"/>
                </a:lnTo>
                <a:lnTo>
                  <a:pt x="1626484" y="79310"/>
                </a:lnTo>
                <a:lnTo>
                  <a:pt x="1671608" y="64944"/>
                </a:lnTo>
                <a:lnTo>
                  <a:pt x="1715835" y="49827"/>
                </a:lnTo>
                <a:lnTo>
                  <a:pt x="1759108" y="33961"/>
                </a:lnTo>
                <a:lnTo>
                  <a:pt x="1801371" y="17351"/>
                </a:lnTo>
                <a:lnTo>
                  <a:pt x="1842569" y="0"/>
                </a:lnTo>
              </a:path>
            </a:pathLst>
          </a:custGeom>
          <a:ln w="49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81994" y="5371941"/>
            <a:ext cx="180340" cy="110489"/>
          </a:xfrm>
          <a:custGeom>
            <a:avLst/>
            <a:gdLst/>
            <a:ahLst/>
            <a:cxnLst/>
            <a:rect l="l" t="t" r="r" b="b"/>
            <a:pathLst>
              <a:path w="180339" h="110489">
                <a:moveTo>
                  <a:pt x="0" y="0"/>
                </a:moveTo>
                <a:lnTo>
                  <a:pt x="142292" y="109985"/>
                </a:lnTo>
                <a:lnTo>
                  <a:pt x="180086" y="31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569637" y="4921058"/>
            <a:ext cx="1112520" cy="553085"/>
          </a:xfrm>
          <a:prstGeom prst="rect">
            <a:avLst/>
          </a:prstGeom>
          <a:solidFill>
            <a:srgbClr val="E8EEF7"/>
          </a:solidFill>
          <a:ln w="4931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390525" marR="135255" indent="-248285">
              <a:lnSpc>
                <a:spcPct val="106700"/>
              </a:lnSpc>
              <a:spcBef>
                <a:spcPts val="305"/>
              </a:spcBef>
            </a:pPr>
            <a:r>
              <a:rPr dirty="0" sz="1300">
                <a:latin typeface="MS Gothic"/>
                <a:cs typeface="MS Gothic"/>
              </a:rPr>
              <a:t>面向</a:t>
            </a:r>
            <a:r>
              <a:rPr dirty="0" sz="1300">
                <a:latin typeface="宋体"/>
                <a:cs typeface="宋体"/>
              </a:rPr>
              <a:t>问题</a:t>
            </a:r>
            <a:r>
              <a:rPr dirty="0" sz="1300">
                <a:latin typeface="MS Gothic"/>
                <a:cs typeface="MS Gothic"/>
              </a:rPr>
              <a:t>的 </a:t>
            </a:r>
            <a:r>
              <a:rPr dirty="0" sz="1300">
                <a:latin typeface="MS Gothic"/>
                <a:cs typeface="MS Gothic"/>
              </a:rPr>
              <a:t>建模</a:t>
            </a:r>
            <a:endParaRPr sz="1300">
              <a:latin typeface="MS Gothic"/>
              <a:cs typeface="MS Gothic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925688" y="4921074"/>
            <a:ext cx="509270" cy="116839"/>
          </a:xfrm>
          <a:custGeom>
            <a:avLst/>
            <a:gdLst/>
            <a:ahLst/>
            <a:cxnLst/>
            <a:rect l="l" t="t" r="r" b="b"/>
            <a:pathLst>
              <a:path w="509269" h="116839">
                <a:moveTo>
                  <a:pt x="0" y="116331"/>
                </a:moveTo>
                <a:lnTo>
                  <a:pt x="36681" y="86309"/>
                </a:lnTo>
                <a:lnTo>
                  <a:pt x="76648" y="60636"/>
                </a:lnTo>
                <a:lnTo>
                  <a:pt x="119445" y="39383"/>
                </a:lnTo>
                <a:lnTo>
                  <a:pt x="164616" y="22622"/>
                </a:lnTo>
                <a:lnTo>
                  <a:pt x="211707" y="10424"/>
                </a:lnTo>
                <a:lnTo>
                  <a:pt x="260261" y="2859"/>
                </a:lnTo>
                <a:lnTo>
                  <a:pt x="309824" y="0"/>
                </a:lnTo>
                <a:lnTo>
                  <a:pt x="359940" y="1915"/>
                </a:lnTo>
                <a:lnTo>
                  <a:pt x="410153" y="8678"/>
                </a:lnTo>
                <a:lnTo>
                  <a:pt x="460008" y="20359"/>
                </a:lnTo>
                <a:lnTo>
                  <a:pt x="509050" y="37028"/>
                </a:lnTo>
              </a:path>
            </a:pathLst>
          </a:custGeom>
          <a:ln w="49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93456" y="4902135"/>
            <a:ext cx="176530" cy="135890"/>
          </a:xfrm>
          <a:custGeom>
            <a:avLst/>
            <a:gdLst/>
            <a:ahLst/>
            <a:cxnLst/>
            <a:rect l="l" t="t" r="r" b="b"/>
            <a:pathLst>
              <a:path w="176530" h="135889">
                <a:moveTo>
                  <a:pt x="58031" y="0"/>
                </a:moveTo>
                <a:lnTo>
                  <a:pt x="0" y="97508"/>
                </a:lnTo>
                <a:lnTo>
                  <a:pt x="176182" y="135271"/>
                </a:lnTo>
                <a:lnTo>
                  <a:pt x="58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040348" y="5328307"/>
            <a:ext cx="529590" cy="174625"/>
          </a:xfrm>
          <a:custGeom>
            <a:avLst/>
            <a:gdLst/>
            <a:ahLst/>
            <a:cxnLst/>
            <a:rect l="l" t="t" r="r" b="b"/>
            <a:pathLst>
              <a:path w="529589" h="174625">
                <a:moveTo>
                  <a:pt x="529289" y="0"/>
                </a:moveTo>
                <a:lnTo>
                  <a:pt x="497132" y="40043"/>
                </a:lnTo>
                <a:lnTo>
                  <a:pt x="462407" y="75004"/>
                </a:lnTo>
                <a:lnTo>
                  <a:pt x="425423" y="104819"/>
                </a:lnTo>
                <a:lnTo>
                  <a:pt x="386494" y="129427"/>
                </a:lnTo>
                <a:lnTo>
                  <a:pt x="345931" y="148763"/>
                </a:lnTo>
                <a:lnTo>
                  <a:pt x="304046" y="162767"/>
                </a:lnTo>
                <a:lnTo>
                  <a:pt x="261149" y="171375"/>
                </a:lnTo>
                <a:lnTo>
                  <a:pt x="217554" y="174524"/>
                </a:lnTo>
                <a:lnTo>
                  <a:pt x="173571" y="172153"/>
                </a:lnTo>
                <a:lnTo>
                  <a:pt x="129513" y="164198"/>
                </a:lnTo>
                <a:lnTo>
                  <a:pt x="85690" y="150598"/>
                </a:lnTo>
                <a:lnTo>
                  <a:pt x="42415" y="131289"/>
                </a:lnTo>
                <a:lnTo>
                  <a:pt x="0" y="106209"/>
                </a:lnTo>
              </a:path>
            </a:pathLst>
          </a:custGeom>
          <a:ln w="49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925688" y="5328307"/>
            <a:ext cx="164465" cy="157480"/>
          </a:xfrm>
          <a:custGeom>
            <a:avLst/>
            <a:gdLst/>
            <a:ahLst/>
            <a:cxnLst/>
            <a:rect l="l" t="t" r="r" b="b"/>
            <a:pathLst>
              <a:path w="164464" h="157479">
                <a:moveTo>
                  <a:pt x="0" y="0"/>
                </a:moveTo>
                <a:lnTo>
                  <a:pt x="86221" y="157293"/>
                </a:lnTo>
                <a:lnTo>
                  <a:pt x="163955" y="744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618561" y="4106579"/>
            <a:ext cx="0" cy="1629410"/>
          </a:xfrm>
          <a:custGeom>
            <a:avLst/>
            <a:gdLst/>
            <a:ahLst/>
            <a:cxnLst/>
            <a:rect l="l" t="t" r="r" b="b"/>
            <a:pathLst>
              <a:path w="0" h="1629410">
                <a:moveTo>
                  <a:pt x="0" y="0"/>
                </a:moveTo>
                <a:lnTo>
                  <a:pt x="0" y="1628959"/>
                </a:lnTo>
              </a:path>
            </a:pathLst>
          </a:custGeom>
          <a:ln w="4460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189673" y="4113495"/>
            <a:ext cx="1512570" cy="3213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900" spc="50">
                <a:latin typeface="MS Gothic"/>
                <a:cs typeface="MS Gothic"/>
              </a:rPr>
              <a:t>前期需求</a:t>
            </a:r>
            <a:r>
              <a:rPr dirty="0" sz="1900" spc="50">
                <a:latin typeface="宋体"/>
                <a:cs typeface="宋体"/>
              </a:rPr>
              <a:t>阶</a:t>
            </a:r>
            <a:r>
              <a:rPr dirty="0" sz="1900" spc="50">
                <a:latin typeface="MS Gothic"/>
                <a:cs typeface="MS Gothic"/>
              </a:rPr>
              <a:t>段</a:t>
            </a:r>
            <a:endParaRPr sz="1900">
              <a:latin typeface="MS Gothic"/>
              <a:cs typeface="MS Gothic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6341247" y="4161335"/>
            <a:ext cx="1512570" cy="3213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900" spc="50">
                <a:latin typeface="MS Gothic"/>
                <a:cs typeface="MS Gothic"/>
              </a:rPr>
              <a:t>后期需</a:t>
            </a:r>
            <a:r>
              <a:rPr dirty="0" sz="1900" spc="45">
                <a:latin typeface="MS Gothic"/>
                <a:cs typeface="MS Gothic"/>
              </a:rPr>
              <a:t>求</a:t>
            </a:r>
            <a:r>
              <a:rPr dirty="0" sz="1900" spc="50">
                <a:latin typeface="宋体"/>
                <a:cs typeface="宋体"/>
              </a:rPr>
              <a:t>阶</a:t>
            </a:r>
            <a:r>
              <a:rPr dirty="0" sz="1900" spc="50">
                <a:latin typeface="MS Gothic"/>
                <a:cs typeface="MS Gothic"/>
              </a:rPr>
              <a:t>段</a:t>
            </a:r>
            <a:endParaRPr sz="19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4100" y="196595"/>
            <a:ext cx="44958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面向问题域的分析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3869"/>
            <a:ext cx="7874000" cy="492061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面向问题域的分析</a:t>
            </a:r>
            <a:endParaRPr sz="3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问题框架</a:t>
            </a:r>
            <a:endParaRPr sz="2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特性</a:t>
            </a:r>
            <a:endParaRPr sz="24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解决</a:t>
            </a:r>
            <a:endParaRPr sz="24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63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宋体"/>
                <a:cs typeface="宋体"/>
              </a:rPr>
              <a:t>基本思路</a:t>
            </a:r>
            <a:endParaRPr sz="2800">
              <a:latin typeface="宋体"/>
              <a:cs typeface="宋体"/>
            </a:endParaRPr>
          </a:p>
          <a:p>
            <a:pPr lvl="2" marL="1155065" marR="5080" indent="-228600">
              <a:lnSpc>
                <a:spcPts val="2710"/>
              </a:lnSpc>
              <a:spcBef>
                <a:spcPts val="1065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研究所有可能的问题域，从中发现一些重复出现的 简单问题类型</a:t>
            </a:r>
            <a:endParaRPr sz="2400">
              <a:latin typeface="宋体"/>
              <a:cs typeface="宋体"/>
            </a:endParaRPr>
          </a:p>
          <a:p>
            <a:pPr lvl="2" marL="1155065" marR="5080" indent="-228600">
              <a:lnSpc>
                <a:spcPts val="2690"/>
              </a:lnSpc>
              <a:spcBef>
                <a:spcPts val="910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分析每一种问题框架的特性，确定问题的理解和解 决方法</a:t>
            </a:r>
            <a:endParaRPr sz="2400">
              <a:latin typeface="宋体"/>
              <a:cs typeface="宋体"/>
            </a:endParaRPr>
          </a:p>
          <a:p>
            <a:pPr lvl="2" marL="1155065" marR="5080" indent="-228600">
              <a:lnSpc>
                <a:spcPts val="2710"/>
              </a:lnSpc>
              <a:spcBef>
                <a:spcPts val="890"/>
              </a:spcBef>
              <a:buFont typeface="Arial"/>
              <a:buChar char="•"/>
              <a:tabLst>
                <a:tab pos="1155700" algn="l"/>
              </a:tabLst>
            </a:pPr>
            <a:r>
              <a:rPr dirty="0" sz="2400">
                <a:latin typeface="宋体"/>
                <a:cs typeface="宋体"/>
              </a:rPr>
              <a:t>将问题框架的建立和分类系统化，以简单的问题框 架为基本单位，</a:t>
            </a:r>
            <a:r>
              <a:rPr dirty="0" baseline="1182" sz="3525" spc="127" b="1">
                <a:latin typeface="宋体"/>
                <a:cs typeface="宋体"/>
              </a:rPr>
              <a:t>进行复杂问题的分解</a:t>
            </a:r>
            <a:endParaRPr baseline="1182" sz="3525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2300" y="303276"/>
            <a:ext cx="28194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功能分解图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6749"/>
            <a:ext cx="8032750" cy="434721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在一个图内自上至下的集中显示系统的功能分解结构</a:t>
            </a:r>
            <a:endParaRPr sz="2600">
              <a:latin typeface="宋体"/>
              <a:cs typeface="宋体"/>
            </a:endParaRPr>
          </a:p>
          <a:p>
            <a:pPr lvl="1" marL="755650" marR="5080" indent="-285750">
              <a:lnSpc>
                <a:spcPts val="2500"/>
              </a:lnSpc>
              <a:spcBef>
                <a:spcPts val="89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solidFill>
                  <a:srgbClr val="009E5E"/>
                </a:solidFill>
                <a:latin typeface="宋体"/>
                <a:cs typeface="宋体"/>
              </a:rPr>
              <a:t>最顶层</a:t>
            </a:r>
            <a:r>
              <a:rPr dirty="0" sz="2200">
                <a:latin typeface="宋体"/>
                <a:cs typeface="宋体"/>
              </a:rPr>
              <a:t>的单独功能通常是对整个系统的使命描述，是对系统 业务需求的概括</a:t>
            </a:r>
            <a:endParaRPr sz="2200">
              <a:latin typeface="宋体"/>
              <a:cs typeface="宋体"/>
            </a:endParaRPr>
          </a:p>
          <a:p>
            <a:pPr lvl="1" marL="755650" marR="5080" indent="-285750">
              <a:lnSpc>
                <a:spcPts val="2500"/>
              </a:lnSpc>
              <a:spcBef>
                <a:spcPts val="81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系统使命说明的下一层被称为</a:t>
            </a:r>
            <a:r>
              <a:rPr dirty="0" sz="2200">
                <a:solidFill>
                  <a:srgbClr val="009E5E"/>
                </a:solidFill>
                <a:latin typeface="宋体"/>
                <a:cs typeface="宋体"/>
              </a:rPr>
              <a:t>功能的最顶层</a:t>
            </a:r>
            <a:r>
              <a:rPr dirty="0" sz="2200">
                <a:latin typeface="宋体"/>
                <a:cs typeface="宋体"/>
              </a:rPr>
              <a:t>，描述了系统应 该具备的一些重要功能，它们支撑着系统使命的实现</a:t>
            </a:r>
            <a:endParaRPr sz="2200">
              <a:latin typeface="宋体"/>
              <a:cs typeface="宋体"/>
            </a:endParaRPr>
          </a:p>
          <a:p>
            <a:pPr lvl="1" marL="755650" marR="5080" indent="-285750">
              <a:lnSpc>
                <a:spcPts val="2500"/>
              </a:lnSpc>
              <a:spcBef>
                <a:spcPts val="78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功能最顶层下面的分支是对最顶层功能执行分解后形成的层 次关系</a:t>
            </a:r>
            <a:endParaRPr sz="2200">
              <a:latin typeface="宋体"/>
              <a:cs typeface="宋体"/>
            </a:endParaRPr>
          </a:p>
          <a:p>
            <a:pPr lvl="1" marL="755650" marR="5080" indent="-285750">
              <a:lnSpc>
                <a:spcPts val="2500"/>
              </a:lnSpc>
              <a:spcBef>
                <a:spcPts val="81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最底层的是</a:t>
            </a:r>
            <a:r>
              <a:rPr dirty="0" sz="2200">
                <a:solidFill>
                  <a:srgbClr val="009E5E"/>
                </a:solidFill>
                <a:latin typeface="宋体"/>
                <a:cs typeface="宋体"/>
              </a:rPr>
              <a:t>基本的业务功能</a:t>
            </a:r>
            <a:r>
              <a:rPr dirty="0" sz="2200">
                <a:latin typeface="宋体"/>
                <a:cs typeface="宋体"/>
              </a:rPr>
              <a:t>。这些基本的业务功能是人们所 能找到的最基本的、不可再细分的功能或处理</a:t>
            </a:r>
            <a:endParaRPr sz="2200">
              <a:latin typeface="宋体"/>
              <a:cs typeface="宋体"/>
            </a:endParaRPr>
          </a:p>
          <a:p>
            <a:pPr marL="355600" marR="74930" indent="-342900">
              <a:lnSpc>
                <a:spcPts val="2880"/>
              </a:lnSpc>
              <a:spcBef>
                <a:spcPts val="110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能够更加集中、更加直观的展示大量过程之间的层次 关系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2300" y="71627"/>
            <a:ext cx="28194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功能分解图</a:t>
            </a:r>
          </a:p>
        </p:txBody>
      </p:sp>
      <p:sp>
        <p:nvSpPr>
          <p:cNvPr id="3" name="object 3"/>
          <p:cNvSpPr/>
          <p:nvPr/>
        </p:nvSpPr>
        <p:spPr>
          <a:xfrm>
            <a:off x="3785633" y="1001482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69">
                <a:moveTo>
                  <a:pt x="762728" y="0"/>
                </a:moveTo>
                <a:lnTo>
                  <a:pt x="200807" y="0"/>
                </a:lnTo>
                <a:lnTo>
                  <a:pt x="154777" y="5511"/>
                </a:lnTo>
                <a:lnTo>
                  <a:pt x="112530" y="21097"/>
                </a:lnTo>
                <a:lnTo>
                  <a:pt x="75264" y="45522"/>
                </a:lnTo>
                <a:lnTo>
                  <a:pt x="44180" y="77551"/>
                </a:lnTo>
                <a:lnTo>
                  <a:pt x="20475" y="115948"/>
                </a:lnTo>
                <a:lnTo>
                  <a:pt x="5348" y="159478"/>
                </a:lnTo>
                <a:lnTo>
                  <a:pt x="0" y="206905"/>
                </a:lnTo>
                <a:lnTo>
                  <a:pt x="0" y="289638"/>
                </a:lnTo>
                <a:lnTo>
                  <a:pt x="5348" y="337065"/>
                </a:lnTo>
                <a:lnTo>
                  <a:pt x="20475" y="380592"/>
                </a:lnTo>
                <a:lnTo>
                  <a:pt x="44180" y="418981"/>
                </a:lnTo>
                <a:lnTo>
                  <a:pt x="75264" y="450994"/>
                </a:lnTo>
                <a:lnTo>
                  <a:pt x="112530" y="475393"/>
                </a:lnTo>
                <a:lnTo>
                  <a:pt x="154777" y="490941"/>
                </a:lnTo>
                <a:lnTo>
                  <a:pt x="200807" y="496398"/>
                </a:lnTo>
                <a:lnTo>
                  <a:pt x="762728" y="496398"/>
                </a:lnTo>
                <a:lnTo>
                  <a:pt x="808766" y="490941"/>
                </a:lnTo>
                <a:lnTo>
                  <a:pt x="851030" y="475393"/>
                </a:lnTo>
                <a:lnTo>
                  <a:pt x="888315" y="450994"/>
                </a:lnTo>
                <a:lnTo>
                  <a:pt x="919415" y="418981"/>
                </a:lnTo>
                <a:lnTo>
                  <a:pt x="943122" y="380592"/>
                </a:lnTo>
                <a:lnTo>
                  <a:pt x="958231" y="337065"/>
                </a:lnTo>
                <a:lnTo>
                  <a:pt x="963536" y="289638"/>
                </a:lnTo>
                <a:lnTo>
                  <a:pt x="963536" y="206905"/>
                </a:lnTo>
                <a:lnTo>
                  <a:pt x="958231" y="159478"/>
                </a:lnTo>
                <a:lnTo>
                  <a:pt x="943122" y="115948"/>
                </a:lnTo>
                <a:lnTo>
                  <a:pt x="919415" y="77551"/>
                </a:lnTo>
                <a:lnTo>
                  <a:pt x="888315" y="45522"/>
                </a:lnTo>
                <a:lnTo>
                  <a:pt x="851030" y="21097"/>
                </a:lnTo>
                <a:lnTo>
                  <a:pt x="808766" y="5511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85632" y="1001483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69">
                <a:moveTo>
                  <a:pt x="762728" y="496398"/>
                </a:moveTo>
                <a:lnTo>
                  <a:pt x="808766" y="490940"/>
                </a:lnTo>
                <a:lnTo>
                  <a:pt x="851030" y="475393"/>
                </a:lnTo>
                <a:lnTo>
                  <a:pt x="888315" y="450994"/>
                </a:lnTo>
                <a:lnTo>
                  <a:pt x="919415" y="418981"/>
                </a:lnTo>
                <a:lnTo>
                  <a:pt x="943122" y="380592"/>
                </a:lnTo>
                <a:lnTo>
                  <a:pt x="958232" y="337065"/>
                </a:lnTo>
                <a:lnTo>
                  <a:pt x="963536" y="289638"/>
                </a:lnTo>
                <a:lnTo>
                  <a:pt x="963536" y="206905"/>
                </a:lnTo>
                <a:lnTo>
                  <a:pt x="958232" y="159478"/>
                </a:lnTo>
                <a:lnTo>
                  <a:pt x="943122" y="115948"/>
                </a:lnTo>
                <a:lnTo>
                  <a:pt x="919415" y="77551"/>
                </a:lnTo>
                <a:lnTo>
                  <a:pt x="888315" y="45522"/>
                </a:lnTo>
                <a:lnTo>
                  <a:pt x="851030" y="21097"/>
                </a:lnTo>
                <a:lnTo>
                  <a:pt x="808766" y="5511"/>
                </a:lnTo>
                <a:lnTo>
                  <a:pt x="762728" y="0"/>
                </a:lnTo>
                <a:lnTo>
                  <a:pt x="200807" y="0"/>
                </a:lnTo>
                <a:lnTo>
                  <a:pt x="154777" y="5511"/>
                </a:lnTo>
                <a:lnTo>
                  <a:pt x="112530" y="21097"/>
                </a:lnTo>
                <a:lnTo>
                  <a:pt x="75265" y="45522"/>
                </a:lnTo>
                <a:lnTo>
                  <a:pt x="44180" y="77551"/>
                </a:lnTo>
                <a:lnTo>
                  <a:pt x="20475" y="115948"/>
                </a:lnTo>
                <a:lnTo>
                  <a:pt x="5349" y="159478"/>
                </a:lnTo>
                <a:lnTo>
                  <a:pt x="0" y="206905"/>
                </a:lnTo>
                <a:lnTo>
                  <a:pt x="0" y="289638"/>
                </a:lnTo>
                <a:lnTo>
                  <a:pt x="5349" y="337065"/>
                </a:lnTo>
                <a:lnTo>
                  <a:pt x="20475" y="380592"/>
                </a:lnTo>
                <a:lnTo>
                  <a:pt x="44180" y="418981"/>
                </a:lnTo>
                <a:lnTo>
                  <a:pt x="75265" y="450994"/>
                </a:lnTo>
                <a:lnTo>
                  <a:pt x="112530" y="475393"/>
                </a:lnTo>
                <a:lnTo>
                  <a:pt x="154777" y="490940"/>
                </a:lnTo>
                <a:lnTo>
                  <a:pt x="200807" y="496398"/>
                </a:lnTo>
                <a:lnTo>
                  <a:pt x="762728" y="496398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04612" y="1009354"/>
            <a:ext cx="526415" cy="4457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350" spc="-10">
                <a:latin typeface="Times New Roman"/>
                <a:cs typeface="Times New Roman"/>
              </a:rPr>
              <a:t>System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19447" y="1952839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30" h="496569">
                <a:moveTo>
                  <a:pt x="762715" y="0"/>
                </a:moveTo>
                <a:lnTo>
                  <a:pt x="200708" y="0"/>
                </a:lnTo>
                <a:lnTo>
                  <a:pt x="154685" y="5465"/>
                </a:lnTo>
                <a:lnTo>
                  <a:pt x="112438" y="21033"/>
                </a:lnTo>
                <a:lnTo>
                  <a:pt x="75172" y="45461"/>
                </a:lnTo>
                <a:lnTo>
                  <a:pt x="44090" y="77505"/>
                </a:lnTo>
                <a:lnTo>
                  <a:pt x="20398" y="115922"/>
                </a:lnTo>
                <a:lnTo>
                  <a:pt x="5300" y="159470"/>
                </a:lnTo>
                <a:lnTo>
                  <a:pt x="0" y="206905"/>
                </a:lnTo>
                <a:lnTo>
                  <a:pt x="0" y="289493"/>
                </a:lnTo>
                <a:lnTo>
                  <a:pt x="5300" y="336929"/>
                </a:lnTo>
                <a:lnTo>
                  <a:pt x="20398" y="380476"/>
                </a:lnTo>
                <a:lnTo>
                  <a:pt x="44090" y="418893"/>
                </a:lnTo>
                <a:lnTo>
                  <a:pt x="75172" y="450937"/>
                </a:lnTo>
                <a:lnTo>
                  <a:pt x="112438" y="475365"/>
                </a:lnTo>
                <a:lnTo>
                  <a:pt x="154685" y="490933"/>
                </a:lnTo>
                <a:lnTo>
                  <a:pt x="200708" y="496398"/>
                </a:lnTo>
                <a:lnTo>
                  <a:pt x="762715" y="496398"/>
                </a:lnTo>
                <a:lnTo>
                  <a:pt x="808743" y="490933"/>
                </a:lnTo>
                <a:lnTo>
                  <a:pt x="850987" y="475365"/>
                </a:lnTo>
                <a:lnTo>
                  <a:pt x="888245" y="450937"/>
                </a:lnTo>
                <a:lnTo>
                  <a:pt x="919314" y="418893"/>
                </a:lnTo>
                <a:lnTo>
                  <a:pt x="942994" y="380476"/>
                </a:lnTo>
                <a:lnTo>
                  <a:pt x="958083" y="336929"/>
                </a:lnTo>
                <a:lnTo>
                  <a:pt x="963380" y="289493"/>
                </a:lnTo>
                <a:lnTo>
                  <a:pt x="963380" y="206905"/>
                </a:lnTo>
                <a:lnTo>
                  <a:pt x="958083" y="159470"/>
                </a:lnTo>
                <a:lnTo>
                  <a:pt x="942994" y="115922"/>
                </a:lnTo>
                <a:lnTo>
                  <a:pt x="919314" y="77505"/>
                </a:lnTo>
                <a:lnTo>
                  <a:pt x="888245" y="45461"/>
                </a:lnTo>
                <a:lnTo>
                  <a:pt x="850987" y="21033"/>
                </a:lnTo>
                <a:lnTo>
                  <a:pt x="808743" y="5465"/>
                </a:lnTo>
                <a:lnTo>
                  <a:pt x="762715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19446" y="1952841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30" h="496569">
                <a:moveTo>
                  <a:pt x="762714" y="496398"/>
                </a:moveTo>
                <a:lnTo>
                  <a:pt x="808744" y="490932"/>
                </a:lnTo>
                <a:lnTo>
                  <a:pt x="850988" y="475364"/>
                </a:lnTo>
                <a:lnTo>
                  <a:pt x="888245" y="450937"/>
                </a:lnTo>
                <a:lnTo>
                  <a:pt x="919315" y="418893"/>
                </a:lnTo>
                <a:lnTo>
                  <a:pt x="942995" y="380475"/>
                </a:lnTo>
                <a:lnTo>
                  <a:pt x="958084" y="336927"/>
                </a:lnTo>
                <a:lnTo>
                  <a:pt x="963380" y="289492"/>
                </a:lnTo>
                <a:lnTo>
                  <a:pt x="963380" y="206905"/>
                </a:lnTo>
                <a:lnTo>
                  <a:pt x="958084" y="159470"/>
                </a:lnTo>
                <a:lnTo>
                  <a:pt x="942995" y="115922"/>
                </a:lnTo>
                <a:lnTo>
                  <a:pt x="919315" y="77505"/>
                </a:lnTo>
                <a:lnTo>
                  <a:pt x="888245" y="45461"/>
                </a:lnTo>
                <a:lnTo>
                  <a:pt x="850988" y="21033"/>
                </a:lnTo>
                <a:lnTo>
                  <a:pt x="808744" y="5465"/>
                </a:lnTo>
                <a:lnTo>
                  <a:pt x="762714" y="0"/>
                </a:lnTo>
                <a:lnTo>
                  <a:pt x="200708" y="0"/>
                </a:lnTo>
                <a:lnTo>
                  <a:pt x="154685" y="5465"/>
                </a:lnTo>
                <a:lnTo>
                  <a:pt x="112439" y="21033"/>
                </a:lnTo>
                <a:lnTo>
                  <a:pt x="75172" y="45461"/>
                </a:lnTo>
                <a:lnTo>
                  <a:pt x="44091" y="77505"/>
                </a:lnTo>
                <a:lnTo>
                  <a:pt x="20399" y="115922"/>
                </a:lnTo>
                <a:lnTo>
                  <a:pt x="5300" y="159470"/>
                </a:lnTo>
                <a:lnTo>
                  <a:pt x="0" y="206905"/>
                </a:lnTo>
                <a:lnTo>
                  <a:pt x="0" y="289492"/>
                </a:lnTo>
                <a:lnTo>
                  <a:pt x="5300" y="336927"/>
                </a:lnTo>
                <a:lnTo>
                  <a:pt x="20399" y="380475"/>
                </a:lnTo>
                <a:lnTo>
                  <a:pt x="44091" y="418893"/>
                </a:lnTo>
                <a:lnTo>
                  <a:pt x="75172" y="450937"/>
                </a:lnTo>
                <a:lnTo>
                  <a:pt x="112439" y="475364"/>
                </a:lnTo>
                <a:lnTo>
                  <a:pt x="154685" y="490932"/>
                </a:lnTo>
                <a:lnTo>
                  <a:pt x="200708" y="496398"/>
                </a:lnTo>
                <a:lnTo>
                  <a:pt x="762714" y="496398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86453" y="1960711"/>
            <a:ext cx="629920" cy="4457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350" spc="-10">
                <a:latin typeface="Times New Roman"/>
                <a:cs typeface="Times New Roman"/>
              </a:rPr>
              <a:t>Function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71681" y="1952839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69">
                <a:moveTo>
                  <a:pt x="762728" y="0"/>
                </a:moveTo>
                <a:lnTo>
                  <a:pt x="200665" y="0"/>
                </a:lnTo>
                <a:lnTo>
                  <a:pt x="154680" y="5465"/>
                </a:lnTo>
                <a:lnTo>
                  <a:pt x="112453" y="21033"/>
                </a:lnTo>
                <a:lnTo>
                  <a:pt x="75194" y="45461"/>
                </a:lnTo>
                <a:lnTo>
                  <a:pt x="44109" y="77505"/>
                </a:lnTo>
                <a:lnTo>
                  <a:pt x="20410" y="115922"/>
                </a:lnTo>
                <a:lnTo>
                  <a:pt x="5304" y="159470"/>
                </a:lnTo>
                <a:lnTo>
                  <a:pt x="0" y="206905"/>
                </a:lnTo>
                <a:lnTo>
                  <a:pt x="0" y="289493"/>
                </a:lnTo>
                <a:lnTo>
                  <a:pt x="5304" y="336929"/>
                </a:lnTo>
                <a:lnTo>
                  <a:pt x="20410" y="380476"/>
                </a:lnTo>
                <a:lnTo>
                  <a:pt x="44109" y="418893"/>
                </a:lnTo>
                <a:lnTo>
                  <a:pt x="75194" y="450937"/>
                </a:lnTo>
                <a:lnTo>
                  <a:pt x="112453" y="475365"/>
                </a:lnTo>
                <a:lnTo>
                  <a:pt x="154680" y="490933"/>
                </a:lnTo>
                <a:lnTo>
                  <a:pt x="200665" y="496398"/>
                </a:lnTo>
                <a:lnTo>
                  <a:pt x="762728" y="496398"/>
                </a:lnTo>
                <a:lnTo>
                  <a:pt x="808757" y="490933"/>
                </a:lnTo>
                <a:lnTo>
                  <a:pt x="851001" y="475365"/>
                </a:lnTo>
                <a:lnTo>
                  <a:pt x="888259" y="450937"/>
                </a:lnTo>
                <a:lnTo>
                  <a:pt x="919328" y="418893"/>
                </a:lnTo>
                <a:lnTo>
                  <a:pt x="943008" y="380476"/>
                </a:lnTo>
                <a:lnTo>
                  <a:pt x="958097" y="336929"/>
                </a:lnTo>
                <a:lnTo>
                  <a:pt x="963394" y="289493"/>
                </a:lnTo>
                <a:lnTo>
                  <a:pt x="963394" y="206905"/>
                </a:lnTo>
                <a:lnTo>
                  <a:pt x="958097" y="159470"/>
                </a:lnTo>
                <a:lnTo>
                  <a:pt x="943008" y="115922"/>
                </a:lnTo>
                <a:lnTo>
                  <a:pt x="919328" y="77505"/>
                </a:lnTo>
                <a:lnTo>
                  <a:pt x="888259" y="45461"/>
                </a:lnTo>
                <a:lnTo>
                  <a:pt x="851001" y="21033"/>
                </a:lnTo>
                <a:lnTo>
                  <a:pt x="808757" y="5465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71680" y="1952841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69">
                <a:moveTo>
                  <a:pt x="762728" y="496398"/>
                </a:moveTo>
                <a:lnTo>
                  <a:pt x="808758" y="490932"/>
                </a:lnTo>
                <a:lnTo>
                  <a:pt x="851002" y="475364"/>
                </a:lnTo>
                <a:lnTo>
                  <a:pt x="888259" y="450937"/>
                </a:lnTo>
                <a:lnTo>
                  <a:pt x="919329" y="418893"/>
                </a:lnTo>
                <a:lnTo>
                  <a:pt x="943009" y="380475"/>
                </a:lnTo>
                <a:lnTo>
                  <a:pt x="958098" y="336927"/>
                </a:lnTo>
                <a:lnTo>
                  <a:pt x="963394" y="289492"/>
                </a:lnTo>
                <a:lnTo>
                  <a:pt x="963394" y="206905"/>
                </a:lnTo>
                <a:lnTo>
                  <a:pt x="958098" y="159470"/>
                </a:lnTo>
                <a:lnTo>
                  <a:pt x="943009" y="115922"/>
                </a:lnTo>
                <a:lnTo>
                  <a:pt x="919329" y="77505"/>
                </a:lnTo>
                <a:lnTo>
                  <a:pt x="888259" y="45461"/>
                </a:lnTo>
                <a:lnTo>
                  <a:pt x="851002" y="21033"/>
                </a:lnTo>
                <a:lnTo>
                  <a:pt x="808758" y="5465"/>
                </a:lnTo>
                <a:lnTo>
                  <a:pt x="762728" y="0"/>
                </a:lnTo>
                <a:lnTo>
                  <a:pt x="200665" y="0"/>
                </a:lnTo>
                <a:lnTo>
                  <a:pt x="154681" y="5465"/>
                </a:lnTo>
                <a:lnTo>
                  <a:pt x="112454" y="21033"/>
                </a:lnTo>
                <a:lnTo>
                  <a:pt x="75194" y="45461"/>
                </a:lnTo>
                <a:lnTo>
                  <a:pt x="44110" y="77505"/>
                </a:lnTo>
                <a:lnTo>
                  <a:pt x="20410" y="115922"/>
                </a:lnTo>
                <a:lnTo>
                  <a:pt x="5304" y="159470"/>
                </a:lnTo>
                <a:lnTo>
                  <a:pt x="0" y="206905"/>
                </a:lnTo>
                <a:lnTo>
                  <a:pt x="0" y="289492"/>
                </a:lnTo>
                <a:lnTo>
                  <a:pt x="5304" y="336927"/>
                </a:lnTo>
                <a:lnTo>
                  <a:pt x="20410" y="380475"/>
                </a:lnTo>
                <a:lnTo>
                  <a:pt x="44110" y="418893"/>
                </a:lnTo>
                <a:lnTo>
                  <a:pt x="75194" y="450937"/>
                </a:lnTo>
                <a:lnTo>
                  <a:pt x="112454" y="475364"/>
                </a:lnTo>
                <a:lnTo>
                  <a:pt x="154681" y="490932"/>
                </a:lnTo>
                <a:lnTo>
                  <a:pt x="200665" y="496398"/>
                </a:lnTo>
                <a:lnTo>
                  <a:pt x="762728" y="496398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38687" y="1960711"/>
            <a:ext cx="629920" cy="4457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350" spc="-10">
                <a:latin typeface="Times New Roman"/>
                <a:cs typeface="Times New Roman"/>
              </a:rPr>
              <a:t>Function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86130" y="2780024"/>
            <a:ext cx="933450" cy="496570"/>
          </a:xfrm>
          <a:custGeom>
            <a:avLst/>
            <a:gdLst/>
            <a:ahLst/>
            <a:cxnLst/>
            <a:rect l="l" t="t" r="r" b="b"/>
            <a:pathLst>
              <a:path w="933450" h="496570">
                <a:moveTo>
                  <a:pt x="732593" y="0"/>
                </a:moveTo>
                <a:lnTo>
                  <a:pt x="200708" y="0"/>
                </a:lnTo>
                <a:lnTo>
                  <a:pt x="154688" y="5465"/>
                </a:lnTo>
                <a:lnTo>
                  <a:pt x="112443" y="21033"/>
                </a:lnTo>
                <a:lnTo>
                  <a:pt x="75176" y="45461"/>
                </a:lnTo>
                <a:lnTo>
                  <a:pt x="44094" y="77505"/>
                </a:lnTo>
                <a:lnTo>
                  <a:pt x="20401" y="115922"/>
                </a:lnTo>
                <a:lnTo>
                  <a:pt x="5301" y="159470"/>
                </a:lnTo>
                <a:lnTo>
                  <a:pt x="0" y="206905"/>
                </a:lnTo>
                <a:lnTo>
                  <a:pt x="0" y="289638"/>
                </a:lnTo>
                <a:lnTo>
                  <a:pt x="5301" y="337019"/>
                </a:lnTo>
                <a:lnTo>
                  <a:pt x="20401" y="380528"/>
                </a:lnTo>
                <a:lnTo>
                  <a:pt x="44094" y="418920"/>
                </a:lnTo>
                <a:lnTo>
                  <a:pt x="75176" y="450948"/>
                </a:lnTo>
                <a:lnTo>
                  <a:pt x="112443" y="475368"/>
                </a:lnTo>
                <a:lnTo>
                  <a:pt x="154688" y="490933"/>
                </a:lnTo>
                <a:lnTo>
                  <a:pt x="200708" y="496398"/>
                </a:lnTo>
                <a:lnTo>
                  <a:pt x="732593" y="496398"/>
                </a:lnTo>
                <a:lnTo>
                  <a:pt x="778616" y="490933"/>
                </a:lnTo>
                <a:lnTo>
                  <a:pt x="820863" y="475368"/>
                </a:lnTo>
                <a:lnTo>
                  <a:pt x="858130" y="450948"/>
                </a:lnTo>
                <a:lnTo>
                  <a:pt x="889213" y="418920"/>
                </a:lnTo>
                <a:lnTo>
                  <a:pt x="912908" y="380528"/>
                </a:lnTo>
                <a:lnTo>
                  <a:pt x="928011" y="337019"/>
                </a:lnTo>
                <a:lnTo>
                  <a:pt x="933317" y="289638"/>
                </a:lnTo>
                <a:lnTo>
                  <a:pt x="933317" y="206905"/>
                </a:lnTo>
                <a:lnTo>
                  <a:pt x="928011" y="159470"/>
                </a:lnTo>
                <a:lnTo>
                  <a:pt x="912908" y="115922"/>
                </a:lnTo>
                <a:lnTo>
                  <a:pt x="889213" y="77505"/>
                </a:lnTo>
                <a:lnTo>
                  <a:pt x="858130" y="45461"/>
                </a:lnTo>
                <a:lnTo>
                  <a:pt x="820863" y="21033"/>
                </a:lnTo>
                <a:lnTo>
                  <a:pt x="778616" y="5465"/>
                </a:lnTo>
                <a:lnTo>
                  <a:pt x="732593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86130" y="2780026"/>
            <a:ext cx="933450" cy="496570"/>
          </a:xfrm>
          <a:custGeom>
            <a:avLst/>
            <a:gdLst/>
            <a:ahLst/>
            <a:cxnLst/>
            <a:rect l="l" t="t" r="r" b="b"/>
            <a:pathLst>
              <a:path w="933450" h="496570">
                <a:moveTo>
                  <a:pt x="732593" y="496398"/>
                </a:moveTo>
                <a:lnTo>
                  <a:pt x="778616" y="490933"/>
                </a:lnTo>
                <a:lnTo>
                  <a:pt x="820863" y="475368"/>
                </a:lnTo>
                <a:lnTo>
                  <a:pt x="858130" y="450948"/>
                </a:lnTo>
                <a:lnTo>
                  <a:pt x="889213" y="418920"/>
                </a:lnTo>
                <a:lnTo>
                  <a:pt x="912908" y="380528"/>
                </a:lnTo>
                <a:lnTo>
                  <a:pt x="928010" y="337019"/>
                </a:lnTo>
                <a:lnTo>
                  <a:pt x="933316" y="289638"/>
                </a:lnTo>
                <a:lnTo>
                  <a:pt x="933316" y="206905"/>
                </a:lnTo>
                <a:lnTo>
                  <a:pt x="928010" y="159470"/>
                </a:lnTo>
                <a:lnTo>
                  <a:pt x="912908" y="115922"/>
                </a:lnTo>
                <a:lnTo>
                  <a:pt x="889213" y="77505"/>
                </a:lnTo>
                <a:lnTo>
                  <a:pt x="858130" y="45461"/>
                </a:lnTo>
                <a:lnTo>
                  <a:pt x="820863" y="21033"/>
                </a:lnTo>
                <a:lnTo>
                  <a:pt x="778616" y="5465"/>
                </a:lnTo>
                <a:lnTo>
                  <a:pt x="732593" y="0"/>
                </a:lnTo>
                <a:lnTo>
                  <a:pt x="200708" y="0"/>
                </a:lnTo>
                <a:lnTo>
                  <a:pt x="154688" y="5465"/>
                </a:lnTo>
                <a:lnTo>
                  <a:pt x="112443" y="21033"/>
                </a:lnTo>
                <a:lnTo>
                  <a:pt x="75176" y="45461"/>
                </a:lnTo>
                <a:lnTo>
                  <a:pt x="44094" y="77505"/>
                </a:lnTo>
                <a:lnTo>
                  <a:pt x="20401" y="115922"/>
                </a:lnTo>
                <a:lnTo>
                  <a:pt x="5301" y="159470"/>
                </a:lnTo>
                <a:lnTo>
                  <a:pt x="0" y="206905"/>
                </a:lnTo>
                <a:lnTo>
                  <a:pt x="0" y="289638"/>
                </a:lnTo>
                <a:lnTo>
                  <a:pt x="5301" y="337019"/>
                </a:lnTo>
                <a:lnTo>
                  <a:pt x="20401" y="380528"/>
                </a:lnTo>
                <a:lnTo>
                  <a:pt x="44094" y="418920"/>
                </a:lnTo>
                <a:lnTo>
                  <a:pt x="75176" y="450948"/>
                </a:lnTo>
                <a:lnTo>
                  <a:pt x="112443" y="475368"/>
                </a:lnTo>
                <a:lnTo>
                  <a:pt x="154688" y="490933"/>
                </a:lnTo>
                <a:lnTo>
                  <a:pt x="200708" y="496398"/>
                </a:lnTo>
                <a:lnTo>
                  <a:pt x="732593" y="496398"/>
                </a:lnTo>
                <a:close/>
              </a:path>
            </a:pathLst>
          </a:custGeom>
          <a:ln w="34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61563" y="2787896"/>
            <a:ext cx="582930" cy="4457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350" spc="-5">
                <a:latin typeface="Times New Roman"/>
                <a:cs typeface="Times New Roman"/>
              </a:rPr>
              <a:t>1.1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350" spc="-5">
                <a:latin typeface="Times New Roman"/>
                <a:cs typeface="Times New Roman"/>
              </a:rPr>
              <a:t>Activity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42751" y="2780024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666" y="0"/>
                </a:lnTo>
                <a:lnTo>
                  <a:pt x="154636" y="5465"/>
                </a:lnTo>
                <a:lnTo>
                  <a:pt x="112392" y="21033"/>
                </a:lnTo>
                <a:lnTo>
                  <a:pt x="75135" y="45461"/>
                </a:lnTo>
                <a:lnTo>
                  <a:pt x="44065" y="77505"/>
                </a:lnTo>
                <a:lnTo>
                  <a:pt x="20385" y="115922"/>
                </a:lnTo>
                <a:lnTo>
                  <a:pt x="5296" y="159470"/>
                </a:lnTo>
                <a:lnTo>
                  <a:pt x="0" y="206905"/>
                </a:lnTo>
                <a:lnTo>
                  <a:pt x="0" y="289638"/>
                </a:lnTo>
                <a:lnTo>
                  <a:pt x="5296" y="337019"/>
                </a:lnTo>
                <a:lnTo>
                  <a:pt x="20385" y="380528"/>
                </a:lnTo>
                <a:lnTo>
                  <a:pt x="44065" y="418920"/>
                </a:lnTo>
                <a:lnTo>
                  <a:pt x="75135" y="450948"/>
                </a:lnTo>
                <a:lnTo>
                  <a:pt x="112392" y="475368"/>
                </a:lnTo>
                <a:lnTo>
                  <a:pt x="154636" y="490933"/>
                </a:lnTo>
                <a:lnTo>
                  <a:pt x="200666" y="496398"/>
                </a:lnTo>
                <a:lnTo>
                  <a:pt x="762728" y="496398"/>
                </a:lnTo>
                <a:lnTo>
                  <a:pt x="808713" y="490933"/>
                </a:lnTo>
                <a:lnTo>
                  <a:pt x="850940" y="475368"/>
                </a:lnTo>
                <a:lnTo>
                  <a:pt x="888200" y="450948"/>
                </a:lnTo>
                <a:lnTo>
                  <a:pt x="919284" y="418920"/>
                </a:lnTo>
                <a:lnTo>
                  <a:pt x="942984" y="380528"/>
                </a:lnTo>
                <a:lnTo>
                  <a:pt x="958091" y="337019"/>
                </a:lnTo>
                <a:lnTo>
                  <a:pt x="963395" y="289638"/>
                </a:lnTo>
                <a:lnTo>
                  <a:pt x="963395" y="206905"/>
                </a:lnTo>
                <a:lnTo>
                  <a:pt x="958091" y="159470"/>
                </a:lnTo>
                <a:lnTo>
                  <a:pt x="942984" y="115922"/>
                </a:lnTo>
                <a:lnTo>
                  <a:pt x="919284" y="77505"/>
                </a:lnTo>
                <a:lnTo>
                  <a:pt x="888200" y="45461"/>
                </a:lnTo>
                <a:lnTo>
                  <a:pt x="850940" y="21033"/>
                </a:lnTo>
                <a:lnTo>
                  <a:pt x="808713" y="5465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42750" y="2780026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398"/>
                </a:moveTo>
                <a:lnTo>
                  <a:pt x="808713" y="490933"/>
                </a:lnTo>
                <a:lnTo>
                  <a:pt x="850940" y="475368"/>
                </a:lnTo>
                <a:lnTo>
                  <a:pt x="888200" y="450948"/>
                </a:lnTo>
                <a:lnTo>
                  <a:pt x="919284" y="418920"/>
                </a:lnTo>
                <a:lnTo>
                  <a:pt x="942984" y="380528"/>
                </a:lnTo>
                <a:lnTo>
                  <a:pt x="958090" y="337019"/>
                </a:lnTo>
                <a:lnTo>
                  <a:pt x="963394" y="289638"/>
                </a:lnTo>
                <a:lnTo>
                  <a:pt x="963394" y="206905"/>
                </a:lnTo>
                <a:lnTo>
                  <a:pt x="958090" y="159470"/>
                </a:lnTo>
                <a:lnTo>
                  <a:pt x="942984" y="115922"/>
                </a:lnTo>
                <a:lnTo>
                  <a:pt x="919284" y="77505"/>
                </a:lnTo>
                <a:lnTo>
                  <a:pt x="888200" y="45461"/>
                </a:lnTo>
                <a:lnTo>
                  <a:pt x="850940" y="21033"/>
                </a:lnTo>
                <a:lnTo>
                  <a:pt x="808713" y="5465"/>
                </a:lnTo>
                <a:lnTo>
                  <a:pt x="762728" y="0"/>
                </a:lnTo>
                <a:lnTo>
                  <a:pt x="200665" y="0"/>
                </a:lnTo>
                <a:lnTo>
                  <a:pt x="154636" y="5465"/>
                </a:lnTo>
                <a:lnTo>
                  <a:pt x="112392" y="21033"/>
                </a:lnTo>
                <a:lnTo>
                  <a:pt x="75135" y="45461"/>
                </a:lnTo>
                <a:lnTo>
                  <a:pt x="44065" y="77505"/>
                </a:lnTo>
                <a:lnTo>
                  <a:pt x="20385" y="115922"/>
                </a:lnTo>
                <a:lnTo>
                  <a:pt x="5296" y="159470"/>
                </a:lnTo>
                <a:lnTo>
                  <a:pt x="0" y="206905"/>
                </a:lnTo>
                <a:lnTo>
                  <a:pt x="0" y="289638"/>
                </a:lnTo>
                <a:lnTo>
                  <a:pt x="5296" y="337019"/>
                </a:lnTo>
                <a:lnTo>
                  <a:pt x="20385" y="380528"/>
                </a:lnTo>
                <a:lnTo>
                  <a:pt x="44065" y="418920"/>
                </a:lnTo>
                <a:lnTo>
                  <a:pt x="75135" y="450948"/>
                </a:lnTo>
                <a:lnTo>
                  <a:pt x="112392" y="475368"/>
                </a:lnTo>
                <a:lnTo>
                  <a:pt x="154636" y="490933"/>
                </a:lnTo>
                <a:lnTo>
                  <a:pt x="200665" y="496398"/>
                </a:lnTo>
                <a:lnTo>
                  <a:pt x="762728" y="496398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133407" y="2787896"/>
            <a:ext cx="582930" cy="4457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350" spc="-5">
                <a:latin typeface="Times New Roman"/>
                <a:cs typeface="Times New Roman"/>
              </a:rPr>
              <a:t>1.2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350" spc="-5">
                <a:latin typeface="Times New Roman"/>
                <a:cs typeface="Times New Roman"/>
              </a:rPr>
              <a:t>Activity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48362" y="2780024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807" y="0"/>
                </a:lnTo>
                <a:lnTo>
                  <a:pt x="154770" y="5465"/>
                </a:lnTo>
                <a:lnTo>
                  <a:pt x="112506" y="21033"/>
                </a:lnTo>
                <a:lnTo>
                  <a:pt x="75221" y="45461"/>
                </a:lnTo>
                <a:lnTo>
                  <a:pt x="44121" y="77505"/>
                </a:lnTo>
                <a:lnTo>
                  <a:pt x="20413" y="115922"/>
                </a:lnTo>
                <a:lnTo>
                  <a:pt x="5304" y="159470"/>
                </a:lnTo>
                <a:lnTo>
                  <a:pt x="0" y="206905"/>
                </a:lnTo>
                <a:lnTo>
                  <a:pt x="0" y="289638"/>
                </a:lnTo>
                <a:lnTo>
                  <a:pt x="5304" y="337019"/>
                </a:lnTo>
                <a:lnTo>
                  <a:pt x="20413" y="380528"/>
                </a:lnTo>
                <a:lnTo>
                  <a:pt x="44121" y="418920"/>
                </a:lnTo>
                <a:lnTo>
                  <a:pt x="75221" y="450948"/>
                </a:lnTo>
                <a:lnTo>
                  <a:pt x="112506" y="475368"/>
                </a:lnTo>
                <a:lnTo>
                  <a:pt x="154770" y="490933"/>
                </a:lnTo>
                <a:lnTo>
                  <a:pt x="200807" y="496398"/>
                </a:lnTo>
                <a:lnTo>
                  <a:pt x="762728" y="496398"/>
                </a:lnTo>
                <a:lnTo>
                  <a:pt x="808758" y="490933"/>
                </a:lnTo>
                <a:lnTo>
                  <a:pt x="851002" y="475368"/>
                </a:lnTo>
                <a:lnTo>
                  <a:pt x="888260" y="450948"/>
                </a:lnTo>
                <a:lnTo>
                  <a:pt x="919329" y="418920"/>
                </a:lnTo>
                <a:lnTo>
                  <a:pt x="943009" y="380528"/>
                </a:lnTo>
                <a:lnTo>
                  <a:pt x="958098" y="337019"/>
                </a:lnTo>
                <a:lnTo>
                  <a:pt x="963395" y="289638"/>
                </a:lnTo>
                <a:lnTo>
                  <a:pt x="963395" y="206905"/>
                </a:lnTo>
                <a:lnTo>
                  <a:pt x="958098" y="159470"/>
                </a:lnTo>
                <a:lnTo>
                  <a:pt x="943009" y="115922"/>
                </a:lnTo>
                <a:lnTo>
                  <a:pt x="919329" y="77505"/>
                </a:lnTo>
                <a:lnTo>
                  <a:pt x="888260" y="45461"/>
                </a:lnTo>
                <a:lnTo>
                  <a:pt x="851002" y="21033"/>
                </a:lnTo>
                <a:lnTo>
                  <a:pt x="808758" y="5465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48361" y="2780026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398"/>
                </a:moveTo>
                <a:lnTo>
                  <a:pt x="808758" y="490933"/>
                </a:lnTo>
                <a:lnTo>
                  <a:pt x="851002" y="475368"/>
                </a:lnTo>
                <a:lnTo>
                  <a:pt x="888259" y="450948"/>
                </a:lnTo>
                <a:lnTo>
                  <a:pt x="919329" y="418920"/>
                </a:lnTo>
                <a:lnTo>
                  <a:pt x="943009" y="380528"/>
                </a:lnTo>
                <a:lnTo>
                  <a:pt x="958098" y="337019"/>
                </a:lnTo>
                <a:lnTo>
                  <a:pt x="963394" y="289638"/>
                </a:lnTo>
                <a:lnTo>
                  <a:pt x="963394" y="206905"/>
                </a:lnTo>
                <a:lnTo>
                  <a:pt x="958098" y="159470"/>
                </a:lnTo>
                <a:lnTo>
                  <a:pt x="943009" y="115922"/>
                </a:lnTo>
                <a:lnTo>
                  <a:pt x="919329" y="77505"/>
                </a:lnTo>
                <a:lnTo>
                  <a:pt x="888259" y="45461"/>
                </a:lnTo>
                <a:lnTo>
                  <a:pt x="851002" y="21033"/>
                </a:lnTo>
                <a:lnTo>
                  <a:pt x="808758" y="5465"/>
                </a:lnTo>
                <a:lnTo>
                  <a:pt x="762728" y="0"/>
                </a:lnTo>
                <a:lnTo>
                  <a:pt x="200807" y="0"/>
                </a:lnTo>
                <a:lnTo>
                  <a:pt x="154770" y="5465"/>
                </a:lnTo>
                <a:lnTo>
                  <a:pt x="112506" y="21033"/>
                </a:lnTo>
                <a:lnTo>
                  <a:pt x="75220" y="45461"/>
                </a:lnTo>
                <a:lnTo>
                  <a:pt x="44121" y="77505"/>
                </a:lnTo>
                <a:lnTo>
                  <a:pt x="20413" y="115922"/>
                </a:lnTo>
                <a:lnTo>
                  <a:pt x="5304" y="159470"/>
                </a:lnTo>
                <a:lnTo>
                  <a:pt x="0" y="206905"/>
                </a:lnTo>
                <a:lnTo>
                  <a:pt x="0" y="289638"/>
                </a:lnTo>
                <a:lnTo>
                  <a:pt x="5304" y="337019"/>
                </a:lnTo>
                <a:lnTo>
                  <a:pt x="20413" y="380528"/>
                </a:lnTo>
                <a:lnTo>
                  <a:pt x="44121" y="418920"/>
                </a:lnTo>
                <a:lnTo>
                  <a:pt x="75220" y="450948"/>
                </a:lnTo>
                <a:lnTo>
                  <a:pt x="112506" y="475368"/>
                </a:lnTo>
                <a:lnTo>
                  <a:pt x="154770" y="490933"/>
                </a:lnTo>
                <a:lnTo>
                  <a:pt x="200807" y="496398"/>
                </a:lnTo>
                <a:lnTo>
                  <a:pt x="762728" y="496398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739018" y="2787896"/>
            <a:ext cx="582930" cy="4457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350" spc="-5">
                <a:latin typeface="Times New Roman"/>
                <a:cs typeface="Times New Roman"/>
              </a:rPr>
              <a:t>2.1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350" spc="-5">
                <a:latin typeface="Times New Roman"/>
                <a:cs typeface="Times New Roman"/>
              </a:rPr>
              <a:t>Activity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35076" y="2780024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30" y="0"/>
                </a:moveTo>
                <a:lnTo>
                  <a:pt x="200666" y="0"/>
                </a:lnTo>
                <a:lnTo>
                  <a:pt x="154681" y="5465"/>
                </a:lnTo>
                <a:lnTo>
                  <a:pt x="112454" y="21033"/>
                </a:lnTo>
                <a:lnTo>
                  <a:pt x="75194" y="45461"/>
                </a:lnTo>
                <a:lnTo>
                  <a:pt x="44110" y="77505"/>
                </a:lnTo>
                <a:lnTo>
                  <a:pt x="20410" y="115922"/>
                </a:lnTo>
                <a:lnTo>
                  <a:pt x="5304" y="159470"/>
                </a:lnTo>
                <a:lnTo>
                  <a:pt x="0" y="206905"/>
                </a:lnTo>
                <a:lnTo>
                  <a:pt x="0" y="289638"/>
                </a:lnTo>
                <a:lnTo>
                  <a:pt x="5304" y="337019"/>
                </a:lnTo>
                <a:lnTo>
                  <a:pt x="20410" y="380528"/>
                </a:lnTo>
                <a:lnTo>
                  <a:pt x="44110" y="418920"/>
                </a:lnTo>
                <a:lnTo>
                  <a:pt x="75194" y="450948"/>
                </a:lnTo>
                <a:lnTo>
                  <a:pt x="112454" y="475368"/>
                </a:lnTo>
                <a:lnTo>
                  <a:pt x="154681" y="490933"/>
                </a:lnTo>
                <a:lnTo>
                  <a:pt x="200666" y="496398"/>
                </a:lnTo>
                <a:lnTo>
                  <a:pt x="762730" y="496398"/>
                </a:lnTo>
                <a:lnTo>
                  <a:pt x="808759" y="490933"/>
                </a:lnTo>
                <a:lnTo>
                  <a:pt x="851003" y="475368"/>
                </a:lnTo>
                <a:lnTo>
                  <a:pt x="888260" y="450948"/>
                </a:lnTo>
                <a:lnTo>
                  <a:pt x="919329" y="418920"/>
                </a:lnTo>
                <a:lnTo>
                  <a:pt x="943009" y="380528"/>
                </a:lnTo>
                <a:lnTo>
                  <a:pt x="958098" y="337019"/>
                </a:lnTo>
                <a:lnTo>
                  <a:pt x="963395" y="289638"/>
                </a:lnTo>
                <a:lnTo>
                  <a:pt x="963395" y="206905"/>
                </a:lnTo>
                <a:lnTo>
                  <a:pt x="958098" y="159470"/>
                </a:lnTo>
                <a:lnTo>
                  <a:pt x="943009" y="115922"/>
                </a:lnTo>
                <a:lnTo>
                  <a:pt x="919329" y="77505"/>
                </a:lnTo>
                <a:lnTo>
                  <a:pt x="888260" y="45461"/>
                </a:lnTo>
                <a:lnTo>
                  <a:pt x="851003" y="21033"/>
                </a:lnTo>
                <a:lnTo>
                  <a:pt x="808759" y="5465"/>
                </a:lnTo>
                <a:lnTo>
                  <a:pt x="76273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435075" y="2780026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398"/>
                </a:moveTo>
                <a:lnTo>
                  <a:pt x="808758" y="490933"/>
                </a:lnTo>
                <a:lnTo>
                  <a:pt x="851002" y="475368"/>
                </a:lnTo>
                <a:lnTo>
                  <a:pt x="888259" y="450948"/>
                </a:lnTo>
                <a:lnTo>
                  <a:pt x="919329" y="418920"/>
                </a:lnTo>
                <a:lnTo>
                  <a:pt x="943009" y="380528"/>
                </a:lnTo>
                <a:lnTo>
                  <a:pt x="958098" y="337019"/>
                </a:lnTo>
                <a:lnTo>
                  <a:pt x="963394" y="289638"/>
                </a:lnTo>
                <a:lnTo>
                  <a:pt x="963394" y="206905"/>
                </a:lnTo>
                <a:lnTo>
                  <a:pt x="958098" y="159470"/>
                </a:lnTo>
                <a:lnTo>
                  <a:pt x="943009" y="115922"/>
                </a:lnTo>
                <a:lnTo>
                  <a:pt x="919329" y="77505"/>
                </a:lnTo>
                <a:lnTo>
                  <a:pt x="888259" y="45461"/>
                </a:lnTo>
                <a:lnTo>
                  <a:pt x="851002" y="21033"/>
                </a:lnTo>
                <a:lnTo>
                  <a:pt x="808758" y="5465"/>
                </a:lnTo>
                <a:lnTo>
                  <a:pt x="762728" y="0"/>
                </a:lnTo>
                <a:lnTo>
                  <a:pt x="200665" y="0"/>
                </a:lnTo>
                <a:lnTo>
                  <a:pt x="154681" y="5465"/>
                </a:lnTo>
                <a:lnTo>
                  <a:pt x="112454" y="21033"/>
                </a:lnTo>
                <a:lnTo>
                  <a:pt x="75194" y="45461"/>
                </a:lnTo>
                <a:lnTo>
                  <a:pt x="44110" y="77505"/>
                </a:lnTo>
                <a:lnTo>
                  <a:pt x="20410" y="115922"/>
                </a:lnTo>
                <a:lnTo>
                  <a:pt x="5304" y="159470"/>
                </a:lnTo>
                <a:lnTo>
                  <a:pt x="0" y="206905"/>
                </a:lnTo>
                <a:lnTo>
                  <a:pt x="0" y="289638"/>
                </a:lnTo>
                <a:lnTo>
                  <a:pt x="5304" y="337019"/>
                </a:lnTo>
                <a:lnTo>
                  <a:pt x="20410" y="380528"/>
                </a:lnTo>
                <a:lnTo>
                  <a:pt x="44110" y="418920"/>
                </a:lnTo>
                <a:lnTo>
                  <a:pt x="75194" y="450948"/>
                </a:lnTo>
                <a:lnTo>
                  <a:pt x="112454" y="475368"/>
                </a:lnTo>
                <a:lnTo>
                  <a:pt x="154681" y="490933"/>
                </a:lnTo>
                <a:lnTo>
                  <a:pt x="200665" y="496398"/>
                </a:lnTo>
                <a:lnTo>
                  <a:pt x="762728" y="496398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625732" y="2787896"/>
            <a:ext cx="582930" cy="4457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350" spc="-5">
                <a:latin typeface="Times New Roman"/>
                <a:cs typeface="Times New Roman"/>
              </a:rPr>
              <a:t>2.2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350" spc="-5">
                <a:latin typeface="Times New Roman"/>
                <a:cs typeface="Times New Roman"/>
              </a:rPr>
              <a:t>Activity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58871" y="3690089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30" h="496570">
                <a:moveTo>
                  <a:pt x="762701" y="0"/>
                </a:moveTo>
                <a:lnTo>
                  <a:pt x="200708" y="0"/>
                </a:lnTo>
                <a:lnTo>
                  <a:pt x="154690" y="5457"/>
                </a:lnTo>
                <a:lnTo>
                  <a:pt x="112445" y="21004"/>
                </a:lnTo>
                <a:lnTo>
                  <a:pt x="75178" y="45403"/>
                </a:lnTo>
                <a:lnTo>
                  <a:pt x="44095" y="77416"/>
                </a:lnTo>
                <a:lnTo>
                  <a:pt x="20401" y="115805"/>
                </a:lnTo>
                <a:lnTo>
                  <a:pt x="5301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1" y="336919"/>
                </a:lnTo>
                <a:lnTo>
                  <a:pt x="20401" y="380446"/>
                </a:lnTo>
                <a:lnTo>
                  <a:pt x="44095" y="418835"/>
                </a:lnTo>
                <a:lnTo>
                  <a:pt x="75178" y="450848"/>
                </a:lnTo>
                <a:lnTo>
                  <a:pt x="112445" y="475247"/>
                </a:lnTo>
                <a:lnTo>
                  <a:pt x="154690" y="490794"/>
                </a:lnTo>
                <a:lnTo>
                  <a:pt x="200708" y="496252"/>
                </a:lnTo>
                <a:lnTo>
                  <a:pt x="762701" y="496252"/>
                </a:lnTo>
                <a:lnTo>
                  <a:pt x="808730" y="490794"/>
                </a:lnTo>
                <a:lnTo>
                  <a:pt x="850974" y="475247"/>
                </a:lnTo>
                <a:lnTo>
                  <a:pt x="888232" y="450848"/>
                </a:lnTo>
                <a:lnTo>
                  <a:pt x="919301" y="418835"/>
                </a:lnTo>
                <a:lnTo>
                  <a:pt x="942981" y="380446"/>
                </a:lnTo>
                <a:lnTo>
                  <a:pt x="958070" y="336919"/>
                </a:lnTo>
                <a:lnTo>
                  <a:pt x="963367" y="289492"/>
                </a:lnTo>
                <a:lnTo>
                  <a:pt x="963367" y="206759"/>
                </a:lnTo>
                <a:lnTo>
                  <a:pt x="958070" y="159332"/>
                </a:lnTo>
                <a:lnTo>
                  <a:pt x="942981" y="115805"/>
                </a:lnTo>
                <a:lnTo>
                  <a:pt x="919301" y="77416"/>
                </a:lnTo>
                <a:lnTo>
                  <a:pt x="888232" y="45403"/>
                </a:lnTo>
                <a:lnTo>
                  <a:pt x="850974" y="21004"/>
                </a:lnTo>
                <a:lnTo>
                  <a:pt x="808730" y="5457"/>
                </a:lnTo>
                <a:lnTo>
                  <a:pt x="762701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58871" y="3690090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30" h="496570">
                <a:moveTo>
                  <a:pt x="762700" y="496252"/>
                </a:moveTo>
                <a:lnTo>
                  <a:pt x="808729" y="490795"/>
                </a:lnTo>
                <a:lnTo>
                  <a:pt x="850974" y="475247"/>
                </a:lnTo>
                <a:lnTo>
                  <a:pt x="888231" y="450848"/>
                </a:lnTo>
                <a:lnTo>
                  <a:pt x="919300" y="418835"/>
                </a:lnTo>
                <a:lnTo>
                  <a:pt x="942980" y="380446"/>
                </a:lnTo>
                <a:lnTo>
                  <a:pt x="958069" y="336919"/>
                </a:lnTo>
                <a:lnTo>
                  <a:pt x="963366" y="289492"/>
                </a:lnTo>
                <a:lnTo>
                  <a:pt x="963366" y="206759"/>
                </a:lnTo>
                <a:lnTo>
                  <a:pt x="958069" y="159332"/>
                </a:lnTo>
                <a:lnTo>
                  <a:pt x="942980" y="115805"/>
                </a:lnTo>
                <a:lnTo>
                  <a:pt x="919300" y="77416"/>
                </a:lnTo>
                <a:lnTo>
                  <a:pt x="888231" y="45403"/>
                </a:lnTo>
                <a:lnTo>
                  <a:pt x="850974" y="21004"/>
                </a:lnTo>
                <a:lnTo>
                  <a:pt x="808729" y="5457"/>
                </a:lnTo>
                <a:lnTo>
                  <a:pt x="762700" y="0"/>
                </a:lnTo>
                <a:lnTo>
                  <a:pt x="200708" y="0"/>
                </a:lnTo>
                <a:lnTo>
                  <a:pt x="154690" y="5457"/>
                </a:lnTo>
                <a:lnTo>
                  <a:pt x="112445" y="21004"/>
                </a:lnTo>
                <a:lnTo>
                  <a:pt x="75178" y="45403"/>
                </a:lnTo>
                <a:lnTo>
                  <a:pt x="44095" y="77416"/>
                </a:lnTo>
                <a:lnTo>
                  <a:pt x="20401" y="115805"/>
                </a:lnTo>
                <a:lnTo>
                  <a:pt x="5301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1" y="336919"/>
                </a:lnTo>
                <a:lnTo>
                  <a:pt x="20401" y="380446"/>
                </a:lnTo>
                <a:lnTo>
                  <a:pt x="44095" y="418835"/>
                </a:lnTo>
                <a:lnTo>
                  <a:pt x="75178" y="450848"/>
                </a:lnTo>
                <a:lnTo>
                  <a:pt x="112445" y="475247"/>
                </a:lnTo>
                <a:lnTo>
                  <a:pt x="154690" y="490795"/>
                </a:lnTo>
                <a:lnTo>
                  <a:pt x="200708" y="496252"/>
                </a:lnTo>
                <a:lnTo>
                  <a:pt x="762700" y="496252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971654" y="3803018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1.1.1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58871" y="4434541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30" h="496570">
                <a:moveTo>
                  <a:pt x="762701" y="0"/>
                </a:moveTo>
                <a:lnTo>
                  <a:pt x="200708" y="0"/>
                </a:lnTo>
                <a:lnTo>
                  <a:pt x="154690" y="5465"/>
                </a:lnTo>
                <a:lnTo>
                  <a:pt x="112445" y="21030"/>
                </a:lnTo>
                <a:lnTo>
                  <a:pt x="75178" y="45449"/>
                </a:lnTo>
                <a:lnTo>
                  <a:pt x="44095" y="77478"/>
                </a:lnTo>
                <a:lnTo>
                  <a:pt x="20401" y="115869"/>
                </a:lnTo>
                <a:lnTo>
                  <a:pt x="5301" y="159378"/>
                </a:lnTo>
                <a:lnTo>
                  <a:pt x="0" y="206759"/>
                </a:lnTo>
                <a:lnTo>
                  <a:pt x="0" y="289492"/>
                </a:lnTo>
                <a:lnTo>
                  <a:pt x="5301" y="336929"/>
                </a:lnTo>
                <a:lnTo>
                  <a:pt x="20401" y="380470"/>
                </a:lnTo>
                <a:lnTo>
                  <a:pt x="44095" y="418876"/>
                </a:lnTo>
                <a:lnTo>
                  <a:pt x="75178" y="450906"/>
                </a:lnTo>
                <a:lnTo>
                  <a:pt x="112445" y="475320"/>
                </a:lnTo>
                <a:lnTo>
                  <a:pt x="154690" y="490878"/>
                </a:lnTo>
                <a:lnTo>
                  <a:pt x="200708" y="496340"/>
                </a:lnTo>
                <a:lnTo>
                  <a:pt x="762701" y="496340"/>
                </a:lnTo>
                <a:lnTo>
                  <a:pt x="808730" y="490878"/>
                </a:lnTo>
                <a:lnTo>
                  <a:pt x="850974" y="475320"/>
                </a:lnTo>
                <a:lnTo>
                  <a:pt x="888232" y="450906"/>
                </a:lnTo>
                <a:lnTo>
                  <a:pt x="919301" y="418876"/>
                </a:lnTo>
                <a:lnTo>
                  <a:pt x="942981" y="380470"/>
                </a:lnTo>
                <a:lnTo>
                  <a:pt x="958070" y="336929"/>
                </a:lnTo>
                <a:lnTo>
                  <a:pt x="963367" y="289492"/>
                </a:lnTo>
                <a:lnTo>
                  <a:pt x="963367" y="206759"/>
                </a:lnTo>
                <a:lnTo>
                  <a:pt x="958070" y="159378"/>
                </a:lnTo>
                <a:lnTo>
                  <a:pt x="942981" y="115869"/>
                </a:lnTo>
                <a:lnTo>
                  <a:pt x="919301" y="77478"/>
                </a:lnTo>
                <a:lnTo>
                  <a:pt x="888232" y="45449"/>
                </a:lnTo>
                <a:lnTo>
                  <a:pt x="850974" y="21030"/>
                </a:lnTo>
                <a:lnTo>
                  <a:pt x="808730" y="5465"/>
                </a:lnTo>
                <a:lnTo>
                  <a:pt x="762701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58871" y="4434542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30" h="496570">
                <a:moveTo>
                  <a:pt x="762700" y="496340"/>
                </a:moveTo>
                <a:lnTo>
                  <a:pt x="808729" y="490878"/>
                </a:lnTo>
                <a:lnTo>
                  <a:pt x="850974" y="475320"/>
                </a:lnTo>
                <a:lnTo>
                  <a:pt x="888231" y="450906"/>
                </a:lnTo>
                <a:lnTo>
                  <a:pt x="919300" y="418876"/>
                </a:lnTo>
                <a:lnTo>
                  <a:pt x="942980" y="380470"/>
                </a:lnTo>
                <a:lnTo>
                  <a:pt x="958069" y="336929"/>
                </a:lnTo>
                <a:lnTo>
                  <a:pt x="963366" y="289492"/>
                </a:lnTo>
                <a:lnTo>
                  <a:pt x="963366" y="206759"/>
                </a:lnTo>
                <a:lnTo>
                  <a:pt x="958069" y="159378"/>
                </a:lnTo>
                <a:lnTo>
                  <a:pt x="942980" y="115869"/>
                </a:lnTo>
                <a:lnTo>
                  <a:pt x="919300" y="77478"/>
                </a:lnTo>
                <a:lnTo>
                  <a:pt x="888231" y="45449"/>
                </a:lnTo>
                <a:lnTo>
                  <a:pt x="850974" y="21030"/>
                </a:lnTo>
                <a:lnTo>
                  <a:pt x="808729" y="5465"/>
                </a:lnTo>
                <a:lnTo>
                  <a:pt x="762700" y="0"/>
                </a:lnTo>
                <a:lnTo>
                  <a:pt x="200708" y="0"/>
                </a:lnTo>
                <a:lnTo>
                  <a:pt x="154690" y="5465"/>
                </a:lnTo>
                <a:lnTo>
                  <a:pt x="112445" y="21030"/>
                </a:lnTo>
                <a:lnTo>
                  <a:pt x="75178" y="45449"/>
                </a:lnTo>
                <a:lnTo>
                  <a:pt x="44095" y="77478"/>
                </a:lnTo>
                <a:lnTo>
                  <a:pt x="20401" y="115869"/>
                </a:lnTo>
                <a:lnTo>
                  <a:pt x="5301" y="159378"/>
                </a:lnTo>
                <a:lnTo>
                  <a:pt x="0" y="206759"/>
                </a:lnTo>
                <a:lnTo>
                  <a:pt x="0" y="289492"/>
                </a:lnTo>
                <a:lnTo>
                  <a:pt x="5301" y="336929"/>
                </a:lnTo>
                <a:lnTo>
                  <a:pt x="20401" y="380470"/>
                </a:lnTo>
                <a:lnTo>
                  <a:pt x="44095" y="418876"/>
                </a:lnTo>
                <a:lnTo>
                  <a:pt x="75178" y="450906"/>
                </a:lnTo>
                <a:lnTo>
                  <a:pt x="112445" y="475320"/>
                </a:lnTo>
                <a:lnTo>
                  <a:pt x="154690" y="490878"/>
                </a:lnTo>
                <a:lnTo>
                  <a:pt x="200708" y="496340"/>
                </a:lnTo>
                <a:lnTo>
                  <a:pt x="762700" y="496340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971654" y="4547470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1.1.2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858871" y="5137699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30" h="496570">
                <a:moveTo>
                  <a:pt x="762701" y="0"/>
                </a:moveTo>
                <a:lnTo>
                  <a:pt x="200708" y="0"/>
                </a:lnTo>
                <a:lnTo>
                  <a:pt x="154690" y="5461"/>
                </a:lnTo>
                <a:lnTo>
                  <a:pt x="112445" y="21018"/>
                </a:lnTo>
                <a:lnTo>
                  <a:pt x="75178" y="45430"/>
                </a:lnTo>
                <a:lnTo>
                  <a:pt x="44095" y="77455"/>
                </a:lnTo>
                <a:lnTo>
                  <a:pt x="20401" y="115853"/>
                </a:lnTo>
                <a:lnTo>
                  <a:pt x="5301" y="159382"/>
                </a:lnTo>
                <a:lnTo>
                  <a:pt x="0" y="206802"/>
                </a:lnTo>
                <a:lnTo>
                  <a:pt x="0" y="289521"/>
                </a:lnTo>
                <a:lnTo>
                  <a:pt x="5301" y="336942"/>
                </a:lnTo>
                <a:lnTo>
                  <a:pt x="20401" y="380471"/>
                </a:lnTo>
                <a:lnTo>
                  <a:pt x="44095" y="418869"/>
                </a:lnTo>
                <a:lnTo>
                  <a:pt x="75178" y="450895"/>
                </a:lnTo>
                <a:lnTo>
                  <a:pt x="112445" y="475307"/>
                </a:lnTo>
                <a:lnTo>
                  <a:pt x="154690" y="490864"/>
                </a:lnTo>
                <a:lnTo>
                  <a:pt x="200708" y="496325"/>
                </a:lnTo>
                <a:lnTo>
                  <a:pt x="762701" y="496325"/>
                </a:lnTo>
                <a:lnTo>
                  <a:pt x="808730" y="490864"/>
                </a:lnTo>
                <a:lnTo>
                  <a:pt x="850974" y="475307"/>
                </a:lnTo>
                <a:lnTo>
                  <a:pt x="888232" y="450895"/>
                </a:lnTo>
                <a:lnTo>
                  <a:pt x="919301" y="418869"/>
                </a:lnTo>
                <a:lnTo>
                  <a:pt x="942981" y="380471"/>
                </a:lnTo>
                <a:lnTo>
                  <a:pt x="958070" y="336942"/>
                </a:lnTo>
                <a:lnTo>
                  <a:pt x="963367" y="289521"/>
                </a:lnTo>
                <a:lnTo>
                  <a:pt x="963367" y="206802"/>
                </a:lnTo>
                <a:lnTo>
                  <a:pt x="958070" y="159382"/>
                </a:lnTo>
                <a:lnTo>
                  <a:pt x="942981" y="115853"/>
                </a:lnTo>
                <a:lnTo>
                  <a:pt x="919301" y="77455"/>
                </a:lnTo>
                <a:lnTo>
                  <a:pt x="888232" y="45430"/>
                </a:lnTo>
                <a:lnTo>
                  <a:pt x="850974" y="21018"/>
                </a:lnTo>
                <a:lnTo>
                  <a:pt x="808730" y="5461"/>
                </a:lnTo>
                <a:lnTo>
                  <a:pt x="762701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858871" y="5137700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30" h="496570">
                <a:moveTo>
                  <a:pt x="762700" y="496325"/>
                </a:moveTo>
                <a:lnTo>
                  <a:pt x="808729" y="490864"/>
                </a:lnTo>
                <a:lnTo>
                  <a:pt x="850974" y="475306"/>
                </a:lnTo>
                <a:lnTo>
                  <a:pt x="888231" y="450895"/>
                </a:lnTo>
                <a:lnTo>
                  <a:pt x="919300" y="418869"/>
                </a:lnTo>
                <a:lnTo>
                  <a:pt x="942980" y="380471"/>
                </a:lnTo>
                <a:lnTo>
                  <a:pt x="958069" y="336942"/>
                </a:lnTo>
                <a:lnTo>
                  <a:pt x="963366" y="289522"/>
                </a:lnTo>
                <a:lnTo>
                  <a:pt x="963366" y="206803"/>
                </a:lnTo>
                <a:lnTo>
                  <a:pt x="958069" y="159383"/>
                </a:lnTo>
                <a:lnTo>
                  <a:pt x="942980" y="115853"/>
                </a:lnTo>
                <a:lnTo>
                  <a:pt x="919300" y="77455"/>
                </a:lnTo>
                <a:lnTo>
                  <a:pt x="888231" y="45430"/>
                </a:lnTo>
                <a:lnTo>
                  <a:pt x="850974" y="21018"/>
                </a:lnTo>
                <a:lnTo>
                  <a:pt x="808729" y="5461"/>
                </a:lnTo>
                <a:lnTo>
                  <a:pt x="762700" y="0"/>
                </a:lnTo>
                <a:lnTo>
                  <a:pt x="200708" y="0"/>
                </a:lnTo>
                <a:lnTo>
                  <a:pt x="154690" y="5461"/>
                </a:lnTo>
                <a:lnTo>
                  <a:pt x="112445" y="21018"/>
                </a:lnTo>
                <a:lnTo>
                  <a:pt x="75178" y="45430"/>
                </a:lnTo>
                <a:lnTo>
                  <a:pt x="44095" y="77455"/>
                </a:lnTo>
                <a:lnTo>
                  <a:pt x="20401" y="115853"/>
                </a:lnTo>
                <a:lnTo>
                  <a:pt x="5301" y="159383"/>
                </a:lnTo>
                <a:lnTo>
                  <a:pt x="0" y="206803"/>
                </a:lnTo>
                <a:lnTo>
                  <a:pt x="0" y="289522"/>
                </a:lnTo>
                <a:lnTo>
                  <a:pt x="5301" y="336942"/>
                </a:lnTo>
                <a:lnTo>
                  <a:pt x="20401" y="380471"/>
                </a:lnTo>
                <a:lnTo>
                  <a:pt x="44095" y="418869"/>
                </a:lnTo>
                <a:lnTo>
                  <a:pt x="75178" y="450895"/>
                </a:lnTo>
                <a:lnTo>
                  <a:pt x="112445" y="475306"/>
                </a:lnTo>
                <a:lnTo>
                  <a:pt x="154690" y="490864"/>
                </a:lnTo>
                <a:lnTo>
                  <a:pt x="200708" y="496325"/>
                </a:lnTo>
                <a:lnTo>
                  <a:pt x="762700" y="496325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971654" y="5250599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1.1.3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584967" y="3690089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666" y="0"/>
                </a:lnTo>
                <a:lnTo>
                  <a:pt x="154681" y="5457"/>
                </a:lnTo>
                <a:lnTo>
                  <a:pt x="112454" y="21004"/>
                </a:lnTo>
                <a:lnTo>
                  <a:pt x="75194" y="45403"/>
                </a:lnTo>
                <a:lnTo>
                  <a:pt x="44110" y="77416"/>
                </a:lnTo>
                <a:lnTo>
                  <a:pt x="20410" y="115805"/>
                </a:lnTo>
                <a:lnTo>
                  <a:pt x="5304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19"/>
                </a:lnTo>
                <a:lnTo>
                  <a:pt x="20410" y="380446"/>
                </a:lnTo>
                <a:lnTo>
                  <a:pt x="44110" y="418835"/>
                </a:lnTo>
                <a:lnTo>
                  <a:pt x="75194" y="450848"/>
                </a:lnTo>
                <a:lnTo>
                  <a:pt x="112454" y="475247"/>
                </a:lnTo>
                <a:lnTo>
                  <a:pt x="154681" y="490794"/>
                </a:lnTo>
                <a:lnTo>
                  <a:pt x="200666" y="496252"/>
                </a:lnTo>
                <a:lnTo>
                  <a:pt x="762728" y="496252"/>
                </a:lnTo>
                <a:lnTo>
                  <a:pt x="808758" y="490794"/>
                </a:lnTo>
                <a:lnTo>
                  <a:pt x="851002" y="475247"/>
                </a:lnTo>
                <a:lnTo>
                  <a:pt x="888260" y="450848"/>
                </a:lnTo>
                <a:lnTo>
                  <a:pt x="919329" y="418835"/>
                </a:lnTo>
                <a:lnTo>
                  <a:pt x="943009" y="380446"/>
                </a:lnTo>
                <a:lnTo>
                  <a:pt x="958098" y="336919"/>
                </a:lnTo>
                <a:lnTo>
                  <a:pt x="963395" y="289492"/>
                </a:lnTo>
                <a:lnTo>
                  <a:pt x="963395" y="206759"/>
                </a:lnTo>
                <a:lnTo>
                  <a:pt x="958098" y="159332"/>
                </a:lnTo>
                <a:lnTo>
                  <a:pt x="943009" y="115805"/>
                </a:lnTo>
                <a:lnTo>
                  <a:pt x="919329" y="77416"/>
                </a:lnTo>
                <a:lnTo>
                  <a:pt x="888260" y="45403"/>
                </a:lnTo>
                <a:lnTo>
                  <a:pt x="851002" y="21004"/>
                </a:lnTo>
                <a:lnTo>
                  <a:pt x="808758" y="5457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584966" y="3690090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252"/>
                </a:moveTo>
                <a:lnTo>
                  <a:pt x="808758" y="490795"/>
                </a:lnTo>
                <a:lnTo>
                  <a:pt x="851002" y="475247"/>
                </a:lnTo>
                <a:lnTo>
                  <a:pt x="888259" y="450848"/>
                </a:lnTo>
                <a:lnTo>
                  <a:pt x="919329" y="418835"/>
                </a:lnTo>
                <a:lnTo>
                  <a:pt x="943009" y="380446"/>
                </a:lnTo>
                <a:lnTo>
                  <a:pt x="958098" y="336919"/>
                </a:lnTo>
                <a:lnTo>
                  <a:pt x="963394" y="289492"/>
                </a:lnTo>
                <a:lnTo>
                  <a:pt x="963394" y="206759"/>
                </a:lnTo>
                <a:lnTo>
                  <a:pt x="958098" y="159332"/>
                </a:lnTo>
                <a:lnTo>
                  <a:pt x="943009" y="115805"/>
                </a:lnTo>
                <a:lnTo>
                  <a:pt x="919329" y="77416"/>
                </a:lnTo>
                <a:lnTo>
                  <a:pt x="888259" y="45403"/>
                </a:lnTo>
                <a:lnTo>
                  <a:pt x="851002" y="21004"/>
                </a:lnTo>
                <a:lnTo>
                  <a:pt x="808758" y="5457"/>
                </a:lnTo>
                <a:lnTo>
                  <a:pt x="762728" y="0"/>
                </a:lnTo>
                <a:lnTo>
                  <a:pt x="200665" y="0"/>
                </a:lnTo>
                <a:lnTo>
                  <a:pt x="154681" y="5457"/>
                </a:lnTo>
                <a:lnTo>
                  <a:pt x="112454" y="21004"/>
                </a:lnTo>
                <a:lnTo>
                  <a:pt x="75194" y="45403"/>
                </a:lnTo>
                <a:lnTo>
                  <a:pt x="44110" y="77416"/>
                </a:lnTo>
                <a:lnTo>
                  <a:pt x="20410" y="115805"/>
                </a:lnTo>
                <a:lnTo>
                  <a:pt x="5304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19"/>
                </a:lnTo>
                <a:lnTo>
                  <a:pt x="20410" y="380446"/>
                </a:lnTo>
                <a:lnTo>
                  <a:pt x="44110" y="418835"/>
                </a:lnTo>
                <a:lnTo>
                  <a:pt x="75194" y="450848"/>
                </a:lnTo>
                <a:lnTo>
                  <a:pt x="112454" y="475247"/>
                </a:lnTo>
                <a:lnTo>
                  <a:pt x="154681" y="490795"/>
                </a:lnTo>
                <a:lnTo>
                  <a:pt x="200665" y="496252"/>
                </a:lnTo>
                <a:lnTo>
                  <a:pt x="762728" y="496252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697736" y="3803018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1.2.1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84967" y="4434541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666" y="0"/>
                </a:lnTo>
                <a:lnTo>
                  <a:pt x="154681" y="5465"/>
                </a:lnTo>
                <a:lnTo>
                  <a:pt x="112454" y="21030"/>
                </a:lnTo>
                <a:lnTo>
                  <a:pt x="75194" y="45449"/>
                </a:lnTo>
                <a:lnTo>
                  <a:pt x="44110" y="77478"/>
                </a:lnTo>
                <a:lnTo>
                  <a:pt x="20410" y="115869"/>
                </a:lnTo>
                <a:lnTo>
                  <a:pt x="5304" y="159378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29"/>
                </a:lnTo>
                <a:lnTo>
                  <a:pt x="20410" y="380470"/>
                </a:lnTo>
                <a:lnTo>
                  <a:pt x="44110" y="418876"/>
                </a:lnTo>
                <a:lnTo>
                  <a:pt x="75194" y="450906"/>
                </a:lnTo>
                <a:lnTo>
                  <a:pt x="112454" y="475320"/>
                </a:lnTo>
                <a:lnTo>
                  <a:pt x="154681" y="490878"/>
                </a:lnTo>
                <a:lnTo>
                  <a:pt x="200666" y="496340"/>
                </a:lnTo>
                <a:lnTo>
                  <a:pt x="762728" y="496340"/>
                </a:lnTo>
                <a:lnTo>
                  <a:pt x="808758" y="490878"/>
                </a:lnTo>
                <a:lnTo>
                  <a:pt x="851002" y="475320"/>
                </a:lnTo>
                <a:lnTo>
                  <a:pt x="888260" y="450906"/>
                </a:lnTo>
                <a:lnTo>
                  <a:pt x="919329" y="418876"/>
                </a:lnTo>
                <a:lnTo>
                  <a:pt x="943009" y="380470"/>
                </a:lnTo>
                <a:lnTo>
                  <a:pt x="958098" y="336929"/>
                </a:lnTo>
                <a:lnTo>
                  <a:pt x="963395" y="289492"/>
                </a:lnTo>
                <a:lnTo>
                  <a:pt x="963395" y="206759"/>
                </a:lnTo>
                <a:lnTo>
                  <a:pt x="958098" y="159378"/>
                </a:lnTo>
                <a:lnTo>
                  <a:pt x="943009" y="115869"/>
                </a:lnTo>
                <a:lnTo>
                  <a:pt x="919329" y="77478"/>
                </a:lnTo>
                <a:lnTo>
                  <a:pt x="888260" y="45449"/>
                </a:lnTo>
                <a:lnTo>
                  <a:pt x="851002" y="21030"/>
                </a:lnTo>
                <a:lnTo>
                  <a:pt x="808758" y="5465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584966" y="4434542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340"/>
                </a:moveTo>
                <a:lnTo>
                  <a:pt x="808758" y="490878"/>
                </a:lnTo>
                <a:lnTo>
                  <a:pt x="851002" y="475320"/>
                </a:lnTo>
                <a:lnTo>
                  <a:pt x="888259" y="450906"/>
                </a:lnTo>
                <a:lnTo>
                  <a:pt x="919329" y="418876"/>
                </a:lnTo>
                <a:lnTo>
                  <a:pt x="943009" y="380470"/>
                </a:lnTo>
                <a:lnTo>
                  <a:pt x="958098" y="336929"/>
                </a:lnTo>
                <a:lnTo>
                  <a:pt x="963394" y="289492"/>
                </a:lnTo>
                <a:lnTo>
                  <a:pt x="963394" y="206759"/>
                </a:lnTo>
                <a:lnTo>
                  <a:pt x="958098" y="159378"/>
                </a:lnTo>
                <a:lnTo>
                  <a:pt x="943009" y="115869"/>
                </a:lnTo>
                <a:lnTo>
                  <a:pt x="919329" y="77478"/>
                </a:lnTo>
                <a:lnTo>
                  <a:pt x="888259" y="45449"/>
                </a:lnTo>
                <a:lnTo>
                  <a:pt x="851002" y="21030"/>
                </a:lnTo>
                <a:lnTo>
                  <a:pt x="808758" y="5465"/>
                </a:lnTo>
                <a:lnTo>
                  <a:pt x="762728" y="0"/>
                </a:lnTo>
                <a:lnTo>
                  <a:pt x="200665" y="0"/>
                </a:lnTo>
                <a:lnTo>
                  <a:pt x="154681" y="5465"/>
                </a:lnTo>
                <a:lnTo>
                  <a:pt x="112454" y="21030"/>
                </a:lnTo>
                <a:lnTo>
                  <a:pt x="75194" y="45449"/>
                </a:lnTo>
                <a:lnTo>
                  <a:pt x="44110" y="77478"/>
                </a:lnTo>
                <a:lnTo>
                  <a:pt x="20410" y="115869"/>
                </a:lnTo>
                <a:lnTo>
                  <a:pt x="5304" y="159378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29"/>
                </a:lnTo>
                <a:lnTo>
                  <a:pt x="20410" y="380470"/>
                </a:lnTo>
                <a:lnTo>
                  <a:pt x="44110" y="418876"/>
                </a:lnTo>
                <a:lnTo>
                  <a:pt x="75194" y="450906"/>
                </a:lnTo>
                <a:lnTo>
                  <a:pt x="112454" y="475320"/>
                </a:lnTo>
                <a:lnTo>
                  <a:pt x="154681" y="490878"/>
                </a:lnTo>
                <a:lnTo>
                  <a:pt x="200665" y="496340"/>
                </a:lnTo>
                <a:lnTo>
                  <a:pt x="762728" y="496340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697736" y="4547470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1.2.2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311091" y="3690089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666" y="0"/>
                </a:lnTo>
                <a:lnTo>
                  <a:pt x="154681" y="5457"/>
                </a:lnTo>
                <a:lnTo>
                  <a:pt x="112454" y="21004"/>
                </a:lnTo>
                <a:lnTo>
                  <a:pt x="75194" y="45403"/>
                </a:lnTo>
                <a:lnTo>
                  <a:pt x="44110" y="77416"/>
                </a:lnTo>
                <a:lnTo>
                  <a:pt x="20410" y="115805"/>
                </a:lnTo>
                <a:lnTo>
                  <a:pt x="5304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19"/>
                </a:lnTo>
                <a:lnTo>
                  <a:pt x="20410" y="380446"/>
                </a:lnTo>
                <a:lnTo>
                  <a:pt x="44110" y="418835"/>
                </a:lnTo>
                <a:lnTo>
                  <a:pt x="75194" y="450848"/>
                </a:lnTo>
                <a:lnTo>
                  <a:pt x="112454" y="475247"/>
                </a:lnTo>
                <a:lnTo>
                  <a:pt x="154681" y="490794"/>
                </a:lnTo>
                <a:lnTo>
                  <a:pt x="200666" y="496252"/>
                </a:lnTo>
                <a:lnTo>
                  <a:pt x="762728" y="496252"/>
                </a:lnTo>
                <a:lnTo>
                  <a:pt x="808758" y="490794"/>
                </a:lnTo>
                <a:lnTo>
                  <a:pt x="851002" y="475247"/>
                </a:lnTo>
                <a:lnTo>
                  <a:pt x="888260" y="450848"/>
                </a:lnTo>
                <a:lnTo>
                  <a:pt x="919329" y="418835"/>
                </a:lnTo>
                <a:lnTo>
                  <a:pt x="943009" y="380446"/>
                </a:lnTo>
                <a:lnTo>
                  <a:pt x="958098" y="336919"/>
                </a:lnTo>
                <a:lnTo>
                  <a:pt x="963395" y="289492"/>
                </a:lnTo>
                <a:lnTo>
                  <a:pt x="963395" y="206759"/>
                </a:lnTo>
                <a:lnTo>
                  <a:pt x="958098" y="159332"/>
                </a:lnTo>
                <a:lnTo>
                  <a:pt x="943009" y="115805"/>
                </a:lnTo>
                <a:lnTo>
                  <a:pt x="919329" y="77416"/>
                </a:lnTo>
                <a:lnTo>
                  <a:pt x="888260" y="45403"/>
                </a:lnTo>
                <a:lnTo>
                  <a:pt x="851002" y="21004"/>
                </a:lnTo>
                <a:lnTo>
                  <a:pt x="808758" y="5457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311090" y="3690090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252"/>
                </a:moveTo>
                <a:lnTo>
                  <a:pt x="808758" y="490795"/>
                </a:lnTo>
                <a:lnTo>
                  <a:pt x="851002" y="475247"/>
                </a:lnTo>
                <a:lnTo>
                  <a:pt x="888259" y="450848"/>
                </a:lnTo>
                <a:lnTo>
                  <a:pt x="919329" y="418835"/>
                </a:lnTo>
                <a:lnTo>
                  <a:pt x="943009" y="380446"/>
                </a:lnTo>
                <a:lnTo>
                  <a:pt x="958098" y="336919"/>
                </a:lnTo>
                <a:lnTo>
                  <a:pt x="963394" y="289492"/>
                </a:lnTo>
                <a:lnTo>
                  <a:pt x="963394" y="206759"/>
                </a:lnTo>
                <a:lnTo>
                  <a:pt x="958098" y="159332"/>
                </a:lnTo>
                <a:lnTo>
                  <a:pt x="943009" y="115805"/>
                </a:lnTo>
                <a:lnTo>
                  <a:pt x="919329" y="77416"/>
                </a:lnTo>
                <a:lnTo>
                  <a:pt x="888259" y="45403"/>
                </a:lnTo>
                <a:lnTo>
                  <a:pt x="851002" y="21004"/>
                </a:lnTo>
                <a:lnTo>
                  <a:pt x="808758" y="5457"/>
                </a:lnTo>
                <a:lnTo>
                  <a:pt x="762728" y="0"/>
                </a:lnTo>
                <a:lnTo>
                  <a:pt x="200665" y="0"/>
                </a:lnTo>
                <a:lnTo>
                  <a:pt x="154681" y="5457"/>
                </a:lnTo>
                <a:lnTo>
                  <a:pt x="112454" y="21004"/>
                </a:lnTo>
                <a:lnTo>
                  <a:pt x="75194" y="45403"/>
                </a:lnTo>
                <a:lnTo>
                  <a:pt x="44110" y="77416"/>
                </a:lnTo>
                <a:lnTo>
                  <a:pt x="20410" y="115805"/>
                </a:lnTo>
                <a:lnTo>
                  <a:pt x="5304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19"/>
                </a:lnTo>
                <a:lnTo>
                  <a:pt x="20410" y="380446"/>
                </a:lnTo>
                <a:lnTo>
                  <a:pt x="44110" y="418835"/>
                </a:lnTo>
                <a:lnTo>
                  <a:pt x="75194" y="450848"/>
                </a:lnTo>
                <a:lnTo>
                  <a:pt x="112454" y="475247"/>
                </a:lnTo>
                <a:lnTo>
                  <a:pt x="154681" y="490795"/>
                </a:lnTo>
                <a:lnTo>
                  <a:pt x="200665" y="496252"/>
                </a:lnTo>
                <a:lnTo>
                  <a:pt x="762728" y="496252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423860" y="3803018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2.1.1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311091" y="4434541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666" y="0"/>
                </a:lnTo>
                <a:lnTo>
                  <a:pt x="154681" y="5465"/>
                </a:lnTo>
                <a:lnTo>
                  <a:pt x="112454" y="21030"/>
                </a:lnTo>
                <a:lnTo>
                  <a:pt x="75194" y="45449"/>
                </a:lnTo>
                <a:lnTo>
                  <a:pt x="44110" y="77478"/>
                </a:lnTo>
                <a:lnTo>
                  <a:pt x="20410" y="115869"/>
                </a:lnTo>
                <a:lnTo>
                  <a:pt x="5304" y="159378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29"/>
                </a:lnTo>
                <a:lnTo>
                  <a:pt x="20410" y="380470"/>
                </a:lnTo>
                <a:lnTo>
                  <a:pt x="44110" y="418876"/>
                </a:lnTo>
                <a:lnTo>
                  <a:pt x="75194" y="450906"/>
                </a:lnTo>
                <a:lnTo>
                  <a:pt x="112454" y="475320"/>
                </a:lnTo>
                <a:lnTo>
                  <a:pt x="154681" y="490878"/>
                </a:lnTo>
                <a:lnTo>
                  <a:pt x="200666" y="496340"/>
                </a:lnTo>
                <a:lnTo>
                  <a:pt x="762728" y="496340"/>
                </a:lnTo>
                <a:lnTo>
                  <a:pt x="808758" y="490878"/>
                </a:lnTo>
                <a:lnTo>
                  <a:pt x="851002" y="475320"/>
                </a:lnTo>
                <a:lnTo>
                  <a:pt x="888260" y="450906"/>
                </a:lnTo>
                <a:lnTo>
                  <a:pt x="919329" y="418876"/>
                </a:lnTo>
                <a:lnTo>
                  <a:pt x="943009" y="380470"/>
                </a:lnTo>
                <a:lnTo>
                  <a:pt x="958098" y="336929"/>
                </a:lnTo>
                <a:lnTo>
                  <a:pt x="963395" y="289492"/>
                </a:lnTo>
                <a:lnTo>
                  <a:pt x="963395" y="206759"/>
                </a:lnTo>
                <a:lnTo>
                  <a:pt x="958098" y="159378"/>
                </a:lnTo>
                <a:lnTo>
                  <a:pt x="943009" y="115869"/>
                </a:lnTo>
                <a:lnTo>
                  <a:pt x="919329" y="77478"/>
                </a:lnTo>
                <a:lnTo>
                  <a:pt x="888260" y="45449"/>
                </a:lnTo>
                <a:lnTo>
                  <a:pt x="851002" y="21030"/>
                </a:lnTo>
                <a:lnTo>
                  <a:pt x="808758" y="5465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311090" y="4434542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340"/>
                </a:moveTo>
                <a:lnTo>
                  <a:pt x="808758" y="490878"/>
                </a:lnTo>
                <a:lnTo>
                  <a:pt x="851002" y="475320"/>
                </a:lnTo>
                <a:lnTo>
                  <a:pt x="888259" y="450906"/>
                </a:lnTo>
                <a:lnTo>
                  <a:pt x="919329" y="418876"/>
                </a:lnTo>
                <a:lnTo>
                  <a:pt x="943009" y="380470"/>
                </a:lnTo>
                <a:lnTo>
                  <a:pt x="958098" y="336929"/>
                </a:lnTo>
                <a:lnTo>
                  <a:pt x="963394" y="289492"/>
                </a:lnTo>
                <a:lnTo>
                  <a:pt x="963394" y="206759"/>
                </a:lnTo>
                <a:lnTo>
                  <a:pt x="958098" y="159378"/>
                </a:lnTo>
                <a:lnTo>
                  <a:pt x="943009" y="115869"/>
                </a:lnTo>
                <a:lnTo>
                  <a:pt x="919329" y="77478"/>
                </a:lnTo>
                <a:lnTo>
                  <a:pt x="888259" y="45449"/>
                </a:lnTo>
                <a:lnTo>
                  <a:pt x="851002" y="21030"/>
                </a:lnTo>
                <a:lnTo>
                  <a:pt x="808758" y="5465"/>
                </a:lnTo>
                <a:lnTo>
                  <a:pt x="762728" y="0"/>
                </a:lnTo>
                <a:lnTo>
                  <a:pt x="200665" y="0"/>
                </a:lnTo>
                <a:lnTo>
                  <a:pt x="154681" y="5465"/>
                </a:lnTo>
                <a:lnTo>
                  <a:pt x="112454" y="21030"/>
                </a:lnTo>
                <a:lnTo>
                  <a:pt x="75194" y="45449"/>
                </a:lnTo>
                <a:lnTo>
                  <a:pt x="44110" y="77478"/>
                </a:lnTo>
                <a:lnTo>
                  <a:pt x="20410" y="115869"/>
                </a:lnTo>
                <a:lnTo>
                  <a:pt x="5304" y="159378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29"/>
                </a:lnTo>
                <a:lnTo>
                  <a:pt x="20410" y="380470"/>
                </a:lnTo>
                <a:lnTo>
                  <a:pt x="44110" y="418876"/>
                </a:lnTo>
                <a:lnTo>
                  <a:pt x="75194" y="450906"/>
                </a:lnTo>
                <a:lnTo>
                  <a:pt x="112454" y="475320"/>
                </a:lnTo>
                <a:lnTo>
                  <a:pt x="154681" y="490878"/>
                </a:lnTo>
                <a:lnTo>
                  <a:pt x="200665" y="496340"/>
                </a:lnTo>
                <a:lnTo>
                  <a:pt x="762728" y="496340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423860" y="4547470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2.1.2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311091" y="5096333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666" y="0"/>
                </a:lnTo>
                <a:lnTo>
                  <a:pt x="154681" y="5462"/>
                </a:lnTo>
                <a:lnTo>
                  <a:pt x="112454" y="21021"/>
                </a:lnTo>
                <a:lnTo>
                  <a:pt x="75194" y="45434"/>
                </a:lnTo>
                <a:lnTo>
                  <a:pt x="44110" y="77461"/>
                </a:lnTo>
                <a:lnTo>
                  <a:pt x="20410" y="115859"/>
                </a:lnTo>
                <a:lnTo>
                  <a:pt x="5304" y="159387"/>
                </a:lnTo>
                <a:lnTo>
                  <a:pt x="0" y="206802"/>
                </a:lnTo>
                <a:lnTo>
                  <a:pt x="0" y="289521"/>
                </a:lnTo>
                <a:lnTo>
                  <a:pt x="5304" y="336943"/>
                </a:lnTo>
                <a:lnTo>
                  <a:pt x="20410" y="380474"/>
                </a:lnTo>
                <a:lnTo>
                  <a:pt x="44110" y="418875"/>
                </a:lnTo>
                <a:lnTo>
                  <a:pt x="75194" y="450904"/>
                </a:lnTo>
                <a:lnTo>
                  <a:pt x="112454" y="475318"/>
                </a:lnTo>
                <a:lnTo>
                  <a:pt x="154681" y="490877"/>
                </a:lnTo>
                <a:lnTo>
                  <a:pt x="200666" y="496340"/>
                </a:lnTo>
                <a:lnTo>
                  <a:pt x="762728" y="496340"/>
                </a:lnTo>
                <a:lnTo>
                  <a:pt x="808758" y="490877"/>
                </a:lnTo>
                <a:lnTo>
                  <a:pt x="851002" y="475318"/>
                </a:lnTo>
                <a:lnTo>
                  <a:pt x="888260" y="450904"/>
                </a:lnTo>
                <a:lnTo>
                  <a:pt x="919329" y="418875"/>
                </a:lnTo>
                <a:lnTo>
                  <a:pt x="943009" y="380474"/>
                </a:lnTo>
                <a:lnTo>
                  <a:pt x="958098" y="336943"/>
                </a:lnTo>
                <a:lnTo>
                  <a:pt x="963395" y="289521"/>
                </a:lnTo>
                <a:lnTo>
                  <a:pt x="963395" y="206802"/>
                </a:lnTo>
                <a:lnTo>
                  <a:pt x="958098" y="159387"/>
                </a:lnTo>
                <a:lnTo>
                  <a:pt x="943009" y="115859"/>
                </a:lnTo>
                <a:lnTo>
                  <a:pt x="919329" y="77461"/>
                </a:lnTo>
                <a:lnTo>
                  <a:pt x="888260" y="45434"/>
                </a:lnTo>
                <a:lnTo>
                  <a:pt x="851002" y="21021"/>
                </a:lnTo>
                <a:lnTo>
                  <a:pt x="808758" y="5462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311090" y="5096333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340"/>
                </a:moveTo>
                <a:lnTo>
                  <a:pt x="808758" y="490877"/>
                </a:lnTo>
                <a:lnTo>
                  <a:pt x="851002" y="475318"/>
                </a:lnTo>
                <a:lnTo>
                  <a:pt x="888259" y="450904"/>
                </a:lnTo>
                <a:lnTo>
                  <a:pt x="919329" y="418875"/>
                </a:lnTo>
                <a:lnTo>
                  <a:pt x="943009" y="380474"/>
                </a:lnTo>
                <a:lnTo>
                  <a:pt x="958098" y="336943"/>
                </a:lnTo>
                <a:lnTo>
                  <a:pt x="963394" y="289522"/>
                </a:lnTo>
                <a:lnTo>
                  <a:pt x="963394" y="206803"/>
                </a:lnTo>
                <a:lnTo>
                  <a:pt x="958098" y="159387"/>
                </a:lnTo>
                <a:lnTo>
                  <a:pt x="943009" y="115859"/>
                </a:lnTo>
                <a:lnTo>
                  <a:pt x="919329" y="77461"/>
                </a:lnTo>
                <a:lnTo>
                  <a:pt x="888259" y="45434"/>
                </a:lnTo>
                <a:lnTo>
                  <a:pt x="851002" y="21021"/>
                </a:lnTo>
                <a:lnTo>
                  <a:pt x="808758" y="5462"/>
                </a:lnTo>
                <a:lnTo>
                  <a:pt x="762728" y="0"/>
                </a:lnTo>
                <a:lnTo>
                  <a:pt x="200665" y="0"/>
                </a:lnTo>
                <a:lnTo>
                  <a:pt x="154681" y="5462"/>
                </a:lnTo>
                <a:lnTo>
                  <a:pt x="112454" y="21021"/>
                </a:lnTo>
                <a:lnTo>
                  <a:pt x="75194" y="45434"/>
                </a:lnTo>
                <a:lnTo>
                  <a:pt x="44110" y="77461"/>
                </a:lnTo>
                <a:lnTo>
                  <a:pt x="20410" y="115859"/>
                </a:lnTo>
                <a:lnTo>
                  <a:pt x="5304" y="159387"/>
                </a:lnTo>
                <a:lnTo>
                  <a:pt x="0" y="206803"/>
                </a:lnTo>
                <a:lnTo>
                  <a:pt x="0" y="289522"/>
                </a:lnTo>
                <a:lnTo>
                  <a:pt x="5304" y="336943"/>
                </a:lnTo>
                <a:lnTo>
                  <a:pt x="20410" y="380474"/>
                </a:lnTo>
                <a:lnTo>
                  <a:pt x="44110" y="418875"/>
                </a:lnTo>
                <a:lnTo>
                  <a:pt x="75194" y="450904"/>
                </a:lnTo>
                <a:lnTo>
                  <a:pt x="112454" y="475318"/>
                </a:lnTo>
                <a:lnTo>
                  <a:pt x="154681" y="490877"/>
                </a:lnTo>
                <a:lnTo>
                  <a:pt x="200665" y="496340"/>
                </a:lnTo>
                <a:lnTo>
                  <a:pt x="762728" y="496340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423860" y="5078760"/>
            <a:ext cx="738505" cy="47625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2.1.3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1350" spc="-10">
                <a:latin typeface="Arial"/>
                <a:cs typeface="Arial"/>
              </a:rPr>
              <a:t>…</a:t>
            </a:r>
            <a:r>
              <a:rPr dirty="0" sz="1350" spc="-10">
                <a:latin typeface="Times New Roman"/>
                <a:cs typeface="Times New Roman"/>
              </a:rPr>
              <a:t>...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311091" y="5758110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666" y="0"/>
                </a:lnTo>
                <a:lnTo>
                  <a:pt x="154681" y="5462"/>
                </a:lnTo>
                <a:lnTo>
                  <a:pt x="112454" y="21021"/>
                </a:lnTo>
                <a:lnTo>
                  <a:pt x="75194" y="45436"/>
                </a:lnTo>
                <a:lnTo>
                  <a:pt x="44110" y="77464"/>
                </a:lnTo>
                <a:lnTo>
                  <a:pt x="20410" y="115865"/>
                </a:lnTo>
                <a:lnTo>
                  <a:pt x="5304" y="159397"/>
                </a:lnTo>
                <a:lnTo>
                  <a:pt x="0" y="206818"/>
                </a:lnTo>
                <a:lnTo>
                  <a:pt x="0" y="289536"/>
                </a:lnTo>
                <a:lnTo>
                  <a:pt x="5304" y="336954"/>
                </a:lnTo>
                <a:lnTo>
                  <a:pt x="20410" y="380482"/>
                </a:lnTo>
                <a:lnTo>
                  <a:pt x="44110" y="418881"/>
                </a:lnTo>
                <a:lnTo>
                  <a:pt x="75194" y="450907"/>
                </a:lnTo>
                <a:lnTo>
                  <a:pt x="112454" y="475320"/>
                </a:lnTo>
                <a:lnTo>
                  <a:pt x="154681" y="490878"/>
                </a:lnTo>
                <a:lnTo>
                  <a:pt x="200666" y="496340"/>
                </a:lnTo>
                <a:lnTo>
                  <a:pt x="762728" y="496340"/>
                </a:lnTo>
                <a:lnTo>
                  <a:pt x="808758" y="490878"/>
                </a:lnTo>
                <a:lnTo>
                  <a:pt x="851002" y="475320"/>
                </a:lnTo>
                <a:lnTo>
                  <a:pt x="888260" y="450907"/>
                </a:lnTo>
                <a:lnTo>
                  <a:pt x="919329" y="418881"/>
                </a:lnTo>
                <a:lnTo>
                  <a:pt x="943009" y="380482"/>
                </a:lnTo>
                <a:lnTo>
                  <a:pt x="958098" y="336954"/>
                </a:lnTo>
                <a:lnTo>
                  <a:pt x="963395" y="289536"/>
                </a:lnTo>
                <a:lnTo>
                  <a:pt x="963395" y="206818"/>
                </a:lnTo>
                <a:lnTo>
                  <a:pt x="958098" y="159397"/>
                </a:lnTo>
                <a:lnTo>
                  <a:pt x="943009" y="115865"/>
                </a:lnTo>
                <a:lnTo>
                  <a:pt x="919329" y="77464"/>
                </a:lnTo>
                <a:lnTo>
                  <a:pt x="888260" y="45436"/>
                </a:lnTo>
                <a:lnTo>
                  <a:pt x="851002" y="21021"/>
                </a:lnTo>
                <a:lnTo>
                  <a:pt x="808758" y="5462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311090" y="5758110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340"/>
                </a:moveTo>
                <a:lnTo>
                  <a:pt x="808758" y="490878"/>
                </a:lnTo>
                <a:lnTo>
                  <a:pt x="851002" y="475320"/>
                </a:lnTo>
                <a:lnTo>
                  <a:pt x="888259" y="450907"/>
                </a:lnTo>
                <a:lnTo>
                  <a:pt x="919329" y="418880"/>
                </a:lnTo>
                <a:lnTo>
                  <a:pt x="943009" y="380482"/>
                </a:lnTo>
                <a:lnTo>
                  <a:pt x="958098" y="336954"/>
                </a:lnTo>
                <a:lnTo>
                  <a:pt x="963394" y="289536"/>
                </a:lnTo>
                <a:lnTo>
                  <a:pt x="963394" y="206818"/>
                </a:lnTo>
                <a:lnTo>
                  <a:pt x="958098" y="159397"/>
                </a:lnTo>
                <a:lnTo>
                  <a:pt x="943009" y="115865"/>
                </a:lnTo>
                <a:lnTo>
                  <a:pt x="919329" y="77464"/>
                </a:lnTo>
                <a:lnTo>
                  <a:pt x="888259" y="45436"/>
                </a:lnTo>
                <a:lnTo>
                  <a:pt x="851002" y="21021"/>
                </a:lnTo>
                <a:lnTo>
                  <a:pt x="808758" y="5462"/>
                </a:lnTo>
                <a:lnTo>
                  <a:pt x="762728" y="0"/>
                </a:lnTo>
                <a:lnTo>
                  <a:pt x="200665" y="0"/>
                </a:lnTo>
                <a:lnTo>
                  <a:pt x="154681" y="5462"/>
                </a:lnTo>
                <a:lnTo>
                  <a:pt x="112454" y="21021"/>
                </a:lnTo>
                <a:lnTo>
                  <a:pt x="75194" y="45436"/>
                </a:lnTo>
                <a:lnTo>
                  <a:pt x="44110" y="77464"/>
                </a:lnTo>
                <a:lnTo>
                  <a:pt x="20410" y="115865"/>
                </a:lnTo>
                <a:lnTo>
                  <a:pt x="5304" y="159397"/>
                </a:lnTo>
                <a:lnTo>
                  <a:pt x="0" y="206818"/>
                </a:lnTo>
                <a:lnTo>
                  <a:pt x="0" y="289536"/>
                </a:lnTo>
                <a:lnTo>
                  <a:pt x="5304" y="336954"/>
                </a:lnTo>
                <a:lnTo>
                  <a:pt x="20410" y="380482"/>
                </a:lnTo>
                <a:lnTo>
                  <a:pt x="44110" y="418880"/>
                </a:lnTo>
                <a:lnTo>
                  <a:pt x="75194" y="450907"/>
                </a:lnTo>
                <a:lnTo>
                  <a:pt x="112454" y="475320"/>
                </a:lnTo>
                <a:lnTo>
                  <a:pt x="154681" y="490878"/>
                </a:lnTo>
                <a:lnTo>
                  <a:pt x="200665" y="496340"/>
                </a:lnTo>
                <a:lnTo>
                  <a:pt x="762728" y="496340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423860" y="5740558"/>
            <a:ext cx="738505" cy="47625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2.1.4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1350" spc="-10">
                <a:latin typeface="Arial"/>
                <a:cs typeface="Arial"/>
              </a:rPr>
              <a:t>…</a:t>
            </a:r>
            <a:r>
              <a:rPr dirty="0" sz="1350" spc="-10">
                <a:latin typeface="Times New Roman"/>
                <a:cs typeface="Times New Roman"/>
              </a:rPr>
              <a:t>...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237882" y="3690089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807" y="0"/>
                </a:lnTo>
                <a:lnTo>
                  <a:pt x="154770" y="5457"/>
                </a:lnTo>
                <a:lnTo>
                  <a:pt x="112506" y="21004"/>
                </a:lnTo>
                <a:lnTo>
                  <a:pt x="75221" y="45403"/>
                </a:lnTo>
                <a:lnTo>
                  <a:pt x="44121" y="77416"/>
                </a:lnTo>
                <a:lnTo>
                  <a:pt x="20413" y="115805"/>
                </a:lnTo>
                <a:lnTo>
                  <a:pt x="5304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19"/>
                </a:lnTo>
                <a:lnTo>
                  <a:pt x="20413" y="380446"/>
                </a:lnTo>
                <a:lnTo>
                  <a:pt x="44121" y="418835"/>
                </a:lnTo>
                <a:lnTo>
                  <a:pt x="75221" y="450848"/>
                </a:lnTo>
                <a:lnTo>
                  <a:pt x="112506" y="475247"/>
                </a:lnTo>
                <a:lnTo>
                  <a:pt x="154770" y="490794"/>
                </a:lnTo>
                <a:lnTo>
                  <a:pt x="200807" y="496252"/>
                </a:lnTo>
                <a:lnTo>
                  <a:pt x="762728" y="496252"/>
                </a:lnTo>
                <a:lnTo>
                  <a:pt x="808766" y="490794"/>
                </a:lnTo>
                <a:lnTo>
                  <a:pt x="851030" y="475247"/>
                </a:lnTo>
                <a:lnTo>
                  <a:pt x="888315" y="450848"/>
                </a:lnTo>
                <a:lnTo>
                  <a:pt x="919415" y="418835"/>
                </a:lnTo>
                <a:lnTo>
                  <a:pt x="943122" y="380446"/>
                </a:lnTo>
                <a:lnTo>
                  <a:pt x="958231" y="336919"/>
                </a:lnTo>
                <a:lnTo>
                  <a:pt x="963536" y="289492"/>
                </a:lnTo>
                <a:lnTo>
                  <a:pt x="963536" y="206759"/>
                </a:lnTo>
                <a:lnTo>
                  <a:pt x="958231" y="159332"/>
                </a:lnTo>
                <a:lnTo>
                  <a:pt x="943122" y="115805"/>
                </a:lnTo>
                <a:lnTo>
                  <a:pt x="919415" y="77416"/>
                </a:lnTo>
                <a:lnTo>
                  <a:pt x="888315" y="45403"/>
                </a:lnTo>
                <a:lnTo>
                  <a:pt x="851030" y="21004"/>
                </a:lnTo>
                <a:lnTo>
                  <a:pt x="808766" y="5457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237880" y="3690090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252"/>
                </a:moveTo>
                <a:lnTo>
                  <a:pt x="808766" y="490795"/>
                </a:lnTo>
                <a:lnTo>
                  <a:pt x="851030" y="475247"/>
                </a:lnTo>
                <a:lnTo>
                  <a:pt x="888315" y="450848"/>
                </a:lnTo>
                <a:lnTo>
                  <a:pt x="919415" y="418835"/>
                </a:lnTo>
                <a:lnTo>
                  <a:pt x="943122" y="380446"/>
                </a:lnTo>
                <a:lnTo>
                  <a:pt x="958232" y="336919"/>
                </a:lnTo>
                <a:lnTo>
                  <a:pt x="963536" y="289492"/>
                </a:lnTo>
                <a:lnTo>
                  <a:pt x="963536" y="206759"/>
                </a:lnTo>
                <a:lnTo>
                  <a:pt x="958232" y="159332"/>
                </a:lnTo>
                <a:lnTo>
                  <a:pt x="943122" y="115805"/>
                </a:lnTo>
                <a:lnTo>
                  <a:pt x="919415" y="77416"/>
                </a:lnTo>
                <a:lnTo>
                  <a:pt x="888315" y="45403"/>
                </a:lnTo>
                <a:lnTo>
                  <a:pt x="851030" y="21004"/>
                </a:lnTo>
                <a:lnTo>
                  <a:pt x="808766" y="5457"/>
                </a:lnTo>
                <a:lnTo>
                  <a:pt x="762728" y="0"/>
                </a:lnTo>
                <a:lnTo>
                  <a:pt x="200807" y="0"/>
                </a:lnTo>
                <a:lnTo>
                  <a:pt x="154770" y="5457"/>
                </a:lnTo>
                <a:lnTo>
                  <a:pt x="112506" y="21004"/>
                </a:lnTo>
                <a:lnTo>
                  <a:pt x="75220" y="45403"/>
                </a:lnTo>
                <a:lnTo>
                  <a:pt x="44121" y="77416"/>
                </a:lnTo>
                <a:lnTo>
                  <a:pt x="20413" y="115805"/>
                </a:lnTo>
                <a:lnTo>
                  <a:pt x="5304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19"/>
                </a:lnTo>
                <a:lnTo>
                  <a:pt x="20413" y="380446"/>
                </a:lnTo>
                <a:lnTo>
                  <a:pt x="44121" y="418835"/>
                </a:lnTo>
                <a:lnTo>
                  <a:pt x="75220" y="450848"/>
                </a:lnTo>
                <a:lnTo>
                  <a:pt x="112506" y="475247"/>
                </a:lnTo>
                <a:lnTo>
                  <a:pt x="154770" y="490795"/>
                </a:lnTo>
                <a:lnTo>
                  <a:pt x="200807" y="496252"/>
                </a:lnTo>
                <a:lnTo>
                  <a:pt x="762728" y="496252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7350791" y="3803018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2.2.1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237882" y="4310514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807" y="0"/>
                </a:lnTo>
                <a:lnTo>
                  <a:pt x="154770" y="5457"/>
                </a:lnTo>
                <a:lnTo>
                  <a:pt x="112506" y="21004"/>
                </a:lnTo>
                <a:lnTo>
                  <a:pt x="75221" y="45403"/>
                </a:lnTo>
                <a:lnTo>
                  <a:pt x="44121" y="77416"/>
                </a:lnTo>
                <a:lnTo>
                  <a:pt x="20413" y="115805"/>
                </a:lnTo>
                <a:lnTo>
                  <a:pt x="5304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19"/>
                </a:lnTo>
                <a:lnTo>
                  <a:pt x="20413" y="380446"/>
                </a:lnTo>
                <a:lnTo>
                  <a:pt x="44121" y="418835"/>
                </a:lnTo>
                <a:lnTo>
                  <a:pt x="75221" y="450848"/>
                </a:lnTo>
                <a:lnTo>
                  <a:pt x="112506" y="475247"/>
                </a:lnTo>
                <a:lnTo>
                  <a:pt x="154770" y="490794"/>
                </a:lnTo>
                <a:lnTo>
                  <a:pt x="200807" y="496252"/>
                </a:lnTo>
                <a:lnTo>
                  <a:pt x="762728" y="496252"/>
                </a:lnTo>
                <a:lnTo>
                  <a:pt x="808766" y="490794"/>
                </a:lnTo>
                <a:lnTo>
                  <a:pt x="851030" y="475247"/>
                </a:lnTo>
                <a:lnTo>
                  <a:pt x="888315" y="450848"/>
                </a:lnTo>
                <a:lnTo>
                  <a:pt x="919415" y="418835"/>
                </a:lnTo>
                <a:lnTo>
                  <a:pt x="943122" y="380446"/>
                </a:lnTo>
                <a:lnTo>
                  <a:pt x="958231" y="336919"/>
                </a:lnTo>
                <a:lnTo>
                  <a:pt x="963536" y="289492"/>
                </a:lnTo>
                <a:lnTo>
                  <a:pt x="963536" y="206759"/>
                </a:lnTo>
                <a:lnTo>
                  <a:pt x="958231" y="159332"/>
                </a:lnTo>
                <a:lnTo>
                  <a:pt x="943122" y="115805"/>
                </a:lnTo>
                <a:lnTo>
                  <a:pt x="919415" y="77416"/>
                </a:lnTo>
                <a:lnTo>
                  <a:pt x="888315" y="45403"/>
                </a:lnTo>
                <a:lnTo>
                  <a:pt x="851030" y="21004"/>
                </a:lnTo>
                <a:lnTo>
                  <a:pt x="808766" y="5457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237880" y="4310515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252"/>
                </a:moveTo>
                <a:lnTo>
                  <a:pt x="808766" y="490795"/>
                </a:lnTo>
                <a:lnTo>
                  <a:pt x="851030" y="475247"/>
                </a:lnTo>
                <a:lnTo>
                  <a:pt x="888315" y="450848"/>
                </a:lnTo>
                <a:lnTo>
                  <a:pt x="919415" y="418835"/>
                </a:lnTo>
                <a:lnTo>
                  <a:pt x="943122" y="380446"/>
                </a:lnTo>
                <a:lnTo>
                  <a:pt x="958232" y="336919"/>
                </a:lnTo>
                <a:lnTo>
                  <a:pt x="963536" y="289492"/>
                </a:lnTo>
                <a:lnTo>
                  <a:pt x="963536" y="206759"/>
                </a:lnTo>
                <a:lnTo>
                  <a:pt x="958232" y="159332"/>
                </a:lnTo>
                <a:lnTo>
                  <a:pt x="943122" y="115805"/>
                </a:lnTo>
                <a:lnTo>
                  <a:pt x="919415" y="77416"/>
                </a:lnTo>
                <a:lnTo>
                  <a:pt x="888315" y="45403"/>
                </a:lnTo>
                <a:lnTo>
                  <a:pt x="851030" y="21004"/>
                </a:lnTo>
                <a:lnTo>
                  <a:pt x="808766" y="5457"/>
                </a:lnTo>
                <a:lnTo>
                  <a:pt x="762728" y="0"/>
                </a:lnTo>
                <a:lnTo>
                  <a:pt x="200807" y="0"/>
                </a:lnTo>
                <a:lnTo>
                  <a:pt x="154770" y="5457"/>
                </a:lnTo>
                <a:lnTo>
                  <a:pt x="112506" y="21004"/>
                </a:lnTo>
                <a:lnTo>
                  <a:pt x="75220" y="45403"/>
                </a:lnTo>
                <a:lnTo>
                  <a:pt x="44121" y="77416"/>
                </a:lnTo>
                <a:lnTo>
                  <a:pt x="20413" y="115805"/>
                </a:lnTo>
                <a:lnTo>
                  <a:pt x="5304" y="159332"/>
                </a:lnTo>
                <a:lnTo>
                  <a:pt x="0" y="206759"/>
                </a:lnTo>
                <a:lnTo>
                  <a:pt x="0" y="289492"/>
                </a:lnTo>
                <a:lnTo>
                  <a:pt x="5304" y="336919"/>
                </a:lnTo>
                <a:lnTo>
                  <a:pt x="20413" y="380446"/>
                </a:lnTo>
                <a:lnTo>
                  <a:pt x="44121" y="418835"/>
                </a:lnTo>
                <a:lnTo>
                  <a:pt x="75220" y="450848"/>
                </a:lnTo>
                <a:lnTo>
                  <a:pt x="112506" y="475247"/>
                </a:lnTo>
                <a:lnTo>
                  <a:pt x="154770" y="490795"/>
                </a:lnTo>
                <a:lnTo>
                  <a:pt x="200807" y="496252"/>
                </a:lnTo>
                <a:lnTo>
                  <a:pt x="762728" y="496252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7350791" y="4423297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2.2.2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237882" y="4972248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0"/>
                </a:moveTo>
                <a:lnTo>
                  <a:pt x="200807" y="0"/>
                </a:lnTo>
                <a:lnTo>
                  <a:pt x="154770" y="5462"/>
                </a:lnTo>
                <a:lnTo>
                  <a:pt x="112506" y="21021"/>
                </a:lnTo>
                <a:lnTo>
                  <a:pt x="75221" y="45434"/>
                </a:lnTo>
                <a:lnTo>
                  <a:pt x="44121" y="77461"/>
                </a:lnTo>
                <a:lnTo>
                  <a:pt x="20413" y="115860"/>
                </a:lnTo>
                <a:lnTo>
                  <a:pt x="5304" y="159388"/>
                </a:lnTo>
                <a:lnTo>
                  <a:pt x="0" y="206804"/>
                </a:lnTo>
                <a:lnTo>
                  <a:pt x="1" y="289537"/>
                </a:lnTo>
                <a:lnTo>
                  <a:pt x="5307" y="336952"/>
                </a:lnTo>
                <a:lnTo>
                  <a:pt x="20417" y="380480"/>
                </a:lnTo>
                <a:lnTo>
                  <a:pt x="44124" y="418878"/>
                </a:lnTo>
                <a:lnTo>
                  <a:pt x="75222" y="450905"/>
                </a:lnTo>
                <a:lnTo>
                  <a:pt x="112507" y="475319"/>
                </a:lnTo>
                <a:lnTo>
                  <a:pt x="154770" y="490877"/>
                </a:lnTo>
                <a:lnTo>
                  <a:pt x="200807" y="496340"/>
                </a:lnTo>
                <a:lnTo>
                  <a:pt x="762728" y="496340"/>
                </a:lnTo>
                <a:lnTo>
                  <a:pt x="808766" y="490877"/>
                </a:lnTo>
                <a:lnTo>
                  <a:pt x="851031" y="475318"/>
                </a:lnTo>
                <a:lnTo>
                  <a:pt x="888316" y="450904"/>
                </a:lnTo>
                <a:lnTo>
                  <a:pt x="919416" y="418875"/>
                </a:lnTo>
                <a:lnTo>
                  <a:pt x="943124" y="380474"/>
                </a:lnTo>
                <a:lnTo>
                  <a:pt x="958232" y="336943"/>
                </a:lnTo>
                <a:lnTo>
                  <a:pt x="963536" y="289537"/>
                </a:lnTo>
                <a:lnTo>
                  <a:pt x="963536" y="206804"/>
                </a:lnTo>
                <a:lnTo>
                  <a:pt x="958231" y="159388"/>
                </a:lnTo>
                <a:lnTo>
                  <a:pt x="943122" y="115860"/>
                </a:lnTo>
                <a:lnTo>
                  <a:pt x="919415" y="77461"/>
                </a:lnTo>
                <a:lnTo>
                  <a:pt x="888315" y="45434"/>
                </a:lnTo>
                <a:lnTo>
                  <a:pt x="851030" y="21021"/>
                </a:lnTo>
                <a:lnTo>
                  <a:pt x="808766" y="5462"/>
                </a:lnTo>
                <a:lnTo>
                  <a:pt x="762728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237880" y="4972248"/>
            <a:ext cx="963930" cy="496570"/>
          </a:xfrm>
          <a:custGeom>
            <a:avLst/>
            <a:gdLst/>
            <a:ahLst/>
            <a:cxnLst/>
            <a:rect l="l" t="t" r="r" b="b"/>
            <a:pathLst>
              <a:path w="963929" h="496570">
                <a:moveTo>
                  <a:pt x="762728" y="496340"/>
                </a:moveTo>
                <a:lnTo>
                  <a:pt x="808766" y="490877"/>
                </a:lnTo>
                <a:lnTo>
                  <a:pt x="851030" y="475319"/>
                </a:lnTo>
                <a:lnTo>
                  <a:pt x="888315" y="450905"/>
                </a:lnTo>
                <a:lnTo>
                  <a:pt x="919415" y="418878"/>
                </a:lnTo>
                <a:lnTo>
                  <a:pt x="943122" y="380480"/>
                </a:lnTo>
                <a:lnTo>
                  <a:pt x="958232" y="336952"/>
                </a:lnTo>
                <a:lnTo>
                  <a:pt x="963536" y="289536"/>
                </a:lnTo>
                <a:lnTo>
                  <a:pt x="963536" y="206803"/>
                </a:lnTo>
                <a:lnTo>
                  <a:pt x="958232" y="159387"/>
                </a:lnTo>
                <a:lnTo>
                  <a:pt x="943122" y="115859"/>
                </a:lnTo>
                <a:lnTo>
                  <a:pt x="919415" y="77461"/>
                </a:lnTo>
                <a:lnTo>
                  <a:pt x="888315" y="45434"/>
                </a:lnTo>
                <a:lnTo>
                  <a:pt x="851030" y="21021"/>
                </a:lnTo>
                <a:lnTo>
                  <a:pt x="808766" y="5462"/>
                </a:lnTo>
                <a:lnTo>
                  <a:pt x="762728" y="0"/>
                </a:lnTo>
                <a:lnTo>
                  <a:pt x="200807" y="0"/>
                </a:lnTo>
                <a:lnTo>
                  <a:pt x="154770" y="5462"/>
                </a:lnTo>
                <a:lnTo>
                  <a:pt x="112506" y="21021"/>
                </a:lnTo>
                <a:lnTo>
                  <a:pt x="75220" y="45434"/>
                </a:lnTo>
                <a:lnTo>
                  <a:pt x="44121" y="77461"/>
                </a:lnTo>
                <a:lnTo>
                  <a:pt x="20413" y="115859"/>
                </a:lnTo>
                <a:lnTo>
                  <a:pt x="5304" y="159387"/>
                </a:lnTo>
                <a:lnTo>
                  <a:pt x="0" y="206803"/>
                </a:lnTo>
                <a:lnTo>
                  <a:pt x="0" y="289522"/>
                </a:lnTo>
                <a:lnTo>
                  <a:pt x="5304" y="336943"/>
                </a:lnTo>
                <a:lnTo>
                  <a:pt x="20413" y="380474"/>
                </a:lnTo>
                <a:lnTo>
                  <a:pt x="44121" y="418875"/>
                </a:lnTo>
                <a:lnTo>
                  <a:pt x="75220" y="450904"/>
                </a:lnTo>
                <a:lnTo>
                  <a:pt x="112506" y="475318"/>
                </a:lnTo>
                <a:lnTo>
                  <a:pt x="154770" y="490877"/>
                </a:lnTo>
                <a:lnTo>
                  <a:pt x="200807" y="496340"/>
                </a:lnTo>
                <a:lnTo>
                  <a:pt x="762728" y="496340"/>
                </a:lnTo>
                <a:close/>
              </a:path>
            </a:pathLst>
          </a:custGeom>
          <a:ln w="3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7350791" y="5085147"/>
            <a:ext cx="73850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>
                <a:latin typeface="Times New Roman"/>
                <a:cs typeface="Times New Roman"/>
              </a:rPr>
              <a:t>Task</a:t>
            </a:r>
            <a:r>
              <a:rPr dirty="0" sz="1350" spc="-70">
                <a:latin typeface="Times New Roman"/>
                <a:cs typeface="Times New Roman"/>
              </a:rPr>
              <a:t> </a:t>
            </a:r>
            <a:r>
              <a:rPr dirty="0" sz="1350" spc="-5">
                <a:latin typeface="Times New Roman"/>
                <a:cs typeface="Times New Roman"/>
              </a:rPr>
              <a:t>2.2.3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552788" y="2449239"/>
            <a:ext cx="948690" cy="330835"/>
          </a:xfrm>
          <a:custGeom>
            <a:avLst/>
            <a:gdLst/>
            <a:ahLst/>
            <a:cxnLst/>
            <a:rect l="l" t="t" r="r" b="b"/>
            <a:pathLst>
              <a:path w="948689" h="330835">
                <a:moveTo>
                  <a:pt x="948412" y="0"/>
                </a:moveTo>
                <a:lnTo>
                  <a:pt x="948412" y="155106"/>
                </a:lnTo>
                <a:lnTo>
                  <a:pt x="0" y="155106"/>
                </a:lnTo>
                <a:lnTo>
                  <a:pt x="0" y="330786"/>
                </a:lnTo>
              </a:path>
            </a:pathLst>
          </a:custGeom>
          <a:ln w="34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501200" y="1497882"/>
            <a:ext cx="1766570" cy="455295"/>
          </a:xfrm>
          <a:custGeom>
            <a:avLst/>
            <a:gdLst/>
            <a:ahLst/>
            <a:cxnLst/>
            <a:rect l="l" t="t" r="r" b="b"/>
            <a:pathLst>
              <a:path w="1766570" h="455294">
                <a:moveTo>
                  <a:pt x="1766200" y="0"/>
                </a:moveTo>
                <a:lnTo>
                  <a:pt x="1766200" y="155106"/>
                </a:lnTo>
                <a:lnTo>
                  <a:pt x="0" y="155106"/>
                </a:lnTo>
                <a:lnTo>
                  <a:pt x="0" y="454958"/>
                </a:lnTo>
              </a:path>
            </a:pathLst>
          </a:custGeom>
          <a:ln w="34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267401" y="1497882"/>
            <a:ext cx="1686560" cy="455295"/>
          </a:xfrm>
          <a:custGeom>
            <a:avLst/>
            <a:gdLst/>
            <a:ahLst/>
            <a:cxnLst/>
            <a:rect l="l" t="t" r="r" b="b"/>
            <a:pathLst>
              <a:path w="1686560" h="455294">
                <a:moveTo>
                  <a:pt x="0" y="0"/>
                </a:moveTo>
                <a:lnTo>
                  <a:pt x="0" y="155106"/>
                </a:lnTo>
                <a:lnTo>
                  <a:pt x="1686047" y="155106"/>
                </a:lnTo>
                <a:lnTo>
                  <a:pt x="1686047" y="454958"/>
                </a:lnTo>
              </a:path>
            </a:pathLst>
          </a:custGeom>
          <a:ln w="34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501200" y="2449239"/>
            <a:ext cx="923290" cy="330835"/>
          </a:xfrm>
          <a:custGeom>
            <a:avLst/>
            <a:gdLst/>
            <a:ahLst/>
            <a:cxnLst/>
            <a:rect l="l" t="t" r="r" b="b"/>
            <a:pathLst>
              <a:path w="923289" h="330835">
                <a:moveTo>
                  <a:pt x="0" y="0"/>
                </a:moveTo>
                <a:lnTo>
                  <a:pt x="0" y="155106"/>
                </a:lnTo>
                <a:lnTo>
                  <a:pt x="923176" y="155106"/>
                </a:lnTo>
                <a:lnTo>
                  <a:pt x="923176" y="330786"/>
                </a:lnTo>
              </a:path>
            </a:pathLst>
          </a:custGeom>
          <a:ln w="34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552788" y="3276424"/>
            <a:ext cx="306705" cy="662305"/>
          </a:xfrm>
          <a:custGeom>
            <a:avLst/>
            <a:gdLst/>
            <a:ahLst/>
            <a:cxnLst/>
            <a:rect l="l" t="t" r="r" b="b"/>
            <a:pathLst>
              <a:path w="306705" h="662304">
                <a:moveTo>
                  <a:pt x="0" y="0"/>
                </a:moveTo>
                <a:lnTo>
                  <a:pt x="0" y="661718"/>
                </a:lnTo>
                <a:lnTo>
                  <a:pt x="306082" y="661718"/>
                </a:lnTo>
              </a:path>
            </a:pathLst>
          </a:custGeom>
          <a:ln w="34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552788" y="3276424"/>
            <a:ext cx="306705" cy="1406525"/>
          </a:xfrm>
          <a:custGeom>
            <a:avLst/>
            <a:gdLst/>
            <a:ahLst/>
            <a:cxnLst/>
            <a:rect l="l" t="t" r="r" b="b"/>
            <a:pathLst>
              <a:path w="306705" h="1406525">
                <a:moveTo>
                  <a:pt x="0" y="0"/>
                </a:moveTo>
                <a:lnTo>
                  <a:pt x="0" y="1406316"/>
                </a:lnTo>
                <a:lnTo>
                  <a:pt x="306082" y="1406316"/>
                </a:lnTo>
              </a:path>
            </a:pathLst>
          </a:custGeom>
          <a:ln w="34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552788" y="3276424"/>
            <a:ext cx="306705" cy="2109470"/>
          </a:xfrm>
          <a:custGeom>
            <a:avLst/>
            <a:gdLst/>
            <a:ahLst/>
            <a:cxnLst/>
            <a:rect l="l" t="t" r="r" b="b"/>
            <a:pathLst>
              <a:path w="306705" h="2109470">
                <a:moveTo>
                  <a:pt x="0" y="0"/>
                </a:moveTo>
                <a:lnTo>
                  <a:pt x="0" y="2109430"/>
                </a:lnTo>
                <a:lnTo>
                  <a:pt x="306082" y="2109430"/>
                </a:lnTo>
              </a:path>
            </a:pathLst>
          </a:custGeom>
          <a:ln w="3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424377" y="3276424"/>
            <a:ext cx="160655" cy="662305"/>
          </a:xfrm>
          <a:custGeom>
            <a:avLst/>
            <a:gdLst/>
            <a:ahLst/>
            <a:cxnLst/>
            <a:rect l="l" t="t" r="r" b="b"/>
            <a:pathLst>
              <a:path w="160654" h="662304">
                <a:moveTo>
                  <a:pt x="0" y="0"/>
                </a:moveTo>
                <a:lnTo>
                  <a:pt x="0" y="661718"/>
                </a:lnTo>
                <a:lnTo>
                  <a:pt x="160589" y="661718"/>
                </a:lnTo>
              </a:path>
            </a:pathLst>
          </a:custGeom>
          <a:ln w="34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424377" y="3276424"/>
            <a:ext cx="160655" cy="1406525"/>
          </a:xfrm>
          <a:custGeom>
            <a:avLst/>
            <a:gdLst/>
            <a:ahLst/>
            <a:cxnLst/>
            <a:rect l="l" t="t" r="r" b="b"/>
            <a:pathLst>
              <a:path w="160654" h="1406525">
                <a:moveTo>
                  <a:pt x="0" y="0"/>
                </a:moveTo>
                <a:lnTo>
                  <a:pt x="0" y="1406316"/>
                </a:lnTo>
                <a:lnTo>
                  <a:pt x="160589" y="1406316"/>
                </a:lnTo>
              </a:path>
            </a:pathLst>
          </a:custGeom>
          <a:ln w="3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030130" y="3276424"/>
            <a:ext cx="281305" cy="662305"/>
          </a:xfrm>
          <a:custGeom>
            <a:avLst/>
            <a:gdLst/>
            <a:ahLst/>
            <a:cxnLst/>
            <a:rect l="l" t="t" r="r" b="b"/>
            <a:pathLst>
              <a:path w="281304" h="662304">
                <a:moveTo>
                  <a:pt x="0" y="0"/>
                </a:moveTo>
                <a:lnTo>
                  <a:pt x="0" y="661718"/>
                </a:lnTo>
                <a:lnTo>
                  <a:pt x="280960" y="661718"/>
                </a:lnTo>
              </a:path>
            </a:pathLst>
          </a:custGeom>
          <a:ln w="34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030130" y="3276424"/>
            <a:ext cx="281305" cy="1406525"/>
          </a:xfrm>
          <a:custGeom>
            <a:avLst/>
            <a:gdLst/>
            <a:ahLst/>
            <a:cxnLst/>
            <a:rect l="l" t="t" r="r" b="b"/>
            <a:pathLst>
              <a:path w="281304" h="1406525">
                <a:moveTo>
                  <a:pt x="0" y="0"/>
                </a:moveTo>
                <a:lnTo>
                  <a:pt x="0" y="1406316"/>
                </a:lnTo>
                <a:lnTo>
                  <a:pt x="280960" y="1406316"/>
                </a:lnTo>
              </a:path>
            </a:pathLst>
          </a:custGeom>
          <a:ln w="34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030130" y="3276424"/>
            <a:ext cx="281305" cy="2068195"/>
          </a:xfrm>
          <a:custGeom>
            <a:avLst/>
            <a:gdLst/>
            <a:ahLst/>
            <a:cxnLst/>
            <a:rect l="l" t="t" r="r" b="b"/>
            <a:pathLst>
              <a:path w="281304" h="2068195">
                <a:moveTo>
                  <a:pt x="0" y="0"/>
                </a:moveTo>
                <a:lnTo>
                  <a:pt x="0" y="2068079"/>
                </a:lnTo>
                <a:lnTo>
                  <a:pt x="280960" y="2068079"/>
                </a:lnTo>
              </a:path>
            </a:pathLst>
          </a:custGeom>
          <a:ln w="3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030130" y="3276424"/>
            <a:ext cx="281305" cy="2729865"/>
          </a:xfrm>
          <a:custGeom>
            <a:avLst/>
            <a:gdLst/>
            <a:ahLst/>
            <a:cxnLst/>
            <a:rect l="l" t="t" r="r" b="b"/>
            <a:pathLst>
              <a:path w="281304" h="2729865">
                <a:moveTo>
                  <a:pt x="0" y="0"/>
                </a:moveTo>
                <a:lnTo>
                  <a:pt x="0" y="2729856"/>
                </a:lnTo>
                <a:lnTo>
                  <a:pt x="280960" y="2729856"/>
                </a:lnTo>
              </a:path>
            </a:pathLst>
          </a:custGeom>
          <a:ln w="33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916843" y="3276424"/>
            <a:ext cx="321310" cy="662305"/>
          </a:xfrm>
          <a:custGeom>
            <a:avLst/>
            <a:gdLst/>
            <a:ahLst/>
            <a:cxnLst/>
            <a:rect l="l" t="t" r="r" b="b"/>
            <a:pathLst>
              <a:path w="321309" h="662304">
                <a:moveTo>
                  <a:pt x="0" y="0"/>
                </a:moveTo>
                <a:lnTo>
                  <a:pt x="0" y="661718"/>
                </a:lnTo>
                <a:lnTo>
                  <a:pt x="321037" y="661718"/>
                </a:lnTo>
              </a:path>
            </a:pathLst>
          </a:custGeom>
          <a:ln w="34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030130" y="2449239"/>
            <a:ext cx="923925" cy="330835"/>
          </a:xfrm>
          <a:custGeom>
            <a:avLst/>
            <a:gdLst/>
            <a:ahLst/>
            <a:cxnLst/>
            <a:rect l="l" t="t" r="r" b="b"/>
            <a:pathLst>
              <a:path w="923925" h="330835">
                <a:moveTo>
                  <a:pt x="923318" y="0"/>
                </a:moveTo>
                <a:lnTo>
                  <a:pt x="923318" y="155106"/>
                </a:lnTo>
                <a:lnTo>
                  <a:pt x="0" y="155106"/>
                </a:lnTo>
                <a:lnTo>
                  <a:pt x="0" y="330786"/>
                </a:lnTo>
              </a:path>
            </a:pathLst>
          </a:custGeom>
          <a:ln w="34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953448" y="2449239"/>
            <a:ext cx="963930" cy="330835"/>
          </a:xfrm>
          <a:custGeom>
            <a:avLst/>
            <a:gdLst/>
            <a:ahLst/>
            <a:cxnLst/>
            <a:rect l="l" t="t" r="r" b="b"/>
            <a:pathLst>
              <a:path w="963929" h="330835">
                <a:moveTo>
                  <a:pt x="0" y="0"/>
                </a:moveTo>
                <a:lnTo>
                  <a:pt x="0" y="155106"/>
                </a:lnTo>
                <a:lnTo>
                  <a:pt x="963394" y="155106"/>
                </a:lnTo>
                <a:lnTo>
                  <a:pt x="963394" y="330786"/>
                </a:lnTo>
              </a:path>
            </a:pathLst>
          </a:custGeom>
          <a:ln w="3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916843" y="3276424"/>
            <a:ext cx="321310" cy="1282700"/>
          </a:xfrm>
          <a:custGeom>
            <a:avLst/>
            <a:gdLst/>
            <a:ahLst/>
            <a:cxnLst/>
            <a:rect l="l" t="t" r="r" b="b"/>
            <a:pathLst>
              <a:path w="321309" h="1282700">
                <a:moveTo>
                  <a:pt x="0" y="0"/>
                </a:moveTo>
                <a:lnTo>
                  <a:pt x="0" y="1282143"/>
                </a:lnTo>
                <a:lnTo>
                  <a:pt x="321037" y="1282143"/>
                </a:lnTo>
              </a:path>
            </a:pathLst>
          </a:custGeom>
          <a:ln w="34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916843" y="3276424"/>
            <a:ext cx="321310" cy="1944370"/>
          </a:xfrm>
          <a:custGeom>
            <a:avLst/>
            <a:gdLst/>
            <a:ahLst/>
            <a:cxnLst/>
            <a:rect l="l" t="t" r="r" b="b"/>
            <a:pathLst>
              <a:path w="321309" h="1944370">
                <a:moveTo>
                  <a:pt x="0" y="0"/>
                </a:moveTo>
                <a:lnTo>
                  <a:pt x="0" y="1943993"/>
                </a:lnTo>
                <a:lnTo>
                  <a:pt x="321037" y="1943993"/>
                </a:lnTo>
              </a:path>
            </a:pathLst>
          </a:custGeom>
          <a:ln w="34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96595"/>
            <a:ext cx="33782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功能分解过程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1908486" y="1693447"/>
            <a:ext cx="5190202" cy="42439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475"/>
            <a:ext cx="5473700" cy="29489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需求分析的根本任务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需求分析技术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需求分析方法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4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latin typeface="宋体"/>
                <a:cs typeface="宋体"/>
              </a:rPr>
              <a:t>前期需求阶段的建模与分析</a:t>
            </a:r>
            <a:endParaRPr sz="32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dirty="0" sz="3200">
                <a:solidFill>
                  <a:srgbClr val="FF0000"/>
                </a:solidFill>
                <a:latin typeface="宋体"/>
                <a:cs typeface="宋体"/>
              </a:rPr>
              <a:t>需求分析的活动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1857" y="196595"/>
            <a:ext cx="44881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Calibri"/>
                <a:cs typeface="Calibri"/>
              </a:rPr>
              <a:t>5.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/>
              <a:t>需求分析的活动</a:t>
            </a:r>
          </a:p>
        </p:txBody>
      </p:sp>
      <p:sp>
        <p:nvSpPr>
          <p:cNvPr id="3" name="object 3"/>
          <p:cNvSpPr/>
          <p:nvPr/>
        </p:nvSpPr>
        <p:spPr>
          <a:xfrm>
            <a:off x="1691099" y="2082031"/>
            <a:ext cx="1227455" cy="0"/>
          </a:xfrm>
          <a:custGeom>
            <a:avLst/>
            <a:gdLst/>
            <a:ahLst/>
            <a:cxnLst/>
            <a:rect l="l" t="t" r="r" b="b"/>
            <a:pathLst>
              <a:path w="1227455" h="0">
                <a:moveTo>
                  <a:pt x="0" y="0"/>
                </a:moveTo>
                <a:lnTo>
                  <a:pt x="1227115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91099" y="1470369"/>
            <a:ext cx="1227455" cy="0"/>
          </a:xfrm>
          <a:custGeom>
            <a:avLst/>
            <a:gdLst/>
            <a:ahLst/>
            <a:cxnLst/>
            <a:rect l="l" t="t" r="r" b="b"/>
            <a:pathLst>
              <a:path w="1227455" h="0">
                <a:moveTo>
                  <a:pt x="0" y="0"/>
                </a:moveTo>
                <a:lnTo>
                  <a:pt x="1227115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45720" y="1647601"/>
            <a:ext cx="71818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0">
                <a:latin typeface="宋体"/>
                <a:cs typeface="宋体"/>
              </a:rPr>
              <a:t>获取笔录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83936" y="1164537"/>
            <a:ext cx="1227455" cy="1223645"/>
          </a:xfrm>
          <a:custGeom>
            <a:avLst/>
            <a:gdLst/>
            <a:ahLst/>
            <a:cxnLst/>
            <a:rect l="l" t="t" r="r" b="b"/>
            <a:pathLst>
              <a:path w="1227454" h="1223645">
                <a:moveTo>
                  <a:pt x="613629" y="0"/>
                </a:moveTo>
                <a:lnTo>
                  <a:pt x="565667" y="1840"/>
                </a:lnTo>
                <a:lnTo>
                  <a:pt x="518715" y="7271"/>
                </a:lnTo>
                <a:lnTo>
                  <a:pt x="472911" y="16156"/>
                </a:lnTo>
                <a:lnTo>
                  <a:pt x="428390" y="28359"/>
                </a:lnTo>
                <a:lnTo>
                  <a:pt x="385289" y="43745"/>
                </a:lnTo>
                <a:lnTo>
                  <a:pt x="343744" y="62176"/>
                </a:lnTo>
                <a:lnTo>
                  <a:pt x="303892" y="83518"/>
                </a:lnTo>
                <a:lnTo>
                  <a:pt x="265869" y="107633"/>
                </a:lnTo>
                <a:lnTo>
                  <a:pt x="229810" y="134387"/>
                </a:lnTo>
                <a:lnTo>
                  <a:pt x="195853" y="163642"/>
                </a:lnTo>
                <a:lnTo>
                  <a:pt x="164134" y="195263"/>
                </a:lnTo>
                <a:lnTo>
                  <a:pt x="134788" y="229114"/>
                </a:lnTo>
                <a:lnTo>
                  <a:pt x="107953" y="265059"/>
                </a:lnTo>
                <a:lnTo>
                  <a:pt x="83765" y="302961"/>
                </a:lnTo>
                <a:lnTo>
                  <a:pt x="62359" y="342685"/>
                </a:lnTo>
                <a:lnTo>
                  <a:pt x="43873" y="384094"/>
                </a:lnTo>
                <a:lnTo>
                  <a:pt x="28442" y="427053"/>
                </a:lnTo>
                <a:lnTo>
                  <a:pt x="16203" y="471425"/>
                </a:lnTo>
                <a:lnTo>
                  <a:pt x="7292" y="517075"/>
                </a:lnTo>
                <a:lnTo>
                  <a:pt x="1845" y="563866"/>
                </a:lnTo>
                <a:lnTo>
                  <a:pt x="0" y="611662"/>
                </a:lnTo>
                <a:lnTo>
                  <a:pt x="1845" y="659488"/>
                </a:lnTo>
                <a:lnTo>
                  <a:pt x="7292" y="706305"/>
                </a:lnTo>
                <a:lnTo>
                  <a:pt x="16203" y="751979"/>
                </a:lnTo>
                <a:lnTo>
                  <a:pt x="28442" y="796372"/>
                </a:lnTo>
                <a:lnTo>
                  <a:pt x="43873" y="839350"/>
                </a:lnTo>
                <a:lnTo>
                  <a:pt x="62359" y="880776"/>
                </a:lnTo>
                <a:lnTo>
                  <a:pt x="83765" y="920515"/>
                </a:lnTo>
                <a:lnTo>
                  <a:pt x="107953" y="958430"/>
                </a:lnTo>
                <a:lnTo>
                  <a:pt x="134788" y="994385"/>
                </a:lnTo>
                <a:lnTo>
                  <a:pt x="164134" y="1028246"/>
                </a:lnTo>
                <a:lnTo>
                  <a:pt x="195853" y="1059875"/>
                </a:lnTo>
                <a:lnTo>
                  <a:pt x="229810" y="1089136"/>
                </a:lnTo>
                <a:lnTo>
                  <a:pt x="265869" y="1115895"/>
                </a:lnTo>
                <a:lnTo>
                  <a:pt x="303892" y="1140014"/>
                </a:lnTo>
                <a:lnTo>
                  <a:pt x="343744" y="1161359"/>
                </a:lnTo>
                <a:lnTo>
                  <a:pt x="385289" y="1179792"/>
                </a:lnTo>
                <a:lnTo>
                  <a:pt x="428390" y="1195179"/>
                </a:lnTo>
                <a:lnTo>
                  <a:pt x="472911" y="1207383"/>
                </a:lnTo>
                <a:lnTo>
                  <a:pt x="518715" y="1216269"/>
                </a:lnTo>
                <a:lnTo>
                  <a:pt x="565667" y="1221700"/>
                </a:lnTo>
                <a:lnTo>
                  <a:pt x="613629" y="1223540"/>
                </a:lnTo>
                <a:lnTo>
                  <a:pt x="661562" y="1221700"/>
                </a:lnTo>
                <a:lnTo>
                  <a:pt x="708487" y="1216269"/>
                </a:lnTo>
                <a:lnTo>
                  <a:pt x="754267" y="1207383"/>
                </a:lnTo>
                <a:lnTo>
                  <a:pt x="798766" y="1195179"/>
                </a:lnTo>
                <a:lnTo>
                  <a:pt x="841848" y="1179792"/>
                </a:lnTo>
                <a:lnTo>
                  <a:pt x="883375" y="1161359"/>
                </a:lnTo>
                <a:lnTo>
                  <a:pt x="923213" y="1140014"/>
                </a:lnTo>
                <a:lnTo>
                  <a:pt x="961224" y="1115895"/>
                </a:lnTo>
                <a:lnTo>
                  <a:pt x="997271" y="1089136"/>
                </a:lnTo>
                <a:lnTo>
                  <a:pt x="1031219" y="1059875"/>
                </a:lnTo>
                <a:lnTo>
                  <a:pt x="1062931" y="1028246"/>
                </a:lnTo>
                <a:lnTo>
                  <a:pt x="1092270" y="994385"/>
                </a:lnTo>
                <a:lnTo>
                  <a:pt x="1119100" y="958430"/>
                </a:lnTo>
                <a:lnTo>
                  <a:pt x="1143284" y="920515"/>
                </a:lnTo>
                <a:lnTo>
                  <a:pt x="1164687" y="880776"/>
                </a:lnTo>
                <a:lnTo>
                  <a:pt x="1183171" y="839350"/>
                </a:lnTo>
                <a:lnTo>
                  <a:pt x="1198601" y="796372"/>
                </a:lnTo>
                <a:lnTo>
                  <a:pt x="1210839" y="751979"/>
                </a:lnTo>
                <a:lnTo>
                  <a:pt x="1219750" y="706305"/>
                </a:lnTo>
                <a:lnTo>
                  <a:pt x="1225196" y="659488"/>
                </a:lnTo>
                <a:lnTo>
                  <a:pt x="1227042" y="611662"/>
                </a:lnTo>
                <a:lnTo>
                  <a:pt x="1225196" y="563864"/>
                </a:lnTo>
                <a:lnTo>
                  <a:pt x="1219750" y="517070"/>
                </a:lnTo>
                <a:lnTo>
                  <a:pt x="1210839" y="471414"/>
                </a:lnTo>
                <a:lnTo>
                  <a:pt x="1198601" y="427034"/>
                </a:lnTo>
                <a:lnTo>
                  <a:pt x="1183171" y="384066"/>
                </a:lnTo>
                <a:lnTo>
                  <a:pt x="1164687" y="342647"/>
                </a:lnTo>
                <a:lnTo>
                  <a:pt x="1143284" y="302913"/>
                </a:lnTo>
                <a:lnTo>
                  <a:pt x="1119100" y="265000"/>
                </a:lnTo>
                <a:lnTo>
                  <a:pt x="1092270" y="229046"/>
                </a:lnTo>
                <a:lnTo>
                  <a:pt x="1062931" y="195186"/>
                </a:lnTo>
                <a:lnTo>
                  <a:pt x="1031219" y="163557"/>
                </a:lnTo>
                <a:lnTo>
                  <a:pt x="997271" y="134296"/>
                </a:lnTo>
                <a:lnTo>
                  <a:pt x="961224" y="107539"/>
                </a:lnTo>
                <a:lnTo>
                  <a:pt x="923213" y="83422"/>
                </a:lnTo>
                <a:lnTo>
                  <a:pt x="883375" y="62082"/>
                </a:lnTo>
                <a:lnTo>
                  <a:pt x="841848" y="43655"/>
                </a:lnTo>
                <a:lnTo>
                  <a:pt x="798766" y="28278"/>
                </a:lnTo>
                <a:lnTo>
                  <a:pt x="754267" y="16088"/>
                </a:lnTo>
                <a:lnTo>
                  <a:pt x="708487" y="7220"/>
                </a:lnTo>
                <a:lnTo>
                  <a:pt x="661562" y="1812"/>
                </a:lnTo>
                <a:lnTo>
                  <a:pt x="613629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83936" y="1164537"/>
            <a:ext cx="1227455" cy="1223645"/>
          </a:xfrm>
          <a:custGeom>
            <a:avLst/>
            <a:gdLst/>
            <a:ahLst/>
            <a:cxnLst/>
            <a:rect l="l" t="t" r="r" b="b"/>
            <a:pathLst>
              <a:path w="1227454" h="1223645">
                <a:moveTo>
                  <a:pt x="0" y="611662"/>
                </a:moveTo>
                <a:lnTo>
                  <a:pt x="1845" y="563866"/>
                </a:lnTo>
                <a:lnTo>
                  <a:pt x="7292" y="517075"/>
                </a:lnTo>
                <a:lnTo>
                  <a:pt x="16203" y="471425"/>
                </a:lnTo>
                <a:lnTo>
                  <a:pt x="28442" y="427053"/>
                </a:lnTo>
                <a:lnTo>
                  <a:pt x="43873" y="384094"/>
                </a:lnTo>
                <a:lnTo>
                  <a:pt x="62359" y="342685"/>
                </a:lnTo>
                <a:lnTo>
                  <a:pt x="83765" y="302961"/>
                </a:lnTo>
                <a:lnTo>
                  <a:pt x="107953" y="265059"/>
                </a:lnTo>
                <a:lnTo>
                  <a:pt x="134788" y="229114"/>
                </a:lnTo>
                <a:lnTo>
                  <a:pt x="164134" y="195263"/>
                </a:lnTo>
                <a:lnTo>
                  <a:pt x="195853" y="163642"/>
                </a:lnTo>
                <a:lnTo>
                  <a:pt x="229810" y="134387"/>
                </a:lnTo>
                <a:lnTo>
                  <a:pt x="265868" y="107633"/>
                </a:lnTo>
                <a:lnTo>
                  <a:pt x="303892" y="83518"/>
                </a:lnTo>
                <a:lnTo>
                  <a:pt x="343744" y="62176"/>
                </a:lnTo>
                <a:lnTo>
                  <a:pt x="385289" y="43745"/>
                </a:lnTo>
                <a:lnTo>
                  <a:pt x="428390" y="28359"/>
                </a:lnTo>
                <a:lnTo>
                  <a:pt x="472910" y="16156"/>
                </a:lnTo>
                <a:lnTo>
                  <a:pt x="518715" y="7271"/>
                </a:lnTo>
                <a:lnTo>
                  <a:pt x="565666" y="1840"/>
                </a:lnTo>
                <a:lnTo>
                  <a:pt x="613629" y="0"/>
                </a:lnTo>
                <a:lnTo>
                  <a:pt x="661561" y="1812"/>
                </a:lnTo>
                <a:lnTo>
                  <a:pt x="708486" y="7220"/>
                </a:lnTo>
                <a:lnTo>
                  <a:pt x="754266" y="16088"/>
                </a:lnTo>
                <a:lnTo>
                  <a:pt x="798766" y="28278"/>
                </a:lnTo>
                <a:lnTo>
                  <a:pt x="841847" y="43655"/>
                </a:lnTo>
                <a:lnTo>
                  <a:pt x="883375" y="62082"/>
                </a:lnTo>
                <a:lnTo>
                  <a:pt x="923213" y="83422"/>
                </a:lnTo>
                <a:lnTo>
                  <a:pt x="961223" y="107539"/>
                </a:lnTo>
                <a:lnTo>
                  <a:pt x="997271" y="134296"/>
                </a:lnTo>
                <a:lnTo>
                  <a:pt x="1031219" y="163558"/>
                </a:lnTo>
                <a:lnTo>
                  <a:pt x="1062930" y="195186"/>
                </a:lnTo>
                <a:lnTo>
                  <a:pt x="1092269" y="229046"/>
                </a:lnTo>
                <a:lnTo>
                  <a:pt x="1119099" y="265001"/>
                </a:lnTo>
                <a:lnTo>
                  <a:pt x="1143284" y="302913"/>
                </a:lnTo>
                <a:lnTo>
                  <a:pt x="1164686" y="342647"/>
                </a:lnTo>
                <a:lnTo>
                  <a:pt x="1183171" y="384066"/>
                </a:lnTo>
                <a:lnTo>
                  <a:pt x="1198600" y="427034"/>
                </a:lnTo>
                <a:lnTo>
                  <a:pt x="1210838" y="471414"/>
                </a:lnTo>
                <a:lnTo>
                  <a:pt x="1219749" y="517070"/>
                </a:lnTo>
                <a:lnTo>
                  <a:pt x="1225195" y="563865"/>
                </a:lnTo>
                <a:lnTo>
                  <a:pt x="1227041" y="611662"/>
                </a:lnTo>
                <a:lnTo>
                  <a:pt x="1225195" y="659488"/>
                </a:lnTo>
                <a:lnTo>
                  <a:pt x="1219749" y="706305"/>
                </a:lnTo>
                <a:lnTo>
                  <a:pt x="1210838" y="751979"/>
                </a:lnTo>
                <a:lnTo>
                  <a:pt x="1198600" y="796372"/>
                </a:lnTo>
                <a:lnTo>
                  <a:pt x="1183171" y="839350"/>
                </a:lnTo>
                <a:lnTo>
                  <a:pt x="1164686" y="880777"/>
                </a:lnTo>
                <a:lnTo>
                  <a:pt x="1143284" y="920515"/>
                </a:lnTo>
                <a:lnTo>
                  <a:pt x="1119099" y="958430"/>
                </a:lnTo>
                <a:lnTo>
                  <a:pt x="1092269" y="994386"/>
                </a:lnTo>
                <a:lnTo>
                  <a:pt x="1062930" y="1028246"/>
                </a:lnTo>
                <a:lnTo>
                  <a:pt x="1031219" y="1059875"/>
                </a:lnTo>
                <a:lnTo>
                  <a:pt x="997271" y="1089136"/>
                </a:lnTo>
                <a:lnTo>
                  <a:pt x="961223" y="1115895"/>
                </a:lnTo>
                <a:lnTo>
                  <a:pt x="923213" y="1140014"/>
                </a:lnTo>
                <a:lnTo>
                  <a:pt x="883375" y="1161359"/>
                </a:lnTo>
                <a:lnTo>
                  <a:pt x="841847" y="1179793"/>
                </a:lnTo>
                <a:lnTo>
                  <a:pt x="798766" y="1195179"/>
                </a:lnTo>
                <a:lnTo>
                  <a:pt x="754266" y="1207384"/>
                </a:lnTo>
                <a:lnTo>
                  <a:pt x="708486" y="1216269"/>
                </a:lnTo>
                <a:lnTo>
                  <a:pt x="661561" y="1221700"/>
                </a:lnTo>
                <a:lnTo>
                  <a:pt x="613629" y="1223541"/>
                </a:lnTo>
                <a:lnTo>
                  <a:pt x="565666" y="1221700"/>
                </a:lnTo>
                <a:lnTo>
                  <a:pt x="518715" y="1216269"/>
                </a:lnTo>
                <a:lnTo>
                  <a:pt x="472910" y="1207384"/>
                </a:lnTo>
                <a:lnTo>
                  <a:pt x="428390" y="1195179"/>
                </a:lnTo>
                <a:lnTo>
                  <a:pt x="385289" y="1179793"/>
                </a:lnTo>
                <a:lnTo>
                  <a:pt x="343744" y="1161359"/>
                </a:lnTo>
                <a:lnTo>
                  <a:pt x="303892" y="1140014"/>
                </a:lnTo>
                <a:lnTo>
                  <a:pt x="265868" y="1115895"/>
                </a:lnTo>
                <a:lnTo>
                  <a:pt x="229810" y="1089136"/>
                </a:lnTo>
                <a:lnTo>
                  <a:pt x="195853" y="1059875"/>
                </a:lnTo>
                <a:lnTo>
                  <a:pt x="164134" y="1028246"/>
                </a:lnTo>
                <a:lnTo>
                  <a:pt x="134788" y="994386"/>
                </a:lnTo>
                <a:lnTo>
                  <a:pt x="107953" y="958430"/>
                </a:lnTo>
                <a:lnTo>
                  <a:pt x="83765" y="920515"/>
                </a:lnTo>
                <a:lnTo>
                  <a:pt x="62359" y="880777"/>
                </a:lnTo>
                <a:lnTo>
                  <a:pt x="43873" y="839350"/>
                </a:lnTo>
                <a:lnTo>
                  <a:pt x="28442" y="796372"/>
                </a:lnTo>
                <a:lnTo>
                  <a:pt x="16203" y="751979"/>
                </a:lnTo>
                <a:lnTo>
                  <a:pt x="7292" y="706305"/>
                </a:lnTo>
                <a:lnTo>
                  <a:pt x="1845" y="659488"/>
                </a:lnTo>
                <a:lnTo>
                  <a:pt x="0" y="611662"/>
                </a:lnTo>
                <a:close/>
              </a:path>
            </a:pathLst>
          </a:custGeom>
          <a:ln w="51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38549" y="1647601"/>
            <a:ext cx="71818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0">
                <a:latin typeface="MS Gothic"/>
                <a:cs typeface="MS Gothic"/>
              </a:rPr>
              <a:t>需求建模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92784" y="2082031"/>
            <a:ext cx="1227455" cy="0"/>
          </a:xfrm>
          <a:custGeom>
            <a:avLst/>
            <a:gdLst/>
            <a:ahLst/>
            <a:cxnLst/>
            <a:rect l="l" t="t" r="r" b="b"/>
            <a:pathLst>
              <a:path w="1227454" h="0">
                <a:moveTo>
                  <a:pt x="0" y="0"/>
                </a:moveTo>
                <a:lnTo>
                  <a:pt x="1227041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92784" y="1470369"/>
            <a:ext cx="1227455" cy="0"/>
          </a:xfrm>
          <a:custGeom>
            <a:avLst/>
            <a:gdLst/>
            <a:ahLst/>
            <a:cxnLst/>
            <a:rect l="l" t="t" r="r" b="b"/>
            <a:pathLst>
              <a:path w="1227454" h="0">
                <a:moveTo>
                  <a:pt x="0" y="0"/>
                </a:moveTo>
                <a:lnTo>
                  <a:pt x="1227041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47397" y="1647601"/>
            <a:ext cx="71818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0">
                <a:latin typeface="MS Gothic"/>
                <a:cs typeface="MS Gothic"/>
              </a:rPr>
              <a:t>系</a:t>
            </a:r>
            <a:r>
              <a:rPr dirty="0" sz="1350" spc="10">
                <a:latin typeface="宋体"/>
                <a:cs typeface="宋体"/>
              </a:rPr>
              <a:t>统</a:t>
            </a:r>
            <a:r>
              <a:rPr dirty="0" sz="1350" spc="10">
                <a:latin typeface="MS Gothic"/>
                <a:cs typeface="MS Gothic"/>
              </a:rPr>
              <a:t>模型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83936" y="2877581"/>
            <a:ext cx="1227455" cy="1223645"/>
          </a:xfrm>
          <a:custGeom>
            <a:avLst/>
            <a:gdLst/>
            <a:ahLst/>
            <a:cxnLst/>
            <a:rect l="l" t="t" r="r" b="b"/>
            <a:pathLst>
              <a:path w="1227454" h="1223645">
                <a:moveTo>
                  <a:pt x="613629" y="0"/>
                </a:moveTo>
                <a:lnTo>
                  <a:pt x="565667" y="1840"/>
                </a:lnTo>
                <a:lnTo>
                  <a:pt x="518715" y="7271"/>
                </a:lnTo>
                <a:lnTo>
                  <a:pt x="472911" y="16156"/>
                </a:lnTo>
                <a:lnTo>
                  <a:pt x="428390" y="28359"/>
                </a:lnTo>
                <a:lnTo>
                  <a:pt x="385289" y="43745"/>
                </a:lnTo>
                <a:lnTo>
                  <a:pt x="343744" y="62176"/>
                </a:lnTo>
                <a:lnTo>
                  <a:pt x="303892" y="83518"/>
                </a:lnTo>
                <a:lnTo>
                  <a:pt x="265869" y="107634"/>
                </a:lnTo>
                <a:lnTo>
                  <a:pt x="229810" y="134387"/>
                </a:lnTo>
                <a:lnTo>
                  <a:pt x="195853" y="163642"/>
                </a:lnTo>
                <a:lnTo>
                  <a:pt x="164134" y="195264"/>
                </a:lnTo>
                <a:lnTo>
                  <a:pt x="134788" y="229115"/>
                </a:lnTo>
                <a:lnTo>
                  <a:pt x="107953" y="265059"/>
                </a:lnTo>
                <a:lnTo>
                  <a:pt x="83765" y="302961"/>
                </a:lnTo>
                <a:lnTo>
                  <a:pt x="62359" y="342685"/>
                </a:lnTo>
                <a:lnTo>
                  <a:pt x="43873" y="384095"/>
                </a:lnTo>
                <a:lnTo>
                  <a:pt x="28442" y="427053"/>
                </a:lnTo>
                <a:lnTo>
                  <a:pt x="16203" y="471426"/>
                </a:lnTo>
                <a:lnTo>
                  <a:pt x="7292" y="517075"/>
                </a:lnTo>
                <a:lnTo>
                  <a:pt x="1845" y="563866"/>
                </a:lnTo>
                <a:lnTo>
                  <a:pt x="0" y="611662"/>
                </a:lnTo>
                <a:lnTo>
                  <a:pt x="1845" y="659487"/>
                </a:lnTo>
                <a:lnTo>
                  <a:pt x="7292" y="706304"/>
                </a:lnTo>
                <a:lnTo>
                  <a:pt x="16203" y="751976"/>
                </a:lnTo>
                <a:lnTo>
                  <a:pt x="28442" y="796368"/>
                </a:lnTo>
                <a:lnTo>
                  <a:pt x="43873" y="839344"/>
                </a:lnTo>
                <a:lnTo>
                  <a:pt x="62359" y="880768"/>
                </a:lnTo>
                <a:lnTo>
                  <a:pt x="83765" y="920504"/>
                </a:lnTo>
                <a:lnTo>
                  <a:pt x="107953" y="958416"/>
                </a:lnTo>
                <a:lnTo>
                  <a:pt x="134788" y="994369"/>
                </a:lnTo>
                <a:lnTo>
                  <a:pt x="164134" y="1028226"/>
                </a:lnTo>
                <a:lnTo>
                  <a:pt x="195853" y="1059852"/>
                </a:lnTo>
                <a:lnTo>
                  <a:pt x="229810" y="1089111"/>
                </a:lnTo>
                <a:lnTo>
                  <a:pt x="265869" y="1115866"/>
                </a:lnTo>
                <a:lnTo>
                  <a:pt x="303892" y="1139983"/>
                </a:lnTo>
                <a:lnTo>
                  <a:pt x="343744" y="1161325"/>
                </a:lnTo>
                <a:lnTo>
                  <a:pt x="385289" y="1179756"/>
                </a:lnTo>
                <a:lnTo>
                  <a:pt x="428390" y="1195141"/>
                </a:lnTo>
                <a:lnTo>
                  <a:pt x="472911" y="1207344"/>
                </a:lnTo>
                <a:lnTo>
                  <a:pt x="518715" y="1216228"/>
                </a:lnTo>
                <a:lnTo>
                  <a:pt x="565667" y="1221658"/>
                </a:lnTo>
                <a:lnTo>
                  <a:pt x="613629" y="1223498"/>
                </a:lnTo>
                <a:lnTo>
                  <a:pt x="661562" y="1221658"/>
                </a:lnTo>
                <a:lnTo>
                  <a:pt x="708487" y="1216228"/>
                </a:lnTo>
                <a:lnTo>
                  <a:pt x="754267" y="1207344"/>
                </a:lnTo>
                <a:lnTo>
                  <a:pt x="798766" y="1195141"/>
                </a:lnTo>
                <a:lnTo>
                  <a:pt x="841848" y="1179756"/>
                </a:lnTo>
                <a:lnTo>
                  <a:pt x="883375" y="1161325"/>
                </a:lnTo>
                <a:lnTo>
                  <a:pt x="923213" y="1139983"/>
                </a:lnTo>
                <a:lnTo>
                  <a:pt x="961224" y="1115866"/>
                </a:lnTo>
                <a:lnTo>
                  <a:pt x="997271" y="1089111"/>
                </a:lnTo>
                <a:lnTo>
                  <a:pt x="1031219" y="1059852"/>
                </a:lnTo>
                <a:lnTo>
                  <a:pt x="1062931" y="1028226"/>
                </a:lnTo>
                <a:lnTo>
                  <a:pt x="1092270" y="994369"/>
                </a:lnTo>
                <a:lnTo>
                  <a:pt x="1119100" y="958416"/>
                </a:lnTo>
                <a:lnTo>
                  <a:pt x="1143284" y="920504"/>
                </a:lnTo>
                <a:lnTo>
                  <a:pt x="1164687" y="880768"/>
                </a:lnTo>
                <a:lnTo>
                  <a:pt x="1183171" y="839344"/>
                </a:lnTo>
                <a:lnTo>
                  <a:pt x="1198601" y="796368"/>
                </a:lnTo>
                <a:lnTo>
                  <a:pt x="1210839" y="751976"/>
                </a:lnTo>
                <a:lnTo>
                  <a:pt x="1219750" y="706304"/>
                </a:lnTo>
                <a:lnTo>
                  <a:pt x="1225196" y="659487"/>
                </a:lnTo>
                <a:lnTo>
                  <a:pt x="1227042" y="611662"/>
                </a:lnTo>
                <a:lnTo>
                  <a:pt x="1225196" y="563866"/>
                </a:lnTo>
                <a:lnTo>
                  <a:pt x="1219750" y="517075"/>
                </a:lnTo>
                <a:lnTo>
                  <a:pt x="1210839" y="471426"/>
                </a:lnTo>
                <a:lnTo>
                  <a:pt x="1198601" y="427053"/>
                </a:lnTo>
                <a:lnTo>
                  <a:pt x="1183171" y="384095"/>
                </a:lnTo>
                <a:lnTo>
                  <a:pt x="1164687" y="342685"/>
                </a:lnTo>
                <a:lnTo>
                  <a:pt x="1143284" y="302961"/>
                </a:lnTo>
                <a:lnTo>
                  <a:pt x="1119100" y="265059"/>
                </a:lnTo>
                <a:lnTo>
                  <a:pt x="1092270" y="229115"/>
                </a:lnTo>
                <a:lnTo>
                  <a:pt x="1062931" y="195264"/>
                </a:lnTo>
                <a:lnTo>
                  <a:pt x="1031219" y="163642"/>
                </a:lnTo>
                <a:lnTo>
                  <a:pt x="997271" y="134387"/>
                </a:lnTo>
                <a:lnTo>
                  <a:pt x="961224" y="107634"/>
                </a:lnTo>
                <a:lnTo>
                  <a:pt x="923213" y="83518"/>
                </a:lnTo>
                <a:lnTo>
                  <a:pt x="883375" y="62176"/>
                </a:lnTo>
                <a:lnTo>
                  <a:pt x="841848" y="43745"/>
                </a:lnTo>
                <a:lnTo>
                  <a:pt x="798766" y="28359"/>
                </a:lnTo>
                <a:lnTo>
                  <a:pt x="754267" y="16156"/>
                </a:lnTo>
                <a:lnTo>
                  <a:pt x="708487" y="7271"/>
                </a:lnTo>
                <a:lnTo>
                  <a:pt x="661562" y="1840"/>
                </a:lnTo>
                <a:lnTo>
                  <a:pt x="613629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83936" y="2877581"/>
            <a:ext cx="1227455" cy="1223645"/>
          </a:xfrm>
          <a:custGeom>
            <a:avLst/>
            <a:gdLst/>
            <a:ahLst/>
            <a:cxnLst/>
            <a:rect l="l" t="t" r="r" b="b"/>
            <a:pathLst>
              <a:path w="1227454" h="1223645">
                <a:moveTo>
                  <a:pt x="0" y="611662"/>
                </a:moveTo>
                <a:lnTo>
                  <a:pt x="1845" y="563866"/>
                </a:lnTo>
                <a:lnTo>
                  <a:pt x="7292" y="517075"/>
                </a:lnTo>
                <a:lnTo>
                  <a:pt x="16203" y="471425"/>
                </a:lnTo>
                <a:lnTo>
                  <a:pt x="28442" y="427053"/>
                </a:lnTo>
                <a:lnTo>
                  <a:pt x="43873" y="384094"/>
                </a:lnTo>
                <a:lnTo>
                  <a:pt x="62359" y="342685"/>
                </a:lnTo>
                <a:lnTo>
                  <a:pt x="83765" y="302961"/>
                </a:lnTo>
                <a:lnTo>
                  <a:pt x="107953" y="265059"/>
                </a:lnTo>
                <a:lnTo>
                  <a:pt x="134788" y="229114"/>
                </a:lnTo>
                <a:lnTo>
                  <a:pt x="164134" y="195263"/>
                </a:lnTo>
                <a:lnTo>
                  <a:pt x="195853" y="163642"/>
                </a:lnTo>
                <a:lnTo>
                  <a:pt x="229810" y="134387"/>
                </a:lnTo>
                <a:lnTo>
                  <a:pt x="265868" y="107633"/>
                </a:lnTo>
                <a:lnTo>
                  <a:pt x="303892" y="83518"/>
                </a:lnTo>
                <a:lnTo>
                  <a:pt x="343744" y="62176"/>
                </a:lnTo>
                <a:lnTo>
                  <a:pt x="385289" y="43745"/>
                </a:lnTo>
                <a:lnTo>
                  <a:pt x="428390" y="28359"/>
                </a:lnTo>
                <a:lnTo>
                  <a:pt x="472910" y="16156"/>
                </a:lnTo>
                <a:lnTo>
                  <a:pt x="518715" y="7271"/>
                </a:lnTo>
                <a:lnTo>
                  <a:pt x="565666" y="1840"/>
                </a:lnTo>
                <a:lnTo>
                  <a:pt x="613629" y="0"/>
                </a:lnTo>
                <a:lnTo>
                  <a:pt x="661561" y="1840"/>
                </a:lnTo>
                <a:lnTo>
                  <a:pt x="708486" y="7271"/>
                </a:lnTo>
                <a:lnTo>
                  <a:pt x="754266" y="16156"/>
                </a:lnTo>
                <a:lnTo>
                  <a:pt x="798766" y="28359"/>
                </a:lnTo>
                <a:lnTo>
                  <a:pt x="841847" y="43745"/>
                </a:lnTo>
                <a:lnTo>
                  <a:pt x="883375" y="62176"/>
                </a:lnTo>
                <a:lnTo>
                  <a:pt x="923213" y="83518"/>
                </a:lnTo>
                <a:lnTo>
                  <a:pt x="961223" y="107633"/>
                </a:lnTo>
                <a:lnTo>
                  <a:pt x="997271" y="134387"/>
                </a:lnTo>
                <a:lnTo>
                  <a:pt x="1031219" y="163642"/>
                </a:lnTo>
                <a:lnTo>
                  <a:pt x="1062930" y="195263"/>
                </a:lnTo>
                <a:lnTo>
                  <a:pt x="1092269" y="229114"/>
                </a:lnTo>
                <a:lnTo>
                  <a:pt x="1119099" y="265059"/>
                </a:lnTo>
                <a:lnTo>
                  <a:pt x="1143284" y="302961"/>
                </a:lnTo>
                <a:lnTo>
                  <a:pt x="1164686" y="342685"/>
                </a:lnTo>
                <a:lnTo>
                  <a:pt x="1183171" y="384094"/>
                </a:lnTo>
                <a:lnTo>
                  <a:pt x="1198600" y="427053"/>
                </a:lnTo>
                <a:lnTo>
                  <a:pt x="1210838" y="471425"/>
                </a:lnTo>
                <a:lnTo>
                  <a:pt x="1219749" y="517075"/>
                </a:lnTo>
                <a:lnTo>
                  <a:pt x="1225195" y="563866"/>
                </a:lnTo>
                <a:lnTo>
                  <a:pt x="1227041" y="611662"/>
                </a:lnTo>
                <a:lnTo>
                  <a:pt x="1225195" y="659487"/>
                </a:lnTo>
                <a:lnTo>
                  <a:pt x="1219749" y="706304"/>
                </a:lnTo>
                <a:lnTo>
                  <a:pt x="1210838" y="751976"/>
                </a:lnTo>
                <a:lnTo>
                  <a:pt x="1198600" y="796368"/>
                </a:lnTo>
                <a:lnTo>
                  <a:pt x="1183171" y="839344"/>
                </a:lnTo>
                <a:lnTo>
                  <a:pt x="1164686" y="880768"/>
                </a:lnTo>
                <a:lnTo>
                  <a:pt x="1143284" y="920504"/>
                </a:lnTo>
                <a:lnTo>
                  <a:pt x="1119099" y="958416"/>
                </a:lnTo>
                <a:lnTo>
                  <a:pt x="1092269" y="994369"/>
                </a:lnTo>
                <a:lnTo>
                  <a:pt x="1062930" y="1028226"/>
                </a:lnTo>
                <a:lnTo>
                  <a:pt x="1031219" y="1059852"/>
                </a:lnTo>
                <a:lnTo>
                  <a:pt x="997271" y="1089110"/>
                </a:lnTo>
                <a:lnTo>
                  <a:pt x="961223" y="1115866"/>
                </a:lnTo>
                <a:lnTo>
                  <a:pt x="923213" y="1139982"/>
                </a:lnTo>
                <a:lnTo>
                  <a:pt x="883375" y="1161324"/>
                </a:lnTo>
                <a:lnTo>
                  <a:pt x="841847" y="1179756"/>
                </a:lnTo>
                <a:lnTo>
                  <a:pt x="798766" y="1195140"/>
                </a:lnTo>
                <a:lnTo>
                  <a:pt x="754266" y="1207343"/>
                </a:lnTo>
                <a:lnTo>
                  <a:pt x="708486" y="1216227"/>
                </a:lnTo>
                <a:lnTo>
                  <a:pt x="661561" y="1221657"/>
                </a:lnTo>
                <a:lnTo>
                  <a:pt x="613629" y="1223497"/>
                </a:lnTo>
                <a:lnTo>
                  <a:pt x="565666" y="1221657"/>
                </a:lnTo>
                <a:lnTo>
                  <a:pt x="518715" y="1216227"/>
                </a:lnTo>
                <a:lnTo>
                  <a:pt x="472910" y="1207343"/>
                </a:lnTo>
                <a:lnTo>
                  <a:pt x="428390" y="1195140"/>
                </a:lnTo>
                <a:lnTo>
                  <a:pt x="385289" y="1179756"/>
                </a:lnTo>
                <a:lnTo>
                  <a:pt x="343744" y="1161324"/>
                </a:lnTo>
                <a:lnTo>
                  <a:pt x="303892" y="1139982"/>
                </a:lnTo>
                <a:lnTo>
                  <a:pt x="265868" y="1115866"/>
                </a:lnTo>
                <a:lnTo>
                  <a:pt x="229810" y="1089110"/>
                </a:lnTo>
                <a:lnTo>
                  <a:pt x="195853" y="1059852"/>
                </a:lnTo>
                <a:lnTo>
                  <a:pt x="164134" y="1028226"/>
                </a:lnTo>
                <a:lnTo>
                  <a:pt x="134788" y="994369"/>
                </a:lnTo>
                <a:lnTo>
                  <a:pt x="107953" y="958416"/>
                </a:lnTo>
                <a:lnTo>
                  <a:pt x="83765" y="920504"/>
                </a:lnTo>
                <a:lnTo>
                  <a:pt x="62359" y="880768"/>
                </a:lnTo>
                <a:lnTo>
                  <a:pt x="43873" y="839344"/>
                </a:lnTo>
                <a:lnTo>
                  <a:pt x="28442" y="796368"/>
                </a:lnTo>
                <a:lnTo>
                  <a:pt x="16203" y="751976"/>
                </a:lnTo>
                <a:lnTo>
                  <a:pt x="7292" y="706304"/>
                </a:lnTo>
                <a:lnTo>
                  <a:pt x="1845" y="659487"/>
                </a:lnTo>
                <a:lnTo>
                  <a:pt x="0" y="611662"/>
                </a:lnTo>
                <a:close/>
              </a:path>
            </a:pathLst>
          </a:custGeom>
          <a:ln w="51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38549" y="3360645"/>
            <a:ext cx="71818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0">
                <a:latin typeface="MS Gothic"/>
                <a:cs typeface="MS Gothic"/>
              </a:rPr>
              <a:t>需求</a:t>
            </a:r>
            <a:r>
              <a:rPr dirty="0" sz="1350" spc="10">
                <a:latin typeface="宋体"/>
                <a:cs typeface="宋体"/>
              </a:rPr>
              <a:t>细</a:t>
            </a:r>
            <a:r>
              <a:rPr dirty="0" sz="1350" spc="10">
                <a:latin typeface="MS Gothic"/>
                <a:cs typeface="MS Gothic"/>
              </a:rPr>
              <a:t>化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83936" y="5385873"/>
            <a:ext cx="1227455" cy="0"/>
          </a:xfrm>
          <a:custGeom>
            <a:avLst/>
            <a:gdLst/>
            <a:ahLst/>
            <a:cxnLst/>
            <a:rect l="l" t="t" r="r" b="b"/>
            <a:pathLst>
              <a:path w="1227454" h="0">
                <a:moveTo>
                  <a:pt x="0" y="0"/>
                </a:moveTo>
                <a:lnTo>
                  <a:pt x="1227041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83936" y="4774059"/>
            <a:ext cx="1227455" cy="0"/>
          </a:xfrm>
          <a:custGeom>
            <a:avLst/>
            <a:gdLst/>
            <a:ahLst/>
            <a:cxnLst/>
            <a:rect l="l" t="t" r="r" b="b"/>
            <a:pathLst>
              <a:path w="1227454" h="0">
                <a:moveTo>
                  <a:pt x="0" y="0"/>
                </a:moveTo>
                <a:lnTo>
                  <a:pt x="1227041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338549" y="4951421"/>
            <a:ext cx="71818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0">
                <a:latin typeface="MS Gothic"/>
                <a:cs typeface="MS Gothic"/>
              </a:rPr>
              <a:t>系</a:t>
            </a:r>
            <a:r>
              <a:rPr dirty="0" sz="1350" spc="10">
                <a:latin typeface="宋体"/>
                <a:cs typeface="宋体"/>
              </a:rPr>
              <a:t>统</a:t>
            </a:r>
            <a:r>
              <a:rPr dirty="0" sz="1350" spc="10">
                <a:latin typeface="MS Gothic"/>
                <a:cs typeface="MS Gothic"/>
              </a:rPr>
              <a:t>需求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29745" y="4468163"/>
            <a:ext cx="1227455" cy="1223645"/>
          </a:xfrm>
          <a:custGeom>
            <a:avLst/>
            <a:gdLst/>
            <a:ahLst/>
            <a:cxnLst/>
            <a:rect l="l" t="t" r="r" b="b"/>
            <a:pathLst>
              <a:path w="1227455" h="1223645">
                <a:moveTo>
                  <a:pt x="613542" y="0"/>
                </a:moveTo>
                <a:lnTo>
                  <a:pt x="565594" y="1840"/>
                </a:lnTo>
                <a:lnTo>
                  <a:pt x="518655" y="7271"/>
                </a:lnTo>
                <a:lnTo>
                  <a:pt x="472862" y="16157"/>
                </a:lnTo>
                <a:lnTo>
                  <a:pt x="428352" y="28362"/>
                </a:lnTo>
                <a:lnTo>
                  <a:pt x="385259" y="43749"/>
                </a:lnTo>
                <a:lnTo>
                  <a:pt x="343722" y="62183"/>
                </a:lnTo>
                <a:lnTo>
                  <a:pt x="303876" y="83527"/>
                </a:lnTo>
                <a:lnTo>
                  <a:pt x="265857" y="107646"/>
                </a:lnTo>
                <a:lnTo>
                  <a:pt x="229803" y="134404"/>
                </a:lnTo>
                <a:lnTo>
                  <a:pt x="195849" y="163664"/>
                </a:lnTo>
                <a:lnTo>
                  <a:pt x="164132" y="195290"/>
                </a:lnTo>
                <a:lnTo>
                  <a:pt x="134788" y="229147"/>
                </a:lnTo>
                <a:lnTo>
                  <a:pt x="107954" y="265099"/>
                </a:lnTo>
                <a:lnTo>
                  <a:pt x="83766" y="303009"/>
                </a:lnTo>
                <a:lnTo>
                  <a:pt x="62361" y="342741"/>
                </a:lnTo>
                <a:lnTo>
                  <a:pt x="43874" y="384160"/>
                </a:lnTo>
                <a:lnTo>
                  <a:pt x="28443" y="427130"/>
                </a:lnTo>
                <a:lnTo>
                  <a:pt x="16204" y="471514"/>
                </a:lnTo>
                <a:lnTo>
                  <a:pt x="7292" y="517176"/>
                </a:lnTo>
                <a:lnTo>
                  <a:pt x="1845" y="563980"/>
                </a:lnTo>
                <a:lnTo>
                  <a:pt x="0" y="611792"/>
                </a:lnTo>
                <a:lnTo>
                  <a:pt x="1845" y="659605"/>
                </a:lnTo>
                <a:lnTo>
                  <a:pt x="7292" y="706413"/>
                </a:lnTo>
                <a:lnTo>
                  <a:pt x="16204" y="752077"/>
                </a:lnTo>
                <a:lnTo>
                  <a:pt x="28443" y="796463"/>
                </a:lnTo>
                <a:lnTo>
                  <a:pt x="43874" y="839435"/>
                </a:lnTo>
                <a:lnTo>
                  <a:pt x="62361" y="880855"/>
                </a:lnTo>
                <a:lnTo>
                  <a:pt x="83766" y="920589"/>
                </a:lnTo>
                <a:lnTo>
                  <a:pt x="107954" y="958501"/>
                </a:lnTo>
                <a:lnTo>
                  <a:pt x="134788" y="994453"/>
                </a:lnTo>
                <a:lnTo>
                  <a:pt x="164132" y="1028311"/>
                </a:lnTo>
                <a:lnTo>
                  <a:pt x="195849" y="1059939"/>
                </a:lnTo>
                <a:lnTo>
                  <a:pt x="229803" y="1089199"/>
                </a:lnTo>
                <a:lnTo>
                  <a:pt x="265857" y="1115957"/>
                </a:lnTo>
                <a:lnTo>
                  <a:pt x="303876" y="1140077"/>
                </a:lnTo>
                <a:lnTo>
                  <a:pt x="343722" y="1161421"/>
                </a:lnTo>
                <a:lnTo>
                  <a:pt x="385259" y="1179855"/>
                </a:lnTo>
                <a:lnTo>
                  <a:pt x="428352" y="1195243"/>
                </a:lnTo>
                <a:lnTo>
                  <a:pt x="472862" y="1207447"/>
                </a:lnTo>
                <a:lnTo>
                  <a:pt x="518655" y="1216333"/>
                </a:lnTo>
                <a:lnTo>
                  <a:pt x="565594" y="1221765"/>
                </a:lnTo>
                <a:lnTo>
                  <a:pt x="613542" y="1223605"/>
                </a:lnTo>
                <a:lnTo>
                  <a:pt x="661492" y="1221765"/>
                </a:lnTo>
                <a:lnTo>
                  <a:pt x="708434" y="1216333"/>
                </a:lnTo>
                <a:lnTo>
                  <a:pt x="754229" y="1207447"/>
                </a:lnTo>
                <a:lnTo>
                  <a:pt x="798742" y="1195243"/>
                </a:lnTo>
                <a:lnTo>
                  <a:pt x="841836" y="1179855"/>
                </a:lnTo>
                <a:lnTo>
                  <a:pt x="883375" y="1161421"/>
                </a:lnTo>
                <a:lnTo>
                  <a:pt x="923223" y="1140077"/>
                </a:lnTo>
                <a:lnTo>
                  <a:pt x="961242" y="1115957"/>
                </a:lnTo>
                <a:lnTo>
                  <a:pt x="997298" y="1089199"/>
                </a:lnTo>
                <a:lnTo>
                  <a:pt x="1031253" y="1059939"/>
                </a:lnTo>
                <a:lnTo>
                  <a:pt x="1062971" y="1028311"/>
                </a:lnTo>
                <a:lnTo>
                  <a:pt x="1092315" y="994453"/>
                </a:lnTo>
                <a:lnTo>
                  <a:pt x="1119149" y="958501"/>
                </a:lnTo>
                <a:lnTo>
                  <a:pt x="1143338" y="920589"/>
                </a:lnTo>
                <a:lnTo>
                  <a:pt x="1164743" y="880855"/>
                </a:lnTo>
                <a:lnTo>
                  <a:pt x="1183230" y="839435"/>
                </a:lnTo>
                <a:lnTo>
                  <a:pt x="1198661" y="796463"/>
                </a:lnTo>
                <a:lnTo>
                  <a:pt x="1210901" y="752077"/>
                </a:lnTo>
                <a:lnTo>
                  <a:pt x="1219812" y="706413"/>
                </a:lnTo>
                <a:lnTo>
                  <a:pt x="1225259" y="659605"/>
                </a:lnTo>
                <a:lnTo>
                  <a:pt x="1227105" y="611792"/>
                </a:lnTo>
                <a:lnTo>
                  <a:pt x="1225259" y="563980"/>
                </a:lnTo>
                <a:lnTo>
                  <a:pt x="1219812" y="517176"/>
                </a:lnTo>
                <a:lnTo>
                  <a:pt x="1210901" y="471514"/>
                </a:lnTo>
                <a:lnTo>
                  <a:pt x="1198661" y="427130"/>
                </a:lnTo>
                <a:lnTo>
                  <a:pt x="1183230" y="384160"/>
                </a:lnTo>
                <a:lnTo>
                  <a:pt x="1164743" y="342741"/>
                </a:lnTo>
                <a:lnTo>
                  <a:pt x="1143338" y="303009"/>
                </a:lnTo>
                <a:lnTo>
                  <a:pt x="1119149" y="265099"/>
                </a:lnTo>
                <a:lnTo>
                  <a:pt x="1092315" y="229147"/>
                </a:lnTo>
                <a:lnTo>
                  <a:pt x="1062971" y="195290"/>
                </a:lnTo>
                <a:lnTo>
                  <a:pt x="1031253" y="163664"/>
                </a:lnTo>
                <a:lnTo>
                  <a:pt x="997298" y="134404"/>
                </a:lnTo>
                <a:lnTo>
                  <a:pt x="961242" y="107646"/>
                </a:lnTo>
                <a:lnTo>
                  <a:pt x="923223" y="83527"/>
                </a:lnTo>
                <a:lnTo>
                  <a:pt x="883375" y="62183"/>
                </a:lnTo>
                <a:lnTo>
                  <a:pt x="841836" y="43749"/>
                </a:lnTo>
                <a:lnTo>
                  <a:pt x="798742" y="28362"/>
                </a:lnTo>
                <a:lnTo>
                  <a:pt x="754229" y="16157"/>
                </a:lnTo>
                <a:lnTo>
                  <a:pt x="708434" y="7271"/>
                </a:lnTo>
                <a:lnTo>
                  <a:pt x="661492" y="1840"/>
                </a:lnTo>
                <a:lnTo>
                  <a:pt x="613542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29745" y="4468163"/>
            <a:ext cx="1227455" cy="1223645"/>
          </a:xfrm>
          <a:custGeom>
            <a:avLst/>
            <a:gdLst/>
            <a:ahLst/>
            <a:cxnLst/>
            <a:rect l="l" t="t" r="r" b="b"/>
            <a:pathLst>
              <a:path w="1227455" h="1223645">
                <a:moveTo>
                  <a:pt x="0" y="611792"/>
                </a:moveTo>
                <a:lnTo>
                  <a:pt x="1845" y="563981"/>
                </a:lnTo>
                <a:lnTo>
                  <a:pt x="7292" y="517176"/>
                </a:lnTo>
                <a:lnTo>
                  <a:pt x="16204" y="471514"/>
                </a:lnTo>
                <a:lnTo>
                  <a:pt x="28443" y="427130"/>
                </a:lnTo>
                <a:lnTo>
                  <a:pt x="43874" y="384161"/>
                </a:lnTo>
                <a:lnTo>
                  <a:pt x="62361" y="342742"/>
                </a:lnTo>
                <a:lnTo>
                  <a:pt x="83766" y="303009"/>
                </a:lnTo>
                <a:lnTo>
                  <a:pt x="107954" y="265099"/>
                </a:lnTo>
                <a:lnTo>
                  <a:pt x="134788" y="229147"/>
                </a:lnTo>
                <a:lnTo>
                  <a:pt x="164132" y="195290"/>
                </a:lnTo>
                <a:lnTo>
                  <a:pt x="195849" y="163664"/>
                </a:lnTo>
                <a:lnTo>
                  <a:pt x="229803" y="134404"/>
                </a:lnTo>
                <a:lnTo>
                  <a:pt x="265857" y="107646"/>
                </a:lnTo>
                <a:lnTo>
                  <a:pt x="303876" y="83527"/>
                </a:lnTo>
                <a:lnTo>
                  <a:pt x="343722" y="62183"/>
                </a:lnTo>
                <a:lnTo>
                  <a:pt x="385260" y="43749"/>
                </a:lnTo>
                <a:lnTo>
                  <a:pt x="428352" y="28362"/>
                </a:lnTo>
                <a:lnTo>
                  <a:pt x="472863" y="16157"/>
                </a:lnTo>
                <a:lnTo>
                  <a:pt x="518656" y="7271"/>
                </a:lnTo>
                <a:lnTo>
                  <a:pt x="565594" y="1840"/>
                </a:lnTo>
                <a:lnTo>
                  <a:pt x="613542" y="0"/>
                </a:lnTo>
                <a:lnTo>
                  <a:pt x="661493" y="1840"/>
                </a:lnTo>
                <a:lnTo>
                  <a:pt x="708434" y="7271"/>
                </a:lnTo>
                <a:lnTo>
                  <a:pt x="754229" y="16157"/>
                </a:lnTo>
                <a:lnTo>
                  <a:pt x="798742" y="28362"/>
                </a:lnTo>
                <a:lnTo>
                  <a:pt x="841836" y="43749"/>
                </a:lnTo>
                <a:lnTo>
                  <a:pt x="883375" y="62183"/>
                </a:lnTo>
                <a:lnTo>
                  <a:pt x="923223" y="83527"/>
                </a:lnTo>
                <a:lnTo>
                  <a:pt x="961243" y="107646"/>
                </a:lnTo>
                <a:lnTo>
                  <a:pt x="997298" y="134404"/>
                </a:lnTo>
                <a:lnTo>
                  <a:pt x="1031253" y="163664"/>
                </a:lnTo>
                <a:lnTo>
                  <a:pt x="1062971" y="195290"/>
                </a:lnTo>
                <a:lnTo>
                  <a:pt x="1092315" y="229147"/>
                </a:lnTo>
                <a:lnTo>
                  <a:pt x="1119150" y="265099"/>
                </a:lnTo>
                <a:lnTo>
                  <a:pt x="1143338" y="303009"/>
                </a:lnTo>
                <a:lnTo>
                  <a:pt x="1164744" y="342742"/>
                </a:lnTo>
                <a:lnTo>
                  <a:pt x="1183231" y="384161"/>
                </a:lnTo>
                <a:lnTo>
                  <a:pt x="1198662" y="427130"/>
                </a:lnTo>
                <a:lnTo>
                  <a:pt x="1210902" y="471514"/>
                </a:lnTo>
                <a:lnTo>
                  <a:pt x="1219813" y="517176"/>
                </a:lnTo>
                <a:lnTo>
                  <a:pt x="1225260" y="563981"/>
                </a:lnTo>
                <a:lnTo>
                  <a:pt x="1227106" y="611792"/>
                </a:lnTo>
                <a:lnTo>
                  <a:pt x="1225260" y="659606"/>
                </a:lnTo>
                <a:lnTo>
                  <a:pt x="1219813" y="706413"/>
                </a:lnTo>
                <a:lnTo>
                  <a:pt x="1210902" y="752078"/>
                </a:lnTo>
                <a:lnTo>
                  <a:pt x="1198662" y="796464"/>
                </a:lnTo>
                <a:lnTo>
                  <a:pt x="1183231" y="839435"/>
                </a:lnTo>
                <a:lnTo>
                  <a:pt x="1164744" y="880855"/>
                </a:lnTo>
                <a:lnTo>
                  <a:pt x="1143338" y="920589"/>
                </a:lnTo>
                <a:lnTo>
                  <a:pt x="1119150" y="958501"/>
                </a:lnTo>
                <a:lnTo>
                  <a:pt x="1092315" y="994453"/>
                </a:lnTo>
                <a:lnTo>
                  <a:pt x="1062971" y="1028311"/>
                </a:lnTo>
                <a:lnTo>
                  <a:pt x="1031253" y="1059939"/>
                </a:lnTo>
                <a:lnTo>
                  <a:pt x="997298" y="1089199"/>
                </a:lnTo>
                <a:lnTo>
                  <a:pt x="961243" y="1115957"/>
                </a:lnTo>
                <a:lnTo>
                  <a:pt x="923223" y="1140077"/>
                </a:lnTo>
                <a:lnTo>
                  <a:pt x="883375" y="1161421"/>
                </a:lnTo>
                <a:lnTo>
                  <a:pt x="841836" y="1179855"/>
                </a:lnTo>
                <a:lnTo>
                  <a:pt x="798742" y="1195243"/>
                </a:lnTo>
                <a:lnTo>
                  <a:pt x="754229" y="1207447"/>
                </a:lnTo>
                <a:lnTo>
                  <a:pt x="708434" y="1216333"/>
                </a:lnTo>
                <a:lnTo>
                  <a:pt x="661493" y="1221765"/>
                </a:lnTo>
                <a:lnTo>
                  <a:pt x="613542" y="1223605"/>
                </a:lnTo>
                <a:lnTo>
                  <a:pt x="565594" y="1221765"/>
                </a:lnTo>
                <a:lnTo>
                  <a:pt x="518656" y="1216333"/>
                </a:lnTo>
                <a:lnTo>
                  <a:pt x="472863" y="1207447"/>
                </a:lnTo>
                <a:lnTo>
                  <a:pt x="428352" y="1195243"/>
                </a:lnTo>
                <a:lnTo>
                  <a:pt x="385260" y="1179855"/>
                </a:lnTo>
                <a:lnTo>
                  <a:pt x="343722" y="1161421"/>
                </a:lnTo>
                <a:lnTo>
                  <a:pt x="303876" y="1140077"/>
                </a:lnTo>
                <a:lnTo>
                  <a:pt x="265857" y="1115957"/>
                </a:lnTo>
                <a:lnTo>
                  <a:pt x="229803" y="1089199"/>
                </a:lnTo>
                <a:lnTo>
                  <a:pt x="195849" y="1059939"/>
                </a:lnTo>
                <a:lnTo>
                  <a:pt x="164132" y="1028311"/>
                </a:lnTo>
                <a:lnTo>
                  <a:pt x="134788" y="994453"/>
                </a:lnTo>
                <a:lnTo>
                  <a:pt x="107954" y="958501"/>
                </a:lnTo>
                <a:lnTo>
                  <a:pt x="83766" y="920589"/>
                </a:lnTo>
                <a:lnTo>
                  <a:pt x="62361" y="880855"/>
                </a:lnTo>
                <a:lnTo>
                  <a:pt x="43874" y="839435"/>
                </a:lnTo>
                <a:lnTo>
                  <a:pt x="28443" y="796464"/>
                </a:lnTo>
                <a:lnTo>
                  <a:pt x="16204" y="752078"/>
                </a:lnTo>
                <a:lnTo>
                  <a:pt x="7292" y="706413"/>
                </a:lnTo>
                <a:lnTo>
                  <a:pt x="1845" y="659606"/>
                </a:lnTo>
                <a:lnTo>
                  <a:pt x="0" y="611792"/>
                </a:lnTo>
                <a:close/>
              </a:path>
            </a:pathLst>
          </a:custGeom>
          <a:ln w="51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711199" y="4817755"/>
            <a:ext cx="1064895" cy="46990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dirty="0" sz="1350" spc="10">
                <a:latin typeface="MS Gothic"/>
                <a:cs typeface="MS Gothic"/>
              </a:rPr>
              <a:t>确定需求</a:t>
            </a:r>
            <a:r>
              <a:rPr dirty="0" sz="1350" spc="10">
                <a:latin typeface="宋体"/>
                <a:cs typeface="宋体"/>
              </a:rPr>
              <a:t>优</a:t>
            </a:r>
            <a:r>
              <a:rPr dirty="0" sz="1350" spc="10">
                <a:latin typeface="MS Gothic"/>
                <a:cs typeface="MS Gothic"/>
              </a:rPr>
              <a:t>先</a:t>
            </a:r>
            <a:endParaRPr sz="1350">
              <a:latin typeface="MS Gothic"/>
              <a:cs typeface="MS Gothic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350" spc="10">
                <a:latin typeface="宋体"/>
                <a:cs typeface="宋体"/>
              </a:rPr>
              <a:t>级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660962" y="4468163"/>
            <a:ext cx="1227455" cy="1223645"/>
          </a:xfrm>
          <a:custGeom>
            <a:avLst/>
            <a:gdLst/>
            <a:ahLst/>
            <a:cxnLst/>
            <a:rect l="l" t="t" r="r" b="b"/>
            <a:pathLst>
              <a:path w="1227454" h="1223645">
                <a:moveTo>
                  <a:pt x="613412" y="0"/>
                </a:moveTo>
                <a:lnTo>
                  <a:pt x="565479" y="1840"/>
                </a:lnTo>
                <a:lnTo>
                  <a:pt x="518554" y="7271"/>
                </a:lnTo>
                <a:lnTo>
                  <a:pt x="472774" y="16157"/>
                </a:lnTo>
                <a:lnTo>
                  <a:pt x="428275" y="28362"/>
                </a:lnTo>
                <a:lnTo>
                  <a:pt x="385193" y="43749"/>
                </a:lnTo>
                <a:lnTo>
                  <a:pt x="343665" y="62183"/>
                </a:lnTo>
                <a:lnTo>
                  <a:pt x="303828" y="83527"/>
                </a:lnTo>
                <a:lnTo>
                  <a:pt x="265817" y="107646"/>
                </a:lnTo>
                <a:lnTo>
                  <a:pt x="229770" y="134404"/>
                </a:lnTo>
                <a:lnTo>
                  <a:pt x="195822" y="163664"/>
                </a:lnTo>
                <a:lnTo>
                  <a:pt x="164110" y="195290"/>
                </a:lnTo>
                <a:lnTo>
                  <a:pt x="134771" y="229147"/>
                </a:lnTo>
                <a:lnTo>
                  <a:pt x="107941" y="265099"/>
                </a:lnTo>
                <a:lnTo>
                  <a:pt x="83757" y="303009"/>
                </a:lnTo>
                <a:lnTo>
                  <a:pt x="62354" y="342741"/>
                </a:lnTo>
                <a:lnTo>
                  <a:pt x="43870" y="384160"/>
                </a:lnTo>
                <a:lnTo>
                  <a:pt x="28440" y="427130"/>
                </a:lnTo>
                <a:lnTo>
                  <a:pt x="16202" y="471514"/>
                </a:lnTo>
                <a:lnTo>
                  <a:pt x="7292" y="517176"/>
                </a:lnTo>
                <a:lnTo>
                  <a:pt x="1845" y="563980"/>
                </a:lnTo>
                <a:lnTo>
                  <a:pt x="0" y="611792"/>
                </a:lnTo>
                <a:lnTo>
                  <a:pt x="1845" y="659605"/>
                </a:lnTo>
                <a:lnTo>
                  <a:pt x="7292" y="706413"/>
                </a:lnTo>
                <a:lnTo>
                  <a:pt x="16202" y="752077"/>
                </a:lnTo>
                <a:lnTo>
                  <a:pt x="28440" y="796463"/>
                </a:lnTo>
                <a:lnTo>
                  <a:pt x="43870" y="839435"/>
                </a:lnTo>
                <a:lnTo>
                  <a:pt x="62354" y="880855"/>
                </a:lnTo>
                <a:lnTo>
                  <a:pt x="83757" y="920589"/>
                </a:lnTo>
                <a:lnTo>
                  <a:pt x="107941" y="958501"/>
                </a:lnTo>
                <a:lnTo>
                  <a:pt x="134771" y="994453"/>
                </a:lnTo>
                <a:lnTo>
                  <a:pt x="164110" y="1028311"/>
                </a:lnTo>
                <a:lnTo>
                  <a:pt x="195822" y="1059939"/>
                </a:lnTo>
                <a:lnTo>
                  <a:pt x="229770" y="1089199"/>
                </a:lnTo>
                <a:lnTo>
                  <a:pt x="265817" y="1115957"/>
                </a:lnTo>
                <a:lnTo>
                  <a:pt x="303828" y="1140077"/>
                </a:lnTo>
                <a:lnTo>
                  <a:pt x="343665" y="1161421"/>
                </a:lnTo>
                <a:lnTo>
                  <a:pt x="385193" y="1179855"/>
                </a:lnTo>
                <a:lnTo>
                  <a:pt x="428275" y="1195243"/>
                </a:lnTo>
                <a:lnTo>
                  <a:pt x="472774" y="1207447"/>
                </a:lnTo>
                <a:lnTo>
                  <a:pt x="518554" y="1216333"/>
                </a:lnTo>
                <a:lnTo>
                  <a:pt x="565479" y="1221765"/>
                </a:lnTo>
                <a:lnTo>
                  <a:pt x="613412" y="1223605"/>
                </a:lnTo>
                <a:lnTo>
                  <a:pt x="661374" y="1221765"/>
                </a:lnTo>
                <a:lnTo>
                  <a:pt x="708326" y="1216333"/>
                </a:lnTo>
                <a:lnTo>
                  <a:pt x="754130" y="1207447"/>
                </a:lnTo>
                <a:lnTo>
                  <a:pt x="798651" y="1195243"/>
                </a:lnTo>
                <a:lnTo>
                  <a:pt x="841752" y="1179855"/>
                </a:lnTo>
                <a:lnTo>
                  <a:pt x="883296" y="1161421"/>
                </a:lnTo>
                <a:lnTo>
                  <a:pt x="923149" y="1140077"/>
                </a:lnTo>
                <a:lnTo>
                  <a:pt x="961172" y="1115957"/>
                </a:lnTo>
                <a:lnTo>
                  <a:pt x="997231" y="1089199"/>
                </a:lnTo>
                <a:lnTo>
                  <a:pt x="1031188" y="1059939"/>
                </a:lnTo>
                <a:lnTo>
                  <a:pt x="1062907" y="1028311"/>
                </a:lnTo>
                <a:lnTo>
                  <a:pt x="1092253" y="994453"/>
                </a:lnTo>
                <a:lnTo>
                  <a:pt x="1119088" y="958501"/>
                </a:lnTo>
                <a:lnTo>
                  <a:pt x="1143276" y="920589"/>
                </a:lnTo>
                <a:lnTo>
                  <a:pt x="1164682" y="880855"/>
                </a:lnTo>
                <a:lnTo>
                  <a:pt x="1183168" y="839435"/>
                </a:lnTo>
                <a:lnTo>
                  <a:pt x="1198599" y="796463"/>
                </a:lnTo>
                <a:lnTo>
                  <a:pt x="1210838" y="752077"/>
                </a:lnTo>
                <a:lnTo>
                  <a:pt x="1219749" y="706413"/>
                </a:lnTo>
                <a:lnTo>
                  <a:pt x="1225196" y="659605"/>
                </a:lnTo>
                <a:lnTo>
                  <a:pt x="1227042" y="611792"/>
                </a:lnTo>
                <a:lnTo>
                  <a:pt x="1225196" y="563980"/>
                </a:lnTo>
                <a:lnTo>
                  <a:pt x="1219749" y="517176"/>
                </a:lnTo>
                <a:lnTo>
                  <a:pt x="1210838" y="471514"/>
                </a:lnTo>
                <a:lnTo>
                  <a:pt x="1198599" y="427130"/>
                </a:lnTo>
                <a:lnTo>
                  <a:pt x="1183168" y="384160"/>
                </a:lnTo>
                <a:lnTo>
                  <a:pt x="1164682" y="342741"/>
                </a:lnTo>
                <a:lnTo>
                  <a:pt x="1143276" y="303009"/>
                </a:lnTo>
                <a:lnTo>
                  <a:pt x="1119088" y="265099"/>
                </a:lnTo>
                <a:lnTo>
                  <a:pt x="1092253" y="229147"/>
                </a:lnTo>
                <a:lnTo>
                  <a:pt x="1062907" y="195290"/>
                </a:lnTo>
                <a:lnTo>
                  <a:pt x="1031188" y="163664"/>
                </a:lnTo>
                <a:lnTo>
                  <a:pt x="997231" y="134404"/>
                </a:lnTo>
                <a:lnTo>
                  <a:pt x="961172" y="107646"/>
                </a:lnTo>
                <a:lnTo>
                  <a:pt x="923149" y="83527"/>
                </a:lnTo>
                <a:lnTo>
                  <a:pt x="883296" y="62183"/>
                </a:lnTo>
                <a:lnTo>
                  <a:pt x="841752" y="43749"/>
                </a:lnTo>
                <a:lnTo>
                  <a:pt x="798651" y="28362"/>
                </a:lnTo>
                <a:lnTo>
                  <a:pt x="754130" y="16157"/>
                </a:lnTo>
                <a:lnTo>
                  <a:pt x="708326" y="7271"/>
                </a:lnTo>
                <a:lnTo>
                  <a:pt x="661374" y="1840"/>
                </a:lnTo>
                <a:lnTo>
                  <a:pt x="613412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60961" y="4468163"/>
            <a:ext cx="1227455" cy="1223645"/>
          </a:xfrm>
          <a:custGeom>
            <a:avLst/>
            <a:gdLst/>
            <a:ahLst/>
            <a:cxnLst/>
            <a:rect l="l" t="t" r="r" b="b"/>
            <a:pathLst>
              <a:path w="1227454" h="1223645">
                <a:moveTo>
                  <a:pt x="0" y="611792"/>
                </a:moveTo>
                <a:lnTo>
                  <a:pt x="1845" y="563981"/>
                </a:lnTo>
                <a:lnTo>
                  <a:pt x="7292" y="517176"/>
                </a:lnTo>
                <a:lnTo>
                  <a:pt x="16202" y="471514"/>
                </a:lnTo>
                <a:lnTo>
                  <a:pt x="28440" y="427130"/>
                </a:lnTo>
                <a:lnTo>
                  <a:pt x="43870" y="384161"/>
                </a:lnTo>
                <a:lnTo>
                  <a:pt x="62354" y="342742"/>
                </a:lnTo>
                <a:lnTo>
                  <a:pt x="83757" y="303009"/>
                </a:lnTo>
                <a:lnTo>
                  <a:pt x="107941" y="265099"/>
                </a:lnTo>
                <a:lnTo>
                  <a:pt x="134771" y="229147"/>
                </a:lnTo>
                <a:lnTo>
                  <a:pt x="164110" y="195290"/>
                </a:lnTo>
                <a:lnTo>
                  <a:pt x="195822" y="163664"/>
                </a:lnTo>
                <a:lnTo>
                  <a:pt x="229770" y="134404"/>
                </a:lnTo>
                <a:lnTo>
                  <a:pt x="265817" y="107646"/>
                </a:lnTo>
                <a:lnTo>
                  <a:pt x="303828" y="83527"/>
                </a:lnTo>
                <a:lnTo>
                  <a:pt x="343665" y="62183"/>
                </a:lnTo>
                <a:lnTo>
                  <a:pt x="385193" y="43749"/>
                </a:lnTo>
                <a:lnTo>
                  <a:pt x="428275" y="28362"/>
                </a:lnTo>
                <a:lnTo>
                  <a:pt x="472774" y="16157"/>
                </a:lnTo>
                <a:lnTo>
                  <a:pt x="518554" y="7271"/>
                </a:lnTo>
                <a:lnTo>
                  <a:pt x="565479" y="1840"/>
                </a:lnTo>
                <a:lnTo>
                  <a:pt x="613412" y="0"/>
                </a:lnTo>
                <a:lnTo>
                  <a:pt x="661374" y="1840"/>
                </a:lnTo>
                <a:lnTo>
                  <a:pt x="708326" y="7271"/>
                </a:lnTo>
                <a:lnTo>
                  <a:pt x="754130" y="16157"/>
                </a:lnTo>
                <a:lnTo>
                  <a:pt x="798651" y="28362"/>
                </a:lnTo>
                <a:lnTo>
                  <a:pt x="841752" y="43749"/>
                </a:lnTo>
                <a:lnTo>
                  <a:pt x="883296" y="62183"/>
                </a:lnTo>
                <a:lnTo>
                  <a:pt x="923149" y="83527"/>
                </a:lnTo>
                <a:lnTo>
                  <a:pt x="961172" y="107646"/>
                </a:lnTo>
                <a:lnTo>
                  <a:pt x="997230" y="134404"/>
                </a:lnTo>
                <a:lnTo>
                  <a:pt x="1031188" y="163664"/>
                </a:lnTo>
                <a:lnTo>
                  <a:pt x="1062907" y="195290"/>
                </a:lnTo>
                <a:lnTo>
                  <a:pt x="1092252" y="229147"/>
                </a:lnTo>
                <a:lnTo>
                  <a:pt x="1119087" y="265099"/>
                </a:lnTo>
                <a:lnTo>
                  <a:pt x="1143276" y="303009"/>
                </a:lnTo>
                <a:lnTo>
                  <a:pt x="1164681" y="342742"/>
                </a:lnTo>
                <a:lnTo>
                  <a:pt x="1183168" y="384161"/>
                </a:lnTo>
                <a:lnTo>
                  <a:pt x="1198599" y="427130"/>
                </a:lnTo>
                <a:lnTo>
                  <a:pt x="1210838" y="471514"/>
                </a:lnTo>
                <a:lnTo>
                  <a:pt x="1219749" y="517176"/>
                </a:lnTo>
                <a:lnTo>
                  <a:pt x="1225195" y="563981"/>
                </a:lnTo>
                <a:lnTo>
                  <a:pt x="1227041" y="611792"/>
                </a:lnTo>
                <a:lnTo>
                  <a:pt x="1225195" y="659606"/>
                </a:lnTo>
                <a:lnTo>
                  <a:pt x="1219749" y="706413"/>
                </a:lnTo>
                <a:lnTo>
                  <a:pt x="1210838" y="752078"/>
                </a:lnTo>
                <a:lnTo>
                  <a:pt x="1198599" y="796464"/>
                </a:lnTo>
                <a:lnTo>
                  <a:pt x="1183168" y="839435"/>
                </a:lnTo>
                <a:lnTo>
                  <a:pt x="1164681" y="880855"/>
                </a:lnTo>
                <a:lnTo>
                  <a:pt x="1143276" y="920589"/>
                </a:lnTo>
                <a:lnTo>
                  <a:pt x="1119087" y="958501"/>
                </a:lnTo>
                <a:lnTo>
                  <a:pt x="1092252" y="994453"/>
                </a:lnTo>
                <a:lnTo>
                  <a:pt x="1062907" y="1028311"/>
                </a:lnTo>
                <a:lnTo>
                  <a:pt x="1031188" y="1059939"/>
                </a:lnTo>
                <a:lnTo>
                  <a:pt x="997230" y="1089199"/>
                </a:lnTo>
                <a:lnTo>
                  <a:pt x="961172" y="1115957"/>
                </a:lnTo>
                <a:lnTo>
                  <a:pt x="923149" y="1140077"/>
                </a:lnTo>
                <a:lnTo>
                  <a:pt x="883296" y="1161421"/>
                </a:lnTo>
                <a:lnTo>
                  <a:pt x="841752" y="1179855"/>
                </a:lnTo>
                <a:lnTo>
                  <a:pt x="798651" y="1195243"/>
                </a:lnTo>
                <a:lnTo>
                  <a:pt x="754130" y="1207447"/>
                </a:lnTo>
                <a:lnTo>
                  <a:pt x="708326" y="1216333"/>
                </a:lnTo>
                <a:lnTo>
                  <a:pt x="661374" y="1221765"/>
                </a:lnTo>
                <a:lnTo>
                  <a:pt x="613412" y="1223605"/>
                </a:lnTo>
                <a:lnTo>
                  <a:pt x="565479" y="1221765"/>
                </a:lnTo>
                <a:lnTo>
                  <a:pt x="518554" y="1216333"/>
                </a:lnTo>
                <a:lnTo>
                  <a:pt x="472774" y="1207447"/>
                </a:lnTo>
                <a:lnTo>
                  <a:pt x="428275" y="1195243"/>
                </a:lnTo>
                <a:lnTo>
                  <a:pt x="385193" y="1179855"/>
                </a:lnTo>
                <a:lnTo>
                  <a:pt x="343665" y="1161421"/>
                </a:lnTo>
                <a:lnTo>
                  <a:pt x="303828" y="1140077"/>
                </a:lnTo>
                <a:lnTo>
                  <a:pt x="265817" y="1115957"/>
                </a:lnTo>
                <a:lnTo>
                  <a:pt x="229770" y="1089199"/>
                </a:lnTo>
                <a:lnTo>
                  <a:pt x="195822" y="1059939"/>
                </a:lnTo>
                <a:lnTo>
                  <a:pt x="164110" y="1028311"/>
                </a:lnTo>
                <a:lnTo>
                  <a:pt x="134771" y="994453"/>
                </a:lnTo>
                <a:lnTo>
                  <a:pt x="107941" y="958501"/>
                </a:lnTo>
                <a:lnTo>
                  <a:pt x="83757" y="920589"/>
                </a:lnTo>
                <a:lnTo>
                  <a:pt x="62354" y="880855"/>
                </a:lnTo>
                <a:lnTo>
                  <a:pt x="43870" y="839435"/>
                </a:lnTo>
                <a:lnTo>
                  <a:pt x="28440" y="796464"/>
                </a:lnTo>
                <a:lnTo>
                  <a:pt x="16202" y="752078"/>
                </a:lnTo>
                <a:lnTo>
                  <a:pt x="7292" y="706413"/>
                </a:lnTo>
                <a:lnTo>
                  <a:pt x="1845" y="659606"/>
                </a:lnTo>
                <a:lnTo>
                  <a:pt x="0" y="611792"/>
                </a:lnTo>
                <a:close/>
              </a:path>
            </a:pathLst>
          </a:custGeom>
          <a:ln w="51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915574" y="4951421"/>
            <a:ext cx="71818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0">
                <a:latin typeface="MS Gothic"/>
                <a:cs typeface="MS Gothic"/>
              </a:rPr>
              <a:t>需求</a:t>
            </a:r>
            <a:r>
              <a:rPr dirty="0" sz="1350" spc="10">
                <a:latin typeface="宋体"/>
                <a:cs typeface="宋体"/>
              </a:rPr>
              <a:t>协</a:t>
            </a:r>
            <a:r>
              <a:rPr dirty="0" sz="1350" spc="10">
                <a:latin typeface="MS Gothic"/>
                <a:cs typeface="MS Gothic"/>
              </a:rPr>
              <a:t>商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18214" y="1776200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 h="0">
                <a:moveTo>
                  <a:pt x="0" y="0"/>
                </a:moveTo>
                <a:lnTo>
                  <a:pt x="1044294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951470" y="1732170"/>
            <a:ext cx="132715" cy="88265"/>
          </a:xfrm>
          <a:custGeom>
            <a:avLst/>
            <a:gdLst/>
            <a:ahLst/>
            <a:cxnLst/>
            <a:rect l="l" t="t" r="r" b="b"/>
            <a:pathLst>
              <a:path w="132714" h="88264">
                <a:moveTo>
                  <a:pt x="0" y="0"/>
                </a:moveTo>
                <a:lnTo>
                  <a:pt x="0" y="88059"/>
                </a:lnTo>
                <a:lnTo>
                  <a:pt x="132466" y="440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055124" y="1776200"/>
            <a:ext cx="116839" cy="0"/>
          </a:xfrm>
          <a:custGeom>
            <a:avLst/>
            <a:gdLst/>
            <a:ahLst/>
            <a:cxnLst/>
            <a:rect l="l" t="t" r="r" b="b"/>
            <a:pathLst>
              <a:path w="116839" h="0">
                <a:moveTo>
                  <a:pt x="0" y="0"/>
                </a:moveTo>
                <a:lnTo>
                  <a:pt x="116232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310978" y="1776200"/>
            <a:ext cx="224790" cy="0"/>
          </a:xfrm>
          <a:custGeom>
            <a:avLst/>
            <a:gdLst/>
            <a:ahLst/>
            <a:cxnLst/>
            <a:rect l="l" t="t" r="r" b="b"/>
            <a:pathLst>
              <a:path w="224789" h="0">
                <a:moveTo>
                  <a:pt x="0" y="0"/>
                </a:moveTo>
                <a:lnTo>
                  <a:pt x="224672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60319" y="1732170"/>
            <a:ext cx="132715" cy="88265"/>
          </a:xfrm>
          <a:custGeom>
            <a:avLst/>
            <a:gdLst/>
            <a:ahLst/>
            <a:cxnLst/>
            <a:rect l="l" t="t" r="r" b="b"/>
            <a:pathLst>
              <a:path w="132714" h="88264">
                <a:moveTo>
                  <a:pt x="0" y="0"/>
                </a:moveTo>
                <a:lnTo>
                  <a:pt x="0" y="88059"/>
                </a:lnTo>
                <a:lnTo>
                  <a:pt x="132466" y="440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529444" y="1513999"/>
            <a:ext cx="545465" cy="4800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95"/>
              </a:spcBef>
            </a:pPr>
            <a:r>
              <a:rPr dirty="0" sz="1350" spc="10">
                <a:latin typeface="MS Gothic"/>
                <a:cs typeface="MS Gothic"/>
              </a:rPr>
              <a:t>解决方 案模型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304650" y="2082031"/>
            <a:ext cx="1684655" cy="1332230"/>
          </a:xfrm>
          <a:custGeom>
            <a:avLst/>
            <a:gdLst/>
            <a:ahLst/>
            <a:cxnLst/>
            <a:rect l="l" t="t" r="r" b="b"/>
            <a:pathLst>
              <a:path w="1684654" h="1332229">
                <a:moveTo>
                  <a:pt x="0" y="0"/>
                </a:moveTo>
                <a:lnTo>
                  <a:pt x="1684265" y="1332103"/>
                </a:lnTo>
              </a:path>
            </a:pathLst>
          </a:custGeom>
          <a:ln w="518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952769" y="3372695"/>
            <a:ext cx="131445" cy="116839"/>
          </a:xfrm>
          <a:custGeom>
            <a:avLst/>
            <a:gdLst/>
            <a:ahLst/>
            <a:cxnLst/>
            <a:rect l="l" t="t" r="r" b="b"/>
            <a:pathLst>
              <a:path w="131445" h="116839">
                <a:moveTo>
                  <a:pt x="54761" y="0"/>
                </a:moveTo>
                <a:lnTo>
                  <a:pt x="0" y="69066"/>
                </a:lnTo>
                <a:lnTo>
                  <a:pt x="131166" y="116547"/>
                </a:lnTo>
                <a:lnTo>
                  <a:pt x="547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 rot="2280000">
            <a:off x="2840169" y="2695289"/>
            <a:ext cx="714760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60"/>
              </a:lnSpc>
            </a:pPr>
            <a:r>
              <a:rPr dirty="0" sz="1350">
                <a:latin typeface="MS Gothic"/>
                <a:cs typeface="MS Gothic"/>
              </a:rPr>
              <a:t>用</a:t>
            </a:r>
            <a:r>
              <a:rPr dirty="0" sz="1350">
                <a:latin typeface="宋体"/>
                <a:cs typeface="宋体"/>
              </a:rPr>
              <a:t>户</a:t>
            </a:r>
            <a:r>
              <a:rPr dirty="0" sz="1350">
                <a:latin typeface="MS Gothic"/>
                <a:cs typeface="MS Gothic"/>
              </a:rPr>
              <a:t>需</a:t>
            </a:r>
            <a:r>
              <a:rPr dirty="0" sz="1350" spc="10">
                <a:latin typeface="MS Gothic"/>
                <a:cs typeface="MS Gothic"/>
              </a:rPr>
              <a:t>求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402102" y="2082031"/>
            <a:ext cx="1504315" cy="1327150"/>
          </a:xfrm>
          <a:custGeom>
            <a:avLst/>
            <a:gdLst/>
            <a:ahLst/>
            <a:cxnLst/>
            <a:rect l="l" t="t" r="r" b="b"/>
            <a:pathLst>
              <a:path w="1504315" h="1327150">
                <a:moveTo>
                  <a:pt x="1504094" y="0"/>
                </a:moveTo>
                <a:lnTo>
                  <a:pt x="0" y="1326923"/>
                </a:lnTo>
              </a:path>
            </a:pathLst>
          </a:custGeom>
          <a:ln w="51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310978" y="3368811"/>
            <a:ext cx="128905" cy="120650"/>
          </a:xfrm>
          <a:custGeom>
            <a:avLst/>
            <a:gdLst/>
            <a:ahLst/>
            <a:cxnLst/>
            <a:rect l="l" t="t" r="r" b="b"/>
            <a:pathLst>
              <a:path w="128904" h="120650">
                <a:moveTo>
                  <a:pt x="70128" y="0"/>
                </a:moveTo>
                <a:lnTo>
                  <a:pt x="0" y="120432"/>
                </a:lnTo>
                <a:lnTo>
                  <a:pt x="128569" y="65827"/>
                </a:lnTo>
                <a:lnTo>
                  <a:pt x="70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97565" y="4101079"/>
            <a:ext cx="0" cy="552450"/>
          </a:xfrm>
          <a:custGeom>
            <a:avLst/>
            <a:gdLst/>
            <a:ahLst/>
            <a:cxnLst/>
            <a:rect l="l" t="t" r="r" b="b"/>
            <a:pathLst>
              <a:path w="0" h="552450">
                <a:moveTo>
                  <a:pt x="0" y="0"/>
                </a:moveTo>
                <a:lnTo>
                  <a:pt x="0" y="551899"/>
                </a:lnTo>
              </a:path>
            </a:pathLst>
          </a:custGeom>
          <a:ln w="51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653410" y="4641972"/>
            <a:ext cx="88900" cy="132715"/>
          </a:xfrm>
          <a:custGeom>
            <a:avLst/>
            <a:gdLst/>
            <a:ahLst/>
            <a:cxnLst/>
            <a:rect l="l" t="t" r="r" b="b"/>
            <a:pathLst>
              <a:path w="88900" h="132714">
                <a:moveTo>
                  <a:pt x="88310" y="0"/>
                </a:moveTo>
                <a:lnTo>
                  <a:pt x="0" y="0"/>
                </a:lnTo>
                <a:lnTo>
                  <a:pt x="44155" y="132087"/>
                </a:lnTo>
                <a:lnTo>
                  <a:pt x="883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896883" y="5079955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 h="0">
                <a:moveTo>
                  <a:pt x="0" y="0"/>
                </a:moveTo>
                <a:lnTo>
                  <a:pt x="187053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78278" y="5079955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 h="0">
                <a:moveTo>
                  <a:pt x="0" y="0"/>
                </a:moveTo>
                <a:lnTo>
                  <a:pt x="52813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856851" y="5035925"/>
            <a:ext cx="132715" cy="88265"/>
          </a:xfrm>
          <a:custGeom>
            <a:avLst/>
            <a:gdLst/>
            <a:ahLst/>
            <a:cxnLst/>
            <a:rect l="l" t="t" r="r" b="b"/>
            <a:pathLst>
              <a:path w="132714" h="88264">
                <a:moveTo>
                  <a:pt x="132466" y="0"/>
                </a:moveTo>
                <a:lnTo>
                  <a:pt x="0" y="44029"/>
                </a:lnTo>
                <a:lnTo>
                  <a:pt x="132466" y="88059"/>
                </a:lnTo>
                <a:lnTo>
                  <a:pt x="1324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024885" y="4817734"/>
            <a:ext cx="891540" cy="4800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6360">
              <a:lnSpc>
                <a:spcPct val="110500"/>
              </a:lnSpc>
              <a:spcBef>
                <a:spcPts val="95"/>
              </a:spcBef>
            </a:pPr>
            <a:r>
              <a:rPr dirty="0" sz="1350" spc="10">
                <a:latin typeface="MS Gothic"/>
                <a:cs typeface="MS Gothic"/>
              </a:rPr>
              <a:t>未确定</a:t>
            </a:r>
            <a:r>
              <a:rPr dirty="0" sz="1350" spc="10">
                <a:latin typeface="宋体"/>
                <a:cs typeface="宋体"/>
              </a:rPr>
              <a:t>优 </a:t>
            </a:r>
            <a:r>
              <a:rPr dirty="0" sz="1350" spc="10">
                <a:latin typeface="MS Gothic"/>
                <a:cs typeface="MS Gothic"/>
              </a:rPr>
              <a:t>先</a:t>
            </a:r>
            <a:r>
              <a:rPr dirty="0" sz="1350" spc="10">
                <a:latin typeface="宋体"/>
                <a:cs typeface="宋体"/>
              </a:rPr>
              <a:t>级</a:t>
            </a:r>
            <a:r>
              <a:rPr dirty="0" sz="1350" spc="10">
                <a:latin typeface="MS Gothic"/>
                <a:cs typeface="MS Gothic"/>
              </a:rPr>
              <a:t>的需求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498842" y="5079955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0" y="0"/>
                </a:moveTo>
                <a:lnTo>
                  <a:pt x="40692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310978" y="5079955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8915" y="0"/>
                </a:lnTo>
              </a:path>
            </a:pathLst>
          </a:custGeom>
          <a:ln w="5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528496" y="5035925"/>
            <a:ext cx="132715" cy="88265"/>
          </a:xfrm>
          <a:custGeom>
            <a:avLst/>
            <a:gdLst/>
            <a:ahLst/>
            <a:cxnLst/>
            <a:rect l="l" t="t" r="r" b="b"/>
            <a:pathLst>
              <a:path w="132715" h="88264">
                <a:moveTo>
                  <a:pt x="0" y="0"/>
                </a:moveTo>
                <a:lnTo>
                  <a:pt x="0" y="88059"/>
                </a:lnTo>
                <a:lnTo>
                  <a:pt x="132466" y="440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453687" y="4951421"/>
            <a:ext cx="106489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0">
                <a:latin typeface="MS Gothic"/>
                <a:cs typeface="MS Gothic"/>
              </a:rPr>
              <a:t>不一致的需求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243287" y="5506954"/>
            <a:ext cx="2147570" cy="490855"/>
          </a:xfrm>
          <a:custGeom>
            <a:avLst/>
            <a:gdLst/>
            <a:ahLst/>
            <a:cxnLst/>
            <a:rect l="l" t="t" r="r" b="b"/>
            <a:pathLst>
              <a:path w="2147570" h="490854">
                <a:moveTo>
                  <a:pt x="0" y="184815"/>
                </a:moveTo>
                <a:lnTo>
                  <a:pt x="0" y="490711"/>
                </a:lnTo>
                <a:lnTo>
                  <a:pt x="2147355" y="490711"/>
                </a:lnTo>
                <a:lnTo>
                  <a:pt x="2147355" y="0"/>
                </a:lnTo>
              </a:path>
            </a:pathLst>
          </a:custGeom>
          <a:ln w="51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346487" y="5385873"/>
            <a:ext cx="88900" cy="132715"/>
          </a:xfrm>
          <a:custGeom>
            <a:avLst/>
            <a:gdLst/>
            <a:ahLst/>
            <a:cxnLst/>
            <a:rect l="l" t="t" r="r" b="b"/>
            <a:pathLst>
              <a:path w="88900" h="132714">
                <a:moveTo>
                  <a:pt x="44155" y="0"/>
                </a:moveTo>
                <a:lnTo>
                  <a:pt x="0" y="132088"/>
                </a:lnTo>
                <a:lnTo>
                  <a:pt x="88310" y="132088"/>
                </a:lnTo>
                <a:lnTo>
                  <a:pt x="44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684666" y="5884050"/>
            <a:ext cx="1558925" cy="227329"/>
          </a:xfrm>
          <a:custGeom>
            <a:avLst/>
            <a:gdLst/>
            <a:ahLst/>
            <a:cxnLst/>
            <a:rect l="l" t="t" r="r" b="b"/>
            <a:pathLst>
              <a:path w="1558925" h="227329">
                <a:moveTo>
                  <a:pt x="0" y="227247"/>
                </a:moveTo>
                <a:lnTo>
                  <a:pt x="1558423" y="227247"/>
                </a:lnTo>
                <a:lnTo>
                  <a:pt x="1558423" y="0"/>
                </a:lnTo>
                <a:lnTo>
                  <a:pt x="0" y="0"/>
                </a:lnTo>
                <a:lnTo>
                  <a:pt x="0" y="2272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678460" y="5869122"/>
            <a:ext cx="158432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0">
                <a:latin typeface="MS Gothic"/>
                <a:cs typeface="MS Gothic"/>
              </a:rPr>
              <a:t>已确定</a:t>
            </a:r>
            <a:r>
              <a:rPr dirty="0" sz="1350" spc="10">
                <a:latin typeface="宋体"/>
                <a:cs typeface="宋体"/>
              </a:rPr>
              <a:t>优</a:t>
            </a:r>
            <a:r>
              <a:rPr dirty="0" sz="1350" spc="10">
                <a:latin typeface="MS Gothic"/>
                <a:cs typeface="MS Gothic"/>
              </a:rPr>
              <a:t>先</a:t>
            </a:r>
            <a:r>
              <a:rPr dirty="0" sz="1350" spc="10">
                <a:latin typeface="宋体"/>
                <a:cs typeface="宋体"/>
              </a:rPr>
              <a:t>级</a:t>
            </a:r>
            <a:r>
              <a:rPr dirty="0" sz="1350" spc="10">
                <a:latin typeface="MS Gothic"/>
                <a:cs typeface="MS Gothic"/>
              </a:rPr>
              <a:t>的需求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004271" y="5506954"/>
            <a:ext cx="2270125" cy="473709"/>
          </a:xfrm>
          <a:custGeom>
            <a:avLst/>
            <a:gdLst/>
            <a:ahLst/>
            <a:cxnLst/>
            <a:rect l="l" t="t" r="r" b="b"/>
            <a:pathLst>
              <a:path w="2270125" h="473710">
                <a:moveTo>
                  <a:pt x="2270102" y="184815"/>
                </a:moveTo>
                <a:lnTo>
                  <a:pt x="2270102" y="473229"/>
                </a:lnTo>
                <a:lnTo>
                  <a:pt x="0" y="473229"/>
                </a:lnTo>
                <a:lnTo>
                  <a:pt x="0" y="0"/>
                </a:lnTo>
              </a:path>
            </a:pathLst>
          </a:custGeom>
          <a:ln w="51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960117" y="5385873"/>
            <a:ext cx="88900" cy="132715"/>
          </a:xfrm>
          <a:custGeom>
            <a:avLst/>
            <a:gdLst/>
            <a:ahLst/>
            <a:cxnLst/>
            <a:rect l="l" t="t" r="r" b="b"/>
            <a:pathLst>
              <a:path w="88900" h="132714">
                <a:moveTo>
                  <a:pt x="44155" y="0"/>
                </a:moveTo>
                <a:lnTo>
                  <a:pt x="0" y="132088"/>
                </a:lnTo>
                <a:lnTo>
                  <a:pt x="88310" y="132088"/>
                </a:lnTo>
                <a:lnTo>
                  <a:pt x="44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546473" y="5866570"/>
            <a:ext cx="866140" cy="227329"/>
          </a:xfrm>
          <a:custGeom>
            <a:avLst/>
            <a:gdLst/>
            <a:ahLst/>
            <a:cxnLst/>
            <a:rect l="l" t="t" r="r" b="b"/>
            <a:pathLst>
              <a:path w="866139" h="227329">
                <a:moveTo>
                  <a:pt x="0" y="227247"/>
                </a:moveTo>
                <a:lnTo>
                  <a:pt x="865790" y="227247"/>
                </a:lnTo>
                <a:lnTo>
                  <a:pt x="865790" y="0"/>
                </a:lnTo>
                <a:lnTo>
                  <a:pt x="0" y="0"/>
                </a:lnTo>
                <a:lnTo>
                  <a:pt x="0" y="2272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5540266" y="5851642"/>
            <a:ext cx="891540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0">
                <a:latin typeface="MS Gothic"/>
                <a:cs typeface="MS Gothic"/>
              </a:rPr>
              <a:t>一致的需求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2075" y="120395"/>
            <a:ext cx="3879850" cy="11899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3800" spc="-5">
                <a:latin typeface="Calibri"/>
                <a:cs typeface="Calibri"/>
              </a:rPr>
              <a:t>5.</a:t>
            </a:r>
            <a:r>
              <a:rPr dirty="0" sz="3800" spc="-90">
                <a:latin typeface="Calibri"/>
                <a:cs typeface="Calibri"/>
              </a:rPr>
              <a:t> </a:t>
            </a:r>
            <a:r>
              <a:rPr dirty="0" sz="3800"/>
              <a:t>需求分析的活动</a:t>
            </a:r>
            <a:endParaRPr sz="3800">
              <a:latin typeface="Calibri"/>
              <a:cs typeface="Calibri"/>
            </a:endParaRPr>
          </a:p>
          <a:p>
            <a:pPr algn="r" marR="27940">
              <a:lnSpc>
                <a:spcPct val="100000"/>
              </a:lnSpc>
              <a:spcBef>
                <a:spcPts val="45"/>
              </a:spcBef>
            </a:pPr>
            <a:r>
              <a:rPr dirty="0" sz="3800">
                <a:latin typeface="Arial"/>
                <a:cs typeface="Arial"/>
              </a:rPr>
              <a:t>——</a:t>
            </a:r>
            <a:r>
              <a:rPr dirty="0" sz="3800"/>
              <a:t>需求细化</a:t>
            </a:r>
            <a:endParaRPr sz="3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3172"/>
            <a:ext cx="7835900" cy="317436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明确用户需求的隐含因素</a:t>
            </a:r>
            <a:endParaRPr sz="2800">
              <a:latin typeface="宋体"/>
              <a:cs typeface="宋体"/>
            </a:endParaRPr>
          </a:p>
          <a:p>
            <a:pPr marL="355600" marR="5080" indent="-342900">
              <a:lnSpc>
                <a:spcPts val="2900"/>
              </a:lnSpc>
              <a:spcBef>
                <a:spcPts val="101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将从问题域和业务的角度表述的用户需求等价的 转化为从软件和技术的角度表述的系统需求</a:t>
            </a:r>
            <a:endParaRPr sz="2800">
              <a:latin typeface="宋体"/>
              <a:cs typeface="宋体"/>
            </a:endParaRPr>
          </a:p>
          <a:p>
            <a:pPr marL="355600" marR="5080" indent="-342900">
              <a:lnSpc>
                <a:spcPts val="2780"/>
              </a:lnSpc>
              <a:spcBef>
                <a:spcPts val="111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solidFill>
                  <a:srgbClr val="009E5E"/>
                </a:solidFill>
                <a:latin typeface="宋体"/>
                <a:cs typeface="宋体"/>
              </a:rPr>
              <a:t>非功能需求</a:t>
            </a:r>
            <a:r>
              <a:rPr dirty="0" sz="2800">
                <a:latin typeface="宋体"/>
                <a:cs typeface="宋体"/>
              </a:rPr>
              <a:t>也需要从高层次的表述方式转化为一 系列更加详细和具体的需求表述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37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需求细化也会发现新的细节需求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800">
                <a:latin typeface="宋体"/>
                <a:cs typeface="宋体"/>
              </a:rPr>
              <a:t>细化后的需求应该被一一的标识和记录下来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2075" y="92963"/>
            <a:ext cx="3879850" cy="11868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3800" spc="-5">
                <a:latin typeface="Calibri"/>
                <a:cs typeface="Calibri"/>
              </a:rPr>
              <a:t>5.</a:t>
            </a:r>
            <a:r>
              <a:rPr dirty="0" sz="3800" spc="-90">
                <a:latin typeface="Calibri"/>
                <a:cs typeface="Calibri"/>
              </a:rPr>
              <a:t> </a:t>
            </a:r>
            <a:r>
              <a:rPr dirty="0" sz="3800"/>
              <a:t>需求分析的活动</a:t>
            </a:r>
            <a:endParaRPr sz="3800">
              <a:latin typeface="Calibri"/>
              <a:cs typeface="Calibri"/>
            </a:endParaRPr>
          </a:p>
          <a:p>
            <a:pPr algn="r" marR="27940">
              <a:lnSpc>
                <a:spcPct val="100000"/>
              </a:lnSpc>
              <a:spcBef>
                <a:spcPts val="25"/>
              </a:spcBef>
            </a:pPr>
            <a:r>
              <a:rPr dirty="0" sz="3800">
                <a:latin typeface="Arial"/>
                <a:cs typeface="Arial"/>
              </a:rPr>
              <a:t>——</a:t>
            </a:r>
            <a:r>
              <a:rPr dirty="0" sz="3800"/>
              <a:t>需求细化</a:t>
            </a:r>
            <a:endParaRPr sz="3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1158"/>
            <a:ext cx="7971155" cy="399351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需求的记录</a:t>
            </a:r>
            <a:endParaRPr sz="2600">
              <a:latin typeface="宋体"/>
              <a:cs typeface="宋体"/>
            </a:endParaRPr>
          </a:p>
          <a:p>
            <a:pPr lvl="1" marL="755650" marR="19050" indent="-285750">
              <a:lnSpc>
                <a:spcPts val="2590"/>
              </a:lnSpc>
              <a:spcBef>
                <a:spcPts val="72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标识符（</a:t>
            </a:r>
            <a:r>
              <a:rPr dirty="0" sz="2200" spc="-5">
                <a:latin typeface="Calibri"/>
                <a:cs typeface="Calibri"/>
              </a:rPr>
              <a:t>ID</a:t>
            </a:r>
            <a:r>
              <a:rPr dirty="0" sz="2200">
                <a:latin typeface="宋体"/>
                <a:cs typeface="宋体"/>
              </a:rPr>
              <a:t>），每一条需求都应该能够通过</a:t>
            </a:r>
            <a:r>
              <a:rPr dirty="0" sz="2200" spc="-5">
                <a:latin typeface="Calibri"/>
                <a:cs typeface="Calibri"/>
              </a:rPr>
              <a:t>ID</a:t>
            </a:r>
            <a:r>
              <a:rPr dirty="0" sz="2200">
                <a:latin typeface="宋体"/>
                <a:cs typeface="宋体"/>
              </a:rPr>
              <a:t>唯一的标识自 己。</a:t>
            </a:r>
            <a:endParaRPr sz="2200">
              <a:latin typeface="宋体"/>
              <a:cs typeface="宋体"/>
            </a:endParaRPr>
          </a:p>
          <a:p>
            <a:pPr lvl="1" marL="755650" marR="5080" indent="-285750">
              <a:lnSpc>
                <a:spcPts val="2620"/>
              </a:lnSpc>
              <a:spcBef>
                <a:spcPts val="58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源头（</a:t>
            </a: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10">
                <a:latin typeface="Calibri"/>
                <a:cs typeface="Calibri"/>
              </a:rPr>
              <a:t>urc</a:t>
            </a:r>
            <a:r>
              <a:rPr dirty="0" sz="2200" spc="5">
                <a:latin typeface="Calibri"/>
                <a:cs typeface="Calibri"/>
              </a:rPr>
              <a:t>e</a:t>
            </a:r>
            <a:r>
              <a:rPr dirty="0" sz="2200">
                <a:latin typeface="宋体"/>
                <a:cs typeface="宋体"/>
              </a:rPr>
              <a:t>），要能够回溯到需求的源头，例如特定的涉 众。</a:t>
            </a:r>
            <a:endParaRPr sz="2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59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理由</a:t>
            </a:r>
            <a:r>
              <a:rPr dirty="0" sz="2200" spc="-5">
                <a:latin typeface="宋体"/>
                <a:cs typeface="宋体"/>
              </a:rPr>
              <a:t>（</a:t>
            </a:r>
            <a:r>
              <a:rPr dirty="0" sz="2200" spc="-5">
                <a:latin typeface="Calibri"/>
                <a:cs typeface="Calibri"/>
              </a:rPr>
              <a:t>Rational</a:t>
            </a:r>
            <a:r>
              <a:rPr dirty="0" sz="2200" spc="-5">
                <a:latin typeface="宋体"/>
                <a:cs typeface="宋体"/>
              </a:rPr>
              <a:t>），</a:t>
            </a:r>
            <a:r>
              <a:rPr dirty="0" sz="2200">
                <a:latin typeface="宋体"/>
                <a:cs typeface="宋体"/>
              </a:rPr>
              <a:t>需求被提出的目的。</a:t>
            </a:r>
            <a:endParaRPr sz="2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59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优先级</a:t>
            </a:r>
            <a:r>
              <a:rPr dirty="0" sz="2200" spc="-5">
                <a:latin typeface="宋体"/>
                <a:cs typeface="宋体"/>
              </a:rPr>
              <a:t>（</a:t>
            </a:r>
            <a:r>
              <a:rPr dirty="0" sz="2200" spc="-5">
                <a:latin typeface="Calibri"/>
                <a:cs typeface="Calibri"/>
              </a:rPr>
              <a:t>Priority</a:t>
            </a:r>
            <a:r>
              <a:rPr dirty="0" sz="2200" spc="-5">
                <a:latin typeface="宋体"/>
                <a:cs typeface="宋体"/>
              </a:rPr>
              <a:t>），</a:t>
            </a:r>
            <a:r>
              <a:rPr dirty="0" sz="2200">
                <a:latin typeface="宋体"/>
                <a:cs typeface="宋体"/>
              </a:rPr>
              <a:t>详细情况见下一节。</a:t>
            </a:r>
            <a:endParaRPr sz="2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成本（</a:t>
            </a:r>
            <a:r>
              <a:rPr dirty="0" sz="2200">
                <a:latin typeface="Calibri"/>
                <a:cs typeface="Calibri"/>
              </a:rPr>
              <a:t>Cost</a:t>
            </a:r>
            <a:r>
              <a:rPr dirty="0" sz="2200">
                <a:latin typeface="宋体"/>
                <a:cs typeface="宋体"/>
              </a:rPr>
              <a:t>），预估的实现成本。</a:t>
            </a:r>
            <a:endParaRPr sz="2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5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风险</a:t>
            </a:r>
            <a:r>
              <a:rPr dirty="0" sz="2200" spc="-5">
                <a:latin typeface="宋体"/>
                <a:cs typeface="宋体"/>
              </a:rPr>
              <a:t>（</a:t>
            </a:r>
            <a:r>
              <a:rPr dirty="0" sz="2200" spc="-5">
                <a:latin typeface="Calibri"/>
                <a:cs typeface="Calibri"/>
              </a:rPr>
              <a:t>Risk</a:t>
            </a:r>
            <a:r>
              <a:rPr dirty="0" sz="2200" spc="-5">
                <a:latin typeface="宋体"/>
                <a:cs typeface="宋体"/>
              </a:rPr>
              <a:t>），</a:t>
            </a:r>
            <a:r>
              <a:rPr dirty="0" sz="2200">
                <a:latin typeface="宋体"/>
                <a:cs typeface="宋体"/>
              </a:rPr>
              <a:t>实现该需求的过程中可能带来的风险。</a:t>
            </a:r>
            <a:endParaRPr sz="22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5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200">
                <a:latin typeface="宋体"/>
                <a:cs typeface="宋体"/>
              </a:rPr>
              <a:t>可变性</a:t>
            </a:r>
            <a:r>
              <a:rPr dirty="0" sz="2200" spc="-5">
                <a:latin typeface="宋体"/>
                <a:cs typeface="宋体"/>
              </a:rPr>
              <a:t>（</a:t>
            </a:r>
            <a:r>
              <a:rPr dirty="0" sz="2200" spc="-5">
                <a:latin typeface="Calibri"/>
                <a:cs typeface="Calibri"/>
              </a:rPr>
              <a:t>Volatility</a:t>
            </a:r>
            <a:r>
              <a:rPr dirty="0" sz="2200" spc="-5">
                <a:latin typeface="宋体"/>
                <a:cs typeface="宋体"/>
              </a:rPr>
              <a:t>），</a:t>
            </a:r>
            <a:r>
              <a:rPr dirty="0" sz="2200">
                <a:latin typeface="宋体"/>
                <a:cs typeface="宋体"/>
              </a:rPr>
              <a:t>将来发生变化的可能性。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2075" y="92963"/>
            <a:ext cx="4581525" cy="11868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5">
                <a:latin typeface="Calibri"/>
                <a:cs typeface="Calibri"/>
              </a:rPr>
              <a:t>5.</a:t>
            </a:r>
            <a:r>
              <a:rPr dirty="0" sz="3800" spc="-10">
                <a:latin typeface="Calibri"/>
                <a:cs typeface="Calibri"/>
              </a:rPr>
              <a:t> </a:t>
            </a:r>
            <a:r>
              <a:rPr dirty="0" sz="3800"/>
              <a:t>需求分析的活动</a:t>
            </a:r>
            <a:endParaRPr sz="3800">
              <a:latin typeface="Calibri"/>
              <a:cs typeface="Calibri"/>
            </a:endParaRPr>
          </a:p>
          <a:p>
            <a:pPr marL="225425">
              <a:lnSpc>
                <a:spcPct val="100000"/>
              </a:lnSpc>
              <a:spcBef>
                <a:spcPts val="25"/>
              </a:spcBef>
            </a:pPr>
            <a:r>
              <a:rPr dirty="0" sz="3800">
                <a:latin typeface="Arial"/>
                <a:cs typeface="Arial"/>
              </a:rPr>
              <a:t>——</a:t>
            </a:r>
            <a:r>
              <a:rPr dirty="0" sz="3800"/>
              <a:t>确定需求优先级</a:t>
            </a:r>
            <a:endParaRPr sz="3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0844"/>
            <a:ext cx="5340350" cy="266128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00663C"/>
              </a:buClr>
              <a:buSzPct val="8372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baseline="1291" sz="3225" spc="112" b="1">
                <a:latin typeface="宋体"/>
                <a:cs typeface="宋体"/>
              </a:rPr>
              <a:t>累计投票</a:t>
            </a:r>
            <a:endParaRPr baseline="1291" sz="3225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10"/>
              </a:spcBef>
              <a:buClr>
                <a:srgbClr val="00663C"/>
              </a:buClr>
              <a:buSzPct val="8372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baseline="1291" sz="3225" spc="112" b="1">
                <a:latin typeface="宋体"/>
                <a:cs typeface="宋体"/>
              </a:rPr>
              <a:t>区域划分</a:t>
            </a:r>
            <a:endParaRPr baseline="1291" sz="3225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7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重要性。需求的不可或缺程度。</a:t>
            </a:r>
            <a:endParaRPr sz="20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紧急性。需求的时间紧迫程度。</a:t>
            </a:r>
            <a:endParaRPr sz="20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惩罚性。忽略需求会导致的惩罚程度。</a:t>
            </a:r>
            <a:endParaRPr sz="20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40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成本。实现需求的代价。</a:t>
            </a:r>
            <a:endParaRPr sz="2000">
              <a:latin typeface="宋体"/>
              <a:cs typeface="宋体"/>
            </a:endParaRPr>
          </a:p>
          <a:p>
            <a:pPr lvl="1" marL="755650" indent="-285750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 sz="2000">
                <a:latin typeface="宋体"/>
                <a:cs typeface="宋体"/>
              </a:rPr>
              <a:t>风险。需求实现中可能产生的风险程度。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01711" y="4570179"/>
            <a:ext cx="4922739" cy="14447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9475" y="217932"/>
            <a:ext cx="4845050" cy="604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5">
                <a:latin typeface="Calibri"/>
                <a:cs typeface="Calibri"/>
              </a:rPr>
              <a:t>5.</a:t>
            </a:r>
            <a:r>
              <a:rPr dirty="0" sz="3800" spc="-80">
                <a:latin typeface="Calibri"/>
                <a:cs typeface="Calibri"/>
              </a:rPr>
              <a:t> </a:t>
            </a:r>
            <a:r>
              <a:rPr dirty="0" sz="3800"/>
              <a:t>确定需求优先级案例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014" rIns="0" bIns="0" rtlCol="0" vert="horz">
            <a:spAutoFit/>
          </a:bodyPr>
          <a:lstStyle/>
          <a:p>
            <a:pPr marL="398780" indent="-342900">
              <a:lnSpc>
                <a:spcPct val="100000"/>
              </a:lnSpc>
              <a:spcBef>
                <a:spcPts val="944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98145" algn="l"/>
                <a:tab pos="398780" algn="l"/>
              </a:tabLst>
            </a:pPr>
            <a:r>
              <a:rPr dirty="0" spc="-5"/>
              <a:t>Top-N</a:t>
            </a:r>
          </a:p>
          <a:p>
            <a:pPr lvl="1" marL="798830" indent="-285750">
              <a:lnSpc>
                <a:spcPct val="100000"/>
              </a:lnSpc>
              <a:spcBef>
                <a:spcPts val="545"/>
              </a:spcBef>
              <a:buClr>
                <a:srgbClr val="C00000"/>
              </a:buClr>
              <a:buSzPct val="61111"/>
              <a:buFont typeface="Wingdings"/>
              <a:buChar char=""/>
              <a:tabLst>
                <a:tab pos="798195" algn="l"/>
                <a:tab pos="798830" algn="l"/>
              </a:tabLst>
            </a:pP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的取值是不受明确限制的，真正受限制的是</a:t>
            </a:r>
            <a:r>
              <a:rPr dirty="0" sz="1800" spc="-5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op</a:t>
            </a:r>
            <a:r>
              <a:rPr dirty="0" sz="1800" spc="-5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个需求的实现代价总和</a:t>
            </a:r>
            <a:endParaRPr sz="1800">
              <a:latin typeface="宋体"/>
              <a:cs typeface="宋体"/>
            </a:endParaRPr>
          </a:p>
          <a:p>
            <a:pPr lvl="1" marL="43180">
              <a:lnSpc>
                <a:spcPct val="100000"/>
              </a:lnSpc>
              <a:spcBef>
                <a:spcPts val="30"/>
              </a:spcBef>
              <a:buClr>
                <a:srgbClr val="C00000"/>
              </a:buClr>
              <a:buFont typeface="Wingdings"/>
              <a:buChar char=""/>
            </a:pPr>
            <a:endParaRPr sz="2550">
              <a:latin typeface="宋体"/>
              <a:cs typeface="宋体"/>
            </a:endParaRPr>
          </a:p>
          <a:p>
            <a:pPr marL="398780" indent="-342900">
              <a:lnSpc>
                <a:spcPct val="100000"/>
              </a:lnSpc>
              <a:buClr>
                <a:srgbClr val="00663C"/>
              </a:buClr>
              <a:buSzPct val="80000"/>
              <a:buFont typeface="Wingdings"/>
              <a:buChar char=""/>
              <a:tabLst>
                <a:tab pos="398145" algn="l"/>
                <a:tab pos="398780" algn="l"/>
              </a:tabLst>
            </a:pPr>
            <a:r>
              <a:rPr dirty="0" baseline="1010" sz="4125" spc="127" b="1">
                <a:latin typeface="宋体"/>
                <a:cs typeface="宋体"/>
              </a:rPr>
              <a:t>数据量化</a:t>
            </a:r>
            <a:endParaRPr baseline="1010" sz="4125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5048" y="2697479"/>
            <a:ext cx="7924800" cy="3334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2075" y="92963"/>
            <a:ext cx="3879850" cy="11868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3800" spc="-5">
                <a:latin typeface="Calibri"/>
                <a:cs typeface="Calibri"/>
              </a:rPr>
              <a:t>5.</a:t>
            </a:r>
            <a:r>
              <a:rPr dirty="0" sz="3800" spc="-90">
                <a:latin typeface="Calibri"/>
                <a:cs typeface="Calibri"/>
              </a:rPr>
              <a:t> </a:t>
            </a:r>
            <a:r>
              <a:rPr dirty="0" sz="3800"/>
              <a:t>需求分析的活动</a:t>
            </a:r>
            <a:endParaRPr sz="3800">
              <a:latin typeface="Calibri"/>
              <a:cs typeface="Calibri"/>
            </a:endParaRPr>
          </a:p>
          <a:p>
            <a:pPr algn="r" marR="27940">
              <a:lnSpc>
                <a:spcPct val="100000"/>
              </a:lnSpc>
              <a:spcBef>
                <a:spcPts val="25"/>
              </a:spcBef>
            </a:pPr>
            <a:r>
              <a:rPr dirty="0" sz="3800">
                <a:latin typeface="Arial"/>
                <a:cs typeface="Arial"/>
              </a:rPr>
              <a:t>——</a:t>
            </a:r>
            <a:r>
              <a:rPr dirty="0" sz="3800"/>
              <a:t>需求协商</a:t>
            </a:r>
            <a:endParaRPr sz="3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6860"/>
            <a:ext cx="5651500" cy="9645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明确冲突的因素，避免情绪上的冲突</a:t>
            </a:r>
            <a:endParaRPr sz="2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明确冲突的解决空间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574036"/>
            <a:ext cx="300990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2600">
                <a:latin typeface="宋体"/>
                <a:cs typeface="宋体"/>
              </a:rPr>
              <a:t>确定最佳解决方案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7324" y="4387775"/>
            <a:ext cx="5798185" cy="0"/>
          </a:xfrm>
          <a:custGeom>
            <a:avLst/>
            <a:gdLst/>
            <a:ahLst/>
            <a:cxnLst/>
            <a:rect l="l" t="t" r="r" b="b"/>
            <a:pathLst>
              <a:path w="5798184" h="0">
                <a:moveTo>
                  <a:pt x="0" y="0"/>
                </a:moveTo>
                <a:lnTo>
                  <a:pt x="5797835" y="0"/>
                </a:lnTo>
              </a:path>
            </a:pathLst>
          </a:custGeom>
          <a:ln w="240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95223" y="2797447"/>
            <a:ext cx="2728595" cy="3237865"/>
          </a:xfrm>
          <a:custGeom>
            <a:avLst/>
            <a:gdLst/>
            <a:ahLst/>
            <a:cxnLst/>
            <a:rect l="l" t="t" r="r" b="b"/>
            <a:pathLst>
              <a:path w="2728595" h="3237865">
                <a:moveTo>
                  <a:pt x="0" y="0"/>
                </a:moveTo>
                <a:lnTo>
                  <a:pt x="2728360" y="3237546"/>
                </a:lnTo>
              </a:path>
            </a:pathLst>
          </a:custGeom>
          <a:ln w="240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08901" y="2797447"/>
            <a:ext cx="2355215" cy="3294379"/>
          </a:xfrm>
          <a:custGeom>
            <a:avLst/>
            <a:gdLst/>
            <a:ahLst/>
            <a:cxnLst/>
            <a:rect l="l" t="t" r="r" b="b"/>
            <a:pathLst>
              <a:path w="2355215" h="3294379">
                <a:moveTo>
                  <a:pt x="2354799" y="0"/>
                </a:moveTo>
                <a:lnTo>
                  <a:pt x="0" y="3294348"/>
                </a:lnTo>
              </a:path>
            </a:pathLst>
          </a:custGeom>
          <a:ln w="24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01801" y="3357279"/>
            <a:ext cx="2124075" cy="1965960"/>
          </a:xfrm>
          <a:custGeom>
            <a:avLst/>
            <a:gdLst/>
            <a:ahLst/>
            <a:cxnLst/>
            <a:rect l="l" t="t" r="r" b="b"/>
            <a:pathLst>
              <a:path w="2124075" h="1965960">
                <a:moveTo>
                  <a:pt x="702807" y="1030495"/>
                </a:moveTo>
                <a:lnTo>
                  <a:pt x="816506" y="1030495"/>
                </a:lnTo>
                <a:lnTo>
                  <a:pt x="833331" y="1018754"/>
                </a:lnTo>
                <a:lnTo>
                  <a:pt x="852593" y="984861"/>
                </a:lnTo>
                <a:lnTo>
                  <a:pt x="873884" y="935888"/>
                </a:lnTo>
                <a:lnTo>
                  <a:pt x="896791" y="878905"/>
                </a:lnTo>
                <a:lnTo>
                  <a:pt x="920905" y="820983"/>
                </a:lnTo>
                <a:lnTo>
                  <a:pt x="945815" y="769193"/>
                </a:lnTo>
                <a:lnTo>
                  <a:pt x="971111" y="730607"/>
                </a:lnTo>
                <a:lnTo>
                  <a:pt x="1003697" y="706537"/>
                </a:lnTo>
                <a:lnTo>
                  <a:pt x="1082245" y="692164"/>
                </a:lnTo>
                <a:lnTo>
                  <a:pt x="1130196" y="686294"/>
                </a:lnTo>
                <a:lnTo>
                  <a:pt x="1180887" y="682216"/>
                </a:lnTo>
                <a:lnTo>
                  <a:pt x="1232665" y="681210"/>
                </a:lnTo>
                <a:lnTo>
                  <a:pt x="1283874" y="684557"/>
                </a:lnTo>
                <a:lnTo>
                  <a:pt x="1332861" y="693537"/>
                </a:lnTo>
                <a:lnTo>
                  <a:pt x="1382860" y="711279"/>
                </a:lnTo>
                <a:lnTo>
                  <a:pt x="1427372" y="736612"/>
                </a:lnTo>
                <a:lnTo>
                  <a:pt x="1465701" y="768664"/>
                </a:lnTo>
                <a:lnTo>
                  <a:pt x="1497147" y="806561"/>
                </a:lnTo>
                <a:lnTo>
                  <a:pt x="1521013" y="849431"/>
                </a:lnTo>
                <a:lnTo>
                  <a:pt x="1536601" y="896400"/>
                </a:lnTo>
                <a:lnTo>
                  <a:pt x="1543213" y="946596"/>
                </a:lnTo>
                <a:lnTo>
                  <a:pt x="1541975" y="985244"/>
                </a:lnTo>
                <a:lnTo>
                  <a:pt x="1535743" y="1024851"/>
                </a:lnTo>
                <a:lnTo>
                  <a:pt x="1524819" y="1065106"/>
                </a:lnTo>
                <a:lnTo>
                  <a:pt x="1509507" y="1105695"/>
                </a:lnTo>
                <a:lnTo>
                  <a:pt x="1490113" y="1146306"/>
                </a:lnTo>
                <a:lnTo>
                  <a:pt x="1466939" y="1186629"/>
                </a:lnTo>
                <a:lnTo>
                  <a:pt x="1440290" y="1226350"/>
                </a:lnTo>
                <a:lnTo>
                  <a:pt x="1410470" y="1265157"/>
                </a:lnTo>
                <a:lnTo>
                  <a:pt x="1377782" y="1302738"/>
                </a:lnTo>
                <a:lnTo>
                  <a:pt x="1342531" y="1338781"/>
                </a:lnTo>
                <a:lnTo>
                  <a:pt x="1305021" y="1372975"/>
                </a:lnTo>
                <a:lnTo>
                  <a:pt x="1265556" y="1405006"/>
                </a:lnTo>
                <a:lnTo>
                  <a:pt x="1224439" y="1434562"/>
                </a:lnTo>
                <a:lnTo>
                  <a:pt x="1181974" y="1461333"/>
                </a:lnTo>
                <a:lnTo>
                  <a:pt x="1138467" y="1485004"/>
                </a:lnTo>
                <a:lnTo>
                  <a:pt x="1094220" y="1505265"/>
                </a:lnTo>
                <a:lnTo>
                  <a:pt x="1049537" y="1521804"/>
                </a:lnTo>
                <a:lnTo>
                  <a:pt x="1004724" y="1534307"/>
                </a:lnTo>
                <a:lnTo>
                  <a:pt x="960082" y="1542463"/>
                </a:lnTo>
                <a:lnTo>
                  <a:pt x="915587" y="1546049"/>
                </a:lnTo>
                <a:lnTo>
                  <a:pt x="871743" y="1545082"/>
                </a:lnTo>
                <a:lnTo>
                  <a:pt x="828717" y="1539729"/>
                </a:lnTo>
                <a:lnTo>
                  <a:pt x="786677" y="1530158"/>
                </a:lnTo>
                <a:lnTo>
                  <a:pt x="745791" y="1516535"/>
                </a:lnTo>
                <a:lnTo>
                  <a:pt x="706227" y="1499029"/>
                </a:lnTo>
                <a:lnTo>
                  <a:pt x="668152" y="1477808"/>
                </a:lnTo>
                <a:lnTo>
                  <a:pt x="631735" y="1453038"/>
                </a:lnTo>
                <a:lnTo>
                  <a:pt x="597142" y="1424888"/>
                </a:lnTo>
                <a:lnTo>
                  <a:pt x="564542" y="1393525"/>
                </a:lnTo>
                <a:lnTo>
                  <a:pt x="534103" y="1359117"/>
                </a:lnTo>
                <a:lnTo>
                  <a:pt x="505991" y="1321831"/>
                </a:lnTo>
                <a:lnTo>
                  <a:pt x="480376" y="1281835"/>
                </a:lnTo>
                <a:lnTo>
                  <a:pt x="457424" y="1239297"/>
                </a:lnTo>
                <a:lnTo>
                  <a:pt x="437304" y="1194383"/>
                </a:lnTo>
                <a:lnTo>
                  <a:pt x="420183" y="1147263"/>
                </a:lnTo>
                <a:lnTo>
                  <a:pt x="406229" y="1098102"/>
                </a:lnTo>
                <a:lnTo>
                  <a:pt x="396210" y="1050690"/>
                </a:lnTo>
                <a:lnTo>
                  <a:pt x="389142" y="1002105"/>
                </a:lnTo>
                <a:lnTo>
                  <a:pt x="385076" y="952800"/>
                </a:lnTo>
                <a:lnTo>
                  <a:pt x="384065" y="903226"/>
                </a:lnTo>
                <a:lnTo>
                  <a:pt x="386162" y="853833"/>
                </a:lnTo>
                <a:lnTo>
                  <a:pt x="391420" y="805074"/>
                </a:lnTo>
                <a:lnTo>
                  <a:pt x="399890" y="757399"/>
                </a:lnTo>
                <a:lnTo>
                  <a:pt x="411626" y="711261"/>
                </a:lnTo>
                <a:lnTo>
                  <a:pt x="426681" y="667110"/>
                </a:lnTo>
                <a:lnTo>
                  <a:pt x="445106" y="625398"/>
                </a:lnTo>
                <a:lnTo>
                  <a:pt x="466954" y="586576"/>
                </a:lnTo>
                <a:lnTo>
                  <a:pt x="492278" y="551096"/>
                </a:lnTo>
                <a:lnTo>
                  <a:pt x="521131" y="519408"/>
                </a:lnTo>
                <a:lnTo>
                  <a:pt x="553950" y="491471"/>
                </a:lnTo>
                <a:lnTo>
                  <a:pt x="590147" y="467555"/>
                </a:lnTo>
                <a:lnTo>
                  <a:pt x="629421" y="447331"/>
                </a:lnTo>
                <a:lnTo>
                  <a:pt x="671473" y="430469"/>
                </a:lnTo>
                <a:lnTo>
                  <a:pt x="716004" y="416641"/>
                </a:lnTo>
                <a:lnTo>
                  <a:pt x="762715" y="405518"/>
                </a:lnTo>
                <a:lnTo>
                  <a:pt x="811305" y="396769"/>
                </a:lnTo>
                <a:lnTo>
                  <a:pt x="861476" y="390067"/>
                </a:lnTo>
                <a:lnTo>
                  <a:pt x="912927" y="385082"/>
                </a:lnTo>
                <a:lnTo>
                  <a:pt x="965361" y="381485"/>
                </a:lnTo>
                <a:lnTo>
                  <a:pt x="1018477" y="378947"/>
                </a:lnTo>
                <a:lnTo>
                  <a:pt x="1071976" y="377139"/>
                </a:lnTo>
                <a:lnTo>
                  <a:pt x="1124051" y="375898"/>
                </a:lnTo>
                <a:lnTo>
                  <a:pt x="1176032" y="375330"/>
                </a:lnTo>
                <a:lnTo>
                  <a:pt x="1227745" y="375741"/>
                </a:lnTo>
                <a:lnTo>
                  <a:pt x="1279017" y="377435"/>
                </a:lnTo>
                <a:lnTo>
                  <a:pt x="1329674" y="380717"/>
                </a:lnTo>
                <a:lnTo>
                  <a:pt x="1379543" y="385894"/>
                </a:lnTo>
                <a:lnTo>
                  <a:pt x="1428451" y="393271"/>
                </a:lnTo>
                <a:lnTo>
                  <a:pt x="1476223" y="403152"/>
                </a:lnTo>
                <a:lnTo>
                  <a:pt x="1522686" y="415844"/>
                </a:lnTo>
                <a:lnTo>
                  <a:pt x="1567666" y="431651"/>
                </a:lnTo>
                <a:lnTo>
                  <a:pt x="1610991" y="450878"/>
                </a:lnTo>
                <a:lnTo>
                  <a:pt x="1652358" y="473641"/>
                </a:lnTo>
                <a:lnTo>
                  <a:pt x="1691788" y="499864"/>
                </a:lnTo>
                <a:lnTo>
                  <a:pt x="1729159" y="529299"/>
                </a:lnTo>
                <a:lnTo>
                  <a:pt x="1764347" y="561691"/>
                </a:lnTo>
                <a:lnTo>
                  <a:pt x="1797232" y="596791"/>
                </a:lnTo>
                <a:lnTo>
                  <a:pt x="1827691" y="634346"/>
                </a:lnTo>
                <a:lnTo>
                  <a:pt x="1855601" y="674104"/>
                </a:lnTo>
                <a:lnTo>
                  <a:pt x="1880841" y="715814"/>
                </a:lnTo>
                <a:lnTo>
                  <a:pt x="1903289" y="759224"/>
                </a:lnTo>
                <a:lnTo>
                  <a:pt x="1922822" y="804083"/>
                </a:lnTo>
                <a:lnTo>
                  <a:pt x="1939319" y="850138"/>
                </a:lnTo>
                <a:lnTo>
                  <a:pt x="1952657" y="897139"/>
                </a:lnTo>
                <a:lnTo>
                  <a:pt x="1962714" y="944833"/>
                </a:lnTo>
                <a:lnTo>
                  <a:pt x="1969515" y="994032"/>
                </a:lnTo>
                <a:lnTo>
                  <a:pt x="1972806" y="1043489"/>
                </a:lnTo>
                <a:lnTo>
                  <a:pt x="1972637" y="1092996"/>
                </a:lnTo>
                <a:lnTo>
                  <a:pt x="1969056" y="1142348"/>
                </a:lnTo>
                <a:lnTo>
                  <a:pt x="1962114" y="1191336"/>
                </a:lnTo>
                <a:lnTo>
                  <a:pt x="1951860" y="1239755"/>
                </a:lnTo>
                <a:lnTo>
                  <a:pt x="1938343" y="1287399"/>
                </a:lnTo>
                <a:lnTo>
                  <a:pt x="1921613" y="1334060"/>
                </a:lnTo>
                <a:lnTo>
                  <a:pt x="1901719" y="1379533"/>
                </a:lnTo>
                <a:lnTo>
                  <a:pt x="1878711" y="1423611"/>
                </a:lnTo>
                <a:lnTo>
                  <a:pt x="1852638" y="1466087"/>
                </a:lnTo>
                <a:lnTo>
                  <a:pt x="1823549" y="1506755"/>
                </a:lnTo>
                <a:lnTo>
                  <a:pt x="1790307" y="1546848"/>
                </a:lnTo>
                <a:lnTo>
                  <a:pt x="1754239" y="1584835"/>
                </a:lnTo>
                <a:lnTo>
                  <a:pt x="1715716" y="1620778"/>
                </a:lnTo>
                <a:lnTo>
                  <a:pt x="1675111" y="1654737"/>
                </a:lnTo>
                <a:lnTo>
                  <a:pt x="1632798" y="1686773"/>
                </a:lnTo>
                <a:lnTo>
                  <a:pt x="1589149" y="1716948"/>
                </a:lnTo>
                <a:lnTo>
                  <a:pt x="1544538" y="1745322"/>
                </a:lnTo>
                <a:lnTo>
                  <a:pt x="1499338" y="1771956"/>
                </a:lnTo>
                <a:lnTo>
                  <a:pt x="1453921" y="1796911"/>
                </a:lnTo>
                <a:lnTo>
                  <a:pt x="1408660" y="1820248"/>
                </a:lnTo>
                <a:lnTo>
                  <a:pt x="1357828" y="1844845"/>
                </a:lnTo>
                <a:lnTo>
                  <a:pt x="1307657" y="1867367"/>
                </a:lnTo>
                <a:lnTo>
                  <a:pt x="1258124" y="1887748"/>
                </a:lnTo>
                <a:lnTo>
                  <a:pt x="1209208" y="1905924"/>
                </a:lnTo>
                <a:lnTo>
                  <a:pt x="1160887" y="1921827"/>
                </a:lnTo>
                <a:lnTo>
                  <a:pt x="1113138" y="1935393"/>
                </a:lnTo>
                <a:lnTo>
                  <a:pt x="1065940" y="1946556"/>
                </a:lnTo>
                <a:lnTo>
                  <a:pt x="1019271" y="1955249"/>
                </a:lnTo>
                <a:lnTo>
                  <a:pt x="973107" y="1961408"/>
                </a:lnTo>
                <a:lnTo>
                  <a:pt x="927429" y="1964967"/>
                </a:lnTo>
                <a:lnTo>
                  <a:pt x="882212" y="1965859"/>
                </a:lnTo>
                <a:lnTo>
                  <a:pt x="837436" y="1964019"/>
                </a:lnTo>
                <a:lnTo>
                  <a:pt x="793078" y="1959382"/>
                </a:lnTo>
                <a:lnTo>
                  <a:pt x="749116" y="1951881"/>
                </a:lnTo>
                <a:lnTo>
                  <a:pt x="705529" y="1941451"/>
                </a:lnTo>
                <a:lnTo>
                  <a:pt x="662294" y="1928026"/>
                </a:lnTo>
                <a:lnTo>
                  <a:pt x="619388" y="1911541"/>
                </a:lnTo>
                <a:lnTo>
                  <a:pt x="582382" y="1894692"/>
                </a:lnTo>
                <a:lnTo>
                  <a:pt x="545703" y="1875516"/>
                </a:lnTo>
                <a:lnTo>
                  <a:pt x="509442" y="1854044"/>
                </a:lnTo>
                <a:lnTo>
                  <a:pt x="473688" y="1830310"/>
                </a:lnTo>
                <a:lnTo>
                  <a:pt x="438534" y="1804347"/>
                </a:lnTo>
                <a:lnTo>
                  <a:pt x="404068" y="1776186"/>
                </a:lnTo>
                <a:lnTo>
                  <a:pt x="370382" y="1745862"/>
                </a:lnTo>
                <a:lnTo>
                  <a:pt x="337566" y="1713407"/>
                </a:lnTo>
                <a:lnTo>
                  <a:pt x="305711" y="1678853"/>
                </a:lnTo>
                <a:lnTo>
                  <a:pt x="274907" y="1642233"/>
                </a:lnTo>
                <a:lnTo>
                  <a:pt x="245244" y="1603580"/>
                </a:lnTo>
                <a:lnTo>
                  <a:pt x="216814" y="1562927"/>
                </a:lnTo>
                <a:lnTo>
                  <a:pt x="189706" y="1520307"/>
                </a:lnTo>
                <a:lnTo>
                  <a:pt x="164011" y="1475752"/>
                </a:lnTo>
                <a:lnTo>
                  <a:pt x="139820" y="1429295"/>
                </a:lnTo>
                <a:lnTo>
                  <a:pt x="117222" y="1380969"/>
                </a:lnTo>
                <a:lnTo>
                  <a:pt x="96310" y="1330806"/>
                </a:lnTo>
                <a:lnTo>
                  <a:pt x="77172" y="1278840"/>
                </a:lnTo>
                <a:lnTo>
                  <a:pt x="59900" y="1225103"/>
                </a:lnTo>
                <a:lnTo>
                  <a:pt x="46564" y="1177363"/>
                </a:lnTo>
                <a:lnTo>
                  <a:pt x="34755" y="1128547"/>
                </a:lnTo>
                <a:lnTo>
                  <a:pt x="24547" y="1078875"/>
                </a:lnTo>
                <a:lnTo>
                  <a:pt x="16010" y="1028566"/>
                </a:lnTo>
                <a:lnTo>
                  <a:pt x="9215" y="977838"/>
                </a:lnTo>
                <a:lnTo>
                  <a:pt x="4235" y="926911"/>
                </a:lnTo>
                <a:lnTo>
                  <a:pt x="1139" y="876004"/>
                </a:lnTo>
                <a:lnTo>
                  <a:pt x="0" y="825335"/>
                </a:lnTo>
                <a:lnTo>
                  <a:pt x="888" y="775125"/>
                </a:lnTo>
                <a:lnTo>
                  <a:pt x="3876" y="725591"/>
                </a:lnTo>
                <a:lnTo>
                  <a:pt x="9034" y="676953"/>
                </a:lnTo>
                <a:lnTo>
                  <a:pt x="16434" y="629431"/>
                </a:lnTo>
                <a:lnTo>
                  <a:pt x="26147" y="583243"/>
                </a:lnTo>
                <a:lnTo>
                  <a:pt x="38245" y="538608"/>
                </a:lnTo>
                <a:lnTo>
                  <a:pt x="52798" y="495745"/>
                </a:lnTo>
                <a:lnTo>
                  <a:pt x="69879" y="454874"/>
                </a:lnTo>
                <a:lnTo>
                  <a:pt x="89558" y="416213"/>
                </a:lnTo>
                <a:lnTo>
                  <a:pt x="112677" y="378750"/>
                </a:lnTo>
                <a:lnTo>
                  <a:pt x="138511" y="343787"/>
                </a:lnTo>
                <a:lnTo>
                  <a:pt x="166929" y="311229"/>
                </a:lnTo>
                <a:lnTo>
                  <a:pt x="197796" y="280976"/>
                </a:lnTo>
                <a:lnTo>
                  <a:pt x="230981" y="252932"/>
                </a:lnTo>
                <a:lnTo>
                  <a:pt x="266350" y="226998"/>
                </a:lnTo>
                <a:lnTo>
                  <a:pt x="303772" y="203079"/>
                </a:lnTo>
                <a:lnTo>
                  <a:pt x="343112" y="181075"/>
                </a:lnTo>
                <a:lnTo>
                  <a:pt x="384239" y="160891"/>
                </a:lnTo>
                <a:lnTo>
                  <a:pt x="427019" y="142428"/>
                </a:lnTo>
                <a:lnTo>
                  <a:pt x="471320" y="125588"/>
                </a:lnTo>
                <a:lnTo>
                  <a:pt x="517009" y="110275"/>
                </a:lnTo>
                <a:lnTo>
                  <a:pt x="563953" y="96391"/>
                </a:lnTo>
                <a:lnTo>
                  <a:pt x="612021" y="83839"/>
                </a:lnTo>
                <a:lnTo>
                  <a:pt x="661078" y="72521"/>
                </a:lnTo>
                <a:lnTo>
                  <a:pt x="710992" y="62339"/>
                </a:lnTo>
                <a:lnTo>
                  <a:pt x="761630" y="53197"/>
                </a:lnTo>
                <a:lnTo>
                  <a:pt x="812860" y="44996"/>
                </a:lnTo>
                <a:lnTo>
                  <a:pt x="864549" y="37640"/>
                </a:lnTo>
                <a:lnTo>
                  <a:pt x="916565" y="31031"/>
                </a:lnTo>
                <a:lnTo>
                  <a:pt x="968773" y="25071"/>
                </a:lnTo>
                <a:lnTo>
                  <a:pt x="1021042" y="19663"/>
                </a:lnTo>
                <a:lnTo>
                  <a:pt x="1073006" y="14795"/>
                </a:lnTo>
                <a:lnTo>
                  <a:pt x="1124800" y="10468"/>
                </a:lnTo>
                <a:lnTo>
                  <a:pt x="1176331" y="6769"/>
                </a:lnTo>
                <a:lnTo>
                  <a:pt x="1227505" y="3786"/>
                </a:lnTo>
                <a:lnTo>
                  <a:pt x="1278227" y="1606"/>
                </a:lnTo>
                <a:lnTo>
                  <a:pt x="1328403" y="314"/>
                </a:lnTo>
                <a:lnTo>
                  <a:pt x="1377939" y="0"/>
                </a:lnTo>
                <a:lnTo>
                  <a:pt x="1426740" y="748"/>
                </a:lnTo>
                <a:lnTo>
                  <a:pt x="1474713" y="2648"/>
                </a:lnTo>
                <a:lnTo>
                  <a:pt x="1521764" y="5785"/>
                </a:lnTo>
                <a:lnTo>
                  <a:pt x="1567798" y="10247"/>
                </a:lnTo>
                <a:lnTo>
                  <a:pt x="1612720" y="16120"/>
                </a:lnTo>
                <a:lnTo>
                  <a:pt x="1656437" y="23493"/>
                </a:lnTo>
                <a:lnTo>
                  <a:pt x="1698855" y="32451"/>
                </a:lnTo>
                <a:lnTo>
                  <a:pt x="1739879" y="43082"/>
                </a:lnTo>
                <a:lnTo>
                  <a:pt x="1779415" y="55473"/>
                </a:lnTo>
                <a:lnTo>
                  <a:pt x="1817369" y="69712"/>
                </a:lnTo>
                <a:lnTo>
                  <a:pt x="1853647" y="85884"/>
                </a:lnTo>
                <a:lnTo>
                  <a:pt x="1888154" y="104078"/>
                </a:lnTo>
                <a:lnTo>
                  <a:pt x="1920796" y="124379"/>
                </a:lnTo>
                <a:lnTo>
                  <a:pt x="1980110" y="171656"/>
                </a:lnTo>
                <a:lnTo>
                  <a:pt x="2030835" y="228410"/>
                </a:lnTo>
                <a:lnTo>
                  <a:pt x="2052741" y="260558"/>
                </a:lnTo>
                <a:lnTo>
                  <a:pt x="2072217" y="295337"/>
                </a:lnTo>
                <a:lnTo>
                  <a:pt x="2089168" y="332834"/>
                </a:lnTo>
                <a:lnTo>
                  <a:pt x="2103502" y="373136"/>
                </a:lnTo>
                <a:lnTo>
                  <a:pt x="2115123" y="416329"/>
                </a:lnTo>
                <a:lnTo>
                  <a:pt x="2123937" y="462500"/>
                </a:lnTo>
              </a:path>
            </a:pathLst>
          </a:custGeom>
          <a:ln w="48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71152" y="4040323"/>
            <a:ext cx="163004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latin typeface="Times New Roman"/>
                <a:cs typeface="Times New Roman"/>
              </a:rPr>
              <a:t>1.</a:t>
            </a:r>
            <a:r>
              <a:rPr dirty="0" sz="1250" spc="-5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MS Gothic"/>
                <a:cs typeface="MS Gothic"/>
              </a:rPr>
              <a:t>确定下一</a:t>
            </a:r>
            <a:r>
              <a:rPr dirty="0" sz="1250" spc="10">
                <a:latin typeface="宋体"/>
                <a:cs typeface="宋体"/>
              </a:rPr>
              <a:t>层</a:t>
            </a:r>
            <a:r>
              <a:rPr dirty="0" sz="1250" spc="10">
                <a:latin typeface="MS Gothic"/>
                <a:cs typeface="MS Gothic"/>
              </a:rPr>
              <a:t>次的涉众</a:t>
            </a:r>
            <a:endParaRPr sz="1250">
              <a:latin typeface="MS Gothic"/>
              <a:cs typeface="MS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78224" y="2744072"/>
            <a:ext cx="146939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latin typeface="Times New Roman"/>
                <a:cs typeface="Times New Roman"/>
              </a:rPr>
              <a:t>2.</a:t>
            </a:r>
            <a:r>
              <a:rPr dirty="0" sz="1250" spc="-5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MS Gothic"/>
                <a:cs typeface="MS Gothic"/>
              </a:rPr>
              <a:t>确定涉众</a:t>
            </a:r>
            <a:r>
              <a:rPr dirty="0" sz="1250" spc="10">
                <a:latin typeface="宋体"/>
                <a:cs typeface="宋体"/>
              </a:rPr>
              <a:t>赢</a:t>
            </a:r>
            <a:r>
              <a:rPr dirty="0" sz="1250" spc="10">
                <a:latin typeface="MS Gothic"/>
                <a:cs typeface="MS Gothic"/>
              </a:rPr>
              <a:t>的条件</a:t>
            </a:r>
            <a:endParaRPr sz="1250">
              <a:latin typeface="MS Gothic"/>
              <a:cs typeface="MS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36501" y="3423154"/>
            <a:ext cx="2030730" cy="65849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lvl="1" marL="252729" indent="-240665">
              <a:lnSpc>
                <a:spcPct val="100000"/>
              </a:lnSpc>
              <a:spcBef>
                <a:spcPts val="254"/>
              </a:spcBef>
              <a:buFont typeface="Times New Roman"/>
              <a:buAutoNum type="arabicPeriod"/>
              <a:tabLst>
                <a:tab pos="253365" algn="l"/>
              </a:tabLst>
            </a:pPr>
            <a:r>
              <a:rPr dirty="0" sz="1250" spc="10">
                <a:latin typeface="宋体"/>
                <a:cs typeface="宋体"/>
              </a:rPr>
              <a:t>协调赢的条件</a:t>
            </a:r>
            <a:r>
              <a:rPr dirty="0" sz="1250" spc="10">
                <a:latin typeface="MS Gothic"/>
                <a:cs typeface="MS Gothic"/>
              </a:rPr>
              <a:t>，</a:t>
            </a:r>
            <a:r>
              <a:rPr dirty="0" sz="1250" spc="10">
                <a:latin typeface="宋体"/>
                <a:cs typeface="宋体"/>
              </a:rPr>
              <a:t>实现共赢</a:t>
            </a:r>
            <a:endParaRPr sz="1250">
              <a:latin typeface="宋体"/>
              <a:cs typeface="宋体"/>
            </a:endParaRPr>
          </a:p>
          <a:p>
            <a:pPr lvl="1" marL="12700" marR="5080">
              <a:lnSpc>
                <a:spcPct val="110800"/>
              </a:lnSpc>
              <a:buFont typeface="Times New Roman"/>
              <a:buAutoNum type="arabicPeriod"/>
              <a:tabLst>
                <a:tab pos="253365" algn="l"/>
              </a:tabLst>
            </a:pPr>
            <a:r>
              <a:rPr dirty="0" sz="1250" spc="10">
                <a:latin typeface="MS Gothic"/>
                <a:cs typeface="MS Gothic"/>
              </a:rPr>
              <a:t>建立下一</a:t>
            </a:r>
            <a:r>
              <a:rPr dirty="0" sz="1250" spc="10">
                <a:latin typeface="宋体"/>
                <a:cs typeface="宋体"/>
              </a:rPr>
              <a:t>层</a:t>
            </a:r>
            <a:r>
              <a:rPr dirty="0" sz="1250" spc="10">
                <a:latin typeface="MS Gothic"/>
                <a:cs typeface="MS Gothic"/>
              </a:rPr>
              <a:t>次的目</a:t>
            </a:r>
            <a:r>
              <a:rPr dirty="0" sz="1250" spc="10">
                <a:latin typeface="宋体"/>
                <a:cs typeface="宋体"/>
              </a:rPr>
              <a:t>标</a:t>
            </a:r>
            <a:r>
              <a:rPr dirty="0" sz="1250" spc="10">
                <a:latin typeface="MS Gothic"/>
                <a:cs typeface="MS Gothic"/>
              </a:rPr>
              <a:t>、</a:t>
            </a:r>
            <a:r>
              <a:rPr dirty="0" sz="1250" spc="5">
                <a:latin typeface="宋体"/>
                <a:cs typeface="宋体"/>
              </a:rPr>
              <a:t>约 </a:t>
            </a:r>
            <a:r>
              <a:rPr dirty="0" sz="1250" spc="10">
                <a:latin typeface="MS Gothic"/>
                <a:cs typeface="MS Gothic"/>
              </a:rPr>
              <a:t>束和可</a:t>
            </a:r>
            <a:r>
              <a:rPr dirty="0" sz="1250" spc="10">
                <a:latin typeface="宋体"/>
                <a:cs typeface="宋体"/>
              </a:rPr>
              <a:t>选</a:t>
            </a:r>
            <a:r>
              <a:rPr dirty="0" sz="1250" spc="10">
                <a:latin typeface="MS Gothic"/>
                <a:cs typeface="MS Gothic"/>
              </a:rPr>
              <a:t>方案</a:t>
            </a:r>
            <a:endParaRPr sz="1250">
              <a:latin typeface="MS Gothic"/>
              <a:cs typeface="MS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7198" y="4711431"/>
            <a:ext cx="2191385" cy="44767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lvl="1" marL="252729" indent="-240665">
              <a:lnSpc>
                <a:spcPct val="100000"/>
              </a:lnSpc>
              <a:spcBef>
                <a:spcPts val="254"/>
              </a:spcBef>
              <a:buFont typeface="Times New Roman"/>
              <a:buAutoNum type="arabicPeriod"/>
              <a:tabLst>
                <a:tab pos="253365" algn="l"/>
              </a:tabLst>
            </a:pPr>
            <a:r>
              <a:rPr dirty="0" sz="1250" spc="10">
                <a:latin typeface="宋体"/>
                <a:cs typeface="宋体"/>
              </a:rPr>
              <a:t>评估产品和过程的可选方案</a:t>
            </a:r>
            <a:endParaRPr sz="1250">
              <a:latin typeface="宋体"/>
              <a:cs typeface="宋体"/>
            </a:endParaRPr>
          </a:p>
          <a:p>
            <a:pPr lvl="1" marL="252729" indent="-240665">
              <a:lnSpc>
                <a:spcPct val="100000"/>
              </a:lnSpc>
              <a:spcBef>
                <a:spcPts val="165"/>
              </a:spcBef>
              <a:buFont typeface="Times New Roman"/>
              <a:buAutoNum type="arabicPeriod"/>
              <a:tabLst>
                <a:tab pos="253365" algn="l"/>
              </a:tabLst>
            </a:pPr>
            <a:r>
              <a:rPr dirty="0" sz="1250" spc="10">
                <a:latin typeface="MS Gothic"/>
                <a:cs typeface="MS Gothic"/>
              </a:rPr>
              <a:t>解决</a:t>
            </a:r>
            <a:r>
              <a:rPr dirty="0" sz="1250" spc="10">
                <a:latin typeface="宋体"/>
                <a:cs typeface="宋体"/>
              </a:rPr>
              <a:t>风险</a:t>
            </a:r>
            <a:endParaRPr sz="125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4309" y="5289946"/>
            <a:ext cx="4128770" cy="7861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latin typeface="Times New Roman"/>
                <a:cs typeface="Times New Roman"/>
              </a:rPr>
              <a:t>6.</a:t>
            </a:r>
            <a:r>
              <a:rPr dirty="0" sz="1250" spc="-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宋体"/>
                <a:cs typeface="宋体"/>
              </a:rPr>
              <a:t>验证产品和过程的确定情况</a:t>
            </a:r>
            <a:endParaRPr sz="125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400">
              <a:latin typeface="宋体"/>
              <a:cs typeface="宋体"/>
            </a:endParaRPr>
          </a:p>
          <a:p>
            <a:pPr marL="2030095">
              <a:lnSpc>
                <a:spcPct val="100000"/>
              </a:lnSpc>
              <a:spcBef>
                <a:spcPts val="1180"/>
              </a:spcBef>
            </a:pPr>
            <a:r>
              <a:rPr dirty="0" sz="1250">
                <a:latin typeface="Times New Roman"/>
                <a:cs typeface="Times New Roman"/>
              </a:rPr>
              <a:t>5.</a:t>
            </a:r>
            <a:r>
              <a:rPr dirty="0" sz="1250" spc="-4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MS Gothic"/>
                <a:cs typeface="MS Gothic"/>
              </a:rPr>
              <a:t>确定下一</a:t>
            </a:r>
            <a:r>
              <a:rPr dirty="0" sz="1250" spc="10">
                <a:latin typeface="宋体"/>
                <a:cs typeface="宋体"/>
              </a:rPr>
              <a:t>层</a:t>
            </a:r>
            <a:r>
              <a:rPr dirty="0" sz="1250" spc="10">
                <a:latin typeface="MS Gothic"/>
                <a:cs typeface="MS Gothic"/>
              </a:rPr>
              <a:t>次的</a:t>
            </a:r>
            <a:r>
              <a:rPr dirty="0" sz="1250" spc="10">
                <a:latin typeface="宋体"/>
                <a:cs typeface="宋体"/>
              </a:rPr>
              <a:t>产</a:t>
            </a:r>
            <a:r>
              <a:rPr dirty="0" sz="1250" spc="10">
                <a:latin typeface="MS Gothic"/>
                <a:cs typeface="MS Gothic"/>
              </a:rPr>
              <a:t>品</a:t>
            </a:r>
            <a:r>
              <a:rPr dirty="0" sz="1250" spc="5">
                <a:latin typeface="MS Gothic"/>
                <a:cs typeface="MS Gothic"/>
              </a:rPr>
              <a:t>和</a:t>
            </a:r>
            <a:r>
              <a:rPr dirty="0" sz="1250" spc="10">
                <a:latin typeface="宋体"/>
                <a:cs typeface="宋体"/>
              </a:rPr>
              <a:t>过</a:t>
            </a:r>
            <a:r>
              <a:rPr dirty="0" sz="1250" spc="10">
                <a:latin typeface="MS Gothic"/>
                <a:cs typeface="MS Gothic"/>
              </a:rPr>
              <a:t>程</a:t>
            </a:r>
            <a:endParaRPr sz="1250">
              <a:latin typeface="MS Gothic"/>
              <a:cs typeface="MS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1152" y="4608337"/>
            <a:ext cx="98806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latin typeface="Times New Roman"/>
                <a:cs typeface="Times New Roman"/>
              </a:rPr>
              <a:t>7.</a:t>
            </a:r>
            <a:r>
              <a:rPr dirty="0" sz="1250" spc="-6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宋体"/>
                <a:cs typeface="宋体"/>
              </a:rPr>
              <a:t>评审</a:t>
            </a:r>
            <a:r>
              <a:rPr dirty="0" sz="1250" spc="10">
                <a:latin typeface="MS Gothic"/>
                <a:cs typeface="MS Gothic"/>
              </a:rPr>
              <a:t>，交付</a:t>
            </a:r>
            <a:endParaRPr sz="125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245363"/>
            <a:ext cx="22606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本章小结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dirty="0" spc="-5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1684"/>
            <a:ext cx="8089900" cy="45796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55600" marR="5080" indent="-342900">
              <a:lnSpc>
                <a:spcPct val="96600"/>
              </a:lnSpc>
              <a:spcBef>
                <a:spcPts val="229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需求分析是需求工程中最为重要和核心的 活动，它对信息的建模是理解问题的关键， 也是创建正确解决方案的关键</a:t>
            </a:r>
            <a:endParaRPr sz="3200">
              <a:latin typeface="宋体"/>
              <a:cs typeface="宋体"/>
            </a:endParaRPr>
          </a:p>
          <a:p>
            <a:pPr algn="just" marL="355600" marR="412115" indent="-342900">
              <a:lnSpc>
                <a:spcPct val="96200"/>
              </a:lnSpc>
              <a:spcBef>
                <a:spcPts val="12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需求分析涉及很多的技术和方法，需求分 析活动的有效执行需要分析人员能够掌握 并判定这些方法的选择与使用</a:t>
            </a:r>
            <a:endParaRPr sz="3200">
              <a:latin typeface="宋体"/>
              <a:cs typeface="宋体"/>
            </a:endParaRPr>
          </a:p>
          <a:p>
            <a:pPr algn="just" marL="355600" marR="412115" indent="-342900">
              <a:lnSpc>
                <a:spcPct val="96600"/>
              </a:lnSpc>
              <a:spcBef>
                <a:spcPts val="119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宋体"/>
                <a:cs typeface="宋体"/>
              </a:rPr>
              <a:t>需求分析过程当中会执行很多的重要子活 动，它们的有效整合确保了整个需求分析 工作的成功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6529" y="3482340"/>
            <a:ext cx="561149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83540">
              <a:lnSpc>
                <a:spcPct val="100000"/>
              </a:lnSpc>
              <a:spcBef>
                <a:spcPts val="100"/>
              </a:spcBef>
            </a:pPr>
            <a:r>
              <a:rPr dirty="0" sz="4400" b="1">
                <a:solidFill>
                  <a:srgbClr val="385723"/>
                </a:solidFill>
                <a:latin typeface="微软雅黑"/>
                <a:cs typeface="微软雅黑"/>
              </a:rPr>
              <a:t>Q</a:t>
            </a:r>
            <a:r>
              <a:rPr dirty="0" sz="4400" spc="-720" b="1">
                <a:solidFill>
                  <a:srgbClr val="385723"/>
                </a:solidFill>
                <a:latin typeface="微软雅黑"/>
                <a:cs typeface="微软雅黑"/>
              </a:rPr>
              <a:t> </a:t>
            </a:r>
            <a:r>
              <a:rPr dirty="0" sz="4400" b="1">
                <a:solidFill>
                  <a:srgbClr val="385723"/>
                </a:solidFill>
                <a:latin typeface="微软雅黑"/>
                <a:cs typeface="微软雅黑"/>
              </a:rPr>
              <a:t>&amp;</a:t>
            </a:r>
            <a:r>
              <a:rPr dirty="0" sz="4400" spc="-715" b="1">
                <a:solidFill>
                  <a:srgbClr val="385723"/>
                </a:solidFill>
                <a:latin typeface="微软雅黑"/>
                <a:cs typeface="微软雅黑"/>
              </a:rPr>
              <a:t> </a:t>
            </a:r>
            <a:r>
              <a:rPr dirty="0" sz="4400" b="1">
                <a:solidFill>
                  <a:srgbClr val="385723"/>
                </a:solidFill>
                <a:latin typeface="微软雅黑"/>
                <a:cs typeface="微软雅黑"/>
              </a:rPr>
              <a:t>A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53829" y="2666160"/>
            <a:ext cx="5636895" cy="2383155"/>
          </a:xfrm>
          <a:custGeom>
            <a:avLst/>
            <a:gdLst/>
            <a:ahLst/>
            <a:cxnLst/>
            <a:rect l="l" t="t" r="r" b="b"/>
            <a:pathLst>
              <a:path w="5636895" h="2383154">
                <a:moveTo>
                  <a:pt x="0" y="0"/>
                </a:moveTo>
                <a:lnTo>
                  <a:pt x="5636342" y="0"/>
                </a:lnTo>
                <a:lnTo>
                  <a:pt x="5636342" y="2382838"/>
                </a:lnTo>
                <a:lnTo>
                  <a:pt x="0" y="238283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3857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0416" y="2047035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5" h="770255">
                <a:moveTo>
                  <a:pt x="0" y="0"/>
                </a:moveTo>
                <a:lnTo>
                  <a:pt x="769937" y="0"/>
                </a:lnTo>
                <a:lnTo>
                  <a:pt x="769937" y="769937"/>
                </a:lnTo>
                <a:lnTo>
                  <a:pt x="0" y="769937"/>
                </a:lnTo>
                <a:lnTo>
                  <a:pt x="0" y="0"/>
                </a:lnTo>
                <a:close/>
              </a:path>
            </a:pathLst>
          </a:custGeom>
          <a:solidFill>
            <a:srgbClr val="AE2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5791" y="1870823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799" y="0"/>
                </a:lnTo>
                <a:lnTo>
                  <a:pt x="558799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96653" y="244391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67140" y="4951366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4" h="770254">
                <a:moveTo>
                  <a:pt x="0" y="0"/>
                </a:moveTo>
                <a:lnTo>
                  <a:pt x="769937" y="0"/>
                </a:lnTo>
                <a:lnTo>
                  <a:pt x="769937" y="769938"/>
                </a:lnTo>
                <a:lnTo>
                  <a:pt x="0" y="769938"/>
                </a:lnTo>
                <a:lnTo>
                  <a:pt x="0" y="0"/>
                </a:lnTo>
                <a:close/>
              </a:path>
            </a:pathLst>
          </a:custGeom>
          <a:solidFill>
            <a:srgbClr val="AE2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92515" y="4775154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43378" y="5348241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78371" y="744588"/>
            <a:ext cx="1079999" cy="1083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413115" y="6232652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898989"/>
                </a:solidFill>
                <a:latin typeface="Arial"/>
                <a:cs typeface="Arial"/>
              </a:rPr>
              <a:t>38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2024-04-25T08:33:57Z</dcterms:created>
  <dcterms:modified xsi:type="dcterms:W3CDTF">2024-04-25T08:33:57Z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2024-04-01T00:00:00Z</vt:filetime>
  </property>
  <property fmtid="{D5CDD505-2E9C-101B-9397-08002B2CF9AE}" pid="3" name="LastSaved">
    <vt:filetime>2024-04-25T00:00:00Z</vt:filetime>
  </property>
</Properties>
</file>
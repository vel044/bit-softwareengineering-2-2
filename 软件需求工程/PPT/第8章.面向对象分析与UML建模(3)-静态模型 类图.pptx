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9359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23"/>
                </a:lnTo>
              </a:path>
            </a:pathLst>
          </a:custGeom>
          <a:ln w="12700">
            <a:solidFill>
              <a:srgbClr val="006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94917" y="197865"/>
            <a:ext cx="675416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B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8499" y="1051305"/>
            <a:ext cx="77470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107" y="6465723"/>
            <a:ext cx="223964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B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884" y="990600"/>
            <a:ext cx="3721735" cy="497649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面向对象建模</a:t>
            </a:r>
            <a:endParaRPr sz="24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1.1.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类图和对象建模</a:t>
            </a:r>
          </a:p>
          <a:p>
            <a:pPr marL="756285" lvl="1" indent="-287020">
              <a:lnSpc>
                <a:spcPct val="100000"/>
              </a:lnSpc>
              <a:spcBef>
                <a:spcPts val="21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1.2.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识别对象和筛选策略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1.3.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从对象抽象类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1.4.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主动对象和控制线程</a:t>
            </a:r>
          </a:p>
          <a:p>
            <a:pPr marL="355600" indent="-343535">
              <a:lnSpc>
                <a:spcPct val="100000"/>
              </a:lnSpc>
              <a:spcBef>
                <a:spcPts val="2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/>
                <a:cs typeface="Times New Roman"/>
              </a:rPr>
              <a:t>2.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类的命名、属性和操作</a:t>
            </a:r>
            <a:endParaRPr sz="24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2.1.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类的命名</a:t>
            </a: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类属性及识别筛选策略</a:t>
            </a: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2.3.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类操作及识别调整策略</a:t>
            </a: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/>
                <a:cs typeface="Times New Roman"/>
              </a:rPr>
              <a:t>3.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宋体"/>
                <a:cs typeface="宋体"/>
              </a:rPr>
              <a:t>类的继承和关联</a:t>
            </a:r>
            <a:endParaRPr sz="24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3.1.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类的继承关系</a:t>
            </a: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建立类的关联</a:t>
            </a:r>
          </a:p>
          <a:p>
            <a:pPr marL="355600" indent="-343535">
              <a:lnSpc>
                <a:spcPct val="100000"/>
              </a:lnSpc>
              <a:spcBef>
                <a:spcPts val="56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接口类</a:t>
            </a: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包图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9288" y="215900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面向对象思想</a:t>
            </a:r>
          </a:p>
        </p:txBody>
      </p:sp>
      <p:sp>
        <p:nvSpPr>
          <p:cNvPr id="3" name="object 3"/>
          <p:cNvSpPr/>
          <p:nvPr/>
        </p:nvSpPr>
        <p:spPr>
          <a:xfrm>
            <a:off x="419841" y="1006991"/>
            <a:ext cx="5085258" cy="25058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85516" y="2423160"/>
            <a:ext cx="5887211" cy="3733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3685" y="127762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面向对象思想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1517" y="1131386"/>
            <a:ext cx="7666990" cy="475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198755" indent="-342900">
              <a:lnSpc>
                <a:spcPct val="125099"/>
              </a:lnSpc>
              <a:spcBef>
                <a:spcPts val="100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每个对象都扮演了一个角色，并为</a:t>
            </a:r>
            <a:r>
              <a:rPr sz="2800" dirty="0">
                <a:latin typeface="宋体"/>
                <a:cs typeface="宋体"/>
              </a:rPr>
              <a:t>其</a:t>
            </a:r>
            <a:r>
              <a:rPr sz="2800" spc="-10" dirty="0">
                <a:latin typeface="宋体"/>
                <a:cs typeface="宋体"/>
              </a:rPr>
              <a:t>它成</a:t>
            </a:r>
            <a:r>
              <a:rPr sz="2800" dirty="0">
                <a:latin typeface="宋体"/>
                <a:cs typeface="宋体"/>
              </a:rPr>
              <a:t>员</a:t>
            </a:r>
            <a:r>
              <a:rPr sz="2800" spc="-5" dirty="0">
                <a:latin typeface="宋体"/>
                <a:cs typeface="宋体"/>
              </a:rPr>
              <a:t>提 供特定的服务或执行特定的行为。</a:t>
            </a:r>
            <a:endParaRPr sz="2800">
              <a:latin typeface="宋体"/>
              <a:cs typeface="宋体"/>
            </a:endParaRPr>
          </a:p>
          <a:p>
            <a:pPr marL="641985" marR="5080" lvl="1" indent="-343535">
              <a:lnSpc>
                <a:spcPct val="125099"/>
              </a:lnSpc>
              <a:spcBef>
                <a:spcPts val="640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641985" algn="l"/>
                <a:tab pos="642620" algn="l"/>
              </a:tabLst>
            </a:pPr>
            <a:r>
              <a:rPr sz="2400" dirty="0">
                <a:latin typeface="宋体"/>
                <a:cs typeface="宋体"/>
              </a:rPr>
              <a:t>在面向对象世界中，行为的启动是通</a:t>
            </a:r>
            <a:r>
              <a:rPr sz="2400" spc="5" dirty="0">
                <a:latin typeface="宋体"/>
                <a:cs typeface="宋体"/>
              </a:rPr>
              <a:t>过</a:t>
            </a:r>
            <a:r>
              <a:rPr sz="2400" dirty="0">
                <a:solidFill>
                  <a:srgbClr val="00A15F"/>
                </a:solidFill>
                <a:latin typeface="宋体"/>
                <a:cs typeface="宋体"/>
              </a:rPr>
              <a:t>将“消息”传 递</a:t>
            </a:r>
            <a:r>
              <a:rPr sz="2400" dirty="0">
                <a:latin typeface="宋体"/>
                <a:cs typeface="宋体"/>
              </a:rPr>
              <a:t>给对此行为负责的对象来完成的；</a:t>
            </a:r>
            <a:endParaRPr sz="2400">
              <a:latin typeface="宋体"/>
              <a:cs typeface="宋体"/>
            </a:endParaRPr>
          </a:p>
          <a:p>
            <a:pPr marL="641985" lvl="1" indent="-343535">
              <a:lnSpc>
                <a:spcPct val="100000"/>
              </a:lnSpc>
              <a:spcBef>
                <a:spcPts val="1295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641985" algn="l"/>
                <a:tab pos="642620" algn="l"/>
              </a:tabLst>
            </a:pPr>
            <a:r>
              <a:rPr sz="2400" dirty="0">
                <a:latin typeface="宋体"/>
                <a:cs typeface="宋体"/>
              </a:rPr>
              <a:t>同时还将伴随着执行要</a:t>
            </a:r>
            <a:r>
              <a:rPr sz="2400" spc="5" dirty="0">
                <a:latin typeface="宋体"/>
                <a:cs typeface="宋体"/>
              </a:rPr>
              <a:t>求</a:t>
            </a:r>
            <a:r>
              <a:rPr sz="2400" dirty="0">
                <a:solidFill>
                  <a:srgbClr val="00A15F"/>
                </a:solidFill>
                <a:latin typeface="宋体"/>
                <a:cs typeface="宋体"/>
              </a:rPr>
              <a:t>附上相关的信息（参数）</a:t>
            </a:r>
            <a:r>
              <a:rPr sz="2400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41985" marR="5080" lvl="1" indent="-343535">
              <a:lnSpc>
                <a:spcPct val="125099"/>
              </a:lnSpc>
              <a:spcBef>
                <a:spcPts val="575"/>
              </a:spcBef>
              <a:buClr>
                <a:srgbClr val="C00000"/>
              </a:buClr>
              <a:buSzPct val="79166"/>
              <a:buFont typeface="Wingdings"/>
              <a:buChar char=""/>
              <a:tabLst>
                <a:tab pos="641985" algn="l"/>
                <a:tab pos="642620" algn="l"/>
              </a:tabLst>
            </a:pPr>
            <a:r>
              <a:rPr sz="2400" dirty="0">
                <a:latin typeface="宋体"/>
                <a:cs typeface="宋体"/>
              </a:rPr>
              <a:t>而收到该消息的对象则</a:t>
            </a:r>
            <a:r>
              <a:rPr sz="2400" spc="5" dirty="0">
                <a:latin typeface="宋体"/>
                <a:cs typeface="宋体"/>
              </a:rPr>
              <a:t>会</a:t>
            </a:r>
            <a:r>
              <a:rPr sz="2400" dirty="0">
                <a:solidFill>
                  <a:srgbClr val="00A15F"/>
                </a:solidFill>
                <a:latin typeface="宋体"/>
                <a:cs typeface="宋体"/>
              </a:rPr>
              <a:t>执行相应的“方法”</a:t>
            </a:r>
            <a:r>
              <a:rPr sz="2400" dirty="0">
                <a:latin typeface="宋体"/>
                <a:cs typeface="宋体"/>
              </a:rPr>
              <a:t>来实现 需求</a:t>
            </a:r>
            <a:endParaRPr sz="2400">
              <a:latin typeface="宋体"/>
              <a:cs typeface="宋体"/>
            </a:endParaRPr>
          </a:p>
          <a:p>
            <a:pPr marL="354965" marR="198755" indent="-342900">
              <a:lnSpc>
                <a:spcPct val="125000"/>
              </a:lnSpc>
              <a:spcBef>
                <a:spcPts val="605"/>
              </a:spcBef>
              <a:buClr>
                <a:srgbClr val="00663B"/>
              </a:buClr>
              <a:buSzPct val="80357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用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类和对象</a:t>
            </a:r>
            <a:r>
              <a:rPr sz="2800" spc="-5" dirty="0">
                <a:latin typeface="宋体"/>
                <a:cs typeface="宋体"/>
              </a:rPr>
              <a:t>表示现实世界，用消息</a:t>
            </a:r>
            <a:r>
              <a:rPr sz="2800" dirty="0">
                <a:latin typeface="宋体"/>
                <a:cs typeface="宋体"/>
              </a:rPr>
              <a:t>和</a:t>
            </a:r>
            <a:r>
              <a:rPr sz="2800" spc="-5" dirty="0">
                <a:latin typeface="宋体"/>
                <a:cs typeface="宋体"/>
              </a:rPr>
              <a:t>方法</a:t>
            </a:r>
            <a:r>
              <a:rPr sz="2800" dirty="0">
                <a:latin typeface="宋体"/>
                <a:cs typeface="宋体"/>
              </a:rPr>
              <a:t>来</a:t>
            </a:r>
            <a:r>
              <a:rPr sz="2800" spc="-5" dirty="0">
                <a:latin typeface="宋体"/>
                <a:cs typeface="宋体"/>
              </a:rPr>
              <a:t>模 </a:t>
            </a:r>
            <a:r>
              <a:rPr sz="2800" spc="-10" dirty="0">
                <a:latin typeface="宋体"/>
                <a:cs typeface="宋体"/>
              </a:rPr>
              <a:t>拟现实世界的核心思想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967" y="1728980"/>
            <a:ext cx="7752715" cy="2562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6400">
              <a:lnSpc>
                <a:spcPct val="130000"/>
              </a:lnSpc>
              <a:spcBef>
                <a:spcPts val="100"/>
              </a:spcBef>
            </a:pPr>
            <a:r>
              <a:rPr sz="3200" spc="5" dirty="0">
                <a:latin typeface="宋体"/>
                <a:cs typeface="宋体"/>
              </a:rPr>
              <a:t>类</a:t>
            </a:r>
            <a:r>
              <a:rPr sz="3200" spc="-10" dirty="0">
                <a:latin typeface="宋体"/>
                <a:cs typeface="宋体"/>
              </a:rPr>
              <a:t>图</a:t>
            </a:r>
            <a:r>
              <a:rPr sz="3200" spc="5" dirty="0">
                <a:latin typeface="宋体"/>
                <a:cs typeface="宋体"/>
              </a:rPr>
              <a:t>，是</a:t>
            </a:r>
            <a:r>
              <a:rPr sz="3200" spc="-10" dirty="0">
                <a:latin typeface="宋体"/>
                <a:cs typeface="宋体"/>
              </a:rPr>
              <a:t>系</a:t>
            </a:r>
            <a:r>
              <a:rPr sz="3200" spc="5" dirty="0">
                <a:latin typeface="宋体"/>
                <a:cs typeface="宋体"/>
              </a:rPr>
              <a:t>统建</a:t>
            </a:r>
            <a:r>
              <a:rPr sz="3200" spc="-10" dirty="0">
                <a:latin typeface="宋体"/>
                <a:cs typeface="宋体"/>
              </a:rPr>
              <a:t>模</a:t>
            </a:r>
            <a:r>
              <a:rPr sz="3200" spc="5" dirty="0">
                <a:latin typeface="宋体"/>
                <a:cs typeface="宋体"/>
              </a:rPr>
              <a:t>过程</a:t>
            </a:r>
            <a:r>
              <a:rPr sz="3200" spc="-10" dirty="0">
                <a:latin typeface="宋体"/>
                <a:cs typeface="宋体"/>
              </a:rPr>
              <a:t>中</a:t>
            </a:r>
            <a:r>
              <a:rPr sz="3200" spc="5" dirty="0">
                <a:latin typeface="宋体"/>
                <a:cs typeface="宋体"/>
              </a:rPr>
              <a:t>最重</a:t>
            </a:r>
            <a:r>
              <a:rPr sz="3200" spc="-10" dirty="0">
                <a:latin typeface="宋体"/>
                <a:cs typeface="宋体"/>
              </a:rPr>
              <a:t>要</a:t>
            </a:r>
            <a:r>
              <a:rPr sz="3200" spc="5" dirty="0">
                <a:latin typeface="宋体"/>
                <a:cs typeface="宋体"/>
              </a:rPr>
              <a:t>的部</a:t>
            </a:r>
            <a:r>
              <a:rPr sz="3200" spc="-10" dirty="0">
                <a:latin typeface="宋体"/>
                <a:cs typeface="宋体"/>
              </a:rPr>
              <a:t>分</a:t>
            </a:r>
            <a:r>
              <a:rPr sz="3200" dirty="0">
                <a:latin typeface="宋体"/>
                <a:cs typeface="宋体"/>
              </a:rPr>
              <a:t>， 也是花费精力最大的活</a:t>
            </a:r>
            <a:r>
              <a:rPr sz="3200" spc="-15" dirty="0">
                <a:latin typeface="宋体"/>
                <a:cs typeface="宋体"/>
              </a:rPr>
              <a:t>动</a:t>
            </a:r>
            <a:r>
              <a:rPr sz="3200" dirty="0">
                <a:latin typeface="宋体"/>
                <a:cs typeface="宋体"/>
              </a:rPr>
              <a:t>。类</a:t>
            </a:r>
            <a:r>
              <a:rPr sz="3200" spc="-15" dirty="0">
                <a:latin typeface="宋体"/>
                <a:cs typeface="宋体"/>
              </a:rPr>
              <a:t>图</a:t>
            </a:r>
            <a:r>
              <a:rPr sz="3200" dirty="0">
                <a:latin typeface="宋体"/>
                <a:cs typeface="宋体"/>
              </a:rPr>
              <a:t>描述</a:t>
            </a:r>
            <a:r>
              <a:rPr sz="3200" spc="-15" dirty="0">
                <a:latin typeface="宋体"/>
                <a:cs typeface="宋体"/>
              </a:rPr>
              <a:t>系</a:t>
            </a:r>
            <a:r>
              <a:rPr sz="3200" dirty="0">
                <a:latin typeface="宋体"/>
                <a:cs typeface="宋体"/>
              </a:rPr>
              <a:t>统 中各个对象之间存在的</a:t>
            </a:r>
            <a:r>
              <a:rPr sz="3200" spc="-15" dirty="0">
                <a:latin typeface="宋体"/>
                <a:cs typeface="宋体"/>
              </a:rPr>
              <a:t>关</a:t>
            </a:r>
            <a:r>
              <a:rPr sz="3200" dirty="0">
                <a:latin typeface="宋体"/>
                <a:cs typeface="宋体"/>
              </a:rPr>
              <a:t>系，</a:t>
            </a:r>
            <a:r>
              <a:rPr sz="3200" spc="-15" dirty="0">
                <a:latin typeface="宋体"/>
                <a:cs typeface="宋体"/>
              </a:rPr>
              <a:t>表</a:t>
            </a:r>
            <a:r>
              <a:rPr sz="3200" dirty="0">
                <a:latin typeface="宋体"/>
                <a:cs typeface="宋体"/>
              </a:rPr>
              <a:t>达系</a:t>
            </a:r>
            <a:r>
              <a:rPr sz="3200" spc="-15" dirty="0">
                <a:latin typeface="宋体"/>
                <a:cs typeface="宋体"/>
              </a:rPr>
              <a:t>统</a:t>
            </a:r>
            <a:r>
              <a:rPr sz="3200" spc="5" dirty="0">
                <a:latin typeface="宋体"/>
                <a:cs typeface="宋体"/>
              </a:rPr>
              <a:t>的 </a:t>
            </a:r>
            <a:r>
              <a:rPr sz="3200" dirty="0">
                <a:latin typeface="宋体"/>
                <a:cs typeface="宋体"/>
              </a:rPr>
              <a:t>静态结构，也叫做“对</a:t>
            </a:r>
            <a:r>
              <a:rPr sz="3200" spc="-15" dirty="0">
                <a:latin typeface="宋体"/>
                <a:cs typeface="宋体"/>
              </a:rPr>
              <a:t>象</a:t>
            </a:r>
            <a:r>
              <a:rPr sz="3200" dirty="0">
                <a:latin typeface="宋体"/>
                <a:cs typeface="宋体"/>
              </a:rPr>
              <a:t>建模</a:t>
            </a:r>
            <a:r>
              <a:rPr sz="3200" spc="-15" dirty="0">
                <a:latin typeface="宋体"/>
                <a:cs typeface="宋体"/>
              </a:rPr>
              <a:t>”</a:t>
            </a:r>
            <a:r>
              <a:rPr sz="3200" dirty="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5677" y="201549"/>
            <a:ext cx="49161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1.1.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/>
              <a:t>类图和对象建模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2413" y="193675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类图的基本图元素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8460" y="2910966"/>
            <a:ext cx="379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1</a:t>
            </a:r>
            <a:r>
              <a:rPr sz="1800" b="1" dirty="0">
                <a:latin typeface="Arial"/>
                <a:cs typeface="Arial"/>
              </a:rPr>
              <a:t>..</a:t>
            </a:r>
            <a:r>
              <a:rPr sz="1400" b="1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9461" y="2977388"/>
            <a:ext cx="3644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ahoma"/>
                <a:cs typeface="Tahoma"/>
              </a:rPr>
              <a:t>1</a:t>
            </a:r>
            <a:r>
              <a:rPr sz="1400" b="1" dirty="0">
                <a:latin typeface="Tahoma"/>
                <a:cs typeface="Tahoma"/>
              </a:rPr>
              <a:t>..1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9900" y="3918203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55329" y="2406205"/>
          <a:ext cx="2906395" cy="11978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82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863"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类名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sz="1600" b="1" spc="-10" dirty="0">
                          <a:latin typeface="Tahoma"/>
                          <a:cs typeface="Tahoma"/>
                        </a:rPr>
                        <a:t>XXX→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165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7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653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889504" y="3634740"/>
            <a:ext cx="216535" cy="288290"/>
          </a:xfrm>
          <a:custGeom>
            <a:avLst/>
            <a:gdLst/>
            <a:ahLst/>
            <a:cxnLst/>
            <a:rect l="l" t="t" r="r" b="b"/>
            <a:pathLst>
              <a:path w="216535" h="288289">
                <a:moveTo>
                  <a:pt x="0" y="288036"/>
                </a:moveTo>
                <a:lnTo>
                  <a:pt x="108203" y="0"/>
                </a:lnTo>
                <a:lnTo>
                  <a:pt x="216407" y="288036"/>
                </a:lnTo>
                <a:lnTo>
                  <a:pt x="0" y="2880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41491" y="3660647"/>
            <a:ext cx="288290" cy="288290"/>
          </a:xfrm>
          <a:custGeom>
            <a:avLst/>
            <a:gdLst/>
            <a:ahLst/>
            <a:cxnLst/>
            <a:rect l="l" t="t" r="r" b="b"/>
            <a:pathLst>
              <a:path w="288289" h="288289">
                <a:moveTo>
                  <a:pt x="0" y="144018"/>
                </a:moveTo>
                <a:lnTo>
                  <a:pt x="144018" y="0"/>
                </a:lnTo>
                <a:lnTo>
                  <a:pt x="288036" y="144018"/>
                </a:lnTo>
                <a:lnTo>
                  <a:pt x="144018" y="288035"/>
                </a:lnTo>
                <a:lnTo>
                  <a:pt x="0" y="14401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208841" y="2453449"/>
          <a:ext cx="1368425" cy="11963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5863"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类名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3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324100" y="4223003"/>
            <a:ext cx="1371600" cy="1196340"/>
          </a:xfrm>
          <a:custGeom>
            <a:avLst/>
            <a:gdLst/>
            <a:ahLst/>
            <a:cxnLst/>
            <a:rect l="l" t="t" r="r" b="b"/>
            <a:pathLst>
              <a:path w="1371600" h="1196339">
                <a:moveTo>
                  <a:pt x="0" y="1196340"/>
                </a:moveTo>
                <a:lnTo>
                  <a:pt x="1371600" y="1196340"/>
                </a:lnTo>
                <a:lnTo>
                  <a:pt x="1371600" y="0"/>
                </a:lnTo>
                <a:lnTo>
                  <a:pt x="0" y="0"/>
                </a:lnTo>
                <a:lnTo>
                  <a:pt x="0" y="119634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24100" y="4223003"/>
            <a:ext cx="1371600" cy="4362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398145">
              <a:lnSpc>
                <a:spcPct val="100000"/>
              </a:lnSpc>
              <a:spcBef>
                <a:spcPts val="370"/>
              </a:spcBef>
            </a:pPr>
            <a:r>
              <a:rPr sz="2400" b="1" dirty="0">
                <a:latin typeface="宋体"/>
                <a:cs typeface="宋体"/>
              </a:rPr>
              <a:t>类名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33244" y="4658867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24100" y="5061203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452937" y="3944111"/>
          <a:ext cx="3276600" cy="1501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69">
                <a:tc gridSpan="2"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类名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5245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类名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696339" y="2985135"/>
            <a:ext cx="672465" cy="414020"/>
          </a:xfrm>
          <a:custGeom>
            <a:avLst/>
            <a:gdLst/>
            <a:ahLst/>
            <a:cxnLst/>
            <a:rect l="l" t="t" r="r" b="b"/>
            <a:pathLst>
              <a:path w="672464" h="414020">
                <a:moveTo>
                  <a:pt x="0" y="413638"/>
                </a:moveTo>
                <a:lnTo>
                  <a:pt x="67221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7868" y="3284220"/>
            <a:ext cx="1152525" cy="43307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334"/>
              </a:spcBef>
            </a:pPr>
            <a:r>
              <a:rPr sz="1800" b="1" dirty="0">
                <a:latin typeface="宋体"/>
                <a:cs typeface="宋体"/>
              </a:rPr>
              <a:t>属性区域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11095" y="3456051"/>
            <a:ext cx="570230" cy="592455"/>
          </a:xfrm>
          <a:custGeom>
            <a:avLst/>
            <a:gdLst/>
            <a:ahLst/>
            <a:cxnLst/>
            <a:rect l="l" t="t" r="r" b="b"/>
            <a:pathLst>
              <a:path w="570230" h="592454">
                <a:moveTo>
                  <a:pt x="0" y="591947"/>
                </a:moveTo>
                <a:lnTo>
                  <a:pt x="56972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84276" y="3933444"/>
            <a:ext cx="1150620" cy="43307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操作区域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37507" y="1814829"/>
            <a:ext cx="274955" cy="725805"/>
          </a:xfrm>
          <a:custGeom>
            <a:avLst/>
            <a:gdLst/>
            <a:ahLst/>
            <a:cxnLst/>
            <a:rect l="l" t="t" r="r" b="b"/>
            <a:pathLst>
              <a:path w="274954" h="725805">
                <a:moveTo>
                  <a:pt x="274700" y="0"/>
                </a:moveTo>
                <a:lnTo>
                  <a:pt x="0" y="72567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88408" y="1700783"/>
            <a:ext cx="721360" cy="360045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宋体"/>
                <a:cs typeface="宋体"/>
              </a:rPr>
              <a:t>关联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07891" y="3500628"/>
            <a:ext cx="937260" cy="360045"/>
          </a:xfrm>
          <a:custGeom>
            <a:avLst/>
            <a:gdLst/>
            <a:ahLst/>
            <a:cxnLst/>
            <a:rect l="l" t="t" r="r" b="b"/>
            <a:pathLst>
              <a:path w="937260" h="360045">
                <a:moveTo>
                  <a:pt x="0" y="359664"/>
                </a:moveTo>
                <a:lnTo>
                  <a:pt x="937260" y="359664"/>
                </a:lnTo>
                <a:lnTo>
                  <a:pt x="937260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07891" y="3500628"/>
            <a:ext cx="937260" cy="360045"/>
          </a:xfrm>
          <a:custGeom>
            <a:avLst/>
            <a:gdLst/>
            <a:ahLst/>
            <a:cxnLst/>
            <a:rect l="l" t="t" r="r" b="b"/>
            <a:pathLst>
              <a:path w="937260" h="360045">
                <a:moveTo>
                  <a:pt x="0" y="359664"/>
                </a:moveTo>
                <a:lnTo>
                  <a:pt x="937260" y="359664"/>
                </a:lnTo>
                <a:lnTo>
                  <a:pt x="937260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21352" y="3291459"/>
            <a:ext cx="170180" cy="323215"/>
          </a:xfrm>
          <a:custGeom>
            <a:avLst/>
            <a:gdLst/>
            <a:ahLst/>
            <a:cxnLst/>
            <a:rect l="l" t="t" r="r" b="b"/>
            <a:pathLst>
              <a:path w="170179" h="323214">
                <a:moveTo>
                  <a:pt x="0" y="323214"/>
                </a:moveTo>
                <a:lnTo>
                  <a:pt x="17005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18890" y="3529710"/>
            <a:ext cx="71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多重性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3110" y="154305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类的属性和操作表示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6072" y="2406853"/>
            <a:ext cx="1939289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可见</a:t>
            </a:r>
            <a:r>
              <a:rPr sz="1800" b="1" spc="5" dirty="0">
                <a:latin typeface="宋体"/>
                <a:cs typeface="宋体"/>
              </a:rPr>
              <a:t>性</a:t>
            </a:r>
            <a:r>
              <a:rPr sz="1800" b="1" dirty="0">
                <a:latin typeface="Times New Roman"/>
                <a:cs typeface="Times New Roman"/>
              </a:rPr>
              <a:t>(visi</a:t>
            </a:r>
            <a:r>
              <a:rPr sz="1800" b="1" spc="-10" dirty="0">
                <a:latin typeface="Times New Roman"/>
                <a:cs typeface="Times New Roman"/>
              </a:rPr>
              <a:t>b</a:t>
            </a:r>
            <a:r>
              <a:rPr sz="1800" b="1" dirty="0">
                <a:latin typeface="Times New Roman"/>
                <a:cs typeface="Times New Roman"/>
              </a:rPr>
              <a:t>ilit</a:t>
            </a:r>
            <a:r>
              <a:rPr sz="1800" b="1" spc="10" dirty="0">
                <a:latin typeface="Times New Roman"/>
                <a:cs typeface="Times New Roman"/>
              </a:rPr>
              <a:t>y</a:t>
            </a:r>
            <a:r>
              <a:rPr sz="1800" b="1" dirty="0">
                <a:latin typeface="Times New Roman"/>
                <a:cs typeface="Times New Roman"/>
              </a:rPr>
              <a:t>)</a:t>
            </a:r>
            <a:r>
              <a:rPr sz="1800" b="1" spc="-5" dirty="0">
                <a:latin typeface="宋体"/>
                <a:cs typeface="宋体"/>
              </a:rPr>
              <a:t>：</a:t>
            </a:r>
            <a:endParaRPr sz="1800" dirty="0">
              <a:latin typeface="宋体"/>
              <a:cs typeface="宋体"/>
            </a:endParaRPr>
          </a:p>
          <a:p>
            <a:pPr marL="12700" marR="895985">
              <a:lnSpc>
                <a:spcPct val="18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private -  public +  protected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#</a:t>
            </a:r>
          </a:p>
        </p:txBody>
      </p:sp>
      <p:sp>
        <p:nvSpPr>
          <p:cNvPr id="4" name="object 4"/>
          <p:cNvSpPr/>
          <p:nvPr/>
        </p:nvSpPr>
        <p:spPr>
          <a:xfrm>
            <a:off x="1263434" y="1598549"/>
            <a:ext cx="687705" cy="666115"/>
          </a:xfrm>
          <a:custGeom>
            <a:avLst/>
            <a:gdLst/>
            <a:ahLst/>
            <a:cxnLst/>
            <a:rect l="l" t="t" r="r" b="b"/>
            <a:pathLst>
              <a:path w="687705" h="666114">
                <a:moveTo>
                  <a:pt x="0" y="0"/>
                </a:moveTo>
                <a:lnTo>
                  <a:pt x="687666" y="66598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4715" y="1484375"/>
            <a:ext cx="792480" cy="4318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宋体"/>
                <a:cs typeface="宋体"/>
              </a:rPr>
              <a:t>版型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79520" y="3826764"/>
            <a:ext cx="792480" cy="433070"/>
          </a:xfrm>
          <a:custGeom>
            <a:avLst/>
            <a:gdLst/>
            <a:ahLst/>
            <a:cxnLst/>
            <a:rect l="l" t="t" r="r" b="b"/>
            <a:pathLst>
              <a:path w="792479" h="433070">
                <a:moveTo>
                  <a:pt x="0" y="432816"/>
                </a:moveTo>
                <a:lnTo>
                  <a:pt x="792479" y="432816"/>
                </a:lnTo>
                <a:lnTo>
                  <a:pt x="792479" y="0"/>
                </a:lnTo>
                <a:lnTo>
                  <a:pt x="0" y="0"/>
                </a:lnTo>
                <a:lnTo>
                  <a:pt x="0" y="432816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79520" y="3826764"/>
            <a:ext cx="792480" cy="433070"/>
          </a:xfrm>
          <a:custGeom>
            <a:avLst/>
            <a:gdLst/>
            <a:ahLst/>
            <a:cxnLst/>
            <a:rect l="l" t="t" r="r" b="b"/>
            <a:pathLst>
              <a:path w="792479" h="433070">
                <a:moveTo>
                  <a:pt x="0" y="432816"/>
                </a:moveTo>
                <a:lnTo>
                  <a:pt x="792479" y="432816"/>
                </a:lnTo>
                <a:lnTo>
                  <a:pt x="792479" y="0"/>
                </a:lnTo>
                <a:lnTo>
                  <a:pt x="0" y="0"/>
                </a:lnTo>
                <a:lnTo>
                  <a:pt x="0" y="4328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61488" y="3941317"/>
            <a:ext cx="942340" cy="396240"/>
          </a:xfrm>
          <a:custGeom>
            <a:avLst/>
            <a:gdLst/>
            <a:ahLst/>
            <a:cxnLst/>
            <a:rect l="l" t="t" r="r" b="b"/>
            <a:pathLst>
              <a:path w="942339" h="396239">
                <a:moveTo>
                  <a:pt x="941832" y="0"/>
                </a:moveTo>
                <a:lnTo>
                  <a:pt x="0" y="39623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23531" y="2089213"/>
          <a:ext cx="3816350" cy="39608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103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ts val="286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graphics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》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ts val="286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shape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90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origin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：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point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50">
                <a:tc>
                  <a:txBody>
                    <a:bodyPr/>
                    <a:lstStyle/>
                    <a:p>
                      <a:pPr marL="9144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：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double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556">
                <a:tc>
                  <a:txBody>
                    <a:bodyPr/>
                    <a:lstStyle/>
                    <a:p>
                      <a:pPr marL="9144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Fill</a:t>
                      </a:r>
                      <a:r>
                        <a:rPr sz="2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：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color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59410">
                        <a:lnSpc>
                          <a:spcPts val="1820"/>
                        </a:lnSpc>
                        <a:spcBef>
                          <a:spcPts val="120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静态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5240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970">
                <a:tc>
                  <a:txBody>
                    <a:bodyPr/>
                    <a:lstStyle/>
                    <a:p>
                      <a:pPr marL="91440">
                        <a:lnSpc>
                          <a:spcPts val="2485"/>
                        </a:lnSpc>
                      </a:pP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40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Count</a:t>
                      </a: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宋体"/>
                          <a:cs typeface="宋体"/>
                        </a:rPr>
                        <a:t>：</a:t>
                      </a:r>
                      <a:r>
                        <a:rPr sz="2400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638"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《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constructor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》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shape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（）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24">
                <a:tc gridSpan="2">
                  <a:txBody>
                    <a:bodyPr/>
                    <a:lstStyle/>
                    <a:p>
                      <a:pPr marL="9017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move</a:t>
                      </a:r>
                      <a:r>
                        <a:rPr sz="2400" spc="-5" dirty="0">
                          <a:latin typeface="宋体"/>
                          <a:cs typeface="宋体"/>
                        </a:rPr>
                        <a:t>（）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093">
                <a:tc gridSpan="2">
                  <a:txBody>
                    <a:bodyPr/>
                    <a:lstStyle/>
                    <a:p>
                      <a:pPr marL="9017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resize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（）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5029">
                <a:tc gridSpan="2">
                  <a:txBody>
                    <a:bodyPr/>
                    <a:lstStyle/>
                    <a:p>
                      <a:pPr marL="90170">
                        <a:lnSpc>
                          <a:spcPts val="273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（）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0" y="21496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对象和类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303" y="1221291"/>
            <a:ext cx="7847965" cy="3790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95"/>
              </a:spcBef>
            </a:pPr>
            <a:r>
              <a:rPr sz="2800" b="1" spc="-5" dirty="0">
                <a:latin typeface="宋体"/>
                <a:cs typeface="宋体"/>
              </a:rPr>
              <a:t>对象定义</a:t>
            </a:r>
            <a:r>
              <a:rPr sz="2800" spc="-5" dirty="0">
                <a:latin typeface="宋体"/>
                <a:cs typeface="宋体"/>
              </a:rPr>
              <a:t>：对象是具有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明确语义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边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界并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装了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状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态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和行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为</a:t>
            </a:r>
            <a:r>
              <a:rPr sz="2800" spc="-10" dirty="0">
                <a:latin typeface="宋体"/>
                <a:cs typeface="宋体"/>
              </a:rPr>
              <a:t>的</a:t>
            </a:r>
            <a:r>
              <a:rPr sz="2800" b="1" spc="-10" dirty="0">
                <a:solidFill>
                  <a:srgbClr val="00A15F"/>
                </a:solidFill>
                <a:latin typeface="宋体"/>
                <a:cs typeface="宋体"/>
              </a:rPr>
              <a:t>实体</a:t>
            </a:r>
            <a:r>
              <a:rPr sz="2800" spc="-5" dirty="0">
                <a:latin typeface="宋体"/>
                <a:cs typeface="宋体"/>
              </a:rPr>
              <a:t>，即它是系统中用来</a:t>
            </a:r>
            <a:r>
              <a:rPr sz="2800" dirty="0">
                <a:latin typeface="宋体"/>
                <a:cs typeface="宋体"/>
              </a:rPr>
              <a:t>描</a:t>
            </a:r>
            <a:r>
              <a:rPr sz="2800" spc="-5" dirty="0">
                <a:latin typeface="宋体"/>
                <a:cs typeface="宋体"/>
              </a:rPr>
              <a:t>述客</a:t>
            </a:r>
            <a:r>
              <a:rPr sz="2800" dirty="0">
                <a:latin typeface="宋体"/>
                <a:cs typeface="宋体"/>
              </a:rPr>
              <a:t>观</a:t>
            </a:r>
            <a:r>
              <a:rPr sz="2800" spc="-5" dirty="0">
                <a:latin typeface="宋体"/>
                <a:cs typeface="宋体"/>
              </a:rPr>
              <a:t>事物的 一个实体，是构成系统的一个基本</a:t>
            </a:r>
            <a:r>
              <a:rPr sz="2800" dirty="0">
                <a:latin typeface="宋体"/>
                <a:cs typeface="宋体"/>
              </a:rPr>
              <a:t>单</a:t>
            </a:r>
            <a:r>
              <a:rPr sz="2800" spc="-5" dirty="0">
                <a:latin typeface="宋体"/>
                <a:cs typeface="宋体"/>
              </a:rPr>
              <a:t>位，</a:t>
            </a:r>
            <a:r>
              <a:rPr sz="2800" dirty="0">
                <a:latin typeface="宋体"/>
                <a:cs typeface="宋体"/>
              </a:rPr>
              <a:t>由</a:t>
            </a:r>
            <a:r>
              <a:rPr sz="2800" spc="-5" dirty="0">
                <a:latin typeface="宋体"/>
                <a:cs typeface="宋体"/>
              </a:rPr>
              <a:t>一组属 性和作用在这组属性上的一组操作</a:t>
            </a:r>
            <a:r>
              <a:rPr sz="2800" dirty="0">
                <a:latin typeface="宋体"/>
                <a:cs typeface="宋体"/>
              </a:rPr>
              <a:t>构</a:t>
            </a:r>
            <a:r>
              <a:rPr sz="2800" spc="-5" dirty="0">
                <a:latin typeface="宋体"/>
                <a:cs typeface="宋体"/>
              </a:rPr>
              <a:t>成。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宋体"/>
              <a:cs typeface="宋体"/>
            </a:endParaRPr>
          </a:p>
          <a:p>
            <a:pPr marL="12700" marR="8255">
              <a:lnSpc>
                <a:spcPct val="130000"/>
              </a:lnSpc>
              <a:spcBef>
                <a:spcPts val="5"/>
              </a:spcBef>
            </a:pPr>
            <a:r>
              <a:rPr sz="2800" b="1" spc="-5" dirty="0">
                <a:latin typeface="宋体"/>
                <a:cs typeface="宋体"/>
              </a:rPr>
              <a:t>类定义</a:t>
            </a:r>
            <a:r>
              <a:rPr sz="2800" spc="-5" dirty="0">
                <a:latin typeface="宋体"/>
                <a:cs typeface="宋体"/>
              </a:rPr>
              <a:t>：类是对具有相同属性、操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、关</a:t>
            </a:r>
            <a:r>
              <a:rPr sz="2800" dirty="0">
                <a:latin typeface="宋体"/>
                <a:cs typeface="宋体"/>
              </a:rPr>
              <a:t>系</a:t>
            </a:r>
            <a:r>
              <a:rPr sz="2800" spc="-5" dirty="0">
                <a:latin typeface="宋体"/>
                <a:cs typeface="宋体"/>
              </a:rPr>
              <a:t>和语义 </a:t>
            </a:r>
            <a:r>
              <a:rPr sz="2800" spc="-10" dirty="0">
                <a:latin typeface="宋体"/>
                <a:cs typeface="宋体"/>
              </a:rPr>
              <a:t>的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对象集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合</a:t>
            </a:r>
            <a:r>
              <a:rPr sz="2800" spc="-10" dirty="0">
                <a:latin typeface="宋体"/>
                <a:cs typeface="宋体"/>
              </a:rPr>
              <a:t>的描述。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016" y="1125702"/>
            <a:ext cx="7748270" cy="44532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b="1" dirty="0">
                <a:latin typeface="宋体"/>
                <a:cs typeface="宋体"/>
              </a:rPr>
              <a:t>对象建模的基础：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ts val="3670"/>
              </a:lnSpc>
              <a:spcBef>
                <a:spcPts val="1580"/>
              </a:spcBef>
            </a:pPr>
            <a:r>
              <a:rPr sz="3200" dirty="0">
                <a:latin typeface="宋体"/>
                <a:cs typeface="宋体"/>
              </a:rPr>
              <a:t>在用例图完成捕获需求</a:t>
            </a:r>
            <a:r>
              <a:rPr sz="3200" spc="-15" dirty="0">
                <a:latin typeface="宋体"/>
                <a:cs typeface="宋体"/>
              </a:rPr>
              <a:t>后</a:t>
            </a:r>
            <a:r>
              <a:rPr sz="3200" dirty="0">
                <a:latin typeface="宋体"/>
                <a:cs typeface="宋体"/>
              </a:rPr>
              <a:t>，</a:t>
            </a:r>
            <a:r>
              <a:rPr sz="3200" spc="5" dirty="0">
                <a:latin typeface="宋体"/>
                <a:cs typeface="宋体"/>
              </a:rPr>
              <a:t>将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问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题域</a:t>
            </a:r>
            <a:r>
              <a:rPr sz="3200" spc="-15" dirty="0">
                <a:latin typeface="宋体"/>
                <a:cs typeface="宋体"/>
              </a:rPr>
              <a:t>和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 统责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任</a:t>
            </a:r>
            <a:r>
              <a:rPr sz="3200" spc="5" dirty="0">
                <a:latin typeface="宋体"/>
                <a:cs typeface="宋体"/>
              </a:rPr>
              <a:t>作为</a:t>
            </a:r>
            <a:r>
              <a:rPr sz="3200" spc="-15" dirty="0">
                <a:latin typeface="宋体"/>
                <a:cs typeface="宋体"/>
              </a:rPr>
              <a:t>基</a:t>
            </a:r>
            <a:r>
              <a:rPr sz="3200" spc="5" dirty="0">
                <a:latin typeface="宋体"/>
                <a:cs typeface="宋体"/>
              </a:rPr>
              <a:t>础，</a:t>
            </a:r>
            <a:r>
              <a:rPr sz="3200" spc="-15" dirty="0">
                <a:latin typeface="宋体"/>
                <a:cs typeface="宋体"/>
              </a:rPr>
              <a:t>分</a:t>
            </a:r>
            <a:r>
              <a:rPr sz="3200" spc="5" dirty="0">
                <a:latin typeface="宋体"/>
                <a:cs typeface="宋体"/>
              </a:rPr>
              <a:t>析系</a:t>
            </a:r>
            <a:r>
              <a:rPr sz="3200" spc="-15" dirty="0">
                <a:latin typeface="宋体"/>
                <a:cs typeface="宋体"/>
              </a:rPr>
              <a:t>统</a:t>
            </a:r>
            <a:r>
              <a:rPr sz="3200" spc="5" dirty="0">
                <a:latin typeface="宋体"/>
                <a:cs typeface="宋体"/>
              </a:rPr>
              <a:t>中的</a:t>
            </a:r>
            <a:r>
              <a:rPr sz="3200" spc="-15" dirty="0">
                <a:latin typeface="宋体"/>
                <a:cs typeface="宋体"/>
              </a:rPr>
              <a:t>对</a:t>
            </a:r>
            <a:r>
              <a:rPr sz="3200" spc="5" dirty="0">
                <a:latin typeface="宋体"/>
                <a:cs typeface="宋体"/>
              </a:rPr>
              <a:t>象和</a:t>
            </a:r>
            <a:r>
              <a:rPr sz="3200" spc="-15" dirty="0">
                <a:latin typeface="宋体"/>
                <a:cs typeface="宋体"/>
              </a:rPr>
              <a:t>类</a:t>
            </a:r>
            <a:r>
              <a:rPr sz="3200" spc="5" dirty="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 marR="6093460">
              <a:lnSpc>
                <a:spcPct val="130000"/>
              </a:lnSpc>
              <a:spcBef>
                <a:spcPts val="1964"/>
              </a:spcBef>
            </a:pPr>
            <a:r>
              <a:rPr sz="3200" b="1" dirty="0">
                <a:latin typeface="宋体"/>
                <a:cs typeface="宋体"/>
              </a:rPr>
              <a:t>识别对象 </a:t>
            </a:r>
            <a:r>
              <a:rPr sz="3200" dirty="0">
                <a:latin typeface="宋体"/>
                <a:cs typeface="宋体"/>
              </a:rPr>
              <a:t>方法</a:t>
            </a:r>
            <a:r>
              <a:rPr sz="3200" spc="5" dirty="0">
                <a:latin typeface="Times New Roman"/>
                <a:cs typeface="Times New Roman"/>
              </a:rPr>
              <a:t>1</a:t>
            </a:r>
            <a:r>
              <a:rPr sz="3200" spc="5" dirty="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2700" marR="403860">
              <a:lnSpc>
                <a:spcPts val="3670"/>
              </a:lnSpc>
              <a:spcBef>
                <a:spcPts val="1585"/>
              </a:spcBef>
            </a:pPr>
            <a:r>
              <a:rPr sz="3200" dirty="0">
                <a:latin typeface="宋体"/>
                <a:cs typeface="宋体"/>
              </a:rPr>
              <a:t>利用需求得到的问题陈</a:t>
            </a:r>
            <a:r>
              <a:rPr sz="3200" spc="-15" dirty="0">
                <a:latin typeface="宋体"/>
                <a:cs typeface="宋体"/>
              </a:rPr>
              <a:t>述</a:t>
            </a:r>
            <a:r>
              <a:rPr sz="3200" dirty="0">
                <a:latin typeface="宋体"/>
                <a:cs typeface="宋体"/>
              </a:rPr>
              <a:t>，从</a:t>
            </a:r>
            <a:r>
              <a:rPr sz="3200" spc="-15" dirty="0">
                <a:latin typeface="宋体"/>
                <a:cs typeface="宋体"/>
              </a:rPr>
              <a:t>中</a:t>
            </a:r>
            <a:r>
              <a:rPr sz="3200" dirty="0">
                <a:latin typeface="宋体"/>
                <a:cs typeface="宋体"/>
              </a:rPr>
              <a:t>挑</a:t>
            </a:r>
            <a:r>
              <a:rPr sz="3200" spc="10" dirty="0">
                <a:latin typeface="宋体"/>
                <a:cs typeface="宋体"/>
              </a:rPr>
              <a:t>选</a:t>
            </a:r>
            <a:r>
              <a:rPr sz="3200" u="heavy" spc="-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名词 </a:t>
            </a:r>
            <a:r>
              <a:rPr sz="3200" dirty="0">
                <a:latin typeface="宋体"/>
                <a:cs typeface="宋体"/>
              </a:rPr>
              <a:t>或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代</a:t>
            </a:r>
            <a:r>
              <a:rPr sz="32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词</a:t>
            </a:r>
            <a:r>
              <a:rPr sz="3200" dirty="0">
                <a:latin typeface="宋体"/>
                <a:cs typeface="宋体"/>
              </a:rPr>
              <a:t>，以及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名词短语</a:t>
            </a:r>
            <a:r>
              <a:rPr sz="3200" dirty="0">
                <a:latin typeface="宋体"/>
                <a:cs typeface="宋体"/>
              </a:rPr>
              <a:t>来识别</a:t>
            </a:r>
            <a:r>
              <a:rPr sz="3200" spc="-15" dirty="0">
                <a:latin typeface="宋体"/>
                <a:cs typeface="宋体"/>
              </a:rPr>
              <a:t>对</a:t>
            </a:r>
            <a:r>
              <a:rPr sz="3200" dirty="0">
                <a:latin typeface="宋体"/>
                <a:cs typeface="宋体"/>
              </a:rPr>
              <a:t>象和类。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6700" y="169290"/>
            <a:ext cx="6594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1.2.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识别对象和筛选的策略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4554" y="169290"/>
            <a:ext cx="6594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1.2.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识别对象和筛选的策略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760" y="1083450"/>
            <a:ext cx="8201659" cy="48171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200" dirty="0">
                <a:latin typeface="宋体"/>
                <a:cs typeface="宋体"/>
              </a:rPr>
              <a:t>方法</a:t>
            </a:r>
            <a:r>
              <a:rPr sz="3200" spc="5" dirty="0">
                <a:latin typeface="Times New Roman"/>
                <a:cs typeface="Times New Roman"/>
              </a:rPr>
              <a:t>2</a:t>
            </a:r>
            <a:r>
              <a:rPr sz="3200" spc="5" dirty="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800" spc="-10" dirty="0">
                <a:latin typeface="宋体"/>
                <a:cs typeface="宋体"/>
              </a:rPr>
              <a:t>直接考</a:t>
            </a:r>
            <a:r>
              <a:rPr sz="2800" spc="5" dirty="0">
                <a:latin typeface="宋体"/>
                <a:cs typeface="宋体"/>
              </a:rPr>
              <a:t>虑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现实问题中的对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，对应为系统中的对象。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3200" spc="5" dirty="0">
                <a:latin typeface="宋体"/>
                <a:cs typeface="宋体"/>
              </a:rPr>
              <a:t>方</a:t>
            </a:r>
            <a:r>
              <a:rPr sz="3200" dirty="0">
                <a:latin typeface="宋体"/>
                <a:cs typeface="宋体"/>
              </a:rPr>
              <a:t>法</a:t>
            </a:r>
            <a:r>
              <a:rPr sz="3200" dirty="0">
                <a:latin typeface="Times New Roman"/>
                <a:cs typeface="Times New Roman"/>
              </a:rPr>
              <a:t>3</a:t>
            </a:r>
            <a:r>
              <a:rPr sz="3200" dirty="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2700" marR="366395">
              <a:lnSpc>
                <a:spcPts val="3200"/>
              </a:lnSpc>
              <a:spcBef>
                <a:spcPts val="1075"/>
              </a:spcBef>
            </a:pPr>
            <a:r>
              <a:rPr sz="2800" spc="-5" dirty="0">
                <a:latin typeface="宋体"/>
                <a:cs typeface="宋体"/>
              </a:rPr>
              <a:t>从系统边界外发现与系统进行交互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参与</a:t>
            </a:r>
            <a:r>
              <a:rPr sz="2800" dirty="0">
                <a:latin typeface="宋体"/>
                <a:cs typeface="宋体"/>
              </a:rPr>
              <a:t>者</a:t>
            </a:r>
            <a:r>
              <a:rPr sz="2800" spc="-5" dirty="0">
                <a:latin typeface="宋体"/>
                <a:cs typeface="宋体"/>
              </a:rPr>
              <a:t>，寻找 系统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处理对外接口</a:t>
            </a:r>
            <a:r>
              <a:rPr sz="2800" spc="-5" dirty="0">
                <a:latin typeface="宋体"/>
                <a:cs typeface="宋体"/>
              </a:rPr>
              <a:t>的对象类。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3200" spc="5" dirty="0">
                <a:latin typeface="宋体"/>
                <a:cs typeface="宋体"/>
              </a:rPr>
              <a:t>方</a:t>
            </a:r>
            <a:r>
              <a:rPr sz="3200" dirty="0">
                <a:latin typeface="宋体"/>
                <a:cs typeface="宋体"/>
              </a:rPr>
              <a:t>法</a:t>
            </a:r>
            <a:r>
              <a:rPr sz="3200" dirty="0">
                <a:latin typeface="Times New Roman"/>
                <a:cs typeface="Times New Roman"/>
              </a:rPr>
              <a:t>4</a:t>
            </a:r>
            <a:r>
              <a:rPr sz="3200" dirty="0"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2700" marR="720725">
              <a:lnSpc>
                <a:spcPts val="3200"/>
              </a:lnSpc>
              <a:spcBef>
                <a:spcPts val="1075"/>
              </a:spcBef>
            </a:pPr>
            <a:r>
              <a:rPr sz="2800" spc="-5" dirty="0">
                <a:latin typeface="宋体"/>
                <a:cs typeface="宋体"/>
              </a:rPr>
              <a:t>对照系统责任所要求的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每项功能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确</a:t>
            </a:r>
            <a:r>
              <a:rPr sz="2800" spc="-5" dirty="0">
                <a:latin typeface="宋体"/>
                <a:cs typeface="宋体"/>
              </a:rPr>
              <a:t>定能</a:t>
            </a:r>
            <a:r>
              <a:rPr sz="2800" dirty="0">
                <a:latin typeface="宋体"/>
                <a:cs typeface="宋体"/>
              </a:rPr>
              <a:t>完</a:t>
            </a:r>
            <a:r>
              <a:rPr sz="2800" spc="-5" dirty="0">
                <a:latin typeface="宋体"/>
                <a:cs typeface="宋体"/>
              </a:rPr>
              <a:t>成这 些功能对象。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219200"/>
            <a:ext cx="8001000" cy="4958080"/>
          </a:xfrm>
          <a:custGeom>
            <a:avLst/>
            <a:gdLst/>
            <a:ahLst/>
            <a:cxnLst/>
            <a:rect l="l" t="t" r="r" b="b"/>
            <a:pathLst>
              <a:path w="8001000" h="4958080">
                <a:moveTo>
                  <a:pt x="0" y="4957572"/>
                </a:moveTo>
                <a:lnTo>
                  <a:pt x="8001000" y="4957572"/>
                </a:lnTo>
                <a:lnTo>
                  <a:pt x="8001000" y="0"/>
                </a:lnTo>
                <a:lnTo>
                  <a:pt x="0" y="0"/>
                </a:lnTo>
                <a:lnTo>
                  <a:pt x="0" y="495757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1146213"/>
            <a:ext cx="7952105" cy="493966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400" b="1" dirty="0">
                <a:latin typeface="宋体"/>
                <a:cs typeface="宋体"/>
              </a:rPr>
              <a:t>家庭安全系统</a:t>
            </a:r>
            <a:r>
              <a:rPr sz="2400" b="1" spc="-5" dirty="0">
                <a:latin typeface="宋体"/>
                <a:cs typeface="宋体"/>
              </a:rPr>
              <a:t>（SafeHome）</a:t>
            </a:r>
            <a:r>
              <a:rPr sz="2400" b="1" dirty="0">
                <a:latin typeface="宋体"/>
                <a:cs typeface="宋体"/>
              </a:rPr>
              <a:t>问题陈述：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统</a:t>
            </a:r>
            <a:r>
              <a:rPr sz="2400" spc="-5" dirty="0">
                <a:latin typeface="宋体"/>
                <a:cs typeface="宋体"/>
              </a:rPr>
              <a:t>由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房主</a:t>
            </a:r>
            <a:r>
              <a:rPr sz="2400" spc="-5" dirty="0">
                <a:latin typeface="宋体"/>
                <a:cs typeface="宋体"/>
              </a:rPr>
              <a:t>在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安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装</a:t>
            </a:r>
            <a:r>
              <a:rPr sz="2400" spc="-5" dirty="0">
                <a:latin typeface="宋体"/>
                <a:cs typeface="宋体"/>
              </a:rPr>
              <a:t>时配置，通过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系统控制窗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口</a:t>
            </a:r>
            <a:r>
              <a:rPr sz="2400" spc="-5" dirty="0">
                <a:latin typeface="宋体"/>
                <a:cs typeface="宋体"/>
              </a:rPr>
              <a:t>和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键盘功能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latin typeface="宋体"/>
                <a:cs typeface="宋体"/>
              </a:rPr>
              <a:t>与房主交互进行。系统可以监控所</a:t>
            </a:r>
            <a:r>
              <a:rPr sz="2400" spc="-30" dirty="0">
                <a:latin typeface="宋体"/>
                <a:cs typeface="宋体"/>
              </a:rPr>
              <a:t>有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连接的传感器。</a:t>
            </a:r>
            <a:endParaRPr sz="2400">
              <a:latin typeface="宋体"/>
              <a:cs typeface="宋体"/>
            </a:endParaRPr>
          </a:p>
          <a:p>
            <a:pPr marL="12700" marR="5080" indent="609600">
              <a:lnSpc>
                <a:spcPct val="130000"/>
              </a:lnSpc>
              <a:spcBef>
                <a:spcPts val="575"/>
              </a:spcBef>
            </a:pPr>
            <a:r>
              <a:rPr sz="2400" dirty="0">
                <a:latin typeface="宋体"/>
                <a:cs typeface="宋体"/>
              </a:rPr>
              <a:t>在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安装过程</a:t>
            </a:r>
            <a:r>
              <a:rPr sz="2400" dirty="0">
                <a:latin typeface="宋体"/>
                <a:cs typeface="宋体"/>
              </a:rPr>
              <a:t>中，每个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传感器</a:t>
            </a:r>
            <a:r>
              <a:rPr sz="2400" dirty="0">
                <a:latin typeface="宋体"/>
                <a:cs typeface="宋体"/>
              </a:rPr>
              <a:t>可以设置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编号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类型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 的启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动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关闭</a:t>
            </a:r>
            <a:r>
              <a:rPr sz="2400" dirty="0">
                <a:latin typeface="宋体"/>
                <a:cs typeface="宋体"/>
              </a:rPr>
              <a:t>必须有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主人密码</a:t>
            </a:r>
            <a:r>
              <a:rPr sz="2400" dirty="0">
                <a:latin typeface="宋体"/>
                <a:cs typeface="宋体"/>
              </a:rPr>
              <a:t>控制；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传感器事件</a:t>
            </a:r>
            <a:r>
              <a:rPr sz="2400" dirty="0">
                <a:latin typeface="宋体"/>
                <a:cs typeface="宋体"/>
              </a:rPr>
              <a:t>发生时，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软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件</a:t>
            </a:r>
            <a:r>
              <a:rPr sz="2400" dirty="0">
                <a:latin typeface="宋体"/>
                <a:cs typeface="宋体"/>
              </a:rPr>
              <a:t>激活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系统上的警报器</a:t>
            </a:r>
            <a:r>
              <a:rPr sz="2400" dirty="0">
                <a:latin typeface="宋体"/>
                <a:cs typeface="宋体"/>
              </a:rPr>
              <a:t>，在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设定的时间延时</a:t>
            </a:r>
            <a:r>
              <a:rPr sz="2400" dirty="0">
                <a:latin typeface="宋体"/>
                <a:cs typeface="宋体"/>
              </a:rPr>
              <a:t>后，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软件</a:t>
            </a:r>
            <a:r>
              <a:rPr sz="2400" dirty="0">
                <a:latin typeface="宋体"/>
                <a:cs typeface="宋体"/>
              </a:rPr>
              <a:t>自动拨 </a:t>
            </a:r>
            <a:r>
              <a:rPr sz="2400" spc="-5" dirty="0">
                <a:latin typeface="宋体"/>
                <a:cs typeface="宋体"/>
              </a:rPr>
              <a:t>打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设定的电话号码</a:t>
            </a:r>
            <a:r>
              <a:rPr sz="2400" dirty="0">
                <a:latin typeface="宋体"/>
                <a:cs typeface="宋体"/>
              </a:rPr>
              <a:t>，并提供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位置信息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事件性质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电话号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码 </a:t>
            </a:r>
            <a:r>
              <a:rPr sz="2400" spc="-5" dirty="0">
                <a:latin typeface="宋体"/>
                <a:cs typeface="宋体"/>
              </a:rPr>
              <a:t>将每隔20秒重拨一次，直至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电话</a:t>
            </a:r>
            <a:r>
              <a:rPr sz="2400" spc="-5" dirty="0">
                <a:latin typeface="宋体"/>
                <a:cs typeface="宋体"/>
              </a:rPr>
              <a:t>接通。</a:t>
            </a:r>
            <a:endParaRPr sz="2400">
              <a:latin typeface="宋体"/>
              <a:cs typeface="宋体"/>
            </a:endParaRPr>
          </a:p>
          <a:p>
            <a:pPr marL="12700" marR="5080" indent="609600">
              <a:lnSpc>
                <a:spcPct val="130000"/>
              </a:lnSpc>
              <a:spcBef>
                <a:spcPts val="58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系统运行</a:t>
            </a:r>
            <a:r>
              <a:rPr sz="2400" dirty="0">
                <a:latin typeface="宋体"/>
                <a:cs typeface="宋体"/>
              </a:rPr>
              <a:t>时，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系统控制窗口</a:t>
            </a:r>
            <a:r>
              <a:rPr sz="2400" dirty="0">
                <a:latin typeface="宋体"/>
                <a:cs typeface="宋体"/>
              </a:rPr>
              <a:t>显示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提示信息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系统状态</a:t>
            </a:r>
            <a:r>
              <a:rPr sz="2400" dirty="0">
                <a:latin typeface="宋体"/>
                <a:cs typeface="宋体"/>
              </a:rPr>
              <a:t>。 通</a:t>
            </a:r>
            <a:r>
              <a:rPr sz="2400" spc="-5" dirty="0">
                <a:latin typeface="宋体"/>
                <a:cs typeface="宋体"/>
              </a:rPr>
              <a:t>过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键盘</a:t>
            </a:r>
            <a:r>
              <a:rPr sz="2400" dirty="0">
                <a:latin typeface="宋体"/>
                <a:cs typeface="宋体"/>
              </a:rPr>
              <a:t>可以控制系统运行。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0240" y="136652"/>
            <a:ext cx="7775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识别对象示</a:t>
            </a:r>
            <a:r>
              <a:rPr sz="4000" spc="-15" dirty="0"/>
              <a:t>例</a:t>
            </a:r>
            <a:r>
              <a:rPr sz="4000" spc="-10" dirty="0">
                <a:latin typeface="Calibri"/>
                <a:cs typeface="Calibri"/>
              </a:rPr>
              <a:t>:</a:t>
            </a:r>
            <a:r>
              <a:rPr sz="4000" spc="-5" dirty="0"/>
              <a:t>提取名词和名词</a:t>
            </a:r>
            <a:r>
              <a:rPr sz="4000" dirty="0"/>
              <a:t>短</a:t>
            </a:r>
            <a:r>
              <a:rPr sz="4000" spc="-5" dirty="0"/>
              <a:t>语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679" y="1267967"/>
            <a:ext cx="8923020" cy="4497705"/>
          </a:xfrm>
          <a:custGeom>
            <a:avLst/>
            <a:gdLst/>
            <a:ahLst/>
            <a:cxnLst/>
            <a:rect l="l" t="t" r="r" b="b"/>
            <a:pathLst>
              <a:path w="8923020" h="4497705">
                <a:moveTo>
                  <a:pt x="0" y="4497324"/>
                </a:moveTo>
                <a:lnTo>
                  <a:pt x="8923020" y="4497324"/>
                </a:lnTo>
                <a:lnTo>
                  <a:pt x="8923020" y="0"/>
                </a:lnTo>
                <a:lnTo>
                  <a:pt x="0" y="0"/>
                </a:lnTo>
                <a:lnTo>
                  <a:pt x="0" y="449732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5115" y="1198875"/>
            <a:ext cx="8911590" cy="4429760"/>
          </a:xfrm>
          <a:prstGeom prst="rect">
            <a:avLst/>
          </a:prstGeom>
        </p:spPr>
        <p:txBody>
          <a:bodyPr vert="horz" wrap="square" lIns="0" tIns="2400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sz="2800" dirty="0">
                <a:latin typeface="宋体"/>
                <a:cs typeface="宋体"/>
              </a:rPr>
              <a:t>SafeHome</a:t>
            </a:r>
            <a:r>
              <a:rPr sz="2800" spc="-5" dirty="0">
                <a:latin typeface="宋体"/>
                <a:cs typeface="宋体"/>
              </a:rPr>
              <a:t>问题陈述中的名词：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宋体"/>
                <a:cs typeface="宋体"/>
              </a:rPr>
              <a:t>（去掉相同意义的名词和名词短语，归并后保留）</a:t>
            </a:r>
            <a:endParaRPr sz="2400">
              <a:latin typeface="宋体"/>
              <a:cs typeface="宋体"/>
            </a:endParaRPr>
          </a:p>
          <a:p>
            <a:pPr marL="12700" marR="365125">
              <a:lnSpc>
                <a:spcPts val="5040"/>
              </a:lnSpc>
              <a:spcBef>
                <a:spcPts val="350"/>
              </a:spcBef>
            </a:pPr>
            <a:r>
              <a:rPr sz="2800" spc="-5" dirty="0">
                <a:latin typeface="宋体"/>
                <a:cs typeface="宋体"/>
              </a:rPr>
              <a:t>系统、房主、系统控制窗口、键盘</a:t>
            </a:r>
            <a:r>
              <a:rPr sz="2800" dirty="0">
                <a:latin typeface="宋体"/>
                <a:cs typeface="宋体"/>
              </a:rPr>
              <a:t>功</a:t>
            </a:r>
            <a:r>
              <a:rPr sz="2800" spc="-5" dirty="0">
                <a:latin typeface="宋体"/>
                <a:cs typeface="宋体"/>
              </a:rPr>
              <a:t>能键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-5" dirty="0">
                <a:latin typeface="宋体"/>
                <a:cs typeface="宋体"/>
              </a:rPr>
              <a:t>提示</a:t>
            </a:r>
            <a:r>
              <a:rPr sz="2800" dirty="0">
                <a:latin typeface="宋体"/>
                <a:cs typeface="宋体"/>
              </a:rPr>
              <a:t>信</a:t>
            </a:r>
            <a:r>
              <a:rPr sz="2800" spc="-5" dirty="0">
                <a:latin typeface="宋体"/>
                <a:cs typeface="宋体"/>
              </a:rPr>
              <a:t>息、 系统状态、安装过程、配置系统、</a:t>
            </a:r>
            <a:r>
              <a:rPr sz="2800" dirty="0">
                <a:latin typeface="宋体"/>
                <a:cs typeface="宋体"/>
              </a:rPr>
              <a:t>系</a:t>
            </a:r>
            <a:r>
              <a:rPr sz="2800" spc="-5" dirty="0">
                <a:latin typeface="宋体"/>
                <a:cs typeface="宋体"/>
              </a:rPr>
              <a:t>统运</a:t>
            </a:r>
            <a:r>
              <a:rPr sz="2800" dirty="0">
                <a:latin typeface="宋体"/>
                <a:cs typeface="宋体"/>
              </a:rPr>
              <a:t>行</a:t>
            </a:r>
            <a:r>
              <a:rPr sz="2800" spc="-5" dirty="0">
                <a:latin typeface="宋体"/>
                <a:cs typeface="宋体"/>
              </a:rPr>
              <a:t>、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800" spc="-5" dirty="0">
                <a:latin typeface="宋体"/>
                <a:cs typeface="宋体"/>
              </a:rPr>
              <a:t>系统连接的传感器、编号、类型、</a:t>
            </a:r>
            <a:r>
              <a:rPr sz="2800" dirty="0">
                <a:latin typeface="宋体"/>
                <a:cs typeface="宋体"/>
              </a:rPr>
              <a:t>位</a:t>
            </a:r>
            <a:r>
              <a:rPr sz="2800" spc="-5" dirty="0">
                <a:latin typeface="宋体"/>
                <a:cs typeface="宋体"/>
              </a:rPr>
              <a:t>置信息、事件性质、</a:t>
            </a:r>
            <a:endParaRPr sz="2800">
              <a:latin typeface="宋体"/>
              <a:cs typeface="宋体"/>
            </a:endParaRPr>
          </a:p>
          <a:p>
            <a:pPr marL="12700" marR="365125">
              <a:lnSpc>
                <a:spcPct val="150000"/>
              </a:lnSpc>
            </a:pPr>
            <a:r>
              <a:rPr sz="2800" spc="-5" dirty="0">
                <a:latin typeface="宋体"/>
                <a:cs typeface="宋体"/>
              </a:rPr>
              <a:t>系统启动、系统关闭、主人密码、</a:t>
            </a:r>
            <a:r>
              <a:rPr sz="2800" dirty="0">
                <a:latin typeface="宋体"/>
                <a:cs typeface="宋体"/>
              </a:rPr>
              <a:t>传</a:t>
            </a:r>
            <a:r>
              <a:rPr sz="2800" spc="-5" dirty="0">
                <a:latin typeface="宋体"/>
                <a:cs typeface="宋体"/>
              </a:rPr>
              <a:t>感器</a:t>
            </a:r>
            <a:r>
              <a:rPr sz="2800" dirty="0">
                <a:latin typeface="宋体"/>
                <a:cs typeface="宋体"/>
              </a:rPr>
              <a:t>事</a:t>
            </a:r>
            <a:r>
              <a:rPr sz="2800" spc="-5" dirty="0">
                <a:latin typeface="宋体"/>
                <a:cs typeface="宋体"/>
              </a:rPr>
              <a:t>件、</a:t>
            </a:r>
            <a:r>
              <a:rPr sz="2800" dirty="0">
                <a:latin typeface="宋体"/>
                <a:cs typeface="宋体"/>
              </a:rPr>
              <a:t>电</a:t>
            </a:r>
            <a:r>
              <a:rPr sz="2800" spc="-5" dirty="0">
                <a:latin typeface="宋体"/>
                <a:cs typeface="宋体"/>
              </a:rPr>
              <a:t>话、 </a:t>
            </a:r>
            <a:r>
              <a:rPr sz="2800" spc="-10" dirty="0">
                <a:latin typeface="宋体"/>
                <a:cs typeface="宋体"/>
              </a:rPr>
              <a:t>系统上的警报器、设定的时间延时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-10" dirty="0">
                <a:latin typeface="宋体"/>
                <a:cs typeface="宋体"/>
              </a:rPr>
              <a:t>设定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10" dirty="0">
                <a:latin typeface="宋体"/>
                <a:cs typeface="宋体"/>
              </a:rPr>
              <a:t>电话</a:t>
            </a:r>
            <a:r>
              <a:rPr sz="2800" dirty="0">
                <a:latin typeface="宋体"/>
                <a:cs typeface="宋体"/>
              </a:rPr>
              <a:t>号</a:t>
            </a:r>
            <a:r>
              <a:rPr sz="2800" spc="-5" dirty="0">
                <a:latin typeface="宋体"/>
                <a:cs typeface="宋体"/>
              </a:rPr>
              <a:t>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3976" y="181736"/>
            <a:ext cx="3578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整理提取的名词</a:t>
            </a:r>
            <a:endParaRPr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0492" y="255523"/>
            <a:ext cx="4085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舍弃不是类的名词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9157" y="1113231"/>
            <a:ext cx="5890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1）是属性：系统需要保存的有用信息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1975" y="1773935"/>
            <a:ext cx="7056120" cy="13792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latin typeface="黑体"/>
                <a:cs typeface="黑体"/>
              </a:rPr>
              <a:t>可能是属性：</a:t>
            </a:r>
            <a:endParaRPr sz="2400">
              <a:latin typeface="黑体"/>
              <a:cs typeface="黑体"/>
            </a:endParaRPr>
          </a:p>
          <a:p>
            <a:pPr marL="91440" marR="25082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宋体"/>
                <a:cs typeface="宋体"/>
              </a:rPr>
              <a:t>传感器</a:t>
            </a: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编号、</a:t>
            </a:r>
            <a:r>
              <a:rPr sz="2400" dirty="0">
                <a:latin typeface="宋体"/>
                <a:cs typeface="宋体"/>
              </a:rPr>
              <a:t>传感器</a:t>
            </a: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类型</a:t>
            </a:r>
            <a:r>
              <a:rPr sz="2400" dirty="0">
                <a:latin typeface="宋体"/>
                <a:cs typeface="宋体"/>
              </a:rPr>
              <a:t>、位置信息、事件性</a:t>
            </a:r>
            <a:r>
              <a:rPr sz="2400" spc="-20" dirty="0">
                <a:latin typeface="宋体"/>
                <a:cs typeface="宋体"/>
              </a:rPr>
              <a:t>质</a:t>
            </a: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、 主人密码</a:t>
            </a:r>
            <a:r>
              <a:rPr sz="2400" dirty="0">
                <a:latin typeface="宋体"/>
                <a:cs typeface="宋体"/>
              </a:rPr>
              <a:t>、时间延时、电话号码、系统状态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967" y="3528186"/>
            <a:ext cx="73285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"/>
                <a:cs typeface="Arial"/>
              </a:rPr>
              <a:t>2</a:t>
            </a:r>
            <a:r>
              <a:rPr sz="2800" spc="-5" dirty="0">
                <a:latin typeface="宋体"/>
                <a:cs typeface="宋体"/>
              </a:rPr>
              <a:t>）是操作：系统应提供的功能或</a:t>
            </a:r>
            <a:r>
              <a:rPr sz="2800" dirty="0">
                <a:latin typeface="宋体"/>
                <a:cs typeface="宋体"/>
              </a:rPr>
              <a:t>者</a:t>
            </a:r>
            <a:r>
              <a:rPr sz="2800" spc="-5" dirty="0">
                <a:latin typeface="宋体"/>
                <a:cs typeface="宋体"/>
              </a:rPr>
              <a:t>某事</a:t>
            </a:r>
            <a:r>
              <a:rPr sz="2800" dirty="0">
                <a:latin typeface="宋体"/>
                <a:cs typeface="宋体"/>
              </a:rPr>
              <a:t>务</a:t>
            </a:r>
            <a:r>
              <a:rPr sz="2800" spc="-5" dirty="0">
                <a:latin typeface="宋体"/>
                <a:cs typeface="宋体"/>
              </a:rPr>
              <a:t>过程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1975" y="4210811"/>
            <a:ext cx="6553200" cy="13792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latin typeface="黑体"/>
                <a:cs typeface="黑体"/>
              </a:rPr>
              <a:t>可能的操作：</a:t>
            </a:r>
            <a:endParaRPr sz="2400">
              <a:latin typeface="黑体"/>
              <a:cs typeface="黑体"/>
            </a:endParaRPr>
          </a:p>
          <a:p>
            <a:pPr marL="91440" marR="35814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安装过程、</a:t>
            </a:r>
            <a:r>
              <a:rPr sz="2400" dirty="0">
                <a:latin typeface="宋体"/>
                <a:cs typeface="宋体"/>
              </a:rPr>
              <a:t>配置</a:t>
            </a: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系统、</a:t>
            </a:r>
            <a:r>
              <a:rPr sz="2400" dirty="0">
                <a:latin typeface="宋体"/>
                <a:cs typeface="宋体"/>
              </a:rPr>
              <a:t>系统运行、系统启动、 </a:t>
            </a:r>
            <a:r>
              <a:rPr sz="2400" spc="-5" dirty="0">
                <a:latin typeface="宋体"/>
                <a:cs typeface="宋体"/>
              </a:rPr>
              <a:t>系统关闭、提示信息、系统状态显示、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9973" y="1152804"/>
            <a:ext cx="8046720" cy="4321175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995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800" spc="-5" dirty="0">
                <a:latin typeface="宋体"/>
                <a:cs typeface="宋体"/>
              </a:rPr>
              <a:t>精简对象</a:t>
            </a:r>
            <a:endParaRPr sz="2800">
              <a:latin typeface="宋体"/>
              <a:cs typeface="宋体"/>
            </a:endParaRPr>
          </a:p>
          <a:p>
            <a:pPr marL="927100" marR="363220" lvl="1" indent="-457200" algn="just">
              <a:lnSpc>
                <a:spcPct val="96800"/>
              </a:lnSpc>
              <a:spcBef>
                <a:spcPts val="2005"/>
              </a:spcBef>
              <a:buClr>
                <a:srgbClr val="C00000"/>
              </a:buClr>
              <a:buSzPct val="75000"/>
              <a:buFont typeface="Wingdings"/>
              <a:buChar char=""/>
              <a:tabLst>
                <a:tab pos="927735" algn="l"/>
              </a:tabLst>
            </a:pPr>
            <a:r>
              <a:rPr sz="2800" spc="-5" dirty="0">
                <a:latin typeface="宋体"/>
                <a:cs typeface="宋体"/>
              </a:rPr>
              <a:t>如果对象只有一个属性和相应的操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，并且 </a:t>
            </a:r>
            <a:r>
              <a:rPr sz="2800" spc="-10" dirty="0">
                <a:latin typeface="宋体"/>
                <a:cs typeface="宋体"/>
              </a:rPr>
              <a:t>仅被唯一的对象引用，可以合并到</a:t>
            </a:r>
            <a:r>
              <a:rPr sz="2800" dirty="0">
                <a:latin typeface="宋体"/>
                <a:cs typeface="宋体"/>
              </a:rPr>
              <a:t>引</a:t>
            </a:r>
            <a:r>
              <a:rPr sz="2800" spc="-10" dirty="0">
                <a:latin typeface="宋体"/>
                <a:cs typeface="宋体"/>
              </a:rPr>
              <a:t>用它的 </a:t>
            </a:r>
            <a:r>
              <a:rPr sz="2800" spc="-5" dirty="0">
                <a:latin typeface="宋体"/>
                <a:cs typeface="宋体"/>
              </a:rPr>
              <a:t>对象中去。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"/>
            </a:pP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C00000"/>
              </a:buClr>
              <a:buFont typeface="Wingdings"/>
              <a:buChar char=""/>
            </a:pPr>
            <a:endParaRPr sz="2650">
              <a:latin typeface="宋体"/>
              <a:cs typeface="宋体"/>
            </a:endParaRPr>
          </a:p>
          <a:p>
            <a:pPr marL="927100" marR="5080" lvl="1" indent="-457200">
              <a:lnSpc>
                <a:spcPct val="96800"/>
              </a:lnSpc>
              <a:buClr>
                <a:srgbClr val="C00000"/>
              </a:buClr>
              <a:buSzPct val="75000"/>
              <a:buFont typeface="Wingdings"/>
              <a:buChar char=""/>
              <a:tabLst>
                <a:tab pos="927100" algn="l"/>
                <a:tab pos="927735" algn="l"/>
              </a:tabLst>
            </a:pPr>
            <a:r>
              <a:rPr sz="2800" spc="-5" dirty="0">
                <a:latin typeface="宋体"/>
                <a:cs typeface="宋体"/>
              </a:rPr>
              <a:t>如果一个对象只有一个操作，而没</a:t>
            </a:r>
            <a:r>
              <a:rPr sz="2800" dirty="0">
                <a:latin typeface="宋体"/>
                <a:cs typeface="宋体"/>
              </a:rPr>
              <a:t>有</a:t>
            </a:r>
            <a:r>
              <a:rPr sz="2800" spc="-5" dirty="0">
                <a:latin typeface="宋体"/>
                <a:cs typeface="宋体"/>
              </a:rPr>
              <a:t>属性，  并且系</a:t>
            </a:r>
            <a:r>
              <a:rPr sz="2800" dirty="0">
                <a:latin typeface="宋体"/>
                <a:cs typeface="宋体"/>
              </a:rPr>
              <a:t>统</a:t>
            </a:r>
            <a:r>
              <a:rPr sz="2800" spc="-5" dirty="0">
                <a:latin typeface="宋体"/>
                <a:cs typeface="宋体"/>
              </a:rPr>
              <a:t>中只有</a:t>
            </a:r>
            <a:r>
              <a:rPr sz="2800" dirty="0">
                <a:latin typeface="宋体"/>
                <a:cs typeface="宋体"/>
              </a:rPr>
              <a:t>一</a:t>
            </a:r>
            <a:r>
              <a:rPr sz="2800" spc="-5" dirty="0">
                <a:latin typeface="宋体"/>
                <a:cs typeface="宋体"/>
              </a:rPr>
              <a:t>个类的</a:t>
            </a:r>
            <a:r>
              <a:rPr sz="2800" dirty="0">
                <a:latin typeface="宋体"/>
                <a:cs typeface="宋体"/>
              </a:rPr>
              <a:t>对</a:t>
            </a:r>
            <a:r>
              <a:rPr sz="2800" spc="-5" dirty="0">
                <a:latin typeface="宋体"/>
                <a:cs typeface="宋体"/>
              </a:rPr>
              <a:t>象请求</a:t>
            </a:r>
            <a:r>
              <a:rPr sz="2800" dirty="0">
                <a:latin typeface="宋体"/>
                <a:cs typeface="宋体"/>
              </a:rPr>
              <a:t>这</a:t>
            </a:r>
            <a:r>
              <a:rPr sz="2800" spc="-5" dirty="0">
                <a:latin typeface="宋体"/>
                <a:cs typeface="宋体"/>
              </a:rPr>
              <a:t>个操作， 可以把它合并到它的请求对象中。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7458" y="205181"/>
            <a:ext cx="3070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精简对象策略</a:t>
            </a:r>
            <a:endParaRPr sz="4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4748" y="206197"/>
            <a:ext cx="3328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精简对象示</a:t>
            </a:r>
            <a:r>
              <a:rPr sz="4000" spc="-5" dirty="0"/>
              <a:t>例</a:t>
            </a:r>
            <a:r>
              <a:rPr sz="4000" spc="-5" dirty="0">
                <a:latin typeface="Calibri"/>
                <a:cs typeface="Calibri"/>
              </a:rPr>
              <a:t>1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5967" y="1453642"/>
            <a:ext cx="748919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如果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班主任对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，仅有班级对象需</a:t>
            </a:r>
            <a:r>
              <a:rPr sz="2800" spc="5" dirty="0">
                <a:latin typeface="宋体"/>
                <a:cs typeface="宋体"/>
              </a:rPr>
              <a:t>要</a:t>
            </a:r>
            <a:r>
              <a:rPr sz="2800" spc="-5" dirty="0">
                <a:latin typeface="宋体"/>
                <a:cs typeface="宋体"/>
              </a:rPr>
              <a:t>引用</a:t>
            </a:r>
            <a:r>
              <a:rPr sz="2800" spc="5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且仅 </a:t>
            </a:r>
            <a:r>
              <a:rPr sz="2800" spc="-10" dirty="0">
                <a:latin typeface="宋体"/>
                <a:cs typeface="宋体"/>
              </a:rPr>
              <a:t>有姓名属性和相应的操作，则可以</a:t>
            </a:r>
            <a:r>
              <a:rPr sz="2800" spc="10" dirty="0">
                <a:latin typeface="宋体"/>
                <a:cs typeface="宋体"/>
              </a:rPr>
              <a:t>将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班主任姓名 </a:t>
            </a:r>
            <a:r>
              <a:rPr sz="2800" spc="-5" dirty="0">
                <a:latin typeface="宋体"/>
                <a:cs typeface="宋体"/>
              </a:rPr>
              <a:t>作为属性放到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班级对象</a:t>
            </a:r>
            <a:r>
              <a:rPr sz="2800" spc="-5" dirty="0">
                <a:latin typeface="宋体"/>
                <a:cs typeface="宋体"/>
              </a:rPr>
              <a:t>中，取消班</a:t>
            </a:r>
            <a:r>
              <a:rPr sz="2800" dirty="0">
                <a:latin typeface="宋体"/>
                <a:cs typeface="宋体"/>
              </a:rPr>
              <a:t>主</a:t>
            </a:r>
            <a:r>
              <a:rPr sz="2800" spc="-5" dirty="0">
                <a:latin typeface="宋体"/>
                <a:cs typeface="宋体"/>
              </a:rPr>
              <a:t>任对</a:t>
            </a:r>
            <a:r>
              <a:rPr sz="2800" dirty="0"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0967" y="3429000"/>
            <a:ext cx="1367155" cy="1562100"/>
          </a:xfrm>
          <a:custGeom>
            <a:avLst/>
            <a:gdLst/>
            <a:ahLst/>
            <a:cxnLst/>
            <a:rect l="l" t="t" r="r" b="b"/>
            <a:pathLst>
              <a:path w="1367154" h="1562100">
                <a:moveTo>
                  <a:pt x="0" y="1562100"/>
                </a:moveTo>
                <a:lnTo>
                  <a:pt x="1367028" y="1562100"/>
                </a:lnTo>
                <a:lnTo>
                  <a:pt x="1367028" y="0"/>
                </a:lnTo>
                <a:lnTo>
                  <a:pt x="0" y="0"/>
                </a:lnTo>
                <a:lnTo>
                  <a:pt x="0" y="156210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10967" y="3429000"/>
            <a:ext cx="1367155" cy="5029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2400" b="1" dirty="0">
                <a:latin typeface="宋体"/>
                <a:cs typeface="宋体"/>
              </a:rPr>
              <a:t>班主任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0967" y="3931920"/>
            <a:ext cx="1367155" cy="5765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宋体"/>
                <a:cs typeface="宋体"/>
              </a:rPr>
              <a:t>姓名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10967" y="4507991"/>
            <a:ext cx="1367155" cy="0"/>
          </a:xfrm>
          <a:custGeom>
            <a:avLst/>
            <a:gdLst/>
            <a:ahLst/>
            <a:cxnLst/>
            <a:rect l="l" t="t" r="r" b="b"/>
            <a:pathLst>
              <a:path w="1367154">
                <a:moveTo>
                  <a:pt x="0" y="0"/>
                </a:moveTo>
                <a:lnTo>
                  <a:pt x="136702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76444" y="3212592"/>
            <a:ext cx="1367155" cy="2293620"/>
          </a:xfrm>
          <a:custGeom>
            <a:avLst/>
            <a:gdLst/>
            <a:ahLst/>
            <a:cxnLst/>
            <a:rect l="l" t="t" r="r" b="b"/>
            <a:pathLst>
              <a:path w="1367154" h="2293620">
                <a:moveTo>
                  <a:pt x="0" y="2293619"/>
                </a:moveTo>
                <a:lnTo>
                  <a:pt x="1367027" y="2293619"/>
                </a:lnTo>
                <a:lnTo>
                  <a:pt x="1367027" y="0"/>
                </a:lnTo>
                <a:lnTo>
                  <a:pt x="0" y="0"/>
                </a:lnTo>
                <a:lnTo>
                  <a:pt x="0" y="229361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6444" y="3212592"/>
            <a:ext cx="1367155" cy="5048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2400" b="1" dirty="0">
                <a:latin typeface="宋体"/>
                <a:cs typeface="宋体"/>
              </a:rPr>
              <a:t>班级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6444" y="3717035"/>
            <a:ext cx="1367155" cy="12255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92075" marR="654685" algn="just">
              <a:lnSpc>
                <a:spcPct val="100000"/>
              </a:lnSpc>
              <a:spcBef>
                <a:spcPts val="670"/>
              </a:spcBef>
            </a:pPr>
            <a:r>
              <a:rPr sz="2400" b="1" dirty="0">
                <a:latin typeface="宋体"/>
                <a:cs typeface="宋体"/>
              </a:rPr>
              <a:t>年级 人数 特点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76444" y="3717035"/>
            <a:ext cx="1367155" cy="0"/>
          </a:xfrm>
          <a:custGeom>
            <a:avLst/>
            <a:gdLst/>
            <a:ahLst/>
            <a:cxnLst/>
            <a:rect l="l" t="t" r="r" b="b"/>
            <a:pathLst>
              <a:path w="1367154">
                <a:moveTo>
                  <a:pt x="0" y="0"/>
                </a:moveTo>
                <a:lnTo>
                  <a:pt x="136702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76444" y="4942332"/>
            <a:ext cx="1367155" cy="0"/>
          </a:xfrm>
          <a:custGeom>
            <a:avLst/>
            <a:gdLst/>
            <a:ahLst/>
            <a:cxnLst/>
            <a:rect l="l" t="t" r="r" b="b"/>
            <a:pathLst>
              <a:path w="1367154">
                <a:moveTo>
                  <a:pt x="0" y="0"/>
                </a:moveTo>
                <a:lnTo>
                  <a:pt x="136702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79520" y="4398264"/>
            <a:ext cx="1297305" cy="76200"/>
          </a:xfrm>
          <a:custGeom>
            <a:avLst/>
            <a:gdLst/>
            <a:ahLst/>
            <a:cxnLst/>
            <a:rect l="l" t="t" r="r" b="b"/>
            <a:pathLst>
              <a:path w="129730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29730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297304" h="76200">
                <a:moveTo>
                  <a:pt x="129692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296924" y="44450"/>
                </a:lnTo>
                <a:lnTo>
                  <a:pt x="129692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91076" y="4034790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宋体"/>
                <a:cs typeface="宋体"/>
              </a:rPr>
              <a:t>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08324" y="4832858"/>
            <a:ext cx="2552065" cy="1167130"/>
          </a:xfrm>
          <a:custGeom>
            <a:avLst/>
            <a:gdLst/>
            <a:ahLst/>
            <a:cxnLst/>
            <a:rect l="l" t="t" r="r" b="b"/>
            <a:pathLst>
              <a:path w="2552065" h="1167129">
                <a:moveTo>
                  <a:pt x="2551939" y="0"/>
                </a:moveTo>
                <a:lnTo>
                  <a:pt x="2181480" y="223647"/>
                </a:lnTo>
                <a:lnTo>
                  <a:pt x="2186174" y="238961"/>
                </a:lnTo>
                <a:lnTo>
                  <a:pt x="2186559" y="255751"/>
                </a:lnTo>
                <a:lnTo>
                  <a:pt x="2174859" y="293437"/>
                </a:lnTo>
                <a:lnTo>
                  <a:pt x="2147298" y="336075"/>
                </a:lnTo>
                <a:lnTo>
                  <a:pt x="2104796" y="383033"/>
                </a:lnTo>
                <a:lnTo>
                  <a:pt x="2048270" y="433682"/>
                </a:lnTo>
                <a:lnTo>
                  <a:pt x="2015035" y="460192"/>
                </a:lnTo>
                <a:lnTo>
                  <a:pt x="1978639" y="487389"/>
                </a:lnTo>
                <a:lnTo>
                  <a:pt x="1939195" y="515192"/>
                </a:lnTo>
                <a:lnTo>
                  <a:pt x="1896820" y="543524"/>
                </a:lnTo>
                <a:lnTo>
                  <a:pt x="1851628" y="572305"/>
                </a:lnTo>
                <a:lnTo>
                  <a:pt x="1803734" y="601457"/>
                </a:lnTo>
                <a:lnTo>
                  <a:pt x="1753252" y="630900"/>
                </a:lnTo>
                <a:lnTo>
                  <a:pt x="1700297" y="660556"/>
                </a:lnTo>
                <a:lnTo>
                  <a:pt x="1644985" y="690345"/>
                </a:lnTo>
                <a:lnTo>
                  <a:pt x="1587429" y="720190"/>
                </a:lnTo>
                <a:lnTo>
                  <a:pt x="1527746" y="750011"/>
                </a:lnTo>
                <a:lnTo>
                  <a:pt x="1466048" y="779729"/>
                </a:lnTo>
                <a:lnTo>
                  <a:pt x="1402452" y="809265"/>
                </a:lnTo>
                <a:lnTo>
                  <a:pt x="1337073" y="838542"/>
                </a:lnTo>
                <a:lnTo>
                  <a:pt x="1270024" y="867478"/>
                </a:lnTo>
                <a:lnTo>
                  <a:pt x="1201421" y="895997"/>
                </a:lnTo>
                <a:lnTo>
                  <a:pt x="1132392" y="923619"/>
                </a:lnTo>
                <a:lnTo>
                  <a:pt x="1064084" y="949896"/>
                </a:lnTo>
                <a:lnTo>
                  <a:pt x="996637" y="974803"/>
                </a:lnTo>
                <a:lnTo>
                  <a:pt x="930191" y="998314"/>
                </a:lnTo>
                <a:lnTo>
                  <a:pt x="864885" y="1020404"/>
                </a:lnTo>
                <a:lnTo>
                  <a:pt x="800861" y="1041047"/>
                </a:lnTo>
                <a:lnTo>
                  <a:pt x="738257" y="1060220"/>
                </a:lnTo>
                <a:lnTo>
                  <a:pt x="677215" y="1077896"/>
                </a:lnTo>
                <a:lnTo>
                  <a:pt x="617873" y="1094050"/>
                </a:lnTo>
                <a:lnTo>
                  <a:pt x="560373" y="1108657"/>
                </a:lnTo>
                <a:lnTo>
                  <a:pt x="504854" y="1121692"/>
                </a:lnTo>
                <a:lnTo>
                  <a:pt x="451457" y="1133129"/>
                </a:lnTo>
                <a:lnTo>
                  <a:pt x="400321" y="1142944"/>
                </a:lnTo>
                <a:lnTo>
                  <a:pt x="351586" y="1151111"/>
                </a:lnTo>
                <a:lnTo>
                  <a:pt x="305393" y="1157604"/>
                </a:lnTo>
                <a:lnTo>
                  <a:pt x="261882" y="1162399"/>
                </a:lnTo>
                <a:lnTo>
                  <a:pt x="221193" y="1165471"/>
                </a:lnTo>
                <a:lnTo>
                  <a:pt x="183465" y="1166794"/>
                </a:lnTo>
                <a:lnTo>
                  <a:pt x="148839" y="1166342"/>
                </a:lnTo>
                <a:lnTo>
                  <a:pt x="89454" y="1160016"/>
                </a:lnTo>
                <a:lnTo>
                  <a:pt x="44158" y="1146291"/>
                </a:lnTo>
                <a:lnTo>
                  <a:pt x="5081" y="1111389"/>
                </a:lnTo>
                <a:lnTo>
                  <a:pt x="0" y="1079268"/>
                </a:lnTo>
                <a:lnTo>
                  <a:pt x="3807" y="1061076"/>
                </a:lnTo>
                <a:lnTo>
                  <a:pt x="23544" y="1020825"/>
                </a:lnTo>
                <a:lnTo>
                  <a:pt x="58680" y="975942"/>
                </a:lnTo>
                <a:lnTo>
                  <a:pt x="108297" y="927058"/>
                </a:lnTo>
                <a:lnTo>
                  <a:pt x="138249" y="901312"/>
                </a:lnTo>
                <a:lnTo>
                  <a:pt x="171476" y="874802"/>
                </a:lnTo>
                <a:lnTo>
                  <a:pt x="207866" y="847607"/>
                </a:lnTo>
                <a:lnTo>
                  <a:pt x="247301" y="819805"/>
                </a:lnTo>
                <a:lnTo>
                  <a:pt x="289669" y="791476"/>
                </a:lnTo>
                <a:lnTo>
                  <a:pt x="334854" y="762698"/>
                </a:lnTo>
                <a:lnTo>
                  <a:pt x="382741" y="733549"/>
                </a:lnTo>
                <a:lnTo>
                  <a:pt x="433216" y="704109"/>
                </a:lnTo>
                <a:lnTo>
                  <a:pt x="486165" y="674457"/>
                </a:lnTo>
                <a:lnTo>
                  <a:pt x="541471" y="644671"/>
                </a:lnTo>
                <a:lnTo>
                  <a:pt x="599021" y="614830"/>
                </a:lnTo>
                <a:lnTo>
                  <a:pt x="658700" y="585012"/>
                </a:lnTo>
                <a:lnTo>
                  <a:pt x="720393" y="555297"/>
                </a:lnTo>
                <a:lnTo>
                  <a:pt x="783986" y="525764"/>
                </a:lnTo>
                <a:lnTo>
                  <a:pt x="849363" y="496490"/>
                </a:lnTo>
                <a:lnTo>
                  <a:pt x="916410" y="467556"/>
                </a:lnTo>
                <a:lnTo>
                  <a:pt x="985013" y="439039"/>
                </a:lnTo>
                <a:lnTo>
                  <a:pt x="1045377" y="414828"/>
                </a:lnTo>
                <a:lnTo>
                  <a:pt x="1105409" y="391571"/>
                </a:lnTo>
                <a:lnTo>
                  <a:pt x="1164995" y="369296"/>
                </a:lnTo>
                <a:lnTo>
                  <a:pt x="1224022" y="348032"/>
                </a:lnTo>
                <a:lnTo>
                  <a:pt x="1282378" y="327807"/>
                </a:lnTo>
                <a:lnTo>
                  <a:pt x="1339947" y="308649"/>
                </a:lnTo>
                <a:lnTo>
                  <a:pt x="1396618" y="290586"/>
                </a:lnTo>
                <a:lnTo>
                  <a:pt x="1452276" y="273647"/>
                </a:lnTo>
                <a:lnTo>
                  <a:pt x="1506809" y="257860"/>
                </a:lnTo>
                <a:lnTo>
                  <a:pt x="1560102" y="243252"/>
                </a:lnTo>
                <a:lnTo>
                  <a:pt x="1612043" y="229854"/>
                </a:lnTo>
                <a:lnTo>
                  <a:pt x="1662519" y="217692"/>
                </a:lnTo>
                <a:lnTo>
                  <a:pt x="1711415" y="206794"/>
                </a:lnTo>
                <a:lnTo>
                  <a:pt x="1758619" y="197190"/>
                </a:lnTo>
                <a:lnTo>
                  <a:pt x="1804017" y="188908"/>
                </a:lnTo>
                <a:lnTo>
                  <a:pt x="1847496" y="181975"/>
                </a:lnTo>
                <a:lnTo>
                  <a:pt x="1888942" y="176421"/>
                </a:lnTo>
                <a:lnTo>
                  <a:pt x="1928243" y="172272"/>
                </a:lnTo>
                <a:lnTo>
                  <a:pt x="1999953" y="168307"/>
                </a:lnTo>
                <a:lnTo>
                  <a:pt x="2032135" y="168547"/>
                </a:lnTo>
                <a:lnTo>
                  <a:pt x="2061719" y="170307"/>
                </a:lnTo>
                <a:lnTo>
                  <a:pt x="2551939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50997" y="5238953"/>
            <a:ext cx="1087755" cy="565150"/>
          </a:xfrm>
          <a:custGeom>
            <a:avLst/>
            <a:gdLst/>
            <a:ahLst/>
            <a:cxnLst/>
            <a:rect l="l" t="t" r="r" b="b"/>
            <a:pathLst>
              <a:path w="1087754" h="565150">
                <a:moveTo>
                  <a:pt x="84581" y="346709"/>
                </a:moveTo>
                <a:lnTo>
                  <a:pt x="91892" y="364489"/>
                </a:lnTo>
                <a:lnTo>
                  <a:pt x="99536" y="382269"/>
                </a:lnTo>
                <a:lnTo>
                  <a:pt x="107513" y="401319"/>
                </a:lnTo>
                <a:lnTo>
                  <a:pt x="115824" y="421639"/>
                </a:lnTo>
                <a:lnTo>
                  <a:pt x="123013" y="441959"/>
                </a:lnTo>
                <a:lnTo>
                  <a:pt x="127809" y="461009"/>
                </a:lnTo>
                <a:lnTo>
                  <a:pt x="130200" y="477519"/>
                </a:lnTo>
                <a:lnTo>
                  <a:pt x="130175" y="492759"/>
                </a:lnTo>
                <a:lnTo>
                  <a:pt x="127150" y="507999"/>
                </a:lnTo>
                <a:lnTo>
                  <a:pt x="120554" y="524509"/>
                </a:lnTo>
                <a:lnTo>
                  <a:pt x="110386" y="542289"/>
                </a:lnTo>
                <a:lnTo>
                  <a:pt x="96646" y="561339"/>
                </a:lnTo>
                <a:lnTo>
                  <a:pt x="100583" y="565149"/>
                </a:lnTo>
                <a:lnTo>
                  <a:pt x="131730" y="528319"/>
                </a:lnTo>
                <a:lnTo>
                  <a:pt x="145593" y="480059"/>
                </a:lnTo>
                <a:lnTo>
                  <a:pt x="145550" y="477519"/>
                </a:lnTo>
                <a:lnTo>
                  <a:pt x="144113" y="461009"/>
                </a:lnTo>
                <a:lnTo>
                  <a:pt x="140136" y="443229"/>
                </a:lnTo>
                <a:lnTo>
                  <a:pt x="133730" y="422909"/>
                </a:lnTo>
                <a:lnTo>
                  <a:pt x="126563" y="403859"/>
                </a:lnTo>
                <a:lnTo>
                  <a:pt x="120110" y="386079"/>
                </a:lnTo>
                <a:lnTo>
                  <a:pt x="114371" y="372109"/>
                </a:lnTo>
                <a:lnTo>
                  <a:pt x="112225" y="366684"/>
                </a:lnTo>
                <a:lnTo>
                  <a:pt x="108838" y="364489"/>
                </a:lnTo>
                <a:lnTo>
                  <a:pt x="111008" y="363610"/>
                </a:lnTo>
                <a:lnTo>
                  <a:pt x="109347" y="359409"/>
                </a:lnTo>
                <a:lnTo>
                  <a:pt x="112649" y="347979"/>
                </a:lnTo>
                <a:lnTo>
                  <a:pt x="84581" y="346709"/>
                </a:lnTo>
                <a:close/>
              </a:path>
              <a:path w="1087754" h="565150">
                <a:moveTo>
                  <a:pt x="74218" y="458469"/>
                </a:moveTo>
                <a:lnTo>
                  <a:pt x="56133" y="458469"/>
                </a:lnTo>
                <a:lnTo>
                  <a:pt x="77723" y="511809"/>
                </a:lnTo>
                <a:lnTo>
                  <a:pt x="68458" y="519429"/>
                </a:lnTo>
                <a:lnTo>
                  <a:pt x="60467" y="525779"/>
                </a:lnTo>
                <a:lnTo>
                  <a:pt x="53738" y="530859"/>
                </a:lnTo>
                <a:lnTo>
                  <a:pt x="48259" y="534669"/>
                </a:lnTo>
                <a:lnTo>
                  <a:pt x="67563" y="548639"/>
                </a:lnTo>
                <a:lnTo>
                  <a:pt x="73469" y="539749"/>
                </a:lnTo>
                <a:lnTo>
                  <a:pt x="85089" y="524509"/>
                </a:lnTo>
                <a:lnTo>
                  <a:pt x="107035" y="500379"/>
                </a:lnTo>
                <a:lnTo>
                  <a:pt x="91312" y="500379"/>
                </a:lnTo>
                <a:lnTo>
                  <a:pt x="74218" y="458469"/>
                </a:lnTo>
                <a:close/>
              </a:path>
              <a:path w="1087754" h="565150">
                <a:moveTo>
                  <a:pt x="186472" y="425449"/>
                </a:moveTo>
                <a:lnTo>
                  <a:pt x="168401" y="425449"/>
                </a:lnTo>
                <a:lnTo>
                  <a:pt x="195199" y="491489"/>
                </a:lnTo>
                <a:lnTo>
                  <a:pt x="153797" y="509269"/>
                </a:lnTo>
                <a:lnTo>
                  <a:pt x="167512" y="516889"/>
                </a:lnTo>
                <a:lnTo>
                  <a:pt x="173481" y="511809"/>
                </a:lnTo>
                <a:lnTo>
                  <a:pt x="185165" y="506729"/>
                </a:lnTo>
                <a:lnTo>
                  <a:pt x="237865" y="485139"/>
                </a:lnTo>
                <a:lnTo>
                  <a:pt x="210692" y="485139"/>
                </a:lnTo>
                <a:lnTo>
                  <a:pt x="186472" y="425449"/>
                </a:lnTo>
                <a:close/>
              </a:path>
              <a:path w="1087754" h="565150">
                <a:moveTo>
                  <a:pt x="121030" y="473709"/>
                </a:moveTo>
                <a:lnTo>
                  <a:pt x="91312" y="500379"/>
                </a:lnTo>
                <a:lnTo>
                  <a:pt x="107035" y="500379"/>
                </a:lnTo>
                <a:lnTo>
                  <a:pt x="125475" y="480059"/>
                </a:lnTo>
                <a:lnTo>
                  <a:pt x="121030" y="473709"/>
                </a:lnTo>
                <a:close/>
              </a:path>
              <a:path w="1087754" h="565150">
                <a:moveTo>
                  <a:pt x="229107" y="466089"/>
                </a:moveTo>
                <a:lnTo>
                  <a:pt x="222376" y="481329"/>
                </a:lnTo>
                <a:lnTo>
                  <a:pt x="210692" y="485139"/>
                </a:lnTo>
                <a:lnTo>
                  <a:pt x="237865" y="485139"/>
                </a:lnTo>
                <a:lnTo>
                  <a:pt x="253364" y="478789"/>
                </a:lnTo>
                <a:lnTo>
                  <a:pt x="229107" y="466089"/>
                </a:lnTo>
                <a:close/>
              </a:path>
              <a:path w="1087754" h="565150">
                <a:moveTo>
                  <a:pt x="358844" y="380999"/>
                </a:moveTo>
                <a:lnTo>
                  <a:pt x="338963" y="380999"/>
                </a:lnTo>
                <a:lnTo>
                  <a:pt x="361441" y="435609"/>
                </a:lnTo>
                <a:lnTo>
                  <a:pt x="273812" y="471169"/>
                </a:lnTo>
                <a:lnTo>
                  <a:pt x="287400" y="480059"/>
                </a:lnTo>
                <a:lnTo>
                  <a:pt x="293497" y="474979"/>
                </a:lnTo>
                <a:lnTo>
                  <a:pt x="299847" y="471169"/>
                </a:lnTo>
                <a:lnTo>
                  <a:pt x="403225" y="429259"/>
                </a:lnTo>
                <a:lnTo>
                  <a:pt x="378587" y="429259"/>
                </a:lnTo>
                <a:lnTo>
                  <a:pt x="358844" y="380999"/>
                </a:lnTo>
                <a:close/>
              </a:path>
              <a:path w="1087754" h="565150">
                <a:moveTo>
                  <a:pt x="51688" y="402589"/>
                </a:moveTo>
                <a:lnTo>
                  <a:pt x="33654" y="402589"/>
                </a:lnTo>
                <a:lnTo>
                  <a:pt x="52450" y="449579"/>
                </a:lnTo>
                <a:lnTo>
                  <a:pt x="24891" y="461009"/>
                </a:lnTo>
                <a:lnTo>
                  <a:pt x="38480" y="468629"/>
                </a:lnTo>
                <a:lnTo>
                  <a:pt x="50418" y="461009"/>
                </a:lnTo>
                <a:lnTo>
                  <a:pt x="56133" y="458469"/>
                </a:lnTo>
                <a:lnTo>
                  <a:pt x="74218" y="458469"/>
                </a:lnTo>
                <a:lnTo>
                  <a:pt x="71627" y="452119"/>
                </a:lnTo>
                <a:lnTo>
                  <a:pt x="93655" y="443229"/>
                </a:lnTo>
                <a:lnTo>
                  <a:pt x="67944" y="443229"/>
                </a:lnTo>
                <a:lnTo>
                  <a:pt x="51688" y="402589"/>
                </a:lnTo>
                <a:close/>
              </a:path>
              <a:path w="1087754" h="565150">
                <a:moveTo>
                  <a:pt x="103124" y="414019"/>
                </a:moveTo>
                <a:lnTo>
                  <a:pt x="95122" y="416559"/>
                </a:lnTo>
                <a:lnTo>
                  <a:pt x="97670" y="427989"/>
                </a:lnTo>
                <a:lnTo>
                  <a:pt x="98671" y="435609"/>
                </a:lnTo>
                <a:lnTo>
                  <a:pt x="98749" y="440004"/>
                </a:lnTo>
                <a:lnTo>
                  <a:pt x="99948" y="440689"/>
                </a:lnTo>
                <a:lnTo>
                  <a:pt x="98716" y="441187"/>
                </a:lnTo>
                <a:lnTo>
                  <a:pt x="98623" y="444499"/>
                </a:lnTo>
                <a:lnTo>
                  <a:pt x="97027" y="449579"/>
                </a:lnTo>
                <a:lnTo>
                  <a:pt x="93852" y="455929"/>
                </a:lnTo>
                <a:lnTo>
                  <a:pt x="92709" y="459739"/>
                </a:lnTo>
                <a:lnTo>
                  <a:pt x="93471" y="462279"/>
                </a:lnTo>
                <a:lnTo>
                  <a:pt x="94360" y="464819"/>
                </a:lnTo>
                <a:lnTo>
                  <a:pt x="96138" y="466089"/>
                </a:lnTo>
                <a:lnTo>
                  <a:pt x="103631" y="466089"/>
                </a:lnTo>
                <a:lnTo>
                  <a:pt x="105155" y="464819"/>
                </a:lnTo>
                <a:lnTo>
                  <a:pt x="107695" y="463549"/>
                </a:lnTo>
                <a:lnTo>
                  <a:pt x="110362" y="462279"/>
                </a:lnTo>
                <a:lnTo>
                  <a:pt x="113029" y="458469"/>
                </a:lnTo>
                <a:lnTo>
                  <a:pt x="115569" y="454659"/>
                </a:lnTo>
                <a:lnTo>
                  <a:pt x="115824" y="449579"/>
                </a:lnTo>
                <a:lnTo>
                  <a:pt x="113791" y="441959"/>
                </a:lnTo>
                <a:lnTo>
                  <a:pt x="111982" y="436879"/>
                </a:lnTo>
                <a:lnTo>
                  <a:pt x="109600" y="430529"/>
                </a:lnTo>
                <a:lnTo>
                  <a:pt x="106648" y="422909"/>
                </a:lnTo>
                <a:lnTo>
                  <a:pt x="103124" y="414019"/>
                </a:lnTo>
                <a:close/>
              </a:path>
              <a:path w="1087754" h="565150">
                <a:moveTo>
                  <a:pt x="77723" y="427989"/>
                </a:moveTo>
                <a:lnTo>
                  <a:pt x="72262" y="441959"/>
                </a:lnTo>
                <a:lnTo>
                  <a:pt x="67944" y="443229"/>
                </a:lnTo>
                <a:lnTo>
                  <a:pt x="93655" y="443229"/>
                </a:lnTo>
                <a:lnTo>
                  <a:pt x="98716" y="441187"/>
                </a:lnTo>
                <a:lnTo>
                  <a:pt x="98749" y="440004"/>
                </a:lnTo>
                <a:lnTo>
                  <a:pt x="77723" y="427989"/>
                </a:lnTo>
                <a:close/>
              </a:path>
              <a:path w="1087754" h="565150">
                <a:moveTo>
                  <a:pt x="98749" y="440004"/>
                </a:moveTo>
                <a:lnTo>
                  <a:pt x="98716" y="441187"/>
                </a:lnTo>
                <a:lnTo>
                  <a:pt x="99948" y="440689"/>
                </a:lnTo>
                <a:lnTo>
                  <a:pt x="98749" y="440004"/>
                </a:lnTo>
                <a:close/>
              </a:path>
              <a:path w="1087754" h="565150">
                <a:moveTo>
                  <a:pt x="160684" y="361949"/>
                </a:moveTo>
                <a:lnTo>
                  <a:pt x="142620" y="361949"/>
                </a:lnTo>
                <a:lnTo>
                  <a:pt x="164718" y="416559"/>
                </a:lnTo>
                <a:lnTo>
                  <a:pt x="136270" y="427989"/>
                </a:lnTo>
                <a:lnTo>
                  <a:pt x="149987" y="435609"/>
                </a:lnTo>
                <a:lnTo>
                  <a:pt x="155955" y="431799"/>
                </a:lnTo>
                <a:lnTo>
                  <a:pt x="162178" y="427989"/>
                </a:lnTo>
                <a:lnTo>
                  <a:pt x="168401" y="425449"/>
                </a:lnTo>
                <a:lnTo>
                  <a:pt x="186472" y="425449"/>
                </a:lnTo>
                <a:lnTo>
                  <a:pt x="183895" y="419099"/>
                </a:lnTo>
                <a:lnTo>
                  <a:pt x="205555" y="410209"/>
                </a:lnTo>
                <a:lnTo>
                  <a:pt x="180212" y="410209"/>
                </a:lnTo>
                <a:lnTo>
                  <a:pt x="160684" y="361949"/>
                </a:lnTo>
                <a:close/>
              </a:path>
              <a:path w="1087754" h="565150">
                <a:moveTo>
                  <a:pt x="439419" y="388619"/>
                </a:moveTo>
                <a:lnTo>
                  <a:pt x="430783" y="407669"/>
                </a:lnTo>
                <a:lnTo>
                  <a:pt x="378587" y="429259"/>
                </a:lnTo>
                <a:lnTo>
                  <a:pt x="403225" y="429259"/>
                </a:lnTo>
                <a:lnTo>
                  <a:pt x="469011" y="402589"/>
                </a:lnTo>
                <a:lnTo>
                  <a:pt x="439419" y="388619"/>
                </a:lnTo>
                <a:close/>
              </a:path>
              <a:path w="1087754" h="565150">
                <a:moveTo>
                  <a:pt x="58165" y="370839"/>
                </a:moveTo>
                <a:lnTo>
                  <a:pt x="51434" y="384809"/>
                </a:lnTo>
                <a:lnTo>
                  <a:pt x="0" y="406399"/>
                </a:lnTo>
                <a:lnTo>
                  <a:pt x="13588" y="414019"/>
                </a:lnTo>
                <a:lnTo>
                  <a:pt x="19684" y="410209"/>
                </a:lnTo>
                <a:lnTo>
                  <a:pt x="26034" y="406399"/>
                </a:lnTo>
                <a:lnTo>
                  <a:pt x="33654" y="402589"/>
                </a:lnTo>
                <a:lnTo>
                  <a:pt x="51688" y="402589"/>
                </a:lnTo>
                <a:lnTo>
                  <a:pt x="49148" y="396239"/>
                </a:lnTo>
                <a:lnTo>
                  <a:pt x="82422" y="383539"/>
                </a:lnTo>
                <a:lnTo>
                  <a:pt x="58165" y="370839"/>
                </a:lnTo>
                <a:close/>
              </a:path>
              <a:path w="1087754" h="565150">
                <a:moveTo>
                  <a:pt x="194944" y="392429"/>
                </a:moveTo>
                <a:lnTo>
                  <a:pt x="188594" y="406399"/>
                </a:lnTo>
                <a:lnTo>
                  <a:pt x="180212" y="410209"/>
                </a:lnTo>
                <a:lnTo>
                  <a:pt x="205555" y="410209"/>
                </a:lnTo>
                <a:lnTo>
                  <a:pt x="217931" y="405129"/>
                </a:lnTo>
                <a:lnTo>
                  <a:pt x="194944" y="392429"/>
                </a:lnTo>
                <a:close/>
              </a:path>
              <a:path w="1087754" h="565150">
                <a:moveTo>
                  <a:pt x="335169" y="322579"/>
                </a:moveTo>
                <a:lnTo>
                  <a:pt x="315467" y="322579"/>
                </a:lnTo>
                <a:lnTo>
                  <a:pt x="335279" y="372109"/>
                </a:lnTo>
                <a:lnTo>
                  <a:pt x="272795" y="397509"/>
                </a:lnTo>
                <a:lnTo>
                  <a:pt x="286385" y="405129"/>
                </a:lnTo>
                <a:lnTo>
                  <a:pt x="292480" y="400049"/>
                </a:lnTo>
                <a:lnTo>
                  <a:pt x="298830" y="396239"/>
                </a:lnTo>
                <a:lnTo>
                  <a:pt x="338963" y="380999"/>
                </a:lnTo>
                <a:lnTo>
                  <a:pt x="358844" y="380999"/>
                </a:lnTo>
                <a:lnTo>
                  <a:pt x="355726" y="373379"/>
                </a:lnTo>
                <a:lnTo>
                  <a:pt x="377359" y="364489"/>
                </a:lnTo>
                <a:lnTo>
                  <a:pt x="352043" y="364489"/>
                </a:lnTo>
                <a:lnTo>
                  <a:pt x="335169" y="322579"/>
                </a:lnTo>
                <a:close/>
              </a:path>
              <a:path w="1087754" h="565150">
                <a:moveTo>
                  <a:pt x="500188" y="273049"/>
                </a:moveTo>
                <a:lnTo>
                  <a:pt x="481329" y="273049"/>
                </a:lnTo>
                <a:lnTo>
                  <a:pt x="510793" y="345439"/>
                </a:lnTo>
                <a:lnTo>
                  <a:pt x="514151" y="354329"/>
                </a:lnTo>
                <a:lnTo>
                  <a:pt x="518318" y="364489"/>
                </a:lnTo>
                <a:lnTo>
                  <a:pt x="523295" y="378459"/>
                </a:lnTo>
                <a:lnTo>
                  <a:pt x="529081" y="393699"/>
                </a:lnTo>
                <a:lnTo>
                  <a:pt x="543560" y="377189"/>
                </a:lnTo>
                <a:lnTo>
                  <a:pt x="540345" y="370839"/>
                </a:lnTo>
                <a:lnTo>
                  <a:pt x="536797" y="363219"/>
                </a:lnTo>
                <a:lnTo>
                  <a:pt x="532915" y="353059"/>
                </a:lnTo>
                <a:lnTo>
                  <a:pt x="528701" y="342899"/>
                </a:lnTo>
                <a:lnTo>
                  <a:pt x="500188" y="273049"/>
                </a:lnTo>
                <a:close/>
              </a:path>
              <a:path w="1087754" h="565150">
                <a:moveTo>
                  <a:pt x="171576" y="328929"/>
                </a:moveTo>
                <a:lnTo>
                  <a:pt x="165226" y="341629"/>
                </a:lnTo>
                <a:lnTo>
                  <a:pt x="111008" y="363610"/>
                </a:lnTo>
                <a:lnTo>
                  <a:pt x="112225" y="366684"/>
                </a:lnTo>
                <a:lnTo>
                  <a:pt x="122554" y="373379"/>
                </a:lnTo>
                <a:lnTo>
                  <a:pt x="128524" y="368299"/>
                </a:lnTo>
                <a:lnTo>
                  <a:pt x="135000" y="364489"/>
                </a:lnTo>
                <a:lnTo>
                  <a:pt x="142620" y="361949"/>
                </a:lnTo>
                <a:lnTo>
                  <a:pt x="160684" y="361949"/>
                </a:lnTo>
                <a:lnTo>
                  <a:pt x="158114" y="355599"/>
                </a:lnTo>
                <a:lnTo>
                  <a:pt x="194563" y="340359"/>
                </a:lnTo>
                <a:lnTo>
                  <a:pt x="171576" y="328929"/>
                </a:lnTo>
                <a:close/>
              </a:path>
              <a:path w="1087754" h="565150">
                <a:moveTo>
                  <a:pt x="593010" y="269239"/>
                </a:moveTo>
                <a:lnTo>
                  <a:pt x="574166" y="269239"/>
                </a:lnTo>
                <a:lnTo>
                  <a:pt x="601979" y="337819"/>
                </a:lnTo>
                <a:lnTo>
                  <a:pt x="542798" y="361949"/>
                </a:lnTo>
                <a:lnTo>
                  <a:pt x="556387" y="369569"/>
                </a:lnTo>
                <a:lnTo>
                  <a:pt x="562355" y="365759"/>
                </a:lnTo>
                <a:lnTo>
                  <a:pt x="568832" y="361949"/>
                </a:lnTo>
                <a:lnTo>
                  <a:pt x="575690" y="359409"/>
                </a:lnTo>
                <a:lnTo>
                  <a:pt x="644024" y="331469"/>
                </a:lnTo>
                <a:lnTo>
                  <a:pt x="618363" y="331469"/>
                </a:lnTo>
                <a:lnTo>
                  <a:pt x="593010" y="269239"/>
                </a:lnTo>
                <a:close/>
              </a:path>
              <a:path w="1087754" h="565150">
                <a:moveTo>
                  <a:pt x="111008" y="363610"/>
                </a:moveTo>
                <a:lnTo>
                  <a:pt x="108838" y="364489"/>
                </a:lnTo>
                <a:lnTo>
                  <a:pt x="112225" y="366684"/>
                </a:lnTo>
                <a:lnTo>
                  <a:pt x="111008" y="363610"/>
                </a:lnTo>
                <a:close/>
              </a:path>
              <a:path w="1087754" h="565150">
                <a:moveTo>
                  <a:pt x="393318" y="332739"/>
                </a:moveTo>
                <a:lnTo>
                  <a:pt x="385699" y="350519"/>
                </a:lnTo>
                <a:lnTo>
                  <a:pt x="352043" y="364489"/>
                </a:lnTo>
                <a:lnTo>
                  <a:pt x="377359" y="364489"/>
                </a:lnTo>
                <a:lnTo>
                  <a:pt x="420624" y="346709"/>
                </a:lnTo>
                <a:lnTo>
                  <a:pt x="393318" y="332739"/>
                </a:lnTo>
                <a:close/>
              </a:path>
              <a:path w="1087754" h="565150">
                <a:moveTo>
                  <a:pt x="319267" y="310666"/>
                </a:moveTo>
                <a:lnTo>
                  <a:pt x="236347" y="344169"/>
                </a:lnTo>
                <a:lnTo>
                  <a:pt x="249936" y="351789"/>
                </a:lnTo>
                <a:lnTo>
                  <a:pt x="256031" y="347979"/>
                </a:lnTo>
                <a:lnTo>
                  <a:pt x="262381" y="344169"/>
                </a:lnTo>
                <a:lnTo>
                  <a:pt x="269239" y="341629"/>
                </a:lnTo>
                <a:lnTo>
                  <a:pt x="315467" y="322579"/>
                </a:lnTo>
                <a:lnTo>
                  <a:pt x="335169" y="322579"/>
                </a:lnTo>
                <a:lnTo>
                  <a:pt x="332613" y="316229"/>
                </a:lnTo>
                <a:lnTo>
                  <a:pt x="345211" y="311149"/>
                </a:lnTo>
                <a:lnTo>
                  <a:pt x="320039" y="311149"/>
                </a:lnTo>
                <a:lnTo>
                  <a:pt x="319267" y="310666"/>
                </a:lnTo>
                <a:close/>
              </a:path>
              <a:path w="1087754" h="565150">
                <a:moveTo>
                  <a:pt x="658240" y="302259"/>
                </a:moveTo>
                <a:lnTo>
                  <a:pt x="651001" y="317499"/>
                </a:lnTo>
                <a:lnTo>
                  <a:pt x="618363" y="331469"/>
                </a:lnTo>
                <a:lnTo>
                  <a:pt x="644024" y="331469"/>
                </a:lnTo>
                <a:lnTo>
                  <a:pt x="684402" y="314959"/>
                </a:lnTo>
                <a:lnTo>
                  <a:pt x="658240" y="302259"/>
                </a:lnTo>
                <a:close/>
              </a:path>
              <a:path w="1087754" h="565150">
                <a:moveTo>
                  <a:pt x="469011" y="189229"/>
                </a:moveTo>
                <a:lnTo>
                  <a:pt x="470656" y="204469"/>
                </a:lnTo>
                <a:lnTo>
                  <a:pt x="471598" y="219709"/>
                </a:lnTo>
                <a:lnTo>
                  <a:pt x="471676" y="224789"/>
                </a:lnTo>
                <a:lnTo>
                  <a:pt x="471789" y="238759"/>
                </a:lnTo>
                <a:lnTo>
                  <a:pt x="471454" y="252729"/>
                </a:lnTo>
                <a:lnTo>
                  <a:pt x="467931" y="290829"/>
                </a:lnTo>
                <a:lnTo>
                  <a:pt x="460628" y="326389"/>
                </a:lnTo>
                <a:lnTo>
                  <a:pt x="466089" y="330199"/>
                </a:lnTo>
                <a:lnTo>
                  <a:pt x="471543" y="317499"/>
                </a:lnTo>
                <a:lnTo>
                  <a:pt x="475900" y="303529"/>
                </a:lnTo>
                <a:lnTo>
                  <a:pt x="479163" y="289559"/>
                </a:lnTo>
                <a:lnTo>
                  <a:pt x="481329" y="273049"/>
                </a:lnTo>
                <a:lnTo>
                  <a:pt x="500188" y="273049"/>
                </a:lnTo>
                <a:lnTo>
                  <a:pt x="497077" y="265429"/>
                </a:lnTo>
                <a:lnTo>
                  <a:pt x="500888" y="255269"/>
                </a:lnTo>
                <a:lnTo>
                  <a:pt x="487425" y="252729"/>
                </a:lnTo>
                <a:lnTo>
                  <a:pt x="488328" y="243839"/>
                </a:lnTo>
                <a:lnTo>
                  <a:pt x="489124" y="234949"/>
                </a:lnTo>
                <a:lnTo>
                  <a:pt x="489801" y="226059"/>
                </a:lnTo>
                <a:lnTo>
                  <a:pt x="490347" y="217169"/>
                </a:lnTo>
                <a:lnTo>
                  <a:pt x="491236" y="205739"/>
                </a:lnTo>
                <a:lnTo>
                  <a:pt x="493522" y="199389"/>
                </a:lnTo>
                <a:lnTo>
                  <a:pt x="497077" y="195579"/>
                </a:lnTo>
                <a:lnTo>
                  <a:pt x="469011" y="189229"/>
                </a:lnTo>
                <a:close/>
              </a:path>
              <a:path w="1087754" h="565150">
                <a:moveTo>
                  <a:pt x="696070" y="175259"/>
                </a:moveTo>
                <a:lnTo>
                  <a:pt x="679576" y="175259"/>
                </a:lnTo>
                <a:lnTo>
                  <a:pt x="682384" y="193039"/>
                </a:lnTo>
                <a:lnTo>
                  <a:pt x="685085" y="210819"/>
                </a:lnTo>
                <a:lnTo>
                  <a:pt x="687667" y="229869"/>
                </a:lnTo>
                <a:lnTo>
                  <a:pt x="690117" y="247649"/>
                </a:lnTo>
                <a:lnTo>
                  <a:pt x="701974" y="247649"/>
                </a:lnTo>
                <a:lnTo>
                  <a:pt x="712390" y="248919"/>
                </a:lnTo>
                <a:lnTo>
                  <a:pt x="721354" y="248919"/>
                </a:lnTo>
                <a:lnTo>
                  <a:pt x="728852" y="250189"/>
                </a:lnTo>
                <a:lnTo>
                  <a:pt x="726898" y="265429"/>
                </a:lnTo>
                <a:lnTo>
                  <a:pt x="723122" y="281939"/>
                </a:lnTo>
                <a:lnTo>
                  <a:pt x="717512" y="298449"/>
                </a:lnTo>
                <a:lnTo>
                  <a:pt x="710056" y="316229"/>
                </a:lnTo>
                <a:lnTo>
                  <a:pt x="716279" y="317499"/>
                </a:lnTo>
                <a:lnTo>
                  <a:pt x="725689" y="303529"/>
                </a:lnTo>
                <a:lnTo>
                  <a:pt x="733361" y="287019"/>
                </a:lnTo>
                <a:lnTo>
                  <a:pt x="739318" y="270509"/>
                </a:lnTo>
                <a:lnTo>
                  <a:pt x="743585" y="251459"/>
                </a:lnTo>
                <a:lnTo>
                  <a:pt x="776224" y="251459"/>
                </a:lnTo>
                <a:lnTo>
                  <a:pt x="756030" y="237489"/>
                </a:lnTo>
                <a:lnTo>
                  <a:pt x="704214" y="237489"/>
                </a:lnTo>
                <a:lnTo>
                  <a:pt x="698388" y="194309"/>
                </a:lnTo>
                <a:lnTo>
                  <a:pt x="696517" y="179069"/>
                </a:lnTo>
                <a:lnTo>
                  <a:pt x="696070" y="175259"/>
                </a:lnTo>
                <a:close/>
              </a:path>
              <a:path w="1087754" h="565150">
                <a:moveTo>
                  <a:pt x="325735" y="308053"/>
                </a:moveTo>
                <a:lnTo>
                  <a:pt x="319267" y="310666"/>
                </a:lnTo>
                <a:lnTo>
                  <a:pt x="320039" y="311149"/>
                </a:lnTo>
                <a:lnTo>
                  <a:pt x="325374" y="308609"/>
                </a:lnTo>
                <a:lnTo>
                  <a:pt x="325735" y="308053"/>
                </a:lnTo>
                <a:close/>
              </a:path>
              <a:path w="1087754" h="565150">
                <a:moveTo>
                  <a:pt x="382904" y="269239"/>
                </a:moveTo>
                <a:lnTo>
                  <a:pt x="374650" y="288289"/>
                </a:lnTo>
                <a:lnTo>
                  <a:pt x="325735" y="308053"/>
                </a:lnTo>
                <a:lnTo>
                  <a:pt x="325374" y="308609"/>
                </a:lnTo>
                <a:lnTo>
                  <a:pt x="320039" y="311149"/>
                </a:lnTo>
                <a:lnTo>
                  <a:pt x="345211" y="311149"/>
                </a:lnTo>
                <a:lnTo>
                  <a:pt x="411352" y="284479"/>
                </a:lnTo>
                <a:lnTo>
                  <a:pt x="382904" y="269239"/>
                </a:lnTo>
                <a:close/>
              </a:path>
              <a:path w="1087754" h="565150">
                <a:moveTo>
                  <a:pt x="276351" y="273049"/>
                </a:moveTo>
                <a:lnTo>
                  <a:pt x="275336" y="279399"/>
                </a:lnTo>
                <a:lnTo>
                  <a:pt x="287934" y="285749"/>
                </a:lnTo>
                <a:lnTo>
                  <a:pt x="298116" y="292099"/>
                </a:lnTo>
                <a:lnTo>
                  <a:pt x="305893" y="298449"/>
                </a:lnTo>
                <a:lnTo>
                  <a:pt x="311276" y="303529"/>
                </a:lnTo>
                <a:lnTo>
                  <a:pt x="315975" y="308609"/>
                </a:lnTo>
                <a:lnTo>
                  <a:pt x="319267" y="310666"/>
                </a:lnTo>
                <a:lnTo>
                  <a:pt x="325735" y="308053"/>
                </a:lnTo>
                <a:lnTo>
                  <a:pt x="327025" y="306069"/>
                </a:lnTo>
                <a:lnTo>
                  <a:pt x="328422" y="300989"/>
                </a:lnTo>
                <a:lnTo>
                  <a:pt x="329691" y="295909"/>
                </a:lnTo>
                <a:lnTo>
                  <a:pt x="329691" y="292099"/>
                </a:lnTo>
                <a:lnTo>
                  <a:pt x="328294" y="289559"/>
                </a:lnTo>
                <a:lnTo>
                  <a:pt x="326643" y="284479"/>
                </a:lnTo>
                <a:lnTo>
                  <a:pt x="322579" y="281939"/>
                </a:lnTo>
                <a:lnTo>
                  <a:pt x="315975" y="279399"/>
                </a:lnTo>
                <a:lnTo>
                  <a:pt x="309784" y="278129"/>
                </a:lnTo>
                <a:lnTo>
                  <a:pt x="301116" y="275589"/>
                </a:lnTo>
                <a:lnTo>
                  <a:pt x="289972" y="274319"/>
                </a:lnTo>
                <a:lnTo>
                  <a:pt x="276351" y="273049"/>
                </a:lnTo>
                <a:close/>
              </a:path>
              <a:path w="1087754" h="565150">
                <a:moveTo>
                  <a:pt x="566834" y="204469"/>
                </a:moveTo>
                <a:lnTo>
                  <a:pt x="548131" y="204469"/>
                </a:lnTo>
                <a:lnTo>
                  <a:pt x="570483" y="260349"/>
                </a:lnTo>
                <a:lnTo>
                  <a:pt x="512063" y="283209"/>
                </a:lnTo>
                <a:lnTo>
                  <a:pt x="525652" y="292099"/>
                </a:lnTo>
                <a:lnTo>
                  <a:pt x="531749" y="287019"/>
                </a:lnTo>
                <a:lnTo>
                  <a:pt x="538099" y="283209"/>
                </a:lnTo>
                <a:lnTo>
                  <a:pt x="544956" y="280669"/>
                </a:lnTo>
                <a:lnTo>
                  <a:pt x="574166" y="269239"/>
                </a:lnTo>
                <a:lnTo>
                  <a:pt x="593010" y="269239"/>
                </a:lnTo>
                <a:lnTo>
                  <a:pt x="590423" y="262889"/>
                </a:lnTo>
                <a:lnTo>
                  <a:pt x="612554" y="253999"/>
                </a:lnTo>
                <a:lnTo>
                  <a:pt x="586866" y="253999"/>
                </a:lnTo>
                <a:lnTo>
                  <a:pt x="566834" y="204469"/>
                </a:lnTo>
                <a:close/>
              </a:path>
              <a:path w="1087754" h="565150">
                <a:moveTo>
                  <a:pt x="822864" y="193039"/>
                </a:moveTo>
                <a:lnTo>
                  <a:pt x="804037" y="193039"/>
                </a:lnTo>
                <a:lnTo>
                  <a:pt x="824483" y="243839"/>
                </a:lnTo>
                <a:lnTo>
                  <a:pt x="769365" y="266699"/>
                </a:lnTo>
                <a:lnTo>
                  <a:pt x="782954" y="274319"/>
                </a:lnTo>
                <a:lnTo>
                  <a:pt x="789051" y="269239"/>
                </a:lnTo>
                <a:lnTo>
                  <a:pt x="795401" y="266699"/>
                </a:lnTo>
                <a:lnTo>
                  <a:pt x="802258" y="262889"/>
                </a:lnTo>
                <a:lnTo>
                  <a:pt x="865589" y="237489"/>
                </a:lnTo>
                <a:lnTo>
                  <a:pt x="840866" y="237489"/>
                </a:lnTo>
                <a:lnTo>
                  <a:pt x="822864" y="193039"/>
                </a:lnTo>
                <a:close/>
              </a:path>
              <a:path w="1087754" h="565150">
                <a:moveTo>
                  <a:pt x="776224" y="251459"/>
                </a:moveTo>
                <a:lnTo>
                  <a:pt x="743585" y="251459"/>
                </a:lnTo>
                <a:lnTo>
                  <a:pt x="751586" y="253999"/>
                </a:lnTo>
                <a:lnTo>
                  <a:pt x="759078" y="257809"/>
                </a:lnTo>
                <a:lnTo>
                  <a:pt x="765682" y="260349"/>
                </a:lnTo>
                <a:lnTo>
                  <a:pt x="769492" y="261619"/>
                </a:lnTo>
                <a:lnTo>
                  <a:pt x="772413" y="262889"/>
                </a:lnTo>
                <a:lnTo>
                  <a:pt x="774318" y="261619"/>
                </a:lnTo>
                <a:lnTo>
                  <a:pt x="777366" y="260349"/>
                </a:lnTo>
                <a:lnTo>
                  <a:pt x="778255" y="257809"/>
                </a:lnTo>
                <a:lnTo>
                  <a:pt x="776604" y="252729"/>
                </a:lnTo>
                <a:lnTo>
                  <a:pt x="776224" y="251459"/>
                </a:lnTo>
                <a:close/>
              </a:path>
              <a:path w="1087754" h="565150">
                <a:moveTo>
                  <a:pt x="624331" y="224789"/>
                </a:moveTo>
                <a:lnTo>
                  <a:pt x="617092" y="241299"/>
                </a:lnTo>
                <a:lnTo>
                  <a:pt x="586866" y="253999"/>
                </a:lnTo>
                <a:lnTo>
                  <a:pt x="612554" y="253999"/>
                </a:lnTo>
                <a:lnTo>
                  <a:pt x="650493" y="238759"/>
                </a:lnTo>
                <a:lnTo>
                  <a:pt x="624331" y="224789"/>
                </a:lnTo>
                <a:close/>
              </a:path>
              <a:path w="1087754" h="565150">
                <a:moveTo>
                  <a:pt x="717168" y="139699"/>
                </a:moveTo>
                <a:lnTo>
                  <a:pt x="714248" y="151129"/>
                </a:lnTo>
                <a:lnTo>
                  <a:pt x="693038" y="160019"/>
                </a:lnTo>
                <a:lnTo>
                  <a:pt x="716914" y="160019"/>
                </a:lnTo>
                <a:lnTo>
                  <a:pt x="721917" y="185419"/>
                </a:lnTo>
                <a:lnTo>
                  <a:pt x="725503" y="207009"/>
                </a:lnTo>
                <a:lnTo>
                  <a:pt x="727684" y="223519"/>
                </a:lnTo>
                <a:lnTo>
                  <a:pt x="728472" y="237489"/>
                </a:lnTo>
                <a:lnTo>
                  <a:pt x="744474" y="237489"/>
                </a:lnTo>
                <a:lnTo>
                  <a:pt x="743833" y="222249"/>
                </a:lnTo>
                <a:lnTo>
                  <a:pt x="741727" y="203199"/>
                </a:lnTo>
                <a:lnTo>
                  <a:pt x="738169" y="180339"/>
                </a:lnTo>
                <a:lnTo>
                  <a:pt x="733170" y="154939"/>
                </a:lnTo>
                <a:lnTo>
                  <a:pt x="737615" y="146049"/>
                </a:lnTo>
                <a:lnTo>
                  <a:pt x="717168" y="139699"/>
                </a:lnTo>
                <a:close/>
              </a:path>
              <a:path w="1087754" h="565150">
                <a:moveTo>
                  <a:pt x="871092" y="212089"/>
                </a:moveTo>
                <a:lnTo>
                  <a:pt x="863853" y="228599"/>
                </a:lnTo>
                <a:lnTo>
                  <a:pt x="840866" y="237489"/>
                </a:lnTo>
                <a:lnTo>
                  <a:pt x="865589" y="237489"/>
                </a:lnTo>
                <a:lnTo>
                  <a:pt x="897254" y="224789"/>
                </a:lnTo>
                <a:lnTo>
                  <a:pt x="871092" y="212089"/>
                </a:lnTo>
                <a:close/>
              </a:path>
              <a:path w="1087754" h="565150">
                <a:moveTo>
                  <a:pt x="586993" y="157479"/>
                </a:moveTo>
                <a:lnTo>
                  <a:pt x="554608" y="186689"/>
                </a:lnTo>
                <a:lnTo>
                  <a:pt x="542133" y="194309"/>
                </a:lnTo>
                <a:lnTo>
                  <a:pt x="528526" y="203199"/>
                </a:lnTo>
                <a:lnTo>
                  <a:pt x="513800" y="212089"/>
                </a:lnTo>
                <a:lnTo>
                  <a:pt x="497966" y="220979"/>
                </a:lnTo>
                <a:lnTo>
                  <a:pt x="500761" y="227329"/>
                </a:lnTo>
                <a:lnTo>
                  <a:pt x="513931" y="222249"/>
                </a:lnTo>
                <a:lnTo>
                  <a:pt x="526208" y="215899"/>
                </a:lnTo>
                <a:lnTo>
                  <a:pt x="537604" y="210819"/>
                </a:lnTo>
                <a:lnTo>
                  <a:pt x="548131" y="204469"/>
                </a:lnTo>
                <a:lnTo>
                  <a:pt x="566834" y="204469"/>
                </a:lnTo>
                <a:lnTo>
                  <a:pt x="563752" y="196849"/>
                </a:lnTo>
                <a:lnTo>
                  <a:pt x="579016" y="187959"/>
                </a:lnTo>
                <a:lnTo>
                  <a:pt x="591851" y="180339"/>
                </a:lnTo>
                <a:lnTo>
                  <a:pt x="602257" y="175259"/>
                </a:lnTo>
                <a:lnTo>
                  <a:pt x="610235" y="171449"/>
                </a:lnTo>
                <a:lnTo>
                  <a:pt x="586993" y="157479"/>
                </a:lnTo>
                <a:close/>
              </a:path>
              <a:path w="1087754" h="565150">
                <a:moveTo>
                  <a:pt x="755650" y="76199"/>
                </a:moveTo>
                <a:lnTo>
                  <a:pt x="759152" y="83819"/>
                </a:lnTo>
                <a:lnTo>
                  <a:pt x="762238" y="90169"/>
                </a:lnTo>
                <a:lnTo>
                  <a:pt x="764919" y="96519"/>
                </a:lnTo>
                <a:lnTo>
                  <a:pt x="767206" y="102869"/>
                </a:lnTo>
                <a:lnTo>
                  <a:pt x="779906" y="133349"/>
                </a:lnTo>
                <a:lnTo>
                  <a:pt x="755650" y="143509"/>
                </a:lnTo>
                <a:lnTo>
                  <a:pt x="783589" y="143509"/>
                </a:lnTo>
                <a:lnTo>
                  <a:pt x="800353" y="184149"/>
                </a:lnTo>
                <a:lnTo>
                  <a:pt x="759840" y="200659"/>
                </a:lnTo>
                <a:lnTo>
                  <a:pt x="773429" y="208279"/>
                </a:lnTo>
                <a:lnTo>
                  <a:pt x="779526" y="204469"/>
                </a:lnTo>
                <a:lnTo>
                  <a:pt x="785876" y="200659"/>
                </a:lnTo>
                <a:lnTo>
                  <a:pt x="804037" y="193039"/>
                </a:lnTo>
                <a:lnTo>
                  <a:pt x="822864" y="193039"/>
                </a:lnTo>
                <a:lnTo>
                  <a:pt x="820292" y="186689"/>
                </a:lnTo>
                <a:lnTo>
                  <a:pt x="842200" y="177799"/>
                </a:lnTo>
                <a:lnTo>
                  <a:pt x="816737" y="177799"/>
                </a:lnTo>
                <a:lnTo>
                  <a:pt x="799845" y="135889"/>
                </a:lnTo>
                <a:lnTo>
                  <a:pt x="822189" y="126999"/>
                </a:lnTo>
                <a:lnTo>
                  <a:pt x="796289" y="126999"/>
                </a:lnTo>
                <a:lnTo>
                  <a:pt x="780161" y="87629"/>
                </a:lnTo>
                <a:lnTo>
                  <a:pt x="785494" y="77469"/>
                </a:lnTo>
                <a:lnTo>
                  <a:pt x="755650" y="76199"/>
                </a:lnTo>
                <a:close/>
              </a:path>
              <a:path w="1087754" h="565150">
                <a:moveTo>
                  <a:pt x="975595" y="143509"/>
                </a:moveTo>
                <a:lnTo>
                  <a:pt x="956437" y="143509"/>
                </a:lnTo>
                <a:lnTo>
                  <a:pt x="965707" y="166369"/>
                </a:lnTo>
                <a:lnTo>
                  <a:pt x="968019" y="171449"/>
                </a:lnTo>
                <a:lnTo>
                  <a:pt x="971343" y="180339"/>
                </a:lnTo>
                <a:lnTo>
                  <a:pt x="981075" y="207009"/>
                </a:lnTo>
                <a:lnTo>
                  <a:pt x="995933" y="194309"/>
                </a:lnTo>
                <a:lnTo>
                  <a:pt x="992124" y="184149"/>
                </a:lnTo>
                <a:lnTo>
                  <a:pt x="1014349" y="175259"/>
                </a:lnTo>
                <a:lnTo>
                  <a:pt x="988567" y="175259"/>
                </a:lnTo>
                <a:lnTo>
                  <a:pt x="975595" y="143509"/>
                </a:lnTo>
                <a:close/>
              </a:path>
              <a:path w="1087754" h="565150">
                <a:moveTo>
                  <a:pt x="732536" y="114299"/>
                </a:moveTo>
                <a:lnTo>
                  <a:pt x="741933" y="153669"/>
                </a:lnTo>
                <a:lnTo>
                  <a:pt x="745291" y="191769"/>
                </a:lnTo>
                <a:lnTo>
                  <a:pt x="745363" y="204469"/>
                </a:lnTo>
                <a:lnTo>
                  <a:pt x="752093" y="205739"/>
                </a:lnTo>
                <a:lnTo>
                  <a:pt x="755165" y="193039"/>
                </a:lnTo>
                <a:lnTo>
                  <a:pt x="757142" y="180339"/>
                </a:lnTo>
                <a:lnTo>
                  <a:pt x="757935" y="168909"/>
                </a:lnTo>
                <a:lnTo>
                  <a:pt x="757808" y="153669"/>
                </a:lnTo>
                <a:lnTo>
                  <a:pt x="783589" y="143509"/>
                </a:lnTo>
                <a:lnTo>
                  <a:pt x="755650" y="143509"/>
                </a:lnTo>
                <a:lnTo>
                  <a:pt x="755523" y="137159"/>
                </a:lnTo>
                <a:lnTo>
                  <a:pt x="755319" y="132079"/>
                </a:lnTo>
                <a:lnTo>
                  <a:pt x="755192" y="129539"/>
                </a:lnTo>
                <a:lnTo>
                  <a:pt x="754888" y="124459"/>
                </a:lnTo>
                <a:lnTo>
                  <a:pt x="758698" y="115569"/>
                </a:lnTo>
                <a:lnTo>
                  <a:pt x="732536" y="114299"/>
                </a:lnTo>
                <a:close/>
              </a:path>
              <a:path w="1087754" h="565150">
                <a:moveTo>
                  <a:pt x="1020671" y="22859"/>
                </a:moveTo>
                <a:lnTo>
                  <a:pt x="1002918" y="22859"/>
                </a:lnTo>
                <a:lnTo>
                  <a:pt x="999374" y="34289"/>
                </a:lnTo>
                <a:lnTo>
                  <a:pt x="995044" y="46989"/>
                </a:lnTo>
                <a:lnTo>
                  <a:pt x="977909" y="85089"/>
                </a:lnTo>
                <a:lnTo>
                  <a:pt x="946785" y="119379"/>
                </a:lnTo>
                <a:lnTo>
                  <a:pt x="950849" y="129539"/>
                </a:lnTo>
                <a:lnTo>
                  <a:pt x="941445" y="143509"/>
                </a:lnTo>
                <a:lnTo>
                  <a:pt x="930386" y="157479"/>
                </a:lnTo>
                <a:lnTo>
                  <a:pt x="917684" y="170179"/>
                </a:lnTo>
                <a:lnTo>
                  <a:pt x="903351" y="184149"/>
                </a:lnTo>
                <a:lnTo>
                  <a:pt x="907288" y="189229"/>
                </a:lnTo>
                <a:lnTo>
                  <a:pt x="921718" y="179069"/>
                </a:lnTo>
                <a:lnTo>
                  <a:pt x="934720" y="167639"/>
                </a:lnTo>
                <a:lnTo>
                  <a:pt x="946292" y="156209"/>
                </a:lnTo>
                <a:lnTo>
                  <a:pt x="956437" y="143509"/>
                </a:lnTo>
                <a:lnTo>
                  <a:pt x="975595" y="143509"/>
                </a:lnTo>
                <a:lnTo>
                  <a:pt x="970406" y="130809"/>
                </a:lnTo>
                <a:lnTo>
                  <a:pt x="998981" y="119379"/>
                </a:lnTo>
                <a:lnTo>
                  <a:pt x="974089" y="119379"/>
                </a:lnTo>
                <a:lnTo>
                  <a:pt x="1001267" y="77469"/>
                </a:lnTo>
                <a:lnTo>
                  <a:pt x="1017752" y="34289"/>
                </a:lnTo>
                <a:lnTo>
                  <a:pt x="1020671" y="22859"/>
                </a:lnTo>
                <a:close/>
              </a:path>
              <a:path w="1087754" h="565150">
                <a:moveTo>
                  <a:pt x="664717" y="111759"/>
                </a:moveTo>
                <a:lnTo>
                  <a:pt x="667410" y="121919"/>
                </a:lnTo>
                <a:lnTo>
                  <a:pt x="670353" y="134619"/>
                </a:lnTo>
                <a:lnTo>
                  <a:pt x="673558" y="148589"/>
                </a:lnTo>
                <a:lnTo>
                  <a:pt x="677037" y="166369"/>
                </a:lnTo>
                <a:lnTo>
                  <a:pt x="649224" y="177799"/>
                </a:lnTo>
                <a:lnTo>
                  <a:pt x="662813" y="185419"/>
                </a:lnTo>
                <a:lnTo>
                  <a:pt x="668908" y="180339"/>
                </a:lnTo>
                <a:lnTo>
                  <a:pt x="674497" y="177799"/>
                </a:lnTo>
                <a:lnTo>
                  <a:pt x="679576" y="175259"/>
                </a:lnTo>
                <a:lnTo>
                  <a:pt x="696070" y="175259"/>
                </a:lnTo>
                <a:lnTo>
                  <a:pt x="695325" y="168909"/>
                </a:lnTo>
                <a:lnTo>
                  <a:pt x="716914" y="160019"/>
                </a:lnTo>
                <a:lnTo>
                  <a:pt x="693038" y="160019"/>
                </a:lnTo>
                <a:lnTo>
                  <a:pt x="691491" y="148589"/>
                </a:lnTo>
                <a:lnTo>
                  <a:pt x="690086" y="138429"/>
                </a:lnTo>
                <a:lnTo>
                  <a:pt x="688824" y="130809"/>
                </a:lnTo>
                <a:lnTo>
                  <a:pt x="687704" y="123189"/>
                </a:lnTo>
                <a:lnTo>
                  <a:pt x="692657" y="114299"/>
                </a:lnTo>
                <a:lnTo>
                  <a:pt x="664717" y="111759"/>
                </a:lnTo>
                <a:close/>
              </a:path>
              <a:path w="1087754" h="565150">
                <a:moveTo>
                  <a:pt x="839088" y="156209"/>
                </a:moveTo>
                <a:lnTo>
                  <a:pt x="832357" y="171449"/>
                </a:lnTo>
                <a:lnTo>
                  <a:pt x="816737" y="177799"/>
                </a:lnTo>
                <a:lnTo>
                  <a:pt x="842200" y="177799"/>
                </a:lnTo>
                <a:lnTo>
                  <a:pt x="864107" y="168909"/>
                </a:lnTo>
                <a:lnTo>
                  <a:pt x="839088" y="156209"/>
                </a:lnTo>
                <a:close/>
              </a:path>
              <a:path w="1087754" h="565150">
                <a:moveTo>
                  <a:pt x="1065469" y="100329"/>
                </a:moveTo>
                <a:lnTo>
                  <a:pt x="1046606" y="100329"/>
                </a:lnTo>
                <a:lnTo>
                  <a:pt x="1064767" y="144779"/>
                </a:lnTo>
                <a:lnTo>
                  <a:pt x="988567" y="175259"/>
                </a:lnTo>
                <a:lnTo>
                  <a:pt x="1014349" y="175259"/>
                </a:lnTo>
                <a:lnTo>
                  <a:pt x="1068324" y="153669"/>
                </a:lnTo>
                <a:lnTo>
                  <a:pt x="1085151" y="153669"/>
                </a:lnTo>
                <a:lnTo>
                  <a:pt x="1087501" y="151129"/>
                </a:lnTo>
                <a:lnTo>
                  <a:pt x="1084187" y="144779"/>
                </a:lnTo>
                <a:lnTo>
                  <a:pt x="1081087" y="137159"/>
                </a:lnTo>
                <a:lnTo>
                  <a:pt x="1078178" y="130809"/>
                </a:lnTo>
                <a:lnTo>
                  <a:pt x="1075436" y="124459"/>
                </a:lnTo>
                <a:lnTo>
                  <a:pt x="1065469" y="100329"/>
                </a:lnTo>
                <a:close/>
              </a:path>
              <a:path w="1087754" h="565150">
                <a:moveTo>
                  <a:pt x="1085151" y="153669"/>
                </a:moveTo>
                <a:lnTo>
                  <a:pt x="1068324" y="153669"/>
                </a:lnTo>
                <a:lnTo>
                  <a:pt x="1073403" y="166369"/>
                </a:lnTo>
                <a:lnTo>
                  <a:pt x="1085151" y="153669"/>
                </a:lnTo>
                <a:close/>
              </a:path>
              <a:path w="1087754" h="565150">
                <a:moveTo>
                  <a:pt x="822705" y="104139"/>
                </a:moveTo>
                <a:lnTo>
                  <a:pt x="815975" y="119379"/>
                </a:lnTo>
                <a:lnTo>
                  <a:pt x="796289" y="126999"/>
                </a:lnTo>
                <a:lnTo>
                  <a:pt x="822189" y="126999"/>
                </a:lnTo>
                <a:lnTo>
                  <a:pt x="847725" y="116839"/>
                </a:lnTo>
                <a:lnTo>
                  <a:pt x="822705" y="104139"/>
                </a:lnTo>
                <a:close/>
              </a:path>
              <a:path w="1087754" h="565150">
                <a:moveTo>
                  <a:pt x="920623" y="7619"/>
                </a:moveTo>
                <a:lnTo>
                  <a:pt x="917961" y="53339"/>
                </a:lnTo>
                <a:lnTo>
                  <a:pt x="905510" y="96519"/>
                </a:lnTo>
                <a:lnTo>
                  <a:pt x="893699" y="121919"/>
                </a:lnTo>
                <a:lnTo>
                  <a:pt x="900176" y="124459"/>
                </a:lnTo>
                <a:lnTo>
                  <a:pt x="911486" y="107949"/>
                </a:lnTo>
                <a:lnTo>
                  <a:pt x="921226" y="90169"/>
                </a:lnTo>
                <a:lnTo>
                  <a:pt x="925633" y="79889"/>
                </a:lnTo>
                <a:lnTo>
                  <a:pt x="920495" y="77469"/>
                </a:lnTo>
                <a:lnTo>
                  <a:pt x="922527" y="71119"/>
                </a:lnTo>
                <a:lnTo>
                  <a:pt x="929393" y="71119"/>
                </a:lnTo>
                <a:lnTo>
                  <a:pt x="935989" y="49529"/>
                </a:lnTo>
                <a:lnTo>
                  <a:pt x="961486" y="39369"/>
                </a:lnTo>
                <a:lnTo>
                  <a:pt x="935989" y="39369"/>
                </a:lnTo>
                <a:lnTo>
                  <a:pt x="937640" y="36829"/>
                </a:lnTo>
                <a:lnTo>
                  <a:pt x="939291" y="31749"/>
                </a:lnTo>
                <a:lnTo>
                  <a:pt x="940942" y="22859"/>
                </a:lnTo>
                <a:lnTo>
                  <a:pt x="949070" y="15239"/>
                </a:lnTo>
                <a:lnTo>
                  <a:pt x="920623" y="7619"/>
                </a:lnTo>
                <a:close/>
              </a:path>
              <a:path w="1087754" h="565150">
                <a:moveTo>
                  <a:pt x="1046226" y="78739"/>
                </a:moveTo>
                <a:lnTo>
                  <a:pt x="1042288" y="91439"/>
                </a:lnTo>
                <a:lnTo>
                  <a:pt x="974089" y="119379"/>
                </a:lnTo>
                <a:lnTo>
                  <a:pt x="998981" y="119379"/>
                </a:lnTo>
                <a:lnTo>
                  <a:pt x="1046606" y="100329"/>
                </a:lnTo>
                <a:lnTo>
                  <a:pt x="1065469" y="100329"/>
                </a:lnTo>
                <a:lnTo>
                  <a:pt x="1063370" y="95249"/>
                </a:lnTo>
                <a:lnTo>
                  <a:pt x="1067562" y="86359"/>
                </a:lnTo>
                <a:lnTo>
                  <a:pt x="1046226" y="78739"/>
                </a:lnTo>
                <a:close/>
              </a:path>
              <a:path w="1087754" h="565150">
                <a:moveTo>
                  <a:pt x="938152" y="71119"/>
                </a:moveTo>
                <a:lnTo>
                  <a:pt x="929393" y="71119"/>
                </a:lnTo>
                <a:lnTo>
                  <a:pt x="925633" y="79889"/>
                </a:lnTo>
                <a:lnTo>
                  <a:pt x="931283" y="82549"/>
                </a:lnTo>
                <a:lnTo>
                  <a:pt x="940022" y="87629"/>
                </a:lnTo>
                <a:lnTo>
                  <a:pt x="946713" y="91439"/>
                </a:lnTo>
                <a:lnTo>
                  <a:pt x="951356" y="95249"/>
                </a:lnTo>
                <a:lnTo>
                  <a:pt x="954658" y="99059"/>
                </a:lnTo>
                <a:lnTo>
                  <a:pt x="957706" y="101599"/>
                </a:lnTo>
                <a:lnTo>
                  <a:pt x="963167" y="99059"/>
                </a:lnTo>
                <a:lnTo>
                  <a:pt x="964818" y="96519"/>
                </a:lnTo>
                <a:lnTo>
                  <a:pt x="965707" y="91439"/>
                </a:lnTo>
                <a:lnTo>
                  <a:pt x="966724" y="87629"/>
                </a:lnTo>
                <a:lnTo>
                  <a:pt x="965580" y="83819"/>
                </a:lnTo>
                <a:lnTo>
                  <a:pt x="962405" y="78739"/>
                </a:lnTo>
                <a:lnTo>
                  <a:pt x="958068" y="74929"/>
                </a:lnTo>
                <a:lnTo>
                  <a:pt x="949991" y="73659"/>
                </a:lnTo>
                <a:lnTo>
                  <a:pt x="938152" y="71119"/>
                </a:lnTo>
                <a:close/>
              </a:path>
              <a:path w="1087754" h="565150">
                <a:moveTo>
                  <a:pt x="929393" y="71119"/>
                </a:moveTo>
                <a:lnTo>
                  <a:pt x="922527" y="71119"/>
                </a:lnTo>
                <a:lnTo>
                  <a:pt x="920495" y="77469"/>
                </a:lnTo>
                <a:lnTo>
                  <a:pt x="925633" y="79889"/>
                </a:lnTo>
                <a:lnTo>
                  <a:pt x="929393" y="71119"/>
                </a:lnTo>
                <a:close/>
              </a:path>
              <a:path w="1087754" h="565150">
                <a:moveTo>
                  <a:pt x="1004569" y="0"/>
                </a:moveTo>
                <a:lnTo>
                  <a:pt x="1000251" y="12699"/>
                </a:lnTo>
                <a:lnTo>
                  <a:pt x="935989" y="39369"/>
                </a:lnTo>
                <a:lnTo>
                  <a:pt x="961486" y="39369"/>
                </a:lnTo>
                <a:lnTo>
                  <a:pt x="1002918" y="22859"/>
                </a:lnTo>
                <a:lnTo>
                  <a:pt x="1020671" y="22859"/>
                </a:lnTo>
                <a:lnTo>
                  <a:pt x="1021968" y="17779"/>
                </a:lnTo>
                <a:lnTo>
                  <a:pt x="1029207" y="7619"/>
                </a:lnTo>
                <a:lnTo>
                  <a:pt x="10045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027" y="1391792"/>
            <a:ext cx="792353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620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在</a:t>
            </a:r>
            <a:r>
              <a:rPr sz="2800" dirty="0">
                <a:latin typeface="宋体"/>
                <a:cs typeface="宋体"/>
              </a:rPr>
              <a:t>Safehome</a:t>
            </a:r>
            <a:r>
              <a:rPr sz="2800" spc="-5" dirty="0">
                <a:latin typeface="宋体"/>
                <a:cs typeface="宋体"/>
              </a:rPr>
              <a:t>中，如果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房主对象</a:t>
            </a:r>
            <a:r>
              <a:rPr sz="2800" spc="-5" dirty="0">
                <a:latin typeface="宋体"/>
                <a:cs typeface="宋体"/>
              </a:rPr>
              <a:t>，只有“密码”一个 属性，在系统启动和关闭系统时，</a:t>
            </a:r>
            <a:r>
              <a:rPr sz="2800" dirty="0">
                <a:latin typeface="宋体"/>
                <a:cs typeface="宋体"/>
              </a:rPr>
              <a:t>需</a:t>
            </a:r>
            <a:r>
              <a:rPr sz="2800" spc="-5" dirty="0">
                <a:latin typeface="宋体"/>
                <a:cs typeface="宋体"/>
              </a:rPr>
              <a:t>要引</a:t>
            </a:r>
            <a:r>
              <a:rPr sz="2800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房主对 象来执行密码读取操作；这样可以</a:t>
            </a:r>
            <a:r>
              <a:rPr sz="2800" dirty="0">
                <a:latin typeface="宋体"/>
                <a:cs typeface="宋体"/>
              </a:rPr>
              <a:t>考</a:t>
            </a:r>
            <a:r>
              <a:rPr sz="2800" spc="-5" dirty="0">
                <a:latin typeface="宋体"/>
                <a:cs typeface="宋体"/>
              </a:rPr>
              <a:t>虑把</a:t>
            </a:r>
            <a:r>
              <a:rPr sz="2800" spc="20" dirty="0">
                <a:latin typeface="宋体"/>
                <a:cs typeface="宋体"/>
              </a:rPr>
              <a:t>“</a:t>
            </a:r>
            <a:r>
              <a:rPr sz="2800" spc="-5" dirty="0">
                <a:latin typeface="宋体"/>
                <a:cs typeface="宋体"/>
              </a:rPr>
              <a:t>房主密 码”作为一个属性，增加到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系统对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中，</a:t>
            </a:r>
            <a:r>
              <a:rPr sz="2800" dirty="0">
                <a:latin typeface="宋体"/>
                <a:cs typeface="宋体"/>
              </a:rPr>
              <a:t>去掉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房主</a:t>
            </a:r>
            <a:r>
              <a:rPr sz="2800" u="heavy" spc="-219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对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46541" y="3776281"/>
          <a:ext cx="1367155" cy="1562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7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1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房主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59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密码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869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5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282249" y="3776281"/>
          <a:ext cx="2084705" cy="22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5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系统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1926">
                <a:tc>
                  <a:txBody>
                    <a:bodyPr/>
                    <a:lstStyle/>
                    <a:p>
                      <a:pPr marL="90805" marR="7600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b="1" spc="10" dirty="0">
                          <a:latin typeface="宋体"/>
                          <a:cs typeface="宋体"/>
                        </a:rPr>
                        <a:t>运行状态 停止状态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920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584">
                <a:tc>
                  <a:txBody>
                    <a:bodyPr/>
                    <a:lstStyle/>
                    <a:p>
                      <a:pPr marL="90805" marR="14732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400" b="1" spc="10" dirty="0">
                          <a:latin typeface="宋体"/>
                          <a:cs typeface="宋体"/>
                        </a:rPr>
                        <a:t>启动系统（） </a:t>
                      </a:r>
                      <a:r>
                        <a:rPr sz="2400" b="1" spc="5" dirty="0">
                          <a:latin typeface="宋体"/>
                          <a:cs typeface="宋体"/>
                        </a:rPr>
                        <a:t>关闭系统（）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742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419728" y="4525645"/>
            <a:ext cx="864235" cy="76200"/>
          </a:xfrm>
          <a:custGeom>
            <a:avLst/>
            <a:gdLst/>
            <a:ahLst/>
            <a:cxnLst/>
            <a:rect l="l" t="t" r="r" b="b"/>
            <a:pathLst>
              <a:path w="864235" h="76200">
                <a:moveTo>
                  <a:pt x="852715" y="31622"/>
                </a:moveTo>
                <a:lnTo>
                  <a:pt x="800608" y="31622"/>
                </a:lnTo>
                <a:lnTo>
                  <a:pt x="800862" y="44322"/>
                </a:lnTo>
                <a:lnTo>
                  <a:pt x="788120" y="44480"/>
                </a:lnTo>
                <a:lnTo>
                  <a:pt x="788543" y="76199"/>
                </a:lnTo>
                <a:lnTo>
                  <a:pt x="864235" y="37210"/>
                </a:lnTo>
                <a:lnTo>
                  <a:pt x="852715" y="31622"/>
                </a:lnTo>
                <a:close/>
              </a:path>
              <a:path w="864235" h="76200">
                <a:moveTo>
                  <a:pt x="787950" y="31779"/>
                </a:moveTo>
                <a:lnTo>
                  <a:pt x="0" y="41528"/>
                </a:lnTo>
                <a:lnTo>
                  <a:pt x="254" y="54228"/>
                </a:lnTo>
                <a:lnTo>
                  <a:pt x="788120" y="44480"/>
                </a:lnTo>
                <a:lnTo>
                  <a:pt x="787950" y="31779"/>
                </a:lnTo>
                <a:close/>
              </a:path>
              <a:path w="864235" h="76200">
                <a:moveTo>
                  <a:pt x="800608" y="31622"/>
                </a:moveTo>
                <a:lnTo>
                  <a:pt x="787950" y="31779"/>
                </a:lnTo>
                <a:lnTo>
                  <a:pt x="788120" y="44480"/>
                </a:lnTo>
                <a:lnTo>
                  <a:pt x="800862" y="44322"/>
                </a:lnTo>
                <a:lnTo>
                  <a:pt x="800608" y="31622"/>
                </a:lnTo>
                <a:close/>
              </a:path>
              <a:path w="864235" h="76200">
                <a:moveTo>
                  <a:pt x="787526" y="0"/>
                </a:moveTo>
                <a:lnTo>
                  <a:pt x="787950" y="31779"/>
                </a:lnTo>
                <a:lnTo>
                  <a:pt x="800608" y="31622"/>
                </a:lnTo>
                <a:lnTo>
                  <a:pt x="852715" y="31622"/>
                </a:lnTo>
                <a:lnTo>
                  <a:pt x="7875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98850" y="4231640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使用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90869" y="4969445"/>
            <a:ext cx="1774189" cy="843915"/>
          </a:xfrm>
          <a:custGeom>
            <a:avLst/>
            <a:gdLst/>
            <a:ahLst/>
            <a:cxnLst/>
            <a:rect l="l" t="t" r="r" b="b"/>
            <a:pathLst>
              <a:path w="1774190" h="843914">
                <a:moveTo>
                  <a:pt x="0" y="139129"/>
                </a:moveTo>
                <a:lnTo>
                  <a:pt x="699897" y="233363"/>
                </a:lnTo>
                <a:lnTo>
                  <a:pt x="760970" y="206887"/>
                </a:lnTo>
                <a:lnTo>
                  <a:pt x="821888" y="181847"/>
                </a:lnTo>
                <a:lnTo>
                  <a:pt x="882471" y="158276"/>
                </a:lnTo>
                <a:lnTo>
                  <a:pt x="942543" y="136205"/>
                </a:lnTo>
                <a:lnTo>
                  <a:pt x="1001925" y="115666"/>
                </a:lnTo>
                <a:lnTo>
                  <a:pt x="1060440" y="96691"/>
                </a:lnTo>
                <a:lnTo>
                  <a:pt x="1117909" y="79313"/>
                </a:lnTo>
                <a:lnTo>
                  <a:pt x="1174156" y="63562"/>
                </a:lnTo>
                <a:lnTo>
                  <a:pt x="1229001" y="49472"/>
                </a:lnTo>
                <a:lnTo>
                  <a:pt x="1282268" y="37073"/>
                </a:lnTo>
                <a:lnTo>
                  <a:pt x="1333779" y="26398"/>
                </a:lnTo>
                <a:lnTo>
                  <a:pt x="1383355" y="17479"/>
                </a:lnTo>
                <a:lnTo>
                  <a:pt x="1430820" y="10348"/>
                </a:lnTo>
                <a:lnTo>
                  <a:pt x="1475994" y="5036"/>
                </a:lnTo>
                <a:lnTo>
                  <a:pt x="1518701" y="1576"/>
                </a:lnTo>
                <a:lnTo>
                  <a:pt x="1558763" y="0"/>
                </a:lnTo>
                <a:lnTo>
                  <a:pt x="1596001" y="339"/>
                </a:lnTo>
                <a:lnTo>
                  <a:pt x="1661297" y="6891"/>
                </a:lnTo>
                <a:lnTo>
                  <a:pt x="1713166" y="21488"/>
                </a:lnTo>
                <a:lnTo>
                  <a:pt x="1750186" y="44387"/>
                </a:lnTo>
                <a:lnTo>
                  <a:pt x="1771367" y="77997"/>
                </a:lnTo>
                <a:lnTo>
                  <a:pt x="1774136" y="97534"/>
                </a:lnTo>
                <a:lnTo>
                  <a:pt x="1771883" y="118724"/>
                </a:lnTo>
                <a:lnTo>
                  <a:pt x="1752883" y="165559"/>
                </a:lnTo>
                <a:lnTo>
                  <a:pt x="1715516" y="217499"/>
                </a:lnTo>
                <a:lnTo>
                  <a:pt x="1660931" y="273536"/>
                </a:lnTo>
                <a:lnTo>
                  <a:pt x="1627540" y="302777"/>
                </a:lnTo>
                <a:lnTo>
                  <a:pt x="1590276" y="332665"/>
                </a:lnTo>
                <a:lnTo>
                  <a:pt x="1549281" y="363075"/>
                </a:lnTo>
                <a:lnTo>
                  <a:pt x="1504700" y="393881"/>
                </a:lnTo>
                <a:lnTo>
                  <a:pt x="1456676" y="424957"/>
                </a:lnTo>
                <a:lnTo>
                  <a:pt x="1405352" y="456177"/>
                </a:lnTo>
                <a:lnTo>
                  <a:pt x="1350872" y="487416"/>
                </a:lnTo>
                <a:lnTo>
                  <a:pt x="1293380" y="518548"/>
                </a:lnTo>
                <a:lnTo>
                  <a:pt x="1233019" y="549447"/>
                </a:lnTo>
                <a:lnTo>
                  <a:pt x="1169932" y="579988"/>
                </a:lnTo>
                <a:lnTo>
                  <a:pt x="1104264" y="610045"/>
                </a:lnTo>
                <a:lnTo>
                  <a:pt x="1043191" y="636518"/>
                </a:lnTo>
                <a:lnTo>
                  <a:pt x="982273" y="661555"/>
                </a:lnTo>
                <a:lnTo>
                  <a:pt x="921690" y="685124"/>
                </a:lnTo>
                <a:lnTo>
                  <a:pt x="861618" y="707194"/>
                </a:lnTo>
                <a:lnTo>
                  <a:pt x="802236" y="727733"/>
                </a:lnTo>
                <a:lnTo>
                  <a:pt x="743721" y="746707"/>
                </a:lnTo>
                <a:lnTo>
                  <a:pt x="686252" y="764086"/>
                </a:lnTo>
                <a:lnTo>
                  <a:pt x="630005" y="779837"/>
                </a:lnTo>
                <a:lnTo>
                  <a:pt x="575160" y="793929"/>
                </a:lnTo>
                <a:lnTo>
                  <a:pt x="521893" y="806329"/>
                </a:lnTo>
                <a:lnTo>
                  <a:pt x="470382" y="817005"/>
                </a:lnTo>
                <a:lnTo>
                  <a:pt x="420806" y="825926"/>
                </a:lnTo>
                <a:lnTo>
                  <a:pt x="373341" y="833059"/>
                </a:lnTo>
                <a:lnTo>
                  <a:pt x="328167" y="838372"/>
                </a:lnTo>
                <a:lnTo>
                  <a:pt x="285460" y="841834"/>
                </a:lnTo>
                <a:lnTo>
                  <a:pt x="245398" y="843413"/>
                </a:lnTo>
                <a:lnTo>
                  <a:pt x="208160" y="843075"/>
                </a:lnTo>
                <a:lnTo>
                  <a:pt x="142864" y="836526"/>
                </a:lnTo>
                <a:lnTo>
                  <a:pt x="90995" y="821931"/>
                </a:lnTo>
                <a:lnTo>
                  <a:pt x="53975" y="799033"/>
                </a:lnTo>
                <a:lnTo>
                  <a:pt x="31184" y="757792"/>
                </a:lnTo>
                <a:lnTo>
                  <a:pt x="30964" y="733131"/>
                </a:lnTo>
                <a:lnTo>
                  <a:pt x="37961" y="706057"/>
                </a:lnTo>
                <a:lnTo>
                  <a:pt x="72909" y="645506"/>
                </a:lnTo>
                <a:lnTo>
                  <a:pt x="100509" y="612451"/>
                </a:lnTo>
                <a:lnTo>
                  <a:pt x="134628" y="577822"/>
                </a:lnTo>
                <a:lnTo>
                  <a:pt x="175090" y="541830"/>
                </a:lnTo>
                <a:lnTo>
                  <a:pt x="221720" y="504684"/>
                </a:lnTo>
                <a:lnTo>
                  <a:pt x="274344" y="466596"/>
                </a:lnTo>
                <a:lnTo>
                  <a:pt x="332787" y="427774"/>
                </a:lnTo>
                <a:lnTo>
                  <a:pt x="396875" y="388430"/>
                </a:lnTo>
                <a:lnTo>
                  <a:pt x="0" y="13912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72071" y="5152390"/>
            <a:ext cx="854075" cy="499745"/>
          </a:xfrm>
          <a:custGeom>
            <a:avLst/>
            <a:gdLst/>
            <a:ahLst/>
            <a:cxnLst/>
            <a:rect l="l" t="t" r="r" b="b"/>
            <a:pathLst>
              <a:path w="854075" h="499745">
                <a:moveTo>
                  <a:pt x="122502" y="400558"/>
                </a:moveTo>
                <a:lnTo>
                  <a:pt x="102488" y="400558"/>
                </a:lnTo>
                <a:lnTo>
                  <a:pt x="124968" y="456145"/>
                </a:lnTo>
                <a:lnTo>
                  <a:pt x="37337" y="491629"/>
                </a:lnTo>
                <a:lnTo>
                  <a:pt x="51053" y="499427"/>
                </a:lnTo>
                <a:lnTo>
                  <a:pt x="57023" y="495096"/>
                </a:lnTo>
                <a:lnTo>
                  <a:pt x="63500" y="491540"/>
                </a:lnTo>
                <a:lnTo>
                  <a:pt x="167998" y="449211"/>
                </a:lnTo>
                <a:lnTo>
                  <a:pt x="142112" y="449211"/>
                </a:lnTo>
                <a:lnTo>
                  <a:pt x="122502" y="400558"/>
                </a:lnTo>
                <a:close/>
              </a:path>
              <a:path w="854075" h="499745">
                <a:moveTo>
                  <a:pt x="203073" y="408432"/>
                </a:moveTo>
                <a:lnTo>
                  <a:pt x="194309" y="428117"/>
                </a:lnTo>
                <a:lnTo>
                  <a:pt x="142112" y="449211"/>
                </a:lnTo>
                <a:lnTo>
                  <a:pt x="167998" y="449211"/>
                </a:lnTo>
                <a:lnTo>
                  <a:pt x="232663" y="423037"/>
                </a:lnTo>
                <a:lnTo>
                  <a:pt x="203073" y="408432"/>
                </a:lnTo>
                <a:close/>
              </a:path>
              <a:path w="854075" h="499745">
                <a:moveTo>
                  <a:pt x="98977" y="342646"/>
                </a:moveTo>
                <a:lnTo>
                  <a:pt x="79121" y="342646"/>
                </a:lnTo>
                <a:lnTo>
                  <a:pt x="98932" y="391541"/>
                </a:lnTo>
                <a:lnTo>
                  <a:pt x="36322" y="416814"/>
                </a:lnTo>
                <a:lnTo>
                  <a:pt x="50037" y="424688"/>
                </a:lnTo>
                <a:lnTo>
                  <a:pt x="56006" y="420370"/>
                </a:lnTo>
                <a:lnTo>
                  <a:pt x="62483" y="416814"/>
                </a:lnTo>
                <a:lnTo>
                  <a:pt x="102488" y="400558"/>
                </a:lnTo>
                <a:lnTo>
                  <a:pt x="122502" y="400558"/>
                </a:lnTo>
                <a:lnTo>
                  <a:pt x="119379" y="392811"/>
                </a:lnTo>
                <a:lnTo>
                  <a:pt x="141639" y="383794"/>
                </a:lnTo>
                <a:lnTo>
                  <a:pt x="115697" y="383794"/>
                </a:lnTo>
                <a:lnTo>
                  <a:pt x="98977" y="342646"/>
                </a:lnTo>
                <a:close/>
              </a:path>
              <a:path w="854075" h="499745">
                <a:moveTo>
                  <a:pt x="156972" y="352933"/>
                </a:moveTo>
                <a:lnTo>
                  <a:pt x="149225" y="370205"/>
                </a:lnTo>
                <a:lnTo>
                  <a:pt x="115697" y="383794"/>
                </a:lnTo>
                <a:lnTo>
                  <a:pt x="141639" y="383794"/>
                </a:lnTo>
                <a:lnTo>
                  <a:pt x="184276" y="366522"/>
                </a:lnTo>
                <a:lnTo>
                  <a:pt x="156972" y="352933"/>
                </a:lnTo>
                <a:close/>
              </a:path>
              <a:path w="854075" h="499745">
                <a:moveTo>
                  <a:pt x="82922" y="330655"/>
                </a:moveTo>
                <a:lnTo>
                  <a:pt x="0" y="364236"/>
                </a:lnTo>
                <a:lnTo>
                  <a:pt x="13588" y="371983"/>
                </a:lnTo>
                <a:lnTo>
                  <a:pt x="19557" y="367665"/>
                </a:lnTo>
                <a:lnTo>
                  <a:pt x="26034" y="364109"/>
                </a:lnTo>
                <a:lnTo>
                  <a:pt x="79121" y="342646"/>
                </a:lnTo>
                <a:lnTo>
                  <a:pt x="98977" y="342646"/>
                </a:lnTo>
                <a:lnTo>
                  <a:pt x="96138" y="335661"/>
                </a:lnTo>
                <a:lnTo>
                  <a:pt x="107432" y="331089"/>
                </a:lnTo>
                <a:lnTo>
                  <a:pt x="83693" y="331089"/>
                </a:lnTo>
                <a:lnTo>
                  <a:pt x="82922" y="330655"/>
                </a:lnTo>
                <a:close/>
              </a:path>
              <a:path w="854075" h="499745">
                <a:moveTo>
                  <a:pt x="89606" y="327948"/>
                </a:moveTo>
                <a:lnTo>
                  <a:pt x="82922" y="330655"/>
                </a:lnTo>
                <a:lnTo>
                  <a:pt x="83693" y="331089"/>
                </a:lnTo>
                <a:lnTo>
                  <a:pt x="89026" y="328930"/>
                </a:lnTo>
                <a:lnTo>
                  <a:pt x="89606" y="327948"/>
                </a:lnTo>
                <a:close/>
              </a:path>
              <a:path w="854075" h="499745">
                <a:moveTo>
                  <a:pt x="146430" y="289687"/>
                </a:moveTo>
                <a:lnTo>
                  <a:pt x="138302" y="308229"/>
                </a:lnTo>
                <a:lnTo>
                  <a:pt x="89606" y="327948"/>
                </a:lnTo>
                <a:lnTo>
                  <a:pt x="89026" y="328930"/>
                </a:lnTo>
                <a:lnTo>
                  <a:pt x="83693" y="331089"/>
                </a:lnTo>
                <a:lnTo>
                  <a:pt x="107432" y="331089"/>
                </a:lnTo>
                <a:lnTo>
                  <a:pt x="174878" y="303784"/>
                </a:lnTo>
                <a:lnTo>
                  <a:pt x="146430" y="289687"/>
                </a:lnTo>
                <a:close/>
              </a:path>
              <a:path w="854075" h="499745">
                <a:moveTo>
                  <a:pt x="39877" y="292989"/>
                </a:moveTo>
                <a:lnTo>
                  <a:pt x="38988" y="299593"/>
                </a:lnTo>
                <a:lnTo>
                  <a:pt x="51532" y="306117"/>
                </a:lnTo>
                <a:lnTo>
                  <a:pt x="61706" y="312166"/>
                </a:lnTo>
                <a:lnTo>
                  <a:pt x="69474" y="317738"/>
                </a:lnTo>
                <a:lnTo>
                  <a:pt x="74802" y="322834"/>
                </a:lnTo>
                <a:lnTo>
                  <a:pt x="79628" y="328803"/>
                </a:lnTo>
                <a:lnTo>
                  <a:pt x="82922" y="330655"/>
                </a:lnTo>
                <a:lnTo>
                  <a:pt x="89606" y="327948"/>
                </a:lnTo>
                <a:lnTo>
                  <a:pt x="90677" y="326136"/>
                </a:lnTo>
                <a:lnTo>
                  <a:pt x="93218" y="316230"/>
                </a:lnTo>
                <a:lnTo>
                  <a:pt x="93218" y="312039"/>
                </a:lnTo>
                <a:lnTo>
                  <a:pt x="53498" y="294389"/>
                </a:lnTo>
                <a:lnTo>
                  <a:pt x="39877" y="292989"/>
                </a:lnTo>
                <a:close/>
              </a:path>
              <a:path w="854075" h="499745">
                <a:moveTo>
                  <a:pt x="261238" y="200660"/>
                </a:moveTo>
                <a:lnTo>
                  <a:pt x="276225" y="241300"/>
                </a:lnTo>
                <a:lnTo>
                  <a:pt x="287400" y="280670"/>
                </a:lnTo>
                <a:lnTo>
                  <a:pt x="292371" y="321310"/>
                </a:lnTo>
                <a:lnTo>
                  <a:pt x="291901" y="336550"/>
                </a:lnTo>
                <a:lnTo>
                  <a:pt x="277368" y="384810"/>
                </a:lnTo>
                <a:lnTo>
                  <a:pt x="256285" y="420370"/>
                </a:lnTo>
                <a:lnTo>
                  <a:pt x="261493" y="422910"/>
                </a:lnTo>
                <a:lnTo>
                  <a:pt x="287051" y="393700"/>
                </a:lnTo>
                <a:lnTo>
                  <a:pt x="307562" y="349250"/>
                </a:lnTo>
                <a:lnTo>
                  <a:pt x="311753" y="318770"/>
                </a:lnTo>
                <a:lnTo>
                  <a:pt x="311276" y="303530"/>
                </a:lnTo>
                <a:lnTo>
                  <a:pt x="309248" y="288290"/>
                </a:lnTo>
                <a:lnTo>
                  <a:pt x="305815" y="271780"/>
                </a:lnTo>
                <a:lnTo>
                  <a:pt x="300954" y="254000"/>
                </a:lnTo>
                <a:lnTo>
                  <a:pt x="294639" y="236220"/>
                </a:lnTo>
                <a:lnTo>
                  <a:pt x="304551" y="236220"/>
                </a:lnTo>
                <a:lnTo>
                  <a:pt x="302136" y="232410"/>
                </a:lnTo>
                <a:lnTo>
                  <a:pt x="291083" y="213360"/>
                </a:lnTo>
                <a:lnTo>
                  <a:pt x="295782" y="201930"/>
                </a:lnTo>
                <a:lnTo>
                  <a:pt x="261238" y="200660"/>
                </a:lnTo>
                <a:close/>
              </a:path>
              <a:path w="854075" h="499745">
                <a:moveTo>
                  <a:pt x="304551" y="236220"/>
                </a:moveTo>
                <a:lnTo>
                  <a:pt x="294639" y="236220"/>
                </a:lnTo>
                <a:lnTo>
                  <a:pt x="303474" y="254000"/>
                </a:lnTo>
                <a:lnTo>
                  <a:pt x="312451" y="270510"/>
                </a:lnTo>
                <a:lnTo>
                  <a:pt x="321571" y="284480"/>
                </a:lnTo>
                <a:lnTo>
                  <a:pt x="330834" y="295910"/>
                </a:lnTo>
                <a:lnTo>
                  <a:pt x="340431" y="304800"/>
                </a:lnTo>
                <a:lnTo>
                  <a:pt x="350551" y="314960"/>
                </a:lnTo>
                <a:lnTo>
                  <a:pt x="361195" y="322580"/>
                </a:lnTo>
                <a:lnTo>
                  <a:pt x="372363" y="331470"/>
                </a:lnTo>
                <a:lnTo>
                  <a:pt x="384367" y="337820"/>
                </a:lnTo>
                <a:lnTo>
                  <a:pt x="397335" y="344170"/>
                </a:lnTo>
                <a:lnTo>
                  <a:pt x="411279" y="347980"/>
                </a:lnTo>
                <a:lnTo>
                  <a:pt x="426211" y="351790"/>
                </a:lnTo>
                <a:lnTo>
                  <a:pt x="428595" y="345440"/>
                </a:lnTo>
                <a:lnTo>
                  <a:pt x="432704" y="340360"/>
                </a:lnTo>
                <a:lnTo>
                  <a:pt x="438552" y="335280"/>
                </a:lnTo>
                <a:lnTo>
                  <a:pt x="446150" y="330200"/>
                </a:lnTo>
                <a:lnTo>
                  <a:pt x="444034" y="325120"/>
                </a:lnTo>
                <a:lnTo>
                  <a:pt x="429404" y="325120"/>
                </a:lnTo>
                <a:lnTo>
                  <a:pt x="415750" y="323850"/>
                </a:lnTo>
                <a:lnTo>
                  <a:pt x="374592" y="309880"/>
                </a:lnTo>
                <a:lnTo>
                  <a:pt x="336676" y="279400"/>
                </a:lnTo>
                <a:lnTo>
                  <a:pt x="313404" y="250190"/>
                </a:lnTo>
                <a:lnTo>
                  <a:pt x="304551" y="236220"/>
                </a:lnTo>
                <a:close/>
              </a:path>
              <a:path w="854075" h="499745">
                <a:moveTo>
                  <a:pt x="442975" y="322580"/>
                </a:moveTo>
                <a:lnTo>
                  <a:pt x="429404" y="325120"/>
                </a:lnTo>
                <a:lnTo>
                  <a:pt x="444034" y="325120"/>
                </a:lnTo>
                <a:lnTo>
                  <a:pt x="442975" y="322580"/>
                </a:lnTo>
                <a:close/>
              </a:path>
              <a:path w="854075" h="499745">
                <a:moveTo>
                  <a:pt x="475614" y="261620"/>
                </a:moveTo>
                <a:lnTo>
                  <a:pt x="479498" y="270510"/>
                </a:lnTo>
                <a:lnTo>
                  <a:pt x="483727" y="280670"/>
                </a:lnTo>
                <a:lnTo>
                  <a:pt x="488313" y="290830"/>
                </a:lnTo>
                <a:lnTo>
                  <a:pt x="493268" y="303530"/>
                </a:lnTo>
                <a:lnTo>
                  <a:pt x="489584" y="309880"/>
                </a:lnTo>
                <a:lnTo>
                  <a:pt x="507492" y="317500"/>
                </a:lnTo>
                <a:lnTo>
                  <a:pt x="511809" y="308610"/>
                </a:lnTo>
                <a:lnTo>
                  <a:pt x="533590" y="299720"/>
                </a:lnTo>
                <a:lnTo>
                  <a:pt x="509650" y="299720"/>
                </a:lnTo>
                <a:lnTo>
                  <a:pt x="498728" y="271780"/>
                </a:lnTo>
                <a:lnTo>
                  <a:pt x="503554" y="262890"/>
                </a:lnTo>
                <a:lnTo>
                  <a:pt x="475614" y="261620"/>
                </a:lnTo>
                <a:close/>
              </a:path>
              <a:path w="854075" h="499745">
                <a:moveTo>
                  <a:pt x="529682" y="227560"/>
                </a:moveTo>
                <a:lnTo>
                  <a:pt x="527505" y="228429"/>
                </a:lnTo>
                <a:lnTo>
                  <a:pt x="536511" y="250190"/>
                </a:lnTo>
                <a:lnTo>
                  <a:pt x="542801" y="264160"/>
                </a:lnTo>
                <a:lnTo>
                  <a:pt x="550163" y="283210"/>
                </a:lnTo>
                <a:lnTo>
                  <a:pt x="509650" y="299720"/>
                </a:lnTo>
                <a:lnTo>
                  <a:pt x="533590" y="299720"/>
                </a:lnTo>
                <a:lnTo>
                  <a:pt x="589597" y="276860"/>
                </a:lnTo>
                <a:lnTo>
                  <a:pt x="565657" y="276860"/>
                </a:lnTo>
                <a:lnTo>
                  <a:pt x="550799" y="240030"/>
                </a:lnTo>
                <a:lnTo>
                  <a:pt x="556005" y="229870"/>
                </a:lnTo>
                <a:lnTo>
                  <a:pt x="529682" y="227560"/>
                </a:lnTo>
                <a:close/>
              </a:path>
              <a:path w="854075" h="499745">
                <a:moveTo>
                  <a:pt x="630174" y="267970"/>
                </a:moveTo>
                <a:lnTo>
                  <a:pt x="611377" y="267970"/>
                </a:lnTo>
                <a:lnTo>
                  <a:pt x="615442" y="278130"/>
                </a:lnTo>
                <a:lnTo>
                  <a:pt x="630174" y="267970"/>
                </a:lnTo>
                <a:close/>
              </a:path>
              <a:path w="854075" h="499745">
                <a:moveTo>
                  <a:pt x="588899" y="214630"/>
                </a:moveTo>
                <a:lnTo>
                  <a:pt x="592516" y="223520"/>
                </a:lnTo>
                <a:lnTo>
                  <a:pt x="596884" y="233680"/>
                </a:lnTo>
                <a:lnTo>
                  <a:pt x="601989" y="245110"/>
                </a:lnTo>
                <a:lnTo>
                  <a:pt x="607822" y="259080"/>
                </a:lnTo>
                <a:lnTo>
                  <a:pt x="565657" y="276860"/>
                </a:lnTo>
                <a:lnTo>
                  <a:pt x="589597" y="276860"/>
                </a:lnTo>
                <a:lnTo>
                  <a:pt x="611377" y="267970"/>
                </a:lnTo>
                <a:lnTo>
                  <a:pt x="630174" y="267970"/>
                </a:lnTo>
                <a:lnTo>
                  <a:pt x="626219" y="259080"/>
                </a:lnTo>
                <a:lnTo>
                  <a:pt x="621966" y="248920"/>
                </a:lnTo>
                <a:lnTo>
                  <a:pt x="617404" y="238760"/>
                </a:lnTo>
                <a:lnTo>
                  <a:pt x="612521" y="226060"/>
                </a:lnTo>
                <a:lnTo>
                  <a:pt x="616330" y="217170"/>
                </a:lnTo>
                <a:lnTo>
                  <a:pt x="588899" y="214630"/>
                </a:lnTo>
                <a:close/>
              </a:path>
              <a:path w="854075" h="499745">
                <a:moveTo>
                  <a:pt x="470788" y="175260"/>
                </a:moveTo>
                <a:lnTo>
                  <a:pt x="474382" y="182880"/>
                </a:lnTo>
                <a:lnTo>
                  <a:pt x="477916" y="191770"/>
                </a:lnTo>
                <a:lnTo>
                  <a:pt x="481379" y="199390"/>
                </a:lnTo>
                <a:lnTo>
                  <a:pt x="484758" y="207010"/>
                </a:lnTo>
                <a:lnTo>
                  <a:pt x="490981" y="223520"/>
                </a:lnTo>
                <a:lnTo>
                  <a:pt x="479500" y="233680"/>
                </a:lnTo>
                <a:lnTo>
                  <a:pt x="467328" y="245110"/>
                </a:lnTo>
                <a:lnTo>
                  <a:pt x="454441" y="255270"/>
                </a:lnTo>
                <a:lnTo>
                  <a:pt x="440817" y="264160"/>
                </a:lnTo>
                <a:lnTo>
                  <a:pt x="444880" y="270510"/>
                </a:lnTo>
                <a:lnTo>
                  <a:pt x="475154" y="251460"/>
                </a:lnTo>
                <a:lnTo>
                  <a:pt x="487261" y="242570"/>
                </a:lnTo>
                <a:lnTo>
                  <a:pt x="497331" y="233680"/>
                </a:lnTo>
                <a:lnTo>
                  <a:pt x="513714" y="233680"/>
                </a:lnTo>
                <a:lnTo>
                  <a:pt x="517525" y="232410"/>
                </a:lnTo>
                <a:lnTo>
                  <a:pt x="527505" y="228429"/>
                </a:lnTo>
                <a:lnTo>
                  <a:pt x="527050" y="227330"/>
                </a:lnTo>
                <a:lnTo>
                  <a:pt x="530261" y="227330"/>
                </a:lnTo>
                <a:lnTo>
                  <a:pt x="542997" y="222250"/>
                </a:lnTo>
                <a:lnTo>
                  <a:pt x="509904" y="222250"/>
                </a:lnTo>
                <a:lnTo>
                  <a:pt x="509270" y="220980"/>
                </a:lnTo>
                <a:lnTo>
                  <a:pt x="511764" y="219982"/>
                </a:lnTo>
                <a:lnTo>
                  <a:pt x="517193" y="213360"/>
                </a:lnTo>
                <a:lnTo>
                  <a:pt x="519404" y="210820"/>
                </a:lnTo>
                <a:lnTo>
                  <a:pt x="503935" y="210820"/>
                </a:lnTo>
                <a:lnTo>
                  <a:pt x="494283" y="186690"/>
                </a:lnTo>
                <a:lnTo>
                  <a:pt x="499491" y="176530"/>
                </a:lnTo>
                <a:lnTo>
                  <a:pt x="470788" y="175260"/>
                </a:lnTo>
                <a:close/>
              </a:path>
              <a:path w="854075" h="499745">
                <a:moveTo>
                  <a:pt x="463550" y="191770"/>
                </a:moveTo>
                <a:lnTo>
                  <a:pt x="455295" y="193040"/>
                </a:lnTo>
                <a:lnTo>
                  <a:pt x="454888" y="203200"/>
                </a:lnTo>
                <a:lnTo>
                  <a:pt x="453850" y="212090"/>
                </a:lnTo>
                <a:lnTo>
                  <a:pt x="452169" y="219710"/>
                </a:lnTo>
                <a:lnTo>
                  <a:pt x="449833" y="226060"/>
                </a:lnTo>
                <a:lnTo>
                  <a:pt x="447294" y="231140"/>
                </a:lnTo>
                <a:lnTo>
                  <a:pt x="446277" y="233680"/>
                </a:lnTo>
                <a:lnTo>
                  <a:pt x="446912" y="234950"/>
                </a:lnTo>
                <a:lnTo>
                  <a:pt x="447801" y="237490"/>
                </a:lnTo>
                <a:lnTo>
                  <a:pt x="450469" y="238760"/>
                </a:lnTo>
                <a:lnTo>
                  <a:pt x="459104" y="238760"/>
                </a:lnTo>
                <a:lnTo>
                  <a:pt x="462787" y="236220"/>
                </a:lnTo>
                <a:lnTo>
                  <a:pt x="465835" y="233680"/>
                </a:lnTo>
                <a:lnTo>
                  <a:pt x="468756" y="231140"/>
                </a:lnTo>
                <a:lnTo>
                  <a:pt x="470661" y="227330"/>
                </a:lnTo>
                <a:lnTo>
                  <a:pt x="471424" y="223520"/>
                </a:lnTo>
                <a:lnTo>
                  <a:pt x="471372" y="219710"/>
                </a:lnTo>
                <a:lnTo>
                  <a:pt x="470058" y="212090"/>
                </a:lnTo>
                <a:lnTo>
                  <a:pt x="467459" y="203200"/>
                </a:lnTo>
                <a:lnTo>
                  <a:pt x="463550" y="191770"/>
                </a:lnTo>
                <a:close/>
              </a:path>
              <a:path w="854075" h="499745">
                <a:moveTo>
                  <a:pt x="513714" y="233680"/>
                </a:moveTo>
                <a:lnTo>
                  <a:pt x="497331" y="233680"/>
                </a:lnTo>
                <a:lnTo>
                  <a:pt x="499745" y="237490"/>
                </a:lnTo>
                <a:lnTo>
                  <a:pt x="502793" y="238760"/>
                </a:lnTo>
                <a:lnTo>
                  <a:pt x="506349" y="236220"/>
                </a:lnTo>
                <a:lnTo>
                  <a:pt x="513714" y="233680"/>
                </a:lnTo>
                <a:close/>
              </a:path>
              <a:path w="854075" h="499745">
                <a:moveTo>
                  <a:pt x="681155" y="144780"/>
                </a:moveTo>
                <a:lnTo>
                  <a:pt x="664336" y="144780"/>
                </a:lnTo>
                <a:lnTo>
                  <a:pt x="675004" y="171450"/>
                </a:lnTo>
                <a:lnTo>
                  <a:pt x="684339" y="195580"/>
                </a:lnTo>
                <a:lnTo>
                  <a:pt x="692340" y="215900"/>
                </a:lnTo>
                <a:lnTo>
                  <a:pt x="699007" y="233680"/>
                </a:lnTo>
                <a:lnTo>
                  <a:pt x="712216" y="220980"/>
                </a:lnTo>
                <a:lnTo>
                  <a:pt x="703072" y="198120"/>
                </a:lnTo>
                <a:lnTo>
                  <a:pt x="723264" y="190500"/>
                </a:lnTo>
                <a:lnTo>
                  <a:pt x="741184" y="190500"/>
                </a:lnTo>
                <a:lnTo>
                  <a:pt x="740619" y="189230"/>
                </a:lnTo>
                <a:lnTo>
                  <a:pt x="699388" y="189230"/>
                </a:lnTo>
                <a:lnTo>
                  <a:pt x="681155" y="144780"/>
                </a:lnTo>
                <a:close/>
              </a:path>
              <a:path w="854075" h="499745">
                <a:moveTo>
                  <a:pt x="527050" y="227330"/>
                </a:moveTo>
                <a:lnTo>
                  <a:pt x="527505" y="228429"/>
                </a:lnTo>
                <a:lnTo>
                  <a:pt x="529682" y="227560"/>
                </a:lnTo>
                <a:lnTo>
                  <a:pt x="527050" y="227330"/>
                </a:lnTo>
                <a:close/>
              </a:path>
              <a:path w="854075" h="499745">
                <a:moveTo>
                  <a:pt x="530261" y="227330"/>
                </a:moveTo>
                <a:lnTo>
                  <a:pt x="527050" y="227330"/>
                </a:lnTo>
                <a:lnTo>
                  <a:pt x="529682" y="227560"/>
                </a:lnTo>
                <a:lnTo>
                  <a:pt x="530261" y="227330"/>
                </a:lnTo>
                <a:close/>
              </a:path>
              <a:path w="854075" h="499745">
                <a:moveTo>
                  <a:pt x="511764" y="219982"/>
                </a:moveTo>
                <a:lnTo>
                  <a:pt x="509270" y="220980"/>
                </a:lnTo>
                <a:lnTo>
                  <a:pt x="509904" y="222250"/>
                </a:lnTo>
                <a:lnTo>
                  <a:pt x="511764" y="219982"/>
                </a:lnTo>
                <a:close/>
              </a:path>
              <a:path w="854075" h="499745">
                <a:moveTo>
                  <a:pt x="563752" y="168910"/>
                </a:moveTo>
                <a:lnTo>
                  <a:pt x="555625" y="172720"/>
                </a:lnTo>
                <a:lnTo>
                  <a:pt x="559180" y="182880"/>
                </a:lnTo>
                <a:lnTo>
                  <a:pt x="561085" y="189230"/>
                </a:lnTo>
                <a:lnTo>
                  <a:pt x="561594" y="196850"/>
                </a:lnTo>
                <a:lnTo>
                  <a:pt x="560831" y="199390"/>
                </a:lnTo>
                <a:lnTo>
                  <a:pt x="559053" y="200660"/>
                </a:lnTo>
                <a:lnTo>
                  <a:pt x="519556" y="215900"/>
                </a:lnTo>
                <a:lnTo>
                  <a:pt x="512445" y="219710"/>
                </a:lnTo>
                <a:lnTo>
                  <a:pt x="511764" y="219982"/>
                </a:lnTo>
                <a:lnTo>
                  <a:pt x="509904" y="222250"/>
                </a:lnTo>
                <a:lnTo>
                  <a:pt x="542997" y="222250"/>
                </a:lnTo>
                <a:lnTo>
                  <a:pt x="578278" y="204470"/>
                </a:lnTo>
                <a:lnTo>
                  <a:pt x="584073" y="191770"/>
                </a:lnTo>
                <a:lnTo>
                  <a:pt x="578103" y="190500"/>
                </a:lnTo>
                <a:lnTo>
                  <a:pt x="574039" y="189230"/>
                </a:lnTo>
                <a:lnTo>
                  <a:pt x="569722" y="182880"/>
                </a:lnTo>
                <a:lnTo>
                  <a:pt x="567054" y="176530"/>
                </a:lnTo>
                <a:lnTo>
                  <a:pt x="563752" y="168910"/>
                </a:lnTo>
                <a:close/>
              </a:path>
              <a:path w="854075" h="499745">
                <a:moveTo>
                  <a:pt x="542925" y="132080"/>
                </a:moveTo>
                <a:lnTo>
                  <a:pt x="528798" y="168910"/>
                </a:lnTo>
                <a:lnTo>
                  <a:pt x="507789" y="204470"/>
                </a:lnTo>
                <a:lnTo>
                  <a:pt x="503935" y="210820"/>
                </a:lnTo>
                <a:lnTo>
                  <a:pt x="519404" y="210820"/>
                </a:lnTo>
                <a:lnTo>
                  <a:pt x="523827" y="205740"/>
                </a:lnTo>
                <a:lnTo>
                  <a:pt x="529818" y="196850"/>
                </a:lnTo>
                <a:lnTo>
                  <a:pt x="535177" y="189230"/>
                </a:lnTo>
                <a:lnTo>
                  <a:pt x="540301" y="180340"/>
                </a:lnTo>
                <a:lnTo>
                  <a:pt x="545591" y="171450"/>
                </a:lnTo>
                <a:lnTo>
                  <a:pt x="551072" y="161290"/>
                </a:lnTo>
                <a:lnTo>
                  <a:pt x="556768" y="151130"/>
                </a:lnTo>
                <a:lnTo>
                  <a:pt x="565276" y="144780"/>
                </a:lnTo>
                <a:lnTo>
                  <a:pt x="542925" y="132080"/>
                </a:lnTo>
                <a:close/>
              </a:path>
              <a:path w="854075" h="499745">
                <a:moveTo>
                  <a:pt x="741184" y="190500"/>
                </a:moveTo>
                <a:lnTo>
                  <a:pt x="723264" y="190500"/>
                </a:lnTo>
                <a:lnTo>
                  <a:pt x="728852" y="204470"/>
                </a:lnTo>
                <a:lnTo>
                  <a:pt x="742314" y="193040"/>
                </a:lnTo>
                <a:lnTo>
                  <a:pt x="741184" y="190500"/>
                </a:lnTo>
                <a:close/>
              </a:path>
              <a:path w="854075" h="499745">
                <a:moveTo>
                  <a:pt x="430529" y="153670"/>
                </a:moveTo>
                <a:lnTo>
                  <a:pt x="422782" y="156210"/>
                </a:lnTo>
                <a:lnTo>
                  <a:pt x="424378" y="166370"/>
                </a:lnTo>
                <a:lnTo>
                  <a:pt x="424874" y="172720"/>
                </a:lnTo>
                <a:lnTo>
                  <a:pt x="424906" y="175260"/>
                </a:lnTo>
                <a:lnTo>
                  <a:pt x="424568" y="181610"/>
                </a:lnTo>
                <a:lnTo>
                  <a:pt x="423163" y="187960"/>
                </a:lnTo>
                <a:lnTo>
                  <a:pt x="421385" y="193040"/>
                </a:lnTo>
                <a:lnTo>
                  <a:pt x="420750" y="196850"/>
                </a:lnTo>
                <a:lnTo>
                  <a:pt x="422148" y="200660"/>
                </a:lnTo>
                <a:lnTo>
                  <a:pt x="431673" y="200660"/>
                </a:lnTo>
                <a:lnTo>
                  <a:pt x="433577" y="199390"/>
                </a:lnTo>
                <a:lnTo>
                  <a:pt x="435991" y="198120"/>
                </a:lnTo>
                <a:lnTo>
                  <a:pt x="441578" y="193040"/>
                </a:lnTo>
                <a:lnTo>
                  <a:pt x="442849" y="190500"/>
                </a:lnTo>
                <a:lnTo>
                  <a:pt x="442849" y="182880"/>
                </a:lnTo>
                <a:lnTo>
                  <a:pt x="441451" y="177800"/>
                </a:lnTo>
                <a:lnTo>
                  <a:pt x="438784" y="170180"/>
                </a:lnTo>
                <a:lnTo>
                  <a:pt x="461094" y="161290"/>
                </a:lnTo>
                <a:lnTo>
                  <a:pt x="434975" y="161290"/>
                </a:lnTo>
                <a:lnTo>
                  <a:pt x="430529" y="153670"/>
                </a:lnTo>
                <a:close/>
              </a:path>
              <a:path w="854075" h="499745">
                <a:moveTo>
                  <a:pt x="848486" y="179070"/>
                </a:moveTo>
                <a:lnTo>
                  <a:pt x="813679" y="179070"/>
                </a:lnTo>
                <a:lnTo>
                  <a:pt x="823928" y="181610"/>
                </a:lnTo>
                <a:lnTo>
                  <a:pt x="830962" y="185420"/>
                </a:lnTo>
                <a:lnTo>
                  <a:pt x="834771" y="190500"/>
                </a:lnTo>
                <a:lnTo>
                  <a:pt x="843279" y="184150"/>
                </a:lnTo>
                <a:lnTo>
                  <a:pt x="848486" y="179070"/>
                </a:lnTo>
                <a:close/>
              </a:path>
              <a:path w="854075" h="499745">
                <a:moveTo>
                  <a:pt x="711144" y="118110"/>
                </a:moveTo>
                <a:lnTo>
                  <a:pt x="694054" y="118110"/>
                </a:lnTo>
                <a:lnTo>
                  <a:pt x="719581" y="181610"/>
                </a:lnTo>
                <a:lnTo>
                  <a:pt x="699388" y="189230"/>
                </a:lnTo>
                <a:lnTo>
                  <a:pt x="740619" y="189230"/>
                </a:lnTo>
                <a:lnTo>
                  <a:pt x="737794" y="182880"/>
                </a:lnTo>
                <a:lnTo>
                  <a:pt x="730726" y="166370"/>
                </a:lnTo>
                <a:lnTo>
                  <a:pt x="721133" y="142240"/>
                </a:lnTo>
                <a:lnTo>
                  <a:pt x="711144" y="118110"/>
                </a:lnTo>
                <a:close/>
              </a:path>
              <a:path w="854075" h="499745">
                <a:moveTo>
                  <a:pt x="488618" y="150322"/>
                </a:moveTo>
                <a:lnTo>
                  <a:pt x="486096" y="151327"/>
                </a:lnTo>
                <a:lnTo>
                  <a:pt x="484631" y="156210"/>
                </a:lnTo>
                <a:lnTo>
                  <a:pt x="490394" y="160020"/>
                </a:lnTo>
                <a:lnTo>
                  <a:pt x="495490" y="165100"/>
                </a:lnTo>
                <a:lnTo>
                  <a:pt x="499919" y="170180"/>
                </a:lnTo>
                <a:lnTo>
                  <a:pt x="503681" y="175260"/>
                </a:lnTo>
                <a:lnTo>
                  <a:pt x="507873" y="181610"/>
                </a:lnTo>
                <a:lnTo>
                  <a:pt x="511301" y="184150"/>
                </a:lnTo>
                <a:lnTo>
                  <a:pt x="516127" y="181610"/>
                </a:lnTo>
                <a:lnTo>
                  <a:pt x="517778" y="179070"/>
                </a:lnTo>
                <a:lnTo>
                  <a:pt x="520573" y="171450"/>
                </a:lnTo>
                <a:lnTo>
                  <a:pt x="520446" y="167640"/>
                </a:lnTo>
                <a:lnTo>
                  <a:pt x="497968" y="152400"/>
                </a:lnTo>
                <a:lnTo>
                  <a:pt x="488618" y="150322"/>
                </a:lnTo>
                <a:close/>
              </a:path>
              <a:path w="854075" h="499745">
                <a:moveTo>
                  <a:pt x="577550" y="149860"/>
                </a:moveTo>
                <a:lnTo>
                  <a:pt x="565784" y="149860"/>
                </a:lnTo>
                <a:lnTo>
                  <a:pt x="565023" y="156210"/>
                </a:lnTo>
                <a:lnTo>
                  <a:pt x="575522" y="161290"/>
                </a:lnTo>
                <a:lnTo>
                  <a:pt x="584342" y="166370"/>
                </a:lnTo>
                <a:lnTo>
                  <a:pt x="591472" y="172720"/>
                </a:lnTo>
                <a:lnTo>
                  <a:pt x="596900" y="177800"/>
                </a:lnTo>
                <a:lnTo>
                  <a:pt x="600836" y="181610"/>
                </a:lnTo>
                <a:lnTo>
                  <a:pt x="604138" y="184150"/>
                </a:lnTo>
                <a:lnTo>
                  <a:pt x="608964" y="181610"/>
                </a:lnTo>
                <a:lnTo>
                  <a:pt x="610488" y="179070"/>
                </a:lnTo>
                <a:lnTo>
                  <a:pt x="611758" y="175260"/>
                </a:lnTo>
                <a:lnTo>
                  <a:pt x="613028" y="170180"/>
                </a:lnTo>
                <a:lnTo>
                  <a:pt x="612648" y="166370"/>
                </a:lnTo>
                <a:lnTo>
                  <a:pt x="610870" y="162560"/>
                </a:lnTo>
                <a:lnTo>
                  <a:pt x="609092" y="160020"/>
                </a:lnTo>
                <a:lnTo>
                  <a:pt x="605408" y="156210"/>
                </a:lnTo>
                <a:lnTo>
                  <a:pt x="599821" y="154940"/>
                </a:lnTo>
                <a:lnTo>
                  <a:pt x="594556" y="152400"/>
                </a:lnTo>
                <a:lnTo>
                  <a:pt x="587136" y="151130"/>
                </a:lnTo>
                <a:lnTo>
                  <a:pt x="577550" y="149860"/>
                </a:lnTo>
                <a:close/>
              </a:path>
              <a:path w="854075" h="499745">
                <a:moveTo>
                  <a:pt x="666656" y="73660"/>
                </a:moveTo>
                <a:lnTo>
                  <a:pt x="649604" y="73660"/>
                </a:lnTo>
                <a:lnTo>
                  <a:pt x="651367" y="85090"/>
                </a:lnTo>
                <a:lnTo>
                  <a:pt x="652843" y="97790"/>
                </a:lnTo>
                <a:lnTo>
                  <a:pt x="654034" y="110490"/>
                </a:lnTo>
                <a:lnTo>
                  <a:pt x="654938" y="124460"/>
                </a:lnTo>
                <a:lnTo>
                  <a:pt x="655092" y="130810"/>
                </a:lnTo>
                <a:lnTo>
                  <a:pt x="655208" y="138430"/>
                </a:lnTo>
                <a:lnTo>
                  <a:pt x="654827" y="151130"/>
                </a:lnTo>
                <a:lnTo>
                  <a:pt x="653670" y="163830"/>
                </a:lnTo>
                <a:lnTo>
                  <a:pt x="651763" y="176530"/>
                </a:lnTo>
                <a:lnTo>
                  <a:pt x="657351" y="180340"/>
                </a:lnTo>
                <a:lnTo>
                  <a:pt x="661140" y="170180"/>
                </a:lnTo>
                <a:lnTo>
                  <a:pt x="663559" y="161290"/>
                </a:lnTo>
                <a:lnTo>
                  <a:pt x="664620" y="153670"/>
                </a:lnTo>
                <a:lnTo>
                  <a:pt x="664336" y="144780"/>
                </a:lnTo>
                <a:lnTo>
                  <a:pt x="681155" y="144780"/>
                </a:lnTo>
                <a:lnTo>
                  <a:pt x="673861" y="127000"/>
                </a:lnTo>
                <a:lnTo>
                  <a:pt x="694054" y="118110"/>
                </a:lnTo>
                <a:lnTo>
                  <a:pt x="711144" y="118110"/>
                </a:lnTo>
                <a:lnTo>
                  <a:pt x="710618" y="116840"/>
                </a:lnTo>
                <a:lnTo>
                  <a:pt x="669162" y="116840"/>
                </a:lnTo>
                <a:lnTo>
                  <a:pt x="668829" y="106680"/>
                </a:lnTo>
                <a:lnTo>
                  <a:pt x="668210" y="93980"/>
                </a:lnTo>
                <a:lnTo>
                  <a:pt x="667305" y="81280"/>
                </a:lnTo>
                <a:lnTo>
                  <a:pt x="666656" y="73660"/>
                </a:lnTo>
                <a:close/>
              </a:path>
              <a:path w="854075" h="499745">
                <a:moveTo>
                  <a:pt x="837224" y="95250"/>
                </a:moveTo>
                <a:lnTo>
                  <a:pt x="820674" y="95250"/>
                </a:lnTo>
                <a:lnTo>
                  <a:pt x="827670" y="120650"/>
                </a:lnTo>
                <a:lnTo>
                  <a:pt x="832643" y="139700"/>
                </a:lnTo>
                <a:lnTo>
                  <a:pt x="835568" y="152400"/>
                </a:lnTo>
                <a:lnTo>
                  <a:pt x="836422" y="157480"/>
                </a:lnTo>
                <a:lnTo>
                  <a:pt x="836168" y="161290"/>
                </a:lnTo>
                <a:lnTo>
                  <a:pt x="835405" y="162560"/>
                </a:lnTo>
                <a:lnTo>
                  <a:pt x="834262" y="163830"/>
                </a:lnTo>
                <a:lnTo>
                  <a:pt x="831383" y="165100"/>
                </a:lnTo>
                <a:lnTo>
                  <a:pt x="824468" y="166370"/>
                </a:lnTo>
                <a:lnTo>
                  <a:pt x="813528" y="168910"/>
                </a:lnTo>
                <a:lnTo>
                  <a:pt x="798576" y="171450"/>
                </a:lnTo>
                <a:lnTo>
                  <a:pt x="800226" y="180340"/>
                </a:lnTo>
                <a:lnTo>
                  <a:pt x="813679" y="179070"/>
                </a:lnTo>
                <a:lnTo>
                  <a:pt x="848486" y="179070"/>
                </a:lnTo>
                <a:lnTo>
                  <a:pt x="852297" y="171450"/>
                </a:lnTo>
                <a:lnTo>
                  <a:pt x="853312" y="166370"/>
                </a:lnTo>
                <a:lnTo>
                  <a:pt x="853567" y="160020"/>
                </a:lnTo>
                <a:lnTo>
                  <a:pt x="852592" y="152400"/>
                </a:lnTo>
                <a:lnTo>
                  <a:pt x="849296" y="138430"/>
                </a:lnTo>
                <a:lnTo>
                  <a:pt x="843690" y="118110"/>
                </a:lnTo>
                <a:lnTo>
                  <a:pt x="837224" y="95250"/>
                </a:lnTo>
                <a:close/>
              </a:path>
              <a:path w="854075" h="499745">
                <a:moveTo>
                  <a:pt x="803782" y="118110"/>
                </a:moveTo>
                <a:lnTo>
                  <a:pt x="797051" y="133350"/>
                </a:lnTo>
                <a:lnTo>
                  <a:pt x="730123" y="161290"/>
                </a:lnTo>
                <a:lnTo>
                  <a:pt x="743711" y="168910"/>
                </a:lnTo>
                <a:lnTo>
                  <a:pt x="749807" y="163830"/>
                </a:lnTo>
                <a:lnTo>
                  <a:pt x="756284" y="160020"/>
                </a:lnTo>
                <a:lnTo>
                  <a:pt x="763016" y="157480"/>
                </a:lnTo>
                <a:lnTo>
                  <a:pt x="828039" y="132080"/>
                </a:lnTo>
                <a:lnTo>
                  <a:pt x="803782" y="118110"/>
                </a:lnTo>
                <a:close/>
              </a:path>
              <a:path w="854075" h="499745">
                <a:moveTo>
                  <a:pt x="477393" y="111760"/>
                </a:moveTo>
                <a:lnTo>
                  <a:pt x="475614" y="116840"/>
                </a:lnTo>
                <a:lnTo>
                  <a:pt x="482258" y="121920"/>
                </a:lnTo>
                <a:lnTo>
                  <a:pt x="487711" y="127000"/>
                </a:lnTo>
                <a:lnTo>
                  <a:pt x="491974" y="132080"/>
                </a:lnTo>
                <a:lnTo>
                  <a:pt x="495046" y="137160"/>
                </a:lnTo>
                <a:lnTo>
                  <a:pt x="434975" y="161290"/>
                </a:lnTo>
                <a:lnTo>
                  <a:pt x="461094" y="161290"/>
                </a:lnTo>
                <a:lnTo>
                  <a:pt x="486096" y="151327"/>
                </a:lnTo>
                <a:lnTo>
                  <a:pt x="486536" y="149860"/>
                </a:lnTo>
                <a:lnTo>
                  <a:pt x="489778" y="149860"/>
                </a:lnTo>
                <a:lnTo>
                  <a:pt x="531210" y="133350"/>
                </a:lnTo>
                <a:lnTo>
                  <a:pt x="506602" y="133350"/>
                </a:lnTo>
                <a:lnTo>
                  <a:pt x="509270" y="129540"/>
                </a:lnTo>
                <a:lnTo>
                  <a:pt x="509777" y="127000"/>
                </a:lnTo>
                <a:lnTo>
                  <a:pt x="508126" y="123190"/>
                </a:lnTo>
                <a:lnTo>
                  <a:pt x="507492" y="120650"/>
                </a:lnTo>
                <a:lnTo>
                  <a:pt x="505968" y="119380"/>
                </a:lnTo>
                <a:lnTo>
                  <a:pt x="503681" y="116840"/>
                </a:lnTo>
                <a:lnTo>
                  <a:pt x="500753" y="115570"/>
                </a:lnTo>
                <a:lnTo>
                  <a:pt x="495395" y="114300"/>
                </a:lnTo>
                <a:lnTo>
                  <a:pt x="487608" y="113030"/>
                </a:lnTo>
                <a:lnTo>
                  <a:pt x="477393" y="111760"/>
                </a:lnTo>
                <a:close/>
              </a:path>
              <a:path w="854075" h="499745">
                <a:moveTo>
                  <a:pt x="486536" y="149860"/>
                </a:moveTo>
                <a:lnTo>
                  <a:pt x="486096" y="151327"/>
                </a:lnTo>
                <a:lnTo>
                  <a:pt x="488618" y="150322"/>
                </a:lnTo>
                <a:lnTo>
                  <a:pt x="486536" y="149860"/>
                </a:lnTo>
                <a:close/>
              </a:path>
              <a:path w="854075" h="499745">
                <a:moveTo>
                  <a:pt x="489778" y="149860"/>
                </a:moveTo>
                <a:lnTo>
                  <a:pt x="486536" y="149860"/>
                </a:lnTo>
                <a:lnTo>
                  <a:pt x="488618" y="150322"/>
                </a:lnTo>
                <a:lnTo>
                  <a:pt x="489778" y="149860"/>
                </a:lnTo>
                <a:close/>
              </a:path>
              <a:path w="854075" h="499745">
                <a:moveTo>
                  <a:pt x="588194" y="116840"/>
                </a:moveTo>
                <a:lnTo>
                  <a:pt x="572643" y="116840"/>
                </a:lnTo>
                <a:lnTo>
                  <a:pt x="569341" y="138430"/>
                </a:lnTo>
                <a:lnTo>
                  <a:pt x="575945" y="139700"/>
                </a:lnTo>
                <a:lnTo>
                  <a:pt x="581227" y="127000"/>
                </a:lnTo>
                <a:lnTo>
                  <a:pt x="586962" y="118110"/>
                </a:lnTo>
                <a:lnTo>
                  <a:pt x="588194" y="116840"/>
                </a:lnTo>
                <a:close/>
              </a:path>
              <a:path w="854075" h="499745">
                <a:moveTo>
                  <a:pt x="575182" y="93980"/>
                </a:moveTo>
                <a:lnTo>
                  <a:pt x="569341" y="106680"/>
                </a:lnTo>
                <a:lnTo>
                  <a:pt x="506602" y="133350"/>
                </a:lnTo>
                <a:lnTo>
                  <a:pt x="531210" y="133350"/>
                </a:lnTo>
                <a:lnTo>
                  <a:pt x="572643" y="116840"/>
                </a:lnTo>
                <a:lnTo>
                  <a:pt x="588194" y="116840"/>
                </a:lnTo>
                <a:lnTo>
                  <a:pt x="593125" y="111760"/>
                </a:lnTo>
                <a:lnTo>
                  <a:pt x="599694" y="107950"/>
                </a:lnTo>
                <a:lnTo>
                  <a:pt x="575182" y="93980"/>
                </a:lnTo>
                <a:close/>
              </a:path>
              <a:path w="854075" h="499745">
                <a:moveTo>
                  <a:pt x="717550" y="49530"/>
                </a:moveTo>
                <a:lnTo>
                  <a:pt x="722862" y="67310"/>
                </a:lnTo>
                <a:lnTo>
                  <a:pt x="727948" y="83820"/>
                </a:lnTo>
                <a:lnTo>
                  <a:pt x="732819" y="100330"/>
                </a:lnTo>
                <a:lnTo>
                  <a:pt x="737488" y="115570"/>
                </a:lnTo>
                <a:lnTo>
                  <a:pt x="733678" y="123190"/>
                </a:lnTo>
                <a:lnTo>
                  <a:pt x="751204" y="130810"/>
                </a:lnTo>
                <a:lnTo>
                  <a:pt x="755269" y="121920"/>
                </a:lnTo>
                <a:lnTo>
                  <a:pt x="780185" y="111760"/>
                </a:lnTo>
                <a:lnTo>
                  <a:pt x="752982" y="111760"/>
                </a:lnTo>
                <a:lnTo>
                  <a:pt x="738758" y="60960"/>
                </a:lnTo>
                <a:lnTo>
                  <a:pt x="743711" y="52070"/>
                </a:lnTo>
                <a:lnTo>
                  <a:pt x="717550" y="49530"/>
                </a:lnTo>
                <a:close/>
              </a:path>
              <a:path w="854075" h="499745">
                <a:moveTo>
                  <a:pt x="692150" y="99060"/>
                </a:moveTo>
                <a:lnTo>
                  <a:pt x="689736" y="109220"/>
                </a:lnTo>
                <a:lnTo>
                  <a:pt x="670941" y="116840"/>
                </a:lnTo>
                <a:lnTo>
                  <a:pt x="710618" y="116840"/>
                </a:lnTo>
                <a:lnTo>
                  <a:pt x="709041" y="113030"/>
                </a:lnTo>
                <a:lnTo>
                  <a:pt x="712724" y="105410"/>
                </a:lnTo>
                <a:lnTo>
                  <a:pt x="692150" y="99060"/>
                </a:lnTo>
                <a:close/>
              </a:path>
              <a:path w="854075" h="499745">
                <a:moveTo>
                  <a:pt x="787406" y="21590"/>
                </a:moveTo>
                <a:lnTo>
                  <a:pt x="770381" y="21590"/>
                </a:lnTo>
                <a:lnTo>
                  <a:pt x="790448" y="96520"/>
                </a:lnTo>
                <a:lnTo>
                  <a:pt x="752982" y="111760"/>
                </a:lnTo>
                <a:lnTo>
                  <a:pt x="780185" y="111760"/>
                </a:lnTo>
                <a:lnTo>
                  <a:pt x="820674" y="95250"/>
                </a:lnTo>
                <a:lnTo>
                  <a:pt x="837224" y="95250"/>
                </a:lnTo>
                <a:lnTo>
                  <a:pt x="835786" y="90170"/>
                </a:lnTo>
                <a:lnTo>
                  <a:pt x="805814" y="90170"/>
                </a:lnTo>
                <a:lnTo>
                  <a:pt x="787406" y="21590"/>
                </a:lnTo>
                <a:close/>
              </a:path>
              <a:path w="854075" h="499745">
                <a:moveTo>
                  <a:pt x="819784" y="74930"/>
                </a:moveTo>
                <a:lnTo>
                  <a:pt x="816355" y="86360"/>
                </a:lnTo>
                <a:lnTo>
                  <a:pt x="805814" y="90170"/>
                </a:lnTo>
                <a:lnTo>
                  <a:pt x="835786" y="90170"/>
                </a:lnTo>
                <a:lnTo>
                  <a:pt x="840485" y="82550"/>
                </a:lnTo>
                <a:lnTo>
                  <a:pt x="819784" y="74930"/>
                </a:lnTo>
                <a:close/>
              </a:path>
              <a:path w="854075" h="499745">
                <a:moveTo>
                  <a:pt x="681227" y="36830"/>
                </a:moveTo>
                <a:lnTo>
                  <a:pt x="673988" y="53340"/>
                </a:lnTo>
                <a:lnTo>
                  <a:pt x="614299" y="77470"/>
                </a:lnTo>
                <a:lnTo>
                  <a:pt x="627887" y="85090"/>
                </a:lnTo>
                <a:lnTo>
                  <a:pt x="633983" y="81280"/>
                </a:lnTo>
                <a:lnTo>
                  <a:pt x="640333" y="77470"/>
                </a:lnTo>
                <a:lnTo>
                  <a:pt x="647192" y="74930"/>
                </a:lnTo>
                <a:lnTo>
                  <a:pt x="649604" y="73660"/>
                </a:lnTo>
                <a:lnTo>
                  <a:pt x="666656" y="73660"/>
                </a:lnTo>
                <a:lnTo>
                  <a:pt x="666114" y="67310"/>
                </a:lnTo>
                <a:lnTo>
                  <a:pt x="704850" y="50800"/>
                </a:lnTo>
                <a:lnTo>
                  <a:pt x="681227" y="36830"/>
                </a:lnTo>
                <a:close/>
              </a:path>
              <a:path w="854075" h="499745">
                <a:moveTo>
                  <a:pt x="770635" y="0"/>
                </a:moveTo>
                <a:lnTo>
                  <a:pt x="766826" y="12700"/>
                </a:lnTo>
                <a:lnTo>
                  <a:pt x="696086" y="41910"/>
                </a:lnTo>
                <a:lnTo>
                  <a:pt x="709676" y="49530"/>
                </a:lnTo>
                <a:lnTo>
                  <a:pt x="715772" y="44450"/>
                </a:lnTo>
                <a:lnTo>
                  <a:pt x="722122" y="41910"/>
                </a:lnTo>
                <a:lnTo>
                  <a:pt x="728979" y="38100"/>
                </a:lnTo>
                <a:lnTo>
                  <a:pt x="770381" y="21590"/>
                </a:lnTo>
                <a:lnTo>
                  <a:pt x="787406" y="21590"/>
                </a:lnTo>
                <a:lnTo>
                  <a:pt x="786383" y="17780"/>
                </a:lnTo>
                <a:lnTo>
                  <a:pt x="791209" y="7620"/>
                </a:lnTo>
                <a:lnTo>
                  <a:pt x="7706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15208" y="114122"/>
            <a:ext cx="3328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精简对</a:t>
            </a:r>
            <a:r>
              <a:rPr sz="4000" spc="-5" dirty="0"/>
              <a:t>象</a:t>
            </a:r>
            <a:r>
              <a:rPr sz="4000" spc="-10" dirty="0"/>
              <a:t>示例</a:t>
            </a:r>
            <a:r>
              <a:rPr sz="4000" spc="-5" dirty="0">
                <a:latin typeface="Calibri"/>
                <a:cs typeface="Calibri"/>
              </a:rPr>
              <a:t>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217" y="1380185"/>
            <a:ext cx="8197215" cy="1306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格式转换器</a:t>
            </a:r>
            <a:r>
              <a:rPr sz="2800" spc="-10" dirty="0">
                <a:latin typeface="宋体"/>
                <a:cs typeface="宋体"/>
              </a:rPr>
              <a:t>，只有一个“文件格式</a:t>
            </a:r>
            <a:r>
              <a:rPr sz="2800" dirty="0">
                <a:latin typeface="宋体"/>
                <a:cs typeface="宋体"/>
              </a:rPr>
              <a:t>转</a:t>
            </a:r>
            <a:r>
              <a:rPr sz="2800" spc="-10" dirty="0">
                <a:latin typeface="宋体"/>
                <a:cs typeface="宋体"/>
              </a:rPr>
              <a:t>换”</a:t>
            </a:r>
            <a:r>
              <a:rPr sz="2800" dirty="0">
                <a:latin typeface="宋体"/>
                <a:cs typeface="宋体"/>
              </a:rPr>
              <a:t>操</a:t>
            </a:r>
            <a:r>
              <a:rPr sz="2800" spc="-10" dirty="0">
                <a:latin typeface="宋体"/>
                <a:cs typeface="宋体"/>
              </a:rPr>
              <a:t>作，</a:t>
            </a:r>
            <a:r>
              <a:rPr sz="2800" dirty="0">
                <a:latin typeface="宋体"/>
                <a:cs typeface="宋体"/>
              </a:rPr>
              <a:t>没</a:t>
            </a:r>
            <a:r>
              <a:rPr sz="2800" spc="-5" dirty="0">
                <a:latin typeface="宋体"/>
                <a:cs typeface="宋体"/>
              </a:rPr>
              <a:t>有 属性。且该操作只</a:t>
            </a:r>
            <a:r>
              <a:rPr sz="2800" dirty="0">
                <a:latin typeface="宋体"/>
                <a:cs typeface="宋体"/>
              </a:rPr>
              <a:t>有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输出设备对象</a:t>
            </a:r>
            <a:r>
              <a:rPr sz="2800" dirty="0">
                <a:latin typeface="宋体"/>
                <a:cs typeface="宋体"/>
              </a:rPr>
              <a:t>使</a:t>
            </a:r>
            <a:r>
              <a:rPr sz="2800" spc="-5" dirty="0">
                <a:latin typeface="宋体"/>
                <a:cs typeface="宋体"/>
              </a:rPr>
              <a:t>用，</a:t>
            </a:r>
            <a:r>
              <a:rPr sz="2800" dirty="0">
                <a:latin typeface="宋体"/>
                <a:cs typeface="宋体"/>
              </a:rPr>
              <a:t>可</a:t>
            </a:r>
            <a:r>
              <a:rPr sz="2800" spc="-5" dirty="0">
                <a:latin typeface="宋体"/>
                <a:cs typeface="宋体"/>
              </a:rPr>
              <a:t>以考</a:t>
            </a:r>
            <a:r>
              <a:rPr sz="2800" dirty="0">
                <a:latin typeface="宋体"/>
                <a:cs typeface="宋体"/>
              </a:rPr>
              <a:t>虑</a:t>
            </a:r>
            <a:r>
              <a:rPr sz="2800" spc="-5" dirty="0">
                <a:latin typeface="宋体"/>
                <a:cs typeface="宋体"/>
              </a:rPr>
              <a:t>将 该操作放到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输出设备类</a:t>
            </a:r>
            <a:r>
              <a:rPr sz="2800" spc="-5" dirty="0">
                <a:latin typeface="宋体"/>
                <a:cs typeface="宋体"/>
              </a:rPr>
              <a:t>中，取消格</a:t>
            </a:r>
            <a:r>
              <a:rPr sz="2800" dirty="0">
                <a:latin typeface="宋体"/>
                <a:cs typeface="宋体"/>
              </a:rPr>
              <a:t>式</a:t>
            </a:r>
            <a:r>
              <a:rPr sz="2800" spc="-5" dirty="0">
                <a:latin typeface="宋体"/>
                <a:cs typeface="宋体"/>
              </a:rPr>
              <a:t>转换</a:t>
            </a:r>
            <a:r>
              <a:rPr sz="2800" dirty="0">
                <a:latin typeface="宋体"/>
                <a:cs typeface="宋体"/>
              </a:rPr>
              <a:t>器</a:t>
            </a:r>
            <a:r>
              <a:rPr sz="2800" spc="-5" dirty="0">
                <a:latin typeface="宋体"/>
                <a:cs typeface="宋体"/>
              </a:rPr>
              <a:t>类。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0168" y="5275579"/>
            <a:ext cx="7839709" cy="85851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latin typeface="宋体"/>
                <a:cs typeface="宋体"/>
              </a:rPr>
              <a:t>注意：没有属性而有操作的对象类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latin typeface="宋体"/>
                <a:cs typeface="宋体"/>
              </a:rPr>
              <a:t>经常</a:t>
            </a:r>
            <a:r>
              <a:rPr sz="2800" dirty="0">
                <a:latin typeface="宋体"/>
                <a:cs typeface="宋体"/>
              </a:rPr>
              <a:t>需</a:t>
            </a:r>
            <a:r>
              <a:rPr sz="2800" spc="-5" dirty="0">
                <a:latin typeface="宋体"/>
                <a:cs typeface="宋体"/>
              </a:rPr>
              <a:t>要的。 </a:t>
            </a:r>
            <a:r>
              <a:rPr sz="2800" spc="-10" dirty="0">
                <a:latin typeface="宋体"/>
                <a:cs typeface="宋体"/>
              </a:rPr>
              <a:t>例如：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超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74813" y="3081337"/>
          <a:ext cx="2662555" cy="15620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2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spc="-5" dirty="0">
                          <a:latin typeface="宋体"/>
                          <a:cs typeface="宋体"/>
                        </a:rPr>
                        <a:t>格式转换器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8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b="1" dirty="0">
                          <a:latin typeface="宋体"/>
                          <a:cs typeface="宋体"/>
                        </a:rPr>
                        <a:t>文件格式转换（）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705921" y="3081337"/>
          <a:ext cx="2084705" cy="1927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5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b="1" spc="-5" dirty="0">
                          <a:latin typeface="宋体"/>
                          <a:cs typeface="宋体"/>
                        </a:rPr>
                        <a:t>输出设备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843528" y="3857878"/>
            <a:ext cx="866140" cy="76200"/>
          </a:xfrm>
          <a:custGeom>
            <a:avLst/>
            <a:gdLst/>
            <a:ahLst/>
            <a:cxnLst/>
            <a:rect l="l" t="t" r="r" b="b"/>
            <a:pathLst>
              <a:path w="866139" h="76200">
                <a:moveTo>
                  <a:pt x="75692" y="0"/>
                </a:moveTo>
                <a:lnTo>
                  <a:pt x="0" y="38989"/>
                </a:lnTo>
                <a:lnTo>
                  <a:pt x="76708" y="76200"/>
                </a:lnTo>
                <a:lnTo>
                  <a:pt x="76286" y="44577"/>
                </a:lnTo>
                <a:lnTo>
                  <a:pt x="63626" y="44577"/>
                </a:lnTo>
                <a:lnTo>
                  <a:pt x="63373" y="31877"/>
                </a:lnTo>
                <a:lnTo>
                  <a:pt x="76114" y="31719"/>
                </a:lnTo>
                <a:lnTo>
                  <a:pt x="75692" y="0"/>
                </a:lnTo>
                <a:close/>
              </a:path>
              <a:path w="866139" h="76200">
                <a:moveTo>
                  <a:pt x="76114" y="31719"/>
                </a:moveTo>
                <a:lnTo>
                  <a:pt x="63373" y="31877"/>
                </a:lnTo>
                <a:lnTo>
                  <a:pt x="63626" y="44577"/>
                </a:lnTo>
                <a:lnTo>
                  <a:pt x="76284" y="44420"/>
                </a:lnTo>
                <a:lnTo>
                  <a:pt x="76114" y="31719"/>
                </a:lnTo>
                <a:close/>
              </a:path>
              <a:path w="866139" h="76200">
                <a:moveTo>
                  <a:pt x="76284" y="44420"/>
                </a:moveTo>
                <a:lnTo>
                  <a:pt x="63626" y="44577"/>
                </a:lnTo>
                <a:lnTo>
                  <a:pt x="76286" y="44577"/>
                </a:lnTo>
                <a:lnTo>
                  <a:pt x="76284" y="44420"/>
                </a:lnTo>
                <a:close/>
              </a:path>
              <a:path w="866139" h="76200">
                <a:moveTo>
                  <a:pt x="865505" y="21971"/>
                </a:moveTo>
                <a:lnTo>
                  <a:pt x="76114" y="31719"/>
                </a:lnTo>
                <a:lnTo>
                  <a:pt x="76284" y="44420"/>
                </a:lnTo>
                <a:lnTo>
                  <a:pt x="865759" y="34671"/>
                </a:lnTo>
                <a:lnTo>
                  <a:pt x="865505" y="21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22903" y="3339210"/>
            <a:ext cx="485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使用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16562" y="3891425"/>
            <a:ext cx="2916404" cy="1215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35707" y="104648"/>
            <a:ext cx="33286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精简对象示例</a:t>
            </a:r>
            <a:r>
              <a:rPr sz="4000" spc="-5" dirty="0">
                <a:latin typeface="Calibri"/>
                <a:cs typeface="Calibri"/>
              </a:rPr>
              <a:t>3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7826" y="98247"/>
            <a:ext cx="4085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分析筛选对象策略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168" y="1114805"/>
            <a:ext cx="7559675" cy="4725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" indent="-443865" algn="just">
              <a:lnSpc>
                <a:spcPct val="100000"/>
              </a:lnSpc>
              <a:spcBef>
                <a:spcPts val="95"/>
              </a:spcBef>
              <a:buClr>
                <a:srgbClr val="00663B"/>
              </a:buClr>
              <a:buFont typeface="Wingdings"/>
              <a:buChar char=""/>
              <a:tabLst>
                <a:tab pos="456565" algn="l"/>
              </a:tabLst>
            </a:pPr>
            <a:r>
              <a:rPr sz="2800" spc="-5" dirty="0">
                <a:latin typeface="宋体"/>
                <a:cs typeface="宋体"/>
              </a:rPr>
              <a:t>推迟到设计考虑的对象</a:t>
            </a:r>
            <a:endParaRPr sz="2800">
              <a:latin typeface="宋体"/>
              <a:cs typeface="宋体"/>
            </a:endParaRPr>
          </a:p>
          <a:p>
            <a:pPr marL="12700" marR="80010" indent="354965" algn="just">
              <a:lnSpc>
                <a:spcPct val="120000"/>
              </a:lnSpc>
              <a:spcBef>
                <a:spcPts val="1680"/>
              </a:spcBef>
            </a:pPr>
            <a:r>
              <a:rPr sz="2800" spc="-5" dirty="0">
                <a:latin typeface="宋体"/>
                <a:cs typeface="宋体"/>
              </a:rPr>
              <a:t>系统责任要求的某些功能与实现</a:t>
            </a:r>
            <a:r>
              <a:rPr sz="2800" dirty="0">
                <a:latin typeface="宋体"/>
                <a:cs typeface="宋体"/>
              </a:rPr>
              <a:t>环</a:t>
            </a:r>
            <a:r>
              <a:rPr sz="2800" spc="-5" dirty="0">
                <a:latin typeface="宋体"/>
                <a:cs typeface="宋体"/>
              </a:rPr>
              <a:t>境有</a:t>
            </a:r>
            <a:r>
              <a:rPr sz="2800" dirty="0">
                <a:latin typeface="宋体"/>
                <a:cs typeface="宋体"/>
              </a:rPr>
              <a:t>关</a:t>
            </a:r>
            <a:r>
              <a:rPr sz="2800" spc="-5" dirty="0">
                <a:latin typeface="宋体"/>
                <a:cs typeface="宋体"/>
              </a:rPr>
              <a:t>，应 该把这样的功能所涉及的对象，推</a:t>
            </a:r>
            <a:r>
              <a:rPr sz="2800" dirty="0">
                <a:latin typeface="宋体"/>
                <a:cs typeface="宋体"/>
              </a:rPr>
              <a:t>迟</a:t>
            </a:r>
            <a:r>
              <a:rPr sz="2800" spc="-5" dirty="0">
                <a:latin typeface="宋体"/>
                <a:cs typeface="宋体"/>
              </a:rPr>
              <a:t>到设</a:t>
            </a:r>
            <a:r>
              <a:rPr sz="2800" dirty="0">
                <a:latin typeface="宋体"/>
                <a:cs typeface="宋体"/>
              </a:rPr>
              <a:t>计</a:t>
            </a:r>
            <a:r>
              <a:rPr sz="2800" spc="-5" dirty="0">
                <a:latin typeface="宋体"/>
                <a:cs typeface="宋体"/>
              </a:rPr>
              <a:t>阶段 </a:t>
            </a:r>
            <a:r>
              <a:rPr sz="2800" spc="-10" dirty="0">
                <a:latin typeface="宋体"/>
                <a:cs typeface="宋体"/>
              </a:rPr>
              <a:t>去考虑</a:t>
            </a:r>
            <a:r>
              <a:rPr sz="2800" dirty="0">
                <a:latin typeface="宋体"/>
                <a:cs typeface="宋体"/>
              </a:rPr>
              <a:t>，OOA</a:t>
            </a:r>
            <a:r>
              <a:rPr sz="2800" spc="-10" dirty="0">
                <a:latin typeface="宋体"/>
                <a:cs typeface="宋体"/>
              </a:rPr>
              <a:t>模型应独立于具体的实现环境。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宋体"/>
              <a:cs typeface="宋体"/>
            </a:endParaRPr>
          </a:p>
          <a:p>
            <a:pPr marL="85090" marR="5080" algn="just">
              <a:lnSpc>
                <a:spcPct val="120000"/>
              </a:lnSpc>
            </a:pPr>
            <a:r>
              <a:rPr sz="2800" spc="-10" dirty="0">
                <a:latin typeface="宋体"/>
                <a:cs typeface="宋体"/>
              </a:rPr>
              <a:t>例如：在</a:t>
            </a:r>
            <a:r>
              <a:rPr sz="2800" spc="-5" dirty="0">
                <a:latin typeface="Times New Roman"/>
                <a:cs typeface="Times New Roman"/>
              </a:rPr>
              <a:t>Safehome</a:t>
            </a:r>
            <a:r>
              <a:rPr sz="2800" spc="-10" dirty="0">
                <a:latin typeface="宋体"/>
                <a:cs typeface="宋体"/>
              </a:rPr>
              <a:t>中，为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系统控制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窗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口对象</a:t>
            </a:r>
            <a:r>
              <a:rPr sz="2800" spc="-10" dirty="0">
                <a:latin typeface="宋体"/>
                <a:cs typeface="宋体"/>
              </a:rPr>
              <a:t>而设 </a:t>
            </a:r>
            <a:r>
              <a:rPr sz="2800" spc="-5" dirty="0">
                <a:latin typeface="宋体"/>
                <a:cs typeface="宋体"/>
              </a:rPr>
              <a:t>定的具体对象，包</a:t>
            </a:r>
            <a:r>
              <a:rPr sz="2800" dirty="0">
                <a:latin typeface="宋体"/>
                <a:cs typeface="宋体"/>
              </a:rPr>
              <a:t>括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窗口对象</a:t>
            </a:r>
            <a:r>
              <a:rPr sz="2800" spc="-5" dirty="0">
                <a:latin typeface="宋体"/>
                <a:cs typeface="宋体"/>
              </a:rPr>
              <a:t>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对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话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框对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下</a:t>
            </a:r>
            <a:r>
              <a:rPr sz="2800" u="heavy" spc="-283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拉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采单对象</a:t>
            </a:r>
            <a:r>
              <a:rPr sz="2800" spc="-5" dirty="0">
                <a:latin typeface="宋体"/>
                <a:cs typeface="宋体"/>
              </a:rPr>
              <a:t>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按钮对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等等，应该</a:t>
            </a:r>
            <a:r>
              <a:rPr sz="2800" dirty="0">
                <a:latin typeface="宋体"/>
                <a:cs typeface="宋体"/>
              </a:rPr>
              <a:t>到</a:t>
            </a:r>
            <a:r>
              <a:rPr sz="2800" spc="-5" dirty="0">
                <a:latin typeface="宋体"/>
                <a:cs typeface="宋体"/>
              </a:rPr>
              <a:t>设计</a:t>
            </a:r>
            <a:r>
              <a:rPr sz="2800" dirty="0">
                <a:latin typeface="宋体"/>
                <a:cs typeface="宋体"/>
              </a:rPr>
              <a:t>时</a:t>
            </a:r>
            <a:r>
              <a:rPr sz="2800" spc="-5" dirty="0">
                <a:latin typeface="宋体"/>
                <a:cs typeface="宋体"/>
              </a:rPr>
              <a:t>再考</a:t>
            </a:r>
            <a:r>
              <a:rPr sz="2800" spc="-10" dirty="0">
                <a:latin typeface="宋体"/>
                <a:cs typeface="宋体"/>
              </a:rPr>
              <a:t>虑 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123" y="1412747"/>
            <a:ext cx="2133600" cy="32054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34"/>
              </a:spcBef>
            </a:pPr>
            <a:r>
              <a:rPr sz="2400" dirty="0">
                <a:latin typeface="黑体"/>
                <a:cs typeface="黑体"/>
              </a:rPr>
              <a:t>可能的操作：</a:t>
            </a:r>
            <a:endParaRPr sz="2400">
              <a:latin typeface="黑体"/>
              <a:cs typeface="黑体"/>
            </a:endParaRPr>
          </a:p>
          <a:p>
            <a:pPr marL="91440" marR="814705" algn="just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安装过程 </a:t>
            </a:r>
            <a:r>
              <a:rPr sz="2400" spc="-5" dirty="0">
                <a:latin typeface="宋体"/>
                <a:cs typeface="宋体"/>
              </a:rPr>
              <a:t>配置</a:t>
            </a:r>
            <a:r>
              <a:rPr sz="2400" spc="-5" dirty="0">
                <a:solidFill>
                  <a:srgbClr val="C0504D"/>
                </a:solidFill>
                <a:latin typeface="宋体"/>
                <a:cs typeface="宋体"/>
              </a:rPr>
              <a:t>系统 </a:t>
            </a:r>
            <a:r>
              <a:rPr sz="2400" dirty="0">
                <a:latin typeface="宋体"/>
                <a:cs typeface="宋体"/>
              </a:rPr>
              <a:t>系统运行 系统启动 系统关闭 </a:t>
            </a:r>
            <a:r>
              <a:rPr sz="2400" spc="-5" dirty="0">
                <a:latin typeface="宋体"/>
                <a:cs typeface="宋体"/>
              </a:rPr>
              <a:t>提示信息</a:t>
            </a:r>
            <a:endParaRPr sz="24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宋体"/>
                <a:cs typeface="宋体"/>
              </a:rPr>
              <a:t>系统状态显示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7039" y="1267967"/>
            <a:ext cx="1981200" cy="35712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439"/>
              </a:spcBef>
            </a:pPr>
            <a:r>
              <a:rPr sz="2400" dirty="0">
                <a:latin typeface="黑体"/>
                <a:cs typeface="黑体"/>
              </a:rPr>
              <a:t>可能是属性：</a:t>
            </a:r>
            <a:endParaRPr sz="2400">
              <a:latin typeface="黑体"/>
              <a:cs typeface="黑体"/>
            </a:endParaRPr>
          </a:p>
          <a:p>
            <a:pPr marL="92710" marR="357505">
              <a:lnSpc>
                <a:spcPct val="100000"/>
              </a:lnSpc>
              <a:spcBef>
                <a:spcPts val="1435"/>
              </a:spcBef>
            </a:pPr>
            <a:r>
              <a:rPr sz="2400" dirty="0">
                <a:latin typeface="宋体"/>
                <a:cs typeface="宋体"/>
              </a:rPr>
              <a:t>传感器</a:t>
            </a: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编号 </a:t>
            </a:r>
            <a:r>
              <a:rPr sz="2400" dirty="0">
                <a:latin typeface="宋体"/>
                <a:cs typeface="宋体"/>
              </a:rPr>
              <a:t>传感器</a:t>
            </a: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类型 </a:t>
            </a:r>
            <a:r>
              <a:rPr sz="2400" dirty="0">
                <a:latin typeface="宋体"/>
                <a:cs typeface="宋体"/>
              </a:rPr>
              <a:t>位置信息 事件性质 </a:t>
            </a: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主人密码 </a:t>
            </a:r>
            <a:r>
              <a:rPr sz="2400" dirty="0">
                <a:latin typeface="宋体"/>
                <a:cs typeface="宋体"/>
              </a:rPr>
              <a:t>时间延时 电话号码 系统状态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961" y="1448561"/>
            <a:ext cx="2833370" cy="3234055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25"/>
              </a:spcBef>
            </a:pPr>
            <a:r>
              <a:rPr sz="2400" b="1" dirty="0">
                <a:latin typeface="黑体"/>
                <a:cs typeface="黑体"/>
              </a:rPr>
              <a:t>有用的对象：</a:t>
            </a:r>
            <a:endParaRPr sz="2400">
              <a:latin typeface="黑体"/>
              <a:cs typeface="黑体"/>
            </a:endParaRPr>
          </a:p>
          <a:p>
            <a:pPr marL="9144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latin typeface="宋体"/>
                <a:cs typeface="宋体"/>
              </a:rPr>
              <a:t>系统</a:t>
            </a:r>
            <a:endParaRPr sz="2400">
              <a:latin typeface="宋体"/>
              <a:cs typeface="宋体"/>
            </a:endParaRPr>
          </a:p>
          <a:p>
            <a:pPr marL="91440" marR="1202055">
              <a:lnSpc>
                <a:spcPct val="100000"/>
              </a:lnSpc>
            </a:pPr>
            <a:r>
              <a:rPr sz="2400" b="1" dirty="0">
                <a:solidFill>
                  <a:srgbClr val="C0504D"/>
                </a:solidFill>
                <a:latin typeface="宋体"/>
                <a:cs typeface="宋体"/>
              </a:rPr>
              <a:t>控制窗口 键盘功能键 </a:t>
            </a:r>
            <a:r>
              <a:rPr sz="2400" b="1" spc="-5" dirty="0">
                <a:latin typeface="宋体"/>
                <a:cs typeface="宋体"/>
              </a:rPr>
              <a:t>传感器</a:t>
            </a:r>
            <a:endParaRPr sz="2400">
              <a:latin typeface="宋体"/>
              <a:cs typeface="宋体"/>
            </a:endParaRPr>
          </a:p>
          <a:p>
            <a:pPr marL="91440" marR="1202055">
              <a:lnSpc>
                <a:spcPct val="100000"/>
              </a:lnSpc>
            </a:pPr>
            <a:r>
              <a:rPr sz="2400" b="1" dirty="0">
                <a:latin typeface="宋体"/>
                <a:cs typeface="宋体"/>
              </a:rPr>
              <a:t>传感器事件 </a:t>
            </a:r>
            <a:r>
              <a:rPr sz="2400" b="1" dirty="0">
                <a:solidFill>
                  <a:srgbClr val="C0504D"/>
                </a:solidFill>
                <a:latin typeface="宋体"/>
                <a:cs typeface="宋体"/>
              </a:rPr>
              <a:t>警报器</a:t>
            </a:r>
            <a:endParaRPr sz="24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</a:pPr>
            <a:r>
              <a:rPr sz="2400" b="1" dirty="0">
                <a:latin typeface="宋体"/>
                <a:cs typeface="宋体"/>
              </a:rPr>
              <a:t>电话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4276" y="5013959"/>
            <a:ext cx="2057400" cy="10134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34"/>
              </a:spcBef>
            </a:pPr>
            <a:r>
              <a:rPr sz="2400" dirty="0">
                <a:solidFill>
                  <a:srgbClr val="C0504D"/>
                </a:solidFill>
                <a:latin typeface="黑体"/>
                <a:cs typeface="黑体"/>
              </a:rPr>
              <a:t>精简的类：</a:t>
            </a:r>
            <a:endParaRPr sz="2400">
              <a:latin typeface="黑体"/>
              <a:cs typeface="黑体"/>
            </a:endParaRPr>
          </a:p>
          <a:p>
            <a:pPr marL="9080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C0504D"/>
                </a:solidFill>
                <a:latin typeface="宋体"/>
                <a:cs typeface="宋体"/>
              </a:rPr>
              <a:t>房主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6441" y="132334"/>
            <a:ext cx="67062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Calibri"/>
                <a:cs typeface="Calibri"/>
              </a:rPr>
              <a:t>SafeHome</a:t>
            </a:r>
            <a:r>
              <a:rPr sz="4000" spc="-5" dirty="0"/>
              <a:t>问题经筛选后的对象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5400" y="1143000"/>
            <a:ext cx="0" cy="5334000"/>
          </a:xfrm>
          <a:custGeom>
            <a:avLst/>
            <a:gdLst/>
            <a:ahLst/>
            <a:cxnLst/>
            <a:rect l="l" t="t" r="r" b="b"/>
            <a:pathLst>
              <a:path h="5334000">
                <a:moveTo>
                  <a:pt x="0" y="0"/>
                </a:moveTo>
                <a:lnTo>
                  <a:pt x="0" y="5334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0597" y="100406"/>
            <a:ext cx="3956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alibri"/>
                <a:cs typeface="Calibri"/>
              </a:rPr>
              <a:t>1.3.</a:t>
            </a:r>
            <a:r>
              <a:rPr sz="4000" spc="-65" dirty="0">
                <a:latin typeface="Calibri"/>
                <a:cs typeface="Calibri"/>
              </a:rPr>
              <a:t> </a:t>
            </a:r>
            <a:r>
              <a:rPr sz="4000" spc="-10" dirty="0"/>
              <a:t>从对象抽象类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663643"/>
            <a:ext cx="8197215" cy="2903855"/>
          </a:xfrm>
          <a:prstGeom prst="rect">
            <a:avLst/>
          </a:prstGeom>
        </p:spPr>
        <p:txBody>
          <a:bodyPr vert="horz" wrap="square" lIns="0" tIns="281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sz="3200" spc="-5" dirty="0">
                <a:solidFill>
                  <a:srgbClr val="00663B"/>
                </a:solidFill>
                <a:latin typeface="Wingdings"/>
                <a:cs typeface="Wingdings"/>
              </a:rPr>
              <a:t>◼</a:t>
            </a:r>
            <a:r>
              <a:rPr sz="3200" dirty="0">
                <a:latin typeface="宋体"/>
                <a:cs typeface="宋体"/>
              </a:rPr>
              <a:t>从对象抽象类</a:t>
            </a:r>
          </a:p>
          <a:p>
            <a:pPr marL="12700" marR="5080" algn="just">
              <a:lnSpc>
                <a:spcPct val="97700"/>
              </a:lnSpc>
              <a:spcBef>
                <a:spcPts val="1920"/>
              </a:spcBef>
            </a:pPr>
            <a:r>
              <a:rPr sz="2800" spc="-5" dirty="0">
                <a:latin typeface="宋体"/>
                <a:cs typeface="宋体"/>
              </a:rPr>
              <a:t>依据对象和类的定义，使用概括来</a:t>
            </a:r>
            <a:r>
              <a:rPr sz="2800" dirty="0">
                <a:latin typeface="宋体"/>
                <a:cs typeface="宋体"/>
              </a:rPr>
              <a:t>寻</a:t>
            </a:r>
            <a:r>
              <a:rPr sz="2800" spc="5" dirty="0">
                <a:latin typeface="宋体"/>
                <a:cs typeface="宋体"/>
              </a:rPr>
              <a:t>找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两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个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或多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个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具 有相同属性和操作的对象</a:t>
            </a:r>
            <a:r>
              <a:rPr sz="2800" spc="-5" dirty="0">
                <a:latin typeface="宋体"/>
                <a:cs typeface="宋体"/>
              </a:rPr>
              <a:t>，概括这</a:t>
            </a:r>
            <a:r>
              <a:rPr sz="2800" dirty="0">
                <a:latin typeface="宋体"/>
                <a:cs typeface="宋体"/>
              </a:rPr>
              <a:t>些</a:t>
            </a:r>
            <a:r>
              <a:rPr sz="2800" spc="-5" dirty="0">
                <a:latin typeface="宋体"/>
                <a:cs typeface="宋体"/>
              </a:rPr>
              <a:t>共同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方面</a:t>
            </a:r>
            <a:r>
              <a:rPr sz="2800" dirty="0">
                <a:latin typeface="宋体"/>
                <a:cs typeface="宋体"/>
              </a:rPr>
              <a:t>以</a:t>
            </a:r>
            <a:r>
              <a:rPr sz="2800" spc="-5" dirty="0">
                <a:latin typeface="宋体"/>
                <a:cs typeface="宋体"/>
              </a:rPr>
              <a:t>形 成</a:t>
            </a:r>
            <a:r>
              <a:rPr sz="2800" b="1" spc="-5" dirty="0">
                <a:solidFill>
                  <a:srgbClr val="00A15F"/>
                </a:solidFill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55575">
              <a:lnSpc>
                <a:spcPct val="100000"/>
              </a:lnSpc>
              <a:spcBef>
                <a:spcPts val="1580"/>
              </a:spcBef>
            </a:pPr>
            <a:r>
              <a:rPr sz="2800" dirty="0">
                <a:latin typeface="宋体"/>
                <a:cs typeface="宋体"/>
              </a:rPr>
              <a:t>SafeHome</a:t>
            </a:r>
            <a:r>
              <a:rPr sz="2800" spc="-5" dirty="0">
                <a:latin typeface="宋体"/>
                <a:cs typeface="宋体"/>
              </a:rPr>
              <a:t>问题初步确定的对象类：</a:t>
            </a:r>
            <a:endParaRPr sz="2800" dirty="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6361" y="3777805"/>
          <a:ext cx="1368425" cy="1014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pPr marL="394970">
                        <a:lnSpc>
                          <a:spcPts val="2525"/>
                        </a:lnSpc>
                        <a:spcBef>
                          <a:spcPts val="38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系统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91009" y="5079301"/>
          <a:ext cx="1835150" cy="1014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marL="90805">
                        <a:lnSpc>
                          <a:spcPts val="2530"/>
                        </a:lnSpc>
                        <a:spcBef>
                          <a:spcPts val="384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传感器事件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88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693217" y="3777805"/>
          <a:ext cx="1618615" cy="1014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pPr marL="394970">
                        <a:lnSpc>
                          <a:spcPts val="2525"/>
                        </a:lnSpc>
                        <a:spcBef>
                          <a:spcPts val="38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传感器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34577" y="3751897"/>
          <a:ext cx="1801495" cy="10134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1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241">
                <a:tc>
                  <a:txBody>
                    <a:bodyPr/>
                    <a:lstStyle/>
                    <a:p>
                      <a:pPr marL="243204">
                        <a:lnSpc>
                          <a:spcPts val="2775"/>
                        </a:lnSpc>
                        <a:spcBef>
                          <a:spcPts val="370"/>
                        </a:spcBef>
                      </a:pPr>
                      <a:r>
                        <a:rPr sz="2400" spc="-5" dirty="0">
                          <a:latin typeface="宋体"/>
                          <a:cs typeface="宋体"/>
                        </a:rPr>
                        <a:t>显示窗口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54061" y="5079301"/>
          <a:ext cx="1657985" cy="1014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marL="280035">
                        <a:lnSpc>
                          <a:spcPts val="2530"/>
                        </a:lnSpc>
                        <a:spcBef>
                          <a:spcPts val="384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警报器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88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8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629977" y="5079301"/>
          <a:ext cx="1406525" cy="1014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marL="375920">
                        <a:lnSpc>
                          <a:spcPts val="2530"/>
                        </a:lnSpc>
                        <a:spcBef>
                          <a:spcPts val="384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电话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88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8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532185" y="3777805"/>
          <a:ext cx="1835150" cy="10149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762">
                <a:tc>
                  <a:txBody>
                    <a:bodyPr/>
                    <a:lstStyle/>
                    <a:p>
                      <a:pPr marL="90170">
                        <a:lnSpc>
                          <a:spcPts val="2525"/>
                        </a:lnSpc>
                        <a:spcBef>
                          <a:spcPts val="38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控制功能键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9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2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6076" y="187909"/>
            <a:ext cx="4340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对类进行调</a:t>
            </a:r>
            <a:r>
              <a:rPr sz="4000" spc="-5" dirty="0"/>
              <a:t>整</a:t>
            </a:r>
            <a:r>
              <a:rPr sz="4000" spc="-5" dirty="0">
                <a:latin typeface="Calibri"/>
                <a:cs typeface="Calibri"/>
              </a:rPr>
              <a:t>:</a:t>
            </a:r>
            <a:r>
              <a:rPr sz="4000" spc="-35" dirty="0">
                <a:latin typeface="Calibri"/>
                <a:cs typeface="Calibri"/>
              </a:rPr>
              <a:t> </a:t>
            </a:r>
            <a:r>
              <a:rPr sz="4000" spc="-10" dirty="0"/>
              <a:t>划分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016" y="1159586"/>
            <a:ext cx="7559040" cy="195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1.</a:t>
            </a:r>
            <a:r>
              <a:rPr sz="2800" spc="-10" dirty="0">
                <a:latin typeface="宋体"/>
                <a:cs typeface="宋体"/>
              </a:rPr>
              <a:t>如果</a:t>
            </a:r>
            <a:r>
              <a:rPr sz="2800" spc="-10" dirty="0">
                <a:solidFill>
                  <a:srgbClr val="FF0000"/>
                </a:solidFill>
                <a:latin typeface="宋体"/>
                <a:cs typeface="宋体"/>
              </a:rPr>
              <a:t>类的属性或操作不适合该类的全部</a:t>
            </a: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对</a:t>
            </a:r>
            <a:r>
              <a:rPr sz="2800" spc="5" dirty="0">
                <a:solidFill>
                  <a:srgbClr val="FF0000"/>
                </a:solidFill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，  则应考虑重新划分类。</a:t>
            </a:r>
            <a:endParaRPr sz="2800">
              <a:latin typeface="宋体"/>
              <a:cs typeface="宋体"/>
            </a:endParaRPr>
          </a:p>
          <a:p>
            <a:pPr marL="12700" marR="78740">
              <a:lnSpc>
                <a:spcPct val="100000"/>
              </a:lnSpc>
              <a:spcBef>
                <a:spcPts val="1714"/>
              </a:spcBef>
            </a:pPr>
            <a:r>
              <a:rPr sz="2800" spc="-5" dirty="0">
                <a:latin typeface="宋体"/>
                <a:cs typeface="宋体"/>
              </a:rPr>
              <a:t>例如：在</a:t>
            </a:r>
            <a:r>
              <a:rPr sz="2800" spc="-5" dirty="0">
                <a:latin typeface="Times New Roman"/>
                <a:cs typeface="Times New Roman"/>
              </a:rPr>
              <a:t>Safeh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宋体"/>
                <a:cs typeface="宋体"/>
              </a:rPr>
              <a:t>中，如果设置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控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制台</a:t>
            </a:r>
            <a:r>
              <a:rPr sz="2800" spc="-5" dirty="0">
                <a:latin typeface="宋体"/>
                <a:cs typeface="宋体"/>
              </a:rPr>
              <a:t>类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则其 中的属性不适用于窗口和控制键两</a:t>
            </a:r>
            <a:r>
              <a:rPr sz="2800" dirty="0">
                <a:latin typeface="宋体"/>
                <a:cs typeface="宋体"/>
              </a:rPr>
              <a:t>者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638865" y="4145089"/>
          <a:ext cx="1391285" cy="1900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4329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显示窗口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754">
                <a:tc>
                  <a:txBody>
                    <a:bodyPr/>
                    <a:lstStyle/>
                    <a:p>
                      <a:pPr marL="90170" marR="781050" algn="just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尺寸 区域 位置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206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90881" y="4288345"/>
          <a:ext cx="1371600" cy="15956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控制功能键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99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b="1" dirty="0">
                          <a:latin typeface="宋体"/>
                          <a:cs typeface="宋体"/>
                        </a:rPr>
                        <a:t>键标识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ts val="2260"/>
                        </a:lnSpc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功能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3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6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46541" y="3495865"/>
          <a:ext cx="1371600" cy="1290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控制台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707891" y="4507991"/>
            <a:ext cx="719455" cy="455930"/>
          </a:xfrm>
          <a:custGeom>
            <a:avLst/>
            <a:gdLst/>
            <a:ahLst/>
            <a:cxnLst/>
            <a:rect l="l" t="t" r="r" b="b"/>
            <a:pathLst>
              <a:path w="719454" h="455929">
                <a:moveTo>
                  <a:pt x="143891" y="455675"/>
                </a:moveTo>
                <a:lnTo>
                  <a:pt x="0" y="227837"/>
                </a:lnTo>
                <a:lnTo>
                  <a:pt x="143891" y="0"/>
                </a:lnTo>
                <a:lnTo>
                  <a:pt x="143891" y="113918"/>
                </a:lnTo>
                <a:lnTo>
                  <a:pt x="575437" y="113918"/>
                </a:lnTo>
                <a:lnTo>
                  <a:pt x="575437" y="0"/>
                </a:lnTo>
                <a:lnTo>
                  <a:pt x="719328" y="227837"/>
                </a:lnTo>
                <a:lnTo>
                  <a:pt x="575437" y="455675"/>
                </a:lnTo>
                <a:lnTo>
                  <a:pt x="575437" y="341756"/>
                </a:lnTo>
                <a:lnTo>
                  <a:pt x="143891" y="341756"/>
                </a:lnTo>
                <a:lnTo>
                  <a:pt x="143891" y="455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102867"/>
            <a:ext cx="784669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2.</a:t>
            </a:r>
            <a:r>
              <a:rPr sz="2800" spc="-5" dirty="0">
                <a:latin typeface="宋体"/>
                <a:cs typeface="宋体"/>
              </a:rPr>
              <a:t>如果属性及操作都相同，即使不是同类</a:t>
            </a:r>
            <a:r>
              <a:rPr sz="2800" spc="5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应该重 新考虑，应该组织成为一个类。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12700" marR="1143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例如：微波炉和吸尘器，虽然不是</a:t>
            </a:r>
            <a:r>
              <a:rPr sz="2800" dirty="0">
                <a:latin typeface="宋体"/>
                <a:cs typeface="宋体"/>
              </a:rPr>
              <a:t>相</a:t>
            </a:r>
            <a:r>
              <a:rPr sz="2800" spc="-5" dirty="0">
                <a:latin typeface="宋体"/>
                <a:cs typeface="宋体"/>
              </a:rPr>
              <a:t>同的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，但在 商店销售系统中，它们的属性和操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并无</a:t>
            </a:r>
            <a:r>
              <a:rPr sz="2800" dirty="0">
                <a:latin typeface="宋体"/>
                <a:cs typeface="宋体"/>
              </a:rPr>
              <a:t>差</a:t>
            </a:r>
            <a:r>
              <a:rPr sz="2800" spc="-5" dirty="0">
                <a:latin typeface="宋体"/>
                <a:cs typeface="宋体"/>
              </a:rPr>
              <a:t>别。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10805" y="3855529"/>
          <a:ext cx="1393190" cy="1930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853">
                <a:tc>
                  <a:txBody>
                    <a:bodyPr/>
                    <a:lstStyle/>
                    <a:p>
                      <a:pPr marL="206375">
                        <a:lnSpc>
                          <a:spcPts val="2320"/>
                        </a:lnSpc>
                        <a:spcBef>
                          <a:spcPts val="38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吸尘器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230">
                <a:tc>
                  <a:txBody>
                    <a:bodyPr/>
                    <a:lstStyle/>
                    <a:p>
                      <a:pPr marL="90170" marR="781685" algn="just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型号 规格 价格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66809" y="3855529"/>
          <a:ext cx="1393190" cy="1930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5853">
                <a:tc>
                  <a:txBody>
                    <a:bodyPr/>
                    <a:lstStyle/>
                    <a:p>
                      <a:pPr marL="206375">
                        <a:lnSpc>
                          <a:spcPts val="2320"/>
                        </a:lnSpc>
                        <a:spcBef>
                          <a:spcPts val="38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微波炉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230">
                <a:tc>
                  <a:txBody>
                    <a:bodyPr/>
                    <a:lstStyle/>
                    <a:p>
                      <a:pPr marL="90170" marR="781685" algn="just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型号 规格 价格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8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31345" y="3870769"/>
          <a:ext cx="1371600" cy="19293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电器商品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808">
                <a:tc>
                  <a:txBody>
                    <a:bodyPr/>
                    <a:lstStyle/>
                    <a:p>
                      <a:pPr marL="90170" marR="762000" algn="just">
                        <a:lnSpc>
                          <a:spcPct val="101000"/>
                        </a:lnSpc>
                        <a:spcBef>
                          <a:spcPts val="90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型号 </a:t>
                      </a:r>
                      <a:r>
                        <a:rPr sz="2000" b="1" spc="10" dirty="0">
                          <a:latin typeface="宋体"/>
                          <a:cs typeface="宋体"/>
                        </a:rPr>
                        <a:t>规格 价格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500371" y="4076700"/>
            <a:ext cx="719455" cy="455930"/>
          </a:xfrm>
          <a:custGeom>
            <a:avLst/>
            <a:gdLst/>
            <a:ahLst/>
            <a:cxnLst/>
            <a:rect l="l" t="t" r="r" b="b"/>
            <a:pathLst>
              <a:path w="719454" h="455929">
                <a:moveTo>
                  <a:pt x="143890" y="455675"/>
                </a:moveTo>
                <a:lnTo>
                  <a:pt x="0" y="227837"/>
                </a:lnTo>
                <a:lnTo>
                  <a:pt x="143890" y="0"/>
                </a:lnTo>
                <a:lnTo>
                  <a:pt x="143890" y="113918"/>
                </a:lnTo>
                <a:lnTo>
                  <a:pt x="575437" y="113918"/>
                </a:lnTo>
                <a:lnTo>
                  <a:pt x="575437" y="0"/>
                </a:lnTo>
                <a:lnTo>
                  <a:pt x="719327" y="227837"/>
                </a:lnTo>
                <a:lnTo>
                  <a:pt x="575437" y="455675"/>
                </a:lnTo>
                <a:lnTo>
                  <a:pt x="575437" y="341756"/>
                </a:lnTo>
                <a:lnTo>
                  <a:pt x="143890" y="341756"/>
                </a:lnTo>
                <a:lnTo>
                  <a:pt x="143890" y="4556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32710" y="147269"/>
            <a:ext cx="4341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对类进行调</a:t>
            </a:r>
            <a:r>
              <a:rPr sz="4000" spc="-20" dirty="0"/>
              <a:t>整</a:t>
            </a:r>
            <a:r>
              <a:rPr sz="4000" spc="-5" dirty="0">
                <a:latin typeface="Calibri"/>
                <a:cs typeface="Calibri"/>
              </a:rPr>
              <a:t>:</a:t>
            </a:r>
            <a:r>
              <a:rPr sz="4000" spc="-40" dirty="0">
                <a:latin typeface="Calibri"/>
                <a:cs typeface="Calibri"/>
              </a:rPr>
              <a:t> </a:t>
            </a:r>
            <a:r>
              <a:rPr sz="4000" spc="-5" dirty="0"/>
              <a:t>组合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016" y="1026667"/>
            <a:ext cx="749109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3.</a:t>
            </a:r>
            <a:r>
              <a:rPr sz="2800" spc="-5" dirty="0">
                <a:latin typeface="宋体"/>
                <a:cs typeface="宋体"/>
              </a:rPr>
              <a:t>如果属性及操作有很多相同的内容，则</a:t>
            </a:r>
            <a:r>
              <a:rPr sz="2800" spc="5" dirty="0">
                <a:latin typeface="宋体"/>
                <a:cs typeface="宋体"/>
              </a:rPr>
              <a:t>应</a:t>
            </a:r>
            <a:r>
              <a:rPr sz="2800" spc="-5" dirty="0">
                <a:latin typeface="宋体"/>
                <a:cs typeface="宋体"/>
              </a:rPr>
              <a:t>该考 虑使用继承</a:t>
            </a:r>
            <a:r>
              <a:rPr sz="2800" spc="-15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提取超类。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12700" marR="6985" algn="just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例如：在</a:t>
            </a:r>
            <a:r>
              <a:rPr sz="2800" dirty="0">
                <a:latin typeface="宋体"/>
                <a:cs typeface="宋体"/>
              </a:rPr>
              <a:t>Safehome</a:t>
            </a:r>
            <a:r>
              <a:rPr sz="2800" spc="-5" dirty="0">
                <a:latin typeface="宋体"/>
                <a:cs typeface="宋体"/>
              </a:rPr>
              <a:t>中，烟雾传感器、热敏传感器 和触点传感器，其中很多属性和操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是相</a:t>
            </a:r>
            <a:r>
              <a:rPr sz="2800" dirty="0">
                <a:latin typeface="宋体"/>
                <a:cs typeface="宋体"/>
              </a:rPr>
              <a:t>同</a:t>
            </a:r>
            <a:r>
              <a:rPr sz="2800" spc="-5" dirty="0">
                <a:latin typeface="宋体"/>
                <a:cs typeface="宋体"/>
              </a:rPr>
              <a:t>的， 可以用继承关联，提取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传感器</a:t>
            </a:r>
            <a:r>
              <a:rPr sz="2800" spc="-5" dirty="0">
                <a:latin typeface="宋体"/>
                <a:cs typeface="宋体"/>
              </a:rPr>
              <a:t>作为</a:t>
            </a:r>
            <a:r>
              <a:rPr sz="2800" dirty="0">
                <a:latin typeface="宋体"/>
                <a:cs typeface="宋体"/>
              </a:rPr>
              <a:t>超</a:t>
            </a:r>
            <a:r>
              <a:rPr sz="2800" spc="-5" dirty="0">
                <a:latin typeface="宋体"/>
                <a:cs typeface="宋体"/>
              </a:rPr>
              <a:t>类。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4292" y="188213"/>
            <a:ext cx="4340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对类进行调整</a:t>
            </a:r>
            <a:r>
              <a:rPr sz="4000" spc="-5" dirty="0">
                <a:latin typeface="Calibri"/>
                <a:cs typeface="Calibri"/>
              </a:rPr>
              <a:t>: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spc="-5" dirty="0"/>
              <a:t>分层</a:t>
            </a:r>
            <a:endParaRPr sz="40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626929" y="3783901"/>
          <a:ext cx="1371600" cy="8641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43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传感器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140708" y="4642103"/>
            <a:ext cx="215265" cy="287020"/>
          </a:xfrm>
          <a:custGeom>
            <a:avLst/>
            <a:gdLst/>
            <a:ahLst/>
            <a:cxnLst/>
            <a:rect l="l" t="t" r="r" b="b"/>
            <a:pathLst>
              <a:path w="215264" h="287020">
                <a:moveTo>
                  <a:pt x="0" y="286512"/>
                </a:moveTo>
                <a:lnTo>
                  <a:pt x="107441" y="0"/>
                </a:lnTo>
                <a:lnTo>
                  <a:pt x="214883" y="286512"/>
                </a:lnTo>
                <a:lnTo>
                  <a:pt x="0" y="286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05165" y="4924044"/>
          <a:ext cx="5382893" cy="11689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55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0019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94"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烟幕传感器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热敏传感器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触点传感器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9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12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9591" y="1053465"/>
            <a:ext cx="7844790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6385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4.</a:t>
            </a:r>
            <a:r>
              <a:rPr sz="2800" spc="-5" dirty="0">
                <a:latin typeface="宋体"/>
                <a:cs typeface="宋体"/>
              </a:rPr>
              <a:t>如果两个类的属性有重复，并且有附属</a:t>
            </a:r>
            <a:r>
              <a:rPr sz="2800" dirty="0">
                <a:latin typeface="宋体"/>
                <a:cs typeface="宋体"/>
              </a:rPr>
              <a:t>关</a:t>
            </a:r>
            <a:r>
              <a:rPr sz="2800" spc="-5" dirty="0">
                <a:latin typeface="宋体"/>
                <a:cs typeface="宋体"/>
              </a:rPr>
              <a:t>系， 则可以考虑合并为一个主要的类。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宋体"/>
                <a:cs typeface="宋体"/>
              </a:rPr>
              <a:t>例如：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工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作证类</a:t>
            </a:r>
            <a:r>
              <a:rPr sz="2800" spc="10" dirty="0">
                <a:latin typeface="宋体"/>
                <a:cs typeface="宋体"/>
              </a:rPr>
              <a:t>和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职员类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如果在</a:t>
            </a:r>
            <a:r>
              <a:rPr sz="2800" dirty="0">
                <a:latin typeface="宋体"/>
                <a:cs typeface="宋体"/>
              </a:rPr>
              <a:t>特</a:t>
            </a:r>
            <a:r>
              <a:rPr sz="2800" spc="-5" dirty="0">
                <a:latin typeface="宋体"/>
                <a:cs typeface="宋体"/>
              </a:rPr>
              <a:t>定的问</a:t>
            </a:r>
            <a:r>
              <a:rPr sz="2800" dirty="0">
                <a:latin typeface="宋体"/>
                <a:cs typeface="宋体"/>
              </a:rPr>
              <a:t>题</a:t>
            </a:r>
            <a:r>
              <a:rPr sz="2800" spc="-5" dirty="0">
                <a:latin typeface="宋体"/>
                <a:cs typeface="宋体"/>
              </a:rPr>
              <a:t>中， 工作证除了“编号”以外的属性，</a:t>
            </a:r>
            <a:r>
              <a:rPr sz="2800" dirty="0">
                <a:latin typeface="宋体"/>
                <a:cs typeface="宋体"/>
              </a:rPr>
              <a:t>其</a:t>
            </a:r>
            <a:r>
              <a:rPr sz="2800" spc="-5" dirty="0">
                <a:latin typeface="宋体"/>
                <a:cs typeface="宋体"/>
              </a:rPr>
              <a:t>他属</a:t>
            </a:r>
            <a:r>
              <a:rPr sz="2800" dirty="0">
                <a:latin typeface="宋体"/>
                <a:cs typeface="宋体"/>
              </a:rPr>
              <a:t>性</a:t>
            </a:r>
            <a:r>
              <a:rPr sz="2800" spc="-5" dirty="0">
                <a:latin typeface="宋体"/>
                <a:cs typeface="宋体"/>
              </a:rPr>
              <a:t>都与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职员类</a:t>
            </a:r>
            <a:r>
              <a:rPr sz="2800" spc="-5" dirty="0">
                <a:latin typeface="宋体"/>
                <a:cs typeface="宋体"/>
              </a:rPr>
              <a:t>属性一致，则可以考虑将“</a:t>
            </a:r>
            <a:r>
              <a:rPr sz="2800" dirty="0">
                <a:latin typeface="宋体"/>
                <a:cs typeface="宋体"/>
              </a:rPr>
              <a:t>编</a:t>
            </a:r>
            <a:r>
              <a:rPr sz="2800" spc="-5" dirty="0">
                <a:latin typeface="宋体"/>
                <a:cs typeface="宋体"/>
              </a:rPr>
              <a:t>号”</a:t>
            </a:r>
            <a:r>
              <a:rPr sz="2800" dirty="0">
                <a:latin typeface="宋体"/>
                <a:cs typeface="宋体"/>
              </a:rPr>
              <a:t>合</a:t>
            </a:r>
            <a:r>
              <a:rPr sz="2800" spc="-5" dirty="0">
                <a:latin typeface="宋体"/>
                <a:cs typeface="宋体"/>
              </a:rPr>
              <a:t>并到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职员类</a:t>
            </a:r>
            <a:r>
              <a:rPr sz="2800" spc="-10" dirty="0">
                <a:latin typeface="宋体"/>
                <a:cs typeface="宋体"/>
              </a:rPr>
              <a:t>中，去掉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工作证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84120" y="4378452"/>
            <a:ext cx="1393190" cy="1931035"/>
          </a:xfrm>
          <a:custGeom>
            <a:avLst/>
            <a:gdLst/>
            <a:ahLst/>
            <a:cxnLst/>
            <a:rect l="l" t="t" r="r" b="b"/>
            <a:pathLst>
              <a:path w="1393189" h="1931035">
                <a:moveTo>
                  <a:pt x="0" y="1930908"/>
                </a:moveTo>
                <a:lnTo>
                  <a:pt x="1392935" y="1930908"/>
                </a:lnTo>
                <a:lnTo>
                  <a:pt x="1392935" y="0"/>
                </a:lnTo>
                <a:lnTo>
                  <a:pt x="0" y="0"/>
                </a:lnTo>
                <a:lnTo>
                  <a:pt x="0" y="19309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78048" y="4412944"/>
            <a:ext cx="7937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宋体"/>
                <a:cs typeface="宋体"/>
              </a:rPr>
              <a:t>工作证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62225" y="4870830"/>
            <a:ext cx="5378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编号 姓名 单位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05455" y="4732020"/>
            <a:ext cx="1371600" cy="1905"/>
          </a:xfrm>
          <a:custGeom>
            <a:avLst/>
            <a:gdLst/>
            <a:ahLst/>
            <a:cxnLst/>
            <a:rect l="l" t="t" r="r" b="b"/>
            <a:pathLst>
              <a:path w="1371600" h="1904">
                <a:moveTo>
                  <a:pt x="0" y="0"/>
                </a:moveTo>
                <a:lnTo>
                  <a:pt x="1371599" y="15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08504" y="581253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2708" y="4378452"/>
            <a:ext cx="1391920" cy="1931035"/>
          </a:xfrm>
          <a:custGeom>
            <a:avLst/>
            <a:gdLst/>
            <a:ahLst/>
            <a:cxnLst/>
            <a:rect l="l" t="t" r="r" b="b"/>
            <a:pathLst>
              <a:path w="1391920" h="1931035">
                <a:moveTo>
                  <a:pt x="0" y="1930908"/>
                </a:moveTo>
                <a:lnTo>
                  <a:pt x="1391412" y="1930908"/>
                </a:lnTo>
                <a:lnTo>
                  <a:pt x="1391412" y="0"/>
                </a:lnTo>
                <a:lnTo>
                  <a:pt x="0" y="0"/>
                </a:lnTo>
                <a:lnTo>
                  <a:pt x="0" y="19309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96002" y="4412944"/>
            <a:ext cx="538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宋体"/>
                <a:cs typeface="宋体"/>
              </a:rPr>
              <a:t>职员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80178" y="4870830"/>
            <a:ext cx="5378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姓名 性别 单位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22520" y="4732020"/>
            <a:ext cx="1371600" cy="1905"/>
          </a:xfrm>
          <a:custGeom>
            <a:avLst/>
            <a:gdLst/>
            <a:ahLst/>
            <a:cxnLst/>
            <a:rect l="l" t="t" r="r" b="b"/>
            <a:pathLst>
              <a:path w="1371600" h="1904">
                <a:moveTo>
                  <a:pt x="0" y="0"/>
                </a:moveTo>
                <a:lnTo>
                  <a:pt x="1371600" y="15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28615" y="5818632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12942" y="5112130"/>
            <a:ext cx="1405255" cy="1080135"/>
          </a:xfrm>
          <a:custGeom>
            <a:avLst/>
            <a:gdLst/>
            <a:ahLst/>
            <a:cxnLst/>
            <a:rect l="l" t="t" r="r" b="b"/>
            <a:pathLst>
              <a:path w="1405254" h="1080135">
                <a:moveTo>
                  <a:pt x="0" y="0"/>
                </a:moveTo>
                <a:lnTo>
                  <a:pt x="742442" y="445643"/>
                </a:lnTo>
                <a:lnTo>
                  <a:pt x="785982" y="418954"/>
                </a:lnTo>
                <a:lnTo>
                  <a:pt x="831126" y="396732"/>
                </a:lnTo>
                <a:lnTo>
                  <a:pt x="877429" y="378958"/>
                </a:lnTo>
                <a:lnTo>
                  <a:pt x="924445" y="365612"/>
                </a:lnTo>
                <a:lnTo>
                  <a:pt x="971730" y="356674"/>
                </a:lnTo>
                <a:lnTo>
                  <a:pt x="1018838" y="352126"/>
                </a:lnTo>
                <a:lnTo>
                  <a:pt x="1065323" y="351948"/>
                </a:lnTo>
                <a:lnTo>
                  <a:pt x="1110742" y="356120"/>
                </a:lnTo>
                <a:lnTo>
                  <a:pt x="1154648" y="364624"/>
                </a:lnTo>
                <a:lnTo>
                  <a:pt x="1196596" y="377438"/>
                </a:lnTo>
                <a:lnTo>
                  <a:pt x="1236142" y="394545"/>
                </a:lnTo>
                <a:lnTo>
                  <a:pt x="1272840" y="415925"/>
                </a:lnTo>
                <a:lnTo>
                  <a:pt x="1306245" y="441557"/>
                </a:lnTo>
                <a:lnTo>
                  <a:pt x="1335913" y="471424"/>
                </a:lnTo>
                <a:lnTo>
                  <a:pt x="1362444" y="507225"/>
                </a:lnTo>
                <a:lnTo>
                  <a:pt x="1382507" y="545428"/>
                </a:lnTo>
                <a:lnTo>
                  <a:pt x="1396217" y="585550"/>
                </a:lnTo>
                <a:lnTo>
                  <a:pt x="1403694" y="627109"/>
                </a:lnTo>
                <a:lnTo>
                  <a:pt x="1405056" y="669623"/>
                </a:lnTo>
                <a:lnTo>
                  <a:pt x="1400419" y="712609"/>
                </a:lnTo>
                <a:lnTo>
                  <a:pt x="1389902" y="755584"/>
                </a:lnTo>
                <a:lnTo>
                  <a:pt x="1373624" y="798066"/>
                </a:lnTo>
                <a:lnTo>
                  <a:pt x="1351701" y="839572"/>
                </a:lnTo>
                <a:lnTo>
                  <a:pt x="1324252" y="879621"/>
                </a:lnTo>
                <a:lnTo>
                  <a:pt x="1291395" y="917728"/>
                </a:lnTo>
                <a:lnTo>
                  <a:pt x="1253248" y="953413"/>
                </a:lnTo>
                <a:lnTo>
                  <a:pt x="1209929" y="986193"/>
                </a:lnTo>
                <a:lnTo>
                  <a:pt x="1166413" y="1012892"/>
                </a:lnTo>
                <a:lnTo>
                  <a:pt x="1121290" y="1035124"/>
                </a:lnTo>
                <a:lnTo>
                  <a:pt x="1075005" y="1052908"/>
                </a:lnTo>
                <a:lnTo>
                  <a:pt x="1028002" y="1066263"/>
                </a:lnTo>
                <a:lnTo>
                  <a:pt x="980728" y="1075208"/>
                </a:lnTo>
                <a:lnTo>
                  <a:pt x="933626" y="1079763"/>
                </a:lnTo>
                <a:lnTo>
                  <a:pt x="887142" y="1079947"/>
                </a:lnTo>
                <a:lnTo>
                  <a:pt x="841722" y="1075780"/>
                </a:lnTo>
                <a:lnTo>
                  <a:pt x="797810" y="1067280"/>
                </a:lnTo>
                <a:lnTo>
                  <a:pt x="755852" y="1054468"/>
                </a:lnTo>
                <a:lnTo>
                  <a:pt x="716292" y="1037362"/>
                </a:lnTo>
                <a:lnTo>
                  <a:pt x="679577" y="1015981"/>
                </a:lnTo>
                <a:lnTo>
                  <a:pt x="646150" y="990346"/>
                </a:lnTo>
                <a:lnTo>
                  <a:pt x="616458" y="960475"/>
                </a:lnTo>
                <a:lnTo>
                  <a:pt x="588355" y="922026"/>
                </a:lnTo>
                <a:lnTo>
                  <a:pt x="567540" y="880531"/>
                </a:lnTo>
                <a:lnTo>
                  <a:pt x="553997" y="836612"/>
                </a:lnTo>
                <a:lnTo>
                  <a:pt x="547714" y="790891"/>
                </a:lnTo>
                <a:lnTo>
                  <a:pt x="548676" y="743987"/>
                </a:lnTo>
                <a:lnTo>
                  <a:pt x="556871" y="696522"/>
                </a:lnTo>
                <a:lnTo>
                  <a:pt x="572284" y="649117"/>
                </a:lnTo>
                <a:lnTo>
                  <a:pt x="594903" y="602393"/>
                </a:lnTo>
                <a:lnTo>
                  <a:pt x="624713" y="55697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62700" y="5678576"/>
            <a:ext cx="297560" cy="439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51147" y="5315711"/>
            <a:ext cx="1009015" cy="0"/>
          </a:xfrm>
          <a:custGeom>
            <a:avLst/>
            <a:gdLst/>
            <a:ahLst/>
            <a:cxnLst/>
            <a:rect l="l" t="t" r="r" b="b"/>
            <a:pathLst>
              <a:path w="1009014">
                <a:moveTo>
                  <a:pt x="0" y="0"/>
                </a:moveTo>
                <a:lnTo>
                  <a:pt x="100888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92600" y="497776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宋体"/>
                <a:cs typeface="宋体"/>
              </a:rPr>
              <a:t>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344292" y="188213"/>
            <a:ext cx="4340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对类进行调整</a:t>
            </a:r>
            <a:r>
              <a:rPr sz="4000" spc="-5" dirty="0">
                <a:latin typeface="Calibri"/>
                <a:cs typeface="Calibri"/>
              </a:rPr>
              <a:t>:</a:t>
            </a:r>
            <a:r>
              <a:rPr sz="4000" spc="-50" dirty="0">
                <a:latin typeface="Calibri"/>
                <a:cs typeface="Calibri"/>
              </a:rPr>
              <a:t> </a:t>
            </a:r>
            <a:r>
              <a:rPr sz="4000" spc="-5" dirty="0"/>
              <a:t>合并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112266"/>
            <a:ext cx="7486650" cy="12858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97700"/>
              </a:lnSpc>
              <a:spcBef>
                <a:spcPts val="170"/>
              </a:spcBef>
            </a:pPr>
            <a:r>
              <a:rPr sz="2800" spc="-5" dirty="0">
                <a:latin typeface="宋体"/>
                <a:cs typeface="宋体"/>
              </a:rPr>
              <a:t>认</a:t>
            </a:r>
            <a:r>
              <a:rPr sz="2800" spc="-10" dirty="0">
                <a:latin typeface="宋体"/>
                <a:cs typeface="宋体"/>
              </a:rPr>
              <a:t>识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主动行为对象</a:t>
            </a:r>
            <a:r>
              <a:rPr sz="2800" spc="-5" dirty="0">
                <a:latin typeface="宋体"/>
                <a:cs typeface="宋体"/>
              </a:rPr>
              <a:t>的目的在于确定</a:t>
            </a:r>
            <a:r>
              <a:rPr sz="2800" dirty="0">
                <a:latin typeface="宋体"/>
                <a:cs typeface="宋体"/>
              </a:rPr>
              <a:t>系</a:t>
            </a:r>
            <a:r>
              <a:rPr sz="2800" spc="-5" dirty="0">
                <a:latin typeface="宋体"/>
                <a:cs typeface="宋体"/>
              </a:rPr>
              <a:t>统</a:t>
            </a:r>
            <a:r>
              <a:rPr sz="2800" dirty="0">
                <a:latin typeface="宋体"/>
                <a:cs typeface="宋体"/>
              </a:rPr>
              <a:t>可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独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立并 发的线</a:t>
            </a:r>
            <a:r>
              <a:rPr sz="2800" u="heavy" spc="-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程</a:t>
            </a:r>
            <a:r>
              <a:rPr sz="2800" spc="-10" dirty="0">
                <a:latin typeface="宋体"/>
                <a:cs typeface="宋体"/>
              </a:rPr>
              <a:t>（进程），在设计时，将</a:t>
            </a:r>
            <a:r>
              <a:rPr sz="2800" dirty="0">
                <a:latin typeface="宋体"/>
                <a:cs typeface="宋体"/>
              </a:rPr>
              <a:t>用</a:t>
            </a:r>
            <a:r>
              <a:rPr sz="2800" spc="-10" dirty="0">
                <a:latin typeface="宋体"/>
                <a:cs typeface="宋体"/>
              </a:rPr>
              <a:t>于系</a:t>
            </a:r>
            <a:r>
              <a:rPr sz="2800" dirty="0">
                <a:latin typeface="宋体"/>
                <a:cs typeface="宋体"/>
              </a:rPr>
              <a:t>统</a:t>
            </a:r>
            <a:r>
              <a:rPr sz="2800" spc="-10" dirty="0">
                <a:latin typeface="宋体"/>
                <a:cs typeface="宋体"/>
              </a:rPr>
              <a:t>对象 </a:t>
            </a:r>
            <a:r>
              <a:rPr sz="2800" spc="-5" dirty="0">
                <a:latin typeface="宋体"/>
                <a:cs typeface="宋体"/>
              </a:rPr>
              <a:t>的分布和配置。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2549651"/>
            <a:ext cx="7696200" cy="9556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 marR="224790">
              <a:lnSpc>
                <a:spcPct val="100000"/>
              </a:lnSpc>
              <a:spcBef>
                <a:spcPts val="300"/>
              </a:spcBef>
            </a:pPr>
            <a:r>
              <a:rPr sz="2800" spc="5" dirty="0">
                <a:latin typeface="黑体"/>
                <a:cs typeface="黑体"/>
              </a:rPr>
              <a:t>主动对象定</a:t>
            </a:r>
            <a:r>
              <a:rPr sz="2800" spc="645" dirty="0">
                <a:latin typeface="黑体"/>
                <a:cs typeface="黑体"/>
              </a:rPr>
              <a:t>义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spc="-8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拥有线程（进程）并启动控制 活动的对象。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5262371"/>
            <a:ext cx="7620000" cy="5289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5"/>
              </a:spcBef>
            </a:pPr>
            <a:r>
              <a:rPr sz="2800" spc="5" dirty="0">
                <a:latin typeface="黑体"/>
                <a:cs typeface="黑体"/>
              </a:rPr>
              <a:t>主动类定义</a:t>
            </a:r>
            <a:r>
              <a:rPr sz="2800" spc="-5" dirty="0">
                <a:latin typeface="宋体"/>
                <a:cs typeface="宋体"/>
              </a:rPr>
              <a:t>：实例为主动对象的类对象。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2864" y="178688"/>
            <a:ext cx="5478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alibri"/>
                <a:cs typeface="Calibri"/>
              </a:rPr>
              <a:t>1.4.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5" dirty="0"/>
              <a:t>主动对象和控制线程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168" y="3650360"/>
            <a:ext cx="7950200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1827530" indent="-914400">
              <a:lnSpc>
                <a:spcPct val="12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线程</a:t>
            </a:r>
            <a:r>
              <a:rPr sz="2400" dirty="0">
                <a:latin typeface="宋体"/>
                <a:cs typeface="宋体"/>
              </a:rPr>
              <a:t>：一系列连续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执行的</a:t>
            </a:r>
            <a:r>
              <a:rPr sz="2400" dirty="0">
                <a:latin typeface="宋体"/>
                <a:cs typeface="宋体"/>
              </a:rPr>
              <a:t>操作序列构成线程。 一个进程有一个或者多个线程。</a:t>
            </a:r>
            <a:endParaRPr sz="2400">
              <a:latin typeface="宋体"/>
              <a:cs typeface="宋体"/>
            </a:endParaRPr>
          </a:p>
          <a:p>
            <a:pPr marL="926465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宋体"/>
                <a:cs typeface="宋体"/>
              </a:rPr>
              <a:t>一个线程可以在一个进程中，也可以跨越多个进程。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5077" y="241503"/>
            <a:ext cx="4596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识别主动对象的策略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5344" y="1228090"/>
            <a:ext cx="7311390" cy="4464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63855">
              <a:lnSpc>
                <a:spcPct val="100000"/>
              </a:lnSpc>
              <a:spcBef>
                <a:spcPts val="95"/>
              </a:spcBef>
              <a:buSzPct val="96428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从问题域考虑，如果对象所具有的</a:t>
            </a:r>
            <a:r>
              <a:rPr sz="2800" dirty="0">
                <a:latin typeface="宋体"/>
                <a:cs typeface="宋体"/>
              </a:rPr>
              <a:t>行</a:t>
            </a:r>
            <a:r>
              <a:rPr sz="2800" spc="-5" dirty="0">
                <a:latin typeface="宋体"/>
                <a:cs typeface="宋体"/>
              </a:rPr>
              <a:t>为是 主动发起的，而不是被动引发的行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buFont typeface=""/>
              <a:buAutoNum type="arabicPlain"/>
            </a:pPr>
            <a:endParaRPr sz="2100">
              <a:latin typeface="宋体"/>
              <a:cs typeface="宋体"/>
            </a:endParaRPr>
          </a:p>
          <a:p>
            <a:pPr marL="12700" marR="363855">
              <a:lnSpc>
                <a:spcPct val="100000"/>
              </a:lnSpc>
              <a:buSzPct val="96428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考虑系统边界以外的参与者，与系</a:t>
            </a:r>
            <a:r>
              <a:rPr sz="2800" dirty="0">
                <a:latin typeface="宋体"/>
                <a:cs typeface="宋体"/>
              </a:rPr>
              <a:t>统</a:t>
            </a:r>
            <a:r>
              <a:rPr sz="2800" spc="-5" dirty="0">
                <a:latin typeface="宋体"/>
                <a:cs typeface="宋体"/>
              </a:rPr>
              <a:t>直接 进行交互的责任对象。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buFont typeface=""/>
              <a:buAutoNum type="arabicPlain"/>
            </a:pPr>
            <a:endParaRPr sz="21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buSzPct val="96428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根</a:t>
            </a:r>
            <a:r>
              <a:rPr sz="2800" dirty="0">
                <a:latin typeface="宋体"/>
                <a:cs typeface="宋体"/>
              </a:rPr>
              <a:t>据</a:t>
            </a:r>
            <a:r>
              <a:rPr sz="2800" spc="-5" dirty="0">
                <a:latin typeface="宋体"/>
                <a:cs typeface="宋体"/>
              </a:rPr>
              <a:t>过程抽</a:t>
            </a:r>
            <a:r>
              <a:rPr sz="2800" dirty="0"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的原则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从系统</a:t>
            </a:r>
            <a:r>
              <a:rPr sz="2800" dirty="0">
                <a:latin typeface="宋体"/>
                <a:cs typeface="宋体"/>
              </a:rPr>
              <a:t>责</a:t>
            </a:r>
            <a:r>
              <a:rPr sz="2800" spc="-5" dirty="0">
                <a:latin typeface="宋体"/>
                <a:cs typeface="宋体"/>
              </a:rPr>
              <a:t>任的角</a:t>
            </a:r>
            <a:r>
              <a:rPr sz="2800" dirty="0">
                <a:latin typeface="宋体"/>
                <a:cs typeface="宋体"/>
              </a:rPr>
              <a:t>度</a:t>
            </a:r>
            <a:r>
              <a:rPr sz="2800" spc="-5" dirty="0">
                <a:latin typeface="宋体"/>
                <a:cs typeface="宋体"/>
              </a:rPr>
              <a:t>， 系统功能的外层往往是内层的驱动。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"/>
              <a:buAutoNum type="arabicPlain"/>
            </a:pPr>
            <a:endParaRPr sz="2050">
              <a:latin typeface="宋体"/>
              <a:cs typeface="宋体"/>
            </a:endParaRPr>
          </a:p>
          <a:p>
            <a:pPr marL="12700" marR="363855">
              <a:lnSpc>
                <a:spcPct val="100000"/>
              </a:lnSpc>
              <a:buSzPct val="96428"/>
              <a:buAutoNum type="arabicPlain"/>
              <a:tabLst>
                <a:tab pos="547370" algn="l"/>
              </a:tabLst>
            </a:pPr>
            <a:r>
              <a:rPr sz="2800" spc="-10" dirty="0">
                <a:latin typeface="宋体"/>
                <a:cs typeface="宋体"/>
              </a:rPr>
              <a:t>进行操作执行路线的逆向追踪，直</a:t>
            </a:r>
            <a:r>
              <a:rPr sz="2800" dirty="0">
                <a:latin typeface="宋体"/>
                <a:cs typeface="宋体"/>
              </a:rPr>
              <a:t>到</a:t>
            </a:r>
            <a:r>
              <a:rPr sz="2800" spc="-10" dirty="0">
                <a:latin typeface="宋体"/>
                <a:cs typeface="宋体"/>
              </a:rPr>
              <a:t>某操 </a:t>
            </a:r>
            <a:r>
              <a:rPr sz="2800" spc="-5" dirty="0">
                <a:latin typeface="宋体"/>
                <a:cs typeface="宋体"/>
              </a:rPr>
              <a:t>作不被其他成分请求为止。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3739" y="267411"/>
            <a:ext cx="5100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主动对象类的特殊表示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12266" y="1418589"/>
          <a:ext cx="1371600" cy="13319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类名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属性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538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操作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34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265097"/>
              </p:ext>
            </p:extLst>
          </p:nvPr>
        </p:nvGraphicFramePr>
        <p:xfrm>
          <a:off x="4110037" y="1420177"/>
          <a:ext cx="1676400" cy="12908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highlight>
                            <a:srgbClr val="FFFF00"/>
                          </a:highlight>
                          <a:latin typeface="宋体"/>
                          <a:cs typeface="宋体"/>
                        </a:rPr>
                        <a:t>{active}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类名</a:t>
                      </a: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属性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9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7">
                <a:tc>
                  <a:txBody>
                    <a:bodyPr/>
                    <a:lstStyle/>
                    <a:p>
                      <a:pPr marL="32829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操作</a:t>
                      </a:r>
                    </a:p>
                  </a:txBody>
                  <a:tcPr marL="0" marR="0" marT="939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127375" y="1987676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或者</a:t>
            </a:r>
            <a:endParaRPr sz="16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877311" y="4073652"/>
          <a:ext cx="1371600" cy="1319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 marL="43243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系统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239511" y="4073652"/>
          <a:ext cx="1371600" cy="1319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传感器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752600" y="3253740"/>
            <a:ext cx="5562600" cy="2658110"/>
          </a:xfrm>
          <a:custGeom>
            <a:avLst/>
            <a:gdLst/>
            <a:ahLst/>
            <a:cxnLst/>
            <a:rect l="l" t="t" r="r" b="b"/>
            <a:pathLst>
              <a:path w="5562600" h="2658110">
                <a:moveTo>
                  <a:pt x="0" y="2657856"/>
                </a:moveTo>
                <a:lnTo>
                  <a:pt x="5562600" y="2657856"/>
                </a:lnTo>
                <a:lnTo>
                  <a:pt x="5562600" y="0"/>
                </a:lnTo>
                <a:lnTo>
                  <a:pt x="0" y="0"/>
                </a:lnTo>
                <a:lnTo>
                  <a:pt x="0" y="26578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31594" y="3281934"/>
            <a:ext cx="3985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Safehome</a:t>
            </a:r>
            <a:r>
              <a:rPr sz="2400" spc="-5" dirty="0">
                <a:latin typeface="宋体"/>
                <a:cs typeface="宋体"/>
              </a:rPr>
              <a:t>中的两个主动对象类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5803"/>
            <a:ext cx="3721735" cy="49758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面向对象建模</a:t>
            </a:r>
          </a:p>
          <a:p>
            <a:pPr marL="756285" lvl="1" indent="-287020">
              <a:lnSpc>
                <a:spcPct val="100000"/>
              </a:lnSpc>
              <a:spcBef>
                <a:spcPts val="2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1.1.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类图和对象建模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1.2.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宋体"/>
                <a:cs typeface="宋体"/>
              </a:rPr>
              <a:t>识别对象和筛选策略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2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1.3.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从对象抽象类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1.4.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主动对象和控制线程</a:t>
            </a:r>
          </a:p>
          <a:p>
            <a:pPr marL="355600" indent="-343535">
              <a:lnSpc>
                <a:spcPct val="100000"/>
              </a:lnSpc>
              <a:spcBef>
                <a:spcPts val="2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2.</a:t>
            </a:r>
            <a:r>
              <a:rPr sz="24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类的命名、属性和操作</a:t>
            </a:r>
            <a:endParaRPr sz="24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2.1.</a:t>
            </a:r>
            <a:r>
              <a:rPr sz="1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类的命名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2.2.</a:t>
            </a:r>
            <a:r>
              <a:rPr sz="18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类属性及识别筛选策略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2.3.</a:t>
            </a:r>
            <a:r>
              <a:rPr sz="18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类操作及识别调整策略</a:t>
            </a:r>
            <a:endParaRPr sz="1800" dirty="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类的继承和关联</a:t>
            </a:r>
          </a:p>
          <a:p>
            <a:pPr marL="756285" lvl="1" indent="-2870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3.1.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类的继承关系</a:t>
            </a: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建立类的关联</a:t>
            </a: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接口类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包图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4410" y="116586"/>
            <a:ext cx="32397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2.1.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类的命名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677" y="822584"/>
            <a:ext cx="7485380" cy="279908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spc="-5" dirty="0">
                <a:latin typeface="宋体"/>
                <a:cs typeface="宋体"/>
              </a:rPr>
              <a:t>类的命名应遵循的原则：</a:t>
            </a:r>
            <a:endParaRPr sz="2800">
              <a:latin typeface="宋体"/>
              <a:cs typeface="宋体"/>
            </a:endParaRPr>
          </a:p>
          <a:p>
            <a:pPr marL="12700" marR="18288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latin typeface="宋体"/>
                <a:cs typeface="宋体"/>
              </a:rPr>
              <a:t>1）</a:t>
            </a:r>
            <a:r>
              <a:rPr sz="2800" spc="-10" dirty="0">
                <a:latin typeface="宋体"/>
                <a:cs typeface="宋体"/>
              </a:rPr>
              <a:t>类的名字应适合类所包含的每一个</a:t>
            </a:r>
            <a:r>
              <a:rPr sz="2800" dirty="0">
                <a:latin typeface="宋体"/>
                <a:cs typeface="宋体"/>
              </a:rPr>
              <a:t>对</a:t>
            </a:r>
            <a:r>
              <a:rPr sz="2800" spc="-10" dirty="0">
                <a:latin typeface="宋体"/>
                <a:cs typeface="宋体"/>
              </a:rPr>
              <a:t>象，包 </a:t>
            </a:r>
            <a:r>
              <a:rPr sz="2800" spc="-5" dirty="0">
                <a:latin typeface="宋体"/>
                <a:cs typeface="宋体"/>
              </a:rPr>
              <a:t>括它的子类对象。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685"/>
              </a:spcBef>
            </a:pPr>
            <a:r>
              <a:rPr sz="2800" spc="-5" dirty="0">
                <a:latin typeface="宋体"/>
                <a:cs typeface="宋体"/>
              </a:rPr>
              <a:t>例如</a:t>
            </a:r>
            <a:r>
              <a:rPr sz="2800" spc="-10" dirty="0">
                <a:latin typeface="宋体"/>
                <a:cs typeface="宋体"/>
              </a:rPr>
              <a:t>：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机动车类</a:t>
            </a:r>
            <a:r>
              <a:rPr sz="2800" spc="-5" dirty="0">
                <a:latin typeface="宋体"/>
                <a:cs typeface="宋体"/>
              </a:rPr>
              <a:t>，适合于摩托车和</a:t>
            </a:r>
            <a:r>
              <a:rPr sz="2800" dirty="0">
                <a:latin typeface="宋体"/>
                <a:cs typeface="宋体"/>
              </a:rPr>
              <a:t>汽</a:t>
            </a:r>
            <a:r>
              <a:rPr sz="2800" spc="-5" dirty="0">
                <a:latin typeface="宋体"/>
                <a:cs typeface="宋体"/>
              </a:rPr>
              <a:t>车；</a:t>
            </a:r>
            <a:r>
              <a:rPr sz="2800" dirty="0">
                <a:latin typeface="宋体"/>
                <a:cs typeface="宋体"/>
              </a:rPr>
              <a:t>如</a:t>
            </a:r>
            <a:r>
              <a:rPr sz="2800" spc="-5" dirty="0">
                <a:latin typeface="宋体"/>
                <a:cs typeface="宋体"/>
              </a:rPr>
              <a:t>果子 类还有自行车，则应改</a:t>
            </a:r>
            <a:r>
              <a:rPr sz="2800" spc="-25" dirty="0">
                <a:latin typeface="宋体"/>
                <a:cs typeface="宋体"/>
              </a:rPr>
              <a:t>为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车辆类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03320" y="3788664"/>
            <a:ext cx="1085215" cy="864235"/>
          </a:xfrm>
          <a:custGeom>
            <a:avLst/>
            <a:gdLst/>
            <a:ahLst/>
            <a:cxnLst/>
            <a:rect l="l" t="t" r="r" b="b"/>
            <a:pathLst>
              <a:path w="1085214" h="864235">
                <a:moveTo>
                  <a:pt x="0" y="864108"/>
                </a:moveTo>
                <a:lnTo>
                  <a:pt x="1085088" y="864108"/>
                </a:lnTo>
                <a:lnTo>
                  <a:pt x="1085088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03320" y="3788664"/>
            <a:ext cx="1085215" cy="4095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85"/>
              </a:spcBef>
            </a:pPr>
            <a:r>
              <a:rPr sz="2000" b="1" spc="5" dirty="0">
                <a:latin typeface="宋体"/>
                <a:cs typeface="宋体"/>
              </a:rPr>
              <a:t>机动车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86555" y="4197096"/>
            <a:ext cx="1083945" cy="1905"/>
          </a:xfrm>
          <a:custGeom>
            <a:avLst/>
            <a:gdLst/>
            <a:ahLst/>
            <a:cxnLst/>
            <a:rect l="l" t="t" r="r" b="b"/>
            <a:pathLst>
              <a:path w="1083945" h="1904">
                <a:moveTo>
                  <a:pt x="0" y="0"/>
                </a:moveTo>
                <a:lnTo>
                  <a:pt x="1083564" y="15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86555" y="4439411"/>
            <a:ext cx="1083945" cy="1905"/>
          </a:xfrm>
          <a:custGeom>
            <a:avLst/>
            <a:gdLst/>
            <a:ahLst/>
            <a:cxnLst/>
            <a:rect l="l" t="t" r="r" b="b"/>
            <a:pathLst>
              <a:path w="1083945" h="1904">
                <a:moveTo>
                  <a:pt x="0" y="0"/>
                </a:moveTo>
                <a:lnTo>
                  <a:pt x="1083564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40708" y="4642103"/>
            <a:ext cx="215265" cy="287020"/>
          </a:xfrm>
          <a:custGeom>
            <a:avLst/>
            <a:gdLst/>
            <a:ahLst/>
            <a:cxnLst/>
            <a:rect l="l" t="t" r="r" b="b"/>
            <a:pathLst>
              <a:path w="215264" h="287020">
                <a:moveTo>
                  <a:pt x="0" y="286512"/>
                </a:moveTo>
                <a:lnTo>
                  <a:pt x="107441" y="0"/>
                </a:lnTo>
                <a:lnTo>
                  <a:pt x="214883" y="286512"/>
                </a:lnTo>
                <a:lnTo>
                  <a:pt x="0" y="286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209609" y="4924044"/>
          <a:ext cx="3867147" cy="1168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1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1544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2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94"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汽车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摩托车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自行车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9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121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702175" y="3970401"/>
            <a:ext cx="1454785" cy="537845"/>
          </a:xfrm>
          <a:custGeom>
            <a:avLst/>
            <a:gdLst/>
            <a:ahLst/>
            <a:cxnLst/>
            <a:rect l="l" t="t" r="r" b="b"/>
            <a:pathLst>
              <a:path w="1454785" h="537845">
                <a:moveTo>
                  <a:pt x="662304" y="178181"/>
                </a:moveTo>
                <a:lnTo>
                  <a:pt x="667946" y="150179"/>
                </a:lnTo>
                <a:lnTo>
                  <a:pt x="683339" y="127333"/>
                </a:lnTo>
                <a:lnTo>
                  <a:pt x="706185" y="111940"/>
                </a:lnTo>
                <a:lnTo>
                  <a:pt x="734187" y="106299"/>
                </a:lnTo>
                <a:lnTo>
                  <a:pt x="794385" y="106299"/>
                </a:lnTo>
                <a:lnTo>
                  <a:pt x="992504" y="106299"/>
                </a:lnTo>
                <a:lnTo>
                  <a:pt x="1382902" y="106299"/>
                </a:lnTo>
                <a:lnTo>
                  <a:pt x="1410904" y="111940"/>
                </a:lnTo>
                <a:lnTo>
                  <a:pt x="1433750" y="127333"/>
                </a:lnTo>
                <a:lnTo>
                  <a:pt x="1449143" y="150179"/>
                </a:lnTo>
                <a:lnTo>
                  <a:pt x="1454785" y="178181"/>
                </a:lnTo>
                <a:lnTo>
                  <a:pt x="1454785" y="286004"/>
                </a:lnTo>
                <a:lnTo>
                  <a:pt x="1454785" y="465709"/>
                </a:lnTo>
                <a:lnTo>
                  <a:pt x="1449143" y="493710"/>
                </a:lnTo>
                <a:lnTo>
                  <a:pt x="1433750" y="516556"/>
                </a:lnTo>
                <a:lnTo>
                  <a:pt x="1410904" y="531949"/>
                </a:lnTo>
                <a:lnTo>
                  <a:pt x="1382902" y="537591"/>
                </a:lnTo>
                <a:lnTo>
                  <a:pt x="992504" y="537591"/>
                </a:lnTo>
                <a:lnTo>
                  <a:pt x="794385" y="537591"/>
                </a:lnTo>
                <a:lnTo>
                  <a:pt x="734187" y="537591"/>
                </a:lnTo>
                <a:lnTo>
                  <a:pt x="706185" y="531949"/>
                </a:lnTo>
                <a:lnTo>
                  <a:pt x="683339" y="516556"/>
                </a:lnTo>
                <a:lnTo>
                  <a:pt x="667946" y="493710"/>
                </a:lnTo>
                <a:lnTo>
                  <a:pt x="662304" y="465709"/>
                </a:lnTo>
                <a:lnTo>
                  <a:pt x="662304" y="286004"/>
                </a:lnTo>
                <a:lnTo>
                  <a:pt x="0" y="0"/>
                </a:lnTo>
                <a:lnTo>
                  <a:pt x="662304" y="178181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92622" y="4125595"/>
            <a:ext cx="537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车辆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6874" y="1032510"/>
            <a:ext cx="7314565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9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2</a:t>
            </a:r>
            <a:r>
              <a:rPr sz="2800" spc="-5" dirty="0">
                <a:latin typeface="宋体"/>
                <a:cs typeface="宋体"/>
              </a:rPr>
              <a:t>）类的名字反映的是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每个对象个体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5" dirty="0">
                <a:latin typeface="宋体"/>
                <a:cs typeface="宋体"/>
              </a:rPr>
              <a:t>而</a:t>
            </a:r>
            <a:r>
              <a:rPr sz="2800" spc="-5" dirty="0">
                <a:solidFill>
                  <a:srgbClr val="FF0000"/>
                </a:solidFill>
                <a:latin typeface="宋体"/>
                <a:cs typeface="宋体"/>
              </a:rPr>
              <a:t>不是整 个群</a:t>
            </a:r>
            <a:r>
              <a:rPr sz="2800" spc="-10" dirty="0">
                <a:solidFill>
                  <a:srgbClr val="FF0000"/>
                </a:solidFill>
                <a:latin typeface="宋体"/>
                <a:cs typeface="宋体"/>
              </a:rPr>
              <a:t>体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sz="2800" spc="-10" dirty="0">
                <a:latin typeface="宋体"/>
                <a:cs typeface="宋体"/>
              </a:rPr>
              <a:t>例如</a:t>
            </a:r>
            <a:r>
              <a:rPr sz="2800" spc="-5" dirty="0">
                <a:latin typeface="宋体"/>
                <a:cs typeface="宋体"/>
              </a:rPr>
              <a:t>：</a:t>
            </a:r>
            <a:r>
              <a:rPr sz="2800" dirty="0">
                <a:latin typeface="宋体"/>
                <a:cs typeface="宋体"/>
              </a:rPr>
              <a:t> </a:t>
            </a:r>
            <a:r>
              <a:rPr sz="2800" spc="-5" dirty="0">
                <a:latin typeface="宋体"/>
                <a:cs typeface="宋体"/>
              </a:rPr>
              <a:t>Safehome</a:t>
            </a:r>
            <a:r>
              <a:rPr sz="2800" spc="-10" dirty="0">
                <a:latin typeface="宋体"/>
                <a:cs typeface="宋体"/>
              </a:rPr>
              <a:t>中的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控制键</a:t>
            </a:r>
            <a:r>
              <a:rPr sz="2800" spc="-10" dirty="0">
                <a:latin typeface="宋体"/>
                <a:cs typeface="宋体"/>
              </a:rPr>
              <a:t>类，如果用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控制键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盘</a:t>
            </a:r>
            <a:r>
              <a:rPr sz="2800" spc="-5" dirty="0">
                <a:latin typeface="宋体"/>
                <a:cs typeface="宋体"/>
              </a:rPr>
              <a:t>做类名，则每个实体就是一个控</a:t>
            </a:r>
            <a:r>
              <a:rPr sz="2800" dirty="0">
                <a:latin typeface="宋体"/>
                <a:cs typeface="宋体"/>
              </a:rPr>
              <a:t>制</a:t>
            </a:r>
            <a:r>
              <a:rPr sz="2800" spc="-5" dirty="0">
                <a:latin typeface="宋体"/>
                <a:cs typeface="宋体"/>
              </a:rPr>
              <a:t>键盘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而 系统只需要一个控制键盘，实际需</a:t>
            </a:r>
            <a:r>
              <a:rPr sz="2800" dirty="0">
                <a:latin typeface="宋体"/>
                <a:cs typeface="宋体"/>
              </a:rPr>
              <a:t>要</a:t>
            </a:r>
            <a:r>
              <a:rPr sz="2800" spc="-5" dirty="0">
                <a:latin typeface="宋体"/>
                <a:cs typeface="宋体"/>
              </a:rPr>
              <a:t>的是</a:t>
            </a:r>
            <a:r>
              <a:rPr sz="2800" dirty="0">
                <a:latin typeface="宋体"/>
                <a:cs typeface="宋体"/>
              </a:rPr>
              <a:t>对</a:t>
            </a:r>
            <a:r>
              <a:rPr sz="2800" spc="-5" dirty="0">
                <a:latin typeface="宋体"/>
                <a:cs typeface="宋体"/>
              </a:rPr>
              <a:t>系 统中每个功能键进行具体的描绘。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67237" y="4146613"/>
          <a:ext cx="1371600" cy="15956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控制功能键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992">
                <a:tc>
                  <a:txBody>
                    <a:bodyPr/>
                    <a:lstStyle/>
                    <a:p>
                      <a:pPr marL="90170" marR="50482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键标识 </a:t>
                      </a:r>
                      <a:r>
                        <a:rPr sz="2000" b="1" spc="5" dirty="0">
                          <a:latin typeface="宋体"/>
                          <a:cs typeface="宋体"/>
                        </a:rPr>
                        <a:t>功能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9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444996" y="4870703"/>
            <a:ext cx="1224280" cy="431800"/>
          </a:xfrm>
          <a:custGeom>
            <a:avLst/>
            <a:gdLst/>
            <a:ahLst/>
            <a:cxnLst/>
            <a:rect l="l" t="t" r="r" b="b"/>
            <a:pathLst>
              <a:path w="1224279" h="431800">
                <a:moveTo>
                  <a:pt x="0" y="215646"/>
                </a:moveTo>
                <a:lnTo>
                  <a:pt x="14112" y="169376"/>
                </a:lnTo>
                <a:lnTo>
                  <a:pt x="54459" y="126569"/>
                </a:lnTo>
                <a:lnTo>
                  <a:pt x="118055" y="88276"/>
                </a:lnTo>
                <a:lnTo>
                  <a:pt x="157638" y="71150"/>
                </a:lnTo>
                <a:lnTo>
                  <a:pt x="201913" y="55547"/>
                </a:lnTo>
                <a:lnTo>
                  <a:pt x="250509" y="41599"/>
                </a:lnTo>
                <a:lnTo>
                  <a:pt x="303050" y="29435"/>
                </a:lnTo>
                <a:lnTo>
                  <a:pt x="359164" y="19189"/>
                </a:lnTo>
                <a:lnTo>
                  <a:pt x="418478" y="10991"/>
                </a:lnTo>
                <a:lnTo>
                  <a:pt x="480618" y="4972"/>
                </a:lnTo>
                <a:lnTo>
                  <a:pt x="545212" y="1265"/>
                </a:lnTo>
                <a:lnTo>
                  <a:pt x="611885" y="0"/>
                </a:lnTo>
                <a:lnTo>
                  <a:pt x="678559" y="1265"/>
                </a:lnTo>
                <a:lnTo>
                  <a:pt x="743153" y="4972"/>
                </a:lnTo>
                <a:lnTo>
                  <a:pt x="805293" y="10991"/>
                </a:lnTo>
                <a:lnTo>
                  <a:pt x="864607" y="19189"/>
                </a:lnTo>
                <a:lnTo>
                  <a:pt x="920721" y="29435"/>
                </a:lnTo>
                <a:lnTo>
                  <a:pt x="973262" y="41599"/>
                </a:lnTo>
                <a:lnTo>
                  <a:pt x="1021858" y="55547"/>
                </a:lnTo>
                <a:lnTo>
                  <a:pt x="1066133" y="71150"/>
                </a:lnTo>
                <a:lnTo>
                  <a:pt x="1105716" y="88276"/>
                </a:lnTo>
                <a:lnTo>
                  <a:pt x="1140234" y="106792"/>
                </a:lnTo>
                <a:lnTo>
                  <a:pt x="1192578" y="147474"/>
                </a:lnTo>
                <a:lnTo>
                  <a:pt x="1220181" y="192144"/>
                </a:lnTo>
                <a:lnTo>
                  <a:pt x="1223772" y="215646"/>
                </a:lnTo>
                <a:lnTo>
                  <a:pt x="1220181" y="239147"/>
                </a:lnTo>
                <a:lnTo>
                  <a:pt x="1192578" y="283817"/>
                </a:lnTo>
                <a:lnTo>
                  <a:pt x="1140234" y="324499"/>
                </a:lnTo>
                <a:lnTo>
                  <a:pt x="1105716" y="343015"/>
                </a:lnTo>
                <a:lnTo>
                  <a:pt x="1066133" y="360141"/>
                </a:lnTo>
                <a:lnTo>
                  <a:pt x="1021858" y="375744"/>
                </a:lnTo>
                <a:lnTo>
                  <a:pt x="973262" y="389692"/>
                </a:lnTo>
                <a:lnTo>
                  <a:pt x="920721" y="401856"/>
                </a:lnTo>
                <a:lnTo>
                  <a:pt x="864607" y="412102"/>
                </a:lnTo>
                <a:lnTo>
                  <a:pt x="805293" y="420300"/>
                </a:lnTo>
                <a:lnTo>
                  <a:pt x="743153" y="426319"/>
                </a:lnTo>
                <a:lnTo>
                  <a:pt x="678559" y="430026"/>
                </a:lnTo>
                <a:lnTo>
                  <a:pt x="611885" y="431292"/>
                </a:lnTo>
                <a:lnTo>
                  <a:pt x="545212" y="430026"/>
                </a:lnTo>
                <a:lnTo>
                  <a:pt x="480618" y="426319"/>
                </a:lnTo>
                <a:lnTo>
                  <a:pt x="418478" y="420300"/>
                </a:lnTo>
                <a:lnTo>
                  <a:pt x="359164" y="412102"/>
                </a:lnTo>
                <a:lnTo>
                  <a:pt x="303050" y="401856"/>
                </a:lnTo>
                <a:lnTo>
                  <a:pt x="250509" y="389692"/>
                </a:lnTo>
                <a:lnTo>
                  <a:pt x="201913" y="375744"/>
                </a:lnTo>
                <a:lnTo>
                  <a:pt x="157638" y="360141"/>
                </a:lnTo>
                <a:lnTo>
                  <a:pt x="118055" y="343015"/>
                </a:lnTo>
                <a:lnTo>
                  <a:pt x="83537" y="324499"/>
                </a:lnTo>
                <a:lnTo>
                  <a:pt x="31193" y="283817"/>
                </a:lnTo>
                <a:lnTo>
                  <a:pt x="3590" y="239147"/>
                </a:lnTo>
                <a:lnTo>
                  <a:pt x="0" y="21564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71844" y="5158740"/>
            <a:ext cx="1224280" cy="433070"/>
          </a:xfrm>
          <a:custGeom>
            <a:avLst/>
            <a:gdLst/>
            <a:ahLst/>
            <a:cxnLst/>
            <a:rect l="l" t="t" r="r" b="b"/>
            <a:pathLst>
              <a:path w="1224279" h="433070">
                <a:moveTo>
                  <a:pt x="611885" y="0"/>
                </a:moveTo>
                <a:lnTo>
                  <a:pt x="545212" y="1269"/>
                </a:lnTo>
                <a:lnTo>
                  <a:pt x="480618" y="4991"/>
                </a:lnTo>
                <a:lnTo>
                  <a:pt x="418478" y="11033"/>
                </a:lnTo>
                <a:lnTo>
                  <a:pt x="359164" y="19263"/>
                </a:lnTo>
                <a:lnTo>
                  <a:pt x="303050" y="29548"/>
                </a:lnTo>
                <a:lnTo>
                  <a:pt x="250509" y="41757"/>
                </a:lnTo>
                <a:lnTo>
                  <a:pt x="201913" y="55758"/>
                </a:lnTo>
                <a:lnTo>
                  <a:pt x="157638" y="71418"/>
                </a:lnTo>
                <a:lnTo>
                  <a:pt x="118055" y="88605"/>
                </a:lnTo>
                <a:lnTo>
                  <a:pt x="83537" y="107187"/>
                </a:lnTo>
                <a:lnTo>
                  <a:pt x="31193" y="148010"/>
                </a:lnTo>
                <a:lnTo>
                  <a:pt x="3590" y="192830"/>
                </a:lnTo>
                <a:lnTo>
                  <a:pt x="0" y="216408"/>
                </a:lnTo>
                <a:lnTo>
                  <a:pt x="3590" y="239985"/>
                </a:lnTo>
                <a:lnTo>
                  <a:pt x="31193" y="284805"/>
                </a:lnTo>
                <a:lnTo>
                  <a:pt x="83537" y="325628"/>
                </a:lnTo>
                <a:lnTo>
                  <a:pt x="118055" y="344210"/>
                </a:lnTo>
                <a:lnTo>
                  <a:pt x="157638" y="361397"/>
                </a:lnTo>
                <a:lnTo>
                  <a:pt x="201913" y="377057"/>
                </a:lnTo>
                <a:lnTo>
                  <a:pt x="250509" y="391058"/>
                </a:lnTo>
                <a:lnTo>
                  <a:pt x="303050" y="403267"/>
                </a:lnTo>
                <a:lnTo>
                  <a:pt x="359164" y="413552"/>
                </a:lnTo>
                <a:lnTo>
                  <a:pt x="418478" y="421782"/>
                </a:lnTo>
                <a:lnTo>
                  <a:pt x="480618" y="427824"/>
                </a:lnTo>
                <a:lnTo>
                  <a:pt x="545212" y="431546"/>
                </a:lnTo>
                <a:lnTo>
                  <a:pt x="611885" y="432816"/>
                </a:lnTo>
                <a:lnTo>
                  <a:pt x="678559" y="431546"/>
                </a:lnTo>
                <a:lnTo>
                  <a:pt x="743153" y="427824"/>
                </a:lnTo>
                <a:lnTo>
                  <a:pt x="805293" y="421782"/>
                </a:lnTo>
                <a:lnTo>
                  <a:pt x="864607" y="413552"/>
                </a:lnTo>
                <a:lnTo>
                  <a:pt x="920721" y="403267"/>
                </a:lnTo>
                <a:lnTo>
                  <a:pt x="973262" y="391058"/>
                </a:lnTo>
                <a:lnTo>
                  <a:pt x="1021858" y="377057"/>
                </a:lnTo>
                <a:lnTo>
                  <a:pt x="1066133" y="361397"/>
                </a:lnTo>
                <a:lnTo>
                  <a:pt x="1105716" y="344210"/>
                </a:lnTo>
                <a:lnTo>
                  <a:pt x="1140234" y="325628"/>
                </a:lnTo>
                <a:lnTo>
                  <a:pt x="1192578" y="284805"/>
                </a:lnTo>
                <a:lnTo>
                  <a:pt x="1220181" y="239985"/>
                </a:lnTo>
                <a:lnTo>
                  <a:pt x="1223772" y="216408"/>
                </a:lnTo>
                <a:lnTo>
                  <a:pt x="1220181" y="192830"/>
                </a:lnTo>
                <a:lnTo>
                  <a:pt x="1192578" y="148010"/>
                </a:lnTo>
                <a:lnTo>
                  <a:pt x="1140234" y="107187"/>
                </a:lnTo>
                <a:lnTo>
                  <a:pt x="1105716" y="88605"/>
                </a:lnTo>
                <a:lnTo>
                  <a:pt x="1066133" y="71418"/>
                </a:lnTo>
                <a:lnTo>
                  <a:pt x="1021858" y="55758"/>
                </a:lnTo>
                <a:lnTo>
                  <a:pt x="973262" y="41757"/>
                </a:lnTo>
                <a:lnTo>
                  <a:pt x="920721" y="29548"/>
                </a:lnTo>
                <a:lnTo>
                  <a:pt x="864607" y="19263"/>
                </a:lnTo>
                <a:lnTo>
                  <a:pt x="805293" y="11033"/>
                </a:lnTo>
                <a:lnTo>
                  <a:pt x="743153" y="4991"/>
                </a:lnTo>
                <a:lnTo>
                  <a:pt x="678559" y="1269"/>
                </a:lnTo>
                <a:lnTo>
                  <a:pt x="6118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71844" y="5158740"/>
            <a:ext cx="1224280" cy="433070"/>
          </a:xfrm>
          <a:custGeom>
            <a:avLst/>
            <a:gdLst/>
            <a:ahLst/>
            <a:cxnLst/>
            <a:rect l="l" t="t" r="r" b="b"/>
            <a:pathLst>
              <a:path w="1224279" h="433070">
                <a:moveTo>
                  <a:pt x="0" y="216408"/>
                </a:moveTo>
                <a:lnTo>
                  <a:pt x="14112" y="169986"/>
                </a:lnTo>
                <a:lnTo>
                  <a:pt x="54459" y="127033"/>
                </a:lnTo>
                <a:lnTo>
                  <a:pt x="118055" y="88605"/>
                </a:lnTo>
                <a:lnTo>
                  <a:pt x="157638" y="71418"/>
                </a:lnTo>
                <a:lnTo>
                  <a:pt x="201913" y="55758"/>
                </a:lnTo>
                <a:lnTo>
                  <a:pt x="250509" y="41757"/>
                </a:lnTo>
                <a:lnTo>
                  <a:pt x="303050" y="29548"/>
                </a:lnTo>
                <a:lnTo>
                  <a:pt x="359164" y="19263"/>
                </a:lnTo>
                <a:lnTo>
                  <a:pt x="418478" y="11033"/>
                </a:lnTo>
                <a:lnTo>
                  <a:pt x="480618" y="4991"/>
                </a:lnTo>
                <a:lnTo>
                  <a:pt x="545212" y="1269"/>
                </a:lnTo>
                <a:lnTo>
                  <a:pt x="611885" y="0"/>
                </a:lnTo>
                <a:lnTo>
                  <a:pt x="678559" y="1269"/>
                </a:lnTo>
                <a:lnTo>
                  <a:pt x="743153" y="4991"/>
                </a:lnTo>
                <a:lnTo>
                  <a:pt x="805293" y="11033"/>
                </a:lnTo>
                <a:lnTo>
                  <a:pt x="864607" y="19263"/>
                </a:lnTo>
                <a:lnTo>
                  <a:pt x="920721" y="29548"/>
                </a:lnTo>
                <a:lnTo>
                  <a:pt x="973262" y="41757"/>
                </a:lnTo>
                <a:lnTo>
                  <a:pt x="1021858" y="55758"/>
                </a:lnTo>
                <a:lnTo>
                  <a:pt x="1066133" y="71418"/>
                </a:lnTo>
                <a:lnTo>
                  <a:pt x="1105716" y="88605"/>
                </a:lnTo>
                <a:lnTo>
                  <a:pt x="1140234" y="107187"/>
                </a:lnTo>
                <a:lnTo>
                  <a:pt x="1192578" y="148010"/>
                </a:lnTo>
                <a:lnTo>
                  <a:pt x="1220181" y="192830"/>
                </a:lnTo>
                <a:lnTo>
                  <a:pt x="1223772" y="216408"/>
                </a:lnTo>
                <a:lnTo>
                  <a:pt x="1220181" y="239985"/>
                </a:lnTo>
                <a:lnTo>
                  <a:pt x="1192578" y="284805"/>
                </a:lnTo>
                <a:lnTo>
                  <a:pt x="1140234" y="325628"/>
                </a:lnTo>
                <a:lnTo>
                  <a:pt x="1105716" y="344210"/>
                </a:lnTo>
                <a:lnTo>
                  <a:pt x="1066133" y="361397"/>
                </a:lnTo>
                <a:lnTo>
                  <a:pt x="1021858" y="377057"/>
                </a:lnTo>
                <a:lnTo>
                  <a:pt x="973262" y="391058"/>
                </a:lnTo>
                <a:lnTo>
                  <a:pt x="920721" y="403267"/>
                </a:lnTo>
                <a:lnTo>
                  <a:pt x="864607" y="413552"/>
                </a:lnTo>
                <a:lnTo>
                  <a:pt x="805293" y="421782"/>
                </a:lnTo>
                <a:lnTo>
                  <a:pt x="743153" y="427824"/>
                </a:lnTo>
                <a:lnTo>
                  <a:pt x="678559" y="431546"/>
                </a:lnTo>
                <a:lnTo>
                  <a:pt x="611885" y="432816"/>
                </a:lnTo>
                <a:lnTo>
                  <a:pt x="545212" y="431546"/>
                </a:lnTo>
                <a:lnTo>
                  <a:pt x="480618" y="427824"/>
                </a:lnTo>
                <a:lnTo>
                  <a:pt x="418478" y="421782"/>
                </a:lnTo>
                <a:lnTo>
                  <a:pt x="359164" y="413552"/>
                </a:lnTo>
                <a:lnTo>
                  <a:pt x="303050" y="403267"/>
                </a:lnTo>
                <a:lnTo>
                  <a:pt x="250509" y="391058"/>
                </a:lnTo>
                <a:lnTo>
                  <a:pt x="201913" y="377057"/>
                </a:lnTo>
                <a:lnTo>
                  <a:pt x="157638" y="361397"/>
                </a:lnTo>
                <a:lnTo>
                  <a:pt x="118055" y="344210"/>
                </a:lnTo>
                <a:lnTo>
                  <a:pt x="83537" y="325628"/>
                </a:lnTo>
                <a:lnTo>
                  <a:pt x="31193" y="284805"/>
                </a:lnTo>
                <a:lnTo>
                  <a:pt x="3590" y="239985"/>
                </a:lnTo>
                <a:lnTo>
                  <a:pt x="0" y="2164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00215" y="5518403"/>
            <a:ext cx="1225550" cy="431800"/>
          </a:xfrm>
          <a:custGeom>
            <a:avLst/>
            <a:gdLst/>
            <a:ahLst/>
            <a:cxnLst/>
            <a:rect l="l" t="t" r="r" b="b"/>
            <a:pathLst>
              <a:path w="1225550" h="431800">
                <a:moveTo>
                  <a:pt x="612648" y="0"/>
                </a:moveTo>
                <a:lnTo>
                  <a:pt x="545898" y="1265"/>
                </a:lnTo>
                <a:lnTo>
                  <a:pt x="481229" y="4973"/>
                </a:lnTo>
                <a:lnTo>
                  <a:pt x="419014" y="10993"/>
                </a:lnTo>
                <a:lnTo>
                  <a:pt x="359628" y="19193"/>
                </a:lnTo>
                <a:lnTo>
                  <a:pt x="303445" y="29441"/>
                </a:lnTo>
                <a:lnTo>
                  <a:pt x="250838" y="41606"/>
                </a:lnTo>
                <a:lnTo>
                  <a:pt x="202181" y="55556"/>
                </a:lnTo>
                <a:lnTo>
                  <a:pt x="157848" y="71160"/>
                </a:lnTo>
                <a:lnTo>
                  <a:pt x="118213" y="88287"/>
                </a:lnTo>
                <a:lnTo>
                  <a:pt x="83650" y="106804"/>
                </a:lnTo>
                <a:lnTo>
                  <a:pt x="31235" y="147484"/>
                </a:lnTo>
                <a:lnTo>
                  <a:pt x="3595" y="192148"/>
                </a:lnTo>
                <a:lnTo>
                  <a:pt x="0" y="215646"/>
                </a:lnTo>
                <a:lnTo>
                  <a:pt x="3595" y="239143"/>
                </a:lnTo>
                <a:lnTo>
                  <a:pt x="31235" y="283807"/>
                </a:lnTo>
                <a:lnTo>
                  <a:pt x="83650" y="324487"/>
                </a:lnTo>
                <a:lnTo>
                  <a:pt x="118213" y="343004"/>
                </a:lnTo>
                <a:lnTo>
                  <a:pt x="157848" y="360131"/>
                </a:lnTo>
                <a:lnTo>
                  <a:pt x="202181" y="375735"/>
                </a:lnTo>
                <a:lnTo>
                  <a:pt x="250838" y="389685"/>
                </a:lnTo>
                <a:lnTo>
                  <a:pt x="303445" y="401850"/>
                </a:lnTo>
                <a:lnTo>
                  <a:pt x="359628" y="412098"/>
                </a:lnTo>
                <a:lnTo>
                  <a:pt x="419014" y="420298"/>
                </a:lnTo>
                <a:lnTo>
                  <a:pt x="481229" y="426318"/>
                </a:lnTo>
                <a:lnTo>
                  <a:pt x="545898" y="430026"/>
                </a:lnTo>
                <a:lnTo>
                  <a:pt x="612648" y="431292"/>
                </a:lnTo>
                <a:lnTo>
                  <a:pt x="679397" y="430026"/>
                </a:lnTo>
                <a:lnTo>
                  <a:pt x="744066" y="426318"/>
                </a:lnTo>
                <a:lnTo>
                  <a:pt x="806281" y="420298"/>
                </a:lnTo>
                <a:lnTo>
                  <a:pt x="865667" y="412098"/>
                </a:lnTo>
                <a:lnTo>
                  <a:pt x="921850" y="401850"/>
                </a:lnTo>
                <a:lnTo>
                  <a:pt x="974457" y="389685"/>
                </a:lnTo>
                <a:lnTo>
                  <a:pt x="1023114" y="375735"/>
                </a:lnTo>
                <a:lnTo>
                  <a:pt x="1067447" y="360131"/>
                </a:lnTo>
                <a:lnTo>
                  <a:pt x="1107082" y="343004"/>
                </a:lnTo>
                <a:lnTo>
                  <a:pt x="1141645" y="324487"/>
                </a:lnTo>
                <a:lnTo>
                  <a:pt x="1194060" y="283807"/>
                </a:lnTo>
                <a:lnTo>
                  <a:pt x="1221700" y="239143"/>
                </a:lnTo>
                <a:lnTo>
                  <a:pt x="1225295" y="215646"/>
                </a:lnTo>
                <a:lnTo>
                  <a:pt x="1221700" y="192148"/>
                </a:lnTo>
                <a:lnTo>
                  <a:pt x="1194060" y="147484"/>
                </a:lnTo>
                <a:lnTo>
                  <a:pt x="1141645" y="106804"/>
                </a:lnTo>
                <a:lnTo>
                  <a:pt x="1107082" y="88287"/>
                </a:lnTo>
                <a:lnTo>
                  <a:pt x="1067447" y="71160"/>
                </a:lnTo>
                <a:lnTo>
                  <a:pt x="1023114" y="55556"/>
                </a:lnTo>
                <a:lnTo>
                  <a:pt x="974457" y="41606"/>
                </a:lnTo>
                <a:lnTo>
                  <a:pt x="921850" y="29441"/>
                </a:lnTo>
                <a:lnTo>
                  <a:pt x="865667" y="19193"/>
                </a:lnTo>
                <a:lnTo>
                  <a:pt x="806281" y="10993"/>
                </a:lnTo>
                <a:lnTo>
                  <a:pt x="744066" y="4973"/>
                </a:lnTo>
                <a:lnTo>
                  <a:pt x="679397" y="1265"/>
                </a:lnTo>
                <a:lnTo>
                  <a:pt x="612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00215" y="5518403"/>
            <a:ext cx="1225550" cy="431800"/>
          </a:xfrm>
          <a:custGeom>
            <a:avLst/>
            <a:gdLst/>
            <a:ahLst/>
            <a:cxnLst/>
            <a:rect l="l" t="t" r="r" b="b"/>
            <a:pathLst>
              <a:path w="1225550" h="431800">
                <a:moveTo>
                  <a:pt x="0" y="215646"/>
                </a:moveTo>
                <a:lnTo>
                  <a:pt x="14131" y="169384"/>
                </a:lnTo>
                <a:lnTo>
                  <a:pt x="54533" y="126580"/>
                </a:lnTo>
                <a:lnTo>
                  <a:pt x="118213" y="88287"/>
                </a:lnTo>
                <a:lnTo>
                  <a:pt x="157848" y="71160"/>
                </a:lnTo>
                <a:lnTo>
                  <a:pt x="202181" y="55556"/>
                </a:lnTo>
                <a:lnTo>
                  <a:pt x="250838" y="41606"/>
                </a:lnTo>
                <a:lnTo>
                  <a:pt x="303445" y="29441"/>
                </a:lnTo>
                <a:lnTo>
                  <a:pt x="359628" y="19193"/>
                </a:lnTo>
                <a:lnTo>
                  <a:pt x="419014" y="10993"/>
                </a:lnTo>
                <a:lnTo>
                  <a:pt x="481229" y="4973"/>
                </a:lnTo>
                <a:lnTo>
                  <a:pt x="545898" y="1265"/>
                </a:lnTo>
                <a:lnTo>
                  <a:pt x="612648" y="0"/>
                </a:lnTo>
                <a:lnTo>
                  <a:pt x="679397" y="1265"/>
                </a:lnTo>
                <a:lnTo>
                  <a:pt x="744066" y="4973"/>
                </a:lnTo>
                <a:lnTo>
                  <a:pt x="806281" y="10993"/>
                </a:lnTo>
                <a:lnTo>
                  <a:pt x="865667" y="19193"/>
                </a:lnTo>
                <a:lnTo>
                  <a:pt x="921850" y="29441"/>
                </a:lnTo>
                <a:lnTo>
                  <a:pt x="974457" y="41606"/>
                </a:lnTo>
                <a:lnTo>
                  <a:pt x="1023114" y="55556"/>
                </a:lnTo>
                <a:lnTo>
                  <a:pt x="1067447" y="71160"/>
                </a:lnTo>
                <a:lnTo>
                  <a:pt x="1107082" y="88287"/>
                </a:lnTo>
                <a:lnTo>
                  <a:pt x="1141645" y="106804"/>
                </a:lnTo>
                <a:lnTo>
                  <a:pt x="1194060" y="147484"/>
                </a:lnTo>
                <a:lnTo>
                  <a:pt x="1221700" y="192148"/>
                </a:lnTo>
                <a:lnTo>
                  <a:pt x="1225295" y="215646"/>
                </a:lnTo>
                <a:lnTo>
                  <a:pt x="1221700" y="239143"/>
                </a:lnTo>
                <a:lnTo>
                  <a:pt x="1194060" y="283807"/>
                </a:lnTo>
                <a:lnTo>
                  <a:pt x="1141645" y="324487"/>
                </a:lnTo>
                <a:lnTo>
                  <a:pt x="1107082" y="343004"/>
                </a:lnTo>
                <a:lnTo>
                  <a:pt x="1067447" y="360131"/>
                </a:lnTo>
                <a:lnTo>
                  <a:pt x="1023114" y="375735"/>
                </a:lnTo>
                <a:lnTo>
                  <a:pt x="974457" y="389685"/>
                </a:lnTo>
                <a:lnTo>
                  <a:pt x="921850" y="401850"/>
                </a:lnTo>
                <a:lnTo>
                  <a:pt x="865667" y="412098"/>
                </a:lnTo>
                <a:lnTo>
                  <a:pt x="806281" y="420298"/>
                </a:lnTo>
                <a:lnTo>
                  <a:pt x="744066" y="426318"/>
                </a:lnTo>
                <a:lnTo>
                  <a:pt x="679397" y="430026"/>
                </a:lnTo>
                <a:lnTo>
                  <a:pt x="612648" y="431292"/>
                </a:lnTo>
                <a:lnTo>
                  <a:pt x="545898" y="430026"/>
                </a:lnTo>
                <a:lnTo>
                  <a:pt x="481229" y="426318"/>
                </a:lnTo>
                <a:lnTo>
                  <a:pt x="419014" y="420298"/>
                </a:lnTo>
                <a:lnTo>
                  <a:pt x="359628" y="412098"/>
                </a:lnTo>
                <a:lnTo>
                  <a:pt x="303445" y="401850"/>
                </a:lnTo>
                <a:lnTo>
                  <a:pt x="250838" y="389685"/>
                </a:lnTo>
                <a:lnTo>
                  <a:pt x="202181" y="375735"/>
                </a:lnTo>
                <a:lnTo>
                  <a:pt x="157848" y="360131"/>
                </a:lnTo>
                <a:lnTo>
                  <a:pt x="118213" y="343004"/>
                </a:lnTo>
                <a:lnTo>
                  <a:pt x="83650" y="324487"/>
                </a:lnTo>
                <a:lnTo>
                  <a:pt x="31235" y="283807"/>
                </a:lnTo>
                <a:lnTo>
                  <a:pt x="3595" y="239143"/>
                </a:lnTo>
                <a:lnTo>
                  <a:pt x="0" y="21564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71818" y="4885690"/>
            <a:ext cx="628650" cy="103949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144145" algn="just">
              <a:lnSpc>
                <a:spcPct val="88600"/>
              </a:lnSpc>
              <a:spcBef>
                <a:spcPts val="425"/>
              </a:spcBef>
            </a:pPr>
            <a:r>
              <a:rPr sz="2400" b="1" dirty="0">
                <a:latin typeface="宋体"/>
                <a:cs typeface="宋体"/>
              </a:rPr>
              <a:t>键</a:t>
            </a:r>
            <a:r>
              <a:rPr sz="2400" b="1" dirty="0">
                <a:latin typeface="Times New Roman"/>
                <a:cs typeface="Times New Roman"/>
              </a:rPr>
              <a:t>3 </a:t>
            </a:r>
            <a:r>
              <a:rPr sz="2400" b="1" dirty="0">
                <a:latin typeface="宋体"/>
                <a:cs typeface="宋体"/>
              </a:rPr>
              <a:t>键</a:t>
            </a:r>
            <a:r>
              <a:rPr sz="2400" b="1" dirty="0">
                <a:latin typeface="Times New Roman"/>
                <a:cs typeface="Times New Roman"/>
              </a:rPr>
              <a:t>2  </a:t>
            </a:r>
            <a:r>
              <a:rPr sz="2400" b="1" dirty="0">
                <a:latin typeface="宋体"/>
                <a:cs typeface="宋体"/>
              </a:rPr>
              <a:t>键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82433" y="4146613"/>
          <a:ext cx="1371600" cy="15956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控制键盘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992">
                <a:tc>
                  <a:txBody>
                    <a:bodyPr/>
                    <a:lstStyle/>
                    <a:p>
                      <a:pPr marL="90170" marR="76200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规格 功能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9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700527" y="5015484"/>
            <a:ext cx="1224280" cy="431800"/>
          </a:xfrm>
          <a:custGeom>
            <a:avLst/>
            <a:gdLst/>
            <a:ahLst/>
            <a:cxnLst/>
            <a:rect l="l" t="t" r="r" b="b"/>
            <a:pathLst>
              <a:path w="1224279" h="431800">
                <a:moveTo>
                  <a:pt x="0" y="215646"/>
                </a:moveTo>
                <a:lnTo>
                  <a:pt x="14112" y="169376"/>
                </a:lnTo>
                <a:lnTo>
                  <a:pt x="54459" y="126569"/>
                </a:lnTo>
                <a:lnTo>
                  <a:pt x="118055" y="88276"/>
                </a:lnTo>
                <a:lnTo>
                  <a:pt x="157638" y="71150"/>
                </a:lnTo>
                <a:lnTo>
                  <a:pt x="201913" y="55547"/>
                </a:lnTo>
                <a:lnTo>
                  <a:pt x="250509" y="41599"/>
                </a:lnTo>
                <a:lnTo>
                  <a:pt x="303050" y="29435"/>
                </a:lnTo>
                <a:lnTo>
                  <a:pt x="359164" y="19189"/>
                </a:lnTo>
                <a:lnTo>
                  <a:pt x="418478" y="10991"/>
                </a:lnTo>
                <a:lnTo>
                  <a:pt x="480618" y="4972"/>
                </a:lnTo>
                <a:lnTo>
                  <a:pt x="545212" y="1265"/>
                </a:lnTo>
                <a:lnTo>
                  <a:pt x="611886" y="0"/>
                </a:lnTo>
                <a:lnTo>
                  <a:pt x="678559" y="1265"/>
                </a:lnTo>
                <a:lnTo>
                  <a:pt x="743153" y="4972"/>
                </a:lnTo>
                <a:lnTo>
                  <a:pt x="805293" y="10991"/>
                </a:lnTo>
                <a:lnTo>
                  <a:pt x="864607" y="19189"/>
                </a:lnTo>
                <a:lnTo>
                  <a:pt x="920721" y="29435"/>
                </a:lnTo>
                <a:lnTo>
                  <a:pt x="973262" y="41599"/>
                </a:lnTo>
                <a:lnTo>
                  <a:pt x="1021858" y="55547"/>
                </a:lnTo>
                <a:lnTo>
                  <a:pt x="1066133" y="71150"/>
                </a:lnTo>
                <a:lnTo>
                  <a:pt x="1105716" y="88276"/>
                </a:lnTo>
                <a:lnTo>
                  <a:pt x="1140234" y="106792"/>
                </a:lnTo>
                <a:lnTo>
                  <a:pt x="1192578" y="147474"/>
                </a:lnTo>
                <a:lnTo>
                  <a:pt x="1220181" y="192144"/>
                </a:lnTo>
                <a:lnTo>
                  <a:pt x="1223772" y="215646"/>
                </a:lnTo>
                <a:lnTo>
                  <a:pt x="1220181" y="239147"/>
                </a:lnTo>
                <a:lnTo>
                  <a:pt x="1192578" y="283817"/>
                </a:lnTo>
                <a:lnTo>
                  <a:pt x="1140234" y="324499"/>
                </a:lnTo>
                <a:lnTo>
                  <a:pt x="1105716" y="343015"/>
                </a:lnTo>
                <a:lnTo>
                  <a:pt x="1066133" y="360141"/>
                </a:lnTo>
                <a:lnTo>
                  <a:pt x="1021858" y="375744"/>
                </a:lnTo>
                <a:lnTo>
                  <a:pt x="973262" y="389692"/>
                </a:lnTo>
                <a:lnTo>
                  <a:pt x="920721" y="401856"/>
                </a:lnTo>
                <a:lnTo>
                  <a:pt x="864607" y="412102"/>
                </a:lnTo>
                <a:lnTo>
                  <a:pt x="805293" y="420300"/>
                </a:lnTo>
                <a:lnTo>
                  <a:pt x="743153" y="426319"/>
                </a:lnTo>
                <a:lnTo>
                  <a:pt x="678559" y="430026"/>
                </a:lnTo>
                <a:lnTo>
                  <a:pt x="611886" y="431292"/>
                </a:lnTo>
                <a:lnTo>
                  <a:pt x="545212" y="430026"/>
                </a:lnTo>
                <a:lnTo>
                  <a:pt x="480618" y="426319"/>
                </a:lnTo>
                <a:lnTo>
                  <a:pt x="418478" y="420300"/>
                </a:lnTo>
                <a:lnTo>
                  <a:pt x="359164" y="412102"/>
                </a:lnTo>
                <a:lnTo>
                  <a:pt x="303050" y="401856"/>
                </a:lnTo>
                <a:lnTo>
                  <a:pt x="250509" y="389692"/>
                </a:lnTo>
                <a:lnTo>
                  <a:pt x="201913" y="375744"/>
                </a:lnTo>
                <a:lnTo>
                  <a:pt x="157638" y="360141"/>
                </a:lnTo>
                <a:lnTo>
                  <a:pt x="118055" y="343015"/>
                </a:lnTo>
                <a:lnTo>
                  <a:pt x="83537" y="324499"/>
                </a:lnTo>
                <a:lnTo>
                  <a:pt x="31193" y="283817"/>
                </a:lnTo>
                <a:lnTo>
                  <a:pt x="3590" y="239147"/>
                </a:lnTo>
                <a:lnTo>
                  <a:pt x="0" y="21564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93263" y="5030216"/>
            <a:ext cx="638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键盘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034410" y="116586"/>
            <a:ext cx="32397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2.1.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类的命名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016" y="994029"/>
            <a:ext cx="7673340" cy="493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3040">
              <a:lnSpc>
                <a:spcPct val="100000"/>
              </a:lnSpc>
              <a:spcBef>
                <a:spcPts val="95"/>
              </a:spcBef>
              <a:buSzPct val="96428"/>
              <a:buFont typeface="Times New Roman"/>
              <a:buAutoNum type="arabicPlain" startAt="3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类名应采</a:t>
            </a:r>
            <a:r>
              <a:rPr sz="2800" spc="-15" dirty="0">
                <a:latin typeface="宋体"/>
                <a:cs typeface="宋体"/>
              </a:rPr>
              <a:t>用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名词</a:t>
            </a:r>
            <a:r>
              <a:rPr sz="2800" spc="-5" dirty="0">
                <a:latin typeface="宋体"/>
                <a:cs typeface="宋体"/>
              </a:rPr>
              <a:t>或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带定语的名词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并</a:t>
            </a:r>
            <a:r>
              <a:rPr sz="2800" spc="-5" dirty="0">
                <a:latin typeface="宋体"/>
                <a:cs typeface="宋体"/>
              </a:rPr>
              <a:t>应注意 </a:t>
            </a:r>
            <a:r>
              <a:rPr sz="2800" spc="-10" dirty="0">
                <a:latin typeface="宋体"/>
                <a:cs typeface="宋体"/>
              </a:rPr>
              <a:t>行业规范的用语，不能使用无实际</a:t>
            </a:r>
            <a:r>
              <a:rPr sz="2800" dirty="0">
                <a:latin typeface="宋体"/>
                <a:cs typeface="宋体"/>
              </a:rPr>
              <a:t>意</a:t>
            </a:r>
            <a:r>
              <a:rPr sz="2800" spc="-10" dirty="0">
                <a:latin typeface="宋体"/>
                <a:cs typeface="宋体"/>
              </a:rPr>
              <a:t>义的</a:t>
            </a:r>
            <a:r>
              <a:rPr sz="2800" dirty="0">
                <a:latin typeface="宋体"/>
                <a:cs typeface="宋体"/>
              </a:rPr>
              <a:t>数</a:t>
            </a:r>
            <a:r>
              <a:rPr sz="2800" spc="-10" dirty="0">
                <a:latin typeface="宋体"/>
                <a:cs typeface="宋体"/>
              </a:rPr>
              <a:t>字或 </a:t>
            </a:r>
            <a:r>
              <a:rPr sz="2800" spc="-5" dirty="0">
                <a:latin typeface="宋体"/>
                <a:cs typeface="宋体"/>
              </a:rPr>
              <a:t>字符作为类名。</a:t>
            </a:r>
            <a:endParaRPr sz="2800" dirty="0">
              <a:latin typeface="宋体"/>
              <a:cs typeface="宋体"/>
            </a:endParaRPr>
          </a:p>
          <a:p>
            <a:pPr marL="12700" marR="192405" algn="just">
              <a:lnSpc>
                <a:spcPct val="98500"/>
              </a:lnSpc>
              <a:spcBef>
                <a:spcPts val="1885"/>
              </a:spcBef>
            </a:pPr>
            <a:r>
              <a:rPr sz="2800" spc="-5" dirty="0">
                <a:latin typeface="宋体"/>
                <a:cs typeface="宋体"/>
              </a:rPr>
              <a:t>例如：定语名词</a:t>
            </a:r>
            <a:r>
              <a:rPr sz="2800" dirty="0">
                <a:latin typeface="宋体"/>
                <a:cs typeface="宋体"/>
              </a:rPr>
              <a:t>“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线装</a:t>
            </a:r>
            <a:r>
              <a:rPr sz="2800" spc="-5" dirty="0">
                <a:latin typeface="宋体"/>
                <a:cs typeface="宋体"/>
              </a:rPr>
              <a:t>书”；“出</a:t>
            </a:r>
            <a:r>
              <a:rPr sz="2800" dirty="0">
                <a:latin typeface="宋体"/>
                <a:cs typeface="宋体"/>
              </a:rPr>
              <a:t>租</a:t>
            </a:r>
            <a:r>
              <a:rPr sz="2800" spc="-5" dirty="0">
                <a:latin typeface="宋体"/>
                <a:cs typeface="宋体"/>
              </a:rPr>
              <a:t>车”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名， </a:t>
            </a:r>
            <a:r>
              <a:rPr sz="2800" spc="-10" dirty="0">
                <a:latin typeface="宋体"/>
                <a:cs typeface="宋体"/>
              </a:rPr>
              <a:t>不要用“面的”命名类；在某化学</a:t>
            </a:r>
            <a:r>
              <a:rPr sz="2800" dirty="0">
                <a:latin typeface="宋体"/>
                <a:cs typeface="宋体"/>
              </a:rPr>
              <a:t>分</a:t>
            </a:r>
            <a:r>
              <a:rPr sz="2800" spc="-10" dirty="0">
                <a:latin typeface="宋体"/>
                <a:cs typeface="宋体"/>
              </a:rPr>
              <a:t>析软</a:t>
            </a:r>
            <a:r>
              <a:rPr sz="2800" dirty="0">
                <a:latin typeface="宋体"/>
                <a:cs typeface="宋体"/>
              </a:rPr>
              <a:t>件</a:t>
            </a:r>
            <a:r>
              <a:rPr sz="2800" spc="-10" dirty="0">
                <a:latin typeface="宋体"/>
                <a:cs typeface="宋体"/>
              </a:rPr>
              <a:t>中，  </a:t>
            </a:r>
            <a:r>
              <a:rPr sz="2800" spc="-5" dirty="0">
                <a:latin typeface="宋体"/>
                <a:cs typeface="宋体"/>
              </a:rPr>
              <a:t>用“碳酸钙沉积岩”做类名，不要</a:t>
            </a:r>
            <a:r>
              <a:rPr sz="2800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“大</a:t>
            </a:r>
            <a:r>
              <a:rPr sz="2800" dirty="0">
                <a:latin typeface="宋体"/>
                <a:cs typeface="宋体"/>
              </a:rPr>
              <a:t>理</a:t>
            </a:r>
            <a:r>
              <a:rPr sz="2800" spc="-5" dirty="0">
                <a:latin typeface="宋体"/>
                <a:cs typeface="宋体"/>
              </a:rPr>
              <a:t>石” 来命名。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400" dirty="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buSzPct val="96428"/>
              <a:buFont typeface="Times New Roman"/>
              <a:buAutoNum type="arabicPlain" startAt="4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使</a:t>
            </a:r>
            <a:r>
              <a:rPr sz="2800" spc="10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适当的</a:t>
            </a:r>
            <a:r>
              <a:rPr sz="2800" spc="10" dirty="0">
                <a:latin typeface="宋体"/>
                <a:cs typeface="宋体"/>
              </a:rPr>
              <a:t>语</a:t>
            </a:r>
            <a:r>
              <a:rPr sz="2800" spc="-5" dirty="0">
                <a:latin typeface="宋体"/>
                <a:cs typeface="宋体"/>
              </a:rPr>
              <a:t>言文字</a:t>
            </a:r>
            <a:r>
              <a:rPr sz="2800" spc="10" dirty="0">
                <a:latin typeface="宋体"/>
                <a:cs typeface="宋体"/>
              </a:rPr>
              <a:t>命</a:t>
            </a:r>
            <a:r>
              <a:rPr sz="2800" spc="-5" dirty="0">
                <a:latin typeface="宋体"/>
                <a:cs typeface="宋体"/>
              </a:rPr>
              <a:t>名类，</a:t>
            </a:r>
            <a:r>
              <a:rPr sz="2800" spc="10" dirty="0">
                <a:latin typeface="宋体"/>
                <a:cs typeface="宋体"/>
              </a:rPr>
              <a:t>无</a:t>
            </a:r>
            <a:r>
              <a:rPr sz="2800" spc="-5" dirty="0">
                <a:latin typeface="宋体"/>
                <a:cs typeface="宋体"/>
              </a:rPr>
              <a:t>论哪种</a:t>
            </a:r>
            <a:r>
              <a:rPr sz="2800" spc="10" dirty="0">
                <a:latin typeface="宋体"/>
                <a:cs typeface="宋体"/>
              </a:rPr>
              <a:t>文</a:t>
            </a:r>
            <a:r>
              <a:rPr sz="2800" spc="-5" dirty="0">
                <a:latin typeface="宋体"/>
                <a:cs typeface="宋体"/>
              </a:rPr>
              <a:t>字， 从编程的角度，都应该标注英文符</a:t>
            </a:r>
            <a:r>
              <a:rPr sz="2800" dirty="0">
                <a:latin typeface="宋体"/>
                <a:cs typeface="宋体"/>
              </a:rPr>
              <a:t>号</a:t>
            </a:r>
            <a:r>
              <a:rPr sz="2800" spc="-5" dirty="0">
                <a:latin typeface="宋体"/>
                <a:cs typeface="宋体"/>
              </a:rPr>
              <a:t>对照。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4410" y="116586"/>
            <a:ext cx="32397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2.1.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/>
              <a:t>类的命名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2420" y="118109"/>
            <a:ext cx="6594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2.2.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类属性及识别筛选策略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65" y="1162304"/>
            <a:ext cx="3576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类的实例属性和类属性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715" y="1784604"/>
            <a:ext cx="8281670" cy="95440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7630" rIns="0" bIns="0" rtlCol="0">
            <a:spAutoFit/>
          </a:bodyPr>
          <a:lstStyle/>
          <a:p>
            <a:pPr marL="91440" marR="360680">
              <a:lnSpc>
                <a:spcPts val="3200"/>
              </a:lnSpc>
              <a:spcBef>
                <a:spcPts val="690"/>
              </a:spcBef>
            </a:pPr>
            <a:r>
              <a:rPr sz="2800" spc="5" dirty="0">
                <a:latin typeface="黑体"/>
                <a:cs typeface="黑体"/>
              </a:rPr>
              <a:t>实例属性定</a:t>
            </a:r>
            <a:r>
              <a:rPr sz="2800" spc="-5" dirty="0">
                <a:latin typeface="黑体"/>
                <a:cs typeface="黑体"/>
              </a:rPr>
              <a:t>义：</a:t>
            </a:r>
            <a:r>
              <a:rPr sz="2800" spc="-5" dirty="0">
                <a:latin typeface="宋体"/>
                <a:cs typeface="宋体"/>
              </a:rPr>
              <a:t>类的构成元素，用于描述类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所对应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的事物</a:t>
            </a:r>
            <a:r>
              <a:rPr sz="2800" spc="-10" dirty="0">
                <a:latin typeface="宋体"/>
                <a:cs typeface="宋体"/>
              </a:rPr>
              <a:t>的一个性质。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3300425"/>
            <a:ext cx="7827645" cy="25666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080" indent="-342900">
              <a:lnSpc>
                <a:spcPts val="3210"/>
              </a:lnSpc>
              <a:spcBef>
                <a:spcPts val="33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宋体"/>
                <a:cs typeface="宋体"/>
              </a:rPr>
              <a:t>实例属性与问题域和系统责任紧密</a:t>
            </a:r>
            <a:r>
              <a:rPr sz="2800" dirty="0">
                <a:latin typeface="宋体"/>
                <a:cs typeface="宋体"/>
              </a:rPr>
              <a:t>相</a:t>
            </a:r>
            <a:r>
              <a:rPr sz="2800" spc="-10" dirty="0">
                <a:latin typeface="宋体"/>
                <a:cs typeface="宋体"/>
              </a:rPr>
              <a:t>关；</a:t>
            </a:r>
            <a:r>
              <a:rPr sz="2800" dirty="0">
                <a:latin typeface="宋体"/>
                <a:cs typeface="宋体"/>
              </a:rPr>
              <a:t>它</a:t>
            </a:r>
            <a:r>
              <a:rPr sz="2800" spc="-10" dirty="0">
                <a:latin typeface="宋体"/>
                <a:cs typeface="宋体"/>
              </a:rPr>
              <a:t>并不 </a:t>
            </a:r>
            <a:r>
              <a:rPr sz="2800" spc="-5" dirty="0">
                <a:latin typeface="宋体"/>
                <a:cs typeface="宋体"/>
              </a:rPr>
              <a:t>是对象具有的全部属性</a:t>
            </a:r>
            <a:endParaRPr sz="2800">
              <a:latin typeface="宋体"/>
              <a:cs typeface="宋体"/>
            </a:endParaRPr>
          </a:p>
          <a:p>
            <a:pPr marL="355600" marR="5080" indent="-342900">
              <a:lnSpc>
                <a:spcPts val="3210"/>
              </a:lnSpc>
              <a:spcBef>
                <a:spcPts val="1980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每个实例属性有唯一的名字，其值</a:t>
            </a:r>
            <a:r>
              <a:rPr sz="2800" dirty="0">
                <a:latin typeface="宋体"/>
                <a:cs typeface="宋体"/>
              </a:rPr>
              <a:t>属</a:t>
            </a:r>
            <a:r>
              <a:rPr sz="2800" spc="-5" dirty="0">
                <a:latin typeface="宋体"/>
                <a:cs typeface="宋体"/>
              </a:rPr>
              <a:t>于给</a:t>
            </a:r>
            <a:r>
              <a:rPr sz="2800" dirty="0">
                <a:latin typeface="宋体"/>
                <a:cs typeface="宋体"/>
              </a:rPr>
              <a:t>定</a:t>
            </a:r>
            <a:r>
              <a:rPr sz="2800" spc="-5" dirty="0">
                <a:latin typeface="宋体"/>
                <a:cs typeface="宋体"/>
              </a:rPr>
              <a:t>的类 型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595"/>
              </a:spcBef>
              <a:buFont typeface="Times New Roman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宋体"/>
                <a:cs typeface="宋体"/>
              </a:rPr>
              <a:t>实例属性具有可见性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2816" y="1325880"/>
            <a:ext cx="8278495" cy="1385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91440" marR="359410" algn="just">
              <a:lnSpc>
                <a:spcPct val="97700"/>
              </a:lnSpc>
              <a:spcBef>
                <a:spcPts val="530"/>
              </a:spcBef>
            </a:pPr>
            <a:r>
              <a:rPr sz="2800" dirty="0">
                <a:latin typeface="黑体"/>
                <a:cs typeface="黑体"/>
              </a:rPr>
              <a:t>类属性定义</a:t>
            </a:r>
            <a:r>
              <a:rPr sz="2800" spc="-10" dirty="0">
                <a:latin typeface="黑体"/>
                <a:cs typeface="黑体"/>
              </a:rPr>
              <a:t>：</a:t>
            </a:r>
            <a:r>
              <a:rPr sz="2800" spc="-10" dirty="0">
                <a:latin typeface="宋体"/>
                <a:cs typeface="宋体"/>
              </a:rPr>
              <a:t>类属性是描述一个类</a:t>
            </a:r>
            <a:r>
              <a:rPr sz="2800" spc="-5" dirty="0">
                <a:latin typeface="宋体"/>
                <a:cs typeface="宋体"/>
              </a:rPr>
              <a:t>的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所有对象的共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同性质</a:t>
            </a:r>
            <a:r>
              <a:rPr sz="2800" spc="-5" dirty="0">
                <a:latin typeface="宋体"/>
                <a:cs typeface="宋体"/>
              </a:rPr>
              <a:t>的一个数据项，对</a:t>
            </a:r>
            <a:r>
              <a:rPr sz="2800" dirty="0">
                <a:latin typeface="宋体"/>
                <a:cs typeface="宋体"/>
              </a:rPr>
              <a:t>于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该类的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任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何对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象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，它的 属性值是相同的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065" y="3070605"/>
            <a:ext cx="7839709" cy="27673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320"/>
              </a:spcBef>
            </a:pPr>
            <a:r>
              <a:rPr sz="2800" spc="-5" dirty="0">
                <a:latin typeface="宋体"/>
                <a:cs typeface="宋体"/>
              </a:rPr>
              <a:t>类属性，对一个类的全部对象只有</a:t>
            </a:r>
            <a:r>
              <a:rPr sz="2800" dirty="0">
                <a:latin typeface="宋体"/>
                <a:cs typeface="宋体"/>
              </a:rPr>
              <a:t>一</a:t>
            </a:r>
            <a:r>
              <a:rPr sz="2800" spc="-5" dirty="0">
                <a:latin typeface="宋体"/>
                <a:cs typeface="宋体"/>
              </a:rPr>
              <a:t>份共</a:t>
            </a:r>
            <a:r>
              <a:rPr sz="2800" dirty="0">
                <a:latin typeface="宋体"/>
                <a:cs typeface="宋体"/>
              </a:rPr>
              <a:t>同</a:t>
            </a:r>
            <a:r>
              <a:rPr sz="2800" spc="-5" dirty="0">
                <a:latin typeface="宋体"/>
                <a:cs typeface="宋体"/>
              </a:rPr>
              <a:t>的数据 空间；在</a:t>
            </a:r>
            <a:r>
              <a:rPr sz="2800" dirty="0">
                <a:latin typeface="宋体"/>
                <a:cs typeface="宋体"/>
              </a:rPr>
              <a:t>C++</a:t>
            </a:r>
            <a:r>
              <a:rPr sz="2800" spc="-5" dirty="0">
                <a:latin typeface="宋体"/>
                <a:cs typeface="宋体"/>
              </a:rPr>
              <a:t>中可以用</a:t>
            </a:r>
            <a:r>
              <a:rPr sz="2800" dirty="0">
                <a:latin typeface="Arial"/>
                <a:cs typeface="Arial"/>
              </a:rPr>
              <a:t>static</a:t>
            </a:r>
            <a:r>
              <a:rPr sz="2800" spc="-5" dirty="0">
                <a:latin typeface="宋体"/>
                <a:cs typeface="宋体"/>
              </a:rPr>
              <a:t>静态成员说明符标出。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宋体"/>
              <a:cs typeface="宋体"/>
            </a:endParaRPr>
          </a:p>
          <a:p>
            <a:pPr marL="85725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实例属性和类属性的区别和作用：</a:t>
            </a:r>
            <a:endParaRPr sz="2800" dirty="0">
              <a:latin typeface="宋体"/>
              <a:cs typeface="宋体"/>
            </a:endParaRPr>
          </a:p>
          <a:p>
            <a:pPr marL="475615" indent="-390525">
              <a:lnSpc>
                <a:spcPct val="100000"/>
              </a:lnSpc>
              <a:spcBef>
                <a:spcPts val="1680"/>
              </a:spcBef>
              <a:buFont typeface="Times New Roman"/>
              <a:buChar char="•"/>
              <a:tabLst>
                <a:tab pos="475615" algn="l"/>
                <a:tab pos="476250" algn="l"/>
              </a:tabLst>
            </a:pPr>
            <a:r>
              <a:rPr sz="2800" spc="-5" dirty="0">
                <a:latin typeface="宋体"/>
                <a:cs typeface="宋体"/>
              </a:rPr>
              <a:t>实例属性</a:t>
            </a:r>
            <a:r>
              <a:rPr sz="2800" spc="-5" dirty="0">
                <a:latin typeface="Times New Roman"/>
                <a:cs typeface="Times New Roman"/>
              </a:rPr>
              <a:t>----</a:t>
            </a:r>
            <a:r>
              <a:rPr sz="2800" spc="-5" dirty="0">
                <a:latin typeface="宋体"/>
                <a:cs typeface="宋体"/>
              </a:rPr>
              <a:t>用于不同性质的同种</a:t>
            </a:r>
            <a:r>
              <a:rPr sz="2800" dirty="0">
                <a:latin typeface="宋体"/>
                <a:cs typeface="宋体"/>
              </a:rPr>
              <a:t>个</a:t>
            </a:r>
            <a:r>
              <a:rPr sz="2800" spc="-5" dirty="0">
                <a:latin typeface="宋体"/>
                <a:cs typeface="宋体"/>
              </a:rPr>
              <a:t>体。</a:t>
            </a:r>
            <a:endParaRPr sz="2800" dirty="0">
              <a:latin typeface="宋体"/>
              <a:cs typeface="宋体"/>
            </a:endParaRPr>
          </a:p>
          <a:p>
            <a:pPr marL="475615" indent="-390525">
              <a:lnSpc>
                <a:spcPct val="100000"/>
              </a:lnSpc>
              <a:buFont typeface="Times New Roman"/>
              <a:buChar char="•"/>
              <a:tabLst>
                <a:tab pos="475615" algn="l"/>
                <a:tab pos="476250" algn="l"/>
              </a:tabLst>
            </a:pPr>
            <a:r>
              <a:rPr sz="2800" spc="-10" dirty="0">
                <a:latin typeface="宋体"/>
                <a:cs typeface="宋体"/>
              </a:rPr>
              <a:t>类属性</a:t>
            </a:r>
            <a:r>
              <a:rPr sz="2800" spc="-5" dirty="0">
                <a:latin typeface="Times New Roman"/>
                <a:cs typeface="Times New Roman"/>
              </a:rPr>
              <a:t>-------</a:t>
            </a:r>
            <a:r>
              <a:rPr sz="2800" spc="-10" dirty="0">
                <a:latin typeface="宋体"/>
                <a:cs typeface="宋体"/>
              </a:rPr>
              <a:t>用于相同性质的同种</a:t>
            </a:r>
            <a:r>
              <a:rPr sz="2800" dirty="0">
                <a:latin typeface="宋体"/>
                <a:cs typeface="宋体"/>
              </a:rPr>
              <a:t>个</a:t>
            </a:r>
            <a:r>
              <a:rPr sz="2800" spc="-10" dirty="0">
                <a:latin typeface="宋体"/>
                <a:cs typeface="宋体"/>
              </a:rPr>
              <a:t>体。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97965" y="129920"/>
            <a:ext cx="6594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2.2.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类属性及识别筛选策略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7172" y="1157173"/>
            <a:ext cx="7842250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8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宋体"/>
                <a:cs typeface="宋体"/>
              </a:rPr>
              <a:t>注意：在特定的问题中，有些个体</a:t>
            </a:r>
            <a:r>
              <a:rPr sz="2800" dirty="0">
                <a:latin typeface="宋体"/>
                <a:cs typeface="宋体"/>
              </a:rPr>
              <a:t>同</a:t>
            </a:r>
            <a:r>
              <a:rPr sz="2800" spc="-10" dirty="0">
                <a:latin typeface="宋体"/>
                <a:cs typeface="宋体"/>
              </a:rPr>
              <a:t>时具</a:t>
            </a:r>
            <a:r>
              <a:rPr sz="2800" dirty="0">
                <a:latin typeface="宋体"/>
                <a:cs typeface="宋体"/>
              </a:rPr>
              <a:t>备</a:t>
            </a:r>
            <a:r>
              <a:rPr sz="2800" spc="-10" dirty="0">
                <a:latin typeface="宋体"/>
                <a:cs typeface="宋体"/>
              </a:rPr>
              <a:t>某些不 </a:t>
            </a:r>
            <a:r>
              <a:rPr sz="2800" spc="-5" dirty="0">
                <a:latin typeface="宋体"/>
                <a:cs typeface="宋体"/>
              </a:rPr>
              <a:t>同的性质和共同的性质。</a:t>
            </a:r>
            <a:endParaRPr sz="2800">
              <a:latin typeface="宋体"/>
              <a:cs typeface="宋体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宋体"/>
                <a:cs typeface="宋体"/>
              </a:rPr>
              <a:t>例如：一个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仪表产品测试</a:t>
            </a:r>
            <a:r>
              <a:rPr sz="2800" spc="-5" dirty="0">
                <a:latin typeface="宋体"/>
                <a:cs typeface="宋体"/>
              </a:rPr>
              <a:t>系统中，</a:t>
            </a:r>
            <a:r>
              <a:rPr sz="2800" dirty="0">
                <a:latin typeface="宋体"/>
                <a:cs typeface="宋体"/>
              </a:rPr>
              <a:t>每</a:t>
            </a:r>
            <a:r>
              <a:rPr sz="2800" spc="-5" dirty="0">
                <a:latin typeface="宋体"/>
                <a:cs typeface="宋体"/>
              </a:rPr>
              <a:t>台仪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5" dirty="0">
                <a:latin typeface="宋体"/>
                <a:cs typeface="宋体"/>
              </a:rPr>
              <a:t>的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输入 电压、功率及质量指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标</a:t>
            </a:r>
            <a:r>
              <a:rPr sz="2800" spc="-5" dirty="0">
                <a:latin typeface="宋体"/>
                <a:cs typeface="宋体"/>
              </a:rPr>
              <a:t>都是相同的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但每</a:t>
            </a:r>
            <a:r>
              <a:rPr sz="2800" dirty="0">
                <a:latin typeface="宋体"/>
                <a:cs typeface="宋体"/>
              </a:rPr>
              <a:t>台</a:t>
            </a:r>
            <a:r>
              <a:rPr sz="2800" spc="-5" dirty="0">
                <a:latin typeface="宋体"/>
                <a:cs typeface="宋体"/>
              </a:rPr>
              <a:t>仪表的 </a:t>
            </a:r>
            <a:r>
              <a:rPr sz="2800" spc="-10" dirty="0">
                <a:solidFill>
                  <a:srgbClr val="00A15F"/>
                </a:solidFill>
                <a:latin typeface="宋体"/>
                <a:cs typeface="宋体"/>
              </a:rPr>
              <a:t>编号、精度和实际达到的性能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值</a:t>
            </a:r>
            <a:r>
              <a:rPr sz="2800" spc="-5" dirty="0">
                <a:latin typeface="宋体"/>
                <a:cs typeface="宋体"/>
              </a:rPr>
              <a:t>却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同。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59901" y="3517201"/>
          <a:ext cx="1371600" cy="17480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仪表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2144">
                <a:tc>
                  <a:txBody>
                    <a:bodyPr/>
                    <a:lstStyle/>
                    <a:p>
                      <a:pPr marL="90805" marR="248285" algn="just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输出电压 输出功率 质量指标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1366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9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158484" y="4312920"/>
            <a:ext cx="1224280" cy="433070"/>
          </a:xfrm>
          <a:custGeom>
            <a:avLst/>
            <a:gdLst/>
            <a:ahLst/>
            <a:cxnLst/>
            <a:rect l="l" t="t" r="r" b="b"/>
            <a:pathLst>
              <a:path w="1224279" h="433070">
                <a:moveTo>
                  <a:pt x="0" y="216407"/>
                </a:moveTo>
                <a:lnTo>
                  <a:pt x="14112" y="169986"/>
                </a:lnTo>
                <a:lnTo>
                  <a:pt x="54459" y="127033"/>
                </a:lnTo>
                <a:lnTo>
                  <a:pt x="118055" y="88605"/>
                </a:lnTo>
                <a:lnTo>
                  <a:pt x="157638" y="71418"/>
                </a:lnTo>
                <a:lnTo>
                  <a:pt x="201913" y="55758"/>
                </a:lnTo>
                <a:lnTo>
                  <a:pt x="250509" y="41757"/>
                </a:lnTo>
                <a:lnTo>
                  <a:pt x="303050" y="29548"/>
                </a:lnTo>
                <a:lnTo>
                  <a:pt x="359164" y="19263"/>
                </a:lnTo>
                <a:lnTo>
                  <a:pt x="418478" y="11033"/>
                </a:lnTo>
                <a:lnTo>
                  <a:pt x="480618" y="4991"/>
                </a:lnTo>
                <a:lnTo>
                  <a:pt x="545212" y="1269"/>
                </a:lnTo>
                <a:lnTo>
                  <a:pt x="611886" y="0"/>
                </a:lnTo>
                <a:lnTo>
                  <a:pt x="678559" y="1269"/>
                </a:lnTo>
                <a:lnTo>
                  <a:pt x="743153" y="4991"/>
                </a:lnTo>
                <a:lnTo>
                  <a:pt x="805293" y="11033"/>
                </a:lnTo>
                <a:lnTo>
                  <a:pt x="864607" y="19263"/>
                </a:lnTo>
                <a:lnTo>
                  <a:pt x="920721" y="29548"/>
                </a:lnTo>
                <a:lnTo>
                  <a:pt x="973262" y="41757"/>
                </a:lnTo>
                <a:lnTo>
                  <a:pt x="1021858" y="55758"/>
                </a:lnTo>
                <a:lnTo>
                  <a:pt x="1066133" y="71418"/>
                </a:lnTo>
                <a:lnTo>
                  <a:pt x="1105716" y="88605"/>
                </a:lnTo>
                <a:lnTo>
                  <a:pt x="1140234" y="107187"/>
                </a:lnTo>
                <a:lnTo>
                  <a:pt x="1192578" y="148010"/>
                </a:lnTo>
                <a:lnTo>
                  <a:pt x="1220181" y="192830"/>
                </a:lnTo>
                <a:lnTo>
                  <a:pt x="1223771" y="216407"/>
                </a:lnTo>
                <a:lnTo>
                  <a:pt x="1220181" y="239985"/>
                </a:lnTo>
                <a:lnTo>
                  <a:pt x="1192578" y="284805"/>
                </a:lnTo>
                <a:lnTo>
                  <a:pt x="1140234" y="325627"/>
                </a:lnTo>
                <a:lnTo>
                  <a:pt x="1105716" y="344210"/>
                </a:lnTo>
                <a:lnTo>
                  <a:pt x="1066133" y="361397"/>
                </a:lnTo>
                <a:lnTo>
                  <a:pt x="1021858" y="377057"/>
                </a:lnTo>
                <a:lnTo>
                  <a:pt x="973262" y="391058"/>
                </a:lnTo>
                <a:lnTo>
                  <a:pt x="920721" y="403267"/>
                </a:lnTo>
                <a:lnTo>
                  <a:pt x="864607" y="413552"/>
                </a:lnTo>
                <a:lnTo>
                  <a:pt x="805293" y="421782"/>
                </a:lnTo>
                <a:lnTo>
                  <a:pt x="743153" y="427824"/>
                </a:lnTo>
                <a:lnTo>
                  <a:pt x="678559" y="431545"/>
                </a:lnTo>
                <a:lnTo>
                  <a:pt x="611886" y="432815"/>
                </a:lnTo>
                <a:lnTo>
                  <a:pt x="545212" y="431545"/>
                </a:lnTo>
                <a:lnTo>
                  <a:pt x="480618" y="427824"/>
                </a:lnTo>
                <a:lnTo>
                  <a:pt x="418478" y="421782"/>
                </a:lnTo>
                <a:lnTo>
                  <a:pt x="359164" y="413552"/>
                </a:lnTo>
                <a:lnTo>
                  <a:pt x="303050" y="403267"/>
                </a:lnTo>
                <a:lnTo>
                  <a:pt x="250509" y="391058"/>
                </a:lnTo>
                <a:lnTo>
                  <a:pt x="201913" y="377057"/>
                </a:lnTo>
                <a:lnTo>
                  <a:pt x="157638" y="361397"/>
                </a:lnTo>
                <a:lnTo>
                  <a:pt x="118055" y="344210"/>
                </a:lnTo>
                <a:lnTo>
                  <a:pt x="83537" y="325628"/>
                </a:lnTo>
                <a:lnTo>
                  <a:pt x="31193" y="284805"/>
                </a:lnTo>
                <a:lnTo>
                  <a:pt x="3590" y="239985"/>
                </a:lnTo>
                <a:lnTo>
                  <a:pt x="0" y="2164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85332" y="4602479"/>
            <a:ext cx="1224280" cy="431800"/>
          </a:xfrm>
          <a:custGeom>
            <a:avLst/>
            <a:gdLst/>
            <a:ahLst/>
            <a:cxnLst/>
            <a:rect l="l" t="t" r="r" b="b"/>
            <a:pathLst>
              <a:path w="1224279" h="431800">
                <a:moveTo>
                  <a:pt x="611886" y="0"/>
                </a:moveTo>
                <a:lnTo>
                  <a:pt x="545212" y="1265"/>
                </a:lnTo>
                <a:lnTo>
                  <a:pt x="480618" y="4972"/>
                </a:lnTo>
                <a:lnTo>
                  <a:pt x="418478" y="10991"/>
                </a:lnTo>
                <a:lnTo>
                  <a:pt x="359164" y="19189"/>
                </a:lnTo>
                <a:lnTo>
                  <a:pt x="303050" y="29435"/>
                </a:lnTo>
                <a:lnTo>
                  <a:pt x="250509" y="41599"/>
                </a:lnTo>
                <a:lnTo>
                  <a:pt x="201913" y="55547"/>
                </a:lnTo>
                <a:lnTo>
                  <a:pt x="157638" y="71150"/>
                </a:lnTo>
                <a:lnTo>
                  <a:pt x="118055" y="88276"/>
                </a:lnTo>
                <a:lnTo>
                  <a:pt x="83537" y="106792"/>
                </a:lnTo>
                <a:lnTo>
                  <a:pt x="31193" y="147474"/>
                </a:lnTo>
                <a:lnTo>
                  <a:pt x="3590" y="192144"/>
                </a:lnTo>
                <a:lnTo>
                  <a:pt x="0" y="215646"/>
                </a:lnTo>
                <a:lnTo>
                  <a:pt x="3590" y="239147"/>
                </a:lnTo>
                <a:lnTo>
                  <a:pt x="31193" y="283817"/>
                </a:lnTo>
                <a:lnTo>
                  <a:pt x="83537" y="324499"/>
                </a:lnTo>
                <a:lnTo>
                  <a:pt x="118055" y="343015"/>
                </a:lnTo>
                <a:lnTo>
                  <a:pt x="157638" y="360141"/>
                </a:lnTo>
                <a:lnTo>
                  <a:pt x="201913" y="375744"/>
                </a:lnTo>
                <a:lnTo>
                  <a:pt x="250509" y="389692"/>
                </a:lnTo>
                <a:lnTo>
                  <a:pt x="303050" y="401856"/>
                </a:lnTo>
                <a:lnTo>
                  <a:pt x="359164" y="412102"/>
                </a:lnTo>
                <a:lnTo>
                  <a:pt x="418478" y="420300"/>
                </a:lnTo>
                <a:lnTo>
                  <a:pt x="480618" y="426319"/>
                </a:lnTo>
                <a:lnTo>
                  <a:pt x="545212" y="430026"/>
                </a:lnTo>
                <a:lnTo>
                  <a:pt x="611886" y="431292"/>
                </a:lnTo>
                <a:lnTo>
                  <a:pt x="678559" y="430026"/>
                </a:lnTo>
                <a:lnTo>
                  <a:pt x="743153" y="426319"/>
                </a:lnTo>
                <a:lnTo>
                  <a:pt x="805293" y="420300"/>
                </a:lnTo>
                <a:lnTo>
                  <a:pt x="864607" y="412102"/>
                </a:lnTo>
                <a:lnTo>
                  <a:pt x="920721" y="401856"/>
                </a:lnTo>
                <a:lnTo>
                  <a:pt x="973262" y="389692"/>
                </a:lnTo>
                <a:lnTo>
                  <a:pt x="1021858" y="375744"/>
                </a:lnTo>
                <a:lnTo>
                  <a:pt x="1066133" y="360141"/>
                </a:lnTo>
                <a:lnTo>
                  <a:pt x="1105716" y="343015"/>
                </a:lnTo>
                <a:lnTo>
                  <a:pt x="1140234" y="324499"/>
                </a:lnTo>
                <a:lnTo>
                  <a:pt x="1192578" y="283817"/>
                </a:lnTo>
                <a:lnTo>
                  <a:pt x="1220181" y="239147"/>
                </a:lnTo>
                <a:lnTo>
                  <a:pt x="1223771" y="215646"/>
                </a:lnTo>
                <a:lnTo>
                  <a:pt x="1220181" y="192144"/>
                </a:lnTo>
                <a:lnTo>
                  <a:pt x="1192578" y="147474"/>
                </a:lnTo>
                <a:lnTo>
                  <a:pt x="1140234" y="106792"/>
                </a:lnTo>
                <a:lnTo>
                  <a:pt x="1105716" y="88276"/>
                </a:lnTo>
                <a:lnTo>
                  <a:pt x="1066133" y="71150"/>
                </a:lnTo>
                <a:lnTo>
                  <a:pt x="1021858" y="55547"/>
                </a:lnTo>
                <a:lnTo>
                  <a:pt x="973262" y="41599"/>
                </a:lnTo>
                <a:lnTo>
                  <a:pt x="920721" y="29435"/>
                </a:lnTo>
                <a:lnTo>
                  <a:pt x="864607" y="19189"/>
                </a:lnTo>
                <a:lnTo>
                  <a:pt x="805293" y="10991"/>
                </a:lnTo>
                <a:lnTo>
                  <a:pt x="743153" y="4972"/>
                </a:lnTo>
                <a:lnTo>
                  <a:pt x="678559" y="1265"/>
                </a:lnTo>
                <a:lnTo>
                  <a:pt x="6118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85332" y="4602479"/>
            <a:ext cx="1224280" cy="431800"/>
          </a:xfrm>
          <a:custGeom>
            <a:avLst/>
            <a:gdLst/>
            <a:ahLst/>
            <a:cxnLst/>
            <a:rect l="l" t="t" r="r" b="b"/>
            <a:pathLst>
              <a:path w="1224279" h="431800">
                <a:moveTo>
                  <a:pt x="0" y="215646"/>
                </a:moveTo>
                <a:lnTo>
                  <a:pt x="14112" y="169376"/>
                </a:lnTo>
                <a:lnTo>
                  <a:pt x="54459" y="126569"/>
                </a:lnTo>
                <a:lnTo>
                  <a:pt x="118055" y="88276"/>
                </a:lnTo>
                <a:lnTo>
                  <a:pt x="157638" y="71150"/>
                </a:lnTo>
                <a:lnTo>
                  <a:pt x="201913" y="55547"/>
                </a:lnTo>
                <a:lnTo>
                  <a:pt x="250509" y="41599"/>
                </a:lnTo>
                <a:lnTo>
                  <a:pt x="303050" y="29435"/>
                </a:lnTo>
                <a:lnTo>
                  <a:pt x="359164" y="19189"/>
                </a:lnTo>
                <a:lnTo>
                  <a:pt x="418478" y="10991"/>
                </a:lnTo>
                <a:lnTo>
                  <a:pt x="480618" y="4972"/>
                </a:lnTo>
                <a:lnTo>
                  <a:pt x="545212" y="1265"/>
                </a:lnTo>
                <a:lnTo>
                  <a:pt x="611886" y="0"/>
                </a:lnTo>
                <a:lnTo>
                  <a:pt x="678559" y="1265"/>
                </a:lnTo>
                <a:lnTo>
                  <a:pt x="743153" y="4972"/>
                </a:lnTo>
                <a:lnTo>
                  <a:pt x="805293" y="10991"/>
                </a:lnTo>
                <a:lnTo>
                  <a:pt x="864607" y="19189"/>
                </a:lnTo>
                <a:lnTo>
                  <a:pt x="920721" y="29435"/>
                </a:lnTo>
                <a:lnTo>
                  <a:pt x="973262" y="41599"/>
                </a:lnTo>
                <a:lnTo>
                  <a:pt x="1021858" y="55547"/>
                </a:lnTo>
                <a:lnTo>
                  <a:pt x="1066133" y="71150"/>
                </a:lnTo>
                <a:lnTo>
                  <a:pt x="1105716" y="88276"/>
                </a:lnTo>
                <a:lnTo>
                  <a:pt x="1140234" y="106792"/>
                </a:lnTo>
                <a:lnTo>
                  <a:pt x="1192578" y="147474"/>
                </a:lnTo>
                <a:lnTo>
                  <a:pt x="1220181" y="192144"/>
                </a:lnTo>
                <a:lnTo>
                  <a:pt x="1223771" y="215646"/>
                </a:lnTo>
                <a:lnTo>
                  <a:pt x="1220181" y="239147"/>
                </a:lnTo>
                <a:lnTo>
                  <a:pt x="1192578" y="283817"/>
                </a:lnTo>
                <a:lnTo>
                  <a:pt x="1140234" y="324499"/>
                </a:lnTo>
                <a:lnTo>
                  <a:pt x="1105716" y="343015"/>
                </a:lnTo>
                <a:lnTo>
                  <a:pt x="1066133" y="360141"/>
                </a:lnTo>
                <a:lnTo>
                  <a:pt x="1021858" y="375744"/>
                </a:lnTo>
                <a:lnTo>
                  <a:pt x="973262" y="389692"/>
                </a:lnTo>
                <a:lnTo>
                  <a:pt x="920721" y="401856"/>
                </a:lnTo>
                <a:lnTo>
                  <a:pt x="864607" y="412102"/>
                </a:lnTo>
                <a:lnTo>
                  <a:pt x="805293" y="420300"/>
                </a:lnTo>
                <a:lnTo>
                  <a:pt x="743153" y="426319"/>
                </a:lnTo>
                <a:lnTo>
                  <a:pt x="678559" y="430026"/>
                </a:lnTo>
                <a:lnTo>
                  <a:pt x="611886" y="431292"/>
                </a:lnTo>
                <a:lnTo>
                  <a:pt x="545212" y="430026"/>
                </a:lnTo>
                <a:lnTo>
                  <a:pt x="480618" y="426319"/>
                </a:lnTo>
                <a:lnTo>
                  <a:pt x="418478" y="420300"/>
                </a:lnTo>
                <a:lnTo>
                  <a:pt x="359164" y="412102"/>
                </a:lnTo>
                <a:lnTo>
                  <a:pt x="303050" y="401856"/>
                </a:lnTo>
                <a:lnTo>
                  <a:pt x="250509" y="389692"/>
                </a:lnTo>
                <a:lnTo>
                  <a:pt x="201913" y="375744"/>
                </a:lnTo>
                <a:lnTo>
                  <a:pt x="157638" y="360141"/>
                </a:lnTo>
                <a:lnTo>
                  <a:pt x="118055" y="343015"/>
                </a:lnTo>
                <a:lnTo>
                  <a:pt x="83537" y="324499"/>
                </a:lnTo>
                <a:lnTo>
                  <a:pt x="31193" y="283817"/>
                </a:lnTo>
                <a:lnTo>
                  <a:pt x="3590" y="239147"/>
                </a:lnTo>
                <a:lnTo>
                  <a:pt x="0" y="21564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13703" y="4960620"/>
            <a:ext cx="1224280" cy="433070"/>
          </a:xfrm>
          <a:custGeom>
            <a:avLst/>
            <a:gdLst/>
            <a:ahLst/>
            <a:cxnLst/>
            <a:rect l="l" t="t" r="r" b="b"/>
            <a:pathLst>
              <a:path w="1224279" h="433070">
                <a:moveTo>
                  <a:pt x="611886" y="0"/>
                </a:moveTo>
                <a:lnTo>
                  <a:pt x="545212" y="1269"/>
                </a:lnTo>
                <a:lnTo>
                  <a:pt x="480618" y="4991"/>
                </a:lnTo>
                <a:lnTo>
                  <a:pt x="418478" y="11033"/>
                </a:lnTo>
                <a:lnTo>
                  <a:pt x="359164" y="19263"/>
                </a:lnTo>
                <a:lnTo>
                  <a:pt x="303050" y="29548"/>
                </a:lnTo>
                <a:lnTo>
                  <a:pt x="250509" y="41757"/>
                </a:lnTo>
                <a:lnTo>
                  <a:pt x="201913" y="55758"/>
                </a:lnTo>
                <a:lnTo>
                  <a:pt x="157638" y="71418"/>
                </a:lnTo>
                <a:lnTo>
                  <a:pt x="118055" y="88605"/>
                </a:lnTo>
                <a:lnTo>
                  <a:pt x="83537" y="107187"/>
                </a:lnTo>
                <a:lnTo>
                  <a:pt x="31193" y="148010"/>
                </a:lnTo>
                <a:lnTo>
                  <a:pt x="3590" y="192830"/>
                </a:lnTo>
                <a:lnTo>
                  <a:pt x="0" y="216407"/>
                </a:lnTo>
                <a:lnTo>
                  <a:pt x="3590" y="239985"/>
                </a:lnTo>
                <a:lnTo>
                  <a:pt x="31193" y="284805"/>
                </a:lnTo>
                <a:lnTo>
                  <a:pt x="83537" y="325627"/>
                </a:lnTo>
                <a:lnTo>
                  <a:pt x="118055" y="344210"/>
                </a:lnTo>
                <a:lnTo>
                  <a:pt x="157638" y="361397"/>
                </a:lnTo>
                <a:lnTo>
                  <a:pt x="201913" y="377057"/>
                </a:lnTo>
                <a:lnTo>
                  <a:pt x="250509" y="391058"/>
                </a:lnTo>
                <a:lnTo>
                  <a:pt x="303050" y="403267"/>
                </a:lnTo>
                <a:lnTo>
                  <a:pt x="359164" y="413552"/>
                </a:lnTo>
                <a:lnTo>
                  <a:pt x="418478" y="421782"/>
                </a:lnTo>
                <a:lnTo>
                  <a:pt x="480618" y="427824"/>
                </a:lnTo>
                <a:lnTo>
                  <a:pt x="545212" y="431545"/>
                </a:lnTo>
                <a:lnTo>
                  <a:pt x="611886" y="432815"/>
                </a:lnTo>
                <a:lnTo>
                  <a:pt x="678559" y="431545"/>
                </a:lnTo>
                <a:lnTo>
                  <a:pt x="743153" y="427824"/>
                </a:lnTo>
                <a:lnTo>
                  <a:pt x="805293" y="421782"/>
                </a:lnTo>
                <a:lnTo>
                  <a:pt x="864607" y="413552"/>
                </a:lnTo>
                <a:lnTo>
                  <a:pt x="920721" y="403267"/>
                </a:lnTo>
                <a:lnTo>
                  <a:pt x="973262" y="391058"/>
                </a:lnTo>
                <a:lnTo>
                  <a:pt x="1021858" y="377057"/>
                </a:lnTo>
                <a:lnTo>
                  <a:pt x="1066133" y="361397"/>
                </a:lnTo>
                <a:lnTo>
                  <a:pt x="1105716" y="344210"/>
                </a:lnTo>
                <a:lnTo>
                  <a:pt x="1140234" y="325627"/>
                </a:lnTo>
                <a:lnTo>
                  <a:pt x="1192578" y="284805"/>
                </a:lnTo>
                <a:lnTo>
                  <a:pt x="1220181" y="239985"/>
                </a:lnTo>
                <a:lnTo>
                  <a:pt x="1223772" y="216407"/>
                </a:lnTo>
                <a:lnTo>
                  <a:pt x="1220181" y="192830"/>
                </a:lnTo>
                <a:lnTo>
                  <a:pt x="1192578" y="148010"/>
                </a:lnTo>
                <a:lnTo>
                  <a:pt x="1140234" y="107187"/>
                </a:lnTo>
                <a:lnTo>
                  <a:pt x="1105716" y="88605"/>
                </a:lnTo>
                <a:lnTo>
                  <a:pt x="1066133" y="71418"/>
                </a:lnTo>
                <a:lnTo>
                  <a:pt x="1021858" y="55758"/>
                </a:lnTo>
                <a:lnTo>
                  <a:pt x="973262" y="41757"/>
                </a:lnTo>
                <a:lnTo>
                  <a:pt x="920721" y="29548"/>
                </a:lnTo>
                <a:lnTo>
                  <a:pt x="864607" y="19263"/>
                </a:lnTo>
                <a:lnTo>
                  <a:pt x="805293" y="11033"/>
                </a:lnTo>
                <a:lnTo>
                  <a:pt x="743153" y="4991"/>
                </a:lnTo>
                <a:lnTo>
                  <a:pt x="678559" y="1269"/>
                </a:lnTo>
                <a:lnTo>
                  <a:pt x="6118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13703" y="4960620"/>
            <a:ext cx="1224280" cy="433070"/>
          </a:xfrm>
          <a:custGeom>
            <a:avLst/>
            <a:gdLst/>
            <a:ahLst/>
            <a:cxnLst/>
            <a:rect l="l" t="t" r="r" b="b"/>
            <a:pathLst>
              <a:path w="1224279" h="433070">
                <a:moveTo>
                  <a:pt x="0" y="216407"/>
                </a:moveTo>
                <a:lnTo>
                  <a:pt x="14112" y="169986"/>
                </a:lnTo>
                <a:lnTo>
                  <a:pt x="54459" y="127033"/>
                </a:lnTo>
                <a:lnTo>
                  <a:pt x="118055" y="88605"/>
                </a:lnTo>
                <a:lnTo>
                  <a:pt x="157638" y="71418"/>
                </a:lnTo>
                <a:lnTo>
                  <a:pt x="201913" y="55758"/>
                </a:lnTo>
                <a:lnTo>
                  <a:pt x="250509" y="41757"/>
                </a:lnTo>
                <a:lnTo>
                  <a:pt x="303050" y="29548"/>
                </a:lnTo>
                <a:lnTo>
                  <a:pt x="359164" y="19263"/>
                </a:lnTo>
                <a:lnTo>
                  <a:pt x="418478" y="11033"/>
                </a:lnTo>
                <a:lnTo>
                  <a:pt x="480618" y="4991"/>
                </a:lnTo>
                <a:lnTo>
                  <a:pt x="545212" y="1269"/>
                </a:lnTo>
                <a:lnTo>
                  <a:pt x="611886" y="0"/>
                </a:lnTo>
                <a:lnTo>
                  <a:pt x="678559" y="1269"/>
                </a:lnTo>
                <a:lnTo>
                  <a:pt x="743153" y="4991"/>
                </a:lnTo>
                <a:lnTo>
                  <a:pt x="805293" y="11033"/>
                </a:lnTo>
                <a:lnTo>
                  <a:pt x="864607" y="19263"/>
                </a:lnTo>
                <a:lnTo>
                  <a:pt x="920721" y="29548"/>
                </a:lnTo>
                <a:lnTo>
                  <a:pt x="973262" y="41757"/>
                </a:lnTo>
                <a:lnTo>
                  <a:pt x="1021858" y="55758"/>
                </a:lnTo>
                <a:lnTo>
                  <a:pt x="1066133" y="71418"/>
                </a:lnTo>
                <a:lnTo>
                  <a:pt x="1105716" y="88605"/>
                </a:lnTo>
                <a:lnTo>
                  <a:pt x="1140234" y="107187"/>
                </a:lnTo>
                <a:lnTo>
                  <a:pt x="1192578" y="148010"/>
                </a:lnTo>
                <a:lnTo>
                  <a:pt x="1220181" y="192830"/>
                </a:lnTo>
                <a:lnTo>
                  <a:pt x="1223772" y="216407"/>
                </a:lnTo>
                <a:lnTo>
                  <a:pt x="1220181" y="239985"/>
                </a:lnTo>
                <a:lnTo>
                  <a:pt x="1192578" y="284805"/>
                </a:lnTo>
                <a:lnTo>
                  <a:pt x="1140234" y="325627"/>
                </a:lnTo>
                <a:lnTo>
                  <a:pt x="1105716" y="344210"/>
                </a:lnTo>
                <a:lnTo>
                  <a:pt x="1066133" y="361397"/>
                </a:lnTo>
                <a:lnTo>
                  <a:pt x="1021858" y="377057"/>
                </a:lnTo>
                <a:lnTo>
                  <a:pt x="973262" y="391058"/>
                </a:lnTo>
                <a:lnTo>
                  <a:pt x="920721" y="403267"/>
                </a:lnTo>
                <a:lnTo>
                  <a:pt x="864607" y="413552"/>
                </a:lnTo>
                <a:lnTo>
                  <a:pt x="805293" y="421782"/>
                </a:lnTo>
                <a:lnTo>
                  <a:pt x="743153" y="427824"/>
                </a:lnTo>
                <a:lnTo>
                  <a:pt x="678559" y="431545"/>
                </a:lnTo>
                <a:lnTo>
                  <a:pt x="611886" y="432815"/>
                </a:lnTo>
                <a:lnTo>
                  <a:pt x="545212" y="431545"/>
                </a:lnTo>
                <a:lnTo>
                  <a:pt x="480618" y="427824"/>
                </a:lnTo>
                <a:lnTo>
                  <a:pt x="418478" y="421782"/>
                </a:lnTo>
                <a:lnTo>
                  <a:pt x="359164" y="413552"/>
                </a:lnTo>
                <a:lnTo>
                  <a:pt x="303050" y="403267"/>
                </a:lnTo>
                <a:lnTo>
                  <a:pt x="250509" y="391058"/>
                </a:lnTo>
                <a:lnTo>
                  <a:pt x="201913" y="377057"/>
                </a:lnTo>
                <a:lnTo>
                  <a:pt x="157638" y="361397"/>
                </a:lnTo>
                <a:lnTo>
                  <a:pt x="118055" y="344210"/>
                </a:lnTo>
                <a:lnTo>
                  <a:pt x="83537" y="325627"/>
                </a:lnTo>
                <a:lnTo>
                  <a:pt x="31193" y="284805"/>
                </a:lnTo>
                <a:lnTo>
                  <a:pt x="3590" y="239985"/>
                </a:lnTo>
                <a:lnTo>
                  <a:pt x="0" y="2164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32016" y="4328541"/>
            <a:ext cx="935355" cy="10388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144145" algn="just">
              <a:lnSpc>
                <a:spcPct val="88500"/>
              </a:lnSpc>
              <a:spcBef>
                <a:spcPts val="430"/>
              </a:spcBef>
            </a:pPr>
            <a:r>
              <a:rPr sz="2400" b="1" dirty="0">
                <a:latin typeface="宋体"/>
                <a:cs typeface="宋体"/>
              </a:rPr>
              <a:t>仪表</a:t>
            </a:r>
            <a:r>
              <a:rPr sz="2400" b="1" dirty="0">
                <a:latin typeface="Times New Roman"/>
                <a:cs typeface="Times New Roman"/>
              </a:rPr>
              <a:t>3 </a:t>
            </a:r>
            <a:r>
              <a:rPr sz="2400" b="1" dirty="0">
                <a:latin typeface="宋体"/>
                <a:cs typeface="宋体"/>
              </a:rPr>
              <a:t>仪表</a:t>
            </a:r>
            <a:r>
              <a:rPr sz="2400" b="1" dirty="0">
                <a:latin typeface="Times New Roman"/>
                <a:cs typeface="Times New Roman"/>
              </a:rPr>
              <a:t>2  </a:t>
            </a:r>
            <a:r>
              <a:rPr sz="2400" b="1" dirty="0">
                <a:latin typeface="宋体"/>
                <a:cs typeface="宋体"/>
              </a:rPr>
              <a:t>仪表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91165" y="4381309"/>
          <a:ext cx="1731010" cy="17480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5" dirty="0">
                          <a:latin typeface="宋体"/>
                          <a:cs typeface="宋体"/>
                        </a:rPr>
                        <a:t>测试仪表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8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21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 marR="760095"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编号 精度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实际性能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1366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6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3636264" y="4459223"/>
            <a:ext cx="360045" cy="143510"/>
          </a:xfrm>
          <a:custGeom>
            <a:avLst/>
            <a:gdLst/>
            <a:ahLst/>
            <a:cxnLst/>
            <a:rect l="l" t="t" r="r" b="b"/>
            <a:pathLst>
              <a:path w="360045" h="143510">
                <a:moveTo>
                  <a:pt x="359663" y="143256"/>
                </a:moveTo>
                <a:lnTo>
                  <a:pt x="0" y="81152"/>
                </a:lnTo>
                <a:lnTo>
                  <a:pt x="359663" y="0"/>
                </a:lnTo>
                <a:lnTo>
                  <a:pt x="359663" y="14325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84248" y="4438903"/>
            <a:ext cx="285750" cy="206375"/>
          </a:xfrm>
          <a:custGeom>
            <a:avLst/>
            <a:gdLst/>
            <a:ahLst/>
            <a:cxnLst/>
            <a:rect l="l" t="t" r="r" b="b"/>
            <a:pathLst>
              <a:path w="285750" h="206375">
                <a:moveTo>
                  <a:pt x="0" y="205994"/>
                </a:moveTo>
                <a:lnTo>
                  <a:pt x="141096" y="205994"/>
                </a:lnTo>
                <a:lnTo>
                  <a:pt x="285495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00683" y="4530852"/>
            <a:ext cx="1007744" cy="4013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类属性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55720" y="5395214"/>
            <a:ext cx="433705" cy="474345"/>
          </a:xfrm>
          <a:custGeom>
            <a:avLst/>
            <a:gdLst/>
            <a:ahLst/>
            <a:cxnLst/>
            <a:rect l="l" t="t" r="r" b="b"/>
            <a:pathLst>
              <a:path w="433704" h="474345">
                <a:moveTo>
                  <a:pt x="0" y="473900"/>
                </a:moveTo>
                <a:lnTo>
                  <a:pt x="214249" y="473900"/>
                </a:lnTo>
                <a:lnTo>
                  <a:pt x="433324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55748" y="5754623"/>
            <a:ext cx="1224280" cy="4025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实例类属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23594" y="4917135"/>
            <a:ext cx="546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st</a:t>
            </a:r>
            <a:r>
              <a:rPr sz="1800" b="1" spc="-10" dirty="0">
                <a:latin typeface="Times New Roman"/>
                <a:cs typeface="Times New Roman"/>
              </a:rPr>
              <a:t>a</a:t>
            </a:r>
            <a:r>
              <a:rPr sz="1800" b="1" dirty="0">
                <a:latin typeface="Times New Roman"/>
                <a:cs typeface="Times New Roman"/>
              </a:rPr>
              <a:t>tic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322577" y="129920"/>
            <a:ext cx="61493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2.2.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/>
              <a:t>属性及识别筛选策略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3873" y="107442"/>
            <a:ext cx="65519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2.2.</a:t>
            </a:r>
            <a:r>
              <a:rPr dirty="0"/>
              <a:t>识别属性的启发性策略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540" y="965987"/>
            <a:ext cx="7934959" cy="472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99260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1</a:t>
            </a:r>
            <a:r>
              <a:rPr sz="2800" spc="-5" dirty="0">
                <a:latin typeface="宋体"/>
                <a:cs typeface="宋体"/>
              </a:rPr>
              <a:t>）根据常识确定对象应用的基本属性； 例如：</a:t>
            </a:r>
            <a:endParaRPr sz="2800">
              <a:latin typeface="宋体"/>
              <a:cs typeface="宋体"/>
            </a:endParaRPr>
          </a:p>
          <a:p>
            <a:pPr marL="12700" marR="452755" indent="354965">
              <a:lnSpc>
                <a:spcPts val="5040"/>
              </a:lnSpc>
              <a:spcBef>
                <a:spcPts val="445"/>
              </a:spcBef>
            </a:pPr>
            <a:r>
              <a:rPr sz="2800" spc="-5" dirty="0">
                <a:latin typeface="宋体"/>
                <a:cs typeface="宋体"/>
              </a:rPr>
              <a:t>传感器属性，包</a:t>
            </a:r>
            <a:r>
              <a:rPr sz="2800" spc="-20" dirty="0">
                <a:latin typeface="宋体"/>
                <a:cs typeface="宋体"/>
              </a:rPr>
              <a:t>括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编号</a:t>
            </a:r>
            <a:r>
              <a:rPr sz="2800" spc="-5" dirty="0">
                <a:latin typeface="宋体"/>
                <a:cs typeface="宋体"/>
              </a:rPr>
              <a:t>、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类型</a:t>
            </a:r>
            <a:r>
              <a:rPr sz="2800" spc="-5" dirty="0">
                <a:latin typeface="宋体"/>
                <a:cs typeface="宋体"/>
              </a:rPr>
              <a:t>、临界值</a:t>
            </a:r>
            <a:r>
              <a:rPr sz="2800" spc="5" dirty="0">
                <a:latin typeface="宋体"/>
                <a:cs typeface="宋体"/>
              </a:rPr>
              <a:t>、</a:t>
            </a:r>
            <a:r>
              <a:rPr sz="2800" spc="-10" dirty="0">
                <a:latin typeface="Times New Roman"/>
                <a:cs typeface="Times New Roman"/>
              </a:rPr>
              <a:t>……  </a:t>
            </a:r>
            <a:r>
              <a:rPr sz="2800" spc="-5" dirty="0">
                <a:latin typeface="Times New Roman"/>
                <a:cs typeface="Times New Roman"/>
              </a:rPr>
              <a:t>2</a:t>
            </a:r>
            <a:r>
              <a:rPr sz="2800" spc="-5" dirty="0">
                <a:latin typeface="宋体"/>
                <a:cs typeface="宋体"/>
              </a:rPr>
              <a:t>）根据问题域，确定对象应该有的属</a:t>
            </a:r>
            <a:r>
              <a:rPr sz="2800" dirty="0">
                <a:latin typeface="宋体"/>
                <a:cs typeface="宋体"/>
              </a:rPr>
              <a:t>性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2800" spc="-10" dirty="0">
                <a:latin typeface="宋体"/>
                <a:cs typeface="宋体"/>
              </a:rPr>
              <a:t>例如：</a:t>
            </a:r>
            <a:endParaRPr sz="2800">
              <a:latin typeface="宋体"/>
              <a:cs typeface="宋体"/>
            </a:endParaRPr>
          </a:p>
          <a:p>
            <a:pPr marL="12700" marR="5080" indent="354965">
              <a:lnSpc>
                <a:spcPct val="100000"/>
              </a:lnSpc>
              <a:spcBef>
                <a:spcPts val="1685"/>
              </a:spcBef>
            </a:pPr>
            <a:r>
              <a:rPr sz="2800" spc="-5" dirty="0">
                <a:latin typeface="宋体"/>
                <a:cs typeface="宋体"/>
              </a:rPr>
              <a:t>传感</a:t>
            </a:r>
            <a:r>
              <a:rPr sz="2800" spc="10" dirty="0">
                <a:latin typeface="宋体"/>
                <a:cs typeface="宋体"/>
              </a:rPr>
              <a:t>器</a:t>
            </a:r>
            <a:r>
              <a:rPr sz="2800" spc="-5" dirty="0">
                <a:latin typeface="宋体"/>
                <a:cs typeface="宋体"/>
              </a:rPr>
              <a:t>属性，</a:t>
            </a:r>
            <a:r>
              <a:rPr sz="2800" spc="5" dirty="0">
                <a:latin typeface="宋体"/>
                <a:cs typeface="宋体"/>
              </a:rPr>
              <a:t>在</a:t>
            </a:r>
            <a:r>
              <a:rPr sz="2800" spc="-5" dirty="0">
                <a:latin typeface="Times New Roman"/>
                <a:cs typeface="Times New Roman"/>
              </a:rPr>
              <a:t>Safeh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宋体"/>
                <a:cs typeface="宋体"/>
              </a:rPr>
              <a:t>系统中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5" dirty="0">
                <a:latin typeface="宋体"/>
                <a:cs typeface="宋体"/>
              </a:rPr>
              <a:t>需</a:t>
            </a:r>
            <a:r>
              <a:rPr sz="2800" spc="-5" dirty="0">
                <a:latin typeface="宋体"/>
                <a:cs typeface="宋体"/>
              </a:rPr>
              <a:t>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安装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地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点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性质</a:t>
            </a:r>
            <a:r>
              <a:rPr sz="2800" spc="-5" dirty="0">
                <a:latin typeface="宋体"/>
                <a:cs typeface="宋体"/>
              </a:rPr>
              <a:t>。同样传感器属性，在设备管</a:t>
            </a:r>
            <a:r>
              <a:rPr sz="2800" dirty="0">
                <a:latin typeface="宋体"/>
                <a:cs typeface="宋体"/>
              </a:rPr>
              <a:t>理</a:t>
            </a:r>
            <a:r>
              <a:rPr sz="2800" spc="-5" dirty="0">
                <a:latin typeface="宋体"/>
                <a:cs typeface="宋体"/>
              </a:rPr>
              <a:t>系统</a:t>
            </a:r>
            <a:r>
              <a:rPr sz="2800" dirty="0">
                <a:latin typeface="宋体"/>
                <a:cs typeface="宋体"/>
              </a:rPr>
              <a:t>中</a:t>
            </a:r>
            <a:r>
              <a:rPr sz="2800" spc="-5" dirty="0">
                <a:latin typeface="宋体"/>
                <a:cs typeface="宋体"/>
              </a:rPr>
              <a:t>，需 </a:t>
            </a:r>
            <a:r>
              <a:rPr sz="2800" spc="-10" dirty="0">
                <a:latin typeface="宋体"/>
                <a:cs typeface="宋体"/>
              </a:rPr>
              <a:t>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数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量</a:t>
            </a:r>
            <a:r>
              <a:rPr sz="2800" spc="-10" dirty="0">
                <a:latin typeface="宋体"/>
                <a:cs typeface="宋体"/>
              </a:rPr>
              <a:t>、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购置时间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1222629"/>
            <a:ext cx="801878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1880">
              <a:lnSpc>
                <a:spcPct val="100000"/>
              </a:lnSpc>
              <a:spcBef>
                <a:spcPts val="95"/>
              </a:spcBef>
              <a:buSzPct val="96428"/>
              <a:buFont typeface="Times New Roman"/>
              <a:buAutoNum type="arabicPlain" startAt="3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根据系统责任，确定对象应该有的</a:t>
            </a:r>
            <a:r>
              <a:rPr sz="2800" dirty="0">
                <a:latin typeface="宋体"/>
                <a:cs typeface="宋体"/>
              </a:rPr>
              <a:t>属</a:t>
            </a:r>
            <a:r>
              <a:rPr sz="2800" spc="-5" dirty="0">
                <a:latin typeface="宋体"/>
                <a:cs typeface="宋体"/>
              </a:rPr>
              <a:t>性； 例如：</a:t>
            </a:r>
            <a:endParaRPr sz="2800">
              <a:latin typeface="宋体"/>
              <a:cs typeface="宋体"/>
            </a:endParaRPr>
          </a:p>
          <a:p>
            <a:pPr marL="12700" marR="6350" indent="53340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报警器的属性，在</a:t>
            </a:r>
            <a:r>
              <a:rPr sz="2800" spc="-5" dirty="0">
                <a:latin typeface="Times New Roman"/>
                <a:cs typeface="Times New Roman"/>
              </a:rPr>
              <a:t>Safeh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宋体"/>
                <a:cs typeface="宋体"/>
              </a:rPr>
              <a:t>系统中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有自</a:t>
            </a:r>
            <a:r>
              <a:rPr sz="2800" dirty="0">
                <a:latin typeface="宋体"/>
                <a:cs typeface="宋体"/>
              </a:rPr>
              <a:t>动</a:t>
            </a:r>
            <a:r>
              <a:rPr sz="2800" spc="-5" dirty="0">
                <a:latin typeface="宋体"/>
                <a:cs typeface="宋体"/>
              </a:rPr>
              <a:t>拨打 电话的责任，因此需要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延时时间</a:t>
            </a:r>
            <a:r>
              <a:rPr sz="2800" spc="-5" dirty="0">
                <a:latin typeface="宋体"/>
                <a:cs typeface="宋体"/>
              </a:rPr>
              <a:t>属性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12700" marR="1071880">
              <a:lnSpc>
                <a:spcPct val="100000"/>
              </a:lnSpc>
              <a:spcBef>
                <a:spcPts val="5"/>
              </a:spcBef>
              <a:buSzPct val="96428"/>
              <a:buFont typeface="Times New Roman"/>
              <a:buAutoNum type="arabicPlain" startAt="4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根据对象需要状态，确定对象可能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属性 例如：</a:t>
            </a:r>
            <a:endParaRPr sz="2800">
              <a:latin typeface="宋体"/>
              <a:cs typeface="宋体"/>
            </a:endParaRPr>
          </a:p>
          <a:p>
            <a:pPr marL="12700" marR="5080" indent="44450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传感器属性，</a:t>
            </a:r>
            <a:r>
              <a:rPr sz="2800" spc="-20" dirty="0">
                <a:latin typeface="宋体"/>
                <a:cs typeface="宋体"/>
              </a:rPr>
              <a:t>在</a:t>
            </a:r>
            <a:r>
              <a:rPr sz="2800" spc="-5" dirty="0">
                <a:latin typeface="Times New Roman"/>
                <a:cs typeface="Times New Roman"/>
              </a:rPr>
              <a:t>Safehome</a:t>
            </a:r>
            <a:r>
              <a:rPr sz="2800" spc="-10" dirty="0">
                <a:latin typeface="宋体"/>
                <a:cs typeface="宋体"/>
              </a:rPr>
              <a:t>系统中</a:t>
            </a:r>
            <a:r>
              <a:rPr sz="2800" spc="-10" dirty="0">
                <a:latin typeface="Times New Roman"/>
                <a:cs typeface="Times New Roman"/>
              </a:rPr>
              <a:t>,</a:t>
            </a:r>
            <a:r>
              <a:rPr sz="2800" spc="-5" dirty="0">
                <a:latin typeface="宋体"/>
                <a:cs typeface="宋体"/>
              </a:rPr>
              <a:t>有被设置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在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线</a:t>
            </a:r>
            <a:r>
              <a:rPr sz="2800" spc="-5" dirty="0">
                <a:latin typeface="宋体"/>
                <a:cs typeface="宋体"/>
              </a:rPr>
              <a:t>和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撤消</a:t>
            </a:r>
            <a:r>
              <a:rPr sz="2800" spc="-5" dirty="0">
                <a:latin typeface="宋体"/>
                <a:cs typeface="宋体"/>
              </a:rPr>
              <a:t>的状态，则需要有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在线状态</a:t>
            </a:r>
            <a:r>
              <a:rPr sz="2800" spc="-5" dirty="0">
                <a:latin typeface="宋体"/>
                <a:cs typeface="宋体"/>
              </a:rPr>
              <a:t>属性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5832" y="107442"/>
            <a:ext cx="65519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2.2.</a:t>
            </a:r>
            <a:r>
              <a:rPr dirty="0"/>
              <a:t>识别属性的启发性策略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777" y="937412"/>
            <a:ext cx="8824595" cy="472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810895" indent="-533400">
              <a:lnSpc>
                <a:spcPct val="150000"/>
              </a:lnSpc>
              <a:spcBef>
                <a:spcPts val="100"/>
              </a:spcBef>
              <a:buSzPct val="96428"/>
              <a:buFont typeface="Times New Roman"/>
              <a:buAutoNum type="arabicPlain" startAt="5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问题陈述中定语的词汇，可帮助确</a:t>
            </a:r>
            <a:r>
              <a:rPr sz="2800" dirty="0">
                <a:latin typeface="宋体"/>
                <a:cs typeface="宋体"/>
              </a:rPr>
              <a:t>定</a:t>
            </a:r>
            <a:r>
              <a:rPr sz="2800" spc="-5" dirty="0">
                <a:latin typeface="宋体"/>
                <a:cs typeface="宋体"/>
              </a:rPr>
              <a:t>类的</a:t>
            </a:r>
            <a:r>
              <a:rPr sz="2800" dirty="0">
                <a:latin typeface="宋体"/>
                <a:cs typeface="宋体"/>
              </a:rPr>
              <a:t>属</a:t>
            </a:r>
            <a:r>
              <a:rPr sz="2800" spc="-5" dirty="0">
                <a:latin typeface="宋体"/>
                <a:cs typeface="宋体"/>
              </a:rPr>
              <a:t>性。 例如：</a:t>
            </a:r>
            <a:endParaRPr sz="2800">
              <a:latin typeface="宋体"/>
              <a:cs typeface="宋体"/>
            </a:endParaRPr>
          </a:p>
          <a:p>
            <a:pPr marL="12700" indent="53340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latin typeface="宋体"/>
                <a:cs typeface="宋体"/>
              </a:rPr>
              <a:t>“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绿色的</a:t>
            </a:r>
            <a:r>
              <a:rPr sz="2800" spc="-5" dirty="0">
                <a:latin typeface="宋体"/>
                <a:cs typeface="宋体"/>
              </a:rPr>
              <a:t>按钮”，可以确定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按钮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</a:t>
            </a:r>
            <a:r>
              <a:rPr sz="2800" spc="5" dirty="0">
                <a:latin typeface="宋体"/>
                <a:cs typeface="宋体"/>
              </a:rPr>
              <a:t>有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颜色</a:t>
            </a:r>
            <a:r>
              <a:rPr sz="2800" dirty="0">
                <a:latin typeface="宋体"/>
                <a:cs typeface="宋体"/>
              </a:rPr>
              <a:t>属</a:t>
            </a:r>
            <a:r>
              <a:rPr sz="2800" spc="-5" dirty="0">
                <a:latin typeface="宋体"/>
                <a:cs typeface="宋体"/>
              </a:rPr>
              <a:t>性。</a:t>
            </a:r>
            <a:endParaRPr sz="2800">
              <a:latin typeface="宋体"/>
              <a:cs typeface="宋体"/>
            </a:endParaRPr>
          </a:p>
          <a:p>
            <a:pPr marL="12700" marR="455930">
              <a:lnSpc>
                <a:spcPct val="100000"/>
              </a:lnSpc>
              <a:spcBef>
                <a:spcPts val="1680"/>
              </a:spcBef>
              <a:buSzPct val="96428"/>
              <a:buFont typeface="Times New Roman"/>
              <a:buAutoNum type="arabicPlain" startAt="6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类间的关联与聚合是类的特殊属性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它表</a:t>
            </a:r>
            <a:r>
              <a:rPr sz="2800" dirty="0">
                <a:latin typeface="宋体"/>
                <a:cs typeface="宋体"/>
              </a:rPr>
              <a:t>示</a:t>
            </a:r>
            <a:r>
              <a:rPr sz="2800" spc="-5" dirty="0">
                <a:latin typeface="宋体"/>
                <a:cs typeface="宋体"/>
              </a:rPr>
              <a:t>类的一 </a:t>
            </a:r>
            <a:r>
              <a:rPr sz="2800" spc="-10" dirty="0">
                <a:latin typeface="宋体"/>
                <a:cs typeface="宋体"/>
              </a:rPr>
              <a:t>个性质值是另一个类的实例</a:t>
            </a:r>
            <a:r>
              <a:rPr sz="2800" spc="-5" dirty="0">
                <a:latin typeface="宋体"/>
                <a:cs typeface="宋体"/>
              </a:rPr>
              <a:t>。</a:t>
            </a:r>
            <a:r>
              <a:rPr sz="2800" spc="-5" dirty="0">
                <a:solidFill>
                  <a:srgbClr val="FF3300"/>
                </a:solidFill>
                <a:latin typeface="宋体"/>
                <a:cs typeface="宋体"/>
              </a:rPr>
              <a:t>注意：不用</a:t>
            </a:r>
            <a:r>
              <a:rPr sz="2800" dirty="0">
                <a:solidFill>
                  <a:srgbClr val="FF3300"/>
                </a:solidFill>
                <a:latin typeface="宋体"/>
                <a:cs typeface="宋体"/>
              </a:rPr>
              <a:t>属</a:t>
            </a:r>
            <a:r>
              <a:rPr sz="2800" spc="-5" dirty="0">
                <a:solidFill>
                  <a:srgbClr val="FF3300"/>
                </a:solidFill>
                <a:latin typeface="宋体"/>
                <a:cs typeface="宋体"/>
              </a:rPr>
              <a:t>性名表示</a:t>
            </a:r>
            <a:endParaRPr sz="2800">
              <a:latin typeface="宋体"/>
              <a:cs typeface="宋体"/>
            </a:endParaRPr>
          </a:p>
          <a:p>
            <a:pPr marL="277495">
              <a:lnSpc>
                <a:spcPct val="100000"/>
              </a:lnSpc>
              <a:spcBef>
                <a:spcPts val="1685"/>
              </a:spcBef>
            </a:pPr>
            <a:r>
              <a:rPr sz="2800" dirty="0">
                <a:latin typeface="宋体"/>
                <a:cs typeface="宋体"/>
              </a:rPr>
              <a:t>例</a:t>
            </a:r>
            <a:r>
              <a:rPr sz="2800" spc="-5" dirty="0">
                <a:latin typeface="宋体"/>
                <a:cs typeface="宋体"/>
              </a:rPr>
              <a:t>如</a:t>
            </a:r>
            <a:r>
              <a:rPr sz="2800" dirty="0">
                <a:latin typeface="宋体"/>
                <a:cs typeface="宋体"/>
              </a:rPr>
              <a:t>：</a:t>
            </a:r>
            <a:r>
              <a:rPr sz="2800" spc="-5" dirty="0">
                <a:latin typeface="宋体"/>
                <a:cs typeface="宋体"/>
              </a:rPr>
              <a:t>某学生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指导教</a:t>
            </a:r>
            <a:r>
              <a:rPr sz="2800" dirty="0">
                <a:latin typeface="宋体"/>
                <a:cs typeface="宋体"/>
              </a:rPr>
              <a:t>师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10" dirty="0">
                <a:latin typeface="宋体"/>
                <a:cs typeface="宋体"/>
              </a:rPr>
              <a:t>用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学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生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和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教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师类</a:t>
            </a:r>
            <a:r>
              <a:rPr sz="2800" spc="-5" dirty="0">
                <a:latin typeface="宋体"/>
                <a:cs typeface="宋体"/>
              </a:rPr>
              <a:t>的关</a:t>
            </a:r>
            <a:r>
              <a:rPr sz="2800" dirty="0">
                <a:latin typeface="宋体"/>
                <a:cs typeface="宋体"/>
              </a:rPr>
              <a:t>联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685800">
              <a:lnSpc>
                <a:spcPct val="100000"/>
              </a:lnSpc>
              <a:spcBef>
                <a:spcPts val="1680"/>
              </a:spcBef>
              <a:buFont typeface="Times New Roman"/>
              <a:buChar char="•"/>
              <a:tabLst>
                <a:tab pos="314325" algn="l"/>
                <a:tab pos="314960" algn="l"/>
              </a:tabLst>
            </a:pPr>
            <a:r>
              <a:rPr sz="2800" spc="-10" dirty="0">
                <a:latin typeface="宋体"/>
                <a:cs typeface="宋体"/>
              </a:rPr>
              <a:t>控制台的输出显示窗口，</a:t>
            </a:r>
            <a:r>
              <a:rPr sz="2800" spc="-5" dirty="0">
                <a:latin typeface="宋体"/>
                <a:cs typeface="宋体"/>
              </a:rPr>
              <a:t>用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控制台类</a:t>
            </a:r>
            <a:r>
              <a:rPr sz="2800" dirty="0">
                <a:latin typeface="宋体"/>
                <a:cs typeface="宋体"/>
              </a:rPr>
              <a:t>与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输出显示窗 口类</a:t>
            </a:r>
            <a:r>
              <a:rPr sz="2800" spc="-5" dirty="0">
                <a:latin typeface="宋体"/>
                <a:cs typeface="宋体"/>
              </a:rPr>
              <a:t>的聚合关系。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8458" y="107442"/>
            <a:ext cx="65544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2.2.</a:t>
            </a:r>
            <a:r>
              <a:rPr dirty="0"/>
              <a:t>识别属性的启发性策略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06" y="1175385"/>
            <a:ext cx="6851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根据</a:t>
            </a:r>
            <a:r>
              <a:rPr sz="2800" spc="-5" dirty="0">
                <a:latin typeface="Times New Roman"/>
                <a:cs typeface="Times New Roman"/>
              </a:rPr>
              <a:t>SafeHo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1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宋体"/>
                <a:cs typeface="宋体"/>
              </a:rPr>
              <a:t>问题中的类初</a:t>
            </a:r>
            <a:r>
              <a:rPr sz="2800" dirty="0">
                <a:latin typeface="宋体"/>
                <a:cs typeface="宋体"/>
              </a:rPr>
              <a:t>步</a:t>
            </a:r>
            <a:r>
              <a:rPr sz="2800" spc="-5" dirty="0">
                <a:latin typeface="宋体"/>
                <a:cs typeface="宋体"/>
              </a:rPr>
              <a:t>确定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属性：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29511" y="1862327"/>
          <a:ext cx="1371600" cy="1624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系统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启停状态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宋体"/>
                          <a:cs typeface="宋体"/>
                        </a:rPr>
                        <a:t>主人密码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9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46229" y="4288345"/>
          <a:ext cx="1657985" cy="15956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66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传感器事件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10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事件时间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传感器编号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917435" y="1126236"/>
          <a:ext cx="1371600" cy="2842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530"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传感器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6252">
                <a:tc>
                  <a:txBody>
                    <a:bodyPr/>
                    <a:lstStyle/>
                    <a:p>
                      <a:pPr marL="89535" marR="765810" algn="just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000" spc="-5" dirty="0">
                          <a:latin typeface="宋体"/>
                          <a:cs typeface="宋体"/>
                        </a:rPr>
                        <a:t>编号 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类型 位置 性质 </a:t>
                      </a:r>
                      <a:r>
                        <a:rPr sz="2000" spc="-5" dirty="0">
                          <a:latin typeface="宋体"/>
                          <a:cs typeface="宋体"/>
                        </a:rPr>
                        <a:t>限值 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状态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4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976437" y="4312729"/>
          <a:ext cx="1371600" cy="16261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907"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警报器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89535" marR="25400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启停状态 延时限制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90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5237" y="4312729"/>
          <a:ext cx="1371600" cy="13213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R="19748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电话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16319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电话号码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250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1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043237" y="1875853"/>
          <a:ext cx="1371600" cy="15956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显示窗口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坐标位置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大小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9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643437" y="1875853"/>
          <a:ext cx="1371600" cy="15956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999"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控制键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428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按键编号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宋体"/>
                          <a:cs typeface="宋体"/>
                        </a:rPr>
                        <a:t>按键功能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39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08477" y="107442"/>
            <a:ext cx="33832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识别属性示例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5805" y="74752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筛选类的属性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168" y="814857"/>
            <a:ext cx="8197850" cy="32264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spc="-5" dirty="0">
                <a:latin typeface="宋体"/>
                <a:cs typeface="宋体"/>
              </a:rPr>
              <a:t>对于初步确定的属性进行筛选的策</a:t>
            </a:r>
            <a:r>
              <a:rPr sz="2800" dirty="0">
                <a:latin typeface="宋体"/>
                <a:cs typeface="宋体"/>
              </a:rPr>
              <a:t>略</a:t>
            </a:r>
            <a:r>
              <a:rPr sz="2800" spc="-5" dirty="0"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 marR="183515">
              <a:lnSpc>
                <a:spcPct val="100000"/>
              </a:lnSpc>
              <a:spcBef>
                <a:spcPts val="1680"/>
              </a:spcBef>
            </a:pPr>
            <a:r>
              <a:rPr sz="2800" dirty="0">
                <a:latin typeface="宋体"/>
                <a:cs typeface="宋体"/>
              </a:rPr>
              <a:t>1</a:t>
            </a:r>
            <a:r>
              <a:rPr sz="2800" spc="-5" dirty="0">
                <a:latin typeface="宋体"/>
                <a:cs typeface="宋体"/>
              </a:rPr>
              <a:t>）对象的属性要描述对象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本身固有的</a:t>
            </a:r>
            <a:r>
              <a:rPr sz="2800" dirty="0">
                <a:solidFill>
                  <a:srgbClr val="00A15F"/>
                </a:solidFill>
                <a:latin typeface="宋体"/>
                <a:cs typeface="宋体"/>
              </a:rPr>
              <a:t>性质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否</a:t>
            </a:r>
            <a:r>
              <a:rPr sz="2800" spc="-5" dirty="0">
                <a:latin typeface="宋体"/>
                <a:cs typeface="宋体"/>
              </a:rPr>
              <a:t>则即 使它在系统中提供有用的信息，也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应作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对象的 属性。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latin typeface="宋体"/>
                <a:cs typeface="宋体"/>
              </a:rPr>
              <a:t>例如：</a:t>
            </a:r>
            <a:r>
              <a:rPr sz="2800" dirty="0">
                <a:latin typeface="宋体"/>
                <a:cs typeface="宋体"/>
              </a:rPr>
              <a:t>课</a:t>
            </a:r>
            <a:r>
              <a:rPr sz="2800" spc="-5" dirty="0">
                <a:latin typeface="宋体"/>
                <a:cs typeface="宋体"/>
              </a:rPr>
              <a:t>程类有</a:t>
            </a:r>
            <a:r>
              <a:rPr sz="2800" dirty="0">
                <a:latin typeface="宋体"/>
                <a:cs typeface="宋体"/>
              </a:rPr>
              <a:t>主</a:t>
            </a:r>
            <a:r>
              <a:rPr sz="2800" spc="-5" dirty="0">
                <a:latin typeface="宋体"/>
                <a:cs typeface="宋体"/>
              </a:rPr>
              <a:t>讲教师</a:t>
            </a:r>
            <a:r>
              <a:rPr sz="2800" dirty="0">
                <a:latin typeface="宋体"/>
                <a:cs typeface="宋体"/>
              </a:rPr>
              <a:t>属</a:t>
            </a:r>
            <a:r>
              <a:rPr sz="2800" spc="-5" dirty="0">
                <a:latin typeface="宋体"/>
                <a:cs typeface="宋体"/>
              </a:rPr>
              <a:t>性，把</a:t>
            </a:r>
            <a:r>
              <a:rPr sz="2800" dirty="0">
                <a:latin typeface="宋体"/>
                <a:cs typeface="宋体"/>
              </a:rPr>
              <a:t>主</a:t>
            </a:r>
            <a:r>
              <a:rPr sz="2800" spc="-5" dirty="0">
                <a:latin typeface="宋体"/>
                <a:cs typeface="宋体"/>
              </a:rPr>
              <a:t>讲教师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电话、 </a:t>
            </a:r>
            <a:r>
              <a:rPr sz="2800" spc="-10" dirty="0">
                <a:latin typeface="宋体"/>
                <a:cs typeface="宋体"/>
              </a:rPr>
              <a:t>住址等作为课程的属性会造成概念</a:t>
            </a:r>
            <a:r>
              <a:rPr sz="2800" dirty="0">
                <a:latin typeface="宋体"/>
                <a:cs typeface="宋体"/>
              </a:rPr>
              <a:t>上</a:t>
            </a:r>
            <a:r>
              <a:rPr sz="2800" spc="-10" dirty="0">
                <a:latin typeface="宋体"/>
                <a:cs typeface="宋体"/>
              </a:rPr>
              <a:t>的混</a:t>
            </a:r>
            <a:r>
              <a:rPr sz="2800" dirty="0">
                <a:latin typeface="宋体"/>
                <a:cs typeface="宋体"/>
              </a:rPr>
              <a:t>乱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850701" y="4277677"/>
          <a:ext cx="1371600" cy="19004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663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课程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marL="90805">
                        <a:lnSpc>
                          <a:spcPts val="2105"/>
                        </a:lnSpc>
                      </a:pPr>
                      <a:r>
                        <a:rPr sz="2000" spc="-5" dirty="0">
                          <a:latin typeface="宋体"/>
                          <a:cs typeface="宋体"/>
                        </a:rPr>
                        <a:t>编号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名称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90805" marR="25400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主讲教师 教师电话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3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283964" y="5189728"/>
            <a:ext cx="436880" cy="28575"/>
          </a:xfrm>
          <a:custGeom>
            <a:avLst/>
            <a:gdLst/>
            <a:ahLst/>
            <a:cxnLst/>
            <a:rect l="l" t="t" r="r" b="b"/>
            <a:pathLst>
              <a:path w="436879" h="28575">
                <a:moveTo>
                  <a:pt x="0" y="28575"/>
                </a:moveTo>
                <a:lnTo>
                  <a:pt x="436372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336" y="5103876"/>
            <a:ext cx="2662555" cy="11233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186055" marR="177800" algn="just">
              <a:lnSpc>
                <a:spcPct val="97800"/>
              </a:lnSpc>
              <a:spcBef>
                <a:spcPts val="484"/>
              </a:spcBef>
            </a:pPr>
            <a:r>
              <a:rPr sz="2000" dirty="0">
                <a:latin typeface="宋体"/>
                <a:cs typeface="宋体"/>
              </a:rPr>
              <a:t>限定一个课程只有一 个主讲，一个教师只 能主讲一门课程的话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15661" y="5493258"/>
            <a:ext cx="1066800" cy="382905"/>
          </a:xfrm>
          <a:custGeom>
            <a:avLst/>
            <a:gdLst/>
            <a:ahLst/>
            <a:cxnLst/>
            <a:rect l="l" t="t" r="r" b="b"/>
            <a:pathLst>
              <a:path w="1066800" h="382904">
                <a:moveTo>
                  <a:pt x="0" y="191261"/>
                </a:moveTo>
                <a:lnTo>
                  <a:pt x="16287" y="144157"/>
                </a:lnTo>
                <a:lnTo>
                  <a:pt x="62486" y="101334"/>
                </a:lnTo>
                <a:lnTo>
                  <a:pt x="95553" y="81975"/>
                </a:lnTo>
                <a:lnTo>
                  <a:pt x="134600" y="64224"/>
                </a:lnTo>
                <a:lnTo>
                  <a:pt x="179127" y="48258"/>
                </a:lnTo>
                <a:lnTo>
                  <a:pt x="228634" y="34258"/>
                </a:lnTo>
                <a:lnTo>
                  <a:pt x="282623" y="22402"/>
                </a:lnTo>
                <a:lnTo>
                  <a:pt x="340593" y="12870"/>
                </a:lnTo>
                <a:lnTo>
                  <a:pt x="402046" y="5839"/>
                </a:lnTo>
                <a:lnTo>
                  <a:pt x="466481" y="1489"/>
                </a:lnTo>
                <a:lnTo>
                  <a:pt x="533400" y="0"/>
                </a:lnTo>
                <a:lnTo>
                  <a:pt x="600318" y="1489"/>
                </a:lnTo>
                <a:lnTo>
                  <a:pt x="664753" y="5839"/>
                </a:lnTo>
                <a:lnTo>
                  <a:pt x="726206" y="12870"/>
                </a:lnTo>
                <a:lnTo>
                  <a:pt x="784176" y="22402"/>
                </a:lnTo>
                <a:lnTo>
                  <a:pt x="838165" y="34258"/>
                </a:lnTo>
                <a:lnTo>
                  <a:pt x="887672" y="48258"/>
                </a:lnTo>
                <a:lnTo>
                  <a:pt x="932199" y="64224"/>
                </a:lnTo>
                <a:lnTo>
                  <a:pt x="971246" y="81975"/>
                </a:lnTo>
                <a:lnTo>
                  <a:pt x="1004313" y="101334"/>
                </a:lnTo>
                <a:lnTo>
                  <a:pt x="1050512" y="144157"/>
                </a:lnTo>
                <a:lnTo>
                  <a:pt x="1066800" y="191261"/>
                </a:lnTo>
                <a:lnTo>
                  <a:pt x="1062644" y="215252"/>
                </a:lnTo>
                <a:lnTo>
                  <a:pt x="1030902" y="260387"/>
                </a:lnTo>
                <a:lnTo>
                  <a:pt x="971246" y="300531"/>
                </a:lnTo>
                <a:lnTo>
                  <a:pt x="932199" y="318284"/>
                </a:lnTo>
                <a:lnTo>
                  <a:pt x="887672" y="334252"/>
                </a:lnTo>
                <a:lnTo>
                  <a:pt x="838165" y="348254"/>
                </a:lnTo>
                <a:lnTo>
                  <a:pt x="784176" y="360113"/>
                </a:lnTo>
                <a:lnTo>
                  <a:pt x="726206" y="369649"/>
                </a:lnTo>
                <a:lnTo>
                  <a:pt x="664753" y="376682"/>
                </a:lnTo>
                <a:lnTo>
                  <a:pt x="600318" y="381033"/>
                </a:lnTo>
                <a:lnTo>
                  <a:pt x="533400" y="382523"/>
                </a:lnTo>
                <a:lnTo>
                  <a:pt x="466481" y="381033"/>
                </a:lnTo>
                <a:lnTo>
                  <a:pt x="402046" y="376682"/>
                </a:lnTo>
                <a:lnTo>
                  <a:pt x="340593" y="369649"/>
                </a:lnTo>
                <a:lnTo>
                  <a:pt x="282623" y="360113"/>
                </a:lnTo>
                <a:lnTo>
                  <a:pt x="228634" y="348254"/>
                </a:lnTo>
                <a:lnTo>
                  <a:pt x="179127" y="334252"/>
                </a:lnTo>
                <a:lnTo>
                  <a:pt x="134600" y="318284"/>
                </a:lnTo>
                <a:lnTo>
                  <a:pt x="95553" y="300531"/>
                </a:lnTo>
                <a:lnTo>
                  <a:pt x="62486" y="281172"/>
                </a:lnTo>
                <a:lnTo>
                  <a:pt x="16287" y="238353"/>
                </a:lnTo>
                <a:lnTo>
                  <a:pt x="0" y="191261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024" y="962025"/>
            <a:ext cx="855980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621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2）在类间存在有聚合关系时，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整体对象类</a:t>
            </a:r>
            <a:r>
              <a:rPr sz="2400" dirty="0">
                <a:latin typeface="宋体"/>
                <a:cs typeface="宋体"/>
              </a:rPr>
              <a:t>的属性不要包括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部分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对象类</a:t>
            </a:r>
            <a:r>
              <a:rPr sz="2400" spc="-5" dirty="0">
                <a:latin typeface="宋体"/>
                <a:cs typeface="宋体"/>
              </a:rPr>
              <a:t>的属性。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25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例如：汽车由底盘、发动机、车轮和驾驶仓等组成，汽车的属性 与组成各部分的属性要分开，不要包含在汽车中。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4391" y="30861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筛选类的属性</a:t>
            </a:r>
          </a:p>
        </p:txBody>
      </p:sp>
      <p:sp>
        <p:nvSpPr>
          <p:cNvPr id="4" name="object 4"/>
          <p:cNvSpPr/>
          <p:nvPr/>
        </p:nvSpPr>
        <p:spPr>
          <a:xfrm>
            <a:off x="3695700" y="3124200"/>
            <a:ext cx="1584960" cy="1473835"/>
          </a:xfrm>
          <a:custGeom>
            <a:avLst/>
            <a:gdLst/>
            <a:ahLst/>
            <a:cxnLst/>
            <a:rect l="l" t="t" r="r" b="b"/>
            <a:pathLst>
              <a:path w="1584960" h="1473835">
                <a:moveTo>
                  <a:pt x="0" y="1473708"/>
                </a:moveTo>
                <a:lnTo>
                  <a:pt x="1584960" y="1473708"/>
                </a:lnTo>
                <a:lnTo>
                  <a:pt x="1584960" y="0"/>
                </a:lnTo>
                <a:lnTo>
                  <a:pt x="0" y="0"/>
                </a:lnTo>
                <a:lnTo>
                  <a:pt x="0" y="14737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95700" y="3124200"/>
            <a:ext cx="1584960" cy="3600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5"/>
              </a:spcBef>
            </a:pPr>
            <a:r>
              <a:rPr sz="2000" b="1" spc="5" dirty="0">
                <a:latin typeface="宋体"/>
                <a:cs typeface="宋体"/>
              </a:rPr>
              <a:t>汽车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95700" y="3483864"/>
            <a:ext cx="1584960" cy="6477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2345"/>
              </a:lnSpc>
            </a:pPr>
            <a:r>
              <a:rPr sz="2000" b="1" spc="5" dirty="0">
                <a:latin typeface="宋体"/>
                <a:cs typeface="宋体"/>
              </a:rPr>
              <a:t>车轮直径</a:t>
            </a:r>
            <a:endParaRPr sz="20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latin typeface="宋体"/>
                <a:cs typeface="宋体"/>
              </a:rPr>
              <a:t>发动机型号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5700" y="4131564"/>
            <a:ext cx="1584960" cy="0"/>
          </a:xfrm>
          <a:custGeom>
            <a:avLst/>
            <a:gdLst/>
            <a:ahLst/>
            <a:cxnLst/>
            <a:rect l="l" t="t" r="r" b="b"/>
            <a:pathLst>
              <a:path w="1584960">
                <a:moveTo>
                  <a:pt x="0" y="0"/>
                </a:moveTo>
                <a:lnTo>
                  <a:pt x="158496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12301" y="4837176"/>
          <a:ext cx="3866512" cy="1168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2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3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5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2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078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94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底盘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发动机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车轮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79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12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343400" y="4565903"/>
            <a:ext cx="216535" cy="287020"/>
          </a:xfrm>
          <a:custGeom>
            <a:avLst/>
            <a:gdLst/>
            <a:ahLst/>
            <a:cxnLst/>
            <a:rect l="l" t="t" r="r" b="b"/>
            <a:pathLst>
              <a:path w="216535" h="287020">
                <a:moveTo>
                  <a:pt x="0" y="143256"/>
                </a:moveTo>
                <a:lnTo>
                  <a:pt x="108203" y="0"/>
                </a:lnTo>
                <a:lnTo>
                  <a:pt x="216408" y="143256"/>
                </a:lnTo>
                <a:lnTo>
                  <a:pt x="108203" y="286512"/>
                </a:lnTo>
                <a:lnTo>
                  <a:pt x="0" y="1432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016" y="1197686"/>
            <a:ext cx="7554595" cy="4660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4205" indent="-612140">
              <a:lnSpc>
                <a:spcPct val="100000"/>
              </a:lnSpc>
              <a:spcBef>
                <a:spcPts val="105"/>
              </a:spcBef>
              <a:buSzPct val="96875"/>
              <a:buAutoNum type="arabicPlain" startAt="3"/>
              <a:tabLst>
                <a:tab pos="624840" algn="l"/>
              </a:tabLst>
            </a:pPr>
            <a:r>
              <a:rPr sz="3200" spc="5" dirty="0">
                <a:latin typeface="宋体"/>
                <a:cs typeface="宋体"/>
              </a:rPr>
              <a:t>属性应按一般的</a:t>
            </a:r>
            <a:r>
              <a:rPr sz="3200" spc="-10" dirty="0">
                <a:latin typeface="宋体"/>
                <a:cs typeface="宋体"/>
              </a:rPr>
              <a:t>思</a:t>
            </a:r>
            <a:r>
              <a:rPr sz="3200" spc="5" dirty="0">
                <a:latin typeface="宋体"/>
                <a:cs typeface="宋体"/>
              </a:rPr>
              <a:t>维习</a:t>
            </a:r>
            <a:r>
              <a:rPr sz="3200" spc="-10" dirty="0">
                <a:latin typeface="宋体"/>
                <a:cs typeface="宋体"/>
              </a:rPr>
              <a:t>惯</a:t>
            </a:r>
            <a:r>
              <a:rPr sz="3200" spc="5" dirty="0">
                <a:latin typeface="宋体"/>
                <a:cs typeface="宋体"/>
              </a:rPr>
              <a:t>，采</a:t>
            </a:r>
            <a:r>
              <a:rPr sz="3200" spc="-10" dirty="0">
                <a:latin typeface="宋体"/>
                <a:cs typeface="宋体"/>
              </a:rPr>
              <a:t>用</a:t>
            </a:r>
            <a:r>
              <a:rPr sz="3200" spc="5" dirty="0">
                <a:latin typeface="宋体"/>
                <a:cs typeface="宋体"/>
              </a:rPr>
              <a:t>原子的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宋体"/>
                <a:cs typeface="宋体"/>
              </a:rPr>
              <a:t>（即不可分的）</a:t>
            </a:r>
            <a:r>
              <a:rPr sz="3200" dirty="0">
                <a:latin typeface="宋体"/>
                <a:cs typeface="宋体"/>
              </a:rPr>
              <a:t>概念。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200" dirty="0">
                <a:latin typeface="宋体"/>
                <a:cs typeface="宋体"/>
              </a:rPr>
              <a:t>例如：</a:t>
            </a:r>
            <a:endParaRPr sz="3200">
              <a:latin typeface="宋体"/>
              <a:cs typeface="宋体"/>
            </a:endParaRPr>
          </a:p>
          <a:p>
            <a:pPr marL="12700" marR="212725" algn="just">
              <a:lnSpc>
                <a:spcPct val="100000"/>
              </a:lnSpc>
              <a:spcBef>
                <a:spcPts val="1925"/>
              </a:spcBef>
            </a:pPr>
            <a:r>
              <a:rPr sz="3200" dirty="0">
                <a:latin typeface="宋体"/>
                <a:cs typeface="宋体"/>
              </a:rPr>
              <a:t>房间的属性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门窗</a:t>
            </a:r>
            <a:r>
              <a:rPr sz="3200" dirty="0">
                <a:latin typeface="宋体"/>
                <a:cs typeface="宋体"/>
              </a:rPr>
              <a:t>，应该</a:t>
            </a:r>
            <a:r>
              <a:rPr sz="3200" spc="-15" dirty="0">
                <a:latin typeface="宋体"/>
                <a:cs typeface="宋体"/>
              </a:rPr>
              <a:t>具</a:t>
            </a:r>
            <a:r>
              <a:rPr sz="3200" dirty="0">
                <a:latin typeface="宋体"/>
                <a:cs typeface="宋体"/>
              </a:rPr>
              <a:t>体分</a:t>
            </a:r>
            <a:r>
              <a:rPr sz="3200" spc="-15" dirty="0">
                <a:latin typeface="宋体"/>
                <a:cs typeface="宋体"/>
              </a:rPr>
              <a:t>为</a:t>
            </a:r>
            <a:r>
              <a:rPr sz="3200" dirty="0">
                <a:latin typeface="宋体"/>
                <a:cs typeface="宋体"/>
              </a:rPr>
              <a:t>门和</a:t>
            </a:r>
            <a:r>
              <a:rPr sz="3200" spc="-15" dirty="0">
                <a:latin typeface="宋体"/>
                <a:cs typeface="宋体"/>
              </a:rPr>
              <a:t>窗</a:t>
            </a:r>
            <a:r>
              <a:rPr sz="3200" dirty="0">
                <a:latin typeface="宋体"/>
                <a:cs typeface="宋体"/>
              </a:rPr>
              <a:t>； 犯罪嫌疑人的属</a:t>
            </a:r>
            <a:r>
              <a:rPr sz="3200" spc="5" dirty="0">
                <a:latin typeface="宋体"/>
                <a:cs typeface="宋体"/>
              </a:rPr>
              <a:t>性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服装</a:t>
            </a:r>
            <a:r>
              <a:rPr sz="3200" dirty="0">
                <a:latin typeface="宋体"/>
                <a:cs typeface="宋体"/>
              </a:rPr>
              <a:t>，应该</a:t>
            </a:r>
            <a:r>
              <a:rPr sz="3200" spc="-15" dirty="0">
                <a:latin typeface="宋体"/>
                <a:cs typeface="宋体"/>
              </a:rPr>
              <a:t>具</a:t>
            </a:r>
            <a:r>
              <a:rPr sz="3200" dirty="0">
                <a:latin typeface="宋体"/>
                <a:cs typeface="宋体"/>
              </a:rPr>
              <a:t>体分</a:t>
            </a:r>
            <a:r>
              <a:rPr sz="3200" spc="-20" dirty="0">
                <a:latin typeface="宋体"/>
                <a:cs typeface="宋体"/>
              </a:rPr>
              <a:t>为</a:t>
            </a:r>
            <a:r>
              <a:rPr sz="3200" dirty="0">
                <a:latin typeface="宋体"/>
                <a:cs typeface="宋体"/>
              </a:rPr>
              <a:t>上 衣和裤子。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920"/>
              </a:spcBef>
              <a:buSzPct val="96875"/>
              <a:buAutoNum type="arabicPlain" startAt="4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一般类定义的属</a:t>
            </a:r>
            <a:r>
              <a:rPr sz="3200" spc="-15" dirty="0">
                <a:latin typeface="宋体"/>
                <a:cs typeface="宋体"/>
              </a:rPr>
              <a:t>性</a:t>
            </a:r>
            <a:r>
              <a:rPr sz="3200" dirty="0">
                <a:latin typeface="宋体"/>
                <a:cs typeface="宋体"/>
              </a:rPr>
              <a:t>，在</a:t>
            </a:r>
            <a:r>
              <a:rPr sz="3200" spc="-15" dirty="0">
                <a:latin typeface="宋体"/>
                <a:cs typeface="宋体"/>
              </a:rPr>
              <a:t>特</a:t>
            </a:r>
            <a:r>
              <a:rPr sz="3200" dirty="0">
                <a:latin typeface="宋体"/>
                <a:cs typeface="宋体"/>
              </a:rPr>
              <a:t>殊类</a:t>
            </a:r>
            <a:r>
              <a:rPr sz="3200" spc="-15" dirty="0">
                <a:latin typeface="宋体"/>
                <a:cs typeface="宋体"/>
              </a:rPr>
              <a:t>中</a:t>
            </a:r>
            <a:r>
              <a:rPr sz="3200" dirty="0">
                <a:latin typeface="宋体"/>
                <a:cs typeface="宋体"/>
              </a:rPr>
              <a:t>不重复 出现。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1376" y="13995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筛选类的属性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472" y="1745995"/>
            <a:ext cx="8157209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7010">
              <a:lnSpc>
                <a:spcPct val="100000"/>
              </a:lnSpc>
              <a:spcBef>
                <a:spcPts val="105"/>
              </a:spcBef>
            </a:pPr>
            <a:r>
              <a:rPr sz="3200" spc="5" dirty="0">
                <a:latin typeface="宋体"/>
                <a:cs typeface="宋体"/>
              </a:rPr>
              <a:t>5</a:t>
            </a:r>
            <a:r>
              <a:rPr sz="3200" dirty="0">
                <a:latin typeface="宋体"/>
                <a:cs typeface="宋体"/>
              </a:rPr>
              <a:t>）一个属性值明显</a:t>
            </a:r>
            <a:r>
              <a:rPr sz="3200" spc="-15" dirty="0">
                <a:latin typeface="宋体"/>
                <a:cs typeface="宋体"/>
              </a:rPr>
              <a:t>可</a:t>
            </a:r>
            <a:r>
              <a:rPr sz="3200" dirty="0">
                <a:latin typeface="宋体"/>
                <a:cs typeface="宋体"/>
              </a:rPr>
              <a:t>以从</a:t>
            </a:r>
            <a:r>
              <a:rPr sz="3200" spc="-15" dirty="0">
                <a:latin typeface="宋体"/>
                <a:cs typeface="宋体"/>
              </a:rPr>
              <a:t>另</a:t>
            </a:r>
            <a:r>
              <a:rPr sz="3200" dirty="0">
                <a:latin typeface="宋体"/>
                <a:cs typeface="宋体"/>
              </a:rPr>
              <a:t>一个</a:t>
            </a:r>
            <a:r>
              <a:rPr sz="3200" spc="-15" dirty="0">
                <a:latin typeface="宋体"/>
                <a:cs typeface="宋体"/>
              </a:rPr>
              <a:t>属</a:t>
            </a:r>
            <a:r>
              <a:rPr sz="3200" dirty="0">
                <a:latin typeface="宋体"/>
                <a:cs typeface="宋体"/>
              </a:rPr>
              <a:t>性值</a:t>
            </a:r>
            <a:r>
              <a:rPr sz="3200" spc="-15" dirty="0">
                <a:latin typeface="宋体"/>
                <a:cs typeface="宋体"/>
              </a:rPr>
              <a:t>直</a:t>
            </a:r>
            <a:r>
              <a:rPr sz="3200" dirty="0">
                <a:latin typeface="宋体"/>
                <a:cs typeface="宋体"/>
              </a:rPr>
              <a:t>接 导出，则应该去掉。但</a:t>
            </a:r>
            <a:r>
              <a:rPr sz="3200" spc="-15" dirty="0">
                <a:latin typeface="宋体"/>
                <a:cs typeface="宋体"/>
              </a:rPr>
              <a:t>是</a:t>
            </a:r>
            <a:r>
              <a:rPr sz="3200" dirty="0">
                <a:latin typeface="宋体"/>
                <a:cs typeface="宋体"/>
              </a:rPr>
              <a:t>如果</a:t>
            </a:r>
            <a:r>
              <a:rPr sz="3200" spc="-15" dirty="0">
                <a:latin typeface="宋体"/>
                <a:cs typeface="宋体"/>
              </a:rPr>
              <a:t>需</a:t>
            </a:r>
            <a:r>
              <a:rPr sz="3200" dirty="0">
                <a:latin typeface="宋体"/>
                <a:cs typeface="宋体"/>
              </a:rPr>
              <a:t>要较</a:t>
            </a:r>
            <a:r>
              <a:rPr sz="3200" spc="-15" dirty="0">
                <a:latin typeface="宋体"/>
                <a:cs typeface="宋体"/>
              </a:rPr>
              <a:t>复</a:t>
            </a:r>
            <a:r>
              <a:rPr sz="3200" dirty="0">
                <a:latin typeface="宋体"/>
                <a:cs typeface="宋体"/>
              </a:rPr>
              <a:t>杂的 计算才能导出，则可以</a:t>
            </a:r>
            <a:r>
              <a:rPr sz="3200" spc="-15" dirty="0">
                <a:latin typeface="宋体"/>
                <a:cs typeface="宋体"/>
              </a:rPr>
              <a:t>考</a:t>
            </a:r>
            <a:r>
              <a:rPr sz="3200" dirty="0">
                <a:latin typeface="宋体"/>
                <a:cs typeface="宋体"/>
              </a:rPr>
              <a:t>虑保</a:t>
            </a:r>
            <a:r>
              <a:rPr sz="3200" spc="-15" dirty="0">
                <a:latin typeface="宋体"/>
                <a:cs typeface="宋体"/>
              </a:rPr>
              <a:t>留</a:t>
            </a:r>
            <a:r>
              <a:rPr sz="3200" spc="5" dirty="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95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sz="3200" dirty="0">
                <a:latin typeface="宋体"/>
                <a:cs typeface="宋体"/>
              </a:rPr>
              <a:t>例如</a:t>
            </a:r>
            <a:r>
              <a:rPr sz="3200" spc="-15" dirty="0">
                <a:latin typeface="宋体"/>
                <a:cs typeface="宋体"/>
              </a:rPr>
              <a:t>：</a:t>
            </a:r>
            <a:r>
              <a:rPr sz="3200" dirty="0">
                <a:latin typeface="宋体"/>
                <a:cs typeface="宋体"/>
              </a:rPr>
              <a:t>有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出生年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月</a:t>
            </a:r>
            <a:r>
              <a:rPr sz="3200" dirty="0">
                <a:latin typeface="宋体"/>
                <a:cs typeface="宋体"/>
              </a:rPr>
              <a:t>属性，</a:t>
            </a:r>
            <a:r>
              <a:rPr sz="3200" spc="-15" dirty="0">
                <a:latin typeface="宋体"/>
                <a:cs typeface="宋体"/>
              </a:rPr>
              <a:t>不</a:t>
            </a:r>
            <a:r>
              <a:rPr sz="3200" dirty="0">
                <a:latin typeface="宋体"/>
                <a:cs typeface="宋体"/>
              </a:rPr>
              <a:t>必保</a:t>
            </a:r>
            <a:r>
              <a:rPr sz="3200" spc="-20" dirty="0">
                <a:latin typeface="宋体"/>
                <a:cs typeface="宋体"/>
              </a:rPr>
              <a:t>留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年龄</a:t>
            </a:r>
            <a:r>
              <a:rPr sz="3200" dirty="0">
                <a:latin typeface="宋体"/>
                <a:cs typeface="宋体"/>
              </a:rPr>
              <a:t>属性； 但是，有各分</a:t>
            </a:r>
            <a:r>
              <a:rPr sz="3200" spc="5" dirty="0">
                <a:latin typeface="宋体"/>
                <a:cs typeface="宋体"/>
              </a:rPr>
              <a:t>项</a:t>
            </a:r>
            <a:r>
              <a:rPr sz="32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税额</a:t>
            </a:r>
            <a:r>
              <a:rPr sz="3200" spc="5" dirty="0">
                <a:latin typeface="宋体"/>
                <a:cs typeface="宋体"/>
              </a:rPr>
              <a:t>属</a:t>
            </a:r>
            <a:r>
              <a:rPr sz="3200" spc="-15" dirty="0">
                <a:latin typeface="宋体"/>
                <a:cs typeface="宋体"/>
              </a:rPr>
              <a:t>性</a:t>
            </a:r>
            <a:r>
              <a:rPr sz="3200" spc="5" dirty="0">
                <a:latin typeface="宋体"/>
                <a:cs typeface="宋体"/>
              </a:rPr>
              <a:t>，也</a:t>
            </a:r>
            <a:r>
              <a:rPr sz="3200" spc="-15" dirty="0">
                <a:latin typeface="宋体"/>
                <a:cs typeface="宋体"/>
              </a:rPr>
              <a:t>可</a:t>
            </a:r>
            <a:r>
              <a:rPr sz="3200" spc="5" dirty="0">
                <a:latin typeface="宋体"/>
                <a:cs typeface="宋体"/>
              </a:rPr>
              <a:t>以</a:t>
            </a:r>
            <a:r>
              <a:rPr sz="3200" dirty="0">
                <a:latin typeface="宋体"/>
                <a:cs typeface="宋体"/>
              </a:rPr>
              <a:t>有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总</a:t>
            </a:r>
            <a:r>
              <a:rPr sz="3200" u="heavy" spc="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税率 </a:t>
            </a:r>
            <a:r>
              <a:rPr sz="3200" dirty="0">
                <a:latin typeface="宋体"/>
                <a:cs typeface="宋体"/>
              </a:rPr>
              <a:t>属性。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5966" y="129032"/>
            <a:ext cx="33832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筛选类的属性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683" y="83946"/>
            <a:ext cx="6594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2.3.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/>
              <a:t>类操作及识别调整策略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868" y="1033272"/>
            <a:ext cx="7696200" cy="9556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 marR="314325">
              <a:lnSpc>
                <a:spcPct val="100000"/>
              </a:lnSpc>
              <a:spcBef>
                <a:spcPts val="300"/>
              </a:spcBef>
            </a:pPr>
            <a:r>
              <a:rPr sz="2800" spc="5" dirty="0">
                <a:latin typeface="黑体"/>
                <a:cs typeface="黑体"/>
              </a:rPr>
              <a:t>操作定</a:t>
            </a:r>
            <a:r>
              <a:rPr sz="2800" spc="-5" dirty="0">
                <a:latin typeface="黑体"/>
                <a:cs typeface="黑体"/>
              </a:rPr>
              <a:t>义</a:t>
            </a:r>
            <a:r>
              <a:rPr sz="2800" spc="-100" dirty="0">
                <a:latin typeface="黑体"/>
                <a:cs typeface="黑体"/>
              </a:rPr>
              <a:t> </a:t>
            </a:r>
            <a:r>
              <a:rPr sz="2800" spc="-5" dirty="0">
                <a:latin typeface="宋体"/>
                <a:cs typeface="宋体"/>
              </a:rPr>
              <a:t>操作是类的构成元素，是类的对象被 要求执行的服务。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017" y="2086482"/>
            <a:ext cx="8665210" cy="4196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160" indent="-125095">
              <a:lnSpc>
                <a:spcPct val="100000"/>
              </a:lnSpc>
              <a:spcBef>
                <a:spcPts val="95"/>
              </a:spcBef>
              <a:buSzPct val="96428"/>
              <a:buFont typeface="Times New Roman"/>
              <a:buChar char="•"/>
              <a:tabLst>
                <a:tab pos="137795" algn="l"/>
              </a:tabLst>
            </a:pPr>
            <a:r>
              <a:rPr sz="2800" spc="-5" dirty="0">
                <a:latin typeface="宋体"/>
                <a:cs typeface="宋体"/>
              </a:rPr>
              <a:t>内部操作和外部操作：</a:t>
            </a:r>
            <a:endParaRPr sz="2800">
              <a:latin typeface="宋体"/>
              <a:cs typeface="宋体"/>
            </a:endParaRPr>
          </a:p>
          <a:p>
            <a:pPr marL="100965" marR="1450340">
              <a:lnSpc>
                <a:spcPct val="100000"/>
              </a:lnSpc>
            </a:pPr>
            <a:r>
              <a:rPr sz="2800" spc="-10" dirty="0">
                <a:latin typeface="宋体"/>
                <a:cs typeface="宋体"/>
              </a:rPr>
              <a:t>内部操作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spc="-10" dirty="0">
                <a:latin typeface="宋体"/>
                <a:cs typeface="宋体"/>
              </a:rPr>
              <a:t>只供对象内部的其他</a:t>
            </a:r>
            <a:r>
              <a:rPr sz="2800" dirty="0">
                <a:latin typeface="宋体"/>
                <a:cs typeface="宋体"/>
              </a:rPr>
              <a:t>操</a:t>
            </a:r>
            <a:r>
              <a:rPr sz="2800" spc="-10" dirty="0">
                <a:latin typeface="宋体"/>
                <a:cs typeface="宋体"/>
              </a:rPr>
              <a:t>作使</a:t>
            </a:r>
            <a:r>
              <a:rPr sz="2800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。 外部操作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spc="-5" dirty="0">
                <a:latin typeface="宋体"/>
                <a:cs typeface="宋体"/>
              </a:rPr>
              <a:t>响应其他对象请求时</a:t>
            </a:r>
            <a:r>
              <a:rPr sz="2800" dirty="0">
                <a:latin typeface="宋体"/>
                <a:cs typeface="宋体"/>
              </a:rPr>
              <a:t>提</a:t>
            </a:r>
            <a:r>
              <a:rPr sz="2800" spc="-5" dirty="0">
                <a:latin typeface="宋体"/>
                <a:cs typeface="宋体"/>
              </a:rPr>
              <a:t>供的</a:t>
            </a:r>
            <a:r>
              <a:rPr sz="2800" dirty="0">
                <a:latin typeface="宋体"/>
                <a:cs typeface="宋体"/>
              </a:rPr>
              <a:t>服</a:t>
            </a:r>
            <a:r>
              <a:rPr sz="2800" spc="-5" dirty="0">
                <a:latin typeface="宋体"/>
                <a:cs typeface="宋体"/>
              </a:rPr>
              <a:t>务。</a:t>
            </a:r>
            <a:endParaRPr sz="2800">
              <a:latin typeface="宋体"/>
              <a:cs typeface="宋体"/>
            </a:endParaRPr>
          </a:p>
          <a:p>
            <a:pPr marL="158750" indent="-125730">
              <a:lnSpc>
                <a:spcPct val="100000"/>
              </a:lnSpc>
              <a:spcBef>
                <a:spcPts val="1295"/>
              </a:spcBef>
              <a:buSzPct val="96428"/>
              <a:buFont typeface="Times New Roman"/>
              <a:buChar char="•"/>
              <a:tabLst>
                <a:tab pos="159385" algn="l"/>
              </a:tabLst>
            </a:pPr>
            <a:r>
              <a:rPr sz="2800" spc="-5" dirty="0">
                <a:latin typeface="宋体"/>
                <a:cs typeface="宋体"/>
              </a:rPr>
              <a:t>系统行为和自身行为：</a:t>
            </a:r>
            <a:endParaRPr sz="2800">
              <a:latin typeface="宋体"/>
              <a:cs typeface="宋体"/>
            </a:endParaRPr>
          </a:p>
          <a:p>
            <a:pPr marL="12192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宋体"/>
                <a:cs typeface="宋体"/>
              </a:rPr>
              <a:t>系统行为</a:t>
            </a:r>
            <a:r>
              <a:rPr sz="2800" dirty="0">
                <a:latin typeface="Times New Roman"/>
                <a:cs typeface="Times New Roman"/>
              </a:rPr>
              <a:t>---</a:t>
            </a:r>
            <a:r>
              <a:rPr sz="2800" spc="-5" dirty="0">
                <a:latin typeface="宋体"/>
                <a:cs typeface="宋体"/>
              </a:rPr>
              <a:t>系统施加于对象的行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1920" marR="1073785" indent="1778635">
              <a:lnSpc>
                <a:spcPct val="100000"/>
              </a:lnSpc>
            </a:pPr>
            <a:r>
              <a:rPr sz="2800" spc="-10" dirty="0">
                <a:latin typeface="宋体"/>
                <a:cs typeface="宋体"/>
              </a:rPr>
              <a:t>例如：对象创建、复制、存储、删除 </a:t>
            </a:r>
            <a:r>
              <a:rPr sz="2800" spc="-5" dirty="0">
                <a:latin typeface="宋体"/>
                <a:cs typeface="宋体"/>
              </a:rPr>
              <a:t>自身行为</a:t>
            </a:r>
            <a:r>
              <a:rPr sz="2800" spc="-5" dirty="0">
                <a:latin typeface="Times New Roman"/>
                <a:cs typeface="Times New Roman"/>
              </a:rPr>
              <a:t>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" dirty="0">
                <a:latin typeface="宋体"/>
                <a:cs typeface="宋体"/>
              </a:rPr>
              <a:t>简单算法行为：简单</a:t>
            </a:r>
            <a:r>
              <a:rPr sz="2800" dirty="0">
                <a:latin typeface="宋体"/>
                <a:cs typeface="宋体"/>
              </a:rPr>
              <a:t>读</a:t>
            </a:r>
            <a:r>
              <a:rPr sz="2800" spc="-5" dirty="0">
                <a:latin typeface="宋体"/>
                <a:cs typeface="宋体"/>
              </a:rPr>
              <a:t>写属</a:t>
            </a:r>
            <a:r>
              <a:rPr sz="2800" dirty="0">
                <a:latin typeface="宋体"/>
                <a:cs typeface="宋体"/>
              </a:rPr>
              <a:t>性</a:t>
            </a:r>
            <a:r>
              <a:rPr sz="2800" spc="-5" dirty="0">
                <a:latin typeface="宋体"/>
                <a:cs typeface="宋体"/>
              </a:rPr>
              <a:t>的值。</a:t>
            </a:r>
            <a:endParaRPr sz="2800">
              <a:latin typeface="宋体"/>
              <a:cs typeface="宋体"/>
            </a:endParaRPr>
          </a:p>
          <a:p>
            <a:pPr marL="1901189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复杂</a:t>
            </a:r>
            <a:r>
              <a:rPr sz="2800" dirty="0">
                <a:latin typeface="宋体"/>
                <a:cs typeface="宋体"/>
              </a:rPr>
              <a:t>算</a:t>
            </a:r>
            <a:r>
              <a:rPr sz="2800" spc="-5" dirty="0">
                <a:latin typeface="宋体"/>
                <a:cs typeface="宋体"/>
              </a:rPr>
              <a:t>法行为</a:t>
            </a:r>
            <a:r>
              <a:rPr sz="2800" dirty="0">
                <a:latin typeface="宋体"/>
                <a:cs typeface="宋体"/>
              </a:rPr>
              <a:t>：</a:t>
            </a:r>
            <a:r>
              <a:rPr sz="2800" spc="-5" dirty="0">
                <a:latin typeface="宋体"/>
                <a:cs typeface="宋体"/>
              </a:rPr>
              <a:t>完成对</a:t>
            </a:r>
            <a:r>
              <a:rPr sz="2800" dirty="0"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固有的</a:t>
            </a:r>
            <a:r>
              <a:rPr sz="2800" dirty="0">
                <a:latin typeface="宋体"/>
                <a:cs typeface="宋体"/>
              </a:rPr>
              <a:t>行</a:t>
            </a:r>
            <a:r>
              <a:rPr sz="2800" spc="-5" dirty="0">
                <a:latin typeface="宋体"/>
                <a:cs typeface="宋体"/>
              </a:rPr>
              <a:t>为算法。</a:t>
            </a:r>
            <a:endParaRPr sz="2800">
              <a:latin typeface="宋体"/>
              <a:cs typeface="宋体"/>
            </a:endParaRPr>
          </a:p>
          <a:p>
            <a:pPr marL="213360" lvl="1" indent="-125095">
              <a:lnSpc>
                <a:spcPct val="100000"/>
              </a:lnSpc>
              <a:spcBef>
                <a:spcPts val="1300"/>
              </a:spcBef>
              <a:buSzPct val="96428"/>
              <a:buFont typeface="Times New Roman"/>
              <a:buChar char="•"/>
              <a:tabLst>
                <a:tab pos="213995" algn="l"/>
              </a:tabLst>
            </a:pPr>
            <a:r>
              <a:rPr sz="2800" spc="-5" dirty="0">
                <a:latin typeface="宋体"/>
                <a:cs typeface="宋体"/>
              </a:rPr>
              <a:t>分析模型应该以描述复杂</a:t>
            </a:r>
            <a:r>
              <a:rPr sz="2800" dirty="0">
                <a:latin typeface="宋体"/>
                <a:cs typeface="宋体"/>
              </a:rPr>
              <a:t>算</a:t>
            </a:r>
            <a:r>
              <a:rPr sz="2800" spc="-5" dirty="0">
                <a:latin typeface="宋体"/>
                <a:cs typeface="宋体"/>
              </a:rPr>
              <a:t>法操</a:t>
            </a:r>
            <a:r>
              <a:rPr sz="2800" dirty="0">
                <a:latin typeface="宋体"/>
                <a:cs typeface="宋体"/>
              </a:rPr>
              <a:t>作</a:t>
            </a:r>
            <a:r>
              <a:rPr sz="2800" spc="-5" dirty="0">
                <a:latin typeface="宋体"/>
                <a:cs typeface="宋体"/>
              </a:rPr>
              <a:t>为主。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41731"/>
            <a:ext cx="7696200" cy="13823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800" spc="5" dirty="0">
                <a:latin typeface="黑体"/>
                <a:cs typeface="黑体"/>
              </a:rPr>
              <a:t>类范围操作</a:t>
            </a:r>
            <a:r>
              <a:rPr sz="2800" spc="-5" dirty="0">
                <a:latin typeface="黑体"/>
                <a:cs typeface="黑体"/>
              </a:rPr>
              <a:t>定义</a:t>
            </a:r>
            <a:endParaRPr sz="2800">
              <a:latin typeface="黑体"/>
              <a:cs typeface="黑体"/>
            </a:endParaRPr>
          </a:p>
          <a:p>
            <a:pPr marL="91440" marR="135890">
              <a:lnSpc>
                <a:spcPts val="3200"/>
              </a:lnSpc>
              <a:spcBef>
                <a:spcPts val="395"/>
              </a:spcBef>
            </a:pPr>
            <a:r>
              <a:rPr sz="2800" spc="-5" dirty="0">
                <a:latin typeface="宋体"/>
                <a:cs typeface="宋体"/>
              </a:rPr>
              <a:t>仅用</a:t>
            </a:r>
            <a:r>
              <a:rPr sz="2800" spc="-10" dirty="0">
                <a:latin typeface="宋体"/>
                <a:cs typeface="宋体"/>
              </a:rPr>
              <a:t>于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操纵类属性</a:t>
            </a:r>
            <a:r>
              <a:rPr sz="2800" spc="-5" dirty="0">
                <a:latin typeface="宋体"/>
                <a:cs typeface="宋体"/>
              </a:rPr>
              <a:t>的操作叫做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类范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围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操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作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其余 的操作叫做实例范围的操作。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016" y="1771649"/>
            <a:ext cx="7484745" cy="187198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97700"/>
              </a:lnSpc>
              <a:spcBef>
                <a:spcPts val="170"/>
              </a:spcBef>
            </a:pPr>
            <a:r>
              <a:rPr sz="2800" spc="-5" dirty="0">
                <a:latin typeface="宋体"/>
                <a:cs typeface="宋体"/>
              </a:rPr>
              <a:t>类属性，对一个类的全部对象只有</a:t>
            </a:r>
            <a:r>
              <a:rPr sz="2800" dirty="0">
                <a:latin typeface="宋体"/>
                <a:cs typeface="宋体"/>
              </a:rPr>
              <a:t>一</a:t>
            </a:r>
            <a:r>
              <a:rPr sz="2800" spc="-5" dirty="0">
                <a:latin typeface="宋体"/>
                <a:cs typeface="宋体"/>
              </a:rPr>
              <a:t>份共</a:t>
            </a:r>
            <a:r>
              <a:rPr sz="2800" dirty="0">
                <a:latin typeface="宋体"/>
                <a:cs typeface="宋体"/>
              </a:rPr>
              <a:t>同</a:t>
            </a:r>
            <a:r>
              <a:rPr sz="2800" spc="-5" dirty="0">
                <a:latin typeface="宋体"/>
                <a:cs typeface="宋体"/>
              </a:rPr>
              <a:t>的数 据空间；类范围操作，仅对这样的</a:t>
            </a:r>
            <a:r>
              <a:rPr sz="2800" dirty="0">
                <a:latin typeface="宋体"/>
                <a:cs typeface="宋体"/>
              </a:rPr>
              <a:t>共</a:t>
            </a:r>
            <a:r>
              <a:rPr sz="2800" spc="-5" dirty="0">
                <a:latin typeface="宋体"/>
                <a:cs typeface="宋体"/>
              </a:rPr>
              <a:t>同空</a:t>
            </a:r>
            <a:r>
              <a:rPr sz="2800" dirty="0">
                <a:latin typeface="宋体"/>
                <a:cs typeface="宋体"/>
              </a:rPr>
              <a:t>间</a:t>
            </a:r>
            <a:r>
              <a:rPr sz="2800" spc="-5" dirty="0">
                <a:latin typeface="宋体"/>
                <a:cs typeface="宋体"/>
              </a:rPr>
              <a:t>数据 </a:t>
            </a:r>
            <a:r>
              <a:rPr sz="2800" spc="-10" dirty="0">
                <a:latin typeface="宋体"/>
                <a:cs typeface="宋体"/>
              </a:rPr>
              <a:t>进行处理。</a:t>
            </a:r>
            <a:endParaRPr sz="2800">
              <a:latin typeface="宋体"/>
              <a:cs typeface="宋体"/>
            </a:endParaRPr>
          </a:p>
          <a:p>
            <a:pPr marL="155575">
              <a:lnSpc>
                <a:spcPct val="100000"/>
              </a:lnSpc>
              <a:spcBef>
                <a:spcPts val="1260"/>
              </a:spcBef>
            </a:pPr>
            <a:r>
              <a:rPr sz="2800" spc="-5" dirty="0">
                <a:latin typeface="宋体"/>
                <a:cs typeface="宋体"/>
              </a:rPr>
              <a:t>类属性和类范围操作表示：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33800" y="3890771"/>
            <a:ext cx="1143000" cy="2299970"/>
          </a:xfrm>
          <a:custGeom>
            <a:avLst/>
            <a:gdLst/>
            <a:ahLst/>
            <a:cxnLst/>
            <a:rect l="l" t="t" r="r" b="b"/>
            <a:pathLst>
              <a:path w="1143000" h="2299970">
                <a:moveTo>
                  <a:pt x="0" y="2299716"/>
                </a:moveTo>
                <a:lnTo>
                  <a:pt x="1143000" y="2299716"/>
                </a:lnTo>
                <a:lnTo>
                  <a:pt x="1143000" y="0"/>
                </a:lnTo>
                <a:lnTo>
                  <a:pt x="0" y="0"/>
                </a:lnTo>
                <a:lnTo>
                  <a:pt x="0" y="22997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33800" y="3890771"/>
            <a:ext cx="11430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800" spc="-5" dirty="0">
                <a:latin typeface="宋体"/>
                <a:cs typeface="宋体"/>
              </a:rPr>
              <a:t>类名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3800" y="4271771"/>
            <a:ext cx="1143000" cy="838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10185" rIns="0" bIns="0" rtlCol="0">
            <a:spAutoFit/>
          </a:bodyPr>
          <a:lstStyle/>
          <a:p>
            <a:pPr marL="92075" marR="472440">
              <a:lnSpc>
                <a:spcPct val="100000"/>
              </a:lnSpc>
              <a:spcBef>
                <a:spcPts val="1655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属性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 </a:t>
            </a:r>
            <a:r>
              <a:rPr sz="1800" dirty="0">
                <a:latin typeface="宋体"/>
                <a:cs typeface="宋体"/>
              </a:rPr>
              <a:t>属性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3800" y="5109971"/>
            <a:ext cx="1143000" cy="10807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49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535"/>
              </a:spcBef>
            </a:pPr>
            <a:r>
              <a:rPr sz="1800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操作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操作</a:t>
            </a:r>
            <a:r>
              <a:rPr sz="180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33800" y="4271771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33800" y="5109971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46778" y="4048886"/>
            <a:ext cx="1129030" cy="518159"/>
          </a:xfrm>
          <a:custGeom>
            <a:avLst/>
            <a:gdLst/>
            <a:ahLst/>
            <a:cxnLst/>
            <a:rect l="l" t="t" r="r" b="b"/>
            <a:pathLst>
              <a:path w="1129029" h="518160">
                <a:moveTo>
                  <a:pt x="1128776" y="0"/>
                </a:moveTo>
                <a:lnTo>
                  <a:pt x="0" y="517906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651753" y="3934205"/>
            <a:ext cx="914400" cy="35052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宋体"/>
                <a:cs typeface="宋体"/>
              </a:rPr>
              <a:t>类属性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48936" y="5301107"/>
            <a:ext cx="1266825" cy="196850"/>
          </a:xfrm>
          <a:custGeom>
            <a:avLst/>
            <a:gdLst/>
            <a:ahLst/>
            <a:cxnLst/>
            <a:rect l="l" t="t" r="r" b="b"/>
            <a:pathLst>
              <a:path w="1266825" h="196850">
                <a:moveTo>
                  <a:pt x="1266825" y="0"/>
                </a:moveTo>
                <a:lnTo>
                  <a:pt x="0" y="196723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91961" y="5186934"/>
            <a:ext cx="1295400" cy="349250"/>
          </a:xfrm>
          <a:prstGeom prst="rect">
            <a:avLst/>
          </a:prstGeom>
          <a:ln w="38100">
            <a:solidFill>
              <a:srgbClr val="FF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325"/>
              </a:spcBef>
            </a:pPr>
            <a:r>
              <a:rPr sz="1600" spc="-5" dirty="0">
                <a:latin typeface="宋体"/>
                <a:cs typeface="宋体"/>
              </a:rPr>
              <a:t>类范围操作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14600" y="5452745"/>
            <a:ext cx="1284605" cy="266700"/>
          </a:xfrm>
          <a:custGeom>
            <a:avLst/>
            <a:gdLst/>
            <a:ahLst/>
            <a:cxnLst/>
            <a:rect l="l" t="t" r="r" b="b"/>
            <a:pathLst>
              <a:path w="1284604" h="266700">
                <a:moveTo>
                  <a:pt x="0" y="0"/>
                </a:moveTo>
                <a:lnTo>
                  <a:pt x="1284351" y="2665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24000" y="5338571"/>
            <a:ext cx="914400" cy="3492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330"/>
              </a:spcBef>
            </a:pPr>
            <a:r>
              <a:rPr sz="1600" spc="-10" dirty="0">
                <a:latin typeface="宋体"/>
                <a:cs typeface="宋体"/>
              </a:rPr>
              <a:t>类操作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71800" y="4614545"/>
            <a:ext cx="831850" cy="309880"/>
          </a:xfrm>
          <a:custGeom>
            <a:avLst/>
            <a:gdLst/>
            <a:ahLst/>
            <a:cxnLst/>
            <a:rect l="l" t="t" r="r" b="b"/>
            <a:pathLst>
              <a:path w="831850" h="309879">
                <a:moveTo>
                  <a:pt x="0" y="0"/>
                </a:moveTo>
                <a:lnTo>
                  <a:pt x="831850" y="30937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76400" y="4500371"/>
            <a:ext cx="1219200" cy="3492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宋体"/>
                <a:cs typeface="宋体"/>
              </a:rPr>
              <a:t>实例类属性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015745"/>
            <a:ext cx="8211820" cy="470852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469265" algn="l"/>
              </a:tabLst>
            </a:pPr>
            <a:r>
              <a:rPr sz="2400" dirty="0">
                <a:latin typeface="宋体"/>
                <a:cs typeface="宋体"/>
              </a:rPr>
              <a:t>①	问题陈述中的动词或动词短语</a:t>
            </a:r>
            <a:endParaRPr sz="2400">
              <a:latin typeface="宋体"/>
              <a:cs typeface="宋体"/>
            </a:endParaRPr>
          </a:p>
          <a:p>
            <a:pPr marL="469900" marR="10160" indent="-457200">
              <a:lnSpc>
                <a:spcPct val="100000"/>
              </a:lnSpc>
              <a:spcBef>
                <a:spcPts val="860"/>
              </a:spcBef>
              <a:tabLst>
                <a:tab pos="469265" algn="l"/>
              </a:tabLst>
            </a:pPr>
            <a:r>
              <a:rPr sz="2400" dirty="0">
                <a:latin typeface="宋体"/>
                <a:cs typeface="宋体"/>
              </a:rPr>
              <a:t>②	考虑系统责任</a:t>
            </a:r>
            <a:r>
              <a:rPr sz="2400" dirty="0">
                <a:latin typeface="Times New Roman"/>
                <a:cs typeface="Times New Roman"/>
              </a:rPr>
              <a:t>----</a:t>
            </a:r>
            <a:r>
              <a:rPr sz="2400" dirty="0">
                <a:latin typeface="宋体"/>
                <a:cs typeface="宋体"/>
              </a:rPr>
              <a:t>从需求中的每项功能，寻找可对应对象的 操作。</a:t>
            </a:r>
            <a:endParaRPr sz="2400">
              <a:latin typeface="宋体"/>
              <a:cs typeface="宋体"/>
            </a:endParaRPr>
          </a:p>
          <a:p>
            <a:pPr marL="469900" marR="10160" indent="-457200">
              <a:lnSpc>
                <a:spcPct val="100000"/>
              </a:lnSpc>
              <a:spcBef>
                <a:spcPts val="870"/>
              </a:spcBef>
              <a:tabLst>
                <a:tab pos="469265" algn="l"/>
              </a:tabLst>
            </a:pPr>
            <a:r>
              <a:rPr sz="2400" dirty="0">
                <a:latin typeface="宋体"/>
                <a:cs typeface="宋体"/>
              </a:rPr>
              <a:t>③	考虑问题域</a:t>
            </a:r>
            <a:r>
              <a:rPr sz="2400" dirty="0">
                <a:latin typeface="Times New Roman"/>
                <a:cs typeface="Times New Roman"/>
              </a:rPr>
              <a:t>----</a:t>
            </a:r>
            <a:r>
              <a:rPr sz="2400" dirty="0">
                <a:latin typeface="宋体"/>
                <a:cs typeface="宋体"/>
              </a:rPr>
              <a:t>从对象在问题域中的行为，寻找与系统责任 有关的对应的操作。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400" dirty="0">
                <a:latin typeface="宋体"/>
                <a:cs typeface="宋体"/>
              </a:rPr>
              <a:t>④</a:t>
            </a:r>
            <a:r>
              <a:rPr sz="2400" spc="-40" dirty="0">
                <a:latin typeface="宋体"/>
                <a:cs typeface="宋体"/>
              </a:rPr>
              <a:t> </a:t>
            </a:r>
            <a:r>
              <a:rPr sz="2400" spc="-5" dirty="0">
                <a:latin typeface="宋体"/>
                <a:cs typeface="宋体"/>
              </a:rPr>
              <a:t>从属性值的设</a:t>
            </a:r>
            <a:r>
              <a:rPr sz="2400" dirty="0">
                <a:latin typeface="宋体"/>
                <a:cs typeface="宋体"/>
              </a:rPr>
              <a:t>置</a:t>
            </a:r>
            <a:r>
              <a:rPr sz="2400" dirty="0">
                <a:latin typeface="Times New Roman"/>
                <a:cs typeface="Times New Roman"/>
              </a:rPr>
              <a:t>----</a:t>
            </a:r>
            <a:r>
              <a:rPr sz="2400" dirty="0">
                <a:latin typeface="宋体"/>
                <a:cs typeface="宋体"/>
              </a:rPr>
              <a:t>对象的属性值必须由对应的具体操作来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宋体"/>
                <a:cs typeface="宋体"/>
              </a:rPr>
              <a:t>设置。</a:t>
            </a:r>
            <a:endParaRPr sz="2400">
              <a:latin typeface="宋体"/>
              <a:cs typeface="宋体"/>
            </a:endParaRPr>
          </a:p>
          <a:p>
            <a:pPr marL="469900" marR="10160" indent="-457200">
              <a:lnSpc>
                <a:spcPct val="103699"/>
              </a:lnSpc>
              <a:spcBef>
                <a:spcPts val="755"/>
              </a:spcBef>
              <a:tabLst>
                <a:tab pos="469265" algn="l"/>
              </a:tabLst>
            </a:pPr>
            <a:r>
              <a:rPr sz="2400" dirty="0">
                <a:latin typeface="宋体"/>
                <a:cs typeface="宋体"/>
              </a:rPr>
              <a:t>⑤	追踪操作轨迹</a:t>
            </a:r>
            <a:r>
              <a:rPr sz="2400" dirty="0">
                <a:latin typeface="Times New Roman"/>
                <a:cs typeface="Times New Roman"/>
              </a:rPr>
              <a:t>----</a:t>
            </a:r>
            <a:r>
              <a:rPr sz="2400" dirty="0">
                <a:latin typeface="宋体"/>
                <a:cs typeface="宋体"/>
              </a:rPr>
              <a:t>从特定场景的对象间交互，寻找对象必须 </a:t>
            </a:r>
            <a:r>
              <a:rPr sz="2400" spc="-5" dirty="0">
                <a:latin typeface="宋体"/>
                <a:cs typeface="宋体"/>
              </a:rPr>
              <a:t>提供的服务响应行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469900" marR="10160" indent="-457200">
              <a:lnSpc>
                <a:spcPct val="100000"/>
              </a:lnSpc>
              <a:spcBef>
                <a:spcPts val="760"/>
              </a:spcBef>
              <a:tabLst>
                <a:tab pos="469265" algn="l"/>
              </a:tabLst>
            </a:pPr>
            <a:r>
              <a:rPr sz="2400" dirty="0">
                <a:latin typeface="宋体"/>
                <a:cs typeface="宋体"/>
              </a:rPr>
              <a:t>⑥	分析对象状态</a:t>
            </a:r>
            <a:r>
              <a:rPr sz="2400" dirty="0">
                <a:latin typeface="Times New Roman"/>
                <a:cs typeface="Times New Roman"/>
              </a:rPr>
              <a:t>----</a:t>
            </a:r>
            <a:r>
              <a:rPr sz="2400" dirty="0">
                <a:latin typeface="宋体"/>
                <a:cs typeface="宋体"/>
              </a:rPr>
              <a:t>从对象生命周期呈现的每种状态，寻找对 象保持状态的必然行为。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9038" y="120776"/>
            <a:ext cx="5062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对象操作的发现策略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7100" y="1014729"/>
            <a:ext cx="67316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根据SafeHome问题中的类及属性初步确定的操作：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4691" y="1536191"/>
          <a:ext cx="1371600" cy="21732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7"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系统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88900" marR="24892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启停状态 主人密码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2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986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系统启动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88900">
                        <a:lnSpc>
                          <a:spcPts val="2380"/>
                        </a:lnSpc>
                        <a:spcBef>
                          <a:spcPts val="5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密码设置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88900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97817" y="4292917"/>
          <a:ext cx="1600200" cy="15666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95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传感器事件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事件时间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65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事件查询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03492" y="1536191"/>
          <a:ext cx="1371600" cy="24475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7">
                <a:tc>
                  <a:txBody>
                    <a:bodyPr/>
                    <a:lstStyle/>
                    <a:p>
                      <a:pPr marL="3219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传感器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3352">
                <a:tc>
                  <a:txBody>
                    <a:bodyPr/>
                    <a:lstStyle/>
                    <a:p>
                      <a:pPr marL="90170" marR="760730" algn="just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编号 类型 位置 性质 限值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271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5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判断限值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59217" y="4292917"/>
          <a:ext cx="1905000" cy="19019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b="1" dirty="0">
                          <a:latin typeface="宋体"/>
                          <a:cs typeface="宋体"/>
                        </a:rPr>
                        <a:t>警报器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0170" marR="7823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启停状态 延时限制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1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根据延时限定报警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2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69017" y="4292917"/>
          <a:ext cx="1524000" cy="15971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428">
                <a:tc>
                  <a:txBody>
                    <a:bodyPr/>
                    <a:lstStyle/>
                    <a:p>
                      <a:pPr marR="37528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000" b="1" dirty="0">
                          <a:latin typeface="宋体"/>
                          <a:cs typeface="宋体"/>
                        </a:rPr>
                        <a:t>电话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31051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电话号码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52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自动拨号处理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71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502217" y="1549717"/>
          <a:ext cx="2057400" cy="1993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显示窗口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0170" marR="934719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坐标位置 </a:t>
                      </a:r>
                      <a:r>
                        <a:rPr sz="2000" b="1" spc="5" dirty="0">
                          <a:latin typeface="宋体"/>
                          <a:cs typeface="宋体"/>
                        </a:rPr>
                        <a:t>大小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2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按坐标位置显示信息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ts val="1905"/>
                        </a:lnSpc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按大小打开窗口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ts val="190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712017" y="1549717"/>
          <a:ext cx="1752600" cy="2604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功能键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714">
                <a:tc>
                  <a:txBody>
                    <a:bodyPr/>
                    <a:lstStyle/>
                    <a:p>
                      <a:pPr marL="90805" marR="62865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按键编号 按键功能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927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80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功能键操作处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理</a:t>
                      </a:r>
                      <a:r>
                        <a:rPr sz="1600" b="1" dirty="0">
                          <a:latin typeface="Tahoma"/>
                          <a:cs typeface="Tahoma"/>
                        </a:rPr>
                        <a:t>1</a:t>
                      </a:r>
                      <a:endParaRPr sz="1600">
                        <a:latin typeface="Tahoma"/>
                        <a:cs typeface="Tahoma"/>
                      </a:endParaRPr>
                    </a:p>
                    <a:p>
                      <a:pPr marL="90805">
                        <a:lnSpc>
                          <a:spcPts val="1900"/>
                        </a:lnSpc>
                        <a:spcBef>
                          <a:spcPts val="960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功能键操作处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理</a:t>
                      </a:r>
                      <a:r>
                        <a:rPr sz="1600" b="1" dirty="0">
                          <a:latin typeface="Tahoma"/>
                          <a:cs typeface="Tahoma"/>
                        </a:rPr>
                        <a:t>2</a:t>
                      </a:r>
                      <a:endParaRPr sz="1600">
                        <a:latin typeface="Tahoma"/>
                        <a:cs typeface="Tahoma"/>
                      </a:endParaRPr>
                    </a:p>
                    <a:p>
                      <a:pPr marL="90805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41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49016" y="120776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对象操作示例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2185" y="168656"/>
            <a:ext cx="4502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类操作的调整原则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540" y="1602994"/>
            <a:ext cx="8155305" cy="319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4205" indent="-612140">
              <a:lnSpc>
                <a:spcPct val="100000"/>
              </a:lnSpc>
              <a:spcBef>
                <a:spcPts val="105"/>
              </a:spcBef>
              <a:buSzPct val="96875"/>
              <a:buAutoNum type="arabicPlain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如果一个操作没</a:t>
            </a:r>
            <a:r>
              <a:rPr sz="3200" spc="-15" dirty="0">
                <a:latin typeface="宋体"/>
                <a:cs typeface="宋体"/>
              </a:rPr>
              <a:t>有</a:t>
            </a:r>
            <a:r>
              <a:rPr sz="3200" dirty="0">
                <a:latin typeface="宋体"/>
                <a:cs typeface="宋体"/>
              </a:rPr>
              <a:t>系统</a:t>
            </a:r>
            <a:r>
              <a:rPr sz="3200" spc="-15" dirty="0">
                <a:latin typeface="宋体"/>
                <a:cs typeface="宋体"/>
              </a:rPr>
              <a:t>或</a:t>
            </a:r>
            <a:r>
              <a:rPr sz="3200" dirty="0">
                <a:latin typeface="宋体"/>
                <a:cs typeface="宋体"/>
              </a:rPr>
              <a:t>其他</a:t>
            </a:r>
            <a:r>
              <a:rPr sz="3200" spc="-15" dirty="0">
                <a:latin typeface="宋体"/>
                <a:cs typeface="宋体"/>
              </a:rPr>
              <a:t>部</a:t>
            </a:r>
            <a:r>
              <a:rPr sz="3200" dirty="0">
                <a:latin typeface="宋体"/>
                <a:cs typeface="宋体"/>
              </a:rPr>
              <a:t>分的</a:t>
            </a:r>
            <a:r>
              <a:rPr sz="3200" spc="-15" dirty="0">
                <a:latin typeface="宋体"/>
                <a:cs typeface="宋体"/>
              </a:rPr>
              <a:t>请</a:t>
            </a:r>
            <a:r>
              <a:rPr sz="3200" dirty="0">
                <a:latin typeface="宋体"/>
                <a:cs typeface="宋体"/>
              </a:rPr>
              <a:t>求</a:t>
            </a:r>
            <a:endParaRPr sz="3200">
              <a:latin typeface="宋体"/>
              <a:cs typeface="宋体"/>
            </a:endParaRPr>
          </a:p>
          <a:p>
            <a:pPr marL="12700" marR="408305">
              <a:lnSpc>
                <a:spcPct val="100000"/>
              </a:lnSpc>
            </a:pPr>
            <a:r>
              <a:rPr sz="3200" dirty="0">
                <a:latin typeface="宋体"/>
                <a:cs typeface="宋体"/>
              </a:rPr>
              <a:t>（包括外部系统和参与</a:t>
            </a:r>
            <a:r>
              <a:rPr sz="3200" spc="-15" dirty="0">
                <a:latin typeface="宋体"/>
                <a:cs typeface="宋体"/>
              </a:rPr>
              <a:t>者</a:t>
            </a:r>
            <a:r>
              <a:rPr sz="3200" dirty="0">
                <a:latin typeface="宋体"/>
                <a:cs typeface="宋体"/>
              </a:rPr>
              <a:t>的请</a:t>
            </a:r>
            <a:r>
              <a:rPr sz="3200" spc="-15" dirty="0">
                <a:latin typeface="宋体"/>
                <a:cs typeface="宋体"/>
              </a:rPr>
              <a:t>求</a:t>
            </a:r>
            <a:r>
              <a:rPr sz="3200" dirty="0">
                <a:latin typeface="宋体"/>
                <a:cs typeface="宋体"/>
              </a:rPr>
              <a:t>），</a:t>
            </a:r>
            <a:r>
              <a:rPr sz="3200" spc="-15" dirty="0">
                <a:latin typeface="宋体"/>
                <a:cs typeface="宋体"/>
              </a:rPr>
              <a:t>则</a:t>
            </a:r>
            <a:r>
              <a:rPr sz="3200" dirty="0">
                <a:latin typeface="宋体"/>
                <a:cs typeface="宋体"/>
              </a:rPr>
              <a:t>是无 用的操作，应该丢弃。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920"/>
              </a:spcBef>
              <a:buSzPct val="96875"/>
              <a:buAutoNum type="arabicPlain" startAt="2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操作应该是高内</a:t>
            </a:r>
            <a:r>
              <a:rPr sz="3200" spc="-15" dirty="0">
                <a:latin typeface="宋体"/>
                <a:cs typeface="宋体"/>
              </a:rPr>
              <a:t>聚</a:t>
            </a:r>
            <a:r>
              <a:rPr sz="3200" dirty="0">
                <a:latin typeface="宋体"/>
                <a:cs typeface="宋体"/>
              </a:rPr>
              <a:t>的。</a:t>
            </a:r>
            <a:r>
              <a:rPr sz="3200" spc="-15" dirty="0">
                <a:latin typeface="宋体"/>
                <a:cs typeface="宋体"/>
              </a:rPr>
              <a:t>如</a:t>
            </a:r>
            <a:r>
              <a:rPr sz="3200" dirty="0">
                <a:latin typeface="宋体"/>
                <a:cs typeface="宋体"/>
              </a:rPr>
              <a:t>果一</a:t>
            </a:r>
            <a:r>
              <a:rPr sz="3200" spc="-15" dirty="0">
                <a:latin typeface="宋体"/>
                <a:cs typeface="宋体"/>
              </a:rPr>
              <a:t>个</a:t>
            </a:r>
            <a:r>
              <a:rPr sz="3200" dirty="0">
                <a:latin typeface="宋体"/>
                <a:cs typeface="宋体"/>
              </a:rPr>
              <a:t>操作</a:t>
            </a:r>
            <a:r>
              <a:rPr sz="3200" spc="-15" dirty="0">
                <a:latin typeface="宋体"/>
                <a:cs typeface="宋体"/>
              </a:rPr>
              <a:t>不</a:t>
            </a:r>
            <a:r>
              <a:rPr sz="3200" dirty="0">
                <a:latin typeface="宋体"/>
                <a:cs typeface="宋体"/>
              </a:rPr>
              <a:t>仅 </a:t>
            </a:r>
            <a:r>
              <a:rPr sz="3200" spc="5" dirty="0">
                <a:latin typeface="宋体"/>
                <a:cs typeface="宋体"/>
              </a:rPr>
              <a:t>是完</a:t>
            </a:r>
            <a:r>
              <a:rPr sz="3200" spc="-15" dirty="0">
                <a:latin typeface="宋体"/>
                <a:cs typeface="宋体"/>
              </a:rPr>
              <a:t>成</a:t>
            </a:r>
            <a:r>
              <a:rPr sz="3200" spc="5" dirty="0">
                <a:latin typeface="宋体"/>
                <a:cs typeface="宋体"/>
              </a:rPr>
              <a:t>一项</a:t>
            </a:r>
            <a:r>
              <a:rPr sz="3200" spc="-15" dirty="0">
                <a:latin typeface="宋体"/>
                <a:cs typeface="宋体"/>
              </a:rPr>
              <a:t>明</a:t>
            </a:r>
            <a:r>
              <a:rPr sz="3200" spc="5" dirty="0">
                <a:latin typeface="宋体"/>
                <a:cs typeface="宋体"/>
              </a:rPr>
              <a:t>确定</a:t>
            </a:r>
            <a:r>
              <a:rPr sz="3200" spc="-15" dirty="0">
                <a:latin typeface="宋体"/>
                <a:cs typeface="宋体"/>
              </a:rPr>
              <a:t>义</a:t>
            </a:r>
            <a:r>
              <a:rPr sz="3200" spc="5" dirty="0">
                <a:latin typeface="宋体"/>
                <a:cs typeface="宋体"/>
              </a:rPr>
              <a:t>的、</a:t>
            </a:r>
            <a:r>
              <a:rPr sz="3200" spc="-15" dirty="0">
                <a:latin typeface="宋体"/>
                <a:cs typeface="宋体"/>
              </a:rPr>
              <a:t>完</a:t>
            </a:r>
            <a:r>
              <a:rPr sz="3200" spc="5" dirty="0">
                <a:latin typeface="宋体"/>
                <a:cs typeface="宋体"/>
              </a:rPr>
              <a:t>整的</a:t>
            </a:r>
            <a:r>
              <a:rPr sz="3200" spc="-15" dirty="0">
                <a:latin typeface="宋体"/>
                <a:cs typeface="宋体"/>
              </a:rPr>
              <a:t>、</a:t>
            </a:r>
            <a:r>
              <a:rPr sz="3200" spc="5" dirty="0">
                <a:latin typeface="宋体"/>
                <a:cs typeface="宋体"/>
              </a:rPr>
              <a:t>单一</a:t>
            </a:r>
            <a:r>
              <a:rPr sz="3200" spc="-15" dirty="0">
                <a:latin typeface="宋体"/>
                <a:cs typeface="宋体"/>
              </a:rPr>
              <a:t>功</a:t>
            </a:r>
            <a:r>
              <a:rPr sz="3200" spc="5" dirty="0">
                <a:latin typeface="宋体"/>
                <a:cs typeface="宋体"/>
              </a:rPr>
              <a:t>能， </a:t>
            </a:r>
            <a:r>
              <a:rPr sz="3200" dirty="0">
                <a:latin typeface="宋体"/>
                <a:cs typeface="宋体"/>
              </a:rPr>
              <a:t>则应该分解该操作。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616" y="1581657"/>
            <a:ext cx="7850505" cy="3705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04470">
              <a:lnSpc>
                <a:spcPct val="100000"/>
              </a:lnSpc>
              <a:spcBef>
                <a:spcPts val="105"/>
              </a:spcBef>
              <a:buSzPct val="96875"/>
              <a:buFont typeface="Times New Roman"/>
              <a:buAutoNum type="arabicPlain" startAt="3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对象的操作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latin typeface="宋体"/>
                <a:cs typeface="宋体"/>
              </a:rPr>
              <a:t>应</a:t>
            </a:r>
            <a:r>
              <a:rPr sz="3200" spc="-15" dirty="0">
                <a:latin typeface="宋体"/>
                <a:cs typeface="宋体"/>
              </a:rPr>
              <a:t>该</a:t>
            </a:r>
            <a:r>
              <a:rPr sz="3200" dirty="0">
                <a:latin typeface="宋体"/>
                <a:cs typeface="宋体"/>
              </a:rPr>
              <a:t>反映</a:t>
            </a:r>
            <a:r>
              <a:rPr sz="3200" spc="-15" dirty="0">
                <a:latin typeface="宋体"/>
                <a:cs typeface="宋体"/>
              </a:rPr>
              <a:t>问</a:t>
            </a:r>
            <a:r>
              <a:rPr sz="3200" dirty="0">
                <a:latin typeface="宋体"/>
                <a:cs typeface="宋体"/>
              </a:rPr>
              <a:t>题域</a:t>
            </a:r>
            <a:r>
              <a:rPr sz="3200" spc="-15" dirty="0">
                <a:latin typeface="宋体"/>
                <a:cs typeface="宋体"/>
              </a:rPr>
              <a:t>中</a:t>
            </a:r>
            <a:r>
              <a:rPr sz="3200" dirty="0">
                <a:latin typeface="宋体"/>
                <a:cs typeface="宋体"/>
              </a:rPr>
              <a:t>实际</a:t>
            </a:r>
            <a:r>
              <a:rPr sz="3200" spc="-15" dirty="0">
                <a:latin typeface="宋体"/>
                <a:cs typeface="宋体"/>
              </a:rPr>
              <a:t>事</a:t>
            </a:r>
            <a:r>
              <a:rPr sz="3200" dirty="0">
                <a:latin typeface="宋体"/>
                <a:cs typeface="宋体"/>
              </a:rPr>
              <a:t>物 的行为，所以必须放在</a:t>
            </a:r>
            <a:r>
              <a:rPr sz="3200" spc="-15" dirty="0">
                <a:latin typeface="宋体"/>
                <a:cs typeface="宋体"/>
              </a:rPr>
              <a:t>相</a:t>
            </a:r>
            <a:r>
              <a:rPr sz="3200" dirty="0">
                <a:latin typeface="宋体"/>
                <a:cs typeface="宋体"/>
              </a:rPr>
              <a:t>应的</a:t>
            </a:r>
            <a:r>
              <a:rPr sz="3200" spc="-15" dirty="0">
                <a:latin typeface="宋体"/>
                <a:cs typeface="宋体"/>
              </a:rPr>
              <a:t>类</a:t>
            </a:r>
            <a:r>
              <a:rPr sz="3200" dirty="0">
                <a:latin typeface="宋体"/>
                <a:cs typeface="宋体"/>
              </a:rPr>
              <a:t>中。</a:t>
            </a:r>
            <a:endParaRPr sz="3200">
              <a:latin typeface="宋体"/>
              <a:cs typeface="宋体"/>
            </a:endParaRPr>
          </a:p>
          <a:p>
            <a:pPr marL="12700" marR="5080" indent="102235">
              <a:lnSpc>
                <a:spcPct val="100000"/>
              </a:lnSpc>
            </a:pPr>
            <a:r>
              <a:rPr sz="3200" spc="5" dirty="0">
                <a:latin typeface="宋体"/>
                <a:cs typeface="宋体"/>
              </a:rPr>
              <a:t>例如</a:t>
            </a:r>
            <a:r>
              <a:rPr sz="3200" spc="-15" dirty="0">
                <a:latin typeface="宋体"/>
                <a:cs typeface="宋体"/>
              </a:rPr>
              <a:t>：</a:t>
            </a:r>
            <a:r>
              <a:rPr sz="3200" spc="5" dirty="0">
                <a:latin typeface="宋体"/>
                <a:cs typeface="宋体"/>
              </a:rPr>
              <a:t>售货</a:t>
            </a:r>
            <a:r>
              <a:rPr sz="3200" spc="-15" dirty="0">
                <a:latin typeface="宋体"/>
                <a:cs typeface="宋体"/>
              </a:rPr>
              <a:t>操</a:t>
            </a:r>
            <a:r>
              <a:rPr sz="3200" spc="5" dirty="0">
                <a:latin typeface="宋体"/>
                <a:cs typeface="宋体"/>
              </a:rPr>
              <a:t>作，</a:t>
            </a:r>
            <a:r>
              <a:rPr sz="3200" spc="-15" dirty="0">
                <a:latin typeface="宋体"/>
                <a:cs typeface="宋体"/>
              </a:rPr>
              <a:t>不</a:t>
            </a:r>
            <a:r>
              <a:rPr sz="3200" spc="5" dirty="0">
                <a:latin typeface="宋体"/>
                <a:cs typeface="宋体"/>
              </a:rPr>
              <a:t>是“</a:t>
            </a:r>
            <a:r>
              <a:rPr sz="3200" spc="-15" dirty="0">
                <a:latin typeface="宋体"/>
                <a:cs typeface="宋体"/>
              </a:rPr>
              <a:t>货</a:t>
            </a:r>
            <a:r>
              <a:rPr sz="3200" spc="5" dirty="0">
                <a:latin typeface="宋体"/>
                <a:cs typeface="宋体"/>
              </a:rPr>
              <a:t>物”</a:t>
            </a:r>
            <a:r>
              <a:rPr sz="3200" spc="-15" dirty="0">
                <a:latin typeface="宋体"/>
                <a:cs typeface="宋体"/>
              </a:rPr>
              <a:t>上</a:t>
            </a:r>
            <a:r>
              <a:rPr sz="3200" spc="5" dirty="0">
                <a:latin typeface="宋体"/>
                <a:cs typeface="宋体"/>
              </a:rPr>
              <a:t>的操</a:t>
            </a:r>
            <a:r>
              <a:rPr sz="3200" spc="-15" dirty="0">
                <a:latin typeface="宋体"/>
                <a:cs typeface="宋体"/>
              </a:rPr>
              <a:t>作</a:t>
            </a:r>
            <a:r>
              <a:rPr sz="3200" dirty="0">
                <a:latin typeface="宋体"/>
                <a:cs typeface="宋体"/>
              </a:rPr>
              <a:t>， 而是售货员的操作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350">
              <a:latin typeface="宋体"/>
              <a:cs typeface="宋体"/>
            </a:endParaRPr>
          </a:p>
          <a:p>
            <a:pPr marL="12700" marR="305435">
              <a:lnSpc>
                <a:spcPct val="104400"/>
              </a:lnSpc>
              <a:buSzPct val="96875"/>
              <a:buFont typeface="Times New Roman"/>
              <a:buAutoNum type="arabicPlain" startAt="4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操作的命名，应</a:t>
            </a:r>
            <a:r>
              <a:rPr sz="3200" spc="-15" dirty="0">
                <a:latin typeface="宋体"/>
                <a:cs typeface="宋体"/>
              </a:rPr>
              <a:t>该</a:t>
            </a:r>
            <a:r>
              <a:rPr sz="3200" dirty="0">
                <a:latin typeface="宋体"/>
                <a:cs typeface="宋体"/>
              </a:rPr>
              <a:t>是动</a:t>
            </a:r>
            <a:r>
              <a:rPr sz="3200" spc="-15" dirty="0">
                <a:latin typeface="宋体"/>
                <a:cs typeface="宋体"/>
              </a:rPr>
              <a:t>词</a:t>
            </a:r>
            <a:r>
              <a:rPr sz="3200" dirty="0">
                <a:latin typeface="宋体"/>
                <a:cs typeface="宋体"/>
              </a:rPr>
              <a:t>或动</a:t>
            </a:r>
            <a:r>
              <a:rPr sz="3200" spc="-15" dirty="0">
                <a:latin typeface="宋体"/>
                <a:cs typeface="宋体"/>
              </a:rPr>
              <a:t>宾</a:t>
            </a:r>
            <a:r>
              <a:rPr sz="3200" dirty="0">
                <a:latin typeface="宋体"/>
                <a:cs typeface="宋体"/>
              </a:rPr>
              <a:t>结构， 应尽量清楚地反映操作</a:t>
            </a:r>
            <a:r>
              <a:rPr sz="3200" spc="-15" dirty="0">
                <a:latin typeface="宋体"/>
                <a:cs typeface="宋体"/>
              </a:rPr>
              <a:t>的</a:t>
            </a:r>
            <a:r>
              <a:rPr sz="3200" dirty="0">
                <a:latin typeface="宋体"/>
                <a:cs typeface="宋体"/>
              </a:rPr>
              <a:t>内容。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9016" y="120776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对象操作示例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31570"/>
            <a:ext cx="3721735" cy="49758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0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面向对象建模</a:t>
            </a: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1.1.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类图和对象建模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1.2.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宋体"/>
                <a:cs typeface="宋体"/>
              </a:rPr>
              <a:t>识别对象和筛选策略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2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1.3.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从对象抽象类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1.4.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主动对象和控制线程</a:t>
            </a:r>
          </a:p>
          <a:p>
            <a:pPr marL="355600" indent="-343535">
              <a:lnSpc>
                <a:spcPct val="100000"/>
              </a:lnSpc>
              <a:spcBef>
                <a:spcPts val="2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类的命名、属性和操作</a:t>
            </a: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2.1.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宋体"/>
                <a:cs typeface="宋体"/>
              </a:rPr>
              <a:t>类的命名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类属性及识别筛选策略</a:t>
            </a: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2.3.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类操作及识别调整策略</a:t>
            </a: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3.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类的继承和关联</a:t>
            </a:r>
            <a:endParaRPr sz="24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3.1.</a:t>
            </a:r>
            <a:r>
              <a:rPr sz="18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类的继承关系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3.2.</a:t>
            </a:r>
            <a:r>
              <a:rPr sz="1800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建立类的关联</a:t>
            </a:r>
            <a:endParaRPr sz="1800" dirty="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接口类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包图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3442" y="106807"/>
            <a:ext cx="43567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3.1.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/>
              <a:t>类的继承关系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162811"/>
            <a:ext cx="7467600" cy="1809114"/>
          </a:xfrm>
          <a:custGeom>
            <a:avLst/>
            <a:gdLst/>
            <a:ahLst/>
            <a:cxnLst/>
            <a:rect l="l" t="t" r="r" b="b"/>
            <a:pathLst>
              <a:path w="7467600" h="1809114">
                <a:moveTo>
                  <a:pt x="0" y="1808988"/>
                </a:moveTo>
                <a:lnTo>
                  <a:pt x="7467600" y="1808988"/>
                </a:lnTo>
                <a:lnTo>
                  <a:pt x="7467600" y="0"/>
                </a:lnTo>
                <a:lnTo>
                  <a:pt x="0" y="0"/>
                </a:lnTo>
                <a:lnTo>
                  <a:pt x="0" y="180898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7244" y="1187958"/>
            <a:ext cx="7412355" cy="2374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5" dirty="0">
                <a:latin typeface="黑体"/>
                <a:cs typeface="黑体"/>
              </a:rPr>
              <a:t>继承关系定</a:t>
            </a:r>
            <a:r>
              <a:rPr sz="2800" spc="-5" dirty="0">
                <a:latin typeface="黑体"/>
                <a:cs typeface="黑体"/>
              </a:rPr>
              <a:t>义</a:t>
            </a:r>
            <a:r>
              <a:rPr sz="2800" spc="620" dirty="0">
                <a:latin typeface="黑体"/>
                <a:cs typeface="黑体"/>
              </a:rPr>
              <a:t> </a:t>
            </a:r>
            <a:r>
              <a:rPr sz="2800" spc="-5" dirty="0">
                <a:latin typeface="宋体"/>
                <a:cs typeface="宋体"/>
              </a:rPr>
              <a:t>如果类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具有类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宋体"/>
                <a:cs typeface="宋体"/>
              </a:rPr>
              <a:t>的全部属性和 全部操作，而且还具有自己特有的</a:t>
            </a:r>
            <a:r>
              <a:rPr sz="2800" dirty="0">
                <a:latin typeface="宋体"/>
                <a:cs typeface="宋体"/>
              </a:rPr>
              <a:t>一</a:t>
            </a:r>
            <a:r>
              <a:rPr sz="2800" spc="-5" dirty="0">
                <a:latin typeface="宋体"/>
                <a:cs typeface="宋体"/>
              </a:rPr>
              <a:t>些属</a:t>
            </a:r>
            <a:r>
              <a:rPr sz="2800" dirty="0">
                <a:latin typeface="宋体"/>
                <a:cs typeface="宋体"/>
              </a:rPr>
              <a:t>性</a:t>
            </a:r>
            <a:r>
              <a:rPr sz="2800" spc="-5" dirty="0">
                <a:latin typeface="宋体"/>
                <a:cs typeface="宋体"/>
              </a:rPr>
              <a:t>或 操作，</a:t>
            </a:r>
            <a:r>
              <a:rPr sz="2800" spc="5" dirty="0">
                <a:latin typeface="宋体"/>
                <a:cs typeface="宋体"/>
              </a:rPr>
              <a:t>则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叫</a:t>
            </a:r>
            <a:r>
              <a:rPr sz="2800" spc="5" dirty="0">
                <a:latin typeface="宋体"/>
                <a:cs typeface="宋体"/>
              </a:rPr>
              <a:t>做</a:t>
            </a:r>
            <a:r>
              <a:rPr sz="280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宋体"/>
                <a:cs typeface="宋体"/>
              </a:rPr>
              <a:t>的特殊</a:t>
            </a:r>
            <a:r>
              <a:rPr sz="2800" dirty="0">
                <a:latin typeface="宋体"/>
                <a:cs typeface="宋体"/>
              </a:rPr>
              <a:t>类，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宋体"/>
                <a:cs typeface="宋体"/>
              </a:rPr>
              <a:t>叫</a:t>
            </a:r>
            <a:r>
              <a:rPr sz="2800" spc="5" dirty="0">
                <a:latin typeface="宋体"/>
                <a:cs typeface="宋体"/>
              </a:rPr>
              <a:t>做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的</a:t>
            </a:r>
            <a:r>
              <a:rPr sz="2800" dirty="0">
                <a:latin typeface="宋体"/>
                <a:cs typeface="宋体"/>
              </a:rPr>
              <a:t>一般</a:t>
            </a:r>
            <a:r>
              <a:rPr sz="2800" spc="-5" dirty="0">
                <a:latin typeface="宋体"/>
                <a:cs typeface="宋体"/>
              </a:rPr>
              <a:t>类，  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宋体"/>
                <a:cs typeface="宋体"/>
              </a:rPr>
              <a:t>与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宋体"/>
                <a:cs typeface="宋体"/>
              </a:rPr>
              <a:t>之间的关系称为继承关系。</a:t>
            </a:r>
            <a:endParaRPr sz="2800">
              <a:latin typeface="宋体"/>
              <a:cs typeface="宋体"/>
            </a:endParaRPr>
          </a:p>
          <a:p>
            <a:pPr marL="241300">
              <a:lnSpc>
                <a:spcPct val="100000"/>
              </a:lnSpc>
              <a:spcBef>
                <a:spcPts val="2175"/>
              </a:spcBef>
            </a:pPr>
            <a:r>
              <a:rPr sz="2400" dirty="0">
                <a:latin typeface="宋体"/>
                <a:cs typeface="宋体"/>
              </a:rPr>
              <a:t>一般类与特殊类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3829811"/>
            <a:ext cx="2209800" cy="1737360"/>
          </a:xfrm>
          <a:custGeom>
            <a:avLst/>
            <a:gdLst/>
            <a:ahLst/>
            <a:cxnLst/>
            <a:rect l="l" t="t" r="r" b="b"/>
            <a:pathLst>
              <a:path w="2209800" h="1737360">
                <a:moveTo>
                  <a:pt x="0" y="868680"/>
                </a:moveTo>
                <a:lnTo>
                  <a:pt x="1274" y="826587"/>
                </a:lnTo>
                <a:lnTo>
                  <a:pt x="5057" y="785012"/>
                </a:lnTo>
                <a:lnTo>
                  <a:pt x="11293" y="744001"/>
                </a:lnTo>
                <a:lnTo>
                  <a:pt x="19922" y="703597"/>
                </a:lnTo>
                <a:lnTo>
                  <a:pt x="30887" y="663848"/>
                </a:lnTo>
                <a:lnTo>
                  <a:pt x="44131" y="624797"/>
                </a:lnTo>
                <a:lnTo>
                  <a:pt x="59594" y="586492"/>
                </a:lnTo>
                <a:lnTo>
                  <a:pt x="77220" y="548977"/>
                </a:lnTo>
                <a:lnTo>
                  <a:pt x="96950" y="512298"/>
                </a:lnTo>
                <a:lnTo>
                  <a:pt x="118728" y="476500"/>
                </a:lnTo>
                <a:lnTo>
                  <a:pt x="142493" y="441629"/>
                </a:lnTo>
                <a:lnTo>
                  <a:pt x="168190" y="407730"/>
                </a:lnTo>
                <a:lnTo>
                  <a:pt x="195760" y="374849"/>
                </a:lnTo>
                <a:lnTo>
                  <a:pt x="225145" y="343031"/>
                </a:lnTo>
                <a:lnTo>
                  <a:pt x="256287" y="312322"/>
                </a:lnTo>
                <a:lnTo>
                  <a:pt x="289128" y="282767"/>
                </a:lnTo>
                <a:lnTo>
                  <a:pt x="323611" y="254412"/>
                </a:lnTo>
                <a:lnTo>
                  <a:pt x="359678" y="227302"/>
                </a:lnTo>
                <a:lnTo>
                  <a:pt x="397271" y="201483"/>
                </a:lnTo>
                <a:lnTo>
                  <a:pt x="436331" y="177000"/>
                </a:lnTo>
                <a:lnTo>
                  <a:pt x="476801" y="153898"/>
                </a:lnTo>
                <a:lnTo>
                  <a:pt x="518624" y="132224"/>
                </a:lnTo>
                <a:lnTo>
                  <a:pt x="561741" y="112022"/>
                </a:lnTo>
                <a:lnTo>
                  <a:pt x="606094" y="93338"/>
                </a:lnTo>
                <a:lnTo>
                  <a:pt x="651626" y="76218"/>
                </a:lnTo>
                <a:lnTo>
                  <a:pt x="698279" y="60706"/>
                </a:lnTo>
                <a:lnTo>
                  <a:pt x="745994" y="46850"/>
                </a:lnTo>
                <a:lnTo>
                  <a:pt x="794714" y="34693"/>
                </a:lnTo>
                <a:lnTo>
                  <a:pt x="844382" y="24282"/>
                </a:lnTo>
                <a:lnTo>
                  <a:pt x="894938" y="15661"/>
                </a:lnTo>
                <a:lnTo>
                  <a:pt x="946326" y="8878"/>
                </a:lnTo>
                <a:lnTo>
                  <a:pt x="998488" y="3976"/>
                </a:lnTo>
                <a:lnTo>
                  <a:pt x="1051365" y="1001"/>
                </a:lnTo>
                <a:lnTo>
                  <a:pt x="1104900" y="0"/>
                </a:lnTo>
                <a:lnTo>
                  <a:pt x="1158434" y="1001"/>
                </a:lnTo>
                <a:lnTo>
                  <a:pt x="1211311" y="3976"/>
                </a:lnTo>
                <a:lnTo>
                  <a:pt x="1263473" y="8878"/>
                </a:lnTo>
                <a:lnTo>
                  <a:pt x="1314861" y="15661"/>
                </a:lnTo>
                <a:lnTo>
                  <a:pt x="1365417" y="24282"/>
                </a:lnTo>
                <a:lnTo>
                  <a:pt x="1415085" y="34693"/>
                </a:lnTo>
                <a:lnTo>
                  <a:pt x="1463805" y="46850"/>
                </a:lnTo>
                <a:lnTo>
                  <a:pt x="1511520" y="60706"/>
                </a:lnTo>
                <a:lnTo>
                  <a:pt x="1558173" y="76218"/>
                </a:lnTo>
                <a:lnTo>
                  <a:pt x="1603705" y="93338"/>
                </a:lnTo>
                <a:lnTo>
                  <a:pt x="1648058" y="112022"/>
                </a:lnTo>
                <a:lnTo>
                  <a:pt x="1691175" y="132224"/>
                </a:lnTo>
                <a:lnTo>
                  <a:pt x="1732998" y="153898"/>
                </a:lnTo>
                <a:lnTo>
                  <a:pt x="1773468" y="177000"/>
                </a:lnTo>
                <a:lnTo>
                  <a:pt x="1812528" y="201483"/>
                </a:lnTo>
                <a:lnTo>
                  <a:pt x="1850121" y="227302"/>
                </a:lnTo>
                <a:lnTo>
                  <a:pt x="1886188" y="254412"/>
                </a:lnTo>
                <a:lnTo>
                  <a:pt x="1920671" y="282767"/>
                </a:lnTo>
                <a:lnTo>
                  <a:pt x="1953512" y="312322"/>
                </a:lnTo>
                <a:lnTo>
                  <a:pt x="1984654" y="343031"/>
                </a:lnTo>
                <a:lnTo>
                  <a:pt x="2014039" y="374849"/>
                </a:lnTo>
                <a:lnTo>
                  <a:pt x="2041609" y="407730"/>
                </a:lnTo>
                <a:lnTo>
                  <a:pt x="2067306" y="441629"/>
                </a:lnTo>
                <a:lnTo>
                  <a:pt x="2091071" y="476500"/>
                </a:lnTo>
                <a:lnTo>
                  <a:pt x="2112849" y="512298"/>
                </a:lnTo>
                <a:lnTo>
                  <a:pt x="2132579" y="548977"/>
                </a:lnTo>
                <a:lnTo>
                  <a:pt x="2150205" y="586492"/>
                </a:lnTo>
                <a:lnTo>
                  <a:pt x="2165668" y="624797"/>
                </a:lnTo>
                <a:lnTo>
                  <a:pt x="2178912" y="663848"/>
                </a:lnTo>
                <a:lnTo>
                  <a:pt x="2189877" y="703597"/>
                </a:lnTo>
                <a:lnTo>
                  <a:pt x="2198506" y="744001"/>
                </a:lnTo>
                <a:lnTo>
                  <a:pt x="2204742" y="785012"/>
                </a:lnTo>
                <a:lnTo>
                  <a:pt x="2208525" y="826587"/>
                </a:lnTo>
                <a:lnTo>
                  <a:pt x="2209800" y="868680"/>
                </a:lnTo>
                <a:lnTo>
                  <a:pt x="2208525" y="910772"/>
                </a:lnTo>
                <a:lnTo>
                  <a:pt x="2204742" y="952347"/>
                </a:lnTo>
                <a:lnTo>
                  <a:pt x="2198506" y="993358"/>
                </a:lnTo>
                <a:lnTo>
                  <a:pt x="2189877" y="1033762"/>
                </a:lnTo>
                <a:lnTo>
                  <a:pt x="2178912" y="1073511"/>
                </a:lnTo>
                <a:lnTo>
                  <a:pt x="2165668" y="1112562"/>
                </a:lnTo>
                <a:lnTo>
                  <a:pt x="2150205" y="1150867"/>
                </a:lnTo>
                <a:lnTo>
                  <a:pt x="2132579" y="1188382"/>
                </a:lnTo>
                <a:lnTo>
                  <a:pt x="2112849" y="1225061"/>
                </a:lnTo>
                <a:lnTo>
                  <a:pt x="2091071" y="1260859"/>
                </a:lnTo>
                <a:lnTo>
                  <a:pt x="2067306" y="1295730"/>
                </a:lnTo>
                <a:lnTo>
                  <a:pt x="2041609" y="1329629"/>
                </a:lnTo>
                <a:lnTo>
                  <a:pt x="2014039" y="1362510"/>
                </a:lnTo>
                <a:lnTo>
                  <a:pt x="1984654" y="1394328"/>
                </a:lnTo>
                <a:lnTo>
                  <a:pt x="1953512" y="1425037"/>
                </a:lnTo>
                <a:lnTo>
                  <a:pt x="1920671" y="1454592"/>
                </a:lnTo>
                <a:lnTo>
                  <a:pt x="1886188" y="1482947"/>
                </a:lnTo>
                <a:lnTo>
                  <a:pt x="1850121" y="1510057"/>
                </a:lnTo>
                <a:lnTo>
                  <a:pt x="1812528" y="1535876"/>
                </a:lnTo>
                <a:lnTo>
                  <a:pt x="1773468" y="1560359"/>
                </a:lnTo>
                <a:lnTo>
                  <a:pt x="1732998" y="1583461"/>
                </a:lnTo>
                <a:lnTo>
                  <a:pt x="1691175" y="1605135"/>
                </a:lnTo>
                <a:lnTo>
                  <a:pt x="1648058" y="1625337"/>
                </a:lnTo>
                <a:lnTo>
                  <a:pt x="1603705" y="1644021"/>
                </a:lnTo>
                <a:lnTo>
                  <a:pt x="1558173" y="1661141"/>
                </a:lnTo>
                <a:lnTo>
                  <a:pt x="1511520" y="1676653"/>
                </a:lnTo>
                <a:lnTo>
                  <a:pt x="1463805" y="1690509"/>
                </a:lnTo>
                <a:lnTo>
                  <a:pt x="1415085" y="1702666"/>
                </a:lnTo>
                <a:lnTo>
                  <a:pt x="1365417" y="1713077"/>
                </a:lnTo>
                <a:lnTo>
                  <a:pt x="1314861" y="1721698"/>
                </a:lnTo>
                <a:lnTo>
                  <a:pt x="1263473" y="1728481"/>
                </a:lnTo>
                <a:lnTo>
                  <a:pt x="1211311" y="1733383"/>
                </a:lnTo>
                <a:lnTo>
                  <a:pt x="1158434" y="1736358"/>
                </a:lnTo>
                <a:lnTo>
                  <a:pt x="1104900" y="1737360"/>
                </a:lnTo>
                <a:lnTo>
                  <a:pt x="1051365" y="1736358"/>
                </a:lnTo>
                <a:lnTo>
                  <a:pt x="998488" y="1733383"/>
                </a:lnTo>
                <a:lnTo>
                  <a:pt x="946326" y="1728481"/>
                </a:lnTo>
                <a:lnTo>
                  <a:pt x="894938" y="1721698"/>
                </a:lnTo>
                <a:lnTo>
                  <a:pt x="844382" y="1713077"/>
                </a:lnTo>
                <a:lnTo>
                  <a:pt x="794714" y="1702666"/>
                </a:lnTo>
                <a:lnTo>
                  <a:pt x="745994" y="1690509"/>
                </a:lnTo>
                <a:lnTo>
                  <a:pt x="698279" y="1676653"/>
                </a:lnTo>
                <a:lnTo>
                  <a:pt x="651626" y="1661141"/>
                </a:lnTo>
                <a:lnTo>
                  <a:pt x="606094" y="1644021"/>
                </a:lnTo>
                <a:lnTo>
                  <a:pt x="561741" y="1625337"/>
                </a:lnTo>
                <a:lnTo>
                  <a:pt x="518624" y="1605135"/>
                </a:lnTo>
                <a:lnTo>
                  <a:pt x="476801" y="1583461"/>
                </a:lnTo>
                <a:lnTo>
                  <a:pt x="436331" y="1560359"/>
                </a:lnTo>
                <a:lnTo>
                  <a:pt x="397271" y="1535876"/>
                </a:lnTo>
                <a:lnTo>
                  <a:pt x="359678" y="1510057"/>
                </a:lnTo>
                <a:lnTo>
                  <a:pt x="323611" y="1482947"/>
                </a:lnTo>
                <a:lnTo>
                  <a:pt x="289128" y="1454592"/>
                </a:lnTo>
                <a:lnTo>
                  <a:pt x="256287" y="1425037"/>
                </a:lnTo>
                <a:lnTo>
                  <a:pt x="225145" y="1394328"/>
                </a:lnTo>
                <a:lnTo>
                  <a:pt x="195760" y="1362510"/>
                </a:lnTo>
                <a:lnTo>
                  <a:pt x="168190" y="1329629"/>
                </a:lnTo>
                <a:lnTo>
                  <a:pt x="142493" y="1295730"/>
                </a:lnTo>
                <a:lnTo>
                  <a:pt x="118728" y="1260859"/>
                </a:lnTo>
                <a:lnTo>
                  <a:pt x="96950" y="1225061"/>
                </a:lnTo>
                <a:lnTo>
                  <a:pt x="77220" y="1188382"/>
                </a:lnTo>
                <a:lnTo>
                  <a:pt x="59594" y="1150867"/>
                </a:lnTo>
                <a:lnTo>
                  <a:pt x="44131" y="1112562"/>
                </a:lnTo>
                <a:lnTo>
                  <a:pt x="30887" y="1073511"/>
                </a:lnTo>
                <a:lnTo>
                  <a:pt x="19922" y="1033762"/>
                </a:lnTo>
                <a:lnTo>
                  <a:pt x="11293" y="993358"/>
                </a:lnTo>
                <a:lnTo>
                  <a:pt x="5057" y="952347"/>
                </a:lnTo>
                <a:lnTo>
                  <a:pt x="1274" y="910772"/>
                </a:lnTo>
                <a:lnTo>
                  <a:pt x="0" y="8686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000" y="4631435"/>
            <a:ext cx="1066800" cy="722630"/>
          </a:xfrm>
          <a:custGeom>
            <a:avLst/>
            <a:gdLst/>
            <a:ahLst/>
            <a:cxnLst/>
            <a:rect l="l" t="t" r="r" b="b"/>
            <a:pathLst>
              <a:path w="1066800" h="722629">
                <a:moveTo>
                  <a:pt x="0" y="361188"/>
                </a:moveTo>
                <a:lnTo>
                  <a:pt x="3129" y="321825"/>
                </a:lnTo>
                <a:lnTo>
                  <a:pt x="12300" y="283693"/>
                </a:lnTo>
                <a:lnTo>
                  <a:pt x="27188" y="247009"/>
                </a:lnTo>
                <a:lnTo>
                  <a:pt x="47467" y="211996"/>
                </a:lnTo>
                <a:lnTo>
                  <a:pt x="72813" y="178872"/>
                </a:lnTo>
                <a:lnTo>
                  <a:pt x="102900" y="147858"/>
                </a:lnTo>
                <a:lnTo>
                  <a:pt x="137403" y="119174"/>
                </a:lnTo>
                <a:lnTo>
                  <a:pt x="175998" y="93040"/>
                </a:lnTo>
                <a:lnTo>
                  <a:pt x="218358" y="69677"/>
                </a:lnTo>
                <a:lnTo>
                  <a:pt x="264160" y="49304"/>
                </a:lnTo>
                <a:lnTo>
                  <a:pt x="313077" y="32141"/>
                </a:lnTo>
                <a:lnTo>
                  <a:pt x="364784" y="18409"/>
                </a:lnTo>
                <a:lnTo>
                  <a:pt x="418957" y="8328"/>
                </a:lnTo>
                <a:lnTo>
                  <a:pt x="475271" y="2118"/>
                </a:lnTo>
                <a:lnTo>
                  <a:pt x="533400" y="0"/>
                </a:lnTo>
                <a:lnTo>
                  <a:pt x="591528" y="2118"/>
                </a:lnTo>
                <a:lnTo>
                  <a:pt x="647842" y="8328"/>
                </a:lnTo>
                <a:lnTo>
                  <a:pt x="702015" y="18409"/>
                </a:lnTo>
                <a:lnTo>
                  <a:pt x="753722" y="32141"/>
                </a:lnTo>
                <a:lnTo>
                  <a:pt x="802640" y="49304"/>
                </a:lnTo>
                <a:lnTo>
                  <a:pt x="848441" y="69677"/>
                </a:lnTo>
                <a:lnTo>
                  <a:pt x="890801" y="93040"/>
                </a:lnTo>
                <a:lnTo>
                  <a:pt x="929396" y="119174"/>
                </a:lnTo>
                <a:lnTo>
                  <a:pt x="963899" y="147858"/>
                </a:lnTo>
                <a:lnTo>
                  <a:pt x="993986" y="178872"/>
                </a:lnTo>
                <a:lnTo>
                  <a:pt x="1019332" y="211996"/>
                </a:lnTo>
                <a:lnTo>
                  <a:pt x="1039611" y="247009"/>
                </a:lnTo>
                <a:lnTo>
                  <a:pt x="1054499" y="283693"/>
                </a:lnTo>
                <a:lnTo>
                  <a:pt x="1063670" y="321825"/>
                </a:lnTo>
                <a:lnTo>
                  <a:pt x="1066800" y="361188"/>
                </a:lnTo>
                <a:lnTo>
                  <a:pt x="1063670" y="400550"/>
                </a:lnTo>
                <a:lnTo>
                  <a:pt x="1054499" y="438682"/>
                </a:lnTo>
                <a:lnTo>
                  <a:pt x="1039611" y="475366"/>
                </a:lnTo>
                <a:lnTo>
                  <a:pt x="1019332" y="510379"/>
                </a:lnTo>
                <a:lnTo>
                  <a:pt x="993986" y="543503"/>
                </a:lnTo>
                <a:lnTo>
                  <a:pt x="963899" y="574517"/>
                </a:lnTo>
                <a:lnTo>
                  <a:pt x="929396" y="603201"/>
                </a:lnTo>
                <a:lnTo>
                  <a:pt x="890801" y="629335"/>
                </a:lnTo>
                <a:lnTo>
                  <a:pt x="848441" y="652698"/>
                </a:lnTo>
                <a:lnTo>
                  <a:pt x="802640" y="673071"/>
                </a:lnTo>
                <a:lnTo>
                  <a:pt x="753722" y="690234"/>
                </a:lnTo>
                <a:lnTo>
                  <a:pt x="702015" y="703966"/>
                </a:lnTo>
                <a:lnTo>
                  <a:pt x="647842" y="714047"/>
                </a:lnTo>
                <a:lnTo>
                  <a:pt x="591528" y="720257"/>
                </a:lnTo>
                <a:lnTo>
                  <a:pt x="533400" y="722376"/>
                </a:lnTo>
                <a:lnTo>
                  <a:pt x="475271" y="720257"/>
                </a:lnTo>
                <a:lnTo>
                  <a:pt x="418957" y="714047"/>
                </a:lnTo>
                <a:lnTo>
                  <a:pt x="364784" y="703966"/>
                </a:lnTo>
                <a:lnTo>
                  <a:pt x="313077" y="690234"/>
                </a:lnTo>
                <a:lnTo>
                  <a:pt x="264159" y="673071"/>
                </a:lnTo>
                <a:lnTo>
                  <a:pt x="218358" y="652698"/>
                </a:lnTo>
                <a:lnTo>
                  <a:pt x="175998" y="629335"/>
                </a:lnTo>
                <a:lnTo>
                  <a:pt x="137403" y="603201"/>
                </a:lnTo>
                <a:lnTo>
                  <a:pt x="102900" y="574517"/>
                </a:lnTo>
                <a:lnTo>
                  <a:pt x="72813" y="543503"/>
                </a:lnTo>
                <a:lnTo>
                  <a:pt x="47467" y="510379"/>
                </a:lnTo>
                <a:lnTo>
                  <a:pt x="27188" y="475366"/>
                </a:lnTo>
                <a:lnTo>
                  <a:pt x="12300" y="438682"/>
                </a:lnTo>
                <a:lnTo>
                  <a:pt x="3129" y="400550"/>
                </a:lnTo>
                <a:lnTo>
                  <a:pt x="0" y="3611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81600" y="3906011"/>
            <a:ext cx="2057400" cy="1600200"/>
          </a:xfrm>
          <a:custGeom>
            <a:avLst/>
            <a:gdLst/>
            <a:ahLst/>
            <a:cxnLst/>
            <a:rect l="l" t="t" r="r" b="b"/>
            <a:pathLst>
              <a:path w="2057400" h="1600200">
                <a:moveTo>
                  <a:pt x="0" y="800100"/>
                </a:moveTo>
                <a:lnTo>
                  <a:pt x="1425" y="757612"/>
                </a:lnTo>
                <a:lnTo>
                  <a:pt x="5655" y="715701"/>
                </a:lnTo>
                <a:lnTo>
                  <a:pt x="12618" y="674422"/>
                </a:lnTo>
                <a:lnTo>
                  <a:pt x="22243" y="633831"/>
                </a:lnTo>
                <a:lnTo>
                  <a:pt x="34458" y="593984"/>
                </a:lnTo>
                <a:lnTo>
                  <a:pt x="49194" y="554934"/>
                </a:lnTo>
                <a:lnTo>
                  <a:pt x="66378" y="516739"/>
                </a:lnTo>
                <a:lnTo>
                  <a:pt x="85941" y="479452"/>
                </a:lnTo>
                <a:lnTo>
                  <a:pt x="107809" y="443130"/>
                </a:lnTo>
                <a:lnTo>
                  <a:pt x="131914" y="407827"/>
                </a:lnTo>
                <a:lnTo>
                  <a:pt x="158183" y="373600"/>
                </a:lnTo>
                <a:lnTo>
                  <a:pt x="186546" y="340502"/>
                </a:lnTo>
                <a:lnTo>
                  <a:pt x="216931" y="308591"/>
                </a:lnTo>
                <a:lnTo>
                  <a:pt x="249267" y="277920"/>
                </a:lnTo>
                <a:lnTo>
                  <a:pt x="283484" y="248546"/>
                </a:lnTo>
                <a:lnTo>
                  <a:pt x="319510" y="220523"/>
                </a:lnTo>
                <a:lnTo>
                  <a:pt x="357274" y="193907"/>
                </a:lnTo>
                <a:lnTo>
                  <a:pt x="396706" y="168754"/>
                </a:lnTo>
                <a:lnTo>
                  <a:pt x="437734" y="145118"/>
                </a:lnTo>
                <a:lnTo>
                  <a:pt x="480286" y="123055"/>
                </a:lnTo>
                <a:lnTo>
                  <a:pt x="524293" y="102620"/>
                </a:lnTo>
                <a:lnTo>
                  <a:pt x="569683" y="83869"/>
                </a:lnTo>
                <a:lnTo>
                  <a:pt x="616385" y="66857"/>
                </a:lnTo>
                <a:lnTo>
                  <a:pt x="664327" y="51639"/>
                </a:lnTo>
                <a:lnTo>
                  <a:pt x="713439" y="38271"/>
                </a:lnTo>
                <a:lnTo>
                  <a:pt x="763650" y="26807"/>
                </a:lnTo>
                <a:lnTo>
                  <a:pt x="814889" y="17304"/>
                </a:lnTo>
                <a:lnTo>
                  <a:pt x="867084" y="9816"/>
                </a:lnTo>
                <a:lnTo>
                  <a:pt x="920165" y="4399"/>
                </a:lnTo>
                <a:lnTo>
                  <a:pt x="974061" y="1109"/>
                </a:lnTo>
                <a:lnTo>
                  <a:pt x="1028700" y="0"/>
                </a:lnTo>
                <a:lnTo>
                  <a:pt x="1083327" y="1109"/>
                </a:lnTo>
                <a:lnTo>
                  <a:pt x="1137212" y="4399"/>
                </a:lnTo>
                <a:lnTo>
                  <a:pt x="1190285" y="9816"/>
                </a:lnTo>
                <a:lnTo>
                  <a:pt x="1242473" y="17304"/>
                </a:lnTo>
                <a:lnTo>
                  <a:pt x="1293705" y="26807"/>
                </a:lnTo>
                <a:lnTo>
                  <a:pt x="1343912" y="38271"/>
                </a:lnTo>
                <a:lnTo>
                  <a:pt x="1393020" y="51639"/>
                </a:lnTo>
                <a:lnTo>
                  <a:pt x="1440960" y="66857"/>
                </a:lnTo>
                <a:lnTo>
                  <a:pt x="1487660" y="83869"/>
                </a:lnTo>
                <a:lnTo>
                  <a:pt x="1533049" y="102620"/>
                </a:lnTo>
                <a:lnTo>
                  <a:pt x="1577056" y="123055"/>
                </a:lnTo>
                <a:lnTo>
                  <a:pt x="1619610" y="145118"/>
                </a:lnTo>
                <a:lnTo>
                  <a:pt x="1660639" y="168754"/>
                </a:lnTo>
                <a:lnTo>
                  <a:pt x="1700073" y="193907"/>
                </a:lnTo>
                <a:lnTo>
                  <a:pt x="1737840" y="220523"/>
                </a:lnTo>
                <a:lnTo>
                  <a:pt x="1773869" y="248546"/>
                </a:lnTo>
                <a:lnTo>
                  <a:pt x="1808089" y="277920"/>
                </a:lnTo>
                <a:lnTo>
                  <a:pt x="1840429" y="308591"/>
                </a:lnTo>
                <a:lnTo>
                  <a:pt x="1870818" y="340502"/>
                </a:lnTo>
                <a:lnTo>
                  <a:pt x="1899185" y="373600"/>
                </a:lnTo>
                <a:lnTo>
                  <a:pt x="1925458" y="407827"/>
                </a:lnTo>
                <a:lnTo>
                  <a:pt x="1949567" y="443130"/>
                </a:lnTo>
                <a:lnTo>
                  <a:pt x="1971440" y="479452"/>
                </a:lnTo>
                <a:lnTo>
                  <a:pt x="1991006" y="516739"/>
                </a:lnTo>
                <a:lnTo>
                  <a:pt x="2008193" y="554934"/>
                </a:lnTo>
                <a:lnTo>
                  <a:pt x="2022932" y="593984"/>
                </a:lnTo>
                <a:lnTo>
                  <a:pt x="2035151" y="633831"/>
                </a:lnTo>
                <a:lnTo>
                  <a:pt x="2044778" y="674422"/>
                </a:lnTo>
                <a:lnTo>
                  <a:pt x="2051742" y="715701"/>
                </a:lnTo>
                <a:lnTo>
                  <a:pt x="2055973" y="757612"/>
                </a:lnTo>
                <a:lnTo>
                  <a:pt x="2057400" y="800100"/>
                </a:lnTo>
                <a:lnTo>
                  <a:pt x="2055973" y="842587"/>
                </a:lnTo>
                <a:lnTo>
                  <a:pt x="2051742" y="884498"/>
                </a:lnTo>
                <a:lnTo>
                  <a:pt x="2044778" y="925777"/>
                </a:lnTo>
                <a:lnTo>
                  <a:pt x="2035151" y="966368"/>
                </a:lnTo>
                <a:lnTo>
                  <a:pt x="2022932" y="1006215"/>
                </a:lnTo>
                <a:lnTo>
                  <a:pt x="2008193" y="1045265"/>
                </a:lnTo>
                <a:lnTo>
                  <a:pt x="1991006" y="1083460"/>
                </a:lnTo>
                <a:lnTo>
                  <a:pt x="1971440" y="1120747"/>
                </a:lnTo>
                <a:lnTo>
                  <a:pt x="1949567" y="1157069"/>
                </a:lnTo>
                <a:lnTo>
                  <a:pt x="1925458" y="1192372"/>
                </a:lnTo>
                <a:lnTo>
                  <a:pt x="1899185" y="1226599"/>
                </a:lnTo>
                <a:lnTo>
                  <a:pt x="1870818" y="1259697"/>
                </a:lnTo>
                <a:lnTo>
                  <a:pt x="1840429" y="1291608"/>
                </a:lnTo>
                <a:lnTo>
                  <a:pt x="1808089" y="1322279"/>
                </a:lnTo>
                <a:lnTo>
                  <a:pt x="1773869" y="1351653"/>
                </a:lnTo>
                <a:lnTo>
                  <a:pt x="1737840" y="1379676"/>
                </a:lnTo>
                <a:lnTo>
                  <a:pt x="1700073" y="1406292"/>
                </a:lnTo>
                <a:lnTo>
                  <a:pt x="1660639" y="1431445"/>
                </a:lnTo>
                <a:lnTo>
                  <a:pt x="1619610" y="1455081"/>
                </a:lnTo>
                <a:lnTo>
                  <a:pt x="1577056" y="1477144"/>
                </a:lnTo>
                <a:lnTo>
                  <a:pt x="1533049" y="1497579"/>
                </a:lnTo>
                <a:lnTo>
                  <a:pt x="1487660" y="1516330"/>
                </a:lnTo>
                <a:lnTo>
                  <a:pt x="1440960" y="1533342"/>
                </a:lnTo>
                <a:lnTo>
                  <a:pt x="1393020" y="1548560"/>
                </a:lnTo>
                <a:lnTo>
                  <a:pt x="1343912" y="1561928"/>
                </a:lnTo>
                <a:lnTo>
                  <a:pt x="1293705" y="1573392"/>
                </a:lnTo>
                <a:lnTo>
                  <a:pt x="1242473" y="1582895"/>
                </a:lnTo>
                <a:lnTo>
                  <a:pt x="1190285" y="1590383"/>
                </a:lnTo>
                <a:lnTo>
                  <a:pt x="1137212" y="1595800"/>
                </a:lnTo>
                <a:lnTo>
                  <a:pt x="1083327" y="1599090"/>
                </a:lnTo>
                <a:lnTo>
                  <a:pt x="1028700" y="1600200"/>
                </a:lnTo>
                <a:lnTo>
                  <a:pt x="974061" y="1599090"/>
                </a:lnTo>
                <a:lnTo>
                  <a:pt x="920165" y="1595800"/>
                </a:lnTo>
                <a:lnTo>
                  <a:pt x="867084" y="1590383"/>
                </a:lnTo>
                <a:lnTo>
                  <a:pt x="814889" y="1582895"/>
                </a:lnTo>
                <a:lnTo>
                  <a:pt x="763650" y="1573392"/>
                </a:lnTo>
                <a:lnTo>
                  <a:pt x="713439" y="1561928"/>
                </a:lnTo>
                <a:lnTo>
                  <a:pt x="664327" y="1548560"/>
                </a:lnTo>
                <a:lnTo>
                  <a:pt x="616385" y="1533342"/>
                </a:lnTo>
                <a:lnTo>
                  <a:pt x="569683" y="1516330"/>
                </a:lnTo>
                <a:lnTo>
                  <a:pt x="524293" y="1497579"/>
                </a:lnTo>
                <a:lnTo>
                  <a:pt x="480286" y="1477144"/>
                </a:lnTo>
                <a:lnTo>
                  <a:pt x="437734" y="1455081"/>
                </a:lnTo>
                <a:lnTo>
                  <a:pt x="396706" y="1431445"/>
                </a:lnTo>
                <a:lnTo>
                  <a:pt x="357274" y="1406292"/>
                </a:lnTo>
                <a:lnTo>
                  <a:pt x="319510" y="1379676"/>
                </a:lnTo>
                <a:lnTo>
                  <a:pt x="283484" y="1351653"/>
                </a:lnTo>
                <a:lnTo>
                  <a:pt x="249267" y="1322279"/>
                </a:lnTo>
                <a:lnTo>
                  <a:pt x="216931" y="1291608"/>
                </a:lnTo>
                <a:lnTo>
                  <a:pt x="186546" y="1259697"/>
                </a:lnTo>
                <a:lnTo>
                  <a:pt x="158183" y="1226599"/>
                </a:lnTo>
                <a:lnTo>
                  <a:pt x="131914" y="1192372"/>
                </a:lnTo>
                <a:lnTo>
                  <a:pt x="107809" y="1157069"/>
                </a:lnTo>
                <a:lnTo>
                  <a:pt x="85941" y="1120747"/>
                </a:lnTo>
                <a:lnTo>
                  <a:pt x="66378" y="1083460"/>
                </a:lnTo>
                <a:lnTo>
                  <a:pt x="49194" y="1045265"/>
                </a:lnTo>
                <a:lnTo>
                  <a:pt x="34458" y="1006215"/>
                </a:lnTo>
                <a:lnTo>
                  <a:pt x="22243" y="966368"/>
                </a:lnTo>
                <a:lnTo>
                  <a:pt x="12618" y="925777"/>
                </a:lnTo>
                <a:lnTo>
                  <a:pt x="5655" y="884498"/>
                </a:lnTo>
                <a:lnTo>
                  <a:pt x="1425" y="842587"/>
                </a:lnTo>
                <a:lnTo>
                  <a:pt x="0" y="8001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25954" y="4803394"/>
            <a:ext cx="5607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特殊类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1154" y="4193794"/>
            <a:ext cx="5607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一般类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14637" y="4282249"/>
            <a:ext cx="161925" cy="161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79364" y="4015740"/>
            <a:ext cx="1295400" cy="722630"/>
          </a:xfrm>
          <a:custGeom>
            <a:avLst/>
            <a:gdLst/>
            <a:ahLst/>
            <a:cxnLst/>
            <a:rect l="l" t="t" r="r" b="b"/>
            <a:pathLst>
              <a:path w="1295400" h="722629">
                <a:moveTo>
                  <a:pt x="0" y="361188"/>
                </a:moveTo>
                <a:lnTo>
                  <a:pt x="10433" y="296253"/>
                </a:lnTo>
                <a:lnTo>
                  <a:pt x="40516" y="235142"/>
                </a:lnTo>
                <a:lnTo>
                  <a:pt x="88420" y="178872"/>
                </a:lnTo>
                <a:lnTo>
                  <a:pt x="118483" y="152871"/>
                </a:lnTo>
                <a:lnTo>
                  <a:pt x="152316" y="128463"/>
                </a:lnTo>
                <a:lnTo>
                  <a:pt x="189690" y="105775"/>
                </a:lnTo>
                <a:lnTo>
                  <a:pt x="230376" y="84934"/>
                </a:lnTo>
                <a:lnTo>
                  <a:pt x="274147" y="66068"/>
                </a:lnTo>
                <a:lnTo>
                  <a:pt x="320773" y="49304"/>
                </a:lnTo>
                <a:lnTo>
                  <a:pt x="370026" y="34769"/>
                </a:lnTo>
                <a:lnTo>
                  <a:pt x="421678" y="22592"/>
                </a:lnTo>
                <a:lnTo>
                  <a:pt x="475500" y="12899"/>
                </a:lnTo>
                <a:lnTo>
                  <a:pt x="531263" y="5817"/>
                </a:lnTo>
                <a:lnTo>
                  <a:pt x="588739" y="1475"/>
                </a:lnTo>
                <a:lnTo>
                  <a:pt x="647700" y="0"/>
                </a:lnTo>
                <a:lnTo>
                  <a:pt x="706660" y="1475"/>
                </a:lnTo>
                <a:lnTo>
                  <a:pt x="764136" y="5817"/>
                </a:lnTo>
                <a:lnTo>
                  <a:pt x="819899" y="12899"/>
                </a:lnTo>
                <a:lnTo>
                  <a:pt x="873721" y="22592"/>
                </a:lnTo>
                <a:lnTo>
                  <a:pt x="925373" y="34769"/>
                </a:lnTo>
                <a:lnTo>
                  <a:pt x="974626" y="49304"/>
                </a:lnTo>
                <a:lnTo>
                  <a:pt x="1021252" y="66068"/>
                </a:lnTo>
                <a:lnTo>
                  <a:pt x="1065023" y="84934"/>
                </a:lnTo>
                <a:lnTo>
                  <a:pt x="1105709" y="105775"/>
                </a:lnTo>
                <a:lnTo>
                  <a:pt x="1143083" y="128463"/>
                </a:lnTo>
                <a:lnTo>
                  <a:pt x="1176916" y="152871"/>
                </a:lnTo>
                <a:lnTo>
                  <a:pt x="1206979" y="178872"/>
                </a:lnTo>
                <a:lnTo>
                  <a:pt x="1254883" y="235142"/>
                </a:lnTo>
                <a:lnTo>
                  <a:pt x="1284966" y="296253"/>
                </a:lnTo>
                <a:lnTo>
                  <a:pt x="1295400" y="361188"/>
                </a:lnTo>
                <a:lnTo>
                  <a:pt x="1292753" y="394069"/>
                </a:lnTo>
                <a:lnTo>
                  <a:pt x="1272266" y="457219"/>
                </a:lnTo>
                <a:lnTo>
                  <a:pt x="1233044" y="516037"/>
                </a:lnTo>
                <a:lnTo>
                  <a:pt x="1176916" y="569504"/>
                </a:lnTo>
                <a:lnTo>
                  <a:pt x="1143083" y="593912"/>
                </a:lnTo>
                <a:lnTo>
                  <a:pt x="1105709" y="616600"/>
                </a:lnTo>
                <a:lnTo>
                  <a:pt x="1065023" y="637441"/>
                </a:lnTo>
                <a:lnTo>
                  <a:pt x="1021252" y="656307"/>
                </a:lnTo>
                <a:lnTo>
                  <a:pt x="974626" y="673071"/>
                </a:lnTo>
                <a:lnTo>
                  <a:pt x="925373" y="687606"/>
                </a:lnTo>
                <a:lnTo>
                  <a:pt x="873721" y="699783"/>
                </a:lnTo>
                <a:lnTo>
                  <a:pt x="819899" y="709476"/>
                </a:lnTo>
                <a:lnTo>
                  <a:pt x="764136" y="716558"/>
                </a:lnTo>
                <a:lnTo>
                  <a:pt x="706660" y="720900"/>
                </a:lnTo>
                <a:lnTo>
                  <a:pt x="647700" y="722376"/>
                </a:lnTo>
                <a:lnTo>
                  <a:pt x="588739" y="720900"/>
                </a:lnTo>
                <a:lnTo>
                  <a:pt x="531263" y="716558"/>
                </a:lnTo>
                <a:lnTo>
                  <a:pt x="475500" y="709476"/>
                </a:lnTo>
                <a:lnTo>
                  <a:pt x="421678" y="699783"/>
                </a:lnTo>
                <a:lnTo>
                  <a:pt x="370026" y="687606"/>
                </a:lnTo>
                <a:lnTo>
                  <a:pt x="320773" y="673071"/>
                </a:lnTo>
                <a:lnTo>
                  <a:pt x="274147" y="656307"/>
                </a:lnTo>
                <a:lnTo>
                  <a:pt x="230376" y="637441"/>
                </a:lnTo>
                <a:lnTo>
                  <a:pt x="189690" y="616600"/>
                </a:lnTo>
                <a:lnTo>
                  <a:pt x="152316" y="593912"/>
                </a:lnTo>
                <a:lnTo>
                  <a:pt x="118483" y="569504"/>
                </a:lnTo>
                <a:lnTo>
                  <a:pt x="88420" y="543503"/>
                </a:lnTo>
                <a:lnTo>
                  <a:pt x="40516" y="487233"/>
                </a:lnTo>
                <a:lnTo>
                  <a:pt x="10433" y="426122"/>
                </a:lnTo>
                <a:lnTo>
                  <a:pt x="0" y="361188"/>
                </a:lnTo>
                <a:close/>
              </a:path>
            </a:pathLst>
          </a:custGeom>
          <a:ln w="952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28740" y="4152138"/>
            <a:ext cx="560705" cy="4438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5"/>
              </a:spcBef>
            </a:pPr>
            <a:r>
              <a:rPr sz="1400" dirty="0">
                <a:latin typeface="宋体"/>
                <a:cs typeface="宋体"/>
              </a:rPr>
              <a:t>一般类 的特征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71800" y="4336922"/>
            <a:ext cx="2607945" cy="76200"/>
          </a:xfrm>
          <a:custGeom>
            <a:avLst/>
            <a:gdLst/>
            <a:ahLst/>
            <a:cxnLst/>
            <a:rect l="l" t="t" r="r" b="b"/>
            <a:pathLst>
              <a:path w="2607945" h="76200">
                <a:moveTo>
                  <a:pt x="2531342" y="44517"/>
                </a:moveTo>
                <a:lnTo>
                  <a:pt x="2531237" y="76200"/>
                </a:lnTo>
                <a:lnTo>
                  <a:pt x="2595228" y="44576"/>
                </a:lnTo>
                <a:lnTo>
                  <a:pt x="2544064" y="44576"/>
                </a:lnTo>
                <a:lnTo>
                  <a:pt x="2531342" y="44517"/>
                </a:lnTo>
                <a:close/>
              </a:path>
              <a:path w="2607945" h="76200">
                <a:moveTo>
                  <a:pt x="2531384" y="31817"/>
                </a:moveTo>
                <a:lnTo>
                  <a:pt x="2531342" y="44517"/>
                </a:lnTo>
                <a:lnTo>
                  <a:pt x="2544064" y="44576"/>
                </a:lnTo>
                <a:lnTo>
                  <a:pt x="2544064" y="31876"/>
                </a:lnTo>
                <a:lnTo>
                  <a:pt x="2531384" y="31817"/>
                </a:lnTo>
                <a:close/>
              </a:path>
              <a:path w="2607945" h="76200">
                <a:moveTo>
                  <a:pt x="2531491" y="0"/>
                </a:moveTo>
                <a:lnTo>
                  <a:pt x="2531384" y="31817"/>
                </a:lnTo>
                <a:lnTo>
                  <a:pt x="2544064" y="31876"/>
                </a:lnTo>
                <a:lnTo>
                  <a:pt x="2544064" y="44576"/>
                </a:lnTo>
                <a:lnTo>
                  <a:pt x="2595228" y="44576"/>
                </a:lnTo>
                <a:lnTo>
                  <a:pt x="2607564" y="38481"/>
                </a:lnTo>
                <a:lnTo>
                  <a:pt x="2531491" y="0"/>
                </a:lnTo>
                <a:close/>
              </a:path>
              <a:path w="2607945" h="76200">
                <a:moveTo>
                  <a:pt x="0" y="19938"/>
                </a:moveTo>
                <a:lnTo>
                  <a:pt x="0" y="32638"/>
                </a:lnTo>
                <a:lnTo>
                  <a:pt x="2531342" y="44517"/>
                </a:lnTo>
                <a:lnTo>
                  <a:pt x="2531384" y="31817"/>
                </a:lnTo>
                <a:lnTo>
                  <a:pt x="0" y="199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12714" y="5008245"/>
            <a:ext cx="10972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特殊类的特征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2830" y="5799226"/>
            <a:ext cx="1807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现实对象的集合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2415" y="5583123"/>
            <a:ext cx="18072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软件设计时 抽取的特征集合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2234" y="3864609"/>
            <a:ext cx="1094105" cy="4438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5"/>
              </a:spcBef>
            </a:pPr>
            <a:r>
              <a:rPr sz="1400" dirty="0">
                <a:latin typeface="宋体"/>
                <a:cs typeface="宋体"/>
              </a:rPr>
              <a:t>特殊类与</a:t>
            </a:r>
            <a:r>
              <a:rPr sz="1400" spc="-15" dirty="0">
                <a:latin typeface="宋体"/>
                <a:cs typeface="宋体"/>
              </a:rPr>
              <a:t>一</a:t>
            </a:r>
            <a:r>
              <a:rPr sz="1400" dirty="0">
                <a:latin typeface="宋体"/>
                <a:cs typeface="宋体"/>
              </a:rPr>
              <a:t>般 类共有的</a:t>
            </a:r>
            <a:r>
              <a:rPr sz="1400" spc="-15" dirty="0">
                <a:latin typeface="宋体"/>
                <a:cs typeface="宋体"/>
              </a:rPr>
              <a:t>特</a:t>
            </a:r>
            <a:r>
              <a:rPr sz="1400" dirty="0">
                <a:latin typeface="宋体"/>
                <a:cs typeface="宋体"/>
              </a:rPr>
              <a:t>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31820" y="5058155"/>
            <a:ext cx="2447925" cy="76200"/>
          </a:xfrm>
          <a:custGeom>
            <a:avLst/>
            <a:gdLst/>
            <a:ahLst/>
            <a:cxnLst/>
            <a:rect l="l" t="t" r="r" b="b"/>
            <a:pathLst>
              <a:path w="2447925" h="76200">
                <a:moveTo>
                  <a:pt x="2371344" y="44441"/>
                </a:moveTo>
                <a:lnTo>
                  <a:pt x="2371344" y="76200"/>
                </a:lnTo>
                <a:lnTo>
                  <a:pt x="2434844" y="44450"/>
                </a:lnTo>
                <a:lnTo>
                  <a:pt x="2371344" y="44441"/>
                </a:lnTo>
                <a:close/>
              </a:path>
              <a:path w="2447925" h="76200">
                <a:moveTo>
                  <a:pt x="2371344" y="31741"/>
                </a:moveTo>
                <a:lnTo>
                  <a:pt x="2371344" y="44441"/>
                </a:lnTo>
                <a:lnTo>
                  <a:pt x="2384044" y="44450"/>
                </a:lnTo>
                <a:lnTo>
                  <a:pt x="2384044" y="31750"/>
                </a:lnTo>
                <a:lnTo>
                  <a:pt x="2371344" y="31741"/>
                </a:lnTo>
                <a:close/>
              </a:path>
              <a:path w="2447925" h="76200">
                <a:moveTo>
                  <a:pt x="2371344" y="0"/>
                </a:moveTo>
                <a:lnTo>
                  <a:pt x="2371344" y="31741"/>
                </a:lnTo>
                <a:lnTo>
                  <a:pt x="2384044" y="31750"/>
                </a:lnTo>
                <a:lnTo>
                  <a:pt x="2384044" y="44450"/>
                </a:lnTo>
                <a:lnTo>
                  <a:pt x="2434860" y="44441"/>
                </a:lnTo>
                <a:lnTo>
                  <a:pt x="2447544" y="38100"/>
                </a:lnTo>
                <a:lnTo>
                  <a:pt x="2371344" y="0"/>
                </a:lnTo>
                <a:close/>
              </a:path>
              <a:path w="2447925" h="76200">
                <a:moveTo>
                  <a:pt x="0" y="30226"/>
                </a:moveTo>
                <a:lnTo>
                  <a:pt x="0" y="42926"/>
                </a:lnTo>
                <a:lnTo>
                  <a:pt x="2371344" y="44441"/>
                </a:lnTo>
                <a:lnTo>
                  <a:pt x="2371344" y="31741"/>
                </a:lnTo>
                <a:lnTo>
                  <a:pt x="0" y="302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82277" y="5019865"/>
            <a:ext cx="161925" cy="161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83863" y="4792471"/>
            <a:ext cx="9169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特有的特征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802" y="183642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继承的性质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085545"/>
            <a:ext cx="7501890" cy="4079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95"/>
              </a:spcBef>
              <a:buClr>
                <a:srgbClr val="00663B"/>
              </a:buClr>
              <a:buFont typeface="Wingdings"/>
              <a:buChar char=""/>
              <a:tabLst>
                <a:tab pos="558165" algn="l"/>
                <a:tab pos="558800" algn="l"/>
              </a:tabLst>
            </a:pPr>
            <a:r>
              <a:rPr dirty="0"/>
              <a:t>	</a:t>
            </a:r>
            <a:r>
              <a:rPr sz="2800" spc="-10" dirty="0">
                <a:latin typeface="宋体"/>
                <a:cs typeface="宋体"/>
              </a:rPr>
              <a:t>非对称</a:t>
            </a:r>
            <a:r>
              <a:rPr sz="2800" spc="-5" dirty="0">
                <a:latin typeface="宋体"/>
                <a:cs typeface="宋体"/>
              </a:rPr>
              <a:t>性</a:t>
            </a:r>
            <a:r>
              <a:rPr sz="2800" spc="-5" dirty="0">
                <a:latin typeface="Times New Roman"/>
                <a:cs typeface="Times New Roman"/>
              </a:rPr>
              <a:t>----</a:t>
            </a:r>
            <a:r>
              <a:rPr sz="2800" spc="-10" dirty="0">
                <a:latin typeface="宋体"/>
                <a:cs typeface="宋体"/>
              </a:rPr>
              <a:t>继承关系语义为</a:t>
            </a:r>
            <a:r>
              <a:rPr sz="2800" spc="-5" dirty="0">
                <a:latin typeface="宋体"/>
                <a:cs typeface="宋体"/>
              </a:rPr>
              <a:t>“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宋体"/>
                <a:cs typeface="宋体"/>
              </a:rPr>
              <a:t>”关系，  </a:t>
            </a:r>
            <a:r>
              <a:rPr sz="2800" spc="-5" dirty="0">
                <a:latin typeface="宋体"/>
                <a:cs typeface="宋体"/>
              </a:rPr>
              <a:t>如果类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是类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宋体"/>
                <a:cs typeface="宋体"/>
              </a:rPr>
              <a:t>的后代，则类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能是</a:t>
            </a:r>
            <a:r>
              <a:rPr sz="2800" spc="10" dirty="0">
                <a:latin typeface="宋体"/>
                <a:cs typeface="宋体"/>
              </a:rPr>
              <a:t>类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的 后代，</a:t>
            </a:r>
            <a:r>
              <a:rPr sz="2800" dirty="0">
                <a:latin typeface="宋体"/>
                <a:cs typeface="宋体"/>
              </a:rPr>
              <a:t>因</a:t>
            </a:r>
            <a:r>
              <a:rPr sz="2800" spc="-5" dirty="0">
                <a:latin typeface="宋体"/>
                <a:cs typeface="宋体"/>
              </a:rPr>
              <a:t>为，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dirty="0">
                <a:latin typeface="宋体"/>
                <a:cs typeface="宋体"/>
              </a:rPr>
              <a:t>将</a:t>
            </a:r>
            <a:r>
              <a:rPr sz="2800" spc="-5" dirty="0">
                <a:latin typeface="宋体"/>
                <a:cs typeface="宋体"/>
              </a:rPr>
              <a:t>不会与</a:t>
            </a:r>
            <a:r>
              <a:rPr sz="2800" spc="10" dirty="0">
                <a:latin typeface="宋体"/>
                <a:cs typeface="宋体"/>
              </a:rPr>
              <a:t>类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有“</a:t>
            </a:r>
            <a:r>
              <a:rPr sz="2800" spc="-5" dirty="0">
                <a:latin typeface="Times New Roman"/>
                <a:cs typeface="Times New Roman"/>
              </a:rPr>
              <a:t>is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宋体"/>
                <a:cs typeface="宋体"/>
              </a:rPr>
              <a:t>”</a:t>
            </a:r>
            <a:r>
              <a:rPr sz="2800" spc="-5" dirty="0">
                <a:latin typeface="宋体"/>
                <a:cs typeface="宋体"/>
              </a:rPr>
              <a:t>关系。</a:t>
            </a:r>
            <a:endParaRPr sz="2800">
              <a:latin typeface="宋体"/>
              <a:cs typeface="宋体"/>
            </a:endParaRPr>
          </a:p>
          <a:p>
            <a:pPr marL="469900" marR="165100" indent="-457834">
              <a:lnSpc>
                <a:spcPct val="100000"/>
              </a:lnSpc>
              <a:spcBef>
                <a:spcPts val="1685"/>
              </a:spcBef>
              <a:buClr>
                <a:srgbClr val="00663B"/>
              </a:buClr>
              <a:buFont typeface="Wingdings"/>
              <a:buChar char=""/>
              <a:tabLst>
                <a:tab pos="558165" algn="l"/>
                <a:tab pos="558800" algn="l"/>
              </a:tabLst>
            </a:pPr>
            <a:r>
              <a:rPr dirty="0"/>
              <a:t>	</a:t>
            </a:r>
            <a:r>
              <a:rPr sz="2800" spc="-5" dirty="0">
                <a:latin typeface="宋体"/>
                <a:cs typeface="宋体"/>
              </a:rPr>
              <a:t>传递性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" dirty="0">
                <a:latin typeface="宋体"/>
                <a:cs typeface="宋体"/>
              </a:rPr>
              <a:t>如果类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继承</a:t>
            </a:r>
            <a:r>
              <a:rPr sz="2800" spc="-10" dirty="0">
                <a:latin typeface="宋体"/>
                <a:cs typeface="宋体"/>
              </a:rPr>
              <a:t>类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5" dirty="0">
                <a:latin typeface="宋体"/>
                <a:cs typeface="宋体"/>
              </a:rPr>
              <a:t>类</a:t>
            </a:r>
            <a:r>
              <a:rPr sz="2800" spc="-10" dirty="0">
                <a:latin typeface="Times New Roman"/>
                <a:cs typeface="Times New Roman"/>
              </a:rPr>
              <a:t>B</a:t>
            </a:r>
            <a:r>
              <a:rPr sz="2800" spc="-5" dirty="0">
                <a:latin typeface="宋体"/>
                <a:cs typeface="宋体"/>
              </a:rPr>
              <a:t>继</a:t>
            </a:r>
            <a:r>
              <a:rPr sz="2800" dirty="0">
                <a:latin typeface="宋体"/>
                <a:cs typeface="宋体"/>
              </a:rPr>
              <a:t>承</a:t>
            </a:r>
            <a:r>
              <a:rPr sz="2800" spc="-5" dirty="0">
                <a:latin typeface="宋体"/>
                <a:cs typeface="宋体"/>
              </a:rPr>
              <a:t>类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宋体"/>
                <a:cs typeface="宋体"/>
              </a:rPr>
              <a:t>， 则类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宋体"/>
                <a:cs typeface="宋体"/>
              </a:rPr>
              <a:t>继承类</a:t>
            </a:r>
            <a:r>
              <a:rPr sz="2800" spc="-10" dirty="0">
                <a:latin typeface="Times New Roman"/>
                <a:cs typeface="Times New Roman"/>
              </a:rPr>
              <a:t>C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58165" indent="-546100">
              <a:lnSpc>
                <a:spcPct val="100000"/>
              </a:lnSpc>
              <a:spcBef>
                <a:spcPts val="1680"/>
              </a:spcBef>
              <a:buClr>
                <a:srgbClr val="00663B"/>
              </a:buClr>
              <a:buFont typeface="Wingdings"/>
              <a:buChar char=""/>
              <a:tabLst>
                <a:tab pos="558165" algn="l"/>
                <a:tab pos="558800" algn="l"/>
              </a:tabLst>
            </a:pPr>
            <a:r>
              <a:rPr sz="2800" spc="-5" dirty="0">
                <a:latin typeface="宋体"/>
                <a:cs typeface="宋体"/>
              </a:rPr>
              <a:t>单继承</a:t>
            </a:r>
            <a:r>
              <a:rPr sz="2800" spc="-5" dirty="0">
                <a:latin typeface="Times New Roman"/>
                <a:cs typeface="Times New Roman"/>
              </a:rPr>
              <a:t>----</a:t>
            </a:r>
            <a:r>
              <a:rPr sz="2800" spc="-5" dirty="0">
                <a:latin typeface="宋体"/>
                <a:cs typeface="宋体"/>
              </a:rPr>
              <a:t>特殊类只直接地继承</a:t>
            </a:r>
            <a:r>
              <a:rPr sz="2800" dirty="0">
                <a:latin typeface="宋体"/>
                <a:cs typeface="宋体"/>
              </a:rPr>
              <a:t>一</a:t>
            </a:r>
            <a:r>
              <a:rPr sz="2800" spc="-5" dirty="0">
                <a:latin typeface="宋体"/>
                <a:cs typeface="宋体"/>
              </a:rPr>
              <a:t>个一</a:t>
            </a:r>
            <a:r>
              <a:rPr sz="2800" dirty="0">
                <a:latin typeface="宋体"/>
                <a:cs typeface="宋体"/>
              </a:rPr>
              <a:t>般</a:t>
            </a:r>
            <a:r>
              <a:rPr sz="2800" spc="-5" dirty="0">
                <a:latin typeface="宋体"/>
                <a:cs typeface="宋体"/>
              </a:rPr>
              <a:t>类</a:t>
            </a:r>
            <a:endParaRPr sz="2800">
              <a:latin typeface="宋体"/>
              <a:cs typeface="宋体"/>
            </a:endParaRPr>
          </a:p>
          <a:p>
            <a:pPr marL="469900" marR="421005" indent="-457834">
              <a:lnSpc>
                <a:spcPct val="100000"/>
              </a:lnSpc>
              <a:spcBef>
                <a:spcPts val="1685"/>
              </a:spcBef>
              <a:buClr>
                <a:srgbClr val="00663B"/>
              </a:buClr>
              <a:buFont typeface="Wingdings"/>
              <a:buChar char=""/>
              <a:tabLst>
                <a:tab pos="558165" algn="l"/>
                <a:tab pos="558800" algn="l"/>
              </a:tabLst>
            </a:pPr>
            <a:r>
              <a:rPr dirty="0"/>
              <a:t>	</a:t>
            </a:r>
            <a:r>
              <a:rPr sz="2800" spc="-5" dirty="0">
                <a:latin typeface="宋体"/>
                <a:cs typeface="宋体"/>
              </a:rPr>
              <a:t>多继承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" dirty="0">
                <a:latin typeface="宋体"/>
                <a:cs typeface="宋体"/>
              </a:rPr>
              <a:t>允许特殊类可直接地</a:t>
            </a:r>
            <a:r>
              <a:rPr sz="2800" dirty="0">
                <a:latin typeface="宋体"/>
                <a:cs typeface="宋体"/>
              </a:rPr>
              <a:t>继</a:t>
            </a:r>
            <a:r>
              <a:rPr sz="2800" spc="-5" dirty="0">
                <a:latin typeface="宋体"/>
                <a:cs typeface="宋体"/>
              </a:rPr>
              <a:t>承两</a:t>
            </a:r>
            <a:r>
              <a:rPr sz="2800" dirty="0">
                <a:latin typeface="宋体"/>
                <a:cs typeface="宋体"/>
              </a:rPr>
              <a:t>个</a:t>
            </a:r>
            <a:r>
              <a:rPr sz="2800" spc="-5" dirty="0">
                <a:latin typeface="宋体"/>
                <a:cs typeface="宋体"/>
              </a:rPr>
              <a:t>以 上的一般类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0144" y="24841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继承关系表示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48037" y="3831145"/>
          <a:ext cx="90551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5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37981" y="3831145"/>
          <a:ext cx="90551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5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2752344" y="5283708"/>
            <a:ext cx="905510" cy="914400"/>
          </a:xfrm>
          <a:custGeom>
            <a:avLst/>
            <a:gdLst/>
            <a:ahLst/>
            <a:cxnLst/>
            <a:rect l="l" t="t" r="r" b="b"/>
            <a:pathLst>
              <a:path w="905510" h="914400">
                <a:moveTo>
                  <a:pt x="0" y="914400"/>
                </a:moveTo>
                <a:lnTo>
                  <a:pt x="905256" y="914400"/>
                </a:lnTo>
                <a:lnTo>
                  <a:pt x="905256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52344" y="5588508"/>
            <a:ext cx="905510" cy="1905"/>
          </a:xfrm>
          <a:custGeom>
            <a:avLst/>
            <a:gdLst/>
            <a:ahLst/>
            <a:cxnLst/>
            <a:rect l="l" t="t" r="r" b="b"/>
            <a:pathLst>
              <a:path w="905510" h="1904">
                <a:moveTo>
                  <a:pt x="0" y="0"/>
                </a:moveTo>
                <a:lnTo>
                  <a:pt x="905256" y="15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52344" y="5893308"/>
            <a:ext cx="905510" cy="1905"/>
          </a:xfrm>
          <a:custGeom>
            <a:avLst/>
            <a:gdLst/>
            <a:ahLst/>
            <a:cxnLst/>
            <a:rect l="l" t="t" r="r" b="b"/>
            <a:pathLst>
              <a:path w="905510" h="1904">
                <a:moveTo>
                  <a:pt x="0" y="0"/>
                </a:moveTo>
                <a:lnTo>
                  <a:pt x="905256" y="15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509837" y="909637"/>
          <a:ext cx="90551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5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5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1828800" y="2362200"/>
            <a:ext cx="905510" cy="914400"/>
          </a:xfrm>
          <a:custGeom>
            <a:avLst/>
            <a:gdLst/>
            <a:ahLst/>
            <a:cxnLst/>
            <a:rect l="l" t="t" r="r" b="b"/>
            <a:pathLst>
              <a:path w="905510" h="914400">
                <a:moveTo>
                  <a:pt x="0" y="914400"/>
                </a:moveTo>
                <a:lnTo>
                  <a:pt x="905256" y="914400"/>
                </a:lnTo>
                <a:lnTo>
                  <a:pt x="905256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8800" y="26670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8800" y="29718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24200" y="2362200"/>
            <a:ext cx="905510" cy="914400"/>
          </a:xfrm>
          <a:custGeom>
            <a:avLst/>
            <a:gdLst/>
            <a:ahLst/>
            <a:cxnLst/>
            <a:rect l="l" t="t" r="r" b="b"/>
            <a:pathLst>
              <a:path w="905510" h="914400">
                <a:moveTo>
                  <a:pt x="0" y="914400"/>
                </a:moveTo>
                <a:lnTo>
                  <a:pt x="905255" y="914400"/>
                </a:lnTo>
                <a:lnTo>
                  <a:pt x="905255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24200" y="26670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24200" y="29718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62200" y="21336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62200" y="21336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81400" y="21336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95600" y="182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71800" y="1981200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523744" y="47503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10000" y="47503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86200" y="4902708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90800" y="51054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09544" y="5131308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19200" y="838200"/>
            <a:ext cx="3352800" cy="2693035"/>
          </a:xfrm>
          <a:custGeom>
            <a:avLst/>
            <a:gdLst/>
            <a:ahLst/>
            <a:cxnLst/>
            <a:rect l="l" t="t" r="r" b="b"/>
            <a:pathLst>
              <a:path w="3352800" h="2693035">
                <a:moveTo>
                  <a:pt x="0" y="2692908"/>
                </a:moveTo>
                <a:lnTo>
                  <a:pt x="3352800" y="2692908"/>
                </a:lnTo>
                <a:lnTo>
                  <a:pt x="3352800" y="0"/>
                </a:lnTo>
                <a:lnTo>
                  <a:pt x="0" y="0"/>
                </a:lnTo>
                <a:lnTo>
                  <a:pt x="0" y="26929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98194" y="865377"/>
            <a:ext cx="7937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宋体"/>
                <a:cs typeface="宋体"/>
              </a:rPr>
              <a:t>单继承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304544" y="3607308"/>
            <a:ext cx="3267710" cy="2691765"/>
          </a:xfrm>
          <a:custGeom>
            <a:avLst/>
            <a:gdLst/>
            <a:ahLst/>
            <a:cxnLst/>
            <a:rect l="l" t="t" r="r" b="b"/>
            <a:pathLst>
              <a:path w="3267710" h="2691765">
                <a:moveTo>
                  <a:pt x="0" y="2691384"/>
                </a:moveTo>
                <a:lnTo>
                  <a:pt x="3267455" y="2691384"/>
                </a:lnTo>
                <a:lnTo>
                  <a:pt x="3267455" y="0"/>
                </a:lnTo>
                <a:lnTo>
                  <a:pt x="0" y="0"/>
                </a:lnTo>
                <a:lnTo>
                  <a:pt x="0" y="269138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383919" y="5921146"/>
            <a:ext cx="793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多继承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876800" y="920496"/>
            <a:ext cx="3200400" cy="5404485"/>
          </a:xfrm>
          <a:custGeom>
            <a:avLst/>
            <a:gdLst/>
            <a:ahLst/>
            <a:cxnLst/>
            <a:rect l="l" t="t" r="r" b="b"/>
            <a:pathLst>
              <a:path w="3200400" h="5404485">
                <a:moveTo>
                  <a:pt x="0" y="5404104"/>
                </a:moveTo>
                <a:lnTo>
                  <a:pt x="3200400" y="5404104"/>
                </a:lnTo>
                <a:lnTo>
                  <a:pt x="3200400" y="0"/>
                </a:lnTo>
                <a:lnTo>
                  <a:pt x="0" y="0"/>
                </a:lnTo>
                <a:lnTo>
                  <a:pt x="0" y="540410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56428" y="948055"/>
            <a:ext cx="13055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宋体"/>
                <a:cs typeface="宋体"/>
              </a:rPr>
              <a:t>多继承示例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77000" y="27035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38800" y="46085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15000" y="476097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62800" y="46085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239000" y="476097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715000" y="4989576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77000" y="4989576"/>
            <a:ext cx="0" cy="268605"/>
          </a:xfrm>
          <a:custGeom>
            <a:avLst/>
            <a:gdLst/>
            <a:ahLst/>
            <a:cxnLst/>
            <a:rect l="l" t="t" r="r" b="b"/>
            <a:pathLst>
              <a:path h="268604">
                <a:moveTo>
                  <a:pt x="0" y="0"/>
                </a:moveTo>
                <a:lnTo>
                  <a:pt x="0" y="2682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90800" y="48768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6091237" y="1327213"/>
          <a:ext cx="914400" cy="1338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42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人员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1800" b="1" spc="10" dirty="0">
                          <a:latin typeface="宋体"/>
                          <a:cs typeface="宋体"/>
                        </a:rPr>
                        <a:t>姓名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spc="10" dirty="0">
                          <a:latin typeface="宋体"/>
                          <a:cs typeface="宋体"/>
                        </a:rPr>
                        <a:t>年龄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085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marL="92075">
                        <a:lnSpc>
                          <a:spcPts val="131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176837" y="2855976"/>
          <a:ext cx="2590800" cy="1719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12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研究生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职工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712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导师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研究方向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 marR="12192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b="1" spc="10" dirty="0">
                          <a:latin typeface="宋体"/>
                          <a:cs typeface="宋体"/>
                        </a:rPr>
                        <a:t>工作单位 </a:t>
                      </a:r>
                      <a:r>
                        <a:rPr sz="1800" b="1" dirty="0">
                          <a:latin typeface="宋体"/>
                          <a:cs typeface="宋体"/>
                        </a:rPr>
                        <a:t>职务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908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648">
                <a:tc gridSpan="2">
                  <a:txBody>
                    <a:bodyPr/>
                    <a:lstStyle/>
                    <a:p>
                      <a:pPr marL="92075">
                        <a:lnSpc>
                          <a:spcPts val="131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31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5786437" y="5288089"/>
          <a:ext cx="1524000" cy="9250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在职研究生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7">
                <a:tc>
                  <a:txBody>
                    <a:bodyPr/>
                    <a:lstStyle/>
                    <a:p>
                      <a:pPr marL="92075">
                        <a:lnSpc>
                          <a:spcPts val="163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989" y="149732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051636"/>
            <a:ext cx="731329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1</a:t>
            </a:r>
            <a:r>
              <a:rPr sz="2800" spc="-5" dirty="0">
                <a:latin typeface="宋体"/>
                <a:cs typeface="宋体"/>
              </a:rPr>
              <a:t>）按照问题领域的分类知识以及事物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分类常 识，寻找相应的继承关系。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0" y="2819400"/>
            <a:ext cx="1066800" cy="1477010"/>
          </a:xfrm>
          <a:custGeom>
            <a:avLst/>
            <a:gdLst/>
            <a:ahLst/>
            <a:cxnLst/>
            <a:rect l="l" t="t" r="r" b="b"/>
            <a:pathLst>
              <a:path w="1066800" h="1477010">
                <a:moveTo>
                  <a:pt x="0" y="1476756"/>
                </a:moveTo>
                <a:lnTo>
                  <a:pt x="1066800" y="1476756"/>
                </a:lnTo>
                <a:lnTo>
                  <a:pt x="1066800" y="0"/>
                </a:lnTo>
                <a:lnTo>
                  <a:pt x="0" y="0"/>
                </a:lnTo>
                <a:lnTo>
                  <a:pt x="0" y="14767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0000" y="320040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10000" y="4692396"/>
            <a:ext cx="1143000" cy="1202690"/>
          </a:xfrm>
          <a:custGeom>
            <a:avLst/>
            <a:gdLst/>
            <a:ahLst/>
            <a:cxnLst/>
            <a:rect l="l" t="t" r="r" b="b"/>
            <a:pathLst>
              <a:path w="1143000" h="1202689">
                <a:moveTo>
                  <a:pt x="0" y="1202435"/>
                </a:moveTo>
                <a:lnTo>
                  <a:pt x="1143000" y="1202435"/>
                </a:lnTo>
                <a:lnTo>
                  <a:pt x="1143000" y="0"/>
                </a:lnTo>
                <a:lnTo>
                  <a:pt x="0" y="0"/>
                </a:lnTo>
                <a:lnTo>
                  <a:pt x="0" y="120243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00400" y="2386583"/>
            <a:ext cx="2286000" cy="36779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宋体"/>
                <a:cs typeface="宋体"/>
              </a:rPr>
              <a:t>违反常识的继承关系</a:t>
            </a:r>
            <a:endParaRPr sz="1800">
              <a:latin typeface="宋体"/>
              <a:cs typeface="宋体"/>
            </a:endParaRPr>
          </a:p>
          <a:p>
            <a:pPr marL="701675">
              <a:lnSpc>
                <a:spcPct val="100000"/>
              </a:lnSpc>
              <a:spcBef>
                <a:spcPts val="1245"/>
              </a:spcBef>
            </a:pPr>
            <a:r>
              <a:rPr sz="1600" b="1" spc="-5" dirty="0">
                <a:latin typeface="宋体"/>
                <a:cs typeface="宋体"/>
              </a:rPr>
              <a:t>汽车</a:t>
            </a:r>
            <a:endParaRPr sz="1600">
              <a:latin typeface="宋体"/>
              <a:cs typeface="宋体"/>
            </a:endParaRPr>
          </a:p>
          <a:p>
            <a:pPr marL="701675" marR="963930" algn="just">
              <a:lnSpc>
                <a:spcPct val="100000"/>
              </a:lnSpc>
              <a:spcBef>
                <a:spcPts val="960"/>
              </a:spcBef>
            </a:pPr>
            <a:r>
              <a:rPr sz="1600" b="1" spc="-5" dirty="0">
                <a:latin typeface="宋体"/>
                <a:cs typeface="宋体"/>
              </a:rPr>
              <a:t>发动机 </a:t>
            </a:r>
            <a:r>
              <a:rPr sz="1600" b="1" dirty="0">
                <a:latin typeface="宋体"/>
                <a:cs typeface="宋体"/>
              </a:rPr>
              <a:t>载重量 </a:t>
            </a:r>
            <a:r>
              <a:rPr sz="1600" b="1" spc="-5" dirty="0">
                <a:latin typeface="宋体"/>
                <a:cs typeface="宋体"/>
              </a:rPr>
              <a:t>速度</a:t>
            </a:r>
            <a:endParaRPr sz="1600">
              <a:latin typeface="宋体"/>
              <a:cs typeface="宋体"/>
            </a:endParaRPr>
          </a:p>
          <a:p>
            <a:pPr marL="701675">
              <a:lnSpc>
                <a:spcPts val="2140"/>
              </a:lnSpc>
            </a:pPr>
            <a:r>
              <a:rPr sz="1800" b="1" dirty="0">
                <a:latin typeface="Times New Roman"/>
                <a:cs typeface="Times New Roman"/>
              </a:rPr>
              <a:t>……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701675">
              <a:lnSpc>
                <a:spcPct val="100000"/>
              </a:lnSpc>
              <a:spcBef>
                <a:spcPts val="1675"/>
              </a:spcBef>
            </a:pPr>
            <a:r>
              <a:rPr sz="1600" b="1" spc="-5" dirty="0">
                <a:latin typeface="宋体"/>
                <a:cs typeface="宋体"/>
              </a:rPr>
              <a:t>飞机</a:t>
            </a:r>
            <a:endParaRPr sz="1600">
              <a:latin typeface="宋体"/>
              <a:cs typeface="宋体"/>
            </a:endParaRPr>
          </a:p>
          <a:p>
            <a:pPr marL="701675" marR="759460">
              <a:lnSpc>
                <a:spcPct val="100000"/>
              </a:lnSpc>
              <a:spcBef>
                <a:spcPts val="960"/>
              </a:spcBef>
            </a:pPr>
            <a:r>
              <a:rPr sz="1600" b="1" dirty="0">
                <a:latin typeface="宋体"/>
                <a:cs typeface="宋体"/>
              </a:rPr>
              <a:t>飞行高度 自动导航</a:t>
            </a:r>
            <a:endParaRPr sz="1600">
              <a:latin typeface="宋体"/>
              <a:cs typeface="宋体"/>
            </a:endParaRPr>
          </a:p>
          <a:p>
            <a:pPr marL="701675">
              <a:lnSpc>
                <a:spcPts val="1910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0000" y="5039867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267200" y="431139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76200" y="0"/>
                </a:lnTo>
                <a:lnTo>
                  <a:pt x="152400" y="152399"/>
                </a:lnTo>
                <a:lnTo>
                  <a:pt x="0" y="1523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43400" y="4463796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05200" y="2819400"/>
            <a:ext cx="1600200" cy="3092450"/>
          </a:xfrm>
          <a:custGeom>
            <a:avLst/>
            <a:gdLst/>
            <a:ahLst/>
            <a:cxnLst/>
            <a:rect l="l" t="t" r="r" b="b"/>
            <a:pathLst>
              <a:path w="1600200" h="3092450">
                <a:moveTo>
                  <a:pt x="0" y="0"/>
                </a:moveTo>
                <a:lnTo>
                  <a:pt x="1600200" y="3092196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1400" y="2819400"/>
            <a:ext cx="1524000" cy="3092450"/>
          </a:xfrm>
          <a:custGeom>
            <a:avLst/>
            <a:gdLst/>
            <a:ahLst/>
            <a:cxnLst/>
            <a:rect l="l" t="t" r="r" b="b"/>
            <a:pathLst>
              <a:path w="1524000" h="3092450">
                <a:moveTo>
                  <a:pt x="0" y="3092196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10000" y="403860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86200" y="563880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474976"/>
            <a:ext cx="7315200" cy="3708400"/>
          </a:xfrm>
          <a:custGeom>
            <a:avLst/>
            <a:gdLst/>
            <a:ahLst/>
            <a:cxnLst/>
            <a:rect l="l" t="t" r="r" b="b"/>
            <a:pathLst>
              <a:path w="7315200" h="3708400">
                <a:moveTo>
                  <a:pt x="0" y="3707892"/>
                </a:moveTo>
                <a:lnTo>
                  <a:pt x="7315200" y="3707892"/>
                </a:lnTo>
                <a:lnTo>
                  <a:pt x="7315200" y="0"/>
                </a:lnTo>
                <a:lnTo>
                  <a:pt x="0" y="0"/>
                </a:lnTo>
                <a:lnTo>
                  <a:pt x="0" y="37078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5289" y="145745"/>
            <a:ext cx="5618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1048638"/>
            <a:ext cx="7415530" cy="178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2</a:t>
            </a:r>
            <a:r>
              <a:rPr sz="2800" spc="-5" dirty="0">
                <a:latin typeface="宋体"/>
                <a:cs typeface="宋体"/>
              </a:rPr>
              <a:t>）寻找类之间的包含关系。如果一个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是另 一个类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子集，</a:t>
            </a:r>
            <a:r>
              <a:rPr sz="2800" dirty="0">
                <a:latin typeface="宋体"/>
                <a:cs typeface="宋体"/>
              </a:rPr>
              <a:t>并</a:t>
            </a:r>
            <a:r>
              <a:rPr sz="2800" spc="-5" dirty="0">
                <a:latin typeface="宋体"/>
                <a:cs typeface="宋体"/>
              </a:rPr>
              <a:t>且，类</a:t>
            </a:r>
            <a:r>
              <a:rPr sz="2800" dirty="0">
                <a:latin typeface="宋体"/>
                <a:cs typeface="宋体"/>
              </a:rPr>
              <a:t>之</a:t>
            </a:r>
            <a:r>
              <a:rPr sz="2800" spc="-5" dirty="0">
                <a:latin typeface="宋体"/>
                <a:cs typeface="宋体"/>
              </a:rPr>
              <a:t>间的语</a:t>
            </a:r>
            <a:r>
              <a:rPr sz="2800" dirty="0">
                <a:latin typeface="宋体"/>
                <a:cs typeface="宋体"/>
              </a:rPr>
              <a:t>义</a:t>
            </a:r>
            <a:r>
              <a:rPr sz="2800" spc="-5" dirty="0">
                <a:latin typeface="宋体"/>
                <a:cs typeface="宋体"/>
              </a:rPr>
              <a:t>有</a:t>
            </a:r>
            <a:r>
              <a:rPr sz="2800" dirty="0">
                <a:latin typeface="宋体"/>
                <a:cs typeface="宋体"/>
              </a:rPr>
              <a:t>“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宋体"/>
                <a:cs typeface="宋体"/>
              </a:rPr>
              <a:t>”  的关系，则它们是继承关系。</a:t>
            </a:r>
            <a:endParaRPr sz="28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2000" b="1" spc="5" dirty="0">
                <a:latin typeface="宋体"/>
                <a:cs typeface="宋体"/>
              </a:rPr>
              <a:t>例如：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00800" y="43098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4400" y="3584447"/>
            <a:ext cx="1143000" cy="1612900"/>
          </a:xfrm>
          <a:custGeom>
            <a:avLst/>
            <a:gdLst/>
            <a:ahLst/>
            <a:cxnLst/>
            <a:rect l="l" t="t" r="r" b="b"/>
            <a:pathLst>
              <a:path w="1143000" h="1612900">
                <a:moveTo>
                  <a:pt x="0" y="1612391"/>
                </a:moveTo>
                <a:lnTo>
                  <a:pt x="1143000" y="1612391"/>
                </a:lnTo>
                <a:lnTo>
                  <a:pt x="1143000" y="0"/>
                </a:lnTo>
                <a:lnTo>
                  <a:pt x="0" y="0"/>
                </a:lnTo>
                <a:lnTo>
                  <a:pt x="0" y="16123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400" y="3584447"/>
            <a:ext cx="1143000" cy="3917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中学生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444" y="4024960"/>
            <a:ext cx="48577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姓名 学号 班级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4989576"/>
            <a:ext cx="1143000" cy="2076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125"/>
              </a:lnSpc>
            </a:pPr>
            <a:r>
              <a:rPr sz="1800" b="1" dirty="0">
                <a:latin typeface="Times New Roman"/>
                <a:cs typeface="Times New Roman"/>
              </a:rPr>
              <a:t>……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3965447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52800" y="3584447"/>
            <a:ext cx="1143000" cy="1612900"/>
          </a:xfrm>
          <a:custGeom>
            <a:avLst/>
            <a:gdLst/>
            <a:ahLst/>
            <a:cxnLst/>
            <a:rect l="l" t="t" r="r" b="b"/>
            <a:pathLst>
              <a:path w="1143000" h="1612900">
                <a:moveTo>
                  <a:pt x="0" y="1612391"/>
                </a:moveTo>
                <a:lnTo>
                  <a:pt x="1143000" y="1612391"/>
                </a:lnTo>
                <a:lnTo>
                  <a:pt x="1143000" y="0"/>
                </a:lnTo>
                <a:lnTo>
                  <a:pt x="0" y="0"/>
                </a:lnTo>
                <a:lnTo>
                  <a:pt x="0" y="16123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52800" y="3584447"/>
            <a:ext cx="1143000" cy="3917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大学生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2175" y="4024960"/>
            <a:ext cx="48577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姓名 学号 专业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52800" y="4989576"/>
            <a:ext cx="1143000" cy="2076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125"/>
              </a:lnSpc>
            </a:pPr>
            <a:r>
              <a:rPr sz="1800" b="1" dirty="0">
                <a:latin typeface="Times New Roman"/>
                <a:cs typeface="Times New Roman"/>
              </a:rPr>
              <a:t>……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52800" y="3986784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00600" y="3090672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48200" y="4309871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57150"/>
                </a:moveTo>
                <a:lnTo>
                  <a:pt x="285750" y="57150"/>
                </a:lnTo>
                <a:lnTo>
                  <a:pt x="285750" y="0"/>
                </a:lnTo>
                <a:lnTo>
                  <a:pt x="381000" y="114300"/>
                </a:lnTo>
                <a:lnTo>
                  <a:pt x="285750" y="228600"/>
                </a:lnTo>
                <a:lnTo>
                  <a:pt x="28575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14600" y="3236976"/>
            <a:ext cx="486409" cy="824230"/>
          </a:xfrm>
          <a:custGeom>
            <a:avLst/>
            <a:gdLst/>
            <a:ahLst/>
            <a:cxnLst/>
            <a:rect l="l" t="t" r="r" b="b"/>
            <a:pathLst>
              <a:path w="486410" h="824229">
                <a:moveTo>
                  <a:pt x="0" y="244221"/>
                </a:moveTo>
                <a:lnTo>
                  <a:pt x="121538" y="244221"/>
                </a:lnTo>
                <a:lnTo>
                  <a:pt x="121538" y="824230"/>
                </a:lnTo>
                <a:lnTo>
                  <a:pt x="364617" y="824230"/>
                </a:lnTo>
                <a:lnTo>
                  <a:pt x="364617" y="244221"/>
                </a:lnTo>
                <a:lnTo>
                  <a:pt x="486156" y="244221"/>
                </a:lnTo>
                <a:lnTo>
                  <a:pt x="243077" y="0"/>
                </a:lnTo>
                <a:lnTo>
                  <a:pt x="0" y="244221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36139" y="4091717"/>
            <a:ext cx="243204" cy="61594"/>
          </a:xfrm>
          <a:custGeom>
            <a:avLst/>
            <a:gdLst/>
            <a:ahLst/>
            <a:cxnLst/>
            <a:rect l="l" t="t" r="r" b="b"/>
            <a:pathLst>
              <a:path w="243205" h="61595">
                <a:moveTo>
                  <a:pt x="0" y="61055"/>
                </a:moveTo>
                <a:lnTo>
                  <a:pt x="243077" y="61055"/>
                </a:lnTo>
                <a:lnTo>
                  <a:pt x="243077" y="0"/>
                </a:lnTo>
                <a:lnTo>
                  <a:pt x="0" y="0"/>
                </a:lnTo>
                <a:lnTo>
                  <a:pt x="0" y="61055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36139" y="4183333"/>
            <a:ext cx="243204" cy="31115"/>
          </a:xfrm>
          <a:custGeom>
            <a:avLst/>
            <a:gdLst/>
            <a:ahLst/>
            <a:cxnLst/>
            <a:rect l="l" t="t" r="r" b="b"/>
            <a:pathLst>
              <a:path w="243205" h="31114">
                <a:moveTo>
                  <a:pt x="0" y="30526"/>
                </a:moveTo>
                <a:lnTo>
                  <a:pt x="243077" y="30526"/>
                </a:lnTo>
                <a:lnTo>
                  <a:pt x="243077" y="0"/>
                </a:lnTo>
                <a:lnTo>
                  <a:pt x="0" y="0"/>
                </a:lnTo>
                <a:lnTo>
                  <a:pt x="0" y="30526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057400" y="4213859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895600" y="4213859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57400" y="4518659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95600" y="4518659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14600" y="43662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43200" y="436625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67000" y="4061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895600" y="4061459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57400" y="422757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0" y="0"/>
                </a:moveTo>
                <a:lnTo>
                  <a:pt x="76200" y="152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57400" y="437997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620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200400" y="42275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00400" y="43799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176837" y="4442459"/>
          <a:ext cx="2590800" cy="13685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06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中学生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大学生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809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班级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22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专业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22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 gridSpan="2">
                  <a:txBody>
                    <a:bodyPr/>
                    <a:lstStyle/>
                    <a:p>
                      <a:pPr marL="92075">
                        <a:lnSpc>
                          <a:spcPts val="175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75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786437" y="2913697"/>
          <a:ext cx="1371600" cy="13380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8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学生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70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b="1" spc="5" dirty="0">
                          <a:latin typeface="宋体"/>
                          <a:cs typeface="宋体"/>
                        </a:rPr>
                        <a:t>姓名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10" dirty="0">
                          <a:latin typeface="宋体"/>
                          <a:cs typeface="宋体"/>
                        </a:rPr>
                        <a:t>学号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56">
                <a:tc>
                  <a:txBody>
                    <a:bodyPr/>
                    <a:lstStyle/>
                    <a:p>
                      <a:pPr marL="92075">
                        <a:lnSpc>
                          <a:spcPts val="151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1200" y="3733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43000" y="2057400"/>
            <a:ext cx="6629400" cy="4121150"/>
          </a:xfrm>
          <a:custGeom>
            <a:avLst/>
            <a:gdLst/>
            <a:ahLst/>
            <a:cxnLst/>
            <a:rect l="l" t="t" r="r" b="b"/>
            <a:pathLst>
              <a:path w="6629400" h="4121150">
                <a:moveTo>
                  <a:pt x="0" y="4120896"/>
                </a:moveTo>
                <a:lnTo>
                  <a:pt x="6629400" y="4120896"/>
                </a:lnTo>
                <a:lnTo>
                  <a:pt x="6629400" y="0"/>
                </a:lnTo>
                <a:lnTo>
                  <a:pt x="0" y="0"/>
                </a:lnTo>
                <a:lnTo>
                  <a:pt x="0" y="412089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8800" y="3276600"/>
            <a:ext cx="1371600" cy="1888489"/>
          </a:xfrm>
          <a:custGeom>
            <a:avLst/>
            <a:gdLst/>
            <a:ahLst/>
            <a:cxnLst/>
            <a:rect l="l" t="t" r="r" b="b"/>
            <a:pathLst>
              <a:path w="1371600" h="1888489">
                <a:moveTo>
                  <a:pt x="0" y="1888236"/>
                </a:moveTo>
                <a:lnTo>
                  <a:pt x="1371600" y="1888236"/>
                </a:lnTo>
                <a:lnTo>
                  <a:pt x="1371600" y="0"/>
                </a:lnTo>
                <a:lnTo>
                  <a:pt x="0" y="0"/>
                </a:lnTo>
                <a:lnTo>
                  <a:pt x="0" y="18882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28800" y="3276600"/>
            <a:ext cx="1371600" cy="42545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公司人员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8800" y="3701796"/>
            <a:ext cx="1371600" cy="117538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0"/>
              </a:spcBef>
            </a:pPr>
            <a:r>
              <a:rPr sz="1800" b="1" dirty="0">
                <a:latin typeface="宋体"/>
                <a:cs typeface="宋体"/>
              </a:rPr>
              <a:t>姓名</a:t>
            </a:r>
            <a:endParaRPr sz="1800">
              <a:latin typeface="宋体"/>
              <a:cs typeface="宋体"/>
            </a:endParaRPr>
          </a:p>
          <a:p>
            <a:pPr marL="91440" marR="352425">
              <a:lnSpc>
                <a:spcPct val="100000"/>
              </a:lnSpc>
            </a:pPr>
            <a:r>
              <a:rPr sz="1800" b="1" dirty="0">
                <a:latin typeface="宋体"/>
                <a:cs typeface="宋体"/>
              </a:rPr>
              <a:t>身份证号 股份</a:t>
            </a:r>
            <a:endParaRPr sz="18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</a:pPr>
            <a:r>
              <a:rPr sz="1800" b="1" dirty="0">
                <a:latin typeface="宋体"/>
                <a:cs typeface="宋体"/>
              </a:rPr>
              <a:t>工资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8800" y="4876800"/>
            <a:ext cx="1371600" cy="28829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750"/>
              </a:lnSpc>
            </a:pPr>
            <a:r>
              <a:rPr sz="1800" b="1" dirty="0">
                <a:latin typeface="Times New Roman"/>
                <a:cs typeface="Times New Roman"/>
              </a:rPr>
              <a:t>……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28800" y="3701796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2400" y="2406395"/>
            <a:ext cx="0" cy="3276600"/>
          </a:xfrm>
          <a:custGeom>
            <a:avLst/>
            <a:gdLst/>
            <a:ahLst/>
            <a:cxnLst/>
            <a:rect l="l" t="t" r="r" b="b"/>
            <a:pathLst>
              <a:path h="3276600">
                <a:moveTo>
                  <a:pt x="0" y="0"/>
                </a:moveTo>
                <a:lnTo>
                  <a:pt x="0" y="32766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57600" y="3854196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0" y="76199"/>
                </a:moveTo>
                <a:lnTo>
                  <a:pt x="400050" y="76199"/>
                </a:lnTo>
                <a:lnTo>
                  <a:pt x="400050" y="0"/>
                </a:lnTo>
                <a:lnTo>
                  <a:pt x="533400" y="152399"/>
                </a:lnTo>
                <a:lnTo>
                  <a:pt x="400050" y="304799"/>
                </a:lnTo>
                <a:lnTo>
                  <a:pt x="400050" y="228599"/>
                </a:lnTo>
                <a:lnTo>
                  <a:pt x="0" y="228599"/>
                </a:lnTo>
                <a:lnTo>
                  <a:pt x="0" y="761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43863" y="4762246"/>
            <a:ext cx="462280" cy="311150"/>
          </a:xfrm>
          <a:custGeom>
            <a:avLst/>
            <a:gdLst/>
            <a:ahLst/>
            <a:cxnLst/>
            <a:rect l="l" t="t" r="r" b="b"/>
            <a:pathLst>
              <a:path w="462280" h="311150">
                <a:moveTo>
                  <a:pt x="460375" y="0"/>
                </a:moveTo>
                <a:lnTo>
                  <a:pt x="409829" y="5841"/>
                </a:lnTo>
                <a:lnTo>
                  <a:pt x="411480" y="18414"/>
                </a:lnTo>
                <a:lnTo>
                  <a:pt x="461899" y="12699"/>
                </a:lnTo>
                <a:lnTo>
                  <a:pt x="460375" y="0"/>
                </a:lnTo>
                <a:close/>
              </a:path>
              <a:path w="462280" h="311150">
                <a:moveTo>
                  <a:pt x="371982" y="10667"/>
                </a:moveTo>
                <a:lnTo>
                  <a:pt x="333629" y="16382"/>
                </a:lnTo>
                <a:lnTo>
                  <a:pt x="321563" y="18668"/>
                </a:lnTo>
                <a:lnTo>
                  <a:pt x="323850" y="31114"/>
                </a:lnTo>
                <a:lnTo>
                  <a:pt x="335534" y="28955"/>
                </a:lnTo>
                <a:lnTo>
                  <a:pt x="373761" y="23240"/>
                </a:lnTo>
                <a:lnTo>
                  <a:pt x="371982" y="10667"/>
                </a:lnTo>
                <a:close/>
              </a:path>
              <a:path w="462280" h="311150">
                <a:moveTo>
                  <a:pt x="283844" y="26161"/>
                </a:moveTo>
                <a:lnTo>
                  <a:pt x="254635" y="33273"/>
                </a:lnTo>
                <a:lnTo>
                  <a:pt x="235966" y="38861"/>
                </a:lnTo>
                <a:lnTo>
                  <a:pt x="234187" y="39369"/>
                </a:lnTo>
                <a:lnTo>
                  <a:pt x="238379" y="51434"/>
                </a:lnTo>
                <a:lnTo>
                  <a:pt x="239522" y="51053"/>
                </a:lnTo>
                <a:lnTo>
                  <a:pt x="257682" y="45719"/>
                </a:lnTo>
                <a:lnTo>
                  <a:pt x="286893" y="38607"/>
                </a:lnTo>
                <a:lnTo>
                  <a:pt x="283844" y="26161"/>
                </a:lnTo>
                <a:close/>
              </a:path>
              <a:path w="462280" h="311150">
                <a:moveTo>
                  <a:pt x="197993" y="53085"/>
                </a:moveTo>
                <a:lnTo>
                  <a:pt x="184023" y="59435"/>
                </a:lnTo>
                <a:lnTo>
                  <a:pt x="168148" y="67944"/>
                </a:lnTo>
                <a:lnTo>
                  <a:pt x="153034" y="77088"/>
                </a:lnTo>
                <a:lnTo>
                  <a:pt x="152273" y="77723"/>
                </a:lnTo>
                <a:lnTo>
                  <a:pt x="159639" y="88010"/>
                </a:lnTo>
                <a:lnTo>
                  <a:pt x="174117" y="79120"/>
                </a:lnTo>
                <a:lnTo>
                  <a:pt x="189230" y="70992"/>
                </a:lnTo>
                <a:lnTo>
                  <a:pt x="203326" y="64642"/>
                </a:lnTo>
                <a:lnTo>
                  <a:pt x="197993" y="53085"/>
                </a:lnTo>
                <a:close/>
              </a:path>
              <a:path w="462280" h="311150">
                <a:moveTo>
                  <a:pt x="121793" y="101853"/>
                </a:moveTo>
                <a:lnTo>
                  <a:pt x="112903" y="110362"/>
                </a:lnTo>
                <a:lnTo>
                  <a:pt x="101092" y="122935"/>
                </a:lnTo>
                <a:lnTo>
                  <a:pt x="90043" y="136143"/>
                </a:lnTo>
                <a:lnTo>
                  <a:pt x="86868" y="140207"/>
                </a:lnTo>
                <a:lnTo>
                  <a:pt x="97028" y="147827"/>
                </a:lnTo>
                <a:lnTo>
                  <a:pt x="99822" y="144271"/>
                </a:lnTo>
                <a:lnTo>
                  <a:pt x="110362" y="131571"/>
                </a:lnTo>
                <a:lnTo>
                  <a:pt x="121665" y="119506"/>
                </a:lnTo>
                <a:lnTo>
                  <a:pt x="130556" y="111124"/>
                </a:lnTo>
                <a:lnTo>
                  <a:pt x="121793" y="101853"/>
                </a:lnTo>
                <a:close/>
              </a:path>
              <a:path w="462280" h="311150">
                <a:moveTo>
                  <a:pt x="65150" y="171957"/>
                </a:moveTo>
                <a:lnTo>
                  <a:pt x="60578" y="179069"/>
                </a:lnTo>
                <a:lnTo>
                  <a:pt x="43306" y="210057"/>
                </a:lnTo>
                <a:lnTo>
                  <a:pt x="39878" y="217042"/>
                </a:lnTo>
                <a:lnTo>
                  <a:pt x="51308" y="222503"/>
                </a:lnTo>
                <a:lnTo>
                  <a:pt x="54356" y="216280"/>
                </a:lnTo>
                <a:lnTo>
                  <a:pt x="71120" y="186054"/>
                </a:lnTo>
                <a:lnTo>
                  <a:pt x="75818" y="178942"/>
                </a:lnTo>
                <a:lnTo>
                  <a:pt x="65150" y="171957"/>
                </a:lnTo>
                <a:close/>
              </a:path>
              <a:path w="462280" h="311150">
                <a:moveTo>
                  <a:pt x="0" y="226059"/>
                </a:moveTo>
                <a:lnTo>
                  <a:pt x="3937" y="311149"/>
                </a:lnTo>
                <a:lnTo>
                  <a:pt x="69723" y="256920"/>
                </a:lnTo>
                <a:lnTo>
                  <a:pt x="0" y="2260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3202" y="4359655"/>
            <a:ext cx="992505" cy="408940"/>
          </a:xfrm>
          <a:custGeom>
            <a:avLst/>
            <a:gdLst/>
            <a:ahLst/>
            <a:cxnLst/>
            <a:rect l="l" t="t" r="r" b="b"/>
            <a:pathLst>
              <a:path w="992504" h="408939">
                <a:moveTo>
                  <a:pt x="49784" y="10922"/>
                </a:moveTo>
                <a:lnTo>
                  <a:pt x="30988" y="14732"/>
                </a:lnTo>
                <a:lnTo>
                  <a:pt x="0" y="21717"/>
                </a:lnTo>
                <a:lnTo>
                  <a:pt x="2794" y="34163"/>
                </a:lnTo>
                <a:lnTo>
                  <a:pt x="33909" y="27051"/>
                </a:lnTo>
                <a:lnTo>
                  <a:pt x="52324" y="23368"/>
                </a:lnTo>
                <a:lnTo>
                  <a:pt x="49784" y="10922"/>
                </a:lnTo>
                <a:close/>
              </a:path>
              <a:path w="992504" h="408939">
                <a:moveTo>
                  <a:pt x="138938" y="0"/>
                </a:moveTo>
                <a:lnTo>
                  <a:pt x="131953" y="127"/>
                </a:lnTo>
                <a:lnTo>
                  <a:pt x="113919" y="1397"/>
                </a:lnTo>
                <a:lnTo>
                  <a:pt x="96393" y="3302"/>
                </a:lnTo>
                <a:lnTo>
                  <a:pt x="87630" y="4572"/>
                </a:lnTo>
                <a:lnTo>
                  <a:pt x="89535" y="17145"/>
                </a:lnTo>
                <a:lnTo>
                  <a:pt x="98298" y="15875"/>
                </a:lnTo>
                <a:lnTo>
                  <a:pt x="115189" y="14097"/>
                </a:lnTo>
                <a:lnTo>
                  <a:pt x="132842" y="12827"/>
                </a:lnTo>
                <a:lnTo>
                  <a:pt x="139319" y="12700"/>
                </a:lnTo>
                <a:lnTo>
                  <a:pt x="138938" y="0"/>
                </a:lnTo>
                <a:close/>
              </a:path>
              <a:path w="992504" h="408939">
                <a:moveTo>
                  <a:pt x="177546" y="127"/>
                </a:moveTo>
                <a:lnTo>
                  <a:pt x="176911" y="12827"/>
                </a:lnTo>
                <a:lnTo>
                  <a:pt x="189992" y="13462"/>
                </a:lnTo>
                <a:lnTo>
                  <a:pt x="210566" y="15494"/>
                </a:lnTo>
                <a:lnTo>
                  <a:pt x="226949" y="17653"/>
                </a:lnTo>
                <a:lnTo>
                  <a:pt x="228600" y="5080"/>
                </a:lnTo>
                <a:lnTo>
                  <a:pt x="211836" y="2794"/>
                </a:lnTo>
                <a:lnTo>
                  <a:pt x="190627" y="889"/>
                </a:lnTo>
                <a:lnTo>
                  <a:pt x="177546" y="127"/>
                </a:lnTo>
                <a:close/>
              </a:path>
              <a:path w="992504" h="408939">
                <a:moveTo>
                  <a:pt x="266573" y="11938"/>
                </a:moveTo>
                <a:lnTo>
                  <a:pt x="263906" y="24384"/>
                </a:lnTo>
                <a:lnTo>
                  <a:pt x="279273" y="27686"/>
                </a:lnTo>
                <a:lnTo>
                  <a:pt x="304673" y="34036"/>
                </a:lnTo>
                <a:lnTo>
                  <a:pt x="312801" y="36449"/>
                </a:lnTo>
                <a:lnTo>
                  <a:pt x="316357" y="24130"/>
                </a:lnTo>
                <a:lnTo>
                  <a:pt x="282067" y="15240"/>
                </a:lnTo>
                <a:lnTo>
                  <a:pt x="266573" y="11938"/>
                </a:lnTo>
                <a:close/>
              </a:path>
              <a:path w="992504" h="408939">
                <a:moveTo>
                  <a:pt x="352933" y="35560"/>
                </a:moveTo>
                <a:lnTo>
                  <a:pt x="348996" y="47625"/>
                </a:lnTo>
                <a:lnTo>
                  <a:pt x="362585" y="52197"/>
                </a:lnTo>
                <a:lnTo>
                  <a:pt x="378714" y="57785"/>
                </a:lnTo>
                <a:lnTo>
                  <a:pt x="396748" y="64262"/>
                </a:lnTo>
                <a:lnTo>
                  <a:pt x="401193" y="52324"/>
                </a:lnTo>
                <a:lnTo>
                  <a:pt x="399669" y="51816"/>
                </a:lnTo>
                <a:lnTo>
                  <a:pt x="382905" y="45720"/>
                </a:lnTo>
                <a:lnTo>
                  <a:pt x="366649" y="40132"/>
                </a:lnTo>
                <a:lnTo>
                  <a:pt x="352933" y="35560"/>
                </a:lnTo>
                <a:close/>
              </a:path>
              <a:path w="992504" h="408939">
                <a:moveTo>
                  <a:pt x="436880" y="65786"/>
                </a:moveTo>
                <a:lnTo>
                  <a:pt x="432308" y="77597"/>
                </a:lnTo>
                <a:lnTo>
                  <a:pt x="479425" y="96266"/>
                </a:lnTo>
                <a:lnTo>
                  <a:pt x="484251" y="84582"/>
                </a:lnTo>
                <a:lnTo>
                  <a:pt x="471170" y="79121"/>
                </a:lnTo>
                <a:lnTo>
                  <a:pt x="436880" y="65786"/>
                </a:lnTo>
                <a:close/>
              </a:path>
              <a:path w="992504" h="408939">
                <a:moveTo>
                  <a:pt x="519557" y="99060"/>
                </a:moveTo>
                <a:lnTo>
                  <a:pt x="514604" y="110744"/>
                </a:lnTo>
                <a:lnTo>
                  <a:pt x="541782" y="122047"/>
                </a:lnTo>
                <a:lnTo>
                  <a:pt x="561340" y="130556"/>
                </a:lnTo>
                <a:lnTo>
                  <a:pt x="566420" y="118872"/>
                </a:lnTo>
                <a:lnTo>
                  <a:pt x="546735" y="110363"/>
                </a:lnTo>
                <a:lnTo>
                  <a:pt x="519557" y="99060"/>
                </a:lnTo>
                <a:close/>
              </a:path>
              <a:path w="992504" h="408939">
                <a:moveTo>
                  <a:pt x="601345" y="134112"/>
                </a:moveTo>
                <a:lnTo>
                  <a:pt x="596138" y="145796"/>
                </a:lnTo>
                <a:lnTo>
                  <a:pt x="617728" y="155321"/>
                </a:lnTo>
                <a:lnTo>
                  <a:pt x="642493" y="166497"/>
                </a:lnTo>
                <a:lnTo>
                  <a:pt x="647700" y="154940"/>
                </a:lnTo>
                <a:lnTo>
                  <a:pt x="622935" y="143637"/>
                </a:lnTo>
                <a:lnTo>
                  <a:pt x="601345" y="134112"/>
                </a:lnTo>
                <a:close/>
              </a:path>
              <a:path w="992504" h="408939">
                <a:moveTo>
                  <a:pt x="682371" y="170942"/>
                </a:moveTo>
                <a:lnTo>
                  <a:pt x="677037" y="182499"/>
                </a:lnTo>
                <a:lnTo>
                  <a:pt x="690753" y="188849"/>
                </a:lnTo>
                <a:lnTo>
                  <a:pt x="722884" y="204216"/>
                </a:lnTo>
                <a:lnTo>
                  <a:pt x="728345" y="192659"/>
                </a:lnTo>
                <a:lnTo>
                  <a:pt x="696087" y="177292"/>
                </a:lnTo>
                <a:lnTo>
                  <a:pt x="682371" y="170942"/>
                </a:lnTo>
                <a:close/>
              </a:path>
              <a:path w="992504" h="408939">
                <a:moveTo>
                  <a:pt x="762762" y="209423"/>
                </a:moveTo>
                <a:lnTo>
                  <a:pt x="757047" y="220726"/>
                </a:lnTo>
                <a:lnTo>
                  <a:pt x="772287" y="228346"/>
                </a:lnTo>
                <a:lnTo>
                  <a:pt x="800354" y="242697"/>
                </a:lnTo>
                <a:lnTo>
                  <a:pt x="802259" y="243713"/>
                </a:lnTo>
                <a:lnTo>
                  <a:pt x="808101" y="232537"/>
                </a:lnTo>
                <a:lnTo>
                  <a:pt x="806196" y="231521"/>
                </a:lnTo>
                <a:lnTo>
                  <a:pt x="778001" y="217043"/>
                </a:lnTo>
                <a:lnTo>
                  <a:pt x="762762" y="209423"/>
                </a:lnTo>
                <a:close/>
              </a:path>
              <a:path w="992504" h="408939">
                <a:moveTo>
                  <a:pt x="841756" y="250444"/>
                </a:moveTo>
                <a:lnTo>
                  <a:pt x="835787" y="261620"/>
                </a:lnTo>
                <a:lnTo>
                  <a:pt x="836549" y="262128"/>
                </a:lnTo>
                <a:lnTo>
                  <a:pt x="856869" y="273812"/>
                </a:lnTo>
                <a:lnTo>
                  <a:pt x="874776" y="284861"/>
                </a:lnTo>
                <a:lnTo>
                  <a:pt x="878839" y="287528"/>
                </a:lnTo>
                <a:lnTo>
                  <a:pt x="885825" y="276987"/>
                </a:lnTo>
                <a:lnTo>
                  <a:pt x="881507" y="274066"/>
                </a:lnTo>
                <a:lnTo>
                  <a:pt x="863092" y="262763"/>
                </a:lnTo>
                <a:lnTo>
                  <a:pt x="841756" y="250444"/>
                </a:lnTo>
                <a:close/>
              </a:path>
              <a:path w="992504" h="408939">
                <a:moveTo>
                  <a:pt x="987044" y="323850"/>
                </a:moveTo>
                <a:lnTo>
                  <a:pt x="921004" y="361950"/>
                </a:lnTo>
                <a:lnTo>
                  <a:pt x="991997" y="408940"/>
                </a:lnTo>
                <a:lnTo>
                  <a:pt x="987044" y="323850"/>
                </a:lnTo>
                <a:close/>
              </a:path>
              <a:path w="992504" h="408939">
                <a:moveTo>
                  <a:pt x="917194" y="299339"/>
                </a:moveTo>
                <a:lnTo>
                  <a:pt x="909320" y="309372"/>
                </a:lnTo>
                <a:lnTo>
                  <a:pt x="917829" y="316103"/>
                </a:lnTo>
                <a:lnTo>
                  <a:pt x="928877" y="325755"/>
                </a:lnTo>
                <a:lnTo>
                  <a:pt x="938530" y="335153"/>
                </a:lnTo>
                <a:lnTo>
                  <a:pt x="945896" y="343154"/>
                </a:lnTo>
                <a:lnTo>
                  <a:pt x="955167" y="334518"/>
                </a:lnTo>
                <a:lnTo>
                  <a:pt x="947420" y="326009"/>
                </a:lnTo>
                <a:lnTo>
                  <a:pt x="937260" y="316103"/>
                </a:lnTo>
                <a:lnTo>
                  <a:pt x="925702" y="306197"/>
                </a:lnTo>
                <a:lnTo>
                  <a:pt x="917194" y="299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766697" y="72644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31926" y="974852"/>
            <a:ext cx="7663180" cy="1441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3</a:t>
            </a:r>
            <a:r>
              <a:rPr sz="2800" spc="-5" dirty="0">
                <a:latin typeface="宋体"/>
                <a:cs typeface="宋体"/>
              </a:rPr>
              <a:t>）判断类的属性与操作是否适合于所</a:t>
            </a:r>
            <a:r>
              <a:rPr sz="2800" dirty="0">
                <a:latin typeface="宋体"/>
                <a:cs typeface="宋体"/>
              </a:rPr>
              <a:t>有</a:t>
            </a:r>
            <a:r>
              <a:rPr sz="2800" spc="-5" dirty="0">
                <a:latin typeface="宋体"/>
                <a:cs typeface="宋体"/>
              </a:rPr>
              <a:t>的对</a:t>
            </a:r>
            <a:r>
              <a:rPr sz="2800" dirty="0"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， </a:t>
            </a:r>
            <a:r>
              <a:rPr sz="2800" spc="-10" dirty="0">
                <a:latin typeface="宋体"/>
                <a:cs typeface="宋体"/>
              </a:rPr>
              <a:t>从中发现特殊类，建立继承关系。</a:t>
            </a:r>
            <a:endParaRPr sz="2800" dirty="0">
              <a:latin typeface="宋体"/>
              <a:cs typeface="宋体"/>
            </a:endParaRPr>
          </a:p>
          <a:p>
            <a:pPr marL="502284">
              <a:lnSpc>
                <a:spcPct val="100000"/>
              </a:lnSpc>
              <a:spcBef>
                <a:spcPts val="2030"/>
              </a:spcBef>
            </a:pPr>
            <a:r>
              <a:rPr sz="2000" b="1" spc="5" dirty="0">
                <a:latin typeface="宋体"/>
                <a:cs typeface="宋体"/>
              </a:rPr>
              <a:t>例如：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28800" y="48768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100637" y="2381821"/>
          <a:ext cx="1371600" cy="13380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8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公司人员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80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姓名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身份证号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92075">
                        <a:lnSpc>
                          <a:spcPts val="121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491037" y="3910584"/>
          <a:ext cx="2819400" cy="1630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097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股东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4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职员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298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 rowSpan="2" gridSpan="2">
                  <a:txBody>
                    <a:bodyPr/>
                    <a:lstStyle/>
                    <a:p>
                      <a:pPr marL="92075">
                        <a:lnSpc>
                          <a:spcPts val="2150"/>
                        </a:lnSpc>
                        <a:spcBef>
                          <a:spcPts val="490"/>
                        </a:spcBef>
                      </a:pPr>
                      <a:r>
                        <a:rPr sz="1800" b="1" spc="10" dirty="0">
                          <a:latin typeface="宋体"/>
                          <a:cs typeface="宋体"/>
                        </a:rPr>
                        <a:t>股份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ts val="215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22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2150"/>
                        </a:lnSpc>
                        <a:spcBef>
                          <a:spcPts val="300"/>
                        </a:spcBef>
                      </a:pPr>
                      <a:r>
                        <a:rPr sz="1800" b="1" spc="10" dirty="0">
                          <a:latin typeface="宋体"/>
                          <a:cs typeface="宋体"/>
                        </a:rPr>
                        <a:t>工资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ts val="215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22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06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1551" y="1603247"/>
            <a:ext cx="4953000" cy="4533900"/>
          </a:xfrm>
          <a:custGeom>
            <a:avLst/>
            <a:gdLst/>
            <a:ahLst/>
            <a:cxnLst/>
            <a:rect l="l" t="t" r="r" b="b"/>
            <a:pathLst>
              <a:path w="4953000" h="4533900">
                <a:moveTo>
                  <a:pt x="0" y="4533900"/>
                </a:moveTo>
                <a:lnTo>
                  <a:pt x="4953000" y="4533900"/>
                </a:lnTo>
                <a:lnTo>
                  <a:pt x="4953000" y="0"/>
                </a:lnTo>
                <a:lnTo>
                  <a:pt x="0" y="0"/>
                </a:lnTo>
                <a:lnTo>
                  <a:pt x="0" y="4533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90926" y="1630426"/>
            <a:ext cx="25857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宋体"/>
                <a:cs typeface="宋体"/>
              </a:rPr>
              <a:t>为复用建立继承关系：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3828" y="38511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630989" y="3998785"/>
          <a:ext cx="1447800" cy="18838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4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现钞收款机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199">
                <a:tc gridSpan="2">
                  <a:txBody>
                    <a:bodyPr/>
                    <a:lstStyle/>
                    <a:p>
                      <a:pPr marL="92075">
                        <a:lnSpc>
                          <a:spcPts val="210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2">
                <a:tc gridSpan="2">
                  <a:txBody>
                    <a:bodyPr/>
                    <a:lstStyle/>
                    <a:p>
                      <a:pPr marL="92075">
                        <a:lnSpc>
                          <a:spcPts val="1989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63989" y="2703385"/>
          <a:ext cx="1447800" cy="2985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现钞收款机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0">
                <a:tc>
                  <a:txBody>
                    <a:bodyPr/>
                    <a:lstStyle/>
                    <a:p>
                      <a:pPr marL="92075" marR="1183005" algn="just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  B  C  D  E  F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915">
                <a:tc>
                  <a:txBody>
                    <a:bodyPr/>
                    <a:lstStyle/>
                    <a:p>
                      <a:pPr marL="92075">
                        <a:lnSpc>
                          <a:spcPts val="1864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2075" marR="118300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Y  Z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721352" y="3470147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0" y="76200"/>
                </a:moveTo>
                <a:lnTo>
                  <a:pt x="457200" y="76200"/>
                </a:lnTo>
                <a:lnTo>
                  <a:pt x="457200" y="0"/>
                </a:lnTo>
                <a:lnTo>
                  <a:pt x="609600" y="152400"/>
                </a:lnTo>
                <a:lnTo>
                  <a:pt x="457200" y="304800"/>
                </a:lnTo>
                <a:lnTo>
                  <a:pt x="457200" y="228600"/>
                </a:lnTo>
                <a:lnTo>
                  <a:pt x="0" y="22860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630989" y="1941385"/>
          <a:ext cx="1447800" cy="1888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收款机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2075" marR="1182370" algn="just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A  B  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92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835">
                <a:tc>
                  <a:txBody>
                    <a:bodyPr/>
                    <a:lstStyle/>
                    <a:p>
                      <a:pPr marL="92075">
                        <a:lnSpc>
                          <a:spcPts val="1985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98117" y="94869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9241" y="997077"/>
            <a:ext cx="7307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4</a:t>
            </a:r>
            <a:r>
              <a:rPr sz="2800" spc="-5" dirty="0">
                <a:latin typeface="宋体"/>
                <a:cs typeface="宋体"/>
              </a:rPr>
              <a:t>）为适应领域范围</a:t>
            </a:r>
            <a:r>
              <a:rPr sz="2800" dirty="0">
                <a:latin typeface="宋体"/>
                <a:cs typeface="宋体"/>
              </a:rPr>
              <a:t>内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更多的复用</a:t>
            </a:r>
            <a:r>
              <a:rPr sz="2800" spc="-5" dirty="0">
                <a:latin typeface="宋体"/>
                <a:cs typeface="宋体"/>
              </a:rPr>
              <a:t>，分</a:t>
            </a:r>
            <a:r>
              <a:rPr sz="2800" dirty="0">
                <a:latin typeface="宋体"/>
                <a:cs typeface="宋体"/>
              </a:rPr>
              <a:t>解</a:t>
            </a:r>
            <a:r>
              <a:rPr sz="2800" spc="-5" dirty="0">
                <a:latin typeface="宋体"/>
                <a:cs typeface="宋体"/>
              </a:rPr>
              <a:t>类为继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9241" y="1423492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宋体"/>
                <a:cs typeface="宋体"/>
              </a:rPr>
              <a:t>承关系。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200" y="2362200"/>
            <a:ext cx="2667000" cy="3679190"/>
          </a:xfrm>
          <a:custGeom>
            <a:avLst/>
            <a:gdLst/>
            <a:ahLst/>
            <a:cxnLst/>
            <a:rect l="l" t="t" r="r" b="b"/>
            <a:pathLst>
              <a:path w="2667000" h="3679190">
                <a:moveTo>
                  <a:pt x="0" y="3678936"/>
                </a:moveTo>
                <a:lnTo>
                  <a:pt x="2667000" y="3678936"/>
                </a:lnTo>
                <a:lnTo>
                  <a:pt x="2667000" y="0"/>
                </a:lnTo>
                <a:lnTo>
                  <a:pt x="0" y="0"/>
                </a:lnTo>
                <a:lnTo>
                  <a:pt x="0" y="36789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60194" y="2391283"/>
            <a:ext cx="716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例如：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05400" y="2325623"/>
            <a:ext cx="1752600" cy="3679190"/>
          </a:xfrm>
          <a:custGeom>
            <a:avLst/>
            <a:gdLst/>
            <a:ahLst/>
            <a:cxnLst/>
            <a:rect l="l" t="t" r="r" b="b"/>
            <a:pathLst>
              <a:path w="1752600" h="3679190">
                <a:moveTo>
                  <a:pt x="0" y="3678936"/>
                </a:moveTo>
                <a:lnTo>
                  <a:pt x="1752600" y="3678936"/>
                </a:lnTo>
                <a:lnTo>
                  <a:pt x="1752600" y="0"/>
                </a:lnTo>
                <a:lnTo>
                  <a:pt x="0" y="0"/>
                </a:lnTo>
                <a:lnTo>
                  <a:pt x="0" y="36789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57400" y="4722876"/>
            <a:ext cx="1143000" cy="1079500"/>
          </a:xfrm>
          <a:custGeom>
            <a:avLst/>
            <a:gdLst/>
            <a:ahLst/>
            <a:cxnLst/>
            <a:rect l="l" t="t" r="r" b="b"/>
            <a:pathLst>
              <a:path w="1143000" h="1079500">
                <a:moveTo>
                  <a:pt x="0" y="1078992"/>
                </a:moveTo>
                <a:lnTo>
                  <a:pt x="1143000" y="1078992"/>
                </a:lnTo>
                <a:lnTo>
                  <a:pt x="11430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57400" y="4722876"/>
            <a:ext cx="1143000" cy="36449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宋体"/>
                <a:cs typeface="宋体"/>
              </a:rPr>
              <a:t>汽车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7400" y="5103876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52800" y="4722876"/>
            <a:ext cx="1143000" cy="1202690"/>
          </a:xfrm>
          <a:custGeom>
            <a:avLst/>
            <a:gdLst/>
            <a:ahLst/>
            <a:cxnLst/>
            <a:rect l="l" t="t" r="r" b="b"/>
            <a:pathLst>
              <a:path w="1143000" h="1202689">
                <a:moveTo>
                  <a:pt x="0" y="1202436"/>
                </a:moveTo>
                <a:lnTo>
                  <a:pt x="1143000" y="1202436"/>
                </a:lnTo>
                <a:lnTo>
                  <a:pt x="1143000" y="0"/>
                </a:lnTo>
                <a:lnTo>
                  <a:pt x="0" y="0"/>
                </a:lnTo>
                <a:lnTo>
                  <a:pt x="0" y="12024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52800" y="4722876"/>
            <a:ext cx="1143000" cy="3644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宋体"/>
                <a:cs typeface="宋体"/>
              </a:rPr>
              <a:t>飞机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2175" y="5118353"/>
            <a:ext cx="84264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宋体"/>
                <a:cs typeface="宋体"/>
              </a:rPr>
              <a:t>飞行高度 自动导航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2800" y="5715000"/>
            <a:ext cx="1143000" cy="2108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145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800" y="5070347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24200" y="42336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00400" y="4386071"/>
            <a:ext cx="0" cy="184785"/>
          </a:xfrm>
          <a:custGeom>
            <a:avLst/>
            <a:gdLst/>
            <a:ahLst/>
            <a:cxnLst/>
            <a:rect l="l" t="t" r="r" b="b"/>
            <a:pathLst>
              <a:path h="184785">
                <a:moveTo>
                  <a:pt x="0" y="0"/>
                </a:moveTo>
                <a:lnTo>
                  <a:pt x="0" y="1844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14600" y="4570476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14600" y="457047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86200" y="4570476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91200" y="42824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48200" y="3870959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152400"/>
                </a:moveTo>
                <a:lnTo>
                  <a:pt x="91439" y="0"/>
                </a:lnTo>
                <a:lnTo>
                  <a:pt x="91439" y="76200"/>
                </a:lnTo>
                <a:lnTo>
                  <a:pt x="365760" y="76200"/>
                </a:lnTo>
                <a:lnTo>
                  <a:pt x="365760" y="0"/>
                </a:lnTo>
                <a:lnTo>
                  <a:pt x="457200" y="152400"/>
                </a:lnTo>
                <a:lnTo>
                  <a:pt x="365760" y="304800"/>
                </a:lnTo>
                <a:lnTo>
                  <a:pt x="365760" y="228600"/>
                </a:lnTo>
                <a:lnTo>
                  <a:pt x="91439" y="228600"/>
                </a:lnTo>
                <a:lnTo>
                  <a:pt x="91439" y="3048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738437" y="2723197"/>
          <a:ext cx="1066800" cy="1475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运输工具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2075" marR="354330" algn="just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发动机 </a:t>
                      </a:r>
                      <a:r>
                        <a:rPr sz="1600" b="1" spc="5" dirty="0">
                          <a:latin typeface="宋体"/>
                          <a:cs typeface="宋体"/>
                        </a:rPr>
                        <a:t>载重量 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速度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863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792">
                <a:tc>
                  <a:txBody>
                    <a:bodyPr/>
                    <a:lstStyle/>
                    <a:p>
                      <a:pPr marL="92075">
                        <a:lnSpc>
                          <a:spcPts val="138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405437" y="2785681"/>
          <a:ext cx="1066800" cy="1476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375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运输工具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2075" marR="353695" algn="just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发动机 载重量 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速度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28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329237" y="4434840"/>
          <a:ext cx="1143000" cy="14310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96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飞机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363">
                <a:tc gridSpan="2">
                  <a:txBody>
                    <a:bodyPr/>
                    <a:lstStyle/>
                    <a:p>
                      <a:pPr marL="92075" marR="22606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飞行高度 自动导航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075">
                <a:tc gridSpan="2">
                  <a:txBody>
                    <a:bodyPr/>
                    <a:lstStyle/>
                    <a:p>
                      <a:pPr marL="92075">
                        <a:lnSpc>
                          <a:spcPts val="128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761489" y="136017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64540" y="1038605"/>
            <a:ext cx="73069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5</a:t>
            </a:r>
            <a:r>
              <a:rPr sz="2800" spc="-5" dirty="0">
                <a:latin typeface="宋体"/>
                <a:cs typeface="宋体"/>
              </a:rPr>
              <a:t>）若特殊类不具有自己特殊的属性和</a:t>
            </a:r>
            <a:r>
              <a:rPr sz="2800" dirty="0">
                <a:latin typeface="宋体"/>
                <a:cs typeface="宋体"/>
              </a:rPr>
              <a:t>操</a:t>
            </a:r>
            <a:r>
              <a:rPr sz="2800" spc="-5" dirty="0">
                <a:latin typeface="宋体"/>
                <a:cs typeface="宋体"/>
              </a:rPr>
              <a:t>作，则 可以去掉该特殊类。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57400" y="5486400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52792" y="4869941"/>
            <a:ext cx="1046480" cy="652780"/>
          </a:xfrm>
          <a:custGeom>
            <a:avLst/>
            <a:gdLst/>
            <a:ahLst/>
            <a:cxnLst/>
            <a:rect l="l" t="t" r="r" b="b"/>
            <a:pathLst>
              <a:path w="1046480" h="652779">
                <a:moveTo>
                  <a:pt x="221599" y="245998"/>
                </a:moveTo>
                <a:lnTo>
                  <a:pt x="190629" y="262597"/>
                </a:lnTo>
                <a:lnTo>
                  <a:pt x="144712" y="285060"/>
                </a:lnTo>
                <a:lnTo>
                  <a:pt x="94442" y="312393"/>
                </a:lnTo>
                <a:lnTo>
                  <a:pt x="50415" y="343604"/>
                </a:lnTo>
                <a:lnTo>
                  <a:pt x="23225" y="377697"/>
                </a:lnTo>
                <a:lnTo>
                  <a:pt x="2232" y="449899"/>
                </a:lnTo>
                <a:lnTo>
                  <a:pt x="0" y="491124"/>
                </a:lnTo>
                <a:lnTo>
                  <a:pt x="7684" y="531302"/>
                </a:lnTo>
                <a:lnTo>
                  <a:pt x="28590" y="567083"/>
                </a:lnTo>
                <a:lnTo>
                  <a:pt x="66024" y="595121"/>
                </a:lnTo>
                <a:lnTo>
                  <a:pt x="134176" y="617013"/>
                </a:lnTo>
                <a:lnTo>
                  <a:pt x="178771" y="625698"/>
                </a:lnTo>
                <a:lnTo>
                  <a:pt x="228377" y="632991"/>
                </a:lnTo>
                <a:lnTo>
                  <a:pt x="281491" y="638978"/>
                </a:lnTo>
                <a:lnTo>
                  <a:pt x="336613" y="643744"/>
                </a:lnTo>
                <a:lnTo>
                  <a:pt x="392241" y="647375"/>
                </a:lnTo>
                <a:lnTo>
                  <a:pt x="446872" y="649958"/>
                </a:lnTo>
                <a:lnTo>
                  <a:pt x="499005" y="651578"/>
                </a:lnTo>
                <a:lnTo>
                  <a:pt x="547139" y="652320"/>
                </a:lnTo>
                <a:lnTo>
                  <a:pt x="589772" y="652271"/>
                </a:lnTo>
                <a:lnTo>
                  <a:pt x="650701" y="650957"/>
                </a:lnTo>
                <a:lnTo>
                  <a:pt x="709113" y="647927"/>
                </a:lnTo>
                <a:lnTo>
                  <a:pt x="764264" y="642431"/>
                </a:lnTo>
                <a:lnTo>
                  <a:pt x="815410" y="633718"/>
                </a:lnTo>
                <a:lnTo>
                  <a:pt x="861805" y="621038"/>
                </a:lnTo>
                <a:lnTo>
                  <a:pt x="902707" y="603639"/>
                </a:lnTo>
                <a:lnTo>
                  <a:pt x="937371" y="580770"/>
                </a:lnTo>
                <a:lnTo>
                  <a:pt x="968283" y="549273"/>
                </a:lnTo>
                <a:lnTo>
                  <a:pt x="996892" y="508763"/>
                </a:lnTo>
                <a:lnTo>
                  <a:pt x="1020893" y="462652"/>
                </a:lnTo>
                <a:lnTo>
                  <a:pt x="1037983" y="414352"/>
                </a:lnTo>
                <a:lnTo>
                  <a:pt x="1045858" y="367277"/>
                </a:lnTo>
                <a:lnTo>
                  <a:pt x="1042213" y="324838"/>
                </a:lnTo>
                <a:lnTo>
                  <a:pt x="1024747" y="290448"/>
                </a:lnTo>
                <a:lnTo>
                  <a:pt x="955930" y="249707"/>
                </a:lnTo>
                <a:lnTo>
                  <a:pt x="904600" y="232786"/>
                </a:lnTo>
                <a:lnTo>
                  <a:pt x="846691" y="218025"/>
                </a:lnTo>
                <a:lnTo>
                  <a:pt x="785730" y="205321"/>
                </a:lnTo>
                <a:lnTo>
                  <a:pt x="725243" y="194568"/>
                </a:lnTo>
                <a:lnTo>
                  <a:pt x="668758" y="185662"/>
                </a:lnTo>
                <a:lnTo>
                  <a:pt x="619800" y="178499"/>
                </a:lnTo>
                <a:lnTo>
                  <a:pt x="581898" y="172973"/>
                </a:lnTo>
                <a:lnTo>
                  <a:pt x="525107" y="168759"/>
                </a:lnTo>
                <a:lnTo>
                  <a:pt x="490473" y="174783"/>
                </a:lnTo>
                <a:lnTo>
                  <a:pt x="459724" y="201548"/>
                </a:lnTo>
                <a:lnTo>
                  <a:pt x="474186" y="245173"/>
                </a:lnTo>
                <a:lnTo>
                  <a:pt x="492067" y="269807"/>
                </a:lnTo>
                <a:lnTo>
                  <a:pt x="504174" y="288797"/>
                </a:lnTo>
                <a:lnTo>
                  <a:pt x="504658" y="302192"/>
                </a:lnTo>
                <a:lnTo>
                  <a:pt x="499951" y="312610"/>
                </a:lnTo>
                <a:lnTo>
                  <a:pt x="498530" y="318265"/>
                </a:lnTo>
                <a:lnTo>
                  <a:pt x="566785" y="298926"/>
                </a:lnTo>
                <a:lnTo>
                  <a:pt x="607492" y="278332"/>
                </a:lnTo>
                <a:lnTo>
                  <a:pt x="653272" y="245998"/>
                </a:lnTo>
                <a:lnTo>
                  <a:pt x="683966" y="218522"/>
                </a:lnTo>
                <a:lnTo>
                  <a:pt x="719993" y="183178"/>
                </a:lnTo>
                <a:lnTo>
                  <a:pt x="758907" y="143152"/>
                </a:lnTo>
                <a:lnTo>
                  <a:pt x="798266" y="101633"/>
                </a:lnTo>
                <a:lnTo>
                  <a:pt x="835626" y="61810"/>
                </a:lnTo>
                <a:lnTo>
                  <a:pt x="868542" y="26869"/>
                </a:lnTo>
                <a:lnTo>
                  <a:pt x="894572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743200"/>
            <a:ext cx="7239000" cy="2853055"/>
          </a:xfrm>
          <a:custGeom>
            <a:avLst/>
            <a:gdLst/>
            <a:ahLst/>
            <a:cxnLst/>
            <a:rect l="l" t="t" r="r" b="b"/>
            <a:pathLst>
              <a:path w="7239000" h="2853054">
                <a:moveTo>
                  <a:pt x="0" y="2852928"/>
                </a:moveTo>
                <a:lnTo>
                  <a:pt x="7239000" y="2852928"/>
                </a:lnTo>
                <a:lnTo>
                  <a:pt x="7239000" y="0"/>
                </a:lnTo>
                <a:lnTo>
                  <a:pt x="0" y="0"/>
                </a:lnTo>
                <a:lnTo>
                  <a:pt x="0" y="28529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06144" y="2772283"/>
            <a:ext cx="207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可去掉某些继承关系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65858" y="261620"/>
            <a:ext cx="56216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9137" y="1164081"/>
            <a:ext cx="73082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6</a:t>
            </a:r>
            <a:r>
              <a:rPr sz="2800" spc="-5" dirty="0">
                <a:latin typeface="宋体"/>
                <a:cs typeface="宋体"/>
              </a:rPr>
              <a:t>）如果某些特殊类之间的差别，可以</a:t>
            </a:r>
            <a:r>
              <a:rPr sz="2800" dirty="0">
                <a:latin typeface="宋体"/>
                <a:cs typeface="宋体"/>
              </a:rPr>
              <a:t>通</a:t>
            </a:r>
            <a:r>
              <a:rPr sz="2800" spc="5" dirty="0">
                <a:latin typeface="宋体"/>
                <a:cs typeface="宋体"/>
              </a:rPr>
              <a:t>过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某属 性值</a:t>
            </a:r>
            <a:r>
              <a:rPr sz="2800" spc="-5" dirty="0">
                <a:latin typeface="宋体"/>
                <a:cs typeface="宋体"/>
              </a:rPr>
              <a:t>来体现，则可以去掉这些特殊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29000" y="3189732"/>
            <a:ext cx="838200" cy="759460"/>
          </a:xfrm>
          <a:custGeom>
            <a:avLst/>
            <a:gdLst/>
            <a:ahLst/>
            <a:cxnLst/>
            <a:rect l="l" t="t" r="r" b="b"/>
            <a:pathLst>
              <a:path w="838200" h="759460">
                <a:moveTo>
                  <a:pt x="0" y="758952"/>
                </a:moveTo>
                <a:lnTo>
                  <a:pt x="838200" y="758952"/>
                </a:lnTo>
                <a:lnTo>
                  <a:pt x="838200" y="0"/>
                </a:lnTo>
                <a:lnTo>
                  <a:pt x="0" y="0"/>
                </a:lnTo>
                <a:lnTo>
                  <a:pt x="0" y="75895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21075" y="3098980"/>
            <a:ext cx="469900" cy="79756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35"/>
              </a:spcBef>
            </a:pPr>
            <a:r>
              <a:rPr sz="1600" spc="-5" dirty="0">
                <a:latin typeface="宋体"/>
                <a:cs typeface="宋体"/>
              </a:rPr>
              <a:t>人员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sz="1800" dirty="0">
                <a:latin typeface="Times New Roman"/>
                <a:cs typeface="Times New Roman"/>
              </a:rPr>
              <a:t>……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29000" y="353872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81200" y="4485132"/>
            <a:ext cx="838200" cy="711835"/>
          </a:xfrm>
          <a:custGeom>
            <a:avLst/>
            <a:gdLst/>
            <a:ahLst/>
            <a:cxnLst/>
            <a:rect l="l" t="t" r="r" b="b"/>
            <a:pathLst>
              <a:path w="838200" h="711835">
                <a:moveTo>
                  <a:pt x="0" y="711708"/>
                </a:moveTo>
                <a:lnTo>
                  <a:pt x="838200" y="711708"/>
                </a:lnTo>
                <a:lnTo>
                  <a:pt x="838200" y="0"/>
                </a:lnTo>
                <a:lnTo>
                  <a:pt x="0" y="0"/>
                </a:lnTo>
                <a:lnTo>
                  <a:pt x="0" y="7117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72894" y="4393209"/>
            <a:ext cx="418465" cy="7543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r>
              <a:rPr sz="1600" spc="-5" dirty="0">
                <a:latin typeface="宋体"/>
                <a:cs typeface="宋体"/>
              </a:rPr>
              <a:t>女人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sz="1600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10000" y="399592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6200" y="4148328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38400" y="4332732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72000" y="4332732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81200" y="491032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90600" y="4517135"/>
            <a:ext cx="838200" cy="711835"/>
          </a:xfrm>
          <a:custGeom>
            <a:avLst/>
            <a:gdLst/>
            <a:ahLst/>
            <a:cxnLst/>
            <a:rect l="l" t="t" r="r" b="b"/>
            <a:pathLst>
              <a:path w="838200" h="711835">
                <a:moveTo>
                  <a:pt x="0" y="711707"/>
                </a:moveTo>
                <a:lnTo>
                  <a:pt x="838200" y="711707"/>
                </a:lnTo>
                <a:lnTo>
                  <a:pt x="838200" y="0"/>
                </a:lnTo>
                <a:lnTo>
                  <a:pt x="0" y="0"/>
                </a:lnTo>
                <a:lnTo>
                  <a:pt x="0" y="7117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82344" y="4424832"/>
            <a:ext cx="418465" cy="7543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r>
              <a:rPr sz="1600" spc="-5" dirty="0">
                <a:latin typeface="宋体"/>
                <a:cs typeface="宋体"/>
              </a:rPr>
              <a:t>男人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sz="1600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90600" y="4942332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19200" y="4332732"/>
            <a:ext cx="4343400" cy="0"/>
          </a:xfrm>
          <a:custGeom>
            <a:avLst/>
            <a:gdLst/>
            <a:ahLst/>
            <a:cxnLst/>
            <a:rect l="l" t="t" r="r" b="b"/>
            <a:pathLst>
              <a:path w="4343400">
                <a:moveTo>
                  <a:pt x="0" y="0"/>
                </a:moveTo>
                <a:lnTo>
                  <a:pt x="4343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19200" y="4300728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91000" y="4485132"/>
            <a:ext cx="838200" cy="711835"/>
          </a:xfrm>
          <a:custGeom>
            <a:avLst/>
            <a:gdLst/>
            <a:ahLst/>
            <a:cxnLst/>
            <a:rect l="l" t="t" r="r" b="b"/>
            <a:pathLst>
              <a:path w="838200" h="711835">
                <a:moveTo>
                  <a:pt x="0" y="711708"/>
                </a:moveTo>
                <a:lnTo>
                  <a:pt x="838200" y="711708"/>
                </a:lnTo>
                <a:lnTo>
                  <a:pt x="838200" y="0"/>
                </a:lnTo>
                <a:lnTo>
                  <a:pt x="0" y="0"/>
                </a:lnTo>
                <a:lnTo>
                  <a:pt x="0" y="7117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283075" y="4393209"/>
            <a:ext cx="621030" cy="7543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r>
              <a:rPr sz="1600" spc="-5" dirty="0">
                <a:latin typeface="宋体"/>
                <a:cs typeface="宋体"/>
              </a:rPr>
              <a:t>美国人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sz="1600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91000" y="491032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00400" y="4485132"/>
            <a:ext cx="838200" cy="711835"/>
          </a:xfrm>
          <a:custGeom>
            <a:avLst/>
            <a:gdLst/>
            <a:ahLst/>
            <a:cxnLst/>
            <a:rect l="l" t="t" r="r" b="b"/>
            <a:pathLst>
              <a:path w="838200" h="711835">
                <a:moveTo>
                  <a:pt x="0" y="711708"/>
                </a:moveTo>
                <a:lnTo>
                  <a:pt x="838200" y="711708"/>
                </a:lnTo>
                <a:lnTo>
                  <a:pt x="838200" y="0"/>
                </a:lnTo>
                <a:lnTo>
                  <a:pt x="0" y="0"/>
                </a:lnTo>
                <a:lnTo>
                  <a:pt x="0" y="7117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92475" y="4393209"/>
            <a:ext cx="621030" cy="75438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r>
              <a:rPr sz="1600" spc="-5" dirty="0">
                <a:latin typeface="宋体"/>
                <a:cs typeface="宋体"/>
              </a:rPr>
              <a:t>中国人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sz="1600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00400" y="491032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57600" y="4300728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81600" y="4457700"/>
            <a:ext cx="838200" cy="713740"/>
          </a:xfrm>
          <a:custGeom>
            <a:avLst/>
            <a:gdLst/>
            <a:ahLst/>
            <a:cxnLst/>
            <a:rect l="l" t="t" r="r" b="b"/>
            <a:pathLst>
              <a:path w="838200" h="713739">
                <a:moveTo>
                  <a:pt x="0" y="713232"/>
                </a:moveTo>
                <a:lnTo>
                  <a:pt x="838200" y="713232"/>
                </a:lnTo>
                <a:lnTo>
                  <a:pt x="838200" y="0"/>
                </a:lnTo>
                <a:lnTo>
                  <a:pt x="0" y="0"/>
                </a:lnTo>
                <a:lnTo>
                  <a:pt x="0" y="7132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273928" y="4365650"/>
            <a:ext cx="621030" cy="75501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0"/>
              </a:spcBef>
            </a:pPr>
            <a:r>
              <a:rPr sz="1600" spc="-5" dirty="0">
                <a:latin typeface="宋体"/>
                <a:cs typeface="宋体"/>
              </a:rPr>
              <a:t>日本人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r>
              <a:rPr sz="1600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81600" y="4882896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62600" y="4332732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58000" y="3342132"/>
            <a:ext cx="838200" cy="1201420"/>
          </a:xfrm>
          <a:custGeom>
            <a:avLst/>
            <a:gdLst/>
            <a:ahLst/>
            <a:cxnLst/>
            <a:rect l="l" t="t" r="r" b="b"/>
            <a:pathLst>
              <a:path w="838200" h="1201420">
                <a:moveTo>
                  <a:pt x="0" y="1200912"/>
                </a:moveTo>
                <a:lnTo>
                  <a:pt x="838200" y="1200912"/>
                </a:lnTo>
                <a:lnTo>
                  <a:pt x="8382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950709" y="3248304"/>
            <a:ext cx="418465" cy="1243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sz="1600" spc="-5" dirty="0">
                <a:latin typeface="宋体"/>
                <a:cs typeface="宋体"/>
              </a:rPr>
              <a:t>人员 性别</a:t>
            </a:r>
            <a:endParaRPr sz="1600">
              <a:latin typeface="宋体"/>
              <a:cs typeface="宋体"/>
            </a:endParaRPr>
          </a:p>
          <a:p>
            <a:pPr>
              <a:lnSpc>
                <a:spcPts val="1914"/>
              </a:lnSpc>
            </a:pPr>
            <a:r>
              <a:rPr sz="1600" spc="-10" dirty="0">
                <a:latin typeface="宋体"/>
                <a:cs typeface="宋体"/>
              </a:rPr>
              <a:t>国籍</a:t>
            </a:r>
            <a:endParaRPr sz="1600">
              <a:latin typeface="宋体"/>
              <a:cs typeface="宋体"/>
            </a:endParaRPr>
          </a:p>
          <a:p>
            <a:pPr>
              <a:lnSpc>
                <a:spcPts val="1914"/>
              </a:lnSpc>
            </a:pPr>
            <a:r>
              <a:rPr sz="1600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58000" y="3767328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00200" y="3570732"/>
            <a:ext cx="4114800" cy="1447800"/>
          </a:xfrm>
          <a:custGeom>
            <a:avLst/>
            <a:gdLst/>
            <a:ahLst/>
            <a:cxnLst/>
            <a:rect l="l" t="t" r="r" b="b"/>
            <a:pathLst>
              <a:path w="4114800" h="1447800">
                <a:moveTo>
                  <a:pt x="0" y="0"/>
                </a:moveTo>
                <a:lnTo>
                  <a:pt x="4114800" y="1447799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47800" y="3646932"/>
            <a:ext cx="4267200" cy="1447800"/>
          </a:xfrm>
          <a:custGeom>
            <a:avLst/>
            <a:gdLst/>
            <a:ahLst/>
            <a:cxnLst/>
            <a:rect l="l" t="t" r="r" b="b"/>
            <a:pathLst>
              <a:path w="4267200" h="1447800">
                <a:moveTo>
                  <a:pt x="0" y="1447800"/>
                </a:moveTo>
                <a:lnTo>
                  <a:pt x="426720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96000" y="3951732"/>
            <a:ext cx="533400" cy="304800"/>
          </a:xfrm>
          <a:custGeom>
            <a:avLst/>
            <a:gdLst/>
            <a:ahLst/>
            <a:cxnLst/>
            <a:rect l="l" t="t" r="r" b="b"/>
            <a:pathLst>
              <a:path w="533400" h="304800">
                <a:moveTo>
                  <a:pt x="0" y="152400"/>
                </a:moveTo>
                <a:lnTo>
                  <a:pt x="106679" y="0"/>
                </a:lnTo>
                <a:lnTo>
                  <a:pt x="106679" y="76200"/>
                </a:lnTo>
                <a:lnTo>
                  <a:pt x="426720" y="76200"/>
                </a:lnTo>
                <a:lnTo>
                  <a:pt x="426720" y="0"/>
                </a:lnTo>
                <a:lnTo>
                  <a:pt x="533400" y="152400"/>
                </a:lnTo>
                <a:lnTo>
                  <a:pt x="426720" y="304800"/>
                </a:lnTo>
                <a:lnTo>
                  <a:pt x="426720" y="228600"/>
                </a:lnTo>
                <a:lnTo>
                  <a:pt x="106679" y="228600"/>
                </a:lnTo>
                <a:lnTo>
                  <a:pt x="106679" y="3048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400800" y="2808732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199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516623" y="2852927"/>
            <a:ext cx="1513840" cy="2870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宋体"/>
                <a:cs typeface="宋体"/>
              </a:rPr>
              <a:t>增加某些属性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7000" y="2564892"/>
            <a:ext cx="3429000" cy="3607435"/>
          </a:xfrm>
          <a:custGeom>
            <a:avLst/>
            <a:gdLst/>
            <a:ahLst/>
            <a:cxnLst/>
            <a:rect l="l" t="t" r="r" b="b"/>
            <a:pathLst>
              <a:path w="3429000" h="3607435">
                <a:moveTo>
                  <a:pt x="0" y="3607308"/>
                </a:moveTo>
                <a:lnTo>
                  <a:pt x="3429000" y="3607308"/>
                </a:lnTo>
                <a:lnTo>
                  <a:pt x="3429000" y="0"/>
                </a:lnTo>
                <a:lnTo>
                  <a:pt x="0" y="0"/>
                </a:lnTo>
                <a:lnTo>
                  <a:pt x="0" y="36073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9089" y="164972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0739" y="1067180"/>
            <a:ext cx="7135495" cy="1856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7</a:t>
            </a:r>
            <a:r>
              <a:rPr sz="2800" spc="-5" dirty="0">
                <a:latin typeface="宋体"/>
                <a:cs typeface="宋体"/>
              </a:rPr>
              <a:t>）如果只有唯一特殊类，且该一般类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用于 创建对象，也不用于复用，则取消</a:t>
            </a:r>
            <a:r>
              <a:rPr sz="2800" dirty="0">
                <a:latin typeface="宋体"/>
                <a:cs typeface="宋体"/>
              </a:rPr>
              <a:t>该</a:t>
            </a:r>
            <a:r>
              <a:rPr sz="2800" spc="-5" dirty="0">
                <a:latin typeface="宋体"/>
                <a:cs typeface="宋体"/>
              </a:rPr>
              <a:t>一般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00">
              <a:latin typeface="宋体"/>
              <a:cs typeface="宋体"/>
            </a:endParaRPr>
          </a:p>
          <a:p>
            <a:pPr marR="491490" algn="ctr">
              <a:lnSpc>
                <a:spcPct val="100000"/>
              </a:lnSpc>
            </a:pPr>
            <a:r>
              <a:rPr sz="2000" dirty="0">
                <a:latin typeface="宋体"/>
                <a:cs typeface="宋体"/>
              </a:rPr>
              <a:t>去掉单一用途的一般类：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76600" y="3098292"/>
            <a:ext cx="838200" cy="1233170"/>
          </a:xfrm>
          <a:custGeom>
            <a:avLst/>
            <a:gdLst/>
            <a:ahLst/>
            <a:cxnLst/>
            <a:rect l="l" t="t" r="r" b="b"/>
            <a:pathLst>
              <a:path w="838200" h="1233170">
                <a:moveTo>
                  <a:pt x="0" y="1232916"/>
                </a:moveTo>
                <a:lnTo>
                  <a:pt x="838200" y="1232916"/>
                </a:lnTo>
                <a:lnTo>
                  <a:pt x="838200" y="0"/>
                </a:lnTo>
                <a:lnTo>
                  <a:pt x="0" y="0"/>
                </a:lnTo>
                <a:lnTo>
                  <a:pt x="0" y="123291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76600" y="3098292"/>
            <a:ext cx="838200" cy="35179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宋体"/>
                <a:cs typeface="宋体"/>
              </a:rPr>
              <a:t>设备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6600" y="3449573"/>
            <a:ext cx="838200" cy="882015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40"/>
              </a:spcBef>
            </a:pPr>
            <a:r>
              <a:rPr sz="1600" spc="-5" dirty="0">
                <a:latin typeface="宋体"/>
                <a:cs typeface="宋体"/>
              </a:rPr>
              <a:t>型号</a:t>
            </a:r>
            <a:endParaRPr sz="1600">
              <a:latin typeface="宋体"/>
              <a:cs typeface="宋体"/>
            </a:endParaRPr>
          </a:p>
          <a:p>
            <a:pPr marL="92075">
              <a:lnSpc>
                <a:spcPts val="1910"/>
              </a:lnSpc>
            </a:pPr>
            <a:r>
              <a:rPr sz="1600" spc="-10" dirty="0">
                <a:latin typeface="宋体"/>
                <a:cs typeface="宋体"/>
              </a:rPr>
              <a:t>生产厂</a:t>
            </a:r>
            <a:endParaRPr sz="1600">
              <a:latin typeface="宋体"/>
              <a:cs typeface="宋体"/>
            </a:endParaRPr>
          </a:p>
          <a:p>
            <a:pPr marL="92075">
              <a:lnSpc>
                <a:spcPts val="2150"/>
              </a:lnSpc>
            </a:pPr>
            <a:r>
              <a:rPr sz="1800" dirty="0">
                <a:latin typeface="Times New Roman"/>
                <a:cs typeface="Times New Roman"/>
              </a:rPr>
              <a:t>……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81400" y="43936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76200" y="0"/>
                </a:lnTo>
                <a:lnTo>
                  <a:pt x="152400" y="152399"/>
                </a:lnTo>
                <a:lnTo>
                  <a:pt x="0" y="1523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271837" y="4541329"/>
          <a:ext cx="838200" cy="142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1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57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雷达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157">
                <a:tc gridSpan="2">
                  <a:txBody>
                    <a:bodyPr/>
                    <a:lstStyle/>
                    <a:p>
                      <a:pPr marL="92075" marR="13017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安装地 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监控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ts val="214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77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812791" y="3284220"/>
            <a:ext cx="838200" cy="2209800"/>
          </a:xfrm>
          <a:custGeom>
            <a:avLst/>
            <a:gdLst/>
            <a:ahLst/>
            <a:cxnLst/>
            <a:rect l="l" t="t" r="r" b="b"/>
            <a:pathLst>
              <a:path w="838200" h="2209800">
                <a:moveTo>
                  <a:pt x="0" y="2209799"/>
                </a:moveTo>
                <a:lnTo>
                  <a:pt x="838200" y="2209799"/>
                </a:lnTo>
                <a:lnTo>
                  <a:pt x="838200" y="0"/>
                </a:lnTo>
                <a:lnTo>
                  <a:pt x="0" y="0"/>
                </a:lnTo>
                <a:lnTo>
                  <a:pt x="0" y="22097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12791" y="3284220"/>
            <a:ext cx="838200" cy="3619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30"/>
              </a:spcBef>
            </a:pPr>
            <a:r>
              <a:rPr sz="1600" spc="-5" dirty="0">
                <a:latin typeface="宋体"/>
                <a:cs typeface="宋体"/>
              </a:rPr>
              <a:t>雷达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12791" y="3646170"/>
            <a:ext cx="838200" cy="18478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92710" marR="128270">
              <a:lnSpc>
                <a:spcPct val="100000"/>
              </a:lnSpc>
              <a:spcBef>
                <a:spcPts val="359"/>
              </a:spcBef>
            </a:pPr>
            <a:r>
              <a:rPr sz="1600" spc="-5" dirty="0">
                <a:latin typeface="宋体"/>
                <a:cs typeface="宋体"/>
              </a:rPr>
              <a:t>型号 生产厂 安装地 开启 关闭 监控</a:t>
            </a:r>
            <a:endParaRPr sz="1600">
              <a:latin typeface="宋体"/>
              <a:cs typeface="宋体"/>
            </a:endParaRPr>
          </a:p>
          <a:p>
            <a:pPr marL="92710">
              <a:lnSpc>
                <a:spcPts val="2140"/>
              </a:lnSpc>
            </a:pPr>
            <a:r>
              <a:rPr sz="1800" dirty="0">
                <a:latin typeface="Times New Roman"/>
                <a:cs typeface="Times New Roman"/>
              </a:rPr>
              <a:t>……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67200" y="4241291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0" y="57149"/>
                </a:moveTo>
                <a:lnTo>
                  <a:pt x="342900" y="57149"/>
                </a:lnTo>
                <a:lnTo>
                  <a:pt x="342900" y="0"/>
                </a:lnTo>
                <a:lnTo>
                  <a:pt x="457200" y="114299"/>
                </a:lnTo>
                <a:lnTo>
                  <a:pt x="342900" y="228599"/>
                </a:lnTo>
                <a:lnTo>
                  <a:pt x="342900" y="171449"/>
                </a:lnTo>
                <a:lnTo>
                  <a:pt x="0" y="171449"/>
                </a:lnTo>
                <a:lnTo>
                  <a:pt x="0" y="5714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7400" y="2641092"/>
            <a:ext cx="838200" cy="34607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600" b="1" spc="-5" dirty="0">
                <a:latin typeface="宋体"/>
                <a:cs typeface="宋体"/>
              </a:rPr>
              <a:t>设备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2200" y="302209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38400" y="3174492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28800" y="3326891"/>
            <a:ext cx="12192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电子设备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7800" y="5007864"/>
            <a:ext cx="9906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打印机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200" y="5693664"/>
            <a:ext cx="13716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激光打印机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3200" y="5007864"/>
            <a:ext cx="16764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民用通讯设备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4200" y="5693664"/>
            <a:ext cx="9906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传真机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62200" y="37078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76200" y="0"/>
                </a:lnTo>
                <a:lnTo>
                  <a:pt x="152400" y="152399"/>
                </a:lnTo>
                <a:lnTo>
                  <a:pt x="0" y="1523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214437" y="3860291"/>
          <a:ext cx="2895600" cy="759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28">
                <a:tc grid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计算机设备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通讯设备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1828800" y="46222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76200" y="0"/>
                </a:lnTo>
                <a:lnTo>
                  <a:pt x="152400" y="152399"/>
                </a:lnTo>
                <a:lnTo>
                  <a:pt x="0" y="1523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05000" y="4774691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5200" y="46222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399"/>
                </a:moveTo>
                <a:lnTo>
                  <a:pt x="76200" y="0"/>
                </a:lnTo>
                <a:lnTo>
                  <a:pt x="152400" y="152399"/>
                </a:lnTo>
                <a:lnTo>
                  <a:pt x="0" y="1523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81400" y="4774691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8800" y="53842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5000" y="553669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5200" y="53842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81400" y="553669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096000" y="2895600"/>
            <a:ext cx="1219200" cy="3765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宋体"/>
                <a:cs typeface="宋体"/>
              </a:rPr>
              <a:t>电子设备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629400" y="3276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5329237" y="3429000"/>
          <a:ext cx="2667000" cy="15956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62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5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27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激光打印机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传真机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1066800" y="2183892"/>
            <a:ext cx="3429000" cy="4064635"/>
          </a:xfrm>
          <a:custGeom>
            <a:avLst/>
            <a:gdLst/>
            <a:ahLst/>
            <a:cxnLst/>
            <a:rect l="l" t="t" r="r" b="b"/>
            <a:pathLst>
              <a:path w="3429000" h="4064635">
                <a:moveTo>
                  <a:pt x="0" y="4064508"/>
                </a:moveTo>
                <a:lnTo>
                  <a:pt x="3429000" y="4064508"/>
                </a:lnTo>
                <a:lnTo>
                  <a:pt x="3429000" y="0"/>
                </a:lnTo>
                <a:lnTo>
                  <a:pt x="0" y="0"/>
                </a:lnTo>
                <a:lnTo>
                  <a:pt x="0" y="40645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45844" y="2211400"/>
            <a:ext cx="20739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宋体"/>
                <a:cs typeface="宋体"/>
              </a:rPr>
              <a:t>过多的继承层次：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72000" y="35052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114300"/>
                </a:moveTo>
                <a:lnTo>
                  <a:pt x="400050" y="114300"/>
                </a:lnTo>
                <a:lnTo>
                  <a:pt x="400050" y="0"/>
                </a:lnTo>
                <a:lnTo>
                  <a:pt x="533400" y="228600"/>
                </a:lnTo>
                <a:lnTo>
                  <a:pt x="400050" y="457200"/>
                </a:lnTo>
                <a:lnTo>
                  <a:pt x="400050" y="342900"/>
                </a:lnTo>
                <a:lnTo>
                  <a:pt x="0" y="3429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799589" y="75945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确定继承的策略和原则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40739" y="978535"/>
            <a:ext cx="730694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8</a:t>
            </a:r>
            <a:r>
              <a:rPr sz="2800" spc="-5" dirty="0">
                <a:latin typeface="宋体"/>
                <a:cs typeface="宋体"/>
              </a:rPr>
              <a:t>）应该尽量避免类的层次过深，使系</a:t>
            </a:r>
            <a:r>
              <a:rPr sz="2800" dirty="0">
                <a:latin typeface="宋体"/>
                <a:cs typeface="宋体"/>
              </a:rPr>
              <a:t>统</a:t>
            </a:r>
            <a:r>
              <a:rPr sz="2800" spc="-5" dirty="0">
                <a:latin typeface="宋体"/>
                <a:cs typeface="宋体"/>
              </a:rPr>
              <a:t>结构过 于复杂。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05400" y="2209800"/>
            <a:ext cx="3200400" cy="3150235"/>
          </a:xfrm>
          <a:custGeom>
            <a:avLst/>
            <a:gdLst/>
            <a:ahLst/>
            <a:cxnLst/>
            <a:rect l="l" t="t" r="r" b="b"/>
            <a:pathLst>
              <a:path w="3200400" h="3150235">
                <a:moveTo>
                  <a:pt x="0" y="3150108"/>
                </a:moveTo>
                <a:lnTo>
                  <a:pt x="3200400" y="3150108"/>
                </a:lnTo>
                <a:lnTo>
                  <a:pt x="3200400" y="0"/>
                </a:lnTo>
                <a:lnTo>
                  <a:pt x="0" y="0"/>
                </a:lnTo>
                <a:lnTo>
                  <a:pt x="0" y="3150108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185028" y="2237358"/>
            <a:ext cx="1818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宋体"/>
                <a:cs typeface="宋体"/>
              </a:rPr>
              <a:t>简化继承层次：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67200" y="3569208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7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81237" y="3569208"/>
          <a:ext cx="1676400" cy="21320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59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99"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触点传感器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限值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276"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判断限值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</a:t>
                      </a:r>
                      <a:r>
                        <a:rPr sz="1600" b="1" spc="-5" dirty="0">
                          <a:latin typeface="Tahoma"/>
                          <a:cs typeface="Tahoma"/>
                        </a:rPr>
                        <a:t>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67237" y="3569208"/>
          <a:ext cx="1752600" cy="21320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599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9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热敏传感器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限值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27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判断限值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</a:t>
                      </a:r>
                      <a:r>
                        <a:rPr sz="1600" b="1" spc="-5" dirty="0">
                          <a:latin typeface="Tahoma"/>
                          <a:cs typeface="Tahoma"/>
                        </a:rPr>
                        <a:t>.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165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657600" y="4255008"/>
            <a:ext cx="1295400" cy="1446530"/>
          </a:xfrm>
          <a:custGeom>
            <a:avLst/>
            <a:gdLst/>
            <a:ahLst/>
            <a:cxnLst/>
            <a:rect l="l" t="t" r="r" b="b"/>
            <a:pathLst>
              <a:path w="1295400" h="1446529">
                <a:moveTo>
                  <a:pt x="0" y="1446275"/>
                </a:moveTo>
                <a:lnTo>
                  <a:pt x="1295400" y="1446275"/>
                </a:lnTo>
                <a:lnTo>
                  <a:pt x="1295400" y="0"/>
                </a:lnTo>
                <a:lnTo>
                  <a:pt x="0" y="0"/>
                </a:lnTo>
                <a:lnTo>
                  <a:pt x="0" y="14462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57600" y="4255008"/>
            <a:ext cx="12954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65"/>
              </a:spcBef>
            </a:pPr>
            <a:r>
              <a:rPr sz="1600" b="1" spc="-5" dirty="0">
                <a:latin typeface="宋体"/>
                <a:cs typeface="宋体"/>
              </a:rPr>
              <a:t>烟雾传感器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7600" y="4636008"/>
            <a:ext cx="12954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45"/>
              </a:spcBef>
            </a:pPr>
            <a:r>
              <a:rPr sz="1600" b="1" spc="-5" dirty="0">
                <a:latin typeface="宋体"/>
                <a:cs typeface="宋体"/>
              </a:rPr>
              <a:t>限值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7600" y="5017008"/>
            <a:ext cx="1295400" cy="6845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0"/>
              </a:spcBef>
            </a:pPr>
            <a:r>
              <a:rPr sz="1600" b="1" spc="-5" dirty="0">
                <a:latin typeface="宋体"/>
                <a:cs typeface="宋体"/>
              </a:rPr>
              <a:t>判断限值</a:t>
            </a:r>
            <a:endParaRPr sz="1600">
              <a:latin typeface="宋体"/>
              <a:cs typeface="宋体"/>
            </a:endParaRPr>
          </a:p>
          <a:p>
            <a:pPr marL="90170">
              <a:lnSpc>
                <a:spcPct val="100000"/>
              </a:lnSpc>
              <a:spcBef>
                <a:spcPts val="925"/>
              </a:spcBef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r>
              <a:rPr sz="1600" b="1" spc="-5" dirty="0"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9100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9580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86200" y="342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563111" y="1505711"/>
          <a:ext cx="1371600" cy="1871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传感器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762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89535" marR="865505" algn="just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编号 类型 </a:t>
                      </a:r>
                      <a:r>
                        <a:rPr sz="1600" b="1" spc="5" dirty="0">
                          <a:latin typeface="宋体"/>
                          <a:cs typeface="宋体"/>
                        </a:rPr>
                        <a:t>位置 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性质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6159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763320" y="0"/>
            <a:ext cx="4419600" cy="144145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35"/>
              </a:spcBef>
            </a:pPr>
            <a:r>
              <a:rPr dirty="0"/>
              <a:t>示例</a:t>
            </a: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800" spc="-5" dirty="0">
                <a:solidFill>
                  <a:srgbClr val="000000"/>
                </a:solidFill>
              </a:rPr>
              <a:t>Safehom</a:t>
            </a:r>
            <a:r>
              <a:rPr sz="2800" dirty="0">
                <a:solidFill>
                  <a:srgbClr val="000000"/>
                </a:solidFill>
              </a:rPr>
              <a:t>e</a:t>
            </a:r>
            <a:r>
              <a:rPr sz="2800" spc="-10" dirty="0">
                <a:solidFill>
                  <a:srgbClr val="000000"/>
                </a:solidFill>
              </a:rPr>
              <a:t>中传感器继承关系</a:t>
            </a:r>
            <a:endParaRPr sz="28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6394" y="1155153"/>
            <a:ext cx="3326129" cy="46558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7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类</a:t>
            </a:r>
            <a:r>
              <a:rPr sz="2800" spc="-10" dirty="0">
                <a:latin typeface="宋体"/>
                <a:cs typeface="宋体"/>
              </a:rPr>
              <a:t>的关联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关联的重数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对象链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关联角色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67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关联类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83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dirty="0">
                <a:latin typeface="宋体"/>
                <a:cs typeface="宋体"/>
              </a:rPr>
              <a:t>N</a:t>
            </a:r>
            <a:r>
              <a:rPr sz="2800" spc="-5" dirty="0">
                <a:latin typeface="宋体"/>
                <a:cs typeface="宋体"/>
              </a:rPr>
              <a:t>元关联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关联的限定符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83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聚合关联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670"/>
              </a:spcBef>
              <a:buClr>
                <a:srgbClr val="00663B"/>
              </a:buClr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2800" spc="-5" dirty="0">
                <a:latin typeface="宋体"/>
                <a:cs typeface="宋体"/>
              </a:rPr>
              <a:t>类的依赖关系表示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6652" y="155524"/>
            <a:ext cx="4357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3.2.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/>
              <a:t>建立类的关联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0707" y="135763"/>
            <a:ext cx="2884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(1)</a:t>
            </a:r>
            <a:r>
              <a:rPr dirty="0"/>
              <a:t>类的关联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030503"/>
            <a:ext cx="7590790" cy="493458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spc="-5" dirty="0">
                <a:latin typeface="宋体"/>
                <a:cs typeface="宋体"/>
              </a:rPr>
              <a:t>关联的基本概念：</a:t>
            </a:r>
            <a:endParaRPr sz="2800">
              <a:latin typeface="宋体"/>
              <a:cs typeface="宋体"/>
            </a:endParaRPr>
          </a:p>
          <a:p>
            <a:pPr marL="12700" marR="1410970">
              <a:lnSpc>
                <a:spcPct val="100000"/>
              </a:lnSpc>
              <a:spcBef>
                <a:spcPts val="1685"/>
              </a:spcBef>
            </a:pPr>
            <a:r>
              <a:rPr sz="2800" spc="-5" dirty="0">
                <a:latin typeface="宋体"/>
                <a:cs typeface="宋体"/>
              </a:rPr>
              <a:t>关</a:t>
            </a:r>
            <a:r>
              <a:rPr sz="2800" spc="-10" dirty="0">
                <a:latin typeface="宋体"/>
                <a:cs typeface="宋体"/>
              </a:rPr>
              <a:t>联</a:t>
            </a:r>
            <a:r>
              <a:rPr sz="2800" spc="-5" dirty="0">
                <a:latin typeface="Times New Roman"/>
                <a:cs typeface="Times New Roman"/>
              </a:rPr>
              <a:t>-----</a:t>
            </a:r>
            <a:r>
              <a:rPr sz="2800" spc="-5" dirty="0">
                <a:latin typeface="宋体"/>
                <a:cs typeface="宋体"/>
              </a:rPr>
              <a:t>表示对象类之间的静态关</a:t>
            </a:r>
            <a:r>
              <a:rPr sz="2800" dirty="0">
                <a:latin typeface="宋体"/>
                <a:cs typeface="宋体"/>
              </a:rPr>
              <a:t>系</a:t>
            </a:r>
            <a:r>
              <a:rPr sz="2800" spc="-5" dirty="0">
                <a:latin typeface="宋体"/>
                <a:cs typeface="宋体"/>
              </a:rPr>
              <a:t>。 静态关</a:t>
            </a:r>
            <a:r>
              <a:rPr sz="2800" spc="-15" dirty="0">
                <a:latin typeface="宋体"/>
                <a:cs typeface="宋体"/>
              </a:rPr>
              <a:t>系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" dirty="0">
                <a:latin typeface="宋体"/>
                <a:cs typeface="宋体"/>
              </a:rPr>
              <a:t>表示对象之间固有的</a:t>
            </a:r>
            <a:r>
              <a:rPr sz="2800" dirty="0">
                <a:latin typeface="宋体"/>
                <a:cs typeface="宋体"/>
              </a:rPr>
              <a:t>联</a:t>
            </a:r>
            <a:r>
              <a:rPr sz="2800" spc="-5" dirty="0">
                <a:latin typeface="宋体"/>
                <a:cs typeface="宋体"/>
              </a:rPr>
              <a:t>系。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spc="-5" dirty="0">
                <a:latin typeface="宋体"/>
                <a:cs typeface="宋体"/>
              </a:rPr>
              <a:t>要点：</a:t>
            </a:r>
            <a:endParaRPr sz="2800">
              <a:latin typeface="宋体"/>
              <a:cs typeface="宋体"/>
            </a:endParaRPr>
          </a:p>
          <a:p>
            <a:pPr marL="469900" marR="364490" indent="-457834" algn="just">
              <a:lnSpc>
                <a:spcPct val="97700"/>
              </a:lnSpc>
              <a:spcBef>
                <a:spcPts val="1914"/>
              </a:spcBef>
              <a:buClr>
                <a:srgbClr val="00663B"/>
              </a:buClr>
              <a:buFont typeface="Wingdings"/>
              <a:buChar char=""/>
              <a:tabLst>
                <a:tab pos="470534" algn="l"/>
              </a:tabLst>
            </a:pPr>
            <a:r>
              <a:rPr sz="2800" spc="-5" dirty="0">
                <a:latin typeface="宋体"/>
                <a:cs typeface="宋体"/>
              </a:rPr>
              <a:t>两个类之间的关联，实质上是通过</a:t>
            </a:r>
            <a:r>
              <a:rPr sz="2800" dirty="0">
                <a:latin typeface="宋体"/>
                <a:cs typeface="宋体"/>
              </a:rPr>
              <a:t>属</a:t>
            </a:r>
            <a:r>
              <a:rPr sz="2800" spc="-5" dirty="0">
                <a:latin typeface="宋体"/>
                <a:cs typeface="宋体"/>
              </a:rPr>
              <a:t>性来表 示对象之间的联系，即一个类的对</a:t>
            </a:r>
            <a:r>
              <a:rPr sz="2800" dirty="0"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属性值 </a:t>
            </a:r>
            <a:r>
              <a:rPr sz="2800" spc="-10" dirty="0">
                <a:latin typeface="宋体"/>
                <a:cs typeface="宋体"/>
              </a:rPr>
              <a:t>是另一个类的对象实例（用指针实</a:t>
            </a:r>
            <a:r>
              <a:rPr sz="2800" dirty="0">
                <a:latin typeface="宋体"/>
                <a:cs typeface="宋体"/>
              </a:rPr>
              <a:t>现</a:t>
            </a:r>
            <a:r>
              <a:rPr sz="2800" spc="-10" dirty="0">
                <a:latin typeface="宋体"/>
                <a:cs typeface="宋体"/>
              </a:rPr>
              <a:t>）。</a:t>
            </a:r>
            <a:endParaRPr sz="2800">
              <a:latin typeface="宋体"/>
              <a:cs typeface="宋体"/>
            </a:endParaRPr>
          </a:p>
          <a:p>
            <a:pPr marL="469900" marR="5080" indent="-457834">
              <a:lnSpc>
                <a:spcPts val="3200"/>
              </a:lnSpc>
              <a:spcBef>
                <a:spcPts val="2080"/>
              </a:spcBef>
              <a:buClr>
                <a:srgbClr val="00663B"/>
              </a:buClr>
              <a:buFont typeface="Wingdings"/>
              <a:buChar char=""/>
              <a:tabLst>
                <a:tab pos="469900" algn="l"/>
                <a:tab pos="470534" algn="l"/>
              </a:tabLst>
            </a:pPr>
            <a:r>
              <a:rPr sz="2800" spc="-5" dirty="0">
                <a:latin typeface="宋体"/>
                <a:cs typeface="宋体"/>
              </a:rPr>
              <a:t>静态关联与系统责任相关，如果这</a:t>
            </a:r>
            <a:r>
              <a:rPr sz="2800" dirty="0">
                <a:latin typeface="宋体"/>
                <a:cs typeface="宋体"/>
              </a:rPr>
              <a:t>些</a:t>
            </a:r>
            <a:r>
              <a:rPr sz="2800" spc="-5" dirty="0">
                <a:latin typeface="宋体"/>
                <a:cs typeface="宋体"/>
              </a:rPr>
              <a:t>关系是 系统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责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任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目标的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必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要信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息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则需要</a:t>
            </a:r>
            <a:r>
              <a:rPr sz="2800" dirty="0">
                <a:latin typeface="宋体"/>
                <a:cs typeface="宋体"/>
              </a:rPr>
              <a:t>表</a:t>
            </a:r>
            <a:r>
              <a:rPr sz="2800" spc="-5" dirty="0">
                <a:latin typeface="宋体"/>
                <a:cs typeface="宋体"/>
              </a:rPr>
              <a:t>达它们。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1200" y="2653283"/>
            <a:ext cx="2590800" cy="2693035"/>
          </a:xfrm>
          <a:custGeom>
            <a:avLst/>
            <a:gdLst/>
            <a:ahLst/>
            <a:cxnLst/>
            <a:rect l="l" t="t" r="r" b="b"/>
            <a:pathLst>
              <a:path w="2590800" h="2693035">
                <a:moveTo>
                  <a:pt x="0" y="2692907"/>
                </a:moveTo>
                <a:lnTo>
                  <a:pt x="2590800" y="2692907"/>
                </a:lnTo>
                <a:lnTo>
                  <a:pt x="2590800" y="0"/>
                </a:lnTo>
                <a:lnTo>
                  <a:pt x="0" y="0"/>
                </a:lnTo>
                <a:lnTo>
                  <a:pt x="0" y="26929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57600" y="2653283"/>
            <a:ext cx="1905000" cy="2693035"/>
          </a:xfrm>
          <a:custGeom>
            <a:avLst/>
            <a:gdLst/>
            <a:ahLst/>
            <a:cxnLst/>
            <a:rect l="l" t="t" r="r" b="b"/>
            <a:pathLst>
              <a:path w="1905000" h="2693035">
                <a:moveTo>
                  <a:pt x="0" y="2692907"/>
                </a:moveTo>
                <a:lnTo>
                  <a:pt x="1905000" y="2692907"/>
                </a:lnTo>
                <a:lnTo>
                  <a:pt x="1905000" y="0"/>
                </a:lnTo>
                <a:lnTo>
                  <a:pt x="0" y="0"/>
                </a:lnTo>
                <a:lnTo>
                  <a:pt x="0" y="26929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2653283"/>
            <a:ext cx="2667000" cy="2693035"/>
          </a:xfrm>
          <a:custGeom>
            <a:avLst/>
            <a:gdLst/>
            <a:ahLst/>
            <a:cxnLst/>
            <a:rect l="l" t="t" r="r" b="b"/>
            <a:pathLst>
              <a:path w="2667000" h="2693035">
                <a:moveTo>
                  <a:pt x="0" y="2692907"/>
                </a:moveTo>
                <a:lnTo>
                  <a:pt x="2667000" y="2692907"/>
                </a:lnTo>
                <a:lnTo>
                  <a:pt x="2667000" y="0"/>
                </a:lnTo>
                <a:lnTo>
                  <a:pt x="0" y="0"/>
                </a:lnTo>
                <a:lnTo>
                  <a:pt x="0" y="26929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976883"/>
            <a:ext cx="7772400" cy="1382395"/>
          </a:xfrm>
          <a:custGeom>
            <a:avLst/>
            <a:gdLst/>
            <a:ahLst/>
            <a:cxnLst/>
            <a:rect l="l" t="t" r="r" b="b"/>
            <a:pathLst>
              <a:path w="7772400" h="1382395">
                <a:moveTo>
                  <a:pt x="0" y="1382268"/>
                </a:moveTo>
                <a:lnTo>
                  <a:pt x="7772400" y="1382268"/>
                </a:lnTo>
                <a:lnTo>
                  <a:pt x="7772400" y="0"/>
                </a:lnTo>
                <a:lnTo>
                  <a:pt x="0" y="0"/>
                </a:lnTo>
                <a:lnTo>
                  <a:pt x="0" y="138226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7240" y="1002918"/>
            <a:ext cx="7472680" cy="20091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95"/>
              </a:spcBef>
            </a:pPr>
            <a:r>
              <a:rPr sz="2800" spc="5" dirty="0">
                <a:latin typeface="黑体"/>
                <a:cs typeface="黑体"/>
              </a:rPr>
              <a:t>关联定</a:t>
            </a:r>
            <a:r>
              <a:rPr sz="2800" spc="-5" dirty="0">
                <a:latin typeface="黑体"/>
                <a:cs typeface="黑体"/>
              </a:rPr>
              <a:t>义</a:t>
            </a:r>
            <a:r>
              <a:rPr sz="2800" spc="610" dirty="0">
                <a:latin typeface="黑体"/>
                <a:cs typeface="黑体"/>
              </a:rPr>
              <a:t> </a:t>
            </a:r>
            <a:r>
              <a:rPr sz="2800" spc="-5" dirty="0">
                <a:latin typeface="宋体"/>
                <a:cs typeface="宋体"/>
              </a:rPr>
              <a:t>如果一个类的对象与另一个类的</a:t>
            </a:r>
            <a:r>
              <a:rPr sz="2800" spc="5" dirty="0">
                <a:latin typeface="宋体"/>
                <a:cs typeface="宋体"/>
              </a:rPr>
              <a:t>对</a:t>
            </a:r>
            <a:r>
              <a:rPr sz="2800" spc="-5" dirty="0">
                <a:latin typeface="宋体"/>
                <a:cs typeface="宋体"/>
              </a:rPr>
              <a:t>象 之间</a:t>
            </a:r>
            <a:r>
              <a:rPr sz="2800" spc="-10" dirty="0">
                <a:latin typeface="宋体"/>
                <a:cs typeface="宋体"/>
              </a:rPr>
              <a:t>有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语义连接关系</a:t>
            </a:r>
            <a:r>
              <a:rPr sz="2800" spc="-5" dirty="0">
                <a:latin typeface="宋体"/>
                <a:cs typeface="宋体"/>
              </a:rPr>
              <a:t>，则这两个类</a:t>
            </a:r>
            <a:r>
              <a:rPr sz="2800" dirty="0">
                <a:latin typeface="宋体"/>
                <a:cs typeface="宋体"/>
              </a:rPr>
              <a:t>之</a:t>
            </a:r>
            <a:r>
              <a:rPr sz="2800" spc="-5" dirty="0">
                <a:latin typeface="宋体"/>
                <a:cs typeface="宋体"/>
              </a:rPr>
              <a:t>间的</a:t>
            </a:r>
            <a:r>
              <a:rPr sz="2800" dirty="0">
                <a:latin typeface="宋体"/>
                <a:cs typeface="宋体"/>
              </a:rPr>
              <a:t>语</a:t>
            </a:r>
            <a:r>
              <a:rPr sz="2800" spc="-5" dirty="0">
                <a:latin typeface="宋体"/>
                <a:cs typeface="宋体"/>
              </a:rPr>
              <a:t>义关 联就是关联。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50">
              <a:latin typeface="宋体"/>
              <a:cs typeface="宋体"/>
            </a:endParaRPr>
          </a:p>
          <a:p>
            <a:pPr marL="76200" algn="just">
              <a:lnSpc>
                <a:spcPct val="100000"/>
              </a:lnSpc>
              <a:tabLst>
                <a:tab pos="2971800" algn="l"/>
              </a:tabLst>
            </a:pPr>
            <a:r>
              <a:rPr sz="2000" dirty="0">
                <a:latin typeface="宋体"/>
                <a:cs typeface="宋体"/>
              </a:rPr>
              <a:t>双向关联例：	自身关联例：</a:t>
            </a:r>
            <a:r>
              <a:rPr sz="2000" spc="75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单向关联例：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9637" y="3378517"/>
          <a:ext cx="2209800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职员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4384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工作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公司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row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76200">
                        <a:lnSpc>
                          <a:spcPts val="1639"/>
                        </a:lnSpc>
                        <a:tabLst>
                          <a:tab pos="786765" algn="l"/>
                        </a:tabLst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*	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881437" y="3378517"/>
          <a:ext cx="1295400" cy="1295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城市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03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396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76835">
                        <a:lnSpc>
                          <a:spcPts val="1380"/>
                        </a:lnSpc>
                        <a:spcBef>
                          <a:spcPts val="2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804028" y="3902202"/>
            <a:ext cx="633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有航线</a:t>
            </a:r>
            <a:endParaRPr sz="1600">
              <a:latin typeface="宋体"/>
              <a:cs typeface="宋体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938837" y="3454717"/>
          <a:ext cx="2286000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用户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拥有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口令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64540" y="5599887"/>
            <a:ext cx="74949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关联一</a:t>
            </a:r>
            <a:r>
              <a:rPr sz="2800" spc="10" dirty="0">
                <a:latin typeface="宋体"/>
                <a:cs typeface="宋体"/>
              </a:rPr>
              <a:t>般</a:t>
            </a:r>
            <a:r>
              <a:rPr sz="2800" spc="-5" dirty="0">
                <a:latin typeface="宋体"/>
                <a:cs typeface="宋体"/>
              </a:rPr>
              <a:t>是双向</a:t>
            </a:r>
            <a:r>
              <a:rPr sz="2800" spc="10" dirty="0">
                <a:latin typeface="宋体"/>
                <a:cs typeface="宋体"/>
              </a:rPr>
              <a:t>的</a:t>
            </a:r>
            <a:r>
              <a:rPr sz="2800" spc="-5" dirty="0">
                <a:latin typeface="宋体"/>
                <a:cs typeface="宋体"/>
              </a:rPr>
              <a:t>，若有</a:t>
            </a:r>
            <a:r>
              <a:rPr sz="2800" spc="10" dirty="0">
                <a:latin typeface="宋体"/>
                <a:cs typeface="宋体"/>
              </a:rPr>
              <a:t>单</a:t>
            </a:r>
            <a:r>
              <a:rPr sz="2800" spc="-5" dirty="0">
                <a:latin typeface="宋体"/>
                <a:cs typeface="宋体"/>
              </a:rPr>
              <a:t>向限制</a:t>
            </a:r>
            <a:r>
              <a:rPr sz="2800" spc="10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箭头表</a:t>
            </a:r>
            <a:r>
              <a:rPr sz="2800" spc="10" dirty="0">
                <a:latin typeface="宋体"/>
                <a:cs typeface="宋体"/>
              </a:rPr>
              <a:t>示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60189" y="3976878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39000" y="3770884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52400" h="50800">
                <a:moveTo>
                  <a:pt x="101600" y="0"/>
                </a:moveTo>
                <a:lnTo>
                  <a:pt x="101600" y="50800"/>
                </a:lnTo>
                <a:lnTo>
                  <a:pt x="139700" y="31750"/>
                </a:lnTo>
                <a:lnTo>
                  <a:pt x="114300" y="31750"/>
                </a:lnTo>
                <a:lnTo>
                  <a:pt x="114300" y="19050"/>
                </a:lnTo>
                <a:lnTo>
                  <a:pt x="139700" y="19050"/>
                </a:lnTo>
                <a:lnTo>
                  <a:pt x="101600" y="0"/>
                </a:lnTo>
                <a:close/>
              </a:path>
              <a:path w="152400" h="50800">
                <a:moveTo>
                  <a:pt x="101600" y="19050"/>
                </a:moveTo>
                <a:lnTo>
                  <a:pt x="0" y="19050"/>
                </a:lnTo>
                <a:lnTo>
                  <a:pt x="0" y="31750"/>
                </a:lnTo>
                <a:lnTo>
                  <a:pt x="101600" y="31750"/>
                </a:lnTo>
                <a:lnTo>
                  <a:pt x="101600" y="19050"/>
                </a:lnTo>
                <a:close/>
              </a:path>
              <a:path w="152400" h="50800">
                <a:moveTo>
                  <a:pt x="139700" y="19050"/>
                </a:moveTo>
                <a:lnTo>
                  <a:pt x="114300" y="19050"/>
                </a:lnTo>
                <a:lnTo>
                  <a:pt x="114300" y="31750"/>
                </a:lnTo>
                <a:lnTo>
                  <a:pt x="139700" y="31750"/>
                </a:lnTo>
                <a:lnTo>
                  <a:pt x="152400" y="25400"/>
                </a:lnTo>
                <a:lnTo>
                  <a:pt x="139700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71342" y="78486"/>
            <a:ext cx="29457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(1</a:t>
            </a:r>
            <a:r>
              <a:rPr spc="-10" dirty="0">
                <a:latin typeface="Arial"/>
                <a:cs typeface="Arial"/>
              </a:rPr>
              <a:t>)</a:t>
            </a:r>
            <a:r>
              <a:rPr dirty="0"/>
              <a:t>类的关联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3501897"/>
            <a:ext cx="2228850" cy="1332865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400" dirty="0">
                <a:latin typeface="宋体"/>
                <a:cs typeface="宋体"/>
              </a:rPr>
              <a:t>重数值的表示：</a:t>
            </a:r>
            <a:endParaRPr sz="2400">
              <a:latin typeface="宋体"/>
              <a:cs typeface="宋体"/>
            </a:endParaRPr>
          </a:p>
          <a:p>
            <a:pPr marL="1576705" algn="ctr">
              <a:lnSpc>
                <a:spcPts val="2860"/>
              </a:lnSpc>
              <a:spcBef>
                <a:spcPts val="845"/>
              </a:spcBef>
            </a:pPr>
            <a:r>
              <a:rPr sz="2400" dirty="0">
                <a:latin typeface="宋体"/>
                <a:cs typeface="宋体"/>
              </a:rPr>
              <a:t>值</a:t>
            </a:r>
            <a:endParaRPr sz="2400">
              <a:latin typeface="宋体"/>
              <a:cs typeface="宋体"/>
            </a:endParaRPr>
          </a:p>
          <a:p>
            <a:pPr marL="1584960" algn="ctr">
              <a:lnSpc>
                <a:spcPts val="2860"/>
              </a:lnSpc>
            </a:pP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..m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3575" y="4082288"/>
            <a:ext cx="37655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表</a:t>
            </a:r>
            <a:r>
              <a:rPr sz="2400" spc="58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示</a:t>
            </a: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宋体"/>
                <a:cs typeface="宋体"/>
              </a:rPr>
              <a:t>表示与类的</a:t>
            </a:r>
            <a:r>
              <a:rPr sz="2400" spc="-5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宋体"/>
                <a:cs typeface="宋体"/>
              </a:rPr>
              <a:t>至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宋体"/>
                <a:cs typeface="宋体"/>
              </a:rPr>
              <a:t>个对象关联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09800" y="4495800"/>
            <a:ext cx="4953000" cy="0"/>
          </a:xfrm>
          <a:custGeom>
            <a:avLst/>
            <a:gdLst/>
            <a:ahLst/>
            <a:cxnLst/>
            <a:rect l="l" t="t" r="r" b="b"/>
            <a:pathLst>
              <a:path w="4953000">
                <a:moveTo>
                  <a:pt x="0" y="0"/>
                </a:moveTo>
                <a:lnTo>
                  <a:pt x="495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00" y="1025652"/>
            <a:ext cx="8001000" cy="955675"/>
          </a:xfrm>
          <a:custGeom>
            <a:avLst/>
            <a:gdLst/>
            <a:ahLst/>
            <a:cxnLst/>
            <a:rect l="l" t="t" r="r" b="b"/>
            <a:pathLst>
              <a:path w="8001000" h="955675">
                <a:moveTo>
                  <a:pt x="0" y="955548"/>
                </a:moveTo>
                <a:lnTo>
                  <a:pt x="8001000" y="955548"/>
                </a:lnTo>
                <a:lnTo>
                  <a:pt x="8001000" y="0"/>
                </a:lnTo>
                <a:lnTo>
                  <a:pt x="0" y="0"/>
                </a:lnTo>
                <a:lnTo>
                  <a:pt x="0" y="9555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marR="5080">
              <a:lnSpc>
                <a:spcPct val="100000"/>
              </a:lnSpc>
              <a:spcBef>
                <a:spcPts val="95"/>
              </a:spcBef>
            </a:pPr>
            <a:r>
              <a:rPr spc="5" dirty="0">
                <a:latin typeface="黑体"/>
                <a:cs typeface="黑体"/>
              </a:rPr>
              <a:t>重数定</a:t>
            </a:r>
            <a:r>
              <a:rPr spc="-5" dirty="0">
                <a:latin typeface="黑体"/>
                <a:cs typeface="黑体"/>
              </a:rPr>
              <a:t>义</a:t>
            </a:r>
            <a:r>
              <a:rPr spc="590" dirty="0">
                <a:latin typeface="黑体"/>
                <a:cs typeface="黑体"/>
              </a:rPr>
              <a:t> </a:t>
            </a:r>
            <a:r>
              <a:rPr spc="-5" dirty="0"/>
              <a:t>关联端上的重数，表示一端的对</a:t>
            </a:r>
            <a:r>
              <a:rPr spc="5" dirty="0"/>
              <a:t>象</a:t>
            </a:r>
            <a:r>
              <a:rPr spc="-5" dirty="0"/>
              <a:t>需要 另一端对象的个数。</a:t>
            </a:r>
          </a:p>
          <a:p>
            <a:pPr marL="78740">
              <a:lnSpc>
                <a:spcPct val="100000"/>
              </a:lnSpc>
              <a:spcBef>
                <a:spcPts val="825"/>
              </a:spcBef>
            </a:pPr>
            <a:r>
              <a:rPr sz="2400" dirty="0"/>
              <a:t>重数的表示</a:t>
            </a:r>
            <a:r>
              <a:rPr sz="2400" spc="-10" dirty="0"/>
              <a:t>：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/>
              <a:t>端的一个对象需要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dirty="0"/>
              <a:t>端</a:t>
            </a:r>
            <a:r>
              <a:rPr sz="2400" spc="-5" dirty="0">
                <a:latin typeface="Times New Roman"/>
                <a:cs typeface="Times New Roman"/>
              </a:rPr>
              <a:t>Mb</a:t>
            </a:r>
            <a:r>
              <a:rPr sz="2400" dirty="0"/>
              <a:t>个对象</a:t>
            </a:r>
            <a:endParaRPr sz="2400">
              <a:latin typeface="Times New Roman"/>
              <a:cs typeface="Times New Roman"/>
            </a:endParaRPr>
          </a:p>
          <a:p>
            <a:pPr marL="1907539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dirty="0"/>
              <a:t>端的一个对象需要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/>
              <a:t>端</a:t>
            </a:r>
            <a:r>
              <a:rPr sz="2400" spc="-5" dirty="0">
                <a:latin typeface="Times New Roman"/>
                <a:cs typeface="Times New Roman"/>
              </a:rPr>
              <a:t>Ma</a:t>
            </a:r>
            <a:r>
              <a:rPr sz="2400" dirty="0"/>
              <a:t>个对象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186237" y="2863405"/>
          <a:ext cx="2819400" cy="713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1">
                <a:tc>
                  <a:txBody>
                    <a:bodyPr/>
                    <a:lstStyle/>
                    <a:p>
                      <a:pPr marL="92075">
                        <a:lnSpc>
                          <a:spcPts val="16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915"/>
                        </a:spcBef>
                        <a:tabLst>
                          <a:tab pos="1185545" algn="l"/>
                        </a:tabLst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Ma	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62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600"/>
                        </a:lnSpc>
                        <a:spcBef>
                          <a:spcPts val="3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B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62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2075">
                        <a:lnSpc>
                          <a:spcPts val="13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3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3048000" y="4282440"/>
            <a:ext cx="0" cy="520065"/>
          </a:xfrm>
          <a:custGeom>
            <a:avLst/>
            <a:gdLst/>
            <a:ahLst/>
            <a:cxnLst/>
            <a:rect l="l" t="t" r="r" b="b"/>
            <a:pathLst>
              <a:path h="520064">
                <a:moveTo>
                  <a:pt x="0" y="0"/>
                </a:moveTo>
                <a:lnTo>
                  <a:pt x="0" y="51968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79144" y="5055489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例：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76337" y="5342953"/>
          <a:ext cx="2895600" cy="713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spc="-10" dirty="0">
                          <a:latin typeface="宋体"/>
                          <a:cs typeface="宋体"/>
                        </a:rPr>
                        <a:t>学生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340"/>
                        </a:spcBef>
                        <a:tabLst>
                          <a:tab pos="659765" algn="l"/>
                          <a:tab pos="1321435" algn="l"/>
                        </a:tabLst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0..*	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选修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2..8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0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课程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7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0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215">
                <a:tc>
                  <a:txBody>
                    <a:bodyPr/>
                    <a:lstStyle/>
                    <a:p>
                      <a:pPr marR="12700" algn="ctr">
                        <a:lnSpc>
                          <a:spcPts val="131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919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681537" y="5347525"/>
          <a:ext cx="3124200" cy="713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教授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25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1280"/>
                        </a:spcBef>
                        <a:tabLst>
                          <a:tab pos="660400" algn="l"/>
                          <a:tab pos="1322070" algn="l"/>
                        </a:tabLst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1..*	</a:t>
                      </a:r>
                      <a:r>
                        <a:rPr sz="1600" spc="-10" dirty="0">
                          <a:latin typeface="宋体"/>
                          <a:cs typeface="宋体"/>
                        </a:rPr>
                        <a:t>工</a:t>
                      </a:r>
                      <a:r>
                        <a:rPr sz="1600" spc="-5" dirty="0">
                          <a:latin typeface="宋体"/>
                          <a:cs typeface="宋体"/>
                        </a:rPr>
                        <a:t>作	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系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25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25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832">
                <a:tc>
                  <a:txBody>
                    <a:bodyPr/>
                    <a:lstStyle/>
                    <a:p>
                      <a:pPr marL="92075">
                        <a:lnSpc>
                          <a:spcPts val="919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919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742438" y="66547"/>
            <a:ext cx="3660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(2)</a:t>
            </a:r>
            <a:r>
              <a:rPr spc="-75" dirty="0">
                <a:latin typeface="Arial"/>
                <a:cs typeface="Arial"/>
              </a:rPr>
              <a:t> </a:t>
            </a:r>
            <a:r>
              <a:rPr dirty="0"/>
              <a:t>关联的重数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12166"/>
            <a:ext cx="6015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 err="1">
                <a:solidFill>
                  <a:srgbClr val="000000"/>
                </a:solidFill>
              </a:rPr>
              <a:t>在类中不用表示</a:t>
            </a:r>
            <a:r>
              <a:rPr sz="2800" u="heavy" spc="-5"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关联的具体项</a:t>
            </a:r>
            <a:r>
              <a:rPr sz="2000" dirty="0" err="1">
                <a:solidFill>
                  <a:srgbClr val="000000"/>
                </a:solidFill>
              </a:rPr>
              <a:t>（外键</a:t>
            </a:r>
            <a:r>
              <a:rPr sz="2000" dirty="0">
                <a:solidFill>
                  <a:srgbClr val="000000"/>
                </a:solidFill>
              </a:rPr>
              <a:t>）</a:t>
            </a:r>
            <a:r>
              <a:rPr sz="2800" spc="-5" dirty="0">
                <a:solidFill>
                  <a:srgbClr val="000000"/>
                </a:solidFill>
              </a:rPr>
              <a:t>。</a:t>
            </a:r>
            <a:r>
              <a:rPr lang="en-US" sz="2800" spc="-5" dirty="0">
                <a:solidFill>
                  <a:srgbClr val="000000"/>
                </a:solidFill>
              </a:rPr>
              <a:t>        </a:t>
            </a:r>
            <a:endParaRPr sz="2800" dirty="0"/>
          </a:p>
        </p:txBody>
      </p:sp>
      <p:sp>
        <p:nvSpPr>
          <p:cNvPr id="3" name="object 3"/>
          <p:cNvSpPr/>
          <p:nvPr/>
        </p:nvSpPr>
        <p:spPr>
          <a:xfrm>
            <a:off x="2444495" y="972311"/>
            <a:ext cx="838200" cy="1935480"/>
          </a:xfrm>
          <a:custGeom>
            <a:avLst/>
            <a:gdLst/>
            <a:ahLst/>
            <a:cxnLst/>
            <a:rect l="l" t="t" r="r" b="b"/>
            <a:pathLst>
              <a:path w="838200" h="1935480">
                <a:moveTo>
                  <a:pt x="0" y="1935480"/>
                </a:moveTo>
                <a:lnTo>
                  <a:pt x="838200" y="1935480"/>
                </a:lnTo>
                <a:lnTo>
                  <a:pt x="838200" y="0"/>
                </a:lnTo>
                <a:lnTo>
                  <a:pt x="0" y="0"/>
                </a:lnTo>
                <a:lnTo>
                  <a:pt x="0" y="19354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44495" y="972311"/>
            <a:ext cx="838200" cy="3657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600" b="1" spc="-5" dirty="0">
                <a:latin typeface="宋体"/>
                <a:cs typeface="宋体"/>
              </a:rPr>
              <a:t>教授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4495" y="1338072"/>
            <a:ext cx="838200" cy="13220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 marR="125730">
              <a:lnSpc>
                <a:spcPct val="100000"/>
              </a:lnSpc>
              <a:spcBef>
                <a:spcPts val="320"/>
              </a:spcBef>
            </a:pPr>
            <a:r>
              <a:rPr sz="1600" b="1" spc="-5" dirty="0">
                <a:solidFill>
                  <a:srgbClr val="FF3300"/>
                </a:solidFill>
                <a:latin typeface="宋体"/>
                <a:cs typeface="宋体"/>
              </a:rPr>
              <a:t>系名 </a:t>
            </a:r>
            <a:r>
              <a:rPr sz="1600" b="1" spc="-5" dirty="0">
                <a:latin typeface="宋体"/>
                <a:cs typeface="宋体"/>
              </a:rPr>
              <a:t>姓名 头衔 职工号</a:t>
            </a:r>
            <a:endParaRPr sz="1600">
              <a:latin typeface="宋体"/>
              <a:cs typeface="宋体"/>
            </a:endParaRPr>
          </a:p>
          <a:p>
            <a:pPr marL="92075">
              <a:lnSpc>
                <a:spcPts val="1910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11496" y="972311"/>
            <a:ext cx="1143000" cy="1690370"/>
          </a:xfrm>
          <a:custGeom>
            <a:avLst/>
            <a:gdLst/>
            <a:ahLst/>
            <a:cxnLst/>
            <a:rect l="l" t="t" r="r" b="b"/>
            <a:pathLst>
              <a:path w="1143000" h="1690370">
                <a:moveTo>
                  <a:pt x="0" y="1690116"/>
                </a:moveTo>
                <a:lnTo>
                  <a:pt x="1143000" y="1690116"/>
                </a:lnTo>
                <a:lnTo>
                  <a:pt x="1143000" y="0"/>
                </a:lnTo>
                <a:lnTo>
                  <a:pt x="0" y="0"/>
                </a:lnTo>
                <a:lnTo>
                  <a:pt x="0" y="16901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11496" y="972311"/>
            <a:ext cx="1143000" cy="3657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320"/>
              </a:spcBef>
            </a:pPr>
            <a:r>
              <a:rPr sz="1600" b="1" spc="-15" dirty="0">
                <a:latin typeface="宋体"/>
                <a:cs typeface="宋体"/>
              </a:rPr>
              <a:t>系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1496" y="1338072"/>
            <a:ext cx="1143000" cy="1066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320"/>
              </a:spcBef>
            </a:pPr>
            <a:r>
              <a:rPr sz="1600" b="1" spc="-5" dirty="0">
                <a:latin typeface="宋体"/>
                <a:cs typeface="宋体"/>
              </a:rPr>
              <a:t>系名</a:t>
            </a:r>
            <a:endParaRPr sz="1600">
              <a:latin typeface="宋体"/>
              <a:cs typeface="宋体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宋体"/>
                <a:cs typeface="宋体"/>
              </a:rPr>
              <a:t>系号</a:t>
            </a:r>
            <a:endParaRPr sz="1600">
              <a:latin typeface="宋体"/>
              <a:cs typeface="宋体"/>
            </a:endParaRPr>
          </a:p>
          <a:p>
            <a:pPr marL="19050">
              <a:lnSpc>
                <a:spcPts val="1914"/>
              </a:lnSpc>
            </a:pPr>
            <a:r>
              <a:rPr sz="1600" b="1" spc="-5" dirty="0">
                <a:solidFill>
                  <a:srgbClr val="FF3300"/>
                </a:solidFill>
                <a:latin typeface="宋体"/>
                <a:cs typeface="宋体"/>
              </a:rPr>
              <a:t>系主任姓名</a:t>
            </a:r>
            <a:endParaRPr sz="1600">
              <a:latin typeface="宋体"/>
              <a:cs typeface="宋体"/>
            </a:endParaRPr>
          </a:p>
          <a:p>
            <a:pPr marL="19050">
              <a:lnSpc>
                <a:spcPts val="1914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1177" y="1184859"/>
            <a:ext cx="165671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6865" algn="l"/>
                <a:tab pos="1339850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1	</a:t>
            </a:r>
            <a:r>
              <a:rPr sz="1600" b="1" spc="-5" dirty="0">
                <a:latin typeface="宋体"/>
                <a:cs typeface="宋体"/>
              </a:rPr>
              <a:t>任系主</a:t>
            </a:r>
            <a:r>
              <a:rPr sz="1600" b="1" spc="-10" dirty="0">
                <a:latin typeface="宋体"/>
                <a:cs typeface="宋体"/>
              </a:rPr>
              <a:t>任</a:t>
            </a:r>
            <a:r>
              <a:rPr sz="1600" b="1" dirty="0">
                <a:latin typeface="宋体"/>
                <a:cs typeface="宋体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0.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82696" y="1533144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44495" y="2657855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11496" y="2404872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4941" y="3727450"/>
            <a:ext cx="537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例：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53896" y="3700271"/>
            <a:ext cx="1143000" cy="2423160"/>
          </a:xfrm>
          <a:custGeom>
            <a:avLst/>
            <a:gdLst/>
            <a:ahLst/>
            <a:cxnLst/>
            <a:rect l="l" t="t" r="r" b="b"/>
            <a:pathLst>
              <a:path w="1143000" h="2423160">
                <a:moveTo>
                  <a:pt x="0" y="2423160"/>
                </a:moveTo>
                <a:lnTo>
                  <a:pt x="1143000" y="2423160"/>
                </a:lnTo>
                <a:lnTo>
                  <a:pt x="1143000" y="0"/>
                </a:lnTo>
                <a:lnTo>
                  <a:pt x="0" y="0"/>
                </a:lnTo>
                <a:lnTo>
                  <a:pt x="0" y="242316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53896" y="3700271"/>
            <a:ext cx="1143000" cy="3403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320"/>
              </a:spcBef>
            </a:pPr>
            <a:r>
              <a:rPr sz="1600" b="1" spc="-5" dirty="0">
                <a:latin typeface="宋体"/>
                <a:cs typeface="宋体"/>
              </a:rPr>
              <a:t>商品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53896" y="4040123"/>
            <a:ext cx="1143000" cy="18395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6675" rIns="0" bIns="0" rtlCol="0">
            <a:spAutoFit/>
          </a:bodyPr>
          <a:lstStyle/>
          <a:p>
            <a:pPr marL="18415" marR="708025">
              <a:lnSpc>
                <a:spcPct val="100000"/>
              </a:lnSpc>
              <a:spcBef>
                <a:spcPts val="525"/>
              </a:spcBef>
            </a:pPr>
            <a:r>
              <a:rPr sz="1600" b="1" dirty="0">
                <a:latin typeface="宋体"/>
                <a:cs typeface="宋体"/>
              </a:rPr>
              <a:t>名称 编号</a:t>
            </a:r>
            <a:endParaRPr sz="1600">
              <a:latin typeface="宋体"/>
              <a:cs typeface="宋体"/>
            </a:endParaRPr>
          </a:p>
          <a:p>
            <a:pPr marL="18415" marR="299720" algn="just">
              <a:lnSpc>
                <a:spcPct val="100000"/>
              </a:lnSpc>
            </a:pPr>
            <a:r>
              <a:rPr sz="1600" b="1" dirty="0">
                <a:solidFill>
                  <a:srgbClr val="FF3300"/>
                </a:solidFill>
                <a:latin typeface="宋体"/>
                <a:cs typeface="宋体"/>
              </a:rPr>
              <a:t>类型编号 类型名称 类型规格 </a:t>
            </a:r>
            <a:r>
              <a:rPr sz="1600" b="1" spc="-5" dirty="0">
                <a:latin typeface="宋体"/>
                <a:cs typeface="宋体"/>
              </a:rPr>
              <a:t>价格</a:t>
            </a:r>
            <a:endParaRPr sz="1600">
              <a:latin typeface="宋体"/>
              <a:cs typeface="宋体"/>
            </a:endParaRPr>
          </a:p>
          <a:p>
            <a:pPr marL="18415">
              <a:lnSpc>
                <a:spcPts val="1910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53896" y="4040123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53896" y="5879591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497133" y="3695509"/>
          <a:ext cx="3124200" cy="1943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商品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381635" algn="l"/>
                          <a:tab pos="944244" algn="l"/>
                        </a:tabLst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*	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对</a:t>
                      </a:r>
                      <a:r>
                        <a:rPr sz="1600" b="1" spc="-15" dirty="0">
                          <a:latin typeface="宋体"/>
                          <a:cs typeface="宋体"/>
                        </a:rPr>
                        <a:t>应	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商品类型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30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rowSpan="3">
                  <a:txBody>
                    <a:bodyPr/>
                    <a:lstStyle/>
                    <a:p>
                      <a:pPr marL="18415" marR="478790" algn="just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名称 编号 规格 价格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18415">
                        <a:lnSpc>
                          <a:spcPts val="191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050" marR="631825" algn="just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spc="10" dirty="0">
                          <a:latin typeface="宋体"/>
                          <a:cs typeface="宋体"/>
                        </a:rPr>
                        <a:t>编号 名称 规格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0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127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4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18540" y="3100577"/>
            <a:ext cx="6418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有数据冗余的类，可拆分类并关联</a:t>
            </a:r>
            <a:r>
              <a:rPr sz="2800" dirty="0">
                <a:latin typeface="宋体"/>
                <a:cs typeface="宋体"/>
              </a:rPr>
              <a:t>它</a:t>
            </a:r>
            <a:r>
              <a:rPr sz="2800" spc="-5" dirty="0">
                <a:latin typeface="宋体"/>
                <a:cs typeface="宋体"/>
              </a:rPr>
              <a:t>们。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09925" y="4642230"/>
            <a:ext cx="5378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拆分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30295" y="4386071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0" y="57150"/>
                </a:moveTo>
                <a:lnTo>
                  <a:pt x="571500" y="57150"/>
                </a:lnTo>
                <a:lnTo>
                  <a:pt x="571500" y="0"/>
                </a:lnTo>
                <a:lnTo>
                  <a:pt x="762000" y="114300"/>
                </a:lnTo>
                <a:lnTo>
                  <a:pt x="571500" y="228600"/>
                </a:lnTo>
                <a:lnTo>
                  <a:pt x="571500" y="171450"/>
                </a:lnTo>
                <a:lnTo>
                  <a:pt x="0" y="171450"/>
                </a:lnTo>
                <a:lnTo>
                  <a:pt x="0" y="571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60295" y="4836667"/>
            <a:ext cx="1684655" cy="1119505"/>
          </a:xfrm>
          <a:custGeom>
            <a:avLst/>
            <a:gdLst/>
            <a:ahLst/>
            <a:cxnLst/>
            <a:rect l="l" t="t" r="r" b="b"/>
            <a:pathLst>
              <a:path w="1684654" h="1119504">
                <a:moveTo>
                  <a:pt x="465200" y="674623"/>
                </a:moveTo>
                <a:lnTo>
                  <a:pt x="472180" y="639998"/>
                </a:lnTo>
                <a:lnTo>
                  <a:pt x="491220" y="611743"/>
                </a:lnTo>
                <a:lnTo>
                  <a:pt x="519475" y="592703"/>
                </a:lnTo>
                <a:lnTo>
                  <a:pt x="554101" y="585723"/>
                </a:lnTo>
                <a:lnTo>
                  <a:pt x="668401" y="585723"/>
                </a:lnTo>
                <a:lnTo>
                  <a:pt x="0" y="0"/>
                </a:lnTo>
                <a:lnTo>
                  <a:pt x="973201" y="585723"/>
                </a:lnTo>
                <a:lnTo>
                  <a:pt x="1595501" y="585723"/>
                </a:lnTo>
                <a:lnTo>
                  <a:pt x="1630126" y="592703"/>
                </a:lnTo>
                <a:lnTo>
                  <a:pt x="1658381" y="611743"/>
                </a:lnTo>
                <a:lnTo>
                  <a:pt x="1677421" y="639998"/>
                </a:lnTo>
                <a:lnTo>
                  <a:pt x="1684401" y="674623"/>
                </a:lnTo>
                <a:lnTo>
                  <a:pt x="1684401" y="807973"/>
                </a:lnTo>
                <a:lnTo>
                  <a:pt x="1684401" y="1030223"/>
                </a:lnTo>
                <a:lnTo>
                  <a:pt x="1677421" y="1064827"/>
                </a:lnTo>
                <a:lnTo>
                  <a:pt x="1658381" y="1093085"/>
                </a:lnTo>
                <a:lnTo>
                  <a:pt x="1630126" y="1112137"/>
                </a:lnTo>
                <a:lnTo>
                  <a:pt x="1595501" y="1119123"/>
                </a:lnTo>
                <a:lnTo>
                  <a:pt x="973201" y="1119123"/>
                </a:lnTo>
                <a:lnTo>
                  <a:pt x="668401" y="1119123"/>
                </a:lnTo>
                <a:lnTo>
                  <a:pt x="554101" y="1119123"/>
                </a:lnTo>
                <a:lnTo>
                  <a:pt x="519475" y="1112137"/>
                </a:lnTo>
                <a:lnTo>
                  <a:pt x="491220" y="1093085"/>
                </a:lnTo>
                <a:lnTo>
                  <a:pt x="472180" y="1064827"/>
                </a:lnTo>
                <a:lnTo>
                  <a:pt x="465200" y="1030223"/>
                </a:lnTo>
                <a:lnTo>
                  <a:pt x="465200" y="807973"/>
                </a:lnTo>
                <a:lnTo>
                  <a:pt x="465200" y="67462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976117" y="5487111"/>
            <a:ext cx="920115" cy="4438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5"/>
              </a:spcBef>
            </a:pPr>
            <a:r>
              <a:rPr sz="1400" b="1" spc="5" dirty="0">
                <a:latin typeface="宋体"/>
                <a:cs typeface="宋体"/>
              </a:rPr>
              <a:t>同种</a:t>
            </a:r>
            <a:r>
              <a:rPr sz="1400" b="1" spc="-5" dirty="0">
                <a:latin typeface="宋体"/>
                <a:cs typeface="宋体"/>
              </a:rPr>
              <a:t>类型的 </a:t>
            </a:r>
            <a:r>
              <a:rPr sz="1400" b="1" spc="5" dirty="0">
                <a:latin typeface="宋体"/>
                <a:cs typeface="宋体"/>
              </a:rPr>
              <a:t>商品</a:t>
            </a:r>
            <a:r>
              <a:rPr sz="1400" b="1" spc="-5" dirty="0">
                <a:latin typeface="宋体"/>
                <a:cs typeface="宋体"/>
              </a:rPr>
              <a:t>会很多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92095" y="926591"/>
            <a:ext cx="4038600" cy="1905000"/>
          </a:xfrm>
          <a:custGeom>
            <a:avLst/>
            <a:gdLst/>
            <a:ahLst/>
            <a:cxnLst/>
            <a:rect l="l" t="t" r="r" b="b"/>
            <a:pathLst>
              <a:path w="4038600" h="1905000">
                <a:moveTo>
                  <a:pt x="0" y="0"/>
                </a:moveTo>
                <a:lnTo>
                  <a:pt x="4038600" y="190500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92095" y="1078991"/>
            <a:ext cx="4191000" cy="1600200"/>
          </a:xfrm>
          <a:custGeom>
            <a:avLst/>
            <a:gdLst/>
            <a:ahLst/>
            <a:cxnLst/>
            <a:rect l="l" t="t" r="r" b="b"/>
            <a:pathLst>
              <a:path w="4191000" h="1600200">
                <a:moveTo>
                  <a:pt x="0" y="1600200"/>
                </a:moveTo>
                <a:lnTo>
                  <a:pt x="419100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1000" y="293979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81400" y="3244595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81400" y="3272028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76800" y="3272028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67200" y="3092195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85837" y="1872805"/>
          <a:ext cx="2783205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4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系统操作员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449580" algn="l"/>
                          <a:tab pos="1193165" algn="l"/>
                        </a:tabLst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使用</a:t>
                      </a:r>
                      <a:r>
                        <a:rPr sz="1400" b="1" spc="5" dirty="0">
                          <a:latin typeface="Tahoma"/>
                          <a:cs typeface="Tahoma"/>
                        </a:rPr>
                        <a:t>→	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162">
                <a:tc rowSpan="2">
                  <a:txBody>
                    <a:bodyPr/>
                    <a:lstStyle/>
                    <a:p>
                      <a:pPr marL="91440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8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0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805237" y="1824037"/>
          <a:ext cx="990600" cy="1078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432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计算机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563">
                <a:tc>
                  <a:txBody>
                    <a:bodyPr/>
                    <a:lstStyle/>
                    <a:p>
                      <a:pPr marL="18415">
                        <a:lnSpc>
                          <a:spcPts val="189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119437" y="3544633"/>
          <a:ext cx="990600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8431"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服务器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marL="18415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5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38637" y="3495865"/>
          <a:ext cx="3733800" cy="1079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5">
                <a:tc rowSpan="2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客户机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654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8415">
                        <a:lnSpc>
                          <a:spcPct val="100000"/>
                        </a:lnSpc>
                        <a:tabLst>
                          <a:tab pos="730250" algn="l"/>
                          <a:tab pos="1495425" algn="l"/>
                        </a:tabLst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0..1	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使</a:t>
                      </a:r>
                      <a:r>
                        <a:rPr sz="1600" b="1" spc="-15" dirty="0">
                          <a:latin typeface="宋体"/>
                          <a:cs typeface="宋体"/>
                        </a:rPr>
                        <a:t>用	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0..*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用户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65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54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">
                <a:tc rowSpan="2">
                  <a:txBody>
                    <a:bodyPr/>
                    <a:lstStyle/>
                    <a:p>
                      <a:pPr marL="18415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3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5940" y="1013917"/>
            <a:ext cx="5001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00"/>
                </a:solidFill>
              </a:rPr>
              <a:t>特殊类直接继承一般类的关联：</a:t>
            </a:r>
            <a:endParaRPr sz="2800"/>
          </a:p>
        </p:txBody>
      </p:sp>
      <p:sp>
        <p:nvSpPr>
          <p:cNvPr id="12" name="object 12"/>
          <p:cNvSpPr/>
          <p:nvPr/>
        </p:nvSpPr>
        <p:spPr>
          <a:xfrm>
            <a:off x="5867400" y="3828796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52400" h="50800">
                <a:moveTo>
                  <a:pt x="50800" y="0"/>
                </a:moveTo>
                <a:lnTo>
                  <a:pt x="0" y="25399"/>
                </a:lnTo>
                <a:lnTo>
                  <a:pt x="50800" y="50799"/>
                </a:lnTo>
                <a:lnTo>
                  <a:pt x="50800" y="31749"/>
                </a:lnTo>
                <a:lnTo>
                  <a:pt x="38100" y="31749"/>
                </a:lnTo>
                <a:lnTo>
                  <a:pt x="38100" y="19049"/>
                </a:lnTo>
                <a:lnTo>
                  <a:pt x="50800" y="19049"/>
                </a:lnTo>
                <a:lnTo>
                  <a:pt x="50800" y="0"/>
                </a:lnTo>
                <a:close/>
              </a:path>
              <a:path w="152400" h="50800">
                <a:moveTo>
                  <a:pt x="50800" y="19049"/>
                </a:moveTo>
                <a:lnTo>
                  <a:pt x="38100" y="19049"/>
                </a:lnTo>
                <a:lnTo>
                  <a:pt x="38100" y="31749"/>
                </a:lnTo>
                <a:lnTo>
                  <a:pt x="50800" y="31749"/>
                </a:lnTo>
                <a:lnTo>
                  <a:pt x="50800" y="19049"/>
                </a:lnTo>
                <a:close/>
              </a:path>
              <a:path w="152400" h="50800">
                <a:moveTo>
                  <a:pt x="152400" y="19049"/>
                </a:moveTo>
                <a:lnTo>
                  <a:pt x="50800" y="19049"/>
                </a:lnTo>
                <a:lnTo>
                  <a:pt x="50800" y="31749"/>
                </a:lnTo>
                <a:lnTo>
                  <a:pt x="152400" y="31749"/>
                </a:lnTo>
                <a:lnTo>
                  <a:pt x="152400" y="19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" y="3352800"/>
            <a:ext cx="152400" cy="161925"/>
          </a:xfrm>
          <a:custGeom>
            <a:avLst/>
            <a:gdLst/>
            <a:ahLst/>
            <a:cxnLst/>
            <a:rect l="l" t="t" r="r" b="b"/>
            <a:pathLst>
              <a:path w="152400" h="161925">
                <a:moveTo>
                  <a:pt x="0" y="161544"/>
                </a:moveTo>
                <a:lnTo>
                  <a:pt x="76200" y="0"/>
                </a:lnTo>
                <a:lnTo>
                  <a:pt x="152400" y="161544"/>
                </a:lnTo>
                <a:lnTo>
                  <a:pt x="0" y="16154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66800" y="3657600"/>
            <a:ext cx="838200" cy="1905"/>
          </a:xfrm>
          <a:custGeom>
            <a:avLst/>
            <a:gdLst/>
            <a:ahLst/>
            <a:cxnLst/>
            <a:rect l="l" t="t" r="r" b="b"/>
            <a:pathLst>
              <a:path w="838200" h="1904">
                <a:moveTo>
                  <a:pt x="0" y="0"/>
                </a:moveTo>
                <a:lnTo>
                  <a:pt x="8382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66800" y="36576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5000" y="36576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38600" y="4168140"/>
            <a:ext cx="609600" cy="1080770"/>
          </a:xfrm>
          <a:custGeom>
            <a:avLst/>
            <a:gdLst/>
            <a:ahLst/>
            <a:cxnLst/>
            <a:rect l="l" t="t" r="r" b="b"/>
            <a:pathLst>
              <a:path w="609600" h="1080770">
                <a:moveTo>
                  <a:pt x="0" y="1080516"/>
                </a:moveTo>
                <a:lnTo>
                  <a:pt x="609600" y="1080516"/>
                </a:lnTo>
                <a:lnTo>
                  <a:pt x="609600" y="0"/>
                </a:lnTo>
                <a:lnTo>
                  <a:pt x="0" y="0"/>
                </a:lnTo>
                <a:lnTo>
                  <a:pt x="0" y="10805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38600" y="4168140"/>
            <a:ext cx="609600" cy="4838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600" b="1" spc="-5" dirty="0">
                <a:latin typeface="宋体"/>
                <a:cs typeface="宋体"/>
              </a:rPr>
              <a:t>教授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8600" y="4652009"/>
            <a:ext cx="609600" cy="3060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310"/>
              </a:lnSpc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8600" y="4957571"/>
            <a:ext cx="609600" cy="2914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785"/>
              </a:lnSpc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86200" y="35859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81400" y="3890771"/>
            <a:ext cx="838200" cy="1905"/>
          </a:xfrm>
          <a:custGeom>
            <a:avLst/>
            <a:gdLst/>
            <a:ahLst/>
            <a:cxnLst/>
            <a:rect l="l" t="t" r="r" b="b"/>
            <a:pathLst>
              <a:path w="838200" h="1904">
                <a:moveTo>
                  <a:pt x="0" y="0"/>
                </a:moveTo>
                <a:lnTo>
                  <a:pt x="838200" y="152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1400" y="3890771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0" y="0"/>
                </a:moveTo>
                <a:lnTo>
                  <a:pt x="1524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19600" y="3890771"/>
            <a:ext cx="0" cy="300355"/>
          </a:xfrm>
          <a:custGeom>
            <a:avLst/>
            <a:gdLst/>
            <a:ahLst/>
            <a:cxnLst/>
            <a:rect l="l" t="t" r="r" b="b"/>
            <a:pathLst>
              <a:path h="300354">
                <a:moveTo>
                  <a:pt x="0" y="0"/>
                </a:moveTo>
                <a:lnTo>
                  <a:pt x="0" y="30022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652837" y="2237041"/>
          <a:ext cx="1295400" cy="1279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4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93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34">
                <a:tc rowSpan="2" gridSpan="2">
                  <a:txBody>
                    <a:bodyPr/>
                    <a:lstStyle/>
                    <a:p>
                      <a:pPr marL="92075">
                        <a:lnSpc>
                          <a:spcPts val="189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0..*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1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81037" y="3930205"/>
          <a:ext cx="609600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539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学生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ts val="13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321">
                <a:tc>
                  <a:txBody>
                    <a:bodyPr/>
                    <a:lstStyle/>
                    <a:p>
                      <a:pPr marL="91440">
                        <a:lnSpc>
                          <a:spcPts val="178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214437" y="2205037"/>
          <a:ext cx="1447800" cy="2805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 rowSpan="2"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5240">
                        <a:lnSpc>
                          <a:spcPts val="17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0..*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594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2004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指导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805">
                <a:tc gridSpan="2">
                  <a:txBody>
                    <a:bodyPr/>
                    <a:lstStyle/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176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7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教授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marL="91440">
                        <a:lnSpc>
                          <a:spcPts val="131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9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0..*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3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ts val="178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195637" y="4163377"/>
          <a:ext cx="609600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学生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562"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083">
                <a:tc>
                  <a:txBody>
                    <a:bodyPr/>
                    <a:lstStyle/>
                    <a:p>
                      <a:pPr marL="92075">
                        <a:lnSpc>
                          <a:spcPts val="1785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5032628" y="2462529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指导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65575" y="1976450"/>
            <a:ext cx="329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0.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389026" y="1035558"/>
            <a:ext cx="7491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00"/>
                </a:solidFill>
              </a:rPr>
              <a:t>同样的类，由于关联不同，可以有</a:t>
            </a:r>
            <a:r>
              <a:rPr sz="2800" spc="5" dirty="0">
                <a:solidFill>
                  <a:srgbClr val="000000"/>
                </a:solidFill>
              </a:rPr>
              <a:t>不</a:t>
            </a:r>
            <a:r>
              <a:rPr sz="2800" spc="-5" dirty="0">
                <a:solidFill>
                  <a:srgbClr val="000000"/>
                </a:solidFill>
              </a:rPr>
              <a:t>同的</a:t>
            </a:r>
            <a:r>
              <a:rPr sz="2800" spc="5" dirty="0">
                <a:solidFill>
                  <a:srgbClr val="000000"/>
                </a:solidFill>
              </a:rPr>
              <a:t>表</a:t>
            </a:r>
            <a:r>
              <a:rPr sz="2800" spc="-5" dirty="0">
                <a:solidFill>
                  <a:srgbClr val="000000"/>
                </a:solidFill>
              </a:rPr>
              <a:t>示：</a:t>
            </a:r>
            <a:endParaRPr sz="2800"/>
          </a:p>
        </p:txBody>
      </p:sp>
      <p:sp>
        <p:nvSpPr>
          <p:cNvPr id="21" name="object 21"/>
          <p:cNvSpPr/>
          <p:nvPr/>
        </p:nvSpPr>
        <p:spPr>
          <a:xfrm>
            <a:off x="1524000" y="3505200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62400" y="3738371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00800" y="2177795"/>
            <a:ext cx="609600" cy="1080770"/>
          </a:xfrm>
          <a:custGeom>
            <a:avLst/>
            <a:gdLst/>
            <a:ahLst/>
            <a:cxnLst/>
            <a:rect l="l" t="t" r="r" b="b"/>
            <a:pathLst>
              <a:path w="609600" h="1080770">
                <a:moveTo>
                  <a:pt x="0" y="1080515"/>
                </a:moveTo>
                <a:lnTo>
                  <a:pt x="609600" y="1080515"/>
                </a:lnTo>
                <a:lnTo>
                  <a:pt x="609600" y="0"/>
                </a:lnTo>
                <a:lnTo>
                  <a:pt x="0" y="0"/>
                </a:lnTo>
                <a:lnTo>
                  <a:pt x="0" y="108051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400800" y="2177795"/>
            <a:ext cx="609600" cy="4089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sz="1600" b="1" spc="-15" dirty="0">
                <a:latin typeface="宋体"/>
                <a:cs typeface="宋体"/>
              </a:rPr>
              <a:t>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00800" y="2586227"/>
            <a:ext cx="609600" cy="3536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900"/>
              </a:lnSpc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00800" y="2939795"/>
            <a:ext cx="609600" cy="3187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75"/>
              </a:spcBef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629400" y="332079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5557837" y="3805237"/>
          <a:ext cx="2133600" cy="14020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5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434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学生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* 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指 </a:t>
                      </a:r>
                      <a:r>
                        <a:rPr sz="1600" b="1" spc="-15" dirty="0">
                          <a:latin typeface="宋体"/>
                          <a:cs typeface="宋体"/>
                        </a:rPr>
                        <a:t>导</a:t>
                      </a:r>
                      <a:r>
                        <a:rPr sz="1600" b="1" spc="-459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71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教授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01">
                <a:tc rowSpan="2" gridSpan="2">
                  <a:txBody>
                    <a:bodyPr/>
                    <a:lstStyle/>
                    <a:p>
                      <a:pPr marL="92075">
                        <a:lnSpc>
                          <a:spcPts val="178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771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92075">
                        <a:lnSpc>
                          <a:spcPts val="178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95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084">
                <a:tc gridSpan="2">
                  <a:txBody>
                    <a:bodyPr/>
                    <a:lstStyle/>
                    <a:p>
                      <a:pPr marL="92075">
                        <a:lnSpc>
                          <a:spcPts val="1785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785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6705600" y="3473196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2600" y="1905000"/>
            <a:ext cx="1371600" cy="1290955"/>
          </a:xfrm>
          <a:custGeom>
            <a:avLst/>
            <a:gdLst/>
            <a:ahLst/>
            <a:cxnLst/>
            <a:rect l="l" t="t" r="r" b="b"/>
            <a:pathLst>
              <a:path w="1371600" h="1290955">
                <a:moveTo>
                  <a:pt x="0" y="1290827"/>
                </a:moveTo>
                <a:lnTo>
                  <a:pt x="1371600" y="1290827"/>
                </a:lnTo>
                <a:lnTo>
                  <a:pt x="1371600" y="0"/>
                </a:lnTo>
                <a:lnTo>
                  <a:pt x="0" y="0"/>
                </a:lnTo>
                <a:lnTo>
                  <a:pt x="0" y="129082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52600" y="1905000"/>
            <a:ext cx="13716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系统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600" y="22860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2600" y="27432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05600" y="4408932"/>
            <a:ext cx="1371600" cy="1290955"/>
          </a:xfrm>
          <a:custGeom>
            <a:avLst/>
            <a:gdLst/>
            <a:ahLst/>
            <a:cxnLst/>
            <a:rect l="l" t="t" r="r" b="b"/>
            <a:pathLst>
              <a:path w="1371600" h="1290954">
                <a:moveTo>
                  <a:pt x="0" y="1290828"/>
                </a:moveTo>
                <a:lnTo>
                  <a:pt x="1371600" y="1290828"/>
                </a:lnTo>
                <a:lnTo>
                  <a:pt x="1371600" y="0"/>
                </a:lnTo>
                <a:lnTo>
                  <a:pt x="0" y="0"/>
                </a:lnTo>
                <a:lnTo>
                  <a:pt x="0" y="129082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05600" y="4408932"/>
            <a:ext cx="13716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传感器事件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05600" y="4789932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05600" y="52578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29400" y="2209800"/>
            <a:ext cx="1371600" cy="1290955"/>
          </a:xfrm>
          <a:custGeom>
            <a:avLst/>
            <a:gdLst/>
            <a:ahLst/>
            <a:cxnLst/>
            <a:rect l="l" t="t" r="r" b="b"/>
            <a:pathLst>
              <a:path w="1371600" h="1290954">
                <a:moveTo>
                  <a:pt x="0" y="1290827"/>
                </a:moveTo>
                <a:lnTo>
                  <a:pt x="1371600" y="1290827"/>
                </a:lnTo>
                <a:lnTo>
                  <a:pt x="1371600" y="0"/>
                </a:lnTo>
                <a:lnTo>
                  <a:pt x="0" y="0"/>
                </a:lnTo>
                <a:lnTo>
                  <a:pt x="0" y="129082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29400" y="2209800"/>
            <a:ext cx="13716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传感器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29400" y="25908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29400" y="30480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29200" y="1524000"/>
            <a:ext cx="1371600" cy="1290955"/>
          </a:xfrm>
          <a:custGeom>
            <a:avLst/>
            <a:gdLst/>
            <a:ahLst/>
            <a:cxnLst/>
            <a:rect l="l" t="t" r="r" b="b"/>
            <a:pathLst>
              <a:path w="1371600" h="1290955">
                <a:moveTo>
                  <a:pt x="0" y="1290827"/>
                </a:moveTo>
                <a:lnTo>
                  <a:pt x="1371600" y="1290827"/>
                </a:lnTo>
                <a:lnTo>
                  <a:pt x="1371600" y="0"/>
                </a:lnTo>
                <a:lnTo>
                  <a:pt x="0" y="0"/>
                </a:lnTo>
                <a:lnTo>
                  <a:pt x="0" y="129082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029200" y="1524000"/>
            <a:ext cx="13716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335"/>
              </a:spcBef>
            </a:pPr>
            <a:r>
              <a:rPr sz="1800" b="1" dirty="0">
                <a:latin typeface="宋体"/>
                <a:cs typeface="宋体"/>
              </a:rPr>
              <a:t>控制台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29200" y="19050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29200" y="23622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4400" y="4267200"/>
            <a:ext cx="1371600" cy="1321435"/>
          </a:xfrm>
          <a:custGeom>
            <a:avLst/>
            <a:gdLst/>
            <a:ahLst/>
            <a:cxnLst/>
            <a:rect l="l" t="t" r="r" b="b"/>
            <a:pathLst>
              <a:path w="1371600" h="1321435">
                <a:moveTo>
                  <a:pt x="0" y="1321308"/>
                </a:moveTo>
                <a:lnTo>
                  <a:pt x="1371600" y="1321308"/>
                </a:lnTo>
                <a:lnTo>
                  <a:pt x="1371600" y="0"/>
                </a:lnTo>
                <a:lnTo>
                  <a:pt x="0" y="0"/>
                </a:lnTo>
                <a:lnTo>
                  <a:pt x="0" y="13213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14400" y="4267200"/>
            <a:ext cx="13716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330"/>
              </a:spcBef>
            </a:pPr>
            <a:r>
              <a:rPr sz="2000" b="1" spc="5" dirty="0">
                <a:latin typeface="宋体"/>
                <a:cs typeface="宋体"/>
              </a:rPr>
              <a:t>警报器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4400" y="46482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14400" y="51054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188335" y="1902713"/>
            <a:ext cx="2927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1.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88335" y="2953638"/>
            <a:ext cx="2927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1.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11553" y="3182238"/>
            <a:ext cx="2927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1.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1553" y="4036567"/>
            <a:ext cx="3028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0.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60389" y="2953638"/>
            <a:ext cx="3524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Times New Roman"/>
                <a:cs typeface="Times New Roman"/>
              </a:rPr>
              <a:t>1.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22769" y="4173092"/>
            <a:ext cx="3028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0.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24200" y="2133600"/>
            <a:ext cx="1905000" cy="0"/>
          </a:xfrm>
          <a:custGeom>
            <a:avLst/>
            <a:gdLst/>
            <a:ahLst/>
            <a:cxnLst/>
            <a:rect l="l" t="t" r="r" b="b"/>
            <a:pathLst>
              <a:path w="1905000">
                <a:moveTo>
                  <a:pt x="0" y="0"/>
                </a:moveTo>
                <a:lnTo>
                  <a:pt x="1905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24200" y="2971800"/>
            <a:ext cx="3505200" cy="0"/>
          </a:xfrm>
          <a:custGeom>
            <a:avLst/>
            <a:gdLst/>
            <a:ahLst/>
            <a:cxnLst/>
            <a:rect l="l" t="t" r="r" b="b"/>
            <a:pathLst>
              <a:path w="3505200">
                <a:moveTo>
                  <a:pt x="0" y="0"/>
                </a:moveTo>
                <a:lnTo>
                  <a:pt x="3505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91400" y="3505200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797934" y="1887677"/>
            <a:ext cx="10553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74700" algn="l"/>
              </a:tabLst>
            </a:pPr>
            <a:r>
              <a:rPr sz="1400" b="1" spc="5" dirty="0">
                <a:latin typeface="宋体"/>
                <a:cs typeface="宋体"/>
              </a:rPr>
              <a:t>包含</a:t>
            </a:r>
            <a:r>
              <a:rPr sz="1400" b="1" spc="5" dirty="0">
                <a:latin typeface="Times New Roman"/>
                <a:cs typeface="Times New Roman"/>
              </a:rPr>
              <a:t>→</a:t>
            </a:r>
            <a:r>
              <a:rPr sz="1400" b="1" dirty="0">
                <a:latin typeface="Times New Roman"/>
                <a:cs typeface="Times New Roman"/>
              </a:rPr>
              <a:t>	1.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31334" y="2955163"/>
            <a:ext cx="5638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" dirty="0">
                <a:latin typeface="宋体"/>
                <a:cs typeface="宋体"/>
              </a:rPr>
              <a:t>包含</a:t>
            </a:r>
            <a:r>
              <a:rPr sz="1400" b="1" dirty="0">
                <a:latin typeface="Times New Roman"/>
                <a:cs typeface="Times New Roman"/>
              </a:rPr>
              <a:t>→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59153" y="3565016"/>
            <a:ext cx="4743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5" dirty="0">
                <a:latin typeface="宋体"/>
                <a:cs typeface="宋体"/>
              </a:rPr>
              <a:t>包含</a:t>
            </a:r>
            <a:r>
              <a:rPr sz="1400" b="1" dirty="0">
                <a:latin typeface="Times New Roman"/>
                <a:cs typeface="Times New Roman"/>
              </a:rPr>
              <a:t>↓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22769" y="3394938"/>
            <a:ext cx="370840" cy="63817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b="1" spc="-5" dirty="0">
                <a:latin typeface="Times New Roman"/>
                <a:cs typeface="Times New Roman"/>
              </a:rPr>
              <a:t>1..1</a:t>
            </a:r>
            <a:endParaRPr sz="1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730"/>
              </a:spcBef>
            </a:pPr>
            <a:r>
              <a:rPr sz="1400" b="1" spc="5" dirty="0">
                <a:latin typeface="宋体"/>
                <a:cs typeface="宋体"/>
              </a:rPr>
              <a:t>有</a:t>
            </a:r>
            <a:r>
              <a:rPr sz="1400" b="1" dirty="0">
                <a:latin typeface="Times New Roman"/>
                <a:cs typeface="Times New Roman"/>
              </a:rPr>
              <a:t>↓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438400" y="4267200"/>
            <a:ext cx="1371600" cy="1321435"/>
          </a:xfrm>
          <a:custGeom>
            <a:avLst/>
            <a:gdLst/>
            <a:ahLst/>
            <a:cxnLst/>
            <a:rect l="l" t="t" r="r" b="b"/>
            <a:pathLst>
              <a:path w="1371600" h="1321435">
                <a:moveTo>
                  <a:pt x="0" y="1321308"/>
                </a:moveTo>
                <a:lnTo>
                  <a:pt x="1371600" y="1321308"/>
                </a:lnTo>
                <a:lnTo>
                  <a:pt x="1371600" y="0"/>
                </a:lnTo>
                <a:lnTo>
                  <a:pt x="0" y="0"/>
                </a:lnTo>
                <a:lnTo>
                  <a:pt x="0" y="13213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438400" y="4267200"/>
            <a:ext cx="13716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330"/>
              </a:spcBef>
            </a:pPr>
            <a:r>
              <a:rPr sz="2000" b="1" spc="5" dirty="0">
                <a:latin typeface="宋体"/>
                <a:cs typeface="宋体"/>
              </a:rPr>
              <a:t>电话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38400" y="46482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38400" y="51054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895600" y="32004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514854" y="4020692"/>
            <a:ext cx="2901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/>
                <a:cs typeface="Times New Roman"/>
              </a:rPr>
              <a:t>0.</a:t>
            </a:r>
            <a:r>
              <a:rPr sz="1400" b="1" spc="-10" dirty="0">
                <a:latin typeface="Times New Roman"/>
                <a:cs typeface="Times New Roman"/>
              </a:rPr>
              <a:t>.</a:t>
            </a:r>
            <a:r>
              <a:rPr sz="1400" b="1" dirty="0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62454" y="3197809"/>
            <a:ext cx="462280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Times New Roman"/>
                <a:cs typeface="Times New Roman"/>
              </a:rPr>
              <a:t>1..1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r>
              <a:rPr sz="1400" b="1" spc="5" dirty="0">
                <a:latin typeface="宋体"/>
                <a:cs typeface="宋体"/>
              </a:rPr>
              <a:t>包</a:t>
            </a:r>
            <a:r>
              <a:rPr sz="1400" b="1" spc="10" dirty="0">
                <a:latin typeface="宋体"/>
                <a:cs typeface="宋体"/>
              </a:rPr>
              <a:t>含</a:t>
            </a:r>
            <a:r>
              <a:rPr sz="1400" b="1" dirty="0">
                <a:latin typeface="Times New Roman"/>
                <a:cs typeface="Times New Roman"/>
              </a:rPr>
              <a:t>↓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905000" y="32004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63067" y="916381"/>
            <a:ext cx="4290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Safehome</a:t>
            </a:r>
            <a:r>
              <a:rPr sz="2400" spc="-5" dirty="0">
                <a:latin typeface="宋体"/>
                <a:cs typeface="宋体"/>
              </a:rPr>
              <a:t>系统的类图及重数表示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3440429" y="66547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关联示例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1594" y="1992883"/>
            <a:ext cx="1043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类和关联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066800"/>
            <a:ext cx="8059420" cy="5289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800" spc="5" dirty="0">
                <a:latin typeface="黑体"/>
                <a:cs typeface="黑体"/>
              </a:rPr>
              <a:t>链定</a:t>
            </a:r>
            <a:r>
              <a:rPr sz="2800" spc="-5" dirty="0">
                <a:latin typeface="黑体"/>
                <a:cs typeface="黑体"/>
              </a:rPr>
              <a:t>义</a:t>
            </a:r>
            <a:r>
              <a:rPr sz="2800" spc="640" dirty="0">
                <a:latin typeface="黑体"/>
                <a:cs typeface="黑体"/>
              </a:rPr>
              <a:t> </a:t>
            </a:r>
            <a:r>
              <a:rPr sz="2800" spc="-5" dirty="0">
                <a:latin typeface="宋体"/>
                <a:cs typeface="宋体"/>
              </a:rPr>
              <a:t>链是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关联的实例</a:t>
            </a:r>
            <a:r>
              <a:rPr sz="2800" spc="-5" dirty="0">
                <a:latin typeface="宋体"/>
                <a:cs typeface="宋体"/>
              </a:rPr>
              <a:t>，是对象间的语义</a:t>
            </a:r>
            <a:r>
              <a:rPr sz="2800" dirty="0">
                <a:latin typeface="宋体"/>
                <a:cs typeface="宋体"/>
              </a:rPr>
              <a:t>连</a:t>
            </a:r>
            <a:r>
              <a:rPr sz="2800" spc="-5" dirty="0">
                <a:latin typeface="宋体"/>
                <a:cs typeface="宋体"/>
              </a:rPr>
              <a:t>接。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14637" y="5301805"/>
          <a:ext cx="4038600" cy="713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095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李明老师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宋体"/>
                          <a:cs typeface="宋体"/>
                        </a:rPr>
                        <a:t>指导论文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244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张力学生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324478" y="3961638"/>
            <a:ext cx="187325" cy="1220470"/>
          </a:xfrm>
          <a:custGeom>
            <a:avLst/>
            <a:gdLst/>
            <a:ahLst/>
            <a:cxnLst/>
            <a:rect l="l" t="t" r="r" b="b"/>
            <a:pathLst>
              <a:path w="187325" h="1220470">
                <a:moveTo>
                  <a:pt x="174371" y="0"/>
                </a:moveTo>
                <a:lnTo>
                  <a:pt x="168148" y="50418"/>
                </a:lnTo>
                <a:lnTo>
                  <a:pt x="180721" y="51943"/>
                </a:lnTo>
                <a:lnTo>
                  <a:pt x="187071" y="1524"/>
                </a:lnTo>
                <a:lnTo>
                  <a:pt x="174371" y="0"/>
                </a:lnTo>
                <a:close/>
              </a:path>
              <a:path w="187325" h="1220470">
                <a:moveTo>
                  <a:pt x="163449" y="88137"/>
                </a:moveTo>
                <a:lnTo>
                  <a:pt x="157099" y="138556"/>
                </a:lnTo>
                <a:lnTo>
                  <a:pt x="169672" y="140207"/>
                </a:lnTo>
                <a:lnTo>
                  <a:pt x="176022" y="89788"/>
                </a:lnTo>
                <a:lnTo>
                  <a:pt x="163449" y="88137"/>
                </a:lnTo>
                <a:close/>
              </a:path>
              <a:path w="187325" h="1220470">
                <a:moveTo>
                  <a:pt x="152400" y="176403"/>
                </a:moveTo>
                <a:lnTo>
                  <a:pt x="146050" y="226822"/>
                </a:lnTo>
                <a:lnTo>
                  <a:pt x="158623" y="228345"/>
                </a:lnTo>
                <a:lnTo>
                  <a:pt x="164973" y="177926"/>
                </a:lnTo>
                <a:lnTo>
                  <a:pt x="152400" y="176403"/>
                </a:lnTo>
                <a:close/>
              </a:path>
              <a:path w="187325" h="1220470">
                <a:moveTo>
                  <a:pt x="141350" y="264668"/>
                </a:moveTo>
                <a:lnTo>
                  <a:pt x="135000" y="314960"/>
                </a:lnTo>
                <a:lnTo>
                  <a:pt x="147700" y="316611"/>
                </a:lnTo>
                <a:lnTo>
                  <a:pt x="153924" y="266192"/>
                </a:lnTo>
                <a:lnTo>
                  <a:pt x="141350" y="264668"/>
                </a:lnTo>
                <a:close/>
              </a:path>
              <a:path w="187325" h="1220470">
                <a:moveTo>
                  <a:pt x="130301" y="352806"/>
                </a:moveTo>
                <a:lnTo>
                  <a:pt x="123951" y="403225"/>
                </a:lnTo>
                <a:lnTo>
                  <a:pt x="136651" y="404749"/>
                </a:lnTo>
                <a:lnTo>
                  <a:pt x="142875" y="354456"/>
                </a:lnTo>
                <a:lnTo>
                  <a:pt x="130301" y="352806"/>
                </a:lnTo>
                <a:close/>
              </a:path>
              <a:path w="187325" h="1220470">
                <a:moveTo>
                  <a:pt x="119253" y="441070"/>
                </a:moveTo>
                <a:lnTo>
                  <a:pt x="113030" y="491489"/>
                </a:lnTo>
                <a:lnTo>
                  <a:pt x="125603" y="493013"/>
                </a:lnTo>
                <a:lnTo>
                  <a:pt x="131825" y="442594"/>
                </a:lnTo>
                <a:lnTo>
                  <a:pt x="119253" y="441070"/>
                </a:lnTo>
                <a:close/>
              </a:path>
              <a:path w="187325" h="1220470">
                <a:moveTo>
                  <a:pt x="108204" y="529209"/>
                </a:moveTo>
                <a:lnTo>
                  <a:pt x="101981" y="579628"/>
                </a:lnTo>
                <a:lnTo>
                  <a:pt x="114554" y="581279"/>
                </a:lnTo>
                <a:lnTo>
                  <a:pt x="120904" y="530860"/>
                </a:lnTo>
                <a:lnTo>
                  <a:pt x="108204" y="529209"/>
                </a:lnTo>
                <a:close/>
              </a:path>
              <a:path w="187325" h="1220470">
                <a:moveTo>
                  <a:pt x="97282" y="617474"/>
                </a:moveTo>
                <a:lnTo>
                  <a:pt x="90932" y="667893"/>
                </a:lnTo>
                <a:lnTo>
                  <a:pt x="103505" y="669417"/>
                </a:lnTo>
                <a:lnTo>
                  <a:pt x="109855" y="618998"/>
                </a:lnTo>
                <a:lnTo>
                  <a:pt x="97282" y="617474"/>
                </a:lnTo>
                <a:close/>
              </a:path>
              <a:path w="187325" h="1220470">
                <a:moveTo>
                  <a:pt x="86233" y="705738"/>
                </a:moveTo>
                <a:lnTo>
                  <a:pt x="79883" y="756031"/>
                </a:lnTo>
                <a:lnTo>
                  <a:pt x="92456" y="757682"/>
                </a:lnTo>
                <a:lnTo>
                  <a:pt x="98806" y="707263"/>
                </a:lnTo>
                <a:lnTo>
                  <a:pt x="86233" y="705738"/>
                </a:lnTo>
                <a:close/>
              </a:path>
              <a:path w="187325" h="1220470">
                <a:moveTo>
                  <a:pt x="75184" y="793876"/>
                </a:moveTo>
                <a:lnTo>
                  <a:pt x="68834" y="844295"/>
                </a:lnTo>
                <a:lnTo>
                  <a:pt x="81534" y="845819"/>
                </a:lnTo>
                <a:lnTo>
                  <a:pt x="87757" y="795528"/>
                </a:lnTo>
                <a:lnTo>
                  <a:pt x="75184" y="793876"/>
                </a:lnTo>
                <a:close/>
              </a:path>
              <a:path w="187325" h="1220470">
                <a:moveTo>
                  <a:pt x="64135" y="882142"/>
                </a:moveTo>
                <a:lnTo>
                  <a:pt x="57912" y="932561"/>
                </a:lnTo>
                <a:lnTo>
                  <a:pt x="70485" y="934085"/>
                </a:lnTo>
                <a:lnTo>
                  <a:pt x="76708" y="883666"/>
                </a:lnTo>
                <a:lnTo>
                  <a:pt x="64135" y="882142"/>
                </a:lnTo>
                <a:close/>
              </a:path>
              <a:path w="187325" h="1220470">
                <a:moveTo>
                  <a:pt x="53086" y="970280"/>
                </a:moveTo>
                <a:lnTo>
                  <a:pt x="46862" y="1020699"/>
                </a:lnTo>
                <a:lnTo>
                  <a:pt x="59436" y="1022350"/>
                </a:lnTo>
                <a:lnTo>
                  <a:pt x="65786" y="971931"/>
                </a:lnTo>
                <a:lnTo>
                  <a:pt x="53086" y="970280"/>
                </a:lnTo>
                <a:close/>
              </a:path>
              <a:path w="187325" h="1220470">
                <a:moveTo>
                  <a:pt x="42037" y="1058545"/>
                </a:moveTo>
                <a:lnTo>
                  <a:pt x="35813" y="1108964"/>
                </a:lnTo>
                <a:lnTo>
                  <a:pt x="48387" y="1110488"/>
                </a:lnTo>
                <a:lnTo>
                  <a:pt x="54737" y="1060069"/>
                </a:lnTo>
                <a:lnTo>
                  <a:pt x="42037" y="1058545"/>
                </a:lnTo>
                <a:close/>
              </a:path>
              <a:path w="187325" h="1220470">
                <a:moveTo>
                  <a:pt x="0" y="1139570"/>
                </a:moveTo>
                <a:lnTo>
                  <a:pt x="28321" y="1219962"/>
                </a:lnTo>
                <a:lnTo>
                  <a:pt x="69807" y="1157732"/>
                </a:lnTo>
                <a:lnTo>
                  <a:pt x="42545" y="1157732"/>
                </a:lnTo>
                <a:lnTo>
                  <a:pt x="29845" y="1156208"/>
                </a:lnTo>
                <a:lnTo>
                  <a:pt x="31115" y="1146810"/>
                </a:lnTo>
                <a:lnTo>
                  <a:pt x="57429" y="1146810"/>
                </a:lnTo>
                <a:lnTo>
                  <a:pt x="0" y="1139570"/>
                </a:lnTo>
                <a:close/>
              </a:path>
              <a:path w="187325" h="1220470">
                <a:moveTo>
                  <a:pt x="31115" y="1146810"/>
                </a:moveTo>
                <a:lnTo>
                  <a:pt x="29845" y="1156208"/>
                </a:lnTo>
                <a:lnTo>
                  <a:pt x="42545" y="1157732"/>
                </a:lnTo>
                <a:lnTo>
                  <a:pt x="43687" y="1148334"/>
                </a:lnTo>
                <a:lnTo>
                  <a:pt x="31115" y="1146810"/>
                </a:lnTo>
                <a:close/>
              </a:path>
              <a:path w="187325" h="1220470">
                <a:moveTo>
                  <a:pt x="57429" y="1146810"/>
                </a:moveTo>
                <a:lnTo>
                  <a:pt x="31115" y="1146810"/>
                </a:lnTo>
                <a:lnTo>
                  <a:pt x="43687" y="1148334"/>
                </a:lnTo>
                <a:lnTo>
                  <a:pt x="42545" y="1157732"/>
                </a:lnTo>
                <a:lnTo>
                  <a:pt x="69807" y="1157732"/>
                </a:lnTo>
                <a:lnTo>
                  <a:pt x="75565" y="1149095"/>
                </a:lnTo>
                <a:lnTo>
                  <a:pt x="57429" y="1146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22575" y="4371213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实例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4628" y="4371213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实例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76900" y="3962400"/>
            <a:ext cx="76200" cy="1219200"/>
          </a:xfrm>
          <a:custGeom>
            <a:avLst/>
            <a:gdLst/>
            <a:ahLst/>
            <a:cxnLst/>
            <a:rect l="l" t="t" r="r" b="b"/>
            <a:pathLst>
              <a:path w="76200" h="1219200">
                <a:moveTo>
                  <a:pt x="44450" y="0"/>
                </a:moveTo>
                <a:lnTo>
                  <a:pt x="31750" y="0"/>
                </a:lnTo>
                <a:lnTo>
                  <a:pt x="31750" y="50800"/>
                </a:lnTo>
                <a:lnTo>
                  <a:pt x="44450" y="50800"/>
                </a:lnTo>
                <a:lnTo>
                  <a:pt x="44450" y="0"/>
                </a:lnTo>
                <a:close/>
              </a:path>
              <a:path w="76200" h="1219200">
                <a:moveTo>
                  <a:pt x="44450" y="88900"/>
                </a:moveTo>
                <a:lnTo>
                  <a:pt x="31750" y="88900"/>
                </a:lnTo>
                <a:lnTo>
                  <a:pt x="31750" y="139700"/>
                </a:lnTo>
                <a:lnTo>
                  <a:pt x="44450" y="139700"/>
                </a:lnTo>
                <a:lnTo>
                  <a:pt x="44450" y="88900"/>
                </a:lnTo>
                <a:close/>
              </a:path>
              <a:path w="76200" h="1219200">
                <a:moveTo>
                  <a:pt x="44450" y="177800"/>
                </a:moveTo>
                <a:lnTo>
                  <a:pt x="31750" y="177800"/>
                </a:lnTo>
                <a:lnTo>
                  <a:pt x="31750" y="228600"/>
                </a:lnTo>
                <a:lnTo>
                  <a:pt x="44450" y="228600"/>
                </a:lnTo>
                <a:lnTo>
                  <a:pt x="44450" y="177800"/>
                </a:lnTo>
                <a:close/>
              </a:path>
              <a:path w="76200" h="1219200">
                <a:moveTo>
                  <a:pt x="44450" y="266700"/>
                </a:moveTo>
                <a:lnTo>
                  <a:pt x="31750" y="266700"/>
                </a:lnTo>
                <a:lnTo>
                  <a:pt x="31750" y="317500"/>
                </a:lnTo>
                <a:lnTo>
                  <a:pt x="44450" y="317500"/>
                </a:lnTo>
                <a:lnTo>
                  <a:pt x="44450" y="266700"/>
                </a:lnTo>
                <a:close/>
              </a:path>
              <a:path w="76200" h="1219200">
                <a:moveTo>
                  <a:pt x="44450" y="355600"/>
                </a:moveTo>
                <a:lnTo>
                  <a:pt x="31750" y="355600"/>
                </a:lnTo>
                <a:lnTo>
                  <a:pt x="31750" y="406400"/>
                </a:lnTo>
                <a:lnTo>
                  <a:pt x="44450" y="406400"/>
                </a:lnTo>
                <a:lnTo>
                  <a:pt x="44450" y="355600"/>
                </a:lnTo>
                <a:close/>
              </a:path>
              <a:path w="76200" h="1219200">
                <a:moveTo>
                  <a:pt x="44450" y="444500"/>
                </a:moveTo>
                <a:lnTo>
                  <a:pt x="31750" y="444500"/>
                </a:lnTo>
                <a:lnTo>
                  <a:pt x="31750" y="495300"/>
                </a:lnTo>
                <a:lnTo>
                  <a:pt x="44450" y="495300"/>
                </a:lnTo>
                <a:lnTo>
                  <a:pt x="44450" y="444500"/>
                </a:lnTo>
                <a:close/>
              </a:path>
              <a:path w="76200" h="1219200">
                <a:moveTo>
                  <a:pt x="44450" y="533400"/>
                </a:moveTo>
                <a:lnTo>
                  <a:pt x="31750" y="533400"/>
                </a:lnTo>
                <a:lnTo>
                  <a:pt x="31750" y="584200"/>
                </a:lnTo>
                <a:lnTo>
                  <a:pt x="44450" y="584200"/>
                </a:lnTo>
                <a:lnTo>
                  <a:pt x="44450" y="533400"/>
                </a:lnTo>
                <a:close/>
              </a:path>
              <a:path w="76200" h="1219200">
                <a:moveTo>
                  <a:pt x="44450" y="622300"/>
                </a:moveTo>
                <a:lnTo>
                  <a:pt x="31750" y="622300"/>
                </a:lnTo>
                <a:lnTo>
                  <a:pt x="31750" y="673100"/>
                </a:lnTo>
                <a:lnTo>
                  <a:pt x="44450" y="673100"/>
                </a:lnTo>
                <a:lnTo>
                  <a:pt x="44450" y="622300"/>
                </a:lnTo>
                <a:close/>
              </a:path>
              <a:path w="76200" h="1219200">
                <a:moveTo>
                  <a:pt x="44450" y="711200"/>
                </a:moveTo>
                <a:lnTo>
                  <a:pt x="31750" y="711200"/>
                </a:lnTo>
                <a:lnTo>
                  <a:pt x="31750" y="762000"/>
                </a:lnTo>
                <a:lnTo>
                  <a:pt x="44450" y="762000"/>
                </a:lnTo>
                <a:lnTo>
                  <a:pt x="44450" y="711200"/>
                </a:lnTo>
                <a:close/>
              </a:path>
              <a:path w="76200" h="1219200">
                <a:moveTo>
                  <a:pt x="44450" y="800100"/>
                </a:moveTo>
                <a:lnTo>
                  <a:pt x="31750" y="800100"/>
                </a:lnTo>
                <a:lnTo>
                  <a:pt x="31750" y="850900"/>
                </a:lnTo>
                <a:lnTo>
                  <a:pt x="44450" y="850900"/>
                </a:lnTo>
                <a:lnTo>
                  <a:pt x="44450" y="800100"/>
                </a:lnTo>
                <a:close/>
              </a:path>
              <a:path w="76200" h="1219200">
                <a:moveTo>
                  <a:pt x="44450" y="889000"/>
                </a:moveTo>
                <a:lnTo>
                  <a:pt x="31750" y="889000"/>
                </a:lnTo>
                <a:lnTo>
                  <a:pt x="31750" y="939800"/>
                </a:lnTo>
                <a:lnTo>
                  <a:pt x="44450" y="939800"/>
                </a:lnTo>
                <a:lnTo>
                  <a:pt x="44450" y="889000"/>
                </a:lnTo>
                <a:close/>
              </a:path>
              <a:path w="76200" h="1219200">
                <a:moveTo>
                  <a:pt x="44450" y="977900"/>
                </a:moveTo>
                <a:lnTo>
                  <a:pt x="31750" y="977900"/>
                </a:lnTo>
                <a:lnTo>
                  <a:pt x="31750" y="1028700"/>
                </a:lnTo>
                <a:lnTo>
                  <a:pt x="44450" y="1028700"/>
                </a:lnTo>
                <a:lnTo>
                  <a:pt x="44450" y="977900"/>
                </a:lnTo>
                <a:close/>
              </a:path>
              <a:path w="76200" h="1219200">
                <a:moveTo>
                  <a:pt x="44450" y="1066800"/>
                </a:moveTo>
                <a:lnTo>
                  <a:pt x="31750" y="1066800"/>
                </a:lnTo>
                <a:lnTo>
                  <a:pt x="31750" y="1117600"/>
                </a:lnTo>
                <a:lnTo>
                  <a:pt x="44450" y="1117600"/>
                </a:lnTo>
                <a:lnTo>
                  <a:pt x="44450" y="1066800"/>
                </a:lnTo>
                <a:close/>
              </a:path>
              <a:path w="76200" h="1219200">
                <a:moveTo>
                  <a:pt x="76200" y="1143000"/>
                </a:moveTo>
                <a:lnTo>
                  <a:pt x="0" y="1143000"/>
                </a:lnTo>
                <a:lnTo>
                  <a:pt x="38100" y="1219200"/>
                </a:lnTo>
                <a:lnTo>
                  <a:pt x="76200" y="1143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70275" y="119888"/>
            <a:ext cx="23876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(3</a:t>
            </a:r>
            <a:r>
              <a:rPr spc="-10" dirty="0">
                <a:latin typeface="Arial"/>
                <a:cs typeface="Arial"/>
              </a:rPr>
              <a:t>)</a:t>
            </a:r>
            <a:r>
              <a:rPr dirty="0"/>
              <a:t>对象链</a:t>
            </a:r>
          </a:p>
        </p:txBody>
      </p:sp>
      <p:sp>
        <p:nvSpPr>
          <p:cNvPr id="10" name="object 10"/>
          <p:cNvSpPr/>
          <p:nvPr/>
        </p:nvSpPr>
        <p:spPr>
          <a:xfrm>
            <a:off x="4533900" y="3276600"/>
            <a:ext cx="76200" cy="1981200"/>
          </a:xfrm>
          <a:custGeom>
            <a:avLst/>
            <a:gdLst/>
            <a:ahLst/>
            <a:cxnLst/>
            <a:rect l="l" t="t" r="r" b="b"/>
            <a:pathLst>
              <a:path w="76200" h="1981200">
                <a:moveTo>
                  <a:pt x="44450" y="0"/>
                </a:moveTo>
                <a:lnTo>
                  <a:pt x="31750" y="0"/>
                </a:lnTo>
                <a:lnTo>
                  <a:pt x="31750" y="50800"/>
                </a:lnTo>
                <a:lnTo>
                  <a:pt x="44450" y="50800"/>
                </a:lnTo>
                <a:lnTo>
                  <a:pt x="44450" y="0"/>
                </a:lnTo>
                <a:close/>
              </a:path>
              <a:path w="76200" h="1981200">
                <a:moveTo>
                  <a:pt x="44450" y="88900"/>
                </a:moveTo>
                <a:lnTo>
                  <a:pt x="31750" y="88900"/>
                </a:lnTo>
                <a:lnTo>
                  <a:pt x="31750" y="139700"/>
                </a:lnTo>
                <a:lnTo>
                  <a:pt x="44450" y="139700"/>
                </a:lnTo>
                <a:lnTo>
                  <a:pt x="44450" y="88900"/>
                </a:lnTo>
                <a:close/>
              </a:path>
              <a:path w="76200" h="1981200">
                <a:moveTo>
                  <a:pt x="44450" y="177800"/>
                </a:moveTo>
                <a:lnTo>
                  <a:pt x="31750" y="177800"/>
                </a:lnTo>
                <a:lnTo>
                  <a:pt x="31750" y="228600"/>
                </a:lnTo>
                <a:lnTo>
                  <a:pt x="44450" y="228600"/>
                </a:lnTo>
                <a:lnTo>
                  <a:pt x="44450" y="177800"/>
                </a:lnTo>
                <a:close/>
              </a:path>
              <a:path w="76200" h="1981200">
                <a:moveTo>
                  <a:pt x="44450" y="266700"/>
                </a:moveTo>
                <a:lnTo>
                  <a:pt x="31750" y="266700"/>
                </a:lnTo>
                <a:lnTo>
                  <a:pt x="31750" y="317500"/>
                </a:lnTo>
                <a:lnTo>
                  <a:pt x="44450" y="317500"/>
                </a:lnTo>
                <a:lnTo>
                  <a:pt x="44450" y="266700"/>
                </a:lnTo>
                <a:close/>
              </a:path>
              <a:path w="76200" h="1981200">
                <a:moveTo>
                  <a:pt x="44450" y="355600"/>
                </a:moveTo>
                <a:lnTo>
                  <a:pt x="31750" y="355600"/>
                </a:lnTo>
                <a:lnTo>
                  <a:pt x="31750" y="406400"/>
                </a:lnTo>
                <a:lnTo>
                  <a:pt x="44450" y="406400"/>
                </a:lnTo>
                <a:lnTo>
                  <a:pt x="44450" y="355600"/>
                </a:lnTo>
                <a:close/>
              </a:path>
              <a:path w="76200" h="1981200">
                <a:moveTo>
                  <a:pt x="44450" y="444500"/>
                </a:moveTo>
                <a:lnTo>
                  <a:pt x="31750" y="444500"/>
                </a:lnTo>
                <a:lnTo>
                  <a:pt x="31750" y="495300"/>
                </a:lnTo>
                <a:lnTo>
                  <a:pt x="44450" y="495300"/>
                </a:lnTo>
                <a:lnTo>
                  <a:pt x="44450" y="444500"/>
                </a:lnTo>
                <a:close/>
              </a:path>
              <a:path w="76200" h="1981200">
                <a:moveTo>
                  <a:pt x="44450" y="533400"/>
                </a:moveTo>
                <a:lnTo>
                  <a:pt x="31750" y="533400"/>
                </a:lnTo>
                <a:lnTo>
                  <a:pt x="31750" y="584200"/>
                </a:lnTo>
                <a:lnTo>
                  <a:pt x="44450" y="584200"/>
                </a:lnTo>
                <a:lnTo>
                  <a:pt x="44450" y="533400"/>
                </a:lnTo>
                <a:close/>
              </a:path>
              <a:path w="76200" h="1981200">
                <a:moveTo>
                  <a:pt x="44450" y="622300"/>
                </a:moveTo>
                <a:lnTo>
                  <a:pt x="31750" y="622300"/>
                </a:lnTo>
                <a:lnTo>
                  <a:pt x="31750" y="673100"/>
                </a:lnTo>
                <a:lnTo>
                  <a:pt x="44450" y="673100"/>
                </a:lnTo>
                <a:lnTo>
                  <a:pt x="44450" y="622300"/>
                </a:lnTo>
                <a:close/>
              </a:path>
              <a:path w="76200" h="1981200">
                <a:moveTo>
                  <a:pt x="44450" y="711200"/>
                </a:moveTo>
                <a:lnTo>
                  <a:pt x="31750" y="711200"/>
                </a:lnTo>
                <a:lnTo>
                  <a:pt x="31750" y="762000"/>
                </a:lnTo>
                <a:lnTo>
                  <a:pt x="44450" y="762000"/>
                </a:lnTo>
                <a:lnTo>
                  <a:pt x="44450" y="711200"/>
                </a:lnTo>
                <a:close/>
              </a:path>
              <a:path w="76200" h="1981200">
                <a:moveTo>
                  <a:pt x="44450" y="800100"/>
                </a:moveTo>
                <a:lnTo>
                  <a:pt x="31750" y="800100"/>
                </a:lnTo>
                <a:lnTo>
                  <a:pt x="31750" y="850900"/>
                </a:lnTo>
                <a:lnTo>
                  <a:pt x="44450" y="850900"/>
                </a:lnTo>
                <a:lnTo>
                  <a:pt x="44450" y="800100"/>
                </a:lnTo>
                <a:close/>
              </a:path>
              <a:path w="76200" h="1981200">
                <a:moveTo>
                  <a:pt x="44450" y="889000"/>
                </a:moveTo>
                <a:lnTo>
                  <a:pt x="31750" y="889000"/>
                </a:lnTo>
                <a:lnTo>
                  <a:pt x="31750" y="939800"/>
                </a:lnTo>
                <a:lnTo>
                  <a:pt x="44450" y="939800"/>
                </a:lnTo>
                <a:lnTo>
                  <a:pt x="44450" y="889000"/>
                </a:lnTo>
                <a:close/>
              </a:path>
              <a:path w="76200" h="1981200">
                <a:moveTo>
                  <a:pt x="44450" y="977900"/>
                </a:moveTo>
                <a:lnTo>
                  <a:pt x="31750" y="977900"/>
                </a:lnTo>
                <a:lnTo>
                  <a:pt x="31750" y="1028700"/>
                </a:lnTo>
                <a:lnTo>
                  <a:pt x="44450" y="1028700"/>
                </a:lnTo>
                <a:lnTo>
                  <a:pt x="44450" y="977900"/>
                </a:lnTo>
                <a:close/>
              </a:path>
              <a:path w="76200" h="1981200">
                <a:moveTo>
                  <a:pt x="44450" y="1066800"/>
                </a:moveTo>
                <a:lnTo>
                  <a:pt x="31750" y="1066800"/>
                </a:lnTo>
                <a:lnTo>
                  <a:pt x="31750" y="1117600"/>
                </a:lnTo>
                <a:lnTo>
                  <a:pt x="44450" y="1117600"/>
                </a:lnTo>
                <a:lnTo>
                  <a:pt x="44450" y="1066800"/>
                </a:lnTo>
                <a:close/>
              </a:path>
              <a:path w="76200" h="1981200">
                <a:moveTo>
                  <a:pt x="44450" y="1155700"/>
                </a:moveTo>
                <a:lnTo>
                  <a:pt x="31750" y="1155700"/>
                </a:lnTo>
                <a:lnTo>
                  <a:pt x="31750" y="1206500"/>
                </a:lnTo>
                <a:lnTo>
                  <a:pt x="44450" y="1206500"/>
                </a:lnTo>
                <a:lnTo>
                  <a:pt x="44450" y="1155700"/>
                </a:lnTo>
                <a:close/>
              </a:path>
              <a:path w="76200" h="1981200">
                <a:moveTo>
                  <a:pt x="44450" y="1244600"/>
                </a:moveTo>
                <a:lnTo>
                  <a:pt x="31750" y="1244600"/>
                </a:lnTo>
                <a:lnTo>
                  <a:pt x="31750" y="1295400"/>
                </a:lnTo>
                <a:lnTo>
                  <a:pt x="44450" y="1295400"/>
                </a:lnTo>
                <a:lnTo>
                  <a:pt x="44450" y="1244600"/>
                </a:lnTo>
                <a:close/>
              </a:path>
              <a:path w="76200" h="1981200">
                <a:moveTo>
                  <a:pt x="44450" y="1333500"/>
                </a:moveTo>
                <a:lnTo>
                  <a:pt x="31750" y="1333500"/>
                </a:lnTo>
                <a:lnTo>
                  <a:pt x="31750" y="1384300"/>
                </a:lnTo>
                <a:lnTo>
                  <a:pt x="44450" y="1384300"/>
                </a:lnTo>
                <a:lnTo>
                  <a:pt x="44450" y="1333500"/>
                </a:lnTo>
                <a:close/>
              </a:path>
              <a:path w="76200" h="1981200">
                <a:moveTo>
                  <a:pt x="44450" y="1422400"/>
                </a:moveTo>
                <a:lnTo>
                  <a:pt x="31750" y="1422400"/>
                </a:lnTo>
                <a:lnTo>
                  <a:pt x="31750" y="1473200"/>
                </a:lnTo>
                <a:lnTo>
                  <a:pt x="44450" y="1473200"/>
                </a:lnTo>
                <a:lnTo>
                  <a:pt x="44450" y="1422400"/>
                </a:lnTo>
                <a:close/>
              </a:path>
              <a:path w="76200" h="1981200">
                <a:moveTo>
                  <a:pt x="44450" y="1511300"/>
                </a:moveTo>
                <a:lnTo>
                  <a:pt x="31750" y="1511300"/>
                </a:lnTo>
                <a:lnTo>
                  <a:pt x="31750" y="1562100"/>
                </a:lnTo>
                <a:lnTo>
                  <a:pt x="44450" y="1562100"/>
                </a:lnTo>
                <a:lnTo>
                  <a:pt x="44450" y="1511300"/>
                </a:lnTo>
                <a:close/>
              </a:path>
              <a:path w="76200" h="1981200">
                <a:moveTo>
                  <a:pt x="44450" y="1600200"/>
                </a:moveTo>
                <a:lnTo>
                  <a:pt x="31750" y="1600200"/>
                </a:lnTo>
                <a:lnTo>
                  <a:pt x="31750" y="1651000"/>
                </a:lnTo>
                <a:lnTo>
                  <a:pt x="44450" y="1651000"/>
                </a:lnTo>
                <a:lnTo>
                  <a:pt x="44450" y="1600200"/>
                </a:lnTo>
                <a:close/>
              </a:path>
              <a:path w="76200" h="1981200">
                <a:moveTo>
                  <a:pt x="44450" y="1689100"/>
                </a:moveTo>
                <a:lnTo>
                  <a:pt x="31750" y="1689100"/>
                </a:lnTo>
                <a:lnTo>
                  <a:pt x="31750" y="1739900"/>
                </a:lnTo>
                <a:lnTo>
                  <a:pt x="44450" y="1739900"/>
                </a:lnTo>
                <a:lnTo>
                  <a:pt x="44450" y="1689100"/>
                </a:lnTo>
                <a:close/>
              </a:path>
              <a:path w="76200" h="1981200">
                <a:moveTo>
                  <a:pt x="44450" y="1778000"/>
                </a:moveTo>
                <a:lnTo>
                  <a:pt x="31750" y="1778000"/>
                </a:lnTo>
                <a:lnTo>
                  <a:pt x="31750" y="1828800"/>
                </a:lnTo>
                <a:lnTo>
                  <a:pt x="44450" y="1828800"/>
                </a:lnTo>
                <a:lnTo>
                  <a:pt x="44450" y="1778000"/>
                </a:lnTo>
                <a:close/>
              </a:path>
              <a:path w="76200" h="1981200">
                <a:moveTo>
                  <a:pt x="31750" y="1905000"/>
                </a:moveTo>
                <a:lnTo>
                  <a:pt x="0" y="1905000"/>
                </a:lnTo>
                <a:lnTo>
                  <a:pt x="38100" y="1981200"/>
                </a:lnTo>
                <a:lnTo>
                  <a:pt x="69850" y="1917700"/>
                </a:lnTo>
                <a:lnTo>
                  <a:pt x="31750" y="1917700"/>
                </a:lnTo>
                <a:lnTo>
                  <a:pt x="31750" y="1905000"/>
                </a:lnTo>
                <a:close/>
              </a:path>
              <a:path w="76200" h="1981200">
                <a:moveTo>
                  <a:pt x="44450" y="1866900"/>
                </a:moveTo>
                <a:lnTo>
                  <a:pt x="31750" y="1866900"/>
                </a:lnTo>
                <a:lnTo>
                  <a:pt x="31750" y="1917700"/>
                </a:lnTo>
                <a:lnTo>
                  <a:pt x="44450" y="1917700"/>
                </a:lnTo>
                <a:lnTo>
                  <a:pt x="44450" y="1866900"/>
                </a:lnTo>
                <a:close/>
              </a:path>
              <a:path w="76200" h="1981200">
                <a:moveTo>
                  <a:pt x="76200" y="1905000"/>
                </a:moveTo>
                <a:lnTo>
                  <a:pt x="44450" y="1905000"/>
                </a:lnTo>
                <a:lnTo>
                  <a:pt x="44450" y="1917700"/>
                </a:lnTo>
                <a:lnTo>
                  <a:pt x="69850" y="1917700"/>
                </a:lnTo>
                <a:lnTo>
                  <a:pt x="76200" y="190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51628" y="4371213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实例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52600" y="1981200"/>
            <a:ext cx="5562600" cy="2133600"/>
          </a:xfrm>
          <a:custGeom>
            <a:avLst/>
            <a:gdLst/>
            <a:ahLst/>
            <a:cxnLst/>
            <a:rect l="l" t="t" r="r" b="b"/>
            <a:pathLst>
              <a:path w="5562600" h="2133600">
                <a:moveTo>
                  <a:pt x="0" y="2133600"/>
                </a:moveTo>
                <a:lnTo>
                  <a:pt x="5562600" y="2133600"/>
                </a:lnTo>
                <a:lnTo>
                  <a:pt x="55626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55394" y="4904994"/>
            <a:ext cx="789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对象链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752600" y="4876800"/>
            <a:ext cx="5562600" cy="1295400"/>
          </a:xfrm>
          <a:custGeom>
            <a:avLst/>
            <a:gdLst/>
            <a:ahLst/>
            <a:cxnLst/>
            <a:rect l="l" t="t" r="r" b="b"/>
            <a:pathLst>
              <a:path w="5562600" h="1295400">
                <a:moveTo>
                  <a:pt x="0" y="1295400"/>
                </a:moveTo>
                <a:lnTo>
                  <a:pt x="5562600" y="1295400"/>
                </a:lnTo>
                <a:lnTo>
                  <a:pt x="5562600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662237" y="2357437"/>
          <a:ext cx="3810000" cy="14455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教师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11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指导论文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学生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01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44"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38529"/>
            <a:ext cx="7607300" cy="19488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关联角</a:t>
            </a:r>
            <a:r>
              <a:rPr sz="2800" spc="-15" dirty="0">
                <a:latin typeface="宋体"/>
                <a:cs typeface="宋体"/>
              </a:rPr>
              <a:t>色</a:t>
            </a:r>
            <a:r>
              <a:rPr sz="2800" spc="-5" dirty="0">
                <a:latin typeface="Times New Roman"/>
                <a:cs typeface="Times New Roman"/>
              </a:rPr>
              <a:t>----</a:t>
            </a:r>
            <a:r>
              <a:rPr sz="2800" spc="-5" dirty="0">
                <a:latin typeface="宋体"/>
                <a:cs typeface="宋体"/>
              </a:rPr>
              <a:t>表示需要明确的一</a:t>
            </a:r>
            <a:r>
              <a:rPr sz="2800" spc="-20" dirty="0">
                <a:latin typeface="宋体"/>
                <a:cs typeface="宋体"/>
              </a:rPr>
              <a:t>个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角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色属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性</a:t>
            </a:r>
            <a:r>
              <a:rPr sz="2800" spc="-5" dirty="0">
                <a:latin typeface="宋体"/>
                <a:cs typeface="宋体"/>
              </a:rPr>
              <a:t>。在关 联的端点，可以表示相连接类所扮</a:t>
            </a:r>
            <a:r>
              <a:rPr sz="2800" spc="5" dirty="0">
                <a:latin typeface="宋体"/>
                <a:cs typeface="宋体"/>
              </a:rPr>
              <a:t>演</a:t>
            </a:r>
            <a:r>
              <a:rPr sz="2800" spc="-5" dirty="0">
                <a:latin typeface="宋体"/>
                <a:cs typeface="宋体"/>
              </a:rPr>
              <a:t>的角</a:t>
            </a:r>
            <a:r>
              <a:rPr sz="2800" spc="5" dirty="0">
                <a:latin typeface="宋体"/>
                <a:cs typeface="宋体"/>
              </a:rPr>
              <a:t>色</a:t>
            </a:r>
            <a:r>
              <a:rPr sz="2800" spc="-5" dirty="0">
                <a:latin typeface="宋体"/>
                <a:cs typeface="宋体"/>
              </a:rPr>
              <a:t>，关 联角色的名字称为“关联角色名”。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宋体"/>
              <a:cs typeface="宋体"/>
            </a:endParaRPr>
          </a:p>
          <a:p>
            <a:pPr marL="88900">
              <a:lnSpc>
                <a:spcPct val="100000"/>
              </a:lnSpc>
            </a:pPr>
            <a:r>
              <a:rPr sz="2000" b="1" spc="5" dirty="0">
                <a:latin typeface="宋体"/>
                <a:cs typeface="宋体"/>
              </a:rPr>
              <a:t>带有角色名的关联：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9200" y="4645914"/>
            <a:ext cx="609600" cy="7124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520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张明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0400" y="4645914"/>
            <a:ext cx="609600" cy="7124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35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王勇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7280" y="4884165"/>
            <a:ext cx="13531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1544" algn="l"/>
              </a:tabLst>
            </a:pPr>
            <a:r>
              <a:rPr sz="1600" b="1" spc="-5" dirty="0">
                <a:latin typeface="宋体"/>
                <a:cs typeface="宋体"/>
              </a:rPr>
              <a:t>管理</a:t>
            </a:r>
            <a:r>
              <a:rPr sz="1600" b="1" spc="-15" dirty="0">
                <a:latin typeface="宋体"/>
                <a:cs typeface="宋体"/>
              </a:rPr>
              <a:t>者</a:t>
            </a:r>
            <a:r>
              <a:rPr sz="1600" b="1" dirty="0">
                <a:latin typeface="宋体"/>
                <a:cs typeface="宋体"/>
              </a:rPr>
              <a:t>	</a:t>
            </a:r>
            <a:r>
              <a:rPr sz="1600" b="1" spc="-5" dirty="0">
                <a:latin typeface="宋体"/>
                <a:cs typeface="宋体"/>
              </a:rPr>
              <a:t>下属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38800" y="5230367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10400" y="5458967"/>
            <a:ext cx="609600" cy="7137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4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侯军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10400" y="3782567"/>
            <a:ext cx="609600" cy="7137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李齐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0080" y="4345940"/>
            <a:ext cx="638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管理者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38800" y="4392167"/>
            <a:ext cx="1371600" cy="304800"/>
          </a:xfrm>
          <a:custGeom>
            <a:avLst/>
            <a:gdLst/>
            <a:ahLst/>
            <a:cxnLst/>
            <a:rect l="l" t="t" r="r" b="b"/>
            <a:pathLst>
              <a:path w="1371600" h="304800">
                <a:moveTo>
                  <a:pt x="0" y="304799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92061" y="4117340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下属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6280" y="5457545"/>
            <a:ext cx="638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管理者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8800" y="5306567"/>
            <a:ext cx="1371600" cy="533400"/>
          </a:xfrm>
          <a:custGeom>
            <a:avLst/>
            <a:gdLst/>
            <a:ahLst/>
            <a:cxnLst/>
            <a:rect l="l" t="t" r="r" b="b"/>
            <a:pathLst>
              <a:path w="1371600" h="533400">
                <a:moveTo>
                  <a:pt x="0" y="0"/>
                </a:moveTo>
                <a:lnTo>
                  <a:pt x="1371600" y="5333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92061" y="5794044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下属</a:t>
            </a:r>
            <a:endParaRPr sz="1600">
              <a:latin typeface="宋体"/>
              <a:cs typeface="宋体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062037" y="4235005"/>
          <a:ext cx="2362200" cy="1908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7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905"/>
                        </a:spcBef>
                        <a:tabLst>
                          <a:tab pos="892810" algn="l"/>
                        </a:tabLst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管理</a:t>
                      </a:r>
                      <a:r>
                        <a:rPr sz="1600" b="1" spc="-15" dirty="0">
                          <a:latin typeface="宋体"/>
                          <a:cs typeface="宋体"/>
                        </a:rPr>
                        <a:t>者	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94">
                <a:tc gridSpan="2"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职员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下</a:t>
                      </a:r>
                      <a:r>
                        <a:rPr sz="1600" b="1" spc="-15" dirty="0">
                          <a:latin typeface="宋体"/>
                          <a:cs typeface="宋体"/>
                        </a:rPr>
                        <a:t>属</a:t>
                      </a:r>
                      <a:r>
                        <a:rPr sz="1600" b="1" spc="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438">
                <a:tc rowSpan="2" gridSpan="2">
                  <a:txBody>
                    <a:bodyPr/>
                    <a:lstStyle/>
                    <a:p>
                      <a:pPr marL="91440">
                        <a:lnSpc>
                          <a:spcPts val="19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24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909637" y="3092005"/>
          <a:ext cx="4114800" cy="7132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5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用户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310640" algn="l"/>
                          <a:tab pos="2743200" algn="l"/>
                        </a:tabLst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拥有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者	</a:t>
                      </a:r>
                      <a:r>
                        <a:rPr sz="2400" b="1" spc="-7" baseline="1736" dirty="0">
                          <a:latin typeface="宋体"/>
                          <a:cs typeface="宋体"/>
                        </a:rPr>
                        <a:t>拥</a:t>
                      </a:r>
                      <a:r>
                        <a:rPr sz="2400" b="1" spc="-22" baseline="1736" dirty="0">
                          <a:latin typeface="宋体"/>
                          <a:cs typeface="宋体"/>
                        </a:rPr>
                        <a:t>有	</a:t>
                      </a:r>
                      <a:r>
                        <a:rPr sz="2400" b="1" spc="-7" baseline="-6944" dirty="0">
                          <a:latin typeface="Times New Roman"/>
                          <a:cs typeface="Times New Roman"/>
                        </a:rPr>
                        <a:t>*</a:t>
                      </a:r>
                      <a:endParaRPr sz="2400" baseline="-6944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口令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116">
                <a:tc rowSpan="2">
                  <a:txBody>
                    <a:bodyPr/>
                    <a:lstStyle/>
                    <a:p>
                      <a:pPr marL="91440">
                        <a:lnSpc>
                          <a:spcPts val="1120"/>
                        </a:lnSpc>
                        <a:spcBef>
                          <a:spcPts val="69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76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ts val="130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936875" y="79628"/>
            <a:ext cx="29457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(4</a:t>
            </a:r>
            <a:r>
              <a:rPr spc="-10" dirty="0">
                <a:latin typeface="Arial"/>
                <a:cs typeface="Arial"/>
              </a:rPr>
              <a:t>)</a:t>
            </a:r>
            <a:r>
              <a:rPr dirty="0"/>
              <a:t>关联角色</a:t>
            </a:r>
          </a:p>
        </p:txBody>
      </p:sp>
      <p:sp>
        <p:nvSpPr>
          <p:cNvPr id="18" name="object 18"/>
          <p:cNvSpPr/>
          <p:nvPr/>
        </p:nvSpPr>
        <p:spPr>
          <a:xfrm>
            <a:off x="3962400" y="5001767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88899"/>
                </a:moveTo>
                <a:lnTo>
                  <a:pt x="452374" y="88899"/>
                </a:lnTo>
                <a:lnTo>
                  <a:pt x="452374" y="0"/>
                </a:lnTo>
                <a:lnTo>
                  <a:pt x="838200" y="190499"/>
                </a:lnTo>
                <a:lnTo>
                  <a:pt x="452374" y="380999"/>
                </a:lnTo>
                <a:lnTo>
                  <a:pt x="452374" y="292099"/>
                </a:lnTo>
                <a:lnTo>
                  <a:pt x="0" y="292099"/>
                </a:lnTo>
                <a:lnTo>
                  <a:pt x="0" y="888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889375" y="4695190"/>
            <a:ext cx="8426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对应对象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3096767"/>
            <a:ext cx="762000" cy="1080770"/>
          </a:xfrm>
          <a:custGeom>
            <a:avLst/>
            <a:gdLst/>
            <a:ahLst/>
            <a:cxnLst/>
            <a:rect l="l" t="t" r="r" b="b"/>
            <a:pathLst>
              <a:path w="762000" h="1080770">
                <a:moveTo>
                  <a:pt x="0" y="1080516"/>
                </a:moveTo>
                <a:lnTo>
                  <a:pt x="762000" y="1080516"/>
                </a:lnTo>
                <a:lnTo>
                  <a:pt x="762000" y="0"/>
                </a:lnTo>
                <a:lnTo>
                  <a:pt x="0" y="0"/>
                </a:lnTo>
                <a:lnTo>
                  <a:pt x="0" y="10805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400" y="3072383"/>
            <a:ext cx="762000" cy="4330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520"/>
              </a:spcBef>
            </a:pPr>
            <a:r>
              <a:rPr sz="1600" b="1" spc="-5" dirty="0">
                <a:latin typeface="宋体"/>
                <a:cs typeface="宋体"/>
              </a:rPr>
              <a:t>公司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3505200"/>
            <a:ext cx="7620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900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76600" y="3048000"/>
            <a:ext cx="762000" cy="1079500"/>
          </a:xfrm>
          <a:custGeom>
            <a:avLst/>
            <a:gdLst/>
            <a:ahLst/>
            <a:cxnLst/>
            <a:rect l="l" t="t" r="r" b="b"/>
            <a:pathLst>
              <a:path w="762000" h="1079500">
                <a:moveTo>
                  <a:pt x="0" y="1078992"/>
                </a:moveTo>
                <a:lnTo>
                  <a:pt x="762000" y="1078992"/>
                </a:lnTo>
                <a:lnTo>
                  <a:pt x="7620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76600" y="3072383"/>
            <a:ext cx="762000" cy="3568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30"/>
              </a:spcBef>
            </a:pPr>
            <a:r>
              <a:rPr sz="1600" b="1" spc="-5" dirty="0">
                <a:latin typeface="宋体"/>
                <a:cs typeface="宋体"/>
              </a:rPr>
              <a:t>职员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6600" y="3429000"/>
            <a:ext cx="7620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5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6600" y="34290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76400" y="3657600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1600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57400" y="4038600"/>
            <a:ext cx="762000" cy="1079500"/>
          </a:xfrm>
          <a:custGeom>
            <a:avLst/>
            <a:gdLst/>
            <a:ahLst/>
            <a:cxnLst/>
            <a:rect l="l" t="t" r="r" b="b"/>
            <a:pathLst>
              <a:path w="762000" h="1079500">
                <a:moveTo>
                  <a:pt x="0" y="1078992"/>
                </a:moveTo>
                <a:lnTo>
                  <a:pt x="762000" y="1078992"/>
                </a:lnTo>
                <a:lnTo>
                  <a:pt x="7620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57400" y="4038600"/>
            <a:ext cx="7620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宋体"/>
                <a:cs typeface="宋体"/>
              </a:rPr>
              <a:t>岗位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7400" y="4419600"/>
            <a:ext cx="7620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04"/>
              </a:spcBef>
            </a:pPr>
            <a:r>
              <a:rPr sz="1600" b="1" spc="-5" dirty="0">
                <a:latin typeface="宋体"/>
                <a:cs typeface="宋体"/>
              </a:rPr>
              <a:t>工资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57400" y="4876800"/>
            <a:ext cx="762000" cy="2413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1400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57400" y="44196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38400" y="36576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9590" y="971804"/>
            <a:ext cx="8196580" cy="186817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97700"/>
              </a:lnSpc>
              <a:spcBef>
                <a:spcPts val="170"/>
              </a:spcBef>
            </a:pPr>
            <a:r>
              <a:rPr sz="2800" spc="-5" dirty="0">
                <a:latin typeface="宋体"/>
                <a:cs typeface="宋体"/>
              </a:rPr>
              <a:t>关联类是一种建模元素，表示关联</a:t>
            </a:r>
            <a:r>
              <a:rPr sz="2800" dirty="0">
                <a:latin typeface="宋体"/>
                <a:cs typeface="宋体"/>
              </a:rPr>
              <a:t>本</a:t>
            </a:r>
            <a:r>
              <a:rPr sz="2800" spc="-5" dirty="0">
                <a:latin typeface="宋体"/>
                <a:cs typeface="宋体"/>
              </a:rPr>
              <a:t>身也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latin typeface="宋体"/>
                <a:cs typeface="宋体"/>
              </a:rPr>
              <a:t>一个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。 </a:t>
            </a:r>
            <a:r>
              <a:rPr sz="2800" spc="-10" dirty="0">
                <a:latin typeface="宋体"/>
                <a:cs typeface="宋体"/>
              </a:rPr>
              <a:t>关联类兼有关联和类的双重特征，</a:t>
            </a:r>
            <a:r>
              <a:rPr sz="2800" dirty="0">
                <a:latin typeface="宋体"/>
                <a:cs typeface="宋体"/>
              </a:rPr>
              <a:t>可</a:t>
            </a:r>
            <a:r>
              <a:rPr sz="2800" spc="-10" dirty="0">
                <a:latin typeface="宋体"/>
                <a:cs typeface="宋体"/>
              </a:rPr>
              <a:t>把它</a:t>
            </a:r>
            <a:r>
              <a:rPr sz="2800" dirty="0">
                <a:latin typeface="宋体"/>
                <a:cs typeface="宋体"/>
              </a:rPr>
              <a:t>看</a:t>
            </a:r>
            <a:r>
              <a:rPr sz="2800" spc="-10" dirty="0">
                <a:latin typeface="宋体"/>
                <a:cs typeface="宋体"/>
              </a:rPr>
              <a:t>作具</a:t>
            </a:r>
            <a:r>
              <a:rPr sz="2800" dirty="0">
                <a:latin typeface="宋体"/>
                <a:cs typeface="宋体"/>
              </a:rPr>
              <a:t>有</a:t>
            </a:r>
            <a:r>
              <a:rPr sz="2800" spc="-5" dirty="0">
                <a:latin typeface="宋体"/>
                <a:cs typeface="宋体"/>
              </a:rPr>
              <a:t>类 性质的关联，也可看作是具有关联</a:t>
            </a:r>
            <a:r>
              <a:rPr sz="2800" dirty="0">
                <a:latin typeface="宋体"/>
                <a:cs typeface="宋体"/>
              </a:rPr>
              <a:t>性</a:t>
            </a:r>
            <a:r>
              <a:rPr sz="2800" spc="-5" dirty="0">
                <a:latin typeface="宋体"/>
                <a:cs typeface="宋体"/>
              </a:rPr>
              <a:t>质的</a:t>
            </a:r>
            <a:r>
              <a:rPr sz="2800" dirty="0"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45770">
              <a:lnSpc>
                <a:spcPct val="100000"/>
              </a:lnSpc>
              <a:spcBef>
                <a:spcPts val="1710"/>
              </a:spcBef>
            </a:pPr>
            <a:r>
              <a:rPr sz="2400" b="1" dirty="0">
                <a:latin typeface="宋体"/>
                <a:cs typeface="宋体"/>
              </a:rPr>
              <a:t>例如：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58188" y="3289503"/>
            <a:ext cx="329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65679" y="3289503"/>
            <a:ext cx="994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6910" algn="l"/>
              </a:tabLst>
            </a:pPr>
            <a:r>
              <a:rPr sz="1600" b="1" spc="-5" dirty="0">
                <a:latin typeface="宋体"/>
                <a:cs typeface="宋体"/>
              </a:rPr>
              <a:t>岗</a:t>
            </a:r>
            <a:r>
              <a:rPr sz="1600" b="1" spc="-10" dirty="0">
                <a:latin typeface="宋体"/>
                <a:cs typeface="宋体"/>
              </a:rPr>
              <a:t>位</a:t>
            </a:r>
            <a:r>
              <a:rPr sz="1600" b="1" dirty="0">
                <a:latin typeface="宋体"/>
                <a:cs typeface="宋体"/>
              </a:rPr>
              <a:t>	</a:t>
            </a:r>
            <a:r>
              <a:rPr sz="1600" b="1" spc="-5" dirty="0">
                <a:latin typeface="Times New Roman"/>
                <a:cs typeface="Times New Roman"/>
              </a:rPr>
              <a:t>1.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95800" y="2743200"/>
            <a:ext cx="762000" cy="1079500"/>
          </a:xfrm>
          <a:custGeom>
            <a:avLst/>
            <a:gdLst/>
            <a:ahLst/>
            <a:cxnLst/>
            <a:rect l="l" t="t" r="r" b="b"/>
            <a:pathLst>
              <a:path w="762000" h="1079500">
                <a:moveTo>
                  <a:pt x="0" y="1078992"/>
                </a:moveTo>
                <a:lnTo>
                  <a:pt x="762000" y="1078992"/>
                </a:lnTo>
                <a:lnTo>
                  <a:pt x="7620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95800" y="2743200"/>
            <a:ext cx="762000" cy="3568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宋体"/>
                <a:cs typeface="宋体"/>
              </a:rPr>
              <a:t>学生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95800" y="3099816"/>
            <a:ext cx="762000" cy="50165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889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91400" y="2743200"/>
            <a:ext cx="762000" cy="1079500"/>
          </a:xfrm>
          <a:custGeom>
            <a:avLst/>
            <a:gdLst/>
            <a:ahLst/>
            <a:cxnLst/>
            <a:rect l="l" t="t" r="r" b="b"/>
            <a:pathLst>
              <a:path w="762000" h="1079500">
                <a:moveTo>
                  <a:pt x="0" y="1078992"/>
                </a:moveTo>
                <a:lnTo>
                  <a:pt x="762000" y="1078992"/>
                </a:lnTo>
                <a:lnTo>
                  <a:pt x="7620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91400" y="2743200"/>
            <a:ext cx="762000" cy="3568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宋体"/>
                <a:cs typeface="宋体"/>
              </a:rPr>
              <a:t>教师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91400" y="3099816"/>
            <a:ext cx="762000" cy="4057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889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84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57800" y="3212592"/>
            <a:ext cx="213360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67400" y="3593591"/>
            <a:ext cx="990600" cy="1080770"/>
          </a:xfrm>
          <a:custGeom>
            <a:avLst/>
            <a:gdLst/>
            <a:ahLst/>
            <a:cxnLst/>
            <a:rect l="l" t="t" r="r" b="b"/>
            <a:pathLst>
              <a:path w="990600" h="1080770">
                <a:moveTo>
                  <a:pt x="0" y="1080516"/>
                </a:moveTo>
                <a:lnTo>
                  <a:pt x="990600" y="1080516"/>
                </a:lnTo>
                <a:lnTo>
                  <a:pt x="990600" y="0"/>
                </a:lnTo>
                <a:lnTo>
                  <a:pt x="0" y="0"/>
                </a:lnTo>
                <a:lnTo>
                  <a:pt x="0" y="10805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867400" y="3601211"/>
            <a:ext cx="990600" cy="2971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270"/>
              </a:spcBef>
            </a:pPr>
            <a:r>
              <a:rPr sz="1600" b="1" spc="-5" dirty="0">
                <a:latin typeface="宋体"/>
                <a:cs typeface="宋体"/>
              </a:rPr>
              <a:t>课程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67400" y="3898391"/>
            <a:ext cx="9906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810"/>
              </a:spcBef>
            </a:pPr>
            <a:r>
              <a:rPr sz="1600" b="1" spc="-5" dirty="0">
                <a:latin typeface="宋体"/>
                <a:cs typeface="宋体"/>
              </a:rPr>
              <a:t>课程名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67400" y="4431791"/>
            <a:ext cx="990600" cy="24257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15">
              <a:lnSpc>
                <a:spcPts val="1400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400800" y="3212592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340222" y="2937510"/>
            <a:ext cx="329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52515" y="2937510"/>
            <a:ext cx="434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授课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69632" y="2937510"/>
            <a:ext cx="329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67400" y="5574791"/>
            <a:ext cx="990600" cy="713740"/>
          </a:xfrm>
          <a:custGeom>
            <a:avLst/>
            <a:gdLst/>
            <a:ahLst/>
            <a:cxnLst/>
            <a:rect l="l" t="t" r="r" b="b"/>
            <a:pathLst>
              <a:path w="990600" h="713739">
                <a:moveTo>
                  <a:pt x="0" y="713231"/>
                </a:moveTo>
                <a:lnTo>
                  <a:pt x="990600" y="713231"/>
                </a:lnTo>
                <a:lnTo>
                  <a:pt x="990600" y="0"/>
                </a:lnTo>
                <a:lnTo>
                  <a:pt x="0" y="0"/>
                </a:lnTo>
                <a:lnTo>
                  <a:pt x="0" y="71323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867400" y="5574791"/>
            <a:ext cx="990600" cy="3327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334"/>
              </a:spcBef>
            </a:pPr>
            <a:r>
              <a:rPr sz="1600" b="1" spc="-5" dirty="0">
                <a:latin typeface="宋体"/>
                <a:cs typeface="宋体"/>
              </a:rPr>
              <a:t>教材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67400" y="5907023"/>
            <a:ext cx="990600" cy="228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18415">
              <a:lnSpc>
                <a:spcPts val="1215"/>
              </a:lnSpc>
              <a:spcBef>
                <a:spcPts val="585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400800" y="4736591"/>
            <a:ext cx="0" cy="838200"/>
          </a:xfrm>
          <a:custGeom>
            <a:avLst/>
            <a:gdLst/>
            <a:ahLst/>
            <a:cxnLst/>
            <a:rect l="l" t="t" r="r" b="b"/>
            <a:pathLst>
              <a:path h="838200">
                <a:moveTo>
                  <a:pt x="0" y="0"/>
                </a:moveTo>
                <a:lnTo>
                  <a:pt x="0" y="8381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026022" y="4625746"/>
            <a:ext cx="381000" cy="941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00" b="1" spc="-5" dirty="0">
                <a:latin typeface="Times New Roman"/>
                <a:cs typeface="Times New Roman"/>
              </a:rPr>
              <a:t>1..*</a:t>
            </a:r>
            <a:endParaRPr sz="16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495"/>
              </a:spcBef>
            </a:pPr>
            <a:r>
              <a:rPr sz="1600" b="1" spc="-15" dirty="0">
                <a:latin typeface="宋体"/>
                <a:cs typeface="宋体"/>
              </a:rPr>
              <a:t>有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600" b="1" spc="-5" dirty="0">
                <a:latin typeface="Times New Roman"/>
                <a:cs typeface="Times New Roman"/>
              </a:rPr>
              <a:t>0..1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3279775" y="69595"/>
            <a:ext cx="23876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(5</a:t>
            </a:r>
            <a:r>
              <a:rPr spc="-10" dirty="0">
                <a:latin typeface="Arial"/>
                <a:cs typeface="Arial"/>
              </a:rPr>
              <a:t>)</a:t>
            </a:r>
            <a:r>
              <a:rPr dirty="0"/>
              <a:t>关联类</a:t>
            </a:r>
          </a:p>
        </p:txBody>
      </p:sp>
      <p:sp>
        <p:nvSpPr>
          <p:cNvPr id="40" name="object 40"/>
          <p:cNvSpPr/>
          <p:nvPr/>
        </p:nvSpPr>
        <p:spPr>
          <a:xfrm>
            <a:off x="914400" y="38862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276600" y="38862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057400" y="48768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495800" y="3608832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91400" y="35052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67400" y="6135623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443098" y="3840098"/>
            <a:ext cx="2814955" cy="1265555"/>
          </a:xfrm>
          <a:custGeom>
            <a:avLst/>
            <a:gdLst/>
            <a:ahLst/>
            <a:cxnLst/>
            <a:rect l="l" t="t" r="r" b="b"/>
            <a:pathLst>
              <a:path w="2814954" h="1265554">
                <a:moveTo>
                  <a:pt x="1138301" y="820801"/>
                </a:moveTo>
                <a:lnTo>
                  <a:pt x="1145280" y="786175"/>
                </a:lnTo>
                <a:lnTo>
                  <a:pt x="1164320" y="757920"/>
                </a:lnTo>
                <a:lnTo>
                  <a:pt x="1192575" y="738880"/>
                </a:lnTo>
                <a:lnTo>
                  <a:pt x="1227201" y="731901"/>
                </a:lnTo>
                <a:lnTo>
                  <a:pt x="1417701" y="731901"/>
                </a:lnTo>
                <a:lnTo>
                  <a:pt x="0" y="0"/>
                </a:lnTo>
                <a:lnTo>
                  <a:pt x="1836801" y="731901"/>
                </a:lnTo>
                <a:lnTo>
                  <a:pt x="2725801" y="731901"/>
                </a:lnTo>
                <a:lnTo>
                  <a:pt x="2760426" y="738880"/>
                </a:lnTo>
                <a:lnTo>
                  <a:pt x="2788681" y="757920"/>
                </a:lnTo>
                <a:lnTo>
                  <a:pt x="2807721" y="786175"/>
                </a:lnTo>
                <a:lnTo>
                  <a:pt x="2814701" y="820801"/>
                </a:lnTo>
                <a:lnTo>
                  <a:pt x="2814701" y="954151"/>
                </a:lnTo>
                <a:lnTo>
                  <a:pt x="2814701" y="1176401"/>
                </a:lnTo>
                <a:lnTo>
                  <a:pt x="2807721" y="1211026"/>
                </a:lnTo>
                <a:lnTo>
                  <a:pt x="2788681" y="1239281"/>
                </a:lnTo>
                <a:lnTo>
                  <a:pt x="2760426" y="1258321"/>
                </a:lnTo>
                <a:lnTo>
                  <a:pt x="2725801" y="1265301"/>
                </a:lnTo>
                <a:lnTo>
                  <a:pt x="1836801" y="1265301"/>
                </a:lnTo>
                <a:lnTo>
                  <a:pt x="1417701" y="1265301"/>
                </a:lnTo>
                <a:lnTo>
                  <a:pt x="1227201" y="1265301"/>
                </a:lnTo>
                <a:lnTo>
                  <a:pt x="1192575" y="1258321"/>
                </a:lnTo>
                <a:lnTo>
                  <a:pt x="1164320" y="1239281"/>
                </a:lnTo>
                <a:lnTo>
                  <a:pt x="1145280" y="1211026"/>
                </a:lnTo>
                <a:lnTo>
                  <a:pt x="1138301" y="1176401"/>
                </a:lnTo>
                <a:lnTo>
                  <a:pt x="1138301" y="954151"/>
                </a:lnTo>
                <a:lnTo>
                  <a:pt x="1138301" y="82080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693667" y="4636770"/>
            <a:ext cx="1453515" cy="44386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67665" marR="5080" indent="-355600">
              <a:lnSpc>
                <a:spcPts val="1610"/>
              </a:lnSpc>
              <a:spcBef>
                <a:spcPts val="215"/>
              </a:spcBef>
            </a:pPr>
            <a:r>
              <a:rPr sz="1400" b="1" spc="5" dirty="0">
                <a:latin typeface="宋体"/>
                <a:cs typeface="宋体"/>
              </a:rPr>
              <a:t>在关</a:t>
            </a:r>
            <a:r>
              <a:rPr sz="1400" b="1" spc="-5" dirty="0">
                <a:latin typeface="宋体"/>
                <a:cs typeface="宋体"/>
              </a:rPr>
              <a:t>联上</a:t>
            </a:r>
            <a:r>
              <a:rPr sz="1400" b="1" spc="-20" dirty="0">
                <a:latin typeface="宋体"/>
                <a:cs typeface="宋体"/>
              </a:rPr>
              <a:t>用</a:t>
            </a:r>
            <a:r>
              <a:rPr sz="1400" b="1" spc="-5" dirty="0">
                <a:latin typeface="宋体"/>
                <a:cs typeface="宋体"/>
              </a:rPr>
              <a:t>虚线表 </a:t>
            </a:r>
            <a:r>
              <a:rPr sz="1400" b="1" spc="5" dirty="0">
                <a:latin typeface="宋体"/>
                <a:cs typeface="宋体"/>
              </a:rPr>
              <a:t>示关</a:t>
            </a:r>
            <a:r>
              <a:rPr sz="1400" b="1" spc="-5" dirty="0">
                <a:latin typeface="宋体"/>
                <a:cs typeface="宋体"/>
              </a:rPr>
              <a:t>联类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9800" y="2093976"/>
            <a:ext cx="914400" cy="835660"/>
          </a:xfrm>
          <a:custGeom>
            <a:avLst/>
            <a:gdLst/>
            <a:ahLst/>
            <a:cxnLst/>
            <a:rect l="l" t="t" r="r" b="b"/>
            <a:pathLst>
              <a:path w="914400" h="835660">
                <a:moveTo>
                  <a:pt x="0" y="835151"/>
                </a:moveTo>
                <a:lnTo>
                  <a:pt x="914400" y="835151"/>
                </a:lnTo>
                <a:lnTo>
                  <a:pt x="914400" y="0"/>
                </a:lnTo>
                <a:lnTo>
                  <a:pt x="0" y="0"/>
                </a:lnTo>
                <a:lnTo>
                  <a:pt x="0" y="835151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09800" y="2057400"/>
            <a:ext cx="914400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10"/>
              </a:spcBef>
            </a:pPr>
            <a:r>
              <a:rPr sz="1600" b="1" spc="-5" dirty="0">
                <a:latin typeface="宋体"/>
                <a:cs typeface="宋体"/>
              </a:rPr>
              <a:t>公司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9800" y="2426207"/>
            <a:ext cx="914400" cy="304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535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67400" y="2045207"/>
            <a:ext cx="914400" cy="1079500"/>
          </a:xfrm>
          <a:custGeom>
            <a:avLst/>
            <a:gdLst/>
            <a:ahLst/>
            <a:cxnLst/>
            <a:rect l="l" t="t" r="r" b="b"/>
            <a:pathLst>
              <a:path w="914400" h="1079500">
                <a:moveTo>
                  <a:pt x="0" y="1078991"/>
                </a:moveTo>
                <a:lnTo>
                  <a:pt x="914400" y="1078991"/>
                </a:lnTo>
                <a:lnTo>
                  <a:pt x="914400" y="0"/>
                </a:lnTo>
                <a:lnTo>
                  <a:pt x="0" y="0"/>
                </a:lnTo>
                <a:lnTo>
                  <a:pt x="0" y="10789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67400" y="2057400"/>
            <a:ext cx="914400" cy="2927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20"/>
              </a:spcBef>
            </a:pPr>
            <a:r>
              <a:rPr sz="1600" b="1" spc="-5" dirty="0">
                <a:latin typeface="宋体"/>
                <a:cs typeface="宋体"/>
              </a:rPr>
              <a:t>职员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7400" y="2350007"/>
            <a:ext cx="9144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85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24200" y="2578607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14800" y="2045207"/>
            <a:ext cx="990600" cy="957580"/>
          </a:xfrm>
          <a:custGeom>
            <a:avLst/>
            <a:gdLst/>
            <a:ahLst/>
            <a:cxnLst/>
            <a:rect l="l" t="t" r="r" b="b"/>
            <a:pathLst>
              <a:path w="990600" h="957580">
                <a:moveTo>
                  <a:pt x="0" y="957072"/>
                </a:moveTo>
                <a:lnTo>
                  <a:pt x="990600" y="957072"/>
                </a:lnTo>
                <a:lnTo>
                  <a:pt x="990600" y="0"/>
                </a:lnTo>
                <a:lnTo>
                  <a:pt x="0" y="0"/>
                </a:lnTo>
                <a:lnTo>
                  <a:pt x="0" y="95707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4800" y="2057400"/>
            <a:ext cx="990600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220"/>
              </a:spcBef>
            </a:pPr>
            <a:r>
              <a:rPr sz="1600" b="1" spc="-5" dirty="0">
                <a:latin typeface="宋体"/>
                <a:cs typeface="宋体"/>
              </a:rPr>
              <a:t>工作岗位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4800" y="2807207"/>
            <a:ext cx="990600" cy="1955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415">
              <a:lnSpc>
                <a:spcPts val="1030"/>
              </a:lnSpc>
            </a:pPr>
            <a:r>
              <a:rPr sz="1600" b="1" spc="-10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14800" y="2426207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06242" y="2300731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39461" y="2300731"/>
            <a:ext cx="840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1..*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2400" b="1" spc="-7" baseline="-38194" dirty="0">
                <a:latin typeface="宋体"/>
                <a:cs typeface="宋体"/>
              </a:rPr>
              <a:t>工资</a:t>
            </a:r>
            <a:endParaRPr sz="2400" baseline="-38194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11622" y="2376931"/>
            <a:ext cx="6858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086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1..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05400" y="2654807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64540" y="502666"/>
            <a:ext cx="7486650" cy="85851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solidFill>
                  <a:srgbClr val="000000"/>
                </a:solidFill>
              </a:rPr>
              <a:t>关联类的概念在建模</a:t>
            </a:r>
            <a:r>
              <a:rPr sz="2800" spc="-25" dirty="0">
                <a:solidFill>
                  <a:srgbClr val="000000"/>
                </a:solidFill>
              </a:rPr>
              <a:t>中</a:t>
            </a:r>
            <a:r>
              <a:rPr sz="2800" spc="-5" dirty="0">
                <a:solidFill>
                  <a:srgbClr val="00A15F"/>
                </a:solidFill>
              </a:rPr>
              <a:t>不是必</a:t>
            </a:r>
            <a:r>
              <a:rPr sz="2800" dirty="0">
                <a:solidFill>
                  <a:srgbClr val="00A15F"/>
                </a:solidFill>
              </a:rPr>
              <a:t>不</a:t>
            </a:r>
            <a:r>
              <a:rPr sz="2800" spc="-5" dirty="0">
                <a:solidFill>
                  <a:srgbClr val="00A15F"/>
                </a:solidFill>
              </a:rPr>
              <a:t>可</a:t>
            </a:r>
            <a:r>
              <a:rPr sz="2800" spc="5" dirty="0">
                <a:solidFill>
                  <a:srgbClr val="00A15F"/>
                </a:solidFill>
              </a:rPr>
              <a:t>少</a:t>
            </a:r>
            <a:r>
              <a:rPr sz="2800" spc="-10" dirty="0">
                <a:solidFill>
                  <a:srgbClr val="00A15F"/>
                </a:solidFill>
              </a:rPr>
              <a:t>的</a:t>
            </a:r>
            <a:r>
              <a:rPr sz="2800" spc="-5" dirty="0">
                <a:solidFill>
                  <a:srgbClr val="000000"/>
                </a:solidFill>
              </a:rPr>
              <a:t>，</a:t>
            </a:r>
            <a:r>
              <a:rPr sz="2800" dirty="0">
                <a:solidFill>
                  <a:srgbClr val="000000"/>
                </a:solidFill>
              </a:rPr>
              <a:t>可</a:t>
            </a:r>
            <a:r>
              <a:rPr sz="2800" spc="-5" dirty="0">
                <a:solidFill>
                  <a:srgbClr val="000000"/>
                </a:solidFill>
              </a:rPr>
              <a:t>以通 过增设类把关联类表示为普通类。</a:t>
            </a:r>
            <a:endParaRPr sz="2800"/>
          </a:p>
        </p:txBody>
      </p:sp>
      <p:sp>
        <p:nvSpPr>
          <p:cNvPr id="18" name="object 18"/>
          <p:cNvSpPr/>
          <p:nvPr/>
        </p:nvSpPr>
        <p:spPr>
          <a:xfrm>
            <a:off x="2209800" y="2731007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67400" y="2807207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110037" y="4634484"/>
          <a:ext cx="990600" cy="1549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170815">
                        <a:lnSpc>
                          <a:spcPts val="1630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有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17081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0..1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707">
                <a:tc gridSpan="2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教材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18415">
                        <a:lnSpc>
                          <a:spcPts val="1110"/>
                        </a:lnSpc>
                        <a:spcBef>
                          <a:spcPts val="58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205037" y="3473005"/>
          <a:ext cx="4800600" cy="1145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2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学生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975"/>
                        </a:spcBef>
                        <a:tabLst>
                          <a:tab pos="728980" algn="l"/>
                        </a:tabLst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	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课程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95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94615">
                        <a:lnSpc>
                          <a:spcPct val="100000"/>
                        </a:lnSpc>
                        <a:tabLst>
                          <a:tab pos="805815" algn="l"/>
                        </a:tabLst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	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教师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38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课程名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38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7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46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8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133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993444" y="1627073"/>
            <a:ext cx="9448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宋体"/>
                <a:cs typeface="宋体"/>
              </a:rPr>
              <a:t>例如：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954404"/>
            <a:ext cx="5964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宋体"/>
                <a:cs typeface="宋体"/>
              </a:rPr>
              <a:t>元关联是三个或多个类之间的</a:t>
            </a:r>
            <a:r>
              <a:rPr sz="2800" dirty="0">
                <a:latin typeface="宋体"/>
                <a:cs typeface="宋体"/>
              </a:rPr>
              <a:t>关</a:t>
            </a:r>
            <a:r>
              <a:rPr sz="2800" spc="-5" dirty="0">
                <a:latin typeface="宋体"/>
                <a:cs typeface="宋体"/>
              </a:rPr>
              <a:t>联。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600" y="1789176"/>
            <a:ext cx="762000" cy="1079500"/>
          </a:xfrm>
          <a:custGeom>
            <a:avLst/>
            <a:gdLst/>
            <a:ahLst/>
            <a:cxnLst/>
            <a:rect l="l" t="t" r="r" b="b"/>
            <a:pathLst>
              <a:path w="762000" h="1079500">
                <a:moveTo>
                  <a:pt x="0" y="1078991"/>
                </a:moveTo>
                <a:lnTo>
                  <a:pt x="762000" y="1078991"/>
                </a:lnTo>
                <a:lnTo>
                  <a:pt x="762000" y="0"/>
                </a:lnTo>
                <a:lnTo>
                  <a:pt x="0" y="0"/>
                </a:lnTo>
                <a:lnTo>
                  <a:pt x="0" y="10789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14600" y="1789176"/>
            <a:ext cx="762000" cy="40894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600" b="1" spc="-5" dirty="0">
                <a:latin typeface="宋体"/>
                <a:cs typeface="宋体"/>
              </a:rPr>
              <a:t>项目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4600" y="2197607"/>
            <a:ext cx="7620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895"/>
              </a:lnSpc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2350007"/>
            <a:ext cx="838200" cy="1079500"/>
          </a:xfrm>
          <a:custGeom>
            <a:avLst/>
            <a:gdLst/>
            <a:ahLst/>
            <a:cxnLst/>
            <a:rect l="l" t="t" r="r" b="b"/>
            <a:pathLst>
              <a:path w="838200" h="1079500">
                <a:moveTo>
                  <a:pt x="0" y="1078991"/>
                </a:moveTo>
                <a:lnTo>
                  <a:pt x="838200" y="1078991"/>
                </a:lnTo>
                <a:lnTo>
                  <a:pt x="838200" y="0"/>
                </a:lnTo>
                <a:lnTo>
                  <a:pt x="0" y="0"/>
                </a:lnTo>
                <a:lnTo>
                  <a:pt x="0" y="10789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57600" y="2350007"/>
            <a:ext cx="838200" cy="40703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600" b="1" spc="-5" dirty="0">
                <a:latin typeface="宋体"/>
                <a:cs typeface="宋体"/>
              </a:rPr>
              <a:t>语言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7600" y="2756916"/>
            <a:ext cx="838200" cy="355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905"/>
              </a:lnSpc>
            </a:pPr>
            <a:r>
              <a:rPr sz="1600" b="1" spc="-10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38600" y="2121407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6200" y="1892807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114300"/>
                </a:moveTo>
                <a:lnTo>
                  <a:pt x="152400" y="0"/>
                </a:lnTo>
                <a:lnTo>
                  <a:pt x="304800" y="114300"/>
                </a:lnTo>
                <a:lnTo>
                  <a:pt x="1524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9644" y="1627073"/>
            <a:ext cx="9779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N</a:t>
            </a:r>
            <a:r>
              <a:rPr sz="2000" b="1" dirty="0">
                <a:latin typeface="宋体"/>
                <a:cs typeface="宋体"/>
              </a:rPr>
              <a:t>元关联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76600" y="1994916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76600" y="5109971"/>
            <a:ext cx="914400" cy="1079500"/>
          </a:xfrm>
          <a:custGeom>
            <a:avLst/>
            <a:gdLst/>
            <a:ahLst/>
            <a:cxnLst/>
            <a:rect l="l" t="t" r="r" b="b"/>
            <a:pathLst>
              <a:path w="914400" h="1079500">
                <a:moveTo>
                  <a:pt x="0" y="1078991"/>
                </a:moveTo>
                <a:lnTo>
                  <a:pt x="914400" y="1078991"/>
                </a:lnTo>
                <a:lnTo>
                  <a:pt x="914400" y="0"/>
                </a:lnTo>
                <a:lnTo>
                  <a:pt x="0" y="0"/>
                </a:lnTo>
                <a:lnTo>
                  <a:pt x="0" y="10789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55975" y="5139385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项目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55975" y="5504179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9000" y="5061203"/>
            <a:ext cx="914400" cy="1079500"/>
          </a:xfrm>
          <a:custGeom>
            <a:avLst/>
            <a:gdLst/>
            <a:ahLst/>
            <a:cxnLst/>
            <a:rect l="l" t="t" r="r" b="b"/>
            <a:pathLst>
              <a:path w="914400" h="1079500">
                <a:moveTo>
                  <a:pt x="0" y="1078992"/>
                </a:moveTo>
                <a:lnTo>
                  <a:pt x="914400" y="1078992"/>
                </a:lnTo>
                <a:lnTo>
                  <a:pt x="9144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319009" y="5090540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语言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19009" y="5454802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39000" y="544220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76600" y="551840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181600" y="5105400"/>
            <a:ext cx="990600" cy="1202690"/>
          </a:xfrm>
          <a:custGeom>
            <a:avLst/>
            <a:gdLst/>
            <a:ahLst/>
            <a:cxnLst/>
            <a:rect l="l" t="t" r="r" b="b"/>
            <a:pathLst>
              <a:path w="990600" h="1202689">
                <a:moveTo>
                  <a:pt x="0" y="1202436"/>
                </a:moveTo>
                <a:lnTo>
                  <a:pt x="990600" y="1202436"/>
                </a:lnTo>
                <a:lnTo>
                  <a:pt x="990600" y="0"/>
                </a:lnTo>
                <a:lnTo>
                  <a:pt x="0" y="0"/>
                </a:lnTo>
                <a:lnTo>
                  <a:pt x="0" y="12024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187822" y="5135117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任务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81600" y="548640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273041" y="5362194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6261" y="5362194"/>
            <a:ext cx="10452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1..*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2400" b="1" spc="-7" baseline="-38194" dirty="0">
                <a:latin typeface="宋体"/>
                <a:cs typeface="宋体"/>
              </a:rPr>
              <a:t>任务名</a:t>
            </a:r>
            <a:endParaRPr sz="2400" baseline="-38194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54877" y="5362194"/>
            <a:ext cx="8883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0865" algn="l"/>
              </a:tabLst>
            </a:pPr>
            <a:r>
              <a:rPr sz="1600" b="1" spc="-5" dirty="0">
                <a:latin typeface="Times New Roman"/>
                <a:cs typeface="Times New Roman"/>
              </a:rPr>
              <a:t>*	1.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81600" y="3429000"/>
            <a:ext cx="990600" cy="1079500"/>
          </a:xfrm>
          <a:custGeom>
            <a:avLst/>
            <a:gdLst/>
            <a:ahLst/>
            <a:cxnLst/>
            <a:rect l="l" t="t" r="r" b="b"/>
            <a:pathLst>
              <a:path w="990600" h="1079500">
                <a:moveTo>
                  <a:pt x="0" y="1078992"/>
                </a:moveTo>
                <a:lnTo>
                  <a:pt x="990600" y="1078992"/>
                </a:lnTo>
                <a:lnTo>
                  <a:pt x="9906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187822" y="3458336"/>
            <a:ext cx="434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人员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87822" y="3822572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81600" y="383743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15000" y="4495800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721222" y="4417929"/>
            <a:ext cx="329565" cy="72390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600" b="1" spc="-5" dirty="0">
                <a:latin typeface="Times New Roman"/>
                <a:cs typeface="Times New Roman"/>
              </a:rPr>
              <a:t>0.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600" b="1" spc="-5" dirty="0">
                <a:latin typeface="Times New Roman"/>
                <a:cs typeface="Times New Roman"/>
              </a:rPr>
              <a:t>1.</a:t>
            </a:r>
            <a:r>
              <a:rPr sz="1600" b="1" spc="-15" dirty="0">
                <a:latin typeface="Times New Roman"/>
                <a:cs typeface="Times New Roman"/>
              </a:rPr>
              <a:t>.</a:t>
            </a:r>
            <a:r>
              <a:rPr sz="1600" b="1" spc="-5" dirty="0">
                <a:latin typeface="Times New Roman"/>
                <a:cs typeface="Times New Roman"/>
              </a:rPr>
              <a:t>*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191000" y="563880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72200" y="5670803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40739" y="3622040"/>
            <a:ext cx="4188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增设类可以表</a:t>
            </a:r>
            <a:r>
              <a:rPr sz="2800" spc="-15" dirty="0">
                <a:latin typeface="宋体"/>
                <a:cs typeface="宋体"/>
              </a:rPr>
              <a:t>示</a:t>
            </a:r>
            <a:r>
              <a:rPr sz="2800" spc="-1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宋体"/>
                <a:cs typeface="宋体"/>
              </a:rPr>
              <a:t>元关联。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3176777" y="102488"/>
            <a:ext cx="29457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(6)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N</a:t>
            </a:r>
            <a:r>
              <a:rPr dirty="0"/>
              <a:t>元关联</a:t>
            </a:r>
          </a:p>
        </p:txBody>
      </p:sp>
      <p:sp>
        <p:nvSpPr>
          <p:cNvPr id="37" name="object 37"/>
          <p:cNvSpPr/>
          <p:nvPr/>
        </p:nvSpPr>
        <p:spPr>
          <a:xfrm>
            <a:off x="2514600" y="2578607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4186237" y="1735645"/>
          <a:ext cx="1524000" cy="1078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45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人员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92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object 39"/>
          <p:cNvSpPr/>
          <p:nvPr/>
        </p:nvSpPr>
        <p:spPr>
          <a:xfrm>
            <a:off x="3657600" y="3112007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81600" y="601980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276600" y="59436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239000" y="5867400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181600" y="4218432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7114" y="129286"/>
            <a:ext cx="31026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(7)</a:t>
            </a:r>
            <a:r>
              <a:rPr spc="-80" dirty="0">
                <a:latin typeface="Arial"/>
                <a:cs typeface="Arial"/>
              </a:rPr>
              <a:t> </a:t>
            </a:r>
            <a:r>
              <a:rPr dirty="0"/>
              <a:t>关联限定</a:t>
            </a:r>
          </a:p>
        </p:txBody>
      </p:sp>
      <p:sp>
        <p:nvSpPr>
          <p:cNvPr id="3" name="object 3"/>
          <p:cNvSpPr/>
          <p:nvPr/>
        </p:nvSpPr>
        <p:spPr>
          <a:xfrm>
            <a:off x="4495800" y="2590800"/>
            <a:ext cx="990600" cy="1079500"/>
          </a:xfrm>
          <a:custGeom>
            <a:avLst/>
            <a:gdLst/>
            <a:ahLst/>
            <a:cxnLst/>
            <a:rect l="l" t="t" r="r" b="b"/>
            <a:pathLst>
              <a:path w="990600" h="1079500">
                <a:moveTo>
                  <a:pt x="0" y="1078992"/>
                </a:moveTo>
                <a:lnTo>
                  <a:pt x="990600" y="1078992"/>
                </a:lnTo>
                <a:lnTo>
                  <a:pt x="990600" y="0"/>
                </a:lnTo>
                <a:lnTo>
                  <a:pt x="0" y="0"/>
                </a:lnTo>
                <a:lnTo>
                  <a:pt x="0" y="107899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95800" y="2590800"/>
            <a:ext cx="990600" cy="3676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宋体"/>
                <a:cs typeface="宋体"/>
              </a:rPr>
              <a:t>部门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95800" y="2958083"/>
            <a:ext cx="9906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600" b="1" spc="-5" dirty="0">
                <a:latin typeface="宋体"/>
                <a:cs typeface="宋体"/>
              </a:rPr>
              <a:t>名称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95800" y="3339084"/>
            <a:ext cx="990600" cy="3308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80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95800" y="2958083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19437" y="3070669"/>
            <a:ext cx="238125" cy="134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2800" y="3124200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214437" y="2662237"/>
          <a:ext cx="1905000" cy="1078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31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公司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b="1" spc="5" dirty="0">
                          <a:latin typeface="宋体"/>
                          <a:cs typeface="宋体"/>
                        </a:rPr>
                        <a:t>部门</a:t>
                      </a:r>
                      <a:r>
                        <a:rPr sz="1400" b="1" spc="-5" dirty="0">
                          <a:latin typeface="宋体"/>
                          <a:cs typeface="宋体"/>
                        </a:rPr>
                        <a:t>编码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3">
                <a:tc rowSpan="2">
                  <a:txBody>
                    <a:bodyPr/>
                    <a:lstStyle/>
                    <a:p>
                      <a:pPr marL="91440">
                        <a:lnSpc>
                          <a:spcPts val="189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8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9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839520" y="1092454"/>
            <a:ext cx="7250430" cy="1383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关联限</a:t>
            </a:r>
            <a:r>
              <a:rPr sz="2800" spc="-10" dirty="0">
                <a:latin typeface="宋体"/>
                <a:cs typeface="宋体"/>
              </a:rPr>
              <a:t>定</a:t>
            </a:r>
            <a:r>
              <a:rPr sz="2800" spc="-5" dirty="0">
                <a:latin typeface="Times New Roman"/>
                <a:cs typeface="Times New Roman"/>
              </a:rPr>
              <a:t>---</a:t>
            </a:r>
            <a:r>
              <a:rPr sz="2800" dirty="0">
                <a:latin typeface="Times New Roman"/>
                <a:cs typeface="Times New Roman"/>
              </a:rPr>
              <a:t>-</a:t>
            </a:r>
            <a:r>
              <a:rPr sz="2800" spc="-5" dirty="0">
                <a:latin typeface="宋体"/>
                <a:cs typeface="宋体"/>
              </a:rPr>
              <a:t>表示作为查找另一端</a:t>
            </a:r>
            <a:r>
              <a:rPr sz="2800" dirty="0">
                <a:latin typeface="宋体"/>
                <a:cs typeface="宋体"/>
              </a:rPr>
              <a:t>对</a:t>
            </a:r>
            <a:r>
              <a:rPr sz="2800" spc="-5" dirty="0">
                <a:latin typeface="宋体"/>
                <a:cs typeface="宋体"/>
              </a:rPr>
              <a:t>象的</a:t>
            </a:r>
            <a:r>
              <a:rPr sz="2800" dirty="0">
                <a:latin typeface="宋体"/>
                <a:cs typeface="宋体"/>
              </a:rPr>
              <a:t>特</a:t>
            </a:r>
            <a:r>
              <a:rPr sz="2800" spc="-5" dirty="0">
                <a:latin typeface="宋体"/>
                <a:cs typeface="宋体"/>
              </a:rPr>
              <a:t>征属 </a:t>
            </a:r>
            <a:r>
              <a:rPr sz="2800" spc="-10" dirty="0">
                <a:latin typeface="宋体"/>
                <a:cs typeface="宋体"/>
              </a:rPr>
              <a:t>性，在特定的约束下提供快捷的搜</a:t>
            </a:r>
            <a:r>
              <a:rPr sz="2800" dirty="0">
                <a:latin typeface="宋体"/>
                <a:cs typeface="宋体"/>
              </a:rPr>
              <a:t>索</a:t>
            </a:r>
            <a:r>
              <a:rPr sz="2800" spc="-10" dirty="0">
                <a:latin typeface="宋体"/>
                <a:cs typeface="宋体"/>
              </a:rPr>
              <a:t>路径。</a:t>
            </a:r>
            <a:endParaRPr sz="2800">
              <a:latin typeface="宋体"/>
              <a:cs typeface="宋体"/>
            </a:endParaRPr>
          </a:p>
          <a:p>
            <a:pPr marL="166370">
              <a:lnSpc>
                <a:spcPct val="100000"/>
              </a:lnSpc>
              <a:spcBef>
                <a:spcPts val="1100"/>
              </a:spcBef>
            </a:pPr>
            <a:r>
              <a:rPr sz="2400" spc="-5" dirty="0">
                <a:latin typeface="宋体"/>
                <a:cs typeface="宋体"/>
              </a:rPr>
              <a:t>例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95800" y="3339084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19600" y="4267200"/>
            <a:ext cx="990600" cy="1324610"/>
          </a:xfrm>
          <a:custGeom>
            <a:avLst/>
            <a:gdLst/>
            <a:ahLst/>
            <a:cxnLst/>
            <a:rect l="l" t="t" r="r" b="b"/>
            <a:pathLst>
              <a:path w="990600" h="1324610">
                <a:moveTo>
                  <a:pt x="0" y="1324356"/>
                </a:moveTo>
                <a:lnTo>
                  <a:pt x="990600" y="1324356"/>
                </a:lnTo>
                <a:lnTo>
                  <a:pt x="990600" y="0"/>
                </a:lnTo>
                <a:lnTo>
                  <a:pt x="0" y="0"/>
                </a:lnTo>
                <a:lnTo>
                  <a:pt x="0" y="132435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19600" y="4267200"/>
            <a:ext cx="990600" cy="317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600" b="1" spc="-5" dirty="0">
                <a:latin typeface="宋体"/>
                <a:cs typeface="宋体"/>
              </a:rPr>
              <a:t>现金卡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19600" y="4584191"/>
            <a:ext cx="990600" cy="6737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10"/>
              </a:spcBef>
            </a:pPr>
            <a:r>
              <a:rPr sz="1600" b="1" dirty="0">
                <a:latin typeface="宋体"/>
                <a:cs typeface="宋体"/>
              </a:rPr>
              <a:t>卡号</a:t>
            </a:r>
            <a:endParaRPr sz="160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宋体"/>
                <a:cs typeface="宋体"/>
              </a:rPr>
              <a:t>密码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9600" y="5257800"/>
            <a:ext cx="990600" cy="3340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95"/>
              </a:spcBef>
            </a:pPr>
            <a:r>
              <a:rPr sz="1600" b="1" spc="-5" dirty="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19600" y="4584191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67037" y="4719637"/>
            <a:ext cx="238125" cy="1344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00400" y="48006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214437" y="4463605"/>
          <a:ext cx="1752600" cy="1080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831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营业部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5" dirty="0">
                          <a:latin typeface="宋体"/>
                          <a:cs typeface="宋体"/>
                        </a:rPr>
                        <a:t>卡代码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3">
                <a:tc rowSpan="2">
                  <a:txBody>
                    <a:bodyPr/>
                    <a:lstStyle/>
                    <a:p>
                      <a:pPr marL="91440">
                        <a:lnSpc>
                          <a:spcPts val="190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25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2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5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4419600" y="525780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19751" y="2823082"/>
            <a:ext cx="2576830" cy="1063625"/>
          </a:xfrm>
          <a:custGeom>
            <a:avLst/>
            <a:gdLst/>
            <a:ahLst/>
            <a:cxnLst/>
            <a:rect l="l" t="t" r="r" b="b"/>
            <a:pathLst>
              <a:path w="2576829" h="1063625">
                <a:moveTo>
                  <a:pt x="823849" y="555116"/>
                </a:moveTo>
                <a:lnTo>
                  <a:pt x="831830" y="515560"/>
                </a:lnTo>
                <a:lnTo>
                  <a:pt x="853598" y="483266"/>
                </a:lnTo>
                <a:lnTo>
                  <a:pt x="885892" y="461498"/>
                </a:lnTo>
                <a:lnTo>
                  <a:pt x="925449" y="453516"/>
                </a:lnTo>
                <a:lnTo>
                  <a:pt x="1115949" y="453516"/>
                </a:lnTo>
                <a:lnTo>
                  <a:pt x="0" y="0"/>
                </a:lnTo>
                <a:lnTo>
                  <a:pt x="1554099" y="453516"/>
                </a:lnTo>
                <a:lnTo>
                  <a:pt x="2474849" y="453516"/>
                </a:lnTo>
                <a:lnTo>
                  <a:pt x="2514405" y="461498"/>
                </a:lnTo>
                <a:lnTo>
                  <a:pt x="2546699" y="483266"/>
                </a:lnTo>
                <a:lnTo>
                  <a:pt x="2568467" y="515560"/>
                </a:lnTo>
                <a:lnTo>
                  <a:pt x="2576449" y="555116"/>
                </a:lnTo>
                <a:lnTo>
                  <a:pt x="2576449" y="707516"/>
                </a:lnTo>
                <a:lnTo>
                  <a:pt x="2576449" y="961516"/>
                </a:lnTo>
                <a:lnTo>
                  <a:pt x="2568467" y="1001073"/>
                </a:lnTo>
                <a:lnTo>
                  <a:pt x="2546699" y="1033367"/>
                </a:lnTo>
                <a:lnTo>
                  <a:pt x="2514405" y="1055135"/>
                </a:lnTo>
                <a:lnTo>
                  <a:pt x="2474849" y="1063116"/>
                </a:lnTo>
                <a:lnTo>
                  <a:pt x="1554099" y="1063116"/>
                </a:lnTo>
                <a:lnTo>
                  <a:pt x="1115949" y="1063116"/>
                </a:lnTo>
                <a:lnTo>
                  <a:pt x="925449" y="1063116"/>
                </a:lnTo>
                <a:lnTo>
                  <a:pt x="885892" y="1055135"/>
                </a:lnTo>
                <a:lnTo>
                  <a:pt x="853598" y="1033367"/>
                </a:lnTo>
                <a:lnTo>
                  <a:pt x="831830" y="1001073"/>
                </a:lnTo>
                <a:lnTo>
                  <a:pt x="823849" y="961516"/>
                </a:lnTo>
                <a:lnTo>
                  <a:pt x="823849" y="707516"/>
                </a:lnTo>
                <a:lnTo>
                  <a:pt x="823849" y="55511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93078" y="3347720"/>
            <a:ext cx="1455420" cy="5003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14300" marR="5080" indent="-102235">
              <a:lnSpc>
                <a:spcPts val="1820"/>
              </a:lnSpc>
              <a:spcBef>
                <a:spcPts val="240"/>
              </a:spcBef>
            </a:pPr>
            <a:r>
              <a:rPr sz="1600" b="1" dirty="0">
                <a:latin typeface="宋体"/>
                <a:cs typeface="宋体"/>
              </a:rPr>
              <a:t>多个分公司有相 </a:t>
            </a:r>
            <a:r>
              <a:rPr sz="1600" b="1" spc="-5" dirty="0">
                <a:latin typeface="宋体"/>
                <a:cs typeface="宋体"/>
              </a:rPr>
              <a:t>同部门的名称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68900" y="4657725"/>
            <a:ext cx="2603500" cy="1133475"/>
          </a:xfrm>
          <a:custGeom>
            <a:avLst/>
            <a:gdLst/>
            <a:ahLst/>
            <a:cxnLst/>
            <a:rect l="l" t="t" r="r" b="b"/>
            <a:pathLst>
              <a:path w="2603500" h="1133475">
                <a:moveTo>
                  <a:pt x="850900" y="625475"/>
                </a:moveTo>
                <a:lnTo>
                  <a:pt x="858881" y="585918"/>
                </a:lnTo>
                <a:lnTo>
                  <a:pt x="880649" y="553624"/>
                </a:lnTo>
                <a:lnTo>
                  <a:pt x="912943" y="531856"/>
                </a:lnTo>
                <a:lnTo>
                  <a:pt x="952500" y="523875"/>
                </a:lnTo>
                <a:lnTo>
                  <a:pt x="1143000" y="523875"/>
                </a:lnTo>
                <a:lnTo>
                  <a:pt x="0" y="0"/>
                </a:lnTo>
                <a:lnTo>
                  <a:pt x="1581150" y="523875"/>
                </a:lnTo>
                <a:lnTo>
                  <a:pt x="2501900" y="523875"/>
                </a:lnTo>
                <a:lnTo>
                  <a:pt x="2541456" y="531856"/>
                </a:lnTo>
                <a:lnTo>
                  <a:pt x="2573750" y="553624"/>
                </a:lnTo>
                <a:lnTo>
                  <a:pt x="2595518" y="585918"/>
                </a:lnTo>
                <a:lnTo>
                  <a:pt x="2603500" y="625475"/>
                </a:lnTo>
                <a:lnTo>
                  <a:pt x="2603500" y="777875"/>
                </a:lnTo>
                <a:lnTo>
                  <a:pt x="2603500" y="1031875"/>
                </a:lnTo>
                <a:lnTo>
                  <a:pt x="2595518" y="1071420"/>
                </a:lnTo>
                <a:lnTo>
                  <a:pt x="2573750" y="1103715"/>
                </a:lnTo>
                <a:lnTo>
                  <a:pt x="2541456" y="1125490"/>
                </a:lnTo>
                <a:lnTo>
                  <a:pt x="2501900" y="1133475"/>
                </a:lnTo>
                <a:lnTo>
                  <a:pt x="1581150" y="1133475"/>
                </a:lnTo>
                <a:lnTo>
                  <a:pt x="1143000" y="1133475"/>
                </a:lnTo>
                <a:lnTo>
                  <a:pt x="952500" y="1133475"/>
                </a:lnTo>
                <a:lnTo>
                  <a:pt x="912943" y="1125490"/>
                </a:lnTo>
                <a:lnTo>
                  <a:pt x="880649" y="1103715"/>
                </a:lnTo>
                <a:lnTo>
                  <a:pt x="858881" y="1071420"/>
                </a:lnTo>
                <a:lnTo>
                  <a:pt x="850900" y="1031875"/>
                </a:lnTo>
                <a:lnTo>
                  <a:pt x="850900" y="777875"/>
                </a:lnTo>
                <a:lnTo>
                  <a:pt x="850900" y="6254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169278" y="5252669"/>
            <a:ext cx="1455420" cy="50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75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不同营业部有相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875"/>
              </a:lnSpc>
            </a:pPr>
            <a:r>
              <a:rPr sz="1600" b="1" spc="-5" dirty="0">
                <a:latin typeface="宋体"/>
                <a:cs typeface="宋体"/>
              </a:rPr>
              <a:t>同卡号的现金卡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5027" y="1630679"/>
            <a:ext cx="7696200" cy="955675"/>
          </a:xfrm>
          <a:custGeom>
            <a:avLst/>
            <a:gdLst/>
            <a:ahLst/>
            <a:cxnLst/>
            <a:rect l="l" t="t" r="r" b="b"/>
            <a:pathLst>
              <a:path w="7696200" h="955675">
                <a:moveTo>
                  <a:pt x="0" y="955548"/>
                </a:moveTo>
                <a:lnTo>
                  <a:pt x="7696200" y="955548"/>
                </a:lnTo>
                <a:lnTo>
                  <a:pt x="7696200" y="0"/>
                </a:lnTo>
                <a:lnTo>
                  <a:pt x="0" y="0"/>
                </a:lnTo>
                <a:lnTo>
                  <a:pt x="0" y="9555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51305" y="54305"/>
            <a:ext cx="6490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(8)</a:t>
            </a:r>
            <a:r>
              <a:rPr spc="-70" dirty="0">
                <a:latin typeface="Arial"/>
                <a:cs typeface="Arial"/>
              </a:rPr>
              <a:t> </a:t>
            </a:r>
            <a:r>
              <a:rPr dirty="0"/>
              <a:t>聚合关</a:t>
            </a:r>
            <a:r>
              <a:rPr spc="5" dirty="0"/>
              <a:t>联</a:t>
            </a:r>
            <a:r>
              <a:rPr dirty="0">
                <a:latin typeface="Arial"/>
                <a:cs typeface="Arial"/>
              </a:rPr>
              <a:t>(Aggregation)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04028" y="4269740"/>
            <a:ext cx="433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0</a:t>
            </a:r>
            <a:r>
              <a:rPr sz="1600" b="1" spc="-5" dirty="0">
                <a:latin typeface="宋体"/>
                <a:cs typeface="宋体"/>
              </a:rPr>
              <a:t>，</a:t>
            </a: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62400" y="4315967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299"/>
                </a:moveTo>
                <a:lnTo>
                  <a:pt x="76200" y="0"/>
                </a:lnTo>
                <a:lnTo>
                  <a:pt x="152400" y="114299"/>
                </a:lnTo>
                <a:lnTo>
                  <a:pt x="76200" y="228599"/>
                </a:lnTo>
                <a:lnTo>
                  <a:pt x="0" y="1142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4315967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299"/>
                </a:moveTo>
                <a:lnTo>
                  <a:pt x="76200" y="0"/>
                </a:lnTo>
                <a:lnTo>
                  <a:pt x="152400" y="114299"/>
                </a:lnTo>
                <a:lnTo>
                  <a:pt x="76200" y="228599"/>
                </a:lnTo>
                <a:lnTo>
                  <a:pt x="0" y="1142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81437" y="3599497"/>
          <a:ext cx="914400" cy="711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2701">
                <a:tc>
                  <a:txBody>
                    <a:bodyPr/>
                    <a:lstStyle/>
                    <a:p>
                      <a:pPr marL="92075">
                        <a:lnSpc>
                          <a:spcPts val="1805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汽车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marL="92075">
                        <a:lnSpc>
                          <a:spcPts val="109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424237" y="4544567"/>
          <a:ext cx="838200" cy="11704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27305" algn="r">
                        <a:lnSpc>
                          <a:spcPts val="163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31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发动机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92075">
                        <a:lnSpc>
                          <a:spcPts val="1115"/>
                        </a:lnSpc>
                        <a:spcBef>
                          <a:spcPts val="58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491037" y="4544567"/>
          <a:ext cx="838200" cy="11704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，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31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车轮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92075">
                        <a:lnSpc>
                          <a:spcPts val="1305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432175" y="4269740"/>
            <a:ext cx="433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0</a:t>
            </a:r>
            <a:r>
              <a:rPr sz="1600" b="1" spc="-5" dirty="0">
                <a:latin typeface="宋体"/>
                <a:cs typeface="宋体"/>
              </a:rPr>
              <a:t>，</a:t>
            </a: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772" y="746670"/>
            <a:ext cx="7436484" cy="302514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2075"/>
              </a:spcBef>
            </a:pPr>
            <a:r>
              <a:rPr sz="2800" spc="-5" dirty="0">
                <a:latin typeface="宋体"/>
                <a:cs typeface="宋体"/>
              </a:rPr>
              <a:t>聚合关联表示一种特殊的关联。</a:t>
            </a:r>
            <a:endParaRPr sz="2800" dirty="0">
              <a:latin typeface="宋体"/>
              <a:cs typeface="宋体"/>
            </a:endParaRPr>
          </a:p>
          <a:p>
            <a:pPr marR="5080">
              <a:lnSpc>
                <a:spcPts val="3210"/>
              </a:lnSpc>
              <a:spcBef>
                <a:spcPts val="2210"/>
              </a:spcBef>
              <a:tabLst>
                <a:tab pos="1740535" algn="l"/>
              </a:tabLst>
            </a:pPr>
            <a:r>
              <a:rPr sz="2800" dirty="0">
                <a:latin typeface="黑体"/>
                <a:cs typeface="黑体"/>
              </a:rPr>
              <a:t>聚合定</a:t>
            </a:r>
            <a:r>
              <a:rPr sz="2800" spc="-5" dirty="0">
                <a:latin typeface="黑体"/>
                <a:cs typeface="黑体"/>
              </a:rPr>
              <a:t>义</a:t>
            </a:r>
            <a:r>
              <a:rPr sz="2800" dirty="0">
                <a:latin typeface="黑体"/>
                <a:cs typeface="黑体"/>
              </a:rPr>
              <a:t>	</a:t>
            </a:r>
            <a:r>
              <a:rPr sz="2800" spc="-10" dirty="0">
                <a:latin typeface="宋体"/>
                <a:cs typeface="宋体"/>
              </a:rPr>
              <a:t>聚合表示整体类和部分类之间的</a:t>
            </a:r>
            <a:r>
              <a:rPr sz="2800" spc="-5" dirty="0">
                <a:latin typeface="宋体"/>
                <a:cs typeface="宋体"/>
              </a:rPr>
              <a:t>“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整 体</a:t>
            </a:r>
            <a:r>
              <a:rPr sz="2800" spc="-10" dirty="0">
                <a:solidFill>
                  <a:srgbClr val="00A15F"/>
                </a:solidFill>
                <a:latin typeface="Times New Roman"/>
                <a:cs typeface="Times New Roman"/>
              </a:rPr>
              <a:t>—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部分</a:t>
            </a:r>
            <a:r>
              <a:rPr sz="2800" spc="-5" dirty="0">
                <a:latin typeface="宋体"/>
                <a:cs typeface="宋体"/>
              </a:rPr>
              <a:t>”关系。</a:t>
            </a:r>
            <a:endParaRPr sz="2800" dirty="0">
              <a:latin typeface="宋体"/>
              <a:cs typeface="宋体"/>
            </a:endParaRPr>
          </a:p>
          <a:p>
            <a:pPr marL="233045">
              <a:lnSpc>
                <a:spcPct val="100000"/>
              </a:lnSpc>
              <a:spcBef>
                <a:spcPts val="2070"/>
              </a:spcBef>
            </a:pPr>
            <a:r>
              <a:rPr sz="2800" spc="-5" dirty="0">
                <a:latin typeface="宋体"/>
                <a:cs typeface="宋体"/>
              </a:rPr>
              <a:t>聚</a:t>
            </a:r>
            <a:r>
              <a:rPr sz="2800" spc="-10" dirty="0">
                <a:latin typeface="宋体"/>
                <a:cs typeface="宋体"/>
              </a:rPr>
              <a:t>合</a:t>
            </a:r>
            <a:r>
              <a:rPr sz="2800" spc="-5" dirty="0">
                <a:latin typeface="Times New Roman"/>
                <a:cs typeface="Times New Roman"/>
              </a:rPr>
              <a:t>----</a:t>
            </a:r>
            <a:r>
              <a:rPr sz="2800" spc="-5" dirty="0">
                <a:latin typeface="宋体"/>
                <a:cs typeface="宋体"/>
              </a:rPr>
              <a:t>部分对象和整体对象可以</a:t>
            </a:r>
            <a:r>
              <a:rPr sz="2800" dirty="0">
                <a:latin typeface="宋体"/>
                <a:cs typeface="宋体"/>
              </a:rPr>
              <a:t>独</a:t>
            </a:r>
            <a:r>
              <a:rPr sz="2800" spc="-5" dirty="0">
                <a:latin typeface="宋体"/>
                <a:cs typeface="宋体"/>
              </a:rPr>
              <a:t>立生存</a:t>
            </a:r>
            <a:endParaRPr sz="2800" dirty="0">
              <a:latin typeface="宋体"/>
              <a:cs typeface="宋体"/>
            </a:endParaRPr>
          </a:p>
          <a:p>
            <a:pPr marL="1833245">
              <a:lnSpc>
                <a:spcPct val="100000"/>
              </a:lnSpc>
              <a:spcBef>
                <a:spcPts val="1345"/>
              </a:spcBef>
            </a:pPr>
            <a:r>
              <a:rPr sz="2400" dirty="0">
                <a:latin typeface="宋体"/>
                <a:cs typeface="宋体"/>
              </a:rPr>
              <a:t>例</a:t>
            </a:r>
            <a:r>
              <a:rPr sz="2400" dirty="0">
                <a:latin typeface="Times New Roman"/>
                <a:cs typeface="Times New Roman"/>
              </a:rPr>
              <a:t>: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52637" y="3072193"/>
          <a:ext cx="1219200" cy="713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226">
                <a:tc>
                  <a:txBody>
                    <a:bodyPr/>
                    <a:lstStyle/>
                    <a:p>
                      <a:pPr marL="91440">
                        <a:lnSpc>
                          <a:spcPts val="1810"/>
                        </a:lnSpc>
                        <a:spcBef>
                          <a:spcPts val="33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跨国公司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9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8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7">
                <a:tc>
                  <a:txBody>
                    <a:bodyPr/>
                    <a:lstStyle/>
                    <a:p>
                      <a:pPr marL="91440">
                        <a:lnSpc>
                          <a:spcPts val="108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43037" y="3942588"/>
          <a:ext cx="2438400" cy="1246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7368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1">
                <a:tc>
                  <a:txBody>
                    <a:bodyPr/>
                    <a:lstStyle/>
                    <a:p>
                      <a:pPr marL="243840">
                        <a:lnSpc>
                          <a:spcPts val="1850"/>
                        </a:lnSpc>
                        <a:spcBef>
                          <a:spcPts val="6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50"/>
                        </a:lnSpc>
                        <a:spcBef>
                          <a:spcPts val="6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94">
                <a:tc gridSpan="2">
                  <a:txBody>
                    <a:bodyPr/>
                    <a:lstStyle/>
                    <a:p>
                      <a:pPr marL="91440">
                        <a:lnSpc>
                          <a:spcPts val="1595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部门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595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分公司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07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362">
                <a:tc gridSpan="2">
                  <a:txBody>
                    <a:bodyPr/>
                    <a:lstStyle/>
                    <a:p>
                      <a:pPr marL="91440">
                        <a:lnSpc>
                          <a:spcPts val="1305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305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662237" y="3785425"/>
            <a:ext cx="161925" cy="238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17394" y="3790950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9787" y="929639"/>
            <a:ext cx="7696200" cy="1384300"/>
          </a:xfrm>
          <a:custGeom>
            <a:avLst/>
            <a:gdLst/>
            <a:ahLst/>
            <a:cxnLst/>
            <a:rect l="l" t="t" r="r" b="b"/>
            <a:pathLst>
              <a:path w="7696200" h="1384300">
                <a:moveTo>
                  <a:pt x="0" y="1383791"/>
                </a:moveTo>
                <a:lnTo>
                  <a:pt x="7696200" y="1383791"/>
                </a:lnTo>
                <a:lnTo>
                  <a:pt x="7696200" y="0"/>
                </a:lnTo>
                <a:lnTo>
                  <a:pt x="0" y="0"/>
                </a:lnTo>
                <a:lnTo>
                  <a:pt x="0" y="13837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9137" y="955929"/>
            <a:ext cx="7487284" cy="2468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spc="5" dirty="0">
                <a:latin typeface="黑体"/>
                <a:cs typeface="黑体"/>
              </a:rPr>
              <a:t>组合定</a:t>
            </a:r>
            <a:r>
              <a:rPr sz="2800" spc="-5" dirty="0">
                <a:latin typeface="黑体"/>
                <a:cs typeface="黑体"/>
              </a:rPr>
              <a:t>义</a:t>
            </a:r>
            <a:r>
              <a:rPr sz="2800" spc="1305" dirty="0">
                <a:latin typeface="黑体"/>
                <a:cs typeface="黑体"/>
              </a:rPr>
              <a:t> </a:t>
            </a:r>
            <a:r>
              <a:rPr sz="2800" spc="-5" dirty="0">
                <a:latin typeface="宋体"/>
                <a:cs typeface="宋体"/>
              </a:rPr>
              <a:t>组合是聚合的一种形式，其中部分和 </a:t>
            </a:r>
            <a:r>
              <a:rPr sz="2800" spc="-10" dirty="0">
                <a:latin typeface="宋体"/>
                <a:cs typeface="宋体"/>
              </a:rPr>
              <a:t>整体之间具有很强的</a:t>
            </a:r>
            <a:r>
              <a:rPr sz="2800" spc="-5" dirty="0">
                <a:latin typeface="宋体"/>
                <a:cs typeface="宋体"/>
              </a:rPr>
              <a:t>“</a:t>
            </a:r>
            <a:r>
              <a:rPr sz="2800" spc="-10" dirty="0">
                <a:solidFill>
                  <a:srgbClr val="00A15F"/>
                </a:solidFill>
                <a:latin typeface="宋体"/>
                <a:cs typeface="宋体"/>
              </a:rPr>
              <a:t>属于</a:t>
            </a:r>
            <a:r>
              <a:rPr sz="2800" spc="-5" dirty="0">
                <a:latin typeface="宋体"/>
                <a:cs typeface="宋体"/>
              </a:rPr>
              <a:t>”关系，且它们</a:t>
            </a:r>
            <a:r>
              <a:rPr sz="2800" dirty="0">
                <a:latin typeface="宋体"/>
                <a:cs typeface="宋体"/>
              </a:rPr>
              <a:t>的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生 存期是一致</a:t>
            </a:r>
            <a:r>
              <a:rPr sz="2800" spc="-5" dirty="0">
                <a:latin typeface="宋体"/>
                <a:cs typeface="宋体"/>
              </a:rPr>
              <a:t>的。</a:t>
            </a:r>
            <a:endParaRPr sz="2800">
              <a:latin typeface="宋体"/>
              <a:cs typeface="宋体"/>
            </a:endParaRPr>
          </a:p>
          <a:p>
            <a:pPr marL="184150">
              <a:lnSpc>
                <a:spcPct val="100000"/>
              </a:lnSpc>
              <a:spcBef>
                <a:spcPts val="2065"/>
              </a:spcBef>
            </a:pPr>
            <a:r>
              <a:rPr sz="2800" spc="-5" dirty="0">
                <a:latin typeface="宋体"/>
                <a:cs typeface="宋体"/>
              </a:rPr>
              <a:t>组</a:t>
            </a:r>
            <a:r>
              <a:rPr sz="2800" spc="-10" dirty="0">
                <a:latin typeface="宋体"/>
                <a:cs typeface="宋体"/>
              </a:rPr>
              <a:t>合</a:t>
            </a:r>
            <a:r>
              <a:rPr sz="2800" spc="-5" dirty="0">
                <a:latin typeface="Times New Roman"/>
                <a:cs typeface="Times New Roman"/>
              </a:rPr>
              <a:t>----</a:t>
            </a:r>
            <a:r>
              <a:rPr sz="2800" spc="-5" dirty="0">
                <a:latin typeface="宋体"/>
                <a:cs typeface="宋体"/>
              </a:rPr>
              <a:t>部分对象和整体对象生存</a:t>
            </a:r>
            <a:r>
              <a:rPr sz="2800" dirty="0">
                <a:latin typeface="宋体"/>
                <a:cs typeface="宋体"/>
              </a:rPr>
              <a:t>期</a:t>
            </a:r>
            <a:r>
              <a:rPr sz="2800" spc="-5" dirty="0">
                <a:latin typeface="宋体"/>
                <a:cs typeface="宋体"/>
              </a:rPr>
              <a:t>一致</a:t>
            </a:r>
            <a:endParaRPr sz="2800">
              <a:latin typeface="宋体"/>
              <a:cs typeface="宋体"/>
            </a:endParaRPr>
          </a:p>
          <a:p>
            <a:pPr marL="184150">
              <a:lnSpc>
                <a:spcPct val="100000"/>
              </a:lnSpc>
              <a:spcBef>
                <a:spcPts val="855"/>
              </a:spcBef>
            </a:pPr>
            <a:r>
              <a:rPr sz="2400" dirty="0">
                <a:latin typeface="宋体"/>
                <a:cs typeface="宋体"/>
              </a:rPr>
              <a:t>例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329237" y="3072193"/>
          <a:ext cx="1066800" cy="1170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控制面板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405437" y="4291393"/>
            <a:ext cx="161925" cy="238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67437" y="4291393"/>
            <a:ext cx="161925" cy="238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938837" y="4524755"/>
          <a:ext cx="1066800" cy="15514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80"/>
                        </a:lnSpc>
                        <a:spcBef>
                          <a:spcPts val="152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0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238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显示窗口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24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66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643437" y="4524755"/>
          <a:ext cx="1066800" cy="1581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473075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684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238">
                <a:tc gridSpan="2"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键盘区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82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6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328028" y="4216400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61228" y="4247845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16507" y="95503"/>
            <a:ext cx="57435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组合关联</a:t>
            </a:r>
            <a:r>
              <a:rPr dirty="0">
                <a:latin typeface="Arial"/>
                <a:cs typeface="Arial"/>
              </a:rPr>
              <a:t>(Composition)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29000" y="266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152400"/>
                </a:moveTo>
                <a:lnTo>
                  <a:pt x="114300" y="0"/>
                </a:lnTo>
                <a:lnTo>
                  <a:pt x="228600" y="152400"/>
                </a:lnTo>
                <a:lnTo>
                  <a:pt x="114300" y="3048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0739" y="883666"/>
            <a:ext cx="7135495" cy="85851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solidFill>
                  <a:srgbClr val="000000"/>
                </a:solidFill>
              </a:rPr>
              <a:t>聚合也是一种关联，所以，可以表</a:t>
            </a:r>
            <a:r>
              <a:rPr sz="2800" spc="5" dirty="0">
                <a:solidFill>
                  <a:srgbClr val="000000"/>
                </a:solidFill>
              </a:rPr>
              <a:t>示</a:t>
            </a:r>
            <a:r>
              <a:rPr sz="2800" spc="-5" dirty="0">
                <a:solidFill>
                  <a:srgbClr val="000000"/>
                </a:solidFill>
              </a:rPr>
              <a:t>成一</a:t>
            </a:r>
            <a:r>
              <a:rPr sz="2800" spc="5" dirty="0">
                <a:solidFill>
                  <a:srgbClr val="000000"/>
                </a:solidFill>
              </a:rPr>
              <a:t>般</a:t>
            </a:r>
            <a:r>
              <a:rPr sz="2800" spc="-5" dirty="0">
                <a:solidFill>
                  <a:srgbClr val="000000"/>
                </a:solidFill>
              </a:rPr>
              <a:t>的 关联的形式。</a:t>
            </a:r>
            <a:endParaRPr sz="2800" dirty="0"/>
          </a:p>
        </p:txBody>
      </p:sp>
      <p:sp>
        <p:nvSpPr>
          <p:cNvPr id="4" name="object 4"/>
          <p:cNvSpPr/>
          <p:nvPr/>
        </p:nvSpPr>
        <p:spPr>
          <a:xfrm>
            <a:off x="4038600" y="3505200"/>
            <a:ext cx="228600" cy="685800"/>
          </a:xfrm>
          <a:custGeom>
            <a:avLst/>
            <a:gdLst/>
            <a:ahLst/>
            <a:cxnLst/>
            <a:rect l="l" t="t" r="r" b="b"/>
            <a:pathLst>
              <a:path w="228600" h="685800">
                <a:moveTo>
                  <a:pt x="0" y="137160"/>
                </a:moveTo>
                <a:lnTo>
                  <a:pt x="114300" y="0"/>
                </a:lnTo>
                <a:lnTo>
                  <a:pt x="228600" y="137160"/>
                </a:lnTo>
                <a:lnTo>
                  <a:pt x="171450" y="137160"/>
                </a:lnTo>
                <a:lnTo>
                  <a:pt x="171450" y="548639"/>
                </a:lnTo>
                <a:lnTo>
                  <a:pt x="228600" y="548639"/>
                </a:lnTo>
                <a:lnTo>
                  <a:pt x="114300" y="685800"/>
                </a:lnTo>
                <a:lnTo>
                  <a:pt x="0" y="548639"/>
                </a:lnTo>
                <a:lnTo>
                  <a:pt x="57150" y="548639"/>
                </a:lnTo>
                <a:lnTo>
                  <a:pt x="57150" y="137160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86037" y="2330005"/>
          <a:ext cx="838200" cy="1080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22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大学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52837" y="2281237"/>
          <a:ext cx="2133600" cy="1078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43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学院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96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ts val="1895"/>
                        </a:lnSpc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09837" y="4326445"/>
          <a:ext cx="3352800" cy="1078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9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大学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  <a:tabLst>
                          <a:tab pos="574675" algn="l"/>
                          <a:tab pos="1311275" algn="l"/>
                        </a:tabLst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构</a:t>
                      </a:r>
                      <a:r>
                        <a:rPr sz="1600" b="1" spc="-15" dirty="0">
                          <a:latin typeface="宋体"/>
                          <a:cs typeface="宋体"/>
                        </a:rPr>
                        <a:t>成	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学院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44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……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5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0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346575" y="3731514"/>
            <a:ext cx="1048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等价的表示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9266" y="136017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发现聚合的环节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619" y="1047876"/>
            <a:ext cx="5359400" cy="478726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70534" indent="-457834">
              <a:lnSpc>
                <a:spcPct val="100000"/>
              </a:lnSpc>
              <a:spcBef>
                <a:spcPts val="850"/>
              </a:spcBef>
              <a:buSzPct val="95833"/>
              <a:buFont typeface="Times New Roman"/>
              <a:buAutoNum type="arabicPlain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物理上整体的事物与它的部分事物。</a:t>
            </a:r>
            <a:endParaRPr sz="2400">
              <a:latin typeface="宋体"/>
              <a:cs typeface="宋体"/>
            </a:endParaRPr>
          </a:p>
          <a:p>
            <a:pPr marL="774700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latin typeface="宋体"/>
                <a:cs typeface="宋体"/>
              </a:rPr>
              <a:t>例如：人体与各种人体器官</a:t>
            </a:r>
            <a:endParaRPr sz="1800">
              <a:latin typeface="宋体"/>
              <a:cs typeface="宋体"/>
            </a:endParaRPr>
          </a:p>
          <a:p>
            <a:pPr marL="470534" indent="-458470">
              <a:lnSpc>
                <a:spcPct val="100000"/>
              </a:lnSpc>
              <a:spcBef>
                <a:spcPts val="155"/>
              </a:spcBef>
              <a:buSzPct val="95833"/>
              <a:buFont typeface="Times New Roman"/>
              <a:buAutoNum type="arabicPlain" startAt="2"/>
              <a:tabLst>
                <a:tab pos="471170" algn="l"/>
              </a:tabLst>
            </a:pPr>
            <a:r>
              <a:rPr sz="2400" spc="-5" dirty="0">
                <a:latin typeface="宋体"/>
                <a:cs typeface="宋体"/>
              </a:rPr>
              <a:t>组织机构与它的下级组织或部门。</a:t>
            </a:r>
            <a:endParaRPr sz="2400">
              <a:latin typeface="宋体"/>
              <a:cs typeface="宋体"/>
            </a:endParaRPr>
          </a:p>
          <a:p>
            <a:pPr marL="774700">
              <a:lnSpc>
                <a:spcPct val="100000"/>
              </a:lnSpc>
              <a:spcBef>
                <a:spcPts val="570"/>
              </a:spcBef>
            </a:pPr>
            <a:r>
              <a:rPr sz="1800" dirty="0">
                <a:latin typeface="宋体"/>
                <a:cs typeface="宋体"/>
              </a:rPr>
              <a:t>例如：市场部与公关部、产品部</a:t>
            </a:r>
            <a:endParaRPr sz="1800">
              <a:latin typeface="宋体"/>
              <a:cs typeface="宋体"/>
            </a:endParaRPr>
          </a:p>
          <a:p>
            <a:pPr marL="470534" indent="-457834">
              <a:lnSpc>
                <a:spcPct val="100000"/>
              </a:lnSpc>
              <a:spcBef>
                <a:spcPts val="155"/>
              </a:spcBef>
              <a:buSzPct val="95833"/>
              <a:buFont typeface="Times New Roman"/>
              <a:buAutoNum type="arabicPlain" startAt="3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团体（组织）与成员。</a:t>
            </a:r>
            <a:endParaRPr sz="2400">
              <a:latin typeface="宋体"/>
              <a:cs typeface="宋体"/>
            </a:endParaRPr>
          </a:p>
          <a:p>
            <a:pPr marL="812800">
              <a:lnSpc>
                <a:spcPts val="2155"/>
              </a:lnSpc>
              <a:spcBef>
                <a:spcPts val="10"/>
              </a:spcBef>
            </a:pPr>
            <a:r>
              <a:rPr sz="1800" dirty="0">
                <a:latin typeface="宋体"/>
                <a:cs typeface="宋体"/>
              </a:rPr>
              <a:t>例如：班级与学生</a:t>
            </a:r>
            <a:endParaRPr sz="1800">
              <a:latin typeface="宋体"/>
              <a:cs typeface="宋体"/>
            </a:endParaRPr>
          </a:p>
          <a:p>
            <a:pPr marL="470534" indent="-457834">
              <a:lnSpc>
                <a:spcPts val="2875"/>
              </a:lnSpc>
              <a:buSzPct val="95833"/>
              <a:buFont typeface="Times New Roman"/>
              <a:buAutoNum type="arabicPlain" startAt="4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空间上的包容关系。</a:t>
            </a:r>
            <a:endParaRPr sz="2400">
              <a:latin typeface="宋体"/>
              <a:cs typeface="宋体"/>
            </a:endParaRPr>
          </a:p>
          <a:p>
            <a:pPr marL="812800">
              <a:lnSpc>
                <a:spcPts val="2155"/>
              </a:lnSpc>
              <a:spcBef>
                <a:spcPts val="10"/>
              </a:spcBef>
            </a:pPr>
            <a:r>
              <a:rPr sz="1800" spc="-5" dirty="0">
                <a:latin typeface="宋体"/>
                <a:cs typeface="宋体"/>
              </a:rPr>
              <a:t>例如：教室与桌椅</a:t>
            </a:r>
            <a:endParaRPr sz="1800">
              <a:latin typeface="宋体"/>
              <a:cs typeface="宋体"/>
            </a:endParaRPr>
          </a:p>
          <a:p>
            <a:pPr marL="470534" indent="-457834">
              <a:lnSpc>
                <a:spcPts val="2875"/>
              </a:lnSpc>
              <a:buSzPct val="95833"/>
              <a:buFont typeface="Times New Roman"/>
              <a:buAutoNum type="arabicPlain" startAt="5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抽象事物的整体与部分。</a:t>
            </a:r>
            <a:endParaRPr sz="2400">
              <a:latin typeface="宋体"/>
              <a:cs typeface="宋体"/>
            </a:endParaRPr>
          </a:p>
          <a:p>
            <a:pPr marL="812800">
              <a:lnSpc>
                <a:spcPts val="2155"/>
              </a:lnSpc>
              <a:spcBef>
                <a:spcPts val="15"/>
              </a:spcBef>
            </a:pPr>
            <a:r>
              <a:rPr sz="1800" dirty="0">
                <a:latin typeface="宋体"/>
                <a:cs typeface="宋体"/>
              </a:rPr>
              <a:t>例如：学科与学科分支</a:t>
            </a:r>
            <a:endParaRPr sz="1800">
              <a:latin typeface="宋体"/>
              <a:cs typeface="宋体"/>
            </a:endParaRPr>
          </a:p>
          <a:p>
            <a:pPr marL="470534" indent="-457834">
              <a:lnSpc>
                <a:spcPts val="2875"/>
              </a:lnSpc>
              <a:buSzPct val="95833"/>
              <a:buFont typeface="Times New Roman"/>
              <a:buAutoNum type="arabicPlain" startAt="6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具体事物和它的某个抽象方面。</a:t>
            </a:r>
            <a:endParaRPr sz="2400">
              <a:latin typeface="宋体"/>
              <a:cs typeface="宋体"/>
            </a:endParaRPr>
          </a:p>
          <a:p>
            <a:pPr marL="812800">
              <a:lnSpc>
                <a:spcPts val="2155"/>
              </a:lnSpc>
              <a:spcBef>
                <a:spcPts val="10"/>
              </a:spcBef>
            </a:pPr>
            <a:r>
              <a:rPr sz="1800" spc="-5" dirty="0">
                <a:latin typeface="宋体"/>
                <a:cs typeface="宋体"/>
              </a:rPr>
              <a:t>例如：人员基本信息与各个阶段的信息</a:t>
            </a:r>
            <a:endParaRPr sz="1800">
              <a:latin typeface="宋体"/>
              <a:cs typeface="宋体"/>
            </a:endParaRPr>
          </a:p>
          <a:p>
            <a:pPr marL="470534" indent="-457834">
              <a:lnSpc>
                <a:spcPts val="2875"/>
              </a:lnSpc>
              <a:buSzPct val="95833"/>
              <a:buFont typeface="Times New Roman"/>
              <a:buAutoNum type="arabicPlain" startAt="7"/>
              <a:tabLst>
                <a:tab pos="470534" algn="l"/>
              </a:tabLst>
            </a:pPr>
            <a:r>
              <a:rPr sz="2400" dirty="0">
                <a:latin typeface="宋体"/>
                <a:cs typeface="宋体"/>
              </a:rPr>
              <a:t>在材料上的组成关系。</a:t>
            </a:r>
            <a:endParaRPr sz="2400">
              <a:latin typeface="宋体"/>
              <a:cs typeface="宋体"/>
            </a:endParaRPr>
          </a:p>
          <a:p>
            <a:pPr marL="8128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宋体"/>
                <a:cs typeface="宋体"/>
              </a:rPr>
              <a:t>例如：面包与面包材料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7205" y="124206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筛选聚合的原则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833" y="968121"/>
            <a:ext cx="7847965" cy="5065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9230">
              <a:lnSpc>
                <a:spcPct val="100000"/>
              </a:lnSpc>
              <a:spcBef>
                <a:spcPts val="95"/>
              </a:spcBef>
              <a:buSzPct val="96428"/>
              <a:buAutoNum type="arabicPlain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聚合中的整体对象和部分对象，若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属于</a:t>
            </a:r>
            <a:r>
              <a:rPr sz="2800" dirty="0">
                <a:latin typeface="宋体"/>
                <a:cs typeface="宋体"/>
              </a:rPr>
              <a:t>问</a:t>
            </a:r>
            <a:r>
              <a:rPr sz="2800" spc="-5" dirty="0">
                <a:latin typeface="宋体"/>
                <a:cs typeface="宋体"/>
              </a:rPr>
              <a:t>题 域，则应该去掉。</a:t>
            </a:r>
            <a:endParaRPr sz="2800">
              <a:latin typeface="宋体"/>
              <a:cs typeface="宋体"/>
            </a:endParaRPr>
          </a:p>
          <a:p>
            <a:pPr marL="546100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宋体"/>
                <a:cs typeface="宋体"/>
              </a:rPr>
              <a:t>例如：业务系统中，职</a:t>
            </a:r>
            <a:r>
              <a:rPr sz="2000" spc="-15" dirty="0">
                <a:latin typeface="宋体"/>
                <a:cs typeface="宋体"/>
              </a:rPr>
              <a:t>工</a:t>
            </a:r>
            <a:r>
              <a:rPr sz="2000" dirty="0">
                <a:latin typeface="宋体"/>
                <a:cs typeface="宋体"/>
              </a:rPr>
              <a:t>与家</a:t>
            </a:r>
            <a:r>
              <a:rPr sz="2000" spc="-15" dirty="0">
                <a:latin typeface="宋体"/>
                <a:cs typeface="宋体"/>
              </a:rPr>
              <a:t>庭</a:t>
            </a:r>
            <a:r>
              <a:rPr sz="2000" dirty="0">
                <a:latin typeface="宋体"/>
                <a:cs typeface="宋体"/>
              </a:rPr>
              <a:t>的聚</a:t>
            </a:r>
            <a:r>
              <a:rPr sz="2000" spc="-15" dirty="0">
                <a:latin typeface="宋体"/>
                <a:cs typeface="宋体"/>
              </a:rPr>
              <a:t>合</a:t>
            </a:r>
            <a:r>
              <a:rPr sz="2000" dirty="0">
                <a:latin typeface="宋体"/>
                <a:cs typeface="宋体"/>
              </a:rPr>
              <a:t>关系。</a:t>
            </a:r>
            <a:endParaRPr sz="2000">
              <a:latin typeface="宋体"/>
              <a:cs typeface="宋体"/>
            </a:endParaRPr>
          </a:p>
          <a:p>
            <a:pPr marL="12700" marR="189230">
              <a:lnSpc>
                <a:spcPct val="100000"/>
              </a:lnSpc>
              <a:spcBef>
                <a:spcPts val="155"/>
              </a:spcBef>
              <a:buSzPct val="96428"/>
              <a:buAutoNum type="arabicPlain" startAt="2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聚合中的整体对象和部分对象，若</a:t>
            </a:r>
            <a:r>
              <a:rPr sz="2800" dirty="0">
                <a:latin typeface="宋体"/>
                <a:cs typeface="宋体"/>
              </a:rPr>
              <a:t>不</a:t>
            </a:r>
            <a:r>
              <a:rPr sz="2800" spc="-5" dirty="0">
                <a:latin typeface="宋体"/>
                <a:cs typeface="宋体"/>
              </a:rPr>
              <a:t>是系</a:t>
            </a:r>
            <a:r>
              <a:rPr sz="2800" dirty="0">
                <a:latin typeface="宋体"/>
                <a:cs typeface="宋体"/>
              </a:rPr>
              <a:t>统</a:t>
            </a:r>
            <a:r>
              <a:rPr sz="2800" spc="-5" dirty="0">
                <a:latin typeface="宋体"/>
                <a:cs typeface="宋体"/>
              </a:rPr>
              <a:t>责 </a:t>
            </a:r>
            <a:r>
              <a:rPr sz="2800" spc="-10" dirty="0">
                <a:latin typeface="宋体"/>
                <a:cs typeface="宋体"/>
              </a:rPr>
              <a:t>任需要的，则应该去掉。</a:t>
            </a:r>
            <a:endParaRPr sz="2800">
              <a:latin typeface="宋体"/>
              <a:cs typeface="宋体"/>
            </a:endParaRPr>
          </a:p>
          <a:p>
            <a:pPr marL="546100">
              <a:lnSpc>
                <a:spcPct val="100000"/>
              </a:lnSpc>
              <a:spcBef>
                <a:spcPts val="805"/>
              </a:spcBef>
            </a:pPr>
            <a:r>
              <a:rPr sz="2000" dirty="0">
                <a:latin typeface="宋体"/>
                <a:cs typeface="宋体"/>
              </a:rPr>
              <a:t>例如：赛车系统中，车</a:t>
            </a:r>
            <a:r>
              <a:rPr sz="2000" spc="-15" dirty="0">
                <a:latin typeface="宋体"/>
                <a:cs typeface="宋体"/>
              </a:rPr>
              <a:t>和</a:t>
            </a:r>
            <a:r>
              <a:rPr sz="2000" dirty="0">
                <a:latin typeface="宋体"/>
                <a:cs typeface="宋体"/>
              </a:rPr>
              <a:t>车轮</a:t>
            </a:r>
            <a:r>
              <a:rPr sz="2000" spc="-15" dirty="0">
                <a:latin typeface="宋体"/>
                <a:cs typeface="宋体"/>
              </a:rPr>
              <a:t>的</a:t>
            </a:r>
            <a:r>
              <a:rPr sz="2000" dirty="0">
                <a:latin typeface="宋体"/>
                <a:cs typeface="宋体"/>
              </a:rPr>
              <a:t>聚合</a:t>
            </a:r>
            <a:r>
              <a:rPr sz="2000" spc="-15" dirty="0">
                <a:latin typeface="宋体"/>
                <a:cs typeface="宋体"/>
              </a:rPr>
              <a:t>关</a:t>
            </a:r>
            <a:r>
              <a:rPr sz="2000" dirty="0">
                <a:latin typeface="宋体"/>
                <a:cs typeface="宋体"/>
              </a:rPr>
              <a:t>系。</a:t>
            </a:r>
            <a:endParaRPr sz="2000">
              <a:latin typeface="宋体"/>
              <a:cs typeface="宋体"/>
            </a:endParaRPr>
          </a:p>
          <a:p>
            <a:pPr marL="12700" marR="189230">
              <a:lnSpc>
                <a:spcPct val="100000"/>
              </a:lnSpc>
              <a:spcBef>
                <a:spcPts val="160"/>
              </a:spcBef>
              <a:buSzPct val="96428"/>
              <a:buAutoNum type="arabicPlain" startAt="3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聚合中的部分对象若只有一个属性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则应</a:t>
            </a:r>
            <a:r>
              <a:rPr sz="2800" dirty="0">
                <a:latin typeface="宋体"/>
                <a:cs typeface="宋体"/>
              </a:rPr>
              <a:t>该</a:t>
            </a:r>
            <a:r>
              <a:rPr sz="2800" spc="-5" dirty="0">
                <a:latin typeface="宋体"/>
                <a:cs typeface="宋体"/>
              </a:rPr>
              <a:t>考 </a:t>
            </a:r>
            <a:r>
              <a:rPr sz="2800" spc="-10" dirty="0">
                <a:latin typeface="宋体"/>
                <a:cs typeface="宋体"/>
              </a:rPr>
              <a:t>虑取消它，把属性放到整体对象中</a:t>
            </a:r>
            <a:r>
              <a:rPr sz="2800" dirty="0">
                <a:latin typeface="宋体"/>
                <a:cs typeface="宋体"/>
              </a:rPr>
              <a:t>去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622300">
              <a:lnSpc>
                <a:spcPct val="100000"/>
              </a:lnSpc>
              <a:spcBef>
                <a:spcPts val="380"/>
              </a:spcBef>
            </a:pPr>
            <a:r>
              <a:rPr sz="2000" dirty="0">
                <a:latin typeface="宋体"/>
                <a:cs typeface="宋体"/>
              </a:rPr>
              <a:t>例如：汽车销售系统中</a:t>
            </a:r>
            <a:r>
              <a:rPr sz="2000" spc="-1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汽车</a:t>
            </a:r>
            <a:r>
              <a:rPr sz="2000" spc="-15" dirty="0">
                <a:latin typeface="宋体"/>
                <a:cs typeface="宋体"/>
              </a:rPr>
              <a:t>和</a:t>
            </a:r>
            <a:r>
              <a:rPr sz="2000" dirty="0">
                <a:latin typeface="宋体"/>
                <a:cs typeface="宋体"/>
              </a:rPr>
              <a:t>只有</a:t>
            </a:r>
            <a:r>
              <a:rPr sz="2000" spc="-15" dirty="0">
                <a:latin typeface="宋体"/>
                <a:cs typeface="宋体"/>
              </a:rPr>
              <a:t>规</a:t>
            </a:r>
            <a:r>
              <a:rPr sz="2000" dirty="0">
                <a:latin typeface="宋体"/>
                <a:cs typeface="宋体"/>
              </a:rPr>
              <a:t>格一</a:t>
            </a:r>
            <a:r>
              <a:rPr sz="2000" spc="-15" dirty="0">
                <a:latin typeface="宋体"/>
                <a:cs typeface="宋体"/>
              </a:rPr>
              <a:t>个</a:t>
            </a:r>
            <a:r>
              <a:rPr sz="2000" dirty="0">
                <a:latin typeface="宋体"/>
                <a:cs typeface="宋体"/>
              </a:rPr>
              <a:t>属性</a:t>
            </a:r>
            <a:r>
              <a:rPr sz="2000" spc="-15" dirty="0">
                <a:latin typeface="宋体"/>
                <a:cs typeface="宋体"/>
              </a:rPr>
              <a:t>车</a:t>
            </a:r>
            <a:r>
              <a:rPr sz="2000" dirty="0">
                <a:latin typeface="宋体"/>
                <a:cs typeface="宋体"/>
              </a:rPr>
              <a:t>轮聚</a:t>
            </a:r>
            <a:r>
              <a:rPr sz="2000" spc="-15" dirty="0">
                <a:latin typeface="宋体"/>
                <a:cs typeface="宋体"/>
              </a:rPr>
              <a:t>合</a:t>
            </a:r>
            <a:r>
              <a:rPr sz="2000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buSzPct val="96428"/>
              <a:buAutoNum type="arabicPlain" startAt="4"/>
              <a:tabLst>
                <a:tab pos="546735" algn="l"/>
              </a:tabLst>
            </a:pPr>
            <a:r>
              <a:rPr sz="2800" spc="-5" dirty="0">
                <a:latin typeface="宋体"/>
                <a:cs typeface="宋体"/>
              </a:rPr>
              <a:t>如</a:t>
            </a:r>
            <a:r>
              <a:rPr sz="2800" dirty="0">
                <a:latin typeface="宋体"/>
                <a:cs typeface="宋体"/>
              </a:rPr>
              <a:t>果</a:t>
            </a:r>
            <a:r>
              <a:rPr sz="2800" spc="-5" dirty="0">
                <a:latin typeface="宋体"/>
                <a:cs typeface="宋体"/>
              </a:rPr>
              <a:t>两个对</a:t>
            </a:r>
            <a:r>
              <a:rPr sz="2800" dirty="0">
                <a:latin typeface="宋体"/>
                <a:cs typeface="宋体"/>
              </a:rPr>
              <a:t>象</a:t>
            </a:r>
            <a:r>
              <a:rPr sz="2800" spc="-5" dirty="0">
                <a:latin typeface="宋体"/>
                <a:cs typeface="宋体"/>
              </a:rPr>
              <a:t>不能明</a:t>
            </a:r>
            <a:r>
              <a:rPr sz="2800" dirty="0">
                <a:latin typeface="宋体"/>
                <a:cs typeface="宋体"/>
              </a:rPr>
              <a:t>显</a:t>
            </a:r>
            <a:r>
              <a:rPr sz="2800" spc="-5" dirty="0">
                <a:latin typeface="宋体"/>
                <a:cs typeface="宋体"/>
              </a:rPr>
              <a:t>分出整</a:t>
            </a:r>
            <a:r>
              <a:rPr sz="2800" spc="25" dirty="0">
                <a:latin typeface="宋体"/>
                <a:cs typeface="宋体"/>
              </a:rPr>
              <a:t>体</a:t>
            </a:r>
            <a:r>
              <a:rPr sz="2800" dirty="0">
                <a:latin typeface="宋体"/>
                <a:cs typeface="宋体"/>
              </a:rPr>
              <a:t>---</a:t>
            </a:r>
            <a:r>
              <a:rPr sz="2800" spc="-5" dirty="0">
                <a:latin typeface="宋体"/>
                <a:cs typeface="宋体"/>
              </a:rPr>
              <a:t>部分关系， 则不应该用聚合关系表示。</a:t>
            </a:r>
            <a:endParaRPr sz="2800">
              <a:latin typeface="宋体"/>
              <a:cs typeface="宋体"/>
            </a:endParaRPr>
          </a:p>
          <a:p>
            <a:pPr marL="54610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latin typeface="宋体"/>
                <a:cs typeface="宋体"/>
              </a:rPr>
              <a:t>例如：财务系统中，名</a:t>
            </a:r>
            <a:r>
              <a:rPr sz="2000" spc="-10" dirty="0">
                <a:latin typeface="宋体"/>
                <a:cs typeface="宋体"/>
              </a:rPr>
              <a:t>细</a:t>
            </a:r>
            <a:r>
              <a:rPr sz="2000" dirty="0">
                <a:latin typeface="宋体"/>
                <a:cs typeface="宋体"/>
              </a:rPr>
              <a:t>帐和</a:t>
            </a:r>
            <a:r>
              <a:rPr sz="2000" spc="-10" dirty="0">
                <a:latin typeface="宋体"/>
                <a:cs typeface="宋体"/>
              </a:rPr>
              <a:t>总</a:t>
            </a:r>
            <a:r>
              <a:rPr sz="2000" dirty="0">
                <a:latin typeface="宋体"/>
                <a:cs typeface="宋体"/>
              </a:rPr>
              <a:t>帐，</a:t>
            </a:r>
            <a:r>
              <a:rPr sz="2000" spc="-10" dirty="0">
                <a:latin typeface="宋体"/>
                <a:cs typeface="宋体"/>
              </a:rPr>
              <a:t>不</a:t>
            </a:r>
            <a:r>
              <a:rPr sz="2000" dirty="0">
                <a:latin typeface="宋体"/>
                <a:cs typeface="宋体"/>
              </a:rPr>
              <a:t>明显</a:t>
            </a:r>
            <a:r>
              <a:rPr sz="2000" spc="-10" dirty="0">
                <a:latin typeface="宋体"/>
                <a:cs typeface="宋体"/>
              </a:rPr>
              <a:t>有</a:t>
            </a:r>
            <a:r>
              <a:rPr sz="2000" dirty="0">
                <a:latin typeface="宋体"/>
                <a:cs typeface="宋体"/>
              </a:rPr>
              <a:t>整体</a:t>
            </a:r>
            <a:r>
              <a:rPr sz="2000" spc="-10" dirty="0">
                <a:latin typeface="宋体"/>
                <a:cs typeface="宋体"/>
              </a:rPr>
              <a:t>部</a:t>
            </a:r>
            <a:r>
              <a:rPr sz="2000" dirty="0">
                <a:latin typeface="宋体"/>
                <a:cs typeface="宋体"/>
              </a:rPr>
              <a:t>分结</a:t>
            </a:r>
            <a:r>
              <a:rPr sz="2000" spc="-10" dirty="0">
                <a:latin typeface="宋体"/>
                <a:cs typeface="宋体"/>
              </a:rPr>
              <a:t>构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0776" y="175006"/>
            <a:ext cx="51828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(9)</a:t>
            </a:r>
            <a:r>
              <a:rPr dirty="0"/>
              <a:t>类的依赖关系表示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14437" y="3357181"/>
          <a:ext cx="2743200" cy="22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80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课程计划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 marL="91440" marR="35814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增加（课程：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） 删除（课程：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）</a:t>
                      </a:r>
                      <a:endParaRPr sz="24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ts val="2845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….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62400" y="4348988"/>
            <a:ext cx="1524000" cy="141605"/>
          </a:xfrm>
          <a:custGeom>
            <a:avLst/>
            <a:gdLst/>
            <a:ahLst/>
            <a:cxnLst/>
            <a:rect l="l" t="t" r="r" b="b"/>
            <a:pathLst>
              <a:path w="1524000" h="141604">
                <a:moveTo>
                  <a:pt x="50800" y="64262"/>
                </a:moveTo>
                <a:lnTo>
                  <a:pt x="0" y="64262"/>
                </a:lnTo>
                <a:lnTo>
                  <a:pt x="0" y="76962"/>
                </a:lnTo>
                <a:lnTo>
                  <a:pt x="50800" y="76962"/>
                </a:lnTo>
                <a:lnTo>
                  <a:pt x="50800" y="64262"/>
                </a:lnTo>
                <a:close/>
              </a:path>
              <a:path w="1524000" h="141604">
                <a:moveTo>
                  <a:pt x="139700" y="64262"/>
                </a:moveTo>
                <a:lnTo>
                  <a:pt x="88900" y="64262"/>
                </a:lnTo>
                <a:lnTo>
                  <a:pt x="88900" y="76962"/>
                </a:lnTo>
                <a:lnTo>
                  <a:pt x="139700" y="76962"/>
                </a:lnTo>
                <a:lnTo>
                  <a:pt x="139700" y="64262"/>
                </a:lnTo>
                <a:close/>
              </a:path>
              <a:path w="1524000" h="141604">
                <a:moveTo>
                  <a:pt x="228600" y="64262"/>
                </a:moveTo>
                <a:lnTo>
                  <a:pt x="177800" y="64262"/>
                </a:lnTo>
                <a:lnTo>
                  <a:pt x="177800" y="76962"/>
                </a:lnTo>
                <a:lnTo>
                  <a:pt x="228600" y="76962"/>
                </a:lnTo>
                <a:lnTo>
                  <a:pt x="228600" y="64262"/>
                </a:lnTo>
                <a:close/>
              </a:path>
              <a:path w="1524000" h="141604">
                <a:moveTo>
                  <a:pt x="317500" y="64262"/>
                </a:moveTo>
                <a:lnTo>
                  <a:pt x="266700" y="64262"/>
                </a:lnTo>
                <a:lnTo>
                  <a:pt x="266700" y="76962"/>
                </a:lnTo>
                <a:lnTo>
                  <a:pt x="317500" y="76962"/>
                </a:lnTo>
                <a:lnTo>
                  <a:pt x="317500" y="64262"/>
                </a:lnTo>
                <a:close/>
              </a:path>
              <a:path w="1524000" h="141604">
                <a:moveTo>
                  <a:pt x="406400" y="64262"/>
                </a:moveTo>
                <a:lnTo>
                  <a:pt x="355600" y="64262"/>
                </a:lnTo>
                <a:lnTo>
                  <a:pt x="355600" y="76962"/>
                </a:lnTo>
                <a:lnTo>
                  <a:pt x="406400" y="76962"/>
                </a:lnTo>
                <a:lnTo>
                  <a:pt x="406400" y="64262"/>
                </a:lnTo>
                <a:close/>
              </a:path>
              <a:path w="1524000" h="141604">
                <a:moveTo>
                  <a:pt x="495300" y="64262"/>
                </a:moveTo>
                <a:lnTo>
                  <a:pt x="444500" y="64262"/>
                </a:lnTo>
                <a:lnTo>
                  <a:pt x="444500" y="76962"/>
                </a:lnTo>
                <a:lnTo>
                  <a:pt x="495300" y="76962"/>
                </a:lnTo>
                <a:lnTo>
                  <a:pt x="495300" y="64262"/>
                </a:lnTo>
                <a:close/>
              </a:path>
              <a:path w="1524000" h="141604">
                <a:moveTo>
                  <a:pt x="584200" y="64262"/>
                </a:moveTo>
                <a:lnTo>
                  <a:pt x="533400" y="64262"/>
                </a:lnTo>
                <a:lnTo>
                  <a:pt x="533400" y="76962"/>
                </a:lnTo>
                <a:lnTo>
                  <a:pt x="584200" y="76962"/>
                </a:lnTo>
                <a:lnTo>
                  <a:pt x="584200" y="64262"/>
                </a:lnTo>
                <a:close/>
              </a:path>
              <a:path w="1524000" h="141604">
                <a:moveTo>
                  <a:pt x="673100" y="64262"/>
                </a:moveTo>
                <a:lnTo>
                  <a:pt x="622300" y="64262"/>
                </a:lnTo>
                <a:lnTo>
                  <a:pt x="622300" y="76962"/>
                </a:lnTo>
                <a:lnTo>
                  <a:pt x="673100" y="76962"/>
                </a:lnTo>
                <a:lnTo>
                  <a:pt x="673100" y="64262"/>
                </a:lnTo>
                <a:close/>
              </a:path>
              <a:path w="1524000" h="141604">
                <a:moveTo>
                  <a:pt x="762000" y="64262"/>
                </a:moveTo>
                <a:lnTo>
                  <a:pt x="711200" y="64262"/>
                </a:lnTo>
                <a:lnTo>
                  <a:pt x="711200" y="76962"/>
                </a:lnTo>
                <a:lnTo>
                  <a:pt x="762000" y="76962"/>
                </a:lnTo>
                <a:lnTo>
                  <a:pt x="762000" y="64262"/>
                </a:lnTo>
                <a:close/>
              </a:path>
              <a:path w="1524000" h="141604">
                <a:moveTo>
                  <a:pt x="850900" y="64262"/>
                </a:moveTo>
                <a:lnTo>
                  <a:pt x="800100" y="64262"/>
                </a:lnTo>
                <a:lnTo>
                  <a:pt x="800100" y="76962"/>
                </a:lnTo>
                <a:lnTo>
                  <a:pt x="850900" y="76962"/>
                </a:lnTo>
                <a:lnTo>
                  <a:pt x="850900" y="64262"/>
                </a:lnTo>
                <a:close/>
              </a:path>
              <a:path w="1524000" h="141604">
                <a:moveTo>
                  <a:pt x="939800" y="64262"/>
                </a:moveTo>
                <a:lnTo>
                  <a:pt x="889000" y="64262"/>
                </a:lnTo>
                <a:lnTo>
                  <a:pt x="889000" y="76962"/>
                </a:lnTo>
                <a:lnTo>
                  <a:pt x="939800" y="76962"/>
                </a:lnTo>
                <a:lnTo>
                  <a:pt x="939800" y="64262"/>
                </a:lnTo>
                <a:close/>
              </a:path>
              <a:path w="1524000" h="141604">
                <a:moveTo>
                  <a:pt x="1028700" y="64262"/>
                </a:moveTo>
                <a:lnTo>
                  <a:pt x="977900" y="64262"/>
                </a:lnTo>
                <a:lnTo>
                  <a:pt x="977900" y="76962"/>
                </a:lnTo>
                <a:lnTo>
                  <a:pt x="1028700" y="76962"/>
                </a:lnTo>
                <a:lnTo>
                  <a:pt x="1028700" y="64262"/>
                </a:lnTo>
                <a:close/>
              </a:path>
              <a:path w="1524000" h="141604">
                <a:moveTo>
                  <a:pt x="1117600" y="64262"/>
                </a:moveTo>
                <a:lnTo>
                  <a:pt x="1066800" y="64262"/>
                </a:lnTo>
                <a:lnTo>
                  <a:pt x="1066800" y="76962"/>
                </a:lnTo>
                <a:lnTo>
                  <a:pt x="1117600" y="76962"/>
                </a:lnTo>
                <a:lnTo>
                  <a:pt x="1117600" y="64262"/>
                </a:lnTo>
                <a:close/>
              </a:path>
              <a:path w="1524000" h="141604">
                <a:moveTo>
                  <a:pt x="1206500" y="64262"/>
                </a:moveTo>
                <a:lnTo>
                  <a:pt x="1155700" y="64262"/>
                </a:lnTo>
                <a:lnTo>
                  <a:pt x="1155700" y="76962"/>
                </a:lnTo>
                <a:lnTo>
                  <a:pt x="1206500" y="76962"/>
                </a:lnTo>
                <a:lnTo>
                  <a:pt x="1206500" y="64262"/>
                </a:lnTo>
                <a:close/>
              </a:path>
              <a:path w="1524000" h="141604">
                <a:moveTo>
                  <a:pt x="1295400" y="64262"/>
                </a:moveTo>
                <a:lnTo>
                  <a:pt x="1244600" y="64262"/>
                </a:lnTo>
                <a:lnTo>
                  <a:pt x="1244600" y="76962"/>
                </a:lnTo>
                <a:lnTo>
                  <a:pt x="1295400" y="76962"/>
                </a:lnTo>
                <a:lnTo>
                  <a:pt x="1295400" y="64262"/>
                </a:lnTo>
                <a:close/>
              </a:path>
              <a:path w="1524000" h="141604">
                <a:moveTo>
                  <a:pt x="1384300" y="64262"/>
                </a:moveTo>
                <a:lnTo>
                  <a:pt x="1333500" y="64262"/>
                </a:lnTo>
                <a:lnTo>
                  <a:pt x="1333500" y="76962"/>
                </a:lnTo>
                <a:lnTo>
                  <a:pt x="1384300" y="76962"/>
                </a:lnTo>
                <a:lnTo>
                  <a:pt x="1384300" y="64262"/>
                </a:lnTo>
                <a:close/>
              </a:path>
              <a:path w="1524000" h="141604">
                <a:moveTo>
                  <a:pt x="1504238" y="70612"/>
                </a:moveTo>
                <a:lnTo>
                  <a:pt x="1433829" y="129286"/>
                </a:lnTo>
                <a:lnTo>
                  <a:pt x="1431163" y="131444"/>
                </a:lnTo>
                <a:lnTo>
                  <a:pt x="1430782" y="135509"/>
                </a:lnTo>
                <a:lnTo>
                  <a:pt x="1433067" y="138175"/>
                </a:lnTo>
                <a:lnTo>
                  <a:pt x="1435227" y="140843"/>
                </a:lnTo>
                <a:lnTo>
                  <a:pt x="1439290" y="141224"/>
                </a:lnTo>
                <a:lnTo>
                  <a:pt x="1441958" y="138937"/>
                </a:lnTo>
                <a:lnTo>
                  <a:pt x="1516375" y="76962"/>
                </a:lnTo>
                <a:lnTo>
                  <a:pt x="1511300" y="76962"/>
                </a:lnTo>
                <a:lnTo>
                  <a:pt x="1511300" y="75437"/>
                </a:lnTo>
                <a:lnTo>
                  <a:pt x="1510029" y="75437"/>
                </a:lnTo>
                <a:lnTo>
                  <a:pt x="1504238" y="70612"/>
                </a:lnTo>
                <a:close/>
              </a:path>
              <a:path w="1524000" h="141604">
                <a:moveTo>
                  <a:pt x="1473200" y="64262"/>
                </a:moveTo>
                <a:lnTo>
                  <a:pt x="1422400" y="64262"/>
                </a:lnTo>
                <a:lnTo>
                  <a:pt x="1422400" y="76962"/>
                </a:lnTo>
                <a:lnTo>
                  <a:pt x="1473200" y="76962"/>
                </a:lnTo>
                <a:lnTo>
                  <a:pt x="1473200" y="64262"/>
                </a:lnTo>
                <a:close/>
              </a:path>
              <a:path w="1524000" h="141604">
                <a:moveTo>
                  <a:pt x="1514094" y="64262"/>
                </a:moveTo>
                <a:lnTo>
                  <a:pt x="1511300" y="64262"/>
                </a:lnTo>
                <a:lnTo>
                  <a:pt x="1511300" y="76962"/>
                </a:lnTo>
                <a:lnTo>
                  <a:pt x="1514094" y="76962"/>
                </a:lnTo>
                <a:lnTo>
                  <a:pt x="1514094" y="64262"/>
                </a:lnTo>
                <a:close/>
              </a:path>
              <a:path w="1524000" h="141604">
                <a:moveTo>
                  <a:pt x="1516375" y="64262"/>
                </a:moveTo>
                <a:lnTo>
                  <a:pt x="1514094" y="64262"/>
                </a:lnTo>
                <a:lnTo>
                  <a:pt x="1514094" y="76962"/>
                </a:lnTo>
                <a:lnTo>
                  <a:pt x="1516375" y="76962"/>
                </a:lnTo>
                <a:lnTo>
                  <a:pt x="1524000" y="70612"/>
                </a:lnTo>
                <a:lnTo>
                  <a:pt x="1516375" y="64262"/>
                </a:lnTo>
                <a:close/>
              </a:path>
              <a:path w="1524000" h="141604">
                <a:moveTo>
                  <a:pt x="1510029" y="65786"/>
                </a:moveTo>
                <a:lnTo>
                  <a:pt x="1504238" y="70612"/>
                </a:lnTo>
                <a:lnTo>
                  <a:pt x="1510029" y="75437"/>
                </a:lnTo>
                <a:lnTo>
                  <a:pt x="1510029" y="65786"/>
                </a:lnTo>
                <a:close/>
              </a:path>
              <a:path w="1524000" h="141604">
                <a:moveTo>
                  <a:pt x="1511300" y="65786"/>
                </a:moveTo>
                <a:lnTo>
                  <a:pt x="1510029" y="65786"/>
                </a:lnTo>
                <a:lnTo>
                  <a:pt x="1510029" y="75437"/>
                </a:lnTo>
                <a:lnTo>
                  <a:pt x="1511300" y="75437"/>
                </a:lnTo>
                <a:lnTo>
                  <a:pt x="1511300" y="65786"/>
                </a:lnTo>
                <a:close/>
              </a:path>
              <a:path w="1524000" h="141604">
                <a:moveTo>
                  <a:pt x="1439290" y="0"/>
                </a:moveTo>
                <a:lnTo>
                  <a:pt x="1435227" y="381"/>
                </a:lnTo>
                <a:lnTo>
                  <a:pt x="1433067" y="3048"/>
                </a:lnTo>
                <a:lnTo>
                  <a:pt x="1430782" y="5714"/>
                </a:lnTo>
                <a:lnTo>
                  <a:pt x="1431163" y="9779"/>
                </a:lnTo>
                <a:lnTo>
                  <a:pt x="1433829" y="11937"/>
                </a:lnTo>
                <a:lnTo>
                  <a:pt x="1504238" y="70612"/>
                </a:lnTo>
                <a:lnTo>
                  <a:pt x="1510029" y="65786"/>
                </a:lnTo>
                <a:lnTo>
                  <a:pt x="1511300" y="65786"/>
                </a:lnTo>
                <a:lnTo>
                  <a:pt x="1511300" y="64262"/>
                </a:lnTo>
                <a:lnTo>
                  <a:pt x="1516375" y="64262"/>
                </a:lnTo>
                <a:lnTo>
                  <a:pt x="1441958" y="2286"/>
                </a:lnTo>
                <a:lnTo>
                  <a:pt x="1439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81637" y="3538537"/>
          <a:ext cx="1371600" cy="1562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课程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….</a:t>
                      </a: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7244" y="1112266"/>
            <a:ext cx="7131050" cy="204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679700" algn="l"/>
              </a:tabLst>
            </a:pPr>
            <a:r>
              <a:rPr sz="2800" spc="5" dirty="0">
                <a:latin typeface="黑体"/>
                <a:cs typeface="黑体"/>
              </a:rPr>
              <a:t>依赖关系定</a:t>
            </a:r>
            <a:r>
              <a:rPr sz="2800" spc="-5" dirty="0">
                <a:latin typeface="黑体"/>
                <a:cs typeface="黑体"/>
              </a:rPr>
              <a:t>义	</a:t>
            </a:r>
            <a:r>
              <a:rPr sz="2800" spc="-5" dirty="0">
                <a:latin typeface="宋体"/>
                <a:cs typeface="宋体"/>
              </a:rPr>
              <a:t>模型元素</a:t>
            </a:r>
            <a:r>
              <a:rPr sz="2800" dirty="0">
                <a:latin typeface="宋体"/>
                <a:cs typeface="宋体"/>
              </a:rPr>
              <a:t>(</a:t>
            </a:r>
            <a:r>
              <a:rPr sz="2800" spc="-5" dirty="0">
                <a:latin typeface="宋体"/>
                <a:cs typeface="宋体"/>
              </a:rPr>
              <a:t>或模型元素集合)  </a:t>
            </a:r>
            <a:r>
              <a:rPr sz="2800" spc="-10" dirty="0">
                <a:latin typeface="宋体"/>
                <a:cs typeface="宋体"/>
              </a:rPr>
              <a:t>之间的一种语义关系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目标元</a:t>
            </a:r>
            <a:r>
              <a:rPr sz="2800" spc="-15" dirty="0">
                <a:solidFill>
                  <a:srgbClr val="00A15F"/>
                </a:solidFill>
                <a:latin typeface="宋体"/>
                <a:cs typeface="宋体"/>
              </a:rPr>
              <a:t>素</a:t>
            </a:r>
            <a:r>
              <a:rPr sz="2800" spc="-5" dirty="0">
                <a:latin typeface="宋体"/>
                <a:cs typeface="宋体"/>
              </a:rPr>
              <a:t>的改变需</a:t>
            </a:r>
            <a:r>
              <a:rPr sz="2800" dirty="0">
                <a:latin typeface="宋体"/>
                <a:cs typeface="宋体"/>
              </a:rPr>
              <a:t>要</a:t>
            </a:r>
            <a:r>
              <a:rPr sz="2800" spc="-5" dirty="0">
                <a:latin typeface="宋体"/>
                <a:cs typeface="宋体"/>
              </a:rPr>
              <a:t>根 </a:t>
            </a:r>
            <a:r>
              <a:rPr sz="2800" spc="-10" dirty="0">
                <a:latin typeface="宋体"/>
                <a:cs typeface="宋体"/>
              </a:rPr>
              <a:t>据</a:t>
            </a:r>
            <a:r>
              <a:rPr sz="2800" spc="-5" dirty="0">
                <a:solidFill>
                  <a:srgbClr val="00A15F"/>
                </a:solidFill>
                <a:latin typeface="宋体"/>
                <a:cs typeface="宋体"/>
              </a:rPr>
              <a:t>源元素</a:t>
            </a:r>
            <a:r>
              <a:rPr sz="2800" spc="-5" dirty="0">
                <a:latin typeface="宋体"/>
                <a:cs typeface="宋体"/>
              </a:rPr>
              <a:t>的改变而变化。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 dirty="0">
              <a:latin typeface="宋体"/>
              <a:cs typeface="宋体"/>
            </a:endParaRPr>
          </a:p>
          <a:p>
            <a:pPr marL="317500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例：课程计划依赖课程的变化而变化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60194" y="5743143"/>
            <a:ext cx="1049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目标元素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4628" y="5743143"/>
            <a:ext cx="793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latin typeface="宋体"/>
                <a:cs typeface="宋体"/>
              </a:rPr>
              <a:t>源元素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5803"/>
            <a:ext cx="3721735" cy="49758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面向对象建模</a:t>
            </a:r>
          </a:p>
          <a:p>
            <a:pPr marL="756285" lvl="1" indent="-287020">
              <a:lnSpc>
                <a:spcPct val="100000"/>
              </a:lnSpc>
              <a:spcBef>
                <a:spcPts val="2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1.1.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类图和对象建模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1.2.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宋体"/>
                <a:cs typeface="宋体"/>
              </a:rPr>
              <a:t>识别对象和筛选策略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2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1.3.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从对象抽象类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1.4.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主动对象和控制线程</a:t>
            </a:r>
          </a:p>
          <a:p>
            <a:pPr marL="355600" indent="-343535">
              <a:lnSpc>
                <a:spcPct val="100000"/>
              </a:lnSpc>
              <a:spcBef>
                <a:spcPts val="2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类的命名、属性和操作</a:t>
            </a: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2.1.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类的命名</a:t>
            </a: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类属性及识别筛选策略</a:t>
            </a: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2.3.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类操作及识别调整策略</a:t>
            </a: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类的继承和关联</a:t>
            </a:r>
          </a:p>
          <a:p>
            <a:pPr marL="756285" lvl="1" indent="-2870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3.1.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类的继承关系</a:t>
            </a: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建立类的关联</a:t>
            </a: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4.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接口类</a:t>
            </a:r>
            <a:endParaRPr sz="2400" dirty="0">
              <a:latin typeface="宋体"/>
              <a:cs typeface="宋体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5.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包图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3633" y="34544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接口类和信号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0" y="470001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199"/>
                </a:moveTo>
                <a:lnTo>
                  <a:pt x="2360" y="410458"/>
                </a:lnTo>
                <a:lnTo>
                  <a:pt x="9289" y="365066"/>
                </a:lnTo>
                <a:lnTo>
                  <a:pt x="20557" y="321253"/>
                </a:lnTo>
                <a:lnTo>
                  <a:pt x="35933" y="279249"/>
                </a:lnTo>
                <a:lnTo>
                  <a:pt x="55187" y="239283"/>
                </a:lnTo>
                <a:lnTo>
                  <a:pt x="78090" y="201587"/>
                </a:lnTo>
                <a:lnTo>
                  <a:pt x="104411" y="166390"/>
                </a:lnTo>
                <a:lnTo>
                  <a:pt x="133921" y="133921"/>
                </a:lnTo>
                <a:lnTo>
                  <a:pt x="166390" y="104411"/>
                </a:lnTo>
                <a:lnTo>
                  <a:pt x="201587" y="78090"/>
                </a:lnTo>
                <a:lnTo>
                  <a:pt x="239283" y="55187"/>
                </a:lnTo>
                <a:lnTo>
                  <a:pt x="279249" y="35933"/>
                </a:lnTo>
                <a:lnTo>
                  <a:pt x="321253" y="20557"/>
                </a:lnTo>
                <a:lnTo>
                  <a:pt x="365066" y="9289"/>
                </a:lnTo>
                <a:lnTo>
                  <a:pt x="410458" y="2360"/>
                </a:lnTo>
                <a:lnTo>
                  <a:pt x="457200" y="0"/>
                </a:lnTo>
                <a:lnTo>
                  <a:pt x="503941" y="2360"/>
                </a:lnTo>
                <a:lnTo>
                  <a:pt x="549333" y="9289"/>
                </a:lnTo>
                <a:lnTo>
                  <a:pt x="593146" y="20557"/>
                </a:lnTo>
                <a:lnTo>
                  <a:pt x="635150" y="35933"/>
                </a:lnTo>
                <a:lnTo>
                  <a:pt x="675116" y="55187"/>
                </a:lnTo>
                <a:lnTo>
                  <a:pt x="712812" y="78090"/>
                </a:lnTo>
                <a:lnTo>
                  <a:pt x="748009" y="104411"/>
                </a:lnTo>
                <a:lnTo>
                  <a:pt x="780478" y="133921"/>
                </a:lnTo>
                <a:lnTo>
                  <a:pt x="809988" y="166390"/>
                </a:lnTo>
                <a:lnTo>
                  <a:pt x="836309" y="201587"/>
                </a:lnTo>
                <a:lnTo>
                  <a:pt x="859212" y="239283"/>
                </a:lnTo>
                <a:lnTo>
                  <a:pt x="878466" y="279249"/>
                </a:lnTo>
                <a:lnTo>
                  <a:pt x="893842" y="321253"/>
                </a:lnTo>
                <a:lnTo>
                  <a:pt x="905110" y="365066"/>
                </a:lnTo>
                <a:lnTo>
                  <a:pt x="912039" y="410458"/>
                </a:lnTo>
                <a:lnTo>
                  <a:pt x="914400" y="457199"/>
                </a:lnTo>
                <a:lnTo>
                  <a:pt x="912039" y="503941"/>
                </a:lnTo>
                <a:lnTo>
                  <a:pt x="905110" y="549333"/>
                </a:lnTo>
                <a:lnTo>
                  <a:pt x="893842" y="593146"/>
                </a:lnTo>
                <a:lnTo>
                  <a:pt x="878466" y="635150"/>
                </a:lnTo>
                <a:lnTo>
                  <a:pt x="859212" y="675116"/>
                </a:lnTo>
                <a:lnTo>
                  <a:pt x="836309" y="712812"/>
                </a:lnTo>
                <a:lnTo>
                  <a:pt x="809988" y="748009"/>
                </a:lnTo>
                <a:lnTo>
                  <a:pt x="780478" y="780478"/>
                </a:lnTo>
                <a:lnTo>
                  <a:pt x="748009" y="809988"/>
                </a:lnTo>
                <a:lnTo>
                  <a:pt x="712812" y="836309"/>
                </a:lnTo>
                <a:lnTo>
                  <a:pt x="675116" y="859212"/>
                </a:lnTo>
                <a:lnTo>
                  <a:pt x="635150" y="878466"/>
                </a:lnTo>
                <a:lnTo>
                  <a:pt x="593146" y="893842"/>
                </a:lnTo>
                <a:lnTo>
                  <a:pt x="549333" y="905110"/>
                </a:lnTo>
                <a:lnTo>
                  <a:pt x="503941" y="912039"/>
                </a:lnTo>
                <a:lnTo>
                  <a:pt x="457200" y="914399"/>
                </a:lnTo>
                <a:lnTo>
                  <a:pt x="410458" y="912039"/>
                </a:lnTo>
                <a:lnTo>
                  <a:pt x="365066" y="905110"/>
                </a:lnTo>
                <a:lnTo>
                  <a:pt x="321253" y="893842"/>
                </a:lnTo>
                <a:lnTo>
                  <a:pt x="279249" y="878466"/>
                </a:lnTo>
                <a:lnTo>
                  <a:pt x="239283" y="859212"/>
                </a:lnTo>
                <a:lnTo>
                  <a:pt x="201587" y="836309"/>
                </a:lnTo>
                <a:lnTo>
                  <a:pt x="166390" y="809988"/>
                </a:lnTo>
                <a:lnTo>
                  <a:pt x="133921" y="780478"/>
                </a:lnTo>
                <a:lnTo>
                  <a:pt x="104411" y="748009"/>
                </a:lnTo>
                <a:lnTo>
                  <a:pt x="78090" y="712812"/>
                </a:lnTo>
                <a:lnTo>
                  <a:pt x="55187" y="675116"/>
                </a:lnTo>
                <a:lnTo>
                  <a:pt x="35933" y="635150"/>
                </a:lnTo>
                <a:lnTo>
                  <a:pt x="20557" y="593146"/>
                </a:lnTo>
                <a:lnTo>
                  <a:pt x="9289" y="549333"/>
                </a:lnTo>
                <a:lnTo>
                  <a:pt x="2360" y="503941"/>
                </a:lnTo>
                <a:lnTo>
                  <a:pt x="0" y="45719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95637" y="4372165"/>
          <a:ext cx="1828800" cy="13213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&lt;&lt;interface&gt;&gt;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类名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81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92075">
                        <a:lnSpc>
                          <a:spcPts val="1689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2658" y="1228801"/>
            <a:ext cx="7698740" cy="4802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 marR="14224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宋体"/>
                <a:cs typeface="宋体"/>
              </a:rPr>
              <a:t>接口</a:t>
            </a:r>
            <a:r>
              <a:rPr sz="2800" spc="-5" dirty="0">
                <a:latin typeface="宋体"/>
                <a:cs typeface="宋体"/>
              </a:rPr>
              <a:t>类----</a:t>
            </a:r>
            <a:r>
              <a:rPr sz="2800" spc="-10" dirty="0">
                <a:latin typeface="宋体"/>
                <a:cs typeface="宋体"/>
              </a:rPr>
              <a:t>把类的</a:t>
            </a:r>
            <a:r>
              <a:rPr sz="2800" spc="-10" dirty="0">
                <a:solidFill>
                  <a:srgbClr val="00A15F"/>
                </a:solidFill>
                <a:latin typeface="宋体"/>
                <a:cs typeface="宋体"/>
              </a:rPr>
              <a:t>公共可见性操作</a:t>
            </a:r>
            <a:r>
              <a:rPr sz="2800" spc="-10" dirty="0">
                <a:latin typeface="宋体"/>
                <a:cs typeface="宋体"/>
              </a:rPr>
              <a:t>组织在一起，  </a:t>
            </a:r>
            <a:r>
              <a:rPr sz="2800" spc="-5" dirty="0">
                <a:latin typeface="宋体"/>
                <a:cs typeface="宋体"/>
              </a:rPr>
              <a:t>提供的服务集合。</a:t>
            </a:r>
            <a:endParaRPr sz="2800">
              <a:latin typeface="宋体"/>
              <a:cs typeface="宋体"/>
            </a:endParaRPr>
          </a:p>
          <a:p>
            <a:pPr marL="226060" indent="-213995">
              <a:lnSpc>
                <a:spcPct val="100000"/>
              </a:lnSpc>
              <a:spcBef>
                <a:spcPts val="2130"/>
              </a:spcBef>
              <a:buFont typeface="Times New Roman"/>
              <a:buChar char="•"/>
              <a:tabLst>
                <a:tab pos="226695" algn="l"/>
              </a:tabLst>
            </a:pPr>
            <a:r>
              <a:rPr sz="2800" spc="-5" dirty="0">
                <a:latin typeface="宋体"/>
                <a:cs typeface="宋体"/>
              </a:rPr>
              <a:t>接口类作为类之间交互操作的契约。</a:t>
            </a:r>
            <a:endParaRPr sz="2800">
              <a:latin typeface="宋体"/>
              <a:cs typeface="宋体"/>
            </a:endParaRPr>
          </a:p>
          <a:p>
            <a:pPr marL="226060" indent="-213995">
              <a:lnSpc>
                <a:spcPct val="100000"/>
              </a:lnSpc>
              <a:buFont typeface="Times New Roman"/>
              <a:buChar char="•"/>
              <a:tabLst>
                <a:tab pos="226695" algn="l"/>
              </a:tabLst>
            </a:pPr>
            <a:r>
              <a:rPr sz="2800" spc="-10" dirty="0">
                <a:latin typeface="宋体"/>
                <a:cs typeface="宋体"/>
              </a:rPr>
              <a:t>接口类两端的类可独立变更，但操作</a:t>
            </a:r>
            <a:r>
              <a:rPr sz="2800" dirty="0">
                <a:latin typeface="宋体"/>
                <a:cs typeface="宋体"/>
              </a:rPr>
              <a:t>契</a:t>
            </a:r>
            <a:r>
              <a:rPr sz="2800" spc="-10" dirty="0">
                <a:latin typeface="宋体"/>
                <a:cs typeface="宋体"/>
              </a:rPr>
              <a:t>约不</a:t>
            </a:r>
            <a:r>
              <a:rPr sz="2800" dirty="0">
                <a:latin typeface="宋体"/>
                <a:cs typeface="宋体"/>
              </a:rPr>
              <a:t>变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26060" indent="-213995">
              <a:lnSpc>
                <a:spcPct val="100000"/>
              </a:lnSpc>
              <a:buFont typeface="Times New Roman"/>
              <a:buChar char="•"/>
              <a:tabLst>
                <a:tab pos="226695" algn="l"/>
              </a:tabLst>
            </a:pPr>
            <a:r>
              <a:rPr sz="2800" spc="-5" dirty="0">
                <a:latin typeface="宋体"/>
                <a:cs typeface="宋体"/>
              </a:rPr>
              <a:t>多个类可使用一个接口类呈现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整体服</a:t>
            </a:r>
            <a:r>
              <a:rPr sz="2800" u="heavy" spc="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务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4330">
              <a:lnSpc>
                <a:spcPct val="100000"/>
              </a:lnSpc>
              <a:spcBef>
                <a:spcPts val="1880"/>
              </a:spcBef>
            </a:pPr>
            <a:r>
              <a:rPr sz="2400" spc="-5" dirty="0">
                <a:latin typeface="宋体"/>
                <a:cs typeface="宋体"/>
              </a:rPr>
              <a:t>接口类的表示：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宋体"/>
              <a:cs typeface="宋体"/>
            </a:endParaRPr>
          </a:p>
          <a:p>
            <a:pPr marL="5009515">
              <a:lnSpc>
                <a:spcPct val="100000"/>
              </a:lnSpc>
            </a:pPr>
            <a:r>
              <a:rPr sz="2000" b="1" spc="-5" dirty="0">
                <a:latin typeface="宋体"/>
                <a:cs typeface="宋体"/>
              </a:rPr>
              <a:t>或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宋体"/>
              <a:cs typeface="宋体"/>
            </a:endParaRPr>
          </a:p>
          <a:p>
            <a:pPr marR="1225550" algn="r">
              <a:lnSpc>
                <a:spcPct val="100000"/>
              </a:lnSpc>
            </a:pPr>
            <a:r>
              <a:rPr sz="2000" b="1" spc="5" dirty="0">
                <a:latin typeface="宋体"/>
                <a:cs typeface="宋体"/>
              </a:rPr>
              <a:t>接口名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500437" y="1290637"/>
          <a:ext cx="2073910" cy="1935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7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9610">
                <a:tc>
                  <a:txBody>
                    <a:bodyPr/>
                    <a:lstStyle/>
                    <a:p>
                      <a:pPr marL="92075" marR="728980">
                        <a:lnSpc>
                          <a:spcPct val="100600"/>
                        </a:lnSpc>
                        <a:spcBef>
                          <a:spcPts val="29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&lt;&lt;interface&gt;&gt;  UR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流处理器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5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79">
                <a:tc>
                  <a:txBody>
                    <a:bodyPr/>
                    <a:lstStyle/>
                    <a:p>
                      <a:pPr marL="92075" marR="15557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openConnectio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（）  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parse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（）  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setURL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（） 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toExternalFor</a:t>
                      </a:r>
                      <a:r>
                        <a:rPr sz="1600" b="1" spc="-1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（）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914400" y="2057400"/>
            <a:ext cx="1295400" cy="1079500"/>
          </a:xfrm>
          <a:custGeom>
            <a:avLst/>
            <a:gdLst/>
            <a:ahLst/>
            <a:cxnLst/>
            <a:rect l="l" t="t" r="r" b="b"/>
            <a:pathLst>
              <a:path w="1295400" h="1079500">
                <a:moveTo>
                  <a:pt x="0" y="1078991"/>
                </a:moveTo>
                <a:lnTo>
                  <a:pt x="1295400" y="1078991"/>
                </a:lnTo>
                <a:lnTo>
                  <a:pt x="1295400" y="0"/>
                </a:lnTo>
                <a:lnTo>
                  <a:pt x="0" y="0"/>
                </a:lnTo>
                <a:lnTo>
                  <a:pt x="0" y="10789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4400" y="2057400"/>
            <a:ext cx="12954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600" b="1" spc="-10" dirty="0">
                <a:latin typeface="Times New Roman"/>
                <a:cs typeface="Times New Roman"/>
              </a:rPr>
              <a:t>URL</a:t>
            </a:r>
            <a:r>
              <a:rPr sz="1600" b="1" spc="-5" dirty="0">
                <a:latin typeface="宋体"/>
                <a:cs typeface="宋体"/>
              </a:rPr>
              <a:t>输入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2438400"/>
            <a:ext cx="12954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90"/>
              </a:spcBef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819400"/>
            <a:ext cx="1295400" cy="317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0"/>
              </a:spcBef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9800" y="2590800"/>
            <a:ext cx="1066800" cy="0"/>
          </a:xfrm>
          <a:custGeom>
            <a:avLst/>
            <a:gdLst/>
            <a:ahLst/>
            <a:cxnLst/>
            <a:rect l="l" t="t" r="r" b="b"/>
            <a:pathLst>
              <a:path w="1066800">
                <a:moveTo>
                  <a:pt x="0" y="0"/>
                </a:moveTo>
                <a:lnTo>
                  <a:pt x="10668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00800" y="2057400"/>
            <a:ext cx="1295400" cy="1079500"/>
          </a:xfrm>
          <a:custGeom>
            <a:avLst/>
            <a:gdLst/>
            <a:ahLst/>
            <a:cxnLst/>
            <a:rect l="l" t="t" r="r" b="b"/>
            <a:pathLst>
              <a:path w="1295400" h="1079500">
                <a:moveTo>
                  <a:pt x="0" y="1078991"/>
                </a:moveTo>
                <a:lnTo>
                  <a:pt x="1295400" y="1078991"/>
                </a:lnTo>
                <a:lnTo>
                  <a:pt x="1295400" y="0"/>
                </a:lnTo>
                <a:lnTo>
                  <a:pt x="0" y="0"/>
                </a:lnTo>
                <a:lnTo>
                  <a:pt x="0" y="107899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00800" y="2057400"/>
            <a:ext cx="12954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sz="1600" b="1" spc="-35" dirty="0">
                <a:latin typeface="Times New Roman"/>
                <a:cs typeface="Times New Roman"/>
              </a:rPr>
              <a:t>Web</a:t>
            </a:r>
            <a:r>
              <a:rPr sz="1600" b="1" spc="-5" dirty="0">
                <a:latin typeface="宋体"/>
                <a:cs typeface="宋体"/>
              </a:rPr>
              <a:t>页显示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0800" y="2438400"/>
            <a:ext cx="1295400" cy="381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90"/>
              </a:spcBef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0800" y="2819400"/>
            <a:ext cx="1295400" cy="317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70"/>
              </a:spcBef>
            </a:pPr>
            <a:r>
              <a:rPr sz="1600" b="1" spc="-5" dirty="0">
                <a:latin typeface="Times New Roman"/>
                <a:cs typeface="Times New Roman"/>
              </a:rPr>
              <a:t>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00800" y="2438400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79364" y="2513202"/>
            <a:ext cx="864235" cy="103505"/>
          </a:xfrm>
          <a:custGeom>
            <a:avLst/>
            <a:gdLst/>
            <a:ahLst/>
            <a:cxnLst/>
            <a:rect l="l" t="t" r="r" b="b"/>
            <a:pathLst>
              <a:path w="864235" h="103505">
                <a:moveTo>
                  <a:pt x="864108" y="45338"/>
                </a:moveTo>
                <a:lnTo>
                  <a:pt x="813308" y="45338"/>
                </a:lnTo>
                <a:lnTo>
                  <a:pt x="813308" y="58038"/>
                </a:lnTo>
                <a:lnTo>
                  <a:pt x="864108" y="58038"/>
                </a:lnTo>
                <a:lnTo>
                  <a:pt x="864108" y="45338"/>
                </a:lnTo>
                <a:close/>
              </a:path>
              <a:path w="864235" h="103505">
                <a:moveTo>
                  <a:pt x="775208" y="45338"/>
                </a:moveTo>
                <a:lnTo>
                  <a:pt x="724408" y="45338"/>
                </a:lnTo>
                <a:lnTo>
                  <a:pt x="724408" y="58038"/>
                </a:lnTo>
                <a:lnTo>
                  <a:pt x="775208" y="58038"/>
                </a:lnTo>
                <a:lnTo>
                  <a:pt x="775208" y="45338"/>
                </a:lnTo>
                <a:close/>
              </a:path>
              <a:path w="864235" h="103505">
                <a:moveTo>
                  <a:pt x="686308" y="45338"/>
                </a:moveTo>
                <a:lnTo>
                  <a:pt x="635508" y="45338"/>
                </a:lnTo>
                <a:lnTo>
                  <a:pt x="635508" y="58038"/>
                </a:lnTo>
                <a:lnTo>
                  <a:pt x="686308" y="58038"/>
                </a:lnTo>
                <a:lnTo>
                  <a:pt x="686308" y="45338"/>
                </a:lnTo>
                <a:close/>
              </a:path>
              <a:path w="864235" h="103505">
                <a:moveTo>
                  <a:pt x="597408" y="45338"/>
                </a:moveTo>
                <a:lnTo>
                  <a:pt x="546608" y="45338"/>
                </a:lnTo>
                <a:lnTo>
                  <a:pt x="546608" y="58038"/>
                </a:lnTo>
                <a:lnTo>
                  <a:pt x="597408" y="58038"/>
                </a:lnTo>
                <a:lnTo>
                  <a:pt x="597408" y="45338"/>
                </a:lnTo>
                <a:close/>
              </a:path>
              <a:path w="864235" h="103505">
                <a:moveTo>
                  <a:pt x="508508" y="45338"/>
                </a:moveTo>
                <a:lnTo>
                  <a:pt x="457708" y="45338"/>
                </a:lnTo>
                <a:lnTo>
                  <a:pt x="457708" y="58038"/>
                </a:lnTo>
                <a:lnTo>
                  <a:pt x="508508" y="58038"/>
                </a:lnTo>
                <a:lnTo>
                  <a:pt x="508508" y="45338"/>
                </a:lnTo>
                <a:close/>
              </a:path>
              <a:path w="864235" h="103505">
                <a:moveTo>
                  <a:pt x="419608" y="45338"/>
                </a:moveTo>
                <a:lnTo>
                  <a:pt x="368808" y="45338"/>
                </a:lnTo>
                <a:lnTo>
                  <a:pt x="368808" y="58038"/>
                </a:lnTo>
                <a:lnTo>
                  <a:pt x="419608" y="58038"/>
                </a:lnTo>
                <a:lnTo>
                  <a:pt x="419608" y="45338"/>
                </a:lnTo>
                <a:close/>
              </a:path>
              <a:path w="864235" h="103505">
                <a:moveTo>
                  <a:pt x="330708" y="45338"/>
                </a:moveTo>
                <a:lnTo>
                  <a:pt x="279908" y="45338"/>
                </a:lnTo>
                <a:lnTo>
                  <a:pt x="279908" y="58038"/>
                </a:lnTo>
                <a:lnTo>
                  <a:pt x="330708" y="58038"/>
                </a:lnTo>
                <a:lnTo>
                  <a:pt x="330708" y="45338"/>
                </a:lnTo>
                <a:close/>
              </a:path>
              <a:path w="864235" h="103505">
                <a:moveTo>
                  <a:pt x="241808" y="45338"/>
                </a:moveTo>
                <a:lnTo>
                  <a:pt x="191008" y="45338"/>
                </a:lnTo>
                <a:lnTo>
                  <a:pt x="191008" y="58038"/>
                </a:lnTo>
                <a:lnTo>
                  <a:pt x="241808" y="58038"/>
                </a:lnTo>
                <a:lnTo>
                  <a:pt x="241808" y="45338"/>
                </a:lnTo>
                <a:close/>
              </a:path>
              <a:path w="864235" h="103505">
                <a:moveTo>
                  <a:pt x="152908" y="45338"/>
                </a:moveTo>
                <a:lnTo>
                  <a:pt x="102108" y="45338"/>
                </a:lnTo>
                <a:lnTo>
                  <a:pt x="102108" y="58038"/>
                </a:lnTo>
                <a:lnTo>
                  <a:pt x="152908" y="58038"/>
                </a:lnTo>
                <a:lnTo>
                  <a:pt x="152908" y="45338"/>
                </a:lnTo>
                <a:close/>
              </a:path>
              <a:path w="864235" h="103505">
                <a:moveTo>
                  <a:pt x="88646" y="0"/>
                </a:moveTo>
                <a:lnTo>
                  <a:pt x="0" y="51688"/>
                </a:lnTo>
                <a:lnTo>
                  <a:pt x="88646" y="103377"/>
                </a:lnTo>
                <a:lnTo>
                  <a:pt x="92456" y="102362"/>
                </a:lnTo>
                <a:lnTo>
                  <a:pt x="96012" y="96266"/>
                </a:lnTo>
                <a:lnTo>
                  <a:pt x="94996" y="92456"/>
                </a:lnTo>
                <a:lnTo>
                  <a:pt x="35995" y="58038"/>
                </a:lnTo>
                <a:lnTo>
                  <a:pt x="13208" y="58038"/>
                </a:lnTo>
                <a:lnTo>
                  <a:pt x="13208" y="45338"/>
                </a:lnTo>
                <a:lnTo>
                  <a:pt x="35995" y="45338"/>
                </a:lnTo>
                <a:lnTo>
                  <a:pt x="94996" y="10922"/>
                </a:lnTo>
                <a:lnTo>
                  <a:pt x="96012" y="7112"/>
                </a:lnTo>
                <a:lnTo>
                  <a:pt x="92456" y="1016"/>
                </a:lnTo>
                <a:lnTo>
                  <a:pt x="88646" y="0"/>
                </a:lnTo>
                <a:close/>
              </a:path>
              <a:path w="864235" h="103505">
                <a:moveTo>
                  <a:pt x="35995" y="45338"/>
                </a:moveTo>
                <a:lnTo>
                  <a:pt x="13208" y="45338"/>
                </a:lnTo>
                <a:lnTo>
                  <a:pt x="13208" y="58038"/>
                </a:lnTo>
                <a:lnTo>
                  <a:pt x="35995" y="58038"/>
                </a:lnTo>
                <a:lnTo>
                  <a:pt x="34471" y="57150"/>
                </a:lnTo>
                <a:lnTo>
                  <a:pt x="15748" y="57150"/>
                </a:lnTo>
                <a:lnTo>
                  <a:pt x="15748" y="46227"/>
                </a:lnTo>
                <a:lnTo>
                  <a:pt x="34471" y="46227"/>
                </a:lnTo>
                <a:lnTo>
                  <a:pt x="35995" y="45338"/>
                </a:lnTo>
                <a:close/>
              </a:path>
              <a:path w="864235" h="103505">
                <a:moveTo>
                  <a:pt x="64008" y="45338"/>
                </a:moveTo>
                <a:lnTo>
                  <a:pt x="35995" y="45338"/>
                </a:lnTo>
                <a:lnTo>
                  <a:pt x="25109" y="51688"/>
                </a:lnTo>
                <a:lnTo>
                  <a:pt x="35995" y="58038"/>
                </a:lnTo>
                <a:lnTo>
                  <a:pt x="64008" y="58038"/>
                </a:lnTo>
                <a:lnTo>
                  <a:pt x="64008" y="45338"/>
                </a:lnTo>
                <a:close/>
              </a:path>
              <a:path w="864235" h="103505">
                <a:moveTo>
                  <a:pt x="15748" y="46227"/>
                </a:moveTo>
                <a:lnTo>
                  <a:pt x="15748" y="57150"/>
                </a:lnTo>
                <a:lnTo>
                  <a:pt x="25109" y="51688"/>
                </a:lnTo>
                <a:lnTo>
                  <a:pt x="15748" y="46227"/>
                </a:lnTo>
                <a:close/>
              </a:path>
              <a:path w="864235" h="103505">
                <a:moveTo>
                  <a:pt x="25109" y="51688"/>
                </a:moveTo>
                <a:lnTo>
                  <a:pt x="15748" y="57150"/>
                </a:lnTo>
                <a:lnTo>
                  <a:pt x="34471" y="57150"/>
                </a:lnTo>
                <a:lnTo>
                  <a:pt x="25109" y="51688"/>
                </a:lnTo>
                <a:close/>
              </a:path>
              <a:path w="864235" h="103505">
                <a:moveTo>
                  <a:pt x="34471" y="46227"/>
                </a:moveTo>
                <a:lnTo>
                  <a:pt x="15748" y="46227"/>
                </a:lnTo>
                <a:lnTo>
                  <a:pt x="25109" y="51688"/>
                </a:lnTo>
                <a:lnTo>
                  <a:pt x="34471" y="46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236722" y="93980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接口类示例</a:t>
            </a:r>
          </a:p>
        </p:txBody>
      </p:sp>
      <p:sp>
        <p:nvSpPr>
          <p:cNvPr id="15" name="object 15"/>
          <p:cNvSpPr/>
          <p:nvPr/>
        </p:nvSpPr>
        <p:spPr>
          <a:xfrm>
            <a:off x="4191000" y="4876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lnTo>
                  <a:pt x="5034" y="146837"/>
                </a:lnTo>
                <a:lnTo>
                  <a:pt x="19372" y="106746"/>
                </a:lnTo>
                <a:lnTo>
                  <a:pt x="41867" y="71374"/>
                </a:lnTo>
                <a:lnTo>
                  <a:pt x="71374" y="41867"/>
                </a:lnTo>
                <a:lnTo>
                  <a:pt x="106746" y="19372"/>
                </a:lnTo>
                <a:lnTo>
                  <a:pt x="146837" y="5034"/>
                </a:lnTo>
                <a:lnTo>
                  <a:pt x="190500" y="0"/>
                </a:lnTo>
                <a:lnTo>
                  <a:pt x="234162" y="5034"/>
                </a:lnTo>
                <a:lnTo>
                  <a:pt x="274253" y="19372"/>
                </a:lnTo>
                <a:lnTo>
                  <a:pt x="309625" y="41867"/>
                </a:lnTo>
                <a:lnTo>
                  <a:pt x="339132" y="71374"/>
                </a:lnTo>
                <a:lnTo>
                  <a:pt x="361627" y="106746"/>
                </a:lnTo>
                <a:lnTo>
                  <a:pt x="375965" y="146837"/>
                </a:lnTo>
                <a:lnTo>
                  <a:pt x="381000" y="190500"/>
                </a:lnTo>
                <a:lnTo>
                  <a:pt x="375965" y="234162"/>
                </a:lnTo>
                <a:lnTo>
                  <a:pt x="361627" y="274253"/>
                </a:lnTo>
                <a:lnTo>
                  <a:pt x="339132" y="309625"/>
                </a:lnTo>
                <a:lnTo>
                  <a:pt x="309625" y="339132"/>
                </a:lnTo>
                <a:lnTo>
                  <a:pt x="274253" y="361627"/>
                </a:lnTo>
                <a:lnTo>
                  <a:pt x="234162" y="375965"/>
                </a:lnTo>
                <a:lnTo>
                  <a:pt x="190500" y="381000"/>
                </a:lnTo>
                <a:lnTo>
                  <a:pt x="146837" y="375965"/>
                </a:lnTo>
                <a:lnTo>
                  <a:pt x="106746" y="361627"/>
                </a:lnTo>
                <a:lnTo>
                  <a:pt x="71374" y="339132"/>
                </a:lnTo>
                <a:lnTo>
                  <a:pt x="41867" y="309625"/>
                </a:lnTo>
                <a:lnTo>
                  <a:pt x="19372" y="274253"/>
                </a:lnTo>
                <a:lnTo>
                  <a:pt x="5034" y="234162"/>
                </a:lnTo>
                <a:lnTo>
                  <a:pt x="0" y="1905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8200" y="5053710"/>
            <a:ext cx="1295400" cy="103505"/>
          </a:xfrm>
          <a:custGeom>
            <a:avLst/>
            <a:gdLst/>
            <a:ahLst/>
            <a:cxnLst/>
            <a:rect l="l" t="t" r="r" b="b"/>
            <a:pathLst>
              <a:path w="1295400" h="103504">
                <a:moveTo>
                  <a:pt x="88646" y="0"/>
                </a:moveTo>
                <a:lnTo>
                  <a:pt x="0" y="51688"/>
                </a:lnTo>
                <a:lnTo>
                  <a:pt x="88646" y="103377"/>
                </a:lnTo>
                <a:lnTo>
                  <a:pt x="92455" y="102362"/>
                </a:lnTo>
                <a:lnTo>
                  <a:pt x="96012" y="96265"/>
                </a:lnTo>
                <a:lnTo>
                  <a:pt x="94996" y="92456"/>
                </a:lnTo>
                <a:lnTo>
                  <a:pt x="35995" y="58038"/>
                </a:lnTo>
                <a:lnTo>
                  <a:pt x="12573" y="58038"/>
                </a:lnTo>
                <a:lnTo>
                  <a:pt x="12573" y="45338"/>
                </a:lnTo>
                <a:lnTo>
                  <a:pt x="35995" y="45338"/>
                </a:lnTo>
                <a:lnTo>
                  <a:pt x="94996" y="10921"/>
                </a:lnTo>
                <a:lnTo>
                  <a:pt x="96012" y="7112"/>
                </a:lnTo>
                <a:lnTo>
                  <a:pt x="92455" y="1015"/>
                </a:lnTo>
                <a:lnTo>
                  <a:pt x="88646" y="0"/>
                </a:lnTo>
                <a:close/>
              </a:path>
              <a:path w="1295400" h="103504">
                <a:moveTo>
                  <a:pt x="35995" y="45338"/>
                </a:moveTo>
                <a:lnTo>
                  <a:pt x="12573" y="45338"/>
                </a:lnTo>
                <a:lnTo>
                  <a:pt x="12573" y="58038"/>
                </a:lnTo>
                <a:lnTo>
                  <a:pt x="35995" y="58038"/>
                </a:lnTo>
                <a:lnTo>
                  <a:pt x="34471" y="57150"/>
                </a:lnTo>
                <a:lnTo>
                  <a:pt x="15748" y="57150"/>
                </a:lnTo>
                <a:lnTo>
                  <a:pt x="15748" y="46227"/>
                </a:lnTo>
                <a:lnTo>
                  <a:pt x="34471" y="46227"/>
                </a:lnTo>
                <a:lnTo>
                  <a:pt x="35995" y="45338"/>
                </a:lnTo>
                <a:close/>
              </a:path>
              <a:path w="1295400" h="103504">
                <a:moveTo>
                  <a:pt x="63373" y="45338"/>
                </a:moveTo>
                <a:lnTo>
                  <a:pt x="35995" y="45338"/>
                </a:lnTo>
                <a:lnTo>
                  <a:pt x="25109" y="51688"/>
                </a:lnTo>
                <a:lnTo>
                  <a:pt x="35995" y="58038"/>
                </a:lnTo>
                <a:lnTo>
                  <a:pt x="63373" y="58038"/>
                </a:lnTo>
                <a:lnTo>
                  <a:pt x="63373" y="45338"/>
                </a:lnTo>
                <a:close/>
              </a:path>
              <a:path w="1295400" h="103504">
                <a:moveTo>
                  <a:pt x="15748" y="46227"/>
                </a:moveTo>
                <a:lnTo>
                  <a:pt x="15748" y="57150"/>
                </a:lnTo>
                <a:lnTo>
                  <a:pt x="25109" y="51688"/>
                </a:lnTo>
                <a:lnTo>
                  <a:pt x="15748" y="46227"/>
                </a:lnTo>
                <a:close/>
              </a:path>
              <a:path w="1295400" h="103504">
                <a:moveTo>
                  <a:pt x="25109" y="51688"/>
                </a:moveTo>
                <a:lnTo>
                  <a:pt x="15748" y="57150"/>
                </a:lnTo>
                <a:lnTo>
                  <a:pt x="34471" y="57150"/>
                </a:lnTo>
                <a:lnTo>
                  <a:pt x="25109" y="51688"/>
                </a:lnTo>
                <a:close/>
              </a:path>
              <a:path w="1295400" h="103504">
                <a:moveTo>
                  <a:pt x="34471" y="46227"/>
                </a:moveTo>
                <a:lnTo>
                  <a:pt x="15748" y="46227"/>
                </a:lnTo>
                <a:lnTo>
                  <a:pt x="25109" y="51688"/>
                </a:lnTo>
                <a:lnTo>
                  <a:pt x="34471" y="46227"/>
                </a:lnTo>
                <a:close/>
              </a:path>
              <a:path w="1295400" h="103504">
                <a:moveTo>
                  <a:pt x="152273" y="45338"/>
                </a:moveTo>
                <a:lnTo>
                  <a:pt x="101473" y="45338"/>
                </a:lnTo>
                <a:lnTo>
                  <a:pt x="101473" y="58038"/>
                </a:lnTo>
                <a:lnTo>
                  <a:pt x="152273" y="58038"/>
                </a:lnTo>
                <a:lnTo>
                  <a:pt x="152273" y="45338"/>
                </a:lnTo>
                <a:close/>
              </a:path>
              <a:path w="1295400" h="103504">
                <a:moveTo>
                  <a:pt x="241173" y="45338"/>
                </a:moveTo>
                <a:lnTo>
                  <a:pt x="190373" y="45338"/>
                </a:lnTo>
                <a:lnTo>
                  <a:pt x="190373" y="58038"/>
                </a:lnTo>
                <a:lnTo>
                  <a:pt x="241173" y="58038"/>
                </a:lnTo>
                <a:lnTo>
                  <a:pt x="241173" y="45338"/>
                </a:lnTo>
                <a:close/>
              </a:path>
              <a:path w="1295400" h="103504">
                <a:moveTo>
                  <a:pt x="330073" y="45338"/>
                </a:moveTo>
                <a:lnTo>
                  <a:pt x="279273" y="45338"/>
                </a:lnTo>
                <a:lnTo>
                  <a:pt x="279273" y="58038"/>
                </a:lnTo>
                <a:lnTo>
                  <a:pt x="330073" y="58038"/>
                </a:lnTo>
                <a:lnTo>
                  <a:pt x="330073" y="45338"/>
                </a:lnTo>
                <a:close/>
              </a:path>
              <a:path w="1295400" h="103504">
                <a:moveTo>
                  <a:pt x="418973" y="45338"/>
                </a:moveTo>
                <a:lnTo>
                  <a:pt x="368173" y="45338"/>
                </a:lnTo>
                <a:lnTo>
                  <a:pt x="368173" y="58038"/>
                </a:lnTo>
                <a:lnTo>
                  <a:pt x="418973" y="58038"/>
                </a:lnTo>
                <a:lnTo>
                  <a:pt x="418973" y="45338"/>
                </a:lnTo>
                <a:close/>
              </a:path>
              <a:path w="1295400" h="103504">
                <a:moveTo>
                  <a:pt x="507873" y="45338"/>
                </a:moveTo>
                <a:lnTo>
                  <a:pt x="457073" y="45338"/>
                </a:lnTo>
                <a:lnTo>
                  <a:pt x="457073" y="58038"/>
                </a:lnTo>
                <a:lnTo>
                  <a:pt x="507873" y="58038"/>
                </a:lnTo>
                <a:lnTo>
                  <a:pt x="507873" y="45338"/>
                </a:lnTo>
                <a:close/>
              </a:path>
              <a:path w="1295400" h="103504">
                <a:moveTo>
                  <a:pt x="596773" y="45338"/>
                </a:moveTo>
                <a:lnTo>
                  <a:pt x="545973" y="45338"/>
                </a:lnTo>
                <a:lnTo>
                  <a:pt x="545973" y="58038"/>
                </a:lnTo>
                <a:lnTo>
                  <a:pt x="596773" y="58038"/>
                </a:lnTo>
                <a:lnTo>
                  <a:pt x="596773" y="45338"/>
                </a:lnTo>
                <a:close/>
              </a:path>
              <a:path w="1295400" h="103504">
                <a:moveTo>
                  <a:pt x="685673" y="45338"/>
                </a:moveTo>
                <a:lnTo>
                  <a:pt x="634873" y="45338"/>
                </a:lnTo>
                <a:lnTo>
                  <a:pt x="634873" y="58038"/>
                </a:lnTo>
                <a:lnTo>
                  <a:pt x="685673" y="58038"/>
                </a:lnTo>
                <a:lnTo>
                  <a:pt x="685673" y="45338"/>
                </a:lnTo>
                <a:close/>
              </a:path>
              <a:path w="1295400" h="103504">
                <a:moveTo>
                  <a:pt x="774573" y="45338"/>
                </a:moveTo>
                <a:lnTo>
                  <a:pt x="723773" y="45338"/>
                </a:lnTo>
                <a:lnTo>
                  <a:pt x="723773" y="58038"/>
                </a:lnTo>
                <a:lnTo>
                  <a:pt x="774573" y="58038"/>
                </a:lnTo>
                <a:lnTo>
                  <a:pt x="774573" y="45338"/>
                </a:lnTo>
                <a:close/>
              </a:path>
              <a:path w="1295400" h="103504">
                <a:moveTo>
                  <a:pt x="863473" y="45338"/>
                </a:moveTo>
                <a:lnTo>
                  <a:pt x="812673" y="45338"/>
                </a:lnTo>
                <a:lnTo>
                  <a:pt x="812673" y="58038"/>
                </a:lnTo>
                <a:lnTo>
                  <a:pt x="863473" y="58038"/>
                </a:lnTo>
                <a:lnTo>
                  <a:pt x="863473" y="45338"/>
                </a:lnTo>
                <a:close/>
              </a:path>
              <a:path w="1295400" h="103504">
                <a:moveTo>
                  <a:pt x="952373" y="45338"/>
                </a:moveTo>
                <a:lnTo>
                  <a:pt x="901573" y="45338"/>
                </a:lnTo>
                <a:lnTo>
                  <a:pt x="901573" y="58038"/>
                </a:lnTo>
                <a:lnTo>
                  <a:pt x="952373" y="58038"/>
                </a:lnTo>
                <a:lnTo>
                  <a:pt x="952373" y="45338"/>
                </a:lnTo>
                <a:close/>
              </a:path>
              <a:path w="1295400" h="103504">
                <a:moveTo>
                  <a:pt x="1041273" y="45338"/>
                </a:moveTo>
                <a:lnTo>
                  <a:pt x="990473" y="45338"/>
                </a:lnTo>
                <a:lnTo>
                  <a:pt x="990473" y="58038"/>
                </a:lnTo>
                <a:lnTo>
                  <a:pt x="1041273" y="58038"/>
                </a:lnTo>
                <a:lnTo>
                  <a:pt x="1041273" y="45338"/>
                </a:lnTo>
                <a:close/>
              </a:path>
              <a:path w="1295400" h="103504">
                <a:moveTo>
                  <a:pt x="1130173" y="45338"/>
                </a:moveTo>
                <a:lnTo>
                  <a:pt x="1079373" y="45338"/>
                </a:lnTo>
                <a:lnTo>
                  <a:pt x="1079373" y="58038"/>
                </a:lnTo>
                <a:lnTo>
                  <a:pt x="1130173" y="58038"/>
                </a:lnTo>
                <a:lnTo>
                  <a:pt x="1130173" y="45338"/>
                </a:lnTo>
                <a:close/>
              </a:path>
              <a:path w="1295400" h="103504">
                <a:moveTo>
                  <a:pt x="1219073" y="45338"/>
                </a:moveTo>
                <a:lnTo>
                  <a:pt x="1168273" y="45338"/>
                </a:lnTo>
                <a:lnTo>
                  <a:pt x="1168273" y="58038"/>
                </a:lnTo>
                <a:lnTo>
                  <a:pt x="1219073" y="58038"/>
                </a:lnTo>
                <a:lnTo>
                  <a:pt x="1219073" y="45338"/>
                </a:lnTo>
                <a:close/>
              </a:path>
              <a:path w="1295400" h="103504">
                <a:moveTo>
                  <a:pt x="1295400" y="45338"/>
                </a:moveTo>
                <a:lnTo>
                  <a:pt x="1257173" y="45338"/>
                </a:lnTo>
                <a:lnTo>
                  <a:pt x="1257173" y="58038"/>
                </a:lnTo>
                <a:lnTo>
                  <a:pt x="1295400" y="58038"/>
                </a:lnTo>
                <a:lnTo>
                  <a:pt x="1295400" y="45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595437" y="4643437"/>
          <a:ext cx="2590800" cy="1078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URL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输入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938837" y="4643437"/>
          <a:ext cx="1295400" cy="10789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页显示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47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9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840739" y="3988689"/>
            <a:ext cx="3935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简化形式的类接口表示：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36975" y="5363717"/>
            <a:ext cx="1270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Times New Roman"/>
                <a:cs typeface="Times New Roman"/>
              </a:rPr>
              <a:t>URL</a:t>
            </a:r>
            <a:r>
              <a:rPr sz="1600" b="1" spc="-5" dirty="0">
                <a:latin typeface="宋体"/>
                <a:cs typeface="宋体"/>
              </a:rPr>
              <a:t>流处理器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91200" y="1447800"/>
            <a:ext cx="1447800" cy="1021080"/>
          </a:xfrm>
          <a:custGeom>
            <a:avLst/>
            <a:gdLst/>
            <a:ahLst/>
            <a:cxnLst/>
            <a:rect l="l" t="t" r="r" b="b"/>
            <a:pathLst>
              <a:path w="1447800" h="102108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241300" y="0"/>
                </a:lnTo>
                <a:lnTo>
                  <a:pt x="603250" y="0"/>
                </a:lnTo>
                <a:lnTo>
                  <a:pt x="1371600" y="0"/>
                </a:lnTo>
                <a:lnTo>
                  <a:pt x="1401240" y="5994"/>
                </a:lnTo>
                <a:lnTo>
                  <a:pt x="1425463" y="22336"/>
                </a:lnTo>
                <a:lnTo>
                  <a:pt x="1441805" y="46559"/>
                </a:lnTo>
                <a:lnTo>
                  <a:pt x="1447800" y="76200"/>
                </a:lnTo>
                <a:lnTo>
                  <a:pt x="1447800" y="266700"/>
                </a:lnTo>
                <a:lnTo>
                  <a:pt x="1447800" y="381000"/>
                </a:lnTo>
                <a:lnTo>
                  <a:pt x="1441805" y="410640"/>
                </a:lnTo>
                <a:lnTo>
                  <a:pt x="1425463" y="434863"/>
                </a:lnTo>
                <a:lnTo>
                  <a:pt x="1401240" y="451205"/>
                </a:lnTo>
                <a:lnTo>
                  <a:pt x="1371600" y="457200"/>
                </a:lnTo>
                <a:lnTo>
                  <a:pt x="603250" y="457200"/>
                </a:lnTo>
                <a:lnTo>
                  <a:pt x="22225" y="1020699"/>
                </a:lnTo>
                <a:lnTo>
                  <a:pt x="2413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266700"/>
                </a:lnTo>
                <a:lnTo>
                  <a:pt x="0" y="76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991225" y="1497025"/>
            <a:ext cx="10496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宋体"/>
                <a:cs typeface="宋体"/>
              </a:rPr>
              <a:t>依赖关系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5800" y="1295400"/>
            <a:ext cx="2157730" cy="1162050"/>
          </a:xfrm>
          <a:custGeom>
            <a:avLst/>
            <a:gdLst/>
            <a:ahLst/>
            <a:cxnLst/>
            <a:rect l="l" t="t" r="r" b="b"/>
            <a:pathLst>
              <a:path w="2157730" h="1162050">
                <a:moveTo>
                  <a:pt x="0" y="50800"/>
                </a:moveTo>
                <a:lnTo>
                  <a:pt x="3992" y="31021"/>
                </a:lnTo>
                <a:lnTo>
                  <a:pt x="14879" y="14874"/>
                </a:lnTo>
                <a:lnTo>
                  <a:pt x="31027" y="3990"/>
                </a:lnTo>
                <a:lnTo>
                  <a:pt x="50800" y="0"/>
                </a:lnTo>
                <a:lnTo>
                  <a:pt x="1155700" y="0"/>
                </a:lnTo>
                <a:lnTo>
                  <a:pt x="1651000" y="0"/>
                </a:lnTo>
                <a:lnTo>
                  <a:pt x="1930400" y="0"/>
                </a:lnTo>
                <a:lnTo>
                  <a:pt x="1950178" y="3990"/>
                </a:lnTo>
                <a:lnTo>
                  <a:pt x="1966325" y="14874"/>
                </a:lnTo>
                <a:lnTo>
                  <a:pt x="1977209" y="31021"/>
                </a:lnTo>
                <a:lnTo>
                  <a:pt x="1981200" y="50800"/>
                </a:lnTo>
                <a:lnTo>
                  <a:pt x="1981200" y="177800"/>
                </a:lnTo>
                <a:lnTo>
                  <a:pt x="1981200" y="254000"/>
                </a:lnTo>
                <a:lnTo>
                  <a:pt x="1977209" y="273778"/>
                </a:lnTo>
                <a:lnTo>
                  <a:pt x="1966325" y="289925"/>
                </a:lnTo>
                <a:lnTo>
                  <a:pt x="1950178" y="300809"/>
                </a:lnTo>
                <a:lnTo>
                  <a:pt x="1930400" y="304800"/>
                </a:lnTo>
                <a:lnTo>
                  <a:pt x="1651000" y="304800"/>
                </a:lnTo>
                <a:lnTo>
                  <a:pt x="2157349" y="1162050"/>
                </a:lnTo>
                <a:lnTo>
                  <a:pt x="1155700" y="304800"/>
                </a:lnTo>
                <a:lnTo>
                  <a:pt x="50800" y="304800"/>
                </a:lnTo>
                <a:lnTo>
                  <a:pt x="31027" y="300809"/>
                </a:lnTo>
                <a:lnTo>
                  <a:pt x="14879" y="289925"/>
                </a:lnTo>
                <a:lnTo>
                  <a:pt x="3992" y="273778"/>
                </a:lnTo>
                <a:lnTo>
                  <a:pt x="0" y="254000"/>
                </a:lnTo>
                <a:lnTo>
                  <a:pt x="0" y="177800"/>
                </a:lnTo>
                <a:lnTo>
                  <a:pt x="0" y="5080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48944" y="1339087"/>
            <a:ext cx="14554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接口类实现关系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79521" y="2437002"/>
            <a:ext cx="226060" cy="253365"/>
          </a:xfrm>
          <a:custGeom>
            <a:avLst/>
            <a:gdLst/>
            <a:ahLst/>
            <a:cxnLst/>
            <a:rect l="l" t="t" r="r" b="b"/>
            <a:pathLst>
              <a:path w="226060" h="253364">
                <a:moveTo>
                  <a:pt x="380" y="253364"/>
                </a:moveTo>
                <a:lnTo>
                  <a:pt x="0" y="0"/>
                </a:lnTo>
                <a:lnTo>
                  <a:pt x="226059" y="114173"/>
                </a:lnTo>
                <a:lnTo>
                  <a:pt x="380" y="25336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3105" y="1263205"/>
          <a:ext cx="2590800" cy="25405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0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5" dirty="0">
                          <a:latin typeface="Times New Roman"/>
                          <a:cs typeface="Times New Roman"/>
                        </a:rPr>
                        <a:t>&lt;&lt;interface&gt;&gt;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职员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5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6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latin typeface="宋体"/>
                          <a:cs typeface="宋体"/>
                        </a:rPr>
                        <a:t>获得职员历史资料（）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R="534035">
                        <a:lnSpc>
                          <a:spcPct val="100000"/>
                        </a:lnSpc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获得职员奖金（） 获得职员工资（）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>
                        <a:lnSpc>
                          <a:spcPts val="237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46869" y="1775269"/>
          <a:ext cx="2993390" cy="11592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公司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98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05"/>
                        </a:spcBef>
                        <a:tabLst>
                          <a:tab pos="1172210" algn="l"/>
                        </a:tabLst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1..*	*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6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职员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2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62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40000" y="138760"/>
            <a:ext cx="4502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表示关联上的接口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4540" y="4235577"/>
            <a:ext cx="7485380" cy="149923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latin typeface="宋体"/>
                <a:cs typeface="宋体"/>
              </a:rPr>
              <a:t>在人和公司之间定义</a:t>
            </a:r>
            <a:r>
              <a:rPr sz="2800" spc="-25" dirty="0">
                <a:latin typeface="宋体"/>
                <a:cs typeface="宋体"/>
              </a:rPr>
              <a:t>了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职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员</a:t>
            </a:r>
            <a:r>
              <a:rPr sz="2800" spc="-5" dirty="0">
                <a:latin typeface="宋体"/>
                <a:cs typeface="宋体"/>
              </a:rPr>
              <a:t>角色的</a:t>
            </a:r>
            <a:r>
              <a:rPr sz="2800" dirty="0">
                <a:latin typeface="宋体"/>
                <a:cs typeface="宋体"/>
              </a:rPr>
              <a:t>接</a:t>
            </a:r>
            <a:r>
              <a:rPr sz="2800" spc="-5" dirty="0">
                <a:latin typeface="宋体"/>
                <a:cs typeface="宋体"/>
              </a:rPr>
              <a:t>口类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其中 提供了角色的相关操作。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2800" spc="-5" dirty="0">
                <a:latin typeface="宋体"/>
                <a:cs typeface="宋体"/>
              </a:rPr>
              <a:t>类似地，可以提</a:t>
            </a:r>
            <a:r>
              <a:rPr sz="2800" spc="-20" dirty="0">
                <a:latin typeface="宋体"/>
                <a:cs typeface="宋体"/>
              </a:rPr>
              <a:t>供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股东</a:t>
            </a:r>
            <a:r>
              <a:rPr sz="2800" spc="-5" dirty="0">
                <a:latin typeface="宋体"/>
                <a:cs typeface="宋体"/>
              </a:rPr>
              <a:t>角色的接口。</a:t>
            </a:r>
            <a:endParaRPr sz="2800">
              <a:latin typeface="宋体"/>
              <a:cs typeface="宋体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43637" y="1401889"/>
          <a:ext cx="2427605" cy="22357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7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53034"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&lt;&lt;interface&gt;&gt;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>
                        <a:lnSpc>
                          <a:spcPts val="2325"/>
                        </a:lnSpc>
                        <a:spcBef>
                          <a:spcPts val="20"/>
                        </a:spcBef>
                      </a:pPr>
                      <a:r>
                        <a:rPr sz="2000" b="1" spc="5" dirty="0">
                          <a:latin typeface="宋体"/>
                          <a:cs typeface="宋体"/>
                        </a:rPr>
                        <a:t>股东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7894">
                <a:tc>
                  <a:txBody>
                    <a:bodyPr/>
                    <a:lstStyle/>
                    <a:p>
                      <a:pPr marL="635" marR="368300" algn="just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2000" b="1" spc="10" dirty="0">
                          <a:latin typeface="宋体"/>
                          <a:cs typeface="宋体"/>
                        </a:rPr>
                        <a:t>获得股东资质（） 获得股份责任（） </a:t>
                      </a:r>
                      <a:r>
                        <a:rPr sz="2000" b="1" spc="5" dirty="0">
                          <a:latin typeface="宋体"/>
                          <a:cs typeface="宋体"/>
                        </a:rPr>
                        <a:t>股份计算（）</a:t>
                      </a:r>
                      <a:endParaRPr sz="2000">
                        <a:latin typeface="宋体"/>
                        <a:cs typeface="宋体"/>
                      </a:endParaRPr>
                    </a:p>
                    <a:p>
                      <a:pPr marL="635">
                        <a:lnSpc>
                          <a:spcPts val="2380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3450" y="143637"/>
            <a:ext cx="4502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公共接口的抽象类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10037" y="1443037"/>
          <a:ext cx="1600200" cy="13075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&lt;&lt;interface&gt;&gt;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ts val="1855"/>
                        </a:lnSpc>
                        <a:spcBef>
                          <a:spcPts val="1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窗口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393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991">
                <a:tc>
                  <a:txBody>
                    <a:bodyPr/>
                    <a:lstStyle/>
                    <a:p>
                      <a:pPr marL="92075" marR="57975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10" dirty="0">
                          <a:latin typeface="宋体"/>
                          <a:cs typeface="宋体"/>
                        </a:rPr>
                        <a:t>向前（） 向后（）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800600" y="277367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52400"/>
                </a:moveTo>
                <a:lnTo>
                  <a:pt x="762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424237" y="2926079"/>
          <a:ext cx="2971800" cy="1572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1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2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MSwindows</a:t>
                      </a:r>
                      <a:r>
                        <a:rPr sz="1400" b="1" spc="-5" dirty="0">
                          <a:latin typeface="宋体"/>
                          <a:cs typeface="宋体"/>
                        </a:rPr>
                        <a:t>窗口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Mac</a:t>
                      </a:r>
                      <a:r>
                        <a:rPr sz="1400" b="1" spc="5" dirty="0">
                          <a:latin typeface="宋体"/>
                          <a:cs typeface="宋体"/>
                        </a:rPr>
                        <a:t>窗口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431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 gridSpan="2">
                  <a:txBody>
                    <a:bodyPr/>
                    <a:lstStyle/>
                    <a:p>
                      <a:pPr marL="1841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508">
                <a:tc gridSpan="2">
                  <a:txBody>
                    <a:bodyPr/>
                    <a:lstStyle/>
                    <a:p>
                      <a:pPr marL="18415" marR="65341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400" b="1" spc="10" dirty="0">
                          <a:latin typeface="宋体"/>
                          <a:cs typeface="宋体"/>
                        </a:rPr>
                        <a:t>向前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（） </a:t>
                      </a:r>
                      <a:r>
                        <a:rPr sz="1400" b="1" spc="10" dirty="0">
                          <a:latin typeface="宋体"/>
                          <a:cs typeface="宋体"/>
                        </a:rPr>
                        <a:t>向后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（）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92075" marR="35179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400" b="1" spc="10" dirty="0">
                          <a:latin typeface="宋体"/>
                          <a:cs typeface="宋体"/>
                        </a:rPr>
                        <a:t>向前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（） </a:t>
                      </a:r>
                      <a:r>
                        <a:rPr sz="1400" b="1" spc="10" dirty="0">
                          <a:latin typeface="宋体"/>
                          <a:cs typeface="宋体"/>
                        </a:rPr>
                        <a:t>向后</a:t>
                      </a:r>
                      <a:r>
                        <a:rPr sz="1600" b="1" spc="10" dirty="0">
                          <a:latin typeface="宋体"/>
                          <a:cs typeface="宋体"/>
                        </a:rPr>
                        <a:t>（）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876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05000" y="1905000"/>
            <a:ext cx="914400" cy="93471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9530" rIns="0" bIns="0" rtlCol="0">
            <a:spAutoFit/>
          </a:bodyPr>
          <a:lstStyle/>
          <a:p>
            <a:pPr marL="91440" marR="124460" indent="55880">
              <a:lnSpc>
                <a:spcPct val="150000"/>
              </a:lnSpc>
              <a:spcBef>
                <a:spcPts val="390"/>
              </a:spcBef>
            </a:pPr>
            <a:r>
              <a:rPr sz="1800" b="1" dirty="0">
                <a:latin typeface="宋体"/>
                <a:cs typeface="宋体"/>
              </a:rPr>
              <a:t>文本 编辑器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19400" y="2158110"/>
            <a:ext cx="1295400" cy="103505"/>
          </a:xfrm>
          <a:custGeom>
            <a:avLst/>
            <a:gdLst/>
            <a:ahLst/>
            <a:cxnLst/>
            <a:rect l="l" t="t" r="r" b="b"/>
            <a:pathLst>
              <a:path w="1295400" h="103505">
                <a:moveTo>
                  <a:pt x="1270290" y="51688"/>
                </a:moveTo>
                <a:lnTo>
                  <a:pt x="1200403" y="92455"/>
                </a:lnTo>
                <a:lnTo>
                  <a:pt x="1199388" y="96265"/>
                </a:lnTo>
                <a:lnTo>
                  <a:pt x="1202944" y="102362"/>
                </a:lnTo>
                <a:lnTo>
                  <a:pt x="1206753" y="103377"/>
                </a:lnTo>
                <a:lnTo>
                  <a:pt x="1284509" y="58038"/>
                </a:lnTo>
                <a:lnTo>
                  <a:pt x="1282827" y="58038"/>
                </a:lnTo>
                <a:lnTo>
                  <a:pt x="1282827" y="57150"/>
                </a:lnTo>
                <a:lnTo>
                  <a:pt x="1279652" y="57150"/>
                </a:lnTo>
                <a:lnTo>
                  <a:pt x="1270290" y="51688"/>
                </a:lnTo>
                <a:close/>
              </a:path>
              <a:path w="1295400" h="103505">
                <a:moveTo>
                  <a:pt x="1259404" y="45338"/>
                </a:moveTo>
                <a:lnTo>
                  <a:pt x="1232027" y="45338"/>
                </a:lnTo>
                <a:lnTo>
                  <a:pt x="1232027" y="58038"/>
                </a:lnTo>
                <a:lnTo>
                  <a:pt x="1259404" y="58038"/>
                </a:lnTo>
                <a:lnTo>
                  <a:pt x="1270290" y="51688"/>
                </a:lnTo>
                <a:lnTo>
                  <a:pt x="1259404" y="45338"/>
                </a:lnTo>
                <a:close/>
              </a:path>
              <a:path w="1295400" h="103505">
                <a:moveTo>
                  <a:pt x="1284509" y="45338"/>
                </a:moveTo>
                <a:lnTo>
                  <a:pt x="1282827" y="45338"/>
                </a:lnTo>
                <a:lnTo>
                  <a:pt x="1282827" y="58038"/>
                </a:lnTo>
                <a:lnTo>
                  <a:pt x="1284509" y="58038"/>
                </a:lnTo>
                <a:lnTo>
                  <a:pt x="1295400" y="51688"/>
                </a:lnTo>
                <a:lnTo>
                  <a:pt x="1284509" y="45338"/>
                </a:lnTo>
                <a:close/>
              </a:path>
              <a:path w="1295400" h="103505">
                <a:moveTo>
                  <a:pt x="1279652" y="46227"/>
                </a:moveTo>
                <a:lnTo>
                  <a:pt x="1270290" y="51688"/>
                </a:lnTo>
                <a:lnTo>
                  <a:pt x="1279652" y="57150"/>
                </a:lnTo>
                <a:lnTo>
                  <a:pt x="1279652" y="46227"/>
                </a:lnTo>
                <a:close/>
              </a:path>
              <a:path w="1295400" h="103505">
                <a:moveTo>
                  <a:pt x="1282827" y="46227"/>
                </a:moveTo>
                <a:lnTo>
                  <a:pt x="1279652" y="46227"/>
                </a:lnTo>
                <a:lnTo>
                  <a:pt x="1279652" y="57150"/>
                </a:lnTo>
                <a:lnTo>
                  <a:pt x="1282827" y="57150"/>
                </a:lnTo>
                <a:lnTo>
                  <a:pt x="1282827" y="46227"/>
                </a:lnTo>
                <a:close/>
              </a:path>
              <a:path w="1295400" h="103505">
                <a:moveTo>
                  <a:pt x="1206753" y="0"/>
                </a:moveTo>
                <a:lnTo>
                  <a:pt x="1202944" y="1015"/>
                </a:lnTo>
                <a:lnTo>
                  <a:pt x="1199388" y="7112"/>
                </a:lnTo>
                <a:lnTo>
                  <a:pt x="1200403" y="10922"/>
                </a:lnTo>
                <a:lnTo>
                  <a:pt x="1270290" y="51688"/>
                </a:lnTo>
                <a:lnTo>
                  <a:pt x="1279652" y="46227"/>
                </a:lnTo>
                <a:lnTo>
                  <a:pt x="1282827" y="46227"/>
                </a:lnTo>
                <a:lnTo>
                  <a:pt x="1282827" y="45338"/>
                </a:lnTo>
                <a:lnTo>
                  <a:pt x="1284509" y="45338"/>
                </a:lnTo>
                <a:lnTo>
                  <a:pt x="1206753" y="0"/>
                </a:lnTo>
                <a:close/>
              </a:path>
              <a:path w="1295400" h="103505">
                <a:moveTo>
                  <a:pt x="1193927" y="45338"/>
                </a:moveTo>
                <a:lnTo>
                  <a:pt x="1143127" y="45338"/>
                </a:lnTo>
                <a:lnTo>
                  <a:pt x="1143127" y="58038"/>
                </a:lnTo>
                <a:lnTo>
                  <a:pt x="1193927" y="58038"/>
                </a:lnTo>
                <a:lnTo>
                  <a:pt x="1193927" y="45338"/>
                </a:lnTo>
                <a:close/>
              </a:path>
              <a:path w="1295400" h="103505">
                <a:moveTo>
                  <a:pt x="1105027" y="45338"/>
                </a:moveTo>
                <a:lnTo>
                  <a:pt x="1054227" y="45338"/>
                </a:lnTo>
                <a:lnTo>
                  <a:pt x="1054227" y="58038"/>
                </a:lnTo>
                <a:lnTo>
                  <a:pt x="1105027" y="58038"/>
                </a:lnTo>
                <a:lnTo>
                  <a:pt x="1105027" y="45338"/>
                </a:lnTo>
                <a:close/>
              </a:path>
              <a:path w="1295400" h="103505">
                <a:moveTo>
                  <a:pt x="1016126" y="45338"/>
                </a:moveTo>
                <a:lnTo>
                  <a:pt x="965326" y="45338"/>
                </a:lnTo>
                <a:lnTo>
                  <a:pt x="965326" y="58038"/>
                </a:lnTo>
                <a:lnTo>
                  <a:pt x="1016126" y="58038"/>
                </a:lnTo>
                <a:lnTo>
                  <a:pt x="1016126" y="45338"/>
                </a:lnTo>
                <a:close/>
              </a:path>
              <a:path w="1295400" h="103505">
                <a:moveTo>
                  <a:pt x="927226" y="45338"/>
                </a:moveTo>
                <a:lnTo>
                  <a:pt x="876426" y="45338"/>
                </a:lnTo>
                <a:lnTo>
                  <a:pt x="876426" y="58038"/>
                </a:lnTo>
                <a:lnTo>
                  <a:pt x="927226" y="58038"/>
                </a:lnTo>
                <a:lnTo>
                  <a:pt x="927226" y="45338"/>
                </a:lnTo>
                <a:close/>
              </a:path>
              <a:path w="1295400" h="103505">
                <a:moveTo>
                  <a:pt x="838326" y="45338"/>
                </a:moveTo>
                <a:lnTo>
                  <a:pt x="787526" y="45338"/>
                </a:lnTo>
                <a:lnTo>
                  <a:pt x="787526" y="58038"/>
                </a:lnTo>
                <a:lnTo>
                  <a:pt x="838326" y="58038"/>
                </a:lnTo>
                <a:lnTo>
                  <a:pt x="838326" y="45338"/>
                </a:lnTo>
                <a:close/>
              </a:path>
              <a:path w="1295400" h="103505">
                <a:moveTo>
                  <a:pt x="749426" y="45338"/>
                </a:moveTo>
                <a:lnTo>
                  <a:pt x="698626" y="45338"/>
                </a:lnTo>
                <a:lnTo>
                  <a:pt x="698626" y="58038"/>
                </a:lnTo>
                <a:lnTo>
                  <a:pt x="749426" y="58038"/>
                </a:lnTo>
                <a:lnTo>
                  <a:pt x="749426" y="45338"/>
                </a:lnTo>
                <a:close/>
              </a:path>
              <a:path w="1295400" h="103505">
                <a:moveTo>
                  <a:pt x="660526" y="45338"/>
                </a:moveTo>
                <a:lnTo>
                  <a:pt x="609726" y="45338"/>
                </a:lnTo>
                <a:lnTo>
                  <a:pt x="609726" y="58038"/>
                </a:lnTo>
                <a:lnTo>
                  <a:pt x="660526" y="58038"/>
                </a:lnTo>
                <a:lnTo>
                  <a:pt x="660526" y="45338"/>
                </a:lnTo>
                <a:close/>
              </a:path>
              <a:path w="1295400" h="103505">
                <a:moveTo>
                  <a:pt x="571626" y="45338"/>
                </a:moveTo>
                <a:lnTo>
                  <a:pt x="520826" y="45338"/>
                </a:lnTo>
                <a:lnTo>
                  <a:pt x="520826" y="58038"/>
                </a:lnTo>
                <a:lnTo>
                  <a:pt x="571626" y="58038"/>
                </a:lnTo>
                <a:lnTo>
                  <a:pt x="571626" y="45338"/>
                </a:lnTo>
                <a:close/>
              </a:path>
              <a:path w="1295400" h="103505">
                <a:moveTo>
                  <a:pt x="482726" y="45338"/>
                </a:moveTo>
                <a:lnTo>
                  <a:pt x="431926" y="45338"/>
                </a:lnTo>
                <a:lnTo>
                  <a:pt x="431926" y="58038"/>
                </a:lnTo>
                <a:lnTo>
                  <a:pt x="482726" y="58038"/>
                </a:lnTo>
                <a:lnTo>
                  <a:pt x="482726" y="45338"/>
                </a:lnTo>
                <a:close/>
              </a:path>
              <a:path w="1295400" h="103505">
                <a:moveTo>
                  <a:pt x="393826" y="45338"/>
                </a:moveTo>
                <a:lnTo>
                  <a:pt x="343026" y="45338"/>
                </a:lnTo>
                <a:lnTo>
                  <a:pt x="343026" y="58038"/>
                </a:lnTo>
                <a:lnTo>
                  <a:pt x="393826" y="58038"/>
                </a:lnTo>
                <a:lnTo>
                  <a:pt x="393826" y="45338"/>
                </a:lnTo>
                <a:close/>
              </a:path>
              <a:path w="1295400" h="103505">
                <a:moveTo>
                  <a:pt x="304926" y="45338"/>
                </a:moveTo>
                <a:lnTo>
                  <a:pt x="254126" y="45338"/>
                </a:lnTo>
                <a:lnTo>
                  <a:pt x="254126" y="58038"/>
                </a:lnTo>
                <a:lnTo>
                  <a:pt x="304926" y="58038"/>
                </a:lnTo>
                <a:lnTo>
                  <a:pt x="304926" y="45338"/>
                </a:lnTo>
                <a:close/>
              </a:path>
              <a:path w="1295400" h="103505">
                <a:moveTo>
                  <a:pt x="216026" y="45338"/>
                </a:moveTo>
                <a:lnTo>
                  <a:pt x="165226" y="45338"/>
                </a:lnTo>
                <a:lnTo>
                  <a:pt x="165226" y="58038"/>
                </a:lnTo>
                <a:lnTo>
                  <a:pt x="216026" y="58038"/>
                </a:lnTo>
                <a:lnTo>
                  <a:pt x="216026" y="45338"/>
                </a:lnTo>
                <a:close/>
              </a:path>
              <a:path w="1295400" h="103505">
                <a:moveTo>
                  <a:pt x="127126" y="45338"/>
                </a:moveTo>
                <a:lnTo>
                  <a:pt x="76326" y="45338"/>
                </a:lnTo>
                <a:lnTo>
                  <a:pt x="76326" y="58038"/>
                </a:lnTo>
                <a:lnTo>
                  <a:pt x="127126" y="58038"/>
                </a:lnTo>
                <a:lnTo>
                  <a:pt x="127126" y="45338"/>
                </a:lnTo>
                <a:close/>
              </a:path>
              <a:path w="1295400" h="103505">
                <a:moveTo>
                  <a:pt x="38226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38226" y="58038"/>
                </a:lnTo>
                <a:lnTo>
                  <a:pt x="38226" y="453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8858" y="4999482"/>
            <a:ext cx="7842250" cy="85851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latin typeface="宋体"/>
                <a:cs typeface="宋体"/>
              </a:rPr>
              <a:t>可以把继承中的抽象类作为接口类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5" dirty="0">
                <a:latin typeface="宋体"/>
                <a:cs typeface="宋体"/>
              </a:rPr>
              <a:t>用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特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殊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类</a:t>
            </a:r>
            <a:r>
              <a:rPr sz="2800" spc="-5" dirty="0">
                <a:latin typeface="宋体"/>
                <a:cs typeface="宋体"/>
              </a:rPr>
              <a:t>对接 口中的抽象操作进行具体的操作执</a:t>
            </a:r>
            <a:r>
              <a:rPr sz="2800" dirty="0">
                <a:latin typeface="宋体"/>
                <a:cs typeface="宋体"/>
              </a:rPr>
              <a:t>行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面向对象分析与</a:t>
            </a:r>
            <a:r>
              <a:rPr spc="-5" dirty="0">
                <a:latin typeface="Calibri"/>
                <a:cs typeface="Calibri"/>
              </a:rPr>
              <a:t>UML</a:t>
            </a:r>
            <a:r>
              <a:rPr dirty="0"/>
              <a:t>建模</a:t>
            </a:r>
            <a:r>
              <a:rPr spc="-5" dirty="0">
                <a:latin typeface="Calibri"/>
                <a:cs typeface="Calibri"/>
              </a:rPr>
              <a:t>(3)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25803"/>
            <a:ext cx="3721735" cy="49758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0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1.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面向对象建模</a:t>
            </a:r>
          </a:p>
          <a:p>
            <a:pPr marL="756285" lvl="1" indent="-287020">
              <a:lnSpc>
                <a:spcPct val="100000"/>
              </a:lnSpc>
              <a:spcBef>
                <a:spcPts val="2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1.1.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类图和对象建模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1.2.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宋体"/>
                <a:cs typeface="宋体"/>
              </a:rPr>
              <a:t>识别对象和筛选策略</a:t>
            </a:r>
            <a:endParaRPr sz="1800" dirty="0">
              <a:latin typeface="宋体"/>
              <a:cs typeface="宋体"/>
            </a:endParaRPr>
          </a:p>
          <a:p>
            <a:pPr marL="756285" lvl="1" indent="-287020">
              <a:lnSpc>
                <a:spcPct val="100000"/>
              </a:lnSpc>
              <a:spcBef>
                <a:spcPts val="2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1.3.</a:t>
            </a:r>
            <a:r>
              <a:rPr sz="1800" spc="43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从对象抽象类</a:t>
            </a: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1.4.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主动对象和控制线程</a:t>
            </a:r>
          </a:p>
          <a:p>
            <a:pPr marL="355600" indent="-343535">
              <a:lnSpc>
                <a:spcPct val="100000"/>
              </a:lnSpc>
              <a:spcBef>
                <a:spcPts val="2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2.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类的命名、属性和操作</a:t>
            </a: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2.1.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类的命名</a:t>
            </a: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类属性及识别筛选策略</a:t>
            </a: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2.3.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类操作及识别调整策略</a:t>
            </a: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3.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类的继承和关联</a:t>
            </a:r>
          </a:p>
          <a:p>
            <a:pPr marL="756285" lvl="1" indent="-28702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3.1.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类的继承关系</a:t>
            </a:r>
          </a:p>
          <a:p>
            <a:pPr marL="756285" lvl="1" indent="-28702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1800" dirty="0">
                <a:latin typeface="Times New Roman"/>
                <a:cs typeface="Times New Roman"/>
              </a:rPr>
              <a:t>3.2.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宋体"/>
                <a:cs typeface="宋体"/>
              </a:rPr>
              <a:t>建立类的关联</a:t>
            </a:r>
          </a:p>
          <a:p>
            <a:pPr marL="355600" indent="-343535">
              <a:lnSpc>
                <a:spcPct val="100000"/>
              </a:lnSpc>
              <a:spcBef>
                <a:spcPts val="56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4.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宋体"/>
                <a:cs typeface="宋体"/>
              </a:rPr>
              <a:t>接口类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00663B"/>
              </a:buClr>
              <a:buSzPct val="7916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5.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包图</a:t>
            </a:r>
            <a:endParaRPr sz="24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6972" y="73228"/>
            <a:ext cx="4316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包图</a:t>
            </a:r>
            <a:r>
              <a:rPr spc="-20" dirty="0"/>
              <a:t>（</a:t>
            </a:r>
            <a:r>
              <a:rPr spc="-20" dirty="0">
                <a:latin typeface="Calibri"/>
                <a:cs typeface="Calibri"/>
              </a:rPr>
              <a:t>Packages</a:t>
            </a:r>
            <a:r>
              <a:rPr spc="-20" dirty="0"/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600200"/>
            <a:ext cx="6477000" cy="5289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sz="2800" spc="5" dirty="0">
                <a:latin typeface="黑体"/>
                <a:cs typeface="黑体"/>
              </a:rPr>
              <a:t>包定义</a:t>
            </a:r>
            <a:r>
              <a:rPr sz="2800" spc="-5" dirty="0">
                <a:latin typeface="黑体"/>
                <a:cs typeface="黑体"/>
              </a:rPr>
              <a:t>：</a:t>
            </a:r>
            <a:r>
              <a:rPr sz="2800" spc="-10" dirty="0">
                <a:latin typeface="宋体"/>
                <a:cs typeface="宋体"/>
              </a:rPr>
              <a:t>包是对模型成分分组的机制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959865"/>
            <a:ext cx="31775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Wingdings"/>
                <a:cs typeface="Wingdings"/>
              </a:rPr>
              <a:t>◼</a:t>
            </a:r>
            <a:r>
              <a:rPr sz="3200" dirty="0">
                <a:latin typeface="宋体"/>
                <a:cs typeface="宋体"/>
              </a:rPr>
              <a:t>包</a:t>
            </a:r>
            <a:r>
              <a:rPr sz="3200" spc="-5" dirty="0">
                <a:latin typeface="宋体"/>
                <a:cs typeface="宋体"/>
              </a:rPr>
              <a:t>图</a:t>
            </a:r>
            <a:r>
              <a:rPr sz="3200" dirty="0">
                <a:latin typeface="宋体"/>
                <a:cs typeface="宋体"/>
              </a:rPr>
              <a:t>概念与表</a:t>
            </a:r>
            <a:r>
              <a:rPr sz="3200" spc="-755" dirty="0">
                <a:latin typeface="宋体"/>
                <a:cs typeface="宋体"/>
              </a:rPr>
              <a:t>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0" y="28194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81000" h="152400">
                <a:moveTo>
                  <a:pt x="0" y="152400"/>
                </a:moveTo>
                <a:lnTo>
                  <a:pt x="381000" y="152400"/>
                </a:lnTo>
                <a:lnTo>
                  <a:pt x="381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0" y="2971800"/>
            <a:ext cx="1219200" cy="685800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0" y="685800"/>
                </a:moveTo>
                <a:lnTo>
                  <a:pt x="1219200" y="685800"/>
                </a:lnTo>
                <a:lnTo>
                  <a:pt x="12192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6440" y="2226081"/>
            <a:ext cx="7494270" cy="38487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宋体"/>
                <a:cs typeface="宋体"/>
              </a:rPr>
              <a:t>要点：</a:t>
            </a:r>
            <a:endParaRPr sz="2800">
              <a:latin typeface="宋体"/>
              <a:cs typeface="宋体"/>
            </a:endParaRPr>
          </a:p>
          <a:p>
            <a:pPr marL="518795" indent="-125730">
              <a:lnSpc>
                <a:spcPct val="100000"/>
              </a:lnSpc>
              <a:spcBef>
                <a:spcPts val="675"/>
              </a:spcBef>
              <a:buSzPct val="96428"/>
              <a:buFont typeface="Times New Roman"/>
              <a:buChar char="•"/>
              <a:tabLst>
                <a:tab pos="519430" algn="l"/>
              </a:tabLst>
            </a:pPr>
            <a:r>
              <a:rPr sz="2800" spc="-5" dirty="0">
                <a:latin typeface="宋体"/>
                <a:cs typeface="宋体"/>
              </a:rPr>
              <a:t>把模型成分组织成为包；</a:t>
            </a:r>
            <a:endParaRPr sz="2800">
              <a:latin typeface="宋体"/>
              <a:cs typeface="宋体"/>
            </a:endParaRPr>
          </a:p>
          <a:p>
            <a:pPr marL="518795" indent="-125730">
              <a:lnSpc>
                <a:spcPct val="100000"/>
              </a:lnSpc>
              <a:spcBef>
                <a:spcPts val="670"/>
              </a:spcBef>
              <a:buSzPct val="96428"/>
              <a:buFont typeface="Times New Roman"/>
              <a:buChar char="•"/>
              <a:tabLst>
                <a:tab pos="519430" algn="l"/>
              </a:tabLst>
            </a:pPr>
            <a:r>
              <a:rPr sz="2800" spc="-5" dirty="0">
                <a:latin typeface="宋体"/>
                <a:cs typeface="宋体"/>
              </a:rPr>
              <a:t>模型成分包括类或用况；</a:t>
            </a:r>
            <a:endParaRPr sz="2800">
              <a:latin typeface="宋体"/>
              <a:cs typeface="宋体"/>
            </a:endParaRPr>
          </a:p>
          <a:p>
            <a:pPr marL="518795" indent="-125730">
              <a:lnSpc>
                <a:spcPct val="100000"/>
              </a:lnSpc>
              <a:spcBef>
                <a:spcPts val="675"/>
              </a:spcBef>
              <a:buSzPct val="96428"/>
              <a:buFont typeface="Times New Roman"/>
              <a:buChar char="•"/>
              <a:tabLst>
                <a:tab pos="519430" algn="l"/>
              </a:tabLst>
            </a:pPr>
            <a:r>
              <a:rPr sz="2800" spc="-5" dirty="0">
                <a:latin typeface="宋体"/>
                <a:cs typeface="宋体"/>
              </a:rPr>
              <a:t>包有唯一的名称，可以被</a:t>
            </a:r>
            <a:r>
              <a:rPr sz="2800" dirty="0">
                <a:latin typeface="宋体"/>
                <a:cs typeface="宋体"/>
              </a:rPr>
              <a:t>独</a:t>
            </a:r>
            <a:r>
              <a:rPr sz="2800" spc="-5" dirty="0">
                <a:latin typeface="宋体"/>
                <a:cs typeface="宋体"/>
              </a:rPr>
              <a:t>立引</a:t>
            </a:r>
            <a:r>
              <a:rPr sz="2800" dirty="0">
                <a:latin typeface="宋体"/>
                <a:cs typeface="宋体"/>
              </a:rPr>
              <a:t>用</a:t>
            </a:r>
            <a:r>
              <a:rPr sz="2800" spc="-5" dirty="0">
                <a:latin typeface="宋体"/>
                <a:cs typeface="宋体"/>
              </a:rPr>
              <a:t>。</a:t>
            </a:r>
            <a:r>
              <a:rPr sz="2800" spc="-670" dirty="0">
                <a:latin typeface="宋体"/>
                <a:cs typeface="宋体"/>
              </a:rPr>
              <a:t> </a:t>
            </a:r>
            <a:r>
              <a:rPr sz="2700" baseline="50925" dirty="0">
                <a:latin typeface="宋体"/>
                <a:cs typeface="宋体"/>
              </a:rPr>
              <a:t>包的表示：</a:t>
            </a:r>
            <a:endParaRPr sz="2700" baseline="50925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2545"/>
              </a:spcBef>
            </a:pPr>
            <a:r>
              <a:rPr sz="2800" spc="-5" dirty="0">
                <a:latin typeface="宋体"/>
                <a:cs typeface="宋体"/>
              </a:rPr>
              <a:t>目的：</a:t>
            </a:r>
            <a:endParaRPr sz="2800">
              <a:latin typeface="宋体"/>
              <a:cs typeface="宋体"/>
            </a:endParaRPr>
          </a:p>
          <a:p>
            <a:pPr marL="264160" indent="-213995">
              <a:lnSpc>
                <a:spcPct val="100000"/>
              </a:lnSpc>
              <a:spcBef>
                <a:spcPts val="675"/>
              </a:spcBef>
              <a:buFont typeface="Times New Roman"/>
              <a:buChar char="•"/>
              <a:tabLst>
                <a:tab pos="264795" algn="l"/>
              </a:tabLst>
            </a:pPr>
            <a:r>
              <a:rPr sz="2800" spc="-5" dirty="0">
                <a:latin typeface="宋体"/>
                <a:cs typeface="宋体"/>
              </a:rPr>
              <a:t>用包组织系统成分，使系统形成整体</a:t>
            </a:r>
            <a:r>
              <a:rPr sz="2800" dirty="0">
                <a:latin typeface="宋体"/>
                <a:cs typeface="宋体"/>
              </a:rPr>
              <a:t>组</a:t>
            </a:r>
            <a:r>
              <a:rPr sz="2800" spc="-5" dirty="0">
                <a:latin typeface="宋体"/>
                <a:cs typeface="宋体"/>
              </a:rPr>
              <a:t>织结构</a:t>
            </a:r>
            <a:endParaRPr sz="2800">
              <a:latin typeface="宋体"/>
              <a:cs typeface="宋体"/>
            </a:endParaRPr>
          </a:p>
          <a:p>
            <a:pPr marL="264160" lvl="1" indent="-125730">
              <a:lnSpc>
                <a:spcPct val="100000"/>
              </a:lnSpc>
              <a:spcBef>
                <a:spcPts val="670"/>
              </a:spcBef>
              <a:buSzPct val="96428"/>
              <a:buFont typeface="Times New Roman"/>
              <a:buChar char="•"/>
              <a:tabLst>
                <a:tab pos="264795" algn="l"/>
              </a:tabLst>
            </a:pPr>
            <a:r>
              <a:rPr sz="2800" spc="-5" dirty="0">
                <a:latin typeface="宋体"/>
                <a:cs typeface="宋体"/>
              </a:rPr>
              <a:t>包作为独立系统成分，</a:t>
            </a:r>
            <a:r>
              <a:rPr sz="2800" dirty="0">
                <a:latin typeface="宋体"/>
                <a:cs typeface="宋体"/>
              </a:rPr>
              <a:t>可</a:t>
            </a:r>
            <a:r>
              <a:rPr sz="2800" spc="-5" dirty="0">
                <a:latin typeface="宋体"/>
                <a:cs typeface="宋体"/>
              </a:rPr>
              <a:t>被整</a:t>
            </a:r>
            <a:r>
              <a:rPr sz="2800" dirty="0">
                <a:latin typeface="宋体"/>
                <a:cs typeface="宋体"/>
              </a:rPr>
              <a:t>体</a:t>
            </a:r>
            <a:r>
              <a:rPr sz="2800" spc="-5" dirty="0">
                <a:latin typeface="宋体"/>
                <a:cs typeface="宋体"/>
              </a:rPr>
              <a:t>利用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2802" y="151638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包的层次性</a:t>
            </a:r>
          </a:p>
        </p:txBody>
      </p:sp>
      <p:sp>
        <p:nvSpPr>
          <p:cNvPr id="3" name="object 3"/>
          <p:cNvSpPr/>
          <p:nvPr/>
        </p:nvSpPr>
        <p:spPr>
          <a:xfrm>
            <a:off x="964665" y="4588408"/>
            <a:ext cx="458470" cy="223520"/>
          </a:xfrm>
          <a:custGeom>
            <a:avLst/>
            <a:gdLst/>
            <a:ahLst/>
            <a:cxnLst/>
            <a:rect l="l" t="t" r="r" b="b"/>
            <a:pathLst>
              <a:path w="458469" h="223520">
                <a:moveTo>
                  <a:pt x="0" y="223340"/>
                </a:moveTo>
                <a:lnTo>
                  <a:pt x="458433" y="223340"/>
                </a:lnTo>
                <a:lnTo>
                  <a:pt x="458433" y="0"/>
                </a:lnTo>
                <a:lnTo>
                  <a:pt x="0" y="0"/>
                </a:lnTo>
                <a:lnTo>
                  <a:pt x="0" y="22334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0632" y="4599107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9067"/>
                </a:moveTo>
                <a:lnTo>
                  <a:pt x="0" y="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0632" y="4594834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4">
                <a:moveTo>
                  <a:pt x="0" y="0"/>
                </a:moveTo>
                <a:lnTo>
                  <a:pt x="454843" y="0"/>
                </a:lnTo>
              </a:path>
            </a:pathLst>
          </a:custGeom>
          <a:ln w="429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29065" y="4594834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0"/>
                </a:moveTo>
                <a:lnTo>
                  <a:pt x="0" y="21905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8637" y="4806440"/>
            <a:ext cx="1134745" cy="739140"/>
          </a:xfrm>
          <a:prstGeom prst="rect">
            <a:avLst/>
          </a:prstGeom>
          <a:solidFill>
            <a:srgbClr val="FFFFCC"/>
          </a:solidFill>
          <a:ln w="4211">
            <a:solidFill>
              <a:srgbClr val="990033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412115" marR="635" indent="-386080">
              <a:lnSpc>
                <a:spcPts val="1330"/>
              </a:lnSpc>
              <a:spcBef>
                <a:spcPts val="310"/>
              </a:spcBef>
            </a:pPr>
            <a:r>
              <a:rPr sz="1300" spc="-60" dirty="0">
                <a:latin typeface="宋体"/>
                <a:cs typeface="宋体"/>
              </a:rPr>
              <a:t>香精、香料总库 </a:t>
            </a:r>
            <a:r>
              <a:rPr sz="1300" spc="-65" dirty="0">
                <a:latin typeface="宋体"/>
                <a:cs typeface="宋体"/>
              </a:rPr>
              <a:t>管理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15067" y="4791161"/>
            <a:ext cx="1134745" cy="760095"/>
          </a:xfrm>
          <a:custGeom>
            <a:avLst/>
            <a:gdLst/>
            <a:ahLst/>
            <a:cxnLst/>
            <a:rect l="l" t="t" r="r" b="b"/>
            <a:pathLst>
              <a:path w="1134745" h="760095">
                <a:moveTo>
                  <a:pt x="0" y="760077"/>
                </a:moveTo>
                <a:lnTo>
                  <a:pt x="1134357" y="760077"/>
                </a:lnTo>
                <a:lnTo>
                  <a:pt x="1134357" y="0"/>
                </a:lnTo>
                <a:lnTo>
                  <a:pt x="0" y="0"/>
                </a:lnTo>
                <a:lnTo>
                  <a:pt x="0" y="760077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15067" y="4572092"/>
            <a:ext cx="458470" cy="223520"/>
          </a:xfrm>
          <a:custGeom>
            <a:avLst/>
            <a:gdLst/>
            <a:ahLst/>
            <a:cxnLst/>
            <a:rect l="l" t="t" r="r" b="b"/>
            <a:pathLst>
              <a:path w="458469" h="223520">
                <a:moveTo>
                  <a:pt x="0" y="222926"/>
                </a:moveTo>
                <a:lnTo>
                  <a:pt x="458034" y="222926"/>
                </a:lnTo>
                <a:lnTo>
                  <a:pt x="458034" y="0"/>
                </a:lnTo>
                <a:lnTo>
                  <a:pt x="0" y="0"/>
                </a:lnTo>
                <a:lnTo>
                  <a:pt x="0" y="222926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21130" y="4582395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9067"/>
                </a:moveTo>
                <a:lnTo>
                  <a:pt x="0" y="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21130" y="4578536"/>
            <a:ext cx="454659" cy="0"/>
          </a:xfrm>
          <a:custGeom>
            <a:avLst/>
            <a:gdLst/>
            <a:ahLst/>
            <a:cxnLst/>
            <a:rect l="l" t="t" r="r" b="b"/>
            <a:pathLst>
              <a:path w="454660">
                <a:moveTo>
                  <a:pt x="0" y="0"/>
                </a:moveTo>
                <a:lnTo>
                  <a:pt x="454381" y="0"/>
                </a:lnTo>
              </a:path>
            </a:pathLst>
          </a:custGeom>
          <a:ln w="429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79181" y="4578536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0"/>
                </a:moveTo>
                <a:lnTo>
                  <a:pt x="0" y="219067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15067" y="4806440"/>
            <a:ext cx="1134745" cy="735965"/>
          </a:xfrm>
          <a:prstGeom prst="rect">
            <a:avLst/>
          </a:prstGeom>
          <a:ln w="4205">
            <a:solidFill>
              <a:srgbClr val="9900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9715">
              <a:lnSpc>
                <a:spcPts val="1505"/>
              </a:lnSpc>
            </a:pPr>
            <a:r>
              <a:rPr sz="1300" spc="-65" dirty="0">
                <a:latin typeface="宋体"/>
                <a:cs typeface="宋体"/>
              </a:rPr>
              <a:t>辅料采购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81914" y="4588408"/>
            <a:ext cx="458470" cy="223520"/>
          </a:xfrm>
          <a:custGeom>
            <a:avLst/>
            <a:gdLst/>
            <a:ahLst/>
            <a:cxnLst/>
            <a:rect l="l" t="t" r="r" b="b"/>
            <a:pathLst>
              <a:path w="458470" h="223520">
                <a:moveTo>
                  <a:pt x="0" y="223340"/>
                </a:moveTo>
                <a:lnTo>
                  <a:pt x="458034" y="223340"/>
                </a:lnTo>
                <a:lnTo>
                  <a:pt x="458034" y="0"/>
                </a:lnTo>
                <a:lnTo>
                  <a:pt x="0" y="0"/>
                </a:lnTo>
                <a:lnTo>
                  <a:pt x="0" y="22334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87817" y="4599107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9067"/>
                </a:moveTo>
                <a:lnTo>
                  <a:pt x="0" y="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7817" y="4594834"/>
            <a:ext cx="454659" cy="0"/>
          </a:xfrm>
          <a:custGeom>
            <a:avLst/>
            <a:gdLst/>
            <a:ahLst/>
            <a:cxnLst/>
            <a:rect l="l" t="t" r="r" b="b"/>
            <a:pathLst>
              <a:path w="454660">
                <a:moveTo>
                  <a:pt x="0" y="0"/>
                </a:moveTo>
                <a:lnTo>
                  <a:pt x="454540" y="0"/>
                </a:lnTo>
              </a:path>
            </a:pathLst>
          </a:custGeom>
          <a:ln w="429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545868" y="4594834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0"/>
                </a:moveTo>
                <a:lnTo>
                  <a:pt x="0" y="21905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85424" y="4806440"/>
            <a:ext cx="1134745" cy="734060"/>
          </a:xfrm>
          <a:prstGeom prst="rect">
            <a:avLst/>
          </a:prstGeom>
          <a:solidFill>
            <a:srgbClr val="FFFFCC"/>
          </a:solidFill>
          <a:ln w="4211">
            <a:solidFill>
              <a:srgbClr val="990033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5"/>
              </a:spcBef>
            </a:pPr>
            <a:r>
              <a:rPr sz="1300" spc="-65" dirty="0">
                <a:latin typeface="宋体"/>
                <a:cs typeface="宋体"/>
              </a:rPr>
              <a:t>辅料总库管理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09389" y="4588408"/>
            <a:ext cx="458470" cy="223520"/>
          </a:xfrm>
          <a:custGeom>
            <a:avLst/>
            <a:gdLst/>
            <a:ahLst/>
            <a:cxnLst/>
            <a:rect l="l" t="t" r="r" b="b"/>
            <a:pathLst>
              <a:path w="458470" h="223520">
                <a:moveTo>
                  <a:pt x="0" y="223340"/>
                </a:moveTo>
                <a:lnTo>
                  <a:pt x="458433" y="223340"/>
                </a:lnTo>
                <a:lnTo>
                  <a:pt x="458433" y="0"/>
                </a:lnTo>
                <a:lnTo>
                  <a:pt x="0" y="0"/>
                </a:lnTo>
                <a:lnTo>
                  <a:pt x="0" y="22334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15451" y="4599107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9067"/>
                </a:moveTo>
                <a:lnTo>
                  <a:pt x="0" y="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15451" y="4594834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5">
                <a:moveTo>
                  <a:pt x="0" y="0"/>
                </a:moveTo>
                <a:lnTo>
                  <a:pt x="454859" y="0"/>
                </a:lnTo>
              </a:path>
            </a:pathLst>
          </a:custGeom>
          <a:ln w="429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73821" y="4594834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0"/>
                </a:moveTo>
                <a:lnTo>
                  <a:pt x="0" y="21905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13377" y="4806440"/>
            <a:ext cx="1134745" cy="734060"/>
          </a:xfrm>
          <a:prstGeom prst="rect">
            <a:avLst/>
          </a:prstGeom>
          <a:solidFill>
            <a:srgbClr val="FFFFCC"/>
          </a:solidFill>
          <a:ln w="4211">
            <a:solidFill>
              <a:srgbClr val="990033"/>
            </a:solidFill>
          </a:ln>
        </p:spPr>
        <p:txBody>
          <a:bodyPr vert="horz" wrap="square" lIns="0" tIns="952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5"/>
              </a:spcBef>
            </a:pPr>
            <a:r>
              <a:rPr sz="1300" spc="-65" dirty="0">
                <a:latin typeface="宋体"/>
                <a:cs typeface="宋体"/>
              </a:rPr>
              <a:t>辅料分库管理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020649" y="2803407"/>
            <a:ext cx="458470" cy="223520"/>
          </a:xfrm>
          <a:custGeom>
            <a:avLst/>
            <a:gdLst/>
            <a:ahLst/>
            <a:cxnLst/>
            <a:rect l="l" t="t" r="r" b="b"/>
            <a:pathLst>
              <a:path w="458470" h="223519">
                <a:moveTo>
                  <a:pt x="0" y="223340"/>
                </a:moveTo>
                <a:lnTo>
                  <a:pt x="458433" y="223340"/>
                </a:lnTo>
                <a:lnTo>
                  <a:pt x="458433" y="0"/>
                </a:lnTo>
                <a:lnTo>
                  <a:pt x="0" y="0"/>
                </a:lnTo>
                <a:lnTo>
                  <a:pt x="0" y="22334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026553" y="2813969"/>
            <a:ext cx="0" cy="219710"/>
          </a:xfrm>
          <a:custGeom>
            <a:avLst/>
            <a:gdLst/>
            <a:ahLst/>
            <a:cxnLst/>
            <a:rect l="l" t="t" r="r" b="b"/>
            <a:pathLst>
              <a:path h="219710">
                <a:moveTo>
                  <a:pt x="0" y="219153"/>
                </a:moveTo>
                <a:lnTo>
                  <a:pt x="0" y="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26553" y="2809834"/>
            <a:ext cx="454659" cy="0"/>
          </a:xfrm>
          <a:custGeom>
            <a:avLst/>
            <a:gdLst/>
            <a:ahLst/>
            <a:cxnLst/>
            <a:rect l="l" t="t" r="r" b="b"/>
            <a:pathLst>
              <a:path w="454660">
                <a:moveTo>
                  <a:pt x="0" y="0"/>
                </a:moveTo>
                <a:lnTo>
                  <a:pt x="454540" y="0"/>
                </a:lnTo>
              </a:path>
            </a:pathLst>
          </a:custGeom>
          <a:ln w="429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85082" y="2809834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0"/>
                </a:moveTo>
                <a:lnTo>
                  <a:pt x="0" y="218981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024638" y="3030607"/>
            <a:ext cx="1134745" cy="723265"/>
          </a:xfrm>
          <a:prstGeom prst="rect">
            <a:avLst/>
          </a:prstGeom>
          <a:solidFill>
            <a:srgbClr val="FFFFCC"/>
          </a:solidFill>
          <a:ln w="4211">
            <a:solidFill>
              <a:srgbClr val="9900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9070">
              <a:lnSpc>
                <a:spcPct val="100000"/>
              </a:lnSpc>
            </a:pPr>
            <a:r>
              <a:rPr sz="1300" spc="-65" dirty="0">
                <a:latin typeface="宋体"/>
                <a:cs typeface="宋体"/>
              </a:rPr>
              <a:t>供应科管理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954184" y="4588408"/>
            <a:ext cx="458470" cy="223520"/>
          </a:xfrm>
          <a:custGeom>
            <a:avLst/>
            <a:gdLst/>
            <a:ahLst/>
            <a:cxnLst/>
            <a:rect l="l" t="t" r="r" b="b"/>
            <a:pathLst>
              <a:path w="458470" h="223520">
                <a:moveTo>
                  <a:pt x="0" y="223340"/>
                </a:moveTo>
                <a:lnTo>
                  <a:pt x="458433" y="223340"/>
                </a:lnTo>
                <a:lnTo>
                  <a:pt x="458433" y="0"/>
                </a:lnTo>
                <a:lnTo>
                  <a:pt x="0" y="0"/>
                </a:lnTo>
                <a:lnTo>
                  <a:pt x="0" y="22334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960088" y="4599107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219067"/>
                </a:moveTo>
                <a:lnTo>
                  <a:pt x="0" y="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60088" y="4594834"/>
            <a:ext cx="454659" cy="0"/>
          </a:xfrm>
          <a:custGeom>
            <a:avLst/>
            <a:gdLst/>
            <a:ahLst/>
            <a:cxnLst/>
            <a:rect l="l" t="t" r="r" b="b"/>
            <a:pathLst>
              <a:path w="454659">
                <a:moveTo>
                  <a:pt x="0" y="0"/>
                </a:moveTo>
                <a:lnTo>
                  <a:pt x="454540" y="0"/>
                </a:lnTo>
              </a:path>
            </a:pathLst>
          </a:custGeom>
          <a:ln w="429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18616" y="4594834"/>
            <a:ext cx="0" cy="219075"/>
          </a:xfrm>
          <a:custGeom>
            <a:avLst/>
            <a:gdLst/>
            <a:ahLst/>
            <a:cxnLst/>
            <a:rect l="l" t="t" r="r" b="b"/>
            <a:pathLst>
              <a:path h="219075">
                <a:moveTo>
                  <a:pt x="0" y="0"/>
                </a:moveTo>
                <a:lnTo>
                  <a:pt x="0" y="219050"/>
                </a:lnTo>
              </a:path>
            </a:pathLst>
          </a:custGeom>
          <a:ln w="3975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950195" y="4815607"/>
            <a:ext cx="1135380" cy="723265"/>
          </a:xfrm>
          <a:prstGeom prst="rect">
            <a:avLst/>
          </a:prstGeom>
          <a:solidFill>
            <a:srgbClr val="FFFFCC"/>
          </a:solidFill>
          <a:ln w="4211">
            <a:solidFill>
              <a:srgbClr val="99003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ct val="100000"/>
              </a:lnSpc>
            </a:pPr>
            <a:r>
              <a:rPr sz="1300" spc="-65" dirty="0">
                <a:latin typeface="宋体"/>
                <a:cs typeface="宋体"/>
              </a:rPr>
              <a:t>化工库管理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665504" y="3770527"/>
            <a:ext cx="630555" cy="797560"/>
          </a:xfrm>
          <a:custGeom>
            <a:avLst/>
            <a:gdLst/>
            <a:ahLst/>
            <a:cxnLst/>
            <a:rect l="l" t="t" r="r" b="b"/>
            <a:pathLst>
              <a:path w="630554" h="797560">
                <a:moveTo>
                  <a:pt x="630358" y="0"/>
                </a:moveTo>
                <a:lnTo>
                  <a:pt x="0" y="797292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71567" y="4503951"/>
            <a:ext cx="126364" cy="70485"/>
          </a:xfrm>
          <a:custGeom>
            <a:avLst/>
            <a:gdLst/>
            <a:ahLst/>
            <a:cxnLst/>
            <a:rect l="l" t="t" r="r" b="b"/>
            <a:pathLst>
              <a:path w="126364" h="70485">
                <a:moveTo>
                  <a:pt x="0" y="70294"/>
                </a:moveTo>
                <a:lnTo>
                  <a:pt x="126039" y="0"/>
                </a:lnTo>
              </a:path>
            </a:pathLst>
          </a:custGeom>
          <a:ln w="4218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71567" y="4425490"/>
            <a:ext cx="45720" cy="149225"/>
          </a:xfrm>
          <a:custGeom>
            <a:avLst/>
            <a:gdLst/>
            <a:ahLst/>
            <a:cxnLst/>
            <a:rect l="l" t="t" r="r" b="b"/>
            <a:pathLst>
              <a:path w="45720" h="149225">
                <a:moveTo>
                  <a:pt x="0" y="148755"/>
                </a:moveTo>
                <a:lnTo>
                  <a:pt x="45629" y="0"/>
                </a:lnTo>
              </a:path>
            </a:pathLst>
          </a:custGeom>
          <a:ln w="400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05059" y="3770527"/>
            <a:ext cx="26670" cy="814069"/>
          </a:xfrm>
          <a:custGeom>
            <a:avLst/>
            <a:gdLst/>
            <a:ahLst/>
            <a:cxnLst/>
            <a:rect l="l" t="t" r="r" b="b"/>
            <a:pathLst>
              <a:path w="26670" h="814070">
                <a:moveTo>
                  <a:pt x="0" y="0"/>
                </a:moveTo>
                <a:lnTo>
                  <a:pt x="26643" y="814004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37766" y="4442219"/>
            <a:ext cx="53975" cy="149225"/>
          </a:xfrm>
          <a:custGeom>
            <a:avLst/>
            <a:gdLst/>
            <a:ahLst/>
            <a:cxnLst/>
            <a:rect l="l" t="t" r="r" b="b"/>
            <a:pathLst>
              <a:path w="53975" h="149225">
                <a:moveTo>
                  <a:pt x="0" y="148755"/>
                </a:moveTo>
                <a:lnTo>
                  <a:pt x="53606" y="0"/>
                </a:lnTo>
              </a:path>
            </a:pathLst>
          </a:custGeom>
          <a:ln w="4012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76501" y="4450351"/>
            <a:ext cx="61594" cy="140970"/>
          </a:xfrm>
          <a:custGeom>
            <a:avLst/>
            <a:gdLst/>
            <a:ahLst/>
            <a:cxnLst/>
            <a:rect l="l" t="t" r="r" b="b"/>
            <a:pathLst>
              <a:path w="61595" h="140970">
                <a:moveTo>
                  <a:pt x="61264" y="140623"/>
                </a:moveTo>
                <a:lnTo>
                  <a:pt x="0" y="0"/>
                </a:lnTo>
              </a:path>
            </a:pathLst>
          </a:custGeom>
          <a:ln w="4026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926062" y="3770527"/>
            <a:ext cx="721995" cy="814069"/>
          </a:xfrm>
          <a:custGeom>
            <a:avLst/>
            <a:gdLst/>
            <a:ahLst/>
            <a:cxnLst/>
            <a:rect l="l" t="t" r="r" b="b"/>
            <a:pathLst>
              <a:path w="721995" h="814070">
                <a:moveTo>
                  <a:pt x="0" y="0"/>
                </a:moveTo>
                <a:lnTo>
                  <a:pt x="721617" y="814004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00294" y="4446079"/>
            <a:ext cx="53340" cy="145415"/>
          </a:xfrm>
          <a:custGeom>
            <a:avLst/>
            <a:gdLst/>
            <a:ahLst/>
            <a:cxnLst/>
            <a:rect l="l" t="t" r="r" b="b"/>
            <a:pathLst>
              <a:path w="53339" h="145414">
                <a:moveTo>
                  <a:pt x="53287" y="144896"/>
                </a:moveTo>
                <a:lnTo>
                  <a:pt x="0" y="0"/>
                </a:lnTo>
              </a:path>
            </a:pathLst>
          </a:custGeom>
          <a:ln w="401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520044" y="4524523"/>
            <a:ext cx="133985" cy="66675"/>
          </a:xfrm>
          <a:custGeom>
            <a:avLst/>
            <a:gdLst/>
            <a:ahLst/>
            <a:cxnLst/>
            <a:rect l="l" t="t" r="r" b="b"/>
            <a:pathLst>
              <a:path w="133985" h="66675">
                <a:moveTo>
                  <a:pt x="133538" y="66452"/>
                </a:moveTo>
                <a:lnTo>
                  <a:pt x="0" y="0"/>
                </a:lnTo>
              </a:path>
            </a:pathLst>
          </a:custGeom>
          <a:ln w="4230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166494" y="3745545"/>
            <a:ext cx="1783714" cy="1082675"/>
          </a:xfrm>
          <a:custGeom>
            <a:avLst/>
            <a:gdLst/>
            <a:ahLst/>
            <a:cxnLst/>
            <a:rect l="l" t="t" r="r" b="b"/>
            <a:pathLst>
              <a:path w="1783715" h="1082675">
                <a:moveTo>
                  <a:pt x="0" y="0"/>
                </a:moveTo>
                <a:lnTo>
                  <a:pt x="1783701" y="1082485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68350" y="4710579"/>
            <a:ext cx="88265" cy="124460"/>
          </a:xfrm>
          <a:custGeom>
            <a:avLst/>
            <a:gdLst/>
            <a:ahLst/>
            <a:cxnLst/>
            <a:rect l="l" t="t" r="r" b="b"/>
            <a:pathLst>
              <a:path w="88265" h="124460">
                <a:moveTo>
                  <a:pt x="87749" y="123894"/>
                </a:moveTo>
                <a:lnTo>
                  <a:pt x="0" y="0"/>
                </a:lnTo>
              </a:path>
            </a:pathLst>
          </a:custGeom>
          <a:ln w="4082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815062" y="4813885"/>
            <a:ext cx="141605" cy="20955"/>
          </a:xfrm>
          <a:custGeom>
            <a:avLst/>
            <a:gdLst/>
            <a:ahLst/>
            <a:cxnLst/>
            <a:rect l="l" t="t" r="r" b="b"/>
            <a:pathLst>
              <a:path w="141604" h="20954">
                <a:moveTo>
                  <a:pt x="141036" y="20588"/>
                </a:moveTo>
                <a:lnTo>
                  <a:pt x="0" y="0"/>
                </a:lnTo>
              </a:path>
            </a:pathLst>
          </a:custGeom>
          <a:ln w="4287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1071" y="5183414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>
                <a:moveTo>
                  <a:pt x="0" y="0"/>
                </a:moveTo>
                <a:lnTo>
                  <a:pt x="316854" y="0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950291" y="5189858"/>
            <a:ext cx="133985" cy="62230"/>
          </a:xfrm>
          <a:custGeom>
            <a:avLst/>
            <a:gdLst/>
            <a:ahLst/>
            <a:cxnLst/>
            <a:rect l="l" t="t" r="r" b="b"/>
            <a:pathLst>
              <a:path w="133985" h="62229">
                <a:moveTo>
                  <a:pt x="133538" y="0"/>
                </a:moveTo>
                <a:lnTo>
                  <a:pt x="0" y="62162"/>
                </a:lnTo>
              </a:path>
            </a:pathLst>
          </a:custGeom>
          <a:ln w="4237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950291" y="5128126"/>
            <a:ext cx="133985" cy="62230"/>
          </a:xfrm>
          <a:custGeom>
            <a:avLst/>
            <a:gdLst/>
            <a:ahLst/>
            <a:cxnLst/>
            <a:rect l="l" t="t" r="r" b="b"/>
            <a:pathLst>
              <a:path w="133985" h="62229">
                <a:moveTo>
                  <a:pt x="133538" y="61731"/>
                </a:moveTo>
                <a:lnTo>
                  <a:pt x="0" y="0"/>
                </a:lnTo>
              </a:path>
            </a:pathLst>
          </a:custGeom>
          <a:ln w="4237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227759" y="5183414"/>
            <a:ext cx="378460" cy="0"/>
          </a:xfrm>
          <a:custGeom>
            <a:avLst/>
            <a:gdLst/>
            <a:ahLst/>
            <a:cxnLst/>
            <a:rect l="l" t="t" r="r" b="b"/>
            <a:pathLst>
              <a:path w="378460">
                <a:moveTo>
                  <a:pt x="0" y="0"/>
                </a:moveTo>
                <a:lnTo>
                  <a:pt x="378119" y="0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78243" y="5189858"/>
            <a:ext cx="133985" cy="62230"/>
          </a:xfrm>
          <a:custGeom>
            <a:avLst/>
            <a:gdLst/>
            <a:ahLst/>
            <a:cxnLst/>
            <a:rect l="l" t="t" r="r" b="b"/>
            <a:pathLst>
              <a:path w="133985" h="62229">
                <a:moveTo>
                  <a:pt x="133538" y="0"/>
                </a:moveTo>
                <a:lnTo>
                  <a:pt x="0" y="62162"/>
                </a:lnTo>
              </a:path>
            </a:pathLst>
          </a:custGeom>
          <a:ln w="4237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478243" y="5128126"/>
            <a:ext cx="133985" cy="62230"/>
          </a:xfrm>
          <a:custGeom>
            <a:avLst/>
            <a:gdLst/>
            <a:ahLst/>
            <a:cxnLst/>
            <a:rect l="l" t="t" r="r" b="b"/>
            <a:pathLst>
              <a:path w="133985" h="62229">
                <a:moveTo>
                  <a:pt x="133538" y="61731"/>
                </a:moveTo>
                <a:lnTo>
                  <a:pt x="0" y="0"/>
                </a:lnTo>
              </a:path>
            </a:pathLst>
          </a:custGeom>
          <a:ln w="4237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10956" y="3733139"/>
            <a:ext cx="1906270" cy="1115695"/>
          </a:xfrm>
          <a:custGeom>
            <a:avLst/>
            <a:gdLst/>
            <a:ahLst/>
            <a:cxnLst/>
            <a:rect l="l" t="t" r="r" b="b"/>
            <a:pathLst>
              <a:path w="1906270" h="1115695">
                <a:moveTo>
                  <a:pt x="1905704" y="0"/>
                </a:moveTo>
                <a:lnTo>
                  <a:pt x="0" y="1115478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16923" y="4838746"/>
            <a:ext cx="145415" cy="16510"/>
          </a:xfrm>
          <a:custGeom>
            <a:avLst/>
            <a:gdLst/>
            <a:ahLst/>
            <a:cxnLst/>
            <a:rect l="l" t="t" r="r" b="b"/>
            <a:pathLst>
              <a:path w="145414" h="16510">
                <a:moveTo>
                  <a:pt x="0" y="16298"/>
                </a:moveTo>
                <a:lnTo>
                  <a:pt x="145073" y="0"/>
                </a:lnTo>
              </a:path>
            </a:pathLst>
          </a:custGeom>
          <a:ln w="4289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116923" y="4735441"/>
            <a:ext cx="92075" cy="120014"/>
          </a:xfrm>
          <a:custGeom>
            <a:avLst/>
            <a:gdLst/>
            <a:ahLst/>
            <a:cxnLst/>
            <a:rect l="l" t="t" r="r" b="b"/>
            <a:pathLst>
              <a:path w="92075" h="120014">
                <a:moveTo>
                  <a:pt x="0" y="119604"/>
                </a:moveTo>
                <a:lnTo>
                  <a:pt x="91466" y="0"/>
                </a:lnTo>
              </a:path>
            </a:pathLst>
          </a:custGeom>
          <a:ln w="4093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110956" y="5183414"/>
            <a:ext cx="500380" cy="0"/>
          </a:xfrm>
          <a:custGeom>
            <a:avLst/>
            <a:gdLst/>
            <a:ahLst/>
            <a:cxnLst/>
            <a:rect l="l" t="t" r="r" b="b"/>
            <a:pathLst>
              <a:path w="500380">
                <a:moveTo>
                  <a:pt x="500122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990033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116923" y="5189858"/>
            <a:ext cx="133985" cy="62230"/>
          </a:xfrm>
          <a:custGeom>
            <a:avLst/>
            <a:gdLst/>
            <a:ahLst/>
            <a:cxnLst/>
            <a:rect l="l" t="t" r="r" b="b"/>
            <a:pathLst>
              <a:path w="133985" h="62229">
                <a:moveTo>
                  <a:pt x="0" y="0"/>
                </a:moveTo>
                <a:lnTo>
                  <a:pt x="133586" y="62162"/>
                </a:lnTo>
              </a:path>
            </a:pathLst>
          </a:custGeom>
          <a:ln w="4237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116923" y="5128126"/>
            <a:ext cx="133985" cy="62230"/>
          </a:xfrm>
          <a:custGeom>
            <a:avLst/>
            <a:gdLst/>
            <a:ahLst/>
            <a:cxnLst/>
            <a:rect l="l" t="t" r="r" b="b"/>
            <a:pathLst>
              <a:path w="133985" h="62229">
                <a:moveTo>
                  <a:pt x="0" y="61731"/>
                </a:moveTo>
                <a:lnTo>
                  <a:pt x="133586" y="0"/>
                </a:lnTo>
              </a:path>
            </a:pathLst>
          </a:custGeom>
          <a:ln w="4237">
            <a:solidFill>
              <a:srgbClr val="9900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79144" y="1073658"/>
            <a:ext cx="7129780" cy="178053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335"/>
              </a:spcBef>
            </a:pPr>
            <a:r>
              <a:rPr sz="2800" spc="-5" dirty="0">
                <a:solidFill>
                  <a:srgbClr val="00663B"/>
                </a:solidFill>
                <a:latin typeface="宋体"/>
                <a:cs typeface="宋体"/>
              </a:rPr>
              <a:t>多个包可以形成严格的树形层次结</a:t>
            </a:r>
            <a:r>
              <a:rPr sz="2800" dirty="0">
                <a:solidFill>
                  <a:srgbClr val="00663B"/>
                </a:solidFill>
                <a:latin typeface="宋体"/>
                <a:cs typeface="宋体"/>
              </a:rPr>
              <a:t>构</a:t>
            </a:r>
            <a:r>
              <a:rPr sz="2800" spc="-5" dirty="0">
                <a:solidFill>
                  <a:srgbClr val="00663B"/>
                </a:solidFill>
                <a:latin typeface="宋体"/>
                <a:cs typeface="宋体"/>
              </a:rPr>
              <a:t>，用</a:t>
            </a:r>
            <a:r>
              <a:rPr sz="2800" dirty="0">
                <a:solidFill>
                  <a:srgbClr val="00663B"/>
                </a:solidFill>
                <a:latin typeface="宋体"/>
                <a:cs typeface="宋体"/>
              </a:rPr>
              <a:t>于</a:t>
            </a:r>
            <a:r>
              <a:rPr sz="2800" spc="-5" dirty="0">
                <a:solidFill>
                  <a:srgbClr val="00663B"/>
                </a:solidFill>
                <a:latin typeface="宋体"/>
                <a:cs typeface="宋体"/>
              </a:rPr>
              <a:t>描 </a:t>
            </a:r>
            <a:r>
              <a:rPr sz="2800" spc="-10" dirty="0">
                <a:solidFill>
                  <a:srgbClr val="00663B"/>
                </a:solidFill>
                <a:latin typeface="宋体"/>
                <a:cs typeface="宋体"/>
              </a:rPr>
              <a:t>述系统的组织结构。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树状包</a:t>
            </a:r>
            <a:r>
              <a:rPr sz="2800" dirty="0">
                <a:latin typeface="宋体"/>
                <a:cs typeface="宋体"/>
              </a:rPr>
              <a:t>结</a:t>
            </a:r>
            <a:r>
              <a:rPr sz="2800" spc="-5" dirty="0">
                <a:latin typeface="宋体"/>
                <a:cs typeface="宋体"/>
              </a:rPr>
              <a:t>构例：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3212592"/>
            <a:ext cx="3243580" cy="2540635"/>
          </a:xfrm>
          <a:custGeom>
            <a:avLst/>
            <a:gdLst/>
            <a:ahLst/>
            <a:cxnLst/>
            <a:rect l="l" t="t" r="r" b="b"/>
            <a:pathLst>
              <a:path w="3243579" h="2540635">
                <a:moveTo>
                  <a:pt x="0" y="2540507"/>
                </a:moveTo>
                <a:lnTo>
                  <a:pt x="3243072" y="2540507"/>
                </a:lnTo>
                <a:lnTo>
                  <a:pt x="3243072" y="0"/>
                </a:lnTo>
                <a:lnTo>
                  <a:pt x="0" y="0"/>
                </a:lnTo>
                <a:lnTo>
                  <a:pt x="0" y="25405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33600" y="3933444"/>
            <a:ext cx="2510155" cy="711835"/>
          </a:xfrm>
          <a:custGeom>
            <a:avLst/>
            <a:gdLst/>
            <a:ahLst/>
            <a:cxnLst/>
            <a:rect l="l" t="t" r="r" b="b"/>
            <a:pathLst>
              <a:path w="2510154" h="711835">
                <a:moveTo>
                  <a:pt x="0" y="711707"/>
                </a:moveTo>
                <a:lnTo>
                  <a:pt x="2510028" y="711707"/>
                </a:lnTo>
                <a:lnTo>
                  <a:pt x="2510028" y="0"/>
                </a:lnTo>
                <a:lnTo>
                  <a:pt x="0" y="0"/>
                </a:lnTo>
                <a:lnTo>
                  <a:pt x="0" y="71170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96694" y="3246882"/>
            <a:ext cx="2301240" cy="1356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239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类名</a:t>
            </a:r>
            <a:endParaRPr sz="2000">
              <a:latin typeface="宋体"/>
              <a:cs typeface="宋体"/>
            </a:endParaRPr>
          </a:p>
          <a:p>
            <a:pPr marL="356235">
              <a:lnSpc>
                <a:spcPts val="2390"/>
              </a:lnSpc>
            </a:pPr>
            <a:r>
              <a:rPr sz="2000" spc="5" dirty="0">
                <a:latin typeface="Verdana"/>
                <a:cs typeface="Verdana"/>
              </a:rPr>
              <a:t>……</a:t>
            </a:r>
            <a:endParaRPr sz="2000">
              <a:latin typeface="Verdana"/>
              <a:cs typeface="Verdana"/>
            </a:endParaRPr>
          </a:p>
          <a:p>
            <a:pPr marL="228600">
              <a:lnSpc>
                <a:spcPct val="100000"/>
              </a:lnSpc>
              <a:spcBef>
                <a:spcPts val="900"/>
              </a:spcBef>
            </a:pPr>
            <a:r>
              <a:rPr sz="2000" dirty="0">
                <a:latin typeface="宋体"/>
                <a:cs typeface="宋体"/>
              </a:rPr>
              <a:t>包名：</a:t>
            </a:r>
            <a:r>
              <a:rPr sz="2000" dirty="0">
                <a:latin typeface="Verdana"/>
                <a:cs typeface="Verdana"/>
              </a:rPr>
              <a:t>vision</a:t>
            </a:r>
            <a:endParaRPr sz="2000">
              <a:latin typeface="Verdana"/>
              <a:cs typeface="Verdana"/>
            </a:endParaRPr>
          </a:p>
          <a:p>
            <a:pPr marL="584835">
              <a:lnSpc>
                <a:spcPct val="100000"/>
              </a:lnSpc>
            </a:pPr>
            <a:r>
              <a:rPr sz="2000" spc="5" dirty="0">
                <a:latin typeface="宋体"/>
                <a:cs typeface="宋体"/>
              </a:rPr>
              <a:t>类名</a:t>
            </a:r>
            <a:r>
              <a:rPr sz="2000" spc="-10" dirty="0">
                <a:latin typeface="宋体"/>
                <a:cs typeface="宋体"/>
              </a:rPr>
              <a:t>：</a:t>
            </a:r>
            <a:r>
              <a:rPr sz="2000" spc="-10" dirty="0">
                <a:latin typeface="Verdana"/>
                <a:cs typeface="Verdana"/>
              </a:rPr>
              <a:t>camera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3600" y="4869179"/>
            <a:ext cx="2726690" cy="710565"/>
          </a:xfrm>
          <a:custGeom>
            <a:avLst/>
            <a:gdLst/>
            <a:ahLst/>
            <a:cxnLst/>
            <a:rect l="l" t="t" r="r" b="b"/>
            <a:pathLst>
              <a:path w="2726690" h="710564">
                <a:moveTo>
                  <a:pt x="0" y="710184"/>
                </a:moveTo>
                <a:lnTo>
                  <a:pt x="2726436" y="710184"/>
                </a:lnTo>
                <a:lnTo>
                  <a:pt x="2726436" y="0"/>
                </a:lnTo>
                <a:lnTo>
                  <a:pt x="0" y="0"/>
                </a:lnTo>
                <a:lnTo>
                  <a:pt x="0" y="71018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25294" y="4328896"/>
            <a:ext cx="1134110" cy="121031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60"/>
              </a:spcBef>
            </a:pPr>
            <a:r>
              <a:rPr sz="2000" dirty="0">
                <a:latin typeface="Verdana"/>
                <a:cs typeface="Verdana"/>
              </a:rPr>
              <a:t>……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r>
              <a:rPr sz="2000" dirty="0">
                <a:latin typeface="宋体"/>
                <a:cs typeface="宋体"/>
              </a:rPr>
              <a:t>包名</a:t>
            </a:r>
            <a:endParaRPr sz="2000">
              <a:latin typeface="宋体"/>
              <a:cs typeface="宋体"/>
            </a:endParaRPr>
          </a:p>
          <a:p>
            <a:pPr marL="356235">
              <a:lnSpc>
                <a:spcPct val="100000"/>
              </a:lnSpc>
            </a:pPr>
            <a:r>
              <a:rPr sz="2000" dirty="0">
                <a:latin typeface="宋体"/>
                <a:cs typeface="宋体"/>
              </a:rPr>
              <a:t>类名：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178301" y="253949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包的嵌套性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4644" y="1143127"/>
            <a:ext cx="7386320" cy="14097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57785" marR="5080">
              <a:lnSpc>
                <a:spcPts val="2760"/>
              </a:lnSpc>
              <a:spcBef>
                <a:spcPts val="290"/>
              </a:spcBef>
            </a:pPr>
            <a:r>
              <a:rPr sz="2400" dirty="0">
                <a:latin typeface="宋体"/>
                <a:cs typeface="宋体"/>
              </a:rPr>
              <a:t>一个包可以嵌套在另一个包内，内层的包成分，同时属 于内层和外层两个包。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7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包的嵌套结构例</a:t>
            </a:r>
            <a:r>
              <a:rPr sz="240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99127" y="4326254"/>
            <a:ext cx="3834129" cy="870585"/>
          </a:xfrm>
          <a:custGeom>
            <a:avLst/>
            <a:gdLst/>
            <a:ahLst/>
            <a:cxnLst/>
            <a:rect l="l" t="t" r="r" b="b"/>
            <a:pathLst>
              <a:path w="3834129" h="870585">
                <a:moveTo>
                  <a:pt x="593725" y="597535"/>
                </a:moveTo>
                <a:lnTo>
                  <a:pt x="598025" y="576304"/>
                </a:lnTo>
                <a:lnTo>
                  <a:pt x="609742" y="558942"/>
                </a:lnTo>
                <a:lnTo>
                  <a:pt x="627104" y="547225"/>
                </a:lnTo>
                <a:lnTo>
                  <a:pt x="648335" y="542925"/>
                </a:lnTo>
                <a:lnTo>
                  <a:pt x="1133728" y="542925"/>
                </a:lnTo>
                <a:lnTo>
                  <a:pt x="0" y="0"/>
                </a:lnTo>
                <a:lnTo>
                  <a:pt x="1943734" y="542925"/>
                </a:lnTo>
                <a:lnTo>
                  <a:pt x="3779139" y="542925"/>
                </a:lnTo>
                <a:lnTo>
                  <a:pt x="3800369" y="547225"/>
                </a:lnTo>
                <a:lnTo>
                  <a:pt x="3817731" y="558942"/>
                </a:lnTo>
                <a:lnTo>
                  <a:pt x="3829448" y="576304"/>
                </a:lnTo>
                <a:lnTo>
                  <a:pt x="3833749" y="597535"/>
                </a:lnTo>
                <a:lnTo>
                  <a:pt x="3833749" y="679450"/>
                </a:lnTo>
                <a:lnTo>
                  <a:pt x="3833749" y="815975"/>
                </a:lnTo>
                <a:lnTo>
                  <a:pt x="3829448" y="837205"/>
                </a:lnTo>
                <a:lnTo>
                  <a:pt x="3817731" y="854567"/>
                </a:lnTo>
                <a:lnTo>
                  <a:pt x="3800369" y="866284"/>
                </a:lnTo>
                <a:lnTo>
                  <a:pt x="3779139" y="870585"/>
                </a:lnTo>
                <a:lnTo>
                  <a:pt x="1943734" y="870585"/>
                </a:lnTo>
                <a:lnTo>
                  <a:pt x="1133728" y="870585"/>
                </a:lnTo>
                <a:lnTo>
                  <a:pt x="648335" y="870585"/>
                </a:lnTo>
                <a:lnTo>
                  <a:pt x="627104" y="866284"/>
                </a:lnTo>
                <a:lnTo>
                  <a:pt x="609742" y="854567"/>
                </a:lnTo>
                <a:lnTo>
                  <a:pt x="598025" y="837205"/>
                </a:lnTo>
                <a:lnTo>
                  <a:pt x="593725" y="815975"/>
                </a:lnTo>
                <a:lnTo>
                  <a:pt x="593725" y="679450"/>
                </a:lnTo>
                <a:lnTo>
                  <a:pt x="593725" y="59753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96915" y="4917440"/>
            <a:ext cx="2705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sensor::vision::camera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05000" y="2807207"/>
            <a:ext cx="2019300" cy="4057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latin typeface="宋体"/>
                <a:cs typeface="宋体"/>
              </a:rPr>
              <a:t>包名：</a:t>
            </a:r>
            <a:r>
              <a:rPr sz="2000" dirty="0">
                <a:latin typeface="Arial"/>
                <a:cs typeface="Arial"/>
              </a:rPr>
              <a:t>sensor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4844" y="106807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包之间依赖关系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5819" y="980059"/>
            <a:ext cx="6428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引入依赖</a:t>
            </a:r>
            <a:r>
              <a:rPr sz="2400" dirty="0">
                <a:latin typeface="Times New Roman"/>
                <a:cs typeface="Times New Roman"/>
              </a:rPr>
              <a:t>---</a:t>
            </a:r>
            <a:r>
              <a:rPr sz="2400" dirty="0">
                <a:latin typeface="宋体"/>
                <a:cs typeface="宋体"/>
              </a:rPr>
              <a:t>包中可见的元素可以被另一个包引用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3886" y="1407033"/>
            <a:ext cx="1021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&lt;&lt;import&gt;&gt;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6407" y="1355216"/>
            <a:ext cx="43478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（即提供方的元素直</a:t>
            </a:r>
            <a:r>
              <a:rPr sz="2000" spc="-15" dirty="0">
                <a:latin typeface="宋体"/>
                <a:cs typeface="宋体"/>
              </a:rPr>
              <a:t>接</a:t>
            </a:r>
            <a:r>
              <a:rPr sz="2000" dirty="0">
                <a:latin typeface="宋体"/>
                <a:cs typeface="宋体"/>
              </a:rPr>
              <a:t>附加</a:t>
            </a:r>
            <a:r>
              <a:rPr sz="2000" spc="-15" dirty="0">
                <a:latin typeface="宋体"/>
                <a:cs typeface="宋体"/>
              </a:rPr>
              <a:t>到</a:t>
            </a:r>
            <a:r>
              <a:rPr sz="2000" dirty="0">
                <a:latin typeface="宋体"/>
                <a:cs typeface="宋体"/>
              </a:rPr>
              <a:t>请求</a:t>
            </a:r>
            <a:r>
              <a:rPr sz="2000" spc="-15" dirty="0">
                <a:latin typeface="宋体"/>
                <a:cs typeface="宋体"/>
              </a:rPr>
              <a:t>方</a:t>
            </a:r>
            <a:r>
              <a:rPr sz="2000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200" y="2743200"/>
            <a:ext cx="914400" cy="346075"/>
          </a:xfrm>
          <a:custGeom>
            <a:avLst/>
            <a:gdLst/>
            <a:ahLst/>
            <a:cxnLst/>
            <a:rect l="l" t="t" r="r" b="b"/>
            <a:pathLst>
              <a:path w="914400" h="346075">
                <a:moveTo>
                  <a:pt x="0" y="345948"/>
                </a:moveTo>
                <a:lnTo>
                  <a:pt x="914400" y="345948"/>
                </a:lnTo>
                <a:lnTo>
                  <a:pt x="914400" y="0"/>
                </a:lnTo>
                <a:lnTo>
                  <a:pt x="0" y="0"/>
                </a:lnTo>
                <a:lnTo>
                  <a:pt x="0" y="3459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3962" y="2770758"/>
            <a:ext cx="904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Server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19200" y="3083051"/>
            <a:ext cx="1752600" cy="589915"/>
          </a:xfrm>
          <a:custGeom>
            <a:avLst/>
            <a:gdLst/>
            <a:ahLst/>
            <a:cxnLst/>
            <a:rect l="l" t="t" r="r" b="b"/>
            <a:pathLst>
              <a:path w="1752600" h="589914">
                <a:moveTo>
                  <a:pt x="0" y="589788"/>
                </a:moveTo>
                <a:lnTo>
                  <a:pt x="1752600" y="589788"/>
                </a:lnTo>
                <a:lnTo>
                  <a:pt x="1752600" y="0"/>
                </a:lnTo>
                <a:lnTo>
                  <a:pt x="0" y="0"/>
                </a:lnTo>
                <a:lnTo>
                  <a:pt x="0" y="589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3962" y="3110611"/>
            <a:ext cx="17430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+Database</a:t>
            </a:r>
            <a:endParaRPr sz="16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+LoggingService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19200" y="4128515"/>
            <a:ext cx="914400" cy="346075"/>
          </a:xfrm>
          <a:custGeom>
            <a:avLst/>
            <a:gdLst/>
            <a:ahLst/>
            <a:cxnLst/>
            <a:rect l="l" t="t" r="r" b="b"/>
            <a:pathLst>
              <a:path w="914400" h="346075">
                <a:moveTo>
                  <a:pt x="0" y="345948"/>
                </a:moveTo>
                <a:lnTo>
                  <a:pt x="914400" y="345948"/>
                </a:lnTo>
                <a:lnTo>
                  <a:pt x="914400" y="0"/>
                </a:lnTo>
                <a:lnTo>
                  <a:pt x="0" y="0"/>
                </a:lnTo>
                <a:lnTo>
                  <a:pt x="0" y="3459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23962" y="4156964"/>
            <a:ext cx="904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GUI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19200" y="4468367"/>
            <a:ext cx="1752600" cy="835660"/>
          </a:xfrm>
          <a:custGeom>
            <a:avLst/>
            <a:gdLst/>
            <a:ahLst/>
            <a:cxnLst/>
            <a:rect l="l" t="t" r="r" b="b"/>
            <a:pathLst>
              <a:path w="1752600" h="835660">
                <a:moveTo>
                  <a:pt x="0" y="835152"/>
                </a:moveTo>
                <a:lnTo>
                  <a:pt x="1752600" y="835152"/>
                </a:lnTo>
                <a:lnTo>
                  <a:pt x="17526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23962" y="4496815"/>
            <a:ext cx="17430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Times New Roman"/>
                <a:cs typeface="Times New Roman"/>
              </a:rPr>
              <a:t>+Windoes</a:t>
            </a:r>
            <a:endParaRPr sz="16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+Form</a:t>
            </a:r>
            <a:endParaRPr sz="1600">
              <a:latin typeface="Times New Roman"/>
              <a:cs typeface="Times New Roman"/>
            </a:endParaRPr>
          </a:p>
          <a:p>
            <a:pPr marL="8636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+EventHandler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86200" y="3250692"/>
            <a:ext cx="914400" cy="346075"/>
          </a:xfrm>
          <a:custGeom>
            <a:avLst/>
            <a:gdLst/>
            <a:ahLst/>
            <a:cxnLst/>
            <a:rect l="l" t="t" r="r" b="b"/>
            <a:pathLst>
              <a:path w="914400" h="346075">
                <a:moveTo>
                  <a:pt x="0" y="345948"/>
                </a:moveTo>
                <a:lnTo>
                  <a:pt x="914400" y="345948"/>
                </a:lnTo>
                <a:lnTo>
                  <a:pt x="914400" y="0"/>
                </a:lnTo>
                <a:lnTo>
                  <a:pt x="0" y="0"/>
                </a:lnTo>
                <a:lnTo>
                  <a:pt x="0" y="3459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90962" y="3278886"/>
            <a:ext cx="904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Policies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86200" y="3605784"/>
            <a:ext cx="1371600" cy="589915"/>
          </a:xfrm>
          <a:custGeom>
            <a:avLst/>
            <a:gdLst/>
            <a:ahLst/>
            <a:cxnLst/>
            <a:rect l="l" t="t" r="r" b="b"/>
            <a:pathLst>
              <a:path w="1371600" h="589914">
                <a:moveTo>
                  <a:pt x="0" y="589788"/>
                </a:moveTo>
                <a:lnTo>
                  <a:pt x="1371600" y="589788"/>
                </a:lnTo>
                <a:lnTo>
                  <a:pt x="1371600" y="0"/>
                </a:lnTo>
                <a:lnTo>
                  <a:pt x="0" y="0"/>
                </a:lnTo>
                <a:lnTo>
                  <a:pt x="0" y="589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90962" y="3632961"/>
            <a:ext cx="13620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+OrderRules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553200" y="2514600"/>
            <a:ext cx="914400" cy="346075"/>
          </a:xfrm>
          <a:custGeom>
            <a:avLst/>
            <a:gdLst/>
            <a:ahLst/>
            <a:cxnLst/>
            <a:rect l="l" t="t" r="r" b="b"/>
            <a:pathLst>
              <a:path w="914400" h="346075">
                <a:moveTo>
                  <a:pt x="0" y="345948"/>
                </a:moveTo>
                <a:lnTo>
                  <a:pt x="914400" y="345948"/>
                </a:lnTo>
                <a:lnTo>
                  <a:pt x="914400" y="0"/>
                </a:lnTo>
                <a:lnTo>
                  <a:pt x="0" y="0"/>
                </a:lnTo>
                <a:lnTo>
                  <a:pt x="0" y="34594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245819" y="1778999"/>
            <a:ext cx="6428105" cy="10318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dirty="0">
                <a:latin typeface="宋体"/>
                <a:cs typeface="宋体"/>
              </a:rPr>
              <a:t>访问依赖</a:t>
            </a:r>
            <a:r>
              <a:rPr sz="2400" dirty="0">
                <a:latin typeface="Times New Roman"/>
                <a:cs typeface="Times New Roman"/>
              </a:rPr>
              <a:t>---</a:t>
            </a:r>
            <a:r>
              <a:rPr sz="2400" dirty="0">
                <a:latin typeface="宋体"/>
                <a:cs typeface="宋体"/>
              </a:rPr>
              <a:t>包中可见的元素可以被另一个包使用</a:t>
            </a:r>
            <a:endParaRPr sz="2400">
              <a:latin typeface="宋体"/>
              <a:cs typeface="宋体"/>
            </a:endParaRPr>
          </a:p>
          <a:p>
            <a:pPr marL="165100">
              <a:lnSpc>
                <a:spcPts val="2365"/>
              </a:lnSpc>
              <a:spcBef>
                <a:spcPts val="365"/>
              </a:spcBef>
              <a:tabLst>
                <a:tab pos="1448435" algn="l"/>
              </a:tabLst>
            </a:pPr>
            <a:r>
              <a:rPr sz="1600" spc="-5" dirty="0">
                <a:latin typeface="Times New Roman"/>
                <a:cs typeface="Times New Roman"/>
              </a:rPr>
              <a:t>&lt;&lt;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access&gt;&gt;	</a:t>
            </a:r>
            <a:r>
              <a:rPr sz="2000" dirty="0">
                <a:latin typeface="宋体"/>
                <a:cs typeface="宋体"/>
              </a:rPr>
              <a:t>（请求方直接使用提</a:t>
            </a:r>
            <a:r>
              <a:rPr sz="2000" spc="-15" dirty="0">
                <a:latin typeface="宋体"/>
                <a:cs typeface="宋体"/>
              </a:rPr>
              <a:t>供</a:t>
            </a:r>
            <a:r>
              <a:rPr sz="2000" dirty="0">
                <a:latin typeface="宋体"/>
                <a:cs typeface="宋体"/>
              </a:rPr>
              <a:t>方的</a:t>
            </a:r>
            <a:r>
              <a:rPr sz="2000" spc="-15" dirty="0">
                <a:latin typeface="宋体"/>
                <a:cs typeface="宋体"/>
              </a:rPr>
              <a:t>元</a:t>
            </a:r>
            <a:r>
              <a:rPr sz="2000" dirty="0">
                <a:latin typeface="宋体"/>
                <a:cs typeface="宋体"/>
              </a:rPr>
              <a:t>素）</a:t>
            </a:r>
            <a:endParaRPr sz="2000">
              <a:latin typeface="宋体"/>
              <a:cs typeface="宋体"/>
            </a:endParaRPr>
          </a:p>
          <a:p>
            <a:pPr marR="523240" algn="r">
              <a:lnSpc>
                <a:spcPts val="1885"/>
              </a:lnSpc>
            </a:pPr>
            <a:r>
              <a:rPr sz="1600" spc="-5" dirty="0">
                <a:latin typeface="Times New Roman"/>
                <a:cs typeface="Times New Roman"/>
              </a:rPr>
              <a:t>Clie</a:t>
            </a:r>
            <a:r>
              <a:rPr sz="1600" dirty="0">
                <a:latin typeface="Times New Roman"/>
                <a:cs typeface="Times New Roman"/>
              </a:rPr>
              <a:t>n</a:t>
            </a:r>
            <a:r>
              <a:rPr sz="1600" spc="-5" dirty="0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53200" y="2854451"/>
            <a:ext cx="1752600" cy="835660"/>
          </a:xfrm>
          <a:custGeom>
            <a:avLst/>
            <a:gdLst/>
            <a:ahLst/>
            <a:cxnLst/>
            <a:rect l="l" t="t" r="r" b="b"/>
            <a:pathLst>
              <a:path w="1752600" h="835660">
                <a:moveTo>
                  <a:pt x="0" y="835152"/>
                </a:moveTo>
                <a:lnTo>
                  <a:pt x="1752600" y="835152"/>
                </a:lnTo>
                <a:lnTo>
                  <a:pt x="1752600" y="0"/>
                </a:lnTo>
                <a:lnTo>
                  <a:pt x="0" y="0"/>
                </a:lnTo>
                <a:lnTo>
                  <a:pt x="0" y="83515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557962" y="2882011"/>
            <a:ext cx="17430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+OrderForm</a:t>
            </a:r>
            <a:endParaRPr sz="16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sz="1600" spc="-10" dirty="0">
                <a:latin typeface="Times New Roman"/>
                <a:cs typeface="Times New Roman"/>
              </a:rPr>
              <a:t>+TrackingForm</a:t>
            </a:r>
            <a:endParaRPr sz="16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-Order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93594" y="4066413"/>
            <a:ext cx="11061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&lt;&lt; access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09800" y="3727703"/>
            <a:ext cx="1678305" cy="561975"/>
          </a:xfrm>
          <a:custGeom>
            <a:avLst/>
            <a:gdLst/>
            <a:ahLst/>
            <a:cxnLst/>
            <a:rect l="l" t="t" r="r" b="b"/>
            <a:pathLst>
              <a:path w="1678304" h="561975">
                <a:moveTo>
                  <a:pt x="1674495" y="0"/>
                </a:moveTo>
                <a:lnTo>
                  <a:pt x="1626108" y="15494"/>
                </a:lnTo>
                <a:lnTo>
                  <a:pt x="1629917" y="27559"/>
                </a:lnTo>
                <a:lnTo>
                  <a:pt x="1678304" y="12192"/>
                </a:lnTo>
                <a:lnTo>
                  <a:pt x="1674495" y="0"/>
                </a:lnTo>
                <a:close/>
              </a:path>
              <a:path w="1678304" h="561975">
                <a:moveTo>
                  <a:pt x="1589786" y="27051"/>
                </a:moveTo>
                <a:lnTo>
                  <a:pt x="1541399" y="42418"/>
                </a:lnTo>
                <a:lnTo>
                  <a:pt x="1545209" y="54483"/>
                </a:lnTo>
                <a:lnTo>
                  <a:pt x="1593596" y="39116"/>
                </a:lnTo>
                <a:lnTo>
                  <a:pt x="1589786" y="27051"/>
                </a:lnTo>
                <a:close/>
              </a:path>
              <a:path w="1678304" h="561975">
                <a:moveTo>
                  <a:pt x="1505077" y="53975"/>
                </a:moveTo>
                <a:lnTo>
                  <a:pt x="1456689" y="69342"/>
                </a:lnTo>
                <a:lnTo>
                  <a:pt x="1460500" y="81407"/>
                </a:lnTo>
                <a:lnTo>
                  <a:pt x="1508887" y="66040"/>
                </a:lnTo>
                <a:lnTo>
                  <a:pt x="1505077" y="53975"/>
                </a:lnTo>
                <a:close/>
              </a:path>
              <a:path w="1678304" h="561975">
                <a:moveTo>
                  <a:pt x="1420367" y="80899"/>
                </a:moveTo>
                <a:lnTo>
                  <a:pt x="1371980" y="96266"/>
                </a:lnTo>
                <a:lnTo>
                  <a:pt x="1375790" y="108458"/>
                </a:lnTo>
                <a:lnTo>
                  <a:pt x="1424177" y="92964"/>
                </a:lnTo>
                <a:lnTo>
                  <a:pt x="1420367" y="80899"/>
                </a:lnTo>
                <a:close/>
              </a:path>
              <a:path w="1678304" h="561975">
                <a:moveTo>
                  <a:pt x="1335659" y="107823"/>
                </a:moveTo>
                <a:lnTo>
                  <a:pt x="1287145" y="123317"/>
                </a:lnTo>
                <a:lnTo>
                  <a:pt x="1291082" y="135382"/>
                </a:lnTo>
                <a:lnTo>
                  <a:pt x="1339469" y="120015"/>
                </a:lnTo>
                <a:lnTo>
                  <a:pt x="1335659" y="107823"/>
                </a:lnTo>
                <a:close/>
              </a:path>
              <a:path w="1678304" h="561975">
                <a:moveTo>
                  <a:pt x="1250950" y="134874"/>
                </a:moveTo>
                <a:lnTo>
                  <a:pt x="1202436" y="150241"/>
                </a:lnTo>
                <a:lnTo>
                  <a:pt x="1206373" y="162306"/>
                </a:lnTo>
                <a:lnTo>
                  <a:pt x="1254760" y="146939"/>
                </a:lnTo>
                <a:lnTo>
                  <a:pt x="1250950" y="134874"/>
                </a:lnTo>
                <a:close/>
              </a:path>
              <a:path w="1678304" h="561975">
                <a:moveTo>
                  <a:pt x="1166240" y="161798"/>
                </a:moveTo>
                <a:lnTo>
                  <a:pt x="1117727" y="177165"/>
                </a:lnTo>
                <a:lnTo>
                  <a:pt x="1121664" y="189230"/>
                </a:lnTo>
                <a:lnTo>
                  <a:pt x="1170051" y="173863"/>
                </a:lnTo>
                <a:lnTo>
                  <a:pt x="1166240" y="161798"/>
                </a:lnTo>
                <a:close/>
              </a:path>
              <a:path w="1678304" h="561975">
                <a:moveTo>
                  <a:pt x="1081532" y="188722"/>
                </a:moveTo>
                <a:lnTo>
                  <a:pt x="1033018" y="204089"/>
                </a:lnTo>
                <a:lnTo>
                  <a:pt x="1036955" y="216281"/>
                </a:lnTo>
                <a:lnTo>
                  <a:pt x="1085341" y="200787"/>
                </a:lnTo>
                <a:lnTo>
                  <a:pt x="1081532" y="188722"/>
                </a:lnTo>
                <a:close/>
              </a:path>
              <a:path w="1678304" h="561975">
                <a:moveTo>
                  <a:pt x="996695" y="215646"/>
                </a:moveTo>
                <a:lnTo>
                  <a:pt x="948308" y="231140"/>
                </a:lnTo>
                <a:lnTo>
                  <a:pt x="952245" y="243205"/>
                </a:lnTo>
                <a:lnTo>
                  <a:pt x="1000632" y="227838"/>
                </a:lnTo>
                <a:lnTo>
                  <a:pt x="996695" y="215646"/>
                </a:lnTo>
                <a:close/>
              </a:path>
              <a:path w="1678304" h="561975">
                <a:moveTo>
                  <a:pt x="911987" y="242697"/>
                </a:moveTo>
                <a:lnTo>
                  <a:pt x="863600" y="258064"/>
                </a:lnTo>
                <a:lnTo>
                  <a:pt x="867537" y="270129"/>
                </a:lnTo>
                <a:lnTo>
                  <a:pt x="915924" y="254762"/>
                </a:lnTo>
                <a:lnTo>
                  <a:pt x="911987" y="242697"/>
                </a:lnTo>
                <a:close/>
              </a:path>
              <a:path w="1678304" h="561975">
                <a:moveTo>
                  <a:pt x="827277" y="269621"/>
                </a:moveTo>
                <a:lnTo>
                  <a:pt x="778891" y="284988"/>
                </a:lnTo>
                <a:lnTo>
                  <a:pt x="782827" y="297053"/>
                </a:lnTo>
                <a:lnTo>
                  <a:pt x="831214" y="281686"/>
                </a:lnTo>
                <a:lnTo>
                  <a:pt x="827277" y="269621"/>
                </a:lnTo>
                <a:close/>
              </a:path>
              <a:path w="1678304" h="561975">
                <a:moveTo>
                  <a:pt x="742569" y="296545"/>
                </a:moveTo>
                <a:lnTo>
                  <a:pt x="694182" y="311912"/>
                </a:lnTo>
                <a:lnTo>
                  <a:pt x="697992" y="324104"/>
                </a:lnTo>
                <a:lnTo>
                  <a:pt x="746506" y="308610"/>
                </a:lnTo>
                <a:lnTo>
                  <a:pt x="742569" y="296545"/>
                </a:lnTo>
                <a:close/>
              </a:path>
              <a:path w="1678304" h="561975">
                <a:moveTo>
                  <a:pt x="657860" y="323469"/>
                </a:moveTo>
                <a:lnTo>
                  <a:pt x="609473" y="338963"/>
                </a:lnTo>
                <a:lnTo>
                  <a:pt x="613282" y="351028"/>
                </a:lnTo>
                <a:lnTo>
                  <a:pt x="661797" y="335661"/>
                </a:lnTo>
                <a:lnTo>
                  <a:pt x="657860" y="323469"/>
                </a:lnTo>
                <a:close/>
              </a:path>
              <a:path w="1678304" h="561975">
                <a:moveTo>
                  <a:pt x="573151" y="350393"/>
                </a:moveTo>
                <a:lnTo>
                  <a:pt x="524763" y="365887"/>
                </a:lnTo>
                <a:lnTo>
                  <a:pt x="528574" y="377952"/>
                </a:lnTo>
                <a:lnTo>
                  <a:pt x="577088" y="362585"/>
                </a:lnTo>
                <a:lnTo>
                  <a:pt x="573151" y="350393"/>
                </a:lnTo>
                <a:close/>
              </a:path>
              <a:path w="1678304" h="561975">
                <a:moveTo>
                  <a:pt x="488442" y="377444"/>
                </a:moveTo>
                <a:lnTo>
                  <a:pt x="440055" y="392811"/>
                </a:lnTo>
                <a:lnTo>
                  <a:pt x="443864" y="404876"/>
                </a:lnTo>
                <a:lnTo>
                  <a:pt x="492251" y="389509"/>
                </a:lnTo>
                <a:lnTo>
                  <a:pt x="488442" y="377444"/>
                </a:lnTo>
                <a:close/>
              </a:path>
              <a:path w="1678304" h="561975">
                <a:moveTo>
                  <a:pt x="403732" y="404368"/>
                </a:moveTo>
                <a:lnTo>
                  <a:pt x="355345" y="419735"/>
                </a:lnTo>
                <a:lnTo>
                  <a:pt x="359156" y="431927"/>
                </a:lnTo>
                <a:lnTo>
                  <a:pt x="407543" y="416433"/>
                </a:lnTo>
                <a:lnTo>
                  <a:pt x="403732" y="404368"/>
                </a:lnTo>
                <a:close/>
              </a:path>
              <a:path w="1678304" h="561975">
                <a:moveTo>
                  <a:pt x="319024" y="431292"/>
                </a:moveTo>
                <a:lnTo>
                  <a:pt x="270637" y="446659"/>
                </a:lnTo>
                <a:lnTo>
                  <a:pt x="274447" y="458851"/>
                </a:lnTo>
                <a:lnTo>
                  <a:pt x="322833" y="443484"/>
                </a:lnTo>
                <a:lnTo>
                  <a:pt x="319024" y="431292"/>
                </a:lnTo>
                <a:close/>
              </a:path>
              <a:path w="1678304" h="561975">
                <a:moveTo>
                  <a:pt x="234314" y="458216"/>
                </a:moveTo>
                <a:lnTo>
                  <a:pt x="185927" y="473710"/>
                </a:lnTo>
                <a:lnTo>
                  <a:pt x="189737" y="485775"/>
                </a:lnTo>
                <a:lnTo>
                  <a:pt x="238125" y="470408"/>
                </a:lnTo>
                <a:lnTo>
                  <a:pt x="234314" y="458216"/>
                </a:lnTo>
                <a:close/>
              </a:path>
              <a:path w="1678304" h="561975">
                <a:moveTo>
                  <a:pt x="72770" y="463169"/>
                </a:moveTo>
                <a:lnTo>
                  <a:pt x="68706" y="463423"/>
                </a:lnTo>
                <a:lnTo>
                  <a:pt x="0" y="539496"/>
                </a:lnTo>
                <a:lnTo>
                  <a:pt x="100075" y="561848"/>
                </a:lnTo>
                <a:lnTo>
                  <a:pt x="103505" y="559689"/>
                </a:lnTo>
                <a:lnTo>
                  <a:pt x="104267" y="556260"/>
                </a:lnTo>
                <a:lnTo>
                  <a:pt x="105029" y="552958"/>
                </a:lnTo>
                <a:lnTo>
                  <a:pt x="102869" y="549529"/>
                </a:lnTo>
                <a:lnTo>
                  <a:pt x="59802" y="539877"/>
                </a:lnTo>
                <a:lnTo>
                  <a:pt x="16637" y="539877"/>
                </a:lnTo>
                <a:lnTo>
                  <a:pt x="13335" y="529463"/>
                </a:lnTo>
                <a:lnTo>
                  <a:pt x="17105" y="529463"/>
                </a:lnTo>
                <a:lnTo>
                  <a:pt x="16510" y="527558"/>
                </a:lnTo>
                <a:lnTo>
                  <a:pt x="32330" y="522533"/>
                </a:lnTo>
                <a:lnTo>
                  <a:pt x="75818" y="474472"/>
                </a:lnTo>
                <a:lnTo>
                  <a:pt x="78231" y="471932"/>
                </a:lnTo>
                <a:lnTo>
                  <a:pt x="77977" y="467868"/>
                </a:lnTo>
                <a:lnTo>
                  <a:pt x="72770" y="463169"/>
                </a:lnTo>
                <a:close/>
              </a:path>
              <a:path w="1678304" h="561975">
                <a:moveTo>
                  <a:pt x="13335" y="529463"/>
                </a:moveTo>
                <a:lnTo>
                  <a:pt x="16637" y="539877"/>
                </a:lnTo>
                <a:lnTo>
                  <a:pt x="19404" y="536818"/>
                </a:lnTo>
                <a:lnTo>
                  <a:pt x="17389" y="530371"/>
                </a:lnTo>
                <a:lnTo>
                  <a:pt x="13335" y="529463"/>
                </a:lnTo>
                <a:close/>
              </a:path>
              <a:path w="1678304" h="561975">
                <a:moveTo>
                  <a:pt x="19404" y="536818"/>
                </a:moveTo>
                <a:lnTo>
                  <a:pt x="16637" y="539877"/>
                </a:lnTo>
                <a:lnTo>
                  <a:pt x="59802" y="539877"/>
                </a:lnTo>
                <a:lnTo>
                  <a:pt x="59235" y="539750"/>
                </a:lnTo>
                <a:lnTo>
                  <a:pt x="20319" y="539750"/>
                </a:lnTo>
                <a:lnTo>
                  <a:pt x="19404" y="536818"/>
                </a:lnTo>
                <a:close/>
              </a:path>
              <a:path w="1678304" h="561975">
                <a:moveTo>
                  <a:pt x="23914" y="531834"/>
                </a:moveTo>
                <a:lnTo>
                  <a:pt x="19404" y="536818"/>
                </a:lnTo>
                <a:lnTo>
                  <a:pt x="20319" y="539750"/>
                </a:lnTo>
                <a:lnTo>
                  <a:pt x="36342" y="534619"/>
                </a:lnTo>
                <a:lnTo>
                  <a:pt x="23914" y="531834"/>
                </a:lnTo>
                <a:close/>
              </a:path>
              <a:path w="1678304" h="561975">
                <a:moveTo>
                  <a:pt x="36342" y="534619"/>
                </a:moveTo>
                <a:lnTo>
                  <a:pt x="20319" y="539750"/>
                </a:lnTo>
                <a:lnTo>
                  <a:pt x="59235" y="539750"/>
                </a:lnTo>
                <a:lnTo>
                  <a:pt x="36342" y="534619"/>
                </a:lnTo>
                <a:close/>
              </a:path>
              <a:path w="1678304" h="561975">
                <a:moveTo>
                  <a:pt x="17389" y="530371"/>
                </a:moveTo>
                <a:lnTo>
                  <a:pt x="19404" y="536818"/>
                </a:lnTo>
                <a:lnTo>
                  <a:pt x="23914" y="531834"/>
                </a:lnTo>
                <a:lnTo>
                  <a:pt x="17389" y="530371"/>
                </a:lnTo>
                <a:close/>
              </a:path>
              <a:path w="1678304" h="561975">
                <a:moveTo>
                  <a:pt x="64897" y="512191"/>
                </a:moveTo>
                <a:lnTo>
                  <a:pt x="32330" y="522533"/>
                </a:lnTo>
                <a:lnTo>
                  <a:pt x="23914" y="531834"/>
                </a:lnTo>
                <a:lnTo>
                  <a:pt x="36342" y="534619"/>
                </a:lnTo>
                <a:lnTo>
                  <a:pt x="68706" y="524256"/>
                </a:lnTo>
                <a:lnTo>
                  <a:pt x="64897" y="512191"/>
                </a:lnTo>
                <a:close/>
              </a:path>
              <a:path w="1678304" h="561975">
                <a:moveTo>
                  <a:pt x="32330" y="522533"/>
                </a:moveTo>
                <a:lnTo>
                  <a:pt x="16510" y="527558"/>
                </a:lnTo>
                <a:lnTo>
                  <a:pt x="17389" y="530371"/>
                </a:lnTo>
                <a:lnTo>
                  <a:pt x="23914" y="531834"/>
                </a:lnTo>
                <a:lnTo>
                  <a:pt x="32330" y="522533"/>
                </a:lnTo>
                <a:close/>
              </a:path>
              <a:path w="1678304" h="561975">
                <a:moveTo>
                  <a:pt x="17105" y="529463"/>
                </a:moveTo>
                <a:lnTo>
                  <a:pt x="13335" y="529463"/>
                </a:lnTo>
                <a:lnTo>
                  <a:pt x="17389" y="530371"/>
                </a:lnTo>
                <a:lnTo>
                  <a:pt x="17105" y="529463"/>
                </a:lnTo>
                <a:close/>
              </a:path>
              <a:path w="1678304" h="561975">
                <a:moveTo>
                  <a:pt x="149606" y="485267"/>
                </a:moveTo>
                <a:lnTo>
                  <a:pt x="101218" y="500634"/>
                </a:lnTo>
                <a:lnTo>
                  <a:pt x="105029" y="512699"/>
                </a:lnTo>
                <a:lnTo>
                  <a:pt x="153416" y="497332"/>
                </a:lnTo>
                <a:lnTo>
                  <a:pt x="149606" y="4852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6800" y="2894202"/>
            <a:ext cx="1602740" cy="560705"/>
          </a:xfrm>
          <a:custGeom>
            <a:avLst/>
            <a:gdLst/>
            <a:ahLst/>
            <a:cxnLst/>
            <a:rect l="l" t="t" r="r" b="b"/>
            <a:pathLst>
              <a:path w="1602739" h="560704">
                <a:moveTo>
                  <a:pt x="1598167" y="0"/>
                </a:moveTo>
                <a:lnTo>
                  <a:pt x="1550035" y="16001"/>
                </a:lnTo>
                <a:lnTo>
                  <a:pt x="1553972" y="28067"/>
                </a:lnTo>
                <a:lnTo>
                  <a:pt x="1602232" y="11937"/>
                </a:lnTo>
                <a:lnTo>
                  <a:pt x="1598167" y="0"/>
                </a:lnTo>
                <a:close/>
              </a:path>
              <a:path w="1602739" h="560704">
                <a:moveTo>
                  <a:pt x="1513839" y="28067"/>
                </a:moveTo>
                <a:lnTo>
                  <a:pt x="1465707" y="44069"/>
                </a:lnTo>
                <a:lnTo>
                  <a:pt x="1469644" y="56134"/>
                </a:lnTo>
                <a:lnTo>
                  <a:pt x="1517903" y="40132"/>
                </a:lnTo>
                <a:lnTo>
                  <a:pt x="1513839" y="28067"/>
                </a:lnTo>
                <a:close/>
              </a:path>
              <a:path w="1602739" h="560704">
                <a:moveTo>
                  <a:pt x="1429512" y="56134"/>
                </a:moveTo>
                <a:lnTo>
                  <a:pt x="1381378" y="72262"/>
                </a:lnTo>
                <a:lnTo>
                  <a:pt x="1385315" y="84327"/>
                </a:lnTo>
                <a:lnTo>
                  <a:pt x="1433576" y="68199"/>
                </a:lnTo>
                <a:lnTo>
                  <a:pt x="1429512" y="56134"/>
                </a:lnTo>
                <a:close/>
              </a:path>
              <a:path w="1602739" h="560704">
                <a:moveTo>
                  <a:pt x="1345184" y="84327"/>
                </a:moveTo>
                <a:lnTo>
                  <a:pt x="1296924" y="100330"/>
                </a:lnTo>
                <a:lnTo>
                  <a:pt x="1300988" y="112395"/>
                </a:lnTo>
                <a:lnTo>
                  <a:pt x="1349248" y="96393"/>
                </a:lnTo>
                <a:lnTo>
                  <a:pt x="1345184" y="84327"/>
                </a:lnTo>
                <a:close/>
              </a:path>
              <a:path w="1602739" h="560704">
                <a:moveTo>
                  <a:pt x="1260855" y="112395"/>
                </a:moveTo>
                <a:lnTo>
                  <a:pt x="1212596" y="128397"/>
                </a:lnTo>
                <a:lnTo>
                  <a:pt x="1216660" y="140462"/>
                </a:lnTo>
                <a:lnTo>
                  <a:pt x="1264920" y="124460"/>
                </a:lnTo>
                <a:lnTo>
                  <a:pt x="1260855" y="112395"/>
                </a:lnTo>
                <a:close/>
              </a:path>
              <a:path w="1602739" h="560704">
                <a:moveTo>
                  <a:pt x="1176527" y="140462"/>
                </a:moveTo>
                <a:lnTo>
                  <a:pt x="1128267" y="156591"/>
                </a:lnTo>
                <a:lnTo>
                  <a:pt x="1132332" y="168656"/>
                </a:lnTo>
                <a:lnTo>
                  <a:pt x="1180464" y="152526"/>
                </a:lnTo>
                <a:lnTo>
                  <a:pt x="1176527" y="140462"/>
                </a:lnTo>
                <a:close/>
              </a:path>
              <a:path w="1602739" h="560704">
                <a:moveTo>
                  <a:pt x="1092200" y="168656"/>
                </a:moveTo>
                <a:lnTo>
                  <a:pt x="1043939" y="184658"/>
                </a:lnTo>
                <a:lnTo>
                  <a:pt x="1048003" y="196723"/>
                </a:lnTo>
                <a:lnTo>
                  <a:pt x="1096137" y="180721"/>
                </a:lnTo>
                <a:lnTo>
                  <a:pt x="1092200" y="168656"/>
                </a:lnTo>
                <a:close/>
              </a:path>
              <a:path w="1602739" h="560704">
                <a:moveTo>
                  <a:pt x="1007872" y="196723"/>
                </a:moveTo>
                <a:lnTo>
                  <a:pt x="959612" y="212851"/>
                </a:lnTo>
                <a:lnTo>
                  <a:pt x="963676" y="224789"/>
                </a:lnTo>
                <a:lnTo>
                  <a:pt x="1011809" y="208787"/>
                </a:lnTo>
                <a:lnTo>
                  <a:pt x="1007872" y="196723"/>
                </a:lnTo>
                <a:close/>
              </a:path>
              <a:path w="1602739" h="560704">
                <a:moveTo>
                  <a:pt x="923544" y="224789"/>
                </a:moveTo>
                <a:lnTo>
                  <a:pt x="875284" y="240919"/>
                </a:lnTo>
                <a:lnTo>
                  <a:pt x="879348" y="252984"/>
                </a:lnTo>
                <a:lnTo>
                  <a:pt x="927480" y="236855"/>
                </a:lnTo>
                <a:lnTo>
                  <a:pt x="923544" y="224789"/>
                </a:lnTo>
                <a:close/>
              </a:path>
              <a:path w="1602739" h="560704">
                <a:moveTo>
                  <a:pt x="839088" y="252984"/>
                </a:moveTo>
                <a:lnTo>
                  <a:pt x="790955" y="268986"/>
                </a:lnTo>
                <a:lnTo>
                  <a:pt x="795020" y="281050"/>
                </a:lnTo>
                <a:lnTo>
                  <a:pt x="843152" y="265049"/>
                </a:lnTo>
                <a:lnTo>
                  <a:pt x="839088" y="252984"/>
                </a:lnTo>
                <a:close/>
              </a:path>
              <a:path w="1602739" h="560704">
                <a:moveTo>
                  <a:pt x="754761" y="281050"/>
                </a:moveTo>
                <a:lnTo>
                  <a:pt x="706627" y="297180"/>
                </a:lnTo>
                <a:lnTo>
                  <a:pt x="710691" y="309245"/>
                </a:lnTo>
                <a:lnTo>
                  <a:pt x="758825" y="293116"/>
                </a:lnTo>
                <a:lnTo>
                  <a:pt x="754761" y="281050"/>
                </a:lnTo>
                <a:close/>
              </a:path>
              <a:path w="1602739" h="560704">
                <a:moveTo>
                  <a:pt x="670433" y="309245"/>
                </a:moveTo>
                <a:lnTo>
                  <a:pt x="622300" y="325247"/>
                </a:lnTo>
                <a:lnTo>
                  <a:pt x="626237" y="337312"/>
                </a:lnTo>
                <a:lnTo>
                  <a:pt x="674497" y="321183"/>
                </a:lnTo>
                <a:lnTo>
                  <a:pt x="670433" y="309245"/>
                </a:lnTo>
                <a:close/>
              </a:path>
              <a:path w="1602739" h="560704">
                <a:moveTo>
                  <a:pt x="586104" y="337312"/>
                </a:moveTo>
                <a:lnTo>
                  <a:pt x="537972" y="353313"/>
                </a:lnTo>
                <a:lnTo>
                  <a:pt x="541909" y="365379"/>
                </a:lnTo>
                <a:lnTo>
                  <a:pt x="590169" y="349376"/>
                </a:lnTo>
                <a:lnTo>
                  <a:pt x="586104" y="337312"/>
                </a:lnTo>
                <a:close/>
              </a:path>
              <a:path w="1602739" h="560704">
                <a:moveTo>
                  <a:pt x="501776" y="365379"/>
                </a:moveTo>
                <a:lnTo>
                  <a:pt x="453644" y="381508"/>
                </a:lnTo>
                <a:lnTo>
                  <a:pt x="457580" y="393573"/>
                </a:lnTo>
                <a:lnTo>
                  <a:pt x="505840" y="377444"/>
                </a:lnTo>
                <a:lnTo>
                  <a:pt x="501776" y="365379"/>
                </a:lnTo>
                <a:close/>
              </a:path>
              <a:path w="1602739" h="560704">
                <a:moveTo>
                  <a:pt x="417449" y="393573"/>
                </a:moveTo>
                <a:lnTo>
                  <a:pt x="369315" y="409575"/>
                </a:lnTo>
                <a:lnTo>
                  <a:pt x="373252" y="421639"/>
                </a:lnTo>
                <a:lnTo>
                  <a:pt x="421513" y="405511"/>
                </a:lnTo>
                <a:lnTo>
                  <a:pt x="417449" y="393573"/>
                </a:lnTo>
                <a:close/>
              </a:path>
              <a:path w="1602739" h="560704">
                <a:moveTo>
                  <a:pt x="333121" y="421639"/>
                </a:moveTo>
                <a:lnTo>
                  <a:pt x="284988" y="437642"/>
                </a:lnTo>
                <a:lnTo>
                  <a:pt x="288925" y="449707"/>
                </a:lnTo>
                <a:lnTo>
                  <a:pt x="337185" y="433705"/>
                </a:lnTo>
                <a:lnTo>
                  <a:pt x="333121" y="421639"/>
                </a:lnTo>
                <a:close/>
              </a:path>
              <a:path w="1602739" h="560704">
                <a:moveTo>
                  <a:pt x="248792" y="449707"/>
                </a:moveTo>
                <a:lnTo>
                  <a:pt x="200533" y="465836"/>
                </a:lnTo>
                <a:lnTo>
                  <a:pt x="204597" y="477900"/>
                </a:lnTo>
                <a:lnTo>
                  <a:pt x="252857" y="461772"/>
                </a:lnTo>
                <a:lnTo>
                  <a:pt x="248792" y="449707"/>
                </a:lnTo>
                <a:close/>
              </a:path>
              <a:path w="1602739" h="560704">
                <a:moveTo>
                  <a:pt x="164464" y="477900"/>
                </a:moveTo>
                <a:lnTo>
                  <a:pt x="116204" y="493902"/>
                </a:lnTo>
                <a:lnTo>
                  <a:pt x="120269" y="505968"/>
                </a:lnTo>
                <a:lnTo>
                  <a:pt x="168401" y="489966"/>
                </a:lnTo>
                <a:lnTo>
                  <a:pt x="164464" y="477900"/>
                </a:lnTo>
                <a:close/>
              </a:path>
              <a:path w="1602739" h="560704">
                <a:moveTo>
                  <a:pt x="71754" y="462025"/>
                </a:moveTo>
                <a:lnTo>
                  <a:pt x="67690" y="462280"/>
                </a:lnTo>
                <a:lnTo>
                  <a:pt x="65404" y="464947"/>
                </a:lnTo>
                <a:lnTo>
                  <a:pt x="0" y="539369"/>
                </a:lnTo>
                <a:lnTo>
                  <a:pt x="97027" y="559688"/>
                </a:lnTo>
                <a:lnTo>
                  <a:pt x="100457" y="560451"/>
                </a:lnTo>
                <a:lnTo>
                  <a:pt x="103759" y="558164"/>
                </a:lnTo>
                <a:lnTo>
                  <a:pt x="104521" y="554736"/>
                </a:lnTo>
                <a:lnTo>
                  <a:pt x="105155" y="551307"/>
                </a:lnTo>
                <a:lnTo>
                  <a:pt x="102997" y="548005"/>
                </a:lnTo>
                <a:lnTo>
                  <a:pt x="99567" y="547243"/>
                </a:lnTo>
                <a:lnTo>
                  <a:pt x="63077" y="539623"/>
                </a:lnTo>
                <a:lnTo>
                  <a:pt x="16637" y="539623"/>
                </a:lnTo>
                <a:lnTo>
                  <a:pt x="13208" y="529209"/>
                </a:lnTo>
                <a:lnTo>
                  <a:pt x="25794" y="529209"/>
                </a:lnTo>
                <a:lnTo>
                  <a:pt x="31924" y="522237"/>
                </a:lnTo>
                <a:lnTo>
                  <a:pt x="31876" y="522097"/>
                </a:lnTo>
                <a:lnTo>
                  <a:pt x="32118" y="522016"/>
                </a:lnTo>
                <a:lnTo>
                  <a:pt x="74929" y="473329"/>
                </a:lnTo>
                <a:lnTo>
                  <a:pt x="77215" y="470662"/>
                </a:lnTo>
                <a:lnTo>
                  <a:pt x="76962" y="466725"/>
                </a:lnTo>
                <a:lnTo>
                  <a:pt x="71754" y="462025"/>
                </a:lnTo>
                <a:close/>
              </a:path>
              <a:path w="1602739" h="560704">
                <a:moveTo>
                  <a:pt x="13208" y="529209"/>
                </a:moveTo>
                <a:lnTo>
                  <a:pt x="16637" y="539623"/>
                </a:lnTo>
                <a:lnTo>
                  <a:pt x="23841" y="531429"/>
                </a:lnTo>
                <a:lnTo>
                  <a:pt x="13208" y="529209"/>
                </a:lnTo>
                <a:close/>
              </a:path>
              <a:path w="1602739" h="560704">
                <a:moveTo>
                  <a:pt x="23841" y="531429"/>
                </a:moveTo>
                <a:lnTo>
                  <a:pt x="16637" y="539623"/>
                </a:lnTo>
                <a:lnTo>
                  <a:pt x="63077" y="539623"/>
                </a:lnTo>
                <a:lnTo>
                  <a:pt x="36318" y="534035"/>
                </a:lnTo>
                <a:lnTo>
                  <a:pt x="35940" y="534035"/>
                </a:lnTo>
                <a:lnTo>
                  <a:pt x="23841" y="531429"/>
                </a:lnTo>
                <a:close/>
              </a:path>
              <a:path w="1602739" h="560704">
                <a:moveTo>
                  <a:pt x="35912" y="533950"/>
                </a:moveTo>
                <a:lnTo>
                  <a:pt x="36086" y="533986"/>
                </a:lnTo>
                <a:lnTo>
                  <a:pt x="35912" y="533950"/>
                </a:lnTo>
                <a:close/>
              </a:path>
              <a:path w="1602739" h="560704">
                <a:moveTo>
                  <a:pt x="36086" y="533986"/>
                </a:moveTo>
                <a:lnTo>
                  <a:pt x="35940" y="534035"/>
                </a:lnTo>
                <a:lnTo>
                  <a:pt x="36318" y="534035"/>
                </a:lnTo>
                <a:lnTo>
                  <a:pt x="36086" y="533986"/>
                </a:lnTo>
                <a:close/>
              </a:path>
              <a:path w="1602739" h="560704">
                <a:moveTo>
                  <a:pt x="80137" y="505968"/>
                </a:moveTo>
                <a:lnTo>
                  <a:pt x="32118" y="522016"/>
                </a:lnTo>
                <a:lnTo>
                  <a:pt x="31924" y="522237"/>
                </a:lnTo>
                <a:lnTo>
                  <a:pt x="35912" y="533950"/>
                </a:lnTo>
                <a:lnTo>
                  <a:pt x="36086" y="533986"/>
                </a:lnTo>
                <a:lnTo>
                  <a:pt x="84074" y="518033"/>
                </a:lnTo>
                <a:lnTo>
                  <a:pt x="80137" y="505968"/>
                </a:lnTo>
                <a:close/>
              </a:path>
              <a:path w="1602739" h="560704">
                <a:moveTo>
                  <a:pt x="25794" y="529209"/>
                </a:moveTo>
                <a:lnTo>
                  <a:pt x="13208" y="529209"/>
                </a:lnTo>
                <a:lnTo>
                  <a:pt x="23841" y="531429"/>
                </a:lnTo>
                <a:lnTo>
                  <a:pt x="25794" y="529209"/>
                </a:lnTo>
                <a:close/>
              </a:path>
              <a:path w="1602739" h="560704">
                <a:moveTo>
                  <a:pt x="32118" y="522016"/>
                </a:moveTo>
                <a:lnTo>
                  <a:pt x="31876" y="522097"/>
                </a:lnTo>
                <a:lnTo>
                  <a:pt x="31924" y="522237"/>
                </a:lnTo>
                <a:lnTo>
                  <a:pt x="32118" y="522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56428" y="2927985"/>
            <a:ext cx="1021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&lt;&lt;import&gt;&gt;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144320" y="5149575"/>
            <a:ext cx="5990590" cy="112268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dirty="0">
                <a:latin typeface="宋体"/>
                <a:cs typeface="宋体"/>
              </a:rPr>
              <a:t>包中元素的可见性分为：</a:t>
            </a:r>
            <a:endParaRPr sz="2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宋体"/>
                <a:cs typeface="宋体"/>
              </a:rPr>
              <a:t>公共的（</a:t>
            </a:r>
            <a:r>
              <a:rPr sz="2400" spc="-5" dirty="0">
                <a:latin typeface="Times New Roman"/>
                <a:cs typeface="Times New Roman"/>
              </a:rPr>
              <a:t>+</a:t>
            </a:r>
            <a:r>
              <a:rPr sz="2400" spc="-5" dirty="0">
                <a:latin typeface="宋体"/>
                <a:cs typeface="宋体"/>
              </a:rPr>
              <a:t>）、私有的（-）和受保护的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imes New Roman"/>
                <a:cs typeface="Times New Roman"/>
              </a:rPr>
              <a:t>#</a:t>
            </a:r>
            <a:r>
              <a:rPr sz="2400" dirty="0"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2497" y="200025"/>
            <a:ext cx="39427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包的组织和划分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593" y="1107795"/>
            <a:ext cx="7554595" cy="45129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latin typeface="宋体"/>
                <a:cs typeface="宋体"/>
              </a:rPr>
              <a:t>划分包的策略：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lain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把在语义上接近</a:t>
            </a:r>
            <a:r>
              <a:rPr sz="3200" spc="-15" dirty="0">
                <a:latin typeface="宋体"/>
                <a:cs typeface="宋体"/>
              </a:rPr>
              <a:t>并</a:t>
            </a:r>
            <a:r>
              <a:rPr sz="3200" dirty="0">
                <a:latin typeface="宋体"/>
                <a:cs typeface="宋体"/>
              </a:rPr>
              <a:t>需要</a:t>
            </a:r>
            <a:r>
              <a:rPr sz="3200" spc="-15" dirty="0">
                <a:latin typeface="宋体"/>
                <a:cs typeface="宋体"/>
              </a:rPr>
              <a:t>一</a:t>
            </a:r>
            <a:r>
              <a:rPr sz="3200" dirty="0">
                <a:latin typeface="宋体"/>
                <a:cs typeface="宋体"/>
              </a:rPr>
              <a:t>起变</a:t>
            </a:r>
            <a:r>
              <a:rPr sz="3200" spc="-15" dirty="0">
                <a:latin typeface="宋体"/>
                <a:cs typeface="宋体"/>
              </a:rPr>
              <a:t>化</a:t>
            </a:r>
            <a:r>
              <a:rPr sz="3200" dirty="0">
                <a:latin typeface="宋体"/>
                <a:cs typeface="宋体"/>
              </a:rPr>
              <a:t>的成分 组织成包；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lain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可以组织合并包</a:t>
            </a:r>
            <a:r>
              <a:rPr sz="3200" spc="-15" dirty="0">
                <a:latin typeface="宋体"/>
                <a:cs typeface="宋体"/>
              </a:rPr>
              <a:t>，</a:t>
            </a:r>
            <a:r>
              <a:rPr sz="3200" dirty="0">
                <a:latin typeface="宋体"/>
                <a:cs typeface="宋体"/>
              </a:rPr>
              <a:t>形成</a:t>
            </a:r>
            <a:r>
              <a:rPr sz="3200" spc="-15" dirty="0">
                <a:latin typeface="宋体"/>
                <a:cs typeface="宋体"/>
              </a:rPr>
              <a:t>包</a:t>
            </a:r>
            <a:r>
              <a:rPr sz="3200" dirty="0">
                <a:latin typeface="宋体"/>
                <a:cs typeface="宋体"/>
              </a:rPr>
              <a:t>的嵌</a:t>
            </a:r>
            <a:r>
              <a:rPr sz="3200" spc="-15" dirty="0">
                <a:latin typeface="宋体"/>
                <a:cs typeface="宋体"/>
              </a:rPr>
              <a:t>套</a:t>
            </a:r>
            <a:r>
              <a:rPr sz="3200" dirty="0">
                <a:latin typeface="宋体"/>
                <a:cs typeface="宋体"/>
              </a:rPr>
              <a:t>结构，  每个包的内层成分最</a:t>
            </a:r>
            <a:r>
              <a:rPr sz="3200" spc="5" dirty="0">
                <a:latin typeface="宋体"/>
                <a:cs typeface="宋体"/>
              </a:rPr>
              <a:t>多</a:t>
            </a:r>
            <a:r>
              <a:rPr sz="3200" spc="-5" dirty="0">
                <a:latin typeface="Times New Roman"/>
                <a:cs typeface="Times New Roman"/>
              </a:rPr>
              <a:t>5-7</a:t>
            </a:r>
            <a:r>
              <a:rPr sz="3200" dirty="0">
                <a:latin typeface="宋体"/>
                <a:cs typeface="宋体"/>
              </a:rPr>
              <a:t>个；</a:t>
            </a:r>
            <a:endParaRPr sz="3200">
              <a:latin typeface="宋体"/>
              <a:cs typeface="宋体"/>
            </a:endParaRPr>
          </a:p>
          <a:p>
            <a:pPr marL="624205" indent="-612140">
              <a:lnSpc>
                <a:spcPct val="100000"/>
              </a:lnSpc>
              <a:spcBef>
                <a:spcPts val="765"/>
              </a:spcBef>
              <a:buSzPct val="96875"/>
              <a:buFont typeface="Times New Roman"/>
              <a:buAutoNum type="arabicPlain"/>
              <a:tabLst>
                <a:tab pos="624840" algn="l"/>
              </a:tabLst>
            </a:pPr>
            <a:r>
              <a:rPr sz="3200" spc="5" dirty="0">
                <a:latin typeface="宋体"/>
                <a:cs typeface="宋体"/>
              </a:rPr>
              <a:t>组织包形成树层</a:t>
            </a:r>
            <a:r>
              <a:rPr sz="3200" spc="-10" dirty="0">
                <a:latin typeface="宋体"/>
                <a:cs typeface="宋体"/>
              </a:rPr>
              <a:t>次</a:t>
            </a:r>
            <a:r>
              <a:rPr sz="3200" spc="5" dirty="0">
                <a:latin typeface="宋体"/>
                <a:cs typeface="宋体"/>
              </a:rPr>
              <a:t>结构；</a:t>
            </a:r>
            <a:endParaRPr sz="3200">
              <a:latin typeface="宋体"/>
              <a:cs typeface="宋体"/>
            </a:endParaRPr>
          </a:p>
          <a:p>
            <a:pPr marL="624205" indent="-61214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lain"/>
              <a:tabLst>
                <a:tab pos="624840" algn="l"/>
              </a:tabLst>
            </a:pPr>
            <a:r>
              <a:rPr sz="3200" dirty="0">
                <a:latin typeface="宋体"/>
                <a:cs typeface="宋体"/>
              </a:rPr>
              <a:t>标识包中模型成</a:t>
            </a:r>
            <a:r>
              <a:rPr sz="3200" spc="-15" dirty="0">
                <a:latin typeface="宋体"/>
                <a:cs typeface="宋体"/>
              </a:rPr>
              <a:t>分</a:t>
            </a:r>
            <a:r>
              <a:rPr sz="3200" dirty="0">
                <a:latin typeface="宋体"/>
                <a:cs typeface="宋体"/>
              </a:rPr>
              <a:t>的可</a:t>
            </a:r>
            <a:r>
              <a:rPr sz="3200" spc="-15" dirty="0">
                <a:latin typeface="宋体"/>
                <a:cs typeface="宋体"/>
              </a:rPr>
              <a:t>见</a:t>
            </a:r>
            <a:r>
              <a:rPr sz="3200" dirty="0">
                <a:latin typeface="宋体"/>
                <a:cs typeface="宋体"/>
              </a:rPr>
              <a:t>性；</a:t>
            </a:r>
            <a:endParaRPr sz="3200">
              <a:latin typeface="宋体"/>
              <a:cs typeface="宋体"/>
            </a:endParaRPr>
          </a:p>
          <a:p>
            <a:pPr marL="624205" indent="-61214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lain"/>
              <a:tabLst>
                <a:tab pos="624840" algn="l"/>
              </a:tabLst>
            </a:pPr>
            <a:r>
              <a:rPr sz="3200" spc="5" dirty="0">
                <a:latin typeface="宋体"/>
                <a:cs typeface="宋体"/>
              </a:rPr>
              <a:t>标识包之间的依</a:t>
            </a:r>
            <a:r>
              <a:rPr sz="3200" spc="-10" dirty="0">
                <a:latin typeface="宋体"/>
                <a:cs typeface="宋体"/>
              </a:rPr>
              <a:t>赖</a:t>
            </a:r>
            <a:r>
              <a:rPr sz="3200" spc="5" dirty="0">
                <a:latin typeface="宋体"/>
                <a:cs typeface="宋体"/>
              </a:rPr>
              <a:t>关系。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14837" y="528637"/>
          <a:ext cx="1066800" cy="1170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238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控制面板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200400" y="2667000"/>
            <a:ext cx="1066800" cy="1201420"/>
          </a:xfrm>
          <a:custGeom>
            <a:avLst/>
            <a:gdLst/>
            <a:ahLst/>
            <a:cxnLst/>
            <a:rect l="l" t="t" r="r" b="b"/>
            <a:pathLst>
              <a:path w="1066800" h="1201420">
                <a:moveTo>
                  <a:pt x="0" y="1200912"/>
                </a:moveTo>
                <a:lnTo>
                  <a:pt x="1066800" y="1200912"/>
                </a:lnTo>
                <a:lnTo>
                  <a:pt x="10668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00400" y="2667000"/>
            <a:ext cx="1066800" cy="3803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370"/>
              </a:spcBef>
            </a:pPr>
            <a:r>
              <a:rPr sz="1800" b="1" dirty="0">
                <a:latin typeface="宋体"/>
                <a:cs typeface="宋体"/>
              </a:rPr>
              <a:t>键盘区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0" y="3046476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5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00400" y="34290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19600" y="2667000"/>
            <a:ext cx="1066800" cy="1201420"/>
          </a:xfrm>
          <a:custGeom>
            <a:avLst/>
            <a:gdLst/>
            <a:ahLst/>
            <a:cxnLst/>
            <a:rect l="l" t="t" r="r" b="b"/>
            <a:pathLst>
              <a:path w="1066800" h="1201420">
                <a:moveTo>
                  <a:pt x="0" y="1200912"/>
                </a:moveTo>
                <a:lnTo>
                  <a:pt x="1066800" y="1200912"/>
                </a:lnTo>
                <a:lnTo>
                  <a:pt x="10668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19600" y="2667000"/>
            <a:ext cx="1066800" cy="3803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610"/>
              </a:spcBef>
            </a:pPr>
            <a:r>
              <a:rPr sz="1600" b="1" spc="-5" dirty="0">
                <a:latin typeface="宋体"/>
                <a:cs typeface="宋体"/>
              </a:rPr>
              <a:t>屏幕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19600" y="3046476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5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19600" y="34290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8800" y="2667000"/>
            <a:ext cx="1066800" cy="1170940"/>
          </a:xfrm>
          <a:custGeom>
            <a:avLst/>
            <a:gdLst/>
            <a:ahLst/>
            <a:cxnLst/>
            <a:rect l="l" t="t" r="r" b="b"/>
            <a:pathLst>
              <a:path w="1066800" h="1170939">
                <a:moveTo>
                  <a:pt x="0" y="1170432"/>
                </a:moveTo>
                <a:lnTo>
                  <a:pt x="1066800" y="1170432"/>
                </a:lnTo>
                <a:lnTo>
                  <a:pt x="1066800" y="0"/>
                </a:lnTo>
                <a:lnTo>
                  <a:pt x="0" y="0"/>
                </a:lnTo>
                <a:lnTo>
                  <a:pt x="0" y="117043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38800" y="2667000"/>
            <a:ext cx="1066800" cy="3803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70"/>
              </a:spcBef>
            </a:pPr>
            <a:r>
              <a:rPr sz="1600" b="1" spc="-5" dirty="0">
                <a:latin typeface="宋体"/>
                <a:cs typeface="宋体"/>
              </a:rPr>
              <a:t>闪光的灯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8800" y="3046476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5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38800" y="34290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53000" y="1981200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72000" y="17526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48200" y="19812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76800" y="17526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57800" y="19812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81600" y="17526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86200" y="22098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86200" y="22098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57800" y="22098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>
                <a:moveTo>
                  <a:pt x="0" y="0"/>
                </a:moveTo>
                <a:lnTo>
                  <a:pt x="838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96000" y="22098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48200" y="390144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24400" y="4130040"/>
            <a:ext cx="0" cy="670560"/>
          </a:xfrm>
          <a:custGeom>
            <a:avLst/>
            <a:gdLst/>
            <a:ahLst/>
            <a:cxnLst/>
            <a:rect l="l" t="t" r="r" b="b"/>
            <a:pathLst>
              <a:path h="670560">
                <a:moveTo>
                  <a:pt x="0" y="0"/>
                </a:moveTo>
                <a:lnTo>
                  <a:pt x="0" y="67056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53000" y="390144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334000" y="413004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257800" y="390144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34000" y="4343400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029200" y="411480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29200" y="44958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715000" y="44958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705600" y="43434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38600" y="4820411"/>
            <a:ext cx="1066800" cy="1199515"/>
          </a:xfrm>
          <a:custGeom>
            <a:avLst/>
            <a:gdLst/>
            <a:ahLst/>
            <a:cxnLst/>
            <a:rect l="l" t="t" r="r" b="b"/>
            <a:pathLst>
              <a:path w="1066800" h="1199514">
                <a:moveTo>
                  <a:pt x="0" y="1199388"/>
                </a:moveTo>
                <a:lnTo>
                  <a:pt x="1066800" y="1199388"/>
                </a:lnTo>
                <a:lnTo>
                  <a:pt x="1066800" y="0"/>
                </a:lnTo>
                <a:lnTo>
                  <a:pt x="0" y="0"/>
                </a:lnTo>
                <a:lnTo>
                  <a:pt x="0" y="11993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043362" y="4854955"/>
            <a:ext cx="1057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宋体"/>
                <a:cs typeface="宋体"/>
              </a:rPr>
              <a:t>LCD显示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38600" y="5198364"/>
            <a:ext cx="1066800" cy="3175"/>
          </a:xfrm>
          <a:custGeom>
            <a:avLst/>
            <a:gdLst/>
            <a:ahLst/>
            <a:cxnLst/>
            <a:rect l="l" t="t" r="r" b="b"/>
            <a:pathLst>
              <a:path w="1066800" h="3175">
                <a:moveTo>
                  <a:pt x="0" y="0"/>
                </a:moveTo>
                <a:lnTo>
                  <a:pt x="1066800" y="30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38600" y="5582411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81600" y="4820411"/>
            <a:ext cx="1066800" cy="1199515"/>
          </a:xfrm>
          <a:custGeom>
            <a:avLst/>
            <a:gdLst/>
            <a:ahLst/>
            <a:cxnLst/>
            <a:rect l="l" t="t" r="r" b="b"/>
            <a:pathLst>
              <a:path w="1066800" h="1199514">
                <a:moveTo>
                  <a:pt x="0" y="1199388"/>
                </a:moveTo>
                <a:lnTo>
                  <a:pt x="1066800" y="1199388"/>
                </a:lnTo>
                <a:lnTo>
                  <a:pt x="1066800" y="0"/>
                </a:lnTo>
                <a:lnTo>
                  <a:pt x="0" y="0"/>
                </a:lnTo>
                <a:lnTo>
                  <a:pt x="0" y="11993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186362" y="4885435"/>
            <a:ext cx="1057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图符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181600" y="5198364"/>
            <a:ext cx="1066800" cy="3175"/>
          </a:xfrm>
          <a:custGeom>
            <a:avLst/>
            <a:gdLst/>
            <a:ahLst/>
            <a:cxnLst/>
            <a:rect l="l" t="t" r="r" b="b"/>
            <a:pathLst>
              <a:path w="1066800" h="3175">
                <a:moveTo>
                  <a:pt x="0" y="0"/>
                </a:moveTo>
                <a:lnTo>
                  <a:pt x="1066800" y="30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181600" y="5582411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324600" y="4820411"/>
            <a:ext cx="1066800" cy="1169035"/>
          </a:xfrm>
          <a:custGeom>
            <a:avLst/>
            <a:gdLst/>
            <a:ahLst/>
            <a:cxnLst/>
            <a:rect l="l" t="t" r="r" b="b"/>
            <a:pathLst>
              <a:path w="1066800" h="1169035">
                <a:moveTo>
                  <a:pt x="0" y="1168908"/>
                </a:moveTo>
                <a:lnTo>
                  <a:pt x="1066800" y="1168908"/>
                </a:lnTo>
                <a:lnTo>
                  <a:pt x="1066800" y="0"/>
                </a:lnTo>
                <a:lnTo>
                  <a:pt x="0" y="0"/>
                </a:lnTo>
                <a:lnTo>
                  <a:pt x="0" y="116890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329362" y="4854955"/>
            <a:ext cx="1057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信息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324600" y="5198364"/>
            <a:ext cx="1066800" cy="3175"/>
          </a:xfrm>
          <a:custGeom>
            <a:avLst/>
            <a:gdLst/>
            <a:ahLst/>
            <a:cxnLst/>
            <a:rect l="l" t="t" r="r" b="b"/>
            <a:pathLst>
              <a:path w="1066800" h="3175">
                <a:moveTo>
                  <a:pt x="0" y="0"/>
                </a:moveTo>
                <a:lnTo>
                  <a:pt x="1066800" y="30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324600" y="5582411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276600" y="38862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352800" y="4114800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581400" y="38862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0" y="114300"/>
                </a:moveTo>
                <a:lnTo>
                  <a:pt x="76200" y="0"/>
                </a:lnTo>
                <a:lnTo>
                  <a:pt x="152400" y="114300"/>
                </a:lnTo>
                <a:lnTo>
                  <a:pt x="76200" y="2286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657600" y="4099559"/>
            <a:ext cx="0" cy="548640"/>
          </a:xfrm>
          <a:custGeom>
            <a:avLst/>
            <a:gdLst/>
            <a:ahLst/>
            <a:cxnLst/>
            <a:rect l="l" t="t" r="r" b="b"/>
            <a:pathLst>
              <a:path h="548639">
                <a:moveTo>
                  <a:pt x="0" y="0"/>
                </a:moveTo>
                <a:lnTo>
                  <a:pt x="0" y="54863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5000" y="4419600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95600" y="4648200"/>
            <a:ext cx="762000" cy="0"/>
          </a:xfrm>
          <a:custGeom>
            <a:avLst/>
            <a:gdLst/>
            <a:ahLst/>
            <a:cxnLst/>
            <a:rect l="l" t="t" r="r" b="b"/>
            <a:pathLst>
              <a:path w="762000">
                <a:moveTo>
                  <a:pt x="0" y="0"/>
                </a:moveTo>
                <a:lnTo>
                  <a:pt x="762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95600" y="4648200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5000" y="44196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95400" y="4876800"/>
            <a:ext cx="1066800" cy="1201420"/>
          </a:xfrm>
          <a:custGeom>
            <a:avLst/>
            <a:gdLst/>
            <a:ahLst/>
            <a:cxnLst/>
            <a:rect l="l" t="t" r="r" b="b"/>
            <a:pathLst>
              <a:path w="1066800" h="1201420">
                <a:moveTo>
                  <a:pt x="0" y="1200912"/>
                </a:moveTo>
                <a:lnTo>
                  <a:pt x="1066800" y="1200912"/>
                </a:lnTo>
                <a:lnTo>
                  <a:pt x="10668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295400" y="4876800"/>
            <a:ext cx="1066800" cy="3803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375"/>
              </a:spcBef>
            </a:pPr>
            <a:r>
              <a:rPr sz="1800" b="1" dirty="0">
                <a:latin typeface="宋体"/>
                <a:cs typeface="宋体"/>
              </a:rPr>
              <a:t>键区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295400" y="5256276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95400" y="56388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438400" y="4876800"/>
            <a:ext cx="1066800" cy="1201420"/>
          </a:xfrm>
          <a:custGeom>
            <a:avLst/>
            <a:gdLst/>
            <a:ahLst/>
            <a:cxnLst/>
            <a:rect l="l" t="t" r="r" b="b"/>
            <a:pathLst>
              <a:path w="1066800" h="1201420">
                <a:moveTo>
                  <a:pt x="0" y="1200912"/>
                </a:moveTo>
                <a:lnTo>
                  <a:pt x="1066800" y="1200912"/>
                </a:lnTo>
                <a:lnTo>
                  <a:pt x="10668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438400" y="4876800"/>
            <a:ext cx="1066800" cy="38036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610"/>
              </a:spcBef>
            </a:pPr>
            <a:r>
              <a:rPr sz="1600" b="1" spc="-5" dirty="0">
                <a:latin typeface="宋体"/>
                <a:cs typeface="宋体"/>
              </a:rPr>
              <a:t>功能区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38400" y="5256276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438400" y="5638800"/>
            <a:ext cx="1066800" cy="1905"/>
          </a:xfrm>
          <a:custGeom>
            <a:avLst/>
            <a:gdLst/>
            <a:ahLst/>
            <a:cxnLst/>
            <a:rect l="l" t="t" r="r" b="b"/>
            <a:pathLst>
              <a:path w="1066800" h="1904">
                <a:moveTo>
                  <a:pt x="0" y="0"/>
                </a:moveTo>
                <a:lnTo>
                  <a:pt x="10668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62000" y="304800"/>
            <a:ext cx="3581400" cy="2895600"/>
          </a:xfrm>
          <a:custGeom>
            <a:avLst/>
            <a:gdLst/>
            <a:ahLst/>
            <a:cxnLst/>
            <a:rect l="l" t="t" r="r" b="b"/>
            <a:pathLst>
              <a:path w="3581400" h="2895600">
                <a:moveTo>
                  <a:pt x="3581400" y="0"/>
                </a:moveTo>
                <a:lnTo>
                  <a:pt x="0" y="28956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62000" y="3200400"/>
            <a:ext cx="0" cy="3048000"/>
          </a:xfrm>
          <a:custGeom>
            <a:avLst/>
            <a:gdLst/>
            <a:ahLst/>
            <a:cxnLst/>
            <a:rect l="l" t="t" r="r" b="b"/>
            <a:pathLst>
              <a:path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62000" y="6324600"/>
            <a:ext cx="7086600" cy="0"/>
          </a:xfrm>
          <a:custGeom>
            <a:avLst/>
            <a:gdLst/>
            <a:ahLst/>
            <a:cxnLst/>
            <a:rect l="l" t="t" r="r" b="b"/>
            <a:pathLst>
              <a:path w="7086600">
                <a:moveTo>
                  <a:pt x="0" y="0"/>
                </a:moveTo>
                <a:lnTo>
                  <a:pt x="70866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343400" y="304800"/>
            <a:ext cx="2057400" cy="0"/>
          </a:xfrm>
          <a:custGeom>
            <a:avLst/>
            <a:gdLst/>
            <a:ahLst/>
            <a:cxnLst/>
            <a:rect l="l" t="t" r="r" b="b"/>
            <a:pathLst>
              <a:path w="2057400">
                <a:moveTo>
                  <a:pt x="0" y="0"/>
                </a:moveTo>
                <a:lnTo>
                  <a:pt x="2057400" y="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477000" y="304800"/>
            <a:ext cx="1295400" cy="3886200"/>
          </a:xfrm>
          <a:custGeom>
            <a:avLst/>
            <a:gdLst/>
            <a:ahLst/>
            <a:cxnLst/>
            <a:rect l="l" t="t" r="r" b="b"/>
            <a:pathLst>
              <a:path w="1295400" h="3886200">
                <a:moveTo>
                  <a:pt x="0" y="0"/>
                </a:moveTo>
                <a:lnTo>
                  <a:pt x="1295400" y="38862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772400" y="4191000"/>
            <a:ext cx="0" cy="2133600"/>
          </a:xfrm>
          <a:custGeom>
            <a:avLst/>
            <a:gdLst/>
            <a:ahLst/>
            <a:cxnLst/>
            <a:rect l="l" t="t" r="r" b="b"/>
            <a:pathLst>
              <a:path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19200" y="2133600"/>
            <a:ext cx="1447800" cy="683260"/>
          </a:xfrm>
          <a:custGeom>
            <a:avLst/>
            <a:gdLst/>
            <a:ahLst/>
            <a:cxnLst/>
            <a:rect l="l" t="t" r="r" b="b"/>
            <a:pathLst>
              <a:path w="1447800" h="683260">
                <a:moveTo>
                  <a:pt x="0" y="682751"/>
                </a:moveTo>
                <a:lnTo>
                  <a:pt x="1447800" y="682751"/>
                </a:lnTo>
                <a:lnTo>
                  <a:pt x="1447800" y="0"/>
                </a:lnTo>
                <a:lnTo>
                  <a:pt x="0" y="0"/>
                </a:lnTo>
                <a:lnTo>
                  <a:pt x="0" y="68275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223962" y="2314448"/>
            <a:ext cx="1438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74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宋体"/>
                <a:cs typeface="宋体"/>
              </a:rPr>
              <a:t>控制键盘包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219200" y="1892807"/>
            <a:ext cx="457200" cy="228600"/>
          </a:xfrm>
          <a:custGeom>
            <a:avLst/>
            <a:gdLst/>
            <a:ahLst/>
            <a:cxnLst/>
            <a:rect l="l" t="t" r="r" b="b"/>
            <a:pathLst>
              <a:path w="457200" h="228600">
                <a:moveTo>
                  <a:pt x="0" y="228600"/>
                </a:moveTo>
                <a:lnTo>
                  <a:pt x="457200" y="228600"/>
                </a:lnTo>
                <a:lnTo>
                  <a:pt x="4572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535940" y="282905"/>
            <a:ext cx="2564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控制键盘包</a:t>
            </a:r>
            <a:endParaRPr sz="4000"/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319" y="133350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本节小结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00"/>
              </a:lnSpc>
            </a:pPr>
            <a:r>
              <a:rPr spc="-5" dirty="0"/>
              <a:t>软件需求工程</a:t>
            </a:r>
            <a:r>
              <a:rPr spc="-20" dirty="0"/>
              <a:t>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spc="-10" dirty="0">
                <a:latin typeface="Calibri"/>
                <a:cs typeface="Calibri"/>
              </a:rPr>
              <a:t>L</a:t>
            </a:r>
            <a:r>
              <a:rPr spc="-5"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922224"/>
            <a:ext cx="4320540" cy="3928110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92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类图</a:t>
            </a:r>
            <a:endParaRPr sz="3200">
              <a:latin typeface="宋体"/>
              <a:cs typeface="宋体"/>
            </a:endParaRPr>
          </a:p>
          <a:p>
            <a:pPr marL="756285" lvl="1" indent="-287655">
              <a:lnSpc>
                <a:spcPct val="100000"/>
              </a:lnSpc>
              <a:spcBef>
                <a:spcPts val="1590"/>
              </a:spcBef>
              <a:buClr>
                <a:srgbClr val="C00000"/>
              </a:buClr>
              <a:buSzPct val="80357"/>
              <a:buFont typeface="Wingdings"/>
              <a:buChar char=""/>
              <a:tabLst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类图和面向对象建模</a:t>
            </a:r>
            <a:endParaRPr sz="2800">
              <a:latin typeface="宋体"/>
              <a:cs typeface="宋体"/>
            </a:endParaRPr>
          </a:p>
          <a:p>
            <a:pPr marL="756285" lvl="1" indent="-287655">
              <a:lnSpc>
                <a:spcPct val="100000"/>
              </a:lnSpc>
              <a:spcBef>
                <a:spcPts val="1510"/>
              </a:spcBef>
              <a:buClr>
                <a:srgbClr val="C00000"/>
              </a:buClr>
              <a:buSzPct val="80357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类的命名、属性和操作</a:t>
            </a:r>
            <a:endParaRPr sz="2800">
              <a:latin typeface="宋体"/>
              <a:cs typeface="宋体"/>
            </a:endParaRPr>
          </a:p>
          <a:p>
            <a:pPr marL="756285" lvl="1" indent="-287655">
              <a:lnSpc>
                <a:spcPct val="100000"/>
              </a:lnSpc>
              <a:spcBef>
                <a:spcPts val="1515"/>
              </a:spcBef>
              <a:buClr>
                <a:srgbClr val="C00000"/>
              </a:buClr>
              <a:buSzPct val="80357"/>
              <a:buFont typeface="Wingdings"/>
              <a:buChar char=""/>
              <a:tabLst>
                <a:tab pos="756920" algn="l"/>
              </a:tabLst>
            </a:pPr>
            <a:r>
              <a:rPr sz="2800" spc="-5" dirty="0">
                <a:latin typeface="宋体"/>
                <a:cs typeface="宋体"/>
              </a:rPr>
              <a:t>类的继承和关联</a:t>
            </a:r>
            <a:endParaRPr sz="2800">
              <a:latin typeface="宋体"/>
              <a:cs typeface="宋体"/>
            </a:endParaRPr>
          </a:p>
          <a:p>
            <a:pPr marL="756285" lvl="1" indent="-287655">
              <a:lnSpc>
                <a:spcPct val="100000"/>
              </a:lnSpc>
              <a:spcBef>
                <a:spcPts val="1510"/>
              </a:spcBef>
              <a:buClr>
                <a:srgbClr val="C00000"/>
              </a:buClr>
              <a:buSzPct val="80357"/>
              <a:buFont typeface="Wingdings"/>
              <a:buChar char=""/>
              <a:tabLst>
                <a:tab pos="756920" algn="l"/>
              </a:tabLst>
            </a:pPr>
            <a:r>
              <a:rPr sz="2800" spc="-10" dirty="0">
                <a:latin typeface="宋体"/>
                <a:cs typeface="宋体"/>
              </a:rPr>
              <a:t>接口类</a:t>
            </a:r>
            <a:endParaRPr sz="2800">
              <a:latin typeface="宋体"/>
              <a:cs typeface="宋体"/>
            </a:endParaRPr>
          </a:p>
          <a:p>
            <a:pPr marL="469900" indent="-457200">
              <a:lnSpc>
                <a:spcPct val="100000"/>
              </a:lnSpc>
              <a:spcBef>
                <a:spcPts val="1655"/>
              </a:spcBef>
              <a:buClr>
                <a:srgbClr val="00663B"/>
              </a:buClr>
              <a:buSzPct val="79687"/>
              <a:buFont typeface="Wingdings"/>
              <a:buChar char=""/>
              <a:tabLst>
                <a:tab pos="469265" algn="l"/>
                <a:tab pos="469900" algn="l"/>
              </a:tabLst>
            </a:pPr>
            <a:r>
              <a:rPr sz="3200" dirty="0">
                <a:latin typeface="宋体"/>
                <a:cs typeface="宋体"/>
              </a:rPr>
              <a:t>包图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3434</Words>
  <Application>Microsoft Office PowerPoint</Application>
  <PresentationFormat>全屏显示(4:3)</PresentationFormat>
  <Paragraphs>1257</Paragraphs>
  <Slides>93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93</vt:i4>
      </vt:variant>
    </vt:vector>
  </HeadingPairs>
  <TitlesOfParts>
    <vt:vector size="103" baseType="lpstr">
      <vt:lpstr>黑体</vt:lpstr>
      <vt:lpstr>华文行楷</vt:lpstr>
      <vt:lpstr>宋体</vt:lpstr>
      <vt:lpstr>Arial</vt:lpstr>
      <vt:lpstr>Calibri</vt:lpstr>
      <vt:lpstr>Tahoma</vt:lpstr>
      <vt:lpstr>Times New Roman</vt:lpstr>
      <vt:lpstr>Verdana</vt:lpstr>
      <vt:lpstr>Wingdings</vt:lpstr>
      <vt:lpstr>Office Theme</vt:lpstr>
      <vt:lpstr>面向对象分析与UML建模(3)</vt:lpstr>
      <vt:lpstr>面向对象思想</vt:lpstr>
      <vt:lpstr>面向对象思想</vt:lpstr>
      <vt:lpstr>1.1. 类图和对象建模</vt:lpstr>
      <vt:lpstr>类图的基本图元素</vt:lpstr>
      <vt:lpstr>类的属性和操作表示</vt:lpstr>
      <vt:lpstr>对象和类</vt:lpstr>
      <vt:lpstr>1.2. 识别对象和筛选的策略</vt:lpstr>
      <vt:lpstr>1.2. 识别对象和筛选的策略</vt:lpstr>
      <vt:lpstr>识别对象示例:提取名词和名词短语</vt:lpstr>
      <vt:lpstr>整理提取的名词</vt:lpstr>
      <vt:lpstr>舍弃不是类的名词</vt:lpstr>
      <vt:lpstr>精简对象策略</vt:lpstr>
      <vt:lpstr>精简对象示例1</vt:lpstr>
      <vt:lpstr>精简对象示例2</vt:lpstr>
      <vt:lpstr>精简对象示例3</vt:lpstr>
      <vt:lpstr>分析筛选对象策略</vt:lpstr>
      <vt:lpstr>SafeHome问题经筛选后的对象</vt:lpstr>
      <vt:lpstr>1.3. 从对象抽象类</vt:lpstr>
      <vt:lpstr>对类进行调整: 划分</vt:lpstr>
      <vt:lpstr>对类进行调整: 组合</vt:lpstr>
      <vt:lpstr>对类进行调整: 分层</vt:lpstr>
      <vt:lpstr>对类进行调整: 合并</vt:lpstr>
      <vt:lpstr>1.4. 主动对象和控制线程</vt:lpstr>
      <vt:lpstr>识别主动对象的策略</vt:lpstr>
      <vt:lpstr>主动对象类的特殊表示</vt:lpstr>
      <vt:lpstr>面向对象分析与UML建模(3)</vt:lpstr>
      <vt:lpstr>2.1. 类的命名</vt:lpstr>
      <vt:lpstr>2.1. 类的命名</vt:lpstr>
      <vt:lpstr>2.1. 类的命名</vt:lpstr>
      <vt:lpstr>2.2. 类属性及识别筛选策略</vt:lpstr>
      <vt:lpstr>2.2. 类属性及识别筛选策略</vt:lpstr>
      <vt:lpstr>2.2. 属性及识别筛选策略</vt:lpstr>
      <vt:lpstr>2.2.识别属性的启发性策略</vt:lpstr>
      <vt:lpstr>2.2.识别属性的启发性策略</vt:lpstr>
      <vt:lpstr>2.2.识别属性的启发性策略</vt:lpstr>
      <vt:lpstr>识别属性示例</vt:lpstr>
      <vt:lpstr>筛选类的属性</vt:lpstr>
      <vt:lpstr>筛选类的属性</vt:lpstr>
      <vt:lpstr>筛选类的属性</vt:lpstr>
      <vt:lpstr>筛选类的属性</vt:lpstr>
      <vt:lpstr>2.3. 类操作及识别调整策略</vt:lpstr>
      <vt:lpstr>PowerPoint 演示文稿</vt:lpstr>
      <vt:lpstr>对象操作的发现策略</vt:lpstr>
      <vt:lpstr>对象操作示例</vt:lpstr>
      <vt:lpstr>类操作的调整原则</vt:lpstr>
      <vt:lpstr>对象操作示例</vt:lpstr>
      <vt:lpstr>面向对象分析与UML建模(3)</vt:lpstr>
      <vt:lpstr>3.1. 类的继承关系</vt:lpstr>
      <vt:lpstr>继承的性质</vt:lpstr>
      <vt:lpstr>继承关系表示</vt:lpstr>
      <vt:lpstr>确定继承的策略和原则</vt:lpstr>
      <vt:lpstr>确定继承的策略和原则</vt:lpstr>
      <vt:lpstr>确定继承的策略和原则</vt:lpstr>
      <vt:lpstr>确定继承的策略和原则</vt:lpstr>
      <vt:lpstr>确定继承的策略和原则</vt:lpstr>
      <vt:lpstr>确定继承的策略和原则</vt:lpstr>
      <vt:lpstr>确定继承的策略和原则</vt:lpstr>
      <vt:lpstr>确定继承的策略和原则</vt:lpstr>
      <vt:lpstr>示例 Safehome中传感器继承关系</vt:lpstr>
      <vt:lpstr>3.2. 建立类的关联</vt:lpstr>
      <vt:lpstr>(1)类的关联</vt:lpstr>
      <vt:lpstr>(1)类的关联</vt:lpstr>
      <vt:lpstr>(2) 关联的重数</vt:lpstr>
      <vt:lpstr>在类中不用表示关联的具体项（外键）。        </vt:lpstr>
      <vt:lpstr>特殊类直接继承一般类的关联：</vt:lpstr>
      <vt:lpstr>同样的类，由于关联不同，可以有不同的表示：</vt:lpstr>
      <vt:lpstr>关联示例</vt:lpstr>
      <vt:lpstr>(3)对象链</vt:lpstr>
      <vt:lpstr>(4)关联角色</vt:lpstr>
      <vt:lpstr>(5)关联类</vt:lpstr>
      <vt:lpstr>关联类的概念在建模中不是必不可少的，可以通 过增设类把关联类表示为普通类。</vt:lpstr>
      <vt:lpstr>(6) N元关联</vt:lpstr>
      <vt:lpstr>(7) 关联限定</vt:lpstr>
      <vt:lpstr>(8) 聚合关联(Aggregation)</vt:lpstr>
      <vt:lpstr>组合关联(Composition)</vt:lpstr>
      <vt:lpstr>聚合也是一种关联，所以，可以表示成一般的 关联的形式。</vt:lpstr>
      <vt:lpstr>发现聚合的环节</vt:lpstr>
      <vt:lpstr>筛选聚合的原则</vt:lpstr>
      <vt:lpstr>(9)类的依赖关系表示</vt:lpstr>
      <vt:lpstr>面向对象分析与UML建模(3)</vt:lpstr>
      <vt:lpstr>接口类和信号</vt:lpstr>
      <vt:lpstr>接口类示例</vt:lpstr>
      <vt:lpstr>表示关联上的接口</vt:lpstr>
      <vt:lpstr>公共接口的抽象类</vt:lpstr>
      <vt:lpstr>面向对象分析与UML建模(3)</vt:lpstr>
      <vt:lpstr>包图（Packages）</vt:lpstr>
      <vt:lpstr>包的层次性</vt:lpstr>
      <vt:lpstr>包的嵌套性</vt:lpstr>
      <vt:lpstr>包之间依赖关系</vt:lpstr>
      <vt:lpstr>包的组织和划分</vt:lpstr>
      <vt:lpstr>控制键盘包</vt:lpstr>
      <vt:lpstr>本节小结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BigDataBench</dc:title>
  <dc:creator>wanling gao</dc:creator>
  <cp:lastModifiedBy>- Vel</cp:lastModifiedBy>
  <cp:revision>2</cp:revision>
  <dcterms:created xsi:type="dcterms:W3CDTF">2024-04-24T12:29:17Z</dcterms:created>
  <dcterms:modified xsi:type="dcterms:W3CDTF">2024-04-25T03:18:16Z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2024-04-24T00:00:00Z</vt:filetime>
  </property>
</Properties>
</file>
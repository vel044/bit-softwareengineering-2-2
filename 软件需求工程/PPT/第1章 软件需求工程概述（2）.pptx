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72" r:id="rId2"/>
  </p:sldIdLst>
  <p:sldSz cx="9144000" cy="6858000" type="screen4x3"/>
  <p:notesSz cx="9144000" cy="6858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0" d="100"/>
          <a:sy n="90" d="100"/>
        </p:scale>
        <p:origin x="1680" y="7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0"/>
            <a:ext cx="77724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4/25/2024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0" i="0">
                <a:solidFill>
                  <a:srgbClr val="00663C"/>
                </a:solidFill>
                <a:latin typeface="宋体"/>
                <a:cs typeface="宋体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rgbClr val="00663C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4/25/2024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0" i="0">
                <a:solidFill>
                  <a:srgbClr val="00663C"/>
                </a:solidFill>
                <a:latin typeface="宋体"/>
                <a:cs typeface="宋体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4/25/2024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0" i="0">
                <a:solidFill>
                  <a:srgbClr val="00663C"/>
                </a:solidFill>
                <a:latin typeface="宋体"/>
                <a:cs typeface="宋体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4/25/2024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0"/>
            <a:ext cx="9144000" cy="360680"/>
          </a:xfrm>
          <a:custGeom>
            <a:avLst/>
            <a:gdLst/>
            <a:ahLst/>
            <a:cxnLst/>
            <a:rect l="l" t="t" r="r" b="b"/>
            <a:pathLst>
              <a:path w="9144000" h="360680">
                <a:moveTo>
                  <a:pt x="0" y="0"/>
                </a:moveTo>
                <a:lnTo>
                  <a:pt x="9144000" y="0"/>
                </a:lnTo>
                <a:lnTo>
                  <a:pt x="9144000" y="360362"/>
                </a:lnTo>
                <a:lnTo>
                  <a:pt x="0" y="360362"/>
                </a:lnTo>
                <a:lnTo>
                  <a:pt x="0" y="0"/>
                </a:lnTo>
                <a:close/>
              </a:path>
            </a:pathLst>
          </a:custGeom>
          <a:solidFill>
            <a:srgbClr val="00663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k object 17"/>
          <p:cNvSpPr/>
          <p:nvPr/>
        </p:nvSpPr>
        <p:spPr>
          <a:xfrm>
            <a:off x="0" y="6517305"/>
            <a:ext cx="9144000" cy="340995"/>
          </a:xfrm>
          <a:custGeom>
            <a:avLst/>
            <a:gdLst/>
            <a:ahLst/>
            <a:cxnLst/>
            <a:rect l="l" t="t" r="r" b="b"/>
            <a:pathLst>
              <a:path w="9144000" h="340995">
                <a:moveTo>
                  <a:pt x="0" y="0"/>
                </a:moveTo>
                <a:lnTo>
                  <a:pt x="9144000" y="0"/>
                </a:lnTo>
                <a:lnTo>
                  <a:pt x="9144000" y="340694"/>
                </a:lnTo>
                <a:lnTo>
                  <a:pt x="0" y="340694"/>
                </a:lnTo>
                <a:lnTo>
                  <a:pt x="0" y="0"/>
                </a:lnTo>
                <a:close/>
              </a:path>
            </a:pathLst>
          </a:custGeom>
          <a:solidFill>
            <a:srgbClr val="00663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4/25/2024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6308725"/>
            <a:ext cx="9144000" cy="1905"/>
          </a:xfrm>
          <a:custGeom>
            <a:avLst/>
            <a:gdLst/>
            <a:ahLst/>
            <a:cxnLst/>
            <a:rect l="l" t="t" r="r" b="b"/>
            <a:pathLst>
              <a:path w="9144000" h="1904">
                <a:moveTo>
                  <a:pt x="0" y="0"/>
                </a:moveTo>
                <a:lnTo>
                  <a:pt x="9144000" y="1588"/>
                </a:lnTo>
              </a:path>
            </a:pathLst>
          </a:custGeom>
          <a:ln w="12700">
            <a:solidFill>
              <a:srgbClr val="549E3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838349" y="378459"/>
            <a:ext cx="7467300" cy="6350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0" i="0">
                <a:solidFill>
                  <a:srgbClr val="00663C"/>
                </a:solidFill>
                <a:latin typeface="宋体"/>
                <a:cs typeface="宋体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295619" y="1157732"/>
            <a:ext cx="8552761" cy="28073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1" i="0">
                <a:solidFill>
                  <a:srgbClr val="00663C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4/25/2024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000500" y="473963"/>
            <a:ext cx="1143000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dirty="0"/>
              <a:t>总结</a:t>
            </a:r>
            <a:endParaRPr sz="4400"/>
          </a:p>
        </p:txBody>
      </p:sp>
      <p:sp>
        <p:nvSpPr>
          <p:cNvPr id="4" name="object 4"/>
          <p:cNvSpPr txBox="1"/>
          <p:nvPr/>
        </p:nvSpPr>
        <p:spPr>
          <a:xfrm>
            <a:off x="121220" y="6432367"/>
            <a:ext cx="2243455" cy="278130"/>
          </a:xfrm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sz="1600" dirty="0">
                <a:solidFill>
                  <a:srgbClr val="00663C"/>
                </a:solidFill>
                <a:latin typeface="华文行楷"/>
                <a:cs typeface="华文行楷"/>
              </a:rPr>
              <a:t>软件需求工程与</a:t>
            </a:r>
            <a:r>
              <a:rPr sz="1600" spc="-5" dirty="0">
                <a:solidFill>
                  <a:srgbClr val="00663C"/>
                </a:solidFill>
                <a:latin typeface="Calibri"/>
                <a:cs typeface="Calibri"/>
              </a:rPr>
              <a:t>UM</a:t>
            </a:r>
            <a:r>
              <a:rPr sz="1600" dirty="0">
                <a:solidFill>
                  <a:srgbClr val="00663C"/>
                </a:solidFill>
                <a:latin typeface="Calibri"/>
                <a:cs typeface="Calibri"/>
              </a:rPr>
              <a:t>L</a:t>
            </a:r>
            <a:r>
              <a:rPr sz="1600" dirty="0">
                <a:solidFill>
                  <a:srgbClr val="00663C"/>
                </a:solidFill>
                <a:latin typeface="华文行楷"/>
                <a:cs typeface="华文行楷"/>
              </a:rPr>
              <a:t>建模</a:t>
            </a:r>
            <a:endParaRPr sz="1600">
              <a:latin typeface="华文行楷"/>
              <a:cs typeface="华文行楷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35940" y="1523637"/>
            <a:ext cx="6464300" cy="3745865"/>
          </a:xfrm>
          <a:prstGeom prst="rect">
            <a:avLst/>
          </a:prstGeom>
        </p:spPr>
        <p:txBody>
          <a:bodyPr vert="horz" wrap="square" lIns="0" tIns="10858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855"/>
              </a:spcBef>
              <a:buClr>
                <a:srgbClr val="00653C"/>
              </a:buClr>
              <a:buSzPct val="81250"/>
              <a:buFont typeface="Wingdings"/>
              <a:buChar char=""/>
              <a:tabLst>
                <a:tab pos="355600" algn="l"/>
              </a:tabLst>
            </a:pPr>
            <a:r>
              <a:rPr sz="3200" dirty="0">
                <a:latin typeface="宋体"/>
                <a:cs typeface="宋体"/>
              </a:rPr>
              <a:t>大部分项目失败主要因为需求问题</a:t>
            </a:r>
          </a:p>
          <a:p>
            <a:pPr marL="755650" lvl="1" indent="-285750">
              <a:lnSpc>
                <a:spcPct val="100000"/>
              </a:lnSpc>
              <a:spcBef>
                <a:spcPts val="665"/>
              </a:spcBef>
              <a:buClr>
                <a:srgbClr val="C00000"/>
              </a:buClr>
              <a:buSzPct val="60714"/>
              <a:buFont typeface="Wingdings"/>
              <a:buChar char=""/>
              <a:tabLst>
                <a:tab pos="755650" algn="l"/>
              </a:tabLst>
            </a:pPr>
            <a:r>
              <a:rPr sz="2800" dirty="0">
                <a:latin typeface="宋体"/>
                <a:cs typeface="宋体"/>
              </a:rPr>
              <a:t>不完整的需求；</a:t>
            </a:r>
          </a:p>
          <a:p>
            <a:pPr marL="755650" lvl="1" indent="-285750">
              <a:lnSpc>
                <a:spcPct val="100000"/>
              </a:lnSpc>
              <a:spcBef>
                <a:spcPts val="650"/>
              </a:spcBef>
              <a:buClr>
                <a:srgbClr val="C00000"/>
              </a:buClr>
              <a:buSzPct val="60714"/>
              <a:buFont typeface="Wingdings"/>
              <a:buChar char=""/>
              <a:tabLst>
                <a:tab pos="755650" algn="l"/>
              </a:tabLst>
            </a:pPr>
            <a:r>
              <a:rPr sz="2800" dirty="0">
                <a:latin typeface="宋体"/>
                <a:cs typeface="宋体"/>
              </a:rPr>
              <a:t>缺乏用户的参与；</a:t>
            </a:r>
          </a:p>
          <a:p>
            <a:pPr marL="755650" lvl="1" indent="-285750">
              <a:lnSpc>
                <a:spcPct val="100000"/>
              </a:lnSpc>
              <a:spcBef>
                <a:spcPts val="745"/>
              </a:spcBef>
              <a:buClr>
                <a:srgbClr val="C00000"/>
              </a:buClr>
              <a:buSzPct val="60714"/>
              <a:buFont typeface="Wingdings"/>
              <a:buChar char=""/>
              <a:tabLst>
                <a:tab pos="755650" algn="l"/>
              </a:tabLst>
            </a:pPr>
            <a:r>
              <a:rPr sz="2800" dirty="0">
                <a:latin typeface="宋体"/>
                <a:cs typeface="宋体"/>
              </a:rPr>
              <a:t>不实际的客户期望；</a:t>
            </a:r>
          </a:p>
          <a:p>
            <a:pPr marL="755650" lvl="1" indent="-285750">
              <a:lnSpc>
                <a:spcPct val="100000"/>
              </a:lnSpc>
              <a:spcBef>
                <a:spcPts val="620"/>
              </a:spcBef>
              <a:buClr>
                <a:srgbClr val="C00000"/>
              </a:buClr>
              <a:buSzPct val="60714"/>
              <a:buFont typeface="Wingdings"/>
              <a:buChar char=""/>
              <a:tabLst>
                <a:tab pos="755650" algn="l"/>
              </a:tabLst>
            </a:pPr>
            <a:r>
              <a:rPr sz="2800" dirty="0">
                <a:latin typeface="宋体"/>
                <a:cs typeface="宋体"/>
              </a:rPr>
              <a:t>需求和需求规格说明的变更；</a:t>
            </a:r>
          </a:p>
          <a:p>
            <a:pPr marL="755650" lvl="1" indent="-285750">
              <a:lnSpc>
                <a:spcPct val="100000"/>
              </a:lnSpc>
              <a:spcBef>
                <a:spcPts val="650"/>
              </a:spcBef>
              <a:buClr>
                <a:srgbClr val="C00000"/>
              </a:buClr>
              <a:buSzPct val="60714"/>
              <a:buFont typeface="Wingdings"/>
              <a:buChar char=""/>
              <a:tabLst>
                <a:tab pos="755650" algn="l"/>
              </a:tabLst>
            </a:pPr>
            <a:r>
              <a:rPr sz="2800" dirty="0">
                <a:latin typeface="宋体"/>
                <a:cs typeface="宋体"/>
              </a:rPr>
              <a:t>提供许多不必要的功能。</a:t>
            </a:r>
          </a:p>
          <a:p>
            <a:pPr marL="355600" indent="-342900">
              <a:lnSpc>
                <a:spcPct val="100000"/>
              </a:lnSpc>
              <a:spcBef>
                <a:spcPts val="730"/>
              </a:spcBef>
              <a:buClr>
                <a:srgbClr val="00653C"/>
              </a:buClr>
              <a:buSzPct val="81250"/>
              <a:buFont typeface="Wingdings"/>
              <a:buChar char=""/>
              <a:tabLst>
                <a:tab pos="355600" algn="l"/>
              </a:tabLst>
            </a:pPr>
            <a:r>
              <a:rPr sz="3200" dirty="0">
                <a:latin typeface="宋体"/>
                <a:cs typeface="宋体"/>
              </a:rPr>
              <a:t>需求是软件项目成功的关键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00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</TotalTime>
  <Words>16</Words>
  <Application>Microsoft Office PowerPoint</Application>
  <PresentationFormat>全屏显示(4:3)</PresentationFormat>
  <Paragraphs>9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7" baseType="lpstr">
      <vt:lpstr>华文行楷</vt:lpstr>
      <vt:lpstr>宋体</vt:lpstr>
      <vt:lpstr>Calibri</vt:lpstr>
      <vt:lpstr>Times New Roman</vt:lpstr>
      <vt:lpstr>Wingdings</vt:lpstr>
      <vt:lpstr>Office Theme</vt:lpstr>
      <vt:lpstr>总结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总结</dc:title>
  <cp:lastModifiedBy>- Vel</cp:lastModifiedBy>
  <cp:revision>1</cp:revision>
  <dcterms:created xsi:type="dcterms:W3CDTF">2024-04-25T07:32:50Z</dcterms:created>
  <dcterms:modified xsi:type="dcterms:W3CDTF">2024-04-25T07:35:31Z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2024-02-27T00:00:00Z</vt:filetime>
  </property>
  <property fmtid="{D5CDD505-2E9C-101B-9397-08002B2CF9AE}" pid="3" name="LastSaved">
    <vt:filetime>2024-04-25T00:00:00Z</vt:filetime>
  </property>
</Properties>
</file>
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0429" y="472566"/>
            <a:ext cx="22631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06940"/>
            <a:ext cx="8084820" cy="4258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107" y="6465723"/>
            <a:ext cx="2239645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96563" y="4251930"/>
            <a:ext cx="967740" cy="0"/>
          </a:xfrm>
          <a:custGeom>
            <a:avLst/>
            <a:gdLst/>
            <a:ahLst/>
            <a:cxnLst/>
            <a:rect l="l" t="t" r="r" b="b"/>
            <a:pathLst>
              <a:path w="967740">
                <a:moveTo>
                  <a:pt x="0" y="0"/>
                </a:moveTo>
                <a:lnTo>
                  <a:pt x="967678" y="0"/>
                </a:lnTo>
              </a:path>
            </a:pathLst>
          </a:custGeom>
          <a:ln w="24091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51856" y="4251930"/>
            <a:ext cx="1252855" cy="0"/>
          </a:xfrm>
          <a:custGeom>
            <a:avLst/>
            <a:gdLst/>
            <a:ahLst/>
            <a:cxnLst/>
            <a:rect l="l" t="t" r="r" b="b"/>
            <a:pathLst>
              <a:path w="1252854">
                <a:moveTo>
                  <a:pt x="0" y="0"/>
                </a:moveTo>
                <a:lnTo>
                  <a:pt x="1252337" y="0"/>
                </a:lnTo>
              </a:path>
            </a:pathLst>
          </a:custGeom>
          <a:ln w="24091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0157" y="4251930"/>
            <a:ext cx="1252855" cy="0"/>
          </a:xfrm>
          <a:custGeom>
            <a:avLst/>
            <a:gdLst/>
            <a:ahLst/>
            <a:cxnLst/>
            <a:rect l="l" t="t" r="r" b="b"/>
            <a:pathLst>
              <a:path w="1252855">
                <a:moveTo>
                  <a:pt x="0" y="0"/>
                </a:moveTo>
                <a:lnTo>
                  <a:pt x="1252357" y="0"/>
                </a:lnTo>
              </a:path>
            </a:pathLst>
          </a:custGeom>
          <a:ln w="24091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96442" y="1975580"/>
            <a:ext cx="2049145" cy="1365885"/>
          </a:xfrm>
          <a:custGeom>
            <a:avLst/>
            <a:gdLst/>
            <a:ahLst/>
            <a:cxnLst/>
            <a:rect l="l" t="t" r="r" b="b"/>
            <a:pathLst>
              <a:path w="2049145" h="1365885">
                <a:moveTo>
                  <a:pt x="0" y="682800"/>
                </a:moveTo>
                <a:lnTo>
                  <a:pt x="1621" y="644060"/>
                </a:lnTo>
                <a:lnTo>
                  <a:pt x="6429" y="605887"/>
                </a:lnTo>
                <a:lnTo>
                  <a:pt x="14336" y="568337"/>
                </a:lnTo>
                <a:lnTo>
                  <a:pt x="25256" y="531468"/>
                </a:lnTo>
                <a:lnTo>
                  <a:pt x="39102" y="495339"/>
                </a:lnTo>
                <a:lnTo>
                  <a:pt x="55788" y="460007"/>
                </a:lnTo>
                <a:lnTo>
                  <a:pt x="75228" y="425530"/>
                </a:lnTo>
                <a:lnTo>
                  <a:pt x="97335" y="391964"/>
                </a:lnTo>
                <a:lnTo>
                  <a:pt x="122023" y="359369"/>
                </a:lnTo>
                <a:lnTo>
                  <a:pt x="149205" y="327801"/>
                </a:lnTo>
                <a:lnTo>
                  <a:pt x="178795" y="297319"/>
                </a:lnTo>
                <a:lnTo>
                  <a:pt x="210705" y="267980"/>
                </a:lnTo>
                <a:lnTo>
                  <a:pt x="244851" y="239841"/>
                </a:lnTo>
                <a:lnTo>
                  <a:pt x="281145" y="212961"/>
                </a:lnTo>
                <a:lnTo>
                  <a:pt x="319501" y="187397"/>
                </a:lnTo>
                <a:lnTo>
                  <a:pt x="359833" y="163207"/>
                </a:lnTo>
                <a:lnTo>
                  <a:pt x="402053" y="140449"/>
                </a:lnTo>
                <a:lnTo>
                  <a:pt x="446076" y="119179"/>
                </a:lnTo>
                <a:lnTo>
                  <a:pt x="491815" y="99457"/>
                </a:lnTo>
                <a:lnTo>
                  <a:pt x="539184" y="81339"/>
                </a:lnTo>
                <a:lnTo>
                  <a:pt x="588096" y="64883"/>
                </a:lnTo>
                <a:lnTo>
                  <a:pt x="638464" y="50147"/>
                </a:lnTo>
                <a:lnTo>
                  <a:pt x="690203" y="37189"/>
                </a:lnTo>
                <a:lnTo>
                  <a:pt x="743226" y="26066"/>
                </a:lnTo>
                <a:lnTo>
                  <a:pt x="797446" y="16836"/>
                </a:lnTo>
                <a:lnTo>
                  <a:pt x="852776" y="9556"/>
                </a:lnTo>
                <a:lnTo>
                  <a:pt x="909132" y="4285"/>
                </a:lnTo>
                <a:lnTo>
                  <a:pt x="966425" y="1081"/>
                </a:lnTo>
                <a:lnTo>
                  <a:pt x="1024570" y="0"/>
                </a:lnTo>
                <a:lnTo>
                  <a:pt x="1082715" y="1081"/>
                </a:lnTo>
                <a:lnTo>
                  <a:pt x="1140008" y="4285"/>
                </a:lnTo>
                <a:lnTo>
                  <a:pt x="1196363" y="9556"/>
                </a:lnTo>
                <a:lnTo>
                  <a:pt x="1251694" y="16836"/>
                </a:lnTo>
                <a:lnTo>
                  <a:pt x="1305914" y="26066"/>
                </a:lnTo>
                <a:lnTo>
                  <a:pt x="1358937" y="37189"/>
                </a:lnTo>
                <a:lnTo>
                  <a:pt x="1410675" y="50147"/>
                </a:lnTo>
                <a:lnTo>
                  <a:pt x="1461044" y="64883"/>
                </a:lnTo>
                <a:lnTo>
                  <a:pt x="1509956" y="81339"/>
                </a:lnTo>
                <a:lnTo>
                  <a:pt x="1557325" y="99457"/>
                </a:lnTo>
                <a:lnTo>
                  <a:pt x="1603064" y="119179"/>
                </a:lnTo>
                <a:lnTo>
                  <a:pt x="1647087" y="140449"/>
                </a:lnTo>
                <a:lnTo>
                  <a:pt x="1689307" y="163207"/>
                </a:lnTo>
                <a:lnTo>
                  <a:pt x="1729638" y="187397"/>
                </a:lnTo>
                <a:lnTo>
                  <a:pt x="1767994" y="212961"/>
                </a:lnTo>
                <a:lnTo>
                  <a:pt x="1804289" y="239841"/>
                </a:lnTo>
                <a:lnTo>
                  <a:pt x="1838434" y="267980"/>
                </a:lnTo>
                <a:lnTo>
                  <a:pt x="1870345" y="297319"/>
                </a:lnTo>
                <a:lnTo>
                  <a:pt x="1899935" y="327801"/>
                </a:lnTo>
                <a:lnTo>
                  <a:pt x="1927117" y="359369"/>
                </a:lnTo>
                <a:lnTo>
                  <a:pt x="1951804" y="391964"/>
                </a:lnTo>
                <a:lnTo>
                  <a:pt x="1973911" y="425530"/>
                </a:lnTo>
                <a:lnTo>
                  <a:pt x="1993351" y="460007"/>
                </a:lnTo>
                <a:lnTo>
                  <a:pt x="2010038" y="495339"/>
                </a:lnTo>
                <a:lnTo>
                  <a:pt x="2023884" y="531468"/>
                </a:lnTo>
                <a:lnTo>
                  <a:pt x="2034804" y="568337"/>
                </a:lnTo>
                <a:lnTo>
                  <a:pt x="2042711" y="605887"/>
                </a:lnTo>
                <a:lnTo>
                  <a:pt x="2047518" y="644060"/>
                </a:lnTo>
                <a:lnTo>
                  <a:pt x="2049140" y="682800"/>
                </a:lnTo>
                <a:lnTo>
                  <a:pt x="2047518" y="721560"/>
                </a:lnTo>
                <a:lnTo>
                  <a:pt x="2042711" y="759752"/>
                </a:lnTo>
                <a:lnTo>
                  <a:pt x="2034804" y="797320"/>
                </a:lnTo>
                <a:lnTo>
                  <a:pt x="2023884" y="834204"/>
                </a:lnTo>
                <a:lnTo>
                  <a:pt x="2010038" y="870348"/>
                </a:lnTo>
                <a:lnTo>
                  <a:pt x="1993351" y="905694"/>
                </a:lnTo>
                <a:lnTo>
                  <a:pt x="1973911" y="940184"/>
                </a:lnTo>
                <a:lnTo>
                  <a:pt x="1951804" y="973761"/>
                </a:lnTo>
                <a:lnTo>
                  <a:pt x="1927117" y="1006366"/>
                </a:lnTo>
                <a:lnTo>
                  <a:pt x="1899935" y="1037943"/>
                </a:lnTo>
                <a:lnTo>
                  <a:pt x="1870345" y="1068434"/>
                </a:lnTo>
                <a:lnTo>
                  <a:pt x="1838434" y="1097781"/>
                </a:lnTo>
                <a:lnTo>
                  <a:pt x="1804289" y="1125926"/>
                </a:lnTo>
                <a:lnTo>
                  <a:pt x="1767994" y="1152812"/>
                </a:lnTo>
                <a:lnTo>
                  <a:pt x="1729638" y="1178381"/>
                </a:lnTo>
                <a:lnTo>
                  <a:pt x="1689307" y="1202576"/>
                </a:lnTo>
                <a:lnTo>
                  <a:pt x="1647087" y="1225338"/>
                </a:lnTo>
                <a:lnTo>
                  <a:pt x="1603064" y="1246611"/>
                </a:lnTo>
                <a:lnTo>
                  <a:pt x="1557325" y="1266336"/>
                </a:lnTo>
                <a:lnTo>
                  <a:pt x="1509956" y="1284456"/>
                </a:lnTo>
                <a:lnTo>
                  <a:pt x="1461044" y="1300914"/>
                </a:lnTo>
                <a:lnTo>
                  <a:pt x="1410676" y="1315651"/>
                </a:lnTo>
                <a:lnTo>
                  <a:pt x="1358937" y="1328611"/>
                </a:lnTo>
                <a:lnTo>
                  <a:pt x="1305914" y="1339734"/>
                </a:lnTo>
                <a:lnTo>
                  <a:pt x="1251694" y="1348965"/>
                </a:lnTo>
                <a:lnTo>
                  <a:pt x="1196363" y="1356244"/>
                </a:lnTo>
                <a:lnTo>
                  <a:pt x="1140008" y="1361515"/>
                </a:lnTo>
                <a:lnTo>
                  <a:pt x="1082715" y="1364720"/>
                </a:lnTo>
                <a:lnTo>
                  <a:pt x="1024570" y="1365802"/>
                </a:lnTo>
                <a:lnTo>
                  <a:pt x="966425" y="1364720"/>
                </a:lnTo>
                <a:lnTo>
                  <a:pt x="909132" y="1361515"/>
                </a:lnTo>
                <a:lnTo>
                  <a:pt x="852777" y="1356244"/>
                </a:lnTo>
                <a:lnTo>
                  <a:pt x="797446" y="1348965"/>
                </a:lnTo>
                <a:lnTo>
                  <a:pt x="743226" y="1339734"/>
                </a:lnTo>
                <a:lnTo>
                  <a:pt x="690203" y="1328611"/>
                </a:lnTo>
                <a:lnTo>
                  <a:pt x="638464" y="1315651"/>
                </a:lnTo>
                <a:lnTo>
                  <a:pt x="588096" y="1300914"/>
                </a:lnTo>
                <a:lnTo>
                  <a:pt x="539184" y="1284456"/>
                </a:lnTo>
                <a:lnTo>
                  <a:pt x="491815" y="1266336"/>
                </a:lnTo>
                <a:lnTo>
                  <a:pt x="446076" y="1246611"/>
                </a:lnTo>
                <a:lnTo>
                  <a:pt x="402053" y="1225338"/>
                </a:lnTo>
                <a:lnTo>
                  <a:pt x="359833" y="1202576"/>
                </a:lnTo>
                <a:lnTo>
                  <a:pt x="319501" y="1178381"/>
                </a:lnTo>
                <a:lnTo>
                  <a:pt x="281145" y="1152812"/>
                </a:lnTo>
                <a:lnTo>
                  <a:pt x="244851" y="1125926"/>
                </a:lnTo>
                <a:lnTo>
                  <a:pt x="210705" y="1097781"/>
                </a:lnTo>
                <a:lnTo>
                  <a:pt x="178795" y="1068434"/>
                </a:lnTo>
                <a:lnTo>
                  <a:pt x="149205" y="1037943"/>
                </a:lnTo>
                <a:lnTo>
                  <a:pt x="122023" y="1006366"/>
                </a:lnTo>
                <a:lnTo>
                  <a:pt x="97335" y="973761"/>
                </a:lnTo>
                <a:lnTo>
                  <a:pt x="75228" y="940184"/>
                </a:lnTo>
                <a:lnTo>
                  <a:pt x="55788" y="905694"/>
                </a:lnTo>
                <a:lnTo>
                  <a:pt x="39102" y="870348"/>
                </a:lnTo>
                <a:lnTo>
                  <a:pt x="25256" y="834204"/>
                </a:lnTo>
                <a:lnTo>
                  <a:pt x="14336" y="797320"/>
                </a:lnTo>
                <a:lnTo>
                  <a:pt x="6429" y="759752"/>
                </a:lnTo>
                <a:lnTo>
                  <a:pt x="1621" y="721560"/>
                </a:lnTo>
                <a:lnTo>
                  <a:pt x="0" y="682800"/>
                </a:lnTo>
                <a:close/>
              </a:path>
            </a:pathLst>
          </a:custGeom>
          <a:ln w="14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26552" y="2202191"/>
            <a:ext cx="989330" cy="8712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720" marR="166370" algn="ctr">
              <a:lnSpc>
                <a:spcPct val="111000"/>
              </a:lnSpc>
              <a:spcBef>
                <a:spcPts val="95"/>
              </a:spcBef>
            </a:pPr>
            <a:r>
              <a:rPr sz="1250" spc="10" dirty="0">
                <a:latin typeface="宋体"/>
                <a:cs typeface="宋体"/>
              </a:rPr>
              <a:t>需求获取 需求分析</a:t>
            </a:r>
            <a:endParaRPr sz="1250">
              <a:latin typeface="宋体"/>
              <a:cs typeface="宋体"/>
            </a:endParaRPr>
          </a:p>
          <a:p>
            <a:pPr marL="12065" marR="5080" algn="ctr">
              <a:lnSpc>
                <a:spcPct val="111000"/>
              </a:lnSpc>
            </a:pPr>
            <a:r>
              <a:rPr sz="1250" spc="10" dirty="0">
                <a:latin typeface="宋体"/>
                <a:cs typeface="宋体"/>
              </a:rPr>
              <a:t>需求规格说明 </a:t>
            </a:r>
            <a:r>
              <a:rPr sz="1250" spc="15" dirty="0">
                <a:latin typeface="宋体"/>
                <a:cs typeface="宋体"/>
              </a:rPr>
              <a:t>需求验证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49423" y="1288162"/>
            <a:ext cx="674370" cy="725805"/>
          </a:xfrm>
          <a:custGeom>
            <a:avLst/>
            <a:gdLst/>
            <a:ahLst/>
            <a:cxnLst/>
            <a:rect l="l" t="t" r="r" b="b"/>
            <a:pathLst>
              <a:path w="674370" h="725805">
                <a:moveTo>
                  <a:pt x="0" y="0"/>
                </a:moveTo>
                <a:lnTo>
                  <a:pt x="674144" y="725764"/>
                </a:lnTo>
              </a:path>
            </a:pathLst>
          </a:custGeom>
          <a:ln w="14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64929" y="1957712"/>
            <a:ext cx="180975" cy="187325"/>
          </a:xfrm>
          <a:custGeom>
            <a:avLst/>
            <a:gdLst/>
            <a:ahLst/>
            <a:cxnLst/>
            <a:rect l="l" t="t" r="r" b="b"/>
            <a:pathLst>
              <a:path w="180975" h="187325">
                <a:moveTo>
                  <a:pt x="95388" y="0"/>
                </a:moveTo>
                <a:lnTo>
                  <a:pt x="0" y="88537"/>
                </a:lnTo>
                <a:lnTo>
                  <a:pt x="180534" y="187313"/>
                </a:lnTo>
                <a:lnTo>
                  <a:pt x="95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5574" y="1424682"/>
            <a:ext cx="615315" cy="592455"/>
          </a:xfrm>
          <a:custGeom>
            <a:avLst/>
            <a:gdLst/>
            <a:ahLst/>
            <a:cxnLst/>
            <a:rect l="l" t="t" r="r" b="b"/>
            <a:pathLst>
              <a:path w="615314" h="592455">
                <a:moveTo>
                  <a:pt x="470916" y="0"/>
                </a:moveTo>
                <a:lnTo>
                  <a:pt x="0" y="437064"/>
                </a:lnTo>
                <a:lnTo>
                  <a:pt x="143986" y="592054"/>
                </a:lnTo>
                <a:lnTo>
                  <a:pt x="614902" y="154789"/>
                </a:lnTo>
                <a:lnTo>
                  <a:pt x="4709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 rot="19080000">
            <a:off x="3211720" y="1632587"/>
            <a:ext cx="664861" cy="160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50" spc="-10" dirty="0">
                <a:latin typeface="宋体"/>
                <a:cs typeface="宋体"/>
              </a:rPr>
              <a:t>系统</a:t>
            </a:r>
            <a:r>
              <a:rPr sz="1875" spc="-15" baseline="2222" dirty="0">
                <a:latin typeface="宋体"/>
                <a:cs typeface="宋体"/>
              </a:rPr>
              <a:t>环</a:t>
            </a:r>
            <a:r>
              <a:rPr sz="1875" spc="15" baseline="2222" dirty="0">
                <a:latin typeface="宋体"/>
                <a:cs typeface="宋体"/>
              </a:rPr>
              <a:t>境</a:t>
            </a:r>
            <a:endParaRPr sz="1875" baseline="2222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21013" y="1235762"/>
            <a:ext cx="0" cy="264795"/>
          </a:xfrm>
          <a:custGeom>
            <a:avLst/>
            <a:gdLst/>
            <a:ahLst/>
            <a:cxnLst/>
            <a:rect l="l" t="t" r="r" b="b"/>
            <a:pathLst>
              <a:path h="264794">
                <a:moveTo>
                  <a:pt x="0" y="0"/>
                </a:moveTo>
                <a:lnTo>
                  <a:pt x="0" y="264226"/>
                </a:lnTo>
              </a:path>
            </a:pathLst>
          </a:custGeom>
          <a:ln w="144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21013" y="1711374"/>
            <a:ext cx="0" cy="85725"/>
          </a:xfrm>
          <a:custGeom>
            <a:avLst/>
            <a:gdLst/>
            <a:ahLst/>
            <a:cxnLst/>
            <a:rect l="l" t="t" r="r" b="b"/>
            <a:pathLst>
              <a:path h="85725">
                <a:moveTo>
                  <a:pt x="0" y="0"/>
                </a:moveTo>
                <a:lnTo>
                  <a:pt x="0" y="85324"/>
                </a:lnTo>
              </a:path>
            </a:pathLst>
          </a:custGeom>
          <a:ln w="144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5948" y="1780437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80">
                <a:moveTo>
                  <a:pt x="130129" y="0"/>
                </a:moveTo>
                <a:lnTo>
                  <a:pt x="0" y="0"/>
                </a:lnTo>
                <a:lnTo>
                  <a:pt x="65064" y="195143"/>
                </a:lnTo>
                <a:lnTo>
                  <a:pt x="1301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47659" y="1485062"/>
            <a:ext cx="34671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涉众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48373" y="1292578"/>
            <a:ext cx="638810" cy="684530"/>
          </a:xfrm>
          <a:custGeom>
            <a:avLst/>
            <a:gdLst/>
            <a:ahLst/>
            <a:cxnLst/>
            <a:rect l="l" t="t" r="r" b="b"/>
            <a:pathLst>
              <a:path w="638810" h="684530">
                <a:moveTo>
                  <a:pt x="638800" y="0"/>
                </a:moveTo>
                <a:lnTo>
                  <a:pt x="0" y="684005"/>
                </a:lnTo>
              </a:path>
            </a:pathLst>
          </a:custGeom>
          <a:ln w="14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26277" y="1920370"/>
            <a:ext cx="180975" cy="187325"/>
          </a:xfrm>
          <a:custGeom>
            <a:avLst/>
            <a:gdLst/>
            <a:ahLst/>
            <a:cxnLst/>
            <a:rect l="l" t="t" r="r" b="b"/>
            <a:pathLst>
              <a:path w="180975" h="187325">
                <a:moveTo>
                  <a:pt x="85749" y="0"/>
                </a:moveTo>
                <a:lnTo>
                  <a:pt x="0" y="187112"/>
                </a:lnTo>
                <a:lnTo>
                  <a:pt x="180735" y="88737"/>
                </a:lnTo>
                <a:lnTo>
                  <a:pt x="85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53796" y="1453993"/>
            <a:ext cx="497205" cy="483870"/>
          </a:xfrm>
          <a:custGeom>
            <a:avLst/>
            <a:gdLst/>
            <a:ahLst/>
            <a:cxnLst/>
            <a:rect l="l" t="t" r="r" b="b"/>
            <a:pathLst>
              <a:path w="497204" h="483869">
                <a:moveTo>
                  <a:pt x="144387" y="0"/>
                </a:moveTo>
                <a:lnTo>
                  <a:pt x="0" y="154588"/>
                </a:lnTo>
                <a:lnTo>
                  <a:pt x="352434" y="483441"/>
                </a:lnTo>
                <a:lnTo>
                  <a:pt x="496621" y="328852"/>
                </a:lnTo>
                <a:lnTo>
                  <a:pt x="1443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 rot="2580000">
            <a:off x="5355883" y="1615948"/>
            <a:ext cx="508638" cy="160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50" spc="5" dirty="0">
                <a:latin typeface="宋体"/>
                <a:cs typeface="宋体"/>
              </a:rPr>
              <a:t>硬数</a:t>
            </a:r>
            <a:r>
              <a:rPr sz="1250" spc="10" dirty="0">
                <a:latin typeface="宋体"/>
                <a:cs typeface="宋体"/>
              </a:rPr>
              <a:t>据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02515" y="3967386"/>
            <a:ext cx="2049780" cy="569595"/>
          </a:xfrm>
          <a:prstGeom prst="rect">
            <a:avLst/>
          </a:prstGeom>
          <a:ln w="14455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50" spc="15" dirty="0">
                <a:latin typeface="宋体"/>
                <a:cs typeface="宋体"/>
              </a:rPr>
              <a:t>需求基线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04194" y="3967386"/>
            <a:ext cx="1992630" cy="569595"/>
          </a:xfrm>
          <a:prstGeom prst="rect">
            <a:avLst/>
          </a:prstGeom>
          <a:ln w="14455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513715">
              <a:lnSpc>
                <a:spcPct val="100000"/>
              </a:lnSpc>
            </a:pPr>
            <a:r>
              <a:rPr sz="1250" spc="15" dirty="0">
                <a:latin typeface="宋体"/>
                <a:cs typeface="宋体"/>
              </a:rPr>
              <a:t>需求跟踪信息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87133" y="5276291"/>
            <a:ext cx="1366520" cy="910590"/>
          </a:xfrm>
          <a:custGeom>
            <a:avLst/>
            <a:gdLst/>
            <a:ahLst/>
            <a:cxnLst/>
            <a:rect l="l" t="t" r="r" b="b"/>
            <a:pathLst>
              <a:path w="1366520" h="910589">
                <a:moveTo>
                  <a:pt x="0" y="455274"/>
                </a:moveTo>
                <a:lnTo>
                  <a:pt x="8940" y="381427"/>
                </a:lnTo>
                <a:lnTo>
                  <a:pt x="34824" y="311373"/>
                </a:lnTo>
                <a:lnTo>
                  <a:pt x="53680" y="278062"/>
                </a:lnTo>
                <a:lnTo>
                  <a:pt x="76246" y="246050"/>
                </a:lnTo>
                <a:lnTo>
                  <a:pt x="102344" y="215456"/>
                </a:lnTo>
                <a:lnTo>
                  <a:pt x="131799" y="186396"/>
                </a:lnTo>
                <a:lnTo>
                  <a:pt x="164436" y="158987"/>
                </a:lnTo>
                <a:lnTo>
                  <a:pt x="200079" y="133347"/>
                </a:lnTo>
                <a:lnTo>
                  <a:pt x="238552" y="109593"/>
                </a:lnTo>
                <a:lnTo>
                  <a:pt x="279679" y="87842"/>
                </a:lnTo>
                <a:lnTo>
                  <a:pt x="323284" y="68211"/>
                </a:lnTo>
                <a:lnTo>
                  <a:pt x="369192" y="50817"/>
                </a:lnTo>
                <a:lnTo>
                  <a:pt x="417228" y="35778"/>
                </a:lnTo>
                <a:lnTo>
                  <a:pt x="467215" y="23210"/>
                </a:lnTo>
                <a:lnTo>
                  <a:pt x="518977" y="13231"/>
                </a:lnTo>
                <a:lnTo>
                  <a:pt x="572339" y="5958"/>
                </a:lnTo>
                <a:lnTo>
                  <a:pt x="627125" y="1509"/>
                </a:lnTo>
                <a:lnTo>
                  <a:pt x="683160" y="0"/>
                </a:lnTo>
                <a:lnTo>
                  <a:pt x="739166" y="1509"/>
                </a:lnTo>
                <a:lnTo>
                  <a:pt x="793927" y="5958"/>
                </a:lnTo>
                <a:lnTo>
                  <a:pt x="847267" y="13231"/>
                </a:lnTo>
                <a:lnTo>
                  <a:pt x="899010" y="23210"/>
                </a:lnTo>
                <a:lnTo>
                  <a:pt x="948980" y="35778"/>
                </a:lnTo>
                <a:lnTo>
                  <a:pt x="997000" y="50817"/>
                </a:lnTo>
                <a:lnTo>
                  <a:pt x="1042896" y="68211"/>
                </a:lnTo>
                <a:lnTo>
                  <a:pt x="1086491" y="87842"/>
                </a:lnTo>
                <a:lnTo>
                  <a:pt x="1127610" y="109593"/>
                </a:lnTo>
                <a:lnTo>
                  <a:pt x="1166076" y="133347"/>
                </a:lnTo>
                <a:lnTo>
                  <a:pt x="1201713" y="158987"/>
                </a:lnTo>
                <a:lnTo>
                  <a:pt x="1234346" y="186396"/>
                </a:lnTo>
                <a:lnTo>
                  <a:pt x="1263799" y="215456"/>
                </a:lnTo>
                <a:lnTo>
                  <a:pt x="1289895" y="246050"/>
                </a:lnTo>
                <a:lnTo>
                  <a:pt x="1312459" y="278062"/>
                </a:lnTo>
                <a:lnTo>
                  <a:pt x="1331315" y="311373"/>
                </a:lnTo>
                <a:lnTo>
                  <a:pt x="1357199" y="381427"/>
                </a:lnTo>
                <a:lnTo>
                  <a:pt x="1366140" y="455274"/>
                </a:lnTo>
                <a:lnTo>
                  <a:pt x="1363876" y="492615"/>
                </a:lnTo>
                <a:lnTo>
                  <a:pt x="1357199" y="529126"/>
                </a:lnTo>
                <a:lnTo>
                  <a:pt x="1331315" y="599183"/>
                </a:lnTo>
                <a:lnTo>
                  <a:pt x="1312459" y="632495"/>
                </a:lnTo>
                <a:lnTo>
                  <a:pt x="1289895" y="664508"/>
                </a:lnTo>
                <a:lnTo>
                  <a:pt x="1263799" y="695103"/>
                </a:lnTo>
                <a:lnTo>
                  <a:pt x="1234346" y="724163"/>
                </a:lnTo>
                <a:lnTo>
                  <a:pt x="1201713" y="751572"/>
                </a:lnTo>
                <a:lnTo>
                  <a:pt x="1166076" y="777212"/>
                </a:lnTo>
                <a:lnTo>
                  <a:pt x="1127610" y="800966"/>
                </a:lnTo>
                <a:lnTo>
                  <a:pt x="1086492" y="822717"/>
                </a:lnTo>
                <a:lnTo>
                  <a:pt x="1042896" y="842348"/>
                </a:lnTo>
                <a:lnTo>
                  <a:pt x="997000" y="859742"/>
                </a:lnTo>
                <a:lnTo>
                  <a:pt x="948980" y="874781"/>
                </a:lnTo>
                <a:lnTo>
                  <a:pt x="899010" y="887348"/>
                </a:lnTo>
                <a:lnTo>
                  <a:pt x="847267" y="897326"/>
                </a:lnTo>
                <a:lnTo>
                  <a:pt x="793927" y="904599"/>
                </a:lnTo>
                <a:lnTo>
                  <a:pt x="739166" y="909048"/>
                </a:lnTo>
                <a:lnTo>
                  <a:pt x="683160" y="910558"/>
                </a:lnTo>
                <a:lnTo>
                  <a:pt x="627125" y="909048"/>
                </a:lnTo>
                <a:lnTo>
                  <a:pt x="572339" y="904599"/>
                </a:lnTo>
                <a:lnTo>
                  <a:pt x="518977" y="897326"/>
                </a:lnTo>
                <a:lnTo>
                  <a:pt x="467215" y="887348"/>
                </a:lnTo>
                <a:lnTo>
                  <a:pt x="417228" y="874781"/>
                </a:lnTo>
                <a:lnTo>
                  <a:pt x="369192" y="859742"/>
                </a:lnTo>
                <a:lnTo>
                  <a:pt x="323284" y="842348"/>
                </a:lnTo>
                <a:lnTo>
                  <a:pt x="279679" y="822717"/>
                </a:lnTo>
                <a:lnTo>
                  <a:pt x="238552" y="800966"/>
                </a:lnTo>
                <a:lnTo>
                  <a:pt x="200079" y="777212"/>
                </a:lnTo>
                <a:lnTo>
                  <a:pt x="164436" y="751572"/>
                </a:lnTo>
                <a:lnTo>
                  <a:pt x="131799" y="724163"/>
                </a:lnTo>
                <a:lnTo>
                  <a:pt x="102344" y="695103"/>
                </a:lnTo>
                <a:lnTo>
                  <a:pt x="76246" y="664508"/>
                </a:lnTo>
                <a:lnTo>
                  <a:pt x="53681" y="632495"/>
                </a:lnTo>
                <a:lnTo>
                  <a:pt x="34824" y="599183"/>
                </a:lnTo>
                <a:lnTo>
                  <a:pt x="8940" y="529126"/>
                </a:lnTo>
                <a:lnTo>
                  <a:pt x="2264" y="492615"/>
                </a:lnTo>
                <a:lnTo>
                  <a:pt x="0" y="455274"/>
                </a:lnTo>
                <a:close/>
              </a:path>
            </a:pathLst>
          </a:custGeom>
          <a:ln w="14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636487" y="5611117"/>
            <a:ext cx="66802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变更控制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88752" y="5276291"/>
            <a:ext cx="1366520" cy="910590"/>
          </a:xfrm>
          <a:custGeom>
            <a:avLst/>
            <a:gdLst/>
            <a:ahLst/>
            <a:cxnLst/>
            <a:rect l="l" t="t" r="r" b="b"/>
            <a:pathLst>
              <a:path w="1366520" h="910589">
                <a:moveTo>
                  <a:pt x="0" y="455274"/>
                </a:moveTo>
                <a:lnTo>
                  <a:pt x="8940" y="381427"/>
                </a:lnTo>
                <a:lnTo>
                  <a:pt x="34826" y="311373"/>
                </a:lnTo>
                <a:lnTo>
                  <a:pt x="53684" y="278062"/>
                </a:lnTo>
                <a:lnTo>
                  <a:pt x="76250" y="246050"/>
                </a:lnTo>
                <a:lnTo>
                  <a:pt x="102350" y="215456"/>
                </a:lnTo>
                <a:lnTo>
                  <a:pt x="131806" y="186396"/>
                </a:lnTo>
                <a:lnTo>
                  <a:pt x="164445" y="158987"/>
                </a:lnTo>
                <a:lnTo>
                  <a:pt x="200089" y="133347"/>
                </a:lnTo>
                <a:lnTo>
                  <a:pt x="238563" y="109593"/>
                </a:lnTo>
                <a:lnTo>
                  <a:pt x="279692" y="87842"/>
                </a:lnTo>
                <a:lnTo>
                  <a:pt x="323298" y="68211"/>
                </a:lnTo>
                <a:lnTo>
                  <a:pt x="369208" y="50817"/>
                </a:lnTo>
                <a:lnTo>
                  <a:pt x="417245" y="35778"/>
                </a:lnTo>
                <a:lnTo>
                  <a:pt x="467232" y="23210"/>
                </a:lnTo>
                <a:lnTo>
                  <a:pt x="518996" y="13231"/>
                </a:lnTo>
                <a:lnTo>
                  <a:pt x="572359" y="5958"/>
                </a:lnTo>
                <a:lnTo>
                  <a:pt x="627145" y="1509"/>
                </a:lnTo>
                <a:lnTo>
                  <a:pt x="683180" y="0"/>
                </a:lnTo>
                <a:lnTo>
                  <a:pt x="739187" y="1509"/>
                </a:lnTo>
                <a:lnTo>
                  <a:pt x="793948" y="5958"/>
                </a:lnTo>
                <a:lnTo>
                  <a:pt x="847287" y="13231"/>
                </a:lnTo>
                <a:lnTo>
                  <a:pt x="899030" y="23210"/>
                </a:lnTo>
                <a:lnTo>
                  <a:pt x="949000" y="35778"/>
                </a:lnTo>
                <a:lnTo>
                  <a:pt x="997021" y="50817"/>
                </a:lnTo>
                <a:lnTo>
                  <a:pt x="1042916" y="68211"/>
                </a:lnTo>
                <a:lnTo>
                  <a:pt x="1086512" y="87842"/>
                </a:lnTo>
                <a:lnTo>
                  <a:pt x="1127630" y="109593"/>
                </a:lnTo>
                <a:lnTo>
                  <a:pt x="1166096" y="133347"/>
                </a:lnTo>
                <a:lnTo>
                  <a:pt x="1201733" y="158987"/>
                </a:lnTo>
                <a:lnTo>
                  <a:pt x="1234366" y="186396"/>
                </a:lnTo>
                <a:lnTo>
                  <a:pt x="1263819" y="215456"/>
                </a:lnTo>
                <a:lnTo>
                  <a:pt x="1289915" y="246050"/>
                </a:lnTo>
                <a:lnTo>
                  <a:pt x="1312479" y="278062"/>
                </a:lnTo>
                <a:lnTo>
                  <a:pt x="1331335" y="311373"/>
                </a:lnTo>
                <a:lnTo>
                  <a:pt x="1357219" y="381427"/>
                </a:lnTo>
                <a:lnTo>
                  <a:pt x="1366160" y="455274"/>
                </a:lnTo>
                <a:lnTo>
                  <a:pt x="1363896" y="492615"/>
                </a:lnTo>
                <a:lnTo>
                  <a:pt x="1357219" y="529126"/>
                </a:lnTo>
                <a:lnTo>
                  <a:pt x="1331335" y="599183"/>
                </a:lnTo>
                <a:lnTo>
                  <a:pt x="1312479" y="632495"/>
                </a:lnTo>
                <a:lnTo>
                  <a:pt x="1289915" y="664508"/>
                </a:lnTo>
                <a:lnTo>
                  <a:pt x="1263819" y="695103"/>
                </a:lnTo>
                <a:lnTo>
                  <a:pt x="1234366" y="724163"/>
                </a:lnTo>
                <a:lnTo>
                  <a:pt x="1201733" y="751572"/>
                </a:lnTo>
                <a:lnTo>
                  <a:pt x="1166096" y="777212"/>
                </a:lnTo>
                <a:lnTo>
                  <a:pt x="1127630" y="800966"/>
                </a:lnTo>
                <a:lnTo>
                  <a:pt x="1086512" y="822717"/>
                </a:lnTo>
                <a:lnTo>
                  <a:pt x="1042916" y="842348"/>
                </a:lnTo>
                <a:lnTo>
                  <a:pt x="997021" y="859742"/>
                </a:lnTo>
                <a:lnTo>
                  <a:pt x="949000" y="874781"/>
                </a:lnTo>
                <a:lnTo>
                  <a:pt x="899030" y="887348"/>
                </a:lnTo>
                <a:lnTo>
                  <a:pt x="847287" y="897326"/>
                </a:lnTo>
                <a:lnTo>
                  <a:pt x="793948" y="904599"/>
                </a:lnTo>
                <a:lnTo>
                  <a:pt x="739187" y="909048"/>
                </a:lnTo>
                <a:lnTo>
                  <a:pt x="683180" y="910558"/>
                </a:lnTo>
                <a:lnTo>
                  <a:pt x="627145" y="909048"/>
                </a:lnTo>
                <a:lnTo>
                  <a:pt x="572359" y="904599"/>
                </a:lnTo>
                <a:lnTo>
                  <a:pt x="518996" y="897326"/>
                </a:lnTo>
                <a:lnTo>
                  <a:pt x="467233" y="887348"/>
                </a:lnTo>
                <a:lnTo>
                  <a:pt x="417245" y="874781"/>
                </a:lnTo>
                <a:lnTo>
                  <a:pt x="369208" y="859742"/>
                </a:lnTo>
                <a:lnTo>
                  <a:pt x="323298" y="842348"/>
                </a:lnTo>
                <a:lnTo>
                  <a:pt x="279692" y="822717"/>
                </a:lnTo>
                <a:lnTo>
                  <a:pt x="238563" y="800966"/>
                </a:lnTo>
                <a:lnTo>
                  <a:pt x="200089" y="777212"/>
                </a:lnTo>
                <a:lnTo>
                  <a:pt x="164445" y="751572"/>
                </a:lnTo>
                <a:lnTo>
                  <a:pt x="131806" y="724163"/>
                </a:lnTo>
                <a:lnTo>
                  <a:pt x="102350" y="695103"/>
                </a:lnTo>
                <a:lnTo>
                  <a:pt x="76250" y="664508"/>
                </a:lnTo>
                <a:lnTo>
                  <a:pt x="53684" y="632495"/>
                </a:lnTo>
                <a:lnTo>
                  <a:pt x="34826" y="599183"/>
                </a:lnTo>
                <a:lnTo>
                  <a:pt x="8940" y="529126"/>
                </a:lnTo>
                <a:lnTo>
                  <a:pt x="2264" y="492615"/>
                </a:lnTo>
                <a:lnTo>
                  <a:pt x="0" y="455274"/>
                </a:lnTo>
                <a:close/>
              </a:path>
            </a:pathLst>
          </a:custGeom>
          <a:ln w="14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938126" y="5611117"/>
            <a:ext cx="66802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项目活动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76734" y="3252443"/>
            <a:ext cx="939165" cy="617220"/>
          </a:xfrm>
          <a:custGeom>
            <a:avLst/>
            <a:gdLst/>
            <a:ahLst/>
            <a:cxnLst/>
            <a:rect l="l" t="t" r="r" b="b"/>
            <a:pathLst>
              <a:path w="939164" h="617220">
                <a:moveTo>
                  <a:pt x="939022" y="0"/>
                </a:moveTo>
                <a:lnTo>
                  <a:pt x="0" y="616749"/>
                </a:lnTo>
              </a:path>
            </a:pathLst>
          </a:custGeom>
          <a:ln w="14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27125" y="3805951"/>
            <a:ext cx="199390" cy="161925"/>
          </a:xfrm>
          <a:custGeom>
            <a:avLst/>
            <a:gdLst/>
            <a:ahLst/>
            <a:cxnLst/>
            <a:rect l="l" t="t" r="r" b="b"/>
            <a:pathLst>
              <a:path w="199389" h="161925">
                <a:moveTo>
                  <a:pt x="127519" y="0"/>
                </a:moveTo>
                <a:lnTo>
                  <a:pt x="0" y="161414"/>
                </a:lnTo>
                <a:lnTo>
                  <a:pt x="198809" y="108613"/>
                </a:lnTo>
                <a:lnTo>
                  <a:pt x="127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52175" y="3242405"/>
            <a:ext cx="1024890" cy="631825"/>
          </a:xfrm>
          <a:custGeom>
            <a:avLst/>
            <a:gdLst/>
            <a:ahLst/>
            <a:cxnLst/>
            <a:rect l="l" t="t" r="r" b="b"/>
            <a:pathLst>
              <a:path w="1024889" h="631825">
                <a:moveTo>
                  <a:pt x="0" y="0"/>
                </a:moveTo>
                <a:lnTo>
                  <a:pt x="1024369" y="631204"/>
                </a:lnTo>
              </a:path>
            </a:pathLst>
          </a:custGeom>
          <a:ln w="14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28549" y="3809565"/>
            <a:ext cx="200660" cy="158115"/>
          </a:xfrm>
          <a:custGeom>
            <a:avLst/>
            <a:gdLst/>
            <a:ahLst/>
            <a:cxnLst/>
            <a:rect l="l" t="t" r="r" b="b"/>
            <a:pathLst>
              <a:path w="200660" h="158114">
                <a:moveTo>
                  <a:pt x="68277" y="0"/>
                </a:moveTo>
                <a:lnTo>
                  <a:pt x="0" y="110822"/>
                </a:lnTo>
                <a:lnTo>
                  <a:pt x="200214" y="157801"/>
                </a:lnTo>
                <a:lnTo>
                  <a:pt x="68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72575" y="4529244"/>
            <a:ext cx="0" cy="313055"/>
          </a:xfrm>
          <a:custGeom>
            <a:avLst/>
            <a:gdLst/>
            <a:ahLst/>
            <a:cxnLst/>
            <a:rect l="l" t="t" r="r" b="b"/>
            <a:pathLst>
              <a:path h="313054">
                <a:moveTo>
                  <a:pt x="0" y="0"/>
                </a:moveTo>
                <a:lnTo>
                  <a:pt x="0" y="312773"/>
                </a:lnTo>
              </a:path>
            </a:pathLst>
          </a:custGeom>
          <a:ln w="1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72575" y="5055189"/>
            <a:ext cx="0" cy="133985"/>
          </a:xfrm>
          <a:custGeom>
            <a:avLst/>
            <a:gdLst/>
            <a:ahLst/>
            <a:cxnLst/>
            <a:rect l="l" t="t" r="r" b="b"/>
            <a:pathLst>
              <a:path h="133985">
                <a:moveTo>
                  <a:pt x="0" y="0"/>
                </a:moveTo>
                <a:lnTo>
                  <a:pt x="0" y="133851"/>
                </a:lnTo>
              </a:path>
            </a:pathLst>
          </a:custGeom>
          <a:ln w="1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08434" y="5165369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79">
                <a:moveTo>
                  <a:pt x="130109" y="0"/>
                </a:moveTo>
                <a:lnTo>
                  <a:pt x="0" y="361"/>
                </a:lnTo>
                <a:lnTo>
                  <a:pt x="65647" y="195323"/>
                </a:lnTo>
                <a:lnTo>
                  <a:pt x="1301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238605" y="4829017"/>
            <a:ext cx="668655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0" dirty="0">
                <a:latin typeface="宋体"/>
                <a:cs typeface="宋体"/>
              </a:rPr>
              <a:t>当前基</a:t>
            </a:r>
            <a:r>
              <a:rPr sz="1250" spc="15" dirty="0">
                <a:latin typeface="宋体"/>
                <a:cs typeface="宋体"/>
              </a:rPr>
              <a:t>线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371527" y="4708126"/>
            <a:ext cx="0" cy="38735"/>
          </a:xfrm>
          <a:custGeom>
            <a:avLst/>
            <a:gdLst/>
            <a:ahLst/>
            <a:cxnLst/>
            <a:rect l="l" t="t" r="r" b="b"/>
            <a:pathLst>
              <a:path h="38735">
                <a:moveTo>
                  <a:pt x="0" y="0"/>
                </a:moveTo>
                <a:lnTo>
                  <a:pt x="0" y="38307"/>
                </a:lnTo>
              </a:path>
            </a:pathLst>
          </a:custGeom>
          <a:ln w="18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71527" y="5154106"/>
            <a:ext cx="0" cy="217170"/>
          </a:xfrm>
          <a:custGeom>
            <a:avLst/>
            <a:gdLst/>
            <a:ahLst/>
            <a:cxnLst/>
            <a:rect l="l" t="t" r="r" b="b"/>
            <a:pathLst>
              <a:path h="217170">
                <a:moveTo>
                  <a:pt x="0" y="0"/>
                </a:moveTo>
                <a:lnTo>
                  <a:pt x="0" y="217128"/>
                </a:lnTo>
              </a:path>
            </a:pathLst>
          </a:custGeom>
          <a:ln w="18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04655" y="4536474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79">
                <a:moveTo>
                  <a:pt x="64060" y="0"/>
                </a:moveTo>
                <a:lnTo>
                  <a:pt x="0" y="195504"/>
                </a:lnTo>
                <a:lnTo>
                  <a:pt x="130129" y="194781"/>
                </a:lnTo>
                <a:lnTo>
                  <a:pt x="64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035749" y="4708557"/>
            <a:ext cx="669290" cy="436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635" marR="5080" indent="-242570">
              <a:lnSpc>
                <a:spcPct val="107800"/>
              </a:lnSpc>
              <a:spcBef>
                <a:spcPts val="95"/>
              </a:spcBef>
            </a:pPr>
            <a:r>
              <a:rPr sz="1250" spc="5" dirty="0">
                <a:latin typeface="宋体"/>
                <a:cs typeface="宋体"/>
              </a:rPr>
              <a:t>修订的</a:t>
            </a:r>
            <a:r>
              <a:rPr sz="1250" spc="10" dirty="0">
                <a:latin typeface="宋体"/>
                <a:cs typeface="宋体"/>
              </a:rPr>
              <a:t>基 </a:t>
            </a:r>
            <a:r>
              <a:rPr sz="1250" spc="15" dirty="0">
                <a:latin typeface="宋体"/>
                <a:cs typeface="宋体"/>
              </a:rPr>
              <a:t>线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88178" y="4529244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5">
                <a:moveTo>
                  <a:pt x="0" y="0"/>
                </a:moveTo>
                <a:lnTo>
                  <a:pt x="0" y="194663"/>
                </a:lnTo>
              </a:path>
            </a:pathLst>
          </a:custGeom>
          <a:ln w="15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23916" y="5121602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79">
                <a:moveTo>
                  <a:pt x="130129" y="0"/>
                </a:moveTo>
                <a:lnTo>
                  <a:pt x="0" y="401"/>
                </a:lnTo>
                <a:lnTo>
                  <a:pt x="65868" y="195344"/>
                </a:lnTo>
                <a:lnTo>
                  <a:pt x="1301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56391" y="5129171"/>
            <a:ext cx="0" cy="196215"/>
          </a:xfrm>
          <a:custGeom>
            <a:avLst/>
            <a:gdLst/>
            <a:ahLst/>
            <a:cxnLst/>
            <a:rect l="l" t="t" r="r" b="b"/>
            <a:pathLst>
              <a:path h="196214">
                <a:moveTo>
                  <a:pt x="0" y="0"/>
                </a:moveTo>
                <a:lnTo>
                  <a:pt x="0" y="195687"/>
                </a:lnTo>
              </a:path>
            </a:pathLst>
          </a:custGeom>
          <a:ln w="14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91427" y="4536474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79">
                <a:moveTo>
                  <a:pt x="65064" y="0"/>
                </a:moveTo>
                <a:lnTo>
                  <a:pt x="0" y="195123"/>
                </a:lnTo>
                <a:lnTo>
                  <a:pt x="130129" y="195163"/>
                </a:lnTo>
                <a:lnTo>
                  <a:pt x="6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734463" y="4682679"/>
            <a:ext cx="1075690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8500"/>
              </a:lnSpc>
              <a:spcBef>
                <a:spcPts val="95"/>
              </a:spcBef>
              <a:tabLst>
                <a:tab pos="741045" algn="l"/>
              </a:tabLst>
            </a:pPr>
            <a:r>
              <a:rPr sz="1250" spc="10" dirty="0">
                <a:latin typeface="宋体"/>
                <a:cs typeface="宋体"/>
              </a:rPr>
              <a:t>项目</a:t>
            </a:r>
            <a:r>
              <a:rPr sz="1250" spc="15" dirty="0">
                <a:latin typeface="宋体"/>
                <a:cs typeface="宋体"/>
              </a:rPr>
              <a:t>当</a:t>
            </a:r>
            <a:r>
              <a:rPr sz="1250" spc="-50" dirty="0">
                <a:latin typeface="宋体"/>
                <a:cs typeface="宋体"/>
              </a:rPr>
              <a:t> </a:t>
            </a:r>
            <a:r>
              <a:rPr sz="1250" spc="10" dirty="0">
                <a:latin typeface="宋体"/>
                <a:cs typeface="宋体"/>
              </a:rPr>
              <a:t>项目</a:t>
            </a:r>
            <a:r>
              <a:rPr sz="1250" spc="15" dirty="0">
                <a:latin typeface="宋体"/>
                <a:cs typeface="宋体"/>
              </a:rPr>
              <a:t>进 </a:t>
            </a:r>
            <a:r>
              <a:rPr sz="1250" spc="10" dirty="0">
                <a:latin typeface="宋体"/>
                <a:cs typeface="宋体"/>
              </a:rPr>
              <a:t>前状</a:t>
            </a:r>
            <a:r>
              <a:rPr sz="1250" spc="15" dirty="0">
                <a:latin typeface="宋体"/>
                <a:cs typeface="宋体"/>
              </a:rPr>
              <a:t>态	展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004925" y="5731566"/>
            <a:ext cx="103505" cy="0"/>
          </a:xfrm>
          <a:custGeom>
            <a:avLst/>
            <a:gdLst/>
            <a:ahLst/>
            <a:cxnLst/>
            <a:rect l="l" t="t" r="r" b="b"/>
            <a:pathLst>
              <a:path w="103505">
                <a:moveTo>
                  <a:pt x="0" y="0"/>
                </a:moveTo>
                <a:lnTo>
                  <a:pt x="103280" y="0"/>
                </a:lnTo>
              </a:path>
            </a:pathLst>
          </a:custGeom>
          <a:ln w="14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91707" y="5731566"/>
            <a:ext cx="271145" cy="0"/>
          </a:xfrm>
          <a:custGeom>
            <a:avLst/>
            <a:gdLst/>
            <a:ahLst/>
            <a:cxnLst/>
            <a:rect l="l" t="t" r="r" b="b"/>
            <a:pathLst>
              <a:path w="271144">
                <a:moveTo>
                  <a:pt x="0" y="0"/>
                </a:moveTo>
                <a:lnTo>
                  <a:pt x="270601" y="0"/>
                </a:lnTo>
              </a:path>
            </a:pathLst>
          </a:custGeom>
          <a:ln w="14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091939" y="5666518"/>
            <a:ext cx="195580" cy="130175"/>
          </a:xfrm>
          <a:custGeom>
            <a:avLst/>
            <a:gdLst/>
            <a:ahLst/>
            <a:cxnLst/>
            <a:rect l="l" t="t" r="r" b="b"/>
            <a:pathLst>
              <a:path w="195580" h="130175">
                <a:moveTo>
                  <a:pt x="0" y="0"/>
                </a:moveTo>
                <a:lnTo>
                  <a:pt x="0" y="130095"/>
                </a:lnTo>
                <a:lnTo>
                  <a:pt x="195194" y="650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355633" y="5611117"/>
            <a:ext cx="66802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需求变化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896345" y="5731566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865" y="0"/>
                </a:lnTo>
              </a:path>
            </a:pathLst>
          </a:custGeom>
          <a:ln w="14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133841" y="573156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888" y="0"/>
                </a:lnTo>
              </a:path>
            </a:pathLst>
          </a:custGeom>
          <a:ln w="14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954913" y="5666518"/>
            <a:ext cx="195580" cy="130175"/>
          </a:xfrm>
          <a:custGeom>
            <a:avLst/>
            <a:gdLst/>
            <a:ahLst/>
            <a:cxnLst/>
            <a:rect l="l" t="t" r="r" b="b"/>
            <a:pathLst>
              <a:path w="195579" h="130175">
                <a:moveTo>
                  <a:pt x="195194" y="0"/>
                </a:moveTo>
                <a:lnTo>
                  <a:pt x="0" y="65047"/>
                </a:lnTo>
                <a:lnTo>
                  <a:pt x="195194" y="130095"/>
                </a:lnTo>
                <a:lnTo>
                  <a:pt x="1951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247054" y="5611117"/>
            <a:ext cx="66802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系统开发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45791" y="3782807"/>
            <a:ext cx="9899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宋体"/>
                <a:cs typeface="宋体"/>
              </a:rPr>
              <a:t>需求开发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9324" y="4351995"/>
            <a:ext cx="9899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宋体"/>
                <a:cs typeface="宋体"/>
              </a:rPr>
              <a:t>需求管理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2881122" y="171653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需求工程过程</a:t>
            </a:r>
          </a:p>
        </p:txBody>
      </p:sp>
      <p:sp>
        <p:nvSpPr>
          <p:cNvPr id="53" name="object 53"/>
          <p:cNvSpPr/>
          <p:nvPr/>
        </p:nvSpPr>
        <p:spPr>
          <a:xfrm>
            <a:off x="3397758" y="2792729"/>
            <a:ext cx="2543810" cy="363220"/>
          </a:xfrm>
          <a:custGeom>
            <a:avLst/>
            <a:gdLst/>
            <a:ahLst/>
            <a:cxnLst/>
            <a:rect l="l" t="t" r="r" b="b"/>
            <a:pathLst>
              <a:path w="2543810" h="363219">
                <a:moveTo>
                  <a:pt x="0" y="181356"/>
                </a:moveTo>
                <a:lnTo>
                  <a:pt x="20488" y="148745"/>
                </a:lnTo>
                <a:lnTo>
                  <a:pt x="55803" y="128041"/>
                </a:lnTo>
                <a:lnTo>
                  <a:pt x="107203" y="108343"/>
                </a:lnTo>
                <a:lnTo>
                  <a:pt x="173623" y="89803"/>
                </a:lnTo>
                <a:lnTo>
                  <a:pt x="212133" y="81013"/>
                </a:lnTo>
                <a:lnTo>
                  <a:pt x="253999" y="72570"/>
                </a:lnTo>
                <a:lnTo>
                  <a:pt x="299088" y="64493"/>
                </a:lnTo>
                <a:lnTo>
                  <a:pt x="347268" y="56798"/>
                </a:lnTo>
                <a:lnTo>
                  <a:pt x="398404" y="49507"/>
                </a:lnTo>
                <a:lnTo>
                  <a:pt x="452365" y="42638"/>
                </a:lnTo>
                <a:lnTo>
                  <a:pt x="509017" y="36210"/>
                </a:lnTo>
                <a:lnTo>
                  <a:pt x="568228" y="30241"/>
                </a:lnTo>
                <a:lnTo>
                  <a:pt x="629863" y="24750"/>
                </a:lnTo>
                <a:lnTo>
                  <a:pt x="693791" y="19758"/>
                </a:lnTo>
                <a:lnTo>
                  <a:pt x="759878" y="15281"/>
                </a:lnTo>
                <a:lnTo>
                  <a:pt x="827991" y="11341"/>
                </a:lnTo>
                <a:lnTo>
                  <a:pt x="897998" y="7954"/>
                </a:lnTo>
                <a:lnTo>
                  <a:pt x="969765" y="5141"/>
                </a:lnTo>
                <a:lnTo>
                  <a:pt x="1043160" y="2920"/>
                </a:lnTo>
                <a:lnTo>
                  <a:pt x="1118049" y="1310"/>
                </a:lnTo>
                <a:lnTo>
                  <a:pt x="1194299" y="330"/>
                </a:lnTo>
                <a:lnTo>
                  <a:pt x="1271777" y="0"/>
                </a:lnTo>
                <a:lnTo>
                  <a:pt x="1349256" y="330"/>
                </a:lnTo>
                <a:lnTo>
                  <a:pt x="1425506" y="1310"/>
                </a:lnTo>
                <a:lnTo>
                  <a:pt x="1500395" y="2920"/>
                </a:lnTo>
                <a:lnTo>
                  <a:pt x="1573790" y="5141"/>
                </a:lnTo>
                <a:lnTo>
                  <a:pt x="1645557" y="7954"/>
                </a:lnTo>
                <a:lnTo>
                  <a:pt x="1715564" y="11341"/>
                </a:lnTo>
                <a:lnTo>
                  <a:pt x="1783677" y="15281"/>
                </a:lnTo>
                <a:lnTo>
                  <a:pt x="1849764" y="19758"/>
                </a:lnTo>
                <a:lnTo>
                  <a:pt x="1913692" y="24750"/>
                </a:lnTo>
                <a:lnTo>
                  <a:pt x="1975327" y="30241"/>
                </a:lnTo>
                <a:lnTo>
                  <a:pt x="2034538" y="36210"/>
                </a:lnTo>
                <a:lnTo>
                  <a:pt x="2091190" y="42638"/>
                </a:lnTo>
                <a:lnTo>
                  <a:pt x="2145151" y="49507"/>
                </a:lnTo>
                <a:lnTo>
                  <a:pt x="2196287" y="56798"/>
                </a:lnTo>
                <a:lnTo>
                  <a:pt x="2244467" y="64493"/>
                </a:lnTo>
                <a:lnTo>
                  <a:pt x="2289556" y="72570"/>
                </a:lnTo>
                <a:lnTo>
                  <a:pt x="2331422" y="81013"/>
                </a:lnTo>
                <a:lnTo>
                  <a:pt x="2369932" y="89803"/>
                </a:lnTo>
                <a:lnTo>
                  <a:pt x="2436352" y="108343"/>
                </a:lnTo>
                <a:lnTo>
                  <a:pt x="2487752" y="128041"/>
                </a:lnTo>
                <a:lnTo>
                  <a:pt x="2523067" y="148745"/>
                </a:lnTo>
                <a:lnTo>
                  <a:pt x="2543555" y="181356"/>
                </a:lnTo>
                <a:lnTo>
                  <a:pt x="2541235" y="192408"/>
                </a:lnTo>
                <a:lnTo>
                  <a:pt x="2507486" y="224434"/>
                </a:lnTo>
                <a:lnTo>
                  <a:pt x="2463996" y="244654"/>
                </a:lnTo>
                <a:lnTo>
                  <a:pt x="2404953" y="263792"/>
                </a:lnTo>
                <a:lnTo>
                  <a:pt x="2331422" y="281698"/>
                </a:lnTo>
                <a:lnTo>
                  <a:pt x="2289556" y="290141"/>
                </a:lnTo>
                <a:lnTo>
                  <a:pt x="2244467" y="298218"/>
                </a:lnTo>
                <a:lnTo>
                  <a:pt x="2196287" y="305913"/>
                </a:lnTo>
                <a:lnTo>
                  <a:pt x="2145151" y="313204"/>
                </a:lnTo>
                <a:lnTo>
                  <a:pt x="2091190" y="320073"/>
                </a:lnTo>
                <a:lnTo>
                  <a:pt x="2034538" y="326501"/>
                </a:lnTo>
                <a:lnTo>
                  <a:pt x="1975327" y="332470"/>
                </a:lnTo>
                <a:lnTo>
                  <a:pt x="1913692" y="337961"/>
                </a:lnTo>
                <a:lnTo>
                  <a:pt x="1849764" y="342953"/>
                </a:lnTo>
                <a:lnTo>
                  <a:pt x="1783677" y="347430"/>
                </a:lnTo>
                <a:lnTo>
                  <a:pt x="1715564" y="351370"/>
                </a:lnTo>
                <a:lnTo>
                  <a:pt x="1645557" y="354757"/>
                </a:lnTo>
                <a:lnTo>
                  <a:pt x="1573790" y="357570"/>
                </a:lnTo>
                <a:lnTo>
                  <a:pt x="1500395" y="359791"/>
                </a:lnTo>
                <a:lnTo>
                  <a:pt x="1425506" y="361401"/>
                </a:lnTo>
                <a:lnTo>
                  <a:pt x="1349256" y="362381"/>
                </a:lnTo>
                <a:lnTo>
                  <a:pt x="1271777" y="362712"/>
                </a:lnTo>
                <a:lnTo>
                  <a:pt x="1194299" y="362381"/>
                </a:lnTo>
                <a:lnTo>
                  <a:pt x="1118049" y="361401"/>
                </a:lnTo>
                <a:lnTo>
                  <a:pt x="1043160" y="359791"/>
                </a:lnTo>
                <a:lnTo>
                  <a:pt x="969765" y="357570"/>
                </a:lnTo>
                <a:lnTo>
                  <a:pt x="897998" y="354757"/>
                </a:lnTo>
                <a:lnTo>
                  <a:pt x="827991" y="351370"/>
                </a:lnTo>
                <a:lnTo>
                  <a:pt x="759878" y="347430"/>
                </a:lnTo>
                <a:lnTo>
                  <a:pt x="693791" y="342953"/>
                </a:lnTo>
                <a:lnTo>
                  <a:pt x="629863" y="337961"/>
                </a:lnTo>
                <a:lnTo>
                  <a:pt x="568228" y="332470"/>
                </a:lnTo>
                <a:lnTo>
                  <a:pt x="509017" y="326501"/>
                </a:lnTo>
                <a:lnTo>
                  <a:pt x="452365" y="320073"/>
                </a:lnTo>
                <a:lnTo>
                  <a:pt x="398404" y="313204"/>
                </a:lnTo>
                <a:lnTo>
                  <a:pt x="347268" y="305913"/>
                </a:lnTo>
                <a:lnTo>
                  <a:pt x="299088" y="298218"/>
                </a:lnTo>
                <a:lnTo>
                  <a:pt x="253999" y="290141"/>
                </a:lnTo>
                <a:lnTo>
                  <a:pt x="212133" y="281698"/>
                </a:lnTo>
                <a:lnTo>
                  <a:pt x="173623" y="272908"/>
                </a:lnTo>
                <a:lnTo>
                  <a:pt x="107203" y="254368"/>
                </a:lnTo>
                <a:lnTo>
                  <a:pt x="55803" y="234670"/>
                </a:lnTo>
                <a:lnTo>
                  <a:pt x="20488" y="213966"/>
                </a:lnTo>
                <a:lnTo>
                  <a:pt x="0" y="18135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4394" y="3704082"/>
            <a:ext cx="8343900" cy="1111250"/>
          </a:xfrm>
          <a:custGeom>
            <a:avLst/>
            <a:gdLst/>
            <a:ahLst/>
            <a:cxnLst/>
            <a:rect l="l" t="t" r="r" b="b"/>
            <a:pathLst>
              <a:path w="8343900" h="1111250">
                <a:moveTo>
                  <a:pt x="0" y="555498"/>
                </a:moveTo>
                <a:lnTo>
                  <a:pt x="11442" y="514035"/>
                </a:lnTo>
                <a:lnTo>
                  <a:pt x="34734" y="483476"/>
                </a:lnTo>
                <a:lnTo>
                  <a:pt x="70257" y="453429"/>
                </a:lnTo>
                <a:lnTo>
                  <a:pt x="117669" y="423937"/>
                </a:lnTo>
                <a:lnTo>
                  <a:pt x="155715" y="404608"/>
                </a:lnTo>
                <a:lnTo>
                  <a:pt x="198793" y="385560"/>
                </a:lnTo>
                <a:lnTo>
                  <a:pt x="246803" y="366806"/>
                </a:lnTo>
                <a:lnTo>
                  <a:pt x="299644" y="348360"/>
                </a:lnTo>
                <a:lnTo>
                  <a:pt x="357214" y="330235"/>
                </a:lnTo>
                <a:lnTo>
                  <a:pt x="419414" y="312444"/>
                </a:lnTo>
                <a:lnTo>
                  <a:pt x="486142" y="295002"/>
                </a:lnTo>
                <a:lnTo>
                  <a:pt x="557298" y="277920"/>
                </a:lnTo>
                <a:lnTo>
                  <a:pt x="594504" y="269520"/>
                </a:lnTo>
                <a:lnTo>
                  <a:pt x="632780" y="261214"/>
                </a:lnTo>
                <a:lnTo>
                  <a:pt x="672112" y="253006"/>
                </a:lnTo>
                <a:lnTo>
                  <a:pt x="712488" y="244896"/>
                </a:lnTo>
                <a:lnTo>
                  <a:pt x="753895" y="236887"/>
                </a:lnTo>
                <a:lnTo>
                  <a:pt x="796321" y="228980"/>
                </a:lnTo>
                <a:lnTo>
                  <a:pt x="839753" y="221176"/>
                </a:lnTo>
                <a:lnTo>
                  <a:pt x="884179" y="213479"/>
                </a:lnTo>
                <a:lnTo>
                  <a:pt x="929585" y="205888"/>
                </a:lnTo>
                <a:lnTo>
                  <a:pt x="975959" y="198406"/>
                </a:lnTo>
                <a:lnTo>
                  <a:pt x="1023289" y="191034"/>
                </a:lnTo>
                <a:lnTo>
                  <a:pt x="1071563" y="183775"/>
                </a:lnTo>
                <a:lnTo>
                  <a:pt x="1120766" y="176629"/>
                </a:lnTo>
                <a:lnTo>
                  <a:pt x="1170887" y="169599"/>
                </a:lnTo>
                <a:lnTo>
                  <a:pt x="1221914" y="162687"/>
                </a:lnTo>
                <a:lnTo>
                  <a:pt x="1273833" y="155893"/>
                </a:lnTo>
                <a:lnTo>
                  <a:pt x="1326633" y="149219"/>
                </a:lnTo>
                <a:lnTo>
                  <a:pt x="1380299" y="142668"/>
                </a:lnTo>
                <a:lnTo>
                  <a:pt x="1434821" y="136241"/>
                </a:lnTo>
                <a:lnTo>
                  <a:pt x="1490185" y="129939"/>
                </a:lnTo>
                <a:lnTo>
                  <a:pt x="1546378" y="123764"/>
                </a:lnTo>
                <a:lnTo>
                  <a:pt x="1603388" y="117719"/>
                </a:lnTo>
                <a:lnTo>
                  <a:pt x="1661203" y="111804"/>
                </a:lnTo>
                <a:lnTo>
                  <a:pt x="1719810" y="106021"/>
                </a:lnTo>
                <a:lnTo>
                  <a:pt x="1779195" y="100373"/>
                </a:lnTo>
                <a:lnTo>
                  <a:pt x="1839348" y="94860"/>
                </a:lnTo>
                <a:lnTo>
                  <a:pt x="1900254" y="89484"/>
                </a:lnTo>
                <a:lnTo>
                  <a:pt x="1961902" y="84247"/>
                </a:lnTo>
                <a:lnTo>
                  <a:pt x="2024278" y="79151"/>
                </a:lnTo>
                <a:lnTo>
                  <a:pt x="2087371" y="74197"/>
                </a:lnTo>
                <a:lnTo>
                  <a:pt x="2151167" y="69388"/>
                </a:lnTo>
                <a:lnTo>
                  <a:pt x="2215655" y="64724"/>
                </a:lnTo>
                <a:lnTo>
                  <a:pt x="2280820" y="60207"/>
                </a:lnTo>
                <a:lnTo>
                  <a:pt x="2346652" y="55839"/>
                </a:lnTo>
                <a:lnTo>
                  <a:pt x="2413136" y="51623"/>
                </a:lnTo>
                <a:lnTo>
                  <a:pt x="2480261" y="47558"/>
                </a:lnTo>
                <a:lnTo>
                  <a:pt x="2548014" y="43648"/>
                </a:lnTo>
                <a:lnTo>
                  <a:pt x="2616383" y="39893"/>
                </a:lnTo>
                <a:lnTo>
                  <a:pt x="2685354" y="36296"/>
                </a:lnTo>
                <a:lnTo>
                  <a:pt x="2754915" y="32858"/>
                </a:lnTo>
                <a:lnTo>
                  <a:pt x="2825054" y="29581"/>
                </a:lnTo>
                <a:lnTo>
                  <a:pt x="2895758" y="26466"/>
                </a:lnTo>
                <a:lnTo>
                  <a:pt x="2967015" y="23516"/>
                </a:lnTo>
                <a:lnTo>
                  <a:pt x="3038811" y="20731"/>
                </a:lnTo>
                <a:lnTo>
                  <a:pt x="3111134" y="18114"/>
                </a:lnTo>
                <a:lnTo>
                  <a:pt x="3183971" y="15666"/>
                </a:lnTo>
                <a:lnTo>
                  <a:pt x="3257311" y="13388"/>
                </a:lnTo>
                <a:lnTo>
                  <a:pt x="3331140" y="11284"/>
                </a:lnTo>
                <a:lnTo>
                  <a:pt x="3405445" y="9353"/>
                </a:lnTo>
                <a:lnTo>
                  <a:pt x="3480215" y="7599"/>
                </a:lnTo>
                <a:lnTo>
                  <a:pt x="3555437" y="6022"/>
                </a:lnTo>
                <a:lnTo>
                  <a:pt x="3631097" y="4624"/>
                </a:lnTo>
                <a:lnTo>
                  <a:pt x="3707183" y="3407"/>
                </a:lnTo>
                <a:lnTo>
                  <a:pt x="3783684" y="2373"/>
                </a:lnTo>
                <a:lnTo>
                  <a:pt x="3860585" y="1523"/>
                </a:lnTo>
                <a:lnTo>
                  <a:pt x="3937875" y="859"/>
                </a:lnTo>
                <a:lnTo>
                  <a:pt x="4015541" y="383"/>
                </a:lnTo>
                <a:lnTo>
                  <a:pt x="4093570" y="96"/>
                </a:lnTo>
                <a:lnTo>
                  <a:pt x="4171950" y="0"/>
                </a:lnTo>
                <a:lnTo>
                  <a:pt x="4250329" y="96"/>
                </a:lnTo>
                <a:lnTo>
                  <a:pt x="4328358" y="383"/>
                </a:lnTo>
                <a:lnTo>
                  <a:pt x="4406024" y="859"/>
                </a:lnTo>
                <a:lnTo>
                  <a:pt x="4483314" y="1523"/>
                </a:lnTo>
                <a:lnTo>
                  <a:pt x="4560215" y="2373"/>
                </a:lnTo>
                <a:lnTo>
                  <a:pt x="4636716" y="3407"/>
                </a:lnTo>
                <a:lnTo>
                  <a:pt x="4712802" y="4624"/>
                </a:lnTo>
                <a:lnTo>
                  <a:pt x="4788462" y="6022"/>
                </a:lnTo>
                <a:lnTo>
                  <a:pt x="4863684" y="7599"/>
                </a:lnTo>
                <a:lnTo>
                  <a:pt x="4938454" y="9353"/>
                </a:lnTo>
                <a:lnTo>
                  <a:pt x="5012759" y="11284"/>
                </a:lnTo>
                <a:lnTo>
                  <a:pt x="5086588" y="13388"/>
                </a:lnTo>
                <a:lnTo>
                  <a:pt x="5159928" y="15666"/>
                </a:lnTo>
                <a:lnTo>
                  <a:pt x="5232765" y="18114"/>
                </a:lnTo>
                <a:lnTo>
                  <a:pt x="5305088" y="20731"/>
                </a:lnTo>
                <a:lnTo>
                  <a:pt x="5376884" y="23516"/>
                </a:lnTo>
                <a:lnTo>
                  <a:pt x="5448141" y="26466"/>
                </a:lnTo>
                <a:lnTo>
                  <a:pt x="5518845" y="29581"/>
                </a:lnTo>
                <a:lnTo>
                  <a:pt x="5588984" y="32858"/>
                </a:lnTo>
                <a:lnTo>
                  <a:pt x="5658545" y="36296"/>
                </a:lnTo>
                <a:lnTo>
                  <a:pt x="5727516" y="39893"/>
                </a:lnTo>
                <a:lnTo>
                  <a:pt x="5795885" y="43648"/>
                </a:lnTo>
                <a:lnTo>
                  <a:pt x="5863638" y="47558"/>
                </a:lnTo>
                <a:lnTo>
                  <a:pt x="5930763" y="51623"/>
                </a:lnTo>
                <a:lnTo>
                  <a:pt x="5997247" y="55839"/>
                </a:lnTo>
                <a:lnTo>
                  <a:pt x="6063079" y="60207"/>
                </a:lnTo>
                <a:lnTo>
                  <a:pt x="6128244" y="64724"/>
                </a:lnTo>
                <a:lnTo>
                  <a:pt x="6192732" y="69388"/>
                </a:lnTo>
                <a:lnTo>
                  <a:pt x="6256528" y="74197"/>
                </a:lnTo>
                <a:lnTo>
                  <a:pt x="6319621" y="79151"/>
                </a:lnTo>
                <a:lnTo>
                  <a:pt x="6381997" y="84247"/>
                </a:lnTo>
                <a:lnTo>
                  <a:pt x="6443645" y="89484"/>
                </a:lnTo>
                <a:lnTo>
                  <a:pt x="6504551" y="94860"/>
                </a:lnTo>
                <a:lnTo>
                  <a:pt x="6564704" y="100373"/>
                </a:lnTo>
                <a:lnTo>
                  <a:pt x="6624089" y="106021"/>
                </a:lnTo>
                <a:lnTo>
                  <a:pt x="6682696" y="111804"/>
                </a:lnTo>
                <a:lnTo>
                  <a:pt x="6740511" y="117719"/>
                </a:lnTo>
                <a:lnTo>
                  <a:pt x="6797521" y="123764"/>
                </a:lnTo>
                <a:lnTo>
                  <a:pt x="6853714" y="129939"/>
                </a:lnTo>
                <a:lnTo>
                  <a:pt x="6909078" y="136241"/>
                </a:lnTo>
                <a:lnTo>
                  <a:pt x="6963600" y="142668"/>
                </a:lnTo>
                <a:lnTo>
                  <a:pt x="7017266" y="149219"/>
                </a:lnTo>
                <a:lnTo>
                  <a:pt x="7070066" y="155893"/>
                </a:lnTo>
                <a:lnTo>
                  <a:pt x="7121985" y="162687"/>
                </a:lnTo>
                <a:lnTo>
                  <a:pt x="7173012" y="169599"/>
                </a:lnTo>
                <a:lnTo>
                  <a:pt x="7223133" y="176629"/>
                </a:lnTo>
                <a:lnTo>
                  <a:pt x="7272336" y="183775"/>
                </a:lnTo>
                <a:lnTo>
                  <a:pt x="7320610" y="191034"/>
                </a:lnTo>
                <a:lnTo>
                  <a:pt x="7367940" y="198406"/>
                </a:lnTo>
                <a:lnTo>
                  <a:pt x="7414314" y="205888"/>
                </a:lnTo>
                <a:lnTo>
                  <a:pt x="7459720" y="213479"/>
                </a:lnTo>
                <a:lnTo>
                  <a:pt x="7504146" y="221176"/>
                </a:lnTo>
                <a:lnTo>
                  <a:pt x="7547578" y="228980"/>
                </a:lnTo>
                <a:lnTo>
                  <a:pt x="7590004" y="236887"/>
                </a:lnTo>
                <a:lnTo>
                  <a:pt x="7631411" y="244896"/>
                </a:lnTo>
                <a:lnTo>
                  <a:pt x="7671787" y="253006"/>
                </a:lnTo>
                <a:lnTo>
                  <a:pt x="7711119" y="261214"/>
                </a:lnTo>
                <a:lnTo>
                  <a:pt x="7749395" y="269520"/>
                </a:lnTo>
                <a:lnTo>
                  <a:pt x="7786601" y="277920"/>
                </a:lnTo>
                <a:lnTo>
                  <a:pt x="7857757" y="295002"/>
                </a:lnTo>
                <a:lnTo>
                  <a:pt x="7924485" y="312444"/>
                </a:lnTo>
                <a:lnTo>
                  <a:pt x="7986685" y="330235"/>
                </a:lnTo>
                <a:lnTo>
                  <a:pt x="8044255" y="348360"/>
                </a:lnTo>
                <a:lnTo>
                  <a:pt x="8097096" y="366806"/>
                </a:lnTo>
                <a:lnTo>
                  <a:pt x="8145106" y="385560"/>
                </a:lnTo>
                <a:lnTo>
                  <a:pt x="8188184" y="404608"/>
                </a:lnTo>
                <a:lnTo>
                  <a:pt x="8226230" y="423937"/>
                </a:lnTo>
                <a:lnTo>
                  <a:pt x="8259143" y="443534"/>
                </a:lnTo>
                <a:lnTo>
                  <a:pt x="8298666" y="473401"/>
                </a:lnTo>
                <a:lnTo>
                  <a:pt x="8326073" y="503795"/>
                </a:lnTo>
                <a:lnTo>
                  <a:pt x="8343178" y="545060"/>
                </a:lnTo>
                <a:lnTo>
                  <a:pt x="8343900" y="555498"/>
                </a:lnTo>
                <a:lnTo>
                  <a:pt x="8343178" y="565935"/>
                </a:lnTo>
                <a:lnTo>
                  <a:pt x="8326073" y="607200"/>
                </a:lnTo>
                <a:lnTo>
                  <a:pt x="8298666" y="637594"/>
                </a:lnTo>
                <a:lnTo>
                  <a:pt x="8259143" y="667461"/>
                </a:lnTo>
                <a:lnTo>
                  <a:pt x="8226230" y="687058"/>
                </a:lnTo>
                <a:lnTo>
                  <a:pt x="8188184" y="706387"/>
                </a:lnTo>
                <a:lnTo>
                  <a:pt x="8145106" y="725435"/>
                </a:lnTo>
                <a:lnTo>
                  <a:pt x="8097096" y="744189"/>
                </a:lnTo>
                <a:lnTo>
                  <a:pt x="8044255" y="762635"/>
                </a:lnTo>
                <a:lnTo>
                  <a:pt x="7986685" y="780760"/>
                </a:lnTo>
                <a:lnTo>
                  <a:pt x="7924485" y="798551"/>
                </a:lnTo>
                <a:lnTo>
                  <a:pt x="7857757" y="815993"/>
                </a:lnTo>
                <a:lnTo>
                  <a:pt x="7786601" y="833075"/>
                </a:lnTo>
                <a:lnTo>
                  <a:pt x="7749395" y="841475"/>
                </a:lnTo>
                <a:lnTo>
                  <a:pt x="7711119" y="849781"/>
                </a:lnTo>
                <a:lnTo>
                  <a:pt x="7671787" y="857989"/>
                </a:lnTo>
                <a:lnTo>
                  <a:pt x="7631411" y="866099"/>
                </a:lnTo>
                <a:lnTo>
                  <a:pt x="7590004" y="874108"/>
                </a:lnTo>
                <a:lnTo>
                  <a:pt x="7547578" y="882015"/>
                </a:lnTo>
                <a:lnTo>
                  <a:pt x="7504146" y="889819"/>
                </a:lnTo>
                <a:lnTo>
                  <a:pt x="7459720" y="897516"/>
                </a:lnTo>
                <a:lnTo>
                  <a:pt x="7414314" y="905107"/>
                </a:lnTo>
                <a:lnTo>
                  <a:pt x="7367940" y="912589"/>
                </a:lnTo>
                <a:lnTo>
                  <a:pt x="7320610" y="919961"/>
                </a:lnTo>
                <a:lnTo>
                  <a:pt x="7272336" y="927220"/>
                </a:lnTo>
                <a:lnTo>
                  <a:pt x="7223133" y="934366"/>
                </a:lnTo>
                <a:lnTo>
                  <a:pt x="7173012" y="941396"/>
                </a:lnTo>
                <a:lnTo>
                  <a:pt x="7121985" y="948308"/>
                </a:lnTo>
                <a:lnTo>
                  <a:pt x="7070066" y="955102"/>
                </a:lnTo>
                <a:lnTo>
                  <a:pt x="7017266" y="961776"/>
                </a:lnTo>
                <a:lnTo>
                  <a:pt x="6963600" y="968327"/>
                </a:lnTo>
                <a:lnTo>
                  <a:pt x="6909078" y="974754"/>
                </a:lnTo>
                <a:lnTo>
                  <a:pt x="6853714" y="981056"/>
                </a:lnTo>
                <a:lnTo>
                  <a:pt x="6797521" y="987231"/>
                </a:lnTo>
                <a:lnTo>
                  <a:pt x="6740511" y="993276"/>
                </a:lnTo>
                <a:lnTo>
                  <a:pt x="6682696" y="999191"/>
                </a:lnTo>
                <a:lnTo>
                  <a:pt x="6624089" y="1004974"/>
                </a:lnTo>
                <a:lnTo>
                  <a:pt x="6564704" y="1010622"/>
                </a:lnTo>
                <a:lnTo>
                  <a:pt x="6504551" y="1016135"/>
                </a:lnTo>
                <a:lnTo>
                  <a:pt x="6443645" y="1021511"/>
                </a:lnTo>
                <a:lnTo>
                  <a:pt x="6381997" y="1026748"/>
                </a:lnTo>
                <a:lnTo>
                  <a:pt x="6319621" y="1031844"/>
                </a:lnTo>
                <a:lnTo>
                  <a:pt x="6256528" y="1036798"/>
                </a:lnTo>
                <a:lnTo>
                  <a:pt x="6192732" y="1041607"/>
                </a:lnTo>
                <a:lnTo>
                  <a:pt x="6128244" y="1046271"/>
                </a:lnTo>
                <a:lnTo>
                  <a:pt x="6063079" y="1050788"/>
                </a:lnTo>
                <a:lnTo>
                  <a:pt x="5997247" y="1055156"/>
                </a:lnTo>
                <a:lnTo>
                  <a:pt x="5930763" y="1059372"/>
                </a:lnTo>
                <a:lnTo>
                  <a:pt x="5863638" y="1063437"/>
                </a:lnTo>
                <a:lnTo>
                  <a:pt x="5795885" y="1067347"/>
                </a:lnTo>
                <a:lnTo>
                  <a:pt x="5727516" y="1071102"/>
                </a:lnTo>
                <a:lnTo>
                  <a:pt x="5658545" y="1074699"/>
                </a:lnTo>
                <a:lnTo>
                  <a:pt x="5588984" y="1078137"/>
                </a:lnTo>
                <a:lnTo>
                  <a:pt x="5518845" y="1081414"/>
                </a:lnTo>
                <a:lnTo>
                  <a:pt x="5448141" y="1084529"/>
                </a:lnTo>
                <a:lnTo>
                  <a:pt x="5376884" y="1087479"/>
                </a:lnTo>
                <a:lnTo>
                  <a:pt x="5305088" y="1090264"/>
                </a:lnTo>
                <a:lnTo>
                  <a:pt x="5232765" y="1092881"/>
                </a:lnTo>
                <a:lnTo>
                  <a:pt x="5159928" y="1095329"/>
                </a:lnTo>
                <a:lnTo>
                  <a:pt x="5086588" y="1097607"/>
                </a:lnTo>
                <a:lnTo>
                  <a:pt x="5012759" y="1099711"/>
                </a:lnTo>
                <a:lnTo>
                  <a:pt x="4938454" y="1101642"/>
                </a:lnTo>
                <a:lnTo>
                  <a:pt x="4863684" y="1103396"/>
                </a:lnTo>
                <a:lnTo>
                  <a:pt x="4788462" y="1104973"/>
                </a:lnTo>
                <a:lnTo>
                  <a:pt x="4712802" y="1106371"/>
                </a:lnTo>
                <a:lnTo>
                  <a:pt x="4636716" y="1107588"/>
                </a:lnTo>
                <a:lnTo>
                  <a:pt x="4560215" y="1108622"/>
                </a:lnTo>
                <a:lnTo>
                  <a:pt x="4483314" y="1109472"/>
                </a:lnTo>
                <a:lnTo>
                  <a:pt x="4406024" y="1110136"/>
                </a:lnTo>
                <a:lnTo>
                  <a:pt x="4328358" y="1110612"/>
                </a:lnTo>
                <a:lnTo>
                  <a:pt x="4250329" y="1110899"/>
                </a:lnTo>
                <a:lnTo>
                  <a:pt x="4171950" y="1110996"/>
                </a:lnTo>
                <a:lnTo>
                  <a:pt x="4093570" y="1110899"/>
                </a:lnTo>
                <a:lnTo>
                  <a:pt x="4015541" y="1110612"/>
                </a:lnTo>
                <a:lnTo>
                  <a:pt x="3937875" y="1110136"/>
                </a:lnTo>
                <a:lnTo>
                  <a:pt x="3860585" y="1109472"/>
                </a:lnTo>
                <a:lnTo>
                  <a:pt x="3783684" y="1108622"/>
                </a:lnTo>
                <a:lnTo>
                  <a:pt x="3707183" y="1107588"/>
                </a:lnTo>
                <a:lnTo>
                  <a:pt x="3631097" y="1106371"/>
                </a:lnTo>
                <a:lnTo>
                  <a:pt x="3555437" y="1104973"/>
                </a:lnTo>
                <a:lnTo>
                  <a:pt x="3480215" y="1103396"/>
                </a:lnTo>
                <a:lnTo>
                  <a:pt x="3405445" y="1101642"/>
                </a:lnTo>
                <a:lnTo>
                  <a:pt x="3331140" y="1099711"/>
                </a:lnTo>
                <a:lnTo>
                  <a:pt x="3257311" y="1097607"/>
                </a:lnTo>
                <a:lnTo>
                  <a:pt x="3183971" y="1095329"/>
                </a:lnTo>
                <a:lnTo>
                  <a:pt x="3111134" y="1092881"/>
                </a:lnTo>
                <a:lnTo>
                  <a:pt x="3038811" y="1090264"/>
                </a:lnTo>
                <a:lnTo>
                  <a:pt x="2967015" y="1087479"/>
                </a:lnTo>
                <a:lnTo>
                  <a:pt x="2895758" y="1084529"/>
                </a:lnTo>
                <a:lnTo>
                  <a:pt x="2825054" y="1081414"/>
                </a:lnTo>
                <a:lnTo>
                  <a:pt x="2754915" y="1078137"/>
                </a:lnTo>
                <a:lnTo>
                  <a:pt x="2685354" y="1074699"/>
                </a:lnTo>
                <a:lnTo>
                  <a:pt x="2616383" y="1071102"/>
                </a:lnTo>
                <a:lnTo>
                  <a:pt x="2548014" y="1067347"/>
                </a:lnTo>
                <a:lnTo>
                  <a:pt x="2480261" y="1063437"/>
                </a:lnTo>
                <a:lnTo>
                  <a:pt x="2413136" y="1059372"/>
                </a:lnTo>
                <a:lnTo>
                  <a:pt x="2346652" y="1055156"/>
                </a:lnTo>
                <a:lnTo>
                  <a:pt x="2280820" y="1050788"/>
                </a:lnTo>
                <a:lnTo>
                  <a:pt x="2215655" y="1046271"/>
                </a:lnTo>
                <a:lnTo>
                  <a:pt x="2151167" y="1041607"/>
                </a:lnTo>
                <a:lnTo>
                  <a:pt x="2087371" y="1036798"/>
                </a:lnTo>
                <a:lnTo>
                  <a:pt x="2024278" y="1031844"/>
                </a:lnTo>
                <a:lnTo>
                  <a:pt x="1961902" y="1026748"/>
                </a:lnTo>
                <a:lnTo>
                  <a:pt x="1900254" y="1021511"/>
                </a:lnTo>
                <a:lnTo>
                  <a:pt x="1839348" y="1016135"/>
                </a:lnTo>
                <a:lnTo>
                  <a:pt x="1779195" y="1010622"/>
                </a:lnTo>
                <a:lnTo>
                  <a:pt x="1719810" y="1004974"/>
                </a:lnTo>
                <a:lnTo>
                  <a:pt x="1661203" y="999191"/>
                </a:lnTo>
                <a:lnTo>
                  <a:pt x="1603388" y="993276"/>
                </a:lnTo>
                <a:lnTo>
                  <a:pt x="1546378" y="987231"/>
                </a:lnTo>
                <a:lnTo>
                  <a:pt x="1490185" y="981056"/>
                </a:lnTo>
                <a:lnTo>
                  <a:pt x="1434821" y="974754"/>
                </a:lnTo>
                <a:lnTo>
                  <a:pt x="1380299" y="968327"/>
                </a:lnTo>
                <a:lnTo>
                  <a:pt x="1326633" y="961776"/>
                </a:lnTo>
                <a:lnTo>
                  <a:pt x="1273833" y="955102"/>
                </a:lnTo>
                <a:lnTo>
                  <a:pt x="1221914" y="948308"/>
                </a:lnTo>
                <a:lnTo>
                  <a:pt x="1170887" y="941396"/>
                </a:lnTo>
                <a:lnTo>
                  <a:pt x="1120766" y="934366"/>
                </a:lnTo>
                <a:lnTo>
                  <a:pt x="1071563" y="927220"/>
                </a:lnTo>
                <a:lnTo>
                  <a:pt x="1023289" y="919961"/>
                </a:lnTo>
                <a:lnTo>
                  <a:pt x="975959" y="912589"/>
                </a:lnTo>
                <a:lnTo>
                  <a:pt x="929585" y="905107"/>
                </a:lnTo>
                <a:lnTo>
                  <a:pt x="884179" y="897516"/>
                </a:lnTo>
                <a:lnTo>
                  <a:pt x="839753" y="889819"/>
                </a:lnTo>
                <a:lnTo>
                  <a:pt x="796321" y="882015"/>
                </a:lnTo>
                <a:lnTo>
                  <a:pt x="753895" y="874108"/>
                </a:lnTo>
                <a:lnTo>
                  <a:pt x="712488" y="866099"/>
                </a:lnTo>
                <a:lnTo>
                  <a:pt x="672112" y="857989"/>
                </a:lnTo>
                <a:lnTo>
                  <a:pt x="632780" y="849781"/>
                </a:lnTo>
                <a:lnTo>
                  <a:pt x="594504" y="841475"/>
                </a:lnTo>
                <a:lnTo>
                  <a:pt x="557298" y="833075"/>
                </a:lnTo>
                <a:lnTo>
                  <a:pt x="486142" y="815993"/>
                </a:lnTo>
                <a:lnTo>
                  <a:pt x="419414" y="798551"/>
                </a:lnTo>
                <a:lnTo>
                  <a:pt x="357214" y="780760"/>
                </a:lnTo>
                <a:lnTo>
                  <a:pt x="299644" y="762635"/>
                </a:lnTo>
                <a:lnTo>
                  <a:pt x="246803" y="744189"/>
                </a:lnTo>
                <a:lnTo>
                  <a:pt x="198793" y="725435"/>
                </a:lnTo>
                <a:lnTo>
                  <a:pt x="155715" y="706387"/>
                </a:lnTo>
                <a:lnTo>
                  <a:pt x="117669" y="687058"/>
                </a:lnTo>
                <a:lnTo>
                  <a:pt x="84756" y="667461"/>
                </a:lnTo>
                <a:lnTo>
                  <a:pt x="45233" y="637594"/>
                </a:lnTo>
                <a:lnTo>
                  <a:pt x="17826" y="607200"/>
                </a:lnTo>
                <a:lnTo>
                  <a:pt x="721" y="565935"/>
                </a:lnTo>
                <a:lnTo>
                  <a:pt x="0" y="555498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2541" y="171653"/>
            <a:ext cx="5059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需</a:t>
            </a:r>
            <a:r>
              <a:rPr dirty="0"/>
              <a:t>求工程过程的活动</a:t>
            </a:r>
          </a:p>
        </p:txBody>
      </p:sp>
      <p:sp>
        <p:nvSpPr>
          <p:cNvPr id="3" name="object 3"/>
          <p:cNvSpPr/>
          <p:nvPr/>
        </p:nvSpPr>
        <p:spPr>
          <a:xfrm>
            <a:off x="363149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5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5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45567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5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2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4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5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00736" y="2789619"/>
            <a:ext cx="829310" cy="649605"/>
          </a:xfrm>
          <a:custGeom>
            <a:avLst/>
            <a:gdLst/>
            <a:ahLst/>
            <a:cxnLst/>
            <a:rect l="l" t="t" r="r" b="b"/>
            <a:pathLst>
              <a:path w="829310" h="649604">
                <a:moveTo>
                  <a:pt x="828778" y="199302"/>
                </a:moveTo>
                <a:lnTo>
                  <a:pt x="640914" y="0"/>
                </a:lnTo>
                <a:lnTo>
                  <a:pt x="561108" y="228882"/>
                </a:lnTo>
                <a:lnTo>
                  <a:pt x="28393" y="0"/>
                </a:lnTo>
                <a:lnTo>
                  <a:pt x="355069" y="302629"/>
                </a:lnTo>
                <a:lnTo>
                  <a:pt x="0" y="359384"/>
                </a:lnTo>
                <a:lnTo>
                  <a:pt x="285615" y="539068"/>
                </a:lnTo>
                <a:lnTo>
                  <a:pt x="96214" y="649091"/>
                </a:lnTo>
              </a:path>
            </a:pathLst>
          </a:custGeom>
          <a:ln w="144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29515" y="2659117"/>
            <a:ext cx="582295" cy="330200"/>
          </a:xfrm>
          <a:custGeom>
            <a:avLst/>
            <a:gdLst/>
            <a:ahLst/>
            <a:cxnLst/>
            <a:rect l="l" t="t" r="r" b="b"/>
            <a:pathLst>
              <a:path w="582295" h="330200">
                <a:moveTo>
                  <a:pt x="549855" y="293605"/>
                </a:moveTo>
                <a:lnTo>
                  <a:pt x="581675" y="253447"/>
                </a:lnTo>
                <a:lnTo>
                  <a:pt x="257456" y="302799"/>
                </a:lnTo>
                <a:lnTo>
                  <a:pt x="285615" y="0"/>
                </a:lnTo>
                <a:lnTo>
                  <a:pt x="0" y="329804"/>
                </a:lnTo>
              </a:path>
            </a:pathLst>
          </a:custGeom>
          <a:ln w="138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9104" y="3117366"/>
            <a:ext cx="6673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需求获取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31489" y="3133531"/>
            <a:ext cx="6673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需求分析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1982" y="3117366"/>
            <a:ext cx="34671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7193" y="4561282"/>
            <a:ext cx="1228090" cy="579120"/>
          </a:xfrm>
          <a:custGeom>
            <a:avLst/>
            <a:gdLst/>
            <a:ahLst/>
            <a:cxnLst/>
            <a:rect l="l" t="t" r="r" b="b"/>
            <a:pathLst>
              <a:path w="1228089" h="579120">
                <a:moveTo>
                  <a:pt x="1227584" y="113666"/>
                </a:moveTo>
                <a:lnTo>
                  <a:pt x="1227584" y="0"/>
                </a:lnTo>
                <a:lnTo>
                  <a:pt x="0" y="0"/>
                </a:lnTo>
                <a:lnTo>
                  <a:pt x="0" y="578874"/>
                </a:lnTo>
              </a:path>
            </a:pathLst>
          </a:custGeom>
          <a:ln w="19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7615" y="4634864"/>
            <a:ext cx="667385" cy="447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250" spc="10" dirty="0">
                <a:latin typeface="宋体"/>
                <a:cs typeface="宋体"/>
              </a:rPr>
              <a:t>用户需求 领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98249" y="3863007"/>
            <a:ext cx="0" cy="698500"/>
          </a:xfrm>
          <a:custGeom>
            <a:avLst/>
            <a:gdLst/>
            <a:ahLst/>
            <a:cxnLst/>
            <a:rect l="l" t="t" r="r" b="b"/>
            <a:pathLst>
              <a:path h="698500">
                <a:moveTo>
                  <a:pt x="0" y="0"/>
                </a:moveTo>
                <a:lnTo>
                  <a:pt x="0" y="698272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38582" y="3699274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80" h="179070">
                <a:moveTo>
                  <a:pt x="59667" y="0"/>
                </a:moveTo>
                <a:lnTo>
                  <a:pt x="0" y="178617"/>
                </a:lnTo>
                <a:lnTo>
                  <a:pt x="119334" y="178617"/>
                </a:lnTo>
                <a:lnTo>
                  <a:pt x="59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16698" y="3200170"/>
            <a:ext cx="336550" cy="0"/>
          </a:xfrm>
          <a:custGeom>
            <a:avLst/>
            <a:gdLst/>
            <a:ahLst/>
            <a:cxnLst/>
            <a:rect l="l" t="t" r="r" b="b"/>
            <a:pathLst>
              <a:path w="336550">
                <a:moveTo>
                  <a:pt x="0" y="0"/>
                </a:moveTo>
                <a:lnTo>
                  <a:pt x="336027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7809" y="3140630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69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44426" y="3200170"/>
            <a:ext cx="563880" cy="0"/>
          </a:xfrm>
          <a:custGeom>
            <a:avLst/>
            <a:gdLst/>
            <a:ahLst/>
            <a:cxnLst/>
            <a:rect l="l" t="t" r="r" b="b"/>
            <a:pathLst>
              <a:path w="563879">
                <a:moveTo>
                  <a:pt x="0" y="0"/>
                </a:moveTo>
                <a:lnTo>
                  <a:pt x="563468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92978" y="3140631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07321" y="2111339"/>
            <a:ext cx="7002145" cy="0"/>
          </a:xfrm>
          <a:custGeom>
            <a:avLst/>
            <a:gdLst/>
            <a:ahLst/>
            <a:cxnLst/>
            <a:rect l="l" t="t" r="r" b="b"/>
            <a:pathLst>
              <a:path w="7002145">
                <a:moveTo>
                  <a:pt x="0" y="0"/>
                </a:moveTo>
                <a:lnTo>
                  <a:pt x="7001827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07321" y="2111339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47654" y="2522511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80" h="179069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80698" y="2111339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21031" y="2522511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79" h="179069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35868" y="2111339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76200" y="2522512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79" h="179069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09149" y="2111339"/>
            <a:ext cx="0" cy="189865"/>
          </a:xfrm>
          <a:custGeom>
            <a:avLst/>
            <a:gdLst/>
            <a:ahLst/>
            <a:cxnLst/>
            <a:rect l="l" t="t" r="r" b="b"/>
            <a:pathLst>
              <a:path h="189864">
                <a:moveTo>
                  <a:pt x="0" y="0"/>
                </a:moveTo>
                <a:lnTo>
                  <a:pt x="0" y="189509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2721" y="10795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572" y="807641"/>
            <a:ext cx="3811904" cy="544385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需求验证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1.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验证与确认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2.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宋体"/>
                <a:cs typeface="宋体"/>
              </a:rPr>
              <a:t>需求验证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3.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需求验证方法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4.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问题修正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5.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需求验证的实践调查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需求管理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1.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需求管理概述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2.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需求基线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3.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需求跟踪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4.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需求变更控制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5.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需求管理的实践调查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9220" y="258826"/>
            <a:ext cx="4502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验证与确认的概念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493" y="1361550"/>
            <a:ext cx="7475220" cy="47117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265" marR="1784350" indent="-342265" algn="r">
              <a:lnSpc>
                <a:spcPct val="100000"/>
              </a:lnSpc>
              <a:spcBef>
                <a:spcPts val="78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42265" algn="l"/>
                <a:tab pos="342900" algn="l"/>
              </a:tabLst>
            </a:pPr>
            <a:r>
              <a:rPr sz="2800" spc="-5" dirty="0">
                <a:latin typeface="宋体"/>
                <a:cs typeface="宋体"/>
              </a:rPr>
              <a:t>需求验证：以正确的方式建立需求</a:t>
            </a:r>
            <a:endParaRPr sz="2800">
              <a:latin typeface="宋体"/>
              <a:cs typeface="宋体"/>
            </a:endParaRPr>
          </a:p>
          <a:p>
            <a:pPr marL="286385" marR="1833880" lvl="1" indent="-286385" algn="r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286385" algn="l"/>
                <a:tab pos="287020" algn="l"/>
              </a:tabLst>
            </a:pPr>
            <a:r>
              <a:rPr sz="2400" spc="-5" dirty="0">
                <a:latin typeface="宋体"/>
                <a:cs typeface="宋体"/>
              </a:rPr>
              <a:t>需求集是正确的、完备的和一致的；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技术上是可解决的；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它们在现实世界中的满足是可行的和可验证的。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需求确认：建立的需求是正确的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每一条需求都是符合用户原意的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系统验证：正确的建立系统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系统能够在预期的环境中正确的执行设定的功能。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系统确认：建立的系统是正确的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建立的系统是符合系统需求和系统设计的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2325" y="0"/>
            <a:ext cx="663384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81685" algn="ctr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验证与确认</a:t>
            </a:r>
          </a:p>
          <a:p>
            <a:pPr algn="ct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软件工程的验证与确认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334" y="1478892"/>
            <a:ext cx="1352550" cy="584835"/>
          </a:xfrm>
          <a:prstGeom prst="rect">
            <a:avLst/>
          </a:prstGeom>
          <a:solidFill>
            <a:srgbClr val="E8EDF7"/>
          </a:solidFill>
          <a:ln w="521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328930">
              <a:lnSpc>
                <a:spcPct val="100000"/>
              </a:lnSpc>
            </a:pPr>
            <a:r>
              <a:rPr sz="1350" spc="15" dirty="0">
                <a:latin typeface="宋体"/>
                <a:cs typeface="宋体"/>
              </a:rPr>
              <a:t>需求工程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6081" y="2356221"/>
            <a:ext cx="1352550" cy="584835"/>
          </a:xfrm>
          <a:prstGeom prst="rect">
            <a:avLst/>
          </a:prstGeom>
          <a:solidFill>
            <a:srgbClr val="E8EDF7"/>
          </a:solidFill>
          <a:ln w="521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</a:pPr>
            <a:r>
              <a:rPr sz="1350" spc="15" dirty="0">
                <a:latin typeface="宋体"/>
                <a:cs typeface="宋体"/>
              </a:rPr>
              <a:t>体系结构设计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2378" y="3187294"/>
            <a:ext cx="1352550" cy="584835"/>
          </a:xfrm>
          <a:prstGeom prst="rect">
            <a:avLst/>
          </a:prstGeom>
          <a:solidFill>
            <a:srgbClr val="E8EDF7"/>
          </a:solidFill>
          <a:ln w="521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328295">
              <a:lnSpc>
                <a:spcPct val="100000"/>
              </a:lnSpc>
            </a:pPr>
            <a:r>
              <a:rPr sz="1350" spc="15" dirty="0">
                <a:latin typeface="宋体"/>
                <a:cs typeface="宋体"/>
              </a:rPr>
              <a:t>详细设计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5575" y="4049009"/>
            <a:ext cx="1352550" cy="584835"/>
          </a:xfrm>
          <a:prstGeom prst="rect">
            <a:avLst/>
          </a:prstGeom>
          <a:solidFill>
            <a:srgbClr val="E8EDF7"/>
          </a:solidFill>
          <a:ln w="521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350" spc="15" dirty="0">
                <a:latin typeface="宋体"/>
                <a:cs typeface="宋体"/>
              </a:rPr>
              <a:t>编码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8772" y="4880039"/>
            <a:ext cx="1352550" cy="584835"/>
          </a:xfrm>
          <a:prstGeom prst="rect">
            <a:avLst/>
          </a:prstGeom>
          <a:solidFill>
            <a:srgbClr val="E8EDF7"/>
          </a:solidFill>
          <a:ln w="521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350" spc="15" dirty="0">
                <a:latin typeface="宋体"/>
                <a:cs typeface="宋体"/>
              </a:rPr>
              <a:t>测试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3541" y="5680276"/>
            <a:ext cx="1352550" cy="584835"/>
          </a:xfrm>
          <a:prstGeom prst="rect">
            <a:avLst/>
          </a:prstGeom>
          <a:solidFill>
            <a:srgbClr val="E8EDF7"/>
          </a:solidFill>
          <a:ln w="521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</a:pPr>
            <a:r>
              <a:rPr sz="1350" spc="15" dirty="0">
                <a:latin typeface="宋体"/>
                <a:cs typeface="宋体"/>
              </a:rPr>
              <a:t>产品</a:t>
            </a:r>
            <a:r>
              <a:rPr sz="1350" spc="-5" dirty="0">
                <a:latin typeface="Times New Roman"/>
                <a:cs typeface="Times New Roman"/>
              </a:rPr>
              <a:t>/</a:t>
            </a:r>
            <a:r>
              <a:rPr sz="1350" spc="15" dirty="0">
                <a:latin typeface="宋体"/>
                <a:cs typeface="宋体"/>
              </a:rPr>
              <a:t>部署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87344" y="2063684"/>
            <a:ext cx="886460" cy="248285"/>
          </a:xfrm>
          <a:custGeom>
            <a:avLst/>
            <a:gdLst/>
            <a:ahLst/>
            <a:cxnLst/>
            <a:rect l="l" t="t" r="r" b="b"/>
            <a:pathLst>
              <a:path w="886460" h="248285">
                <a:moveTo>
                  <a:pt x="0" y="0"/>
                </a:moveTo>
                <a:lnTo>
                  <a:pt x="886264" y="248214"/>
                </a:lnTo>
              </a:path>
            </a:pathLst>
          </a:custGeom>
          <a:ln w="5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43105" y="2250008"/>
            <a:ext cx="189230" cy="115570"/>
          </a:xfrm>
          <a:custGeom>
            <a:avLst/>
            <a:gdLst/>
            <a:ahLst/>
            <a:cxnLst/>
            <a:rect l="l" t="t" r="r" b="b"/>
            <a:pathLst>
              <a:path w="189230" h="115569">
                <a:moveTo>
                  <a:pt x="32195" y="0"/>
                </a:moveTo>
                <a:lnTo>
                  <a:pt x="0" y="115529"/>
                </a:lnTo>
                <a:lnTo>
                  <a:pt x="188986" y="106191"/>
                </a:lnTo>
                <a:lnTo>
                  <a:pt x="321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32091" y="2941013"/>
            <a:ext cx="946150" cy="210820"/>
          </a:xfrm>
          <a:custGeom>
            <a:avLst/>
            <a:gdLst/>
            <a:ahLst/>
            <a:cxnLst/>
            <a:rect l="l" t="t" r="r" b="b"/>
            <a:pathLst>
              <a:path w="946150" h="210819">
                <a:moveTo>
                  <a:pt x="0" y="0"/>
                </a:moveTo>
                <a:lnTo>
                  <a:pt x="945625" y="210428"/>
                </a:lnTo>
              </a:path>
            </a:pathLst>
          </a:custGeom>
          <a:ln w="5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50182" y="3089768"/>
            <a:ext cx="188595" cy="117475"/>
          </a:xfrm>
          <a:custGeom>
            <a:avLst/>
            <a:gdLst/>
            <a:ahLst/>
            <a:cxnLst/>
            <a:rect l="l" t="t" r="r" b="b"/>
            <a:pathLst>
              <a:path w="188595" h="117475">
                <a:moveTo>
                  <a:pt x="25799" y="0"/>
                </a:moveTo>
                <a:lnTo>
                  <a:pt x="0" y="117049"/>
                </a:lnTo>
                <a:lnTo>
                  <a:pt x="188184" y="97505"/>
                </a:lnTo>
                <a:lnTo>
                  <a:pt x="25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38367" y="3772086"/>
            <a:ext cx="824865" cy="232410"/>
          </a:xfrm>
          <a:custGeom>
            <a:avLst/>
            <a:gdLst/>
            <a:ahLst/>
            <a:cxnLst/>
            <a:rect l="l" t="t" r="r" b="b"/>
            <a:pathLst>
              <a:path w="824864" h="232410">
                <a:moveTo>
                  <a:pt x="0" y="0"/>
                </a:moveTo>
                <a:lnTo>
                  <a:pt x="824714" y="232361"/>
                </a:lnTo>
              </a:path>
            </a:pathLst>
          </a:custGeom>
          <a:ln w="5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32512" y="3942557"/>
            <a:ext cx="189230" cy="115570"/>
          </a:xfrm>
          <a:custGeom>
            <a:avLst/>
            <a:gdLst/>
            <a:ahLst/>
            <a:cxnLst/>
            <a:rect l="l" t="t" r="r" b="b"/>
            <a:pathLst>
              <a:path w="189229" h="115570">
                <a:moveTo>
                  <a:pt x="32520" y="0"/>
                </a:moveTo>
                <a:lnTo>
                  <a:pt x="0" y="115529"/>
                </a:lnTo>
                <a:lnTo>
                  <a:pt x="189051" y="106408"/>
                </a:lnTo>
                <a:lnTo>
                  <a:pt x="325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21564" y="4633801"/>
            <a:ext cx="824230" cy="206375"/>
          </a:xfrm>
          <a:custGeom>
            <a:avLst/>
            <a:gdLst/>
            <a:ahLst/>
            <a:cxnLst/>
            <a:rect l="l" t="t" r="r" b="b"/>
            <a:pathLst>
              <a:path w="824229" h="206375">
                <a:moveTo>
                  <a:pt x="0" y="0"/>
                </a:moveTo>
                <a:lnTo>
                  <a:pt x="823630" y="206259"/>
                </a:lnTo>
              </a:path>
            </a:pathLst>
          </a:custGeom>
          <a:ln w="5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16143" y="4778278"/>
            <a:ext cx="189230" cy="116839"/>
          </a:xfrm>
          <a:custGeom>
            <a:avLst/>
            <a:gdLst/>
            <a:ahLst/>
            <a:cxnLst/>
            <a:rect l="l" t="t" r="r" b="b"/>
            <a:pathLst>
              <a:path w="189229" h="116839">
                <a:moveTo>
                  <a:pt x="29051" y="0"/>
                </a:moveTo>
                <a:lnTo>
                  <a:pt x="0" y="116289"/>
                </a:lnTo>
                <a:lnTo>
                  <a:pt x="188834" y="101761"/>
                </a:lnTo>
                <a:lnTo>
                  <a:pt x="29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04977" y="5464831"/>
            <a:ext cx="883919" cy="182245"/>
          </a:xfrm>
          <a:custGeom>
            <a:avLst/>
            <a:gdLst/>
            <a:ahLst/>
            <a:cxnLst/>
            <a:rect l="l" t="t" r="r" b="b"/>
            <a:pathLst>
              <a:path w="883920" h="182245">
                <a:moveTo>
                  <a:pt x="0" y="0"/>
                </a:moveTo>
                <a:lnTo>
                  <a:pt x="883468" y="182219"/>
                </a:lnTo>
              </a:path>
            </a:pathLst>
          </a:custGeom>
          <a:ln w="5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61779" y="5585312"/>
            <a:ext cx="187960" cy="117475"/>
          </a:xfrm>
          <a:custGeom>
            <a:avLst/>
            <a:gdLst/>
            <a:ahLst/>
            <a:cxnLst/>
            <a:rect l="l" t="t" r="r" b="b"/>
            <a:pathLst>
              <a:path w="187959" h="117475">
                <a:moveTo>
                  <a:pt x="24065" y="0"/>
                </a:moveTo>
                <a:lnTo>
                  <a:pt x="0" y="117418"/>
                </a:lnTo>
                <a:lnTo>
                  <a:pt x="187750" y="94964"/>
                </a:lnTo>
                <a:lnTo>
                  <a:pt x="24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2597" y="3987510"/>
            <a:ext cx="1598295" cy="1067435"/>
          </a:xfrm>
          <a:custGeom>
            <a:avLst/>
            <a:gdLst/>
            <a:ahLst/>
            <a:cxnLst/>
            <a:rect l="l" t="t" r="r" b="b"/>
            <a:pathLst>
              <a:path w="1598295" h="1067435">
                <a:moveTo>
                  <a:pt x="798915" y="0"/>
                </a:moveTo>
                <a:lnTo>
                  <a:pt x="741859" y="1339"/>
                </a:lnTo>
                <a:lnTo>
                  <a:pt x="685886" y="5298"/>
                </a:lnTo>
                <a:lnTo>
                  <a:pt x="631130" y="11785"/>
                </a:lnTo>
                <a:lnTo>
                  <a:pt x="577729" y="20711"/>
                </a:lnTo>
                <a:lnTo>
                  <a:pt x="525815" y="31985"/>
                </a:lnTo>
                <a:lnTo>
                  <a:pt x="475525" y="45516"/>
                </a:lnTo>
                <a:lnTo>
                  <a:pt x="426994" y="61215"/>
                </a:lnTo>
                <a:lnTo>
                  <a:pt x="380357" y="78990"/>
                </a:lnTo>
                <a:lnTo>
                  <a:pt x="335749" y="98753"/>
                </a:lnTo>
                <a:lnTo>
                  <a:pt x="293305" y="120411"/>
                </a:lnTo>
                <a:lnTo>
                  <a:pt x="253161" y="143876"/>
                </a:lnTo>
                <a:lnTo>
                  <a:pt x="215452" y="169056"/>
                </a:lnTo>
                <a:lnTo>
                  <a:pt x="180312" y="195862"/>
                </a:lnTo>
                <a:lnTo>
                  <a:pt x="147878" y="224202"/>
                </a:lnTo>
                <a:lnTo>
                  <a:pt x="118284" y="253987"/>
                </a:lnTo>
                <a:lnTo>
                  <a:pt x="91665" y="285127"/>
                </a:lnTo>
                <a:lnTo>
                  <a:pt x="68156" y="317530"/>
                </a:lnTo>
                <a:lnTo>
                  <a:pt x="47894" y="351107"/>
                </a:lnTo>
                <a:lnTo>
                  <a:pt x="31012" y="385767"/>
                </a:lnTo>
                <a:lnTo>
                  <a:pt x="7933" y="457975"/>
                </a:lnTo>
                <a:lnTo>
                  <a:pt x="0" y="533433"/>
                </a:lnTo>
                <a:lnTo>
                  <a:pt x="2005" y="571533"/>
                </a:lnTo>
                <a:lnTo>
                  <a:pt x="17647" y="645474"/>
                </a:lnTo>
                <a:lnTo>
                  <a:pt x="47894" y="715801"/>
                </a:lnTo>
                <a:lnTo>
                  <a:pt x="68156" y="749384"/>
                </a:lnTo>
                <a:lnTo>
                  <a:pt x="91665" y="781791"/>
                </a:lnTo>
                <a:lnTo>
                  <a:pt x="118284" y="812935"/>
                </a:lnTo>
                <a:lnTo>
                  <a:pt x="147878" y="842723"/>
                </a:lnTo>
                <a:lnTo>
                  <a:pt x="180312" y="871066"/>
                </a:lnTo>
                <a:lnTo>
                  <a:pt x="215452" y="897873"/>
                </a:lnTo>
                <a:lnTo>
                  <a:pt x="253161" y="923055"/>
                </a:lnTo>
                <a:lnTo>
                  <a:pt x="293305" y="946521"/>
                </a:lnTo>
                <a:lnTo>
                  <a:pt x="335749" y="968180"/>
                </a:lnTo>
                <a:lnTo>
                  <a:pt x="380357" y="987943"/>
                </a:lnTo>
                <a:lnTo>
                  <a:pt x="426994" y="1005718"/>
                </a:lnTo>
                <a:lnTo>
                  <a:pt x="475525" y="1021417"/>
                </a:lnTo>
                <a:lnTo>
                  <a:pt x="525815" y="1034948"/>
                </a:lnTo>
                <a:lnTo>
                  <a:pt x="577729" y="1046221"/>
                </a:lnTo>
                <a:lnTo>
                  <a:pt x="631130" y="1055146"/>
                </a:lnTo>
                <a:lnTo>
                  <a:pt x="685886" y="1061633"/>
                </a:lnTo>
                <a:lnTo>
                  <a:pt x="741859" y="1065592"/>
                </a:lnTo>
                <a:lnTo>
                  <a:pt x="798915" y="1066931"/>
                </a:lnTo>
                <a:lnTo>
                  <a:pt x="855971" y="1065592"/>
                </a:lnTo>
                <a:lnTo>
                  <a:pt x="911944" y="1061633"/>
                </a:lnTo>
                <a:lnTo>
                  <a:pt x="966700" y="1055146"/>
                </a:lnTo>
                <a:lnTo>
                  <a:pt x="1020103" y="1046221"/>
                </a:lnTo>
                <a:lnTo>
                  <a:pt x="1072017" y="1034948"/>
                </a:lnTo>
                <a:lnTo>
                  <a:pt x="1122308" y="1021417"/>
                </a:lnTo>
                <a:lnTo>
                  <a:pt x="1170840" y="1005718"/>
                </a:lnTo>
                <a:lnTo>
                  <a:pt x="1217479" y="987943"/>
                </a:lnTo>
                <a:lnTo>
                  <a:pt x="1262088" y="968180"/>
                </a:lnTo>
                <a:lnTo>
                  <a:pt x="1304533" y="946521"/>
                </a:lnTo>
                <a:lnTo>
                  <a:pt x="1344678" y="923055"/>
                </a:lnTo>
                <a:lnTo>
                  <a:pt x="1382389" y="897873"/>
                </a:lnTo>
                <a:lnTo>
                  <a:pt x="1417530" y="871066"/>
                </a:lnTo>
                <a:lnTo>
                  <a:pt x="1449966" y="842723"/>
                </a:lnTo>
                <a:lnTo>
                  <a:pt x="1479562" y="812935"/>
                </a:lnTo>
                <a:lnTo>
                  <a:pt x="1506182" y="781791"/>
                </a:lnTo>
                <a:lnTo>
                  <a:pt x="1529691" y="749384"/>
                </a:lnTo>
                <a:lnTo>
                  <a:pt x="1549955" y="715801"/>
                </a:lnTo>
                <a:lnTo>
                  <a:pt x="1566837" y="681135"/>
                </a:lnTo>
                <a:lnTo>
                  <a:pt x="1589918" y="608910"/>
                </a:lnTo>
                <a:lnTo>
                  <a:pt x="1597852" y="533433"/>
                </a:lnTo>
                <a:lnTo>
                  <a:pt x="1595846" y="495343"/>
                </a:lnTo>
                <a:lnTo>
                  <a:pt x="1580203" y="421420"/>
                </a:lnTo>
                <a:lnTo>
                  <a:pt x="1549955" y="351107"/>
                </a:lnTo>
                <a:lnTo>
                  <a:pt x="1529691" y="317530"/>
                </a:lnTo>
                <a:lnTo>
                  <a:pt x="1506182" y="285127"/>
                </a:lnTo>
                <a:lnTo>
                  <a:pt x="1479562" y="253987"/>
                </a:lnTo>
                <a:lnTo>
                  <a:pt x="1449966" y="224202"/>
                </a:lnTo>
                <a:lnTo>
                  <a:pt x="1417530" y="195862"/>
                </a:lnTo>
                <a:lnTo>
                  <a:pt x="1382389" y="169056"/>
                </a:lnTo>
                <a:lnTo>
                  <a:pt x="1344678" y="143876"/>
                </a:lnTo>
                <a:lnTo>
                  <a:pt x="1304533" y="120411"/>
                </a:lnTo>
                <a:lnTo>
                  <a:pt x="1262088" y="98753"/>
                </a:lnTo>
                <a:lnTo>
                  <a:pt x="1217479" y="78990"/>
                </a:lnTo>
                <a:lnTo>
                  <a:pt x="1170840" y="61215"/>
                </a:lnTo>
                <a:lnTo>
                  <a:pt x="1122308" y="45516"/>
                </a:lnTo>
                <a:lnTo>
                  <a:pt x="1072017" y="31985"/>
                </a:lnTo>
                <a:lnTo>
                  <a:pt x="1020103" y="20711"/>
                </a:lnTo>
                <a:lnTo>
                  <a:pt x="966700" y="11785"/>
                </a:lnTo>
                <a:lnTo>
                  <a:pt x="911944" y="5298"/>
                </a:lnTo>
                <a:lnTo>
                  <a:pt x="855971" y="1339"/>
                </a:lnTo>
                <a:lnTo>
                  <a:pt x="798915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597" y="3987510"/>
            <a:ext cx="1598295" cy="1067435"/>
          </a:xfrm>
          <a:custGeom>
            <a:avLst/>
            <a:gdLst/>
            <a:ahLst/>
            <a:cxnLst/>
            <a:rect l="l" t="t" r="r" b="b"/>
            <a:pathLst>
              <a:path w="1598295" h="1067435">
                <a:moveTo>
                  <a:pt x="0" y="533433"/>
                </a:moveTo>
                <a:lnTo>
                  <a:pt x="2005" y="495343"/>
                </a:lnTo>
                <a:lnTo>
                  <a:pt x="17647" y="421420"/>
                </a:lnTo>
                <a:lnTo>
                  <a:pt x="47894" y="351107"/>
                </a:lnTo>
                <a:lnTo>
                  <a:pt x="68156" y="317530"/>
                </a:lnTo>
                <a:lnTo>
                  <a:pt x="91665" y="285127"/>
                </a:lnTo>
                <a:lnTo>
                  <a:pt x="118284" y="253987"/>
                </a:lnTo>
                <a:lnTo>
                  <a:pt x="147878" y="224202"/>
                </a:lnTo>
                <a:lnTo>
                  <a:pt x="180312" y="195862"/>
                </a:lnTo>
                <a:lnTo>
                  <a:pt x="215452" y="169056"/>
                </a:lnTo>
                <a:lnTo>
                  <a:pt x="253161" y="143876"/>
                </a:lnTo>
                <a:lnTo>
                  <a:pt x="293305" y="120411"/>
                </a:lnTo>
                <a:lnTo>
                  <a:pt x="335749" y="98753"/>
                </a:lnTo>
                <a:lnTo>
                  <a:pt x="380357" y="78990"/>
                </a:lnTo>
                <a:lnTo>
                  <a:pt x="426994" y="61215"/>
                </a:lnTo>
                <a:lnTo>
                  <a:pt x="475525" y="45516"/>
                </a:lnTo>
                <a:lnTo>
                  <a:pt x="525815" y="31985"/>
                </a:lnTo>
                <a:lnTo>
                  <a:pt x="577729" y="20711"/>
                </a:lnTo>
                <a:lnTo>
                  <a:pt x="631130" y="11785"/>
                </a:lnTo>
                <a:lnTo>
                  <a:pt x="685886" y="5298"/>
                </a:lnTo>
                <a:lnTo>
                  <a:pt x="741859" y="1339"/>
                </a:lnTo>
                <a:lnTo>
                  <a:pt x="798915" y="0"/>
                </a:lnTo>
                <a:lnTo>
                  <a:pt x="855971" y="1339"/>
                </a:lnTo>
                <a:lnTo>
                  <a:pt x="911944" y="5298"/>
                </a:lnTo>
                <a:lnTo>
                  <a:pt x="966700" y="11785"/>
                </a:lnTo>
                <a:lnTo>
                  <a:pt x="1020103" y="20711"/>
                </a:lnTo>
                <a:lnTo>
                  <a:pt x="1072017" y="31985"/>
                </a:lnTo>
                <a:lnTo>
                  <a:pt x="1122308" y="45516"/>
                </a:lnTo>
                <a:lnTo>
                  <a:pt x="1170840" y="61215"/>
                </a:lnTo>
                <a:lnTo>
                  <a:pt x="1217479" y="78990"/>
                </a:lnTo>
                <a:lnTo>
                  <a:pt x="1262088" y="98753"/>
                </a:lnTo>
                <a:lnTo>
                  <a:pt x="1304533" y="120411"/>
                </a:lnTo>
                <a:lnTo>
                  <a:pt x="1344678" y="143876"/>
                </a:lnTo>
                <a:lnTo>
                  <a:pt x="1382389" y="169056"/>
                </a:lnTo>
                <a:lnTo>
                  <a:pt x="1417530" y="195862"/>
                </a:lnTo>
                <a:lnTo>
                  <a:pt x="1449966" y="224202"/>
                </a:lnTo>
                <a:lnTo>
                  <a:pt x="1479562" y="253987"/>
                </a:lnTo>
                <a:lnTo>
                  <a:pt x="1506182" y="285127"/>
                </a:lnTo>
                <a:lnTo>
                  <a:pt x="1529691" y="317530"/>
                </a:lnTo>
                <a:lnTo>
                  <a:pt x="1549955" y="351107"/>
                </a:lnTo>
                <a:lnTo>
                  <a:pt x="1566837" y="385767"/>
                </a:lnTo>
                <a:lnTo>
                  <a:pt x="1589918" y="457975"/>
                </a:lnTo>
                <a:lnTo>
                  <a:pt x="1597852" y="533433"/>
                </a:lnTo>
                <a:lnTo>
                  <a:pt x="1595846" y="571533"/>
                </a:lnTo>
                <a:lnTo>
                  <a:pt x="1589918" y="608910"/>
                </a:lnTo>
                <a:lnTo>
                  <a:pt x="1566837" y="681135"/>
                </a:lnTo>
                <a:lnTo>
                  <a:pt x="1549955" y="715801"/>
                </a:lnTo>
                <a:lnTo>
                  <a:pt x="1529691" y="749384"/>
                </a:lnTo>
                <a:lnTo>
                  <a:pt x="1506182" y="781792"/>
                </a:lnTo>
                <a:lnTo>
                  <a:pt x="1479562" y="812935"/>
                </a:lnTo>
                <a:lnTo>
                  <a:pt x="1449966" y="842723"/>
                </a:lnTo>
                <a:lnTo>
                  <a:pt x="1417530" y="871066"/>
                </a:lnTo>
                <a:lnTo>
                  <a:pt x="1382389" y="897874"/>
                </a:lnTo>
                <a:lnTo>
                  <a:pt x="1344678" y="923055"/>
                </a:lnTo>
                <a:lnTo>
                  <a:pt x="1304533" y="946521"/>
                </a:lnTo>
                <a:lnTo>
                  <a:pt x="1262088" y="968180"/>
                </a:lnTo>
                <a:lnTo>
                  <a:pt x="1217479" y="987943"/>
                </a:lnTo>
                <a:lnTo>
                  <a:pt x="1170840" y="1005718"/>
                </a:lnTo>
                <a:lnTo>
                  <a:pt x="1122308" y="1021417"/>
                </a:lnTo>
                <a:lnTo>
                  <a:pt x="1072017" y="1034948"/>
                </a:lnTo>
                <a:lnTo>
                  <a:pt x="1020103" y="1046221"/>
                </a:lnTo>
                <a:lnTo>
                  <a:pt x="966700" y="1055146"/>
                </a:lnTo>
                <a:lnTo>
                  <a:pt x="911944" y="1061633"/>
                </a:lnTo>
                <a:lnTo>
                  <a:pt x="855971" y="1065592"/>
                </a:lnTo>
                <a:lnTo>
                  <a:pt x="798915" y="1066931"/>
                </a:lnTo>
                <a:lnTo>
                  <a:pt x="741859" y="1065592"/>
                </a:lnTo>
                <a:lnTo>
                  <a:pt x="685886" y="1061633"/>
                </a:lnTo>
                <a:lnTo>
                  <a:pt x="631130" y="1055146"/>
                </a:lnTo>
                <a:lnTo>
                  <a:pt x="577729" y="1046221"/>
                </a:lnTo>
                <a:lnTo>
                  <a:pt x="525815" y="1034948"/>
                </a:lnTo>
                <a:lnTo>
                  <a:pt x="475525" y="1021417"/>
                </a:lnTo>
                <a:lnTo>
                  <a:pt x="426994" y="1005718"/>
                </a:lnTo>
                <a:lnTo>
                  <a:pt x="380357" y="987943"/>
                </a:lnTo>
                <a:lnTo>
                  <a:pt x="335749" y="968180"/>
                </a:lnTo>
                <a:lnTo>
                  <a:pt x="293305" y="946521"/>
                </a:lnTo>
                <a:lnTo>
                  <a:pt x="253161" y="923055"/>
                </a:lnTo>
                <a:lnTo>
                  <a:pt x="215452" y="897874"/>
                </a:lnTo>
                <a:lnTo>
                  <a:pt x="180312" y="871066"/>
                </a:lnTo>
                <a:lnTo>
                  <a:pt x="147878" y="842723"/>
                </a:lnTo>
                <a:lnTo>
                  <a:pt x="118284" y="812935"/>
                </a:lnTo>
                <a:lnTo>
                  <a:pt x="91665" y="781792"/>
                </a:lnTo>
                <a:lnTo>
                  <a:pt x="68156" y="749384"/>
                </a:lnTo>
                <a:lnTo>
                  <a:pt x="47894" y="715801"/>
                </a:lnTo>
                <a:lnTo>
                  <a:pt x="31012" y="681135"/>
                </a:lnTo>
                <a:lnTo>
                  <a:pt x="7933" y="608910"/>
                </a:lnTo>
                <a:lnTo>
                  <a:pt x="2005" y="571533"/>
                </a:lnTo>
                <a:lnTo>
                  <a:pt x="0" y="533433"/>
                </a:lnTo>
                <a:close/>
              </a:path>
            </a:pathLst>
          </a:custGeom>
          <a:ln w="5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1897" y="4257183"/>
            <a:ext cx="1239520" cy="48323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350" spc="15" dirty="0">
                <a:latin typeface="宋体"/>
                <a:cs typeface="宋体"/>
              </a:rPr>
              <a:t>静态分析</a:t>
            </a:r>
            <a:endParaRPr sz="13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350" spc="15" dirty="0">
                <a:latin typeface="宋体"/>
                <a:cs typeface="宋体"/>
              </a:rPr>
              <a:t>（验证与确认）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41512" y="2228509"/>
            <a:ext cx="0" cy="1759585"/>
          </a:xfrm>
          <a:custGeom>
            <a:avLst/>
            <a:gdLst/>
            <a:ahLst/>
            <a:cxnLst/>
            <a:rect l="l" t="t" r="r" b="b"/>
            <a:pathLst>
              <a:path h="1759585">
                <a:moveTo>
                  <a:pt x="0" y="1759000"/>
                </a:moveTo>
                <a:lnTo>
                  <a:pt x="0" y="0"/>
                </a:lnTo>
              </a:path>
            </a:pathLst>
          </a:custGeom>
          <a:ln w="5203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81675" y="2063684"/>
            <a:ext cx="120014" cy="180340"/>
          </a:xfrm>
          <a:custGeom>
            <a:avLst/>
            <a:gdLst/>
            <a:ahLst/>
            <a:cxnLst/>
            <a:rect l="l" t="t" r="r" b="b"/>
            <a:pathLst>
              <a:path w="120015" h="180339">
                <a:moveTo>
                  <a:pt x="59837" y="0"/>
                </a:moveTo>
                <a:lnTo>
                  <a:pt x="0" y="179808"/>
                </a:lnTo>
                <a:lnTo>
                  <a:pt x="119674" y="179808"/>
                </a:lnTo>
                <a:lnTo>
                  <a:pt x="59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59832" y="3088247"/>
            <a:ext cx="491490" cy="978535"/>
          </a:xfrm>
          <a:custGeom>
            <a:avLst/>
            <a:gdLst/>
            <a:ahLst/>
            <a:cxnLst/>
            <a:rect l="l" t="t" r="r" b="b"/>
            <a:pathLst>
              <a:path w="491489" h="978535">
                <a:moveTo>
                  <a:pt x="0" y="978091"/>
                </a:moveTo>
                <a:lnTo>
                  <a:pt x="491056" y="0"/>
                </a:lnTo>
              </a:path>
            </a:pathLst>
          </a:custGeom>
          <a:ln w="5204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90704" y="2941013"/>
            <a:ext cx="134620" cy="187960"/>
          </a:xfrm>
          <a:custGeom>
            <a:avLst/>
            <a:gdLst/>
            <a:ahLst/>
            <a:cxnLst/>
            <a:rect l="l" t="t" r="r" b="b"/>
            <a:pathLst>
              <a:path w="134619" h="187960">
                <a:moveTo>
                  <a:pt x="134113" y="0"/>
                </a:moveTo>
                <a:lnTo>
                  <a:pt x="0" y="133770"/>
                </a:lnTo>
                <a:lnTo>
                  <a:pt x="106926" y="187626"/>
                </a:lnTo>
                <a:lnTo>
                  <a:pt x="1341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9880" y="3578162"/>
            <a:ext cx="901065" cy="672465"/>
          </a:xfrm>
          <a:custGeom>
            <a:avLst/>
            <a:gdLst/>
            <a:ahLst/>
            <a:cxnLst/>
            <a:rect l="l" t="t" r="r" b="b"/>
            <a:pathLst>
              <a:path w="901064" h="672464">
                <a:moveTo>
                  <a:pt x="0" y="671894"/>
                </a:moveTo>
                <a:lnTo>
                  <a:pt x="900465" y="0"/>
                </a:lnTo>
              </a:path>
            </a:pathLst>
          </a:custGeom>
          <a:ln w="520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82649" y="3479571"/>
            <a:ext cx="180340" cy="155575"/>
          </a:xfrm>
          <a:custGeom>
            <a:avLst/>
            <a:gdLst/>
            <a:ahLst/>
            <a:cxnLst/>
            <a:rect l="l" t="t" r="r" b="b"/>
            <a:pathLst>
              <a:path w="180339" h="155575">
                <a:moveTo>
                  <a:pt x="179728" y="0"/>
                </a:moveTo>
                <a:lnTo>
                  <a:pt x="0" y="59501"/>
                </a:lnTo>
                <a:lnTo>
                  <a:pt x="71544" y="155486"/>
                </a:lnTo>
                <a:lnTo>
                  <a:pt x="1797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40449" y="4356856"/>
            <a:ext cx="1741805" cy="164465"/>
          </a:xfrm>
          <a:custGeom>
            <a:avLst/>
            <a:gdLst/>
            <a:ahLst/>
            <a:cxnLst/>
            <a:rect l="l" t="t" r="r" b="b"/>
            <a:pathLst>
              <a:path w="1741804" h="164464">
                <a:moveTo>
                  <a:pt x="0" y="164086"/>
                </a:moveTo>
                <a:lnTo>
                  <a:pt x="1741223" y="0"/>
                </a:lnTo>
              </a:path>
            </a:pathLst>
          </a:custGeom>
          <a:ln w="5211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61293" y="4298484"/>
            <a:ext cx="184785" cy="120014"/>
          </a:xfrm>
          <a:custGeom>
            <a:avLst/>
            <a:gdLst/>
            <a:ahLst/>
            <a:cxnLst/>
            <a:rect l="l" t="t" r="r" b="b"/>
            <a:pathLst>
              <a:path w="184785" h="120014">
                <a:moveTo>
                  <a:pt x="0" y="0"/>
                </a:moveTo>
                <a:lnTo>
                  <a:pt x="11056" y="119438"/>
                </a:lnTo>
                <a:lnTo>
                  <a:pt x="184281" y="429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58039" y="3946466"/>
            <a:ext cx="1290955" cy="779780"/>
          </a:xfrm>
          <a:custGeom>
            <a:avLst/>
            <a:gdLst/>
            <a:ahLst/>
            <a:cxnLst/>
            <a:rect l="l" t="t" r="r" b="b"/>
            <a:pathLst>
              <a:path w="1290954" h="779779">
                <a:moveTo>
                  <a:pt x="645202" y="0"/>
                </a:moveTo>
                <a:lnTo>
                  <a:pt x="586463" y="1593"/>
                </a:lnTo>
                <a:lnTo>
                  <a:pt x="529203" y="6282"/>
                </a:lnTo>
                <a:lnTo>
                  <a:pt x="473652" y="13929"/>
                </a:lnTo>
                <a:lnTo>
                  <a:pt x="420035" y="24395"/>
                </a:lnTo>
                <a:lnTo>
                  <a:pt x="368581" y="37544"/>
                </a:lnTo>
                <a:lnTo>
                  <a:pt x="319517" y="53236"/>
                </a:lnTo>
                <a:lnTo>
                  <a:pt x="273071" y="71335"/>
                </a:lnTo>
                <a:lnTo>
                  <a:pt x="229471" y="91701"/>
                </a:lnTo>
                <a:lnTo>
                  <a:pt x="188942" y="114199"/>
                </a:lnTo>
                <a:lnTo>
                  <a:pt x="151714" y="138689"/>
                </a:lnTo>
                <a:lnTo>
                  <a:pt x="118014" y="165034"/>
                </a:lnTo>
                <a:lnTo>
                  <a:pt x="88069" y="193095"/>
                </a:lnTo>
                <a:lnTo>
                  <a:pt x="62107" y="222736"/>
                </a:lnTo>
                <a:lnTo>
                  <a:pt x="23041" y="286204"/>
                </a:lnTo>
                <a:lnTo>
                  <a:pt x="2635" y="354334"/>
                </a:lnTo>
                <a:lnTo>
                  <a:pt x="0" y="389803"/>
                </a:lnTo>
                <a:lnTo>
                  <a:pt x="2635" y="425288"/>
                </a:lnTo>
                <a:lnTo>
                  <a:pt x="23041" y="493444"/>
                </a:lnTo>
                <a:lnTo>
                  <a:pt x="62107" y="556929"/>
                </a:lnTo>
                <a:lnTo>
                  <a:pt x="88069" y="586575"/>
                </a:lnTo>
                <a:lnTo>
                  <a:pt x="118014" y="614641"/>
                </a:lnTo>
                <a:lnTo>
                  <a:pt x="151714" y="640988"/>
                </a:lnTo>
                <a:lnTo>
                  <a:pt x="188942" y="665480"/>
                </a:lnTo>
                <a:lnTo>
                  <a:pt x="229471" y="687978"/>
                </a:lnTo>
                <a:lnTo>
                  <a:pt x="273071" y="708344"/>
                </a:lnTo>
                <a:lnTo>
                  <a:pt x="319517" y="726442"/>
                </a:lnTo>
                <a:lnTo>
                  <a:pt x="368581" y="742133"/>
                </a:lnTo>
                <a:lnTo>
                  <a:pt x="420035" y="755280"/>
                </a:lnTo>
                <a:lnTo>
                  <a:pt x="473652" y="765744"/>
                </a:lnTo>
                <a:lnTo>
                  <a:pt x="529203" y="773390"/>
                </a:lnTo>
                <a:lnTo>
                  <a:pt x="586463" y="778078"/>
                </a:lnTo>
                <a:lnTo>
                  <a:pt x="645202" y="779671"/>
                </a:lnTo>
                <a:lnTo>
                  <a:pt x="703942" y="778078"/>
                </a:lnTo>
                <a:lnTo>
                  <a:pt x="761201" y="773390"/>
                </a:lnTo>
                <a:lnTo>
                  <a:pt x="816753" y="765744"/>
                </a:lnTo>
                <a:lnTo>
                  <a:pt x="870369" y="755280"/>
                </a:lnTo>
                <a:lnTo>
                  <a:pt x="921823" y="742133"/>
                </a:lnTo>
                <a:lnTo>
                  <a:pt x="970887" y="726442"/>
                </a:lnTo>
                <a:lnTo>
                  <a:pt x="1017333" y="708344"/>
                </a:lnTo>
                <a:lnTo>
                  <a:pt x="1060934" y="687978"/>
                </a:lnTo>
                <a:lnTo>
                  <a:pt x="1101462" y="665480"/>
                </a:lnTo>
                <a:lnTo>
                  <a:pt x="1138690" y="640988"/>
                </a:lnTo>
                <a:lnTo>
                  <a:pt x="1172390" y="614641"/>
                </a:lnTo>
                <a:lnTo>
                  <a:pt x="1202335" y="586575"/>
                </a:lnTo>
                <a:lnTo>
                  <a:pt x="1228297" y="556929"/>
                </a:lnTo>
                <a:lnTo>
                  <a:pt x="1267364" y="493444"/>
                </a:lnTo>
                <a:lnTo>
                  <a:pt x="1287769" y="425288"/>
                </a:lnTo>
                <a:lnTo>
                  <a:pt x="1290405" y="389803"/>
                </a:lnTo>
                <a:lnTo>
                  <a:pt x="1287769" y="354334"/>
                </a:lnTo>
                <a:lnTo>
                  <a:pt x="1267364" y="286204"/>
                </a:lnTo>
                <a:lnTo>
                  <a:pt x="1228297" y="222736"/>
                </a:lnTo>
                <a:lnTo>
                  <a:pt x="1202335" y="193095"/>
                </a:lnTo>
                <a:lnTo>
                  <a:pt x="1172390" y="165034"/>
                </a:lnTo>
                <a:lnTo>
                  <a:pt x="1138690" y="138689"/>
                </a:lnTo>
                <a:lnTo>
                  <a:pt x="1101462" y="114199"/>
                </a:lnTo>
                <a:lnTo>
                  <a:pt x="1060934" y="91701"/>
                </a:lnTo>
                <a:lnTo>
                  <a:pt x="1017333" y="71335"/>
                </a:lnTo>
                <a:lnTo>
                  <a:pt x="970887" y="53236"/>
                </a:lnTo>
                <a:lnTo>
                  <a:pt x="921823" y="37544"/>
                </a:lnTo>
                <a:lnTo>
                  <a:pt x="870369" y="24395"/>
                </a:lnTo>
                <a:lnTo>
                  <a:pt x="816753" y="13929"/>
                </a:lnTo>
                <a:lnTo>
                  <a:pt x="761201" y="6282"/>
                </a:lnTo>
                <a:lnTo>
                  <a:pt x="703942" y="1593"/>
                </a:lnTo>
                <a:lnTo>
                  <a:pt x="645202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58039" y="3946466"/>
            <a:ext cx="1290955" cy="779780"/>
          </a:xfrm>
          <a:custGeom>
            <a:avLst/>
            <a:gdLst/>
            <a:ahLst/>
            <a:cxnLst/>
            <a:rect l="l" t="t" r="r" b="b"/>
            <a:pathLst>
              <a:path w="1290954" h="779779">
                <a:moveTo>
                  <a:pt x="0" y="389803"/>
                </a:moveTo>
                <a:lnTo>
                  <a:pt x="10392" y="319755"/>
                </a:lnTo>
                <a:lnTo>
                  <a:pt x="40355" y="253819"/>
                </a:lnTo>
                <a:lnTo>
                  <a:pt x="88069" y="193095"/>
                </a:lnTo>
                <a:lnTo>
                  <a:pt x="118014" y="165034"/>
                </a:lnTo>
                <a:lnTo>
                  <a:pt x="151714" y="138689"/>
                </a:lnTo>
                <a:lnTo>
                  <a:pt x="188942" y="114199"/>
                </a:lnTo>
                <a:lnTo>
                  <a:pt x="229471" y="91701"/>
                </a:lnTo>
                <a:lnTo>
                  <a:pt x="273071" y="71335"/>
                </a:lnTo>
                <a:lnTo>
                  <a:pt x="319517" y="53236"/>
                </a:lnTo>
                <a:lnTo>
                  <a:pt x="368581" y="37544"/>
                </a:lnTo>
                <a:lnTo>
                  <a:pt x="420035" y="24395"/>
                </a:lnTo>
                <a:lnTo>
                  <a:pt x="473652" y="13929"/>
                </a:lnTo>
                <a:lnTo>
                  <a:pt x="529203" y="6282"/>
                </a:lnTo>
                <a:lnTo>
                  <a:pt x="586463" y="1593"/>
                </a:lnTo>
                <a:lnTo>
                  <a:pt x="645202" y="0"/>
                </a:lnTo>
                <a:lnTo>
                  <a:pt x="703942" y="1593"/>
                </a:lnTo>
                <a:lnTo>
                  <a:pt x="761201" y="6282"/>
                </a:lnTo>
                <a:lnTo>
                  <a:pt x="816753" y="13929"/>
                </a:lnTo>
                <a:lnTo>
                  <a:pt x="870369" y="24395"/>
                </a:lnTo>
                <a:lnTo>
                  <a:pt x="921823" y="37544"/>
                </a:lnTo>
                <a:lnTo>
                  <a:pt x="970887" y="53236"/>
                </a:lnTo>
                <a:lnTo>
                  <a:pt x="1017333" y="71335"/>
                </a:lnTo>
                <a:lnTo>
                  <a:pt x="1060934" y="91701"/>
                </a:lnTo>
                <a:lnTo>
                  <a:pt x="1101462" y="114199"/>
                </a:lnTo>
                <a:lnTo>
                  <a:pt x="1138690" y="138689"/>
                </a:lnTo>
                <a:lnTo>
                  <a:pt x="1172390" y="165034"/>
                </a:lnTo>
                <a:lnTo>
                  <a:pt x="1202335" y="193095"/>
                </a:lnTo>
                <a:lnTo>
                  <a:pt x="1228297" y="222736"/>
                </a:lnTo>
                <a:lnTo>
                  <a:pt x="1267364" y="286204"/>
                </a:lnTo>
                <a:lnTo>
                  <a:pt x="1287769" y="354334"/>
                </a:lnTo>
                <a:lnTo>
                  <a:pt x="1290405" y="389803"/>
                </a:lnTo>
                <a:lnTo>
                  <a:pt x="1287769" y="425288"/>
                </a:lnTo>
                <a:lnTo>
                  <a:pt x="1280013" y="459881"/>
                </a:lnTo>
                <a:lnTo>
                  <a:pt x="1250049" y="525839"/>
                </a:lnTo>
                <a:lnTo>
                  <a:pt x="1202335" y="586575"/>
                </a:lnTo>
                <a:lnTo>
                  <a:pt x="1172390" y="614641"/>
                </a:lnTo>
                <a:lnTo>
                  <a:pt x="1138690" y="640988"/>
                </a:lnTo>
                <a:lnTo>
                  <a:pt x="1101462" y="665480"/>
                </a:lnTo>
                <a:lnTo>
                  <a:pt x="1060934" y="687978"/>
                </a:lnTo>
                <a:lnTo>
                  <a:pt x="1017333" y="708344"/>
                </a:lnTo>
                <a:lnTo>
                  <a:pt x="970887" y="726442"/>
                </a:lnTo>
                <a:lnTo>
                  <a:pt x="921823" y="742133"/>
                </a:lnTo>
                <a:lnTo>
                  <a:pt x="870369" y="755280"/>
                </a:lnTo>
                <a:lnTo>
                  <a:pt x="816753" y="765744"/>
                </a:lnTo>
                <a:lnTo>
                  <a:pt x="761201" y="773390"/>
                </a:lnTo>
                <a:lnTo>
                  <a:pt x="703942" y="778078"/>
                </a:lnTo>
                <a:lnTo>
                  <a:pt x="645202" y="779671"/>
                </a:lnTo>
                <a:lnTo>
                  <a:pt x="586463" y="778078"/>
                </a:lnTo>
                <a:lnTo>
                  <a:pt x="529203" y="773390"/>
                </a:lnTo>
                <a:lnTo>
                  <a:pt x="473652" y="765744"/>
                </a:lnTo>
                <a:lnTo>
                  <a:pt x="420035" y="755280"/>
                </a:lnTo>
                <a:lnTo>
                  <a:pt x="368581" y="742133"/>
                </a:lnTo>
                <a:lnTo>
                  <a:pt x="319517" y="726442"/>
                </a:lnTo>
                <a:lnTo>
                  <a:pt x="273071" y="708344"/>
                </a:lnTo>
                <a:lnTo>
                  <a:pt x="229471" y="687978"/>
                </a:lnTo>
                <a:lnTo>
                  <a:pt x="188942" y="665480"/>
                </a:lnTo>
                <a:lnTo>
                  <a:pt x="151714" y="640988"/>
                </a:lnTo>
                <a:lnTo>
                  <a:pt x="118014" y="614641"/>
                </a:lnTo>
                <a:lnTo>
                  <a:pt x="88069" y="586575"/>
                </a:lnTo>
                <a:lnTo>
                  <a:pt x="62107" y="556929"/>
                </a:lnTo>
                <a:lnTo>
                  <a:pt x="23041" y="493444"/>
                </a:lnTo>
                <a:lnTo>
                  <a:pt x="2635" y="425288"/>
                </a:lnTo>
                <a:lnTo>
                  <a:pt x="0" y="389803"/>
                </a:lnTo>
                <a:close/>
              </a:path>
            </a:pathLst>
          </a:custGeom>
          <a:ln w="5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446799" y="4207021"/>
            <a:ext cx="37973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6395" algn="l"/>
              </a:tabLst>
            </a:pPr>
            <a:r>
              <a:rPr sz="1350" b="1" u="dash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57155" y="4207021"/>
            <a:ext cx="89281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15" dirty="0">
                <a:latin typeface="宋体"/>
                <a:cs typeface="宋体"/>
              </a:rPr>
              <a:t>开发者测试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233377" y="4603029"/>
            <a:ext cx="1290955" cy="779780"/>
          </a:xfrm>
          <a:custGeom>
            <a:avLst/>
            <a:gdLst/>
            <a:ahLst/>
            <a:cxnLst/>
            <a:rect l="l" t="t" r="r" b="b"/>
            <a:pathLst>
              <a:path w="1290954" h="779779">
                <a:moveTo>
                  <a:pt x="645419" y="0"/>
                </a:moveTo>
                <a:lnTo>
                  <a:pt x="586678" y="1593"/>
                </a:lnTo>
                <a:lnTo>
                  <a:pt x="529413" y="6281"/>
                </a:lnTo>
                <a:lnTo>
                  <a:pt x="473852" y="13926"/>
                </a:lnTo>
                <a:lnTo>
                  <a:pt x="420224" y="24391"/>
                </a:lnTo>
                <a:lnTo>
                  <a:pt x="368757" y="37538"/>
                </a:lnTo>
                <a:lnTo>
                  <a:pt x="319678" y="53229"/>
                </a:lnTo>
                <a:lnTo>
                  <a:pt x="273215" y="71326"/>
                </a:lnTo>
                <a:lnTo>
                  <a:pt x="229597" y="91693"/>
                </a:lnTo>
                <a:lnTo>
                  <a:pt x="189051" y="114191"/>
                </a:lnTo>
                <a:lnTo>
                  <a:pt x="151805" y="138682"/>
                </a:lnTo>
                <a:lnTo>
                  <a:pt x="118087" y="165030"/>
                </a:lnTo>
                <a:lnTo>
                  <a:pt x="88125" y="193095"/>
                </a:lnTo>
                <a:lnTo>
                  <a:pt x="62148" y="222742"/>
                </a:lnTo>
                <a:lnTo>
                  <a:pt x="23057" y="286227"/>
                </a:lnTo>
                <a:lnTo>
                  <a:pt x="2637" y="354382"/>
                </a:lnTo>
                <a:lnTo>
                  <a:pt x="0" y="389868"/>
                </a:lnTo>
                <a:lnTo>
                  <a:pt x="2637" y="425353"/>
                </a:lnTo>
                <a:lnTo>
                  <a:pt x="23057" y="493507"/>
                </a:lnTo>
                <a:lnTo>
                  <a:pt x="62148" y="556990"/>
                </a:lnTo>
                <a:lnTo>
                  <a:pt x="88125" y="586635"/>
                </a:lnTo>
                <a:lnTo>
                  <a:pt x="118087" y="614699"/>
                </a:lnTo>
                <a:lnTo>
                  <a:pt x="151805" y="641045"/>
                </a:lnTo>
                <a:lnTo>
                  <a:pt x="189051" y="665534"/>
                </a:lnTo>
                <a:lnTo>
                  <a:pt x="229597" y="688030"/>
                </a:lnTo>
                <a:lnTo>
                  <a:pt x="273215" y="708395"/>
                </a:lnTo>
                <a:lnTo>
                  <a:pt x="319678" y="726491"/>
                </a:lnTo>
                <a:lnTo>
                  <a:pt x="368757" y="742180"/>
                </a:lnTo>
                <a:lnTo>
                  <a:pt x="420224" y="755326"/>
                </a:lnTo>
                <a:lnTo>
                  <a:pt x="473852" y="765789"/>
                </a:lnTo>
                <a:lnTo>
                  <a:pt x="529413" y="773434"/>
                </a:lnTo>
                <a:lnTo>
                  <a:pt x="586678" y="778121"/>
                </a:lnTo>
                <a:lnTo>
                  <a:pt x="645419" y="779715"/>
                </a:lnTo>
                <a:lnTo>
                  <a:pt x="704158" y="778121"/>
                </a:lnTo>
                <a:lnTo>
                  <a:pt x="761418" y="773434"/>
                </a:lnTo>
                <a:lnTo>
                  <a:pt x="816970" y="765789"/>
                </a:lnTo>
                <a:lnTo>
                  <a:pt x="870586" y="755326"/>
                </a:lnTo>
                <a:lnTo>
                  <a:pt x="922040" y="742180"/>
                </a:lnTo>
                <a:lnTo>
                  <a:pt x="971104" y="726491"/>
                </a:lnTo>
                <a:lnTo>
                  <a:pt x="1017550" y="708395"/>
                </a:lnTo>
                <a:lnTo>
                  <a:pt x="1061151" y="688030"/>
                </a:lnTo>
                <a:lnTo>
                  <a:pt x="1101679" y="665534"/>
                </a:lnTo>
                <a:lnTo>
                  <a:pt x="1138907" y="641045"/>
                </a:lnTo>
                <a:lnTo>
                  <a:pt x="1172607" y="614699"/>
                </a:lnTo>
                <a:lnTo>
                  <a:pt x="1202552" y="586635"/>
                </a:lnTo>
                <a:lnTo>
                  <a:pt x="1228514" y="556990"/>
                </a:lnTo>
                <a:lnTo>
                  <a:pt x="1267580" y="493507"/>
                </a:lnTo>
                <a:lnTo>
                  <a:pt x="1287986" y="425353"/>
                </a:lnTo>
                <a:lnTo>
                  <a:pt x="1290622" y="389868"/>
                </a:lnTo>
                <a:lnTo>
                  <a:pt x="1287986" y="354382"/>
                </a:lnTo>
                <a:lnTo>
                  <a:pt x="1267580" y="286227"/>
                </a:lnTo>
                <a:lnTo>
                  <a:pt x="1228514" y="222742"/>
                </a:lnTo>
                <a:lnTo>
                  <a:pt x="1202552" y="193095"/>
                </a:lnTo>
                <a:lnTo>
                  <a:pt x="1172607" y="165030"/>
                </a:lnTo>
                <a:lnTo>
                  <a:pt x="1138907" y="138682"/>
                </a:lnTo>
                <a:lnTo>
                  <a:pt x="1101679" y="114191"/>
                </a:lnTo>
                <a:lnTo>
                  <a:pt x="1061151" y="91693"/>
                </a:lnTo>
                <a:lnTo>
                  <a:pt x="1017550" y="71326"/>
                </a:lnTo>
                <a:lnTo>
                  <a:pt x="971104" y="53229"/>
                </a:lnTo>
                <a:lnTo>
                  <a:pt x="922040" y="37538"/>
                </a:lnTo>
                <a:lnTo>
                  <a:pt x="870586" y="24391"/>
                </a:lnTo>
                <a:lnTo>
                  <a:pt x="816970" y="13926"/>
                </a:lnTo>
                <a:lnTo>
                  <a:pt x="761418" y="6281"/>
                </a:lnTo>
                <a:lnTo>
                  <a:pt x="704158" y="1593"/>
                </a:lnTo>
                <a:lnTo>
                  <a:pt x="645419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233377" y="4603029"/>
            <a:ext cx="1290955" cy="779780"/>
          </a:xfrm>
          <a:custGeom>
            <a:avLst/>
            <a:gdLst/>
            <a:ahLst/>
            <a:cxnLst/>
            <a:rect l="l" t="t" r="r" b="b"/>
            <a:pathLst>
              <a:path w="1290954" h="779779">
                <a:moveTo>
                  <a:pt x="0" y="389868"/>
                </a:moveTo>
                <a:lnTo>
                  <a:pt x="10399" y="319790"/>
                </a:lnTo>
                <a:lnTo>
                  <a:pt x="40382" y="253832"/>
                </a:lnTo>
                <a:lnTo>
                  <a:pt x="88125" y="193095"/>
                </a:lnTo>
                <a:lnTo>
                  <a:pt x="118087" y="165030"/>
                </a:lnTo>
                <a:lnTo>
                  <a:pt x="151805" y="138682"/>
                </a:lnTo>
                <a:lnTo>
                  <a:pt x="189051" y="114191"/>
                </a:lnTo>
                <a:lnTo>
                  <a:pt x="229597" y="91693"/>
                </a:lnTo>
                <a:lnTo>
                  <a:pt x="273215" y="71326"/>
                </a:lnTo>
                <a:lnTo>
                  <a:pt x="319678" y="53229"/>
                </a:lnTo>
                <a:lnTo>
                  <a:pt x="368757" y="37538"/>
                </a:lnTo>
                <a:lnTo>
                  <a:pt x="420224" y="24391"/>
                </a:lnTo>
                <a:lnTo>
                  <a:pt x="473852" y="13926"/>
                </a:lnTo>
                <a:lnTo>
                  <a:pt x="529413" y="6281"/>
                </a:lnTo>
                <a:lnTo>
                  <a:pt x="586678" y="1593"/>
                </a:lnTo>
                <a:lnTo>
                  <a:pt x="645419" y="0"/>
                </a:lnTo>
                <a:lnTo>
                  <a:pt x="704158" y="1593"/>
                </a:lnTo>
                <a:lnTo>
                  <a:pt x="761418" y="6281"/>
                </a:lnTo>
                <a:lnTo>
                  <a:pt x="816970" y="13926"/>
                </a:lnTo>
                <a:lnTo>
                  <a:pt x="870586" y="24391"/>
                </a:lnTo>
                <a:lnTo>
                  <a:pt x="922040" y="37538"/>
                </a:lnTo>
                <a:lnTo>
                  <a:pt x="971104" y="53229"/>
                </a:lnTo>
                <a:lnTo>
                  <a:pt x="1017550" y="71326"/>
                </a:lnTo>
                <a:lnTo>
                  <a:pt x="1061151" y="91693"/>
                </a:lnTo>
                <a:lnTo>
                  <a:pt x="1101679" y="114191"/>
                </a:lnTo>
                <a:lnTo>
                  <a:pt x="1138907" y="138682"/>
                </a:lnTo>
                <a:lnTo>
                  <a:pt x="1172607" y="165030"/>
                </a:lnTo>
                <a:lnTo>
                  <a:pt x="1202552" y="193095"/>
                </a:lnTo>
                <a:lnTo>
                  <a:pt x="1228514" y="222742"/>
                </a:lnTo>
                <a:lnTo>
                  <a:pt x="1267580" y="286227"/>
                </a:lnTo>
                <a:lnTo>
                  <a:pt x="1287986" y="354382"/>
                </a:lnTo>
                <a:lnTo>
                  <a:pt x="1290622" y="389868"/>
                </a:lnTo>
                <a:lnTo>
                  <a:pt x="1287986" y="425353"/>
                </a:lnTo>
                <a:lnTo>
                  <a:pt x="1280229" y="459946"/>
                </a:lnTo>
                <a:lnTo>
                  <a:pt x="1250266" y="525901"/>
                </a:lnTo>
                <a:lnTo>
                  <a:pt x="1202552" y="586635"/>
                </a:lnTo>
                <a:lnTo>
                  <a:pt x="1172607" y="614699"/>
                </a:lnTo>
                <a:lnTo>
                  <a:pt x="1138907" y="641045"/>
                </a:lnTo>
                <a:lnTo>
                  <a:pt x="1101679" y="665534"/>
                </a:lnTo>
                <a:lnTo>
                  <a:pt x="1061151" y="688030"/>
                </a:lnTo>
                <a:lnTo>
                  <a:pt x="1017550" y="708395"/>
                </a:lnTo>
                <a:lnTo>
                  <a:pt x="971104" y="726491"/>
                </a:lnTo>
                <a:lnTo>
                  <a:pt x="922040" y="742180"/>
                </a:lnTo>
                <a:lnTo>
                  <a:pt x="870586" y="755326"/>
                </a:lnTo>
                <a:lnTo>
                  <a:pt x="816970" y="765789"/>
                </a:lnTo>
                <a:lnTo>
                  <a:pt x="761418" y="773434"/>
                </a:lnTo>
                <a:lnTo>
                  <a:pt x="704158" y="778121"/>
                </a:lnTo>
                <a:lnTo>
                  <a:pt x="645419" y="779715"/>
                </a:lnTo>
                <a:lnTo>
                  <a:pt x="586678" y="778121"/>
                </a:lnTo>
                <a:lnTo>
                  <a:pt x="529413" y="773434"/>
                </a:lnTo>
                <a:lnTo>
                  <a:pt x="473852" y="765789"/>
                </a:lnTo>
                <a:lnTo>
                  <a:pt x="420224" y="755326"/>
                </a:lnTo>
                <a:lnTo>
                  <a:pt x="368757" y="742180"/>
                </a:lnTo>
                <a:lnTo>
                  <a:pt x="319678" y="726491"/>
                </a:lnTo>
                <a:lnTo>
                  <a:pt x="273215" y="708395"/>
                </a:lnTo>
                <a:lnTo>
                  <a:pt x="229597" y="688030"/>
                </a:lnTo>
                <a:lnTo>
                  <a:pt x="189051" y="665534"/>
                </a:lnTo>
                <a:lnTo>
                  <a:pt x="151805" y="641045"/>
                </a:lnTo>
                <a:lnTo>
                  <a:pt x="118087" y="614699"/>
                </a:lnTo>
                <a:lnTo>
                  <a:pt x="88125" y="586635"/>
                </a:lnTo>
                <a:lnTo>
                  <a:pt x="62148" y="556990"/>
                </a:lnTo>
                <a:lnTo>
                  <a:pt x="23057" y="493507"/>
                </a:lnTo>
                <a:lnTo>
                  <a:pt x="2637" y="425353"/>
                </a:lnTo>
                <a:lnTo>
                  <a:pt x="0" y="389868"/>
                </a:lnTo>
                <a:close/>
              </a:path>
            </a:pathLst>
          </a:custGeom>
          <a:ln w="5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432492" y="4863628"/>
            <a:ext cx="89281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15" dirty="0">
                <a:latin typeface="宋体"/>
                <a:cs typeface="宋体"/>
              </a:rPr>
              <a:t>测试者测试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297552" y="4280459"/>
            <a:ext cx="180340" cy="120014"/>
          </a:xfrm>
          <a:custGeom>
            <a:avLst/>
            <a:gdLst/>
            <a:ahLst/>
            <a:cxnLst/>
            <a:rect l="l" t="t" r="r" b="b"/>
            <a:pathLst>
              <a:path w="180339" h="120014">
                <a:moveTo>
                  <a:pt x="179295" y="0"/>
                </a:moveTo>
                <a:lnTo>
                  <a:pt x="0" y="60956"/>
                </a:lnTo>
                <a:lnTo>
                  <a:pt x="179945" y="119807"/>
                </a:lnTo>
                <a:lnTo>
                  <a:pt x="179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12782" y="4491648"/>
            <a:ext cx="198755" cy="258445"/>
          </a:xfrm>
          <a:custGeom>
            <a:avLst/>
            <a:gdLst/>
            <a:ahLst/>
            <a:cxnLst/>
            <a:rect l="l" t="t" r="r" b="b"/>
            <a:pathLst>
              <a:path w="198754" h="258445">
                <a:moveTo>
                  <a:pt x="198590" y="0"/>
                </a:moveTo>
                <a:lnTo>
                  <a:pt x="0" y="257899"/>
                </a:lnTo>
              </a:path>
            </a:pathLst>
          </a:custGeom>
          <a:ln w="5206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912186" y="4701077"/>
            <a:ext cx="157480" cy="179070"/>
          </a:xfrm>
          <a:custGeom>
            <a:avLst/>
            <a:gdLst/>
            <a:ahLst/>
            <a:cxnLst/>
            <a:rect l="l" t="t" r="r" b="b"/>
            <a:pathLst>
              <a:path w="157479" h="179070">
                <a:moveTo>
                  <a:pt x="62222" y="0"/>
                </a:moveTo>
                <a:lnTo>
                  <a:pt x="0" y="178962"/>
                </a:lnTo>
                <a:lnTo>
                  <a:pt x="156964" y="73226"/>
                </a:lnTo>
                <a:lnTo>
                  <a:pt x="62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87252" y="5290299"/>
            <a:ext cx="374650" cy="289560"/>
          </a:xfrm>
          <a:custGeom>
            <a:avLst/>
            <a:gdLst/>
            <a:ahLst/>
            <a:cxnLst/>
            <a:rect l="l" t="t" r="r" b="b"/>
            <a:pathLst>
              <a:path w="374650" h="289560">
                <a:moveTo>
                  <a:pt x="374200" y="0"/>
                </a:moveTo>
                <a:lnTo>
                  <a:pt x="0" y="289301"/>
                </a:lnTo>
              </a:path>
            </a:pathLst>
          </a:custGeom>
          <a:ln w="5208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56954" y="5522987"/>
            <a:ext cx="179070" cy="157480"/>
          </a:xfrm>
          <a:custGeom>
            <a:avLst/>
            <a:gdLst/>
            <a:ahLst/>
            <a:cxnLst/>
            <a:rect l="l" t="t" r="r" b="b"/>
            <a:pathLst>
              <a:path w="179070" h="157479">
                <a:moveTo>
                  <a:pt x="105582" y="0"/>
                </a:moveTo>
                <a:lnTo>
                  <a:pt x="0" y="157289"/>
                </a:lnTo>
                <a:lnTo>
                  <a:pt x="178644" y="94899"/>
                </a:lnTo>
                <a:lnTo>
                  <a:pt x="1055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42700" y="4992898"/>
            <a:ext cx="791210" cy="149225"/>
          </a:xfrm>
          <a:custGeom>
            <a:avLst/>
            <a:gdLst/>
            <a:ahLst/>
            <a:cxnLst/>
            <a:rect l="l" t="t" r="r" b="b"/>
            <a:pathLst>
              <a:path w="791209" h="149225">
                <a:moveTo>
                  <a:pt x="790676" y="0"/>
                </a:moveTo>
                <a:lnTo>
                  <a:pt x="0" y="149059"/>
                </a:lnTo>
              </a:path>
            </a:pathLst>
          </a:custGeom>
          <a:ln w="5211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280966" y="5080283"/>
            <a:ext cx="187325" cy="118110"/>
          </a:xfrm>
          <a:custGeom>
            <a:avLst/>
            <a:gdLst/>
            <a:ahLst/>
            <a:cxnLst/>
            <a:rect l="l" t="t" r="r" b="b"/>
            <a:pathLst>
              <a:path w="187325" h="118110">
                <a:moveTo>
                  <a:pt x="165203" y="0"/>
                </a:moveTo>
                <a:lnTo>
                  <a:pt x="0" y="92141"/>
                </a:lnTo>
                <a:lnTo>
                  <a:pt x="187316" y="117787"/>
                </a:lnTo>
                <a:lnTo>
                  <a:pt x="1652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4203065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验证与确认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需求验证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需求验证方法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问题修正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需求验证的实践调查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7595" y="0"/>
            <a:ext cx="294132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需求验证</a:t>
            </a:r>
          </a:p>
          <a:p>
            <a:pPr marL="79692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概念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78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6235" algn="l"/>
              </a:tabLst>
            </a:pPr>
            <a:r>
              <a:rPr spc="-5" dirty="0"/>
              <a:t>验证普遍存在</a:t>
            </a:r>
          </a:p>
          <a:p>
            <a:pPr marL="756285" lvl="1" indent="-287020" algn="just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920" algn="l"/>
              </a:tabLst>
            </a:pPr>
            <a:r>
              <a:rPr sz="2400" spc="-5" dirty="0">
                <a:latin typeface="宋体"/>
                <a:cs typeface="宋体"/>
              </a:rPr>
              <a:t>获得的用户需求是否正确和充分的支持业务需求？</a:t>
            </a:r>
            <a:endParaRPr sz="2400">
              <a:latin typeface="宋体"/>
              <a:cs typeface="宋体"/>
            </a:endParaRPr>
          </a:p>
          <a:p>
            <a:pPr marL="756285" marR="5080" lvl="1" indent="-287020" algn="just">
              <a:lnSpc>
                <a:spcPts val="2700"/>
              </a:lnSpc>
              <a:spcBef>
                <a:spcPts val="100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建立的分析模型是否正确的反映了问题域特性和需求？ 细化的系统需求是否充分和正确的支持用户需求？</a:t>
            </a:r>
            <a:endParaRPr sz="2400">
              <a:latin typeface="宋体"/>
              <a:cs typeface="宋体"/>
            </a:endParaRPr>
          </a:p>
          <a:p>
            <a:pPr marL="756285" marR="309880" lvl="1" indent="-287020" algn="just">
              <a:lnSpc>
                <a:spcPct val="100000"/>
              </a:lnSpc>
              <a:spcBef>
                <a:spcPts val="6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920" algn="l"/>
              </a:tabLst>
            </a:pPr>
            <a:r>
              <a:rPr sz="2400" spc="-5" dirty="0">
                <a:latin typeface="宋体"/>
                <a:cs typeface="宋体"/>
              </a:rPr>
              <a:t>需求规格说明文档是否组织良好、书写正确？需求规 </a:t>
            </a:r>
            <a:r>
              <a:rPr sz="2400" dirty="0">
                <a:latin typeface="宋体"/>
                <a:cs typeface="宋体"/>
              </a:rPr>
              <a:t>格说明文档内的需求是否充分和正确的反映了涉众的 意图？需求规格说明文档是否可以作为后续开发工作</a:t>
            </a:r>
            <a:endParaRPr sz="2400">
              <a:latin typeface="宋体"/>
              <a:cs typeface="宋体"/>
            </a:endParaRPr>
          </a:p>
          <a:p>
            <a:pPr marL="756285">
              <a:lnSpc>
                <a:spcPts val="2700"/>
              </a:lnSpc>
            </a:pPr>
            <a:r>
              <a:rPr sz="2400" dirty="0"/>
              <a:t>（设计、实现、测试等等）的基础？</a:t>
            </a:r>
            <a:endParaRPr sz="2400"/>
          </a:p>
          <a:p>
            <a:pPr marL="355600" marR="261620" indent="-343535">
              <a:lnSpc>
                <a:spcPts val="3150"/>
              </a:lnSpc>
              <a:spcBef>
                <a:spcPts val="115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pc="-10" dirty="0">
                <a:solidFill>
                  <a:srgbClr val="FF0000"/>
                </a:solidFill>
              </a:rPr>
              <a:t>需求验证是专指在需求规格说明完</a:t>
            </a:r>
            <a:r>
              <a:rPr dirty="0">
                <a:solidFill>
                  <a:srgbClr val="FF0000"/>
                </a:solidFill>
              </a:rPr>
              <a:t>成</a:t>
            </a:r>
            <a:r>
              <a:rPr spc="-10" dirty="0">
                <a:solidFill>
                  <a:srgbClr val="FF0000"/>
                </a:solidFill>
              </a:rPr>
              <a:t>之后</a:t>
            </a:r>
            <a:r>
              <a:rPr dirty="0">
                <a:solidFill>
                  <a:srgbClr val="FF0000"/>
                </a:solidFill>
              </a:rPr>
              <a:t>，</a:t>
            </a:r>
            <a:r>
              <a:rPr spc="-10" dirty="0">
                <a:solidFill>
                  <a:srgbClr val="FF0000"/>
                </a:solidFill>
              </a:rPr>
              <a:t>对需 </a:t>
            </a:r>
            <a:r>
              <a:rPr spc="-5" dirty="0">
                <a:solidFill>
                  <a:srgbClr val="FF0000"/>
                </a:solidFill>
              </a:rPr>
              <a:t>求规格说明文档进行的验证活动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3692" y="52527"/>
            <a:ext cx="294132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需求验证</a:t>
            </a:r>
          </a:p>
          <a:p>
            <a:pPr marL="79692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活动</a:t>
            </a:r>
          </a:p>
        </p:txBody>
      </p:sp>
      <p:sp>
        <p:nvSpPr>
          <p:cNvPr id="3" name="object 3"/>
          <p:cNvSpPr/>
          <p:nvPr/>
        </p:nvSpPr>
        <p:spPr>
          <a:xfrm>
            <a:off x="3513870" y="3316650"/>
            <a:ext cx="1375410" cy="1374775"/>
          </a:xfrm>
          <a:custGeom>
            <a:avLst/>
            <a:gdLst/>
            <a:ahLst/>
            <a:cxnLst/>
            <a:rect l="l" t="t" r="r" b="b"/>
            <a:pathLst>
              <a:path w="1375410" h="1374775">
                <a:moveTo>
                  <a:pt x="687589" y="0"/>
                </a:moveTo>
                <a:lnTo>
                  <a:pt x="640500" y="1585"/>
                </a:lnTo>
                <a:lnTo>
                  <a:pt x="594265" y="6274"/>
                </a:lnTo>
                <a:lnTo>
                  <a:pt x="548985" y="13964"/>
                </a:lnTo>
                <a:lnTo>
                  <a:pt x="504764" y="24553"/>
                </a:lnTo>
                <a:lnTo>
                  <a:pt x="461702" y="37937"/>
                </a:lnTo>
                <a:lnTo>
                  <a:pt x="419903" y="54016"/>
                </a:lnTo>
                <a:lnTo>
                  <a:pt x="379469" y="72686"/>
                </a:lnTo>
                <a:lnTo>
                  <a:pt x="340502" y="93845"/>
                </a:lnTo>
                <a:lnTo>
                  <a:pt x="303104" y="117390"/>
                </a:lnTo>
                <a:lnTo>
                  <a:pt x="267378" y="143220"/>
                </a:lnTo>
                <a:lnTo>
                  <a:pt x="233426" y="171232"/>
                </a:lnTo>
                <a:lnTo>
                  <a:pt x="201350" y="201323"/>
                </a:lnTo>
                <a:lnTo>
                  <a:pt x="171252" y="233391"/>
                </a:lnTo>
                <a:lnTo>
                  <a:pt x="143235" y="267335"/>
                </a:lnTo>
                <a:lnTo>
                  <a:pt x="117401" y="303050"/>
                </a:lnTo>
                <a:lnTo>
                  <a:pt x="93852" y="340436"/>
                </a:lnTo>
                <a:lnTo>
                  <a:pt x="72690" y="379389"/>
                </a:lnTo>
                <a:lnTo>
                  <a:pt x="54019" y="419808"/>
                </a:lnTo>
                <a:lnTo>
                  <a:pt x="37939" y="461590"/>
                </a:lnTo>
                <a:lnTo>
                  <a:pt x="24553" y="504632"/>
                </a:lnTo>
                <a:lnTo>
                  <a:pt x="13965" y="548832"/>
                </a:lnTo>
                <a:lnTo>
                  <a:pt x="6274" y="594089"/>
                </a:lnTo>
                <a:lnTo>
                  <a:pt x="1585" y="640298"/>
                </a:lnTo>
                <a:lnTo>
                  <a:pt x="0" y="687359"/>
                </a:lnTo>
                <a:lnTo>
                  <a:pt x="1585" y="734420"/>
                </a:lnTo>
                <a:lnTo>
                  <a:pt x="6274" y="780629"/>
                </a:lnTo>
                <a:lnTo>
                  <a:pt x="13965" y="825886"/>
                </a:lnTo>
                <a:lnTo>
                  <a:pt x="24553" y="870087"/>
                </a:lnTo>
                <a:lnTo>
                  <a:pt x="37939" y="913129"/>
                </a:lnTo>
                <a:lnTo>
                  <a:pt x="54019" y="954911"/>
                </a:lnTo>
                <a:lnTo>
                  <a:pt x="72691" y="995331"/>
                </a:lnTo>
                <a:lnTo>
                  <a:pt x="93852" y="1034285"/>
                </a:lnTo>
                <a:lnTo>
                  <a:pt x="117401" y="1071671"/>
                </a:lnTo>
                <a:lnTo>
                  <a:pt x="143235" y="1107388"/>
                </a:lnTo>
                <a:lnTo>
                  <a:pt x="171252" y="1141332"/>
                </a:lnTo>
                <a:lnTo>
                  <a:pt x="201350" y="1173401"/>
                </a:lnTo>
                <a:lnTo>
                  <a:pt x="233426" y="1203493"/>
                </a:lnTo>
                <a:lnTo>
                  <a:pt x="267378" y="1231505"/>
                </a:lnTo>
                <a:lnTo>
                  <a:pt x="303104" y="1257336"/>
                </a:lnTo>
                <a:lnTo>
                  <a:pt x="340502" y="1280882"/>
                </a:lnTo>
                <a:lnTo>
                  <a:pt x="379469" y="1302042"/>
                </a:lnTo>
                <a:lnTo>
                  <a:pt x="419903" y="1320712"/>
                </a:lnTo>
                <a:lnTo>
                  <a:pt x="461702" y="1336791"/>
                </a:lnTo>
                <a:lnTo>
                  <a:pt x="504764" y="1350176"/>
                </a:lnTo>
                <a:lnTo>
                  <a:pt x="548985" y="1360765"/>
                </a:lnTo>
                <a:lnTo>
                  <a:pt x="594265" y="1368455"/>
                </a:lnTo>
                <a:lnTo>
                  <a:pt x="640500" y="1373144"/>
                </a:lnTo>
                <a:lnTo>
                  <a:pt x="687589" y="1374730"/>
                </a:lnTo>
                <a:lnTo>
                  <a:pt x="734650" y="1373144"/>
                </a:lnTo>
                <a:lnTo>
                  <a:pt x="780864" y="1368455"/>
                </a:lnTo>
                <a:lnTo>
                  <a:pt x="826126" y="1360765"/>
                </a:lnTo>
                <a:lnTo>
                  <a:pt x="870336" y="1350176"/>
                </a:lnTo>
                <a:lnTo>
                  <a:pt x="913389" y="1336791"/>
                </a:lnTo>
                <a:lnTo>
                  <a:pt x="955184" y="1320712"/>
                </a:lnTo>
                <a:lnTo>
                  <a:pt x="995617" y="1302042"/>
                </a:lnTo>
                <a:lnTo>
                  <a:pt x="1034587" y="1280882"/>
                </a:lnTo>
                <a:lnTo>
                  <a:pt x="1071990" y="1257336"/>
                </a:lnTo>
                <a:lnTo>
                  <a:pt x="1107724" y="1231505"/>
                </a:lnTo>
                <a:lnTo>
                  <a:pt x="1141686" y="1203493"/>
                </a:lnTo>
                <a:lnTo>
                  <a:pt x="1173774" y="1173401"/>
                </a:lnTo>
                <a:lnTo>
                  <a:pt x="1203884" y="1141332"/>
                </a:lnTo>
                <a:lnTo>
                  <a:pt x="1231915" y="1107388"/>
                </a:lnTo>
                <a:lnTo>
                  <a:pt x="1257763" y="1071671"/>
                </a:lnTo>
                <a:lnTo>
                  <a:pt x="1281326" y="1034285"/>
                </a:lnTo>
                <a:lnTo>
                  <a:pt x="1302502" y="995331"/>
                </a:lnTo>
                <a:lnTo>
                  <a:pt x="1321187" y="954911"/>
                </a:lnTo>
                <a:lnTo>
                  <a:pt x="1337279" y="913129"/>
                </a:lnTo>
                <a:lnTo>
                  <a:pt x="1350675" y="870087"/>
                </a:lnTo>
                <a:lnTo>
                  <a:pt x="1361273" y="825886"/>
                </a:lnTo>
                <a:lnTo>
                  <a:pt x="1368970" y="780629"/>
                </a:lnTo>
                <a:lnTo>
                  <a:pt x="1373664" y="734420"/>
                </a:lnTo>
                <a:lnTo>
                  <a:pt x="1375251" y="687359"/>
                </a:lnTo>
                <a:lnTo>
                  <a:pt x="1373664" y="640298"/>
                </a:lnTo>
                <a:lnTo>
                  <a:pt x="1368970" y="594089"/>
                </a:lnTo>
                <a:lnTo>
                  <a:pt x="1361273" y="548832"/>
                </a:lnTo>
                <a:lnTo>
                  <a:pt x="1350675" y="504632"/>
                </a:lnTo>
                <a:lnTo>
                  <a:pt x="1337279" y="461590"/>
                </a:lnTo>
                <a:lnTo>
                  <a:pt x="1321187" y="419808"/>
                </a:lnTo>
                <a:lnTo>
                  <a:pt x="1302502" y="379390"/>
                </a:lnTo>
                <a:lnTo>
                  <a:pt x="1281326" y="340436"/>
                </a:lnTo>
                <a:lnTo>
                  <a:pt x="1257763" y="303050"/>
                </a:lnTo>
                <a:lnTo>
                  <a:pt x="1231915" y="267335"/>
                </a:lnTo>
                <a:lnTo>
                  <a:pt x="1203884" y="233391"/>
                </a:lnTo>
                <a:lnTo>
                  <a:pt x="1173774" y="201323"/>
                </a:lnTo>
                <a:lnTo>
                  <a:pt x="1141686" y="171232"/>
                </a:lnTo>
                <a:lnTo>
                  <a:pt x="1107724" y="143220"/>
                </a:lnTo>
                <a:lnTo>
                  <a:pt x="1071990" y="117390"/>
                </a:lnTo>
                <a:lnTo>
                  <a:pt x="1034587" y="93845"/>
                </a:lnTo>
                <a:lnTo>
                  <a:pt x="995617" y="72686"/>
                </a:lnTo>
                <a:lnTo>
                  <a:pt x="955184" y="54016"/>
                </a:lnTo>
                <a:lnTo>
                  <a:pt x="913389" y="37937"/>
                </a:lnTo>
                <a:lnTo>
                  <a:pt x="870336" y="24553"/>
                </a:lnTo>
                <a:lnTo>
                  <a:pt x="826126" y="13964"/>
                </a:lnTo>
                <a:lnTo>
                  <a:pt x="780864" y="6274"/>
                </a:lnTo>
                <a:lnTo>
                  <a:pt x="734650" y="1585"/>
                </a:lnTo>
                <a:lnTo>
                  <a:pt x="687589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13870" y="3316650"/>
            <a:ext cx="1375410" cy="1374775"/>
          </a:xfrm>
          <a:custGeom>
            <a:avLst/>
            <a:gdLst/>
            <a:ahLst/>
            <a:cxnLst/>
            <a:rect l="l" t="t" r="r" b="b"/>
            <a:pathLst>
              <a:path w="1375410" h="1374775">
                <a:moveTo>
                  <a:pt x="0" y="687359"/>
                </a:moveTo>
                <a:lnTo>
                  <a:pt x="1585" y="640298"/>
                </a:lnTo>
                <a:lnTo>
                  <a:pt x="6274" y="594089"/>
                </a:lnTo>
                <a:lnTo>
                  <a:pt x="13965" y="548832"/>
                </a:lnTo>
                <a:lnTo>
                  <a:pt x="24553" y="504632"/>
                </a:lnTo>
                <a:lnTo>
                  <a:pt x="37939" y="461590"/>
                </a:lnTo>
                <a:lnTo>
                  <a:pt x="54019" y="419808"/>
                </a:lnTo>
                <a:lnTo>
                  <a:pt x="72690" y="379389"/>
                </a:lnTo>
                <a:lnTo>
                  <a:pt x="93852" y="340436"/>
                </a:lnTo>
                <a:lnTo>
                  <a:pt x="117401" y="303050"/>
                </a:lnTo>
                <a:lnTo>
                  <a:pt x="143235" y="267335"/>
                </a:lnTo>
                <a:lnTo>
                  <a:pt x="171252" y="233391"/>
                </a:lnTo>
                <a:lnTo>
                  <a:pt x="201350" y="201323"/>
                </a:lnTo>
                <a:lnTo>
                  <a:pt x="233426" y="171232"/>
                </a:lnTo>
                <a:lnTo>
                  <a:pt x="267378" y="143220"/>
                </a:lnTo>
                <a:lnTo>
                  <a:pt x="303104" y="117390"/>
                </a:lnTo>
                <a:lnTo>
                  <a:pt x="340502" y="93845"/>
                </a:lnTo>
                <a:lnTo>
                  <a:pt x="379469" y="72686"/>
                </a:lnTo>
                <a:lnTo>
                  <a:pt x="419903" y="54016"/>
                </a:lnTo>
                <a:lnTo>
                  <a:pt x="461702" y="37937"/>
                </a:lnTo>
                <a:lnTo>
                  <a:pt x="504764" y="24553"/>
                </a:lnTo>
                <a:lnTo>
                  <a:pt x="548985" y="13964"/>
                </a:lnTo>
                <a:lnTo>
                  <a:pt x="594265" y="6274"/>
                </a:lnTo>
                <a:lnTo>
                  <a:pt x="640500" y="1585"/>
                </a:lnTo>
                <a:lnTo>
                  <a:pt x="687589" y="0"/>
                </a:lnTo>
                <a:lnTo>
                  <a:pt x="734650" y="1585"/>
                </a:lnTo>
                <a:lnTo>
                  <a:pt x="780864" y="6274"/>
                </a:lnTo>
                <a:lnTo>
                  <a:pt x="826126" y="13964"/>
                </a:lnTo>
                <a:lnTo>
                  <a:pt x="870336" y="24553"/>
                </a:lnTo>
                <a:lnTo>
                  <a:pt x="913389" y="37937"/>
                </a:lnTo>
                <a:lnTo>
                  <a:pt x="955184" y="54016"/>
                </a:lnTo>
                <a:lnTo>
                  <a:pt x="995617" y="72686"/>
                </a:lnTo>
                <a:lnTo>
                  <a:pt x="1034587" y="93845"/>
                </a:lnTo>
                <a:lnTo>
                  <a:pt x="1071990" y="117390"/>
                </a:lnTo>
                <a:lnTo>
                  <a:pt x="1107724" y="143220"/>
                </a:lnTo>
                <a:lnTo>
                  <a:pt x="1141686" y="171232"/>
                </a:lnTo>
                <a:lnTo>
                  <a:pt x="1173774" y="201323"/>
                </a:lnTo>
                <a:lnTo>
                  <a:pt x="1203884" y="233391"/>
                </a:lnTo>
                <a:lnTo>
                  <a:pt x="1231915" y="267335"/>
                </a:lnTo>
                <a:lnTo>
                  <a:pt x="1257763" y="303050"/>
                </a:lnTo>
                <a:lnTo>
                  <a:pt x="1281326" y="340436"/>
                </a:lnTo>
                <a:lnTo>
                  <a:pt x="1302502" y="379390"/>
                </a:lnTo>
                <a:lnTo>
                  <a:pt x="1321187" y="419808"/>
                </a:lnTo>
                <a:lnTo>
                  <a:pt x="1337279" y="461590"/>
                </a:lnTo>
                <a:lnTo>
                  <a:pt x="1350675" y="504632"/>
                </a:lnTo>
                <a:lnTo>
                  <a:pt x="1361273" y="548832"/>
                </a:lnTo>
                <a:lnTo>
                  <a:pt x="1368970" y="594089"/>
                </a:lnTo>
                <a:lnTo>
                  <a:pt x="1373664" y="640298"/>
                </a:lnTo>
                <a:lnTo>
                  <a:pt x="1375251" y="687359"/>
                </a:lnTo>
                <a:lnTo>
                  <a:pt x="1373664" y="734420"/>
                </a:lnTo>
                <a:lnTo>
                  <a:pt x="1368970" y="780629"/>
                </a:lnTo>
                <a:lnTo>
                  <a:pt x="1361273" y="825886"/>
                </a:lnTo>
                <a:lnTo>
                  <a:pt x="1350675" y="870087"/>
                </a:lnTo>
                <a:lnTo>
                  <a:pt x="1337279" y="913129"/>
                </a:lnTo>
                <a:lnTo>
                  <a:pt x="1321187" y="954911"/>
                </a:lnTo>
                <a:lnTo>
                  <a:pt x="1302502" y="995331"/>
                </a:lnTo>
                <a:lnTo>
                  <a:pt x="1281326" y="1034285"/>
                </a:lnTo>
                <a:lnTo>
                  <a:pt x="1257763" y="1071671"/>
                </a:lnTo>
                <a:lnTo>
                  <a:pt x="1231915" y="1107388"/>
                </a:lnTo>
                <a:lnTo>
                  <a:pt x="1203884" y="1141332"/>
                </a:lnTo>
                <a:lnTo>
                  <a:pt x="1173774" y="1173401"/>
                </a:lnTo>
                <a:lnTo>
                  <a:pt x="1141686" y="1203493"/>
                </a:lnTo>
                <a:lnTo>
                  <a:pt x="1107724" y="1231505"/>
                </a:lnTo>
                <a:lnTo>
                  <a:pt x="1071990" y="1257336"/>
                </a:lnTo>
                <a:lnTo>
                  <a:pt x="1034587" y="1280882"/>
                </a:lnTo>
                <a:lnTo>
                  <a:pt x="995617" y="1302042"/>
                </a:lnTo>
                <a:lnTo>
                  <a:pt x="955184" y="1320712"/>
                </a:lnTo>
                <a:lnTo>
                  <a:pt x="913389" y="1336791"/>
                </a:lnTo>
                <a:lnTo>
                  <a:pt x="870336" y="1350176"/>
                </a:lnTo>
                <a:lnTo>
                  <a:pt x="826126" y="1360765"/>
                </a:lnTo>
                <a:lnTo>
                  <a:pt x="780864" y="1368455"/>
                </a:lnTo>
                <a:lnTo>
                  <a:pt x="734650" y="1373144"/>
                </a:lnTo>
                <a:lnTo>
                  <a:pt x="687589" y="1374730"/>
                </a:lnTo>
                <a:lnTo>
                  <a:pt x="640500" y="1373144"/>
                </a:lnTo>
                <a:lnTo>
                  <a:pt x="594265" y="1368455"/>
                </a:lnTo>
                <a:lnTo>
                  <a:pt x="548985" y="1360765"/>
                </a:lnTo>
                <a:lnTo>
                  <a:pt x="504764" y="1350176"/>
                </a:lnTo>
                <a:lnTo>
                  <a:pt x="461702" y="1336791"/>
                </a:lnTo>
                <a:lnTo>
                  <a:pt x="419903" y="1320712"/>
                </a:lnTo>
                <a:lnTo>
                  <a:pt x="379469" y="1302042"/>
                </a:lnTo>
                <a:lnTo>
                  <a:pt x="340502" y="1280882"/>
                </a:lnTo>
                <a:lnTo>
                  <a:pt x="303104" y="1257336"/>
                </a:lnTo>
                <a:lnTo>
                  <a:pt x="267378" y="1231505"/>
                </a:lnTo>
                <a:lnTo>
                  <a:pt x="233426" y="1203493"/>
                </a:lnTo>
                <a:lnTo>
                  <a:pt x="201350" y="1173401"/>
                </a:lnTo>
                <a:lnTo>
                  <a:pt x="171252" y="1141332"/>
                </a:lnTo>
                <a:lnTo>
                  <a:pt x="143235" y="1107387"/>
                </a:lnTo>
                <a:lnTo>
                  <a:pt x="117401" y="1071671"/>
                </a:lnTo>
                <a:lnTo>
                  <a:pt x="93852" y="1034285"/>
                </a:lnTo>
                <a:lnTo>
                  <a:pt x="72691" y="995331"/>
                </a:lnTo>
                <a:lnTo>
                  <a:pt x="54019" y="954911"/>
                </a:lnTo>
                <a:lnTo>
                  <a:pt x="37939" y="913129"/>
                </a:lnTo>
                <a:lnTo>
                  <a:pt x="24553" y="870086"/>
                </a:lnTo>
                <a:lnTo>
                  <a:pt x="13965" y="825886"/>
                </a:lnTo>
                <a:lnTo>
                  <a:pt x="6274" y="780629"/>
                </a:lnTo>
                <a:lnTo>
                  <a:pt x="1585" y="734420"/>
                </a:lnTo>
                <a:lnTo>
                  <a:pt x="0" y="687359"/>
                </a:lnTo>
                <a:close/>
              </a:path>
            </a:pathLst>
          </a:custGeom>
          <a:ln w="5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00661" y="3861143"/>
            <a:ext cx="80200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25" dirty="0">
                <a:latin typeface="宋体"/>
                <a:cs typeface="宋体"/>
              </a:rPr>
              <a:t>执行验证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76109" y="4347688"/>
            <a:ext cx="1375410" cy="0"/>
          </a:xfrm>
          <a:custGeom>
            <a:avLst/>
            <a:gdLst/>
            <a:ahLst/>
            <a:cxnLst/>
            <a:rect l="l" t="t" r="r" b="b"/>
            <a:pathLst>
              <a:path w="1375410">
                <a:moveTo>
                  <a:pt x="0" y="0"/>
                </a:moveTo>
                <a:lnTo>
                  <a:pt x="1375154" y="0"/>
                </a:lnTo>
              </a:path>
            </a:pathLst>
          </a:custGeom>
          <a:ln w="58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6109" y="3660329"/>
            <a:ext cx="1375410" cy="0"/>
          </a:xfrm>
          <a:custGeom>
            <a:avLst/>
            <a:gdLst/>
            <a:ahLst/>
            <a:cxnLst/>
            <a:rect l="l" t="t" r="r" b="b"/>
            <a:pathLst>
              <a:path w="1375410">
                <a:moveTo>
                  <a:pt x="0" y="0"/>
                </a:moveTo>
                <a:lnTo>
                  <a:pt x="1375154" y="0"/>
                </a:lnTo>
              </a:path>
            </a:pathLst>
          </a:custGeom>
          <a:ln w="58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68923" y="3710992"/>
            <a:ext cx="1189990" cy="52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375" marR="5080" indent="-194310">
              <a:lnSpc>
                <a:spcPct val="109200"/>
              </a:lnSpc>
              <a:spcBef>
                <a:spcPts val="95"/>
              </a:spcBef>
            </a:pPr>
            <a:r>
              <a:rPr sz="1500" spc="25" dirty="0">
                <a:latin typeface="宋体"/>
                <a:cs typeface="宋体"/>
              </a:rPr>
              <a:t>软件需求规格 说明文档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95316" y="3316650"/>
            <a:ext cx="1375410" cy="1374775"/>
          </a:xfrm>
          <a:custGeom>
            <a:avLst/>
            <a:gdLst/>
            <a:ahLst/>
            <a:cxnLst/>
            <a:rect l="l" t="t" r="r" b="b"/>
            <a:pathLst>
              <a:path w="1375409" h="1374775">
                <a:moveTo>
                  <a:pt x="687662" y="0"/>
                </a:moveTo>
                <a:lnTo>
                  <a:pt x="640600" y="1585"/>
                </a:lnTo>
                <a:lnTo>
                  <a:pt x="594387" y="6274"/>
                </a:lnTo>
                <a:lnTo>
                  <a:pt x="549124" y="13964"/>
                </a:lnTo>
                <a:lnTo>
                  <a:pt x="504915" y="24553"/>
                </a:lnTo>
                <a:lnTo>
                  <a:pt x="461862" y="37937"/>
                </a:lnTo>
                <a:lnTo>
                  <a:pt x="420067" y="54016"/>
                </a:lnTo>
                <a:lnTo>
                  <a:pt x="379633" y="72686"/>
                </a:lnTo>
                <a:lnTo>
                  <a:pt x="340664" y="93845"/>
                </a:lnTo>
                <a:lnTo>
                  <a:pt x="303261" y="117390"/>
                </a:lnTo>
                <a:lnTo>
                  <a:pt x="267527" y="143220"/>
                </a:lnTo>
                <a:lnTo>
                  <a:pt x="233565" y="171232"/>
                </a:lnTo>
                <a:lnTo>
                  <a:pt x="201477" y="201323"/>
                </a:lnTo>
                <a:lnTo>
                  <a:pt x="171367" y="233391"/>
                </a:lnTo>
                <a:lnTo>
                  <a:pt x="143336" y="267335"/>
                </a:lnTo>
                <a:lnTo>
                  <a:pt x="117488" y="303050"/>
                </a:lnTo>
                <a:lnTo>
                  <a:pt x="93925" y="340436"/>
                </a:lnTo>
                <a:lnTo>
                  <a:pt x="72749" y="379389"/>
                </a:lnTo>
                <a:lnTo>
                  <a:pt x="54064" y="419808"/>
                </a:lnTo>
                <a:lnTo>
                  <a:pt x="37972" y="461590"/>
                </a:lnTo>
                <a:lnTo>
                  <a:pt x="24576" y="504632"/>
                </a:lnTo>
                <a:lnTo>
                  <a:pt x="13978" y="548832"/>
                </a:lnTo>
                <a:lnTo>
                  <a:pt x="6280" y="594089"/>
                </a:lnTo>
                <a:lnTo>
                  <a:pt x="1587" y="640298"/>
                </a:lnTo>
                <a:lnTo>
                  <a:pt x="0" y="687359"/>
                </a:lnTo>
                <a:lnTo>
                  <a:pt x="1587" y="734420"/>
                </a:lnTo>
                <a:lnTo>
                  <a:pt x="6280" y="780629"/>
                </a:lnTo>
                <a:lnTo>
                  <a:pt x="13978" y="825886"/>
                </a:lnTo>
                <a:lnTo>
                  <a:pt x="24576" y="870087"/>
                </a:lnTo>
                <a:lnTo>
                  <a:pt x="37972" y="913129"/>
                </a:lnTo>
                <a:lnTo>
                  <a:pt x="54064" y="954911"/>
                </a:lnTo>
                <a:lnTo>
                  <a:pt x="72749" y="995331"/>
                </a:lnTo>
                <a:lnTo>
                  <a:pt x="93925" y="1034285"/>
                </a:lnTo>
                <a:lnTo>
                  <a:pt x="117488" y="1071671"/>
                </a:lnTo>
                <a:lnTo>
                  <a:pt x="143336" y="1107388"/>
                </a:lnTo>
                <a:lnTo>
                  <a:pt x="171367" y="1141332"/>
                </a:lnTo>
                <a:lnTo>
                  <a:pt x="201477" y="1173401"/>
                </a:lnTo>
                <a:lnTo>
                  <a:pt x="233565" y="1203493"/>
                </a:lnTo>
                <a:lnTo>
                  <a:pt x="267527" y="1231505"/>
                </a:lnTo>
                <a:lnTo>
                  <a:pt x="303261" y="1257336"/>
                </a:lnTo>
                <a:lnTo>
                  <a:pt x="340664" y="1280882"/>
                </a:lnTo>
                <a:lnTo>
                  <a:pt x="379634" y="1302042"/>
                </a:lnTo>
                <a:lnTo>
                  <a:pt x="420067" y="1320712"/>
                </a:lnTo>
                <a:lnTo>
                  <a:pt x="461862" y="1336791"/>
                </a:lnTo>
                <a:lnTo>
                  <a:pt x="504915" y="1350176"/>
                </a:lnTo>
                <a:lnTo>
                  <a:pt x="549125" y="1360765"/>
                </a:lnTo>
                <a:lnTo>
                  <a:pt x="594387" y="1368455"/>
                </a:lnTo>
                <a:lnTo>
                  <a:pt x="640600" y="1373144"/>
                </a:lnTo>
                <a:lnTo>
                  <a:pt x="687662" y="1374730"/>
                </a:lnTo>
                <a:lnTo>
                  <a:pt x="734751" y="1373144"/>
                </a:lnTo>
                <a:lnTo>
                  <a:pt x="780987" y="1368455"/>
                </a:lnTo>
                <a:lnTo>
                  <a:pt x="826269" y="1360765"/>
                </a:lnTo>
                <a:lnTo>
                  <a:pt x="870493" y="1350176"/>
                </a:lnTo>
                <a:lnTo>
                  <a:pt x="913557" y="1336791"/>
                </a:lnTo>
                <a:lnTo>
                  <a:pt x="955359" y="1320712"/>
                </a:lnTo>
                <a:lnTo>
                  <a:pt x="995797" y="1302042"/>
                </a:lnTo>
                <a:lnTo>
                  <a:pt x="1034768" y="1280882"/>
                </a:lnTo>
                <a:lnTo>
                  <a:pt x="1072169" y="1257336"/>
                </a:lnTo>
                <a:lnTo>
                  <a:pt x="1107900" y="1231505"/>
                </a:lnTo>
                <a:lnTo>
                  <a:pt x="1141857" y="1203493"/>
                </a:lnTo>
                <a:lnTo>
                  <a:pt x="1173937" y="1173401"/>
                </a:lnTo>
                <a:lnTo>
                  <a:pt x="1204040" y="1141332"/>
                </a:lnTo>
                <a:lnTo>
                  <a:pt x="1232061" y="1107388"/>
                </a:lnTo>
                <a:lnTo>
                  <a:pt x="1257900" y="1071671"/>
                </a:lnTo>
                <a:lnTo>
                  <a:pt x="1281453" y="1034285"/>
                </a:lnTo>
                <a:lnTo>
                  <a:pt x="1302618" y="995331"/>
                </a:lnTo>
                <a:lnTo>
                  <a:pt x="1321293" y="954911"/>
                </a:lnTo>
                <a:lnTo>
                  <a:pt x="1337376" y="913129"/>
                </a:lnTo>
                <a:lnTo>
                  <a:pt x="1350765" y="870087"/>
                </a:lnTo>
                <a:lnTo>
                  <a:pt x="1361356" y="825886"/>
                </a:lnTo>
                <a:lnTo>
                  <a:pt x="1369048" y="780629"/>
                </a:lnTo>
                <a:lnTo>
                  <a:pt x="1373738" y="734420"/>
                </a:lnTo>
                <a:lnTo>
                  <a:pt x="1375324" y="687359"/>
                </a:lnTo>
                <a:lnTo>
                  <a:pt x="1373738" y="640298"/>
                </a:lnTo>
                <a:lnTo>
                  <a:pt x="1369048" y="594089"/>
                </a:lnTo>
                <a:lnTo>
                  <a:pt x="1361356" y="548832"/>
                </a:lnTo>
                <a:lnTo>
                  <a:pt x="1350765" y="504632"/>
                </a:lnTo>
                <a:lnTo>
                  <a:pt x="1337376" y="461590"/>
                </a:lnTo>
                <a:lnTo>
                  <a:pt x="1321293" y="419808"/>
                </a:lnTo>
                <a:lnTo>
                  <a:pt x="1302618" y="379390"/>
                </a:lnTo>
                <a:lnTo>
                  <a:pt x="1281453" y="340436"/>
                </a:lnTo>
                <a:lnTo>
                  <a:pt x="1257900" y="303050"/>
                </a:lnTo>
                <a:lnTo>
                  <a:pt x="1232061" y="267335"/>
                </a:lnTo>
                <a:lnTo>
                  <a:pt x="1204040" y="233391"/>
                </a:lnTo>
                <a:lnTo>
                  <a:pt x="1173937" y="201323"/>
                </a:lnTo>
                <a:lnTo>
                  <a:pt x="1141857" y="171232"/>
                </a:lnTo>
                <a:lnTo>
                  <a:pt x="1107900" y="143220"/>
                </a:lnTo>
                <a:lnTo>
                  <a:pt x="1072169" y="117390"/>
                </a:lnTo>
                <a:lnTo>
                  <a:pt x="1034768" y="93845"/>
                </a:lnTo>
                <a:lnTo>
                  <a:pt x="995797" y="72686"/>
                </a:lnTo>
                <a:lnTo>
                  <a:pt x="955359" y="54016"/>
                </a:lnTo>
                <a:lnTo>
                  <a:pt x="913557" y="37937"/>
                </a:lnTo>
                <a:lnTo>
                  <a:pt x="870493" y="24553"/>
                </a:lnTo>
                <a:lnTo>
                  <a:pt x="826269" y="13964"/>
                </a:lnTo>
                <a:lnTo>
                  <a:pt x="780987" y="6274"/>
                </a:lnTo>
                <a:lnTo>
                  <a:pt x="734751" y="1585"/>
                </a:lnTo>
                <a:lnTo>
                  <a:pt x="687662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5316" y="3316650"/>
            <a:ext cx="1375410" cy="1374775"/>
          </a:xfrm>
          <a:custGeom>
            <a:avLst/>
            <a:gdLst/>
            <a:ahLst/>
            <a:cxnLst/>
            <a:rect l="l" t="t" r="r" b="b"/>
            <a:pathLst>
              <a:path w="1375409" h="1374775">
                <a:moveTo>
                  <a:pt x="0" y="687359"/>
                </a:moveTo>
                <a:lnTo>
                  <a:pt x="1587" y="640298"/>
                </a:lnTo>
                <a:lnTo>
                  <a:pt x="6280" y="594089"/>
                </a:lnTo>
                <a:lnTo>
                  <a:pt x="13978" y="548832"/>
                </a:lnTo>
                <a:lnTo>
                  <a:pt x="24576" y="504632"/>
                </a:lnTo>
                <a:lnTo>
                  <a:pt x="37972" y="461590"/>
                </a:lnTo>
                <a:lnTo>
                  <a:pt x="54064" y="419808"/>
                </a:lnTo>
                <a:lnTo>
                  <a:pt x="72749" y="379389"/>
                </a:lnTo>
                <a:lnTo>
                  <a:pt x="93925" y="340436"/>
                </a:lnTo>
                <a:lnTo>
                  <a:pt x="117488" y="303050"/>
                </a:lnTo>
                <a:lnTo>
                  <a:pt x="143336" y="267335"/>
                </a:lnTo>
                <a:lnTo>
                  <a:pt x="171367" y="233391"/>
                </a:lnTo>
                <a:lnTo>
                  <a:pt x="201477" y="201323"/>
                </a:lnTo>
                <a:lnTo>
                  <a:pt x="233565" y="171232"/>
                </a:lnTo>
                <a:lnTo>
                  <a:pt x="267527" y="143220"/>
                </a:lnTo>
                <a:lnTo>
                  <a:pt x="303261" y="117390"/>
                </a:lnTo>
                <a:lnTo>
                  <a:pt x="340664" y="93845"/>
                </a:lnTo>
                <a:lnTo>
                  <a:pt x="379633" y="72686"/>
                </a:lnTo>
                <a:lnTo>
                  <a:pt x="420067" y="54016"/>
                </a:lnTo>
                <a:lnTo>
                  <a:pt x="461862" y="37937"/>
                </a:lnTo>
                <a:lnTo>
                  <a:pt x="504915" y="24553"/>
                </a:lnTo>
                <a:lnTo>
                  <a:pt x="549125" y="13964"/>
                </a:lnTo>
                <a:lnTo>
                  <a:pt x="594387" y="6274"/>
                </a:lnTo>
                <a:lnTo>
                  <a:pt x="640600" y="1585"/>
                </a:lnTo>
                <a:lnTo>
                  <a:pt x="687662" y="0"/>
                </a:lnTo>
                <a:lnTo>
                  <a:pt x="734751" y="1585"/>
                </a:lnTo>
                <a:lnTo>
                  <a:pt x="780987" y="6274"/>
                </a:lnTo>
                <a:lnTo>
                  <a:pt x="826269" y="13964"/>
                </a:lnTo>
                <a:lnTo>
                  <a:pt x="870493" y="24553"/>
                </a:lnTo>
                <a:lnTo>
                  <a:pt x="913557" y="37937"/>
                </a:lnTo>
                <a:lnTo>
                  <a:pt x="955359" y="54016"/>
                </a:lnTo>
                <a:lnTo>
                  <a:pt x="995797" y="72686"/>
                </a:lnTo>
                <a:lnTo>
                  <a:pt x="1034768" y="93845"/>
                </a:lnTo>
                <a:lnTo>
                  <a:pt x="1072169" y="117390"/>
                </a:lnTo>
                <a:lnTo>
                  <a:pt x="1107900" y="143220"/>
                </a:lnTo>
                <a:lnTo>
                  <a:pt x="1141857" y="171232"/>
                </a:lnTo>
                <a:lnTo>
                  <a:pt x="1173937" y="201323"/>
                </a:lnTo>
                <a:lnTo>
                  <a:pt x="1204040" y="233391"/>
                </a:lnTo>
                <a:lnTo>
                  <a:pt x="1232061" y="267335"/>
                </a:lnTo>
                <a:lnTo>
                  <a:pt x="1257900" y="303050"/>
                </a:lnTo>
                <a:lnTo>
                  <a:pt x="1281453" y="340436"/>
                </a:lnTo>
                <a:lnTo>
                  <a:pt x="1302618" y="379390"/>
                </a:lnTo>
                <a:lnTo>
                  <a:pt x="1321294" y="419808"/>
                </a:lnTo>
                <a:lnTo>
                  <a:pt x="1337377" y="461590"/>
                </a:lnTo>
                <a:lnTo>
                  <a:pt x="1350765" y="504632"/>
                </a:lnTo>
                <a:lnTo>
                  <a:pt x="1361356" y="548832"/>
                </a:lnTo>
                <a:lnTo>
                  <a:pt x="1369048" y="594089"/>
                </a:lnTo>
                <a:lnTo>
                  <a:pt x="1373738" y="640298"/>
                </a:lnTo>
                <a:lnTo>
                  <a:pt x="1375324" y="687359"/>
                </a:lnTo>
                <a:lnTo>
                  <a:pt x="1373738" y="734420"/>
                </a:lnTo>
                <a:lnTo>
                  <a:pt x="1369048" y="780629"/>
                </a:lnTo>
                <a:lnTo>
                  <a:pt x="1361356" y="825886"/>
                </a:lnTo>
                <a:lnTo>
                  <a:pt x="1350765" y="870087"/>
                </a:lnTo>
                <a:lnTo>
                  <a:pt x="1337377" y="913129"/>
                </a:lnTo>
                <a:lnTo>
                  <a:pt x="1321294" y="954911"/>
                </a:lnTo>
                <a:lnTo>
                  <a:pt x="1302618" y="995331"/>
                </a:lnTo>
                <a:lnTo>
                  <a:pt x="1281453" y="1034285"/>
                </a:lnTo>
                <a:lnTo>
                  <a:pt x="1257900" y="1071671"/>
                </a:lnTo>
                <a:lnTo>
                  <a:pt x="1232061" y="1107388"/>
                </a:lnTo>
                <a:lnTo>
                  <a:pt x="1204040" y="1141332"/>
                </a:lnTo>
                <a:lnTo>
                  <a:pt x="1173937" y="1173401"/>
                </a:lnTo>
                <a:lnTo>
                  <a:pt x="1141857" y="1203493"/>
                </a:lnTo>
                <a:lnTo>
                  <a:pt x="1107900" y="1231505"/>
                </a:lnTo>
                <a:lnTo>
                  <a:pt x="1072169" y="1257336"/>
                </a:lnTo>
                <a:lnTo>
                  <a:pt x="1034768" y="1280882"/>
                </a:lnTo>
                <a:lnTo>
                  <a:pt x="995797" y="1302042"/>
                </a:lnTo>
                <a:lnTo>
                  <a:pt x="955359" y="1320712"/>
                </a:lnTo>
                <a:lnTo>
                  <a:pt x="913557" y="1336791"/>
                </a:lnTo>
                <a:lnTo>
                  <a:pt x="870493" y="1350176"/>
                </a:lnTo>
                <a:lnTo>
                  <a:pt x="826269" y="1360765"/>
                </a:lnTo>
                <a:lnTo>
                  <a:pt x="780987" y="1368455"/>
                </a:lnTo>
                <a:lnTo>
                  <a:pt x="734751" y="1373144"/>
                </a:lnTo>
                <a:lnTo>
                  <a:pt x="687662" y="1374730"/>
                </a:lnTo>
                <a:lnTo>
                  <a:pt x="640601" y="1373144"/>
                </a:lnTo>
                <a:lnTo>
                  <a:pt x="594387" y="1368455"/>
                </a:lnTo>
                <a:lnTo>
                  <a:pt x="549125" y="1360765"/>
                </a:lnTo>
                <a:lnTo>
                  <a:pt x="504915" y="1350176"/>
                </a:lnTo>
                <a:lnTo>
                  <a:pt x="461862" y="1336791"/>
                </a:lnTo>
                <a:lnTo>
                  <a:pt x="420067" y="1320712"/>
                </a:lnTo>
                <a:lnTo>
                  <a:pt x="379634" y="1302042"/>
                </a:lnTo>
                <a:lnTo>
                  <a:pt x="340664" y="1280882"/>
                </a:lnTo>
                <a:lnTo>
                  <a:pt x="303261" y="1257336"/>
                </a:lnTo>
                <a:lnTo>
                  <a:pt x="267527" y="1231505"/>
                </a:lnTo>
                <a:lnTo>
                  <a:pt x="233565" y="1203493"/>
                </a:lnTo>
                <a:lnTo>
                  <a:pt x="201477" y="1173401"/>
                </a:lnTo>
                <a:lnTo>
                  <a:pt x="171367" y="1141332"/>
                </a:lnTo>
                <a:lnTo>
                  <a:pt x="143336" y="1107387"/>
                </a:lnTo>
                <a:lnTo>
                  <a:pt x="117488" y="1071671"/>
                </a:lnTo>
                <a:lnTo>
                  <a:pt x="93925" y="1034285"/>
                </a:lnTo>
                <a:lnTo>
                  <a:pt x="72749" y="995331"/>
                </a:lnTo>
                <a:lnTo>
                  <a:pt x="54064" y="954911"/>
                </a:lnTo>
                <a:lnTo>
                  <a:pt x="37972" y="913129"/>
                </a:lnTo>
                <a:lnTo>
                  <a:pt x="24576" y="870086"/>
                </a:lnTo>
                <a:lnTo>
                  <a:pt x="13978" y="825886"/>
                </a:lnTo>
                <a:lnTo>
                  <a:pt x="6280" y="780629"/>
                </a:lnTo>
                <a:lnTo>
                  <a:pt x="1587" y="734420"/>
                </a:lnTo>
                <a:lnTo>
                  <a:pt x="0" y="687359"/>
                </a:lnTo>
                <a:close/>
              </a:path>
            </a:pathLst>
          </a:custGeom>
          <a:ln w="5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82180" y="3861143"/>
            <a:ext cx="80200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25" dirty="0">
                <a:latin typeface="宋体"/>
                <a:cs typeface="宋体"/>
              </a:rPr>
              <a:t>问题修正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22919" y="400400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319" y="0"/>
                </a:lnTo>
              </a:path>
            </a:pathLst>
          </a:custGeom>
          <a:ln w="58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89122" y="4004009"/>
            <a:ext cx="257810" cy="0"/>
          </a:xfrm>
          <a:custGeom>
            <a:avLst/>
            <a:gdLst/>
            <a:ahLst/>
            <a:cxnLst/>
            <a:rect l="l" t="t" r="r" b="b"/>
            <a:pathLst>
              <a:path w="257810">
                <a:moveTo>
                  <a:pt x="0" y="0"/>
                </a:moveTo>
                <a:lnTo>
                  <a:pt x="257600" y="0"/>
                </a:lnTo>
              </a:path>
            </a:pathLst>
          </a:custGeom>
          <a:ln w="58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46868" y="3954541"/>
            <a:ext cx="148590" cy="99060"/>
          </a:xfrm>
          <a:custGeom>
            <a:avLst/>
            <a:gdLst/>
            <a:ahLst/>
            <a:cxnLst/>
            <a:rect l="l" t="t" r="r" b="b"/>
            <a:pathLst>
              <a:path w="148589" h="99060">
                <a:moveTo>
                  <a:pt x="0" y="0"/>
                </a:moveTo>
                <a:lnTo>
                  <a:pt x="0" y="98935"/>
                </a:lnTo>
                <a:lnTo>
                  <a:pt x="148447" y="494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41299" y="3710967"/>
            <a:ext cx="802005" cy="536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220" marR="5080" indent="-97155">
              <a:lnSpc>
                <a:spcPct val="111700"/>
              </a:lnSpc>
              <a:spcBef>
                <a:spcPts val="95"/>
              </a:spcBef>
            </a:pPr>
            <a:r>
              <a:rPr sz="1500" spc="25" dirty="0">
                <a:latin typeface="宋体"/>
                <a:cs typeface="宋体"/>
              </a:rPr>
              <a:t>问题、修 改建议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3674" y="2884583"/>
            <a:ext cx="5019675" cy="659130"/>
          </a:xfrm>
          <a:custGeom>
            <a:avLst/>
            <a:gdLst/>
            <a:ahLst/>
            <a:cxnLst/>
            <a:rect l="l" t="t" r="r" b="b"/>
            <a:pathLst>
              <a:path w="5019675" h="659129">
                <a:moveTo>
                  <a:pt x="5019304" y="432067"/>
                </a:moveTo>
                <a:lnTo>
                  <a:pt x="5019304" y="0"/>
                </a:lnTo>
                <a:lnTo>
                  <a:pt x="0" y="0"/>
                </a:lnTo>
                <a:lnTo>
                  <a:pt x="0" y="658624"/>
                </a:lnTo>
              </a:path>
            </a:pathLst>
          </a:custGeom>
          <a:ln w="58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96727" y="3526475"/>
            <a:ext cx="133985" cy="133985"/>
          </a:xfrm>
          <a:custGeom>
            <a:avLst/>
            <a:gdLst/>
            <a:ahLst/>
            <a:cxnLst/>
            <a:rect l="l" t="t" r="r" b="b"/>
            <a:pathLst>
              <a:path w="133985" h="133985">
                <a:moveTo>
                  <a:pt x="133894" y="0"/>
                </a:moveTo>
                <a:lnTo>
                  <a:pt x="0" y="0"/>
                </a:lnTo>
                <a:lnTo>
                  <a:pt x="66947" y="133853"/>
                </a:lnTo>
                <a:lnTo>
                  <a:pt x="133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02760" y="2791297"/>
            <a:ext cx="2717165" cy="255904"/>
          </a:xfrm>
          <a:custGeom>
            <a:avLst/>
            <a:gdLst/>
            <a:ahLst/>
            <a:cxnLst/>
            <a:rect l="l" t="t" r="r" b="b"/>
            <a:pathLst>
              <a:path w="2717165" h="255905">
                <a:moveTo>
                  <a:pt x="0" y="255316"/>
                </a:moveTo>
                <a:lnTo>
                  <a:pt x="2716690" y="255316"/>
                </a:lnTo>
                <a:lnTo>
                  <a:pt x="2716690" y="0"/>
                </a:lnTo>
                <a:lnTo>
                  <a:pt x="0" y="0"/>
                </a:lnTo>
                <a:lnTo>
                  <a:pt x="0" y="2553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897337" y="2776101"/>
            <a:ext cx="274256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25" dirty="0">
                <a:latin typeface="宋体"/>
                <a:cs typeface="宋体"/>
              </a:rPr>
              <a:t>修改后的软件需求规格说明文档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51264" y="4004009"/>
            <a:ext cx="845819" cy="0"/>
          </a:xfrm>
          <a:custGeom>
            <a:avLst/>
            <a:gdLst/>
            <a:ahLst/>
            <a:cxnLst/>
            <a:rect l="l" t="t" r="r" b="b"/>
            <a:pathLst>
              <a:path w="845820">
                <a:moveTo>
                  <a:pt x="0" y="0"/>
                </a:moveTo>
                <a:lnTo>
                  <a:pt x="845448" y="0"/>
                </a:lnTo>
              </a:path>
            </a:pathLst>
          </a:custGeom>
          <a:ln w="58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79976" y="3937082"/>
            <a:ext cx="133985" cy="133985"/>
          </a:xfrm>
          <a:custGeom>
            <a:avLst/>
            <a:gdLst/>
            <a:ahLst/>
            <a:cxnLst/>
            <a:rect l="l" t="t" r="r" b="b"/>
            <a:pathLst>
              <a:path w="133985" h="133985">
                <a:moveTo>
                  <a:pt x="0" y="0"/>
                </a:moveTo>
                <a:lnTo>
                  <a:pt x="0" y="133853"/>
                </a:lnTo>
                <a:lnTo>
                  <a:pt x="133894" y="669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3904" y="3028315"/>
            <a:ext cx="142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904" y="3394328"/>
            <a:ext cx="142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2.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904" y="3760089"/>
            <a:ext cx="142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3.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904" y="4125848"/>
            <a:ext cx="142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4.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904" y="4491608"/>
            <a:ext cx="142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5.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904" y="4857750"/>
            <a:ext cx="142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6.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1545907"/>
            <a:ext cx="3284220" cy="441642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680"/>
              </a:spcBef>
              <a:buClr>
                <a:srgbClr val="00663B"/>
              </a:buClr>
              <a:buSzPct val="79166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2400" spc="-5" dirty="0">
                <a:latin typeface="宋体"/>
                <a:cs typeface="宋体"/>
              </a:rPr>
              <a:t>验证与确认</a:t>
            </a:r>
            <a:endParaRPr sz="24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580"/>
              </a:spcBef>
              <a:buClr>
                <a:srgbClr val="00663B"/>
              </a:buClr>
              <a:buSzPct val="79166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宋体"/>
                <a:cs typeface="宋体"/>
              </a:rPr>
              <a:t>需求验证</a:t>
            </a:r>
            <a:endParaRPr sz="24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需求验证方法</a:t>
            </a:r>
            <a:endParaRPr sz="2400">
              <a:latin typeface="宋体"/>
              <a:cs typeface="宋体"/>
            </a:endParaRPr>
          </a:p>
          <a:p>
            <a:pPr marL="854075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评审</a:t>
            </a:r>
            <a:endParaRPr sz="2000">
              <a:latin typeface="宋体"/>
              <a:cs typeface="宋体"/>
            </a:endParaRPr>
          </a:p>
          <a:p>
            <a:pPr marL="854075" marR="894715">
              <a:lnSpc>
                <a:spcPct val="12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原型与模拟 开发测试用例 用户手册编制 利用跟踪关系 自动化分析</a:t>
            </a:r>
            <a:endParaRPr sz="20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560"/>
              </a:spcBef>
              <a:buClr>
                <a:srgbClr val="00663B"/>
              </a:buClr>
              <a:buSzPct val="79166"/>
              <a:buFont typeface="Calibri"/>
              <a:buAutoNum type="arabicPeriod" startAt="4"/>
              <a:tabLst>
                <a:tab pos="527685" algn="l"/>
                <a:tab pos="528320" algn="l"/>
              </a:tabLst>
            </a:pPr>
            <a:r>
              <a:rPr sz="2400" dirty="0">
                <a:latin typeface="宋体"/>
                <a:cs typeface="宋体"/>
              </a:rPr>
              <a:t>问题修正</a:t>
            </a:r>
            <a:endParaRPr sz="24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Calibri"/>
              <a:buAutoNum type="arabicPeriod" startAt="4"/>
              <a:tabLst>
                <a:tab pos="527685" algn="l"/>
                <a:tab pos="528320" algn="l"/>
              </a:tabLst>
            </a:pPr>
            <a:r>
              <a:rPr sz="2400" dirty="0">
                <a:latin typeface="宋体"/>
                <a:cs typeface="宋体"/>
              </a:rPr>
              <a:t>需求验证的实践调查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2654" y="253949"/>
            <a:ext cx="1978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3.1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spc="5" dirty="0"/>
              <a:t>评审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361"/>
            <a:ext cx="7688580" cy="21424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3535">
              <a:lnSpc>
                <a:spcPts val="3600"/>
              </a:lnSpc>
              <a:spcBef>
                <a:spcPts val="42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由作者之外的其他人来</a:t>
            </a:r>
            <a:r>
              <a:rPr sz="3200" spc="-15" dirty="0">
                <a:latin typeface="宋体"/>
                <a:cs typeface="宋体"/>
              </a:rPr>
              <a:t>检</a:t>
            </a:r>
            <a:r>
              <a:rPr sz="3200" dirty="0">
                <a:latin typeface="宋体"/>
                <a:cs typeface="宋体"/>
              </a:rPr>
              <a:t>查产</a:t>
            </a:r>
            <a:r>
              <a:rPr sz="3200" spc="-15" dirty="0">
                <a:latin typeface="宋体"/>
                <a:cs typeface="宋体"/>
              </a:rPr>
              <a:t>品</a:t>
            </a:r>
            <a:r>
              <a:rPr sz="3200" dirty="0">
                <a:latin typeface="宋体"/>
                <a:cs typeface="宋体"/>
              </a:rPr>
              <a:t>问题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方 法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9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是主要的静态分析手段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原则上，每一条需求都</a:t>
            </a:r>
            <a:r>
              <a:rPr sz="3200" spc="-15" dirty="0">
                <a:latin typeface="宋体"/>
                <a:cs typeface="宋体"/>
              </a:rPr>
              <a:t>应</a:t>
            </a:r>
            <a:r>
              <a:rPr sz="3200" dirty="0">
                <a:latin typeface="宋体"/>
                <a:cs typeface="宋体"/>
              </a:rPr>
              <a:t>该进</a:t>
            </a:r>
            <a:r>
              <a:rPr sz="3200" spc="-15" dirty="0">
                <a:latin typeface="宋体"/>
                <a:cs typeface="宋体"/>
              </a:rPr>
              <a:t>行</a:t>
            </a:r>
            <a:r>
              <a:rPr sz="3200" dirty="0">
                <a:latin typeface="宋体"/>
                <a:cs typeface="宋体"/>
              </a:rPr>
              <a:t>评审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1661" y="137287"/>
            <a:ext cx="3275329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3.1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/>
              <a:t>评审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参与人员</a:t>
            </a:r>
          </a:p>
        </p:txBody>
      </p:sp>
      <p:sp>
        <p:nvSpPr>
          <p:cNvPr id="3" name="object 3"/>
          <p:cNvSpPr/>
          <p:nvPr/>
        </p:nvSpPr>
        <p:spPr>
          <a:xfrm>
            <a:off x="4733761" y="3049433"/>
            <a:ext cx="257810" cy="504825"/>
          </a:xfrm>
          <a:custGeom>
            <a:avLst/>
            <a:gdLst/>
            <a:ahLst/>
            <a:cxnLst/>
            <a:rect l="l" t="t" r="r" b="b"/>
            <a:pathLst>
              <a:path w="257810" h="504825">
                <a:moveTo>
                  <a:pt x="0" y="0"/>
                </a:moveTo>
                <a:lnTo>
                  <a:pt x="0" y="410112"/>
                </a:lnTo>
                <a:lnTo>
                  <a:pt x="176113" y="504726"/>
                </a:lnTo>
                <a:lnTo>
                  <a:pt x="257597" y="117883"/>
                </a:lnTo>
                <a:lnTo>
                  <a:pt x="0" y="0"/>
                </a:lnTo>
                <a:close/>
              </a:path>
            </a:pathLst>
          </a:custGeom>
          <a:solidFill>
            <a:srgbClr val="790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33761" y="3049433"/>
            <a:ext cx="257810" cy="504825"/>
          </a:xfrm>
          <a:custGeom>
            <a:avLst/>
            <a:gdLst/>
            <a:ahLst/>
            <a:cxnLst/>
            <a:rect l="l" t="t" r="r" b="b"/>
            <a:pathLst>
              <a:path w="257810" h="504825">
                <a:moveTo>
                  <a:pt x="0" y="410112"/>
                </a:moveTo>
                <a:lnTo>
                  <a:pt x="0" y="0"/>
                </a:lnTo>
                <a:lnTo>
                  <a:pt x="257597" y="117883"/>
                </a:lnTo>
                <a:lnTo>
                  <a:pt x="176113" y="504726"/>
                </a:lnTo>
                <a:lnTo>
                  <a:pt x="0" y="410112"/>
                </a:lnTo>
              </a:path>
            </a:pathLst>
          </a:custGeom>
          <a:ln w="236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24911" y="3084869"/>
            <a:ext cx="4052570" cy="1234440"/>
          </a:xfrm>
          <a:custGeom>
            <a:avLst/>
            <a:gdLst/>
            <a:ahLst/>
            <a:cxnLst/>
            <a:rect l="l" t="t" r="r" b="b"/>
            <a:pathLst>
              <a:path w="4052570" h="1234439">
                <a:moveTo>
                  <a:pt x="1350190" y="0"/>
                </a:moveTo>
                <a:lnTo>
                  <a:pt x="0" y="0"/>
                </a:lnTo>
                <a:lnTo>
                  <a:pt x="1538148" y="1234116"/>
                </a:lnTo>
                <a:lnTo>
                  <a:pt x="4051946" y="1234116"/>
                </a:lnTo>
                <a:lnTo>
                  <a:pt x="1350190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70521" y="4313268"/>
            <a:ext cx="2500630" cy="177800"/>
          </a:xfrm>
          <a:custGeom>
            <a:avLst/>
            <a:gdLst/>
            <a:ahLst/>
            <a:cxnLst/>
            <a:rect l="l" t="t" r="r" b="b"/>
            <a:pathLst>
              <a:path w="2500629" h="177800">
                <a:moveTo>
                  <a:pt x="0" y="177179"/>
                </a:moveTo>
                <a:lnTo>
                  <a:pt x="2500533" y="177180"/>
                </a:lnTo>
                <a:lnTo>
                  <a:pt x="2500533" y="0"/>
                </a:lnTo>
                <a:lnTo>
                  <a:pt x="0" y="0"/>
                </a:lnTo>
                <a:lnTo>
                  <a:pt x="0" y="177179"/>
                </a:lnTo>
                <a:close/>
              </a:path>
            </a:pathLst>
          </a:custGeom>
          <a:solidFill>
            <a:srgbClr val="701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70521" y="4313268"/>
            <a:ext cx="2500630" cy="177800"/>
          </a:xfrm>
          <a:custGeom>
            <a:avLst/>
            <a:gdLst/>
            <a:ahLst/>
            <a:cxnLst/>
            <a:rect l="l" t="t" r="r" b="b"/>
            <a:pathLst>
              <a:path w="2500629" h="177800">
                <a:moveTo>
                  <a:pt x="0" y="177179"/>
                </a:moveTo>
                <a:lnTo>
                  <a:pt x="2500533" y="177180"/>
                </a:lnTo>
                <a:lnTo>
                  <a:pt x="2500533" y="0"/>
                </a:lnTo>
                <a:lnTo>
                  <a:pt x="0" y="0"/>
                </a:lnTo>
                <a:lnTo>
                  <a:pt x="0" y="177179"/>
                </a:lnTo>
                <a:close/>
              </a:path>
            </a:pathLst>
          </a:custGeom>
          <a:ln w="11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24911" y="3084869"/>
            <a:ext cx="1528445" cy="1399540"/>
          </a:xfrm>
          <a:custGeom>
            <a:avLst/>
            <a:gdLst/>
            <a:ahLst/>
            <a:cxnLst/>
            <a:rect l="l" t="t" r="r" b="b"/>
            <a:pathLst>
              <a:path w="1528445" h="1399539">
                <a:moveTo>
                  <a:pt x="0" y="0"/>
                </a:moveTo>
                <a:lnTo>
                  <a:pt x="0" y="104536"/>
                </a:lnTo>
                <a:lnTo>
                  <a:pt x="1527844" y="1399496"/>
                </a:lnTo>
                <a:lnTo>
                  <a:pt x="1527844" y="1213563"/>
                </a:lnTo>
                <a:lnTo>
                  <a:pt x="0" y="0"/>
                </a:lnTo>
                <a:close/>
              </a:path>
            </a:pathLst>
          </a:custGeom>
          <a:solidFill>
            <a:srgbClr val="701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24911" y="3084869"/>
            <a:ext cx="1539875" cy="1411605"/>
          </a:xfrm>
          <a:custGeom>
            <a:avLst/>
            <a:gdLst/>
            <a:ahLst/>
            <a:cxnLst/>
            <a:rect l="l" t="t" r="r" b="b"/>
            <a:pathLst>
              <a:path w="1539875" h="1411604">
                <a:moveTo>
                  <a:pt x="1539688" y="1223722"/>
                </a:moveTo>
                <a:lnTo>
                  <a:pt x="0" y="0"/>
                </a:lnTo>
                <a:lnTo>
                  <a:pt x="0" y="106189"/>
                </a:lnTo>
                <a:lnTo>
                  <a:pt x="1539688" y="1411308"/>
                </a:lnTo>
                <a:lnTo>
                  <a:pt x="1539688" y="1223722"/>
                </a:lnTo>
                <a:lnTo>
                  <a:pt x="0" y="0"/>
                </a:lnTo>
                <a:lnTo>
                  <a:pt x="0" y="106189"/>
                </a:lnTo>
                <a:lnTo>
                  <a:pt x="1539688" y="1411308"/>
                </a:lnTo>
                <a:lnTo>
                  <a:pt x="1539688" y="1223722"/>
                </a:lnTo>
              </a:path>
            </a:pathLst>
          </a:custGeom>
          <a:ln w="118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0526" y="4093258"/>
            <a:ext cx="423545" cy="506730"/>
          </a:xfrm>
          <a:custGeom>
            <a:avLst/>
            <a:gdLst/>
            <a:ahLst/>
            <a:cxnLst/>
            <a:rect l="l" t="t" r="r" b="b"/>
            <a:pathLst>
              <a:path w="423545" h="506729">
                <a:moveTo>
                  <a:pt x="0" y="83038"/>
                </a:moveTo>
                <a:lnTo>
                  <a:pt x="318319" y="0"/>
                </a:lnTo>
                <a:lnTo>
                  <a:pt x="259101" y="506273"/>
                </a:lnTo>
                <a:lnTo>
                  <a:pt x="423372" y="448170"/>
                </a:lnTo>
              </a:path>
            </a:pathLst>
          </a:custGeom>
          <a:ln w="23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23035" y="4223190"/>
            <a:ext cx="423545" cy="504825"/>
          </a:xfrm>
          <a:custGeom>
            <a:avLst/>
            <a:gdLst/>
            <a:ahLst/>
            <a:cxnLst/>
            <a:rect l="l" t="t" r="r" b="b"/>
            <a:pathLst>
              <a:path w="423545" h="504825">
                <a:moveTo>
                  <a:pt x="0" y="81384"/>
                </a:moveTo>
                <a:lnTo>
                  <a:pt x="318236" y="0"/>
                </a:lnTo>
                <a:lnTo>
                  <a:pt x="270862" y="504797"/>
                </a:lnTo>
                <a:lnTo>
                  <a:pt x="423407" y="446682"/>
                </a:lnTo>
              </a:path>
            </a:pathLst>
          </a:custGeom>
          <a:ln w="23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53570" y="3281184"/>
            <a:ext cx="387985" cy="1058545"/>
          </a:xfrm>
          <a:custGeom>
            <a:avLst/>
            <a:gdLst/>
            <a:ahLst/>
            <a:cxnLst/>
            <a:rect l="l" t="t" r="r" b="b"/>
            <a:pathLst>
              <a:path w="387985" h="1058545">
                <a:moveTo>
                  <a:pt x="0" y="0"/>
                </a:moveTo>
                <a:lnTo>
                  <a:pt x="105111" y="870661"/>
                </a:lnTo>
                <a:lnTo>
                  <a:pt x="316839" y="1058472"/>
                </a:lnTo>
                <a:lnTo>
                  <a:pt x="387900" y="211080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53570" y="3281184"/>
            <a:ext cx="387985" cy="1058545"/>
          </a:xfrm>
          <a:custGeom>
            <a:avLst/>
            <a:gdLst/>
            <a:ahLst/>
            <a:cxnLst/>
            <a:rect l="l" t="t" r="r" b="b"/>
            <a:pathLst>
              <a:path w="387985" h="1058545">
                <a:moveTo>
                  <a:pt x="105111" y="870661"/>
                </a:moveTo>
                <a:lnTo>
                  <a:pt x="0" y="0"/>
                </a:lnTo>
                <a:lnTo>
                  <a:pt x="387900" y="211080"/>
                </a:lnTo>
                <a:lnTo>
                  <a:pt x="316839" y="1058472"/>
                </a:lnTo>
                <a:lnTo>
                  <a:pt x="105111" y="870661"/>
                </a:lnTo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94213" y="2917966"/>
            <a:ext cx="153035" cy="468630"/>
          </a:xfrm>
          <a:custGeom>
            <a:avLst/>
            <a:gdLst/>
            <a:ahLst/>
            <a:cxnLst/>
            <a:rect l="l" t="t" r="r" b="b"/>
            <a:pathLst>
              <a:path w="153035" h="468629">
                <a:moveTo>
                  <a:pt x="76237" y="0"/>
                </a:moveTo>
                <a:lnTo>
                  <a:pt x="37759" y="31949"/>
                </a:lnTo>
                <a:lnTo>
                  <a:pt x="22329" y="68539"/>
                </a:lnTo>
                <a:lnTo>
                  <a:pt x="10408" y="115897"/>
                </a:lnTo>
                <a:lnTo>
                  <a:pt x="2723" y="171793"/>
                </a:lnTo>
                <a:lnTo>
                  <a:pt x="0" y="233995"/>
                </a:lnTo>
                <a:lnTo>
                  <a:pt x="2723" y="296247"/>
                </a:lnTo>
                <a:lnTo>
                  <a:pt x="10408" y="352176"/>
                </a:lnTo>
                <a:lnTo>
                  <a:pt x="22329" y="399555"/>
                </a:lnTo>
                <a:lnTo>
                  <a:pt x="37759" y="436155"/>
                </a:lnTo>
                <a:lnTo>
                  <a:pt x="76237" y="468109"/>
                </a:lnTo>
                <a:lnTo>
                  <a:pt x="96526" y="459749"/>
                </a:lnTo>
                <a:lnTo>
                  <a:pt x="130184" y="399555"/>
                </a:lnTo>
                <a:lnTo>
                  <a:pt x="142104" y="352176"/>
                </a:lnTo>
                <a:lnTo>
                  <a:pt x="149787" y="296247"/>
                </a:lnTo>
                <a:lnTo>
                  <a:pt x="152509" y="233995"/>
                </a:lnTo>
                <a:lnTo>
                  <a:pt x="149787" y="171793"/>
                </a:lnTo>
                <a:lnTo>
                  <a:pt x="142104" y="115897"/>
                </a:lnTo>
                <a:lnTo>
                  <a:pt x="130184" y="68539"/>
                </a:lnTo>
                <a:lnTo>
                  <a:pt x="114750" y="31949"/>
                </a:lnTo>
                <a:lnTo>
                  <a:pt x="76237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94213" y="2917965"/>
            <a:ext cx="153035" cy="468630"/>
          </a:xfrm>
          <a:custGeom>
            <a:avLst/>
            <a:gdLst/>
            <a:ahLst/>
            <a:cxnLst/>
            <a:rect l="l" t="t" r="r" b="b"/>
            <a:pathLst>
              <a:path w="153035" h="468629">
                <a:moveTo>
                  <a:pt x="76237" y="0"/>
                </a:moveTo>
                <a:lnTo>
                  <a:pt x="37759" y="31949"/>
                </a:lnTo>
                <a:lnTo>
                  <a:pt x="22329" y="68539"/>
                </a:lnTo>
                <a:lnTo>
                  <a:pt x="10408" y="115897"/>
                </a:lnTo>
                <a:lnTo>
                  <a:pt x="2723" y="171793"/>
                </a:lnTo>
                <a:lnTo>
                  <a:pt x="0" y="233995"/>
                </a:lnTo>
                <a:lnTo>
                  <a:pt x="2723" y="296247"/>
                </a:lnTo>
                <a:lnTo>
                  <a:pt x="10408" y="352176"/>
                </a:lnTo>
                <a:lnTo>
                  <a:pt x="22329" y="399555"/>
                </a:lnTo>
                <a:lnTo>
                  <a:pt x="37759" y="436155"/>
                </a:lnTo>
                <a:lnTo>
                  <a:pt x="76237" y="468109"/>
                </a:lnTo>
                <a:lnTo>
                  <a:pt x="96526" y="459749"/>
                </a:lnTo>
                <a:lnTo>
                  <a:pt x="130184" y="399555"/>
                </a:lnTo>
                <a:lnTo>
                  <a:pt x="142104" y="352176"/>
                </a:lnTo>
                <a:lnTo>
                  <a:pt x="149787" y="296247"/>
                </a:lnTo>
                <a:lnTo>
                  <a:pt x="152509" y="233995"/>
                </a:lnTo>
                <a:lnTo>
                  <a:pt x="149787" y="171793"/>
                </a:lnTo>
                <a:lnTo>
                  <a:pt x="142104" y="115897"/>
                </a:lnTo>
                <a:lnTo>
                  <a:pt x="130184" y="68539"/>
                </a:lnTo>
                <a:lnTo>
                  <a:pt x="114750" y="31949"/>
                </a:lnTo>
                <a:lnTo>
                  <a:pt x="76237" y="0"/>
                </a:lnTo>
                <a:close/>
              </a:path>
            </a:pathLst>
          </a:custGeom>
          <a:ln w="23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29628" y="3504195"/>
            <a:ext cx="528955" cy="461009"/>
          </a:xfrm>
          <a:custGeom>
            <a:avLst/>
            <a:gdLst/>
            <a:ahLst/>
            <a:cxnLst/>
            <a:rect l="l" t="t" r="r" b="b"/>
            <a:pathLst>
              <a:path w="528954" h="461010">
                <a:moveTo>
                  <a:pt x="0" y="0"/>
                </a:moveTo>
                <a:lnTo>
                  <a:pt x="140583" y="377274"/>
                </a:lnTo>
                <a:lnTo>
                  <a:pt x="528460" y="460431"/>
                </a:lnTo>
              </a:path>
            </a:pathLst>
          </a:custGeom>
          <a:ln w="23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41216" y="4602662"/>
            <a:ext cx="422275" cy="493395"/>
          </a:xfrm>
          <a:custGeom>
            <a:avLst/>
            <a:gdLst/>
            <a:ahLst/>
            <a:cxnLst/>
            <a:rect l="l" t="t" r="r" b="b"/>
            <a:pathLst>
              <a:path w="422275" h="493395">
                <a:moveTo>
                  <a:pt x="421986" y="69714"/>
                </a:moveTo>
                <a:lnTo>
                  <a:pt x="105170" y="0"/>
                </a:lnTo>
                <a:lnTo>
                  <a:pt x="164388" y="492973"/>
                </a:lnTo>
                <a:lnTo>
                  <a:pt x="0" y="446493"/>
                </a:lnTo>
              </a:path>
            </a:pathLst>
          </a:custGeom>
          <a:ln w="23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29372" y="4590850"/>
            <a:ext cx="422275" cy="494665"/>
          </a:xfrm>
          <a:custGeom>
            <a:avLst/>
            <a:gdLst/>
            <a:ahLst/>
            <a:cxnLst/>
            <a:rect l="l" t="t" r="r" b="b"/>
            <a:pathLst>
              <a:path w="422275" h="494664">
                <a:moveTo>
                  <a:pt x="421986" y="69926"/>
                </a:moveTo>
                <a:lnTo>
                  <a:pt x="105170" y="0"/>
                </a:lnTo>
                <a:lnTo>
                  <a:pt x="164388" y="494438"/>
                </a:lnTo>
                <a:lnTo>
                  <a:pt x="0" y="447827"/>
                </a:lnTo>
              </a:path>
            </a:pathLst>
          </a:custGeom>
          <a:ln w="23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88789" y="4731118"/>
            <a:ext cx="422275" cy="506730"/>
          </a:xfrm>
          <a:custGeom>
            <a:avLst/>
            <a:gdLst/>
            <a:ahLst/>
            <a:cxnLst/>
            <a:rect l="l" t="t" r="r" b="b"/>
            <a:pathLst>
              <a:path w="422275" h="506729">
                <a:moveTo>
                  <a:pt x="421868" y="82991"/>
                </a:moveTo>
                <a:lnTo>
                  <a:pt x="105052" y="0"/>
                </a:lnTo>
                <a:lnTo>
                  <a:pt x="152426" y="506261"/>
                </a:lnTo>
                <a:lnTo>
                  <a:pt x="0" y="448158"/>
                </a:lnTo>
              </a:path>
            </a:pathLst>
          </a:custGeom>
          <a:ln w="23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76945" y="4719306"/>
            <a:ext cx="422275" cy="506730"/>
          </a:xfrm>
          <a:custGeom>
            <a:avLst/>
            <a:gdLst/>
            <a:ahLst/>
            <a:cxnLst/>
            <a:rect l="l" t="t" r="r" b="b"/>
            <a:pathLst>
              <a:path w="422275" h="506729">
                <a:moveTo>
                  <a:pt x="421868" y="82991"/>
                </a:moveTo>
                <a:lnTo>
                  <a:pt x="105052" y="0"/>
                </a:lnTo>
                <a:lnTo>
                  <a:pt x="152426" y="506261"/>
                </a:lnTo>
                <a:lnTo>
                  <a:pt x="0" y="448158"/>
                </a:lnTo>
              </a:path>
            </a:pathLst>
          </a:custGeom>
          <a:ln w="23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05604" y="3778823"/>
            <a:ext cx="386715" cy="1058545"/>
          </a:xfrm>
          <a:custGeom>
            <a:avLst/>
            <a:gdLst/>
            <a:ahLst/>
            <a:cxnLst/>
            <a:rect l="l" t="t" r="r" b="b"/>
            <a:pathLst>
              <a:path w="386714" h="1058545">
                <a:moveTo>
                  <a:pt x="386337" y="0"/>
                </a:moveTo>
                <a:lnTo>
                  <a:pt x="0" y="210962"/>
                </a:lnTo>
                <a:lnTo>
                  <a:pt x="69521" y="1058424"/>
                </a:lnTo>
                <a:lnTo>
                  <a:pt x="281284" y="870649"/>
                </a:lnTo>
                <a:lnTo>
                  <a:pt x="386337" y="0"/>
                </a:lnTo>
                <a:close/>
              </a:path>
            </a:pathLst>
          </a:custGeom>
          <a:solidFill>
            <a:srgbClr val="3A81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05605" y="3778823"/>
            <a:ext cx="386715" cy="1058545"/>
          </a:xfrm>
          <a:custGeom>
            <a:avLst/>
            <a:gdLst/>
            <a:ahLst/>
            <a:cxnLst/>
            <a:rect l="l" t="t" r="r" b="b"/>
            <a:pathLst>
              <a:path w="386714" h="1058545">
                <a:moveTo>
                  <a:pt x="281284" y="870649"/>
                </a:moveTo>
                <a:lnTo>
                  <a:pt x="386337" y="0"/>
                </a:lnTo>
                <a:lnTo>
                  <a:pt x="0" y="210962"/>
                </a:lnTo>
                <a:lnTo>
                  <a:pt x="69521" y="1058424"/>
                </a:lnTo>
                <a:lnTo>
                  <a:pt x="281284" y="870649"/>
                </a:lnTo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93761" y="3767011"/>
            <a:ext cx="387985" cy="1058545"/>
          </a:xfrm>
          <a:custGeom>
            <a:avLst/>
            <a:gdLst/>
            <a:ahLst/>
            <a:cxnLst/>
            <a:rect l="l" t="t" r="r" b="b"/>
            <a:pathLst>
              <a:path w="387985" h="1058545">
                <a:moveTo>
                  <a:pt x="282706" y="870649"/>
                </a:moveTo>
                <a:lnTo>
                  <a:pt x="387877" y="0"/>
                </a:lnTo>
                <a:lnTo>
                  <a:pt x="0" y="210962"/>
                </a:lnTo>
                <a:lnTo>
                  <a:pt x="71061" y="1058424"/>
                </a:lnTo>
                <a:lnTo>
                  <a:pt x="282706" y="870649"/>
                </a:lnTo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63283" y="3368357"/>
            <a:ext cx="153035" cy="469900"/>
          </a:xfrm>
          <a:custGeom>
            <a:avLst/>
            <a:gdLst/>
            <a:ahLst/>
            <a:cxnLst/>
            <a:rect l="l" t="t" r="r" b="b"/>
            <a:pathLst>
              <a:path w="153035" h="469900">
                <a:moveTo>
                  <a:pt x="76272" y="0"/>
                </a:moveTo>
                <a:lnTo>
                  <a:pt x="37811" y="32027"/>
                </a:lnTo>
                <a:lnTo>
                  <a:pt x="22369" y="68716"/>
                </a:lnTo>
                <a:lnTo>
                  <a:pt x="10431" y="116212"/>
                </a:lnTo>
                <a:lnTo>
                  <a:pt x="2730" y="172285"/>
                </a:lnTo>
                <a:lnTo>
                  <a:pt x="0" y="234704"/>
                </a:lnTo>
                <a:lnTo>
                  <a:pt x="2730" y="297131"/>
                </a:lnTo>
                <a:lnTo>
                  <a:pt x="10431" y="353226"/>
                </a:lnTo>
                <a:lnTo>
                  <a:pt x="22369" y="400751"/>
                </a:lnTo>
                <a:lnTo>
                  <a:pt x="37811" y="437467"/>
                </a:lnTo>
                <a:lnTo>
                  <a:pt x="76272" y="469526"/>
                </a:lnTo>
                <a:lnTo>
                  <a:pt x="96562" y="461138"/>
                </a:lnTo>
                <a:lnTo>
                  <a:pt x="130220" y="400751"/>
                </a:lnTo>
                <a:lnTo>
                  <a:pt x="142140" y="353226"/>
                </a:lnTo>
                <a:lnTo>
                  <a:pt x="149823" y="297131"/>
                </a:lnTo>
                <a:lnTo>
                  <a:pt x="152545" y="234704"/>
                </a:lnTo>
                <a:lnTo>
                  <a:pt x="149823" y="172285"/>
                </a:lnTo>
                <a:lnTo>
                  <a:pt x="142140" y="116212"/>
                </a:lnTo>
                <a:lnTo>
                  <a:pt x="130220" y="68716"/>
                </a:lnTo>
                <a:lnTo>
                  <a:pt x="114786" y="32027"/>
                </a:lnTo>
                <a:lnTo>
                  <a:pt x="76272" y="0"/>
                </a:lnTo>
                <a:close/>
              </a:path>
            </a:pathLst>
          </a:custGeom>
          <a:solidFill>
            <a:srgbClr val="3A81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63283" y="3368357"/>
            <a:ext cx="153035" cy="469900"/>
          </a:xfrm>
          <a:custGeom>
            <a:avLst/>
            <a:gdLst/>
            <a:ahLst/>
            <a:cxnLst/>
            <a:rect l="l" t="t" r="r" b="b"/>
            <a:pathLst>
              <a:path w="153035" h="469900">
                <a:moveTo>
                  <a:pt x="76272" y="0"/>
                </a:moveTo>
                <a:lnTo>
                  <a:pt x="37811" y="32027"/>
                </a:lnTo>
                <a:lnTo>
                  <a:pt x="22369" y="68716"/>
                </a:lnTo>
                <a:lnTo>
                  <a:pt x="10431" y="116212"/>
                </a:lnTo>
                <a:lnTo>
                  <a:pt x="2730" y="172285"/>
                </a:lnTo>
                <a:lnTo>
                  <a:pt x="0" y="234704"/>
                </a:lnTo>
                <a:lnTo>
                  <a:pt x="2730" y="297131"/>
                </a:lnTo>
                <a:lnTo>
                  <a:pt x="10431" y="353226"/>
                </a:lnTo>
                <a:lnTo>
                  <a:pt x="22369" y="400751"/>
                </a:lnTo>
                <a:lnTo>
                  <a:pt x="37811" y="437467"/>
                </a:lnTo>
                <a:lnTo>
                  <a:pt x="76272" y="469526"/>
                </a:lnTo>
                <a:lnTo>
                  <a:pt x="96562" y="461138"/>
                </a:lnTo>
                <a:lnTo>
                  <a:pt x="130220" y="400751"/>
                </a:lnTo>
                <a:lnTo>
                  <a:pt x="142140" y="353226"/>
                </a:lnTo>
                <a:lnTo>
                  <a:pt x="149823" y="297131"/>
                </a:lnTo>
                <a:lnTo>
                  <a:pt x="152545" y="234704"/>
                </a:lnTo>
                <a:lnTo>
                  <a:pt x="149823" y="172285"/>
                </a:lnTo>
                <a:lnTo>
                  <a:pt x="142140" y="116212"/>
                </a:lnTo>
                <a:lnTo>
                  <a:pt x="130220" y="68716"/>
                </a:lnTo>
                <a:lnTo>
                  <a:pt x="114786" y="32027"/>
                </a:lnTo>
                <a:lnTo>
                  <a:pt x="76272" y="0"/>
                </a:lnTo>
                <a:close/>
              </a:path>
            </a:pathLst>
          </a:custGeom>
          <a:ln w="23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51439" y="3356545"/>
            <a:ext cx="176530" cy="492125"/>
          </a:xfrm>
          <a:custGeom>
            <a:avLst/>
            <a:gdLst/>
            <a:ahLst/>
            <a:cxnLst/>
            <a:rect l="l" t="t" r="r" b="b"/>
            <a:pathLst>
              <a:path w="176529" h="492125">
                <a:moveTo>
                  <a:pt x="88116" y="0"/>
                </a:moveTo>
                <a:lnTo>
                  <a:pt x="43636" y="33541"/>
                </a:lnTo>
                <a:lnTo>
                  <a:pt x="25804" y="71964"/>
                </a:lnTo>
                <a:lnTo>
                  <a:pt x="12027" y="121707"/>
                </a:lnTo>
                <a:lnTo>
                  <a:pt x="3146" y="180433"/>
                </a:lnTo>
                <a:lnTo>
                  <a:pt x="0" y="245807"/>
                </a:lnTo>
                <a:lnTo>
                  <a:pt x="3146" y="311140"/>
                </a:lnTo>
                <a:lnTo>
                  <a:pt x="12027" y="369855"/>
                </a:lnTo>
                <a:lnTo>
                  <a:pt x="25804" y="419606"/>
                </a:lnTo>
                <a:lnTo>
                  <a:pt x="43636" y="458047"/>
                </a:lnTo>
                <a:lnTo>
                  <a:pt x="88116" y="491614"/>
                </a:lnTo>
                <a:lnTo>
                  <a:pt x="111545" y="482831"/>
                </a:lnTo>
                <a:lnTo>
                  <a:pt x="150428" y="419606"/>
                </a:lnTo>
                <a:lnTo>
                  <a:pt x="164204" y="369855"/>
                </a:lnTo>
                <a:lnTo>
                  <a:pt x="173085" y="311140"/>
                </a:lnTo>
                <a:lnTo>
                  <a:pt x="176232" y="245807"/>
                </a:lnTo>
                <a:lnTo>
                  <a:pt x="173085" y="180433"/>
                </a:lnTo>
                <a:lnTo>
                  <a:pt x="164204" y="121707"/>
                </a:lnTo>
                <a:lnTo>
                  <a:pt x="150428" y="71964"/>
                </a:lnTo>
                <a:lnTo>
                  <a:pt x="132595" y="33541"/>
                </a:lnTo>
                <a:lnTo>
                  <a:pt x="88116" y="0"/>
                </a:lnTo>
                <a:close/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77026" y="4013527"/>
            <a:ext cx="528955" cy="448945"/>
          </a:xfrm>
          <a:custGeom>
            <a:avLst/>
            <a:gdLst/>
            <a:ahLst/>
            <a:cxnLst/>
            <a:rect l="l" t="t" r="r" b="b"/>
            <a:pathLst>
              <a:path w="528954" h="448945">
                <a:moveTo>
                  <a:pt x="528578" y="0"/>
                </a:moveTo>
                <a:lnTo>
                  <a:pt x="387877" y="377274"/>
                </a:lnTo>
                <a:lnTo>
                  <a:pt x="0" y="448737"/>
                </a:lnTo>
              </a:path>
            </a:pathLst>
          </a:custGeom>
          <a:ln w="236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65182" y="4001716"/>
            <a:ext cx="528955" cy="447675"/>
          </a:xfrm>
          <a:custGeom>
            <a:avLst/>
            <a:gdLst/>
            <a:ahLst/>
            <a:cxnLst/>
            <a:rect l="l" t="t" r="r" b="b"/>
            <a:pathLst>
              <a:path w="528954" h="447675">
                <a:moveTo>
                  <a:pt x="528578" y="0"/>
                </a:moveTo>
                <a:lnTo>
                  <a:pt x="387877" y="377393"/>
                </a:lnTo>
                <a:lnTo>
                  <a:pt x="0" y="447201"/>
                </a:lnTo>
              </a:path>
            </a:pathLst>
          </a:custGeom>
          <a:ln w="236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59987" y="2684679"/>
            <a:ext cx="234315" cy="481330"/>
          </a:xfrm>
          <a:custGeom>
            <a:avLst/>
            <a:gdLst/>
            <a:ahLst/>
            <a:cxnLst/>
            <a:rect l="l" t="t" r="r" b="b"/>
            <a:pathLst>
              <a:path w="234314" h="481330">
                <a:moveTo>
                  <a:pt x="23687" y="0"/>
                </a:moveTo>
                <a:lnTo>
                  <a:pt x="0" y="210725"/>
                </a:lnTo>
                <a:lnTo>
                  <a:pt x="233910" y="481220"/>
                </a:lnTo>
              </a:path>
            </a:pathLst>
          </a:custGeom>
          <a:ln w="236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48144" y="2672867"/>
            <a:ext cx="235585" cy="481330"/>
          </a:xfrm>
          <a:custGeom>
            <a:avLst/>
            <a:gdLst/>
            <a:ahLst/>
            <a:cxnLst/>
            <a:rect l="l" t="t" r="r" b="b"/>
            <a:pathLst>
              <a:path w="235585" h="481330">
                <a:moveTo>
                  <a:pt x="23687" y="0"/>
                </a:moveTo>
                <a:lnTo>
                  <a:pt x="0" y="210725"/>
                </a:lnTo>
                <a:lnTo>
                  <a:pt x="235450" y="481220"/>
                </a:lnTo>
              </a:path>
            </a:pathLst>
          </a:custGeom>
          <a:ln w="236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36021" y="2661055"/>
            <a:ext cx="46355" cy="446405"/>
          </a:xfrm>
          <a:custGeom>
            <a:avLst/>
            <a:gdLst/>
            <a:ahLst/>
            <a:cxnLst/>
            <a:rect l="l" t="t" r="r" b="b"/>
            <a:pathLst>
              <a:path w="46354" h="446405">
                <a:moveTo>
                  <a:pt x="0" y="0"/>
                </a:moveTo>
                <a:lnTo>
                  <a:pt x="45953" y="269431"/>
                </a:lnTo>
                <a:lnTo>
                  <a:pt x="45953" y="445784"/>
                </a:lnTo>
              </a:path>
            </a:pathLst>
          </a:custGeom>
          <a:ln w="23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24177" y="2649243"/>
            <a:ext cx="46355" cy="447675"/>
          </a:xfrm>
          <a:custGeom>
            <a:avLst/>
            <a:gdLst/>
            <a:ahLst/>
            <a:cxnLst/>
            <a:rect l="l" t="t" r="r" b="b"/>
            <a:pathLst>
              <a:path w="46354" h="447675">
                <a:moveTo>
                  <a:pt x="0" y="0"/>
                </a:moveTo>
                <a:lnTo>
                  <a:pt x="45953" y="270967"/>
                </a:lnTo>
                <a:lnTo>
                  <a:pt x="45953" y="447201"/>
                </a:lnTo>
              </a:path>
            </a:pathLst>
          </a:custGeom>
          <a:ln w="23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77002" y="2309648"/>
            <a:ext cx="153035" cy="302895"/>
          </a:xfrm>
          <a:custGeom>
            <a:avLst/>
            <a:gdLst/>
            <a:ahLst/>
            <a:cxnLst/>
            <a:rect l="l" t="t" r="r" b="b"/>
            <a:pathLst>
              <a:path w="153035" h="302894">
                <a:moveTo>
                  <a:pt x="76272" y="0"/>
                </a:moveTo>
                <a:lnTo>
                  <a:pt x="46567" y="11898"/>
                </a:lnTo>
                <a:lnTo>
                  <a:pt x="22325" y="44339"/>
                </a:lnTo>
                <a:lnTo>
                  <a:pt x="5988" y="92438"/>
                </a:lnTo>
                <a:lnTo>
                  <a:pt x="0" y="151311"/>
                </a:lnTo>
                <a:lnTo>
                  <a:pt x="5988" y="210253"/>
                </a:lnTo>
                <a:lnTo>
                  <a:pt x="22325" y="258387"/>
                </a:lnTo>
                <a:lnTo>
                  <a:pt x="46567" y="290840"/>
                </a:lnTo>
                <a:lnTo>
                  <a:pt x="76272" y="302741"/>
                </a:lnTo>
                <a:lnTo>
                  <a:pt x="105909" y="290840"/>
                </a:lnTo>
                <a:lnTo>
                  <a:pt x="130116" y="258387"/>
                </a:lnTo>
                <a:lnTo>
                  <a:pt x="146440" y="210253"/>
                </a:lnTo>
                <a:lnTo>
                  <a:pt x="152426" y="151311"/>
                </a:lnTo>
                <a:lnTo>
                  <a:pt x="146440" y="92438"/>
                </a:lnTo>
                <a:lnTo>
                  <a:pt x="130116" y="44339"/>
                </a:lnTo>
                <a:lnTo>
                  <a:pt x="105909" y="11898"/>
                </a:lnTo>
                <a:lnTo>
                  <a:pt x="76272" y="0"/>
                </a:lnTo>
                <a:close/>
              </a:path>
            </a:pathLst>
          </a:custGeom>
          <a:ln w="236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265158" y="2297836"/>
            <a:ext cx="176530" cy="326390"/>
          </a:xfrm>
          <a:custGeom>
            <a:avLst/>
            <a:gdLst/>
            <a:ahLst/>
            <a:cxnLst/>
            <a:rect l="l" t="t" r="r" b="b"/>
            <a:pathLst>
              <a:path w="176529" h="326389">
                <a:moveTo>
                  <a:pt x="88116" y="0"/>
                </a:moveTo>
                <a:lnTo>
                  <a:pt x="53812" y="12814"/>
                </a:lnTo>
                <a:lnTo>
                  <a:pt x="25804" y="47764"/>
                </a:lnTo>
                <a:lnTo>
                  <a:pt x="6922" y="99613"/>
                </a:lnTo>
                <a:lnTo>
                  <a:pt x="0" y="163123"/>
                </a:lnTo>
                <a:lnTo>
                  <a:pt x="6922" y="226651"/>
                </a:lnTo>
                <a:lnTo>
                  <a:pt x="25804" y="278541"/>
                </a:lnTo>
                <a:lnTo>
                  <a:pt x="53812" y="313532"/>
                </a:lnTo>
                <a:lnTo>
                  <a:pt x="88116" y="326365"/>
                </a:lnTo>
                <a:lnTo>
                  <a:pt x="122351" y="313532"/>
                </a:lnTo>
                <a:lnTo>
                  <a:pt x="150324" y="278541"/>
                </a:lnTo>
                <a:lnTo>
                  <a:pt x="169192" y="226651"/>
                </a:lnTo>
                <a:lnTo>
                  <a:pt x="176113" y="163123"/>
                </a:lnTo>
                <a:lnTo>
                  <a:pt x="169192" y="99613"/>
                </a:lnTo>
                <a:lnTo>
                  <a:pt x="150324" y="47764"/>
                </a:lnTo>
                <a:lnTo>
                  <a:pt x="122351" y="12814"/>
                </a:lnTo>
                <a:lnTo>
                  <a:pt x="88116" y="0"/>
                </a:lnTo>
                <a:close/>
              </a:path>
            </a:pathLst>
          </a:custGeom>
          <a:solidFill>
            <a:srgbClr val="3D13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65158" y="2297836"/>
            <a:ext cx="176530" cy="326390"/>
          </a:xfrm>
          <a:custGeom>
            <a:avLst/>
            <a:gdLst/>
            <a:ahLst/>
            <a:cxnLst/>
            <a:rect l="l" t="t" r="r" b="b"/>
            <a:pathLst>
              <a:path w="176529" h="326389">
                <a:moveTo>
                  <a:pt x="88116" y="0"/>
                </a:moveTo>
                <a:lnTo>
                  <a:pt x="53812" y="12814"/>
                </a:lnTo>
                <a:lnTo>
                  <a:pt x="25804" y="47764"/>
                </a:lnTo>
                <a:lnTo>
                  <a:pt x="6922" y="99613"/>
                </a:lnTo>
                <a:lnTo>
                  <a:pt x="0" y="163123"/>
                </a:lnTo>
                <a:lnTo>
                  <a:pt x="6922" y="226651"/>
                </a:lnTo>
                <a:lnTo>
                  <a:pt x="25804" y="278541"/>
                </a:lnTo>
                <a:lnTo>
                  <a:pt x="53812" y="313532"/>
                </a:lnTo>
                <a:lnTo>
                  <a:pt x="88116" y="326365"/>
                </a:lnTo>
                <a:lnTo>
                  <a:pt x="122351" y="313532"/>
                </a:lnTo>
                <a:lnTo>
                  <a:pt x="150324" y="278541"/>
                </a:lnTo>
                <a:lnTo>
                  <a:pt x="169192" y="226651"/>
                </a:lnTo>
                <a:lnTo>
                  <a:pt x="176113" y="163123"/>
                </a:lnTo>
                <a:lnTo>
                  <a:pt x="169192" y="99613"/>
                </a:lnTo>
                <a:lnTo>
                  <a:pt x="150324" y="47764"/>
                </a:lnTo>
                <a:lnTo>
                  <a:pt x="122351" y="12814"/>
                </a:lnTo>
                <a:lnTo>
                  <a:pt x="88116" y="0"/>
                </a:lnTo>
                <a:close/>
              </a:path>
            </a:pathLst>
          </a:custGeom>
          <a:ln w="236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15127" y="2674403"/>
            <a:ext cx="95250" cy="419734"/>
          </a:xfrm>
          <a:custGeom>
            <a:avLst/>
            <a:gdLst/>
            <a:ahLst/>
            <a:cxnLst/>
            <a:rect l="l" t="t" r="r" b="b"/>
            <a:pathLst>
              <a:path w="95250" h="419735">
                <a:moveTo>
                  <a:pt x="47374" y="0"/>
                </a:moveTo>
                <a:lnTo>
                  <a:pt x="19391" y="40429"/>
                </a:lnTo>
                <a:lnTo>
                  <a:pt x="9137" y="85803"/>
                </a:lnTo>
                <a:lnTo>
                  <a:pt x="2414" y="143361"/>
                </a:lnTo>
                <a:lnTo>
                  <a:pt x="0" y="209662"/>
                </a:lnTo>
                <a:lnTo>
                  <a:pt x="2414" y="275918"/>
                </a:lnTo>
                <a:lnTo>
                  <a:pt x="9137" y="333471"/>
                </a:lnTo>
                <a:lnTo>
                  <a:pt x="19391" y="378862"/>
                </a:lnTo>
                <a:lnTo>
                  <a:pt x="32396" y="408633"/>
                </a:lnTo>
                <a:lnTo>
                  <a:pt x="47374" y="419325"/>
                </a:lnTo>
                <a:lnTo>
                  <a:pt x="62352" y="408633"/>
                </a:lnTo>
                <a:lnTo>
                  <a:pt x="75357" y="378862"/>
                </a:lnTo>
                <a:lnTo>
                  <a:pt x="85611" y="333471"/>
                </a:lnTo>
                <a:lnTo>
                  <a:pt x="92334" y="275918"/>
                </a:lnTo>
                <a:lnTo>
                  <a:pt x="94748" y="209662"/>
                </a:lnTo>
                <a:lnTo>
                  <a:pt x="92334" y="143361"/>
                </a:lnTo>
                <a:lnTo>
                  <a:pt x="85611" y="85803"/>
                </a:lnTo>
                <a:lnTo>
                  <a:pt x="75357" y="40429"/>
                </a:lnTo>
                <a:lnTo>
                  <a:pt x="62352" y="10680"/>
                </a:lnTo>
                <a:lnTo>
                  <a:pt x="473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815127" y="2674402"/>
            <a:ext cx="95250" cy="419734"/>
          </a:xfrm>
          <a:custGeom>
            <a:avLst/>
            <a:gdLst/>
            <a:ahLst/>
            <a:cxnLst/>
            <a:rect l="l" t="t" r="r" b="b"/>
            <a:pathLst>
              <a:path w="95250" h="419735">
                <a:moveTo>
                  <a:pt x="47374" y="0"/>
                </a:moveTo>
                <a:lnTo>
                  <a:pt x="19391" y="40429"/>
                </a:lnTo>
                <a:lnTo>
                  <a:pt x="9137" y="85803"/>
                </a:lnTo>
                <a:lnTo>
                  <a:pt x="2414" y="143361"/>
                </a:lnTo>
                <a:lnTo>
                  <a:pt x="0" y="209662"/>
                </a:lnTo>
                <a:lnTo>
                  <a:pt x="2414" y="275918"/>
                </a:lnTo>
                <a:lnTo>
                  <a:pt x="9137" y="333471"/>
                </a:lnTo>
                <a:lnTo>
                  <a:pt x="19391" y="378862"/>
                </a:lnTo>
                <a:lnTo>
                  <a:pt x="32396" y="408633"/>
                </a:lnTo>
                <a:lnTo>
                  <a:pt x="47374" y="419325"/>
                </a:lnTo>
                <a:lnTo>
                  <a:pt x="62352" y="408633"/>
                </a:lnTo>
                <a:lnTo>
                  <a:pt x="75357" y="378862"/>
                </a:lnTo>
                <a:lnTo>
                  <a:pt x="85611" y="333471"/>
                </a:lnTo>
                <a:lnTo>
                  <a:pt x="92334" y="275918"/>
                </a:lnTo>
                <a:lnTo>
                  <a:pt x="94748" y="209662"/>
                </a:lnTo>
                <a:lnTo>
                  <a:pt x="92334" y="143361"/>
                </a:lnTo>
                <a:lnTo>
                  <a:pt x="85611" y="85803"/>
                </a:lnTo>
                <a:lnTo>
                  <a:pt x="75357" y="40429"/>
                </a:lnTo>
                <a:lnTo>
                  <a:pt x="62352" y="10680"/>
                </a:lnTo>
                <a:lnTo>
                  <a:pt x="47374" y="0"/>
                </a:lnTo>
                <a:close/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803283" y="2662590"/>
            <a:ext cx="118745" cy="444500"/>
          </a:xfrm>
          <a:custGeom>
            <a:avLst/>
            <a:gdLst/>
            <a:ahLst/>
            <a:cxnLst/>
            <a:rect l="l" t="t" r="r" b="b"/>
            <a:pathLst>
              <a:path w="118745" h="444500">
                <a:moveTo>
                  <a:pt x="59217" y="0"/>
                </a:moveTo>
                <a:lnTo>
                  <a:pt x="24251" y="42863"/>
                </a:lnTo>
                <a:lnTo>
                  <a:pt x="11430" y="90957"/>
                </a:lnTo>
                <a:lnTo>
                  <a:pt x="3020" y="151949"/>
                </a:lnTo>
                <a:lnTo>
                  <a:pt x="0" y="222183"/>
                </a:lnTo>
                <a:lnTo>
                  <a:pt x="3020" y="292417"/>
                </a:lnTo>
                <a:lnTo>
                  <a:pt x="11430" y="353409"/>
                </a:lnTo>
                <a:lnTo>
                  <a:pt x="24251" y="401503"/>
                </a:lnTo>
                <a:lnTo>
                  <a:pt x="40506" y="433041"/>
                </a:lnTo>
                <a:lnTo>
                  <a:pt x="59217" y="444366"/>
                </a:lnTo>
                <a:lnTo>
                  <a:pt x="77928" y="433041"/>
                </a:lnTo>
                <a:lnTo>
                  <a:pt x="94183" y="401503"/>
                </a:lnTo>
                <a:lnTo>
                  <a:pt x="107005" y="353409"/>
                </a:lnTo>
                <a:lnTo>
                  <a:pt x="115415" y="292417"/>
                </a:lnTo>
                <a:lnTo>
                  <a:pt x="118435" y="222183"/>
                </a:lnTo>
                <a:lnTo>
                  <a:pt x="115415" y="151949"/>
                </a:lnTo>
                <a:lnTo>
                  <a:pt x="107005" y="90957"/>
                </a:lnTo>
                <a:lnTo>
                  <a:pt x="94183" y="42863"/>
                </a:lnTo>
                <a:lnTo>
                  <a:pt x="77928" y="11325"/>
                </a:lnTo>
                <a:lnTo>
                  <a:pt x="59217" y="0"/>
                </a:lnTo>
                <a:close/>
              </a:path>
            </a:pathLst>
          </a:custGeom>
          <a:solidFill>
            <a:srgbClr val="99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03283" y="2662590"/>
            <a:ext cx="118745" cy="444500"/>
          </a:xfrm>
          <a:custGeom>
            <a:avLst/>
            <a:gdLst/>
            <a:ahLst/>
            <a:cxnLst/>
            <a:rect l="l" t="t" r="r" b="b"/>
            <a:pathLst>
              <a:path w="118745" h="444500">
                <a:moveTo>
                  <a:pt x="59217" y="0"/>
                </a:moveTo>
                <a:lnTo>
                  <a:pt x="24251" y="42863"/>
                </a:lnTo>
                <a:lnTo>
                  <a:pt x="11430" y="90957"/>
                </a:lnTo>
                <a:lnTo>
                  <a:pt x="3020" y="151949"/>
                </a:lnTo>
                <a:lnTo>
                  <a:pt x="0" y="222183"/>
                </a:lnTo>
                <a:lnTo>
                  <a:pt x="3020" y="292417"/>
                </a:lnTo>
                <a:lnTo>
                  <a:pt x="11430" y="353409"/>
                </a:lnTo>
                <a:lnTo>
                  <a:pt x="24251" y="401503"/>
                </a:lnTo>
                <a:lnTo>
                  <a:pt x="40506" y="433041"/>
                </a:lnTo>
                <a:lnTo>
                  <a:pt x="59217" y="444366"/>
                </a:lnTo>
                <a:lnTo>
                  <a:pt x="77928" y="433041"/>
                </a:lnTo>
                <a:lnTo>
                  <a:pt x="94183" y="401503"/>
                </a:lnTo>
                <a:lnTo>
                  <a:pt x="107005" y="353409"/>
                </a:lnTo>
                <a:lnTo>
                  <a:pt x="115415" y="292417"/>
                </a:lnTo>
                <a:lnTo>
                  <a:pt x="118435" y="222183"/>
                </a:lnTo>
                <a:lnTo>
                  <a:pt x="115415" y="151949"/>
                </a:lnTo>
                <a:lnTo>
                  <a:pt x="107005" y="90957"/>
                </a:lnTo>
                <a:lnTo>
                  <a:pt x="94183" y="42863"/>
                </a:lnTo>
                <a:lnTo>
                  <a:pt x="77928" y="11325"/>
                </a:lnTo>
                <a:lnTo>
                  <a:pt x="59217" y="0"/>
                </a:lnTo>
                <a:close/>
              </a:path>
            </a:pathLst>
          </a:custGeom>
          <a:ln w="236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721918" y="3166017"/>
            <a:ext cx="293370" cy="506730"/>
          </a:xfrm>
          <a:custGeom>
            <a:avLst/>
            <a:gdLst/>
            <a:ahLst/>
            <a:cxnLst/>
            <a:rect l="l" t="t" r="r" b="b"/>
            <a:pathLst>
              <a:path w="293370" h="506729">
                <a:moveTo>
                  <a:pt x="293128" y="0"/>
                </a:moveTo>
                <a:lnTo>
                  <a:pt x="211644" y="258918"/>
                </a:lnTo>
                <a:lnTo>
                  <a:pt x="0" y="506261"/>
                </a:lnTo>
              </a:path>
            </a:pathLst>
          </a:custGeom>
          <a:ln w="23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710074" y="3154205"/>
            <a:ext cx="293370" cy="506730"/>
          </a:xfrm>
          <a:custGeom>
            <a:avLst/>
            <a:gdLst/>
            <a:ahLst/>
            <a:cxnLst/>
            <a:rect l="l" t="t" r="r" b="b"/>
            <a:pathLst>
              <a:path w="293370" h="506729">
                <a:moveTo>
                  <a:pt x="293128" y="0"/>
                </a:moveTo>
                <a:lnTo>
                  <a:pt x="211644" y="258918"/>
                </a:lnTo>
                <a:lnTo>
                  <a:pt x="0" y="506261"/>
                </a:lnTo>
              </a:path>
            </a:pathLst>
          </a:custGeom>
          <a:ln w="23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639013" y="3061245"/>
            <a:ext cx="106680" cy="528955"/>
          </a:xfrm>
          <a:custGeom>
            <a:avLst/>
            <a:gdLst/>
            <a:ahLst/>
            <a:cxnLst/>
            <a:rect l="l" t="t" r="r" b="b"/>
            <a:pathLst>
              <a:path w="106679" h="528954">
                <a:moveTo>
                  <a:pt x="106592" y="0"/>
                </a:moveTo>
                <a:lnTo>
                  <a:pt x="23687" y="234231"/>
                </a:lnTo>
                <a:lnTo>
                  <a:pt x="0" y="528350"/>
                </a:lnTo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27169" y="3049433"/>
            <a:ext cx="106680" cy="528955"/>
          </a:xfrm>
          <a:custGeom>
            <a:avLst/>
            <a:gdLst/>
            <a:ahLst/>
            <a:cxnLst/>
            <a:rect l="l" t="t" r="r" b="b"/>
            <a:pathLst>
              <a:path w="106679" h="528954">
                <a:moveTo>
                  <a:pt x="106592" y="0"/>
                </a:moveTo>
                <a:lnTo>
                  <a:pt x="23687" y="234231"/>
                </a:lnTo>
                <a:lnTo>
                  <a:pt x="0" y="528350"/>
                </a:lnTo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929886" y="2253716"/>
            <a:ext cx="981075" cy="309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b="1" spc="20" dirty="0">
                <a:solidFill>
                  <a:srgbClr val="F62B0F"/>
                </a:solidFill>
                <a:latin typeface="宋体"/>
                <a:cs typeface="宋体"/>
              </a:rPr>
              <a:t>阅读人员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32483" y="1970228"/>
            <a:ext cx="503555" cy="309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b="1" spc="20" dirty="0">
                <a:solidFill>
                  <a:srgbClr val="F62B0F"/>
                </a:solidFill>
                <a:latin typeface="宋体"/>
                <a:cs typeface="宋体"/>
              </a:rPr>
              <a:t>组长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20697" y="4819327"/>
            <a:ext cx="503555" cy="309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b="1" spc="20" dirty="0">
                <a:solidFill>
                  <a:srgbClr val="F62B0F"/>
                </a:solidFill>
                <a:latin typeface="宋体"/>
                <a:cs typeface="宋体"/>
              </a:rPr>
              <a:t>作者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85885" y="3386075"/>
            <a:ext cx="422275" cy="212725"/>
          </a:xfrm>
          <a:custGeom>
            <a:avLst/>
            <a:gdLst/>
            <a:ahLst/>
            <a:cxnLst/>
            <a:rect l="l" t="t" r="r" b="b"/>
            <a:pathLst>
              <a:path w="422275" h="212725">
                <a:moveTo>
                  <a:pt x="105052" y="212379"/>
                </a:moveTo>
                <a:lnTo>
                  <a:pt x="421868" y="189109"/>
                </a:lnTo>
                <a:lnTo>
                  <a:pt x="233910" y="0"/>
                </a:lnTo>
                <a:lnTo>
                  <a:pt x="0" y="82920"/>
                </a:lnTo>
                <a:lnTo>
                  <a:pt x="105052" y="212379"/>
                </a:lnTo>
                <a:lnTo>
                  <a:pt x="421868" y="189109"/>
                </a:lnTo>
                <a:lnTo>
                  <a:pt x="233910" y="0"/>
                </a:lnTo>
                <a:lnTo>
                  <a:pt x="0" y="82920"/>
                </a:lnTo>
                <a:lnTo>
                  <a:pt x="105052" y="212379"/>
                </a:lnTo>
              </a:path>
            </a:pathLst>
          </a:custGeom>
          <a:ln w="118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674544" y="3907220"/>
            <a:ext cx="423545" cy="212725"/>
          </a:xfrm>
          <a:custGeom>
            <a:avLst/>
            <a:gdLst/>
            <a:ahLst/>
            <a:cxnLst/>
            <a:rect l="l" t="t" r="r" b="b"/>
            <a:pathLst>
              <a:path w="423545" h="212725">
                <a:moveTo>
                  <a:pt x="318236" y="0"/>
                </a:moveTo>
                <a:lnTo>
                  <a:pt x="0" y="23269"/>
                </a:lnTo>
                <a:lnTo>
                  <a:pt x="176113" y="212497"/>
                </a:lnTo>
                <a:lnTo>
                  <a:pt x="423407" y="129459"/>
                </a:lnTo>
                <a:lnTo>
                  <a:pt x="318236" y="0"/>
                </a:lnTo>
                <a:lnTo>
                  <a:pt x="0" y="23269"/>
                </a:lnTo>
                <a:lnTo>
                  <a:pt x="176113" y="212497"/>
                </a:lnTo>
                <a:lnTo>
                  <a:pt x="423407" y="129459"/>
                </a:lnTo>
                <a:lnTo>
                  <a:pt x="318236" y="0"/>
                </a:lnTo>
              </a:path>
            </a:pathLst>
          </a:custGeom>
          <a:ln w="118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52557" y="3542584"/>
            <a:ext cx="422275" cy="213995"/>
          </a:xfrm>
          <a:custGeom>
            <a:avLst/>
            <a:gdLst/>
            <a:ahLst/>
            <a:cxnLst/>
            <a:rect l="l" t="t" r="r" b="b"/>
            <a:pathLst>
              <a:path w="422275" h="213995">
                <a:moveTo>
                  <a:pt x="316815" y="0"/>
                </a:moveTo>
                <a:lnTo>
                  <a:pt x="0" y="23387"/>
                </a:lnTo>
                <a:lnTo>
                  <a:pt x="176232" y="213796"/>
                </a:lnTo>
                <a:lnTo>
                  <a:pt x="421986" y="130286"/>
                </a:lnTo>
                <a:lnTo>
                  <a:pt x="316815" y="0"/>
                </a:lnTo>
                <a:lnTo>
                  <a:pt x="0" y="23387"/>
                </a:lnTo>
                <a:lnTo>
                  <a:pt x="176232" y="213796"/>
                </a:lnTo>
                <a:lnTo>
                  <a:pt x="421986" y="130286"/>
                </a:lnTo>
                <a:lnTo>
                  <a:pt x="316815" y="0"/>
                </a:lnTo>
              </a:path>
            </a:pathLst>
          </a:custGeom>
          <a:ln w="118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97808" y="2938636"/>
            <a:ext cx="422275" cy="212725"/>
          </a:xfrm>
          <a:custGeom>
            <a:avLst/>
            <a:gdLst/>
            <a:ahLst/>
            <a:cxnLst/>
            <a:rect l="l" t="t" r="r" b="b"/>
            <a:pathLst>
              <a:path w="422275" h="212725">
                <a:moveTo>
                  <a:pt x="105170" y="212497"/>
                </a:moveTo>
                <a:lnTo>
                  <a:pt x="421986" y="189228"/>
                </a:lnTo>
                <a:lnTo>
                  <a:pt x="233910" y="0"/>
                </a:lnTo>
                <a:lnTo>
                  <a:pt x="0" y="83038"/>
                </a:lnTo>
                <a:lnTo>
                  <a:pt x="105170" y="212497"/>
                </a:lnTo>
                <a:lnTo>
                  <a:pt x="421986" y="189228"/>
                </a:lnTo>
                <a:lnTo>
                  <a:pt x="233910" y="0"/>
                </a:lnTo>
                <a:lnTo>
                  <a:pt x="0" y="83038"/>
                </a:lnTo>
                <a:lnTo>
                  <a:pt x="105170" y="212497"/>
                </a:lnTo>
              </a:path>
            </a:pathLst>
          </a:custGeom>
          <a:ln w="118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71831" y="2637431"/>
            <a:ext cx="328930" cy="435609"/>
          </a:xfrm>
          <a:custGeom>
            <a:avLst/>
            <a:gdLst/>
            <a:ahLst/>
            <a:cxnLst/>
            <a:rect l="l" t="t" r="r" b="b"/>
            <a:pathLst>
              <a:path w="328929" h="435610">
                <a:moveTo>
                  <a:pt x="328659" y="0"/>
                </a:moveTo>
                <a:lnTo>
                  <a:pt x="0" y="0"/>
                </a:lnTo>
                <a:lnTo>
                  <a:pt x="93327" y="435389"/>
                </a:lnTo>
                <a:lnTo>
                  <a:pt x="269441" y="423814"/>
                </a:lnTo>
                <a:lnTo>
                  <a:pt x="328659" y="0"/>
                </a:lnTo>
                <a:close/>
              </a:path>
            </a:pathLst>
          </a:custGeom>
          <a:solidFill>
            <a:srgbClr val="701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71831" y="2637431"/>
            <a:ext cx="328930" cy="435609"/>
          </a:xfrm>
          <a:custGeom>
            <a:avLst/>
            <a:gdLst/>
            <a:ahLst/>
            <a:cxnLst/>
            <a:rect l="l" t="t" r="r" b="b"/>
            <a:pathLst>
              <a:path w="328929" h="435610">
                <a:moveTo>
                  <a:pt x="0" y="0"/>
                </a:moveTo>
                <a:lnTo>
                  <a:pt x="328659" y="0"/>
                </a:lnTo>
                <a:lnTo>
                  <a:pt x="269441" y="423814"/>
                </a:lnTo>
                <a:lnTo>
                  <a:pt x="93327" y="435389"/>
                </a:lnTo>
                <a:lnTo>
                  <a:pt x="0" y="0"/>
                </a:lnTo>
              </a:path>
            </a:pathLst>
          </a:custGeom>
          <a:ln w="23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129739" y="2789569"/>
            <a:ext cx="257810" cy="504825"/>
          </a:xfrm>
          <a:custGeom>
            <a:avLst/>
            <a:gdLst/>
            <a:ahLst/>
            <a:cxnLst/>
            <a:rect l="l" t="t" r="r" b="b"/>
            <a:pathLst>
              <a:path w="257810" h="504825">
                <a:moveTo>
                  <a:pt x="0" y="0"/>
                </a:moveTo>
                <a:lnTo>
                  <a:pt x="0" y="410112"/>
                </a:lnTo>
                <a:lnTo>
                  <a:pt x="176113" y="504726"/>
                </a:lnTo>
                <a:lnTo>
                  <a:pt x="257597" y="117883"/>
                </a:lnTo>
                <a:lnTo>
                  <a:pt x="0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129739" y="2789569"/>
            <a:ext cx="257810" cy="504825"/>
          </a:xfrm>
          <a:custGeom>
            <a:avLst/>
            <a:gdLst/>
            <a:ahLst/>
            <a:cxnLst/>
            <a:rect l="l" t="t" r="r" b="b"/>
            <a:pathLst>
              <a:path w="257810" h="504825">
                <a:moveTo>
                  <a:pt x="0" y="410112"/>
                </a:moveTo>
                <a:lnTo>
                  <a:pt x="0" y="0"/>
                </a:lnTo>
                <a:lnTo>
                  <a:pt x="257597" y="117883"/>
                </a:lnTo>
                <a:lnTo>
                  <a:pt x="176113" y="504726"/>
                </a:lnTo>
                <a:lnTo>
                  <a:pt x="0" y="410112"/>
                </a:lnTo>
              </a:path>
            </a:pathLst>
          </a:custGeom>
          <a:ln w="236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211104" y="2415956"/>
            <a:ext cx="95250" cy="418465"/>
          </a:xfrm>
          <a:custGeom>
            <a:avLst/>
            <a:gdLst/>
            <a:ahLst/>
            <a:cxnLst/>
            <a:rect l="l" t="t" r="r" b="b"/>
            <a:pathLst>
              <a:path w="95250" h="418464">
                <a:moveTo>
                  <a:pt x="47374" y="0"/>
                </a:moveTo>
                <a:lnTo>
                  <a:pt x="19391" y="40315"/>
                </a:lnTo>
                <a:lnTo>
                  <a:pt x="9137" y="85548"/>
                </a:lnTo>
                <a:lnTo>
                  <a:pt x="2414" y="142908"/>
                </a:lnTo>
                <a:lnTo>
                  <a:pt x="0" y="208954"/>
                </a:lnTo>
                <a:lnTo>
                  <a:pt x="2414" y="275000"/>
                </a:lnTo>
                <a:lnTo>
                  <a:pt x="9137" y="332360"/>
                </a:lnTo>
                <a:lnTo>
                  <a:pt x="19391" y="377592"/>
                </a:lnTo>
                <a:lnTo>
                  <a:pt x="32396" y="407255"/>
                </a:lnTo>
                <a:lnTo>
                  <a:pt x="47374" y="417908"/>
                </a:lnTo>
                <a:lnTo>
                  <a:pt x="62352" y="407255"/>
                </a:lnTo>
                <a:lnTo>
                  <a:pt x="75357" y="377592"/>
                </a:lnTo>
                <a:lnTo>
                  <a:pt x="85611" y="332360"/>
                </a:lnTo>
                <a:lnTo>
                  <a:pt x="92334" y="275000"/>
                </a:lnTo>
                <a:lnTo>
                  <a:pt x="94748" y="208954"/>
                </a:lnTo>
                <a:lnTo>
                  <a:pt x="92334" y="142908"/>
                </a:lnTo>
                <a:lnTo>
                  <a:pt x="85611" y="85548"/>
                </a:lnTo>
                <a:lnTo>
                  <a:pt x="75357" y="40315"/>
                </a:lnTo>
                <a:lnTo>
                  <a:pt x="62352" y="10652"/>
                </a:lnTo>
                <a:lnTo>
                  <a:pt x="473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11104" y="2415956"/>
            <a:ext cx="95250" cy="418465"/>
          </a:xfrm>
          <a:custGeom>
            <a:avLst/>
            <a:gdLst/>
            <a:ahLst/>
            <a:cxnLst/>
            <a:rect l="l" t="t" r="r" b="b"/>
            <a:pathLst>
              <a:path w="95250" h="418464">
                <a:moveTo>
                  <a:pt x="47374" y="0"/>
                </a:moveTo>
                <a:lnTo>
                  <a:pt x="19391" y="40315"/>
                </a:lnTo>
                <a:lnTo>
                  <a:pt x="9137" y="85548"/>
                </a:lnTo>
                <a:lnTo>
                  <a:pt x="2414" y="142908"/>
                </a:lnTo>
                <a:lnTo>
                  <a:pt x="0" y="208954"/>
                </a:lnTo>
                <a:lnTo>
                  <a:pt x="2414" y="275000"/>
                </a:lnTo>
                <a:lnTo>
                  <a:pt x="9137" y="332360"/>
                </a:lnTo>
                <a:lnTo>
                  <a:pt x="19391" y="377592"/>
                </a:lnTo>
                <a:lnTo>
                  <a:pt x="32396" y="407255"/>
                </a:lnTo>
                <a:lnTo>
                  <a:pt x="47374" y="417908"/>
                </a:lnTo>
                <a:lnTo>
                  <a:pt x="62352" y="407255"/>
                </a:lnTo>
                <a:lnTo>
                  <a:pt x="75357" y="377592"/>
                </a:lnTo>
                <a:lnTo>
                  <a:pt x="85611" y="332360"/>
                </a:lnTo>
                <a:lnTo>
                  <a:pt x="92334" y="275000"/>
                </a:lnTo>
                <a:lnTo>
                  <a:pt x="94748" y="208954"/>
                </a:lnTo>
                <a:lnTo>
                  <a:pt x="92334" y="142908"/>
                </a:lnTo>
                <a:lnTo>
                  <a:pt x="85611" y="85548"/>
                </a:lnTo>
                <a:lnTo>
                  <a:pt x="75357" y="40315"/>
                </a:lnTo>
                <a:lnTo>
                  <a:pt x="62352" y="10652"/>
                </a:lnTo>
                <a:lnTo>
                  <a:pt x="47374" y="0"/>
                </a:lnTo>
                <a:close/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199261" y="2402727"/>
            <a:ext cx="118745" cy="443230"/>
          </a:xfrm>
          <a:custGeom>
            <a:avLst/>
            <a:gdLst/>
            <a:ahLst/>
            <a:cxnLst/>
            <a:rect l="l" t="t" r="r" b="b"/>
            <a:pathLst>
              <a:path w="118745" h="443230">
                <a:moveTo>
                  <a:pt x="59217" y="0"/>
                </a:moveTo>
                <a:lnTo>
                  <a:pt x="24251" y="42715"/>
                </a:lnTo>
                <a:lnTo>
                  <a:pt x="11430" y="90650"/>
                </a:lnTo>
                <a:lnTo>
                  <a:pt x="3020" y="151450"/>
                </a:lnTo>
                <a:lnTo>
                  <a:pt x="0" y="221474"/>
                </a:lnTo>
                <a:lnTo>
                  <a:pt x="3020" y="291453"/>
                </a:lnTo>
                <a:lnTo>
                  <a:pt x="11430" y="352247"/>
                </a:lnTo>
                <a:lnTo>
                  <a:pt x="24251" y="400199"/>
                </a:lnTo>
                <a:lnTo>
                  <a:pt x="40506" y="431652"/>
                </a:lnTo>
                <a:lnTo>
                  <a:pt x="59217" y="442949"/>
                </a:lnTo>
                <a:lnTo>
                  <a:pt x="77928" y="431652"/>
                </a:lnTo>
                <a:lnTo>
                  <a:pt x="94183" y="400199"/>
                </a:lnTo>
                <a:lnTo>
                  <a:pt x="107005" y="352247"/>
                </a:lnTo>
                <a:lnTo>
                  <a:pt x="115415" y="291453"/>
                </a:lnTo>
                <a:lnTo>
                  <a:pt x="118435" y="221474"/>
                </a:lnTo>
                <a:lnTo>
                  <a:pt x="115415" y="151450"/>
                </a:lnTo>
                <a:lnTo>
                  <a:pt x="107005" y="90650"/>
                </a:lnTo>
                <a:lnTo>
                  <a:pt x="94183" y="42715"/>
                </a:lnTo>
                <a:lnTo>
                  <a:pt x="77928" y="11285"/>
                </a:lnTo>
                <a:lnTo>
                  <a:pt x="59217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199261" y="2402727"/>
            <a:ext cx="118745" cy="443230"/>
          </a:xfrm>
          <a:custGeom>
            <a:avLst/>
            <a:gdLst/>
            <a:ahLst/>
            <a:cxnLst/>
            <a:rect l="l" t="t" r="r" b="b"/>
            <a:pathLst>
              <a:path w="118745" h="443230">
                <a:moveTo>
                  <a:pt x="59217" y="0"/>
                </a:moveTo>
                <a:lnTo>
                  <a:pt x="24251" y="42715"/>
                </a:lnTo>
                <a:lnTo>
                  <a:pt x="11430" y="90650"/>
                </a:lnTo>
                <a:lnTo>
                  <a:pt x="3020" y="151450"/>
                </a:lnTo>
                <a:lnTo>
                  <a:pt x="0" y="221474"/>
                </a:lnTo>
                <a:lnTo>
                  <a:pt x="3020" y="291453"/>
                </a:lnTo>
                <a:lnTo>
                  <a:pt x="11430" y="352247"/>
                </a:lnTo>
                <a:lnTo>
                  <a:pt x="24251" y="400199"/>
                </a:lnTo>
                <a:lnTo>
                  <a:pt x="40506" y="431652"/>
                </a:lnTo>
                <a:lnTo>
                  <a:pt x="59217" y="442949"/>
                </a:lnTo>
                <a:lnTo>
                  <a:pt x="77928" y="431652"/>
                </a:lnTo>
                <a:lnTo>
                  <a:pt x="94183" y="400199"/>
                </a:lnTo>
                <a:lnTo>
                  <a:pt x="107005" y="352247"/>
                </a:lnTo>
                <a:lnTo>
                  <a:pt x="115415" y="291453"/>
                </a:lnTo>
                <a:lnTo>
                  <a:pt x="118435" y="221474"/>
                </a:lnTo>
                <a:lnTo>
                  <a:pt x="115415" y="151450"/>
                </a:lnTo>
                <a:lnTo>
                  <a:pt x="107005" y="90650"/>
                </a:lnTo>
                <a:lnTo>
                  <a:pt x="94183" y="42715"/>
                </a:lnTo>
                <a:lnTo>
                  <a:pt x="77928" y="11285"/>
                </a:lnTo>
                <a:lnTo>
                  <a:pt x="59217" y="0"/>
                </a:lnTo>
                <a:close/>
              </a:path>
            </a:pathLst>
          </a:custGeom>
          <a:ln w="236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117895" y="2907689"/>
            <a:ext cx="293370" cy="504825"/>
          </a:xfrm>
          <a:custGeom>
            <a:avLst/>
            <a:gdLst/>
            <a:ahLst/>
            <a:cxnLst/>
            <a:rect l="l" t="t" r="r" b="b"/>
            <a:pathLst>
              <a:path w="293370" h="504825">
                <a:moveTo>
                  <a:pt x="293128" y="0"/>
                </a:moveTo>
                <a:lnTo>
                  <a:pt x="211644" y="259036"/>
                </a:lnTo>
                <a:lnTo>
                  <a:pt x="0" y="504726"/>
                </a:lnTo>
              </a:path>
            </a:pathLst>
          </a:custGeom>
          <a:ln w="23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106052" y="2894342"/>
            <a:ext cx="293370" cy="506730"/>
          </a:xfrm>
          <a:custGeom>
            <a:avLst/>
            <a:gdLst/>
            <a:ahLst/>
            <a:cxnLst/>
            <a:rect l="l" t="t" r="r" b="b"/>
            <a:pathLst>
              <a:path w="293370" h="506729">
                <a:moveTo>
                  <a:pt x="293128" y="0"/>
                </a:moveTo>
                <a:lnTo>
                  <a:pt x="211644" y="258918"/>
                </a:lnTo>
                <a:lnTo>
                  <a:pt x="0" y="506261"/>
                </a:lnTo>
              </a:path>
            </a:pathLst>
          </a:custGeom>
          <a:ln w="23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34990" y="2801381"/>
            <a:ext cx="106680" cy="530225"/>
          </a:xfrm>
          <a:custGeom>
            <a:avLst/>
            <a:gdLst/>
            <a:ahLst/>
            <a:cxnLst/>
            <a:rect l="l" t="t" r="r" b="b"/>
            <a:pathLst>
              <a:path w="106679" h="530225">
                <a:moveTo>
                  <a:pt x="106592" y="0"/>
                </a:moveTo>
                <a:lnTo>
                  <a:pt x="23687" y="235885"/>
                </a:lnTo>
                <a:lnTo>
                  <a:pt x="0" y="529885"/>
                </a:lnTo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023147" y="2789569"/>
            <a:ext cx="106680" cy="530225"/>
          </a:xfrm>
          <a:custGeom>
            <a:avLst/>
            <a:gdLst/>
            <a:ahLst/>
            <a:cxnLst/>
            <a:rect l="l" t="t" r="r" b="b"/>
            <a:pathLst>
              <a:path w="106679" h="530225">
                <a:moveTo>
                  <a:pt x="106592" y="0"/>
                </a:moveTo>
                <a:lnTo>
                  <a:pt x="23687" y="235885"/>
                </a:lnTo>
                <a:lnTo>
                  <a:pt x="0" y="529885"/>
                </a:lnTo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455330" y="3552860"/>
            <a:ext cx="332105" cy="412115"/>
          </a:xfrm>
          <a:custGeom>
            <a:avLst/>
            <a:gdLst/>
            <a:ahLst/>
            <a:cxnLst/>
            <a:rect l="l" t="t" r="r" b="b"/>
            <a:pathLst>
              <a:path w="332105" h="412114">
                <a:moveTo>
                  <a:pt x="0" y="66383"/>
                </a:moveTo>
                <a:lnTo>
                  <a:pt x="248715" y="0"/>
                </a:lnTo>
                <a:lnTo>
                  <a:pt x="202821" y="411765"/>
                </a:lnTo>
                <a:lnTo>
                  <a:pt x="331620" y="363572"/>
                </a:lnTo>
              </a:path>
            </a:pathLst>
          </a:custGeom>
          <a:ln w="236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446448" y="3544001"/>
            <a:ext cx="332105" cy="413384"/>
          </a:xfrm>
          <a:custGeom>
            <a:avLst/>
            <a:gdLst/>
            <a:ahLst/>
            <a:cxnLst/>
            <a:rect l="l" t="t" r="r" b="b"/>
            <a:pathLst>
              <a:path w="332105" h="413385">
                <a:moveTo>
                  <a:pt x="0" y="66619"/>
                </a:moveTo>
                <a:lnTo>
                  <a:pt x="248715" y="0"/>
                </a:lnTo>
                <a:lnTo>
                  <a:pt x="202821" y="413301"/>
                </a:lnTo>
                <a:lnTo>
                  <a:pt x="331620" y="364872"/>
                </a:lnTo>
              </a:path>
            </a:pathLst>
          </a:custGeom>
          <a:ln w="236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575246" y="3659168"/>
            <a:ext cx="332105" cy="410845"/>
          </a:xfrm>
          <a:custGeom>
            <a:avLst/>
            <a:gdLst/>
            <a:ahLst/>
            <a:cxnLst/>
            <a:rect l="l" t="t" r="r" b="b"/>
            <a:pathLst>
              <a:path w="332105" h="410845">
                <a:moveTo>
                  <a:pt x="0" y="66501"/>
                </a:moveTo>
                <a:lnTo>
                  <a:pt x="248715" y="0"/>
                </a:lnTo>
                <a:lnTo>
                  <a:pt x="211703" y="410348"/>
                </a:lnTo>
                <a:lnTo>
                  <a:pt x="331620" y="362155"/>
                </a:lnTo>
              </a:path>
            </a:pathLst>
          </a:custGeom>
          <a:ln w="236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566364" y="3648891"/>
            <a:ext cx="332105" cy="410845"/>
          </a:xfrm>
          <a:custGeom>
            <a:avLst/>
            <a:gdLst/>
            <a:ahLst/>
            <a:cxnLst/>
            <a:rect l="l" t="t" r="r" b="b"/>
            <a:pathLst>
              <a:path w="332105" h="410845">
                <a:moveTo>
                  <a:pt x="0" y="66383"/>
                </a:moveTo>
                <a:lnTo>
                  <a:pt x="248715" y="0"/>
                </a:lnTo>
                <a:lnTo>
                  <a:pt x="211703" y="410230"/>
                </a:lnTo>
                <a:lnTo>
                  <a:pt x="331620" y="362037"/>
                </a:lnTo>
              </a:path>
            </a:pathLst>
          </a:custGeom>
          <a:ln w="236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54660" y="2884065"/>
            <a:ext cx="303530" cy="861060"/>
          </a:xfrm>
          <a:custGeom>
            <a:avLst/>
            <a:gdLst/>
            <a:ahLst/>
            <a:cxnLst/>
            <a:rect l="l" t="t" r="r" b="b"/>
            <a:pathLst>
              <a:path w="303530" h="861060">
                <a:moveTo>
                  <a:pt x="0" y="0"/>
                </a:moveTo>
                <a:lnTo>
                  <a:pt x="82905" y="707774"/>
                </a:lnTo>
                <a:lnTo>
                  <a:pt x="248715" y="860621"/>
                </a:lnTo>
                <a:lnTo>
                  <a:pt x="303491" y="172691"/>
                </a:lnTo>
                <a:lnTo>
                  <a:pt x="0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354660" y="2884065"/>
            <a:ext cx="303530" cy="861060"/>
          </a:xfrm>
          <a:custGeom>
            <a:avLst/>
            <a:gdLst/>
            <a:ahLst/>
            <a:cxnLst/>
            <a:rect l="l" t="t" r="r" b="b"/>
            <a:pathLst>
              <a:path w="303530" h="861060">
                <a:moveTo>
                  <a:pt x="82905" y="707774"/>
                </a:moveTo>
                <a:lnTo>
                  <a:pt x="0" y="0"/>
                </a:lnTo>
                <a:lnTo>
                  <a:pt x="303491" y="172691"/>
                </a:lnTo>
                <a:lnTo>
                  <a:pt x="248715" y="860621"/>
                </a:lnTo>
                <a:lnTo>
                  <a:pt x="82905" y="707774"/>
                </a:lnTo>
              </a:path>
            </a:pathLst>
          </a:custGeom>
          <a:ln w="23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345777" y="2873670"/>
            <a:ext cx="303530" cy="861060"/>
          </a:xfrm>
          <a:custGeom>
            <a:avLst/>
            <a:gdLst/>
            <a:ahLst/>
            <a:cxnLst/>
            <a:rect l="l" t="t" r="r" b="b"/>
            <a:pathLst>
              <a:path w="303530" h="861060">
                <a:moveTo>
                  <a:pt x="82905" y="707774"/>
                </a:moveTo>
                <a:lnTo>
                  <a:pt x="0" y="0"/>
                </a:lnTo>
                <a:lnTo>
                  <a:pt x="303491" y="172809"/>
                </a:lnTo>
                <a:lnTo>
                  <a:pt x="248715" y="860621"/>
                </a:lnTo>
                <a:lnTo>
                  <a:pt x="82905" y="707774"/>
                </a:lnTo>
              </a:path>
            </a:pathLst>
          </a:custGeom>
          <a:ln w="23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449408" y="2553329"/>
            <a:ext cx="114300" cy="375285"/>
          </a:xfrm>
          <a:custGeom>
            <a:avLst/>
            <a:gdLst/>
            <a:ahLst/>
            <a:cxnLst/>
            <a:rect l="l" t="t" r="r" b="b"/>
            <a:pathLst>
              <a:path w="114300" h="375285">
                <a:moveTo>
                  <a:pt x="57003" y="0"/>
                </a:moveTo>
                <a:lnTo>
                  <a:pt x="34815" y="14722"/>
                </a:lnTo>
                <a:lnTo>
                  <a:pt x="16696" y="54881"/>
                </a:lnTo>
                <a:lnTo>
                  <a:pt x="4479" y="114463"/>
                </a:lnTo>
                <a:lnTo>
                  <a:pt x="0" y="187456"/>
                </a:lnTo>
                <a:lnTo>
                  <a:pt x="4479" y="260467"/>
                </a:lnTo>
                <a:lnTo>
                  <a:pt x="16696" y="320090"/>
                </a:lnTo>
                <a:lnTo>
                  <a:pt x="34815" y="360289"/>
                </a:lnTo>
                <a:lnTo>
                  <a:pt x="57003" y="375030"/>
                </a:lnTo>
                <a:lnTo>
                  <a:pt x="79188" y="360289"/>
                </a:lnTo>
                <a:lnTo>
                  <a:pt x="97303" y="320090"/>
                </a:lnTo>
                <a:lnTo>
                  <a:pt x="109516" y="260467"/>
                </a:lnTo>
                <a:lnTo>
                  <a:pt x="113994" y="187456"/>
                </a:lnTo>
                <a:lnTo>
                  <a:pt x="109516" y="114463"/>
                </a:lnTo>
                <a:lnTo>
                  <a:pt x="97303" y="54881"/>
                </a:lnTo>
                <a:lnTo>
                  <a:pt x="79188" y="14722"/>
                </a:lnTo>
                <a:lnTo>
                  <a:pt x="57003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449409" y="2553329"/>
            <a:ext cx="114300" cy="375285"/>
          </a:xfrm>
          <a:custGeom>
            <a:avLst/>
            <a:gdLst/>
            <a:ahLst/>
            <a:cxnLst/>
            <a:rect l="l" t="t" r="r" b="b"/>
            <a:pathLst>
              <a:path w="114300" h="375285">
                <a:moveTo>
                  <a:pt x="57003" y="0"/>
                </a:moveTo>
                <a:lnTo>
                  <a:pt x="34815" y="14722"/>
                </a:lnTo>
                <a:lnTo>
                  <a:pt x="16696" y="54881"/>
                </a:lnTo>
                <a:lnTo>
                  <a:pt x="4479" y="114463"/>
                </a:lnTo>
                <a:lnTo>
                  <a:pt x="0" y="187456"/>
                </a:lnTo>
                <a:lnTo>
                  <a:pt x="4479" y="260467"/>
                </a:lnTo>
                <a:lnTo>
                  <a:pt x="16696" y="320090"/>
                </a:lnTo>
                <a:lnTo>
                  <a:pt x="34815" y="360289"/>
                </a:lnTo>
                <a:lnTo>
                  <a:pt x="57003" y="375030"/>
                </a:lnTo>
                <a:lnTo>
                  <a:pt x="79188" y="360289"/>
                </a:lnTo>
                <a:lnTo>
                  <a:pt x="97303" y="320090"/>
                </a:lnTo>
                <a:lnTo>
                  <a:pt x="109516" y="260467"/>
                </a:lnTo>
                <a:lnTo>
                  <a:pt x="113994" y="187456"/>
                </a:lnTo>
                <a:lnTo>
                  <a:pt x="109516" y="114463"/>
                </a:lnTo>
                <a:lnTo>
                  <a:pt x="97303" y="54881"/>
                </a:lnTo>
                <a:lnTo>
                  <a:pt x="79188" y="14722"/>
                </a:lnTo>
                <a:lnTo>
                  <a:pt x="57003" y="0"/>
                </a:lnTo>
                <a:close/>
              </a:path>
            </a:pathLst>
          </a:custGeom>
          <a:ln w="23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440526" y="2542935"/>
            <a:ext cx="132080" cy="394335"/>
          </a:xfrm>
          <a:custGeom>
            <a:avLst/>
            <a:gdLst/>
            <a:ahLst/>
            <a:cxnLst/>
            <a:rect l="l" t="t" r="r" b="b"/>
            <a:pathLst>
              <a:path w="132080" h="394335">
                <a:moveTo>
                  <a:pt x="65885" y="0"/>
                </a:moveTo>
                <a:lnTo>
                  <a:pt x="26971" y="38028"/>
                </a:lnTo>
                <a:lnTo>
                  <a:pt x="12709" y="80700"/>
                </a:lnTo>
                <a:lnTo>
                  <a:pt x="3358" y="134819"/>
                </a:lnTo>
                <a:lnTo>
                  <a:pt x="0" y="197142"/>
                </a:lnTo>
                <a:lnTo>
                  <a:pt x="3358" y="259464"/>
                </a:lnTo>
                <a:lnTo>
                  <a:pt x="12709" y="313583"/>
                </a:lnTo>
                <a:lnTo>
                  <a:pt x="26971" y="356255"/>
                </a:lnTo>
                <a:lnTo>
                  <a:pt x="45057" y="384236"/>
                </a:lnTo>
                <a:lnTo>
                  <a:pt x="65885" y="394284"/>
                </a:lnTo>
                <a:lnTo>
                  <a:pt x="86707" y="384236"/>
                </a:lnTo>
                <a:lnTo>
                  <a:pt x="104791" y="356255"/>
                </a:lnTo>
                <a:lnTo>
                  <a:pt x="119050" y="313583"/>
                </a:lnTo>
                <a:lnTo>
                  <a:pt x="128401" y="259464"/>
                </a:lnTo>
                <a:lnTo>
                  <a:pt x="131759" y="197142"/>
                </a:lnTo>
                <a:lnTo>
                  <a:pt x="128401" y="134819"/>
                </a:lnTo>
                <a:lnTo>
                  <a:pt x="119050" y="80700"/>
                </a:lnTo>
                <a:lnTo>
                  <a:pt x="104791" y="38028"/>
                </a:lnTo>
                <a:lnTo>
                  <a:pt x="86707" y="10047"/>
                </a:lnTo>
                <a:lnTo>
                  <a:pt x="65885" y="0"/>
                </a:lnTo>
                <a:close/>
              </a:path>
            </a:pathLst>
          </a:custGeom>
          <a:ln w="23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658151" y="3074474"/>
            <a:ext cx="414655" cy="373380"/>
          </a:xfrm>
          <a:custGeom>
            <a:avLst/>
            <a:gdLst/>
            <a:ahLst/>
            <a:cxnLst/>
            <a:rect l="l" t="t" r="r" b="b"/>
            <a:pathLst>
              <a:path w="414655" h="373379">
                <a:moveTo>
                  <a:pt x="0" y="0"/>
                </a:moveTo>
                <a:lnTo>
                  <a:pt x="111033" y="306993"/>
                </a:lnTo>
                <a:lnTo>
                  <a:pt x="414548" y="373376"/>
                </a:lnTo>
              </a:path>
            </a:pathLst>
          </a:custGeom>
          <a:ln w="23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649269" y="3065615"/>
            <a:ext cx="414655" cy="373380"/>
          </a:xfrm>
          <a:custGeom>
            <a:avLst/>
            <a:gdLst/>
            <a:ahLst/>
            <a:cxnLst/>
            <a:rect l="l" t="t" r="r" b="b"/>
            <a:pathLst>
              <a:path w="414655" h="373379">
                <a:moveTo>
                  <a:pt x="0" y="0"/>
                </a:moveTo>
                <a:lnTo>
                  <a:pt x="111033" y="306757"/>
                </a:lnTo>
                <a:lnTo>
                  <a:pt x="414548" y="373376"/>
                </a:lnTo>
              </a:path>
            </a:pathLst>
          </a:custGeom>
          <a:ln w="23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455330" y="3552860"/>
            <a:ext cx="332105" cy="412115"/>
          </a:xfrm>
          <a:custGeom>
            <a:avLst/>
            <a:gdLst/>
            <a:ahLst/>
            <a:cxnLst/>
            <a:rect l="l" t="t" r="r" b="b"/>
            <a:pathLst>
              <a:path w="332105" h="412114">
                <a:moveTo>
                  <a:pt x="0" y="66383"/>
                </a:moveTo>
                <a:lnTo>
                  <a:pt x="248715" y="0"/>
                </a:lnTo>
                <a:lnTo>
                  <a:pt x="202821" y="411765"/>
                </a:lnTo>
                <a:lnTo>
                  <a:pt x="331620" y="363572"/>
                </a:lnTo>
              </a:path>
            </a:pathLst>
          </a:custGeom>
          <a:ln w="236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446448" y="3544001"/>
            <a:ext cx="332105" cy="413384"/>
          </a:xfrm>
          <a:custGeom>
            <a:avLst/>
            <a:gdLst/>
            <a:ahLst/>
            <a:cxnLst/>
            <a:rect l="l" t="t" r="r" b="b"/>
            <a:pathLst>
              <a:path w="332105" h="413385">
                <a:moveTo>
                  <a:pt x="0" y="66619"/>
                </a:moveTo>
                <a:lnTo>
                  <a:pt x="248715" y="0"/>
                </a:lnTo>
                <a:lnTo>
                  <a:pt x="202821" y="413301"/>
                </a:lnTo>
                <a:lnTo>
                  <a:pt x="331620" y="364872"/>
                </a:lnTo>
              </a:path>
            </a:pathLst>
          </a:custGeom>
          <a:ln w="236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575246" y="3659168"/>
            <a:ext cx="332105" cy="410845"/>
          </a:xfrm>
          <a:custGeom>
            <a:avLst/>
            <a:gdLst/>
            <a:ahLst/>
            <a:cxnLst/>
            <a:rect l="l" t="t" r="r" b="b"/>
            <a:pathLst>
              <a:path w="332105" h="410845">
                <a:moveTo>
                  <a:pt x="0" y="66501"/>
                </a:moveTo>
                <a:lnTo>
                  <a:pt x="248715" y="0"/>
                </a:lnTo>
                <a:lnTo>
                  <a:pt x="211703" y="410348"/>
                </a:lnTo>
                <a:lnTo>
                  <a:pt x="331620" y="362155"/>
                </a:lnTo>
              </a:path>
            </a:pathLst>
          </a:custGeom>
          <a:ln w="236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566364" y="3648891"/>
            <a:ext cx="332105" cy="410845"/>
          </a:xfrm>
          <a:custGeom>
            <a:avLst/>
            <a:gdLst/>
            <a:ahLst/>
            <a:cxnLst/>
            <a:rect l="l" t="t" r="r" b="b"/>
            <a:pathLst>
              <a:path w="332105" h="410845">
                <a:moveTo>
                  <a:pt x="0" y="66383"/>
                </a:moveTo>
                <a:lnTo>
                  <a:pt x="248715" y="0"/>
                </a:lnTo>
                <a:lnTo>
                  <a:pt x="211703" y="410230"/>
                </a:lnTo>
                <a:lnTo>
                  <a:pt x="331620" y="362037"/>
                </a:lnTo>
              </a:path>
            </a:pathLst>
          </a:custGeom>
          <a:ln w="236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354660" y="2884065"/>
            <a:ext cx="303530" cy="861060"/>
          </a:xfrm>
          <a:custGeom>
            <a:avLst/>
            <a:gdLst/>
            <a:ahLst/>
            <a:cxnLst/>
            <a:rect l="l" t="t" r="r" b="b"/>
            <a:pathLst>
              <a:path w="303530" h="861060">
                <a:moveTo>
                  <a:pt x="0" y="0"/>
                </a:moveTo>
                <a:lnTo>
                  <a:pt x="82905" y="707774"/>
                </a:lnTo>
                <a:lnTo>
                  <a:pt x="248715" y="860621"/>
                </a:lnTo>
                <a:lnTo>
                  <a:pt x="303491" y="172691"/>
                </a:lnTo>
                <a:lnTo>
                  <a:pt x="0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354660" y="2884065"/>
            <a:ext cx="303530" cy="861060"/>
          </a:xfrm>
          <a:custGeom>
            <a:avLst/>
            <a:gdLst/>
            <a:ahLst/>
            <a:cxnLst/>
            <a:rect l="l" t="t" r="r" b="b"/>
            <a:pathLst>
              <a:path w="303530" h="861060">
                <a:moveTo>
                  <a:pt x="82905" y="707774"/>
                </a:moveTo>
                <a:lnTo>
                  <a:pt x="0" y="0"/>
                </a:lnTo>
                <a:lnTo>
                  <a:pt x="303491" y="172691"/>
                </a:lnTo>
                <a:lnTo>
                  <a:pt x="248715" y="860621"/>
                </a:lnTo>
                <a:lnTo>
                  <a:pt x="82905" y="707774"/>
                </a:lnTo>
              </a:path>
            </a:pathLst>
          </a:custGeom>
          <a:ln w="23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345777" y="2873670"/>
            <a:ext cx="303530" cy="861060"/>
          </a:xfrm>
          <a:custGeom>
            <a:avLst/>
            <a:gdLst/>
            <a:ahLst/>
            <a:cxnLst/>
            <a:rect l="l" t="t" r="r" b="b"/>
            <a:pathLst>
              <a:path w="303530" h="861060">
                <a:moveTo>
                  <a:pt x="82905" y="707774"/>
                </a:moveTo>
                <a:lnTo>
                  <a:pt x="0" y="0"/>
                </a:lnTo>
                <a:lnTo>
                  <a:pt x="303491" y="172809"/>
                </a:lnTo>
                <a:lnTo>
                  <a:pt x="248715" y="860621"/>
                </a:lnTo>
                <a:lnTo>
                  <a:pt x="82905" y="707774"/>
                </a:lnTo>
              </a:path>
            </a:pathLst>
          </a:custGeom>
          <a:ln w="23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449408" y="2553329"/>
            <a:ext cx="114300" cy="375285"/>
          </a:xfrm>
          <a:custGeom>
            <a:avLst/>
            <a:gdLst/>
            <a:ahLst/>
            <a:cxnLst/>
            <a:rect l="l" t="t" r="r" b="b"/>
            <a:pathLst>
              <a:path w="114300" h="375285">
                <a:moveTo>
                  <a:pt x="57003" y="0"/>
                </a:moveTo>
                <a:lnTo>
                  <a:pt x="34815" y="14722"/>
                </a:lnTo>
                <a:lnTo>
                  <a:pt x="16696" y="54881"/>
                </a:lnTo>
                <a:lnTo>
                  <a:pt x="4479" y="114463"/>
                </a:lnTo>
                <a:lnTo>
                  <a:pt x="0" y="187456"/>
                </a:lnTo>
                <a:lnTo>
                  <a:pt x="4479" y="260467"/>
                </a:lnTo>
                <a:lnTo>
                  <a:pt x="16696" y="320090"/>
                </a:lnTo>
                <a:lnTo>
                  <a:pt x="34815" y="360289"/>
                </a:lnTo>
                <a:lnTo>
                  <a:pt x="57003" y="375030"/>
                </a:lnTo>
                <a:lnTo>
                  <a:pt x="79188" y="360289"/>
                </a:lnTo>
                <a:lnTo>
                  <a:pt x="97303" y="320090"/>
                </a:lnTo>
                <a:lnTo>
                  <a:pt x="109516" y="260467"/>
                </a:lnTo>
                <a:lnTo>
                  <a:pt x="113994" y="187456"/>
                </a:lnTo>
                <a:lnTo>
                  <a:pt x="109516" y="114463"/>
                </a:lnTo>
                <a:lnTo>
                  <a:pt x="97303" y="54881"/>
                </a:lnTo>
                <a:lnTo>
                  <a:pt x="79188" y="14722"/>
                </a:lnTo>
                <a:lnTo>
                  <a:pt x="57003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49409" y="2553329"/>
            <a:ext cx="114300" cy="375285"/>
          </a:xfrm>
          <a:custGeom>
            <a:avLst/>
            <a:gdLst/>
            <a:ahLst/>
            <a:cxnLst/>
            <a:rect l="l" t="t" r="r" b="b"/>
            <a:pathLst>
              <a:path w="114300" h="375285">
                <a:moveTo>
                  <a:pt x="57003" y="0"/>
                </a:moveTo>
                <a:lnTo>
                  <a:pt x="34815" y="14722"/>
                </a:lnTo>
                <a:lnTo>
                  <a:pt x="16696" y="54881"/>
                </a:lnTo>
                <a:lnTo>
                  <a:pt x="4479" y="114463"/>
                </a:lnTo>
                <a:lnTo>
                  <a:pt x="0" y="187456"/>
                </a:lnTo>
                <a:lnTo>
                  <a:pt x="4479" y="260467"/>
                </a:lnTo>
                <a:lnTo>
                  <a:pt x="16696" y="320090"/>
                </a:lnTo>
                <a:lnTo>
                  <a:pt x="34815" y="360289"/>
                </a:lnTo>
                <a:lnTo>
                  <a:pt x="57003" y="375030"/>
                </a:lnTo>
                <a:lnTo>
                  <a:pt x="79188" y="360289"/>
                </a:lnTo>
                <a:lnTo>
                  <a:pt x="97303" y="320090"/>
                </a:lnTo>
                <a:lnTo>
                  <a:pt x="109516" y="260467"/>
                </a:lnTo>
                <a:lnTo>
                  <a:pt x="113994" y="187456"/>
                </a:lnTo>
                <a:lnTo>
                  <a:pt x="109516" y="114463"/>
                </a:lnTo>
                <a:lnTo>
                  <a:pt x="97303" y="54881"/>
                </a:lnTo>
                <a:lnTo>
                  <a:pt x="79188" y="14722"/>
                </a:lnTo>
                <a:lnTo>
                  <a:pt x="57003" y="0"/>
                </a:lnTo>
                <a:close/>
              </a:path>
            </a:pathLst>
          </a:custGeom>
          <a:ln w="23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440526" y="2542935"/>
            <a:ext cx="132080" cy="394335"/>
          </a:xfrm>
          <a:custGeom>
            <a:avLst/>
            <a:gdLst/>
            <a:ahLst/>
            <a:cxnLst/>
            <a:rect l="l" t="t" r="r" b="b"/>
            <a:pathLst>
              <a:path w="132080" h="394335">
                <a:moveTo>
                  <a:pt x="65885" y="0"/>
                </a:moveTo>
                <a:lnTo>
                  <a:pt x="26971" y="38028"/>
                </a:lnTo>
                <a:lnTo>
                  <a:pt x="12709" y="80700"/>
                </a:lnTo>
                <a:lnTo>
                  <a:pt x="3358" y="134819"/>
                </a:lnTo>
                <a:lnTo>
                  <a:pt x="0" y="197142"/>
                </a:lnTo>
                <a:lnTo>
                  <a:pt x="3358" y="259464"/>
                </a:lnTo>
                <a:lnTo>
                  <a:pt x="12709" y="313583"/>
                </a:lnTo>
                <a:lnTo>
                  <a:pt x="26971" y="356255"/>
                </a:lnTo>
                <a:lnTo>
                  <a:pt x="45057" y="384236"/>
                </a:lnTo>
                <a:lnTo>
                  <a:pt x="65885" y="394284"/>
                </a:lnTo>
                <a:lnTo>
                  <a:pt x="86707" y="384236"/>
                </a:lnTo>
                <a:lnTo>
                  <a:pt x="104791" y="356255"/>
                </a:lnTo>
                <a:lnTo>
                  <a:pt x="119050" y="313583"/>
                </a:lnTo>
                <a:lnTo>
                  <a:pt x="128401" y="259464"/>
                </a:lnTo>
                <a:lnTo>
                  <a:pt x="131759" y="197142"/>
                </a:lnTo>
                <a:lnTo>
                  <a:pt x="128401" y="134819"/>
                </a:lnTo>
                <a:lnTo>
                  <a:pt x="119050" y="80700"/>
                </a:lnTo>
                <a:lnTo>
                  <a:pt x="104791" y="38028"/>
                </a:lnTo>
                <a:lnTo>
                  <a:pt x="86707" y="10047"/>
                </a:lnTo>
                <a:lnTo>
                  <a:pt x="65885" y="0"/>
                </a:lnTo>
                <a:close/>
              </a:path>
            </a:pathLst>
          </a:custGeom>
          <a:ln w="23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658151" y="3074474"/>
            <a:ext cx="414655" cy="373380"/>
          </a:xfrm>
          <a:custGeom>
            <a:avLst/>
            <a:gdLst/>
            <a:ahLst/>
            <a:cxnLst/>
            <a:rect l="l" t="t" r="r" b="b"/>
            <a:pathLst>
              <a:path w="414655" h="373379">
                <a:moveTo>
                  <a:pt x="0" y="0"/>
                </a:moveTo>
                <a:lnTo>
                  <a:pt x="111033" y="306993"/>
                </a:lnTo>
                <a:lnTo>
                  <a:pt x="414548" y="373376"/>
                </a:lnTo>
              </a:path>
            </a:pathLst>
          </a:custGeom>
          <a:ln w="23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649269" y="3065615"/>
            <a:ext cx="414655" cy="373380"/>
          </a:xfrm>
          <a:custGeom>
            <a:avLst/>
            <a:gdLst/>
            <a:ahLst/>
            <a:cxnLst/>
            <a:rect l="l" t="t" r="r" b="b"/>
            <a:pathLst>
              <a:path w="414655" h="373379">
                <a:moveTo>
                  <a:pt x="0" y="0"/>
                </a:moveTo>
                <a:lnTo>
                  <a:pt x="111033" y="306757"/>
                </a:lnTo>
                <a:lnTo>
                  <a:pt x="414548" y="373376"/>
                </a:lnTo>
              </a:path>
            </a:pathLst>
          </a:custGeom>
          <a:ln w="23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723216" y="4753842"/>
            <a:ext cx="981075" cy="309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b="1" spc="20" dirty="0">
                <a:latin typeface="宋体"/>
                <a:cs typeface="宋体"/>
              </a:rPr>
              <a:t>记录人员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4316276" y="4602662"/>
            <a:ext cx="422275" cy="493395"/>
          </a:xfrm>
          <a:custGeom>
            <a:avLst/>
            <a:gdLst/>
            <a:ahLst/>
            <a:cxnLst/>
            <a:rect l="l" t="t" r="r" b="b"/>
            <a:pathLst>
              <a:path w="422275" h="493395">
                <a:moveTo>
                  <a:pt x="0" y="69714"/>
                </a:moveTo>
                <a:lnTo>
                  <a:pt x="316815" y="0"/>
                </a:lnTo>
                <a:lnTo>
                  <a:pt x="257597" y="492973"/>
                </a:lnTo>
                <a:lnTo>
                  <a:pt x="421868" y="446493"/>
                </a:lnTo>
              </a:path>
            </a:pathLst>
          </a:custGeom>
          <a:ln w="23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328119" y="4590850"/>
            <a:ext cx="422275" cy="493395"/>
          </a:xfrm>
          <a:custGeom>
            <a:avLst/>
            <a:gdLst/>
            <a:ahLst/>
            <a:cxnLst/>
            <a:rect l="l" t="t" r="r" b="b"/>
            <a:pathLst>
              <a:path w="422275" h="493395">
                <a:moveTo>
                  <a:pt x="0" y="69714"/>
                </a:moveTo>
                <a:lnTo>
                  <a:pt x="316815" y="0"/>
                </a:lnTo>
                <a:lnTo>
                  <a:pt x="257597" y="492973"/>
                </a:lnTo>
                <a:lnTo>
                  <a:pt x="421868" y="446493"/>
                </a:lnTo>
              </a:path>
            </a:pathLst>
          </a:custGeom>
          <a:ln w="23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468702" y="4731118"/>
            <a:ext cx="422275" cy="506730"/>
          </a:xfrm>
          <a:custGeom>
            <a:avLst/>
            <a:gdLst/>
            <a:ahLst/>
            <a:cxnLst/>
            <a:rect l="l" t="t" r="r" b="b"/>
            <a:pathLst>
              <a:path w="422275" h="506729">
                <a:moveTo>
                  <a:pt x="0" y="82990"/>
                </a:moveTo>
                <a:lnTo>
                  <a:pt x="316815" y="0"/>
                </a:lnTo>
                <a:lnTo>
                  <a:pt x="269441" y="506261"/>
                </a:lnTo>
                <a:lnTo>
                  <a:pt x="421986" y="448158"/>
                </a:lnTo>
              </a:path>
            </a:pathLst>
          </a:custGeom>
          <a:ln w="23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480546" y="4719306"/>
            <a:ext cx="422275" cy="506730"/>
          </a:xfrm>
          <a:custGeom>
            <a:avLst/>
            <a:gdLst/>
            <a:ahLst/>
            <a:cxnLst/>
            <a:rect l="l" t="t" r="r" b="b"/>
            <a:pathLst>
              <a:path w="422275" h="506729">
                <a:moveTo>
                  <a:pt x="0" y="82990"/>
                </a:moveTo>
                <a:lnTo>
                  <a:pt x="316815" y="0"/>
                </a:lnTo>
                <a:lnTo>
                  <a:pt x="269441" y="506261"/>
                </a:lnTo>
                <a:lnTo>
                  <a:pt x="421986" y="448158"/>
                </a:lnTo>
              </a:path>
            </a:pathLst>
          </a:custGeom>
          <a:ln w="23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87417" y="3778823"/>
            <a:ext cx="386715" cy="1058545"/>
          </a:xfrm>
          <a:custGeom>
            <a:avLst/>
            <a:gdLst/>
            <a:ahLst/>
            <a:cxnLst/>
            <a:rect l="l" t="t" r="r" b="b"/>
            <a:pathLst>
              <a:path w="386714" h="1058545">
                <a:moveTo>
                  <a:pt x="0" y="0"/>
                </a:moveTo>
                <a:lnTo>
                  <a:pt x="105170" y="870649"/>
                </a:lnTo>
                <a:lnTo>
                  <a:pt x="316815" y="1058425"/>
                </a:lnTo>
                <a:lnTo>
                  <a:pt x="386455" y="210962"/>
                </a:lnTo>
                <a:lnTo>
                  <a:pt x="0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187417" y="3778823"/>
            <a:ext cx="386715" cy="1058545"/>
          </a:xfrm>
          <a:custGeom>
            <a:avLst/>
            <a:gdLst/>
            <a:ahLst/>
            <a:cxnLst/>
            <a:rect l="l" t="t" r="r" b="b"/>
            <a:pathLst>
              <a:path w="386714" h="1058545">
                <a:moveTo>
                  <a:pt x="105170" y="870649"/>
                </a:moveTo>
                <a:lnTo>
                  <a:pt x="0" y="0"/>
                </a:lnTo>
                <a:lnTo>
                  <a:pt x="386455" y="210962"/>
                </a:lnTo>
                <a:lnTo>
                  <a:pt x="316815" y="1058425"/>
                </a:lnTo>
                <a:lnTo>
                  <a:pt x="105170" y="870649"/>
                </a:lnTo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197840" y="3767011"/>
            <a:ext cx="387985" cy="1058545"/>
          </a:xfrm>
          <a:custGeom>
            <a:avLst/>
            <a:gdLst/>
            <a:ahLst/>
            <a:cxnLst/>
            <a:rect l="l" t="t" r="r" b="b"/>
            <a:pathLst>
              <a:path w="387985" h="1058545">
                <a:moveTo>
                  <a:pt x="105052" y="870649"/>
                </a:moveTo>
                <a:lnTo>
                  <a:pt x="0" y="0"/>
                </a:lnTo>
                <a:lnTo>
                  <a:pt x="387877" y="210962"/>
                </a:lnTo>
                <a:lnTo>
                  <a:pt x="316815" y="1058425"/>
                </a:lnTo>
                <a:lnTo>
                  <a:pt x="105052" y="870649"/>
                </a:lnTo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363649" y="3368357"/>
            <a:ext cx="153035" cy="467995"/>
          </a:xfrm>
          <a:custGeom>
            <a:avLst/>
            <a:gdLst/>
            <a:ahLst/>
            <a:cxnLst/>
            <a:rect l="l" t="t" r="r" b="b"/>
            <a:pathLst>
              <a:path w="153035" h="467995">
                <a:moveTo>
                  <a:pt x="76272" y="0"/>
                </a:moveTo>
                <a:lnTo>
                  <a:pt x="37759" y="31949"/>
                </a:lnTo>
                <a:lnTo>
                  <a:pt x="22325" y="68539"/>
                </a:lnTo>
                <a:lnTo>
                  <a:pt x="10404" y="115897"/>
                </a:lnTo>
                <a:lnTo>
                  <a:pt x="2721" y="171793"/>
                </a:lnTo>
                <a:lnTo>
                  <a:pt x="0" y="233995"/>
                </a:lnTo>
                <a:lnTo>
                  <a:pt x="2721" y="296197"/>
                </a:lnTo>
                <a:lnTo>
                  <a:pt x="10404" y="352093"/>
                </a:lnTo>
                <a:lnTo>
                  <a:pt x="22325" y="399451"/>
                </a:lnTo>
                <a:lnTo>
                  <a:pt x="37759" y="436041"/>
                </a:lnTo>
                <a:lnTo>
                  <a:pt x="76272" y="467990"/>
                </a:lnTo>
                <a:lnTo>
                  <a:pt x="96512" y="459631"/>
                </a:lnTo>
                <a:lnTo>
                  <a:pt x="130116" y="399451"/>
                </a:lnTo>
                <a:lnTo>
                  <a:pt x="142026" y="352093"/>
                </a:lnTo>
                <a:lnTo>
                  <a:pt x="149705" y="296197"/>
                </a:lnTo>
                <a:lnTo>
                  <a:pt x="152426" y="233995"/>
                </a:lnTo>
                <a:lnTo>
                  <a:pt x="149705" y="171793"/>
                </a:lnTo>
                <a:lnTo>
                  <a:pt x="142026" y="115897"/>
                </a:lnTo>
                <a:lnTo>
                  <a:pt x="130116" y="68539"/>
                </a:lnTo>
                <a:lnTo>
                  <a:pt x="114702" y="31949"/>
                </a:lnTo>
                <a:lnTo>
                  <a:pt x="76272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363650" y="3368357"/>
            <a:ext cx="153035" cy="467995"/>
          </a:xfrm>
          <a:custGeom>
            <a:avLst/>
            <a:gdLst/>
            <a:ahLst/>
            <a:cxnLst/>
            <a:rect l="l" t="t" r="r" b="b"/>
            <a:pathLst>
              <a:path w="153035" h="467995">
                <a:moveTo>
                  <a:pt x="76272" y="0"/>
                </a:moveTo>
                <a:lnTo>
                  <a:pt x="37759" y="31949"/>
                </a:lnTo>
                <a:lnTo>
                  <a:pt x="22325" y="68539"/>
                </a:lnTo>
                <a:lnTo>
                  <a:pt x="10404" y="115897"/>
                </a:lnTo>
                <a:lnTo>
                  <a:pt x="2721" y="171793"/>
                </a:lnTo>
                <a:lnTo>
                  <a:pt x="0" y="233995"/>
                </a:lnTo>
                <a:lnTo>
                  <a:pt x="2721" y="296197"/>
                </a:lnTo>
                <a:lnTo>
                  <a:pt x="10404" y="352093"/>
                </a:lnTo>
                <a:lnTo>
                  <a:pt x="22325" y="399451"/>
                </a:lnTo>
                <a:lnTo>
                  <a:pt x="37759" y="436041"/>
                </a:lnTo>
                <a:lnTo>
                  <a:pt x="76272" y="467990"/>
                </a:lnTo>
                <a:lnTo>
                  <a:pt x="96512" y="459631"/>
                </a:lnTo>
                <a:lnTo>
                  <a:pt x="130116" y="399451"/>
                </a:lnTo>
                <a:lnTo>
                  <a:pt x="142026" y="352093"/>
                </a:lnTo>
                <a:lnTo>
                  <a:pt x="149705" y="296197"/>
                </a:lnTo>
                <a:lnTo>
                  <a:pt x="152426" y="233995"/>
                </a:lnTo>
                <a:lnTo>
                  <a:pt x="149705" y="171793"/>
                </a:lnTo>
                <a:lnTo>
                  <a:pt x="142026" y="115897"/>
                </a:lnTo>
                <a:lnTo>
                  <a:pt x="130116" y="68539"/>
                </a:lnTo>
                <a:lnTo>
                  <a:pt x="114702" y="31949"/>
                </a:lnTo>
                <a:lnTo>
                  <a:pt x="76272" y="0"/>
                </a:lnTo>
                <a:close/>
              </a:path>
            </a:pathLst>
          </a:custGeom>
          <a:ln w="23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351806" y="3356545"/>
            <a:ext cx="176530" cy="492125"/>
          </a:xfrm>
          <a:custGeom>
            <a:avLst/>
            <a:gdLst/>
            <a:ahLst/>
            <a:cxnLst/>
            <a:rect l="l" t="t" r="r" b="b"/>
            <a:pathLst>
              <a:path w="176529" h="492125">
                <a:moveTo>
                  <a:pt x="88116" y="0"/>
                </a:moveTo>
                <a:lnTo>
                  <a:pt x="43636" y="33541"/>
                </a:lnTo>
                <a:lnTo>
                  <a:pt x="25804" y="71964"/>
                </a:lnTo>
                <a:lnTo>
                  <a:pt x="12027" y="121707"/>
                </a:lnTo>
                <a:lnTo>
                  <a:pt x="3146" y="180433"/>
                </a:lnTo>
                <a:lnTo>
                  <a:pt x="0" y="245807"/>
                </a:lnTo>
                <a:lnTo>
                  <a:pt x="3146" y="311140"/>
                </a:lnTo>
                <a:lnTo>
                  <a:pt x="12027" y="369855"/>
                </a:lnTo>
                <a:lnTo>
                  <a:pt x="25804" y="419606"/>
                </a:lnTo>
                <a:lnTo>
                  <a:pt x="43636" y="458047"/>
                </a:lnTo>
                <a:lnTo>
                  <a:pt x="88116" y="491614"/>
                </a:lnTo>
                <a:lnTo>
                  <a:pt x="111495" y="482831"/>
                </a:lnTo>
                <a:lnTo>
                  <a:pt x="150324" y="419606"/>
                </a:lnTo>
                <a:lnTo>
                  <a:pt x="164090" y="369855"/>
                </a:lnTo>
                <a:lnTo>
                  <a:pt x="172967" y="311140"/>
                </a:lnTo>
                <a:lnTo>
                  <a:pt x="176113" y="245807"/>
                </a:lnTo>
                <a:lnTo>
                  <a:pt x="172967" y="180433"/>
                </a:lnTo>
                <a:lnTo>
                  <a:pt x="164090" y="121707"/>
                </a:lnTo>
                <a:lnTo>
                  <a:pt x="150324" y="71964"/>
                </a:lnTo>
                <a:lnTo>
                  <a:pt x="132512" y="33541"/>
                </a:lnTo>
                <a:lnTo>
                  <a:pt x="88116" y="0"/>
                </a:lnTo>
                <a:close/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573873" y="4013527"/>
            <a:ext cx="528955" cy="447675"/>
          </a:xfrm>
          <a:custGeom>
            <a:avLst/>
            <a:gdLst/>
            <a:ahLst/>
            <a:cxnLst/>
            <a:rect l="l" t="t" r="r" b="b"/>
            <a:pathLst>
              <a:path w="528954" h="447675">
                <a:moveTo>
                  <a:pt x="0" y="0"/>
                </a:moveTo>
                <a:lnTo>
                  <a:pt x="140583" y="375975"/>
                </a:lnTo>
                <a:lnTo>
                  <a:pt x="528460" y="447201"/>
                </a:lnTo>
              </a:path>
            </a:pathLst>
          </a:custGeom>
          <a:ln w="236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585716" y="4001715"/>
            <a:ext cx="528955" cy="446405"/>
          </a:xfrm>
          <a:custGeom>
            <a:avLst/>
            <a:gdLst/>
            <a:ahLst/>
            <a:cxnLst/>
            <a:rect l="l" t="t" r="r" b="b"/>
            <a:pathLst>
              <a:path w="528954" h="446404">
                <a:moveTo>
                  <a:pt x="0" y="0"/>
                </a:moveTo>
                <a:lnTo>
                  <a:pt x="140583" y="376093"/>
                </a:lnTo>
                <a:lnTo>
                  <a:pt x="528460" y="445784"/>
                </a:lnTo>
              </a:path>
            </a:pathLst>
          </a:custGeom>
          <a:ln w="236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316276" y="4602662"/>
            <a:ext cx="422275" cy="493395"/>
          </a:xfrm>
          <a:custGeom>
            <a:avLst/>
            <a:gdLst/>
            <a:ahLst/>
            <a:cxnLst/>
            <a:rect l="l" t="t" r="r" b="b"/>
            <a:pathLst>
              <a:path w="422275" h="493395">
                <a:moveTo>
                  <a:pt x="0" y="69714"/>
                </a:moveTo>
                <a:lnTo>
                  <a:pt x="316815" y="0"/>
                </a:lnTo>
                <a:lnTo>
                  <a:pt x="257597" y="492973"/>
                </a:lnTo>
                <a:lnTo>
                  <a:pt x="421868" y="446493"/>
                </a:lnTo>
              </a:path>
            </a:pathLst>
          </a:custGeom>
          <a:ln w="23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328119" y="4590850"/>
            <a:ext cx="422275" cy="493395"/>
          </a:xfrm>
          <a:custGeom>
            <a:avLst/>
            <a:gdLst/>
            <a:ahLst/>
            <a:cxnLst/>
            <a:rect l="l" t="t" r="r" b="b"/>
            <a:pathLst>
              <a:path w="422275" h="493395">
                <a:moveTo>
                  <a:pt x="0" y="69714"/>
                </a:moveTo>
                <a:lnTo>
                  <a:pt x="316815" y="0"/>
                </a:lnTo>
                <a:lnTo>
                  <a:pt x="257597" y="492973"/>
                </a:lnTo>
                <a:lnTo>
                  <a:pt x="421868" y="446493"/>
                </a:lnTo>
              </a:path>
            </a:pathLst>
          </a:custGeom>
          <a:ln w="23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468702" y="4731118"/>
            <a:ext cx="422275" cy="506730"/>
          </a:xfrm>
          <a:custGeom>
            <a:avLst/>
            <a:gdLst/>
            <a:ahLst/>
            <a:cxnLst/>
            <a:rect l="l" t="t" r="r" b="b"/>
            <a:pathLst>
              <a:path w="422275" h="506729">
                <a:moveTo>
                  <a:pt x="0" y="82990"/>
                </a:moveTo>
                <a:lnTo>
                  <a:pt x="316815" y="0"/>
                </a:lnTo>
                <a:lnTo>
                  <a:pt x="269441" y="506261"/>
                </a:lnTo>
                <a:lnTo>
                  <a:pt x="421986" y="448158"/>
                </a:lnTo>
              </a:path>
            </a:pathLst>
          </a:custGeom>
          <a:ln w="23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480546" y="4719306"/>
            <a:ext cx="422275" cy="506730"/>
          </a:xfrm>
          <a:custGeom>
            <a:avLst/>
            <a:gdLst/>
            <a:ahLst/>
            <a:cxnLst/>
            <a:rect l="l" t="t" r="r" b="b"/>
            <a:pathLst>
              <a:path w="422275" h="506729">
                <a:moveTo>
                  <a:pt x="0" y="82990"/>
                </a:moveTo>
                <a:lnTo>
                  <a:pt x="316815" y="0"/>
                </a:lnTo>
                <a:lnTo>
                  <a:pt x="269441" y="506261"/>
                </a:lnTo>
                <a:lnTo>
                  <a:pt x="421986" y="448158"/>
                </a:lnTo>
              </a:path>
            </a:pathLst>
          </a:custGeom>
          <a:ln w="23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187417" y="3778823"/>
            <a:ext cx="386715" cy="1058545"/>
          </a:xfrm>
          <a:custGeom>
            <a:avLst/>
            <a:gdLst/>
            <a:ahLst/>
            <a:cxnLst/>
            <a:rect l="l" t="t" r="r" b="b"/>
            <a:pathLst>
              <a:path w="386714" h="1058545">
                <a:moveTo>
                  <a:pt x="0" y="0"/>
                </a:moveTo>
                <a:lnTo>
                  <a:pt x="105170" y="870649"/>
                </a:lnTo>
                <a:lnTo>
                  <a:pt x="316815" y="1058425"/>
                </a:lnTo>
                <a:lnTo>
                  <a:pt x="386455" y="210962"/>
                </a:lnTo>
                <a:lnTo>
                  <a:pt x="0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187417" y="3778823"/>
            <a:ext cx="386715" cy="1058545"/>
          </a:xfrm>
          <a:custGeom>
            <a:avLst/>
            <a:gdLst/>
            <a:ahLst/>
            <a:cxnLst/>
            <a:rect l="l" t="t" r="r" b="b"/>
            <a:pathLst>
              <a:path w="386714" h="1058545">
                <a:moveTo>
                  <a:pt x="105170" y="870649"/>
                </a:moveTo>
                <a:lnTo>
                  <a:pt x="0" y="0"/>
                </a:lnTo>
                <a:lnTo>
                  <a:pt x="386455" y="210962"/>
                </a:lnTo>
                <a:lnTo>
                  <a:pt x="316815" y="1058425"/>
                </a:lnTo>
                <a:lnTo>
                  <a:pt x="105170" y="870649"/>
                </a:lnTo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197840" y="3767011"/>
            <a:ext cx="387985" cy="1058545"/>
          </a:xfrm>
          <a:custGeom>
            <a:avLst/>
            <a:gdLst/>
            <a:ahLst/>
            <a:cxnLst/>
            <a:rect l="l" t="t" r="r" b="b"/>
            <a:pathLst>
              <a:path w="387985" h="1058545">
                <a:moveTo>
                  <a:pt x="105052" y="870649"/>
                </a:moveTo>
                <a:lnTo>
                  <a:pt x="0" y="0"/>
                </a:lnTo>
                <a:lnTo>
                  <a:pt x="387877" y="210962"/>
                </a:lnTo>
                <a:lnTo>
                  <a:pt x="316815" y="1058425"/>
                </a:lnTo>
                <a:lnTo>
                  <a:pt x="105052" y="870649"/>
                </a:lnTo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363649" y="3368357"/>
            <a:ext cx="153035" cy="467995"/>
          </a:xfrm>
          <a:custGeom>
            <a:avLst/>
            <a:gdLst/>
            <a:ahLst/>
            <a:cxnLst/>
            <a:rect l="l" t="t" r="r" b="b"/>
            <a:pathLst>
              <a:path w="153035" h="467995">
                <a:moveTo>
                  <a:pt x="76272" y="0"/>
                </a:moveTo>
                <a:lnTo>
                  <a:pt x="37759" y="31949"/>
                </a:lnTo>
                <a:lnTo>
                  <a:pt x="22325" y="68539"/>
                </a:lnTo>
                <a:lnTo>
                  <a:pt x="10404" y="115897"/>
                </a:lnTo>
                <a:lnTo>
                  <a:pt x="2721" y="171793"/>
                </a:lnTo>
                <a:lnTo>
                  <a:pt x="0" y="233995"/>
                </a:lnTo>
                <a:lnTo>
                  <a:pt x="2721" y="296197"/>
                </a:lnTo>
                <a:lnTo>
                  <a:pt x="10404" y="352093"/>
                </a:lnTo>
                <a:lnTo>
                  <a:pt x="22325" y="399451"/>
                </a:lnTo>
                <a:lnTo>
                  <a:pt x="37759" y="436041"/>
                </a:lnTo>
                <a:lnTo>
                  <a:pt x="76272" y="467990"/>
                </a:lnTo>
                <a:lnTo>
                  <a:pt x="96512" y="459631"/>
                </a:lnTo>
                <a:lnTo>
                  <a:pt x="130116" y="399451"/>
                </a:lnTo>
                <a:lnTo>
                  <a:pt x="142026" y="352093"/>
                </a:lnTo>
                <a:lnTo>
                  <a:pt x="149705" y="296197"/>
                </a:lnTo>
                <a:lnTo>
                  <a:pt x="152426" y="233995"/>
                </a:lnTo>
                <a:lnTo>
                  <a:pt x="149705" y="171793"/>
                </a:lnTo>
                <a:lnTo>
                  <a:pt x="142026" y="115897"/>
                </a:lnTo>
                <a:lnTo>
                  <a:pt x="130116" y="68539"/>
                </a:lnTo>
                <a:lnTo>
                  <a:pt x="114702" y="31949"/>
                </a:lnTo>
                <a:lnTo>
                  <a:pt x="76272" y="0"/>
                </a:lnTo>
                <a:close/>
              </a:path>
            </a:pathLst>
          </a:custGeom>
          <a:solidFill>
            <a:srgbClr val="B50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363650" y="3368357"/>
            <a:ext cx="153035" cy="467995"/>
          </a:xfrm>
          <a:custGeom>
            <a:avLst/>
            <a:gdLst/>
            <a:ahLst/>
            <a:cxnLst/>
            <a:rect l="l" t="t" r="r" b="b"/>
            <a:pathLst>
              <a:path w="153035" h="467995">
                <a:moveTo>
                  <a:pt x="76272" y="0"/>
                </a:moveTo>
                <a:lnTo>
                  <a:pt x="37759" y="31949"/>
                </a:lnTo>
                <a:lnTo>
                  <a:pt x="22325" y="68539"/>
                </a:lnTo>
                <a:lnTo>
                  <a:pt x="10404" y="115897"/>
                </a:lnTo>
                <a:lnTo>
                  <a:pt x="2721" y="171793"/>
                </a:lnTo>
                <a:lnTo>
                  <a:pt x="0" y="233995"/>
                </a:lnTo>
                <a:lnTo>
                  <a:pt x="2721" y="296197"/>
                </a:lnTo>
                <a:lnTo>
                  <a:pt x="10404" y="352093"/>
                </a:lnTo>
                <a:lnTo>
                  <a:pt x="22325" y="399451"/>
                </a:lnTo>
                <a:lnTo>
                  <a:pt x="37759" y="436041"/>
                </a:lnTo>
                <a:lnTo>
                  <a:pt x="76272" y="467990"/>
                </a:lnTo>
                <a:lnTo>
                  <a:pt x="96512" y="459631"/>
                </a:lnTo>
                <a:lnTo>
                  <a:pt x="130116" y="399451"/>
                </a:lnTo>
                <a:lnTo>
                  <a:pt x="142026" y="352093"/>
                </a:lnTo>
                <a:lnTo>
                  <a:pt x="149705" y="296197"/>
                </a:lnTo>
                <a:lnTo>
                  <a:pt x="152426" y="233995"/>
                </a:lnTo>
                <a:lnTo>
                  <a:pt x="149705" y="171793"/>
                </a:lnTo>
                <a:lnTo>
                  <a:pt x="142026" y="115897"/>
                </a:lnTo>
                <a:lnTo>
                  <a:pt x="130116" y="68539"/>
                </a:lnTo>
                <a:lnTo>
                  <a:pt x="114702" y="31949"/>
                </a:lnTo>
                <a:lnTo>
                  <a:pt x="76272" y="0"/>
                </a:lnTo>
                <a:close/>
              </a:path>
            </a:pathLst>
          </a:custGeom>
          <a:ln w="23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351806" y="3356545"/>
            <a:ext cx="176530" cy="492125"/>
          </a:xfrm>
          <a:custGeom>
            <a:avLst/>
            <a:gdLst/>
            <a:ahLst/>
            <a:cxnLst/>
            <a:rect l="l" t="t" r="r" b="b"/>
            <a:pathLst>
              <a:path w="176529" h="492125">
                <a:moveTo>
                  <a:pt x="88116" y="0"/>
                </a:moveTo>
                <a:lnTo>
                  <a:pt x="43636" y="33541"/>
                </a:lnTo>
                <a:lnTo>
                  <a:pt x="25804" y="71964"/>
                </a:lnTo>
                <a:lnTo>
                  <a:pt x="12027" y="121707"/>
                </a:lnTo>
                <a:lnTo>
                  <a:pt x="3146" y="180433"/>
                </a:lnTo>
                <a:lnTo>
                  <a:pt x="0" y="245807"/>
                </a:lnTo>
                <a:lnTo>
                  <a:pt x="3146" y="311140"/>
                </a:lnTo>
                <a:lnTo>
                  <a:pt x="12027" y="369855"/>
                </a:lnTo>
                <a:lnTo>
                  <a:pt x="25804" y="419606"/>
                </a:lnTo>
                <a:lnTo>
                  <a:pt x="43636" y="458047"/>
                </a:lnTo>
                <a:lnTo>
                  <a:pt x="88116" y="491614"/>
                </a:lnTo>
                <a:lnTo>
                  <a:pt x="111495" y="482831"/>
                </a:lnTo>
                <a:lnTo>
                  <a:pt x="150324" y="419606"/>
                </a:lnTo>
                <a:lnTo>
                  <a:pt x="164090" y="369855"/>
                </a:lnTo>
                <a:lnTo>
                  <a:pt x="172967" y="311140"/>
                </a:lnTo>
                <a:lnTo>
                  <a:pt x="176113" y="245807"/>
                </a:lnTo>
                <a:lnTo>
                  <a:pt x="172967" y="180433"/>
                </a:lnTo>
                <a:lnTo>
                  <a:pt x="164090" y="121707"/>
                </a:lnTo>
                <a:lnTo>
                  <a:pt x="150324" y="71964"/>
                </a:lnTo>
                <a:lnTo>
                  <a:pt x="132512" y="33541"/>
                </a:lnTo>
                <a:lnTo>
                  <a:pt x="88116" y="0"/>
                </a:lnTo>
                <a:close/>
              </a:path>
            </a:pathLst>
          </a:custGeom>
          <a:ln w="23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573873" y="4013527"/>
            <a:ext cx="528955" cy="447675"/>
          </a:xfrm>
          <a:custGeom>
            <a:avLst/>
            <a:gdLst/>
            <a:ahLst/>
            <a:cxnLst/>
            <a:rect l="l" t="t" r="r" b="b"/>
            <a:pathLst>
              <a:path w="528954" h="447675">
                <a:moveTo>
                  <a:pt x="0" y="0"/>
                </a:moveTo>
                <a:lnTo>
                  <a:pt x="140583" y="375975"/>
                </a:lnTo>
                <a:lnTo>
                  <a:pt x="528460" y="447201"/>
                </a:lnTo>
              </a:path>
            </a:pathLst>
          </a:custGeom>
          <a:ln w="236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585716" y="4001715"/>
            <a:ext cx="528955" cy="446405"/>
          </a:xfrm>
          <a:custGeom>
            <a:avLst/>
            <a:gdLst/>
            <a:ahLst/>
            <a:cxnLst/>
            <a:rect l="l" t="t" r="r" b="b"/>
            <a:pathLst>
              <a:path w="528954" h="446404">
                <a:moveTo>
                  <a:pt x="0" y="0"/>
                </a:moveTo>
                <a:lnTo>
                  <a:pt x="140583" y="376093"/>
                </a:lnTo>
                <a:lnTo>
                  <a:pt x="528460" y="445784"/>
                </a:lnTo>
              </a:path>
            </a:pathLst>
          </a:custGeom>
          <a:ln w="236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4191891" y="5306924"/>
            <a:ext cx="742315" cy="309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b="1" spc="20" dirty="0">
                <a:latin typeface="宋体"/>
                <a:cs typeface="宋体"/>
              </a:rPr>
              <a:t>观察员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5376275" y="3365404"/>
            <a:ext cx="257810" cy="504825"/>
          </a:xfrm>
          <a:custGeom>
            <a:avLst/>
            <a:gdLst/>
            <a:ahLst/>
            <a:cxnLst/>
            <a:rect l="l" t="t" r="r" b="b"/>
            <a:pathLst>
              <a:path w="257810" h="504825">
                <a:moveTo>
                  <a:pt x="0" y="0"/>
                </a:moveTo>
                <a:lnTo>
                  <a:pt x="0" y="410112"/>
                </a:lnTo>
                <a:lnTo>
                  <a:pt x="176113" y="504726"/>
                </a:lnTo>
                <a:lnTo>
                  <a:pt x="257597" y="117883"/>
                </a:lnTo>
                <a:lnTo>
                  <a:pt x="0" y="0"/>
                </a:lnTo>
                <a:close/>
              </a:path>
            </a:pathLst>
          </a:custGeom>
          <a:solidFill>
            <a:srgbClr val="790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376275" y="3365404"/>
            <a:ext cx="257810" cy="504825"/>
          </a:xfrm>
          <a:custGeom>
            <a:avLst/>
            <a:gdLst/>
            <a:ahLst/>
            <a:cxnLst/>
            <a:rect l="l" t="t" r="r" b="b"/>
            <a:pathLst>
              <a:path w="257810" h="504825">
                <a:moveTo>
                  <a:pt x="0" y="410112"/>
                </a:moveTo>
                <a:lnTo>
                  <a:pt x="0" y="0"/>
                </a:lnTo>
                <a:lnTo>
                  <a:pt x="257597" y="117883"/>
                </a:lnTo>
                <a:lnTo>
                  <a:pt x="176113" y="504726"/>
                </a:lnTo>
                <a:lnTo>
                  <a:pt x="0" y="410112"/>
                </a:lnTo>
              </a:path>
            </a:pathLst>
          </a:custGeom>
          <a:ln w="236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457640" y="2990373"/>
            <a:ext cx="95250" cy="419734"/>
          </a:xfrm>
          <a:custGeom>
            <a:avLst/>
            <a:gdLst/>
            <a:ahLst/>
            <a:cxnLst/>
            <a:rect l="l" t="t" r="r" b="b"/>
            <a:pathLst>
              <a:path w="95250" h="419735">
                <a:moveTo>
                  <a:pt x="47374" y="0"/>
                </a:moveTo>
                <a:lnTo>
                  <a:pt x="19391" y="40429"/>
                </a:lnTo>
                <a:lnTo>
                  <a:pt x="9137" y="85803"/>
                </a:lnTo>
                <a:lnTo>
                  <a:pt x="2414" y="143361"/>
                </a:lnTo>
                <a:lnTo>
                  <a:pt x="0" y="209662"/>
                </a:lnTo>
                <a:lnTo>
                  <a:pt x="2414" y="275918"/>
                </a:lnTo>
                <a:lnTo>
                  <a:pt x="9137" y="333471"/>
                </a:lnTo>
                <a:lnTo>
                  <a:pt x="19391" y="378862"/>
                </a:lnTo>
                <a:lnTo>
                  <a:pt x="32396" y="408633"/>
                </a:lnTo>
                <a:lnTo>
                  <a:pt x="47374" y="419325"/>
                </a:lnTo>
                <a:lnTo>
                  <a:pt x="62352" y="408633"/>
                </a:lnTo>
                <a:lnTo>
                  <a:pt x="75357" y="378862"/>
                </a:lnTo>
                <a:lnTo>
                  <a:pt x="85611" y="333471"/>
                </a:lnTo>
                <a:lnTo>
                  <a:pt x="92334" y="275918"/>
                </a:lnTo>
                <a:lnTo>
                  <a:pt x="94748" y="209662"/>
                </a:lnTo>
                <a:lnTo>
                  <a:pt x="92334" y="143361"/>
                </a:lnTo>
                <a:lnTo>
                  <a:pt x="85611" y="85803"/>
                </a:lnTo>
                <a:lnTo>
                  <a:pt x="75357" y="40429"/>
                </a:lnTo>
                <a:lnTo>
                  <a:pt x="62352" y="10680"/>
                </a:lnTo>
                <a:lnTo>
                  <a:pt x="473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457640" y="2990373"/>
            <a:ext cx="95250" cy="419734"/>
          </a:xfrm>
          <a:custGeom>
            <a:avLst/>
            <a:gdLst/>
            <a:ahLst/>
            <a:cxnLst/>
            <a:rect l="l" t="t" r="r" b="b"/>
            <a:pathLst>
              <a:path w="95250" h="419735">
                <a:moveTo>
                  <a:pt x="47374" y="0"/>
                </a:moveTo>
                <a:lnTo>
                  <a:pt x="19391" y="40429"/>
                </a:lnTo>
                <a:lnTo>
                  <a:pt x="9137" y="85803"/>
                </a:lnTo>
                <a:lnTo>
                  <a:pt x="2414" y="143361"/>
                </a:lnTo>
                <a:lnTo>
                  <a:pt x="0" y="209662"/>
                </a:lnTo>
                <a:lnTo>
                  <a:pt x="2414" y="275918"/>
                </a:lnTo>
                <a:lnTo>
                  <a:pt x="9137" y="333471"/>
                </a:lnTo>
                <a:lnTo>
                  <a:pt x="19391" y="378862"/>
                </a:lnTo>
                <a:lnTo>
                  <a:pt x="32396" y="408633"/>
                </a:lnTo>
                <a:lnTo>
                  <a:pt x="47374" y="419325"/>
                </a:lnTo>
                <a:lnTo>
                  <a:pt x="62352" y="408633"/>
                </a:lnTo>
                <a:lnTo>
                  <a:pt x="75357" y="378862"/>
                </a:lnTo>
                <a:lnTo>
                  <a:pt x="85611" y="333471"/>
                </a:lnTo>
                <a:lnTo>
                  <a:pt x="92334" y="275918"/>
                </a:lnTo>
                <a:lnTo>
                  <a:pt x="94748" y="209662"/>
                </a:lnTo>
                <a:lnTo>
                  <a:pt x="92334" y="143361"/>
                </a:lnTo>
                <a:lnTo>
                  <a:pt x="85611" y="85803"/>
                </a:lnTo>
                <a:lnTo>
                  <a:pt x="75357" y="40429"/>
                </a:lnTo>
                <a:lnTo>
                  <a:pt x="62352" y="10680"/>
                </a:lnTo>
                <a:lnTo>
                  <a:pt x="47374" y="0"/>
                </a:lnTo>
                <a:close/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445797" y="2978561"/>
            <a:ext cx="118745" cy="444500"/>
          </a:xfrm>
          <a:custGeom>
            <a:avLst/>
            <a:gdLst/>
            <a:ahLst/>
            <a:cxnLst/>
            <a:rect l="l" t="t" r="r" b="b"/>
            <a:pathLst>
              <a:path w="118745" h="444500">
                <a:moveTo>
                  <a:pt x="59217" y="0"/>
                </a:moveTo>
                <a:lnTo>
                  <a:pt x="24251" y="42863"/>
                </a:lnTo>
                <a:lnTo>
                  <a:pt x="11430" y="90957"/>
                </a:lnTo>
                <a:lnTo>
                  <a:pt x="3020" y="151949"/>
                </a:lnTo>
                <a:lnTo>
                  <a:pt x="0" y="222183"/>
                </a:lnTo>
                <a:lnTo>
                  <a:pt x="3020" y="292417"/>
                </a:lnTo>
                <a:lnTo>
                  <a:pt x="11430" y="353409"/>
                </a:lnTo>
                <a:lnTo>
                  <a:pt x="24251" y="401503"/>
                </a:lnTo>
                <a:lnTo>
                  <a:pt x="40506" y="433041"/>
                </a:lnTo>
                <a:lnTo>
                  <a:pt x="59217" y="444366"/>
                </a:lnTo>
                <a:lnTo>
                  <a:pt x="77928" y="433041"/>
                </a:lnTo>
                <a:lnTo>
                  <a:pt x="94183" y="401503"/>
                </a:lnTo>
                <a:lnTo>
                  <a:pt x="107005" y="353409"/>
                </a:lnTo>
                <a:lnTo>
                  <a:pt x="115415" y="292417"/>
                </a:lnTo>
                <a:lnTo>
                  <a:pt x="118435" y="222183"/>
                </a:lnTo>
                <a:lnTo>
                  <a:pt x="115415" y="151949"/>
                </a:lnTo>
                <a:lnTo>
                  <a:pt x="107005" y="90957"/>
                </a:lnTo>
                <a:lnTo>
                  <a:pt x="94183" y="42863"/>
                </a:lnTo>
                <a:lnTo>
                  <a:pt x="77928" y="11325"/>
                </a:lnTo>
                <a:lnTo>
                  <a:pt x="59217" y="0"/>
                </a:lnTo>
                <a:close/>
              </a:path>
            </a:pathLst>
          </a:custGeom>
          <a:solidFill>
            <a:srgbClr val="99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445797" y="2978561"/>
            <a:ext cx="118745" cy="444500"/>
          </a:xfrm>
          <a:custGeom>
            <a:avLst/>
            <a:gdLst/>
            <a:ahLst/>
            <a:cxnLst/>
            <a:rect l="l" t="t" r="r" b="b"/>
            <a:pathLst>
              <a:path w="118745" h="444500">
                <a:moveTo>
                  <a:pt x="59217" y="0"/>
                </a:moveTo>
                <a:lnTo>
                  <a:pt x="24251" y="42863"/>
                </a:lnTo>
                <a:lnTo>
                  <a:pt x="11430" y="90957"/>
                </a:lnTo>
                <a:lnTo>
                  <a:pt x="3020" y="151949"/>
                </a:lnTo>
                <a:lnTo>
                  <a:pt x="0" y="222183"/>
                </a:lnTo>
                <a:lnTo>
                  <a:pt x="3020" y="292417"/>
                </a:lnTo>
                <a:lnTo>
                  <a:pt x="11430" y="353409"/>
                </a:lnTo>
                <a:lnTo>
                  <a:pt x="24251" y="401503"/>
                </a:lnTo>
                <a:lnTo>
                  <a:pt x="40506" y="433041"/>
                </a:lnTo>
                <a:lnTo>
                  <a:pt x="59217" y="444366"/>
                </a:lnTo>
                <a:lnTo>
                  <a:pt x="77928" y="433041"/>
                </a:lnTo>
                <a:lnTo>
                  <a:pt x="94183" y="401503"/>
                </a:lnTo>
                <a:lnTo>
                  <a:pt x="107005" y="353409"/>
                </a:lnTo>
                <a:lnTo>
                  <a:pt x="115415" y="292417"/>
                </a:lnTo>
                <a:lnTo>
                  <a:pt x="118435" y="222183"/>
                </a:lnTo>
                <a:lnTo>
                  <a:pt x="115415" y="151949"/>
                </a:lnTo>
                <a:lnTo>
                  <a:pt x="107005" y="90957"/>
                </a:lnTo>
                <a:lnTo>
                  <a:pt x="94183" y="42863"/>
                </a:lnTo>
                <a:lnTo>
                  <a:pt x="77928" y="11325"/>
                </a:lnTo>
                <a:lnTo>
                  <a:pt x="59217" y="0"/>
                </a:lnTo>
                <a:close/>
              </a:path>
            </a:pathLst>
          </a:custGeom>
          <a:ln w="236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364432" y="3481988"/>
            <a:ext cx="293370" cy="506730"/>
          </a:xfrm>
          <a:custGeom>
            <a:avLst/>
            <a:gdLst/>
            <a:ahLst/>
            <a:cxnLst/>
            <a:rect l="l" t="t" r="r" b="b"/>
            <a:pathLst>
              <a:path w="293370" h="506729">
                <a:moveTo>
                  <a:pt x="293128" y="0"/>
                </a:moveTo>
                <a:lnTo>
                  <a:pt x="211644" y="258918"/>
                </a:lnTo>
                <a:lnTo>
                  <a:pt x="0" y="506261"/>
                </a:lnTo>
              </a:path>
            </a:pathLst>
          </a:custGeom>
          <a:ln w="23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352588" y="3470176"/>
            <a:ext cx="293370" cy="506730"/>
          </a:xfrm>
          <a:custGeom>
            <a:avLst/>
            <a:gdLst/>
            <a:ahLst/>
            <a:cxnLst/>
            <a:rect l="l" t="t" r="r" b="b"/>
            <a:pathLst>
              <a:path w="293370" h="506729">
                <a:moveTo>
                  <a:pt x="293128" y="0"/>
                </a:moveTo>
                <a:lnTo>
                  <a:pt x="211644" y="258918"/>
                </a:lnTo>
                <a:lnTo>
                  <a:pt x="0" y="506261"/>
                </a:lnTo>
              </a:path>
            </a:pathLst>
          </a:custGeom>
          <a:ln w="23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81527" y="3377216"/>
            <a:ext cx="106680" cy="528955"/>
          </a:xfrm>
          <a:custGeom>
            <a:avLst/>
            <a:gdLst/>
            <a:ahLst/>
            <a:cxnLst/>
            <a:rect l="l" t="t" r="r" b="b"/>
            <a:pathLst>
              <a:path w="106679" h="528954">
                <a:moveTo>
                  <a:pt x="106592" y="0"/>
                </a:moveTo>
                <a:lnTo>
                  <a:pt x="23687" y="234231"/>
                </a:lnTo>
                <a:lnTo>
                  <a:pt x="0" y="528350"/>
                </a:lnTo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69683" y="3365404"/>
            <a:ext cx="106680" cy="528955"/>
          </a:xfrm>
          <a:custGeom>
            <a:avLst/>
            <a:gdLst/>
            <a:ahLst/>
            <a:cxnLst/>
            <a:rect l="l" t="t" r="r" b="b"/>
            <a:pathLst>
              <a:path w="106679" h="528954">
                <a:moveTo>
                  <a:pt x="106592" y="0"/>
                </a:moveTo>
                <a:lnTo>
                  <a:pt x="23687" y="234231"/>
                </a:lnTo>
                <a:lnTo>
                  <a:pt x="0" y="528350"/>
                </a:lnTo>
              </a:path>
            </a:pathLst>
          </a:custGeom>
          <a:ln w="2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3849137" y="2041100"/>
            <a:ext cx="2476500" cy="9099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b="1" spc="20" dirty="0">
                <a:latin typeface="宋体"/>
                <a:cs typeface="宋体"/>
              </a:rPr>
              <a:t>领域专家</a:t>
            </a:r>
            <a:endParaRPr sz="1850">
              <a:latin typeface="宋体"/>
              <a:cs typeface="宋体"/>
            </a:endParaRPr>
          </a:p>
          <a:p>
            <a:pPr marL="865505">
              <a:lnSpc>
                <a:spcPct val="100000"/>
              </a:lnSpc>
              <a:spcBef>
                <a:spcPts val="15"/>
              </a:spcBef>
            </a:pPr>
            <a:r>
              <a:rPr sz="1850" b="1" spc="20" dirty="0">
                <a:solidFill>
                  <a:srgbClr val="F62B0F"/>
                </a:solidFill>
                <a:latin typeface="宋体"/>
                <a:cs typeface="宋体"/>
              </a:rPr>
              <a:t>用户代表</a:t>
            </a:r>
            <a:endParaRPr sz="1850">
              <a:latin typeface="宋体"/>
              <a:cs typeface="宋体"/>
            </a:endParaRPr>
          </a:p>
          <a:p>
            <a:pPr marL="1508125">
              <a:lnSpc>
                <a:spcPct val="100000"/>
              </a:lnSpc>
              <a:spcBef>
                <a:spcPts val="270"/>
              </a:spcBef>
            </a:pPr>
            <a:r>
              <a:rPr sz="1850" b="1" spc="20" dirty="0">
                <a:solidFill>
                  <a:srgbClr val="F62B0F"/>
                </a:solidFill>
                <a:latin typeface="宋体"/>
                <a:cs typeface="宋体"/>
              </a:rPr>
              <a:t>技术人员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124" name="object 1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685" y="137287"/>
            <a:ext cx="252349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3.1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/>
              <a:t>评审</a:t>
            </a:r>
          </a:p>
          <a:p>
            <a:pPr marL="37973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过程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724" y="2317634"/>
            <a:ext cx="1120140" cy="526415"/>
          </a:xfrm>
          <a:prstGeom prst="rect">
            <a:avLst/>
          </a:prstGeom>
          <a:solidFill>
            <a:srgbClr val="E8EDF7"/>
          </a:solidFill>
          <a:ln w="5571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sz="1450" spc="10" dirty="0">
                <a:latin typeface="宋体"/>
                <a:cs typeface="宋体"/>
              </a:rPr>
              <a:t>规划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0133" y="2317634"/>
            <a:ext cx="1120140" cy="526415"/>
          </a:xfrm>
          <a:prstGeom prst="rect">
            <a:avLst/>
          </a:prstGeom>
          <a:solidFill>
            <a:srgbClr val="E8EDF7"/>
          </a:solidFill>
          <a:ln w="5571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105"/>
              </a:spcBef>
            </a:pPr>
            <a:r>
              <a:rPr sz="1450" spc="10" dirty="0">
                <a:latin typeface="宋体"/>
                <a:cs typeface="宋体"/>
              </a:rPr>
              <a:t>总体部署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0133" y="3501874"/>
            <a:ext cx="1120140" cy="526415"/>
          </a:xfrm>
          <a:prstGeom prst="rect">
            <a:avLst/>
          </a:prstGeom>
          <a:solidFill>
            <a:srgbClr val="E8EDF7"/>
          </a:solidFill>
          <a:ln w="5571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450" spc="10" dirty="0">
                <a:latin typeface="宋体"/>
                <a:cs typeface="宋体"/>
              </a:rPr>
              <a:t>准备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0029" y="3501874"/>
            <a:ext cx="1120140" cy="526415"/>
          </a:xfrm>
          <a:prstGeom prst="rect">
            <a:avLst/>
          </a:prstGeom>
          <a:solidFill>
            <a:srgbClr val="E8EDF7"/>
          </a:solidFill>
          <a:ln w="5571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100"/>
              </a:spcBef>
            </a:pPr>
            <a:r>
              <a:rPr sz="1450" spc="10" dirty="0">
                <a:latin typeface="宋体"/>
                <a:cs typeface="宋体"/>
              </a:rPr>
              <a:t>审查会议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0029" y="4686031"/>
            <a:ext cx="1120140" cy="526415"/>
          </a:xfrm>
          <a:prstGeom prst="rect">
            <a:avLst/>
          </a:prstGeom>
          <a:solidFill>
            <a:srgbClr val="E8EDF7"/>
          </a:solidFill>
          <a:ln w="5571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450" spc="10" dirty="0">
                <a:latin typeface="宋体"/>
                <a:cs typeface="宋体"/>
              </a:rPr>
              <a:t>返工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50017" y="4686031"/>
            <a:ext cx="1120140" cy="526415"/>
          </a:xfrm>
          <a:prstGeom prst="rect">
            <a:avLst/>
          </a:prstGeom>
          <a:solidFill>
            <a:srgbClr val="E8EDF7"/>
          </a:solidFill>
          <a:ln w="5571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450" spc="10" dirty="0">
                <a:latin typeface="宋体"/>
                <a:cs typeface="宋体"/>
              </a:rPr>
              <a:t>跟踪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13695" y="2580744"/>
            <a:ext cx="680085" cy="0"/>
          </a:xfrm>
          <a:custGeom>
            <a:avLst/>
            <a:gdLst/>
            <a:ahLst/>
            <a:cxnLst/>
            <a:rect l="l" t="t" r="r" b="b"/>
            <a:pathLst>
              <a:path w="680085">
                <a:moveTo>
                  <a:pt x="0" y="0"/>
                </a:moveTo>
                <a:lnTo>
                  <a:pt x="680037" y="0"/>
                </a:lnTo>
              </a:path>
            </a:pathLst>
          </a:custGeom>
          <a:ln w="55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77696" y="2516690"/>
            <a:ext cx="193040" cy="128270"/>
          </a:xfrm>
          <a:custGeom>
            <a:avLst/>
            <a:gdLst/>
            <a:ahLst/>
            <a:cxnLst/>
            <a:rect l="l" t="t" r="r" b="b"/>
            <a:pathLst>
              <a:path w="193039" h="128269">
                <a:moveTo>
                  <a:pt x="0" y="0"/>
                </a:moveTo>
                <a:lnTo>
                  <a:pt x="0" y="128108"/>
                </a:lnTo>
                <a:lnTo>
                  <a:pt x="192437" y="640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30154" y="2843924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0"/>
                </a:moveTo>
                <a:lnTo>
                  <a:pt x="0" y="481800"/>
                </a:lnTo>
              </a:path>
            </a:pathLst>
          </a:custGeom>
          <a:ln w="55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66008" y="3309711"/>
            <a:ext cx="128905" cy="192405"/>
          </a:xfrm>
          <a:custGeom>
            <a:avLst/>
            <a:gdLst/>
            <a:ahLst/>
            <a:cxnLst/>
            <a:rect l="l" t="t" r="r" b="b"/>
            <a:pathLst>
              <a:path w="128904" h="192404">
                <a:moveTo>
                  <a:pt x="128291" y="0"/>
                </a:moveTo>
                <a:lnTo>
                  <a:pt x="0" y="0"/>
                </a:lnTo>
                <a:lnTo>
                  <a:pt x="64145" y="192163"/>
                </a:lnTo>
                <a:lnTo>
                  <a:pt x="128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0035" y="3765008"/>
            <a:ext cx="943610" cy="0"/>
          </a:xfrm>
          <a:custGeom>
            <a:avLst/>
            <a:gdLst/>
            <a:ahLst/>
            <a:cxnLst/>
            <a:rect l="l" t="t" r="r" b="b"/>
            <a:pathLst>
              <a:path w="943610">
                <a:moveTo>
                  <a:pt x="0" y="0"/>
                </a:moveTo>
                <a:lnTo>
                  <a:pt x="943593" y="0"/>
                </a:lnTo>
              </a:path>
            </a:pathLst>
          </a:custGeom>
          <a:ln w="55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17591" y="3700953"/>
            <a:ext cx="193040" cy="128270"/>
          </a:xfrm>
          <a:custGeom>
            <a:avLst/>
            <a:gdLst/>
            <a:ahLst/>
            <a:cxnLst/>
            <a:rect l="l" t="t" r="r" b="b"/>
            <a:pathLst>
              <a:path w="193039" h="128270">
                <a:moveTo>
                  <a:pt x="0" y="0"/>
                </a:moveTo>
                <a:lnTo>
                  <a:pt x="0" y="128108"/>
                </a:lnTo>
                <a:lnTo>
                  <a:pt x="192437" y="640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70142" y="4028164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0"/>
                </a:moveTo>
                <a:lnTo>
                  <a:pt x="0" y="481707"/>
                </a:lnTo>
              </a:path>
            </a:pathLst>
          </a:custGeom>
          <a:ln w="55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05996" y="4493859"/>
            <a:ext cx="128905" cy="192405"/>
          </a:xfrm>
          <a:custGeom>
            <a:avLst/>
            <a:gdLst/>
            <a:ahLst/>
            <a:cxnLst/>
            <a:rect l="l" t="t" r="r" b="b"/>
            <a:pathLst>
              <a:path w="128904" h="192404">
                <a:moveTo>
                  <a:pt x="128291" y="0"/>
                </a:moveTo>
                <a:lnTo>
                  <a:pt x="0" y="0"/>
                </a:lnTo>
                <a:lnTo>
                  <a:pt x="64145" y="192163"/>
                </a:lnTo>
                <a:lnTo>
                  <a:pt x="128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30023" y="4949178"/>
            <a:ext cx="943610" cy="0"/>
          </a:xfrm>
          <a:custGeom>
            <a:avLst/>
            <a:gdLst/>
            <a:ahLst/>
            <a:cxnLst/>
            <a:rect l="l" t="t" r="r" b="b"/>
            <a:pathLst>
              <a:path w="943609">
                <a:moveTo>
                  <a:pt x="0" y="0"/>
                </a:moveTo>
                <a:lnTo>
                  <a:pt x="943593" y="0"/>
                </a:lnTo>
              </a:path>
            </a:pathLst>
          </a:custGeom>
          <a:ln w="55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57580" y="4885124"/>
            <a:ext cx="193040" cy="128270"/>
          </a:xfrm>
          <a:custGeom>
            <a:avLst/>
            <a:gdLst/>
            <a:ahLst/>
            <a:cxnLst/>
            <a:rect l="l" t="t" r="r" b="b"/>
            <a:pathLst>
              <a:path w="193040" h="128270">
                <a:moveTo>
                  <a:pt x="0" y="0"/>
                </a:moveTo>
                <a:lnTo>
                  <a:pt x="0" y="128108"/>
                </a:lnTo>
                <a:lnTo>
                  <a:pt x="192437" y="640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1661" y="137287"/>
            <a:ext cx="3275329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3.1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/>
              <a:t>评审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检查方法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6050" y="1746250"/>
          <a:ext cx="8839200" cy="4189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014"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检查方法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5"/>
                        </a:lnSpc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描述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42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自由方法</a:t>
                      </a:r>
                      <a:r>
                        <a:rPr sz="1800" spc="-5" dirty="0">
                          <a:latin typeface="宋体"/>
                          <a:cs typeface="宋体"/>
                        </a:rPr>
                        <a:t>（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Ad-hoc</a:t>
                      </a:r>
                      <a:r>
                        <a:rPr sz="1800" spc="-5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没有为检查人员提供系统化的引导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14">
                <a:tc>
                  <a:txBody>
                    <a:bodyPr/>
                    <a:lstStyle/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检查清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单（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Checklist-Based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25"/>
                        </a:lnSpc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以通用的检查清单来引导检查过程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14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缺陷（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Defect-Based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用于需求文档，根据缺陷的分类来组织和检查场景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14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功能点（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Point-Based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按照功能点来组织和检查场景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142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视角（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Perspective-Based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按照不同涉众类型的视角来组织和检查场景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场景（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Scenario-Based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52705" algn="just">
                        <a:lnSpc>
                          <a:spcPct val="97800"/>
                        </a:lnSpc>
                        <a:spcBef>
                          <a:spcPts val="110"/>
                        </a:spcBef>
                      </a:pPr>
                      <a:r>
                        <a:rPr sz="1800" spc="60" dirty="0">
                          <a:latin typeface="宋体"/>
                          <a:cs typeface="宋体"/>
                        </a:rPr>
                        <a:t>对每一个场景，都利用一系列的问题或者细节要</a:t>
                      </a:r>
                      <a:r>
                        <a:rPr sz="1800" spc="65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， </a:t>
                      </a:r>
                      <a:r>
                        <a:rPr sz="1800" spc="55" dirty="0">
                          <a:latin typeface="宋体"/>
                          <a:cs typeface="宋体"/>
                        </a:rPr>
                        <a:t>来引导检查过程。缺陷、功能</a:t>
                      </a:r>
                      <a:r>
                        <a:rPr sz="1800" spc="60" dirty="0">
                          <a:latin typeface="宋体"/>
                          <a:cs typeface="宋体"/>
                        </a:rPr>
                        <a:t>点</a:t>
                      </a:r>
                      <a:r>
                        <a:rPr sz="1800" spc="55" dirty="0">
                          <a:latin typeface="宋体"/>
                          <a:cs typeface="宋体"/>
                        </a:rPr>
                        <a:t>、视角都是场景方法 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的一个特例。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22108">
                <a:tc>
                  <a:txBody>
                    <a:bodyPr/>
                    <a:lstStyle/>
                    <a:p>
                      <a:pPr marL="67945">
                        <a:lnSpc>
                          <a:spcPts val="213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逐步提升</a:t>
                      </a:r>
                      <a:r>
                        <a:rPr sz="1800" spc="-5" dirty="0">
                          <a:latin typeface="宋体"/>
                          <a:cs typeface="宋体"/>
                        </a:rPr>
                        <a:t>（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Stepwise</a:t>
                      </a:r>
                      <a:r>
                        <a:rPr sz="18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Abstraction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50800" algn="just">
                        <a:lnSpc>
                          <a:spcPct val="97800"/>
                        </a:lnSpc>
                        <a:spcBef>
                          <a:spcPts val="114"/>
                        </a:spcBef>
                      </a:pPr>
                      <a:r>
                        <a:rPr sz="1800" spc="60" dirty="0">
                          <a:latin typeface="宋体"/>
                          <a:cs typeface="宋体"/>
                        </a:rPr>
                        <a:t>净室软件开发中的一种方法。阅读者描述一些独立代 码段的功能，然后将描述的范围逐步扩大，描述的功 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能抽象逐步提高，直至阅读人员描述了整个评审物件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685" y="137287"/>
            <a:ext cx="252349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3.1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/>
              <a:t>评审</a:t>
            </a:r>
          </a:p>
          <a:p>
            <a:pPr marL="37973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类型</a:t>
            </a:r>
          </a:p>
        </p:txBody>
      </p:sp>
      <p:sp>
        <p:nvSpPr>
          <p:cNvPr id="3" name="object 3"/>
          <p:cNvSpPr/>
          <p:nvPr/>
        </p:nvSpPr>
        <p:spPr>
          <a:xfrm>
            <a:off x="1367884" y="2655921"/>
            <a:ext cx="6077585" cy="0"/>
          </a:xfrm>
          <a:custGeom>
            <a:avLst/>
            <a:gdLst/>
            <a:ahLst/>
            <a:cxnLst/>
            <a:rect l="l" t="t" r="r" b="b"/>
            <a:pathLst>
              <a:path w="6077584">
                <a:moveTo>
                  <a:pt x="0" y="0"/>
                </a:moveTo>
                <a:lnTo>
                  <a:pt x="6077478" y="0"/>
                </a:lnTo>
              </a:path>
            </a:pathLst>
          </a:custGeom>
          <a:ln w="298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67884" y="2373871"/>
            <a:ext cx="0" cy="564515"/>
          </a:xfrm>
          <a:custGeom>
            <a:avLst/>
            <a:gdLst/>
            <a:ahLst/>
            <a:cxnLst/>
            <a:rect l="l" t="t" r="r" b="b"/>
            <a:pathLst>
              <a:path h="564514">
                <a:moveTo>
                  <a:pt x="0" y="0"/>
                </a:moveTo>
                <a:lnTo>
                  <a:pt x="0" y="564099"/>
                </a:lnTo>
              </a:path>
            </a:pathLst>
          </a:custGeom>
          <a:ln w="29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45363" y="2373871"/>
            <a:ext cx="0" cy="564515"/>
          </a:xfrm>
          <a:custGeom>
            <a:avLst/>
            <a:gdLst/>
            <a:ahLst/>
            <a:cxnLst/>
            <a:rect l="l" t="t" r="r" b="b"/>
            <a:pathLst>
              <a:path h="564514">
                <a:moveTo>
                  <a:pt x="0" y="0"/>
                </a:moveTo>
                <a:lnTo>
                  <a:pt x="0" y="564099"/>
                </a:lnTo>
              </a:path>
            </a:pathLst>
          </a:custGeom>
          <a:ln w="29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22561" y="2514896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705"/>
                </a:lnTo>
              </a:path>
            </a:pathLst>
          </a:custGeom>
          <a:ln w="29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77213" y="2514896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705"/>
                </a:lnTo>
              </a:path>
            </a:pathLst>
          </a:custGeom>
          <a:ln w="29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90487" y="2514896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705"/>
                </a:lnTo>
              </a:path>
            </a:pathLst>
          </a:custGeom>
          <a:ln w="29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4140" y="1970179"/>
            <a:ext cx="77343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最正式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45409" y="1995300"/>
            <a:ext cx="102298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最不正式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0510" y="2989688"/>
            <a:ext cx="274955" cy="57277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1960"/>
              </a:lnSpc>
              <a:spcBef>
                <a:spcPts val="490"/>
              </a:spcBef>
            </a:pPr>
            <a:r>
              <a:rPr sz="1950" spc="10" dirty="0">
                <a:latin typeface="宋体"/>
                <a:cs typeface="宋体"/>
              </a:rPr>
              <a:t>审 查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1673" y="3522202"/>
            <a:ext cx="301625" cy="122745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40"/>
              </a:lnSpc>
            </a:pPr>
            <a:r>
              <a:rPr sz="1950" dirty="0">
                <a:latin typeface="Times New Roman"/>
                <a:cs typeface="Times New Roman"/>
              </a:rPr>
              <a:t>(Inspection)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5791" y="2989688"/>
            <a:ext cx="574040" cy="1070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ts val="215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（</a:t>
            </a:r>
            <a:r>
              <a:rPr sz="1950" spc="-680" dirty="0">
                <a:latin typeface="宋体"/>
                <a:cs typeface="宋体"/>
              </a:rPr>
              <a:t> </a:t>
            </a:r>
            <a:r>
              <a:rPr sz="1950" spc="10" dirty="0">
                <a:latin typeface="宋体"/>
                <a:cs typeface="宋体"/>
              </a:rPr>
              <a:t>小</a:t>
            </a:r>
            <a:endParaRPr sz="1950">
              <a:latin typeface="宋体"/>
              <a:cs typeface="宋体"/>
            </a:endParaRPr>
          </a:p>
          <a:p>
            <a:pPr marL="311785" marR="5080" algn="just">
              <a:lnSpc>
                <a:spcPts val="1960"/>
              </a:lnSpc>
              <a:spcBef>
                <a:spcPts val="195"/>
              </a:spcBef>
            </a:pPr>
            <a:r>
              <a:rPr sz="1950" spc="10" dirty="0">
                <a:latin typeface="宋体"/>
                <a:cs typeface="宋体"/>
              </a:rPr>
              <a:t>组 评 审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6929" y="3273480"/>
            <a:ext cx="301625" cy="141351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40"/>
              </a:lnSpc>
            </a:pPr>
            <a:r>
              <a:rPr sz="1950" dirty="0">
                <a:latin typeface="Times New Roman"/>
                <a:cs typeface="Times New Roman"/>
              </a:rPr>
              <a:t>Team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Review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05791" y="4626447"/>
            <a:ext cx="27495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）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78847" y="3060076"/>
            <a:ext cx="574040" cy="572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215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（</a:t>
            </a:r>
            <a:r>
              <a:rPr sz="1950" spc="-680" dirty="0">
                <a:latin typeface="宋体"/>
                <a:cs typeface="宋体"/>
              </a:rPr>
              <a:t> </a:t>
            </a:r>
            <a:r>
              <a:rPr sz="1950" spc="10" dirty="0">
                <a:latin typeface="宋体"/>
                <a:cs typeface="宋体"/>
              </a:rPr>
              <a:t>走</a:t>
            </a:r>
            <a:endParaRPr sz="1950">
              <a:latin typeface="宋体"/>
              <a:cs typeface="宋体"/>
            </a:endParaRPr>
          </a:p>
          <a:p>
            <a:pPr marR="5080" algn="r">
              <a:lnSpc>
                <a:spcPts val="2150"/>
              </a:lnSpc>
            </a:pPr>
            <a:r>
              <a:rPr sz="1950" spc="10" dirty="0">
                <a:latin typeface="宋体"/>
                <a:cs typeface="宋体"/>
              </a:rPr>
              <a:t>查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9960" y="3343869"/>
            <a:ext cx="301625" cy="140017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40"/>
              </a:lnSpc>
            </a:pPr>
            <a:r>
              <a:rPr sz="1950" dirty="0">
                <a:latin typeface="Times New Roman"/>
                <a:cs typeface="Times New Roman"/>
              </a:rPr>
              <a:t>Walk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through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78847" y="4683380"/>
            <a:ext cx="27495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）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3050" y="4772298"/>
            <a:ext cx="27495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）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73892" y="2831003"/>
            <a:ext cx="574040" cy="131889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just">
              <a:lnSpc>
                <a:spcPts val="1960"/>
              </a:lnSpc>
              <a:spcBef>
                <a:spcPts val="490"/>
              </a:spcBef>
            </a:pPr>
            <a:r>
              <a:rPr sz="1950" spc="400" dirty="0">
                <a:latin typeface="宋体"/>
                <a:cs typeface="宋体"/>
              </a:rPr>
              <a:t>同</a:t>
            </a:r>
            <a:r>
              <a:rPr sz="1950" spc="5" dirty="0">
                <a:latin typeface="宋体"/>
                <a:cs typeface="宋体"/>
              </a:rPr>
              <a:t>轮 </a:t>
            </a:r>
            <a:r>
              <a:rPr sz="1950" spc="400" dirty="0">
                <a:latin typeface="宋体"/>
                <a:cs typeface="宋体"/>
              </a:rPr>
              <a:t>级</a:t>
            </a:r>
            <a:r>
              <a:rPr sz="1950" spc="5" dirty="0">
                <a:latin typeface="宋体"/>
                <a:cs typeface="宋体"/>
              </a:rPr>
              <a:t>查 </a:t>
            </a:r>
            <a:r>
              <a:rPr sz="1950" spc="400" dirty="0">
                <a:latin typeface="宋体"/>
                <a:cs typeface="宋体"/>
              </a:rPr>
              <a:t>桌</a:t>
            </a:r>
            <a:r>
              <a:rPr sz="1950" spc="5" dirty="0">
                <a:latin typeface="宋体"/>
                <a:cs typeface="宋体"/>
              </a:rPr>
              <a:t>（ </a:t>
            </a:r>
            <a:r>
              <a:rPr sz="1950" spc="10" dirty="0">
                <a:latin typeface="宋体"/>
                <a:cs typeface="宋体"/>
              </a:rPr>
              <a:t>查</a:t>
            </a:r>
            <a:endParaRPr sz="1950">
              <a:latin typeface="宋体"/>
              <a:cs typeface="宋体"/>
            </a:endParaRPr>
          </a:p>
          <a:p>
            <a:pPr marL="12700">
              <a:lnSpc>
                <a:spcPts val="1950"/>
              </a:lnSpc>
            </a:pPr>
            <a:r>
              <a:rPr sz="1950" spc="10" dirty="0">
                <a:latin typeface="宋体"/>
                <a:cs typeface="宋体"/>
              </a:rPr>
              <a:t>（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95005" y="3612239"/>
            <a:ext cx="600710" cy="211836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40"/>
              </a:lnSpc>
            </a:pPr>
            <a:r>
              <a:rPr sz="1950" dirty="0">
                <a:latin typeface="Times New Roman"/>
                <a:cs typeface="Times New Roman"/>
              </a:rPr>
              <a:t>Pass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around</a:t>
            </a:r>
            <a:endParaRPr sz="1950">
              <a:latin typeface="Times New Roman"/>
              <a:cs typeface="Times New Roman"/>
            </a:endParaRPr>
          </a:p>
          <a:p>
            <a:pPr marL="509905">
              <a:lnSpc>
                <a:spcPct val="100000"/>
              </a:lnSpc>
              <a:spcBef>
                <a:spcPts val="15"/>
              </a:spcBef>
            </a:pPr>
            <a:r>
              <a:rPr sz="1950" dirty="0">
                <a:latin typeface="Times New Roman"/>
                <a:cs typeface="Times New Roman"/>
              </a:rPr>
              <a:t>Peer</a:t>
            </a:r>
            <a:r>
              <a:rPr sz="1950" spc="-4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Deskcheck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3892" y="5669758"/>
            <a:ext cx="27495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）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96328" y="2954369"/>
            <a:ext cx="274955" cy="131889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just">
              <a:lnSpc>
                <a:spcPts val="1960"/>
              </a:lnSpc>
              <a:spcBef>
                <a:spcPts val="490"/>
              </a:spcBef>
            </a:pPr>
            <a:r>
              <a:rPr sz="1950" spc="10" dirty="0">
                <a:latin typeface="宋体"/>
                <a:cs typeface="宋体"/>
              </a:rPr>
              <a:t>临 时 评 审</a:t>
            </a:r>
            <a:endParaRPr sz="1950">
              <a:latin typeface="宋体"/>
              <a:cs typeface="宋体"/>
            </a:endParaRPr>
          </a:p>
          <a:p>
            <a:pPr marL="12700">
              <a:lnSpc>
                <a:spcPts val="1950"/>
              </a:lnSpc>
            </a:pPr>
            <a:r>
              <a:rPr sz="1950" spc="10" dirty="0">
                <a:latin typeface="宋体"/>
                <a:cs typeface="宋体"/>
              </a:rPr>
              <a:t>（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17441" y="4233022"/>
            <a:ext cx="301625" cy="157289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40"/>
              </a:lnSpc>
            </a:pPr>
            <a:r>
              <a:rPr sz="1950" spc="5" dirty="0">
                <a:latin typeface="Times New Roman"/>
                <a:cs typeface="Times New Roman"/>
              </a:rPr>
              <a:t>Ad </a:t>
            </a:r>
            <a:r>
              <a:rPr sz="1950" dirty="0">
                <a:latin typeface="Times New Roman"/>
                <a:cs typeface="Times New Roman"/>
              </a:rPr>
              <a:t>hoc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Review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96328" y="5745196"/>
            <a:ext cx="27495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0" dirty="0">
                <a:latin typeface="宋体"/>
                <a:cs typeface="宋体"/>
              </a:rPr>
              <a:t>）</a:t>
            </a:r>
            <a:endParaRPr sz="19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961" y="288112"/>
            <a:ext cx="3655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3.2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dirty="0"/>
              <a:t>原型与模拟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4845050" cy="11969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涉及到复杂的动态行为时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成本较高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372" y="3458217"/>
            <a:ext cx="1412875" cy="597535"/>
          </a:xfrm>
          <a:prstGeom prst="rect">
            <a:avLst/>
          </a:prstGeom>
          <a:solidFill>
            <a:srgbClr val="E8EDF7"/>
          </a:solidFill>
          <a:ln w="5147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350" spc="10" dirty="0">
                <a:latin typeface="宋体"/>
                <a:cs typeface="宋体"/>
              </a:rPr>
              <a:t>规划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8727" y="3458217"/>
            <a:ext cx="1412875" cy="597535"/>
          </a:xfrm>
          <a:prstGeom prst="rect">
            <a:avLst/>
          </a:prstGeom>
          <a:solidFill>
            <a:srgbClr val="E8EDF7"/>
          </a:solidFill>
          <a:ln w="5147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86055">
              <a:lnSpc>
                <a:spcPct val="100000"/>
              </a:lnSpc>
            </a:pPr>
            <a:r>
              <a:rPr sz="1350" spc="10" dirty="0">
                <a:latin typeface="宋体"/>
                <a:cs typeface="宋体"/>
              </a:rPr>
              <a:t>定义验证场景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3737" y="3458217"/>
            <a:ext cx="1412875" cy="597535"/>
          </a:xfrm>
          <a:prstGeom prst="rect">
            <a:avLst/>
          </a:prstGeom>
          <a:solidFill>
            <a:srgbClr val="E8EDF7"/>
          </a:solidFill>
          <a:ln w="5147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86055">
              <a:lnSpc>
                <a:spcPct val="100000"/>
              </a:lnSpc>
            </a:pPr>
            <a:r>
              <a:rPr sz="1350" spc="10" dirty="0">
                <a:latin typeface="宋体"/>
                <a:cs typeface="宋体"/>
              </a:rPr>
              <a:t>执行原型场景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6674" y="3458217"/>
            <a:ext cx="1412875" cy="597535"/>
          </a:xfrm>
          <a:prstGeom prst="rect">
            <a:avLst/>
          </a:prstGeom>
          <a:solidFill>
            <a:srgbClr val="E8EDF7"/>
          </a:solidFill>
          <a:ln w="5147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359410">
              <a:lnSpc>
                <a:spcPct val="100000"/>
              </a:lnSpc>
            </a:pPr>
            <a:r>
              <a:rPr sz="1350" spc="10" dirty="0">
                <a:latin typeface="宋体"/>
                <a:cs typeface="宋体"/>
              </a:rPr>
              <a:t>记录问题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995" y="4391938"/>
            <a:ext cx="6023610" cy="570230"/>
          </a:xfrm>
          <a:prstGeom prst="rect">
            <a:avLst/>
          </a:prstGeom>
          <a:solidFill>
            <a:srgbClr val="E8EDF7"/>
          </a:solidFill>
          <a:ln w="5138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350" spc="10" dirty="0">
                <a:latin typeface="宋体"/>
                <a:cs typeface="宋体"/>
              </a:rPr>
              <a:t>建</a:t>
            </a:r>
            <a:r>
              <a:rPr sz="1350" spc="5" dirty="0">
                <a:latin typeface="宋体"/>
                <a:cs typeface="宋体"/>
              </a:rPr>
              <a:t>立</a:t>
            </a:r>
            <a:r>
              <a:rPr sz="1350" spc="10" dirty="0">
                <a:latin typeface="宋体"/>
                <a:cs typeface="宋体"/>
              </a:rPr>
              <a:t>、评述或者扩展原型（模拟）系统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46832" y="3756824"/>
            <a:ext cx="788035" cy="0"/>
          </a:xfrm>
          <a:custGeom>
            <a:avLst/>
            <a:gdLst/>
            <a:ahLst/>
            <a:cxnLst/>
            <a:rect l="l" t="t" r="r" b="b"/>
            <a:pathLst>
              <a:path w="788035">
                <a:moveTo>
                  <a:pt x="0" y="0"/>
                </a:moveTo>
                <a:lnTo>
                  <a:pt x="787461" y="0"/>
                </a:lnTo>
              </a:path>
            </a:pathLst>
          </a:custGeom>
          <a:ln w="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19345" y="3697741"/>
            <a:ext cx="179705" cy="118745"/>
          </a:xfrm>
          <a:custGeom>
            <a:avLst/>
            <a:gdLst/>
            <a:ahLst/>
            <a:cxnLst/>
            <a:rect l="l" t="t" r="r" b="b"/>
            <a:pathLst>
              <a:path w="179705" h="118745">
                <a:moveTo>
                  <a:pt x="0" y="0"/>
                </a:moveTo>
                <a:lnTo>
                  <a:pt x="0" y="118167"/>
                </a:lnTo>
                <a:lnTo>
                  <a:pt x="179382" y="59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11252" y="3756824"/>
            <a:ext cx="818515" cy="0"/>
          </a:xfrm>
          <a:custGeom>
            <a:avLst/>
            <a:gdLst/>
            <a:ahLst/>
            <a:cxnLst/>
            <a:rect l="l" t="t" r="r" b="b"/>
            <a:pathLst>
              <a:path w="818514">
                <a:moveTo>
                  <a:pt x="0" y="0"/>
                </a:moveTo>
                <a:lnTo>
                  <a:pt x="818051" y="0"/>
                </a:lnTo>
              </a:path>
            </a:pathLst>
          </a:custGeom>
          <a:ln w="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14355" y="3697741"/>
            <a:ext cx="179705" cy="118745"/>
          </a:xfrm>
          <a:custGeom>
            <a:avLst/>
            <a:gdLst/>
            <a:ahLst/>
            <a:cxnLst/>
            <a:rect l="l" t="t" r="r" b="b"/>
            <a:pathLst>
              <a:path w="179704" h="118745">
                <a:moveTo>
                  <a:pt x="0" y="0"/>
                </a:moveTo>
                <a:lnTo>
                  <a:pt x="0" y="118167"/>
                </a:lnTo>
                <a:lnTo>
                  <a:pt x="179382" y="59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06263" y="3756825"/>
            <a:ext cx="726440" cy="0"/>
          </a:xfrm>
          <a:custGeom>
            <a:avLst/>
            <a:gdLst/>
            <a:ahLst/>
            <a:cxnLst/>
            <a:rect l="l" t="t" r="r" b="b"/>
            <a:pathLst>
              <a:path w="726440">
                <a:moveTo>
                  <a:pt x="0" y="0"/>
                </a:moveTo>
                <a:lnTo>
                  <a:pt x="725977" y="0"/>
                </a:lnTo>
              </a:path>
            </a:pathLst>
          </a:custGeom>
          <a:ln w="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17292" y="3697741"/>
            <a:ext cx="179705" cy="118745"/>
          </a:xfrm>
          <a:custGeom>
            <a:avLst/>
            <a:gdLst/>
            <a:ahLst/>
            <a:cxnLst/>
            <a:rect l="l" t="t" r="r" b="b"/>
            <a:pathLst>
              <a:path w="179704" h="118745">
                <a:moveTo>
                  <a:pt x="0" y="0"/>
                </a:moveTo>
                <a:lnTo>
                  <a:pt x="0" y="118167"/>
                </a:lnTo>
                <a:lnTo>
                  <a:pt x="179382" y="59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04990" y="4055454"/>
            <a:ext cx="0" cy="180975"/>
          </a:xfrm>
          <a:custGeom>
            <a:avLst/>
            <a:gdLst/>
            <a:ahLst/>
            <a:cxnLst/>
            <a:rect l="l" t="t" r="r" b="b"/>
            <a:pathLst>
              <a:path h="180975">
                <a:moveTo>
                  <a:pt x="0" y="0"/>
                </a:moveTo>
                <a:lnTo>
                  <a:pt x="0" y="180847"/>
                </a:lnTo>
              </a:path>
            </a:pathLst>
          </a:custGeom>
          <a:ln w="5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45196" y="4221530"/>
            <a:ext cx="120014" cy="177800"/>
          </a:xfrm>
          <a:custGeom>
            <a:avLst/>
            <a:gdLst/>
            <a:ahLst/>
            <a:cxnLst/>
            <a:rect l="l" t="t" r="r" b="b"/>
            <a:pathLst>
              <a:path w="120014" h="177800">
                <a:moveTo>
                  <a:pt x="119588" y="0"/>
                </a:moveTo>
                <a:lnTo>
                  <a:pt x="0" y="0"/>
                </a:lnTo>
                <a:lnTo>
                  <a:pt x="59794" y="177250"/>
                </a:lnTo>
                <a:lnTo>
                  <a:pt x="119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00000" y="4055454"/>
            <a:ext cx="0" cy="180975"/>
          </a:xfrm>
          <a:custGeom>
            <a:avLst/>
            <a:gdLst/>
            <a:ahLst/>
            <a:cxnLst/>
            <a:rect l="l" t="t" r="r" b="b"/>
            <a:pathLst>
              <a:path h="180975">
                <a:moveTo>
                  <a:pt x="0" y="0"/>
                </a:moveTo>
                <a:lnTo>
                  <a:pt x="0" y="180847"/>
                </a:lnTo>
              </a:path>
            </a:pathLst>
          </a:custGeom>
          <a:ln w="5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40206" y="4221531"/>
            <a:ext cx="120014" cy="177800"/>
          </a:xfrm>
          <a:custGeom>
            <a:avLst/>
            <a:gdLst/>
            <a:ahLst/>
            <a:cxnLst/>
            <a:rect l="l" t="t" r="r" b="b"/>
            <a:pathLst>
              <a:path w="120014" h="177800">
                <a:moveTo>
                  <a:pt x="119588" y="0"/>
                </a:moveTo>
                <a:lnTo>
                  <a:pt x="0" y="0"/>
                </a:lnTo>
                <a:lnTo>
                  <a:pt x="59794" y="177250"/>
                </a:lnTo>
                <a:lnTo>
                  <a:pt x="119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40591" y="4055454"/>
            <a:ext cx="0" cy="180975"/>
          </a:xfrm>
          <a:custGeom>
            <a:avLst/>
            <a:gdLst/>
            <a:ahLst/>
            <a:cxnLst/>
            <a:rect l="l" t="t" r="r" b="b"/>
            <a:pathLst>
              <a:path h="180975">
                <a:moveTo>
                  <a:pt x="0" y="0"/>
                </a:moveTo>
                <a:lnTo>
                  <a:pt x="0" y="180847"/>
                </a:lnTo>
              </a:path>
            </a:pathLst>
          </a:custGeom>
          <a:ln w="5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80797" y="4221530"/>
            <a:ext cx="120014" cy="177800"/>
          </a:xfrm>
          <a:custGeom>
            <a:avLst/>
            <a:gdLst/>
            <a:ahLst/>
            <a:cxnLst/>
            <a:rect l="l" t="t" r="r" b="b"/>
            <a:pathLst>
              <a:path w="120015" h="177800">
                <a:moveTo>
                  <a:pt x="119588" y="0"/>
                </a:moveTo>
                <a:lnTo>
                  <a:pt x="0" y="0"/>
                </a:lnTo>
                <a:lnTo>
                  <a:pt x="59794" y="177250"/>
                </a:lnTo>
                <a:lnTo>
                  <a:pt x="119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5070" y="139445"/>
            <a:ext cx="42151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3.3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/>
              <a:t>开发测试用例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361"/>
            <a:ext cx="8037195" cy="39535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212090" indent="-343535">
              <a:lnSpc>
                <a:spcPts val="3150"/>
              </a:lnSpc>
              <a:spcBef>
                <a:spcPts val="3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10" dirty="0">
                <a:latin typeface="宋体"/>
                <a:cs typeface="宋体"/>
              </a:rPr>
              <a:t>如果</a:t>
            </a:r>
            <a:r>
              <a:rPr sz="2800" spc="-10" dirty="0">
                <a:solidFill>
                  <a:srgbClr val="FF0000"/>
                </a:solidFill>
                <a:latin typeface="宋体"/>
                <a:cs typeface="宋体"/>
              </a:rPr>
              <a:t>无法为某条需求定义完备的测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试</a:t>
            </a:r>
            <a:r>
              <a:rPr sz="2800" spc="-10" dirty="0">
                <a:solidFill>
                  <a:srgbClr val="FF0000"/>
                </a:solidFill>
                <a:latin typeface="宋体"/>
                <a:cs typeface="宋体"/>
              </a:rPr>
              <a:t>用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例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那么 它可能就存在着模糊、信息遗漏、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5" dirty="0">
                <a:latin typeface="宋体"/>
                <a:cs typeface="宋体"/>
              </a:rPr>
              <a:t>正确</a:t>
            </a:r>
            <a:r>
              <a:rPr sz="2800" dirty="0">
                <a:latin typeface="宋体"/>
                <a:cs typeface="宋体"/>
              </a:rPr>
              <a:t>等</a:t>
            </a:r>
            <a:r>
              <a:rPr sz="2800" spc="-5" dirty="0">
                <a:latin typeface="宋体"/>
                <a:cs typeface="宋体"/>
              </a:rPr>
              <a:t>缺陷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例外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宋体"/>
                <a:cs typeface="宋体"/>
              </a:rPr>
              <a:t>排斥性需求（</a:t>
            </a:r>
            <a:r>
              <a:rPr sz="2400" spc="-5" dirty="0">
                <a:latin typeface="Calibri"/>
                <a:cs typeface="Calibri"/>
              </a:rPr>
              <a:t>Exclusive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Requirements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155700" marR="10160" lvl="2" indent="-228600">
              <a:lnSpc>
                <a:spcPts val="2240"/>
              </a:lnSpc>
              <a:spcBef>
                <a:spcPts val="86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宋体"/>
                <a:cs typeface="宋体"/>
              </a:rPr>
              <a:t>这种需求要求特定的行</a:t>
            </a:r>
            <a:r>
              <a:rPr sz="2000" spc="-15" dirty="0">
                <a:latin typeface="宋体"/>
                <a:cs typeface="宋体"/>
              </a:rPr>
              <a:t>为</a:t>
            </a:r>
            <a:r>
              <a:rPr sz="2000" dirty="0">
                <a:latin typeface="宋体"/>
                <a:cs typeface="宋体"/>
              </a:rPr>
              <a:t>绝对</a:t>
            </a:r>
            <a:r>
              <a:rPr sz="2000" spc="-15" dirty="0">
                <a:latin typeface="宋体"/>
                <a:cs typeface="宋体"/>
              </a:rPr>
              <a:t>不</a:t>
            </a:r>
            <a:r>
              <a:rPr sz="2000" dirty="0">
                <a:latin typeface="宋体"/>
                <a:cs typeface="宋体"/>
              </a:rPr>
              <a:t>会发</a:t>
            </a:r>
            <a:r>
              <a:rPr sz="2000" spc="-15" dirty="0">
                <a:latin typeface="宋体"/>
                <a:cs typeface="宋体"/>
              </a:rPr>
              <a:t>生</a:t>
            </a:r>
            <a:r>
              <a:rPr sz="2000" dirty="0">
                <a:latin typeface="宋体"/>
                <a:cs typeface="宋体"/>
              </a:rPr>
              <a:t>，例</a:t>
            </a:r>
            <a:r>
              <a:rPr sz="2000" spc="-15" dirty="0">
                <a:latin typeface="宋体"/>
                <a:cs typeface="宋体"/>
              </a:rPr>
              <a:t>如</a:t>
            </a:r>
            <a:r>
              <a:rPr sz="2000" dirty="0">
                <a:latin typeface="宋体"/>
                <a:cs typeface="宋体"/>
              </a:rPr>
              <a:t>需求</a:t>
            </a:r>
            <a:r>
              <a:rPr sz="2000" spc="-15" dirty="0">
                <a:latin typeface="宋体"/>
                <a:cs typeface="宋体"/>
              </a:rPr>
              <a:t>可</a:t>
            </a:r>
            <a:r>
              <a:rPr sz="2000" dirty="0">
                <a:latin typeface="宋体"/>
                <a:cs typeface="宋体"/>
              </a:rPr>
              <a:t>能会</a:t>
            </a:r>
            <a:r>
              <a:rPr sz="2000" spc="-15" dirty="0">
                <a:latin typeface="宋体"/>
                <a:cs typeface="宋体"/>
              </a:rPr>
              <a:t>要</a:t>
            </a:r>
            <a:r>
              <a:rPr sz="2000" dirty="0">
                <a:latin typeface="宋体"/>
                <a:cs typeface="宋体"/>
              </a:rPr>
              <a:t>求 系统故障不能导致数据</a:t>
            </a:r>
            <a:r>
              <a:rPr sz="2000" spc="-15" dirty="0">
                <a:latin typeface="宋体"/>
                <a:cs typeface="宋体"/>
              </a:rPr>
              <a:t>库</a:t>
            </a:r>
            <a:r>
              <a:rPr sz="2000" dirty="0">
                <a:latin typeface="宋体"/>
                <a:cs typeface="宋体"/>
              </a:rPr>
              <a:t>的崩溃</a:t>
            </a:r>
            <a:endParaRPr sz="2000">
              <a:latin typeface="宋体"/>
              <a:cs typeface="宋体"/>
            </a:endParaRPr>
          </a:p>
          <a:p>
            <a:pPr marL="756285" marR="1448435" lvl="1" indent="-287020">
              <a:lnSpc>
                <a:spcPct val="100000"/>
              </a:lnSpc>
              <a:spcBef>
                <a:spcPts val="51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全局性非功能性需求（</a:t>
            </a:r>
            <a:r>
              <a:rPr sz="2400" dirty="0">
                <a:latin typeface="Calibri"/>
                <a:cs typeface="Calibri"/>
              </a:rPr>
              <a:t>Global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Non-Functional  </a:t>
            </a:r>
            <a:r>
              <a:rPr sz="2400" dirty="0">
                <a:latin typeface="Calibri"/>
                <a:cs typeface="Calibri"/>
              </a:rPr>
              <a:t>Requirements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155700" marR="5080" lvl="2" indent="-228600">
              <a:lnSpc>
                <a:spcPts val="2240"/>
              </a:lnSpc>
              <a:spcBef>
                <a:spcPts val="86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宋体"/>
                <a:cs typeface="宋体"/>
              </a:rPr>
              <a:t>例如可靠性、可用性等</a:t>
            </a:r>
            <a:r>
              <a:rPr sz="2000" spc="-15" dirty="0">
                <a:latin typeface="宋体"/>
                <a:cs typeface="宋体"/>
              </a:rPr>
              <a:t>，</a:t>
            </a:r>
            <a:r>
              <a:rPr sz="2000" dirty="0">
                <a:latin typeface="宋体"/>
                <a:cs typeface="宋体"/>
              </a:rPr>
              <a:t>对这些需求</a:t>
            </a:r>
            <a:r>
              <a:rPr sz="2000" spc="-10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测试往往都</a:t>
            </a:r>
            <a:r>
              <a:rPr sz="2000" spc="-10" dirty="0">
                <a:latin typeface="宋体"/>
                <a:cs typeface="宋体"/>
              </a:rPr>
              <a:t>是</a:t>
            </a:r>
            <a:r>
              <a:rPr sz="2000" dirty="0">
                <a:latin typeface="宋体"/>
                <a:cs typeface="宋体"/>
              </a:rPr>
              <a:t>大数据集 的处理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5070" y="314655"/>
            <a:ext cx="4215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3.4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/>
              <a:t>用户手册编制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51706"/>
            <a:ext cx="5386070" cy="44208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验证功能需求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对软件系统功能和实现的描述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验证项目范围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对系统没有实现的功能的描述</a:t>
            </a:r>
            <a:endParaRPr sz="2800">
              <a:latin typeface="宋体"/>
              <a:cs typeface="宋体"/>
            </a:endParaRPr>
          </a:p>
          <a:p>
            <a:pPr marL="355600" marR="1766570" indent="-356235" algn="r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验证异常流程需求</a:t>
            </a:r>
            <a:endParaRPr sz="3200">
              <a:latin typeface="宋体"/>
              <a:cs typeface="宋体"/>
            </a:endParaRPr>
          </a:p>
          <a:p>
            <a:pPr marL="286385" marR="1780539" lvl="1" indent="-286385" algn="r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286385" algn="l"/>
                <a:tab pos="287020" algn="l"/>
              </a:tabLst>
            </a:pPr>
            <a:r>
              <a:rPr sz="2800" spc="-5" dirty="0">
                <a:latin typeface="宋体"/>
                <a:cs typeface="宋体"/>
              </a:rPr>
              <a:t>问题和故障的解决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验证环境与约束需求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系统的安装和启动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7069" y="296926"/>
            <a:ext cx="42322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3.5.</a:t>
            </a:r>
            <a:r>
              <a:rPr dirty="0"/>
              <a:t>利用跟踪关系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2388"/>
            <a:ext cx="7874000" cy="396557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5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业务需求</a:t>
            </a:r>
            <a:r>
              <a:rPr sz="3200" spc="3085" dirty="0">
                <a:latin typeface="Wingdings"/>
                <a:cs typeface="Wingdings"/>
              </a:rPr>
              <a:t>→</a:t>
            </a:r>
            <a:r>
              <a:rPr sz="3200" dirty="0">
                <a:latin typeface="宋体"/>
                <a:cs typeface="宋体"/>
              </a:rPr>
              <a:t>用户需求</a:t>
            </a:r>
            <a:r>
              <a:rPr sz="3200" spc="3070" dirty="0">
                <a:latin typeface="Wingdings"/>
                <a:cs typeface="Wingdings"/>
              </a:rPr>
              <a:t>→</a:t>
            </a:r>
            <a:r>
              <a:rPr sz="3200" spc="5" dirty="0">
                <a:latin typeface="宋体"/>
                <a:cs typeface="宋体"/>
              </a:rPr>
              <a:t>系统</a:t>
            </a:r>
            <a:r>
              <a:rPr sz="3200" spc="-15" dirty="0">
                <a:latin typeface="宋体"/>
                <a:cs typeface="宋体"/>
              </a:rPr>
              <a:t>需</a:t>
            </a:r>
            <a:r>
              <a:rPr sz="3200" spc="5" dirty="0">
                <a:latin typeface="宋体"/>
                <a:cs typeface="宋体"/>
              </a:rPr>
              <a:t>求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90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如果业务需求和用户需求没有得到</a:t>
            </a:r>
            <a:r>
              <a:rPr sz="2800" dirty="0">
                <a:latin typeface="宋体"/>
                <a:cs typeface="宋体"/>
              </a:rPr>
              <a:t>后</a:t>
            </a:r>
            <a:r>
              <a:rPr sz="2800" spc="-5" dirty="0">
                <a:latin typeface="宋体"/>
                <a:cs typeface="宋体"/>
              </a:rPr>
              <a:t>项需求</a:t>
            </a:r>
            <a:endParaRPr sz="2800">
              <a:latin typeface="宋体"/>
              <a:cs typeface="宋体"/>
            </a:endParaRPr>
          </a:p>
          <a:p>
            <a:pPr marL="756285" marR="5080">
              <a:lnSpc>
                <a:spcPts val="3140"/>
              </a:lnSpc>
              <a:spcBef>
                <a:spcPts val="290"/>
              </a:spcBef>
            </a:pPr>
            <a:r>
              <a:rPr sz="2800" spc="-5" dirty="0">
                <a:latin typeface="宋体"/>
                <a:cs typeface="宋体"/>
              </a:rPr>
              <a:t>（用户需求和系统需求）的充分支</a:t>
            </a:r>
            <a:r>
              <a:rPr sz="2800" dirty="0">
                <a:latin typeface="宋体"/>
                <a:cs typeface="宋体"/>
              </a:rPr>
              <a:t>持</a:t>
            </a:r>
            <a:r>
              <a:rPr sz="2800" spc="-5" dirty="0">
                <a:latin typeface="宋体"/>
                <a:cs typeface="宋体"/>
              </a:rPr>
              <a:t>，那</a:t>
            </a:r>
            <a:r>
              <a:rPr sz="2800" dirty="0">
                <a:latin typeface="宋体"/>
                <a:cs typeface="宋体"/>
              </a:rPr>
              <a:t>么</a:t>
            </a:r>
            <a:r>
              <a:rPr sz="2800" spc="-5" dirty="0">
                <a:latin typeface="宋体"/>
                <a:cs typeface="宋体"/>
              </a:rPr>
              <a:t>软 </a:t>
            </a:r>
            <a:r>
              <a:rPr sz="2800" spc="-10" dirty="0">
                <a:latin typeface="宋体"/>
                <a:cs typeface="宋体"/>
              </a:rPr>
              <a:t>件需求规格说明文档就存</a:t>
            </a:r>
            <a:r>
              <a:rPr sz="2800" spc="-5" dirty="0">
                <a:latin typeface="宋体"/>
                <a:cs typeface="宋体"/>
              </a:rPr>
              <a:t>在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不完备的缺陷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9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系统需</a:t>
            </a:r>
            <a:r>
              <a:rPr sz="3200" spc="-5" dirty="0">
                <a:latin typeface="宋体"/>
                <a:cs typeface="宋体"/>
              </a:rPr>
              <a:t>求</a:t>
            </a:r>
            <a:r>
              <a:rPr sz="3200" spc="3080" dirty="0">
                <a:latin typeface="Wingdings"/>
                <a:cs typeface="Wingdings"/>
              </a:rPr>
              <a:t>→</a:t>
            </a:r>
            <a:r>
              <a:rPr sz="3200" dirty="0">
                <a:latin typeface="宋体"/>
                <a:cs typeface="宋体"/>
              </a:rPr>
              <a:t>用户需求</a:t>
            </a:r>
            <a:r>
              <a:rPr sz="3200" spc="3065" dirty="0">
                <a:latin typeface="Wingdings"/>
                <a:cs typeface="Wingdings"/>
              </a:rPr>
              <a:t>→</a:t>
            </a:r>
            <a:r>
              <a:rPr sz="3200" dirty="0">
                <a:latin typeface="宋体"/>
                <a:cs typeface="宋体"/>
              </a:rPr>
              <a:t>业务</a:t>
            </a:r>
            <a:r>
              <a:rPr sz="3200" spc="-15" dirty="0">
                <a:latin typeface="宋体"/>
                <a:cs typeface="宋体"/>
              </a:rPr>
              <a:t>需</a:t>
            </a:r>
            <a:r>
              <a:rPr sz="3200" dirty="0">
                <a:latin typeface="宋体"/>
                <a:cs typeface="宋体"/>
              </a:rPr>
              <a:t>求</a:t>
            </a:r>
            <a:endParaRPr sz="3200">
              <a:latin typeface="宋体"/>
              <a:cs typeface="宋体"/>
            </a:endParaRPr>
          </a:p>
          <a:p>
            <a:pPr marL="756285" marR="5080" lvl="1" indent="-287020" algn="just">
              <a:lnSpc>
                <a:spcPct val="96800"/>
              </a:lnSpc>
              <a:spcBef>
                <a:spcPts val="101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如果不能依据跟踪关系找到一条系</a:t>
            </a:r>
            <a:r>
              <a:rPr sz="2800" dirty="0">
                <a:latin typeface="宋体"/>
                <a:cs typeface="宋体"/>
              </a:rPr>
              <a:t>统</a:t>
            </a:r>
            <a:r>
              <a:rPr sz="2800" spc="-5" dirty="0">
                <a:latin typeface="宋体"/>
                <a:cs typeface="宋体"/>
              </a:rPr>
              <a:t>需求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前 </a:t>
            </a:r>
            <a:r>
              <a:rPr sz="2800" spc="-10" dirty="0">
                <a:latin typeface="宋体"/>
                <a:cs typeface="宋体"/>
              </a:rPr>
              <a:t>项用户需求和前项业务需求，那么</a:t>
            </a:r>
            <a:r>
              <a:rPr sz="2800" dirty="0">
                <a:latin typeface="宋体"/>
                <a:cs typeface="宋体"/>
              </a:rPr>
              <a:t>该</a:t>
            </a:r>
            <a:r>
              <a:rPr sz="2800" spc="-10" dirty="0">
                <a:latin typeface="宋体"/>
                <a:cs typeface="宋体"/>
              </a:rPr>
              <a:t>需求</a:t>
            </a:r>
            <a:r>
              <a:rPr sz="2800" dirty="0">
                <a:latin typeface="宋体"/>
                <a:cs typeface="宋体"/>
              </a:rPr>
              <a:t>就</a:t>
            </a:r>
            <a:r>
              <a:rPr sz="2800" spc="-5" dirty="0">
                <a:latin typeface="宋体"/>
                <a:cs typeface="宋体"/>
              </a:rPr>
              <a:t>属 于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非必要的需求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2763" y="210134"/>
            <a:ext cx="36728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3.6.</a:t>
            </a:r>
            <a:r>
              <a:rPr dirty="0"/>
              <a:t>自动化分析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3493" y="1790792"/>
            <a:ext cx="1835150" cy="781050"/>
          </a:xfrm>
          <a:prstGeom prst="rect">
            <a:avLst/>
          </a:prstGeom>
          <a:solidFill>
            <a:srgbClr val="E8EDF7"/>
          </a:solidFill>
          <a:ln w="6722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579755" marR="121285" indent="-450850">
              <a:lnSpc>
                <a:spcPct val="108000"/>
              </a:lnSpc>
              <a:spcBef>
                <a:spcPts val="525"/>
              </a:spcBef>
            </a:pPr>
            <a:r>
              <a:rPr sz="1750" spc="20" dirty="0">
                <a:latin typeface="宋体"/>
                <a:cs typeface="宋体"/>
              </a:rPr>
              <a:t>形式化语言描述 的需求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2227" y="1803384"/>
            <a:ext cx="1835150" cy="781050"/>
          </a:xfrm>
          <a:prstGeom prst="rect">
            <a:avLst/>
          </a:prstGeom>
          <a:solidFill>
            <a:srgbClr val="E8EDF7"/>
          </a:solidFill>
          <a:ln w="6722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241935">
              <a:lnSpc>
                <a:spcPct val="100000"/>
              </a:lnSpc>
            </a:pPr>
            <a:r>
              <a:rPr sz="1750" spc="20" dirty="0">
                <a:latin typeface="宋体"/>
                <a:cs typeface="宋体"/>
              </a:rPr>
              <a:t>需求问题报告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8822" y="5067060"/>
            <a:ext cx="2553335" cy="745490"/>
          </a:xfrm>
          <a:prstGeom prst="rect">
            <a:avLst/>
          </a:prstGeom>
          <a:solidFill>
            <a:srgbClr val="E8EDF7"/>
          </a:solidFill>
          <a:ln w="6719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50" spc="20" dirty="0">
                <a:latin typeface="宋体"/>
                <a:cs typeface="宋体"/>
              </a:rPr>
              <a:t>需求集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33818" y="3496246"/>
            <a:ext cx="2074545" cy="833119"/>
          </a:xfrm>
          <a:custGeom>
            <a:avLst/>
            <a:gdLst/>
            <a:ahLst/>
            <a:cxnLst/>
            <a:rect l="l" t="t" r="r" b="b"/>
            <a:pathLst>
              <a:path w="2074545" h="833120">
                <a:moveTo>
                  <a:pt x="1037162" y="0"/>
                </a:moveTo>
                <a:lnTo>
                  <a:pt x="971569" y="819"/>
                </a:lnTo>
                <a:lnTo>
                  <a:pt x="907061" y="3244"/>
                </a:lnTo>
                <a:lnTo>
                  <a:pt x="843758" y="7227"/>
                </a:lnTo>
                <a:lnTo>
                  <a:pt x="781783" y="12718"/>
                </a:lnTo>
                <a:lnTo>
                  <a:pt x="721256" y="19670"/>
                </a:lnTo>
                <a:lnTo>
                  <a:pt x="662299" y="28032"/>
                </a:lnTo>
                <a:lnTo>
                  <a:pt x="605034" y="37756"/>
                </a:lnTo>
                <a:lnTo>
                  <a:pt x="549583" y="48794"/>
                </a:lnTo>
                <a:lnTo>
                  <a:pt x="496066" y="61096"/>
                </a:lnTo>
                <a:lnTo>
                  <a:pt x="444605" y="74614"/>
                </a:lnTo>
                <a:lnTo>
                  <a:pt x="395322" y="89300"/>
                </a:lnTo>
                <a:lnTo>
                  <a:pt x="348338" y="105103"/>
                </a:lnTo>
                <a:lnTo>
                  <a:pt x="303774" y="121976"/>
                </a:lnTo>
                <a:lnTo>
                  <a:pt x="261753" y="139870"/>
                </a:lnTo>
                <a:lnTo>
                  <a:pt x="222395" y="158735"/>
                </a:lnTo>
                <a:lnTo>
                  <a:pt x="185822" y="178524"/>
                </a:lnTo>
                <a:lnTo>
                  <a:pt x="152156" y="199187"/>
                </a:lnTo>
                <a:lnTo>
                  <a:pt x="94029" y="242941"/>
                </a:lnTo>
                <a:lnTo>
                  <a:pt x="48986" y="289607"/>
                </a:lnTo>
                <a:lnTo>
                  <a:pt x="17999" y="338794"/>
                </a:lnTo>
                <a:lnTo>
                  <a:pt x="2040" y="390113"/>
                </a:lnTo>
                <a:lnTo>
                  <a:pt x="0" y="416450"/>
                </a:lnTo>
                <a:lnTo>
                  <a:pt x="2040" y="442787"/>
                </a:lnTo>
                <a:lnTo>
                  <a:pt x="17999" y="494105"/>
                </a:lnTo>
                <a:lnTo>
                  <a:pt x="48986" y="543293"/>
                </a:lnTo>
                <a:lnTo>
                  <a:pt x="94029" y="589959"/>
                </a:lnTo>
                <a:lnTo>
                  <a:pt x="152156" y="633713"/>
                </a:lnTo>
                <a:lnTo>
                  <a:pt x="185822" y="654376"/>
                </a:lnTo>
                <a:lnTo>
                  <a:pt x="222395" y="674164"/>
                </a:lnTo>
                <a:lnTo>
                  <a:pt x="261753" y="693030"/>
                </a:lnTo>
                <a:lnTo>
                  <a:pt x="303774" y="710924"/>
                </a:lnTo>
                <a:lnTo>
                  <a:pt x="348338" y="727797"/>
                </a:lnTo>
                <a:lnTo>
                  <a:pt x="395322" y="743600"/>
                </a:lnTo>
                <a:lnTo>
                  <a:pt x="444605" y="758285"/>
                </a:lnTo>
                <a:lnTo>
                  <a:pt x="496066" y="771804"/>
                </a:lnTo>
                <a:lnTo>
                  <a:pt x="549583" y="784106"/>
                </a:lnTo>
                <a:lnTo>
                  <a:pt x="605034" y="795144"/>
                </a:lnTo>
                <a:lnTo>
                  <a:pt x="662299" y="804868"/>
                </a:lnTo>
                <a:lnTo>
                  <a:pt x="721256" y="813230"/>
                </a:lnTo>
                <a:lnTo>
                  <a:pt x="781783" y="820181"/>
                </a:lnTo>
                <a:lnTo>
                  <a:pt x="843758" y="825673"/>
                </a:lnTo>
                <a:lnTo>
                  <a:pt x="907061" y="829655"/>
                </a:lnTo>
                <a:lnTo>
                  <a:pt x="971569" y="832081"/>
                </a:lnTo>
                <a:lnTo>
                  <a:pt x="1037162" y="832900"/>
                </a:lnTo>
                <a:lnTo>
                  <a:pt x="1102755" y="832081"/>
                </a:lnTo>
                <a:lnTo>
                  <a:pt x="1167264" y="829655"/>
                </a:lnTo>
                <a:lnTo>
                  <a:pt x="1230567" y="825673"/>
                </a:lnTo>
                <a:lnTo>
                  <a:pt x="1292543" y="820181"/>
                </a:lnTo>
                <a:lnTo>
                  <a:pt x="1353071" y="813230"/>
                </a:lnTo>
                <a:lnTo>
                  <a:pt x="1412028" y="804868"/>
                </a:lnTo>
                <a:lnTo>
                  <a:pt x="1469294" y="795144"/>
                </a:lnTo>
                <a:lnTo>
                  <a:pt x="1524747" y="784106"/>
                </a:lnTo>
                <a:lnTo>
                  <a:pt x="1578266" y="771804"/>
                </a:lnTo>
                <a:lnTo>
                  <a:pt x="1629728" y="758285"/>
                </a:lnTo>
                <a:lnTo>
                  <a:pt x="1679013" y="743600"/>
                </a:lnTo>
                <a:lnTo>
                  <a:pt x="1725999" y="727797"/>
                </a:lnTo>
                <a:lnTo>
                  <a:pt x="1770564" y="710924"/>
                </a:lnTo>
                <a:lnTo>
                  <a:pt x="1812587" y="693030"/>
                </a:lnTo>
                <a:lnTo>
                  <a:pt x="1851946" y="674164"/>
                </a:lnTo>
                <a:lnTo>
                  <a:pt x="1888521" y="654376"/>
                </a:lnTo>
                <a:lnTo>
                  <a:pt x="1922188" y="633713"/>
                </a:lnTo>
                <a:lnTo>
                  <a:pt x="1980318" y="589959"/>
                </a:lnTo>
                <a:lnTo>
                  <a:pt x="2025363" y="543293"/>
                </a:lnTo>
                <a:lnTo>
                  <a:pt x="2056352" y="494105"/>
                </a:lnTo>
                <a:lnTo>
                  <a:pt x="2072312" y="442787"/>
                </a:lnTo>
                <a:lnTo>
                  <a:pt x="2074352" y="416450"/>
                </a:lnTo>
                <a:lnTo>
                  <a:pt x="2072312" y="390113"/>
                </a:lnTo>
                <a:lnTo>
                  <a:pt x="2056352" y="338794"/>
                </a:lnTo>
                <a:lnTo>
                  <a:pt x="2025363" y="289607"/>
                </a:lnTo>
                <a:lnTo>
                  <a:pt x="1980318" y="242941"/>
                </a:lnTo>
                <a:lnTo>
                  <a:pt x="1922188" y="199187"/>
                </a:lnTo>
                <a:lnTo>
                  <a:pt x="1888521" y="178524"/>
                </a:lnTo>
                <a:lnTo>
                  <a:pt x="1851946" y="158735"/>
                </a:lnTo>
                <a:lnTo>
                  <a:pt x="1812587" y="139870"/>
                </a:lnTo>
                <a:lnTo>
                  <a:pt x="1770564" y="121976"/>
                </a:lnTo>
                <a:lnTo>
                  <a:pt x="1725999" y="105103"/>
                </a:lnTo>
                <a:lnTo>
                  <a:pt x="1679013" y="89300"/>
                </a:lnTo>
                <a:lnTo>
                  <a:pt x="1629728" y="74614"/>
                </a:lnTo>
                <a:lnTo>
                  <a:pt x="1578266" y="61096"/>
                </a:lnTo>
                <a:lnTo>
                  <a:pt x="1524747" y="48794"/>
                </a:lnTo>
                <a:lnTo>
                  <a:pt x="1469294" y="37756"/>
                </a:lnTo>
                <a:lnTo>
                  <a:pt x="1412028" y="28032"/>
                </a:lnTo>
                <a:lnTo>
                  <a:pt x="1353071" y="19670"/>
                </a:lnTo>
                <a:lnTo>
                  <a:pt x="1292543" y="12718"/>
                </a:lnTo>
                <a:lnTo>
                  <a:pt x="1230567" y="7227"/>
                </a:lnTo>
                <a:lnTo>
                  <a:pt x="1167264" y="3244"/>
                </a:lnTo>
                <a:lnTo>
                  <a:pt x="1102755" y="819"/>
                </a:lnTo>
                <a:lnTo>
                  <a:pt x="1037162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33818" y="3496246"/>
            <a:ext cx="2074545" cy="833119"/>
          </a:xfrm>
          <a:custGeom>
            <a:avLst/>
            <a:gdLst/>
            <a:ahLst/>
            <a:cxnLst/>
            <a:rect l="l" t="t" r="r" b="b"/>
            <a:pathLst>
              <a:path w="2074545" h="833120">
                <a:moveTo>
                  <a:pt x="2074352" y="416450"/>
                </a:moveTo>
                <a:lnTo>
                  <a:pt x="2066271" y="364212"/>
                </a:lnTo>
                <a:lnTo>
                  <a:pt x="2042675" y="313910"/>
                </a:lnTo>
                <a:lnTo>
                  <a:pt x="2004537" y="265934"/>
                </a:lnTo>
                <a:lnTo>
                  <a:pt x="1952828" y="220676"/>
                </a:lnTo>
                <a:lnTo>
                  <a:pt x="1888521" y="178524"/>
                </a:lnTo>
                <a:lnTo>
                  <a:pt x="1851946" y="158735"/>
                </a:lnTo>
                <a:lnTo>
                  <a:pt x="1812587" y="139870"/>
                </a:lnTo>
                <a:lnTo>
                  <a:pt x="1770564" y="121976"/>
                </a:lnTo>
                <a:lnTo>
                  <a:pt x="1725999" y="105103"/>
                </a:lnTo>
                <a:lnTo>
                  <a:pt x="1679013" y="89300"/>
                </a:lnTo>
                <a:lnTo>
                  <a:pt x="1629728" y="74614"/>
                </a:lnTo>
                <a:lnTo>
                  <a:pt x="1578266" y="61096"/>
                </a:lnTo>
                <a:lnTo>
                  <a:pt x="1524747" y="48794"/>
                </a:lnTo>
                <a:lnTo>
                  <a:pt x="1469294" y="37756"/>
                </a:lnTo>
                <a:lnTo>
                  <a:pt x="1412028" y="28032"/>
                </a:lnTo>
                <a:lnTo>
                  <a:pt x="1353071" y="19670"/>
                </a:lnTo>
                <a:lnTo>
                  <a:pt x="1292543" y="12718"/>
                </a:lnTo>
                <a:lnTo>
                  <a:pt x="1230567" y="7227"/>
                </a:lnTo>
                <a:lnTo>
                  <a:pt x="1167264" y="3244"/>
                </a:lnTo>
                <a:lnTo>
                  <a:pt x="1102755" y="819"/>
                </a:lnTo>
                <a:lnTo>
                  <a:pt x="1037162" y="0"/>
                </a:lnTo>
                <a:lnTo>
                  <a:pt x="971569" y="819"/>
                </a:lnTo>
                <a:lnTo>
                  <a:pt x="907061" y="3244"/>
                </a:lnTo>
                <a:lnTo>
                  <a:pt x="843758" y="7227"/>
                </a:lnTo>
                <a:lnTo>
                  <a:pt x="781783" y="12718"/>
                </a:lnTo>
                <a:lnTo>
                  <a:pt x="721256" y="19670"/>
                </a:lnTo>
                <a:lnTo>
                  <a:pt x="662299" y="28032"/>
                </a:lnTo>
                <a:lnTo>
                  <a:pt x="605034" y="37756"/>
                </a:lnTo>
                <a:lnTo>
                  <a:pt x="549583" y="48794"/>
                </a:lnTo>
                <a:lnTo>
                  <a:pt x="496066" y="61096"/>
                </a:lnTo>
                <a:lnTo>
                  <a:pt x="444605" y="74614"/>
                </a:lnTo>
                <a:lnTo>
                  <a:pt x="395322" y="89300"/>
                </a:lnTo>
                <a:lnTo>
                  <a:pt x="348338" y="105103"/>
                </a:lnTo>
                <a:lnTo>
                  <a:pt x="303774" y="121976"/>
                </a:lnTo>
                <a:lnTo>
                  <a:pt x="261753" y="139870"/>
                </a:lnTo>
                <a:lnTo>
                  <a:pt x="222395" y="158735"/>
                </a:lnTo>
                <a:lnTo>
                  <a:pt x="185822" y="178524"/>
                </a:lnTo>
                <a:lnTo>
                  <a:pt x="152156" y="199187"/>
                </a:lnTo>
                <a:lnTo>
                  <a:pt x="94029" y="242941"/>
                </a:lnTo>
                <a:lnTo>
                  <a:pt x="48986" y="289607"/>
                </a:lnTo>
                <a:lnTo>
                  <a:pt x="17999" y="338794"/>
                </a:lnTo>
                <a:lnTo>
                  <a:pt x="2040" y="390113"/>
                </a:lnTo>
                <a:lnTo>
                  <a:pt x="0" y="416450"/>
                </a:lnTo>
                <a:lnTo>
                  <a:pt x="2040" y="442787"/>
                </a:lnTo>
                <a:lnTo>
                  <a:pt x="17999" y="494105"/>
                </a:lnTo>
                <a:lnTo>
                  <a:pt x="48986" y="543293"/>
                </a:lnTo>
                <a:lnTo>
                  <a:pt x="94029" y="589959"/>
                </a:lnTo>
                <a:lnTo>
                  <a:pt x="152156" y="633713"/>
                </a:lnTo>
                <a:lnTo>
                  <a:pt x="185822" y="654376"/>
                </a:lnTo>
                <a:lnTo>
                  <a:pt x="222395" y="674164"/>
                </a:lnTo>
                <a:lnTo>
                  <a:pt x="261753" y="693030"/>
                </a:lnTo>
                <a:lnTo>
                  <a:pt x="303774" y="710924"/>
                </a:lnTo>
                <a:lnTo>
                  <a:pt x="348338" y="727797"/>
                </a:lnTo>
                <a:lnTo>
                  <a:pt x="395322" y="743600"/>
                </a:lnTo>
                <a:lnTo>
                  <a:pt x="444605" y="758285"/>
                </a:lnTo>
                <a:lnTo>
                  <a:pt x="496066" y="771804"/>
                </a:lnTo>
                <a:lnTo>
                  <a:pt x="549583" y="784106"/>
                </a:lnTo>
                <a:lnTo>
                  <a:pt x="605034" y="795144"/>
                </a:lnTo>
                <a:lnTo>
                  <a:pt x="662299" y="804868"/>
                </a:lnTo>
                <a:lnTo>
                  <a:pt x="721256" y="813230"/>
                </a:lnTo>
                <a:lnTo>
                  <a:pt x="781783" y="820181"/>
                </a:lnTo>
                <a:lnTo>
                  <a:pt x="843758" y="825673"/>
                </a:lnTo>
                <a:lnTo>
                  <a:pt x="907061" y="829656"/>
                </a:lnTo>
                <a:lnTo>
                  <a:pt x="971569" y="832081"/>
                </a:lnTo>
                <a:lnTo>
                  <a:pt x="1037162" y="832900"/>
                </a:lnTo>
                <a:lnTo>
                  <a:pt x="1102755" y="832081"/>
                </a:lnTo>
                <a:lnTo>
                  <a:pt x="1167264" y="829656"/>
                </a:lnTo>
                <a:lnTo>
                  <a:pt x="1230567" y="825673"/>
                </a:lnTo>
                <a:lnTo>
                  <a:pt x="1292543" y="820181"/>
                </a:lnTo>
                <a:lnTo>
                  <a:pt x="1353071" y="813230"/>
                </a:lnTo>
                <a:lnTo>
                  <a:pt x="1412028" y="804868"/>
                </a:lnTo>
                <a:lnTo>
                  <a:pt x="1469294" y="795144"/>
                </a:lnTo>
                <a:lnTo>
                  <a:pt x="1524747" y="784106"/>
                </a:lnTo>
                <a:lnTo>
                  <a:pt x="1578266" y="771804"/>
                </a:lnTo>
                <a:lnTo>
                  <a:pt x="1629728" y="758285"/>
                </a:lnTo>
                <a:lnTo>
                  <a:pt x="1679013" y="743600"/>
                </a:lnTo>
                <a:lnTo>
                  <a:pt x="1725999" y="727797"/>
                </a:lnTo>
                <a:lnTo>
                  <a:pt x="1770564" y="710924"/>
                </a:lnTo>
                <a:lnTo>
                  <a:pt x="1812587" y="693030"/>
                </a:lnTo>
                <a:lnTo>
                  <a:pt x="1851946" y="674164"/>
                </a:lnTo>
                <a:lnTo>
                  <a:pt x="1888521" y="654376"/>
                </a:lnTo>
                <a:lnTo>
                  <a:pt x="1922188" y="633713"/>
                </a:lnTo>
                <a:lnTo>
                  <a:pt x="1980318" y="589959"/>
                </a:lnTo>
                <a:lnTo>
                  <a:pt x="2025363" y="543293"/>
                </a:lnTo>
                <a:lnTo>
                  <a:pt x="2056352" y="494105"/>
                </a:lnTo>
                <a:lnTo>
                  <a:pt x="2072312" y="442787"/>
                </a:lnTo>
                <a:lnTo>
                  <a:pt x="2074352" y="416450"/>
                </a:lnTo>
                <a:close/>
              </a:path>
            </a:pathLst>
          </a:custGeom>
          <a:ln w="67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95370" y="3749811"/>
            <a:ext cx="115125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20" dirty="0">
                <a:latin typeface="宋体"/>
                <a:cs typeface="宋体"/>
              </a:rPr>
              <a:t>需求分理器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82608" y="3456593"/>
            <a:ext cx="2074545" cy="833119"/>
          </a:xfrm>
          <a:custGeom>
            <a:avLst/>
            <a:gdLst/>
            <a:ahLst/>
            <a:cxnLst/>
            <a:rect l="l" t="t" r="r" b="b"/>
            <a:pathLst>
              <a:path w="2074545" h="833120">
                <a:moveTo>
                  <a:pt x="1037162" y="0"/>
                </a:moveTo>
                <a:lnTo>
                  <a:pt x="971575" y="819"/>
                </a:lnTo>
                <a:lnTo>
                  <a:pt x="907072" y="3244"/>
                </a:lnTo>
                <a:lnTo>
                  <a:pt x="843773" y="7227"/>
                </a:lnTo>
                <a:lnTo>
                  <a:pt x="781801" y="12718"/>
                </a:lnTo>
                <a:lnTo>
                  <a:pt x="721277" y="19670"/>
                </a:lnTo>
                <a:lnTo>
                  <a:pt x="662322" y="28032"/>
                </a:lnTo>
                <a:lnTo>
                  <a:pt x="605059" y="37756"/>
                </a:lnTo>
                <a:lnTo>
                  <a:pt x="549608" y="48794"/>
                </a:lnTo>
                <a:lnTo>
                  <a:pt x="496091" y="61096"/>
                </a:lnTo>
                <a:lnTo>
                  <a:pt x="444630" y="74614"/>
                </a:lnTo>
                <a:lnTo>
                  <a:pt x="395345" y="89300"/>
                </a:lnTo>
                <a:lnTo>
                  <a:pt x="348360" y="105103"/>
                </a:lnTo>
                <a:lnTo>
                  <a:pt x="303795" y="121976"/>
                </a:lnTo>
                <a:lnTo>
                  <a:pt x="261772" y="139870"/>
                </a:lnTo>
                <a:lnTo>
                  <a:pt x="222412" y="158735"/>
                </a:lnTo>
                <a:lnTo>
                  <a:pt x="185837" y="178524"/>
                </a:lnTo>
                <a:lnTo>
                  <a:pt x="152169" y="199187"/>
                </a:lnTo>
                <a:lnTo>
                  <a:pt x="94038" y="242941"/>
                </a:lnTo>
                <a:lnTo>
                  <a:pt x="48991" y="289607"/>
                </a:lnTo>
                <a:lnTo>
                  <a:pt x="18001" y="338794"/>
                </a:lnTo>
                <a:lnTo>
                  <a:pt x="2040" y="390113"/>
                </a:lnTo>
                <a:lnTo>
                  <a:pt x="0" y="416450"/>
                </a:lnTo>
                <a:lnTo>
                  <a:pt x="2040" y="442787"/>
                </a:lnTo>
                <a:lnTo>
                  <a:pt x="18001" y="494105"/>
                </a:lnTo>
                <a:lnTo>
                  <a:pt x="48991" y="543293"/>
                </a:lnTo>
                <a:lnTo>
                  <a:pt x="94038" y="589959"/>
                </a:lnTo>
                <a:lnTo>
                  <a:pt x="152169" y="633713"/>
                </a:lnTo>
                <a:lnTo>
                  <a:pt x="185837" y="654376"/>
                </a:lnTo>
                <a:lnTo>
                  <a:pt x="222412" y="674164"/>
                </a:lnTo>
                <a:lnTo>
                  <a:pt x="261772" y="693030"/>
                </a:lnTo>
                <a:lnTo>
                  <a:pt x="303795" y="710924"/>
                </a:lnTo>
                <a:lnTo>
                  <a:pt x="348360" y="727797"/>
                </a:lnTo>
                <a:lnTo>
                  <a:pt x="395345" y="743600"/>
                </a:lnTo>
                <a:lnTo>
                  <a:pt x="444630" y="758285"/>
                </a:lnTo>
                <a:lnTo>
                  <a:pt x="496091" y="771804"/>
                </a:lnTo>
                <a:lnTo>
                  <a:pt x="549608" y="784106"/>
                </a:lnTo>
                <a:lnTo>
                  <a:pt x="605059" y="795144"/>
                </a:lnTo>
                <a:lnTo>
                  <a:pt x="662322" y="804868"/>
                </a:lnTo>
                <a:lnTo>
                  <a:pt x="721277" y="813230"/>
                </a:lnTo>
                <a:lnTo>
                  <a:pt x="781801" y="820181"/>
                </a:lnTo>
                <a:lnTo>
                  <a:pt x="843773" y="825673"/>
                </a:lnTo>
                <a:lnTo>
                  <a:pt x="907072" y="829655"/>
                </a:lnTo>
                <a:lnTo>
                  <a:pt x="971575" y="832081"/>
                </a:lnTo>
                <a:lnTo>
                  <a:pt x="1037162" y="832900"/>
                </a:lnTo>
                <a:lnTo>
                  <a:pt x="1102749" y="832081"/>
                </a:lnTo>
                <a:lnTo>
                  <a:pt x="1167252" y="829655"/>
                </a:lnTo>
                <a:lnTo>
                  <a:pt x="1230551" y="825673"/>
                </a:lnTo>
                <a:lnTo>
                  <a:pt x="1292523" y="820181"/>
                </a:lnTo>
                <a:lnTo>
                  <a:pt x="1353047" y="813230"/>
                </a:lnTo>
                <a:lnTo>
                  <a:pt x="1412001" y="804868"/>
                </a:lnTo>
                <a:lnTo>
                  <a:pt x="1469265" y="795144"/>
                </a:lnTo>
                <a:lnTo>
                  <a:pt x="1524716" y="784106"/>
                </a:lnTo>
                <a:lnTo>
                  <a:pt x="1578233" y="771804"/>
                </a:lnTo>
                <a:lnTo>
                  <a:pt x="1629694" y="758285"/>
                </a:lnTo>
                <a:lnTo>
                  <a:pt x="1678978" y="743600"/>
                </a:lnTo>
                <a:lnTo>
                  <a:pt x="1725964" y="727797"/>
                </a:lnTo>
                <a:lnTo>
                  <a:pt x="1770529" y="710924"/>
                </a:lnTo>
                <a:lnTo>
                  <a:pt x="1812552" y="693030"/>
                </a:lnTo>
                <a:lnTo>
                  <a:pt x="1851912" y="674164"/>
                </a:lnTo>
                <a:lnTo>
                  <a:pt x="1888486" y="654376"/>
                </a:lnTo>
                <a:lnTo>
                  <a:pt x="1922155" y="633713"/>
                </a:lnTo>
                <a:lnTo>
                  <a:pt x="1980286" y="589959"/>
                </a:lnTo>
                <a:lnTo>
                  <a:pt x="2025333" y="543293"/>
                </a:lnTo>
                <a:lnTo>
                  <a:pt x="2056323" y="494105"/>
                </a:lnTo>
                <a:lnTo>
                  <a:pt x="2072284" y="442787"/>
                </a:lnTo>
                <a:lnTo>
                  <a:pt x="2074324" y="416450"/>
                </a:lnTo>
                <a:lnTo>
                  <a:pt x="2072284" y="390113"/>
                </a:lnTo>
                <a:lnTo>
                  <a:pt x="2056323" y="338794"/>
                </a:lnTo>
                <a:lnTo>
                  <a:pt x="2025333" y="289607"/>
                </a:lnTo>
                <a:lnTo>
                  <a:pt x="1980286" y="242941"/>
                </a:lnTo>
                <a:lnTo>
                  <a:pt x="1922155" y="199187"/>
                </a:lnTo>
                <a:lnTo>
                  <a:pt x="1888486" y="178524"/>
                </a:lnTo>
                <a:lnTo>
                  <a:pt x="1851912" y="158735"/>
                </a:lnTo>
                <a:lnTo>
                  <a:pt x="1812552" y="139870"/>
                </a:lnTo>
                <a:lnTo>
                  <a:pt x="1770529" y="121976"/>
                </a:lnTo>
                <a:lnTo>
                  <a:pt x="1725964" y="105103"/>
                </a:lnTo>
                <a:lnTo>
                  <a:pt x="1678978" y="89300"/>
                </a:lnTo>
                <a:lnTo>
                  <a:pt x="1629694" y="74614"/>
                </a:lnTo>
                <a:lnTo>
                  <a:pt x="1578233" y="61096"/>
                </a:lnTo>
                <a:lnTo>
                  <a:pt x="1524716" y="48794"/>
                </a:lnTo>
                <a:lnTo>
                  <a:pt x="1469265" y="37756"/>
                </a:lnTo>
                <a:lnTo>
                  <a:pt x="1412001" y="28032"/>
                </a:lnTo>
                <a:lnTo>
                  <a:pt x="1353047" y="19670"/>
                </a:lnTo>
                <a:lnTo>
                  <a:pt x="1292523" y="12718"/>
                </a:lnTo>
                <a:lnTo>
                  <a:pt x="1230550" y="7227"/>
                </a:lnTo>
                <a:lnTo>
                  <a:pt x="1167252" y="3244"/>
                </a:lnTo>
                <a:lnTo>
                  <a:pt x="1102749" y="819"/>
                </a:lnTo>
                <a:lnTo>
                  <a:pt x="1037162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82609" y="3456593"/>
            <a:ext cx="2074545" cy="833119"/>
          </a:xfrm>
          <a:custGeom>
            <a:avLst/>
            <a:gdLst/>
            <a:ahLst/>
            <a:cxnLst/>
            <a:rect l="l" t="t" r="r" b="b"/>
            <a:pathLst>
              <a:path w="2074545" h="833120">
                <a:moveTo>
                  <a:pt x="2074324" y="416450"/>
                </a:moveTo>
                <a:lnTo>
                  <a:pt x="2066243" y="364212"/>
                </a:lnTo>
                <a:lnTo>
                  <a:pt x="2042646" y="313910"/>
                </a:lnTo>
                <a:lnTo>
                  <a:pt x="2004506" y="265934"/>
                </a:lnTo>
                <a:lnTo>
                  <a:pt x="1952795" y="220676"/>
                </a:lnTo>
                <a:lnTo>
                  <a:pt x="1888486" y="178524"/>
                </a:lnTo>
                <a:lnTo>
                  <a:pt x="1851912" y="158735"/>
                </a:lnTo>
                <a:lnTo>
                  <a:pt x="1812552" y="139870"/>
                </a:lnTo>
                <a:lnTo>
                  <a:pt x="1770529" y="121976"/>
                </a:lnTo>
                <a:lnTo>
                  <a:pt x="1725964" y="105103"/>
                </a:lnTo>
                <a:lnTo>
                  <a:pt x="1678978" y="89300"/>
                </a:lnTo>
                <a:lnTo>
                  <a:pt x="1629694" y="74614"/>
                </a:lnTo>
                <a:lnTo>
                  <a:pt x="1578233" y="61096"/>
                </a:lnTo>
                <a:lnTo>
                  <a:pt x="1524716" y="48794"/>
                </a:lnTo>
                <a:lnTo>
                  <a:pt x="1469265" y="37756"/>
                </a:lnTo>
                <a:lnTo>
                  <a:pt x="1412001" y="28032"/>
                </a:lnTo>
                <a:lnTo>
                  <a:pt x="1353047" y="19670"/>
                </a:lnTo>
                <a:lnTo>
                  <a:pt x="1292523" y="12718"/>
                </a:lnTo>
                <a:lnTo>
                  <a:pt x="1230551" y="7227"/>
                </a:lnTo>
                <a:lnTo>
                  <a:pt x="1167252" y="3244"/>
                </a:lnTo>
                <a:lnTo>
                  <a:pt x="1102749" y="819"/>
                </a:lnTo>
                <a:lnTo>
                  <a:pt x="1037162" y="0"/>
                </a:lnTo>
                <a:lnTo>
                  <a:pt x="971575" y="819"/>
                </a:lnTo>
                <a:lnTo>
                  <a:pt x="907072" y="3244"/>
                </a:lnTo>
                <a:lnTo>
                  <a:pt x="843773" y="7227"/>
                </a:lnTo>
                <a:lnTo>
                  <a:pt x="781801" y="12718"/>
                </a:lnTo>
                <a:lnTo>
                  <a:pt x="721277" y="19670"/>
                </a:lnTo>
                <a:lnTo>
                  <a:pt x="662322" y="28032"/>
                </a:lnTo>
                <a:lnTo>
                  <a:pt x="605059" y="37756"/>
                </a:lnTo>
                <a:lnTo>
                  <a:pt x="549608" y="48794"/>
                </a:lnTo>
                <a:lnTo>
                  <a:pt x="496091" y="61096"/>
                </a:lnTo>
                <a:lnTo>
                  <a:pt x="444630" y="74614"/>
                </a:lnTo>
                <a:lnTo>
                  <a:pt x="395345" y="89300"/>
                </a:lnTo>
                <a:lnTo>
                  <a:pt x="348360" y="105103"/>
                </a:lnTo>
                <a:lnTo>
                  <a:pt x="303795" y="121976"/>
                </a:lnTo>
                <a:lnTo>
                  <a:pt x="261772" y="139870"/>
                </a:lnTo>
                <a:lnTo>
                  <a:pt x="222412" y="158735"/>
                </a:lnTo>
                <a:lnTo>
                  <a:pt x="185837" y="178524"/>
                </a:lnTo>
                <a:lnTo>
                  <a:pt x="152169" y="199187"/>
                </a:lnTo>
                <a:lnTo>
                  <a:pt x="94038" y="242941"/>
                </a:lnTo>
                <a:lnTo>
                  <a:pt x="48991" y="289607"/>
                </a:lnTo>
                <a:lnTo>
                  <a:pt x="18001" y="338794"/>
                </a:lnTo>
                <a:lnTo>
                  <a:pt x="2040" y="390113"/>
                </a:lnTo>
                <a:lnTo>
                  <a:pt x="0" y="416450"/>
                </a:lnTo>
                <a:lnTo>
                  <a:pt x="2040" y="442787"/>
                </a:lnTo>
                <a:lnTo>
                  <a:pt x="18001" y="494105"/>
                </a:lnTo>
                <a:lnTo>
                  <a:pt x="48991" y="543293"/>
                </a:lnTo>
                <a:lnTo>
                  <a:pt x="94038" y="589959"/>
                </a:lnTo>
                <a:lnTo>
                  <a:pt x="152169" y="633713"/>
                </a:lnTo>
                <a:lnTo>
                  <a:pt x="185837" y="654376"/>
                </a:lnTo>
                <a:lnTo>
                  <a:pt x="222412" y="674164"/>
                </a:lnTo>
                <a:lnTo>
                  <a:pt x="261772" y="693030"/>
                </a:lnTo>
                <a:lnTo>
                  <a:pt x="303795" y="710924"/>
                </a:lnTo>
                <a:lnTo>
                  <a:pt x="348360" y="727797"/>
                </a:lnTo>
                <a:lnTo>
                  <a:pt x="395346" y="743600"/>
                </a:lnTo>
                <a:lnTo>
                  <a:pt x="444630" y="758285"/>
                </a:lnTo>
                <a:lnTo>
                  <a:pt x="496091" y="771804"/>
                </a:lnTo>
                <a:lnTo>
                  <a:pt x="549608" y="784106"/>
                </a:lnTo>
                <a:lnTo>
                  <a:pt x="605059" y="795144"/>
                </a:lnTo>
                <a:lnTo>
                  <a:pt x="662322" y="804868"/>
                </a:lnTo>
                <a:lnTo>
                  <a:pt x="721277" y="813230"/>
                </a:lnTo>
                <a:lnTo>
                  <a:pt x="781801" y="820181"/>
                </a:lnTo>
                <a:lnTo>
                  <a:pt x="843773" y="825673"/>
                </a:lnTo>
                <a:lnTo>
                  <a:pt x="907072" y="829656"/>
                </a:lnTo>
                <a:lnTo>
                  <a:pt x="971575" y="832081"/>
                </a:lnTo>
                <a:lnTo>
                  <a:pt x="1037162" y="832900"/>
                </a:lnTo>
                <a:lnTo>
                  <a:pt x="1102749" y="832081"/>
                </a:lnTo>
                <a:lnTo>
                  <a:pt x="1167252" y="829656"/>
                </a:lnTo>
                <a:lnTo>
                  <a:pt x="1230551" y="825673"/>
                </a:lnTo>
                <a:lnTo>
                  <a:pt x="1292523" y="820181"/>
                </a:lnTo>
                <a:lnTo>
                  <a:pt x="1353047" y="813230"/>
                </a:lnTo>
                <a:lnTo>
                  <a:pt x="1412001" y="804868"/>
                </a:lnTo>
                <a:lnTo>
                  <a:pt x="1469265" y="795144"/>
                </a:lnTo>
                <a:lnTo>
                  <a:pt x="1524716" y="784106"/>
                </a:lnTo>
                <a:lnTo>
                  <a:pt x="1578233" y="771804"/>
                </a:lnTo>
                <a:lnTo>
                  <a:pt x="1629694" y="758285"/>
                </a:lnTo>
                <a:lnTo>
                  <a:pt x="1678978" y="743600"/>
                </a:lnTo>
                <a:lnTo>
                  <a:pt x="1725964" y="727797"/>
                </a:lnTo>
                <a:lnTo>
                  <a:pt x="1770529" y="710924"/>
                </a:lnTo>
                <a:lnTo>
                  <a:pt x="1812552" y="693030"/>
                </a:lnTo>
                <a:lnTo>
                  <a:pt x="1851912" y="674164"/>
                </a:lnTo>
                <a:lnTo>
                  <a:pt x="1888486" y="654376"/>
                </a:lnTo>
                <a:lnTo>
                  <a:pt x="1922155" y="633713"/>
                </a:lnTo>
                <a:lnTo>
                  <a:pt x="1980286" y="589959"/>
                </a:lnTo>
                <a:lnTo>
                  <a:pt x="2025333" y="543293"/>
                </a:lnTo>
                <a:lnTo>
                  <a:pt x="2056323" y="494105"/>
                </a:lnTo>
                <a:lnTo>
                  <a:pt x="2072284" y="442787"/>
                </a:lnTo>
                <a:lnTo>
                  <a:pt x="2074324" y="416450"/>
                </a:lnTo>
                <a:close/>
              </a:path>
            </a:pathLst>
          </a:custGeom>
          <a:ln w="67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44160" y="3710130"/>
            <a:ext cx="115125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20" dirty="0">
                <a:latin typeface="宋体"/>
                <a:cs typeface="宋体"/>
              </a:rPr>
              <a:t>需求分析器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70981" y="2571503"/>
            <a:ext cx="8890" cy="712470"/>
          </a:xfrm>
          <a:custGeom>
            <a:avLst/>
            <a:gdLst/>
            <a:ahLst/>
            <a:cxnLst/>
            <a:rect l="l" t="t" r="r" b="b"/>
            <a:pathLst>
              <a:path w="8889" h="712470">
                <a:moveTo>
                  <a:pt x="0" y="0"/>
                </a:moveTo>
                <a:lnTo>
                  <a:pt x="8556" y="712403"/>
                </a:lnTo>
              </a:path>
            </a:pathLst>
          </a:custGeom>
          <a:ln w="6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01630" y="3263675"/>
            <a:ext cx="155575" cy="233045"/>
          </a:xfrm>
          <a:custGeom>
            <a:avLst/>
            <a:gdLst/>
            <a:ahLst/>
            <a:cxnLst/>
            <a:rect l="l" t="t" r="r" b="b"/>
            <a:pathLst>
              <a:path w="155575" h="233045">
                <a:moveTo>
                  <a:pt x="155335" y="0"/>
                </a:moveTo>
                <a:lnTo>
                  <a:pt x="0" y="1846"/>
                </a:lnTo>
                <a:lnTo>
                  <a:pt x="80439" y="232598"/>
                </a:lnTo>
                <a:lnTo>
                  <a:pt x="1553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19771" y="2796491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102"/>
                </a:lnTo>
              </a:path>
            </a:pathLst>
          </a:custGeom>
          <a:ln w="6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42089" y="2584096"/>
            <a:ext cx="155575" cy="231775"/>
          </a:xfrm>
          <a:custGeom>
            <a:avLst/>
            <a:gdLst/>
            <a:ahLst/>
            <a:cxnLst/>
            <a:rect l="l" t="t" r="r" b="b"/>
            <a:pathLst>
              <a:path w="155575" h="231775">
                <a:moveTo>
                  <a:pt x="77681" y="0"/>
                </a:moveTo>
                <a:lnTo>
                  <a:pt x="0" y="231703"/>
                </a:lnTo>
                <a:lnTo>
                  <a:pt x="155363" y="231703"/>
                </a:lnTo>
                <a:lnTo>
                  <a:pt x="776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59891" y="4329119"/>
            <a:ext cx="595630" cy="1110615"/>
          </a:xfrm>
          <a:custGeom>
            <a:avLst/>
            <a:gdLst/>
            <a:ahLst/>
            <a:cxnLst/>
            <a:rect l="l" t="t" r="r" b="b"/>
            <a:pathLst>
              <a:path w="595630" h="1110614">
                <a:moveTo>
                  <a:pt x="0" y="0"/>
                </a:moveTo>
                <a:lnTo>
                  <a:pt x="0" y="1110553"/>
                </a:lnTo>
                <a:lnTo>
                  <a:pt x="595305" y="1110553"/>
                </a:lnTo>
              </a:path>
            </a:pathLst>
          </a:custGeom>
          <a:ln w="67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35777" y="5362437"/>
            <a:ext cx="233045" cy="154940"/>
          </a:xfrm>
          <a:custGeom>
            <a:avLst/>
            <a:gdLst/>
            <a:ahLst/>
            <a:cxnLst/>
            <a:rect l="l" t="t" r="r" b="b"/>
            <a:pathLst>
              <a:path w="233044" h="154939">
                <a:moveTo>
                  <a:pt x="0" y="0"/>
                </a:moveTo>
                <a:lnTo>
                  <a:pt x="0" y="154468"/>
                </a:lnTo>
                <a:lnTo>
                  <a:pt x="233044" y="772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21846" y="4501665"/>
            <a:ext cx="831215" cy="938530"/>
          </a:xfrm>
          <a:custGeom>
            <a:avLst/>
            <a:gdLst/>
            <a:ahLst/>
            <a:cxnLst/>
            <a:rect l="l" t="t" r="r" b="b"/>
            <a:pathLst>
              <a:path w="831215" h="938529">
                <a:moveTo>
                  <a:pt x="0" y="938006"/>
                </a:moveTo>
                <a:lnTo>
                  <a:pt x="831137" y="938006"/>
                </a:lnTo>
                <a:lnTo>
                  <a:pt x="831137" y="0"/>
                </a:lnTo>
              </a:path>
            </a:pathLst>
          </a:custGeom>
          <a:ln w="6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75301" y="4289270"/>
            <a:ext cx="155575" cy="231775"/>
          </a:xfrm>
          <a:custGeom>
            <a:avLst/>
            <a:gdLst/>
            <a:ahLst/>
            <a:cxnLst/>
            <a:rect l="l" t="t" r="r" b="b"/>
            <a:pathLst>
              <a:path w="155575" h="231775">
                <a:moveTo>
                  <a:pt x="77681" y="0"/>
                </a:moveTo>
                <a:lnTo>
                  <a:pt x="0" y="231703"/>
                </a:lnTo>
                <a:lnTo>
                  <a:pt x="155363" y="231703"/>
                </a:lnTo>
                <a:lnTo>
                  <a:pt x="776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4203065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验证与确认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需求验证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需求验证方法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问题修正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需求验证的实践调查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110" y="248538"/>
            <a:ext cx="28143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问题修正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6940"/>
            <a:ext cx="6343650" cy="47117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8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需求澄清（</a:t>
            </a:r>
            <a:r>
              <a:rPr sz="2800" spc="-5" dirty="0">
                <a:latin typeface="Calibri"/>
                <a:cs typeface="Calibri"/>
              </a:rPr>
              <a:t>Requirements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Clarification</a:t>
            </a:r>
            <a:r>
              <a:rPr sz="2800" spc="-10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宋体"/>
                <a:cs typeface="宋体"/>
              </a:rPr>
              <a:t>理解偏差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-5" dirty="0">
                <a:latin typeface="宋体"/>
                <a:cs typeface="宋体"/>
              </a:rPr>
              <a:t>重新进行分析工作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分析遗漏：重新分析和文档化这部分信息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表达不当：重新以合适的方式表达</a:t>
            </a:r>
            <a:endParaRPr sz="24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10" dirty="0">
                <a:latin typeface="宋体"/>
                <a:cs typeface="宋体"/>
              </a:rPr>
              <a:t>缺失需求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重新执行需求获取等一系列工作</a:t>
            </a:r>
            <a:endParaRPr sz="24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需求冲突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宋体"/>
                <a:cs typeface="宋体"/>
              </a:rPr>
              <a:t>协商解决</a:t>
            </a:r>
            <a:endParaRPr sz="24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6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不切实际的期望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项目调整与需求协商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260045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4203065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验证与确认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需求验证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需求验证方法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问题修正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需求验证的实践调查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697" y="197865"/>
            <a:ext cx="56121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5.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需求验证的实践调查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7922895" cy="417449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需求验证</a:t>
            </a:r>
            <a:r>
              <a:rPr sz="3200" spc="5" dirty="0">
                <a:latin typeface="宋体"/>
                <a:cs typeface="宋体"/>
              </a:rPr>
              <a:t>是重要的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需求验证是容易被忽视的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需求验证的方法是多样的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评审和原型最为广泛</a:t>
            </a:r>
            <a:endParaRPr sz="2800">
              <a:latin typeface="宋体"/>
              <a:cs typeface="宋体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客户对线索</a:t>
            </a:r>
            <a:r>
              <a:rPr sz="2800" spc="-10" dirty="0">
                <a:latin typeface="宋体"/>
                <a:cs typeface="宋体"/>
              </a:rPr>
              <a:t>（</a:t>
            </a:r>
            <a:r>
              <a:rPr sz="2800" spc="-10" dirty="0">
                <a:latin typeface="Calibri"/>
                <a:cs typeface="Calibri"/>
              </a:rPr>
              <a:t>Threads</a:t>
            </a:r>
            <a:r>
              <a:rPr sz="2800" spc="-10" dirty="0">
                <a:latin typeface="宋体"/>
                <a:cs typeface="宋体"/>
              </a:rPr>
              <a:t>）</a:t>
            </a:r>
            <a:r>
              <a:rPr sz="2800" spc="-5" dirty="0">
                <a:latin typeface="宋体"/>
                <a:cs typeface="宋体"/>
              </a:rPr>
              <a:t>和场景（</a:t>
            </a:r>
            <a:r>
              <a:rPr sz="2800" spc="-5" dirty="0">
                <a:latin typeface="Calibri"/>
                <a:cs typeface="Calibri"/>
              </a:rPr>
              <a:t>Scenarios</a:t>
            </a:r>
            <a:r>
              <a:rPr sz="2800" spc="-5" dirty="0">
                <a:latin typeface="宋体"/>
                <a:cs typeface="宋体"/>
              </a:rPr>
              <a:t>）表 </a:t>
            </a:r>
            <a:r>
              <a:rPr sz="2800" spc="-10" dirty="0">
                <a:latin typeface="宋体"/>
                <a:cs typeface="宋体"/>
              </a:rPr>
              <a:t>现出了最大的兴趣</a:t>
            </a:r>
            <a:endParaRPr sz="2800">
              <a:latin typeface="宋体"/>
              <a:cs typeface="宋体"/>
            </a:endParaRPr>
          </a:p>
          <a:p>
            <a:pPr marL="756285" marR="52705" lvl="1" indent="-287020">
              <a:lnSpc>
                <a:spcPts val="3140"/>
              </a:lnSpc>
              <a:spcBef>
                <a:spcPts val="118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技术人员、领域专家、客户以及用</a:t>
            </a:r>
            <a:r>
              <a:rPr sz="2800" spc="15" dirty="0">
                <a:latin typeface="宋体"/>
                <a:cs typeface="宋体"/>
              </a:rPr>
              <a:t>户</a:t>
            </a:r>
            <a:r>
              <a:rPr sz="2800" spc="-5" dirty="0">
                <a:latin typeface="宋体"/>
                <a:cs typeface="宋体"/>
              </a:rPr>
              <a:t>是最</a:t>
            </a:r>
            <a:r>
              <a:rPr sz="2800" dirty="0">
                <a:latin typeface="宋体"/>
                <a:cs typeface="宋体"/>
              </a:rPr>
              <a:t>合</a:t>
            </a:r>
            <a:r>
              <a:rPr sz="2800" spc="-5" dirty="0">
                <a:latin typeface="宋体"/>
                <a:cs typeface="宋体"/>
              </a:rPr>
              <a:t>适 的评审者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033" y="506094"/>
            <a:ext cx="79476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实例分</a:t>
            </a:r>
            <a:r>
              <a:rPr sz="4000" spc="-10" dirty="0"/>
              <a:t>析</a:t>
            </a:r>
            <a:r>
              <a:rPr sz="4000" spc="-5" dirty="0">
                <a:latin typeface="Calibri"/>
                <a:cs typeface="Calibri"/>
              </a:rPr>
              <a:t>(</a:t>
            </a:r>
            <a:r>
              <a:rPr sz="4000" spc="-5" dirty="0"/>
              <a:t>一个公司的业务管理系</a:t>
            </a:r>
            <a:r>
              <a:rPr sz="4000" dirty="0"/>
              <a:t>统</a:t>
            </a:r>
            <a:r>
              <a:rPr sz="4000" spc="-5" dirty="0">
                <a:latin typeface="Calibri"/>
                <a:cs typeface="Calibri"/>
              </a:rPr>
              <a:t>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0412"/>
            <a:ext cx="7900034" cy="446849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8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宋体"/>
                <a:cs typeface="宋体"/>
              </a:rPr>
              <a:t>问题</a:t>
            </a:r>
            <a:endParaRPr sz="2400">
              <a:latin typeface="宋体"/>
              <a:cs typeface="宋体"/>
            </a:endParaRPr>
          </a:p>
          <a:p>
            <a:pPr marL="756285" marR="17780" lvl="1" indent="-287020" algn="just">
              <a:lnSpc>
                <a:spcPct val="97800"/>
              </a:lnSpc>
              <a:spcBef>
                <a:spcPts val="71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需求虽然写好了也定稿</a:t>
            </a:r>
            <a:r>
              <a:rPr sz="2000" spc="-15" dirty="0">
                <a:latin typeface="宋体"/>
                <a:cs typeface="宋体"/>
              </a:rPr>
              <a:t>了</a:t>
            </a:r>
            <a:r>
              <a:rPr sz="2000" dirty="0">
                <a:latin typeface="宋体"/>
                <a:cs typeface="宋体"/>
              </a:rPr>
              <a:t>，但</a:t>
            </a:r>
            <a:r>
              <a:rPr sz="2000" spc="-15" dirty="0">
                <a:latin typeface="宋体"/>
                <a:cs typeface="宋体"/>
              </a:rPr>
              <a:t>是</a:t>
            </a:r>
            <a:r>
              <a:rPr sz="2000" dirty="0">
                <a:latin typeface="宋体"/>
                <a:cs typeface="宋体"/>
              </a:rPr>
              <a:t>并没</a:t>
            </a:r>
            <a:r>
              <a:rPr sz="2000" spc="-15" dirty="0">
                <a:latin typeface="宋体"/>
                <a:cs typeface="宋体"/>
              </a:rPr>
              <a:t>有</a:t>
            </a:r>
            <a:r>
              <a:rPr sz="2000" dirty="0">
                <a:latin typeface="宋体"/>
                <a:cs typeface="宋体"/>
              </a:rPr>
              <a:t>得到</a:t>
            </a:r>
            <a:r>
              <a:rPr sz="2000" spc="-15" dirty="0">
                <a:latin typeface="宋体"/>
                <a:cs typeface="宋体"/>
              </a:rPr>
              <a:t>最</a:t>
            </a:r>
            <a:r>
              <a:rPr sz="2000" dirty="0">
                <a:latin typeface="宋体"/>
                <a:cs typeface="宋体"/>
              </a:rPr>
              <a:t>终确</a:t>
            </a:r>
            <a:r>
              <a:rPr sz="2000" spc="-15" dirty="0">
                <a:latin typeface="宋体"/>
                <a:cs typeface="宋体"/>
              </a:rPr>
              <a:t>认</a:t>
            </a:r>
            <a:r>
              <a:rPr sz="2000" dirty="0">
                <a:latin typeface="宋体"/>
                <a:cs typeface="宋体"/>
              </a:rPr>
              <a:t>就开</a:t>
            </a:r>
            <a:r>
              <a:rPr sz="2000" spc="-15" dirty="0">
                <a:latin typeface="宋体"/>
                <a:cs typeface="宋体"/>
              </a:rPr>
              <a:t>始</a:t>
            </a:r>
            <a:r>
              <a:rPr sz="2000" dirty="0">
                <a:latin typeface="宋体"/>
                <a:cs typeface="宋体"/>
              </a:rPr>
              <a:t>了软 件开发工作。这种现象</a:t>
            </a:r>
            <a:r>
              <a:rPr sz="2000" spc="-15" dirty="0">
                <a:latin typeface="宋体"/>
                <a:cs typeface="宋体"/>
              </a:rPr>
              <a:t>主</a:t>
            </a:r>
            <a:r>
              <a:rPr sz="2000" dirty="0">
                <a:latin typeface="宋体"/>
                <a:cs typeface="宋体"/>
              </a:rPr>
              <a:t>要是</a:t>
            </a:r>
            <a:r>
              <a:rPr sz="2000" spc="-15" dirty="0">
                <a:latin typeface="宋体"/>
                <a:cs typeface="宋体"/>
              </a:rPr>
              <a:t>由</a:t>
            </a:r>
            <a:r>
              <a:rPr sz="2000" dirty="0">
                <a:latin typeface="宋体"/>
                <a:cs typeface="宋体"/>
              </a:rPr>
              <a:t>于业</a:t>
            </a:r>
            <a:r>
              <a:rPr sz="2000" spc="-15" dirty="0">
                <a:latin typeface="宋体"/>
                <a:cs typeface="宋体"/>
              </a:rPr>
              <a:t>务</a:t>
            </a:r>
            <a:r>
              <a:rPr sz="2000" dirty="0">
                <a:latin typeface="宋体"/>
                <a:cs typeface="宋体"/>
              </a:rPr>
              <a:t>小组</a:t>
            </a:r>
            <a:r>
              <a:rPr sz="2000" spc="-15" dirty="0">
                <a:latin typeface="宋体"/>
                <a:cs typeface="宋体"/>
              </a:rPr>
              <a:t>和</a:t>
            </a:r>
            <a:r>
              <a:rPr sz="2000" dirty="0">
                <a:latin typeface="宋体"/>
                <a:cs typeface="宋体"/>
              </a:rPr>
              <a:t>技术</a:t>
            </a:r>
            <a:r>
              <a:rPr sz="2000" spc="-15" dirty="0">
                <a:latin typeface="宋体"/>
                <a:cs typeface="宋体"/>
              </a:rPr>
              <a:t>小</a:t>
            </a:r>
            <a:r>
              <a:rPr sz="2000" dirty="0">
                <a:latin typeface="宋体"/>
                <a:cs typeface="宋体"/>
              </a:rPr>
              <a:t>组沟</a:t>
            </a:r>
            <a:r>
              <a:rPr sz="2000" spc="-15" dirty="0">
                <a:latin typeface="宋体"/>
                <a:cs typeface="宋体"/>
              </a:rPr>
              <a:t>通</a:t>
            </a:r>
            <a:r>
              <a:rPr sz="2000" dirty="0">
                <a:latin typeface="宋体"/>
                <a:cs typeface="宋体"/>
              </a:rPr>
              <a:t>不全 面造成的，在双方就某</a:t>
            </a:r>
            <a:r>
              <a:rPr sz="2000" spc="-15" dirty="0">
                <a:latin typeface="宋体"/>
                <a:cs typeface="宋体"/>
              </a:rPr>
              <a:t>一</a:t>
            </a:r>
            <a:r>
              <a:rPr sz="2000" dirty="0">
                <a:latin typeface="宋体"/>
                <a:cs typeface="宋体"/>
              </a:rPr>
              <a:t>问题</a:t>
            </a:r>
            <a:r>
              <a:rPr sz="2000" spc="-15" dirty="0">
                <a:latin typeface="宋体"/>
                <a:cs typeface="宋体"/>
              </a:rPr>
              <a:t>产</a:t>
            </a:r>
            <a:r>
              <a:rPr sz="2000" dirty="0">
                <a:latin typeface="宋体"/>
                <a:cs typeface="宋体"/>
              </a:rPr>
              <a:t>生分</a:t>
            </a:r>
            <a:r>
              <a:rPr sz="2000" spc="-15" dirty="0">
                <a:latin typeface="宋体"/>
                <a:cs typeface="宋体"/>
              </a:rPr>
              <a:t>歧</a:t>
            </a:r>
            <a:r>
              <a:rPr sz="2000" dirty="0">
                <a:latin typeface="宋体"/>
                <a:cs typeface="宋体"/>
              </a:rPr>
              <a:t>的情</a:t>
            </a:r>
            <a:r>
              <a:rPr sz="2000" spc="-15" dirty="0">
                <a:latin typeface="宋体"/>
                <a:cs typeface="宋体"/>
              </a:rPr>
              <a:t>况</a:t>
            </a:r>
            <a:r>
              <a:rPr sz="2000" dirty="0">
                <a:latin typeface="宋体"/>
                <a:cs typeface="宋体"/>
              </a:rPr>
              <a:t>下，</a:t>
            </a:r>
            <a:r>
              <a:rPr sz="2000" spc="-15" dirty="0">
                <a:latin typeface="宋体"/>
                <a:cs typeface="宋体"/>
              </a:rPr>
              <a:t>没</a:t>
            </a:r>
            <a:r>
              <a:rPr sz="2000" dirty="0">
                <a:latin typeface="宋体"/>
                <a:cs typeface="宋体"/>
              </a:rPr>
              <a:t>有一</a:t>
            </a:r>
            <a:r>
              <a:rPr sz="2000" spc="-15" dirty="0">
                <a:latin typeface="宋体"/>
                <a:cs typeface="宋体"/>
              </a:rPr>
              <a:t>个</a:t>
            </a:r>
            <a:r>
              <a:rPr sz="2000" dirty="0">
                <a:latin typeface="宋体"/>
                <a:cs typeface="宋体"/>
              </a:rPr>
              <a:t>能出 来拍板的人决定（有权</a:t>
            </a:r>
            <a:r>
              <a:rPr sz="2000" spc="-15" dirty="0">
                <a:latin typeface="宋体"/>
                <a:cs typeface="宋体"/>
              </a:rPr>
              <a:t>利</a:t>
            </a:r>
            <a:r>
              <a:rPr sz="2000" dirty="0">
                <a:latin typeface="宋体"/>
                <a:cs typeface="宋体"/>
              </a:rPr>
              <a:t>决定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领导</a:t>
            </a:r>
            <a:r>
              <a:rPr sz="2000" spc="-15" dirty="0">
                <a:latin typeface="宋体"/>
                <a:cs typeface="宋体"/>
              </a:rPr>
              <a:t>不</a:t>
            </a:r>
            <a:r>
              <a:rPr sz="2000" dirty="0">
                <a:latin typeface="宋体"/>
                <a:cs typeface="宋体"/>
              </a:rPr>
              <a:t>参与</a:t>
            </a:r>
            <a:r>
              <a:rPr sz="2000" spc="-15" dirty="0">
                <a:latin typeface="宋体"/>
                <a:cs typeface="宋体"/>
              </a:rPr>
              <a:t>开</a:t>
            </a:r>
            <a:r>
              <a:rPr sz="2000" dirty="0">
                <a:latin typeface="宋体"/>
                <a:cs typeface="宋体"/>
              </a:rPr>
              <a:t>发和</a:t>
            </a:r>
            <a:r>
              <a:rPr sz="2000" spc="-15" dirty="0">
                <a:latin typeface="宋体"/>
                <a:cs typeface="宋体"/>
              </a:rPr>
              <a:t>需</a:t>
            </a:r>
            <a:r>
              <a:rPr sz="2000" dirty="0">
                <a:latin typeface="宋体"/>
                <a:cs typeface="宋体"/>
              </a:rPr>
              <a:t>求编</a:t>
            </a:r>
            <a:r>
              <a:rPr sz="2000" spc="-15" dirty="0">
                <a:latin typeface="宋体"/>
                <a:cs typeface="宋体"/>
              </a:rPr>
              <a:t>写</a:t>
            </a:r>
            <a:r>
              <a:rPr sz="2000" dirty="0">
                <a:latin typeface="宋体"/>
                <a:cs typeface="宋体"/>
              </a:rPr>
              <a:t>）。</a:t>
            </a:r>
            <a:endParaRPr sz="2000">
              <a:latin typeface="宋体"/>
              <a:cs typeface="宋体"/>
            </a:endParaRPr>
          </a:p>
          <a:p>
            <a:pPr marL="756285" marR="5080" lvl="1" indent="-287020" algn="just">
              <a:lnSpc>
                <a:spcPct val="98700"/>
              </a:lnSpc>
              <a:spcBef>
                <a:spcPts val="67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所以整个项目的开发是</a:t>
            </a:r>
            <a:r>
              <a:rPr sz="2000" spc="-10" dirty="0">
                <a:latin typeface="宋体"/>
                <a:cs typeface="宋体"/>
              </a:rPr>
              <a:t>在</a:t>
            </a:r>
            <a:r>
              <a:rPr sz="2000" b="1" spc="5" dirty="0">
                <a:latin typeface="宋体"/>
                <a:cs typeface="宋体"/>
              </a:rPr>
              <a:t>业务</a:t>
            </a:r>
            <a:r>
              <a:rPr sz="2000" b="1" spc="-5" dirty="0">
                <a:latin typeface="宋体"/>
                <a:cs typeface="宋体"/>
              </a:rPr>
              <a:t>小</a:t>
            </a:r>
            <a:r>
              <a:rPr sz="2000" b="1" spc="10" dirty="0">
                <a:latin typeface="宋体"/>
                <a:cs typeface="宋体"/>
              </a:rPr>
              <a:t>组</a:t>
            </a:r>
            <a:r>
              <a:rPr sz="2000" dirty="0">
                <a:latin typeface="宋体"/>
                <a:cs typeface="宋体"/>
              </a:rPr>
              <a:t>和</a:t>
            </a:r>
            <a:r>
              <a:rPr sz="2000" b="1" spc="5" dirty="0">
                <a:latin typeface="宋体"/>
                <a:cs typeface="宋体"/>
              </a:rPr>
              <a:t>技</a:t>
            </a:r>
            <a:r>
              <a:rPr sz="2000" b="1" spc="-5" dirty="0">
                <a:latin typeface="宋体"/>
                <a:cs typeface="宋体"/>
              </a:rPr>
              <a:t>术</a:t>
            </a:r>
            <a:r>
              <a:rPr sz="2000" b="1" spc="5" dirty="0">
                <a:latin typeface="宋体"/>
                <a:cs typeface="宋体"/>
              </a:rPr>
              <a:t>小</a:t>
            </a:r>
            <a:r>
              <a:rPr sz="2000" b="1" spc="10" dirty="0">
                <a:latin typeface="宋体"/>
                <a:cs typeface="宋体"/>
              </a:rPr>
              <a:t>组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争论</a:t>
            </a:r>
            <a:r>
              <a:rPr sz="2000" spc="-15" dirty="0">
                <a:latin typeface="宋体"/>
                <a:cs typeface="宋体"/>
              </a:rPr>
              <a:t>中</a:t>
            </a:r>
            <a:r>
              <a:rPr sz="2000" dirty="0">
                <a:latin typeface="宋体"/>
                <a:cs typeface="宋体"/>
              </a:rPr>
              <a:t>走过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。 经常出现业务小组提出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方案</a:t>
            </a:r>
            <a:r>
              <a:rPr sz="2000" spc="-15" dirty="0">
                <a:latin typeface="宋体"/>
                <a:cs typeface="宋体"/>
              </a:rPr>
              <a:t>技</a:t>
            </a:r>
            <a:r>
              <a:rPr sz="2000" dirty="0">
                <a:latin typeface="宋体"/>
                <a:cs typeface="宋体"/>
              </a:rPr>
              <a:t>术小</a:t>
            </a:r>
            <a:r>
              <a:rPr sz="2000" spc="-15" dirty="0">
                <a:latin typeface="宋体"/>
                <a:cs typeface="宋体"/>
              </a:rPr>
              <a:t>组</a:t>
            </a:r>
            <a:r>
              <a:rPr sz="2000" dirty="0">
                <a:latin typeface="宋体"/>
                <a:cs typeface="宋体"/>
              </a:rPr>
              <a:t>难以</a:t>
            </a:r>
            <a:r>
              <a:rPr sz="2000" spc="-15" dirty="0">
                <a:latin typeface="宋体"/>
                <a:cs typeface="宋体"/>
              </a:rPr>
              <a:t>落</a:t>
            </a:r>
            <a:r>
              <a:rPr sz="2000" dirty="0">
                <a:latin typeface="宋体"/>
                <a:cs typeface="宋体"/>
              </a:rPr>
              <a:t>实，</a:t>
            </a:r>
            <a:r>
              <a:rPr sz="2000" spc="-15" dirty="0">
                <a:latin typeface="宋体"/>
                <a:cs typeface="宋体"/>
              </a:rPr>
              <a:t>等</a:t>
            </a:r>
            <a:r>
              <a:rPr sz="2000" dirty="0">
                <a:latin typeface="宋体"/>
                <a:cs typeface="宋体"/>
              </a:rPr>
              <a:t>到后</a:t>
            </a:r>
            <a:r>
              <a:rPr sz="2000" spc="-15" dirty="0">
                <a:latin typeface="宋体"/>
                <a:cs typeface="宋体"/>
              </a:rPr>
              <a:t>期</a:t>
            </a:r>
            <a:r>
              <a:rPr sz="2000" dirty="0">
                <a:latin typeface="宋体"/>
                <a:cs typeface="宋体"/>
              </a:rPr>
              <a:t>变通 修改造成功能损失的情</a:t>
            </a:r>
            <a:r>
              <a:rPr sz="2000" spc="-15" dirty="0">
                <a:latin typeface="宋体"/>
                <a:cs typeface="宋体"/>
              </a:rPr>
              <a:t>况</a:t>
            </a:r>
            <a:r>
              <a:rPr sz="2000" dirty="0">
                <a:latin typeface="宋体"/>
                <a:cs typeface="宋体"/>
              </a:rPr>
              <a:t>。因</a:t>
            </a:r>
            <a:r>
              <a:rPr sz="2000" spc="-15" dirty="0">
                <a:latin typeface="宋体"/>
                <a:cs typeface="宋体"/>
              </a:rPr>
              <a:t>为</a:t>
            </a:r>
            <a:r>
              <a:rPr sz="2000" dirty="0">
                <a:latin typeface="宋体"/>
                <a:cs typeface="宋体"/>
              </a:rPr>
              <a:t>需求</a:t>
            </a:r>
            <a:r>
              <a:rPr sz="2000" spc="-15" dirty="0">
                <a:latin typeface="宋体"/>
                <a:cs typeface="宋体"/>
              </a:rPr>
              <a:t>得</a:t>
            </a:r>
            <a:r>
              <a:rPr sz="2000" dirty="0">
                <a:latin typeface="宋体"/>
                <a:cs typeface="宋体"/>
              </a:rPr>
              <a:t>不到</a:t>
            </a:r>
            <a:r>
              <a:rPr sz="2000" spc="-15" dirty="0">
                <a:latin typeface="宋体"/>
                <a:cs typeface="宋体"/>
              </a:rPr>
              <a:t>最</a:t>
            </a:r>
            <a:r>
              <a:rPr sz="2000" dirty="0">
                <a:latin typeface="宋体"/>
                <a:cs typeface="宋体"/>
              </a:rPr>
              <a:t>终确</a:t>
            </a:r>
            <a:r>
              <a:rPr sz="2000" spc="-15" dirty="0">
                <a:latin typeface="宋体"/>
                <a:cs typeface="宋体"/>
              </a:rPr>
              <a:t>认</a:t>
            </a:r>
            <a:r>
              <a:rPr sz="2000" dirty="0">
                <a:latin typeface="宋体"/>
                <a:cs typeface="宋体"/>
              </a:rPr>
              <a:t>，一</a:t>
            </a:r>
            <a:r>
              <a:rPr sz="2000" spc="-15" dirty="0">
                <a:latin typeface="宋体"/>
                <a:cs typeface="宋体"/>
              </a:rPr>
              <a:t>直</a:t>
            </a:r>
            <a:r>
              <a:rPr sz="2000" dirty="0">
                <a:latin typeface="宋体"/>
                <a:cs typeface="宋体"/>
              </a:rPr>
              <a:t>在修 改中，造成技术小组不</a:t>
            </a:r>
            <a:r>
              <a:rPr sz="2000" spc="-15" dirty="0">
                <a:latin typeface="宋体"/>
                <a:cs typeface="宋体"/>
              </a:rPr>
              <a:t>停</a:t>
            </a:r>
            <a:r>
              <a:rPr sz="2000" dirty="0">
                <a:latin typeface="宋体"/>
                <a:cs typeface="宋体"/>
              </a:rPr>
              <a:t>的修</a:t>
            </a:r>
            <a:r>
              <a:rPr sz="2000" spc="-15" dirty="0">
                <a:latin typeface="宋体"/>
                <a:cs typeface="宋体"/>
              </a:rPr>
              <a:t>改</a:t>
            </a:r>
            <a:r>
              <a:rPr sz="2000" dirty="0">
                <a:latin typeface="宋体"/>
                <a:cs typeface="宋体"/>
              </a:rPr>
              <a:t>已经</a:t>
            </a:r>
            <a:r>
              <a:rPr sz="2000" spc="-15" dirty="0">
                <a:latin typeface="宋体"/>
                <a:cs typeface="宋体"/>
              </a:rPr>
              <a:t>编</a:t>
            </a:r>
            <a:r>
              <a:rPr sz="2000" dirty="0">
                <a:latin typeface="宋体"/>
                <a:cs typeface="宋体"/>
              </a:rPr>
              <a:t>写完</a:t>
            </a:r>
            <a:r>
              <a:rPr sz="2000" spc="-15" dirty="0">
                <a:latin typeface="宋体"/>
                <a:cs typeface="宋体"/>
              </a:rPr>
              <a:t>毕</a:t>
            </a:r>
            <a:r>
              <a:rPr sz="2000" dirty="0">
                <a:latin typeface="宋体"/>
                <a:cs typeface="宋体"/>
              </a:rPr>
              <a:t>的模</a:t>
            </a:r>
            <a:r>
              <a:rPr sz="2000" spc="-15" dirty="0">
                <a:latin typeface="宋体"/>
                <a:cs typeface="宋体"/>
              </a:rPr>
              <a:t>块</a:t>
            </a:r>
            <a:r>
              <a:rPr sz="2000" dirty="0">
                <a:latin typeface="宋体"/>
                <a:cs typeface="宋体"/>
              </a:rPr>
              <a:t>，有</a:t>
            </a:r>
            <a:r>
              <a:rPr sz="2000" spc="-15" dirty="0">
                <a:latin typeface="宋体"/>
                <a:cs typeface="宋体"/>
              </a:rPr>
              <a:t>些</a:t>
            </a:r>
            <a:r>
              <a:rPr sz="2000" dirty="0">
                <a:latin typeface="宋体"/>
                <a:cs typeface="宋体"/>
              </a:rPr>
              <a:t>改动 甚至涉及到公共基类的</a:t>
            </a:r>
            <a:r>
              <a:rPr sz="2000" spc="-10" dirty="0">
                <a:latin typeface="宋体"/>
                <a:cs typeface="宋体"/>
              </a:rPr>
              <a:t>修</a:t>
            </a:r>
            <a:r>
              <a:rPr sz="2000" dirty="0">
                <a:latin typeface="宋体"/>
                <a:cs typeface="宋体"/>
              </a:rPr>
              <a:t>改和</a:t>
            </a:r>
            <a:r>
              <a:rPr sz="2000" spc="-10" dirty="0">
                <a:latin typeface="宋体"/>
                <a:cs typeface="宋体"/>
              </a:rPr>
              <a:t>各</a:t>
            </a:r>
            <a:r>
              <a:rPr sz="2000" dirty="0">
                <a:latin typeface="宋体"/>
                <a:cs typeface="宋体"/>
              </a:rPr>
              <a:t>模块</a:t>
            </a:r>
            <a:r>
              <a:rPr sz="2000" spc="-10" dirty="0">
                <a:latin typeface="宋体"/>
                <a:cs typeface="宋体"/>
              </a:rPr>
              <a:t>之</a:t>
            </a:r>
            <a:r>
              <a:rPr sz="2000" dirty="0">
                <a:latin typeface="宋体"/>
                <a:cs typeface="宋体"/>
              </a:rPr>
              <a:t>间的</a:t>
            </a:r>
            <a:r>
              <a:rPr sz="2000" spc="-10" dirty="0">
                <a:latin typeface="宋体"/>
                <a:cs typeface="宋体"/>
              </a:rPr>
              <a:t>关</a:t>
            </a:r>
            <a:r>
              <a:rPr sz="2000" dirty="0">
                <a:latin typeface="宋体"/>
                <a:cs typeface="宋体"/>
              </a:rPr>
              <a:t>联，</a:t>
            </a:r>
            <a:r>
              <a:rPr sz="2000" spc="-10" dirty="0">
                <a:latin typeface="宋体"/>
                <a:cs typeface="宋体"/>
              </a:rPr>
              <a:t>造</a:t>
            </a:r>
            <a:r>
              <a:rPr sz="2000" dirty="0">
                <a:latin typeface="宋体"/>
                <a:cs typeface="宋体"/>
              </a:rPr>
              <a:t>成很</a:t>
            </a:r>
            <a:r>
              <a:rPr sz="2000" spc="-10" dirty="0">
                <a:latin typeface="宋体"/>
                <a:cs typeface="宋体"/>
              </a:rPr>
              <a:t>大</a:t>
            </a:r>
            <a:r>
              <a:rPr sz="2000" dirty="0">
                <a:latin typeface="宋体"/>
                <a:cs typeface="宋体"/>
              </a:rPr>
              <a:t>的浪 费。</a:t>
            </a:r>
            <a:endParaRPr sz="20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解决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验证与确认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dirty="0">
                <a:latin typeface="宋体"/>
                <a:cs typeface="宋体"/>
              </a:rPr>
              <a:t>需求管理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8011" y="308559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本节小结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361"/>
            <a:ext cx="7689850" cy="36061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55600" marR="5080" indent="-343535" algn="just">
              <a:lnSpc>
                <a:spcPct val="96900"/>
              </a:lnSpc>
              <a:spcBef>
                <a:spcPts val="22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solidFill>
                  <a:srgbClr val="00A361"/>
                </a:solidFill>
                <a:latin typeface="宋体"/>
                <a:cs typeface="宋体"/>
              </a:rPr>
              <a:t>验证与确</a:t>
            </a:r>
            <a:r>
              <a:rPr sz="3200" spc="5" dirty="0">
                <a:solidFill>
                  <a:srgbClr val="00A361"/>
                </a:solidFill>
                <a:latin typeface="宋体"/>
                <a:cs typeface="宋体"/>
              </a:rPr>
              <a:t>认</a:t>
            </a:r>
            <a:r>
              <a:rPr sz="3200" spc="5" dirty="0">
                <a:latin typeface="宋体"/>
                <a:cs typeface="宋体"/>
              </a:rPr>
              <a:t>是软件工</a:t>
            </a:r>
            <a:r>
              <a:rPr sz="3200" spc="-10" dirty="0">
                <a:latin typeface="宋体"/>
                <a:cs typeface="宋体"/>
              </a:rPr>
              <a:t>程当</a:t>
            </a:r>
            <a:r>
              <a:rPr sz="3200" spc="5" dirty="0">
                <a:latin typeface="宋体"/>
                <a:cs typeface="宋体"/>
              </a:rPr>
              <a:t>中一</a:t>
            </a:r>
            <a:r>
              <a:rPr sz="3200" spc="-15" dirty="0">
                <a:latin typeface="宋体"/>
                <a:cs typeface="宋体"/>
              </a:rPr>
              <a:t>项</a:t>
            </a:r>
            <a:r>
              <a:rPr sz="3200" spc="5" dirty="0">
                <a:latin typeface="宋体"/>
                <a:cs typeface="宋体"/>
              </a:rPr>
              <a:t>重要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活 动。需求验证是需求工</a:t>
            </a:r>
            <a:r>
              <a:rPr sz="3200" spc="-15" dirty="0">
                <a:latin typeface="宋体"/>
                <a:cs typeface="宋体"/>
              </a:rPr>
              <a:t>程</a:t>
            </a:r>
            <a:r>
              <a:rPr sz="3200" dirty="0">
                <a:latin typeface="宋体"/>
                <a:cs typeface="宋体"/>
              </a:rPr>
              <a:t>中发</a:t>
            </a:r>
            <a:r>
              <a:rPr sz="3200" spc="-15" dirty="0">
                <a:latin typeface="宋体"/>
                <a:cs typeface="宋体"/>
              </a:rPr>
              <a:t>生</a:t>
            </a:r>
            <a:r>
              <a:rPr sz="3200" dirty="0">
                <a:latin typeface="宋体"/>
                <a:cs typeface="宋体"/>
              </a:rPr>
              <a:t>的对</a:t>
            </a:r>
            <a:r>
              <a:rPr sz="3200" spc="-15" dirty="0">
                <a:latin typeface="宋体"/>
                <a:cs typeface="宋体"/>
              </a:rPr>
              <a:t>需</a:t>
            </a:r>
            <a:r>
              <a:rPr sz="3200" dirty="0">
                <a:latin typeface="宋体"/>
                <a:cs typeface="宋体"/>
              </a:rPr>
              <a:t>求 规格说明文档进行的验</a:t>
            </a:r>
            <a:r>
              <a:rPr sz="3200" spc="-15" dirty="0">
                <a:latin typeface="宋体"/>
                <a:cs typeface="宋体"/>
              </a:rPr>
              <a:t>证</a:t>
            </a:r>
            <a:r>
              <a:rPr sz="3200" dirty="0">
                <a:latin typeface="宋体"/>
                <a:cs typeface="宋体"/>
              </a:rPr>
              <a:t>与确</a:t>
            </a:r>
            <a:r>
              <a:rPr sz="3200" spc="-15" dirty="0">
                <a:latin typeface="宋体"/>
                <a:cs typeface="宋体"/>
              </a:rPr>
              <a:t>认</a:t>
            </a:r>
            <a:r>
              <a:rPr sz="3200" dirty="0">
                <a:latin typeface="宋体"/>
                <a:cs typeface="宋体"/>
              </a:rPr>
              <a:t>活动</a:t>
            </a:r>
            <a:endParaRPr sz="3200">
              <a:latin typeface="宋体"/>
              <a:cs typeface="宋体"/>
            </a:endParaRPr>
          </a:p>
          <a:p>
            <a:pPr marL="355600" marR="5080" indent="-343535" algn="just">
              <a:lnSpc>
                <a:spcPts val="3600"/>
              </a:lnSpc>
              <a:spcBef>
                <a:spcPts val="133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需求验证有多种有效的</a:t>
            </a:r>
            <a:r>
              <a:rPr sz="3200" spc="-15" dirty="0">
                <a:latin typeface="宋体"/>
                <a:cs typeface="宋体"/>
              </a:rPr>
              <a:t>方</a:t>
            </a:r>
            <a:r>
              <a:rPr sz="3200" dirty="0">
                <a:latin typeface="宋体"/>
                <a:cs typeface="宋体"/>
              </a:rPr>
              <a:t>法，</a:t>
            </a:r>
            <a:r>
              <a:rPr sz="3200" spc="-15" dirty="0">
                <a:latin typeface="宋体"/>
                <a:cs typeface="宋体"/>
              </a:rPr>
              <a:t>实</a:t>
            </a:r>
            <a:r>
              <a:rPr sz="3200" dirty="0">
                <a:latin typeface="宋体"/>
                <a:cs typeface="宋体"/>
              </a:rPr>
              <a:t>践中</a:t>
            </a:r>
            <a:r>
              <a:rPr sz="3200" spc="-15" dirty="0">
                <a:latin typeface="宋体"/>
                <a:cs typeface="宋体"/>
              </a:rPr>
              <a:t>最</a:t>
            </a:r>
            <a:r>
              <a:rPr sz="3200" dirty="0">
                <a:latin typeface="宋体"/>
                <a:cs typeface="宋体"/>
              </a:rPr>
              <a:t>为 重要和广泛应用是的</a:t>
            </a:r>
            <a:r>
              <a:rPr sz="3200" dirty="0">
                <a:solidFill>
                  <a:srgbClr val="00A361"/>
                </a:solidFill>
                <a:latin typeface="宋体"/>
                <a:cs typeface="宋体"/>
              </a:rPr>
              <a:t>评</a:t>
            </a:r>
            <a:r>
              <a:rPr sz="3200" spc="-15" dirty="0">
                <a:solidFill>
                  <a:srgbClr val="00A361"/>
                </a:solidFill>
                <a:latin typeface="宋体"/>
                <a:cs typeface="宋体"/>
              </a:rPr>
              <a:t>审</a:t>
            </a:r>
            <a:r>
              <a:rPr sz="3200" dirty="0">
                <a:solidFill>
                  <a:srgbClr val="00A361"/>
                </a:solidFill>
                <a:latin typeface="宋体"/>
                <a:cs typeface="宋体"/>
              </a:rPr>
              <a:t>方法</a:t>
            </a:r>
            <a:r>
              <a:rPr sz="3200" spc="-10" dirty="0">
                <a:latin typeface="宋体"/>
                <a:cs typeface="宋体"/>
              </a:rPr>
              <a:t>和</a:t>
            </a:r>
            <a:r>
              <a:rPr sz="3200" dirty="0">
                <a:solidFill>
                  <a:srgbClr val="00A361"/>
                </a:solidFill>
                <a:latin typeface="宋体"/>
                <a:cs typeface="宋体"/>
              </a:rPr>
              <a:t>原型</a:t>
            </a:r>
            <a:r>
              <a:rPr sz="3200" spc="-15" dirty="0">
                <a:solidFill>
                  <a:srgbClr val="00A361"/>
                </a:solidFill>
                <a:latin typeface="宋体"/>
                <a:cs typeface="宋体"/>
              </a:rPr>
              <a:t>方</a:t>
            </a:r>
            <a:r>
              <a:rPr sz="3200" dirty="0">
                <a:solidFill>
                  <a:srgbClr val="00A361"/>
                </a:solidFill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marL="355600" marR="5715" indent="-343535" algn="just">
              <a:lnSpc>
                <a:spcPts val="3600"/>
              </a:lnSpc>
              <a:spcBef>
                <a:spcPts val="124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需求验证不仅要发现问</a:t>
            </a:r>
            <a:r>
              <a:rPr sz="3200" spc="-15" dirty="0">
                <a:latin typeface="宋体"/>
                <a:cs typeface="宋体"/>
              </a:rPr>
              <a:t>题</a:t>
            </a:r>
            <a:r>
              <a:rPr sz="3200" dirty="0">
                <a:latin typeface="宋体"/>
                <a:cs typeface="宋体"/>
              </a:rPr>
              <a:t>，而</a:t>
            </a:r>
            <a:r>
              <a:rPr sz="3200" spc="-15" dirty="0">
                <a:latin typeface="宋体"/>
                <a:cs typeface="宋体"/>
              </a:rPr>
              <a:t>且</a:t>
            </a:r>
            <a:r>
              <a:rPr sz="3200" dirty="0">
                <a:latin typeface="宋体"/>
                <a:cs typeface="宋体"/>
              </a:rPr>
              <a:t>要监</a:t>
            </a:r>
            <a:r>
              <a:rPr sz="3200" spc="-15" dirty="0">
                <a:latin typeface="宋体"/>
                <a:cs typeface="宋体"/>
              </a:rPr>
              <a:t>督</a:t>
            </a:r>
            <a:r>
              <a:rPr sz="3200" dirty="0">
                <a:latin typeface="宋体"/>
                <a:cs typeface="宋体"/>
              </a:rPr>
              <a:t>问 题的解决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2721" y="10795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205" y="759128"/>
            <a:ext cx="3811904" cy="544385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需求验证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1.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验证与确认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2.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宋体"/>
                <a:cs typeface="宋体"/>
              </a:rPr>
              <a:t>需求验证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3.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需求验证方法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4.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问题修正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5.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宋体"/>
                <a:cs typeface="宋体"/>
              </a:rPr>
              <a:t>需求验证的实践调查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需求管理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需求管理概述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24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需求基线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24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需求跟踪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4.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需求变更控制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5.</a:t>
            </a:r>
            <a:r>
              <a:rPr sz="24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需求管理的实践调查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9910" y="89103"/>
            <a:ext cx="294132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需求管理</a:t>
            </a:r>
          </a:p>
          <a:p>
            <a:pPr marL="79756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意图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3847"/>
            <a:ext cx="7873365" cy="41783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需求的影响力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整个后续的产品生命周期</a:t>
            </a:r>
            <a:r>
              <a:rPr sz="2800" spc="-725" dirty="0">
                <a:latin typeface="宋体"/>
                <a:cs typeface="宋体"/>
              </a:rPr>
              <a:t> </a:t>
            </a:r>
            <a:r>
              <a:rPr sz="2800" spc="-5" dirty="0">
                <a:latin typeface="Calibri"/>
                <a:cs typeface="Calibri"/>
              </a:rPr>
              <a:t>VS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宋体"/>
                <a:cs typeface="宋体"/>
              </a:rPr>
              <a:t>需求开发阶段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需求规格说明文档</a:t>
            </a:r>
            <a:endParaRPr sz="3200">
              <a:latin typeface="宋体"/>
              <a:cs typeface="宋体"/>
            </a:endParaRPr>
          </a:p>
          <a:p>
            <a:pPr marL="756285" marR="5080" lvl="1" indent="-287020">
              <a:lnSpc>
                <a:spcPts val="3140"/>
              </a:lnSpc>
              <a:spcBef>
                <a:spcPts val="11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后续的开发工作都应该以软件需求</a:t>
            </a:r>
            <a:r>
              <a:rPr sz="2800" dirty="0">
                <a:latin typeface="宋体"/>
                <a:cs typeface="宋体"/>
              </a:rPr>
              <a:t>规</a:t>
            </a:r>
            <a:r>
              <a:rPr sz="2800" spc="-5" dirty="0">
                <a:latin typeface="宋体"/>
                <a:cs typeface="宋体"/>
              </a:rPr>
              <a:t>格说</a:t>
            </a:r>
            <a:r>
              <a:rPr sz="2800" dirty="0">
                <a:latin typeface="宋体"/>
                <a:cs typeface="宋体"/>
              </a:rPr>
              <a:t>明</a:t>
            </a:r>
            <a:r>
              <a:rPr sz="2800" spc="-5" dirty="0">
                <a:latin typeface="宋体"/>
                <a:cs typeface="宋体"/>
              </a:rPr>
              <a:t>文 档的内容为标准和目标来进行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9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需求管理</a:t>
            </a:r>
            <a:endParaRPr sz="3200">
              <a:latin typeface="宋体"/>
              <a:cs typeface="宋体"/>
            </a:endParaRPr>
          </a:p>
          <a:p>
            <a:pPr marL="756285" marR="5080" lvl="1" indent="-287020">
              <a:lnSpc>
                <a:spcPts val="3140"/>
              </a:lnSpc>
              <a:spcBef>
                <a:spcPts val="11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在需求开发之后的产品生命周期当</a:t>
            </a:r>
            <a:r>
              <a:rPr sz="2800" dirty="0">
                <a:latin typeface="宋体"/>
                <a:cs typeface="宋体"/>
              </a:rPr>
              <a:t>中</a:t>
            </a:r>
            <a:r>
              <a:rPr sz="2800" spc="-5" dirty="0">
                <a:latin typeface="宋体"/>
                <a:cs typeface="宋体"/>
              </a:rPr>
              <a:t>保证</a:t>
            </a:r>
            <a:r>
              <a:rPr sz="2800" dirty="0">
                <a:latin typeface="宋体"/>
                <a:cs typeface="宋体"/>
              </a:rPr>
              <a:t>需</a:t>
            </a:r>
            <a:r>
              <a:rPr sz="2800" spc="-5" dirty="0">
                <a:latin typeface="宋体"/>
                <a:cs typeface="宋体"/>
              </a:rPr>
              <a:t>求 作用的有效发挥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110" y="22301"/>
            <a:ext cx="2941320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需求管理</a:t>
            </a:r>
          </a:p>
          <a:p>
            <a:pPr marL="797560">
              <a:lnSpc>
                <a:spcPct val="100000"/>
              </a:lnSpc>
              <a:spcBef>
                <a:spcPts val="5"/>
              </a:spcBef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作用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2313"/>
            <a:ext cx="7988934" cy="4322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ts val="2790"/>
              </a:lnSpc>
              <a:spcBef>
                <a:spcPts val="10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宋体"/>
                <a:cs typeface="宋体"/>
              </a:rPr>
              <a:t>增强了项目涉众对复杂产品特征在细节和相互依赖关系上</a:t>
            </a:r>
            <a:endParaRPr sz="2400">
              <a:latin typeface="宋体"/>
              <a:cs typeface="宋体"/>
            </a:endParaRPr>
          </a:p>
          <a:p>
            <a:pPr marL="355600">
              <a:lnSpc>
                <a:spcPts val="2790"/>
              </a:lnSpc>
            </a:pPr>
            <a:r>
              <a:rPr sz="2400" dirty="0">
                <a:latin typeface="宋体"/>
                <a:cs typeface="宋体"/>
              </a:rPr>
              <a:t>的理解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增强了项目涉众对需求</a:t>
            </a:r>
            <a:r>
              <a:rPr sz="2000" spc="-15" dirty="0">
                <a:latin typeface="宋体"/>
                <a:cs typeface="宋体"/>
              </a:rPr>
              <a:t>（</a:t>
            </a:r>
            <a:r>
              <a:rPr sz="2000" dirty="0">
                <a:latin typeface="宋体"/>
                <a:cs typeface="宋体"/>
              </a:rPr>
              <a:t>尤其</a:t>
            </a:r>
            <a:r>
              <a:rPr sz="2000" spc="-15" dirty="0">
                <a:latin typeface="宋体"/>
                <a:cs typeface="宋体"/>
              </a:rPr>
              <a:t>是</a:t>
            </a:r>
            <a:r>
              <a:rPr sz="2000" dirty="0">
                <a:latin typeface="宋体"/>
                <a:cs typeface="宋体"/>
              </a:rPr>
              <a:t>复杂</a:t>
            </a:r>
            <a:r>
              <a:rPr sz="2000" spc="-15" dirty="0">
                <a:latin typeface="宋体"/>
                <a:cs typeface="宋体"/>
              </a:rPr>
              <a:t>需</a:t>
            </a:r>
            <a:r>
              <a:rPr sz="2000" dirty="0">
                <a:latin typeface="宋体"/>
                <a:cs typeface="宋体"/>
              </a:rPr>
              <a:t>求）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掌握。</a:t>
            </a:r>
            <a:endParaRPr sz="20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增进了项目涉众之间的交流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减少了可能的误解和交</a:t>
            </a:r>
            <a:r>
              <a:rPr sz="2000" spc="-10" dirty="0">
                <a:latin typeface="宋体"/>
                <a:cs typeface="宋体"/>
              </a:rPr>
              <a:t>流</a:t>
            </a:r>
            <a:r>
              <a:rPr sz="2000" dirty="0">
                <a:latin typeface="宋体"/>
                <a:cs typeface="宋体"/>
              </a:rPr>
              <a:t>偏差。</a:t>
            </a:r>
            <a:endParaRPr sz="20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减少了工作量的浪费，提高了生产力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需求管理能够更加有效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处理</a:t>
            </a:r>
            <a:r>
              <a:rPr sz="2000" spc="-15" dirty="0">
                <a:latin typeface="宋体"/>
                <a:cs typeface="宋体"/>
              </a:rPr>
              <a:t>需</a:t>
            </a:r>
            <a:r>
              <a:rPr sz="2000" dirty="0">
                <a:latin typeface="宋体"/>
                <a:cs typeface="宋体"/>
              </a:rPr>
              <a:t>求的</a:t>
            </a:r>
            <a:r>
              <a:rPr sz="2000" spc="-15" dirty="0">
                <a:latin typeface="宋体"/>
                <a:cs typeface="宋体"/>
              </a:rPr>
              <a:t>变</a:t>
            </a:r>
            <a:r>
              <a:rPr sz="2000" dirty="0">
                <a:latin typeface="宋体"/>
                <a:cs typeface="宋体"/>
              </a:rPr>
              <a:t>更</a:t>
            </a:r>
            <a:endParaRPr sz="20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宋体"/>
                <a:cs typeface="宋体"/>
              </a:rPr>
              <a:t>准确反映项目的状态，帮助进行更好的项目决策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需求跟踪信息能够更加</a:t>
            </a:r>
            <a:r>
              <a:rPr sz="2000" spc="-15" dirty="0">
                <a:latin typeface="宋体"/>
                <a:cs typeface="宋体"/>
              </a:rPr>
              <a:t>准</a:t>
            </a:r>
            <a:r>
              <a:rPr sz="2000" dirty="0">
                <a:latin typeface="宋体"/>
                <a:cs typeface="宋体"/>
              </a:rPr>
              <a:t>确的</a:t>
            </a:r>
            <a:r>
              <a:rPr sz="2000" spc="-15" dirty="0">
                <a:latin typeface="宋体"/>
                <a:cs typeface="宋体"/>
              </a:rPr>
              <a:t>反</a:t>
            </a:r>
            <a:r>
              <a:rPr sz="2000" dirty="0">
                <a:latin typeface="宋体"/>
                <a:cs typeface="宋体"/>
              </a:rPr>
              <a:t>映项</a:t>
            </a:r>
            <a:r>
              <a:rPr sz="2000" spc="-15" dirty="0">
                <a:latin typeface="宋体"/>
                <a:cs typeface="宋体"/>
              </a:rPr>
              <a:t>目</a:t>
            </a:r>
            <a:r>
              <a:rPr sz="2000" dirty="0">
                <a:latin typeface="宋体"/>
                <a:cs typeface="宋体"/>
              </a:rPr>
              <a:t>的进</a:t>
            </a:r>
            <a:r>
              <a:rPr sz="2000" spc="-15" dirty="0">
                <a:latin typeface="宋体"/>
                <a:cs typeface="宋体"/>
              </a:rPr>
              <a:t>展</a:t>
            </a:r>
            <a:r>
              <a:rPr sz="2000" dirty="0">
                <a:latin typeface="宋体"/>
                <a:cs typeface="宋体"/>
              </a:rPr>
              <a:t>情况</a:t>
            </a:r>
            <a:endParaRPr sz="20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改变项目文化，使得需求的作用得到重视和有效发挥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使得项目涉众认识到需</a:t>
            </a:r>
            <a:r>
              <a:rPr sz="2000" spc="-15" dirty="0">
                <a:latin typeface="宋体"/>
                <a:cs typeface="宋体"/>
              </a:rPr>
              <a:t>求</a:t>
            </a:r>
            <a:r>
              <a:rPr sz="2000" dirty="0">
                <a:latin typeface="宋体"/>
                <a:cs typeface="宋体"/>
              </a:rPr>
              <a:t>在项</a:t>
            </a:r>
            <a:r>
              <a:rPr sz="2000" spc="-15" dirty="0">
                <a:latin typeface="宋体"/>
                <a:cs typeface="宋体"/>
              </a:rPr>
              <a:t>目</a:t>
            </a:r>
            <a:r>
              <a:rPr sz="2000" dirty="0">
                <a:latin typeface="宋体"/>
                <a:cs typeface="宋体"/>
              </a:rPr>
              <a:t>工作</a:t>
            </a:r>
            <a:r>
              <a:rPr sz="2000" spc="-15" dirty="0">
                <a:latin typeface="宋体"/>
                <a:cs typeface="宋体"/>
              </a:rPr>
              <a:t>中</a:t>
            </a:r>
            <a:r>
              <a:rPr sz="2000" dirty="0">
                <a:latin typeface="宋体"/>
                <a:cs typeface="宋体"/>
              </a:rPr>
              <a:t>的重</a:t>
            </a:r>
            <a:r>
              <a:rPr sz="2000" spc="-15" dirty="0">
                <a:latin typeface="宋体"/>
                <a:cs typeface="宋体"/>
              </a:rPr>
              <a:t>要</a:t>
            </a:r>
            <a:r>
              <a:rPr sz="2000" dirty="0">
                <a:latin typeface="宋体"/>
                <a:cs typeface="宋体"/>
              </a:rPr>
              <a:t>性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110" y="22301"/>
            <a:ext cx="2941320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需求管理</a:t>
            </a:r>
          </a:p>
          <a:p>
            <a:pPr marL="797560">
              <a:lnSpc>
                <a:spcPct val="100000"/>
              </a:lnSpc>
              <a:spcBef>
                <a:spcPts val="5"/>
              </a:spcBef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任务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1581"/>
            <a:ext cx="5340350" cy="41236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10" dirty="0">
                <a:latin typeface="宋体"/>
                <a:cs typeface="宋体"/>
              </a:rPr>
              <a:t>交流涉众需要什么；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将需求应用、实施到解决方案；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驱动设计和实现工作；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10" dirty="0">
                <a:latin typeface="宋体"/>
                <a:cs typeface="宋体"/>
              </a:rPr>
              <a:t>控制变更；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将需求分配到子系统；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测试和验证最终产品；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控制迭代式开发中的变化；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辅助项目管理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110" y="137287"/>
            <a:ext cx="294132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/>
              <a:t>需求管理</a:t>
            </a:r>
          </a:p>
          <a:p>
            <a:pPr marL="79756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活动</a:t>
            </a:r>
          </a:p>
        </p:txBody>
      </p:sp>
      <p:sp>
        <p:nvSpPr>
          <p:cNvPr id="3" name="object 3"/>
          <p:cNvSpPr/>
          <p:nvPr/>
        </p:nvSpPr>
        <p:spPr>
          <a:xfrm>
            <a:off x="3275788" y="3988761"/>
            <a:ext cx="1034415" cy="361315"/>
          </a:xfrm>
          <a:custGeom>
            <a:avLst/>
            <a:gdLst/>
            <a:ahLst/>
            <a:cxnLst/>
            <a:rect l="l" t="t" r="r" b="b"/>
            <a:pathLst>
              <a:path w="1034414" h="361314">
                <a:moveTo>
                  <a:pt x="1033895" y="0"/>
                </a:moveTo>
                <a:lnTo>
                  <a:pt x="0" y="0"/>
                </a:lnTo>
                <a:lnTo>
                  <a:pt x="0" y="361023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8968" y="3481895"/>
          <a:ext cx="2638424" cy="1799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823">
                <a:tc gridSpan="2"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spc="5" dirty="0">
                          <a:latin typeface="宋体"/>
                          <a:cs typeface="宋体"/>
                        </a:rPr>
                        <a:t>维护需求基线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6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 indent="-153670">
                        <a:lnSpc>
                          <a:spcPct val="100000"/>
                        </a:lnSpc>
                        <a:spcBef>
                          <a:spcPts val="894"/>
                        </a:spcBef>
                        <a:buSzPct val="93750"/>
                        <a:buFont typeface="Wingdings"/>
                        <a:buChar char=""/>
                        <a:tabLst>
                          <a:tab pos="147955" algn="l"/>
                        </a:tabLst>
                      </a:pPr>
                      <a:r>
                        <a:rPr sz="1600" spc="5" dirty="0">
                          <a:latin typeface="宋体"/>
                          <a:cs typeface="宋体"/>
                        </a:rPr>
                        <a:t>交流涉众需要什么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13664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 indent="-153670">
                        <a:lnSpc>
                          <a:spcPts val="1680"/>
                        </a:lnSpc>
                        <a:buSzPct val="93750"/>
                        <a:buFont typeface="Wingdings"/>
                        <a:buChar char=""/>
                        <a:tabLst>
                          <a:tab pos="147955" algn="l"/>
                        </a:tabLst>
                      </a:pPr>
                      <a:r>
                        <a:rPr sz="1600" spc="5" dirty="0">
                          <a:latin typeface="宋体"/>
                          <a:cs typeface="宋体"/>
                        </a:rPr>
                        <a:t>驱动设计和实现工作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147320" indent="-153670">
                        <a:lnSpc>
                          <a:spcPct val="100000"/>
                        </a:lnSpc>
                        <a:spcBef>
                          <a:spcPts val="145"/>
                        </a:spcBef>
                        <a:buSzPct val="93750"/>
                        <a:buFont typeface="Wingdings"/>
                        <a:buChar char=""/>
                        <a:tabLst>
                          <a:tab pos="147955" algn="l"/>
                        </a:tabLst>
                      </a:pPr>
                      <a:r>
                        <a:rPr sz="1600" spc="5" dirty="0">
                          <a:latin typeface="宋体"/>
                          <a:cs typeface="宋体"/>
                        </a:rPr>
                        <a:t>测试和验证最终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147320" indent="-153670">
                        <a:lnSpc>
                          <a:spcPct val="100000"/>
                        </a:lnSpc>
                        <a:spcBef>
                          <a:spcPts val="170"/>
                        </a:spcBef>
                        <a:buSzPct val="93750"/>
                        <a:buFont typeface="Wingdings"/>
                        <a:buChar char=""/>
                        <a:tabLst>
                          <a:tab pos="147955" algn="l"/>
                        </a:tabLst>
                      </a:pPr>
                      <a:r>
                        <a:rPr sz="1600" spc="5" dirty="0">
                          <a:latin typeface="宋体"/>
                          <a:cs typeface="宋体"/>
                        </a:rPr>
                        <a:t>辅助项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275788" y="3484942"/>
            <a:ext cx="2458720" cy="504190"/>
          </a:xfrm>
          <a:custGeom>
            <a:avLst/>
            <a:gdLst/>
            <a:ahLst/>
            <a:cxnLst/>
            <a:rect l="l" t="t" r="r" b="b"/>
            <a:pathLst>
              <a:path w="2458720" h="504189">
                <a:moveTo>
                  <a:pt x="2458370" y="0"/>
                </a:moveTo>
                <a:lnTo>
                  <a:pt x="0" y="0"/>
                </a:lnTo>
                <a:lnTo>
                  <a:pt x="0" y="503829"/>
                </a:lnTo>
                <a:lnTo>
                  <a:pt x="1033866" y="503829"/>
                </a:lnTo>
                <a:lnTo>
                  <a:pt x="2458370" y="6410"/>
                </a:lnTo>
                <a:lnTo>
                  <a:pt x="2458370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75788" y="3988771"/>
            <a:ext cx="1034415" cy="0"/>
          </a:xfrm>
          <a:custGeom>
            <a:avLst/>
            <a:gdLst/>
            <a:ahLst/>
            <a:cxnLst/>
            <a:rect l="l" t="t" r="r" b="b"/>
            <a:pathLst>
              <a:path w="1034414">
                <a:moveTo>
                  <a:pt x="0" y="0"/>
                </a:moveTo>
                <a:lnTo>
                  <a:pt x="1033866" y="0"/>
                </a:lnTo>
              </a:path>
            </a:pathLst>
          </a:custGeom>
          <a:ln w="6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75788" y="3484942"/>
            <a:ext cx="2458720" cy="504190"/>
          </a:xfrm>
          <a:custGeom>
            <a:avLst/>
            <a:gdLst/>
            <a:ahLst/>
            <a:cxnLst/>
            <a:rect l="l" t="t" r="r" b="b"/>
            <a:pathLst>
              <a:path w="2458720" h="504189">
                <a:moveTo>
                  <a:pt x="2458370" y="6410"/>
                </a:moveTo>
                <a:lnTo>
                  <a:pt x="2458370" y="0"/>
                </a:lnTo>
                <a:lnTo>
                  <a:pt x="0" y="0"/>
                </a:lnTo>
                <a:lnTo>
                  <a:pt x="0" y="503829"/>
                </a:lnTo>
              </a:path>
            </a:pathLst>
          </a:custGeom>
          <a:ln w="60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8169" y="2549292"/>
            <a:ext cx="7904480" cy="396240"/>
          </a:xfrm>
          <a:custGeom>
            <a:avLst/>
            <a:gdLst/>
            <a:ahLst/>
            <a:cxnLst/>
            <a:rect l="l" t="t" r="r" b="b"/>
            <a:pathLst>
              <a:path w="7904480" h="396239">
                <a:moveTo>
                  <a:pt x="7903855" y="0"/>
                </a:moveTo>
                <a:lnTo>
                  <a:pt x="0" y="0"/>
                </a:lnTo>
                <a:lnTo>
                  <a:pt x="0" y="395867"/>
                </a:lnTo>
                <a:lnTo>
                  <a:pt x="6770172" y="395867"/>
                </a:lnTo>
                <a:lnTo>
                  <a:pt x="7903855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8169" y="2945160"/>
            <a:ext cx="6770370" cy="0"/>
          </a:xfrm>
          <a:custGeom>
            <a:avLst/>
            <a:gdLst/>
            <a:ahLst/>
            <a:cxnLst/>
            <a:rect l="l" t="t" r="r" b="b"/>
            <a:pathLst>
              <a:path w="6770370">
                <a:moveTo>
                  <a:pt x="0" y="0"/>
                </a:moveTo>
                <a:lnTo>
                  <a:pt x="6770172" y="0"/>
                </a:lnTo>
              </a:path>
            </a:pathLst>
          </a:custGeom>
          <a:ln w="6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8169" y="2549292"/>
            <a:ext cx="7904480" cy="396240"/>
          </a:xfrm>
          <a:custGeom>
            <a:avLst/>
            <a:gdLst/>
            <a:ahLst/>
            <a:cxnLst/>
            <a:rect l="l" t="t" r="r" b="b"/>
            <a:pathLst>
              <a:path w="7904480" h="396239">
                <a:moveTo>
                  <a:pt x="7903855" y="0"/>
                </a:moveTo>
                <a:lnTo>
                  <a:pt x="0" y="0"/>
                </a:lnTo>
                <a:lnTo>
                  <a:pt x="0" y="395867"/>
                </a:lnTo>
              </a:path>
            </a:pathLst>
          </a:custGeom>
          <a:ln w="6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27327" y="2564165"/>
            <a:ext cx="1556385" cy="1320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宋体"/>
                <a:cs typeface="宋体"/>
              </a:rPr>
              <a:t>需求管理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sz="2000" spc="5" dirty="0">
                <a:latin typeface="宋体"/>
                <a:cs typeface="宋体"/>
              </a:rPr>
              <a:t>实现需求跟踪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11576" y="2945160"/>
            <a:ext cx="2693670" cy="540385"/>
          </a:xfrm>
          <a:custGeom>
            <a:avLst/>
            <a:gdLst/>
            <a:ahLst/>
            <a:cxnLst/>
            <a:rect l="l" t="t" r="r" b="b"/>
            <a:pathLst>
              <a:path w="2693670" h="540385">
                <a:moveTo>
                  <a:pt x="2693423" y="0"/>
                </a:moveTo>
                <a:lnTo>
                  <a:pt x="0" y="539782"/>
                </a:lnTo>
              </a:path>
            </a:pathLst>
          </a:custGeom>
          <a:ln w="60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04999" y="2945160"/>
            <a:ext cx="0" cy="540385"/>
          </a:xfrm>
          <a:custGeom>
            <a:avLst/>
            <a:gdLst/>
            <a:ahLst/>
            <a:cxnLst/>
            <a:rect l="l" t="t" r="r" b="b"/>
            <a:pathLst>
              <a:path h="540385">
                <a:moveTo>
                  <a:pt x="0" y="0"/>
                </a:moveTo>
                <a:lnTo>
                  <a:pt x="0" y="539782"/>
                </a:lnTo>
              </a:path>
            </a:pathLst>
          </a:custGeom>
          <a:ln w="6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04999" y="2945160"/>
            <a:ext cx="1770380" cy="357505"/>
          </a:xfrm>
          <a:custGeom>
            <a:avLst/>
            <a:gdLst/>
            <a:ahLst/>
            <a:cxnLst/>
            <a:rect l="l" t="t" r="r" b="b"/>
            <a:pathLst>
              <a:path w="1770379" h="357504">
                <a:moveTo>
                  <a:pt x="0" y="0"/>
                </a:moveTo>
                <a:lnTo>
                  <a:pt x="1770372" y="357208"/>
                </a:lnTo>
              </a:path>
            </a:pathLst>
          </a:custGeom>
          <a:ln w="60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4203065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需求管理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需求基线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需求跟踪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需求变更控制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需求管理的实践调查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110" y="289051"/>
            <a:ext cx="28143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需求基线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3829"/>
            <a:ext cx="7842884" cy="264350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14604" indent="-343535" algn="just">
              <a:lnSpc>
                <a:spcPct val="96800"/>
              </a:lnSpc>
              <a:spcBef>
                <a:spcPts val="20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已经通</a:t>
            </a:r>
            <a:r>
              <a:rPr sz="2800" spc="-10" dirty="0">
                <a:latin typeface="宋体"/>
                <a:cs typeface="宋体"/>
              </a:rPr>
              <a:t>过</a:t>
            </a:r>
            <a:r>
              <a:rPr sz="2800" b="1" spc="-5" dirty="0">
                <a:solidFill>
                  <a:srgbClr val="00663B"/>
                </a:solidFill>
                <a:latin typeface="宋体"/>
                <a:cs typeface="宋体"/>
              </a:rPr>
              <a:t>正</a:t>
            </a:r>
            <a:r>
              <a:rPr sz="2800" b="1" dirty="0">
                <a:solidFill>
                  <a:srgbClr val="00663B"/>
                </a:solidFill>
                <a:latin typeface="宋体"/>
                <a:cs typeface="宋体"/>
              </a:rPr>
              <a:t>式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评审和批准的规格说</a:t>
            </a:r>
            <a:r>
              <a:rPr sz="2800" dirty="0">
                <a:solidFill>
                  <a:srgbClr val="00A15F"/>
                </a:solidFill>
                <a:latin typeface="宋体"/>
                <a:cs typeface="宋体"/>
              </a:rPr>
              <a:t>明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或产</a:t>
            </a:r>
            <a:r>
              <a:rPr sz="2800" spc="15" dirty="0">
                <a:solidFill>
                  <a:srgbClr val="00A15F"/>
                </a:solidFill>
                <a:latin typeface="宋体"/>
                <a:cs typeface="宋体"/>
              </a:rPr>
              <a:t>品</a:t>
            </a:r>
            <a:r>
              <a:rPr sz="2800" spc="-5" dirty="0">
                <a:latin typeface="宋体"/>
                <a:cs typeface="宋体"/>
              </a:rPr>
              <a:t>，它 可以作为进一步开发的基础，并且</a:t>
            </a:r>
            <a:r>
              <a:rPr sz="2800" dirty="0">
                <a:latin typeface="宋体"/>
                <a:cs typeface="宋体"/>
              </a:rPr>
              <a:t>只</a:t>
            </a:r>
            <a:r>
              <a:rPr sz="2800" spc="-5" dirty="0">
                <a:latin typeface="宋体"/>
                <a:cs typeface="宋体"/>
              </a:rPr>
              <a:t>有通</a:t>
            </a:r>
            <a:r>
              <a:rPr sz="2800" spc="15" dirty="0">
                <a:latin typeface="宋体"/>
                <a:cs typeface="宋体"/>
              </a:rPr>
              <a:t>过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正式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的变更控制过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程</a:t>
            </a:r>
            <a:r>
              <a:rPr sz="2800" spc="-10" dirty="0">
                <a:latin typeface="宋体"/>
                <a:cs typeface="宋体"/>
              </a:rPr>
              <a:t>才能修改它</a:t>
            </a:r>
            <a:endParaRPr sz="2800">
              <a:latin typeface="宋体"/>
              <a:cs typeface="宋体"/>
            </a:endParaRPr>
          </a:p>
          <a:p>
            <a:pPr marL="355600" marR="5080" indent="-343535" algn="just">
              <a:lnSpc>
                <a:spcPct val="96800"/>
              </a:lnSpc>
              <a:spcBef>
                <a:spcPts val="1000"/>
              </a:spcBef>
              <a:buSzPct val="80357"/>
              <a:buFont typeface="Wingdings"/>
              <a:buChar char=""/>
              <a:tabLst>
                <a:tab pos="356235" algn="l"/>
              </a:tabLst>
            </a:pPr>
            <a:r>
              <a:rPr sz="2800" b="1" spc="-5" dirty="0">
                <a:solidFill>
                  <a:srgbClr val="00663B"/>
                </a:solidFill>
                <a:latin typeface="宋体"/>
                <a:cs typeface="宋体"/>
              </a:rPr>
              <a:t>定义：</a:t>
            </a:r>
            <a:r>
              <a:rPr sz="2800" spc="-5" dirty="0">
                <a:latin typeface="宋体"/>
                <a:cs typeface="宋体"/>
              </a:rPr>
              <a:t>是被</a:t>
            </a:r>
            <a:r>
              <a:rPr sz="2800" b="1" spc="-5" dirty="0">
                <a:latin typeface="宋体"/>
                <a:cs typeface="宋体"/>
              </a:rPr>
              <a:t>明确和固</a:t>
            </a:r>
            <a:r>
              <a:rPr sz="2800" b="1" spc="-10" dirty="0">
                <a:latin typeface="宋体"/>
                <a:cs typeface="宋体"/>
              </a:rPr>
              <a:t>定</a:t>
            </a:r>
            <a:r>
              <a:rPr sz="2800" spc="-5" dirty="0">
                <a:latin typeface="宋体"/>
                <a:cs typeface="宋体"/>
              </a:rPr>
              <a:t>下来的</a:t>
            </a:r>
            <a:r>
              <a:rPr sz="2800" dirty="0">
                <a:latin typeface="宋体"/>
                <a:cs typeface="宋体"/>
              </a:rPr>
              <a:t>需</a:t>
            </a:r>
            <a:r>
              <a:rPr sz="2800" spc="5" dirty="0">
                <a:latin typeface="宋体"/>
                <a:cs typeface="宋体"/>
              </a:rPr>
              <a:t>求</a:t>
            </a:r>
            <a:r>
              <a:rPr sz="2800" spc="-5" dirty="0">
                <a:latin typeface="宋体"/>
                <a:cs typeface="宋体"/>
              </a:rPr>
              <a:t>集合</a:t>
            </a:r>
            <a:r>
              <a:rPr sz="2800" spc="1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是项目 团队需要在某一特定产品版本中实</a:t>
            </a:r>
            <a:r>
              <a:rPr sz="2800" dirty="0">
                <a:latin typeface="宋体"/>
                <a:cs typeface="宋体"/>
              </a:rPr>
              <a:t>现</a:t>
            </a:r>
            <a:r>
              <a:rPr sz="2800" spc="-5" dirty="0">
                <a:latin typeface="宋体"/>
                <a:cs typeface="宋体"/>
              </a:rPr>
              <a:t>的特</a:t>
            </a:r>
            <a:r>
              <a:rPr sz="2800" dirty="0">
                <a:latin typeface="宋体"/>
                <a:cs typeface="宋体"/>
              </a:rPr>
              <a:t>征</a:t>
            </a:r>
            <a:r>
              <a:rPr sz="2800" spc="-5" dirty="0">
                <a:latin typeface="宋体"/>
                <a:cs typeface="宋体"/>
              </a:rPr>
              <a:t>和需 </a:t>
            </a:r>
            <a:r>
              <a:rPr sz="2800" spc="-10" dirty="0">
                <a:latin typeface="宋体"/>
                <a:cs typeface="宋体"/>
              </a:rPr>
              <a:t>求集合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6594" y="4936585"/>
            <a:ext cx="1967864" cy="98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7650">
              <a:lnSpc>
                <a:spcPct val="110000"/>
              </a:lnSpc>
              <a:spcBef>
                <a:spcPts val="100"/>
              </a:spcBef>
            </a:pPr>
            <a:r>
              <a:rPr sz="1900" spc="10" dirty="0">
                <a:latin typeface="宋体"/>
                <a:cs typeface="宋体"/>
              </a:rPr>
              <a:t>不同的需求看法 没有正式文档</a:t>
            </a:r>
            <a:endParaRPr sz="19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900" spc="10" dirty="0">
                <a:latin typeface="宋体"/>
                <a:cs typeface="宋体"/>
              </a:rPr>
              <a:t>总是处于变化之中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0767" y="4936585"/>
            <a:ext cx="2210435" cy="98107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900" spc="10" dirty="0">
                <a:latin typeface="宋体"/>
                <a:cs typeface="宋体"/>
              </a:rPr>
              <a:t>共同的需求理解</a:t>
            </a:r>
            <a:endParaRPr sz="1900">
              <a:latin typeface="宋体"/>
              <a:cs typeface="宋体"/>
            </a:endParaRPr>
          </a:p>
          <a:p>
            <a:pPr marL="12700" marR="5080">
              <a:lnSpc>
                <a:spcPct val="110000"/>
              </a:lnSpc>
            </a:pPr>
            <a:r>
              <a:rPr sz="1900" spc="10" dirty="0">
                <a:latin typeface="宋体"/>
                <a:cs typeface="宋体"/>
              </a:rPr>
              <a:t>纳入配置管理的文档 变更控制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88063" y="4218134"/>
            <a:ext cx="0" cy="1830070"/>
          </a:xfrm>
          <a:custGeom>
            <a:avLst/>
            <a:gdLst/>
            <a:ahLst/>
            <a:cxnLst/>
            <a:rect l="l" t="t" r="r" b="b"/>
            <a:pathLst>
              <a:path h="1830070">
                <a:moveTo>
                  <a:pt x="0" y="0"/>
                </a:moveTo>
                <a:lnTo>
                  <a:pt x="0" y="1829540"/>
                </a:lnTo>
              </a:path>
            </a:pathLst>
          </a:custGeom>
          <a:ln w="242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88063" y="6047675"/>
            <a:ext cx="2607310" cy="0"/>
          </a:xfrm>
          <a:custGeom>
            <a:avLst/>
            <a:gdLst/>
            <a:ahLst/>
            <a:cxnLst/>
            <a:rect l="l" t="t" r="r" b="b"/>
            <a:pathLst>
              <a:path w="2607309">
                <a:moveTo>
                  <a:pt x="0" y="0"/>
                </a:moveTo>
                <a:lnTo>
                  <a:pt x="2607009" y="0"/>
                </a:lnTo>
              </a:path>
            </a:pathLst>
          </a:custGeom>
          <a:ln w="43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1403" y="5953278"/>
            <a:ext cx="284480" cy="189230"/>
          </a:xfrm>
          <a:custGeom>
            <a:avLst/>
            <a:gdLst/>
            <a:ahLst/>
            <a:cxnLst/>
            <a:rect l="l" t="t" r="r" b="b"/>
            <a:pathLst>
              <a:path w="284479" h="189229">
                <a:moveTo>
                  <a:pt x="0" y="0"/>
                </a:moveTo>
                <a:lnTo>
                  <a:pt x="0" y="188793"/>
                </a:lnTo>
                <a:lnTo>
                  <a:pt x="284025" y="943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22338" y="6047675"/>
            <a:ext cx="2205990" cy="0"/>
          </a:xfrm>
          <a:custGeom>
            <a:avLst/>
            <a:gdLst/>
            <a:ahLst/>
            <a:cxnLst/>
            <a:rect l="l" t="t" r="r" b="b"/>
            <a:pathLst>
              <a:path w="2205990">
                <a:moveTo>
                  <a:pt x="0" y="0"/>
                </a:moveTo>
                <a:lnTo>
                  <a:pt x="2205367" y="0"/>
                </a:lnTo>
              </a:path>
            </a:pathLst>
          </a:custGeom>
          <a:ln w="43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4037" y="5953278"/>
            <a:ext cx="284480" cy="189230"/>
          </a:xfrm>
          <a:custGeom>
            <a:avLst/>
            <a:gdLst/>
            <a:ahLst/>
            <a:cxnLst/>
            <a:rect l="l" t="t" r="r" b="b"/>
            <a:pathLst>
              <a:path w="284479" h="189229">
                <a:moveTo>
                  <a:pt x="0" y="0"/>
                </a:moveTo>
                <a:lnTo>
                  <a:pt x="0" y="188793"/>
                </a:lnTo>
                <a:lnTo>
                  <a:pt x="284025" y="943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24673" y="4228576"/>
            <a:ext cx="115824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30" dirty="0">
                <a:latin typeface="宋体"/>
                <a:cs typeface="宋体"/>
              </a:rPr>
              <a:t>需求管理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77294" y="4260626"/>
            <a:ext cx="115824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30" dirty="0">
                <a:latin typeface="宋体"/>
                <a:cs typeface="宋体"/>
              </a:rPr>
              <a:t>需求开发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89849" y="4393140"/>
            <a:ext cx="99695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20" dirty="0">
                <a:latin typeface="宋体"/>
                <a:cs typeface="宋体"/>
              </a:rPr>
              <a:t>建立需求基线</a:t>
            </a:r>
            <a:endParaRPr sz="12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697" y="93726"/>
            <a:ext cx="56121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需求基线的描述内容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567" y="968501"/>
            <a:ext cx="8140700" cy="51244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标识符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ID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），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为后续的项目工作提供一个共同的交流参照。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当前版本号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Version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），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保证项目的各项工作都建立在最新的一致需求基础</a:t>
            </a:r>
            <a:endParaRPr sz="1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之上。</a:t>
            </a:r>
            <a:endParaRPr sz="1800">
              <a:latin typeface="宋体"/>
              <a:cs typeface="宋体"/>
            </a:endParaRPr>
          </a:p>
          <a:p>
            <a:pPr marL="355600" marR="283210" indent="-342900">
              <a:lnSpc>
                <a:spcPct val="100000"/>
              </a:lnSpc>
              <a:spcBef>
                <a:spcPts val="430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源头（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Sour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），在需要进一步深入理解或者改变需求时，可以回溯到需求 的源头。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理由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Rational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），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提供需求产生的背景知识。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优先级（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Priority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），后续的项目工作可以参照优先级进行安排和调度。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状态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Status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），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交流和具体需求相关的项目工作状况。</a:t>
            </a:r>
            <a:endParaRPr sz="1800">
              <a:latin typeface="宋体"/>
              <a:cs typeface="宋体"/>
            </a:endParaRPr>
          </a:p>
          <a:p>
            <a:pPr marL="355600" marR="162560" indent="-342900">
              <a:lnSpc>
                <a:spcPct val="100000"/>
              </a:lnSpc>
              <a:spcBef>
                <a:spcPts val="430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成本、工作量、风险、可变性（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Cos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、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Effort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、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、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Vo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li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），为需求的设 计和实现提供参考信息，驱动设计和实现工作。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宋体"/>
                <a:cs typeface="宋体"/>
              </a:rPr>
              <a:t>需求创建的日期；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5" dirty="0">
                <a:latin typeface="宋体"/>
                <a:cs typeface="宋体"/>
              </a:rPr>
              <a:t>和需求相关的项目工作人员，包括需求的作者、设计者、实现者、测试者等；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宋体"/>
                <a:cs typeface="宋体"/>
              </a:rPr>
              <a:t>需求涉及的子系统；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宋体"/>
                <a:cs typeface="宋体"/>
              </a:rPr>
              <a:t>需求涉及的产品版本号；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宋体"/>
                <a:cs typeface="宋体"/>
              </a:rPr>
              <a:t>需求的验收和验证标准；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Clr>
                <a:srgbClr val="00663B"/>
              </a:buClr>
              <a:buSzPct val="8055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4189" y="5842"/>
            <a:ext cx="55111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251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alibri"/>
                <a:cs typeface="Calibri"/>
              </a:rPr>
              <a:t>2.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5" dirty="0"/>
              <a:t>需求基线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spc="-15" dirty="0">
                <a:latin typeface="Calibri"/>
                <a:cs typeface="Calibri"/>
              </a:rPr>
              <a:t>——</a:t>
            </a:r>
            <a:r>
              <a:rPr sz="4000" spc="-10" dirty="0"/>
              <a:t>维护活动：配置管理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301525"/>
            <a:ext cx="7856220" cy="47117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Clr>
                <a:srgbClr val="00663B"/>
              </a:buClr>
              <a:buSzPct val="8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标识配置项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递增数值，例如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dirty="0">
                <a:latin typeface="宋体"/>
                <a:cs typeface="宋体"/>
              </a:rPr>
              <a:t>，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dirty="0">
                <a:latin typeface="宋体"/>
                <a:cs typeface="宋体"/>
              </a:rPr>
              <a:t>，</a:t>
            </a:r>
            <a:r>
              <a:rPr sz="1800" dirty="0">
                <a:latin typeface="Calibri"/>
                <a:cs typeface="Calibri"/>
              </a:rPr>
              <a:t>…x</a:t>
            </a:r>
            <a:r>
              <a:rPr sz="1800" dirty="0">
                <a:latin typeface="宋体"/>
                <a:cs typeface="宋体"/>
              </a:rPr>
              <a:t>；</a:t>
            </a:r>
            <a:endParaRPr sz="1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层次式数值编码，例如</a:t>
            </a:r>
            <a:r>
              <a:rPr sz="1800" spc="-5" dirty="0">
                <a:latin typeface="Calibri"/>
                <a:cs typeface="Calibri"/>
              </a:rPr>
              <a:t>1.1.1</a:t>
            </a:r>
            <a:r>
              <a:rPr sz="1800" spc="-5" dirty="0">
                <a:latin typeface="宋体"/>
                <a:cs typeface="宋体"/>
              </a:rPr>
              <a:t>，</a:t>
            </a:r>
            <a:r>
              <a:rPr sz="1800" spc="-5" dirty="0">
                <a:latin typeface="Calibri"/>
                <a:cs typeface="Calibri"/>
              </a:rPr>
              <a:t>1.2.1</a:t>
            </a:r>
            <a:r>
              <a:rPr sz="1800" spc="-5" dirty="0">
                <a:latin typeface="宋体"/>
                <a:cs typeface="宋体"/>
              </a:rPr>
              <a:t>，</a:t>
            </a:r>
            <a:r>
              <a:rPr sz="1800" spc="-5" dirty="0">
                <a:latin typeface="Calibri"/>
                <a:cs typeface="Calibri"/>
              </a:rPr>
              <a:t>…x.y.z</a:t>
            </a:r>
            <a:r>
              <a:rPr sz="1800" spc="-5" dirty="0">
                <a:latin typeface="宋体"/>
                <a:cs typeface="宋体"/>
              </a:rPr>
              <a:t>；</a:t>
            </a:r>
            <a:endParaRPr sz="1800">
              <a:latin typeface="宋体"/>
              <a:cs typeface="宋体"/>
            </a:endParaRPr>
          </a:p>
          <a:p>
            <a:pPr marL="756285" lvl="1" indent="-287020">
              <a:lnSpc>
                <a:spcPts val="214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层次式命名编码，例如</a:t>
            </a:r>
            <a:r>
              <a:rPr sz="1800" spc="-5" dirty="0">
                <a:latin typeface="Calibri"/>
                <a:cs typeface="Calibri"/>
              </a:rPr>
              <a:t>Order.Place.Date</a:t>
            </a:r>
            <a:r>
              <a:rPr sz="1800" spc="-5" dirty="0">
                <a:latin typeface="宋体"/>
                <a:cs typeface="宋体"/>
              </a:rPr>
              <a:t>，</a:t>
            </a:r>
            <a:r>
              <a:rPr sz="1800" spc="-5" dirty="0">
                <a:latin typeface="Calibri"/>
                <a:cs typeface="Calibri"/>
              </a:rPr>
              <a:t>Order.Place.Register</a:t>
            </a:r>
            <a:r>
              <a:rPr sz="1800" spc="-5" dirty="0">
                <a:latin typeface="宋体"/>
                <a:cs typeface="宋体"/>
              </a:rPr>
              <a:t>，</a:t>
            </a:r>
            <a:endParaRPr sz="1800">
              <a:latin typeface="宋体"/>
              <a:cs typeface="宋体"/>
            </a:endParaRPr>
          </a:p>
          <a:p>
            <a:pPr marL="756285">
              <a:lnSpc>
                <a:spcPts val="2140"/>
              </a:lnSpc>
            </a:pPr>
            <a:r>
              <a:rPr sz="1800" spc="-5" dirty="0">
                <a:latin typeface="Calibri"/>
                <a:cs typeface="Calibri"/>
              </a:rPr>
              <a:t>…Task.Step.Substep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09"/>
              </a:spcBef>
              <a:buClr>
                <a:srgbClr val="00663B"/>
              </a:buClr>
              <a:buSzPct val="8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版本控制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每一条单独的需求需要进行版本控制</a:t>
            </a:r>
            <a:endParaRPr sz="1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相关的需求文档也需要进行版本控制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00663B"/>
              </a:buClr>
              <a:buSzPct val="8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变更控制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00663B"/>
              </a:buClr>
              <a:buSzPct val="8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访问审计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记录和审计访问的情况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70"/>
              </a:spcBef>
              <a:buClr>
                <a:srgbClr val="00663B"/>
              </a:buClr>
              <a:buSzPct val="8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状态报告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ts val="2090"/>
              </a:lnSpc>
              <a:spcBef>
                <a:spcPts val="58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反映需求基线的成熟度（变化的幅度越大，成熟度越低）、稳定性（改</a:t>
            </a:r>
            <a:endParaRPr sz="1800">
              <a:latin typeface="宋体"/>
              <a:cs typeface="宋体"/>
            </a:endParaRPr>
          </a:p>
          <a:p>
            <a:pPr marL="756285">
              <a:lnSpc>
                <a:spcPts val="2090"/>
              </a:lnSpc>
            </a:pPr>
            <a:r>
              <a:rPr sz="1800" spc="-5" dirty="0">
                <a:latin typeface="宋体"/>
                <a:cs typeface="宋体"/>
              </a:rPr>
              <a:t>变的次数越多，稳定性越差）等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373" y="3809"/>
            <a:ext cx="607187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491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/>
              <a:t>需求基线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Calibri"/>
                <a:cs typeface="Calibri"/>
              </a:rPr>
              <a:t>——</a:t>
            </a:r>
            <a:r>
              <a:rPr dirty="0"/>
              <a:t>维护活动：状态维护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0815" y="1747266"/>
          <a:ext cx="8829040" cy="4240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1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642">
                <a:tc>
                  <a:txBody>
                    <a:bodyPr/>
                    <a:lstStyle/>
                    <a:p>
                      <a:pPr algn="ctr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状态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定义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41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已提议</a:t>
                      </a:r>
                      <a:r>
                        <a:rPr sz="1800" spc="-5" dirty="0">
                          <a:latin typeface="宋体"/>
                          <a:cs typeface="宋体"/>
                        </a:rPr>
                        <a:t>（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sz="1800" spc="-5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该需求已被有相应权限的人提出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052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已批准（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Approved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4135" algn="just">
                        <a:lnSpc>
                          <a:spcPct val="97800"/>
                        </a:lnSpc>
                        <a:spcBef>
                          <a:spcPts val="110"/>
                        </a:spcBef>
                      </a:pPr>
                      <a:r>
                        <a:rPr sz="1800" spc="20" dirty="0">
                          <a:latin typeface="宋体"/>
                          <a:cs typeface="宋体"/>
                        </a:rPr>
                        <a:t>该需求已经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被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分</a:t>
                      </a:r>
                      <a:r>
                        <a:rPr sz="1800" spc="40" dirty="0">
                          <a:latin typeface="宋体"/>
                          <a:cs typeface="宋体"/>
                        </a:rPr>
                        <a:t>析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，它对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项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目的影响已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进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行了估</a:t>
                      </a:r>
                      <a:r>
                        <a:rPr sz="1800" spc="55" dirty="0">
                          <a:latin typeface="宋体"/>
                          <a:cs typeface="宋体"/>
                        </a:rPr>
                        <a:t>计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并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且已经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被 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分配到某一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特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定版本的基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线</a:t>
                      </a:r>
                      <a:r>
                        <a:rPr sz="1800" spc="55" dirty="0">
                          <a:latin typeface="宋体"/>
                          <a:cs typeface="宋体"/>
                        </a:rPr>
                        <a:t>中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。关键涉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众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已同意包含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这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一需</a:t>
                      </a:r>
                      <a:r>
                        <a:rPr sz="1800" spc="55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， 软件开发团队已承诺实现这一需求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284">
                <a:tc>
                  <a:txBody>
                    <a:bodyPr/>
                    <a:lstStyle/>
                    <a:p>
                      <a:pPr marL="67945">
                        <a:lnSpc>
                          <a:spcPts val="2110"/>
                        </a:lnSpc>
                        <a:spcBef>
                          <a:spcPts val="65"/>
                        </a:spcBef>
                        <a:tabLst>
                          <a:tab pos="984250" algn="l"/>
                          <a:tab pos="1900555" algn="l"/>
                        </a:tabLst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已	实	现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67945">
                        <a:lnSpc>
                          <a:spcPts val="211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6040">
                        <a:lnSpc>
                          <a:spcPts val="2060"/>
                        </a:lnSpc>
                        <a:spcBef>
                          <a:spcPts val="215"/>
                        </a:spcBef>
                      </a:pPr>
                      <a:r>
                        <a:rPr sz="1800" spc="20" dirty="0">
                          <a:latin typeface="宋体"/>
                          <a:cs typeface="宋体"/>
                        </a:rPr>
                        <a:t>实现这一需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的系统组件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已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经完成了设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计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和实</a:t>
                      </a:r>
                      <a:r>
                        <a:rPr sz="1800" spc="75" dirty="0">
                          <a:latin typeface="宋体"/>
                          <a:cs typeface="宋体"/>
                        </a:rPr>
                        <a:t>现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。这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一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需求已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经 被跟踪到相关的设计元素和实现元素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已验证</a:t>
                      </a:r>
                      <a:r>
                        <a:rPr sz="1800" spc="-20" dirty="0">
                          <a:latin typeface="宋体"/>
                          <a:cs typeface="宋体"/>
                        </a:rPr>
                        <a:t>（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Verified</a:t>
                      </a:r>
                      <a:r>
                        <a:rPr sz="1800" spc="-2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2230" algn="just">
                        <a:lnSpc>
                          <a:spcPct val="97800"/>
                        </a:lnSpc>
                        <a:spcBef>
                          <a:spcPts val="115"/>
                        </a:spcBef>
                      </a:pPr>
                      <a:r>
                        <a:rPr sz="1800" spc="20" dirty="0">
                          <a:latin typeface="宋体"/>
                          <a:cs typeface="宋体"/>
                        </a:rPr>
                        <a:t>已在集成产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品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中确认了这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一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需求的功能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实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现是正确</a:t>
                      </a:r>
                      <a:r>
                        <a:rPr sz="1800" spc="80" dirty="0">
                          <a:latin typeface="宋体"/>
                          <a:cs typeface="宋体"/>
                        </a:rPr>
                        <a:t>的</a:t>
                      </a:r>
                      <a:r>
                        <a:rPr sz="1800" spc="35" dirty="0">
                          <a:latin typeface="宋体"/>
                          <a:cs typeface="宋体"/>
                        </a:rPr>
                        <a:t>。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这一需求 已经被跟踪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到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相关的测试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用</a:t>
                      </a:r>
                      <a:r>
                        <a:rPr sz="1800" spc="55" dirty="0">
                          <a:latin typeface="宋体"/>
                          <a:cs typeface="宋体"/>
                        </a:rPr>
                        <a:t>例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。这一需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目前可以被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认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为是已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完 成了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283">
                <a:tc>
                  <a:txBody>
                    <a:bodyPr/>
                    <a:lstStyle/>
                    <a:p>
                      <a:pPr marL="67945">
                        <a:lnSpc>
                          <a:spcPts val="2130"/>
                        </a:lnSpc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已删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除（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Deleted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15"/>
                        </a:lnSpc>
                        <a:spcBef>
                          <a:spcPts val="65"/>
                        </a:spcBef>
                      </a:pPr>
                      <a:r>
                        <a:rPr sz="1800" spc="15" dirty="0">
                          <a:latin typeface="宋体"/>
                          <a:cs typeface="宋体"/>
                        </a:rPr>
                        <a:t>已批准的需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1800" spc="15" dirty="0">
                          <a:latin typeface="宋体"/>
                          <a:cs typeface="宋体"/>
                        </a:rPr>
                        <a:t>又从需求基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线</a:t>
                      </a:r>
                      <a:r>
                        <a:rPr sz="1800" spc="15" dirty="0">
                          <a:latin typeface="宋体"/>
                          <a:cs typeface="宋体"/>
                        </a:rPr>
                        <a:t>中取消</a:t>
                      </a:r>
                      <a:r>
                        <a:rPr sz="1800" spc="50" dirty="0">
                          <a:latin typeface="宋体"/>
                          <a:cs typeface="宋体"/>
                        </a:rPr>
                        <a:t>了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。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要</a:t>
                      </a:r>
                      <a:r>
                        <a:rPr sz="1800" spc="15" dirty="0">
                          <a:latin typeface="宋体"/>
                          <a:cs typeface="宋体"/>
                        </a:rPr>
                        <a:t>解释清楚为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什</a:t>
                      </a:r>
                      <a:r>
                        <a:rPr sz="1800" spc="15" dirty="0">
                          <a:latin typeface="宋体"/>
                          <a:cs typeface="宋体"/>
                        </a:rPr>
                        <a:t>么要删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除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68580">
                        <a:lnSpc>
                          <a:spcPts val="211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这一需求，以及是谁决定删除的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pPr marL="67945">
                        <a:lnSpc>
                          <a:spcPts val="2135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已否决（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Rejected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10"/>
                        </a:lnSpc>
                        <a:spcBef>
                          <a:spcPts val="70"/>
                        </a:spcBef>
                      </a:pPr>
                      <a:r>
                        <a:rPr sz="1800" spc="20" dirty="0">
                          <a:latin typeface="宋体"/>
                          <a:cs typeface="宋体"/>
                        </a:rPr>
                        <a:t>需求已被提</a:t>
                      </a:r>
                      <a:r>
                        <a:rPr sz="1800" spc="35" dirty="0">
                          <a:latin typeface="宋体"/>
                          <a:cs typeface="宋体"/>
                        </a:rPr>
                        <a:t>议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，但并不在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下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一版本中实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现</a:t>
                      </a:r>
                      <a:r>
                        <a:rPr sz="1800" spc="50" dirty="0">
                          <a:latin typeface="宋体"/>
                          <a:cs typeface="宋体"/>
                        </a:rPr>
                        <a:t>它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。要解释</a:t>
                      </a:r>
                      <a:r>
                        <a:rPr sz="1800" spc="30" dirty="0">
                          <a:latin typeface="宋体"/>
                          <a:cs typeface="宋体"/>
                        </a:rPr>
                        <a:t>清</a:t>
                      </a:r>
                      <a:r>
                        <a:rPr sz="1800" spc="20" dirty="0">
                          <a:latin typeface="宋体"/>
                          <a:cs typeface="宋体"/>
                        </a:rPr>
                        <a:t>楚为什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么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68580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宋体"/>
                          <a:cs typeface="宋体"/>
                        </a:rPr>
                        <a:t>要否决这一需求，以及是谁决定否决的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4203065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需求管理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需求基线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需求跟踪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需求变更控制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需求管理的实践调查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110" y="217754"/>
            <a:ext cx="2814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5" dirty="0"/>
              <a:t>需求跟踪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3146"/>
            <a:ext cx="7990205" cy="7340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3535">
              <a:lnSpc>
                <a:spcPts val="2700"/>
              </a:lnSpc>
              <a:spcBef>
                <a:spcPts val="34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避</a:t>
            </a:r>
            <a:r>
              <a:rPr sz="2400" spc="-5" dirty="0">
                <a:latin typeface="宋体"/>
                <a:cs typeface="宋体"/>
              </a:rPr>
              <a:t>免</a:t>
            </a:r>
            <a:r>
              <a:rPr sz="2400" dirty="0">
                <a:latin typeface="宋体"/>
                <a:cs typeface="宋体"/>
              </a:rPr>
              <a:t>在开发过程或者演化过程中与需求基线不一</a:t>
            </a:r>
            <a:r>
              <a:rPr sz="2400" spc="5" dirty="0">
                <a:latin typeface="宋体"/>
                <a:cs typeface="宋体"/>
              </a:rPr>
              <a:t>致</a:t>
            </a:r>
            <a:r>
              <a:rPr sz="2400" dirty="0">
                <a:latin typeface="宋体"/>
                <a:cs typeface="宋体"/>
              </a:rPr>
              <a:t>或者偏 离的风险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985896"/>
            <a:ext cx="7989570" cy="31337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3535">
              <a:lnSpc>
                <a:spcPts val="2700"/>
              </a:lnSpc>
              <a:spcBef>
                <a:spcPts val="34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前向跟踪是指被定义到</a:t>
            </a:r>
            <a:r>
              <a:rPr sz="2400" dirty="0">
                <a:solidFill>
                  <a:srgbClr val="00A15F"/>
                </a:solidFill>
                <a:latin typeface="宋体"/>
                <a:cs typeface="宋体"/>
              </a:rPr>
              <a:t>软件需求规格说明文档之</a:t>
            </a:r>
            <a:r>
              <a:rPr sz="2400" spc="5" dirty="0">
                <a:solidFill>
                  <a:srgbClr val="00A15F"/>
                </a:solidFill>
                <a:latin typeface="宋体"/>
                <a:cs typeface="宋体"/>
              </a:rPr>
              <a:t>前</a:t>
            </a:r>
            <a:r>
              <a:rPr sz="2400" dirty="0">
                <a:latin typeface="宋体"/>
                <a:cs typeface="宋体"/>
              </a:rPr>
              <a:t>的需求 演化过程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向前跟踪到需求：说明涉众的需要和目标产生了哪些软件需求</a:t>
            </a:r>
            <a:endParaRPr sz="1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spc="-5" dirty="0">
                <a:latin typeface="宋体"/>
                <a:cs typeface="宋体"/>
              </a:rPr>
              <a:t>从需求向后回溯：说明软件需求来源于哪些涉众的需要和目标</a:t>
            </a:r>
            <a:endParaRPr sz="1800">
              <a:latin typeface="宋体"/>
              <a:cs typeface="宋体"/>
            </a:endParaRPr>
          </a:p>
          <a:p>
            <a:pPr marL="355600" marR="5080" indent="-343535">
              <a:lnSpc>
                <a:spcPts val="2700"/>
              </a:lnSpc>
              <a:spcBef>
                <a:spcPts val="9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后向跟踪是指被定义到</a:t>
            </a:r>
            <a:r>
              <a:rPr sz="2400" dirty="0">
                <a:solidFill>
                  <a:srgbClr val="00A15F"/>
                </a:solidFill>
                <a:latin typeface="宋体"/>
                <a:cs typeface="宋体"/>
              </a:rPr>
              <a:t>软件需求规格说明文档之</a:t>
            </a:r>
            <a:r>
              <a:rPr sz="2400" spc="5" dirty="0">
                <a:solidFill>
                  <a:srgbClr val="00A15F"/>
                </a:solidFill>
                <a:latin typeface="宋体"/>
                <a:cs typeface="宋体"/>
              </a:rPr>
              <a:t>后</a:t>
            </a:r>
            <a:r>
              <a:rPr sz="2400" dirty="0">
                <a:latin typeface="宋体"/>
                <a:cs typeface="宋体"/>
              </a:rPr>
              <a:t>的需求 演化过程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宋体"/>
                <a:cs typeface="宋体"/>
              </a:rPr>
              <a:t>从需求向前跟踪：说明软件需求是如何被后续的开发物件支持和实现的</a:t>
            </a:r>
            <a:endParaRPr sz="1800">
              <a:latin typeface="宋体"/>
              <a:cs typeface="宋体"/>
            </a:endParaRPr>
          </a:p>
          <a:p>
            <a:pPr marL="756285" lvl="1" indent="-287020">
              <a:lnSpc>
                <a:spcPts val="2090"/>
              </a:lnSpc>
              <a:spcBef>
                <a:spcPts val="57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spc="-5" dirty="0">
                <a:latin typeface="宋体"/>
                <a:cs typeface="宋体"/>
              </a:rPr>
              <a:t>回溯到需求的跟踪：说明各种系统开发的物件是因为什么原因（软件需</a:t>
            </a:r>
            <a:endParaRPr sz="1800">
              <a:latin typeface="宋体"/>
              <a:cs typeface="宋体"/>
            </a:endParaRPr>
          </a:p>
          <a:p>
            <a:pPr marL="756285">
              <a:lnSpc>
                <a:spcPts val="2090"/>
              </a:lnSpc>
            </a:pPr>
            <a:r>
              <a:rPr sz="1800" dirty="0">
                <a:latin typeface="宋体"/>
                <a:cs typeface="宋体"/>
              </a:rPr>
              <a:t>求）而被开发出来的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8266" y="2101174"/>
            <a:ext cx="1294130" cy="769620"/>
          </a:xfrm>
          <a:custGeom>
            <a:avLst/>
            <a:gdLst/>
            <a:ahLst/>
            <a:cxnLst/>
            <a:rect l="l" t="t" r="r" b="b"/>
            <a:pathLst>
              <a:path w="1294130" h="769619">
                <a:moveTo>
                  <a:pt x="1293783" y="0"/>
                </a:moveTo>
                <a:lnTo>
                  <a:pt x="0" y="0"/>
                </a:lnTo>
                <a:lnTo>
                  <a:pt x="0" y="769152"/>
                </a:lnTo>
                <a:lnTo>
                  <a:pt x="921819" y="769152"/>
                </a:lnTo>
                <a:lnTo>
                  <a:pt x="1293783" y="729483"/>
                </a:lnTo>
                <a:lnTo>
                  <a:pt x="1293783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8266" y="2101176"/>
            <a:ext cx="1294130" cy="769620"/>
          </a:xfrm>
          <a:prstGeom prst="rect">
            <a:avLst/>
          </a:prstGeom>
          <a:ln w="5136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5"/>
              </a:spcBef>
            </a:pPr>
            <a:r>
              <a:rPr sz="1350" spc="15" dirty="0">
                <a:latin typeface="宋体"/>
                <a:cs typeface="宋体"/>
              </a:rPr>
              <a:t>涉众需要</a:t>
            </a:r>
            <a:r>
              <a:rPr sz="1350" dirty="0">
                <a:latin typeface="Times New Roman"/>
                <a:cs typeface="Times New Roman"/>
              </a:rPr>
              <a:t>/</a:t>
            </a:r>
            <a:r>
              <a:rPr sz="1350" spc="15" dirty="0">
                <a:latin typeface="宋体"/>
                <a:cs typeface="宋体"/>
              </a:rPr>
              <a:t>目标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5508" y="2101174"/>
            <a:ext cx="2402840" cy="552450"/>
          </a:xfrm>
          <a:custGeom>
            <a:avLst/>
            <a:gdLst/>
            <a:ahLst/>
            <a:cxnLst/>
            <a:rect l="l" t="t" r="r" b="b"/>
            <a:pathLst>
              <a:path w="2402840" h="552450">
                <a:moveTo>
                  <a:pt x="2402697" y="0"/>
                </a:moveTo>
                <a:lnTo>
                  <a:pt x="0" y="0"/>
                </a:lnTo>
                <a:lnTo>
                  <a:pt x="0" y="552079"/>
                </a:lnTo>
                <a:lnTo>
                  <a:pt x="2402697" y="295838"/>
                </a:lnTo>
                <a:lnTo>
                  <a:pt x="2402697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15508" y="2101176"/>
            <a:ext cx="2402840" cy="552450"/>
          </a:xfrm>
          <a:custGeom>
            <a:avLst/>
            <a:gdLst/>
            <a:ahLst/>
            <a:cxnLst/>
            <a:rect l="l" t="t" r="r" b="b"/>
            <a:pathLst>
              <a:path w="2402840" h="552450">
                <a:moveTo>
                  <a:pt x="2402697" y="295835"/>
                </a:moveTo>
                <a:lnTo>
                  <a:pt x="2402697" y="0"/>
                </a:lnTo>
                <a:lnTo>
                  <a:pt x="0" y="0"/>
                </a:lnTo>
                <a:lnTo>
                  <a:pt x="0" y="552077"/>
                </a:lnTo>
              </a:path>
            </a:pathLst>
          </a:custGeom>
          <a:ln w="5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56304" y="2246792"/>
            <a:ext cx="721360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15" dirty="0">
                <a:latin typeface="宋体"/>
                <a:cs typeface="宋体"/>
              </a:rPr>
              <a:t>软件需求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0815" y="2470864"/>
            <a:ext cx="547370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15" dirty="0">
                <a:latin typeface="宋体"/>
                <a:cs typeface="宋体"/>
              </a:rPr>
              <a:t>（软件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66469" y="2101174"/>
            <a:ext cx="925830" cy="99060"/>
          </a:xfrm>
          <a:custGeom>
            <a:avLst/>
            <a:gdLst/>
            <a:ahLst/>
            <a:cxnLst/>
            <a:rect l="l" t="t" r="r" b="b"/>
            <a:pathLst>
              <a:path w="925829" h="99060">
                <a:moveTo>
                  <a:pt x="925719" y="0"/>
                </a:moveTo>
                <a:lnTo>
                  <a:pt x="0" y="0"/>
                </a:lnTo>
                <a:lnTo>
                  <a:pt x="0" y="98725"/>
                </a:lnTo>
                <a:lnTo>
                  <a:pt x="925719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66469" y="2101176"/>
            <a:ext cx="925830" cy="99060"/>
          </a:xfrm>
          <a:custGeom>
            <a:avLst/>
            <a:gdLst/>
            <a:ahLst/>
            <a:cxnLst/>
            <a:rect l="l" t="t" r="r" b="b"/>
            <a:pathLst>
              <a:path w="925829" h="99060">
                <a:moveTo>
                  <a:pt x="925699" y="0"/>
                </a:moveTo>
                <a:lnTo>
                  <a:pt x="0" y="0"/>
                </a:lnTo>
                <a:lnTo>
                  <a:pt x="0" y="98723"/>
                </a:lnTo>
              </a:path>
            </a:pathLst>
          </a:custGeom>
          <a:ln w="5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51273" y="2267066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4">
                <a:moveTo>
                  <a:pt x="0" y="0"/>
                </a:moveTo>
                <a:lnTo>
                  <a:pt x="499274" y="0"/>
                </a:lnTo>
              </a:path>
            </a:pathLst>
          </a:custGeom>
          <a:ln w="5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52050" y="2267066"/>
            <a:ext cx="651510" cy="0"/>
          </a:xfrm>
          <a:custGeom>
            <a:avLst/>
            <a:gdLst/>
            <a:ahLst/>
            <a:cxnLst/>
            <a:rect l="l" t="t" r="r" b="b"/>
            <a:pathLst>
              <a:path w="651510">
                <a:moveTo>
                  <a:pt x="0" y="0"/>
                </a:moveTo>
                <a:lnTo>
                  <a:pt x="651477" y="0"/>
                </a:lnTo>
              </a:path>
            </a:pathLst>
          </a:custGeom>
          <a:ln w="5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35550" y="2208330"/>
            <a:ext cx="180340" cy="117475"/>
          </a:xfrm>
          <a:custGeom>
            <a:avLst/>
            <a:gdLst/>
            <a:ahLst/>
            <a:cxnLst/>
            <a:rect l="l" t="t" r="r" b="b"/>
            <a:pathLst>
              <a:path w="180339" h="117475">
                <a:moveTo>
                  <a:pt x="0" y="0"/>
                </a:moveTo>
                <a:lnTo>
                  <a:pt x="0" y="117473"/>
                </a:lnTo>
                <a:lnTo>
                  <a:pt x="179957" y="587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18206" y="2267067"/>
            <a:ext cx="1242695" cy="0"/>
          </a:xfrm>
          <a:custGeom>
            <a:avLst/>
            <a:gdLst/>
            <a:ahLst/>
            <a:cxnLst/>
            <a:rect l="l" t="t" r="r" b="b"/>
            <a:pathLst>
              <a:path w="1242695">
                <a:moveTo>
                  <a:pt x="0" y="0"/>
                </a:moveTo>
                <a:lnTo>
                  <a:pt x="1242402" y="0"/>
                </a:lnTo>
              </a:path>
            </a:pathLst>
          </a:custGeom>
          <a:ln w="5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86511" y="2208330"/>
            <a:ext cx="25400" cy="10795"/>
          </a:xfrm>
          <a:custGeom>
            <a:avLst/>
            <a:gdLst/>
            <a:ahLst/>
            <a:cxnLst/>
            <a:rect l="l" t="t" r="r" b="b"/>
            <a:pathLst>
              <a:path w="25400" h="10794">
                <a:moveTo>
                  <a:pt x="0" y="0"/>
                </a:moveTo>
                <a:lnTo>
                  <a:pt x="0" y="10761"/>
                </a:lnTo>
                <a:lnTo>
                  <a:pt x="24851" y="81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61945" y="2155041"/>
            <a:ext cx="347980" cy="163195"/>
          </a:xfrm>
          <a:custGeom>
            <a:avLst/>
            <a:gdLst/>
            <a:ahLst/>
            <a:cxnLst/>
            <a:rect l="l" t="t" r="r" b="b"/>
            <a:pathLst>
              <a:path w="347979" h="163194">
                <a:moveTo>
                  <a:pt x="347744" y="0"/>
                </a:moveTo>
                <a:lnTo>
                  <a:pt x="0" y="0"/>
                </a:lnTo>
                <a:lnTo>
                  <a:pt x="0" y="162652"/>
                </a:lnTo>
                <a:lnTo>
                  <a:pt x="347744" y="125566"/>
                </a:lnTo>
                <a:lnTo>
                  <a:pt x="3477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197348" y="2140151"/>
            <a:ext cx="4531995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70679" algn="l"/>
              </a:tabLst>
            </a:pPr>
            <a:r>
              <a:rPr sz="1350" spc="15" dirty="0">
                <a:latin typeface="宋体"/>
                <a:cs typeface="宋体"/>
              </a:rPr>
              <a:t>跟踪	跟踪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52050" y="2690949"/>
            <a:ext cx="180340" cy="117475"/>
          </a:xfrm>
          <a:custGeom>
            <a:avLst/>
            <a:gdLst/>
            <a:ahLst/>
            <a:cxnLst/>
            <a:rect l="l" t="t" r="r" b="b"/>
            <a:pathLst>
              <a:path w="180339" h="117475">
                <a:moveTo>
                  <a:pt x="179957" y="0"/>
                </a:moveTo>
                <a:lnTo>
                  <a:pt x="0" y="58736"/>
                </a:lnTo>
                <a:lnTo>
                  <a:pt x="179957" y="117464"/>
                </a:lnTo>
                <a:lnTo>
                  <a:pt x="179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03528" y="2637644"/>
            <a:ext cx="347980" cy="123825"/>
          </a:xfrm>
          <a:custGeom>
            <a:avLst/>
            <a:gdLst/>
            <a:ahLst/>
            <a:cxnLst/>
            <a:rect l="l" t="t" r="r" b="b"/>
            <a:pathLst>
              <a:path w="347980" h="123825">
                <a:moveTo>
                  <a:pt x="347744" y="0"/>
                </a:moveTo>
                <a:lnTo>
                  <a:pt x="0" y="0"/>
                </a:lnTo>
                <a:lnTo>
                  <a:pt x="0" y="123534"/>
                </a:lnTo>
                <a:lnTo>
                  <a:pt x="347744" y="86448"/>
                </a:lnTo>
                <a:lnTo>
                  <a:pt x="3477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704312" y="2622747"/>
            <a:ext cx="692785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05459" algn="l"/>
              </a:tabLst>
            </a:pPr>
            <a:r>
              <a:rPr sz="1350" strike="sngStrike" dirty="0">
                <a:latin typeface="Times New Roman"/>
                <a:cs typeface="Times New Roman"/>
              </a:rPr>
              <a:t>  </a:t>
            </a:r>
            <a:r>
              <a:rPr sz="1350" strike="sngStrike" spc="125" dirty="0">
                <a:latin typeface="Times New Roman"/>
                <a:cs typeface="Times New Roman"/>
              </a:rPr>
              <a:t> </a:t>
            </a:r>
            <a:r>
              <a:rPr sz="1350" strike="noStrike" dirty="0">
                <a:latin typeface="Times New Roman"/>
                <a:cs typeface="Times New Roman"/>
              </a:rPr>
              <a:t>	</a:t>
            </a:r>
            <a:r>
              <a:rPr sz="1350" strike="sngStrike" spc="15" dirty="0">
                <a:latin typeface="宋体"/>
                <a:cs typeface="宋体"/>
              </a:rPr>
              <a:t>回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8220" y="230251"/>
            <a:ext cx="56089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需求跟</a:t>
            </a:r>
            <a:r>
              <a:rPr spc="-5" dirty="0"/>
              <a:t>踪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用途（</a:t>
            </a:r>
            <a:r>
              <a:rPr dirty="0">
                <a:latin typeface="Calibri"/>
                <a:cs typeface="Calibri"/>
              </a:rPr>
              <a:t>1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58660"/>
            <a:ext cx="7886700" cy="43510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0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需求</a:t>
            </a:r>
            <a:r>
              <a:rPr sz="2800" spc="-1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前向跟踪可以帮</a:t>
            </a:r>
            <a:r>
              <a:rPr sz="2800" dirty="0">
                <a:latin typeface="宋体"/>
                <a:cs typeface="宋体"/>
              </a:rPr>
              <a:t>助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项目管理</a:t>
            </a:r>
            <a:r>
              <a:rPr sz="2800" spc="10" dirty="0">
                <a:solidFill>
                  <a:srgbClr val="00A15F"/>
                </a:solidFill>
                <a:latin typeface="宋体"/>
                <a:cs typeface="宋体"/>
              </a:rPr>
              <a:t>者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09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评估需求变更的影响；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尽早发现需求之间的冲</a:t>
            </a:r>
            <a:r>
              <a:rPr sz="2000" spc="-15" dirty="0">
                <a:latin typeface="宋体"/>
                <a:cs typeface="宋体"/>
              </a:rPr>
              <a:t>突</a:t>
            </a:r>
            <a:r>
              <a:rPr sz="2000" dirty="0">
                <a:latin typeface="宋体"/>
                <a:cs typeface="宋体"/>
              </a:rPr>
              <a:t>，避</a:t>
            </a:r>
            <a:r>
              <a:rPr sz="2000" spc="-15" dirty="0">
                <a:latin typeface="宋体"/>
                <a:cs typeface="宋体"/>
              </a:rPr>
              <a:t>免</a:t>
            </a:r>
            <a:r>
              <a:rPr sz="2000" dirty="0">
                <a:latin typeface="宋体"/>
                <a:cs typeface="宋体"/>
              </a:rPr>
              <a:t>未预</a:t>
            </a:r>
            <a:r>
              <a:rPr sz="2000" spc="-15" dirty="0">
                <a:latin typeface="宋体"/>
                <a:cs typeface="宋体"/>
              </a:rPr>
              <a:t>料</a:t>
            </a:r>
            <a:r>
              <a:rPr sz="2000" dirty="0">
                <a:latin typeface="宋体"/>
                <a:cs typeface="宋体"/>
              </a:rPr>
              <a:t>的产</a:t>
            </a:r>
            <a:r>
              <a:rPr sz="2000" spc="-15" dirty="0">
                <a:latin typeface="宋体"/>
                <a:cs typeface="宋体"/>
              </a:rPr>
              <a:t>品</a:t>
            </a:r>
            <a:r>
              <a:rPr sz="2000" dirty="0">
                <a:latin typeface="宋体"/>
                <a:cs typeface="宋体"/>
              </a:rPr>
              <a:t>延期；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可以收集没有被实现的</a:t>
            </a:r>
            <a:r>
              <a:rPr sz="2000" spc="-15" dirty="0">
                <a:latin typeface="宋体"/>
                <a:cs typeface="宋体"/>
              </a:rPr>
              <a:t>需</a:t>
            </a:r>
            <a:r>
              <a:rPr sz="2000" dirty="0">
                <a:latin typeface="宋体"/>
                <a:cs typeface="宋体"/>
              </a:rPr>
              <a:t>求，</a:t>
            </a:r>
            <a:r>
              <a:rPr sz="2000" spc="-15" dirty="0">
                <a:latin typeface="宋体"/>
                <a:cs typeface="宋体"/>
              </a:rPr>
              <a:t>并</a:t>
            </a:r>
            <a:r>
              <a:rPr sz="2000" dirty="0">
                <a:latin typeface="宋体"/>
                <a:cs typeface="宋体"/>
              </a:rPr>
              <a:t>估算</a:t>
            </a:r>
            <a:r>
              <a:rPr sz="2000" spc="-15" dirty="0">
                <a:latin typeface="宋体"/>
                <a:cs typeface="宋体"/>
              </a:rPr>
              <a:t>这</a:t>
            </a:r>
            <a:r>
              <a:rPr sz="2000" dirty="0">
                <a:latin typeface="宋体"/>
                <a:cs typeface="宋体"/>
              </a:rPr>
              <a:t>些需</a:t>
            </a:r>
            <a:r>
              <a:rPr sz="2000" spc="-15" dirty="0">
                <a:latin typeface="宋体"/>
                <a:cs typeface="宋体"/>
              </a:rPr>
              <a:t>求</a:t>
            </a:r>
            <a:r>
              <a:rPr sz="2000" dirty="0">
                <a:latin typeface="宋体"/>
                <a:cs typeface="宋体"/>
              </a:rPr>
              <a:t>需要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工作</a:t>
            </a:r>
            <a:r>
              <a:rPr sz="2000" spc="-15" dirty="0">
                <a:latin typeface="宋体"/>
                <a:cs typeface="宋体"/>
              </a:rPr>
              <a:t>量</a:t>
            </a:r>
            <a:r>
              <a:rPr sz="2000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发现可以复用的已有组</a:t>
            </a:r>
            <a:r>
              <a:rPr sz="2000" spc="-15" dirty="0">
                <a:latin typeface="宋体"/>
                <a:cs typeface="宋体"/>
              </a:rPr>
              <a:t>件</a:t>
            </a:r>
            <a:r>
              <a:rPr sz="2000" dirty="0">
                <a:latin typeface="宋体"/>
                <a:cs typeface="宋体"/>
              </a:rPr>
              <a:t>，从</a:t>
            </a:r>
            <a:r>
              <a:rPr sz="2000" spc="-15" dirty="0">
                <a:latin typeface="宋体"/>
                <a:cs typeface="宋体"/>
              </a:rPr>
              <a:t>而</a:t>
            </a:r>
            <a:r>
              <a:rPr sz="2000" dirty="0">
                <a:latin typeface="宋体"/>
                <a:cs typeface="宋体"/>
              </a:rPr>
              <a:t>降低</a:t>
            </a:r>
            <a:r>
              <a:rPr sz="2000" spc="-15" dirty="0">
                <a:latin typeface="宋体"/>
                <a:cs typeface="宋体"/>
              </a:rPr>
              <a:t>新</a:t>
            </a:r>
            <a:r>
              <a:rPr sz="2000" dirty="0">
                <a:latin typeface="宋体"/>
                <a:cs typeface="宋体"/>
              </a:rPr>
              <a:t>系统</a:t>
            </a:r>
            <a:r>
              <a:rPr sz="2000" spc="-15" dirty="0">
                <a:latin typeface="宋体"/>
                <a:cs typeface="宋体"/>
              </a:rPr>
              <a:t>开</a:t>
            </a:r>
            <a:r>
              <a:rPr sz="2000" dirty="0">
                <a:latin typeface="宋体"/>
                <a:cs typeface="宋体"/>
              </a:rPr>
              <a:t>发的</a:t>
            </a:r>
            <a:r>
              <a:rPr sz="2000" spc="-15" dirty="0">
                <a:latin typeface="宋体"/>
                <a:cs typeface="宋体"/>
              </a:rPr>
              <a:t>时</a:t>
            </a:r>
            <a:r>
              <a:rPr sz="2000" dirty="0">
                <a:latin typeface="宋体"/>
                <a:cs typeface="宋体"/>
              </a:rPr>
              <a:t>间和</a:t>
            </a:r>
            <a:r>
              <a:rPr sz="2000" spc="-15" dirty="0">
                <a:latin typeface="宋体"/>
                <a:cs typeface="宋体"/>
              </a:rPr>
              <a:t>精</a:t>
            </a:r>
            <a:r>
              <a:rPr sz="2000" dirty="0">
                <a:latin typeface="宋体"/>
                <a:cs typeface="宋体"/>
              </a:rPr>
              <a:t>力；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明确需求的实现进度，</a:t>
            </a:r>
            <a:r>
              <a:rPr sz="2000" spc="-15" dirty="0">
                <a:latin typeface="宋体"/>
                <a:cs typeface="宋体"/>
              </a:rPr>
              <a:t>跟</a:t>
            </a:r>
            <a:r>
              <a:rPr sz="2000" dirty="0">
                <a:latin typeface="宋体"/>
                <a:cs typeface="宋体"/>
              </a:rPr>
              <a:t>踪项</a:t>
            </a:r>
            <a:r>
              <a:rPr sz="2000" spc="-15" dirty="0">
                <a:latin typeface="宋体"/>
                <a:cs typeface="宋体"/>
              </a:rPr>
              <a:t>目</a:t>
            </a:r>
            <a:r>
              <a:rPr sz="2000" dirty="0">
                <a:latin typeface="宋体"/>
                <a:cs typeface="宋体"/>
              </a:rPr>
              <a:t>的状</a:t>
            </a:r>
            <a:r>
              <a:rPr sz="2000" spc="-15" dirty="0">
                <a:latin typeface="宋体"/>
                <a:cs typeface="宋体"/>
              </a:rPr>
              <a:t>态</a:t>
            </a:r>
            <a:r>
              <a:rPr sz="2000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64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宋体"/>
                <a:cs typeface="宋体"/>
              </a:rPr>
              <a:t>需求的后向跟踪可以帮助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客户和用</a:t>
            </a:r>
            <a:r>
              <a:rPr sz="2800" spc="10" dirty="0">
                <a:solidFill>
                  <a:srgbClr val="00A15F"/>
                </a:solidFill>
                <a:latin typeface="宋体"/>
                <a:cs typeface="宋体"/>
              </a:rPr>
              <a:t>户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评价针对用户需求的产</a:t>
            </a:r>
            <a:r>
              <a:rPr sz="2000" spc="-15" dirty="0">
                <a:latin typeface="宋体"/>
                <a:cs typeface="宋体"/>
              </a:rPr>
              <a:t>品</a:t>
            </a:r>
            <a:r>
              <a:rPr sz="2000" dirty="0">
                <a:latin typeface="宋体"/>
                <a:cs typeface="宋体"/>
              </a:rPr>
              <a:t>的质</a:t>
            </a:r>
            <a:r>
              <a:rPr sz="2000" spc="-15" dirty="0">
                <a:latin typeface="宋体"/>
                <a:cs typeface="宋体"/>
              </a:rPr>
              <a:t>量</a:t>
            </a:r>
            <a:r>
              <a:rPr sz="2000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可以确认成本上没有（</a:t>
            </a:r>
            <a:r>
              <a:rPr sz="2000" spc="-15" dirty="0">
                <a:latin typeface="宋体"/>
                <a:cs typeface="宋体"/>
              </a:rPr>
              <a:t>昂</a:t>
            </a:r>
            <a:r>
              <a:rPr sz="2000" dirty="0">
                <a:latin typeface="宋体"/>
                <a:cs typeface="宋体"/>
              </a:rPr>
              <a:t>贵的</a:t>
            </a:r>
            <a:r>
              <a:rPr sz="2000" spc="-15" dirty="0">
                <a:latin typeface="宋体"/>
                <a:cs typeface="宋体"/>
              </a:rPr>
              <a:t>）</a:t>
            </a:r>
            <a:r>
              <a:rPr sz="2000" dirty="0">
                <a:latin typeface="宋体"/>
                <a:cs typeface="宋体"/>
              </a:rPr>
              <a:t>镀金</a:t>
            </a:r>
            <a:r>
              <a:rPr sz="2000" spc="-15" dirty="0">
                <a:latin typeface="宋体"/>
                <a:cs typeface="宋体"/>
              </a:rPr>
              <a:t>浪</a:t>
            </a:r>
            <a:r>
              <a:rPr sz="2000" dirty="0">
                <a:latin typeface="宋体"/>
                <a:cs typeface="宋体"/>
              </a:rPr>
              <a:t>费；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确认验收测试的有效性；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确信开发者的关注点始</a:t>
            </a:r>
            <a:r>
              <a:rPr sz="2000" spc="-15" dirty="0">
                <a:latin typeface="宋体"/>
                <a:cs typeface="宋体"/>
              </a:rPr>
              <a:t>终</a:t>
            </a:r>
            <a:r>
              <a:rPr sz="2000" dirty="0">
                <a:latin typeface="宋体"/>
                <a:cs typeface="宋体"/>
              </a:rPr>
              <a:t>保持</a:t>
            </a:r>
            <a:r>
              <a:rPr sz="2000" spc="-15" dirty="0">
                <a:latin typeface="宋体"/>
                <a:cs typeface="宋体"/>
              </a:rPr>
              <a:t>在</a:t>
            </a:r>
            <a:r>
              <a:rPr sz="2000" dirty="0">
                <a:latin typeface="宋体"/>
                <a:cs typeface="宋体"/>
              </a:rPr>
              <a:t>需求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实现</a:t>
            </a:r>
            <a:r>
              <a:rPr sz="2000" spc="-15" dirty="0">
                <a:latin typeface="宋体"/>
                <a:cs typeface="宋体"/>
              </a:rPr>
              <a:t>上</a:t>
            </a:r>
            <a:r>
              <a:rPr sz="2000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8220" y="197865"/>
            <a:ext cx="56089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需求跟</a:t>
            </a:r>
            <a:r>
              <a:rPr spc="-5" dirty="0"/>
              <a:t>踪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用途（</a:t>
            </a:r>
            <a:r>
              <a:rPr dirty="0">
                <a:latin typeface="Calibri"/>
                <a:cs typeface="Calibri"/>
              </a:rPr>
              <a:t>2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55267"/>
            <a:ext cx="7988934" cy="41021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3535">
              <a:lnSpc>
                <a:spcPts val="2700"/>
              </a:lnSpc>
              <a:spcBef>
                <a:spcPts val="34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需求跟踪中针对具体需求的设计方案选择、设计假设条件 以及设计结果等信息可以帮助</a:t>
            </a:r>
            <a:r>
              <a:rPr sz="2400" dirty="0">
                <a:solidFill>
                  <a:srgbClr val="00A15F"/>
                </a:solidFill>
                <a:latin typeface="宋体"/>
                <a:cs typeface="宋体"/>
              </a:rPr>
              <a:t>设计人员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验证设计方案正确的满</a:t>
            </a:r>
            <a:r>
              <a:rPr sz="2000" spc="-15" dirty="0">
                <a:latin typeface="宋体"/>
                <a:cs typeface="宋体"/>
              </a:rPr>
              <a:t>足</a:t>
            </a:r>
            <a:r>
              <a:rPr sz="2000" dirty="0">
                <a:latin typeface="宋体"/>
                <a:cs typeface="宋体"/>
              </a:rPr>
              <a:t>了需</a:t>
            </a:r>
            <a:r>
              <a:rPr sz="2000" spc="-15" dirty="0">
                <a:latin typeface="宋体"/>
                <a:cs typeface="宋体"/>
              </a:rPr>
              <a:t>求</a:t>
            </a:r>
            <a:r>
              <a:rPr sz="2000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评估需求变更对设计的</a:t>
            </a:r>
            <a:r>
              <a:rPr sz="2000" spc="-10" dirty="0">
                <a:latin typeface="宋体"/>
                <a:cs typeface="宋体"/>
              </a:rPr>
              <a:t>影</a:t>
            </a:r>
            <a:r>
              <a:rPr sz="2000" dirty="0">
                <a:latin typeface="宋体"/>
                <a:cs typeface="宋体"/>
              </a:rPr>
              <a:t>响；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在设计完成很久之后仍</a:t>
            </a:r>
            <a:r>
              <a:rPr sz="2000" spc="-15" dirty="0">
                <a:latin typeface="宋体"/>
                <a:cs typeface="宋体"/>
              </a:rPr>
              <a:t>然</a:t>
            </a:r>
            <a:r>
              <a:rPr sz="2000" dirty="0">
                <a:latin typeface="宋体"/>
                <a:cs typeface="宋体"/>
              </a:rPr>
              <a:t>可以</a:t>
            </a:r>
            <a:r>
              <a:rPr sz="2000" spc="-15" dirty="0">
                <a:latin typeface="宋体"/>
                <a:cs typeface="宋体"/>
              </a:rPr>
              <a:t>理</a:t>
            </a:r>
            <a:r>
              <a:rPr sz="2000" dirty="0">
                <a:latin typeface="宋体"/>
                <a:cs typeface="宋体"/>
              </a:rPr>
              <a:t>解设</a:t>
            </a:r>
            <a:r>
              <a:rPr sz="2000" spc="-15" dirty="0">
                <a:latin typeface="宋体"/>
                <a:cs typeface="宋体"/>
              </a:rPr>
              <a:t>计</a:t>
            </a:r>
            <a:r>
              <a:rPr sz="2000" dirty="0">
                <a:latin typeface="宋体"/>
                <a:cs typeface="宋体"/>
              </a:rPr>
              <a:t>的原</a:t>
            </a:r>
            <a:r>
              <a:rPr sz="2000" spc="-15" dirty="0">
                <a:latin typeface="宋体"/>
                <a:cs typeface="宋体"/>
              </a:rPr>
              <a:t>始</a:t>
            </a:r>
            <a:r>
              <a:rPr sz="2000" dirty="0">
                <a:latin typeface="宋体"/>
                <a:cs typeface="宋体"/>
              </a:rPr>
              <a:t>思路；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评估技术变化带来的影</a:t>
            </a:r>
            <a:r>
              <a:rPr sz="2000" spc="-15" dirty="0">
                <a:latin typeface="宋体"/>
                <a:cs typeface="宋体"/>
              </a:rPr>
              <a:t>响</a:t>
            </a:r>
            <a:r>
              <a:rPr sz="2000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实现系统组件的复用；</a:t>
            </a:r>
            <a:endParaRPr sz="20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宋体"/>
                <a:cs typeface="宋体"/>
              </a:rPr>
              <a:t>需求跟踪信息还可以帮</a:t>
            </a:r>
            <a:r>
              <a:rPr sz="2400" dirty="0">
                <a:latin typeface="宋体"/>
                <a:cs typeface="宋体"/>
              </a:rPr>
              <a:t>助</a:t>
            </a:r>
            <a:r>
              <a:rPr sz="2400" dirty="0">
                <a:solidFill>
                  <a:srgbClr val="00A15F"/>
                </a:solidFill>
                <a:latin typeface="宋体"/>
                <a:cs typeface="宋体"/>
              </a:rPr>
              <a:t>维护人</a:t>
            </a:r>
            <a:r>
              <a:rPr sz="2400" spc="-10" dirty="0">
                <a:solidFill>
                  <a:srgbClr val="00A15F"/>
                </a:solidFill>
                <a:latin typeface="宋体"/>
                <a:cs typeface="宋体"/>
              </a:rPr>
              <a:t>员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评估某一个需求变化时</a:t>
            </a:r>
            <a:r>
              <a:rPr sz="2000" spc="-15" dirty="0">
                <a:latin typeface="宋体"/>
                <a:cs typeface="宋体"/>
              </a:rPr>
              <a:t>对</a:t>
            </a:r>
            <a:r>
              <a:rPr sz="2000" dirty="0">
                <a:latin typeface="宋体"/>
                <a:cs typeface="宋体"/>
              </a:rPr>
              <a:t>其他</a:t>
            </a:r>
            <a:r>
              <a:rPr sz="2000" spc="-15" dirty="0">
                <a:latin typeface="宋体"/>
                <a:cs typeface="宋体"/>
              </a:rPr>
              <a:t>需</a:t>
            </a:r>
            <a:r>
              <a:rPr sz="2000" dirty="0">
                <a:latin typeface="宋体"/>
                <a:cs typeface="宋体"/>
              </a:rPr>
              <a:t>求的</a:t>
            </a:r>
            <a:r>
              <a:rPr sz="2000" spc="-15" dirty="0">
                <a:latin typeface="宋体"/>
                <a:cs typeface="宋体"/>
              </a:rPr>
              <a:t>影</a:t>
            </a:r>
            <a:r>
              <a:rPr sz="2000" dirty="0">
                <a:latin typeface="宋体"/>
                <a:cs typeface="宋体"/>
              </a:rPr>
              <a:t>响；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评估需求变化时对实现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影响；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评估未变化需求对实现</a:t>
            </a:r>
            <a:r>
              <a:rPr sz="2000" spc="-15" dirty="0">
                <a:latin typeface="宋体"/>
                <a:cs typeface="宋体"/>
              </a:rPr>
              <a:t>变</a:t>
            </a:r>
            <a:r>
              <a:rPr sz="2000" dirty="0">
                <a:latin typeface="宋体"/>
                <a:cs typeface="宋体"/>
              </a:rPr>
              <a:t>更的</a:t>
            </a:r>
            <a:r>
              <a:rPr sz="2000" spc="-15" dirty="0">
                <a:latin typeface="宋体"/>
                <a:cs typeface="宋体"/>
              </a:rPr>
              <a:t>允</a:t>
            </a:r>
            <a:r>
              <a:rPr sz="2000" dirty="0">
                <a:latin typeface="宋体"/>
                <a:cs typeface="宋体"/>
              </a:rPr>
              <a:t>许度。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5470" y="243966"/>
            <a:ext cx="53251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需求跟踪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实现方法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4881"/>
            <a:ext cx="60642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矩阵、实体关系模型和</a:t>
            </a:r>
            <a:r>
              <a:rPr sz="3200" spc="-15" dirty="0">
                <a:latin typeface="宋体"/>
                <a:cs typeface="宋体"/>
              </a:rPr>
              <a:t>交</a:t>
            </a:r>
            <a:r>
              <a:rPr sz="3200" dirty="0">
                <a:latin typeface="宋体"/>
                <a:cs typeface="宋体"/>
              </a:rPr>
              <a:t>叉引用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6354" y="2439161"/>
          <a:ext cx="8284208" cy="3301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1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3057">
                <a:tc>
                  <a:txBody>
                    <a:bodyPr/>
                    <a:lstStyle/>
                    <a:p>
                      <a:pPr marL="417195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用户需求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1490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功能性需求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设计组件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实现组件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ts val="2130"/>
                        </a:lnSpc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测试用例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6230">
                <a:tc>
                  <a:txBody>
                    <a:bodyPr/>
                    <a:lstStyle/>
                    <a:p>
                      <a:pPr>
                        <a:lnSpc>
                          <a:spcPts val="2105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UC-28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5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Catalog.query.sort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catalog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0" algn="r"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g.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sort()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543560">
                        <a:lnSpc>
                          <a:spcPts val="216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Searc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h.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7  Searc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h.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88">
                <a:tc>
                  <a:txBody>
                    <a:bodyPr/>
                    <a:lstStyle/>
                    <a:p>
                      <a:pPr>
                        <a:lnSpc>
                          <a:spcPts val="2105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UC-29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Catalog.query.import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catalog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60325">
                        <a:lnSpc>
                          <a:spcPts val="216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Catalog.import()  Ca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te(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>
                        <a:lnSpc>
                          <a:spcPts val="209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429259" algn="just">
                        <a:lnSpc>
                          <a:spcPts val="216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Searc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h.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12  Searc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h.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13 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rch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3532" y="284733"/>
            <a:ext cx="53263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需求跟踪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建立过程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5657215" cy="3538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明确需求跟踪需要解决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问题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说明需求跟踪过程的目标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明确需要捕获的跟踪联系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组织提供资源支持和技</a:t>
            </a:r>
            <a:r>
              <a:rPr sz="3200" spc="-15" dirty="0">
                <a:latin typeface="宋体"/>
                <a:cs typeface="宋体"/>
              </a:rPr>
              <a:t>术</a:t>
            </a:r>
            <a:r>
              <a:rPr sz="3200" dirty="0">
                <a:latin typeface="宋体"/>
                <a:cs typeface="宋体"/>
              </a:rPr>
              <a:t>支持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制定有效的过程策略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便利需求跟踪信息的使用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9952" y="197865"/>
            <a:ext cx="53251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/>
              <a:t>需求跟踪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需求依赖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73302"/>
            <a:ext cx="7988934" cy="23463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3535">
              <a:lnSpc>
                <a:spcPts val="2700"/>
              </a:lnSpc>
              <a:spcBef>
                <a:spcPts val="34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大多数的需求并不是完全独立的，它们在一种复杂的机制 </a:t>
            </a:r>
            <a:r>
              <a:rPr sz="2400" spc="-5" dirty="0">
                <a:latin typeface="宋体"/>
                <a:cs typeface="宋体"/>
              </a:rPr>
              <a:t>中互相影响</a:t>
            </a:r>
            <a:endParaRPr sz="2400">
              <a:latin typeface="宋体"/>
              <a:cs typeface="宋体"/>
            </a:endParaRPr>
          </a:p>
          <a:p>
            <a:pPr marL="355600" marR="5080" indent="-343535">
              <a:lnSpc>
                <a:spcPts val="2700"/>
              </a:lnSpc>
              <a:spcBef>
                <a:spcPts val="93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需求依赖联系的特殊性并不在于它的重要性，而在于它是 难以发现、建立和维护的</a:t>
            </a:r>
            <a:endParaRPr sz="24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2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宋体"/>
                <a:cs typeface="宋体"/>
              </a:rPr>
              <a:t>需求交互作用管理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宋体"/>
                <a:cs typeface="宋体"/>
              </a:rPr>
              <a:t>用于发现、管理和部署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spc="-5" dirty="0">
                <a:latin typeface="Calibri"/>
                <a:cs typeface="Calibri"/>
              </a:rPr>
              <a:t>disposition</a:t>
            </a:r>
            <a:r>
              <a:rPr sz="2000" spc="-5" dirty="0">
                <a:latin typeface="宋体"/>
                <a:cs typeface="宋体"/>
              </a:rPr>
              <a:t>）</a:t>
            </a:r>
            <a:r>
              <a:rPr sz="2000" dirty="0">
                <a:latin typeface="宋体"/>
                <a:cs typeface="宋体"/>
              </a:rPr>
              <a:t>需求之</a:t>
            </a:r>
            <a:r>
              <a:rPr sz="2000" spc="-15" dirty="0">
                <a:latin typeface="宋体"/>
                <a:cs typeface="宋体"/>
              </a:rPr>
              <a:t>间</a:t>
            </a:r>
            <a:r>
              <a:rPr sz="2000" dirty="0">
                <a:latin typeface="宋体"/>
                <a:cs typeface="宋体"/>
              </a:rPr>
              <a:t>关键</a:t>
            </a:r>
            <a:r>
              <a:rPr sz="2000" spc="-15" dirty="0">
                <a:latin typeface="宋体"/>
                <a:cs typeface="宋体"/>
              </a:rPr>
              <a:t>联</a:t>
            </a:r>
            <a:r>
              <a:rPr sz="2000" dirty="0">
                <a:latin typeface="宋体"/>
                <a:cs typeface="宋体"/>
              </a:rPr>
              <a:t>系的</a:t>
            </a:r>
            <a:r>
              <a:rPr sz="2000" spc="-15" dirty="0">
                <a:latin typeface="宋体"/>
                <a:cs typeface="宋体"/>
              </a:rPr>
              <a:t>活</a:t>
            </a:r>
            <a:r>
              <a:rPr sz="2000" dirty="0"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3723132"/>
          <a:ext cx="7545068" cy="2301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8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62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依赖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4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7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4203065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需求管理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需求基线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需求跟踪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需求变更控制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需求管理的实践调查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0644" y="358266"/>
            <a:ext cx="64452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/>
              <a:t>需求变更控</a:t>
            </a:r>
            <a:r>
              <a:rPr spc="-10" dirty="0"/>
              <a:t>制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/>
              <a:t>需求变化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3847"/>
            <a:ext cx="6064250" cy="42024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需求的变化是正当和不</a:t>
            </a:r>
            <a:r>
              <a:rPr sz="3200" spc="-15" dirty="0">
                <a:latin typeface="宋体"/>
                <a:cs typeface="宋体"/>
              </a:rPr>
              <a:t>可</a:t>
            </a:r>
            <a:r>
              <a:rPr sz="3200" dirty="0">
                <a:latin typeface="宋体"/>
                <a:cs typeface="宋体"/>
              </a:rPr>
              <a:t>避免的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问题发生了改变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环境发生了改变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需求基线存在缺陷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C00000"/>
              </a:buClr>
              <a:buFont typeface="Wingdings"/>
              <a:buChar char=""/>
            </a:pPr>
            <a:endParaRPr sz="365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用户变动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用户对软件的认识变化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相关产品的出现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7113" y="151892"/>
            <a:ext cx="5052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需求变更控制过程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3723"/>
            <a:ext cx="7988934" cy="7340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3535">
              <a:lnSpc>
                <a:spcPts val="2700"/>
              </a:lnSpc>
              <a:spcBef>
                <a:spcPts val="34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以可控、一致的方式进行需求基线中需求的变更处理，包 括对变化的评估、协调、批准或拒绝、实现和验证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00088" y="1936670"/>
            <a:ext cx="955040" cy="4294505"/>
          </a:xfrm>
          <a:custGeom>
            <a:avLst/>
            <a:gdLst/>
            <a:ahLst/>
            <a:cxnLst/>
            <a:rect l="l" t="t" r="r" b="b"/>
            <a:pathLst>
              <a:path w="955039" h="4294505">
                <a:moveTo>
                  <a:pt x="0" y="4294050"/>
                </a:moveTo>
                <a:lnTo>
                  <a:pt x="954582" y="4294050"/>
                </a:lnTo>
                <a:lnTo>
                  <a:pt x="954582" y="0"/>
                </a:lnTo>
                <a:lnTo>
                  <a:pt x="0" y="0"/>
                </a:lnTo>
                <a:lnTo>
                  <a:pt x="0" y="4294050"/>
                </a:lnTo>
                <a:close/>
              </a:path>
            </a:pathLst>
          </a:custGeom>
          <a:ln w="8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39724" y="1936670"/>
            <a:ext cx="955040" cy="4294505"/>
          </a:xfrm>
          <a:custGeom>
            <a:avLst/>
            <a:gdLst/>
            <a:ahLst/>
            <a:cxnLst/>
            <a:rect l="l" t="t" r="r" b="b"/>
            <a:pathLst>
              <a:path w="955039" h="4294505">
                <a:moveTo>
                  <a:pt x="0" y="4294050"/>
                </a:moveTo>
                <a:lnTo>
                  <a:pt x="954582" y="4294050"/>
                </a:lnTo>
                <a:lnTo>
                  <a:pt x="954582" y="0"/>
                </a:lnTo>
                <a:lnTo>
                  <a:pt x="0" y="0"/>
                </a:lnTo>
                <a:lnTo>
                  <a:pt x="0" y="4294050"/>
                </a:lnTo>
                <a:close/>
              </a:path>
            </a:pathLst>
          </a:custGeom>
          <a:ln w="8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54731" y="1936670"/>
            <a:ext cx="955040" cy="4294505"/>
          </a:xfrm>
          <a:custGeom>
            <a:avLst/>
            <a:gdLst/>
            <a:ahLst/>
            <a:cxnLst/>
            <a:rect l="l" t="t" r="r" b="b"/>
            <a:pathLst>
              <a:path w="955040" h="4294505">
                <a:moveTo>
                  <a:pt x="0" y="4294050"/>
                </a:moveTo>
                <a:lnTo>
                  <a:pt x="954582" y="4294050"/>
                </a:lnTo>
                <a:lnTo>
                  <a:pt x="954582" y="0"/>
                </a:lnTo>
                <a:lnTo>
                  <a:pt x="0" y="0"/>
                </a:lnTo>
                <a:lnTo>
                  <a:pt x="0" y="4294050"/>
                </a:lnTo>
                <a:close/>
              </a:path>
            </a:pathLst>
          </a:custGeom>
          <a:ln w="8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39371" y="1970764"/>
            <a:ext cx="252476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marR="5080" indent="-219710">
              <a:lnSpc>
                <a:spcPct val="100000"/>
              </a:lnSpc>
              <a:spcBef>
                <a:spcPts val="100"/>
              </a:spcBef>
              <a:tabLst>
                <a:tab pos="1118870" algn="l"/>
                <a:tab pos="2073275" algn="l"/>
              </a:tabLst>
            </a:pPr>
            <a:r>
              <a:rPr sz="1725" spc="-7" baseline="4830" dirty="0">
                <a:latin typeface="宋体"/>
                <a:cs typeface="宋体"/>
              </a:rPr>
              <a:t>变更控制委	</a:t>
            </a:r>
            <a:r>
              <a:rPr sz="1150" spc="-5" dirty="0">
                <a:latin typeface="宋体"/>
                <a:cs typeface="宋体"/>
              </a:rPr>
              <a:t>修改者	验证者 员会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79482" y="1936670"/>
            <a:ext cx="955040" cy="4294505"/>
          </a:xfrm>
          <a:custGeom>
            <a:avLst/>
            <a:gdLst/>
            <a:ahLst/>
            <a:cxnLst/>
            <a:rect l="l" t="t" r="r" b="b"/>
            <a:pathLst>
              <a:path w="955039" h="4294505">
                <a:moveTo>
                  <a:pt x="0" y="4294050"/>
                </a:moveTo>
                <a:lnTo>
                  <a:pt x="954582" y="4294050"/>
                </a:lnTo>
                <a:lnTo>
                  <a:pt x="954582" y="0"/>
                </a:lnTo>
                <a:lnTo>
                  <a:pt x="0" y="0"/>
                </a:lnTo>
                <a:lnTo>
                  <a:pt x="0" y="4294050"/>
                </a:lnTo>
                <a:close/>
              </a:path>
            </a:pathLst>
          </a:custGeom>
          <a:ln w="8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24839" y="1936670"/>
            <a:ext cx="955040" cy="4294505"/>
          </a:xfrm>
          <a:custGeom>
            <a:avLst/>
            <a:gdLst/>
            <a:ahLst/>
            <a:cxnLst/>
            <a:rect l="l" t="t" r="r" b="b"/>
            <a:pathLst>
              <a:path w="955039" h="4294505">
                <a:moveTo>
                  <a:pt x="0" y="4294050"/>
                </a:moveTo>
                <a:lnTo>
                  <a:pt x="954582" y="4294050"/>
                </a:lnTo>
                <a:lnTo>
                  <a:pt x="954582" y="0"/>
                </a:lnTo>
                <a:lnTo>
                  <a:pt x="0" y="0"/>
                </a:lnTo>
                <a:lnTo>
                  <a:pt x="0" y="4294050"/>
                </a:lnTo>
                <a:close/>
              </a:path>
            </a:pathLst>
          </a:custGeom>
          <a:ln w="8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70256" y="1936670"/>
            <a:ext cx="955040" cy="4294505"/>
          </a:xfrm>
          <a:custGeom>
            <a:avLst/>
            <a:gdLst/>
            <a:ahLst/>
            <a:cxnLst/>
            <a:rect l="l" t="t" r="r" b="b"/>
            <a:pathLst>
              <a:path w="955039" h="4294505">
                <a:moveTo>
                  <a:pt x="0" y="4294050"/>
                </a:moveTo>
                <a:lnTo>
                  <a:pt x="954582" y="4294050"/>
                </a:lnTo>
                <a:lnTo>
                  <a:pt x="954582" y="0"/>
                </a:lnTo>
                <a:lnTo>
                  <a:pt x="0" y="0"/>
                </a:lnTo>
                <a:lnTo>
                  <a:pt x="0" y="4294050"/>
                </a:lnTo>
                <a:close/>
              </a:path>
            </a:pathLst>
          </a:custGeom>
          <a:ln w="8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15905" y="1970764"/>
            <a:ext cx="23729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7105" algn="l"/>
                <a:tab pos="1921510" algn="l"/>
              </a:tabLst>
            </a:pPr>
            <a:r>
              <a:rPr sz="1150" spc="-5" dirty="0">
                <a:latin typeface="宋体"/>
                <a:cs typeface="宋体"/>
              </a:rPr>
              <a:t>提请者	接收者	评估者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96573" y="2276938"/>
            <a:ext cx="209941" cy="210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44887" y="2709838"/>
            <a:ext cx="713740" cy="311150"/>
          </a:xfrm>
          <a:custGeom>
            <a:avLst/>
            <a:gdLst/>
            <a:ahLst/>
            <a:cxnLst/>
            <a:rect l="l" t="t" r="r" b="b"/>
            <a:pathLst>
              <a:path w="713739" h="311150">
                <a:moveTo>
                  <a:pt x="155260" y="310640"/>
                </a:moveTo>
                <a:lnTo>
                  <a:pt x="558052" y="310640"/>
                </a:lnTo>
                <a:lnTo>
                  <a:pt x="607128" y="302723"/>
                </a:lnTo>
                <a:lnTo>
                  <a:pt x="649750" y="280678"/>
                </a:lnTo>
                <a:lnTo>
                  <a:pt x="683360" y="247066"/>
                </a:lnTo>
                <a:lnTo>
                  <a:pt x="705402" y="204447"/>
                </a:lnTo>
                <a:lnTo>
                  <a:pt x="713317" y="155381"/>
                </a:lnTo>
                <a:lnTo>
                  <a:pt x="705402" y="106255"/>
                </a:lnTo>
                <a:lnTo>
                  <a:pt x="683360" y="63600"/>
                </a:lnTo>
                <a:lnTo>
                  <a:pt x="649750" y="29969"/>
                </a:lnTo>
                <a:lnTo>
                  <a:pt x="607128" y="7918"/>
                </a:lnTo>
                <a:lnTo>
                  <a:pt x="558052" y="0"/>
                </a:lnTo>
                <a:lnTo>
                  <a:pt x="155260" y="0"/>
                </a:lnTo>
                <a:lnTo>
                  <a:pt x="106184" y="7918"/>
                </a:lnTo>
                <a:lnTo>
                  <a:pt x="63564" y="29969"/>
                </a:lnTo>
                <a:lnTo>
                  <a:pt x="29955" y="63600"/>
                </a:lnTo>
                <a:lnTo>
                  <a:pt x="7914" y="106255"/>
                </a:lnTo>
                <a:lnTo>
                  <a:pt x="0" y="155381"/>
                </a:lnTo>
                <a:lnTo>
                  <a:pt x="7914" y="204447"/>
                </a:lnTo>
                <a:lnTo>
                  <a:pt x="29955" y="247066"/>
                </a:lnTo>
                <a:lnTo>
                  <a:pt x="63564" y="280678"/>
                </a:lnTo>
                <a:lnTo>
                  <a:pt x="106184" y="302723"/>
                </a:lnTo>
                <a:lnTo>
                  <a:pt x="155260" y="310640"/>
                </a:lnTo>
                <a:close/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45475" y="3106815"/>
            <a:ext cx="713740" cy="311150"/>
          </a:xfrm>
          <a:custGeom>
            <a:avLst/>
            <a:gdLst/>
            <a:ahLst/>
            <a:cxnLst/>
            <a:rect l="l" t="t" r="r" b="b"/>
            <a:pathLst>
              <a:path w="713739" h="311150">
                <a:moveTo>
                  <a:pt x="155301" y="310640"/>
                </a:moveTo>
                <a:lnTo>
                  <a:pt x="558069" y="310640"/>
                </a:lnTo>
                <a:lnTo>
                  <a:pt x="607115" y="302723"/>
                </a:lnTo>
                <a:lnTo>
                  <a:pt x="649715" y="280678"/>
                </a:lnTo>
                <a:lnTo>
                  <a:pt x="683313" y="247066"/>
                </a:lnTo>
                <a:lnTo>
                  <a:pt x="705348" y="204447"/>
                </a:lnTo>
                <a:lnTo>
                  <a:pt x="713261" y="155381"/>
                </a:lnTo>
                <a:lnTo>
                  <a:pt x="705348" y="106255"/>
                </a:lnTo>
                <a:lnTo>
                  <a:pt x="683313" y="63600"/>
                </a:lnTo>
                <a:lnTo>
                  <a:pt x="649715" y="29969"/>
                </a:lnTo>
                <a:lnTo>
                  <a:pt x="607114" y="7918"/>
                </a:lnTo>
                <a:lnTo>
                  <a:pt x="558069" y="0"/>
                </a:lnTo>
                <a:lnTo>
                  <a:pt x="155301" y="0"/>
                </a:lnTo>
                <a:lnTo>
                  <a:pt x="106207" y="7918"/>
                </a:lnTo>
                <a:lnTo>
                  <a:pt x="63575" y="29969"/>
                </a:lnTo>
                <a:lnTo>
                  <a:pt x="29959" y="63600"/>
                </a:lnTo>
                <a:lnTo>
                  <a:pt x="7915" y="106255"/>
                </a:lnTo>
                <a:lnTo>
                  <a:pt x="0" y="155381"/>
                </a:lnTo>
                <a:lnTo>
                  <a:pt x="7915" y="204447"/>
                </a:lnTo>
                <a:lnTo>
                  <a:pt x="29959" y="247066"/>
                </a:lnTo>
                <a:lnTo>
                  <a:pt x="63575" y="280678"/>
                </a:lnTo>
                <a:lnTo>
                  <a:pt x="106207" y="302723"/>
                </a:lnTo>
                <a:lnTo>
                  <a:pt x="155301" y="310640"/>
                </a:lnTo>
                <a:close/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58721" y="3918000"/>
            <a:ext cx="789305" cy="483870"/>
          </a:xfrm>
          <a:custGeom>
            <a:avLst/>
            <a:gdLst/>
            <a:ahLst/>
            <a:cxnLst/>
            <a:rect l="l" t="t" r="r" b="b"/>
            <a:pathLst>
              <a:path w="789304" h="483870">
                <a:moveTo>
                  <a:pt x="0" y="483252"/>
                </a:moveTo>
                <a:lnTo>
                  <a:pt x="789056" y="483252"/>
                </a:lnTo>
                <a:lnTo>
                  <a:pt x="789056" y="0"/>
                </a:lnTo>
                <a:lnTo>
                  <a:pt x="0" y="0"/>
                </a:lnTo>
                <a:lnTo>
                  <a:pt x="0" y="483252"/>
                </a:lnTo>
                <a:close/>
              </a:path>
            </a:pathLst>
          </a:custGeom>
          <a:ln w="8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58721" y="3918000"/>
            <a:ext cx="789305" cy="483870"/>
          </a:xfrm>
          <a:prstGeom prst="rect">
            <a:avLst/>
          </a:prstGeom>
          <a:ln w="876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r>
              <a:rPr sz="750" u="sng" spc="-13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75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750" u="sng" spc="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需求变更表单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51022" y="3745388"/>
            <a:ext cx="2540" cy="172720"/>
          </a:xfrm>
          <a:custGeom>
            <a:avLst/>
            <a:gdLst/>
            <a:ahLst/>
            <a:cxnLst/>
            <a:rect l="l" t="t" r="r" b="b"/>
            <a:pathLst>
              <a:path w="2539" h="172720">
                <a:moveTo>
                  <a:pt x="0" y="0"/>
                </a:moveTo>
                <a:lnTo>
                  <a:pt x="2190" y="172672"/>
                </a:lnTo>
              </a:path>
            </a:pathLst>
          </a:custGeom>
          <a:ln w="584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97830" y="3809197"/>
            <a:ext cx="108585" cy="109220"/>
          </a:xfrm>
          <a:custGeom>
            <a:avLst/>
            <a:gdLst/>
            <a:ahLst/>
            <a:cxnLst/>
            <a:rect l="l" t="t" r="r" b="b"/>
            <a:pathLst>
              <a:path w="108585" h="109220">
                <a:moveTo>
                  <a:pt x="0" y="1339"/>
                </a:moveTo>
                <a:lnTo>
                  <a:pt x="55382" y="108864"/>
                </a:lnTo>
                <a:lnTo>
                  <a:pt x="107964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47704" y="4159657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612" y="0"/>
                </a:lnTo>
              </a:path>
            </a:pathLst>
          </a:custGeom>
          <a:ln w="584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81230" y="4105590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108133"/>
                </a:moveTo>
                <a:lnTo>
                  <a:pt x="108086" y="54066"/>
                </a:lnTo>
                <a:lnTo>
                  <a:pt x="0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1544" y="2485534"/>
            <a:ext cx="0" cy="224790"/>
          </a:xfrm>
          <a:custGeom>
            <a:avLst/>
            <a:gdLst/>
            <a:ahLst/>
            <a:cxnLst/>
            <a:rect l="l" t="t" r="r" b="b"/>
            <a:pathLst>
              <a:path h="224789">
                <a:moveTo>
                  <a:pt x="0" y="0"/>
                </a:moveTo>
                <a:lnTo>
                  <a:pt x="0" y="224304"/>
                </a:lnTo>
              </a:path>
            </a:pathLst>
          </a:custGeom>
          <a:ln w="5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47501" y="2601704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0"/>
                </a:moveTo>
                <a:lnTo>
                  <a:pt x="54043" y="108133"/>
                </a:lnTo>
                <a:lnTo>
                  <a:pt x="108086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58205" y="2865219"/>
            <a:ext cx="643890" cy="241935"/>
          </a:xfrm>
          <a:custGeom>
            <a:avLst/>
            <a:gdLst/>
            <a:ahLst/>
            <a:cxnLst/>
            <a:rect l="l" t="t" r="r" b="b"/>
            <a:pathLst>
              <a:path w="643889" h="241935">
                <a:moveTo>
                  <a:pt x="0" y="0"/>
                </a:moveTo>
                <a:lnTo>
                  <a:pt x="643894" y="0"/>
                </a:lnTo>
                <a:lnTo>
                  <a:pt x="643894" y="241595"/>
                </a:lnTo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48056" y="2998681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0"/>
                </a:moveTo>
                <a:lnTo>
                  <a:pt x="54043" y="108133"/>
                </a:lnTo>
                <a:lnTo>
                  <a:pt x="108086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23232" y="3434748"/>
            <a:ext cx="655955" cy="311150"/>
          </a:xfrm>
          <a:custGeom>
            <a:avLst/>
            <a:gdLst/>
            <a:ahLst/>
            <a:cxnLst/>
            <a:rect l="l" t="t" r="r" b="b"/>
            <a:pathLst>
              <a:path w="655954" h="311150">
                <a:moveTo>
                  <a:pt x="155191" y="310640"/>
                </a:moveTo>
                <a:lnTo>
                  <a:pt x="500265" y="310640"/>
                </a:lnTo>
                <a:lnTo>
                  <a:pt x="549310" y="302723"/>
                </a:lnTo>
                <a:lnTo>
                  <a:pt x="591911" y="280678"/>
                </a:lnTo>
                <a:lnTo>
                  <a:pt x="625508" y="247066"/>
                </a:lnTo>
                <a:lnTo>
                  <a:pt x="647543" y="204447"/>
                </a:lnTo>
                <a:lnTo>
                  <a:pt x="655457" y="155381"/>
                </a:lnTo>
                <a:lnTo>
                  <a:pt x="647543" y="106255"/>
                </a:lnTo>
                <a:lnTo>
                  <a:pt x="625508" y="63600"/>
                </a:lnTo>
                <a:lnTo>
                  <a:pt x="591911" y="29969"/>
                </a:lnTo>
                <a:lnTo>
                  <a:pt x="549310" y="7918"/>
                </a:lnTo>
                <a:lnTo>
                  <a:pt x="500265" y="0"/>
                </a:lnTo>
                <a:lnTo>
                  <a:pt x="155191" y="0"/>
                </a:lnTo>
                <a:lnTo>
                  <a:pt x="106146" y="7918"/>
                </a:lnTo>
                <a:lnTo>
                  <a:pt x="63546" y="29969"/>
                </a:lnTo>
                <a:lnTo>
                  <a:pt x="29948" y="63600"/>
                </a:lnTo>
                <a:lnTo>
                  <a:pt x="7913" y="106255"/>
                </a:lnTo>
                <a:lnTo>
                  <a:pt x="0" y="155381"/>
                </a:lnTo>
                <a:lnTo>
                  <a:pt x="7913" y="204447"/>
                </a:lnTo>
                <a:lnTo>
                  <a:pt x="29948" y="247066"/>
                </a:lnTo>
                <a:lnTo>
                  <a:pt x="63546" y="280678"/>
                </a:lnTo>
                <a:lnTo>
                  <a:pt x="106146" y="302723"/>
                </a:lnTo>
                <a:lnTo>
                  <a:pt x="155191" y="310640"/>
                </a:lnTo>
                <a:close/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596694" y="2787128"/>
            <a:ext cx="2461895" cy="8674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50" spc="15" dirty="0">
                <a:latin typeface="宋体"/>
                <a:cs typeface="宋体"/>
              </a:rPr>
              <a:t>提请需求变更</a:t>
            </a:r>
            <a:endParaRPr sz="75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7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宋体"/>
              <a:cs typeface="宋体"/>
            </a:endParaRPr>
          </a:p>
          <a:p>
            <a:pPr marL="148590" algn="ctr">
              <a:lnSpc>
                <a:spcPct val="100000"/>
              </a:lnSpc>
              <a:spcBef>
                <a:spcPts val="5"/>
              </a:spcBef>
            </a:pPr>
            <a:r>
              <a:rPr sz="750" spc="15" dirty="0">
                <a:latin typeface="宋体"/>
                <a:cs typeface="宋体"/>
              </a:rPr>
              <a:t>接受变更请求</a:t>
            </a:r>
            <a:endParaRPr sz="75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7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0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</a:pPr>
            <a:r>
              <a:rPr sz="750" spc="15" dirty="0">
                <a:latin typeface="宋体"/>
                <a:cs typeface="宋体"/>
              </a:rPr>
              <a:t>变更评估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489317" y="4004276"/>
            <a:ext cx="655955" cy="311150"/>
          </a:xfrm>
          <a:custGeom>
            <a:avLst/>
            <a:gdLst/>
            <a:ahLst/>
            <a:cxnLst/>
            <a:rect l="l" t="t" r="r" b="b"/>
            <a:pathLst>
              <a:path w="655954" h="311150">
                <a:moveTo>
                  <a:pt x="155191" y="310640"/>
                </a:moveTo>
                <a:lnTo>
                  <a:pt x="500265" y="310640"/>
                </a:lnTo>
                <a:lnTo>
                  <a:pt x="549310" y="302723"/>
                </a:lnTo>
                <a:lnTo>
                  <a:pt x="591911" y="280678"/>
                </a:lnTo>
                <a:lnTo>
                  <a:pt x="625508" y="247066"/>
                </a:lnTo>
                <a:lnTo>
                  <a:pt x="647543" y="204447"/>
                </a:lnTo>
                <a:lnTo>
                  <a:pt x="655457" y="155381"/>
                </a:lnTo>
                <a:lnTo>
                  <a:pt x="647543" y="106255"/>
                </a:lnTo>
                <a:lnTo>
                  <a:pt x="625508" y="63600"/>
                </a:lnTo>
                <a:lnTo>
                  <a:pt x="591911" y="29969"/>
                </a:lnTo>
                <a:lnTo>
                  <a:pt x="549310" y="7918"/>
                </a:lnTo>
                <a:lnTo>
                  <a:pt x="500265" y="0"/>
                </a:lnTo>
                <a:lnTo>
                  <a:pt x="155191" y="0"/>
                </a:lnTo>
                <a:lnTo>
                  <a:pt x="106146" y="7918"/>
                </a:lnTo>
                <a:lnTo>
                  <a:pt x="63546" y="29969"/>
                </a:lnTo>
                <a:lnTo>
                  <a:pt x="29948" y="63600"/>
                </a:lnTo>
                <a:lnTo>
                  <a:pt x="7913" y="106255"/>
                </a:lnTo>
                <a:lnTo>
                  <a:pt x="0" y="155381"/>
                </a:lnTo>
                <a:lnTo>
                  <a:pt x="7913" y="204447"/>
                </a:lnTo>
                <a:lnTo>
                  <a:pt x="29948" y="247066"/>
                </a:lnTo>
                <a:lnTo>
                  <a:pt x="63546" y="280678"/>
                </a:lnTo>
                <a:lnTo>
                  <a:pt x="106146" y="302723"/>
                </a:lnTo>
                <a:lnTo>
                  <a:pt x="155191" y="310640"/>
                </a:lnTo>
                <a:close/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609534" y="4081566"/>
            <a:ext cx="415290" cy="142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50" spc="15" dirty="0">
                <a:latin typeface="宋体"/>
                <a:cs typeface="宋体"/>
              </a:rPr>
              <a:t>变更决策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472564" y="4936320"/>
            <a:ext cx="655955" cy="311150"/>
          </a:xfrm>
          <a:custGeom>
            <a:avLst/>
            <a:gdLst/>
            <a:ahLst/>
            <a:cxnLst/>
            <a:rect l="l" t="t" r="r" b="b"/>
            <a:pathLst>
              <a:path w="655954" h="311150">
                <a:moveTo>
                  <a:pt x="155313" y="310640"/>
                </a:moveTo>
                <a:lnTo>
                  <a:pt x="500387" y="310640"/>
                </a:lnTo>
                <a:lnTo>
                  <a:pt x="549432" y="302721"/>
                </a:lnTo>
                <a:lnTo>
                  <a:pt x="592033" y="280670"/>
                </a:lnTo>
                <a:lnTo>
                  <a:pt x="625630" y="247045"/>
                </a:lnTo>
                <a:lnTo>
                  <a:pt x="647665" y="204405"/>
                </a:lnTo>
                <a:lnTo>
                  <a:pt x="655579" y="155308"/>
                </a:lnTo>
                <a:lnTo>
                  <a:pt x="647665" y="106218"/>
                </a:lnTo>
                <a:lnTo>
                  <a:pt x="625630" y="63584"/>
                </a:lnTo>
                <a:lnTo>
                  <a:pt x="592033" y="29964"/>
                </a:lnTo>
                <a:lnTo>
                  <a:pt x="549432" y="7917"/>
                </a:lnTo>
                <a:lnTo>
                  <a:pt x="500387" y="0"/>
                </a:lnTo>
                <a:lnTo>
                  <a:pt x="155313" y="0"/>
                </a:lnTo>
                <a:lnTo>
                  <a:pt x="106209" y="7917"/>
                </a:lnTo>
                <a:lnTo>
                  <a:pt x="63572" y="29964"/>
                </a:lnTo>
                <a:lnTo>
                  <a:pt x="29956" y="63584"/>
                </a:lnTo>
                <a:lnTo>
                  <a:pt x="7914" y="106218"/>
                </a:lnTo>
                <a:lnTo>
                  <a:pt x="0" y="155308"/>
                </a:lnTo>
                <a:lnTo>
                  <a:pt x="7914" y="204405"/>
                </a:lnTo>
                <a:lnTo>
                  <a:pt x="29956" y="247045"/>
                </a:lnTo>
                <a:lnTo>
                  <a:pt x="63572" y="280670"/>
                </a:lnTo>
                <a:lnTo>
                  <a:pt x="106209" y="302721"/>
                </a:lnTo>
                <a:lnTo>
                  <a:pt x="155313" y="310640"/>
                </a:lnTo>
                <a:close/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21486" y="5385025"/>
            <a:ext cx="655955" cy="311150"/>
          </a:xfrm>
          <a:custGeom>
            <a:avLst/>
            <a:gdLst/>
            <a:ahLst/>
            <a:cxnLst/>
            <a:rect l="l" t="t" r="r" b="b"/>
            <a:pathLst>
              <a:path w="655954" h="311150">
                <a:moveTo>
                  <a:pt x="155191" y="310665"/>
                </a:moveTo>
                <a:lnTo>
                  <a:pt x="500265" y="310665"/>
                </a:lnTo>
                <a:lnTo>
                  <a:pt x="549310" y="302746"/>
                </a:lnTo>
                <a:lnTo>
                  <a:pt x="591911" y="280695"/>
                </a:lnTo>
                <a:lnTo>
                  <a:pt x="625508" y="247070"/>
                </a:lnTo>
                <a:lnTo>
                  <a:pt x="647543" y="204429"/>
                </a:lnTo>
                <a:lnTo>
                  <a:pt x="655457" y="155332"/>
                </a:lnTo>
                <a:lnTo>
                  <a:pt x="647543" y="106235"/>
                </a:lnTo>
                <a:lnTo>
                  <a:pt x="625508" y="63594"/>
                </a:lnTo>
                <a:lnTo>
                  <a:pt x="591911" y="29969"/>
                </a:lnTo>
                <a:lnTo>
                  <a:pt x="549310" y="7918"/>
                </a:lnTo>
                <a:lnTo>
                  <a:pt x="500265" y="0"/>
                </a:lnTo>
                <a:lnTo>
                  <a:pt x="155191" y="0"/>
                </a:lnTo>
                <a:lnTo>
                  <a:pt x="106146" y="7918"/>
                </a:lnTo>
                <a:lnTo>
                  <a:pt x="63546" y="29969"/>
                </a:lnTo>
                <a:lnTo>
                  <a:pt x="29948" y="63594"/>
                </a:lnTo>
                <a:lnTo>
                  <a:pt x="7913" y="106235"/>
                </a:lnTo>
                <a:lnTo>
                  <a:pt x="0" y="155332"/>
                </a:lnTo>
                <a:lnTo>
                  <a:pt x="7913" y="204429"/>
                </a:lnTo>
                <a:lnTo>
                  <a:pt x="29948" y="247070"/>
                </a:lnTo>
                <a:lnTo>
                  <a:pt x="63546" y="280695"/>
                </a:lnTo>
                <a:lnTo>
                  <a:pt x="106146" y="302746"/>
                </a:lnTo>
                <a:lnTo>
                  <a:pt x="155191" y="310665"/>
                </a:lnTo>
                <a:close/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541703" y="5462292"/>
            <a:ext cx="415290" cy="142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50" spc="15" dirty="0">
                <a:latin typeface="宋体"/>
                <a:cs typeface="宋体"/>
              </a:rPr>
              <a:t>验证变更</a:t>
            </a:r>
            <a:endParaRPr sz="75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258736" y="3262197"/>
            <a:ext cx="592455" cy="172720"/>
          </a:xfrm>
          <a:custGeom>
            <a:avLst/>
            <a:gdLst/>
            <a:ahLst/>
            <a:cxnLst/>
            <a:rect l="l" t="t" r="r" b="b"/>
            <a:pathLst>
              <a:path w="592454" h="172720">
                <a:moveTo>
                  <a:pt x="0" y="0"/>
                </a:moveTo>
                <a:lnTo>
                  <a:pt x="592285" y="0"/>
                </a:lnTo>
                <a:lnTo>
                  <a:pt x="592285" y="172551"/>
                </a:lnTo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96978" y="3326614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0"/>
                </a:moveTo>
                <a:lnTo>
                  <a:pt x="54043" y="108133"/>
                </a:lnTo>
                <a:lnTo>
                  <a:pt x="108086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78689" y="3590129"/>
            <a:ext cx="638810" cy="414655"/>
          </a:xfrm>
          <a:custGeom>
            <a:avLst/>
            <a:gdLst/>
            <a:ahLst/>
            <a:cxnLst/>
            <a:rect l="l" t="t" r="r" b="b"/>
            <a:pathLst>
              <a:path w="638810" h="414654">
                <a:moveTo>
                  <a:pt x="0" y="0"/>
                </a:moveTo>
                <a:lnTo>
                  <a:pt x="638416" y="0"/>
                </a:lnTo>
                <a:lnTo>
                  <a:pt x="638416" y="414147"/>
                </a:lnTo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63063" y="3896142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0"/>
                </a:moveTo>
                <a:lnTo>
                  <a:pt x="54043" y="108133"/>
                </a:lnTo>
                <a:lnTo>
                  <a:pt x="108086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96239" y="4591096"/>
            <a:ext cx="241935" cy="241935"/>
          </a:xfrm>
          <a:custGeom>
            <a:avLst/>
            <a:gdLst/>
            <a:ahLst/>
            <a:cxnLst/>
            <a:rect l="l" t="t" r="r" b="b"/>
            <a:pathLst>
              <a:path w="241935" h="241935">
                <a:moveTo>
                  <a:pt x="120867" y="0"/>
                </a:moveTo>
                <a:lnTo>
                  <a:pt x="241612" y="120797"/>
                </a:lnTo>
                <a:lnTo>
                  <a:pt x="120867" y="241595"/>
                </a:lnTo>
                <a:lnTo>
                  <a:pt x="0" y="120797"/>
                </a:lnTo>
                <a:lnTo>
                  <a:pt x="120867" y="0"/>
                </a:lnTo>
                <a:close/>
              </a:path>
            </a:pathLst>
          </a:custGeom>
          <a:ln w="87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817106" y="4314916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0"/>
                </a:moveTo>
                <a:lnTo>
                  <a:pt x="0" y="276179"/>
                </a:lnTo>
              </a:path>
            </a:pathLst>
          </a:custGeom>
          <a:ln w="5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763063" y="4482962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0"/>
                </a:moveTo>
                <a:lnTo>
                  <a:pt x="54043" y="108133"/>
                </a:lnTo>
                <a:lnTo>
                  <a:pt x="108086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37852" y="4711894"/>
            <a:ext cx="862965" cy="224790"/>
          </a:xfrm>
          <a:custGeom>
            <a:avLst/>
            <a:gdLst/>
            <a:ahLst/>
            <a:cxnLst/>
            <a:rect l="l" t="t" r="r" b="b"/>
            <a:pathLst>
              <a:path w="862964" h="224789">
                <a:moveTo>
                  <a:pt x="0" y="0"/>
                </a:moveTo>
                <a:lnTo>
                  <a:pt x="862501" y="0"/>
                </a:lnTo>
                <a:lnTo>
                  <a:pt x="862501" y="224426"/>
                </a:lnTo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46310" y="4828186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0"/>
                </a:moveTo>
                <a:lnTo>
                  <a:pt x="54043" y="108133"/>
                </a:lnTo>
                <a:lnTo>
                  <a:pt x="108086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817106" y="4832691"/>
            <a:ext cx="0" cy="380365"/>
          </a:xfrm>
          <a:custGeom>
            <a:avLst/>
            <a:gdLst/>
            <a:ahLst/>
            <a:cxnLst/>
            <a:rect l="l" t="t" r="r" b="b"/>
            <a:pathLst>
              <a:path h="380364">
                <a:moveTo>
                  <a:pt x="0" y="0"/>
                </a:moveTo>
                <a:lnTo>
                  <a:pt x="0" y="379746"/>
                </a:lnTo>
              </a:path>
            </a:pathLst>
          </a:custGeom>
          <a:ln w="5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09141" y="5101382"/>
            <a:ext cx="215809" cy="3225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41310" y="5932940"/>
            <a:ext cx="215809" cy="215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128143" y="5091628"/>
            <a:ext cx="621665" cy="294005"/>
          </a:xfrm>
          <a:custGeom>
            <a:avLst/>
            <a:gdLst/>
            <a:ahLst/>
            <a:cxnLst/>
            <a:rect l="l" t="t" r="r" b="b"/>
            <a:pathLst>
              <a:path w="621665" h="294004">
                <a:moveTo>
                  <a:pt x="0" y="0"/>
                </a:moveTo>
                <a:lnTo>
                  <a:pt x="621132" y="0"/>
                </a:lnTo>
                <a:lnTo>
                  <a:pt x="621132" y="293397"/>
                </a:lnTo>
              </a:path>
            </a:pathLst>
          </a:custGeom>
          <a:ln w="5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95233" y="5276892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0" y="0"/>
                </a:moveTo>
                <a:lnTo>
                  <a:pt x="54043" y="108133"/>
                </a:lnTo>
                <a:lnTo>
                  <a:pt x="108086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749276" y="5695691"/>
            <a:ext cx="0" cy="241935"/>
          </a:xfrm>
          <a:custGeom>
            <a:avLst/>
            <a:gdLst/>
            <a:ahLst/>
            <a:cxnLst/>
            <a:rect l="l" t="t" r="r" b="b"/>
            <a:pathLst>
              <a:path h="241935">
                <a:moveTo>
                  <a:pt x="0" y="0"/>
                </a:moveTo>
                <a:lnTo>
                  <a:pt x="0" y="241632"/>
                </a:lnTo>
              </a:path>
            </a:pathLst>
          </a:custGeom>
          <a:ln w="5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695233" y="5829189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0" y="0"/>
                </a:moveTo>
                <a:lnTo>
                  <a:pt x="54043" y="108133"/>
                </a:lnTo>
                <a:lnTo>
                  <a:pt x="108086" y="0"/>
                </a:lnTo>
              </a:path>
            </a:pathLst>
          </a:custGeom>
          <a:ln w="5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591885" y="4558060"/>
            <a:ext cx="1416050" cy="5981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114"/>
              </a:spcBef>
            </a:pPr>
            <a:r>
              <a:rPr sz="750" spc="15" dirty="0">
                <a:latin typeface="宋体"/>
                <a:cs typeface="宋体"/>
              </a:rPr>
              <a:t>决定变更</a:t>
            </a:r>
            <a:endParaRPr sz="75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7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750" spc="15" dirty="0">
                <a:latin typeface="宋体"/>
                <a:cs typeface="宋体"/>
              </a:rPr>
              <a:t>拒绝变更</a:t>
            </a:r>
            <a:endParaRPr sz="750">
              <a:latin typeface="宋体"/>
              <a:cs typeface="宋体"/>
            </a:endParaRPr>
          </a:p>
          <a:p>
            <a:pPr marL="1013460">
              <a:lnSpc>
                <a:spcPct val="100000"/>
              </a:lnSpc>
              <a:spcBef>
                <a:spcPts val="405"/>
              </a:spcBef>
            </a:pPr>
            <a:r>
              <a:rPr sz="750" spc="15" dirty="0">
                <a:latin typeface="宋体"/>
                <a:cs typeface="宋体"/>
              </a:rPr>
              <a:t>执行变更</a:t>
            </a:r>
            <a:endParaRPr sz="750">
              <a:latin typeface="宋体"/>
              <a:cs typeface="宋体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7113" y="63753"/>
            <a:ext cx="5052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需求变更控制过程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32123" y="902511"/>
          <a:ext cx="5554980" cy="53720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4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79730">
                        <a:lnSpc>
                          <a:spcPts val="1450"/>
                        </a:lnSpc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项目名称：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请求编号：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129539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570"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提请人：</a:t>
                      </a:r>
                      <a:endParaRPr sz="1250">
                        <a:latin typeface="宋体"/>
                        <a:cs typeface="宋体"/>
                      </a:endParaRPr>
                    </a:p>
                    <a:p>
                      <a:pPr marL="396875" marR="586105" indent="6985">
                        <a:lnSpc>
                          <a:spcPct val="119500"/>
                        </a:lnSpc>
                        <a:spcBef>
                          <a:spcPts val="130"/>
                        </a:spcBef>
                      </a:pPr>
                      <a:r>
                        <a:rPr sz="1250" dirty="0">
                          <a:latin typeface="宋体"/>
                          <a:cs typeface="宋体"/>
                        </a:rPr>
                        <a:t>提请理由及优先</a:t>
                      </a:r>
                      <a:r>
                        <a:rPr sz="1250" spc="-5" dirty="0">
                          <a:latin typeface="宋体"/>
                          <a:cs typeface="宋体"/>
                        </a:rPr>
                        <a:t>级</a:t>
                      </a:r>
                      <a:r>
                        <a:rPr sz="1250" dirty="0">
                          <a:latin typeface="宋体"/>
                          <a:cs typeface="宋体"/>
                        </a:rPr>
                        <a:t>： </a:t>
                      </a:r>
                      <a:r>
                        <a:rPr sz="1250" spc="10" dirty="0">
                          <a:latin typeface="宋体"/>
                          <a:cs typeface="宋体"/>
                        </a:rPr>
                        <a:t>变更请求描</a:t>
                      </a:r>
                      <a:r>
                        <a:rPr sz="1250" spc="5" dirty="0">
                          <a:latin typeface="宋体"/>
                          <a:cs typeface="宋体"/>
                        </a:rPr>
                        <a:t>述</a:t>
                      </a:r>
                      <a:r>
                        <a:rPr sz="1250" spc="10" dirty="0">
                          <a:latin typeface="宋体"/>
                          <a:cs typeface="宋体"/>
                        </a:rPr>
                        <a:t>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3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提请日期：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304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407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评估人：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评估日期：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304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47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评估优先</a:t>
                      </a:r>
                      <a:r>
                        <a:rPr sz="1250" spc="5" dirty="0">
                          <a:latin typeface="宋体"/>
                          <a:cs typeface="宋体"/>
                        </a:rPr>
                        <a:t>级</a:t>
                      </a:r>
                      <a:r>
                        <a:rPr sz="1250" spc="10" dirty="0">
                          <a:latin typeface="宋体"/>
                          <a:cs typeface="宋体"/>
                        </a:rPr>
                        <a:t>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变更类型：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444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880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影响范围：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28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工作量估</a:t>
                      </a:r>
                      <a:r>
                        <a:rPr sz="1250" spc="5" dirty="0">
                          <a:latin typeface="宋体"/>
                          <a:cs typeface="宋体"/>
                        </a:rPr>
                        <a:t>算</a:t>
                      </a:r>
                      <a:r>
                        <a:rPr sz="1250" spc="10" dirty="0">
                          <a:latin typeface="宋体"/>
                          <a:cs typeface="宋体"/>
                        </a:rPr>
                        <a:t>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193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变更评价：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2847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提交</a:t>
                      </a:r>
                      <a:r>
                        <a:rPr sz="1250" spc="5" dirty="0">
                          <a:latin typeface="Times New Roman"/>
                          <a:cs typeface="Times New Roman"/>
                        </a:rPr>
                        <a:t>CCB</a:t>
                      </a:r>
                      <a:r>
                        <a:rPr sz="1250" spc="10" dirty="0">
                          <a:latin typeface="宋体"/>
                          <a:cs typeface="宋体"/>
                        </a:rPr>
                        <a:t>日期：</a:t>
                      </a:r>
                      <a:endParaRPr sz="1250">
                        <a:latin typeface="宋体"/>
                        <a:cs typeface="宋体"/>
                      </a:endParaRPr>
                    </a:p>
                    <a:p>
                      <a:pPr marL="42799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250" spc="5" dirty="0">
                          <a:latin typeface="Times New Roman"/>
                          <a:cs typeface="Times New Roman"/>
                        </a:rPr>
                        <a:t>CCB</a:t>
                      </a:r>
                      <a:r>
                        <a:rPr sz="1250" spc="10" dirty="0">
                          <a:latin typeface="宋体"/>
                          <a:cs typeface="宋体"/>
                        </a:rPr>
                        <a:t>决定：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6794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5" dirty="0">
                          <a:latin typeface="Times New Roman"/>
                          <a:cs typeface="Times New Roman"/>
                        </a:rPr>
                        <a:t>CCB</a:t>
                      </a:r>
                      <a:r>
                        <a:rPr sz="1250" spc="10" dirty="0">
                          <a:latin typeface="宋体"/>
                          <a:cs typeface="宋体"/>
                        </a:rPr>
                        <a:t>决策日期：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304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8099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修改人：</a:t>
                      </a:r>
                      <a:endParaRPr sz="1250">
                        <a:latin typeface="宋体"/>
                        <a:cs typeface="宋体"/>
                      </a:endParaRPr>
                    </a:p>
                    <a:p>
                      <a:pPr marL="42799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修改结果：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修改日期：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222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1058">
                <a:tc>
                  <a:txBody>
                    <a:bodyPr/>
                    <a:lstStyle/>
                    <a:p>
                      <a:pPr marL="427990" marR="1204595">
                        <a:lnSpc>
                          <a:spcPct val="115199"/>
                        </a:lnSpc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验证人：  </a:t>
                      </a:r>
                      <a:r>
                        <a:rPr sz="1250" dirty="0">
                          <a:latin typeface="宋体"/>
                          <a:cs typeface="宋体"/>
                        </a:rPr>
                        <a:t>验证结果：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验证日期：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2857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1728">
                <a:tc gridSpan="2"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 spc="10" dirty="0">
                          <a:latin typeface="宋体"/>
                          <a:cs typeface="宋体"/>
                        </a:rPr>
                        <a:t>备注：</a:t>
                      </a:r>
                      <a:endParaRPr sz="125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3884" y="253949"/>
            <a:ext cx="7846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需求变更控</a:t>
            </a:r>
            <a:r>
              <a:rPr spc="5" dirty="0"/>
              <a:t>制</a:t>
            </a:r>
            <a:r>
              <a:rPr dirty="0">
                <a:latin typeface="Calibri"/>
                <a:cs typeface="Calibri"/>
              </a:rPr>
              <a:t>: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/>
              <a:t>注意事项（</a:t>
            </a:r>
            <a:r>
              <a:rPr dirty="0">
                <a:latin typeface="Calibri"/>
                <a:cs typeface="Calibri"/>
              </a:rPr>
              <a:t>1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9611"/>
            <a:ext cx="7875270" cy="448881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4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认识到变更的必要性，</a:t>
            </a:r>
            <a:r>
              <a:rPr sz="3200" spc="-15" dirty="0">
                <a:latin typeface="宋体"/>
                <a:cs typeface="宋体"/>
              </a:rPr>
              <a:t>并</a:t>
            </a:r>
            <a:r>
              <a:rPr sz="3200" dirty="0">
                <a:latin typeface="宋体"/>
                <a:cs typeface="宋体"/>
              </a:rPr>
              <a:t>为之</a:t>
            </a:r>
            <a:r>
              <a:rPr sz="3200" spc="-15" dirty="0">
                <a:latin typeface="宋体"/>
                <a:cs typeface="宋体"/>
              </a:rPr>
              <a:t>制</a:t>
            </a:r>
            <a:r>
              <a:rPr sz="3200" dirty="0">
                <a:latin typeface="宋体"/>
                <a:cs typeface="宋体"/>
              </a:rPr>
              <a:t>定计划</a:t>
            </a:r>
            <a:endParaRPr sz="3200">
              <a:latin typeface="宋体"/>
              <a:cs typeface="宋体"/>
            </a:endParaRPr>
          </a:p>
          <a:p>
            <a:pPr marL="756285" marR="6350" lvl="1" indent="-287020">
              <a:lnSpc>
                <a:spcPts val="3140"/>
              </a:lnSpc>
              <a:spcBef>
                <a:spcPts val="11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定义明确的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变更控制过程</a:t>
            </a:r>
            <a:r>
              <a:rPr sz="2800" spc="-5" dirty="0">
                <a:latin typeface="宋体"/>
                <a:cs typeface="宋体"/>
              </a:rPr>
              <a:t>，建立变</a:t>
            </a:r>
            <a:r>
              <a:rPr sz="2800" dirty="0">
                <a:latin typeface="宋体"/>
                <a:cs typeface="宋体"/>
              </a:rPr>
              <a:t>更</a:t>
            </a:r>
            <a:r>
              <a:rPr sz="2800" spc="-5" dirty="0">
                <a:latin typeface="宋体"/>
                <a:cs typeface="宋体"/>
              </a:rPr>
              <a:t>控制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有 效渠道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1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所有提交的需求变更请求都要进行</a:t>
            </a:r>
            <a:r>
              <a:rPr sz="2800" dirty="0">
                <a:latin typeface="宋体"/>
                <a:cs typeface="宋体"/>
              </a:rPr>
              <a:t>仔</a:t>
            </a:r>
            <a:r>
              <a:rPr sz="2800" spc="-5" dirty="0">
                <a:latin typeface="宋体"/>
                <a:cs typeface="宋体"/>
              </a:rPr>
              <a:t>细的</a:t>
            </a:r>
            <a:r>
              <a:rPr sz="2800" dirty="0">
                <a:latin typeface="宋体"/>
                <a:cs typeface="宋体"/>
              </a:rPr>
              <a:t>评</a:t>
            </a:r>
            <a:r>
              <a:rPr sz="2800" spc="-5" dirty="0">
                <a:latin typeface="宋体"/>
                <a:cs typeface="宋体"/>
              </a:rPr>
              <a:t>估</a:t>
            </a:r>
            <a:endParaRPr sz="2800">
              <a:latin typeface="宋体"/>
              <a:cs typeface="宋体"/>
            </a:endParaRPr>
          </a:p>
          <a:p>
            <a:pPr marL="756285" marR="5080" lvl="1" indent="-287020">
              <a:lnSpc>
                <a:spcPts val="3140"/>
              </a:lnSpc>
              <a:spcBef>
                <a:spcPts val="11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是否进行变更的决定应该</a:t>
            </a:r>
            <a:r>
              <a:rPr sz="2800" dirty="0">
                <a:latin typeface="宋体"/>
                <a:cs typeface="宋体"/>
              </a:rPr>
              <a:t>由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变更控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制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委员</a:t>
            </a:r>
            <a:r>
              <a:rPr sz="2800" u="heavy" spc="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会</a:t>
            </a:r>
            <a:r>
              <a:rPr sz="2800" spc="-5" dirty="0">
                <a:latin typeface="宋体"/>
                <a:cs typeface="宋体"/>
              </a:rPr>
              <a:t>统 一做出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1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必须对变更的实现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结果进行验证</a:t>
            </a:r>
            <a:endParaRPr sz="2800">
              <a:latin typeface="宋体"/>
              <a:cs typeface="宋体"/>
            </a:endParaRPr>
          </a:p>
          <a:p>
            <a:pPr marL="756285" marR="5080" lvl="1" indent="-287020">
              <a:lnSpc>
                <a:spcPts val="3140"/>
              </a:lnSpc>
              <a:spcBef>
                <a:spcPts val="11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需求的变化情况要及时的通知到所</a:t>
            </a:r>
            <a:r>
              <a:rPr sz="2800" dirty="0">
                <a:latin typeface="宋体"/>
                <a:cs typeface="宋体"/>
              </a:rPr>
              <a:t>有</a:t>
            </a:r>
            <a:r>
              <a:rPr sz="2800" spc="5" dirty="0">
                <a:latin typeface="宋体"/>
                <a:cs typeface="宋体"/>
              </a:rPr>
              <a:t>会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受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到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影</a:t>
            </a:r>
            <a:r>
              <a:rPr sz="2800" u="heavy" spc="-283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响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的项目涉众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997" y="198501"/>
            <a:ext cx="7846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/>
              <a:t>需求变更控</a:t>
            </a:r>
            <a:r>
              <a:rPr spc="5" dirty="0"/>
              <a:t>制</a:t>
            </a:r>
            <a:r>
              <a:rPr dirty="0">
                <a:latin typeface="Calibri"/>
                <a:cs typeface="Calibri"/>
              </a:rPr>
              <a:t>: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/>
              <a:t>注意事项（</a:t>
            </a:r>
            <a:r>
              <a:rPr dirty="0">
                <a:latin typeface="Calibri"/>
                <a:cs typeface="Calibri"/>
              </a:rPr>
              <a:t>2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205" y="1284249"/>
            <a:ext cx="7780020" cy="45637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维护需求基线，审计变更记录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管理范围蔓延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ts val="2790"/>
              </a:lnSpc>
              <a:spcBef>
                <a:spcPts val="77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宋体"/>
                <a:cs typeface="宋体"/>
              </a:rPr>
              <a:t>根据业务目标、产品前景和项目范围，评估每一项提</a:t>
            </a:r>
            <a:endParaRPr sz="2400">
              <a:latin typeface="宋体"/>
              <a:cs typeface="宋体"/>
            </a:endParaRPr>
          </a:p>
          <a:p>
            <a:pPr marL="756285">
              <a:lnSpc>
                <a:spcPts val="2790"/>
              </a:lnSpc>
            </a:pPr>
            <a:r>
              <a:rPr sz="2400" dirty="0">
                <a:latin typeface="宋体"/>
                <a:cs typeface="宋体"/>
              </a:rPr>
              <a:t>议的新增需求和特性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灵活应对变更请求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推迟产品的交付时间。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要求增派人手</a:t>
            </a:r>
            <a:r>
              <a:rPr sz="2400" dirty="0">
                <a:latin typeface="宋体"/>
                <a:cs typeface="宋体"/>
              </a:rPr>
              <a:t>：在有限的情况下有效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要求员工加班工作</a:t>
            </a:r>
            <a:r>
              <a:rPr sz="2400" dirty="0">
                <a:latin typeface="宋体"/>
                <a:cs typeface="宋体"/>
              </a:rPr>
              <a:t>：只能适度的使用。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推迟或者去除尚未实现的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优先级较低的需求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容许产品质量的降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低</a:t>
            </a:r>
            <a:r>
              <a:rPr sz="2400" spc="-5" dirty="0">
                <a:latin typeface="宋体"/>
                <a:cs typeface="宋体"/>
              </a:rPr>
              <a:t>：尽量不使用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630" y="253949"/>
            <a:ext cx="7846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4.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需求变更控</a:t>
            </a:r>
            <a:r>
              <a:rPr spc="5" dirty="0"/>
              <a:t>制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/>
              <a:t>注意事项（</a:t>
            </a:r>
            <a:r>
              <a:rPr dirty="0">
                <a:latin typeface="Calibri"/>
                <a:cs typeface="Calibri"/>
              </a:rPr>
              <a:t>3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2388"/>
            <a:ext cx="7873365" cy="378523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5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使用辅助工具</a:t>
            </a:r>
            <a:endParaRPr sz="3200">
              <a:latin typeface="宋体"/>
              <a:cs typeface="宋体"/>
            </a:endParaRPr>
          </a:p>
          <a:p>
            <a:pPr marL="756285" marR="5080" lvl="1" indent="-287020">
              <a:lnSpc>
                <a:spcPts val="3140"/>
              </a:lnSpc>
              <a:spcBef>
                <a:spcPts val="11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工具应该具有以下几个特性，以支</a:t>
            </a:r>
            <a:r>
              <a:rPr sz="2800" dirty="0">
                <a:latin typeface="宋体"/>
                <a:cs typeface="宋体"/>
              </a:rPr>
              <a:t>持</a:t>
            </a:r>
            <a:r>
              <a:rPr sz="2800" spc="-5" dirty="0">
                <a:latin typeface="宋体"/>
                <a:cs typeface="宋体"/>
              </a:rPr>
              <a:t>需求</a:t>
            </a:r>
            <a:r>
              <a:rPr sz="2800" dirty="0">
                <a:latin typeface="宋体"/>
                <a:cs typeface="宋体"/>
              </a:rPr>
              <a:t>变</a:t>
            </a:r>
            <a:r>
              <a:rPr sz="2800" spc="-5" dirty="0">
                <a:latin typeface="宋体"/>
                <a:cs typeface="宋体"/>
              </a:rPr>
              <a:t>更 过程：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宋体"/>
                <a:cs typeface="宋体"/>
              </a:rPr>
              <a:t>可用定义变更请求中</a:t>
            </a:r>
            <a:r>
              <a:rPr sz="2400" dirty="0">
                <a:latin typeface="宋体"/>
                <a:cs typeface="宋体"/>
              </a:rPr>
              <a:t>的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数据项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可用辅助项目涉众完</a:t>
            </a:r>
            <a:r>
              <a:rPr sz="2400" spc="5" dirty="0">
                <a:latin typeface="宋体"/>
                <a:cs typeface="宋体"/>
              </a:rPr>
              <a:t>成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变更控制过程中的协作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可以帮助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维护需求基线</a:t>
            </a:r>
            <a:r>
              <a:rPr sz="2400" dirty="0">
                <a:latin typeface="宋体"/>
                <a:cs typeface="宋体"/>
              </a:rPr>
              <a:t>，审计变更记录。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宋体"/>
                <a:cs typeface="宋体"/>
              </a:rPr>
              <a:t>能够将变更情</a:t>
            </a:r>
            <a:r>
              <a:rPr sz="2400" dirty="0">
                <a:latin typeface="宋体"/>
                <a:cs typeface="宋体"/>
              </a:rPr>
              <a:t>况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及时的通知</a:t>
            </a:r>
            <a:r>
              <a:rPr sz="2400" spc="-5" dirty="0">
                <a:latin typeface="宋体"/>
                <a:cs typeface="宋体"/>
              </a:rPr>
              <a:t>到相关人员。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可以生成标准的和定制</a:t>
            </a:r>
            <a:r>
              <a:rPr sz="2400" spc="5" dirty="0">
                <a:latin typeface="宋体"/>
                <a:cs typeface="宋体"/>
              </a:rPr>
              <a:t>的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报告和图表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562"/>
            <a:ext cx="4203065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需求管理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需求基线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需求跟踪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latin typeface="宋体"/>
                <a:cs typeface="宋体"/>
              </a:rPr>
              <a:t>需求变更控制</a:t>
            </a:r>
            <a:endParaRPr sz="3200">
              <a:latin typeface="宋体"/>
              <a:cs typeface="宋体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27685" algn="l"/>
                <a:tab pos="52832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需求管理的实践调查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697" y="137287"/>
            <a:ext cx="561213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5.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需求管理的实践调查</a:t>
            </a:r>
          </a:p>
          <a:p>
            <a:pPr marL="135826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需求的变更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04822"/>
            <a:ext cx="5515610" cy="35375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有效处理变更非常重要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新增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Calibri"/>
                <a:cs typeface="Calibri"/>
              </a:rPr>
              <a:t>Added</a:t>
            </a:r>
            <a:r>
              <a:rPr sz="3200" spc="-5" dirty="0">
                <a:latin typeface="宋体"/>
                <a:cs typeface="宋体"/>
              </a:rPr>
              <a:t>）</a:t>
            </a:r>
            <a:r>
              <a:rPr sz="3200" dirty="0">
                <a:latin typeface="宋体"/>
                <a:cs typeface="宋体"/>
              </a:rPr>
              <a:t>需求影响最大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缺陷修复最为频繁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范围蔓延常见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需求可变性很高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变更控制还需要继续完善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697" y="137287"/>
            <a:ext cx="561213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5.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需求管理的实践调查</a:t>
            </a:r>
          </a:p>
          <a:p>
            <a:pPr marL="1637664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需求跟踪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69072"/>
            <a:ext cx="7887970" cy="39795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重视和关</a:t>
            </a:r>
            <a:r>
              <a:rPr sz="3200" spc="5" dirty="0">
                <a:latin typeface="宋体"/>
                <a:cs typeface="宋体"/>
              </a:rPr>
              <a:t>注</a:t>
            </a:r>
            <a:r>
              <a:rPr sz="3200" dirty="0">
                <a:latin typeface="宋体"/>
                <a:cs typeface="宋体"/>
              </a:rPr>
              <a:t>了</a:t>
            </a:r>
            <a:r>
              <a:rPr sz="3200" spc="5" dirty="0">
                <a:latin typeface="宋体"/>
                <a:cs typeface="宋体"/>
              </a:rPr>
              <a:t>对后向跟</a:t>
            </a:r>
            <a:r>
              <a:rPr sz="3200" spc="-20" dirty="0">
                <a:latin typeface="宋体"/>
                <a:cs typeface="宋体"/>
              </a:rPr>
              <a:t>踪</a:t>
            </a:r>
            <a:r>
              <a:rPr sz="3200" spc="5" dirty="0">
                <a:latin typeface="宋体"/>
                <a:cs typeface="宋体"/>
              </a:rPr>
              <a:t>联系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spc="5" dirty="0">
                <a:latin typeface="宋体"/>
                <a:cs typeface="宋体"/>
              </a:rPr>
              <a:t>处理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忽视了对前向跟踪联系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处理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最低层次需求跟踪策略</a:t>
            </a:r>
            <a:r>
              <a:rPr sz="3200" spc="-15" dirty="0">
                <a:latin typeface="宋体"/>
                <a:cs typeface="宋体"/>
              </a:rPr>
              <a:t>存</a:t>
            </a:r>
            <a:r>
              <a:rPr sz="3200" dirty="0">
                <a:latin typeface="宋体"/>
                <a:cs typeface="宋体"/>
              </a:rPr>
              <a:t>在广泛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高端用户的需求跟踪实</a:t>
            </a:r>
            <a:r>
              <a:rPr sz="3200" spc="-5" dirty="0">
                <a:latin typeface="宋体"/>
                <a:cs typeface="宋体"/>
              </a:rPr>
              <a:t>现</a:t>
            </a:r>
            <a:r>
              <a:rPr sz="3200" spc="5" dirty="0">
                <a:latin typeface="宋体"/>
                <a:cs typeface="宋体"/>
              </a:rPr>
              <a:t>仍需</a:t>
            </a:r>
            <a:r>
              <a:rPr sz="3200" spc="-15" dirty="0">
                <a:latin typeface="宋体"/>
                <a:cs typeface="宋体"/>
              </a:rPr>
              <a:t>努</a:t>
            </a:r>
            <a:r>
              <a:rPr sz="3200" spc="5" dirty="0">
                <a:latin typeface="宋体"/>
                <a:cs typeface="宋体"/>
              </a:rPr>
              <a:t>力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需求之间的依赖关系困</a:t>
            </a:r>
            <a:r>
              <a:rPr sz="3200" spc="-15" dirty="0">
                <a:latin typeface="宋体"/>
                <a:cs typeface="宋体"/>
              </a:rPr>
              <a:t>难</a:t>
            </a:r>
            <a:r>
              <a:rPr sz="3200" dirty="0">
                <a:latin typeface="宋体"/>
                <a:cs typeface="宋体"/>
              </a:rPr>
              <a:t>和复杂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只有大概</a:t>
            </a:r>
            <a:r>
              <a:rPr sz="2800" spc="-10" dirty="0">
                <a:latin typeface="Calibri"/>
                <a:cs typeface="Calibri"/>
              </a:rPr>
              <a:t>20</a:t>
            </a:r>
            <a:r>
              <a:rPr sz="2800" spc="-10" dirty="0">
                <a:latin typeface="宋体"/>
                <a:cs typeface="宋体"/>
              </a:rPr>
              <a:t>％</a:t>
            </a:r>
            <a:r>
              <a:rPr sz="2800" spc="-5" dirty="0">
                <a:latin typeface="宋体"/>
                <a:cs typeface="宋体"/>
              </a:rPr>
              <a:t>的需求是完</a:t>
            </a:r>
            <a:r>
              <a:rPr sz="2800" dirty="0">
                <a:latin typeface="宋体"/>
                <a:cs typeface="宋体"/>
              </a:rPr>
              <a:t>全</a:t>
            </a:r>
            <a:r>
              <a:rPr sz="2800" spc="-5" dirty="0">
                <a:latin typeface="宋体"/>
                <a:cs typeface="宋体"/>
              </a:rPr>
              <a:t>独立的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20</a:t>
            </a:r>
            <a:r>
              <a:rPr sz="2800" spc="-10" dirty="0">
                <a:latin typeface="宋体"/>
                <a:cs typeface="宋体"/>
              </a:rPr>
              <a:t>％</a:t>
            </a:r>
            <a:r>
              <a:rPr sz="2800" spc="-5" dirty="0">
                <a:latin typeface="宋体"/>
                <a:cs typeface="宋体"/>
              </a:rPr>
              <a:t>左右的需求产生了所</a:t>
            </a:r>
            <a:r>
              <a:rPr sz="2800" dirty="0">
                <a:latin typeface="宋体"/>
                <a:cs typeface="宋体"/>
              </a:rPr>
              <a:t>有</a:t>
            </a:r>
            <a:r>
              <a:rPr sz="2800" spc="-5" dirty="0">
                <a:latin typeface="宋体"/>
                <a:cs typeface="宋体"/>
              </a:rPr>
              <a:t>依赖</a:t>
            </a:r>
            <a:r>
              <a:rPr sz="2800" dirty="0">
                <a:latin typeface="宋体"/>
                <a:cs typeface="宋体"/>
              </a:rPr>
              <a:t>关</a:t>
            </a:r>
            <a:r>
              <a:rPr sz="2800" spc="-5" dirty="0">
                <a:latin typeface="宋体"/>
                <a:cs typeface="宋体"/>
              </a:rPr>
              <a:t>系</a:t>
            </a:r>
            <a:r>
              <a:rPr sz="2800" spc="20" dirty="0">
                <a:latin typeface="宋体"/>
                <a:cs typeface="宋体"/>
              </a:rPr>
              <a:t>的</a:t>
            </a:r>
            <a:r>
              <a:rPr sz="2800" spc="-5" dirty="0">
                <a:latin typeface="Calibri"/>
                <a:cs typeface="Calibri"/>
              </a:rPr>
              <a:t>75</a:t>
            </a:r>
            <a:r>
              <a:rPr sz="2800" spc="-5" dirty="0">
                <a:latin typeface="宋体"/>
                <a:cs typeface="宋体"/>
              </a:rPr>
              <a:t>％。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697" y="137287"/>
            <a:ext cx="561213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5.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/>
              <a:t>需求管理的实践调查</a:t>
            </a:r>
          </a:p>
          <a:p>
            <a:pPr marR="156210" algn="r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——</a:t>
            </a:r>
            <a:r>
              <a:rPr dirty="0"/>
              <a:t>需求管理工具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53782"/>
            <a:ext cx="7887970" cy="379666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非常需要需求管理工具</a:t>
            </a:r>
            <a:endParaRPr sz="3200">
              <a:latin typeface="宋体"/>
              <a:cs typeface="宋体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通用的文本处理器（</a:t>
            </a:r>
            <a:r>
              <a:rPr sz="3200" dirty="0">
                <a:latin typeface="Calibri"/>
                <a:cs typeface="Calibri"/>
              </a:rPr>
              <a:t>Word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Processor</a:t>
            </a:r>
            <a:r>
              <a:rPr sz="3200" spc="-5" dirty="0">
                <a:latin typeface="宋体"/>
                <a:cs typeface="宋体"/>
              </a:rPr>
              <a:t>）</a:t>
            </a:r>
            <a:r>
              <a:rPr sz="3200" dirty="0">
                <a:latin typeface="宋体"/>
                <a:cs typeface="宋体"/>
              </a:rPr>
              <a:t>和电 子表格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Calibri"/>
                <a:cs typeface="Calibri"/>
              </a:rPr>
              <a:t>Spreadsheet</a:t>
            </a:r>
            <a:r>
              <a:rPr sz="3200" spc="-5" dirty="0">
                <a:latin typeface="宋体"/>
                <a:cs typeface="宋体"/>
              </a:rPr>
              <a:t>）</a:t>
            </a:r>
            <a:r>
              <a:rPr sz="3200" dirty="0">
                <a:latin typeface="宋体"/>
                <a:cs typeface="宋体"/>
              </a:rPr>
              <a:t>使用最</a:t>
            </a:r>
            <a:r>
              <a:rPr sz="3200" spc="5" dirty="0">
                <a:latin typeface="宋体"/>
                <a:cs typeface="宋体"/>
              </a:rPr>
              <a:t>为</a:t>
            </a:r>
            <a:r>
              <a:rPr sz="3200" dirty="0">
                <a:latin typeface="宋体"/>
                <a:cs typeface="宋体"/>
              </a:rPr>
              <a:t>广</a:t>
            </a:r>
            <a:r>
              <a:rPr sz="3200" spc="5" dirty="0">
                <a:latin typeface="宋体"/>
                <a:cs typeface="宋体"/>
              </a:rPr>
              <a:t>泛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部分组织自己开发了专</a:t>
            </a:r>
            <a:r>
              <a:rPr sz="3200" spc="-15" dirty="0">
                <a:latin typeface="宋体"/>
                <a:cs typeface="宋体"/>
              </a:rPr>
              <a:t>用</a:t>
            </a:r>
            <a:r>
              <a:rPr sz="3200" dirty="0">
                <a:latin typeface="宋体"/>
                <a:cs typeface="宋体"/>
              </a:rPr>
              <a:t>需求</a:t>
            </a:r>
            <a:r>
              <a:rPr sz="3200" spc="-15" dirty="0">
                <a:latin typeface="宋体"/>
                <a:cs typeface="宋体"/>
              </a:rPr>
              <a:t>管</a:t>
            </a:r>
            <a:r>
              <a:rPr sz="3200" dirty="0">
                <a:latin typeface="宋体"/>
                <a:cs typeface="宋体"/>
              </a:rPr>
              <a:t>理工具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很少有组织使用专用的</a:t>
            </a:r>
            <a:r>
              <a:rPr sz="3200" spc="-15" dirty="0">
                <a:latin typeface="宋体"/>
                <a:cs typeface="宋体"/>
              </a:rPr>
              <a:t>商</a:t>
            </a:r>
            <a:r>
              <a:rPr sz="3200" dirty="0">
                <a:latin typeface="宋体"/>
                <a:cs typeface="宋体"/>
              </a:rPr>
              <a:t>业需</a:t>
            </a:r>
            <a:r>
              <a:rPr sz="3200" spc="-15" dirty="0">
                <a:latin typeface="宋体"/>
                <a:cs typeface="宋体"/>
              </a:rPr>
              <a:t>求</a:t>
            </a:r>
            <a:r>
              <a:rPr sz="3200" dirty="0">
                <a:latin typeface="宋体"/>
                <a:cs typeface="宋体"/>
              </a:rPr>
              <a:t>管理</a:t>
            </a:r>
            <a:r>
              <a:rPr sz="3200" spc="-15" dirty="0">
                <a:latin typeface="宋体"/>
                <a:cs typeface="宋体"/>
              </a:rPr>
              <a:t>工</a:t>
            </a:r>
            <a:r>
              <a:rPr sz="3200" dirty="0">
                <a:latin typeface="宋体"/>
                <a:cs typeface="宋体"/>
              </a:rPr>
              <a:t>具</a:t>
            </a:r>
            <a:endParaRPr sz="3200">
              <a:latin typeface="宋体"/>
              <a:cs typeface="宋体"/>
            </a:endParaRPr>
          </a:p>
          <a:p>
            <a:pPr marL="756285" marR="18415" lvl="1" indent="-287020">
              <a:lnSpc>
                <a:spcPts val="3150"/>
              </a:lnSpc>
              <a:spcBef>
                <a:spcPts val="11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无法和软件的开发过程以及其他辅</a:t>
            </a:r>
            <a:r>
              <a:rPr sz="2800" dirty="0">
                <a:latin typeface="宋体"/>
                <a:cs typeface="宋体"/>
              </a:rPr>
              <a:t>助</a:t>
            </a:r>
            <a:r>
              <a:rPr sz="2800" spc="-10" dirty="0">
                <a:latin typeface="宋体"/>
                <a:cs typeface="宋体"/>
              </a:rPr>
              <a:t>工具</a:t>
            </a:r>
            <a:r>
              <a:rPr sz="2800" dirty="0">
                <a:latin typeface="宋体"/>
                <a:cs typeface="宋体"/>
              </a:rPr>
              <a:t>进</a:t>
            </a:r>
            <a:r>
              <a:rPr sz="2800" spc="-5" dirty="0">
                <a:latin typeface="宋体"/>
                <a:cs typeface="宋体"/>
              </a:rPr>
              <a:t>行 有效的集成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236346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实例分析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397" y="1457655"/>
            <a:ext cx="8185784" cy="44367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363220" indent="-342900" algn="just">
              <a:lnSpc>
                <a:spcPts val="3150"/>
              </a:lnSpc>
              <a:spcBef>
                <a:spcPts val="37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经常出现一个模块的需求刚刚整理</a:t>
            </a:r>
            <a:r>
              <a:rPr sz="2800" dirty="0">
                <a:latin typeface="宋体"/>
                <a:cs typeface="宋体"/>
              </a:rPr>
              <a:t>完</a:t>
            </a:r>
            <a:r>
              <a:rPr sz="2800" spc="-10" dirty="0">
                <a:latin typeface="宋体"/>
                <a:cs typeface="宋体"/>
              </a:rPr>
              <a:t>毕或</a:t>
            </a:r>
            <a:r>
              <a:rPr sz="2800" dirty="0">
                <a:latin typeface="宋体"/>
                <a:cs typeface="宋体"/>
              </a:rPr>
              <a:t>者</a:t>
            </a:r>
            <a:r>
              <a:rPr sz="2800" spc="-10" dirty="0">
                <a:latin typeface="宋体"/>
                <a:cs typeface="宋体"/>
              </a:rPr>
              <a:t>程序 </a:t>
            </a:r>
            <a:r>
              <a:rPr sz="2800" spc="-5" dirty="0">
                <a:latin typeface="宋体"/>
                <a:cs typeface="宋体"/>
              </a:rPr>
              <a:t>编写了一半，业务已经发生变化的</a:t>
            </a:r>
            <a:r>
              <a:rPr sz="2800" dirty="0">
                <a:latin typeface="宋体"/>
                <a:cs typeface="宋体"/>
              </a:rPr>
              <a:t>情</a:t>
            </a:r>
            <a:r>
              <a:rPr sz="2800" spc="-5" dirty="0">
                <a:latin typeface="宋体"/>
                <a:cs typeface="宋体"/>
              </a:rPr>
              <a:t>况。</a:t>
            </a:r>
            <a:endParaRPr sz="2800">
              <a:latin typeface="宋体"/>
              <a:cs typeface="宋体"/>
            </a:endParaRPr>
          </a:p>
          <a:p>
            <a:pPr marL="355600" marR="363220" indent="-342900" algn="just">
              <a:lnSpc>
                <a:spcPct val="96800"/>
              </a:lnSpc>
              <a:spcBef>
                <a:spcPts val="92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在一年的开发过程中，我们陆续接</a:t>
            </a:r>
            <a:r>
              <a:rPr sz="2800" dirty="0">
                <a:latin typeface="宋体"/>
                <a:cs typeface="宋体"/>
              </a:rPr>
              <a:t>到</a:t>
            </a:r>
            <a:r>
              <a:rPr sz="2800" spc="-5" dirty="0">
                <a:latin typeface="宋体"/>
                <a:cs typeface="宋体"/>
              </a:rPr>
              <a:t>的业</a:t>
            </a:r>
            <a:r>
              <a:rPr sz="2800" dirty="0">
                <a:latin typeface="宋体"/>
                <a:cs typeface="宋体"/>
              </a:rPr>
              <a:t>务</a:t>
            </a:r>
            <a:r>
              <a:rPr sz="2800" spc="-5" dirty="0">
                <a:latin typeface="宋体"/>
                <a:cs typeface="宋体"/>
              </a:rPr>
              <a:t>变更 </a:t>
            </a:r>
            <a:r>
              <a:rPr sz="2800" spc="-10" dirty="0">
                <a:latin typeface="宋体"/>
                <a:cs typeface="宋体"/>
              </a:rPr>
              <a:t>行政命令多达几十条，这给整个软</a:t>
            </a:r>
            <a:r>
              <a:rPr sz="2800" dirty="0">
                <a:latin typeface="宋体"/>
                <a:cs typeface="宋体"/>
              </a:rPr>
              <a:t>件</a:t>
            </a:r>
            <a:r>
              <a:rPr sz="2800" spc="-10" dirty="0">
                <a:latin typeface="宋体"/>
                <a:cs typeface="宋体"/>
              </a:rPr>
              <a:t>开发</a:t>
            </a:r>
            <a:r>
              <a:rPr sz="2800" dirty="0">
                <a:latin typeface="宋体"/>
                <a:cs typeface="宋体"/>
              </a:rPr>
              <a:t>和</a:t>
            </a:r>
            <a:r>
              <a:rPr sz="2800" spc="-10" dirty="0">
                <a:latin typeface="宋体"/>
                <a:cs typeface="宋体"/>
              </a:rPr>
              <a:t>推广 </a:t>
            </a:r>
            <a:r>
              <a:rPr sz="2800" spc="-5" dirty="0">
                <a:latin typeface="宋体"/>
                <a:cs typeface="宋体"/>
              </a:rPr>
              <a:t>都带来了很大困惑。</a:t>
            </a:r>
            <a:endParaRPr sz="2800">
              <a:latin typeface="宋体"/>
              <a:cs typeface="宋体"/>
            </a:endParaRPr>
          </a:p>
          <a:p>
            <a:pPr marL="355600" marR="5080" indent="-342900">
              <a:lnSpc>
                <a:spcPct val="98400"/>
              </a:lnSpc>
              <a:spcBef>
                <a:spcPts val="94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为了保证软件正常运行，省局信息</a:t>
            </a:r>
            <a:r>
              <a:rPr sz="2800" dirty="0">
                <a:latin typeface="宋体"/>
                <a:cs typeface="宋体"/>
              </a:rPr>
              <a:t>中</a:t>
            </a:r>
            <a:r>
              <a:rPr sz="2800" spc="-5" dirty="0">
                <a:latin typeface="宋体"/>
                <a:cs typeface="宋体"/>
              </a:rPr>
              <a:t>心不</a:t>
            </a:r>
            <a:r>
              <a:rPr sz="2800" dirty="0">
                <a:latin typeface="宋体"/>
                <a:cs typeface="宋体"/>
              </a:rPr>
              <a:t>得</a:t>
            </a:r>
            <a:r>
              <a:rPr sz="2800" spc="-5" dirty="0">
                <a:latin typeface="宋体"/>
                <a:cs typeface="宋体"/>
              </a:rPr>
              <a:t>不专 </a:t>
            </a:r>
            <a:r>
              <a:rPr sz="2800" spc="-10" dirty="0">
                <a:latin typeface="宋体"/>
                <a:cs typeface="宋体"/>
              </a:rPr>
              <a:t>门成立了软件推广维护小组，不断</a:t>
            </a:r>
            <a:r>
              <a:rPr sz="2800" dirty="0">
                <a:latin typeface="宋体"/>
                <a:cs typeface="宋体"/>
              </a:rPr>
              <a:t>就</a:t>
            </a:r>
            <a:r>
              <a:rPr sz="2800" spc="-10" dirty="0">
                <a:latin typeface="宋体"/>
                <a:cs typeface="宋体"/>
              </a:rPr>
              <a:t>新业</a:t>
            </a:r>
            <a:r>
              <a:rPr sz="2800" dirty="0">
                <a:latin typeface="宋体"/>
                <a:cs typeface="宋体"/>
              </a:rPr>
              <a:t>务</a:t>
            </a:r>
            <a:r>
              <a:rPr sz="2800" spc="-10" dirty="0">
                <a:latin typeface="宋体"/>
                <a:cs typeface="宋体"/>
              </a:rPr>
              <a:t>改写 </a:t>
            </a:r>
            <a:r>
              <a:rPr sz="2800" spc="-5" dirty="0">
                <a:latin typeface="宋体"/>
                <a:cs typeface="宋体"/>
              </a:rPr>
              <a:t>程序，各地也不得不在后续的过程</a:t>
            </a:r>
            <a:r>
              <a:rPr sz="2800" dirty="0">
                <a:latin typeface="宋体"/>
                <a:cs typeface="宋体"/>
              </a:rPr>
              <a:t>中</a:t>
            </a:r>
            <a:r>
              <a:rPr sz="2800" spc="-5" dirty="0">
                <a:latin typeface="宋体"/>
                <a:cs typeface="宋体"/>
              </a:rPr>
              <a:t>不停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从省 局下载</a:t>
            </a:r>
            <a:r>
              <a:rPr sz="2800" dirty="0">
                <a:latin typeface="宋体"/>
                <a:cs typeface="宋体"/>
              </a:rPr>
              <a:t>新</a:t>
            </a:r>
            <a:r>
              <a:rPr sz="2800" spc="-5" dirty="0">
                <a:latin typeface="宋体"/>
                <a:cs typeface="宋体"/>
              </a:rPr>
              <a:t>的升级</a:t>
            </a:r>
            <a:r>
              <a:rPr sz="2800" dirty="0">
                <a:latin typeface="宋体"/>
                <a:cs typeface="宋体"/>
              </a:rPr>
              <a:t>包</a:t>
            </a:r>
            <a:r>
              <a:rPr sz="2800" spc="-5" dirty="0">
                <a:latin typeface="宋体"/>
                <a:cs typeface="宋体"/>
              </a:rPr>
              <a:t>，这件</a:t>
            </a:r>
            <a:r>
              <a:rPr sz="2800" dirty="0">
                <a:latin typeface="宋体"/>
                <a:cs typeface="宋体"/>
              </a:rPr>
              <a:t>事</a:t>
            </a:r>
            <a:r>
              <a:rPr sz="2800" spc="-5" dirty="0">
                <a:latin typeface="宋体"/>
                <a:cs typeface="宋体"/>
              </a:rPr>
              <a:t>情已经</a:t>
            </a:r>
            <a:r>
              <a:rPr sz="2800" dirty="0">
                <a:latin typeface="宋体"/>
                <a:cs typeface="宋体"/>
              </a:rPr>
              <a:t>经</a:t>
            </a:r>
            <a:r>
              <a:rPr sz="2800" spc="-5" dirty="0">
                <a:latin typeface="宋体"/>
                <a:cs typeface="宋体"/>
              </a:rPr>
              <a:t>历了很</a:t>
            </a:r>
            <a:r>
              <a:rPr sz="2800" dirty="0">
                <a:latin typeface="宋体"/>
                <a:cs typeface="宋体"/>
              </a:rPr>
              <a:t>多</a:t>
            </a:r>
            <a:r>
              <a:rPr sz="2800" spc="-5" dirty="0">
                <a:latin typeface="宋体"/>
                <a:cs typeface="宋体"/>
              </a:rPr>
              <a:t>年， 大家都已经习惯了。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278638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本节小结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361"/>
            <a:ext cx="7688580" cy="36061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55600" marR="5080" indent="-343535" algn="just">
              <a:lnSpc>
                <a:spcPct val="96900"/>
              </a:lnSpc>
              <a:spcBef>
                <a:spcPts val="22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需求管理是发生在需求</a:t>
            </a:r>
            <a:r>
              <a:rPr sz="3200" spc="-15" dirty="0">
                <a:latin typeface="宋体"/>
                <a:cs typeface="宋体"/>
              </a:rPr>
              <a:t>开</a:t>
            </a:r>
            <a:r>
              <a:rPr sz="3200" dirty="0">
                <a:latin typeface="宋体"/>
                <a:cs typeface="宋体"/>
              </a:rPr>
              <a:t>发之</a:t>
            </a:r>
            <a:r>
              <a:rPr sz="3200" spc="-15" dirty="0">
                <a:latin typeface="宋体"/>
                <a:cs typeface="宋体"/>
              </a:rPr>
              <a:t>后</a:t>
            </a:r>
            <a:r>
              <a:rPr sz="3200" dirty="0">
                <a:latin typeface="宋体"/>
                <a:cs typeface="宋体"/>
              </a:rPr>
              <a:t>的需</a:t>
            </a:r>
            <a:r>
              <a:rPr sz="3200" spc="-15" dirty="0">
                <a:latin typeface="宋体"/>
                <a:cs typeface="宋体"/>
              </a:rPr>
              <a:t>求</a:t>
            </a:r>
            <a:r>
              <a:rPr sz="3200" dirty="0">
                <a:latin typeface="宋体"/>
                <a:cs typeface="宋体"/>
              </a:rPr>
              <a:t>工 程活动，贯穿于余下的</a:t>
            </a:r>
            <a:r>
              <a:rPr sz="3200" spc="-15" dirty="0">
                <a:latin typeface="宋体"/>
                <a:cs typeface="宋体"/>
              </a:rPr>
              <a:t>产</a:t>
            </a:r>
            <a:r>
              <a:rPr sz="3200" dirty="0">
                <a:latin typeface="宋体"/>
                <a:cs typeface="宋体"/>
              </a:rPr>
              <a:t>品生</a:t>
            </a:r>
            <a:r>
              <a:rPr sz="3200" spc="-15" dirty="0">
                <a:latin typeface="宋体"/>
                <a:cs typeface="宋体"/>
              </a:rPr>
              <a:t>命</a:t>
            </a:r>
            <a:r>
              <a:rPr sz="3200" dirty="0">
                <a:latin typeface="宋体"/>
                <a:cs typeface="宋体"/>
              </a:rPr>
              <a:t>周期</a:t>
            </a:r>
            <a:r>
              <a:rPr sz="3200" spc="-15" dirty="0">
                <a:latin typeface="宋体"/>
                <a:cs typeface="宋体"/>
              </a:rPr>
              <a:t>，</a:t>
            </a:r>
            <a:r>
              <a:rPr sz="3200" dirty="0">
                <a:latin typeface="宋体"/>
                <a:cs typeface="宋体"/>
              </a:rPr>
              <a:t>用 于确保需求作业的有效</a:t>
            </a:r>
            <a:r>
              <a:rPr sz="3200" spc="-15" dirty="0">
                <a:latin typeface="宋体"/>
                <a:cs typeface="宋体"/>
              </a:rPr>
              <a:t>实</a:t>
            </a:r>
            <a:r>
              <a:rPr sz="3200" dirty="0">
                <a:latin typeface="宋体"/>
                <a:cs typeface="宋体"/>
              </a:rPr>
              <a:t>现</a:t>
            </a:r>
            <a:endParaRPr sz="3200">
              <a:latin typeface="宋体"/>
              <a:cs typeface="宋体"/>
            </a:endParaRPr>
          </a:p>
          <a:p>
            <a:pPr marL="355600" marR="5080" indent="-343535" algn="just">
              <a:lnSpc>
                <a:spcPts val="3600"/>
              </a:lnSpc>
              <a:spcBef>
                <a:spcPts val="133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需求管理是一项重要的</a:t>
            </a:r>
            <a:r>
              <a:rPr sz="3200" spc="-15" dirty="0">
                <a:latin typeface="宋体"/>
                <a:cs typeface="宋体"/>
              </a:rPr>
              <a:t>活</a:t>
            </a:r>
            <a:r>
              <a:rPr sz="3200" dirty="0">
                <a:latin typeface="宋体"/>
                <a:cs typeface="宋体"/>
              </a:rPr>
              <a:t>动，</a:t>
            </a:r>
            <a:r>
              <a:rPr sz="3200" spc="-15" dirty="0">
                <a:latin typeface="宋体"/>
                <a:cs typeface="宋体"/>
              </a:rPr>
              <a:t>包</a:t>
            </a:r>
            <a:r>
              <a:rPr sz="3200" dirty="0">
                <a:latin typeface="宋体"/>
                <a:cs typeface="宋体"/>
              </a:rPr>
              <a:t>括维</a:t>
            </a:r>
            <a:r>
              <a:rPr sz="3200" spc="-15" dirty="0">
                <a:latin typeface="宋体"/>
                <a:cs typeface="宋体"/>
              </a:rPr>
              <a:t>护</a:t>
            </a:r>
            <a:r>
              <a:rPr sz="3200" dirty="0">
                <a:latin typeface="宋体"/>
                <a:cs typeface="宋体"/>
              </a:rPr>
              <a:t>需 求基线、需求跟踪和需</a:t>
            </a:r>
            <a:r>
              <a:rPr sz="3200" spc="-15" dirty="0">
                <a:latin typeface="宋体"/>
                <a:cs typeface="宋体"/>
              </a:rPr>
              <a:t>求</a:t>
            </a:r>
            <a:r>
              <a:rPr sz="3200" dirty="0">
                <a:latin typeface="宋体"/>
                <a:cs typeface="宋体"/>
              </a:rPr>
              <a:t>变更</a:t>
            </a:r>
            <a:r>
              <a:rPr sz="3200" spc="-15" dirty="0">
                <a:latin typeface="宋体"/>
                <a:cs typeface="宋体"/>
              </a:rPr>
              <a:t>控</a:t>
            </a:r>
            <a:r>
              <a:rPr sz="3200" dirty="0">
                <a:latin typeface="宋体"/>
                <a:cs typeface="宋体"/>
              </a:rPr>
              <a:t>制</a:t>
            </a:r>
            <a:endParaRPr sz="3200">
              <a:latin typeface="宋体"/>
              <a:cs typeface="宋体"/>
            </a:endParaRPr>
          </a:p>
          <a:p>
            <a:pPr marL="355600" marR="5080" indent="-343535" algn="just">
              <a:lnSpc>
                <a:spcPts val="3600"/>
              </a:lnSpc>
              <a:spcBef>
                <a:spcPts val="124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实践调查表明需求管理</a:t>
            </a:r>
            <a:r>
              <a:rPr sz="3200" spc="-15" dirty="0">
                <a:latin typeface="宋体"/>
                <a:cs typeface="宋体"/>
              </a:rPr>
              <a:t>工</a:t>
            </a:r>
            <a:r>
              <a:rPr sz="3200" dirty="0">
                <a:latin typeface="宋体"/>
                <a:cs typeface="宋体"/>
              </a:rPr>
              <a:t>作仍</a:t>
            </a:r>
            <a:r>
              <a:rPr sz="3200" spc="-15" dirty="0">
                <a:latin typeface="宋体"/>
                <a:cs typeface="宋体"/>
              </a:rPr>
              <a:t>然</a:t>
            </a:r>
            <a:r>
              <a:rPr sz="3200" dirty="0">
                <a:latin typeface="宋体"/>
                <a:cs typeface="宋体"/>
              </a:rPr>
              <a:t>有待</a:t>
            </a:r>
            <a:r>
              <a:rPr sz="3200" spc="-15" dirty="0">
                <a:latin typeface="宋体"/>
                <a:cs typeface="宋体"/>
              </a:rPr>
              <a:t>人</a:t>
            </a:r>
            <a:r>
              <a:rPr sz="3200" dirty="0">
                <a:latin typeface="宋体"/>
                <a:cs typeface="宋体"/>
              </a:rPr>
              <a:t>们 的努力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1590</Words>
  <Application>Microsoft Office PowerPoint</Application>
  <PresentationFormat>全屏显示(4:3)</PresentationFormat>
  <Paragraphs>641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2" baseType="lpstr">
      <vt:lpstr>华文行楷</vt:lpstr>
      <vt:lpstr>宋体</vt:lpstr>
      <vt:lpstr>Arial</vt:lpstr>
      <vt:lpstr>Calibri</vt:lpstr>
      <vt:lpstr>Times New Roman</vt:lpstr>
      <vt:lpstr>Wingdings</vt:lpstr>
      <vt:lpstr>Office Theme</vt:lpstr>
      <vt:lpstr>需求工程过程</vt:lpstr>
      <vt:lpstr>需求工程过程的活动</vt:lpstr>
      <vt:lpstr>主要内容</vt:lpstr>
      <vt:lpstr>验证与确认的概念</vt:lpstr>
      <vt:lpstr>验证与确认 ——软件工程的验证与确认</vt:lpstr>
      <vt:lpstr>主要内容</vt:lpstr>
      <vt:lpstr>2. 需求验证 ——概念</vt:lpstr>
      <vt:lpstr>2. 需求验证 ——活动</vt:lpstr>
      <vt:lpstr>主要内容</vt:lpstr>
      <vt:lpstr>3.1 评审</vt:lpstr>
      <vt:lpstr>3.1 评审 ——参与人员</vt:lpstr>
      <vt:lpstr>3.1 评审 ——过程</vt:lpstr>
      <vt:lpstr>3.1 评审 ——检查方法</vt:lpstr>
      <vt:lpstr>3.1 评审 ——类型</vt:lpstr>
      <vt:lpstr>3.2 原型与模拟</vt:lpstr>
      <vt:lpstr>3.3 开发测试用例</vt:lpstr>
      <vt:lpstr>3.4 用户手册编制</vt:lpstr>
      <vt:lpstr>3.5.利用跟踪关系</vt:lpstr>
      <vt:lpstr>3.6.自动化分析</vt:lpstr>
      <vt:lpstr>主要内容</vt:lpstr>
      <vt:lpstr>4. 问题修正</vt:lpstr>
      <vt:lpstr>主要内容</vt:lpstr>
      <vt:lpstr>5. 需求验证的实践调查</vt:lpstr>
      <vt:lpstr>实例分析(一个公司的业务管理系统)</vt:lpstr>
      <vt:lpstr>本节小结</vt:lpstr>
      <vt:lpstr>主要内容</vt:lpstr>
      <vt:lpstr>1. 需求管理 ——意图</vt:lpstr>
      <vt:lpstr>1. 需求管理 ——作用</vt:lpstr>
      <vt:lpstr>1. 需求管理 ——任务</vt:lpstr>
      <vt:lpstr>1. 需求管理 ——活动</vt:lpstr>
      <vt:lpstr>主要内容</vt:lpstr>
      <vt:lpstr>2. 需求基线</vt:lpstr>
      <vt:lpstr>2. 需求基线的描述内容</vt:lpstr>
      <vt:lpstr>2. 需求基线 ——维护活动：配置管理</vt:lpstr>
      <vt:lpstr>2. 需求基线 ——维护活动：状态维护</vt:lpstr>
      <vt:lpstr>主要内容</vt:lpstr>
      <vt:lpstr>3. 需求跟踪</vt:lpstr>
      <vt:lpstr>3. 需求跟踪: 用途（1）</vt:lpstr>
      <vt:lpstr>3. 需求跟踪: 用途（2）</vt:lpstr>
      <vt:lpstr>3. 需求跟踪: 实现方法</vt:lpstr>
      <vt:lpstr>3. 需求跟踪: 建立过程</vt:lpstr>
      <vt:lpstr>3. 需求跟踪: 需求依赖</vt:lpstr>
      <vt:lpstr>主要内容</vt:lpstr>
      <vt:lpstr>4. 需求变更控制: 需求变化</vt:lpstr>
      <vt:lpstr>4. 需求变更控制过程</vt:lpstr>
      <vt:lpstr>4. 需求变更控制过程</vt:lpstr>
      <vt:lpstr>4. 需求变更控制: 注意事项（1）</vt:lpstr>
      <vt:lpstr>4. 需求变更控制: 注意事项（2）</vt:lpstr>
      <vt:lpstr>4. 需求变更控制: 注意事项（3）</vt:lpstr>
      <vt:lpstr>主要内容</vt:lpstr>
      <vt:lpstr>5. 需求管理的实践调查 ——需求的变更</vt:lpstr>
      <vt:lpstr>5. 需求管理的实践调查 ——需求跟踪</vt:lpstr>
      <vt:lpstr>5. 需求管理的实践调查 ——需求管理工具</vt:lpstr>
      <vt:lpstr>实例分析</vt:lpstr>
      <vt:lpstr>本节小结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BigDataBench</dc:title>
  <dc:creator>wanling gao</dc:creator>
  <cp:lastModifiedBy>- Vel</cp:lastModifiedBy>
  <cp:revision>1</cp:revision>
  <dcterms:created xsi:type="dcterms:W3CDTF">2024-04-26T01:53:47Z</dcterms:created>
  <dcterms:modified xsi:type="dcterms:W3CDTF">2024-04-26T03:50:19Z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2024-04-26T00:00:00Z</vt:filetime>
  </property>
</Properties>
</file>
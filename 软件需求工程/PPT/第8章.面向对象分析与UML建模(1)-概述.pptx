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60680"/>
          </a:xfrm>
          <a:custGeom>
            <a:avLst/>
            <a:gdLst/>
            <a:ahLst/>
            <a:cxnLst/>
            <a:rect l="l" t="t" r="r" b="b"/>
            <a:pathLst>
              <a:path w="9144000" h="360680">
                <a:moveTo>
                  <a:pt x="0" y="0"/>
                </a:moveTo>
                <a:lnTo>
                  <a:pt x="9144000" y="0"/>
                </a:lnTo>
                <a:lnTo>
                  <a:pt x="9144000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517305"/>
            <a:ext cx="9144000" cy="340995"/>
          </a:xfrm>
          <a:custGeom>
            <a:avLst/>
            <a:gdLst/>
            <a:ahLst/>
            <a:cxnLst/>
            <a:rect l="l" t="t" r="r" b="b"/>
            <a:pathLst>
              <a:path w="9144000" h="340995">
                <a:moveTo>
                  <a:pt x="0" y="0"/>
                </a:moveTo>
                <a:lnTo>
                  <a:pt x="9144000" y="0"/>
                </a:lnTo>
                <a:lnTo>
                  <a:pt x="9144000" y="340694"/>
                </a:lnTo>
                <a:lnTo>
                  <a:pt x="0" y="340694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8725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8"/>
                </a:lnTo>
              </a:path>
            </a:pathLst>
          </a:custGeom>
          <a:ln w="12700">
            <a:solidFill>
              <a:srgbClr val="0066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0274" y="220980"/>
            <a:ext cx="684345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6174" y="1358900"/>
            <a:ext cx="7705725" cy="1555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220" y="6432367"/>
            <a:ext cx="2243455" cy="27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面向对象分析与</a:t>
            </a: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  <a:r>
              <a:rPr dirty="0">
                <a:latin typeface="Calibri"/>
                <a:cs typeface="Calibri"/>
              </a:rPr>
              <a:t>(</a:t>
            </a:r>
            <a:r>
              <a:rPr spc="-10" dirty="0">
                <a:latin typeface="Calibri"/>
                <a:cs typeface="Calibri"/>
              </a:rPr>
              <a:t>1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99107"/>
            <a:ext cx="6072505" cy="266509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60"/>
              </a:spcBef>
              <a:buClr>
                <a:srgbClr val="00663C"/>
              </a:buClr>
              <a:buSzPct val="80555"/>
              <a:buFont typeface="Wingdings"/>
              <a:buChar char=""/>
              <a:tabLst>
                <a:tab pos="355600" algn="l"/>
              </a:tabLst>
            </a:pPr>
            <a:r>
              <a:rPr sz="3600" dirty="0">
                <a:latin typeface="宋体"/>
                <a:cs typeface="宋体"/>
              </a:rPr>
              <a:t>面向对象方法概述</a:t>
            </a:r>
            <a:endParaRPr sz="3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663C"/>
              </a:buClr>
              <a:buSzPct val="80555"/>
              <a:buFont typeface="Wingdings"/>
              <a:buChar char=""/>
              <a:tabLst>
                <a:tab pos="355600" algn="l"/>
              </a:tabLst>
            </a:pPr>
            <a:r>
              <a:rPr sz="3600" dirty="0">
                <a:latin typeface="宋体"/>
                <a:cs typeface="宋体"/>
              </a:rPr>
              <a:t>面向对象分析</a:t>
            </a:r>
            <a:r>
              <a:rPr sz="3600" spc="-1040" dirty="0">
                <a:latin typeface="宋体"/>
                <a:cs typeface="宋体"/>
              </a:rPr>
              <a:t> </a:t>
            </a:r>
            <a:r>
              <a:rPr sz="3600" spc="-5" dirty="0">
                <a:latin typeface="Calibri"/>
                <a:cs typeface="Calibri"/>
              </a:rPr>
              <a:t>VS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宋体"/>
                <a:cs typeface="宋体"/>
              </a:rPr>
              <a:t>结构化分析</a:t>
            </a:r>
            <a:endParaRPr sz="3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00663C"/>
              </a:buClr>
              <a:buSzPct val="80555"/>
              <a:buFont typeface="Wingdings"/>
              <a:buChar char=""/>
              <a:tabLst>
                <a:tab pos="355600" algn="l"/>
              </a:tabLst>
            </a:pPr>
            <a:r>
              <a:rPr sz="3600" spc="-5" dirty="0">
                <a:latin typeface="Calibri"/>
                <a:cs typeface="Calibri"/>
              </a:rPr>
              <a:t>UML</a:t>
            </a:r>
            <a:r>
              <a:rPr sz="3600" dirty="0">
                <a:latin typeface="宋体"/>
                <a:cs typeface="宋体"/>
              </a:rPr>
              <a:t>模型概述</a:t>
            </a:r>
            <a:endParaRPr sz="3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885"/>
              </a:spcBef>
              <a:buClr>
                <a:srgbClr val="00663C"/>
              </a:buClr>
              <a:buSzPct val="80555"/>
              <a:buFont typeface="Wingdings"/>
              <a:buChar char=""/>
              <a:tabLst>
                <a:tab pos="355600" algn="l"/>
              </a:tabLst>
            </a:pPr>
            <a:r>
              <a:rPr sz="3600" spc="-5" dirty="0">
                <a:latin typeface="Calibri"/>
                <a:cs typeface="Calibri"/>
              </a:rPr>
              <a:t>UML</a:t>
            </a:r>
            <a:r>
              <a:rPr sz="3600" dirty="0">
                <a:latin typeface="宋体"/>
                <a:cs typeface="宋体"/>
              </a:rPr>
              <a:t>和</a:t>
            </a:r>
            <a:r>
              <a:rPr sz="3600" dirty="0">
                <a:latin typeface="Calibri"/>
                <a:cs typeface="Calibri"/>
              </a:rPr>
              <a:t>Rose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7600" y="391668"/>
            <a:ext cx="436880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现实世界的复杂模型</a:t>
            </a:r>
            <a:endParaRPr sz="38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8844"/>
            <a:ext cx="8032750" cy="42532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复杂总是简单部分的组合</a:t>
            </a:r>
            <a:endParaRPr sz="2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简单部分又是更简单部分的组合</a:t>
            </a:r>
            <a:endParaRPr sz="26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7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简单组成复杂的过程存在层次性</a:t>
            </a:r>
            <a:endParaRPr sz="22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Clr>
                <a:srgbClr val="C00000"/>
              </a:buClr>
              <a:buFont typeface="Wingdings"/>
              <a:buChar char=""/>
            </a:pPr>
            <a:endParaRPr sz="29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每个</a:t>
            </a:r>
            <a:r>
              <a:rPr sz="2600" dirty="0">
                <a:solidFill>
                  <a:srgbClr val="009659"/>
                </a:solidFill>
                <a:latin typeface="宋体"/>
                <a:cs typeface="宋体"/>
              </a:rPr>
              <a:t>最小简单部分</a:t>
            </a:r>
            <a:r>
              <a:rPr sz="2600" dirty="0">
                <a:latin typeface="宋体"/>
                <a:cs typeface="宋体"/>
              </a:rPr>
              <a:t>独立负责完成一系列相关任务</a:t>
            </a:r>
            <a:endParaRPr sz="2600">
              <a:latin typeface="宋体"/>
              <a:cs typeface="宋体"/>
            </a:endParaRPr>
          </a:p>
          <a:p>
            <a:pPr marL="755650" marR="5080" lvl="1" indent="-285750">
              <a:lnSpc>
                <a:spcPts val="2500"/>
              </a:lnSpc>
              <a:spcBef>
                <a:spcPts val="86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低耦合高聚合：相比较而言，每个组合内部各部分的关系比 其内部与外部的关系都更紧密</a:t>
            </a:r>
            <a:endParaRPr sz="22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C00000"/>
              </a:buClr>
              <a:buFont typeface="Wingdings"/>
              <a:buChar char=""/>
            </a:pPr>
            <a:endParaRPr sz="3250">
              <a:latin typeface="宋体"/>
              <a:cs typeface="宋体"/>
            </a:endParaRPr>
          </a:p>
          <a:p>
            <a:pPr marL="355600" marR="74930" indent="-342900">
              <a:lnSpc>
                <a:spcPts val="2900"/>
              </a:lnSpc>
              <a:spcBef>
                <a:spcPts val="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各个部分通过一致的接口进行组合，即一个部分对其 它部分的所知仅仅是接口</a:t>
            </a:r>
            <a:endParaRPr sz="2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7500" y="343915"/>
            <a:ext cx="5969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映射现实模型的面向对象思想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7001"/>
            <a:ext cx="8032750" cy="408622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4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任何系统都是能够完成一系列相关目标和任务的对象</a:t>
            </a:r>
            <a:endParaRPr sz="2600">
              <a:latin typeface="宋体"/>
              <a:cs typeface="宋体"/>
            </a:endParaRPr>
          </a:p>
          <a:p>
            <a:pPr marL="755650" marR="5080" lvl="1" indent="-285750">
              <a:lnSpc>
                <a:spcPts val="2300"/>
              </a:lnSpc>
              <a:spcBef>
                <a:spcPts val="735"/>
              </a:spcBef>
              <a:buClr>
                <a:srgbClr val="C00000"/>
              </a:buClr>
              <a:buSzPct val="59090"/>
              <a:buFont typeface="Wingdings"/>
              <a:buChar char="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对象完成一个任务时会请求一系列其他对象帮助其完成一些 子目标</a:t>
            </a:r>
            <a:endParaRPr sz="2200">
              <a:latin typeface="宋体"/>
              <a:cs typeface="宋体"/>
            </a:endParaRPr>
          </a:p>
          <a:p>
            <a:pPr marL="755650" marR="5080" lvl="1" indent="-285750">
              <a:lnSpc>
                <a:spcPts val="2180"/>
              </a:lnSpc>
              <a:spcBef>
                <a:spcPts val="800"/>
              </a:spcBef>
              <a:buClr>
                <a:srgbClr val="C00000"/>
              </a:buClr>
              <a:buSzPct val="59090"/>
              <a:buFont typeface="Wingdings"/>
              <a:buChar char="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其他对象为了完成其任务又会请求将子目标更细分为子子目 标，并请求其他对象帮助完成</a:t>
            </a:r>
            <a:endParaRPr sz="22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/>
              <a:buChar char=""/>
            </a:pPr>
            <a:endParaRPr sz="3100">
              <a:latin typeface="宋体"/>
              <a:cs typeface="宋体"/>
            </a:endParaRPr>
          </a:p>
          <a:p>
            <a:pPr marL="355600" marR="74930" indent="-342900">
              <a:lnSpc>
                <a:spcPts val="2620"/>
              </a:lnSpc>
              <a:spcBef>
                <a:spcPts val="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子目标的分解和责任分担一直进行直到最后产生的子 部分可以映射到计算实体</a:t>
            </a:r>
            <a:endParaRPr sz="26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270"/>
              </a:spcBef>
              <a:buClr>
                <a:srgbClr val="C00000"/>
              </a:buClr>
              <a:buSzPct val="59090"/>
              <a:buFont typeface="Wingdings"/>
              <a:buChar char="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计算实体：对象</a:t>
            </a:r>
            <a:endParaRPr sz="2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Clr>
                <a:srgbClr val="C00000"/>
              </a:buClr>
              <a:buSzPct val="59090"/>
              <a:buFont typeface="Wingdings"/>
              <a:buChar char="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层次关系：聚合（组合）、继承、关联</a:t>
            </a:r>
            <a:endParaRPr sz="2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lr>
                <a:srgbClr val="C00000"/>
              </a:buClr>
              <a:buSzPct val="59090"/>
              <a:buFont typeface="Wingdings"/>
              <a:buChar char="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组合接口：一个对象暴露的接口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8460" y="193547"/>
            <a:ext cx="485140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面向对象分析基本思想</a:t>
            </a:r>
            <a:endParaRPr sz="38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027" y="1079500"/>
            <a:ext cx="8099425" cy="432308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447675" indent="-434975">
              <a:lnSpc>
                <a:spcPct val="100000"/>
              </a:lnSpc>
              <a:spcBef>
                <a:spcPts val="1185"/>
              </a:spcBef>
              <a:buClr>
                <a:srgbClr val="00663C"/>
              </a:buClr>
              <a:buFont typeface="Wingdings"/>
              <a:buChar char=""/>
              <a:tabLst>
                <a:tab pos="447675" algn="l"/>
              </a:tabLst>
            </a:pPr>
            <a:r>
              <a:rPr sz="3200" dirty="0">
                <a:latin typeface="宋体"/>
                <a:cs typeface="宋体"/>
              </a:rPr>
              <a:t>思想方法</a:t>
            </a:r>
            <a:endParaRPr sz="3200">
              <a:latin typeface="宋体"/>
              <a:cs typeface="宋体"/>
            </a:endParaRPr>
          </a:p>
          <a:p>
            <a:pPr marL="974090" marR="5080" lvl="1" indent="-457200" algn="just">
              <a:lnSpc>
                <a:spcPts val="3100"/>
              </a:lnSpc>
              <a:spcBef>
                <a:spcPts val="1275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974725" algn="l"/>
              </a:tabLst>
            </a:pPr>
            <a:r>
              <a:rPr sz="2800" dirty="0">
                <a:latin typeface="宋体"/>
                <a:cs typeface="宋体"/>
              </a:rPr>
              <a:t>从现实世界中客观存在的事物出发，直接以问 题域中的事物为中心，思考和认识问题。</a:t>
            </a:r>
            <a:endParaRPr sz="2800">
              <a:latin typeface="宋体"/>
              <a:cs typeface="宋体"/>
            </a:endParaRPr>
          </a:p>
          <a:p>
            <a:pPr marL="974090" marR="5080" lvl="1" indent="-457200" algn="just">
              <a:lnSpc>
                <a:spcPct val="96400"/>
              </a:lnSpc>
              <a:spcBef>
                <a:spcPts val="1015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974725" algn="l"/>
              </a:tabLst>
            </a:pPr>
            <a:r>
              <a:rPr sz="2800" dirty="0">
                <a:latin typeface="宋体"/>
                <a:cs typeface="宋体"/>
              </a:rPr>
              <a:t>将事物的本质特征和系统责任，抽象表示为系 统的</a:t>
            </a:r>
            <a:r>
              <a:rPr sz="2800" dirty="0">
                <a:solidFill>
                  <a:srgbClr val="009659"/>
                </a:solidFill>
                <a:latin typeface="宋体"/>
                <a:cs typeface="宋体"/>
              </a:rPr>
              <a:t>对象</a:t>
            </a:r>
            <a:r>
              <a:rPr sz="2800" dirty="0">
                <a:latin typeface="宋体"/>
                <a:cs typeface="宋体"/>
              </a:rPr>
              <a:t>，作为系统的基本构成单位，建立软 件系统。</a:t>
            </a:r>
            <a:endParaRPr sz="2800">
              <a:latin typeface="宋体"/>
              <a:cs typeface="宋体"/>
            </a:endParaRPr>
          </a:p>
          <a:p>
            <a:pPr marL="974090" marR="5080" lvl="1" indent="-457200" algn="just">
              <a:lnSpc>
                <a:spcPct val="96800"/>
              </a:lnSpc>
              <a:spcBef>
                <a:spcPts val="950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974725" algn="l"/>
              </a:tabLst>
            </a:pPr>
            <a:r>
              <a:rPr sz="2800" dirty="0">
                <a:latin typeface="宋体"/>
                <a:cs typeface="宋体"/>
              </a:rPr>
              <a:t>强调运用日常逻辑思维经常采用的思想方法和 原则，例如：抽象、分类、继承、聚合、封装 和关联，并以易懂方式表达。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214883"/>
            <a:ext cx="3378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对象分析方法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8726" y="1485646"/>
            <a:ext cx="3594100" cy="275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90"/>
              </a:lnSpc>
            </a:pPr>
            <a:r>
              <a:rPr sz="2600" dirty="0">
                <a:solidFill>
                  <a:srgbClr val="00663C"/>
                </a:solidFill>
                <a:latin typeface="Wingdings"/>
                <a:cs typeface="Wingdings"/>
              </a:rPr>
              <a:t></a:t>
            </a:r>
            <a:r>
              <a:rPr sz="2600" spc="90" dirty="0">
                <a:solidFill>
                  <a:srgbClr val="00663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宋体"/>
                <a:cs typeface="宋体"/>
              </a:rPr>
              <a:t>一切都是对象</a:t>
            </a:r>
            <a:endParaRPr sz="3200">
              <a:latin typeface="宋体"/>
              <a:cs typeface="宋体"/>
            </a:endParaRPr>
          </a:p>
          <a:p>
            <a:pPr>
              <a:lnSpc>
                <a:spcPts val="4610"/>
              </a:lnSpc>
              <a:spcBef>
                <a:spcPts val="254"/>
              </a:spcBef>
            </a:pPr>
            <a:r>
              <a:rPr sz="2600" dirty="0">
                <a:solidFill>
                  <a:srgbClr val="00663C"/>
                </a:solidFill>
                <a:latin typeface="Wingdings"/>
                <a:cs typeface="Wingdings"/>
              </a:rPr>
              <a:t></a:t>
            </a:r>
            <a:r>
              <a:rPr sz="2600" spc="80" dirty="0">
                <a:solidFill>
                  <a:srgbClr val="00663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宋体"/>
                <a:cs typeface="宋体"/>
              </a:rPr>
              <a:t>对象都是独立的 </a:t>
            </a:r>
            <a:r>
              <a:rPr sz="2600" dirty="0">
                <a:solidFill>
                  <a:srgbClr val="00663C"/>
                </a:solidFill>
                <a:latin typeface="Wingdings"/>
                <a:cs typeface="Wingdings"/>
              </a:rPr>
              <a:t></a:t>
            </a:r>
            <a:r>
              <a:rPr sz="2600" spc="80" dirty="0">
                <a:solidFill>
                  <a:srgbClr val="00663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宋体"/>
                <a:cs typeface="宋体"/>
              </a:rPr>
              <a:t>对象具有原子性 </a:t>
            </a:r>
            <a:r>
              <a:rPr sz="2600" dirty="0">
                <a:solidFill>
                  <a:srgbClr val="00663C"/>
                </a:solidFill>
                <a:latin typeface="Wingdings"/>
                <a:cs typeface="Wingdings"/>
              </a:rPr>
              <a:t></a:t>
            </a:r>
            <a:r>
              <a:rPr sz="2600" spc="10" dirty="0">
                <a:solidFill>
                  <a:srgbClr val="00663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宋体"/>
                <a:cs typeface="宋体"/>
              </a:rPr>
              <a:t>对象都是可抽象</a:t>
            </a:r>
            <a:r>
              <a:rPr sz="3200" spc="-705" dirty="0">
                <a:latin typeface="宋体"/>
                <a:cs typeface="宋体"/>
              </a:rPr>
              <a:t>的</a:t>
            </a:r>
            <a:endParaRPr sz="3200">
              <a:latin typeface="宋体"/>
              <a:cs typeface="宋体"/>
            </a:endParaRPr>
          </a:p>
          <a:p>
            <a:pPr>
              <a:lnSpc>
                <a:spcPts val="3750"/>
              </a:lnSpc>
              <a:spcBef>
                <a:spcPts val="455"/>
              </a:spcBef>
            </a:pPr>
            <a:r>
              <a:rPr sz="2600" dirty="0">
                <a:solidFill>
                  <a:srgbClr val="00663C"/>
                </a:solidFill>
                <a:latin typeface="Wingdings"/>
                <a:cs typeface="Wingdings"/>
              </a:rPr>
              <a:t></a:t>
            </a:r>
            <a:r>
              <a:rPr sz="2600" spc="80" dirty="0">
                <a:solidFill>
                  <a:srgbClr val="00663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宋体"/>
                <a:cs typeface="宋体"/>
              </a:rPr>
              <a:t>对象都有层次性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2278" y="1394792"/>
            <a:ext cx="6875859" cy="38909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887" y="312419"/>
            <a:ext cx="5613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面向对象方法基本概念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027" y="1434084"/>
            <a:ext cx="2400300" cy="23634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类和对象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封装和消息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继承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多态性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590" y="1268475"/>
            <a:ext cx="8547100" cy="426466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55600" marR="360680" indent="-342900">
              <a:lnSpc>
                <a:spcPct val="96800"/>
              </a:lnSpc>
              <a:spcBef>
                <a:spcPts val="204"/>
              </a:spcBef>
              <a:buClr>
                <a:srgbClr val="00663C"/>
              </a:buClr>
              <a:buSzPct val="7636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4125" b="1" spc="127" baseline="1010" dirty="0">
                <a:solidFill>
                  <a:srgbClr val="009659"/>
                </a:solidFill>
                <a:latin typeface="宋体"/>
                <a:cs typeface="宋体"/>
              </a:rPr>
              <a:t>类</a:t>
            </a:r>
            <a:r>
              <a:rPr sz="2800" dirty="0">
                <a:latin typeface="宋体"/>
                <a:cs typeface="宋体"/>
              </a:rPr>
              <a:t>是抽象及分类的概念，是人们分析问题的基本 方法，分类是划分共性的事物为一类。抽象是忽略 事物非本质的特征；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SzPct val="79166"/>
              <a:buFont typeface="Wingdings"/>
              <a:buChar char="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数据抽象是根据数据属性来确定类；</a:t>
            </a:r>
            <a:endParaRPr sz="2400">
              <a:latin typeface="宋体"/>
              <a:cs typeface="宋体"/>
            </a:endParaRPr>
          </a:p>
          <a:p>
            <a:pPr marL="755650" marR="468630" lvl="1" indent="-285750">
              <a:lnSpc>
                <a:spcPts val="2690"/>
              </a:lnSpc>
              <a:spcBef>
                <a:spcPts val="1090"/>
              </a:spcBef>
              <a:buClr>
                <a:srgbClr val="C00000"/>
              </a:buClr>
              <a:buSzPct val="79166"/>
              <a:buFont typeface="Wingdings"/>
              <a:buChar char="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过程抽象是将确定的功能定义为单一实体（确定的功能 是由一系列操作完成的）；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ts val="3275"/>
              </a:lnSpc>
              <a:spcBef>
                <a:spcPts val="765"/>
              </a:spcBef>
              <a:buClr>
                <a:srgbClr val="00663C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在外部世界中，相同属性和操作的对象属于一个类，</a:t>
            </a:r>
            <a:endParaRPr sz="2800">
              <a:latin typeface="宋体"/>
              <a:cs typeface="宋体"/>
            </a:endParaRPr>
          </a:p>
          <a:p>
            <a:pPr marL="355600">
              <a:lnSpc>
                <a:spcPts val="3275"/>
              </a:lnSpc>
            </a:pPr>
            <a:r>
              <a:rPr sz="4125" b="1" spc="127" baseline="1010" dirty="0">
                <a:solidFill>
                  <a:srgbClr val="009659"/>
                </a:solidFill>
                <a:latin typeface="宋体"/>
                <a:cs typeface="宋体"/>
              </a:rPr>
              <a:t>对</a:t>
            </a:r>
            <a:r>
              <a:rPr sz="4125" b="1" spc="120" baseline="1010" dirty="0">
                <a:solidFill>
                  <a:srgbClr val="009659"/>
                </a:solidFill>
                <a:latin typeface="宋体"/>
                <a:cs typeface="宋体"/>
              </a:rPr>
              <a:t>象</a:t>
            </a:r>
            <a:r>
              <a:rPr sz="2800" dirty="0">
                <a:latin typeface="宋体"/>
                <a:cs typeface="宋体"/>
              </a:rPr>
              <a:t>是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类的一个实例</a:t>
            </a:r>
            <a:r>
              <a:rPr sz="2800" dirty="0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755650" marR="468630" lvl="1" indent="-285750">
              <a:lnSpc>
                <a:spcPts val="2710"/>
              </a:lnSpc>
              <a:spcBef>
                <a:spcPts val="965"/>
              </a:spcBef>
              <a:buClr>
                <a:srgbClr val="C00000"/>
              </a:buClr>
              <a:buSzPct val="79166"/>
              <a:buFont typeface="Wingdings"/>
              <a:buChar char="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在机器空间中，类是一个可复用的模板，而对象是复用 出来的独立可执行程序块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89198" y="163068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类和对象的概念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356867"/>
            <a:ext cx="49911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Font typeface="Wingdings"/>
              <a:buChar char=""/>
              <a:tabLst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对象包括实体对象和无形对象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2916419"/>
            <a:ext cx="7467600" cy="10407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2800" dirty="0">
                <a:latin typeface="宋体"/>
                <a:cs typeface="宋体"/>
              </a:rPr>
              <a:t>数据实体抽象：学生、客户、电子邮件、汽车</a:t>
            </a:r>
            <a:endParaRPr sz="28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  <a:spcBef>
                <a:spcPts val="650"/>
              </a:spcBef>
            </a:pPr>
            <a:r>
              <a:rPr sz="2800" dirty="0">
                <a:latin typeface="宋体"/>
                <a:cs typeface="宋体"/>
              </a:rPr>
              <a:t>无形过程抽象：轨迹、交易、答辩、课程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86198" y="163068"/>
            <a:ext cx="1143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例子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0841" y="883411"/>
            <a:ext cx="3683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例：考虑下列事物的分类：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2101" y="1457417"/>
            <a:ext cx="7848600" cy="13239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805" marR="231140" algn="just">
              <a:lnSpc>
                <a:spcPct val="100000"/>
              </a:lnSpc>
              <a:spcBef>
                <a:spcPts val="250"/>
              </a:spcBef>
            </a:pPr>
            <a:r>
              <a:rPr sz="2000" dirty="0">
                <a:latin typeface="宋体"/>
                <a:cs typeface="宋体"/>
              </a:rPr>
              <a:t>显微镜、摩天楼、望远镜、飞机、铆钉、</a:t>
            </a:r>
            <a:r>
              <a:rPr sz="2000" spc="-27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管道、卡车、单向阀、指 数、过滤器、压力器、</a:t>
            </a:r>
            <a:r>
              <a:rPr sz="2000" spc="55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自行车、正旋、岩洞、眼镜、车库、</a:t>
            </a:r>
            <a:r>
              <a:rPr sz="2000" spc="-225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滑翔 机、平方根、铁钉、水龙头、螺钉、</a:t>
            </a:r>
            <a:r>
              <a:rPr sz="2000" spc="-27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余旋、螺栓、</a:t>
            </a:r>
            <a:r>
              <a:rPr sz="2000" spc="-63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帐篷、双筒镜、 车棚、杂物堆房、摩托车、帆船、瞄准器、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86198" y="80771"/>
            <a:ext cx="1143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例子</a:t>
            </a:r>
          </a:p>
        </p:txBody>
      </p:sp>
      <p:sp>
        <p:nvSpPr>
          <p:cNvPr id="5" name="object 5"/>
          <p:cNvSpPr/>
          <p:nvPr/>
        </p:nvSpPr>
        <p:spPr>
          <a:xfrm>
            <a:off x="468312" y="3595752"/>
            <a:ext cx="8207375" cy="2247265"/>
          </a:xfrm>
          <a:custGeom>
            <a:avLst/>
            <a:gdLst/>
            <a:ahLst/>
            <a:cxnLst/>
            <a:rect l="l" t="t" r="r" b="b"/>
            <a:pathLst>
              <a:path w="8207375" h="2247265">
                <a:moveTo>
                  <a:pt x="0" y="0"/>
                </a:moveTo>
                <a:lnTo>
                  <a:pt x="8207375" y="0"/>
                </a:lnTo>
                <a:lnTo>
                  <a:pt x="8207375" y="2246769"/>
                </a:lnTo>
                <a:lnTo>
                  <a:pt x="0" y="224676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9751" y="4668011"/>
            <a:ext cx="1028700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17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五金类： 建筑类：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32952" y="4668011"/>
            <a:ext cx="5346700" cy="7391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宋体"/>
                <a:cs typeface="宋体"/>
              </a:rPr>
              <a:t>铁钉、螺钉、螺栓、铆钉。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latin typeface="宋体"/>
                <a:cs typeface="宋体"/>
              </a:rPr>
              <a:t>帐篷、岩洞、车棚、车库、杂物堆房、摩天楼。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751" y="5445252"/>
            <a:ext cx="48387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数学概念类：平方根、指数、正旋、余旋。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051" y="3132226"/>
            <a:ext cx="6934200" cy="155257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宋体"/>
                <a:cs typeface="宋体"/>
              </a:rPr>
              <a:t>分类：</a:t>
            </a:r>
            <a:endParaRPr sz="2400">
              <a:latin typeface="宋体"/>
              <a:cs typeface="宋体"/>
            </a:endParaRPr>
          </a:p>
          <a:p>
            <a:pPr marL="12700" marR="564515">
              <a:lnSpc>
                <a:spcPts val="2900"/>
              </a:lnSpc>
              <a:spcBef>
                <a:spcPts val="105"/>
              </a:spcBef>
            </a:pPr>
            <a:r>
              <a:rPr sz="2000" dirty="0">
                <a:latin typeface="宋体"/>
                <a:cs typeface="宋体"/>
              </a:rPr>
              <a:t>光学设备类：显微镜、眼镜、望远镜、瞄准器、双筒镜。 管道控制类：管道、单向伐、水龙头、过滤器、压力器。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000" dirty="0">
                <a:latin typeface="宋体"/>
                <a:cs typeface="宋体"/>
              </a:rPr>
              <a:t>交通工具类：自行车、帆船</a:t>
            </a:r>
            <a:r>
              <a:rPr sz="2000" spc="-68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、卡车、飞机、滑翔机、摩托车。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070379"/>
            <a:ext cx="8352155" cy="2234565"/>
          </a:xfrm>
          <a:custGeom>
            <a:avLst/>
            <a:gdLst/>
            <a:ahLst/>
            <a:cxnLst/>
            <a:rect l="l" t="t" r="r" b="b"/>
            <a:pathLst>
              <a:path w="8352155" h="2234565">
                <a:moveTo>
                  <a:pt x="0" y="0"/>
                </a:moveTo>
                <a:lnTo>
                  <a:pt x="8351837" y="0"/>
                </a:lnTo>
                <a:lnTo>
                  <a:pt x="8351837" y="2234458"/>
                </a:lnTo>
                <a:lnTo>
                  <a:pt x="0" y="223445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8640" y="2892044"/>
            <a:ext cx="1231900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08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五金类： 建筑类：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50439" y="2892044"/>
            <a:ext cx="4279900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08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材料、直径、长度、硬度、用途 面积、高度、材料、用途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640" y="3843020"/>
            <a:ext cx="5499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数学概念类：概念定义、公式内容、用途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抽取分类后事物的属性和特征：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/>
          </a:p>
          <a:p>
            <a:pPr marL="72390" marR="5080">
              <a:lnSpc>
                <a:spcPct val="118300"/>
              </a:lnSpc>
            </a:pPr>
            <a:r>
              <a:rPr dirty="0"/>
              <a:t>光学设备类：聚焦度、变焦长度、单双镜形式、用途功能 交通工具类：时速、功率，动力资源、消耗、用途、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86198" y="80771"/>
            <a:ext cx="1143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例子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1582419"/>
            <a:ext cx="7778750" cy="397192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55600" marR="291465" indent="-342900" algn="just">
              <a:lnSpc>
                <a:spcPct val="96800"/>
              </a:lnSpc>
              <a:spcBef>
                <a:spcPts val="204"/>
              </a:spcBef>
              <a:buClr>
                <a:srgbClr val="00663C"/>
              </a:buClr>
              <a:buSzPct val="101818"/>
              <a:buFont typeface="Wingdings"/>
              <a:buChar char=""/>
              <a:tabLst>
                <a:tab pos="355600" algn="l"/>
              </a:tabLst>
            </a:pPr>
            <a:r>
              <a:rPr sz="4125" b="1" spc="127" baseline="1010" dirty="0">
                <a:solidFill>
                  <a:srgbClr val="009659"/>
                </a:solidFill>
                <a:latin typeface="宋体"/>
                <a:cs typeface="宋体"/>
              </a:rPr>
              <a:t>封</a:t>
            </a:r>
            <a:r>
              <a:rPr sz="4125" b="1" spc="120" baseline="1010" dirty="0">
                <a:solidFill>
                  <a:srgbClr val="009659"/>
                </a:solidFill>
                <a:latin typeface="宋体"/>
                <a:cs typeface="宋体"/>
              </a:rPr>
              <a:t>装</a:t>
            </a:r>
            <a:r>
              <a:rPr sz="2800" dirty="0">
                <a:latin typeface="宋体"/>
                <a:cs typeface="宋体"/>
              </a:rPr>
              <a:t>：把类的内部属性和一些操作隐藏起来， 只将公共的操作对外可见。避免外界错误和内 部修改带来的影响；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Wingdings"/>
              <a:buChar char="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对象只通过消息来请求其他的对象执行自身的操作；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Font typeface="Wingdings"/>
              <a:buChar char=""/>
            </a:pPr>
            <a:endParaRPr sz="2600">
              <a:latin typeface="宋体"/>
              <a:cs typeface="宋体"/>
            </a:endParaRPr>
          </a:p>
          <a:p>
            <a:pPr marL="355600" marR="291465" indent="-342900">
              <a:lnSpc>
                <a:spcPts val="3190"/>
              </a:lnSpc>
              <a:spcBef>
                <a:spcPts val="1845"/>
              </a:spcBef>
              <a:buClr>
                <a:srgbClr val="00663C"/>
              </a:buClr>
              <a:buSzPct val="101818"/>
              <a:buFont typeface="Wingdings"/>
              <a:buChar char=""/>
              <a:tabLst>
                <a:tab pos="355600" algn="l"/>
              </a:tabLst>
            </a:pPr>
            <a:r>
              <a:rPr sz="4125" b="1" spc="127" baseline="1010" dirty="0">
                <a:solidFill>
                  <a:srgbClr val="009659"/>
                </a:solidFill>
                <a:latin typeface="宋体"/>
                <a:cs typeface="宋体"/>
              </a:rPr>
              <a:t>消</a:t>
            </a:r>
            <a:r>
              <a:rPr sz="4125" b="1" spc="120" baseline="1010" dirty="0">
                <a:solidFill>
                  <a:srgbClr val="009659"/>
                </a:solidFill>
                <a:latin typeface="宋体"/>
                <a:cs typeface="宋体"/>
              </a:rPr>
              <a:t>息</a:t>
            </a:r>
            <a:r>
              <a:rPr sz="2800" dirty="0">
                <a:latin typeface="宋体"/>
                <a:cs typeface="宋体"/>
              </a:rPr>
              <a:t>必须直接发给指定的对象，消息中包括请 求执行操作的必要信息；</a:t>
            </a:r>
            <a:endParaRPr sz="2800">
              <a:latin typeface="宋体"/>
              <a:cs typeface="宋体"/>
            </a:endParaRPr>
          </a:p>
          <a:p>
            <a:pPr marL="755650" marR="309880" lvl="1" indent="-285750">
              <a:lnSpc>
                <a:spcPts val="2690"/>
              </a:lnSpc>
              <a:spcBef>
                <a:spcPts val="935"/>
              </a:spcBef>
              <a:buFont typeface="Wingdings"/>
              <a:buChar char="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一个对象是消息的接收执行者，也可以是消息的请 求发送者。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9798" y="224027"/>
            <a:ext cx="4495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封装和消息的概念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9927" y="1561084"/>
            <a:ext cx="7480300" cy="381762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55600" marR="5080" indent="-342900">
              <a:lnSpc>
                <a:spcPts val="2810"/>
              </a:lnSpc>
              <a:spcBef>
                <a:spcPts val="650"/>
              </a:spcBef>
              <a:buClr>
                <a:srgbClr val="00663C"/>
              </a:buClr>
              <a:buFont typeface="Wingdings"/>
              <a:buChar char=""/>
              <a:tabLst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类可以有子类，子类继承父类的全部属性和操 作，并允许添加自己的属性和操作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229"/>
              </a:spcBef>
              <a:buClr>
                <a:srgbClr val="C00000"/>
              </a:buClr>
              <a:buFont typeface="Wingdings"/>
              <a:buChar char="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继承是泛化和特殊的关系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310"/>
              </a:spcBef>
              <a:buClr>
                <a:srgbClr val="C00000"/>
              </a:buClr>
              <a:buSzPct val="102127"/>
              <a:buFont typeface="Wingdings"/>
              <a:buChar char=""/>
              <a:tabLst>
                <a:tab pos="755650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父</a:t>
            </a:r>
            <a:r>
              <a:rPr sz="3525" b="1" spc="135" baseline="1182" dirty="0">
                <a:latin typeface="宋体"/>
                <a:cs typeface="宋体"/>
              </a:rPr>
              <a:t>类</a:t>
            </a:r>
            <a:r>
              <a:rPr sz="2400" dirty="0">
                <a:latin typeface="宋体"/>
                <a:cs typeface="宋体"/>
              </a:rPr>
              <a:t>具有某事物的一般共性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Clr>
                <a:srgbClr val="C00000"/>
              </a:buClr>
              <a:buSzPct val="102127"/>
              <a:buFont typeface="Wingdings"/>
              <a:buChar char=""/>
              <a:tabLst>
                <a:tab pos="755650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子</a:t>
            </a:r>
            <a:r>
              <a:rPr sz="3525" b="1" spc="135" baseline="1182" dirty="0">
                <a:latin typeface="宋体"/>
                <a:cs typeface="宋体"/>
              </a:rPr>
              <a:t>类</a:t>
            </a:r>
            <a:r>
              <a:rPr sz="2400" dirty="0">
                <a:latin typeface="宋体"/>
                <a:cs typeface="宋体"/>
              </a:rPr>
              <a:t>描述的事物在父类的基础上并比父类更特殊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Font typeface="Wingdings"/>
              <a:buChar char=""/>
            </a:pPr>
            <a:endParaRPr sz="265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Font typeface="Wingdings"/>
              <a:buChar char=""/>
              <a:tabLst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继承可以有多重性，允许</a:t>
            </a:r>
            <a:r>
              <a:rPr sz="2800" dirty="0">
                <a:solidFill>
                  <a:srgbClr val="C00000"/>
                </a:solidFill>
                <a:latin typeface="宋体"/>
                <a:cs typeface="宋体"/>
              </a:rPr>
              <a:t>多于一个父类；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Clr>
                <a:srgbClr val="00663C"/>
              </a:buClr>
              <a:buFont typeface="Wingdings"/>
              <a:buChar char=""/>
              <a:tabLst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继承允许多层，各层之间具有传递性；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Clr>
                <a:srgbClr val="00663C"/>
              </a:buClr>
              <a:buFont typeface="Wingdings"/>
              <a:buChar char=""/>
              <a:tabLst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继承的重要作用在于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源代码的复用</a:t>
            </a:r>
            <a:r>
              <a:rPr sz="2800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7998" y="80771"/>
            <a:ext cx="2819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继承的概念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84575" y="1326683"/>
            <a:ext cx="1675130" cy="2024380"/>
          </a:xfrm>
          <a:custGeom>
            <a:avLst/>
            <a:gdLst/>
            <a:ahLst/>
            <a:cxnLst/>
            <a:rect l="l" t="t" r="r" b="b"/>
            <a:pathLst>
              <a:path w="1675129" h="2024379">
                <a:moveTo>
                  <a:pt x="0" y="0"/>
                </a:moveTo>
                <a:lnTo>
                  <a:pt x="1674812" y="0"/>
                </a:lnTo>
                <a:lnTo>
                  <a:pt x="1674812" y="2024062"/>
                </a:lnTo>
                <a:lnTo>
                  <a:pt x="0" y="2024062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584575" y="1326683"/>
            <a:ext cx="1675130" cy="5772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2800" dirty="0">
                <a:latin typeface="宋体"/>
                <a:cs typeface="宋体"/>
              </a:rPr>
              <a:t>学生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4575" y="1903740"/>
            <a:ext cx="1675130" cy="14471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90805" marR="864235">
              <a:lnSpc>
                <a:spcPct val="101400"/>
              </a:lnSpc>
              <a:spcBef>
                <a:spcPts val="665"/>
              </a:spcBef>
            </a:pPr>
            <a:r>
              <a:rPr sz="2800" dirty="0">
                <a:latin typeface="宋体"/>
                <a:cs typeface="宋体"/>
              </a:rPr>
              <a:t>姓名 年龄</a:t>
            </a:r>
            <a:endParaRPr sz="2800">
              <a:latin typeface="宋体"/>
              <a:cs typeface="宋体"/>
            </a:endParaRPr>
          </a:p>
          <a:p>
            <a:pPr marL="90805">
              <a:lnSpc>
                <a:spcPts val="3290"/>
              </a:lnSpc>
            </a:pPr>
            <a:r>
              <a:rPr sz="2800" spc="5" dirty="0">
                <a:latin typeface="Corbel"/>
                <a:cs typeface="Corbel"/>
              </a:rPr>
              <a:t>……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35200" y="3839696"/>
            <a:ext cx="2094230" cy="2024380"/>
          </a:xfrm>
          <a:custGeom>
            <a:avLst/>
            <a:gdLst/>
            <a:ahLst/>
            <a:cxnLst/>
            <a:rect l="l" t="t" r="r" b="b"/>
            <a:pathLst>
              <a:path w="2094229" h="2024379">
                <a:moveTo>
                  <a:pt x="0" y="0"/>
                </a:moveTo>
                <a:lnTo>
                  <a:pt x="2093912" y="0"/>
                </a:lnTo>
                <a:lnTo>
                  <a:pt x="2093912" y="2024063"/>
                </a:lnTo>
                <a:lnTo>
                  <a:pt x="0" y="2024063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35200" y="3839696"/>
            <a:ext cx="2094230" cy="5854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sz="2800" dirty="0">
                <a:latin typeface="宋体"/>
                <a:cs typeface="宋体"/>
              </a:rPr>
              <a:t>研究生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5200" y="4424690"/>
            <a:ext cx="2094230" cy="143954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latin typeface="宋体"/>
                <a:cs typeface="宋体"/>
              </a:rPr>
              <a:t>导师</a:t>
            </a:r>
            <a:endParaRPr sz="2800">
              <a:latin typeface="宋体"/>
              <a:cs typeface="宋体"/>
            </a:endParaRPr>
          </a:p>
          <a:p>
            <a:pPr marL="90805">
              <a:lnSpc>
                <a:spcPts val="3335"/>
              </a:lnSpc>
              <a:spcBef>
                <a:spcPts val="25"/>
              </a:spcBef>
            </a:pPr>
            <a:r>
              <a:rPr sz="2800" dirty="0">
                <a:latin typeface="宋体"/>
                <a:cs typeface="宋体"/>
              </a:rPr>
              <a:t>研究方向</a:t>
            </a:r>
            <a:endParaRPr sz="2800">
              <a:latin typeface="宋体"/>
              <a:cs typeface="宋体"/>
            </a:endParaRPr>
          </a:p>
          <a:p>
            <a:pPr marL="90805">
              <a:lnSpc>
                <a:spcPts val="3335"/>
              </a:lnSpc>
            </a:pPr>
            <a:r>
              <a:rPr sz="2800" spc="5" dirty="0">
                <a:latin typeface="Corbel"/>
                <a:cs typeface="Corbel"/>
              </a:rPr>
              <a:t>……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99025" y="3847633"/>
            <a:ext cx="1675130" cy="2024380"/>
          </a:xfrm>
          <a:custGeom>
            <a:avLst/>
            <a:gdLst/>
            <a:ahLst/>
            <a:cxnLst/>
            <a:rect l="l" t="t" r="r" b="b"/>
            <a:pathLst>
              <a:path w="1675129" h="2024379">
                <a:moveTo>
                  <a:pt x="0" y="0"/>
                </a:moveTo>
                <a:lnTo>
                  <a:pt x="1674812" y="0"/>
                </a:lnTo>
                <a:lnTo>
                  <a:pt x="1674812" y="2024062"/>
                </a:lnTo>
                <a:lnTo>
                  <a:pt x="0" y="2024062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99025" y="3847633"/>
            <a:ext cx="1675130" cy="5772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2800" dirty="0">
                <a:latin typeface="宋体"/>
                <a:cs typeface="宋体"/>
              </a:rPr>
              <a:t>本科生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99025" y="4424690"/>
            <a:ext cx="1675130" cy="14471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90805" marR="864235">
              <a:lnSpc>
                <a:spcPct val="101400"/>
              </a:lnSpc>
              <a:spcBef>
                <a:spcPts val="665"/>
              </a:spcBef>
            </a:pPr>
            <a:r>
              <a:rPr sz="2800" dirty="0">
                <a:latin typeface="宋体"/>
                <a:cs typeface="宋体"/>
              </a:rPr>
              <a:t>班级 专业</a:t>
            </a:r>
            <a:endParaRPr sz="2800">
              <a:latin typeface="宋体"/>
              <a:cs typeface="宋体"/>
            </a:endParaRPr>
          </a:p>
          <a:p>
            <a:pPr marL="90805">
              <a:lnSpc>
                <a:spcPts val="3290"/>
              </a:lnSpc>
            </a:pPr>
            <a:r>
              <a:rPr sz="2800" spc="5" dirty="0">
                <a:latin typeface="Corbel"/>
                <a:cs typeface="Corbel"/>
              </a:rPr>
              <a:t>……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78300" y="3342808"/>
            <a:ext cx="288925" cy="144780"/>
          </a:xfrm>
          <a:custGeom>
            <a:avLst/>
            <a:gdLst/>
            <a:ahLst/>
            <a:cxnLst/>
            <a:rect l="l" t="t" r="r" b="b"/>
            <a:pathLst>
              <a:path w="288925" h="144779">
                <a:moveTo>
                  <a:pt x="0" y="144462"/>
                </a:moveTo>
                <a:lnTo>
                  <a:pt x="144462" y="0"/>
                </a:lnTo>
                <a:lnTo>
                  <a:pt x="288925" y="144462"/>
                </a:lnTo>
                <a:lnTo>
                  <a:pt x="0" y="14446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21175" y="3487271"/>
            <a:ext cx="3175" cy="152400"/>
          </a:xfrm>
          <a:custGeom>
            <a:avLst/>
            <a:gdLst/>
            <a:ahLst/>
            <a:cxnLst/>
            <a:rect l="l" t="t" r="r" b="b"/>
            <a:pathLst>
              <a:path w="3175" h="152400">
                <a:moveTo>
                  <a:pt x="0" y="0"/>
                </a:moveTo>
                <a:lnTo>
                  <a:pt x="3175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71825" y="3631733"/>
            <a:ext cx="2513330" cy="1905"/>
          </a:xfrm>
          <a:custGeom>
            <a:avLst/>
            <a:gdLst/>
            <a:ahLst/>
            <a:cxnLst/>
            <a:rect l="l" t="t" r="r" b="b"/>
            <a:pathLst>
              <a:path w="2513329" h="1904">
                <a:moveTo>
                  <a:pt x="0" y="0"/>
                </a:moveTo>
                <a:lnTo>
                  <a:pt x="2513012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78175" y="3647608"/>
            <a:ext cx="3175" cy="152400"/>
          </a:xfrm>
          <a:custGeom>
            <a:avLst/>
            <a:gdLst/>
            <a:ahLst/>
            <a:cxnLst/>
            <a:rect l="l" t="t" r="r" b="b"/>
            <a:pathLst>
              <a:path w="3175" h="152400">
                <a:moveTo>
                  <a:pt x="0" y="0"/>
                </a:moveTo>
                <a:lnTo>
                  <a:pt x="3175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91187" y="3631733"/>
            <a:ext cx="3175" cy="152400"/>
          </a:xfrm>
          <a:custGeom>
            <a:avLst/>
            <a:gdLst/>
            <a:ahLst/>
            <a:cxnLst/>
            <a:rect l="l" t="t" r="r" b="b"/>
            <a:pathLst>
              <a:path w="3175" h="152400">
                <a:moveTo>
                  <a:pt x="0" y="0"/>
                </a:moveTo>
                <a:lnTo>
                  <a:pt x="3175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327398" y="141732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继承示例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9837" y="1703945"/>
            <a:ext cx="1800225" cy="4368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270"/>
              </a:lnSpc>
            </a:pPr>
            <a:r>
              <a:rPr sz="2800" dirty="0">
                <a:latin typeface="宋体"/>
                <a:cs typeface="宋体"/>
              </a:rPr>
              <a:t>运输工具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2637" y="3427970"/>
            <a:ext cx="1008380" cy="4368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254"/>
              </a:lnSpc>
            </a:pPr>
            <a:r>
              <a:rPr sz="2800" dirty="0">
                <a:latin typeface="宋体"/>
                <a:cs typeface="宋体"/>
              </a:rPr>
              <a:t>轮船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0200" y="3499406"/>
            <a:ext cx="1008380" cy="4368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270"/>
              </a:lnSpc>
            </a:pPr>
            <a:r>
              <a:rPr sz="2800" dirty="0">
                <a:latin typeface="宋体"/>
                <a:cs typeface="宋体"/>
              </a:rPr>
              <a:t>车辆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0787" y="3499406"/>
            <a:ext cx="1008380" cy="4368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270"/>
              </a:lnSpc>
            </a:pPr>
            <a:r>
              <a:rPr sz="2800" dirty="0">
                <a:latin typeface="宋体"/>
                <a:cs typeface="宋体"/>
              </a:rPr>
              <a:t>飞机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8900" y="5088495"/>
            <a:ext cx="1079500" cy="4368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260"/>
              </a:lnSpc>
            </a:pPr>
            <a:r>
              <a:rPr sz="2800" dirty="0">
                <a:latin typeface="宋体"/>
                <a:cs typeface="宋体"/>
              </a:rPr>
              <a:t>卡车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8262" y="5156756"/>
            <a:ext cx="1008380" cy="4368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250"/>
              </a:lnSpc>
            </a:pPr>
            <a:r>
              <a:rPr sz="2800" dirty="0">
                <a:latin typeface="宋体"/>
                <a:cs typeface="宋体"/>
              </a:rPr>
              <a:t>轿车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27537" y="2208770"/>
            <a:ext cx="300355" cy="419100"/>
          </a:xfrm>
          <a:custGeom>
            <a:avLst/>
            <a:gdLst/>
            <a:ahLst/>
            <a:cxnLst/>
            <a:rect l="l" t="t" r="r" b="b"/>
            <a:pathLst>
              <a:path w="300354" h="419100">
                <a:moveTo>
                  <a:pt x="0" y="419100"/>
                </a:moveTo>
                <a:lnTo>
                  <a:pt x="150018" y="0"/>
                </a:lnTo>
                <a:lnTo>
                  <a:pt x="300037" y="419100"/>
                </a:lnTo>
                <a:lnTo>
                  <a:pt x="0" y="419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72000" y="2640570"/>
            <a:ext cx="3175" cy="836930"/>
          </a:xfrm>
          <a:custGeom>
            <a:avLst/>
            <a:gdLst/>
            <a:ahLst/>
            <a:cxnLst/>
            <a:rect l="l" t="t" r="r" b="b"/>
            <a:pathLst>
              <a:path w="3175" h="836929">
                <a:moveTo>
                  <a:pt x="0" y="0"/>
                </a:moveTo>
                <a:lnTo>
                  <a:pt x="3175" y="83661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11412" y="3072369"/>
            <a:ext cx="4392930" cy="0"/>
          </a:xfrm>
          <a:custGeom>
            <a:avLst/>
            <a:gdLst/>
            <a:ahLst/>
            <a:cxnLst/>
            <a:rect l="l" t="t" r="r" b="b"/>
            <a:pathLst>
              <a:path w="4392930">
                <a:moveTo>
                  <a:pt x="0" y="1"/>
                </a:moveTo>
                <a:lnTo>
                  <a:pt x="43926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11412" y="307237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1" y="36036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04025" y="3072370"/>
            <a:ext cx="3175" cy="419100"/>
          </a:xfrm>
          <a:custGeom>
            <a:avLst/>
            <a:gdLst/>
            <a:ahLst/>
            <a:cxnLst/>
            <a:rect l="l" t="t" r="r" b="b"/>
            <a:pathLst>
              <a:path w="3175" h="419100">
                <a:moveTo>
                  <a:pt x="0" y="0"/>
                </a:moveTo>
                <a:lnTo>
                  <a:pt x="3175" y="4191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56100" y="3931207"/>
            <a:ext cx="300355" cy="419100"/>
          </a:xfrm>
          <a:custGeom>
            <a:avLst/>
            <a:gdLst/>
            <a:ahLst/>
            <a:cxnLst/>
            <a:rect l="l" t="t" r="r" b="b"/>
            <a:pathLst>
              <a:path w="300354" h="419100">
                <a:moveTo>
                  <a:pt x="0" y="419100"/>
                </a:moveTo>
                <a:lnTo>
                  <a:pt x="150019" y="0"/>
                </a:lnTo>
                <a:lnTo>
                  <a:pt x="300038" y="419100"/>
                </a:lnTo>
                <a:lnTo>
                  <a:pt x="0" y="419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95961" y="4656695"/>
            <a:ext cx="0" cy="503555"/>
          </a:xfrm>
          <a:custGeom>
            <a:avLst/>
            <a:gdLst/>
            <a:ahLst/>
            <a:cxnLst/>
            <a:rect l="l" t="t" r="r" b="b"/>
            <a:pathLst>
              <a:path h="503554">
                <a:moveTo>
                  <a:pt x="1" y="0"/>
                </a:moveTo>
                <a:lnTo>
                  <a:pt x="0" y="50323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32137" y="4651931"/>
            <a:ext cx="2694305" cy="5080"/>
          </a:xfrm>
          <a:custGeom>
            <a:avLst/>
            <a:gdLst/>
            <a:ahLst/>
            <a:cxnLst/>
            <a:rect l="l" t="t" r="r" b="b"/>
            <a:pathLst>
              <a:path w="2694304" h="5079">
                <a:moveTo>
                  <a:pt x="0" y="0"/>
                </a:moveTo>
                <a:lnTo>
                  <a:pt x="2693987" y="476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32137" y="4651931"/>
            <a:ext cx="3175" cy="419100"/>
          </a:xfrm>
          <a:custGeom>
            <a:avLst/>
            <a:gdLst/>
            <a:ahLst/>
            <a:cxnLst/>
            <a:rect l="l" t="t" r="r" b="b"/>
            <a:pathLst>
              <a:path w="3175" h="419100">
                <a:moveTo>
                  <a:pt x="0" y="0"/>
                </a:moveTo>
                <a:lnTo>
                  <a:pt x="3175" y="4191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00562" y="4364595"/>
            <a:ext cx="0" cy="292100"/>
          </a:xfrm>
          <a:custGeom>
            <a:avLst/>
            <a:gdLst/>
            <a:ahLst/>
            <a:cxnLst/>
            <a:rect l="l" t="t" r="r" b="b"/>
            <a:pathLst>
              <a:path h="292100">
                <a:moveTo>
                  <a:pt x="0" y="0"/>
                </a:moveTo>
                <a:lnTo>
                  <a:pt x="1" y="2921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627311" y="193547"/>
            <a:ext cx="36620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多层继承示例</a:t>
            </a:r>
            <a:r>
              <a:rPr dirty="0">
                <a:latin typeface="Calibri"/>
                <a:cs typeface="Calibri"/>
              </a:rPr>
              <a:t>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81425" y="804327"/>
            <a:ext cx="1295400" cy="1754505"/>
          </a:xfrm>
          <a:custGeom>
            <a:avLst/>
            <a:gdLst/>
            <a:ahLst/>
            <a:cxnLst/>
            <a:rect l="l" t="t" r="r" b="b"/>
            <a:pathLst>
              <a:path w="1295400" h="1754505">
                <a:moveTo>
                  <a:pt x="0" y="0"/>
                </a:moveTo>
                <a:lnTo>
                  <a:pt x="1295400" y="0"/>
                </a:lnTo>
                <a:lnTo>
                  <a:pt x="1295400" y="1754326"/>
                </a:lnTo>
                <a:lnTo>
                  <a:pt x="0" y="175432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81425" y="804327"/>
            <a:ext cx="1295400" cy="5772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2400" dirty="0">
                <a:latin typeface="宋体"/>
                <a:cs typeface="宋体"/>
              </a:rPr>
              <a:t>人员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81425" y="1381384"/>
            <a:ext cx="1295400" cy="11772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 marR="587375">
              <a:lnSpc>
                <a:spcPts val="2810"/>
              </a:lnSpc>
              <a:spcBef>
                <a:spcPts val="265"/>
              </a:spcBef>
            </a:pPr>
            <a:r>
              <a:rPr sz="2400" dirty="0">
                <a:latin typeface="宋体"/>
                <a:cs typeface="宋体"/>
              </a:rPr>
              <a:t>姓名 年龄</a:t>
            </a:r>
            <a:endParaRPr sz="2400">
              <a:latin typeface="宋体"/>
              <a:cs typeface="宋体"/>
            </a:endParaRPr>
          </a:p>
          <a:p>
            <a:pPr marL="90805">
              <a:lnSpc>
                <a:spcPts val="2820"/>
              </a:lnSpc>
            </a:pPr>
            <a:r>
              <a:rPr sz="2400" dirty="0"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9700" y="3090609"/>
            <a:ext cx="1657350" cy="1754505"/>
          </a:xfrm>
          <a:custGeom>
            <a:avLst/>
            <a:gdLst/>
            <a:ahLst/>
            <a:cxnLst/>
            <a:rect l="l" t="t" r="r" b="b"/>
            <a:pathLst>
              <a:path w="1657350" h="1754504">
                <a:moveTo>
                  <a:pt x="0" y="0"/>
                </a:moveTo>
                <a:lnTo>
                  <a:pt x="1657350" y="0"/>
                </a:lnTo>
                <a:lnTo>
                  <a:pt x="1657350" y="1754326"/>
                </a:lnTo>
                <a:lnTo>
                  <a:pt x="0" y="175432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19700" y="3090609"/>
            <a:ext cx="1657350" cy="5772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2400" dirty="0">
                <a:latin typeface="宋体"/>
                <a:cs typeface="宋体"/>
              </a:rPr>
              <a:t>研究生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19700" y="3667667"/>
            <a:ext cx="1657350" cy="11772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90805">
              <a:lnSpc>
                <a:spcPts val="2845"/>
              </a:lnSpc>
              <a:spcBef>
                <a:spcPts val="110"/>
              </a:spcBef>
            </a:pPr>
            <a:r>
              <a:rPr sz="2400" dirty="0">
                <a:latin typeface="宋体"/>
                <a:cs typeface="宋体"/>
              </a:rPr>
              <a:t>导师</a:t>
            </a:r>
            <a:endParaRPr sz="2400">
              <a:latin typeface="宋体"/>
              <a:cs typeface="宋体"/>
            </a:endParaRPr>
          </a:p>
          <a:p>
            <a:pPr marL="90805">
              <a:lnSpc>
                <a:spcPts val="2845"/>
              </a:lnSpc>
            </a:pPr>
            <a:r>
              <a:rPr sz="2400" dirty="0">
                <a:latin typeface="宋体"/>
                <a:cs typeface="宋体"/>
              </a:rPr>
              <a:t>研究方向</a:t>
            </a:r>
            <a:endParaRPr sz="240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11412" y="3019172"/>
            <a:ext cx="1297305" cy="1754505"/>
          </a:xfrm>
          <a:custGeom>
            <a:avLst/>
            <a:gdLst/>
            <a:ahLst/>
            <a:cxnLst/>
            <a:rect l="l" t="t" r="r" b="b"/>
            <a:pathLst>
              <a:path w="1297304" h="1754504">
                <a:moveTo>
                  <a:pt x="0" y="0"/>
                </a:moveTo>
                <a:lnTo>
                  <a:pt x="1296987" y="0"/>
                </a:lnTo>
                <a:lnTo>
                  <a:pt x="1296987" y="1754326"/>
                </a:lnTo>
                <a:lnTo>
                  <a:pt x="0" y="175432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11412" y="3019172"/>
            <a:ext cx="1297305" cy="5765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0"/>
              </a:spcBef>
            </a:pPr>
            <a:r>
              <a:rPr sz="2400" dirty="0">
                <a:latin typeface="宋体"/>
                <a:cs typeface="宋体"/>
              </a:rPr>
              <a:t>职工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1412" y="3595435"/>
            <a:ext cx="1297305" cy="11785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805" marR="588010">
              <a:lnSpc>
                <a:spcPts val="2780"/>
              </a:lnSpc>
              <a:spcBef>
                <a:spcPts val="305"/>
              </a:spcBef>
            </a:pPr>
            <a:r>
              <a:rPr sz="2400" dirty="0">
                <a:latin typeface="宋体"/>
                <a:cs typeface="宋体"/>
              </a:rPr>
              <a:t>部门 职务</a:t>
            </a:r>
            <a:endParaRPr sz="2400">
              <a:latin typeface="宋体"/>
              <a:cs typeface="宋体"/>
            </a:endParaRPr>
          </a:p>
          <a:p>
            <a:pPr marL="90805">
              <a:lnSpc>
                <a:spcPts val="2830"/>
              </a:lnSpc>
            </a:pPr>
            <a:r>
              <a:rPr sz="2400" dirty="0"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84662" y="2587373"/>
            <a:ext cx="319405" cy="152400"/>
          </a:xfrm>
          <a:custGeom>
            <a:avLst/>
            <a:gdLst/>
            <a:ahLst/>
            <a:cxnLst/>
            <a:rect l="l" t="t" r="r" b="b"/>
            <a:pathLst>
              <a:path w="319404" h="152400">
                <a:moveTo>
                  <a:pt x="0" y="152400"/>
                </a:moveTo>
                <a:lnTo>
                  <a:pt x="159543" y="0"/>
                </a:lnTo>
                <a:lnTo>
                  <a:pt x="319087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27537" y="2731834"/>
            <a:ext cx="0" cy="142875"/>
          </a:xfrm>
          <a:custGeom>
            <a:avLst/>
            <a:gdLst/>
            <a:ahLst/>
            <a:cxnLst/>
            <a:rect l="l" t="t" r="r" b="b"/>
            <a:pathLst>
              <a:path h="142875">
                <a:moveTo>
                  <a:pt x="0" y="0"/>
                </a:moveTo>
                <a:lnTo>
                  <a:pt x="1" y="1428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76600" y="2874709"/>
            <a:ext cx="2870200" cy="1905"/>
          </a:xfrm>
          <a:custGeom>
            <a:avLst/>
            <a:gdLst/>
            <a:ahLst/>
            <a:cxnLst/>
            <a:rect l="l" t="t" r="r" b="b"/>
            <a:pathLst>
              <a:path w="2870200" h="1905">
                <a:moveTo>
                  <a:pt x="0" y="0"/>
                </a:moveTo>
                <a:lnTo>
                  <a:pt x="2870200" y="158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73425" y="2874709"/>
            <a:ext cx="3175" cy="152400"/>
          </a:xfrm>
          <a:custGeom>
            <a:avLst/>
            <a:gdLst/>
            <a:ahLst/>
            <a:cxnLst/>
            <a:rect l="l" t="t" r="r" b="b"/>
            <a:pathLst>
              <a:path w="3175" h="152400">
                <a:moveTo>
                  <a:pt x="0" y="0"/>
                </a:moveTo>
                <a:lnTo>
                  <a:pt x="3175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53150" y="2874709"/>
            <a:ext cx="3175" cy="152400"/>
          </a:xfrm>
          <a:custGeom>
            <a:avLst/>
            <a:gdLst/>
            <a:ahLst/>
            <a:cxnLst/>
            <a:rect l="l" t="t" r="r" b="b"/>
            <a:pathLst>
              <a:path w="3175" h="152400">
                <a:moveTo>
                  <a:pt x="0" y="0"/>
                </a:moveTo>
                <a:lnTo>
                  <a:pt x="3175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40425" y="4893173"/>
            <a:ext cx="220979" cy="152400"/>
          </a:xfrm>
          <a:custGeom>
            <a:avLst/>
            <a:gdLst/>
            <a:ahLst/>
            <a:cxnLst/>
            <a:rect l="l" t="t" r="r" b="b"/>
            <a:pathLst>
              <a:path w="220979" h="152400">
                <a:moveTo>
                  <a:pt x="0" y="152400"/>
                </a:moveTo>
                <a:lnTo>
                  <a:pt x="110331" y="0"/>
                </a:lnTo>
                <a:lnTo>
                  <a:pt x="220663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72000" y="5251948"/>
            <a:ext cx="3175" cy="227329"/>
          </a:xfrm>
          <a:custGeom>
            <a:avLst/>
            <a:gdLst/>
            <a:ahLst/>
            <a:cxnLst/>
            <a:rect l="l" t="t" r="r" b="b"/>
            <a:pathLst>
              <a:path w="3175" h="227329">
                <a:moveTo>
                  <a:pt x="0" y="0"/>
                </a:moveTo>
                <a:lnTo>
                  <a:pt x="3175" y="22701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87675" y="4820148"/>
            <a:ext cx="319405" cy="152400"/>
          </a:xfrm>
          <a:custGeom>
            <a:avLst/>
            <a:gdLst/>
            <a:ahLst/>
            <a:cxnLst/>
            <a:rect l="l" t="t" r="r" b="b"/>
            <a:pathLst>
              <a:path w="319404" h="152400">
                <a:moveTo>
                  <a:pt x="0" y="152400"/>
                </a:moveTo>
                <a:lnTo>
                  <a:pt x="159544" y="0"/>
                </a:lnTo>
                <a:lnTo>
                  <a:pt x="319088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084887" y="5036048"/>
            <a:ext cx="3175" cy="227329"/>
          </a:xfrm>
          <a:custGeom>
            <a:avLst/>
            <a:gdLst/>
            <a:ahLst/>
            <a:cxnLst/>
            <a:rect l="l" t="t" r="r" b="b"/>
            <a:pathLst>
              <a:path w="3175" h="227329">
                <a:moveTo>
                  <a:pt x="0" y="0"/>
                </a:moveTo>
                <a:lnTo>
                  <a:pt x="3175" y="22701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90912" y="6044109"/>
            <a:ext cx="2087880" cy="0"/>
          </a:xfrm>
          <a:custGeom>
            <a:avLst/>
            <a:gdLst/>
            <a:ahLst/>
            <a:cxnLst/>
            <a:rect l="l" t="t" r="r" b="b"/>
            <a:pathLst>
              <a:path w="2087879">
                <a:moveTo>
                  <a:pt x="0" y="0"/>
                </a:moveTo>
                <a:lnTo>
                  <a:pt x="2087562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32137" y="4964610"/>
            <a:ext cx="3175" cy="266700"/>
          </a:xfrm>
          <a:custGeom>
            <a:avLst/>
            <a:gdLst/>
            <a:ahLst/>
            <a:cxnLst/>
            <a:rect l="l" t="t" r="r" b="b"/>
            <a:pathLst>
              <a:path w="3175" h="266700">
                <a:moveTo>
                  <a:pt x="0" y="0"/>
                </a:moveTo>
                <a:lnTo>
                  <a:pt x="3175" y="2667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490912" y="5467848"/>
            <a:ext cx="2160905" cy="831215"/>
          </a:xfrm>
          <a:custGeom>
            <a:avLst/>
            <a:gdLst/>
            <a:ahLst/>
            <a:cxnLst/>
            <a:rect l="l" t="t" r="r" b="b"/>
            <a:pathLst>
              <a:path w="2160904" h="831214">
                <a:moveTo>
                  <a:pt x="0" y="0"/>
                </a:moveTo>
                <a:lnTo>
                  <a:pt x="2160587" y="0"/>
                </a:lnTo>
                <a:lnTo>
                  <a:pt x="2160587" y="830997"/>
                </a:lnTo>
                <a:lnTo>
                  <a:pt x="0" y="830997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569652" y="5488940"/>
            <a:ext cx="1549400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在职研究生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32137" y="5251948"/>
            <a:ext cx="2952750" cy="0"/>
          </a:xfrm>
          <a:custGeom>
            <a:avLst/>
            <a:gdLst/>
            <a:ahLst/>
            <a:cxnLst/>
            <a:rect l="l" t="t" r="r" b="b"/>
            <a:pathLst>
              <a:path w="2952750">
                <a:moveTo>
                  <a:pt x="0" y="0"/>
                </a:moveTo>
                <a:lnTo>
                  <a:pt x="2952750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627311" y="44195"/>
            <a:ext cx="36620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多层继承示例</a:t>
            </a:r>
            <a:r>
              <a:rPr dirty="0">
                <a:latin typeface="Calibri"/>
                <a:cs typeface="Calibri"/>
              </a:rPr>
              <a:t>2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1100" y="473963"/>
            <a:ext cx="1701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多态性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7444"/>
            <a:ext cx="7683500" cy="31165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5600" marR="5080" indent="-342900" algn="just">
              <a:lnSpc>
                <a:spcPct val="96300"/>
              </a:lnSpc>
              <a:spcBef>
                <a:spcPts val="24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在继承类结构中允许定义</a:t>
            </a:r>
            <a:r>
              <a:rPr sz="3200" dirty="0">
                <a:solidFill>
                  <a:srgbClr val="009659"/>
                </a:solidFill>
                <a:latin typeface="宋体"/>
                <a:cs typeface="宋体"/>
              </a:rPr>
              <a:t>同名操作</a:t>
            </a:r>
            <a:r>
              <a:rPr sz="3200" dirty="0">
                <a:latin typeface="宋体"/>
                <a:cs typeface="宋体"/>
              </a:rPr>
              <a:t>，同一 个消息的响应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可以执行不同的行为</a:t>
            </a:r>
            <a:r>
              <a:rPr sz="3200" dirty="0">
                <a:latin typeface="宋体"/>
                <a:cs typeface="宋体"/>
              </a:rPr>
              <a:t>，即同 一操作的</a:t>
            </a:r>
            <a:r>
              <a:rPr sz="3100" b="1" spc="145" dirty="0">
                <a:solidFill>
                  <a:srgbClr val="C00000"/>
                </a:solidFill>
                <a:latin typeface="宋体"/>
                <a:cs typeface="宋体"/>
              </a:rPr>
              <a:t>多种形态</a:t>
            </a:r>
            <a:endParaRPr sz="31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663C"/>
              </a:buClr>
              <a:buFont typeface="Wingdings"/>
              <a:buChar char=""/>
            </a:pPr>
            <a:endParaRPr sz="4650">
              <a:latin typeface="宋体"/>
              <a:cs typeface="宋体"/>
            </a:endParaRPr>
          </a:p>
          <a:p>
            <a:pPr marL="355600" marR="5080" indent="-342900" algn="just">
              <a:lnSpc>
                <a:spcPts val="3600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多态性更好地体现了操作语义的一致性， 实现接口封装独立性和信息隐蔽的原则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500" y="473963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多态的实现机制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0153"/>
            <a:ext cx="8235950" cy="413575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静态联编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355"/>
              </a:spcBef>
              <a:buClr>
                <a:srgbClr val="C00000"/>
              </a:buClr>
              <a:buSzPct val="60714"/>
              <a:buFont typeface="Wingdings"/>
              <a:buChar char=""/>
              <a:tabLst>
                <a:tab pos="75565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编译时确定</a:t>
            </a:r>
            <a:r>
              <a:rPr sz="2800" dirty="0">
                <a:latin typeface="宋体"/>
                <a:cs typeface="宋体"/>
              </a:rPr>
              <a:t>所访问对象的操作地址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/>
              <a:buChar char=""/>
            </a:pPr>
            <a:endParaRPr sz="315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动态联编（滞后联编</a:t>
            </a:r>
            <a:r>
              <a:rPr sz="3200" spc="-885" dirty="0">
                <a:latin typeface="宋体"/>
                <a:cs typeface="宋体"/>
              </a:rPr>
              <a:t> </a:t>
            </a:r>
            <a:r>
              <a:rPr sz="3200" dirty="0">
                <a:latin typeface="宋体"/>
                <a:cs typeface="宋体"/>
              </a:rPr>
              <a:t>或</a:t>
            </a:r>
            <a:r>
              <a:rPr sz="3200" spc="-880" dirty="0">
                <a:latin typeface="宋体"/>
                <a:cs typeface="宋体"/>
              </a:rPr>
              <a:t> </a:t>
            </a:r>
            <a:r>
              <a:rPr sz="3200" dirty="0">
                <a:latin typeface="宋体"/>
                <a:cs typeface="宋体"/>
              </a:rPr>
              <a:t>动态邦定）</a:t>
            </a:r>
            <a:endParaRPr sz="3200">
              <a:latin typeface="宋体"/>
              <a:cs typeface="宋体"/>
            </a:endParaRPr>
          </a:p>
          <a:p>
            <a:pPr marL="755650" marR="360680" lvl="1" indent="-285750">
              <a:lnSpc>
                <a:spcPts val="2780"/>
              </a:lnSpc>
              <a:spcBef>
                <a:spcPts val="1145"/>
              </a:spcBef>
              <a:buClr>
                <a:srgbClr val="C00000"/>
              </a:buClr>
              <a:buSzPct val="60714"/>
              <a:buFont typeface="Wingdings"/>
              <a:buChar char=""/>
              <a:tabLst>
                <a:tab pos="75565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编译时不确定</a:t>
            </a:r>
            <a:r>
              <a:rPr sz="2800" dirty="0">
                <a:latin typeface="宋体"/>
                <a:cs typeface="宋体"/>
              </a:rPr>
              <a:t>所访问对象的操作地址，在运行 时根据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操作对象的不同</a:t>
            </a:r>
            <a:r>
              <a:rPr sz="2800" dirty="0">
                <a:latin typeface="宋体"/>
                <a:cs typeface="宋体"/>
              </a:rPr>
              <a:t>再确定</a:t>
            </a:r>
            <a:endParaRPr sz="2800">
              <a:latin typeface="宋体"/>
              <a:cs typeface="宋体"/>
            </a:endParaRPr>
          </a:p>
          <a:p>
            <a:pPr marL="755650" marR="5080" lvl="1" indent="-285750">
              <a:lnSpc>
                <a:spcPct val="87900"/>
              </a:lnSpc>
              <a:spcBef>
                <a:spcPts val="965"/>
              </a:spcBef>
              <a:buClr>
                <a:srgbClr val="C00000"/>
              </a:buClr>
              <a:buSzPct val="60714"/>
              <a:buFont typeface="Wingdings"/>
              <a:buChar char="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动态联编使软件应用分布式发展有了重要突破， 成为网络信息化、软件体系结构研究的主要支 撑技术。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11637" y="243169"/>
            <a:ext cx="4321175" cy="5396230"/>
          </a:xfrm>
          <a:custGeom>
            <a:avLst/>
            <a:gdLst/>
            <a:ahLst/>
            <a:cxnLst/>
            <a:rect l="l" t="t" r="r" b="b"/>
            <a:pathLst>
              <a:path w="4321175" h="5396230">
                <a:moveTo>
                  <a:pt x="0" y="0"/>
                </a:moveTo>
                <a:lnTo>
                  <a:pt x="4321175" y="0"/>
                </a:lnTo>
                <a:lnTo>
                  <a:pt x="4321175" y="5395913"/>
                </a:lnTo>
                <a:lnTo>
                  <a:pt x="0" y="5395913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90377" y="266910"/>
            <a:ext cx="127000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b="1" spc="85" dirty="0">
                <a:latin typeface="宋体"/>
                <a:cs typeface="宋体"/>
              </a:rPr>
              <a:t>动态联编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4212" y="1302031"/>
            <a:ext cx="3278504" cy="4300855"/>
          </a:xfrm>
          <a:custGeom>
            <a:avLst/>
            <a:gdLst/>
            <a:ahLst/>
            <a:cxnLst/>
            <a:rect l="l" t="t" r="r" b="b"/>
            <a:pathLst>
              <a:path w="3278504" h="4300855">
                <a:moveTo>
                  <a:pt x="0" y="0"/>
                </a:moveTo>
                <a:lnTo>
                  <a:pt x="3278187" y="0"/>
                </a:lnTo>
                <a:lnTo>
                  <a:pt x="3278187" y="4300537"/>
                </a:lnTo>
                <a:lnTo>
                  <a:pt x="0" y="4300537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2952" y="1324566"/>
            <a:ext cx="158115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b="1" spc="85" dirty="0">
                <a:latin typeface="宋体"/>
                <a:cs typeface="宋体"/>
              </a:rPr>
              <a:t>静态联编：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5562" y="1736821"/>
            <a:ext cx="243204" cy="152400"/>
          </a:xfrm>
          <a:custGeom>
            <a:avLst/>
            <a:gdLst/>
            <a:ahLst/>
            <a:cxnLst/>
            <a:rect l="l" t="t" r="r" b="b"/>
            <a:pathLst>
              <a:path w="243204" h="152400">
                <a:moveTo>
                  <a:pt x="0" y="152400"/>
                </a:moveTo>
                <a:lnTo>
                  <a:pt x="121443" y="0"/>
                </a:lnTo>
                <a:lnTo>
                  <a:pt x="242887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16687" y="189398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1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35600" y="2032096"/>
            <a:ext cx="2179955" cy="1905"/>
          </a:xfrm>
          <a:custGeom>
            <a:avLst/>
            <a:gdLst/>
            <a:ahLst/>
            <a:cxnLst/>
            <a:rect l="l" t="t" r="r" b="b"/>
            <a:pathLst>
              <a:path w="2179954" h="1905">
                <a:moveTo>
                  <a:pt x="0" y="0"/>
                </a:moveTo>
                <a:lnTo>
                  <a:pt x="2179638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35600" y="2038446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1" y="2159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96187" y="2032096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1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778500" y="489046"/>
          <a:ext cx="1452245" cy="1196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2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794"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  <a:r>
                        <a:rPr sz="2350" b="1" spc="45" dirty="0">
                          <a:latin typeface="宋体"/>
                          <a:cs typeface="宋体"/>
                        </a:rPr>
                        <a:t>：</a:t>
                      </a:r>
                      <a:endParaRPr sz="2350">
                        <a:latin typeface="宋体"/>
                        <a:cs typeface="宋体"/>
                      </a:endParaRPr>
                    </a:p>
                    <a:p>
                      <a:pPr marL="90805">
                        <a:lnSpc>
                          <a:spcPts val="2195"/>
                        </a:lnSpc>
                      </a:pPr>
                      <a:r>
                        <a:rPr sz="2350" b="1" spc="85" dirty="0">
                          <a:latin typeface="宋体"/>
                          <a:cs typeface="宋体"/>
                        </a:rPr>
                        <a:t>图形</a:t>
                      </a:r>
                      <a:endParaRPr sz="235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83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350" b="1" spc="85" dirty="0">
                          <a:latin typeface="宋体"/>
                          <a:cs typeface="宋体"/>
                        </a:rPr>
                        <a:t>坐标</a:t>
                      </a:r>
                      <a:endParaRPr sz="2350">
                        <a:latin typeface="宋体"/>
                        <a:cs typeface="宋体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49">
                <a:tc>
                  <a:txBody>
                    <a:bodyPr/>
                    <a:lstStyle/>
                    <a:p>
                      <a:pPr marL="90805">
                        <a:lnSpc>
                          <a:spcPts val="2535"/>
                        </a:lnSpc>
                      </a:pPr>
                      <a:r>
                        <a:rPr sz="2350" b="1" spc="85" dirty="0">
                          <a:solidFill>
                            <a:srgbClr val="FF5050"/>
                          </a:solidFill>
                          <a:latin typeface="宋体"/>
                          <a:cs typeface="宋体"/>
                        </a:rPr>
                        <a:t>移动（）</a:t>
                      </a:r>
                      <a:endParaRPr sz="235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4716462" y="2247996"/>
            <a:ext cx="1452880" cy="1562100"/>
          </a:xfrm>
          <a:custGeom>
            <a:avLst/>
            <a:gdLst/>
            <a:ahLst/>
            <a:cxnLst/>
            <a:rect l="l" t="t" r="r" b="b"/>
            <a:pathLst>
              <a:path w="1452879" h="1562100">
                <a:moveTo>
                  <a:pt x="0" y="0"/>
                </a:moveTo>
                <a:lnTo>
                  <a:pt x="1452562" y="0"/>
                </a:lnTo>
                <a:lnTo>
                  <a:pt x="1452562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16462" y="2226565"/>
            <a:ext cx="1452880" cy="4337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440"/>
              </a:spcBef>
            </a:pPr>
            <a:r>
              <a:rPr sz="2350" b="1" spc="40" dirty="0">
                <a:latin typeface="宋体"/>
                <a:cs typeface="宋体"/>
              </a:rPr>
              <a:t>点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16462" y="2659952"/>
            <a:ext cx="145288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790"/>
              </a:lnSpc>
            </a:pPr>
            <a:r>
              <a:rPr sz="2400" b="1" dirty="0"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16462" y="3040952"/>
            <a:ext cx="1452880" cy="7696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655"/>
              </a:lnSpc>
            </a:pPr>
            <a:r>
              <a:rPr sz="2350" b="1" spc="85" dirty="0">
                <a:solidFill>
                  <a:srgbClr val="FF5050"/>
                </a:solidFill>
                <a:latin typeface="宋体"/>
                <a:cs typeface="宋体"/>
              </a:rPr>
              <a:t>移动（）</a:t>
            </a:r>
            <a:endParaRPr sz="235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  <a:spcBef>
                <a:spcPts val="60"/>
              </a:spcBef>
            </a:pPr>
            <a:r>
              <a:rPr sz="2400" b="1" dirty="0"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77050" y="2205134"/>
            <a:ext cx="1452880" cy="1927225"/>
          </a:xfrm>
          <a:custGeom>
            <a:avLst/>
            <a:gdLst/>
            <a:ahLst/>
            <a:cxnLst/>
            <a:rect l="l" t="t" r="r" b="b"/>
            <a:pathLst>
              <a:path w="1452879" h="1927225">
                <a:moveTo>
                  <a:pt x="0" y="0"/>
                </a:moveTo>
                <a:lnTo>
                  <a:pt x="1452563" y="0"/>
                </a:lnTo>
                <a:lnTo>
                  <a:pt x="1452563" y="1927225"/>
                </a:lnTo>
                <a:lnTo>
                  <a:pt x="0" y="192722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877050" y="2226565"/>
            <a:ext cx="1452880" cy="4337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sz="2350" b="1" spc="85" dirty="0">
                <a:latin typeface="宋体"/>
                <a:cs typeface="宋体"/>
              </a:rPr>
              <a:t>矩形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77050" y="2659952"/>
            <a:ext cx="1452880" cy="6985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2415"/>
              </a:lnSpc>
            </a:pPr>
            <a:r>
              <a:rPr sz="2350" b="1" spc="40" dirty="0">
                <a:latin typeface="宋体"/>
                <a:cs typeface="宋体"/>
              </a:rPr>
              <a:t>长</a:t>
            </a:r>
            <a:endParaRPr sz="235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  <a:spcBef>
                <a:spcPts val="85"/>
              </a:spcBef>
            </a:pPr>
            <a:r>
              <a:rPr sz="2350" b="1" spc="40" dirty="0">
                <a:latin typeface="宋体"/>
                <a:cs typeface="宋体"/>
              </a:rPr>
              <a:t>宽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77050" y="3358453"/>
            <a:ext cx="1452880" cy="7740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2695"/>
              </a:lnSpc>
            </a:pPr>
            <a:r>
              <a:rPr sz="2350" b="1" spc="85" dirty="0">
                <a:solidFill>
                  <a:srgbClr val="FF5050"/>
                </a:solidFill>
                <a:latin typeface="宋体"/>
                <a:cs typeface="宋体"/>
              </a:rPr>
              <a:t>移动（）</a:t>
            </a:r>
            <a:endParaRPr sz="2350">
              <a:latin typeface="宋体"/>
              <a:cs typeface="宋体"/>
            </a:endParaRPr>
          </a:p>
          <a:p>
            <a:pPr marL="91440">
              <a:lnSpc>
                <a:spcPts val="2850"/>
              </a:lnSpc>
            </a:pPr>
            <a:r>
              <a:rPr sz="2400" b="1" dirty="0"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219700" y="3825971"/>
            <a:ext cx="243204" cy="152400"/>
          </a:xfrm>
          <a:custGeom>
            <a:avLst/>
            <a:gdLst/>
            <a:ahLst/>
            <a:cxnLst/>
            <a:rect l="l" t="t" r="r" b="b"/>
            <a:pathLst>
              <a:path w="243204" h="152400">
                <a:moveTo>
                  <a:pt x="0" y="152400"/>
                </a:moveTo>
                <a:lnTo>
                  <a:pt x="121444" y="0"/>
                </a:lnTo>
                <a:lnTo>
                  <a:pt x="242888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4638675" y="3983134"/>
          <a:ext cx="1452880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594"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350" b="1" dirty="0">
                          <a:latin typeface="宋体"/>
                          <a:cs typeface="宋体"/>
                        </a:rPr>
                        <a:t>圆</a:t>
                      </a:r>
                      <a:endParaRPr sz="2350">
                        <a:latin typeface="宋体"/>
                        <a:cs typeface="宋体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5">
                <a:tc gridSpan="2">
                  <a:txBody>
                    <a:bodyPr/>
                    <a:lstStyle/>
                    <a:p>
                      <a:pPr marL="90805">
                        <a:lnSpc>
                          <a:spcPts val="2605"/>
                        </a:lnSpc>
                      </a:pPr>
                      <a:r>
                        <a:rPr sz="2350" b="1" spc="85" dirty="0">
                          <a:latin typeface="宋体"/>
                          <a:cs typeface="宋体"/>
                        </a:rPr>
                        <a:t>半径</a:t>
                      </a:r>
                      <a:endParaRPr sz="235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606">
                <a:tc gridSpan="2">
                  <a:txBody>
                    <a:bodyPr/>
                    <a:lstStyle/>
                    <a:p>
                      <a:pPr marL="90805">
                        <a:lnSpc>
                          <a:spcPts val="2660"/>
                        </a:lnSpc>
                      </a:pPr>
                      <a:r>
                        <a:rPr sz="2350" b="1" spc="85" dirty="0">
                          <a:solidFill>
                            <a:srgbClr val="FF5050"/>
                          </a:solidFill>
                          <a:latin typeface="宋体"/>
                          <a:cs typeface="宋体"/>
                        </a:rPr>
                        <a:t>移动（）</a:t>
                      </a:r>
                      <a:endParaRPr sz="235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474787" y="2028449"/>
          <a:ext cx="1873250" cy="2840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793">
                <a:tc>
                  <a:txBody>
                    <a:bodyPr/>
                    <a:lstStyle/>
                    <a:p>
                      <a:pPr marL="91440">
                        <a:lnSpc>
                          <a:spcPts val="2625"/>
                        </a:lnSpc>
                        <a:spcBef>
                          <a:spcPts val="280"/>
                        </a:spcBef>
                      </a:pPr>
                      <a:r>
                        <a:rPr sz="2350" b="1" spc="85" dirty="0">
                          <a:latin typeface="宋体"/>
                          <a:cs typeface="宋体"/>
                        </a:rPr>
                        <a:t>图形</a:t>
                      </a:r>
                      <a:endParaRPr sz="2350">
                        <a:latin typeface="宋体"/>
                        <a:cs typeface="宋体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marL="91440" marR="218440">
                        <a:lnSpc>
                          <a:spcPct val="103000"/>
                        </a:lnSpc>
                        <a:spcBef>
                          <a:spcPts val="95"/>
                        </a:spcBef>
                      </a:pPr>
                      <a:r>
                        <a:rPr sz="2350" b="1" spc="45" dirty="0">
                          <a:latin typeface="宋体"/>
                          <a:cs typeface="宋体"/>
                        </a:rPr>
                        <a:t>字符型坐标 数字型坐标</a:t>
                      </a:r>
                      <a:endParaRPr sz="2350">
                        <a:latin typeface="宋体"/>
                        <a:cs typeface="宋体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1743">
                <a:tc>
                  <a:txBody>
                    <a:bodyPr/>
                    <a:lstStyle/>
                    <a:p>
                      <a:pPr marL="91440" marR="529590">
                        <a:lnSpc>
                          <a:spcPct val="102099"/>
                        </a:lnSpc>
                        <a:spcBef>
                          <a:spcPts val="725"/>
                        </a:spcBef>
                      </a:pPr>
                      <a:r>
                        <a:rPr sz="2350" b="1" spc="45" dirty="0">
                          <a:solidFill>
                            <a:srgbClr val="FF5050"/>
                          </a:solidFill>
                          <a:latin typeface="宋体"/>
                          <a:cs typeface="宋体"/>
                        </a:rPr>
                        <a:t>移动（） 移动（）</a:t>
                      </a:r>
                      <a:endParaRPr sz="2350">
                        <a:latin typeface="宋体"/>
                        <a:cs typeface="宋体"/>
                      </a:endParaRPr>
                    </a:p>
                    <a:p>
                      <a:pPr marL="91440">
                        <a:lnSpc>
                          <a:spcPts val="2845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920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4284662" y="1030384"/>
            <a:ext cx="1481455" cy="462280"/>
          </a:xfrm>
          <a:custGeom>
            <a:avLst/>
            <a:gdLst/>
            <a:ahLst/>
            <a:cxnLst/>
            <a:rect l="l" t="t" r="r" b="b"/>
            <a:pathLst>
              <a:path w="1481454" h="462280">
                <a:moveTo>
                  <a:pt x="0" y="0"/>
                </a:moveTo>
                <a:lnTo>
                  <a:pt x="713977" y="0"/>
                </a:lnTo>
                <a:lnTo>
                  <a:pt x="1019968" y="0"/>
                </a:lnTo>
                <a:lnTo>
                  <a:pt x="1223962" y="0"/>
                </a:lnTo>
                <a:lnTo>
                  <a:pt x="1223962" y="251884"/>
                </a:lnTo>
                <a:lnTo>
                  <a:pt x="1481165" y="461965"/>
                </a:lnTo>
                <a:lnTo>
                  <a:pt x="1223962" y="359833"/>
                </a:lnTo>
                <a:lnTo>
                  <a:pt x="1223962" y="431800"/>
                </a:lnTo>
                <a:lnTo>
                  <a:pt x="1019968" y="431800"/>
                </a:lnTo>
                <a:lnTo>
                  <a:pt x="713977" y="431800"/>
                </a:lnTo>
                <a:lnTo>
                  <a:pt x="0" y="431800"/>
                </a:lnTo>
                <a:lnTo>
                  <a:pt x="0" y="359833"/>
                </a:lnTo>
                <a:lnTo>
                  <a:pt x="0" y="251884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415726" y="1051052"/>
            <a:ext cx="962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85" dirty="0">
                <a:latin typeface="Times New Roman"/>
                <a:cs typeface="Times New Roman"/>
              </a:rPr>
              <a:t>V</a:t>
            </a:r>
            <a:r>
              <a:rPr sz="2400" b="1" spc="-5" dirty="0">
                <a:latin typeface="Times New Roman"/>
                <a:cs typeface="Times New Roman"/>
              </a:rPr>
              <a:t>ir</a:t>
            </a:r>
            <a:r>
              <a:rPr sz="2400" b="1" dirty="0">
                <a:latin typeface="Times New Roman"/>
                <a:cs typeface="Times New Roman"/>
              </a:rPr>
              <a:t>tual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89927" y="5760211"/>
            <a:ext cx="7378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Font typeface="Wingdings"/>
              <a:buChar char=""/>
              <a:tabLst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可使用统一图形移动接口，采用移动（）的动态联编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930275" y="193547"/>
            <a:ext cx="2819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多态性示例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5013" y="1495769"/>
            <a:ext cx="3968750" cy="398335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00"/>
              </a:spcBef>
              <a:buClr>
                <a:srgbClr val="00663C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高可维护性</a:t>
            </a:r>
            <a:endParaRPr sz="3200">
              <a:latin typeface="宋体"/>
              <a:cs typeface="宋体"/>
            </a:endParaRPr>
          </a:p>
          <a:p>
            <a:pPr marL="836294" lvl="1" indent="-367030">
              <a:lnSpc>
                <a:spcPct val="100000"/>
              </a:lnSpc>
              <a:spcBef>
                <a:spcPts val="355"/>
              </a:spcBef>
              <a:buClr>
                <a:srgbClr val="C00000"/>
              </a:buClr>
              <a:buFont typeface="Wingdings"/>
              <a:buChar char=""/>
              <a:tabLst>
                <a:tab pos="836930" algn="l"/>
              </a:tabLst>
            </a:pPr>
            <a:r>
              <a:rPr sz="2800" dirty="0">
                <a:latin typeface="宋体"/>
                <a:cs typeface="宋体"/>
              </a:rPr>
              <a:t>对象类机制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/>
              <a:buChar char=""/>
            </a:pPr>
            <a:endParaRPr sz="3150">
              <a:latin typeface="宋体"/>
              <a:cs typeface="宋体"/>
            </a:endParaRPr>
          </a:p>
          <a:p>
            <a:pPr marL="456565" marR="1865630" indent="-456565" algn="r">
              <a:lnSpc>
                <a:spcPct val="100000"/>
              </a:lnSpc>
              <a:buClr>
                <a:srgbClr val="00663C"/>
              </a:buClr>
              <a:buFont typeface="Wingdings"/>
              <a:buChar char=""/>
              <a:tabLst>
                <a:tab pos="4565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可复用性</a:t>
            </a:r>
            <a:endParaRPr sz="3200">
              <a:latin typeface="宋体"/>
              <a:cs typeface="宋体"/>
            </a:endParaRPr>
          </a:p>
          <a:p>
            <a:pPr marL="285750" marR="1783080" lvl="1" indent="-285750" algn="r">
              <a:lnSpc>
                <a:spcPct val="100000"/>
              </a:lnSpc>
              <a:spcBef>
                <a:spcPts val="380"/>
              </a:spcBef>
              <a:buClr>
                <a:srgbClr val="C00000"/>
              </a:buClr>
              <a:buFont typeface="Wingdings"/>
              <a:buChar char=""/>
              <a:tabLst>
                <a:tab pos="285750" algn="l"/>
              </a:tabLst>
            </a:pPr>
            <a:r>
              <a:rPr sz="2800" dirty="0">
                <a:latin typeface="宋体"/>
                <a:cs typeface="宋体"/>
              </a:rPr>
              <a:t>继承机制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/>
              <a:buChar char=""/>
            </a:pPr>
            <a:endParaRPr sz="315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buClr>
                <a:srgbClr val="00663C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程序无关性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355"/>
              </a:spcBef>
              <a:buClr>
                <a:srgbClr val="C00000"/>
              </a:buClr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多态性动态绑定机制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6206" y="312419"/>
            <a:ext cx="7289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面向对象方法目标及实现机制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734" y="1217676"/>
            <a:ext cx="7797800" cy="43872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6515" algn="just">
              <a:lnSpc>
                <a:spcPct val="87500"/>
              </a:lnSpc>
              <a:spcBef>
                <a:spcPts val="580"/>
              </a:spcBef>
            </a:pPr>
            <a:r>
              <a:rPr sz="3200" dirty="0">
                <a:latin typeface="宋体"/>
                <a:cs typeface="宋体"/>
              </a:rPr>
              <a:t>寻找可构造的</a:t>
            </a:r>
            <a:r>
              <a:rPr sz="3200" dirty="0">
                <a:solidFill>
                  <a:srgbClr val="009659"/>
                </a:solidFill>
                <a:latin typeface="宋体"/>
                <a:cs typeface="宋体"/>
              </a:rPr>
              <a:t>元素（类）</a:t>
            </a:r>
            <a:r>
              <a:rPr sz="3200" dirty="0">
                <a:latin typeface="宋体"/>
                <a:cs typeface="宋体"/>
              </a:rPr>
              <a:t>作为系统构造的基 础，回避在不稳定基础上建造系统，使系统 成为可构造和高可维护。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250">
              <a:latin typeface="宋体"/>
              <a:cs typeface="宋体"/>
            </a:endParaRPr>
          </a:p>
          <a:p>
            <a:pPr marL="469265" marR="5080" indent="-457200">
              <a:lnSpc>
                <a:spcPts val="3190"/>
              </a:lnSpc>
              <a:buClr>
                <a:srgbClr val="00663C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类是封装了操作的一个“代码级复用”程 序模板，类的对象是系统的可构造元素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63C"/>
              </a:buClr>
              <a:buFont typeface="Wingdings"/>
              <a:buChar char=""/>
            </a:pPr>
            <a:endParaRPr sz="4300">
              <a:latin typeface="宋体"/>
              <a:cs typeface="宋体"/>
            </a:endParaRPr>
          </a:p>
          <a:p>
            <a:pPr marL="469265" marR="5080" indent="-457200">
              <a:lnSpc>
                <a:spcPts val="3190"/>
              </a:lnSpc>
              <a:buClr>
                <a:srgbClr val="00663C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采用消息机制执行对象的操作，回避了功 能调用的过程性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11406" y="178307"/>
            <a:ext cx="2819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高可维护性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434" y="1257299"/>
            <a:ext cx="7391400" cy="491172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3200" dirty="0">
                <a:latin typeface="Calibri"/>
                <a:cs typeface="Calibri"/>
              </a:rPr>
              <a:t>1</a:t>
            </a:r>
            <a:r>
              <a:rPr sz="3200" dirty="0">
                <a:latin typeface="宋体"/>
                <a:cs typeface="宋体"/>
              </a:rPr>
              <a:t>）对象语义一致性</a:t>
            </a:r>
            <a:endParaRPr sz="3200">
              <a:latin typeface="宋体"/>
              <a:cs typeface="宋体"/>
            </a:endParaRPr>
          </a:p>
          <a:p>
            <a:pPr marL="469900" marR="5080" indent="-457200" algn="just">
              <a:lnSpc>
                <a:spcPct val="87200"/>
              </a:lnSpc>
              <a:spcBef>
                <a:spcPts val="1045"/>
              </a:spcBef>
              <a:buClr>
                <a:srgbClr val="00663C"/>
              </a:buClr>
              <a:buFont typeface="Wingdings"/>
              <a:buChar char=""/>
              <a:tabLst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功能的复用依赖于对功能的理解，对功 能的描述是复杂和多义的，相比对象语 义来说不容易复用。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Calibri"/>
                <a:cs typeface="Calibri"/>
              </a:rPr>
              <a:t>2</a:t>
            </a:r>
            <a:r>
              <a:rPr sz="3200" dirty="0">
                <a:latin typeface="宋体"/>
                <a:cs typeface="宋体"/>
              </a:rPr>
              <a:t>）全方位复用</a:t>
            </a:r>
            <a:endParaRPr sz="3200">
              <a:latin typeface="宋体"/>
              <a:cs typeface="宋体"/>
            </a:endParaRPr>
          </a:p>
          <a:p>
            <a:pPr marL="469900" marR="5080" indent="-457200">
              <a:lnSpc>
                <a:spcPts val="3479"/>
              </a:lnSpc>
              <a:spcBef>
                <a:spcPts val="990"/>
              </a:spcBef>
              <a:buClr>
                <a:srgbClr val="00663C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功能复用是代码级的，软件复用不但需 要代码级的，还应该有源程序级的复用</a:t>
            </a:r>
            <a:endParaRPr sz="3200">
              <a:latin typeface="宋体"/>
              <a:cs typeface="宋体"/>
            </a:endParaRPr>
          </a:p>
          <a:p>
            <a:pPr marL="469900" marR="5080">
              <a:lnSpc>
                <a:spcPts val="3190"/>
              </a:lnSpc>
              <a:spcBef>
                <a:spcPts val="160"/>
              </a:spcBef>
            </a:pPr>
            <a:r>
              <a:rPr sz="3200" dirty="0">
                <a:latin typeface="宋体"/>
                <a:cs typeface="宋体"/>
              </a:rPr>
              <a:t>（分析和设计文档等）。</a:t>
            </a:r>
            <a:r>
              <a:rPr sz="3200" dirty="0">
                <a:solidFill>
                  <a:srgbClr val="009659"/>
                </a:solidFill>
                <a:latin typeface="宋体"/>
                <a:cs typeface="宋体"/>
              </a:rPr>
              <a:t>继承机制</a:t>
            </a:r>
            <a:r>
              <a:rPr sz="3200" dirty="0">
                <a:latin typeface="宋体"/>
                <a:cs typeface="宋体"/>
              </a:rPr>
              <a:t>是源 程序级的复用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90806" y="178307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可复用性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27" y="1141475"/>
            <a:ext cx="8204200" cy="4526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51300"/>
              </a:lnSpc>
              <a:spcBef>
                <a:spcPts val="95"/>
              </a:spcBef>
              <a:buClr>
                <a:srgbClr val="00663C"/>
              </a:buClr>
              <a:buSzPct val="75000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在任何机器环境下，使用任意程序语言，所 编的程序都应该是逻辑通用的</a:t>
            </a:r>
            <a:endParaRPr sz="3200">
              <a:latin typeface="宋体"/>
              <a:cs typeface="宋体"/>
            </a:endParaRPr>
          </a:p>
          <a:p>
            <a:pPr marL="1212850" lvl="1" indent="-457200">
              <a:lnSpc>
                <a:spcPct val="100000"/>
              </a:lnSpc>
              <a:spcBef>
                <a:spcPts val="1745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1212215" algn="l"/>
                <a:tab pos="1212850" algn="l"/>
              </a:tabLst>
            </a:pPr>
            <a:r>
              <a:rPr sz="2800" dirty="0">
                <a:latin typeface="宋体"/>
                <a:cs typeface="宋体"/>
              </a:rPr>
              <a:t>与机器相关的成分应该与处理逻辑无关。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2145"/>
              </a:spcBef>
              <a:buClr>
                <a:srgbClr val="00663C"/>
              </a:buClr>
              <a:buSzPct val="75000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类的多态性以及动态绑定技术</a:t>
            </a:r>
            <a:endParaRPr sz="3200">
              <a:latin typeface="宋体"/>
              <a:cs typeface="宋体"/>
            </a:endParaRPr>
          </a:p>
          <a:p>
            <a:pPr marL="1212850" lvl="1" indent="-457200">
              <a:lnSpc>
                <a:spcPct val="100000"/>
              </a:lnSpc>
              <a:spcBef>
                <a:spcPts val="1360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1212215" algn="l"/>
                <a:tab pos="1212850" algn="l"/>
              </a:tabLst>
            </a:pPr>
            <a:r>
              <a:rPr sz="2800" dirty="0">
                <a:latin typeface="宋体"/>
                <a:cs typeface="宋体"/>
              </a:rPr>
              <a:t>提供了独立接口的实现技术</a:t>
            </a:r>
            <a:endParaRPr sz="2800">
              <a:latin typeface="宋体"/>
              <a:cs typeface="宋体"/>
            </a:endParaRPr>
          </a:p>
          <a:p>
            <a:pPr marL="1212850" marR="227965" lvl="1" indent="-457200">
              <a:lnSpc>
                <a:spcPts val="3120"/>
              </a:lnSpc>
              <a:spcBef>
                <a:spcPts val="1839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1212215" algn="l"/>
                <a:tab pos="1212850" algn="l"/>
              </a:tabLst>
            </a:pPr>
            <a:r>
              <a:rPr sz="2800" dirty="0">
                <a:latin typeface="宋体"/>
                <a:cs typeface="宋体"/>
              </a:rPr>
              <a:t>这样可以将与机器相关的成分独立出来，为 程序无关性奠定了基础。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44656" y="178307"/>
            <a:ext cx="4152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程序</a:t>
            </a:r>
            <a:r>
              <a:rPr dirty="0">
                <a:latin typeface="Calibri"/>
                <a:cs typeface="Calibri"/>
              </a:rPr>
              <a:t>/</a:t>
            </a:r>
            <a:r>
              <a:rPr dirty="0"/>
              <a:t>机器无关性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面向对象分析与</a:t>
            </a: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  <a:r>
              <a:rPr dirty="0">
                <a:latin typeface="Calibri"/>
                <a:cs typeface="Calibri"/>
              </a:rPr>
              <a:t>(</a:t>
            </a:r>
            <a:r>
              <a:rPr spc="-10" dirty="0">
                <a:latin typeface="Calibri"/>
                <a:cs typeface="Calibri"/>
              </a:rPr>
              <a:t>1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475"/>
            <a:ext cx="5440680" cy="23634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面向对象方法概述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面向对象分析</a:t>
            </a:r>
            <a:r>
              <a:rPr sz="3200" spc="-919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VS</a:t>
            </a:r>
            <a:r>
              <a:rPr sz="3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结构化分析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UML</a:t>
            </a:r>
            <a:r>
              <a:rPr sz="3200" dirty="0">
                <a:latin typeface="宋体"/>
                <a:cs typeface="宋体"/>
              </a:rPr>
              <a:t>模型概述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UML</a:t>
            </a:r>
            <a:r>
              <a:rPr sz="3200" dirty="0">
                <a:latin typeface="宋体"/>
                <a:cs typeface="宋体"/>
              </a:rPr>
              <a:t>和</a:t>
            </a:r>
            <a:r>
              <a:rPr sz="3200" spc="-5" dirty="0">
                <a:latin typeface="Calibri"/>
                <a:cs typeface="Calibri"/>
              </a:rPr>
              <a:t>Rose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9373" y="220980"/>
            <a:ext cx="70008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</a:t>
            </a:r>
            <a:r>
              <a:rPr spc="-1250" dirty="0"/>
              <a:t> </a:t>
            </a:r>
            <a:r>
              <a:rPr dirty="0">
                <a:latin typeface="Calibri"/>
                <a:cs typeface="Calibri"/>
              </a:rPr>
              <a:t>VS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/>
              <a:t>结构化分析</a:t>
            </a:r>
          </a:p>
        </p:txBody>
      </p:sp>
      <p:sp>
        <p:nvSpPr>
          <p:cNvPr id="3" name="object 3"/>
          <p:cNvSpPr/>
          <p:nvPr/>
        </p:nvSpPr>
        <p:spPr>
          <a:xfrm>
            <a:off x="47811" y="1159062"/>
            <a:ext cx="3828118" cy="3441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33610" y="2740867"/>
            <a:ext cx="5162577" cy="36074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47629" y="1045881"/>
            <a:ext cx="5791835" cy="1294130"/>
          </a:xfrm>
          <a:custGeom>
            <a:avLst/>
            <a:gdLst/>
            <a:ahLst/>
            <a:cxnLst/>
            <a:rect l="l" t="t" r="r" b="b"/>
            <a:pathLst>
              <a:path w="5791834" h="1294130">
                <a:moveTo>
                  <a:pt x="5580184" y="0"/>
                </a:moveTo>
                <a:lnTo>
                  <a:pt x="1732344" y="0"/>
                </a:lnTo>
                <a:lnTo>
                  <a:pt x="1683924" y="5577"/>
                </a:lnTo>
                <a:lnTo>
                  <a:pt x="1639475" y="21464"/>
                </a:lnTo>
                <a:lnTo>
                  <a:pt x="1600266" y="46392"/>
                </a:lnTo>
                <a:lnTo>
                  <a:pt x="1567563" y="79095"/>
                </a:lnTo>
                <a:lnTo>
                  <a:pt x="1542634" y="118305"/>
                </a:lnTo>
                <a:lnTo>
                  <a:pt x="1526747" y="162754"/>
                </a:lnTo>
                <a:lnTo>
                  <a:pt x="1521170" y="211175"/>
                </a:lnTo>
                <a:lnTo>
                  <a:pt x="1521170" y="739089"/>
                </a:lnTo>
                <a:lnTo>
                  <a:pt x="0" y="1293911"/>
                </a:lnTo>
                <a:lnTo>
                  <a:pt x="1521170" y="1055837"/>
                </a:lnTo>
                <a:lnTo>
                  <a:pt x="5791358" y="1055837"/>
                </a:lnTo>
                <a:lnTo>
                  <a:pt x="5791358" y="211175"/>
                </a:lnTo>
                <a:lnTo>
                  <a:pt x="5785781" y="162754"/>
                </a:lnTo>
                <a:lnTo>
                  <a:pt x="5769894" y="118305"/>
                </a:lnTo>
                <a:lnTo>
                  <a:pt x="5744965" y="79095"/>
                </a:lnTo>
                <a:lnTo>
                  <a:pt x="5712263" y="46392"/>
                </a:lnTo>
                <a:lnTo>
                  <a:pt x="5673053" y="21464"/>
                </a:lnTo>
                <a:lnTo>
                  <a:pt x="5628604" y="5577"/>
                </a:lnTo>
                <a:lnTo>
                  <a:pt x="5580184" y="0"/>
                </a:lnTo>
                <a:close/>
              </a:path>
              <a:path w="5791834" h="1294130">
                <a:moveTo>
                  <a:pt x="5791358" y="1055837"/>
                </a:moveTo>
                <a:lnTo>
                  <a:pt x="1521170" y="1055837"/>
                </a:lnTo>
                <a:lnTo>
                  <a:pt x="1526747" y="1104257"/>
                </a:lnTo>
                <a:lnTo>
                  <a:pt x="1542634" y="1148706"/>
                </a:lnTo>
                <a:lnTo>
                  <a:pt x="1567563" y="1187916"/>
                </a:lnTo>
                <a:lnTo>
                  <a:pt x="1600266" y="1220619"/>
                </a:lnTo>
                <a:lnTo>
                  <a:pt x="1639475" y="1245547"/>
                </a:lnTo>
                <a:lnTo>
                  <a:pt x="1683924" y="1261434"/>
                </a:lnTo>
                <a:lnTo>
                  <a:pt x="1732344" y="1267011"/>
                </a:lnTo>
                <a:lnTo>
                  <a:pt x="5580184" y="1267011"/>
                </a:lnTo>
                <a:lnTo>
                  <a:pt x="5628604" y="1261434"/>
                </a:lnTo>
                <a:lnTo>
                  <a:pt x="5673053" y="1245547"/>
                </a:lnTo>
                <a:lnTo>
                  <a:pt x="5712263" y="1220619"/>
                </a:lnTo>
                <a:lnTo>
                  <a:pt x="5744965" y="1187916"/>
                </a:lnTo>
                <a:lnTo>
                  <a:pt x="5769894" y="1148706"/>
                </a:lnTo>
                <a:lnTo>
                  <a:pt x="5785781" y="1104257"/>
                </a:lnTo>
                <a:lnTo>
                  <a:pt x="5791358" y="10558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47630" y="1045881"/>
            <a:ext cx="5791835" cy="1294130"/>
          </a:xfrm>
          <a:custGeom>
            <a:avLst/>
            <a:gdLst/>
            <a:ahLst/>
            <a:cxnLst/>
            <a:rect l="l" t="t" r="r" b="b"/>
            <a:pathLst>
              <a:path w="5791834" h="1294130">
                <a:moveTo>
                  <a:pt x="1521170" y="211174"/>
                </a:moveTo>
                <a:lnTo>
                  <a:pt x="1526747" y="162754"/>
                </a:lnTo>
                <a:lnTo>
                  <a:pt x="1542634" y="118305"/>
                </a:lnTo>
                <a:lnTo>
                  <a:pt x="1567562" y="79095"/>
                </a:lnTo>
                <a:lnTo>
                  <a:pt x="1600265" y="46392"/>
                </a:lnTo>
                <a:lnTo>
                  <a:pt x="1639475" y="21464"/>
                </a:lnTo>
                <a:lnTo>
                  <a:pt x="1683924" y="5577"/>
                </a:lnTo>
                <a:lnTo>
                  <a:pt x="1732344" y="0"/>
                </a:lnTo>
                <a:lnTo>
                  <a:pt x="2232868" y="0"/>
                </a:lnTo>
                <a:lnTo>
                  <a:pt x="3300415" y="0"/>
                </a:lnTo>
                <a:lnTo>
                  <a:pt x="5580183" y="0"/>
                </a:lnTo>
                <a:lnTo>
                  <a:pt x="5628603" y="5577"/>
                </a:lnTo>
                <a:lnTo>
                  <a:pt x="5673052" y="21464"/>
                </a:lnTo>
                <a:lnTo>
                  <a:pt x="5712262" y="46392"/>
                </a:lnTo>
                <a:lnTo>
                  <a:pt x="5744965" y="79095"/>
                </a:lnTo>
                <a:lnTo>
                  <a:pt x="5769894" y="118305"/>
                </a:lnTo>
                <a:lnTo>
                  <a:pt x="5785780" y="162754"/>
                </a:lnTo>
                <a:lnTo>
                  <a:pt x="5791358" y="211174"/>
                </a:lnTo>
                <a:lnTo>
                  <a:pt x="5791358" y="739088"/>
                </a:lnTo>
                <a:lnTo>
                  <a:pt x="5791358" y="1055842"/>
                </a:lnTo>
                <a:lnTo>
                  <a:pt x="5785780" y="1104257"/>
                </a:lnTo>
                <a:lnTo>
                  <a:pt x="5769894" y="1148706"/>
                </a:lnTo>
                <a:lnTo>
                  <a:pt x="5744965" y="1187916"/>
                </a:lnTo>
                <a:lnTo>
                  <a:pt x="5712262" y="1220619"/>
                </a:lnTo>
                <a:lnTo>
                  <a:pt x="5673052" y="1245547"/>
                </a:lnTo>
                <a:lnTo>
                  <a:pt x="5628603" y="1261434"/>
                </a:lnTo>
                <a:lnTo>
                  <a:pt x="5580183" y="1267012"/>
                </a:lnTo>
                <a:lnTo>
                  <a:pt x="3300415" y="1267012"/>
                </a:lnTo>
                <a:lnTo>
                  <a:pt x="2232868" y="1267012"/>
                </a:lnTo>
                <a:lnTo>
                  <a:pt x="1732344" y="1267012"/>
                </a:lnTo>
                <a:lnTo>
                  <a:pt x="1683924" y="1261434"/>
                </a:lnTo>
                <a:lnTo>
                  <a:pt x="1639475" y="1245547"/>
                </a:lnTo>
                <a:lnTo>
                  <a:pt x="1600265" y="1220619"/>
                </a:lnTo>
                <a:lnTo>
                  <a:pt x="1567562" y="1187916"/>
                </a:lnTo>
                <a:lnTo>
                  <a:pt x="1542634" y="1148706"/>
                </a:lnTo>
                <a:lnTo>
                  <a:pt x="1526747" y="1104257"/>
                </a:lnTo>
                <a:lnTo>
                  <a:pt x="1521170" y="1055837"/>
                </a:lnTo>
                <a:lnTo>
                  <a:pt x="0" y="1293911"/>
                </a:lnTo>
                <a:lnTo>
                  <a:pt x="1521170" y="739088"/>
                </a:lnTo>
                <a:lnTo>
                  <a:pt x="1521170" y="211174"/>
                </a:lnTo>
                <a:close/>
              </a:path>
            </a:pathLst>
          </a:custGeom>
          <a:ln w="25400">
            <a:solidFill>
              <a:srgbClr val="4F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19518" y="1243076"/>
            <a:ext cx="3968750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4295" marR="5080" indent="-62230" algn="just">
              <a:lnSpc>
                <a:spcPct val="99400"/>
              </a:lnSpc>
              <a:spcBef>
                <a:spcPts val="110"/>
              </a:spcBef>
            </a:pPr>
            <a:r>
              <a:rPr sz="1800" dirty="0">
                <a:latin typeface="宋体"/>
                <a:cs typeface="宋体"/>
              </a:rPr>
              <a:t>继承、聚合、封装等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dirty="0">
                <a:latin typeface="宋体"/>
                <a:cs typeface="宋体"/>
              </a:rPr>
              <a:t>这使得软件开发者 能更有效地思考问题</a:t>
            </a:r>
            <a:r>
              <a:rPr sz="1800" spc="-525" dirty="0">
                <a:latin typeface="宋体"/>
                <a:cs typeface="宋体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宋体"/>
                <a:cs typeface="宋体"/>
              </a:rPr>
              <a:t>并以其他人也能 看得懂的方式把自己的认识表达出来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3081" y="4447173"/>
            <a:ext cx="3597910" cy="1771650"/>
          </a:xfrm>
          <a:custGeom>
            <a:avLst/>
            <a:gdLst/>
            <a:ahLst/>
            <a:cxnLst/>
            <a:rect l="l" t="t" r="r" b="b"/>
            <a:pathLst>
              <a:path w="3597910" h="1771650">
                <a:moveTo>
                  <a:pt x="3348315" y="417673"/>
                </a:moveTo>
                <a:lnTo>
                  <a:pt x="225614" y="417673"/>
                </a:lnTo>
                <a:lnTo>
                  <a:pt x="180145" y="422257"/>
                </a:lnTo>
                <a:lnTo>
                  <a:pt x="137794" y="435403"/>
                </a:lnTo>
                <a:lnTo>
                  <a:pt x="99471" y="456205"/>
                </a:lnTo>
                <a:lnTo>
                  <a:pt x="66080" y="483754"/>
                </a:lnTo>
                <a:lnTo>
                  <a:pt x="38531" y="517144"/>
                </a:lnTo>
                <a:lnTo>
                  <a:pt x="17729" y="555468"/>
                </a:lnTo>
                <a:lnTo>
                  <a:pt x="4583" y="597818"/>
                </a:lnTo>
                <a:lnTo>
                  <a:pt x="0" y="643284"/>
                </a:lnTo>
                <a:lnTo>
                  <a:pt x="0" y="1545730"/>
                </a:lnTo>
                <a:lnTo>
                  <a:pt x="4583" y="1591199"/>
                </a:lnTo>
                <a:lnTo>
                  <a:pt x="17729" y="1633549"/>
                </a:lnTo>
                <a:lnTo>
                  <a:pt x="38531" y="1671873"/>
                </a:lnTo>
                <a:lnTo>
                  <a:pt x="66080" y="1705263"/>
                </a:lnTo>
                <a:lnTo>
                  <a:pt x="99471" y="1732813"/>
                </a:lnTo>
                <a:lnTo>
                  <a:pt x="137794" y="1753614"/>
                </a:lnTo>
                <a:lnTo>
                  <a:pt x="180145" y="1766761"/>
                </a:lnTo>
                <a:lnTo>
                  <a:pt x="225614" y="1771344"/>
                </a:lnTo>
                <a:lnTo>
                  <a:pt x="3348315" y="1771344"/>
                </a:lnTo>
                <a:lnTo>
                  <a:pt x="3393784" y="1766761"/>
                </a:lnTo>
                <a:lnTo>
                  <a:pt x="3436134" y="1753614"/>
                </a:lnTo>
                <a:lnTo>
                  <a:pt x="3474458" y="1732813"/>
                </a:lnTo>
                <a:lnTo>
                  <a:pt x="3507848" y="1705263"/>
                </a:lnTo>
                <a:lnTo>
                  <a:pt x="3535398" y="1671873"/>
                </a:lnTo>
                <a:lnTo>
                  <a:pt x="3556199" y="1633549"/>
                </a:lnTo>
                <a:lnTo>
                  <a:pt x="3569346" y="1591199"/>
                </a:lnTo>
                <a:lnTo>
                  <a:pt x="3573929" y="1545730"/>
                </a:lnTo>
                <a:lnTo>
                  <a:pt x="3573929" y="643284"/>
                </a:lnTo>
                <a:lnTo>
                  <a:pt x="3569346" y="597818"/>
                </a:lnTo>
                <a:lnTo>
                  <a:pt x="3556199" y="555468"/>
                </a:lnTo>
                <a:lnTo>
                  <a:pt x="3535398" y="517144"/>
                </a:lnTo>
                <a:lnTo>
                  <a:pt x="3507848" y="483754"/>
                </a:lnTo>
                <a:lnTo>
                  <a:pt x="3474458" y="456205"/>
                </a:lnTo>
                <a:lnTo>
                  <a:pt x="3436134" y="435403"/>
                </a:lnTo>
                <a:lnTo>
                  <a:pt x="3393784" y="422257"/>
                </a:lnTo>
                <a:lnTo>
                  <a:pt x="3348315" y="417673"/>
                </a:lnTo>
                <a:close/>
              </a:path>
              <a:path w="3597910" h="1771650">
                <a:moveTo>
                  <a:pt x="3597517" y="0"/>
                </a:moveTo>
                <a:lnTo>
                  <a:pt x="2084792" y="417673"/>
                </a:lnTo>
                <a:lnTo>
                  <a:pt x="2978274" y="417673"/>
                </a:lnTo>
                <a:lnTo>
                  <a:pt x="35975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3081" y="4447172"/>
            <a:ext cx="3597910" cy="1771650"/>
          </a:xfrm>
          <a:custGeom>
            <a:avLst/>
            <a:gdLst/>
            <a:ahLst/>
            <a:cxnLst/>
            <a:rect l="l" t="t" r="r" b="b"/>
            <a:pathLst>
              <a:path w="3597910" h="1771650">
                <a:moveTo>
                  <a:pt x="0" y="643288"/>
                </a:moveTo>
                <a:lnTo>
                  <a:pt x="4583" y="597819"/>
                </a:lnTo>
                <a:lnTo>
                  <a:pt x="17729" y="555469"/>
                </a:lnTo>
                <a:lnTo>
                  <a:pt x="38531" y="517145"/>
                </a:lnTo>
                <a:lnTo>
                  <a:pt x="66080" y="483755"/>
                </a:lnTo>
                <a:lnTo>
                  <a:pt x="99471" y="456205"/>
                </a:lnTo>
                <a:lnTo>
                  <a:pt x="137794" y="435404"/>
                </a:lnTo>
                <a:lnTo>
                  <a:pt x="180144" y="422258"/>
                </a:lnTo>
                <a:lnTo>
                  <a:pt x="225614" y="417674"/>
                </a:lnTo>
                <a:lnTo>
                  <a:pt x="2084792" y="417674"/>
                </a:lnTo>
                <a:lnTo>
                  <a:pt x="3597518" y="0"/>
                </a:lnTo>
                <a:lnTo>
                  <a:pt x="2978275" y="417674"/>
                </a:lnTo>
                <a:lnTo>
                  <a:pt x="3348316" y="417674"/>
                </a:lnTo>
                <a:lnTo>
                  <a:pt x="3393785" y="422258"/>
                </a:lnTo>
                <a:lnTo>
                  <a:pt x="3436135" y="435404"/>
                </a:lnTo>
                <a:lnTo>
                  <a:pt x="3474458" y="456205"/>
                </a:lnTo>
                <a:lnTo>
                  <a:pt x="3507849" y="483755"/>
                </a:lnTo>
                <a:lnTo>
                  <a:pt x="3535398" y="517145"/>
                </a:lnTo>
                <a:lnTo>
                  <a:pt x="3556200" y="555469"/>
                </a:lnTo>
                <a:lnTo>
                  <a:pt x="3569346" y="597819"/>
                </a:lnTo>
                <a:lnTo>
                  <a:pt x="3573930" y="643288"/>
                </a:lnTo>
                <a:lnTo>
                  <a:pt x="3573930" y="981702"/>
                </a:lnTo>
                <a:lnTo>
                  <a:pt x="3573930" y="1545731"/>
                </a:lnTo>
                <a:lnTo>
                  <a:pt x="3569346" y="1591200"/>
                </a:lnTo>
                <a:lnTo>
                  <a:pt x="3556200" y="1633550"/>
                </a:lnTo>
                <a:lnTo>
                  <a:pt x="3535398" y="1671874"/>
                </a:lnTo>
                <a:lnTo>
                  <a:pt x="3507849" y="1705264"/>
                </a:lnTo>
                <a:lnTo>
                  <a:pt x="3474458" y="1732814"/>
                </a:lnTo>
                <a:lnTo>
                  <a:pt x="3436135" y="1753615"/>
                </a:lnTo>
                <a:lnTo>
                  <a:pt x="3393785" y="1766761"/>
                </a:lnTo>
                <a:lnTo>
                  <a:pt x="3348316" y="1771345"/>
                </a:lnTo>
                <a:lnTo>
                  <a:pt x="2978275" y="1771345"/>
                </a:lnTo>
                <a:lnTo>
                  <a:pt x="2084792" y="1771345"/>
                </a:lnTo>
                <a:lnTo>
                  <a:pt x="225614" y="1771345"/>
                </a:lnTo>
                <a:lnTo>
                  <a:pt x="180144" y="1766761"/>
                </a:lnTo>
                <a:lnTo>
                  <a:pt x="137794" y="1753615"/>
                </a:lnTo>
                <a:lnTo>
                  <a:pt x="99471" y="1732814"/>
                </a:lnTo>
                <a:lnTo>
                  <a:pt x="66080" y="1705264"/>
                </a:lnTo>
                <a:lnTo>
                  <a:pt x="38531" y="1671874"/>
                </a:lnTo>
                <a:lnTo>
                  <a:pt x="17729" y="1633550"/>
                </a:lnTo>
                <a:lnTo>
                  <a:pt x="4583" y="1591200"/>
                </a:lnTo>
                <a:lnTo>
                  <a:pt x="0" y="1545731"/>
                </a:lnTo>
                <a:lnTo>
                  <a:pt x="0" y="981702"/>
                </a:lnTo>
                <a:lnTo>
                  <a:pt x="0" y="643284"/>
                </a:lnTo>
                <a:close/>
              </a:path>
            </a:pathLst>
          </a:custGeom>
          <a:ln w="25400">
            <a:solidFill>
              <a:srgbClr val="4F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3972" y="4992116"/>
            <a:ext cx="3232150" cy="11017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3175" algn="just">
              <a:lnSpc>
                <a:spcPct val="97400"/>
              </a:lnSpc>
              <a:spcBef>
                <a:spcPts val="155"/>
              </a:spcBef>
            </a:pPr>
            <a:r>
              <a:rPr sz="1800" dirty="0">
                <a:latin typeface="宋体"/>
                <a:cs typeface="宋体"/>
              </a:rPr>
              <a:t>从数据的角度对系统建模，主要 通过过程建模（</a:t>
            </a:r>
            <a:r>
              <a:rPr sz="1800" dirty="0">
                <a:latin typeface="Calibri"/>
                <a:cs typeface="Calibri"/>
              </a:rPr>
              <a:t>DFD</a:t>
            </a:r>
            <a:r>
              <a:rPr sz="1800" dirty="0">
                <a:latin typeface="宋体"/>
                <a:cs typeface="宋体"/>
              </a:rPr>
              <a:t>图）和数据 建模（</a:t>
            </a:r>
            <a:r>
              <a:rPr sz="1800" spc="-5" dirty="0">
                <a:latin typeface="Calibri"/>
                <a:cs typeface="Calibri"/>
              </a:rPr>
              <a:t>ER</a:t>
            </a:r>
            <a:r>
              <a:rPr sz="1800" dirty="0">
                <a:latin typeface="宋体"/>
                <a:cs typeface="宋体"/>
              </a:rPr>
              <a:t>图）描述数据流通系统 时的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整个流程</a:t>
            </a:r>
            <a:r>
              <a:rPr sz="1800" dirty="0">
                <a:latin typeface="宋体"/>
                <a:cs typeface="宋体"/>
              </a:rPr>
              <a:t>和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每一个步骤</a:t>
            </a:r>
            <a:r>
              <a:rPr sz="180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1311" y="178307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两种方法共同点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80837"/>
            <a:ext cx="7778750" cy="4151629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8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抽象和分解</a:t>
            </a:r>
            <a:endParaRPr sz="2800">
              <a:latin typeface="宋体"/>
              <a:cs typeface="宋体"/>
            </a:endParaRPr>
          </a:p>
          <a:p>
            <a:pPr marL="755650" marR="5080" lvl="1" indent="-285750">
              <a:lnSpc>
                <a:spcPts val="2690"/>
              </a:lnSpc>
              <a:spcBef>
                <a:spcPts val="101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即对现有的现实问题进行不断地分解，同时也是对现 实问题的一种抽象；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6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通过抽象降低软件模块之间的耦合性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1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模块重用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在分解和抽象的基础上，进行模块重用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半形式化的表示方法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4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精确描述需求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用户和程序员的共同理解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3711" y="178307"/>
            <a:ext cx="6172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结构化分析方法的优缺点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2841"/>
            <a:ext cx="5994400" cy="441388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3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优点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建立的模型比较直观、简单、可读性好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利于沟通，有效提高软件质量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C00000"/>
              </a:buClr>
              <a:buFont typeface="Wingdings"/>
              <a:buChar char=""/>
            </a:pP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缺点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数据为最关键的实体，表示为数据结构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数据是与程序（算法）分离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数据在系统的各层都可以被访问</a:t>
            </a:r>
            <a:endParaRPr sz="24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单个数据的修改会导致整个系统程序的变化</a:t>
            </a:r>
            <a:endParaRPr sz="20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程序的耦合性的增加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4311" y="178307"/>
            <a:ext cx="6731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面向对象分析方法的优缺点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80837"/>
            <a:ext cx="7791450" cy="428879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8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优点：高可重用</a:t>
            </a:r>
            <a:r>
              <a:rPr sz="2800" spc="5" dirty="0">
                <a:latin typeface="Calibri"/>
                <a:cs typeface="Calibri"/>
              </a:rPr>
              <a:t>/</a:t>
            </a:r>
            <a:r>
              <a:rPr sz="2800" dirty="0">
                <a:latin typeface="宋体"/>
                <a:cs typeface="宋体"/>
              </a:rPr>
              <a:t>重构</a:t>
            </a:r>
            <a:r>
              <a:rPr sz="2800" spc="5" dirty="0">
                <a:latin typeface="Calibri"/>
                <a:cs typeface="Calibri"/>
              </a:rPr>
              <a:t>/</a:t>
            </a:r>
            <a:r>
              <a:rPr sz="2800" dirty="0">
                <a:latin typeface="宋体"/>
                <a:cs typeface="宋体"/>
              </a:rPr>
              <a:t>变更性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ts val="2785"/>
              </a:lnSpc>
              <a:spcBef>
                <a:spcPts val="760"/>
              </a:spcBef>
              <a:buClr>
                <a:srgbClr val="C00000"/>
              </a:buClr>
              <a:buSzPct val="59574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3525" b="1" spc="127" baseline="1182" dirty="0">
                <a:solidFill>
                  <a:srgbClr val="009659"/>
                </a:solidFill>
                <a:latin typeface="宋体"/>
                <a:cs typeface="宋体"/>
              </a:rPr>
              <a:t>封</a:t>
            </a:r>
            <a:r>
              <a:rPr sz="3525" b="1" spc="135" baseline="1182" dirty="0">
                <a:solidFill>
                  <a:srgbClr val="009659"/>
                </a:solidFill>
                <a:latin typeface="宋体"/>
                <a:cs typeface="宋体"/>
              </a:rPr>
              <a:t>装</a:t>
            </a:r>
            <a:r>
              <a:rPr sz="2400" dirty="0">
                <a:latin typeface="宋体"/>
                <a:cs typeface="宋体"/>
              </a:rPr>
              <a:t>：数据不再贯穿整个程序，而是成为各个模块的</a:t>
            </a:r>
            <a:endParaRPr sz="2400">
              <a:latin typeface="宋体"/>
              <a:cs typeface="宋体"/>
            </a:endParaRPr>
          </a:p>
          <a:p>
            <a:pPr marL="755650">
              <a:lnSpc>
                <a:spcPts val="2785"/>
              </a:lnSpc>
            </a:pPr>
            <a:r>
              <a:rPr sz="2400" dirty="0">
                <a:latin typeface="宋体"/>
                <a:cs typeface="宋体"/>
              </a:rPr>
              <a:t>私有属性</a:t>
            </a:r>
            <a:endParaRPr sz="24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宋体"/>
                <a:cs typeface="宋体"/>
              </a:rPr>
              <a:t>数据不和算法分离</a:t>
            </a:r>
            <a:r>
              <a:rPr sz="2000" spc="-555" dirty="0">
                <a:latin typeface="宋体"/>
                <a:cs typeface="宋体"/>
              </a:rPr>
              <a:t> </a:t>
            </a:r>
            <a:r>
              <a:rPr sz="2000" dirty="0">
                <a:latin typeface="Calibri"/>
                <a:cs typeface="Calibri"/>
              </a:rPr>
              <a:t>-----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宋体"/>
                <a:cs typeface="宋体"/>
              </a:rPr>
              <a:t>更符合现实情况</a:t>
            </a:r>
            <a:endParaRPr sz="20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宋体"/>
                <a:cs typeface="宋体"/>
              </a:rPr>
              <a:t>大大降低了系统模块间的耦合性</a:t>
            </a:r>
            <a:endParaRPr sz="20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35"/>
              </a:spcBef>
              <a:buClr>
                <a:srgbClr val="C00000"/>
              </a:buClr>
              <a:buSzPct val="59574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3525" b="1" spc="127" baseline="1182" dirty="0">
                <a:solidFill>
                  <a:srgbClr val="009659"/>
                </a:solidFill>
                <a:latin typeface="宋体"/>
                <a:cs typeface="宋体"/>
              </a:rPr>
              <a:t>继承和多</a:t>
            </a:r>
            <a:r>
              <a:rPr sz="3525" b="1" spc="60" baseline="1182" dirty="0">
                <a:solidFill>
                  <a:srgbClr val="009659"/>
                </a:solidFill>
                <a:latin typeface="宋体"/>
                <a:cs typeface="宋体"/>
              </a:rPr>
              <a:t>态</a:t>
            </a:r>
            <a:endParaRPr sz="3525" baseline="1182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宋体"/>
                <a:cs typeface="宋体"/>
              </a:rPr>
              <a:t>体现了现实世界的多样性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缺点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一个类的内部更为复杂</a:t>
            </a:r>
            <a:r>
              <a:rPr sz="2400" spc="-5" dirty="0">
                <a:latin typeface="Calibri"/>
                <a:cs typeface="Calibri"/>
              </a:rPr>
              <a:t>&amp;UML</a:t>
            </a:r>
            <a:r>
              <a:rPr sz="2400" dirty="0">
                <a:latin typeface="宋体"/>
                <a:cs typeface="宋体"/>
              </a:rPr>
              <a:t>模型更为复杂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需要掌握更复杂的建模知识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面向对象分析与</a:t>
            </a: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  <a:r>
              <a:rPr dirty="0">
                <a:latin typeface="Calibri"/>
                <a:cs typeface="Calibri"/>
              </a:rPr>
              <a:t>(</a:t>
            </a:r>
            <a:r>
              <a:rPr spc="-10" dirty="0">
                <a:latin typeface="Calibri"/>
                <a:cs typeface="Calibri"/>
              </a:rPr>
              <a:t>1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475"/>
            <a:ext cx="5440680" cy="23634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面向对象方法概述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面向对象分析</a:t>
            </a:r>
            <a:r>
              <a:rPr sz="3200" spc="-919" dirty="0">
                <a:latin typeface="宋体"/>
                <a:cs typeface="宋体"/>
              </a:rPr>
              <a:t> </a:t>
            </a:r>
            <a:r>
              <a:rPr sz="3200" spc="-5" dirty="0">
                <a:latin typeface="Calibri"/>
                <a:cs typeface="Calibri"/>
              </a:rPr>
              <a:t>VS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宋体"/>
                <a:cs typeface="宋体"/>
              </a:rPr>
              <a:t>结构化分析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UML</a:t>
            </a: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模型概述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UML</a:t>
            </a:r>
            <a:r>
              <a:rPr sz="3200" dirty="0">
                <a:latin typeface="宋体"/>
                <a:cs typeface="宋体"/>
              </a:rPr>
              <a:t>和</a:t>
            </a:r>
            <a:r>
              <a:rPr sz="3200" spc="-5" dirty="0">
                <a:latin typeface="Calibri"/>
                <a:cs typeface="Calibri"/>
              </a:rPr>
              <a:t>Rose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5300" y="366267"/>
            <a:ext cx="3073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面向对象建模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92098" y="1205484"/>
            <a:ext cx="7683500" cy="4688205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85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UML</a:t>
            </a:r>
            <a:r>
              <a:rPr sz="3200" dirty="0">
                <a:latin typeface="宋体"/>
                <a:cs typeface="宋体"/>
              </a:rPr>
              <a:t>是一种统一的、标准化的建模语言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75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UML</a:t>
            </a:r>
            <a:r>
              <a:rPr sz="3200" dirty="0">
                <a:latin typeface="宋体"/>
                <a:cs typeface="宋体"/>
              </a:rPr>
              <a:t>是一种应用面很广泛的建模语言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00663C"/>
              </a:buClr>
              <a:buFont typeface="Wingdings"/>
              <a:buChar char=""/>
            </a:pPr>
            <a:endParaRPr sz="4850">
              <a:latin typeface="宋体"/>
              <a:cs typeface="宋体"/>
            </a:endParaRPr>
          </a:p>
          <a:p>
            <a:pPr marL="355600" marR="5080" indent="-342900">
              <a:lnSpc>
                <a:spcPts val="3600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面向对象建模：一种用于辨识系统环境中 的对象及这些对象之间关系的技术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8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OMT (James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Rumbaugh)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  <a:tab pos="4926965" algn="l"/>
              </a:tabLst>
            </a:pPr>
            <a:r>
              <a:rPr sz="2800" spc="-5" dirty="0">
                <a:latin typeface="Calibri"/>
                <a:cs typeface="Calibri"/>
              </a:rPr>
              <a:t>Booch</a:t>
            </a:r>
            <a:r>
              <a:rPr sz="2800" dirty="0">
                <a:latin typeface="宋体"/>
                <a:cs typeface="宋体"/>
              </a:rPr>
              <a:t>方法</a:t>
            </a:r>
            <a:r>
              <a:rPr sz="2800" spc="-5" dirty="0">
                <a:latin typeface="Calibri"/>
                <a:cs typeface="Calibri"/>
              </a:rPr>
              <a:t>(Grady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Booch)	</a:t>
            </a:r>
            <a:r>
              <a:rPr sz="2800" dirty="0">
                <a:latin typeface="Calibri"/>
                <a:cs typeface="Calibri"/>
              </a:rPr>
              <a:t>UML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OOSE (Ivar Jacobson)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37550" y="4590789"/>
            <a:ext cx="228600" cy="1210310"/>
          </a:xfrm>
          <a:custGeom>
            <a:avLst/>
            <a:gdLst/>
            <a:ahLst/>
            <a:cxnLst/>
            <a:rect l="l" t="t" r="r" b="b"/>
            <a:pathLst>
              <a:path w="228600" h="1210310">
                <a:moveTo>
                  <a:pt x="0" y="0"/>
                </a:moveTo>
                <a:lnTo>
                  <a:pt x="44490" y="8483"/>
                </a:lnTo>
                <a:lnTo>
                  <a:pt x="80822" y="31617"/>
                </a:lnTo>
                <a:lnTo>
                  <a:pt x="105317" y="65930"/>
                </a:lnTo>
                <a:lnTo>
                  <a:pt x="114300" y="107949"/>
                </a:lnTo>
                <a:lnTo>
                  <a:pt x="114300" y="496900"/>
                </a:lnTo>
                <a:lnTo>
                  <a:pt x="123282" y="538919"/>
                </a:lnTo>
                <a:lnTo>
                  <a:pt x="147777" y="573232"/>
                </a:lnTo>
                <a:lnTo>
                  <a:pt x="184109" y="596366"/>
                </a:lnTo>
                <a:lnTo>
                  <a:pt x="228600" y="604850"/>
                </a:lnTo>
                <a:lnTo>
                  <a:pt x="184109" y="613333"/>
                </a:lnTo>
                <a:lnTo>
                  <a:pt x="147777" y="636467"/>
                </a:lnTo>
                <a:lnTo>
                  <a:pt x="123282" y="670780"/>
                </a:lnTo>
                <a:lnTo>
                  <a:pt x="114300" y="712799"/>
                </a:lnTo>
                <a:lnTo>
                  <a:pt x="114300" y="1101750"/>
                </a:lnTo>
                <a:lnTo>
                  <a:pt x="105317" y="1143768"/>
                </a:lnTo>
                <a:lnTo>
                  <a:pt x="80822" y="1178082"/>
                </a:lnTo>
                <a:lnTo>
                  <a:pt x="44490" y="1201216"/>
                </a:lnTo>
                <a:lnTo>
                  <a:pt x="0" y="12097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081737"/>
            <a:ext cx="8382000" cy="5238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1739" y="2563876"/>
            <a:ext cx="8947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A50021"/>
                </a:solidFill>
                <a:latin typeface="Arial"/>
                <a:cs typeface="Arial"/>
              </a:rPr>
              <a:t>J</a:t>
            </a:r>
            <a:r>
              <a:rPr sz="1600" spc="-5" dirty="0">
                <a:solidFill>
                  <a:srgbClr val="A50021"/>
                </a:solidFill>
                <a:latin typeface="Arial"/>
                <a:cs typeface="Arial"/>
              </a:rPr>
              <a:t>a</a:t>
            </a:r>
            <a:r>
              <a:rPr sz="1600" dirty="0">
                <a:solidFill>
                  <a:srgbClr val="A50021"/>
                </a:solidFill>
                <a:latin typeface="Arial"/>
                <a:cs typeface="Arial"/>
              </a:rPr>
              <a:t>c</a:t>
            </a:r>
            <a:r>
              <a:rPr sz="1600" spc="-5" dirty="0">
                <a:solidFill>
                  <a:srgbClr val="A50021"/>
                </a:solidFill>
                <a:latin typeface="Arial"/>
                <a:cs typeface="Arial"/>
              </a:rPr>
              <a:t>ob</a:t>
            </a:r>
            <a:r>
              <a:rPr sz="1600" dirty="0">
                <a:solidFill>
                  <a:srgbClr val="A50021"/>
                </a:solidFill>
                <a:latin typeface="Arial"/>
                <a:cs typeface="Arial"/>
              </a:rPr>
              <a:t>s</a:t>
            </a:r>
            <a:r>
              <a:rPr sz="1600" spc="-5" dirty="0">
                <a:solidFill>
                  <a:srgbClr val="A50021"/>
                </a:solidFill>
                <a:latin typeface="Arial"/>
                <a:cs typeface="Arial"/>
              </a:rPr>
              <a:t>o</a:t>
            </a:r>
            <a:r>
              <a:rPr sz="1600" dirty="0">
                <a:solidFill>
                  <a:srgbClr val="A50021"/>
                </a:solidFill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8227" y="3478276"/>
            <a:ext cx="6007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A50021"/>
                </a:solidFill>
                <a:latin typeface="Arial"/>
                <a:cs typeface="Arial"/>
              </a:rPr>
              <a:t>Boo</a:t>
            </a:r>
            <a:r>
              <a:rPr sz="1600" dirty="0">
                <a:solidFill>
                  <a:srgbClr val="A50021"/>
                </a:solidFill>
                <a:latin typeface="Arial"/>
                <a:cs typeface="Arial"/>
              </a:rPr>
              <a:t>ch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32027" y="1192276"/>
            <a:ext cx="8947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A50021"/>
                </a:solidFill>
                <a:latin typeface="Arial"/>
                <a:cs typeface="Arial"/>
              </a:rPr>
              <a:t>J</a:t>
            </a:r>
            <a:r>
              <a:rPr sz="1600" spc="-5" dirty="0">
                <a:solidFill>
                  <a:srgbClr val="A50021"/>
                </a:solidFill>
                <a:latin typeface="Arial"/>
                <a:cs typeface="Arial"/>
              </a:rPr>
              <a:t>a</a:t>
            </a:r>
            <a:r>
              <a:rPr sz="1600" dirty="0">
                <a:solidFill>
                  <a:srgbClr val="A50021"/>
                </a:solidFill>
                <a:latin typeface="Arial"/>
                <a:cs typeface="Arial"/>
              </a:rPr>
              <a:t>c</a:t>
            </a:r>
            <a:r>
              <a:rPr sz="1600" spc="-5" dirty="0">
                <a:solidFill>
                  <a:srgbClr val="A50021"/>
                </a:solidFill>
                <a:latin typeface="Arial"/>
                <a:cs typeface="Arial"/>
              </a:rPr>
              <a:t>ob</a:t>
            </a:r>
            <a:r>
              <a:rPr sz="1600" dirty="0">
                <a:solidFill>
                  <a:srgbClr val="A50021"/>
                </a:solidFill>
                <a:latin typeface="Arial"/>
                <a:cs typeface="Arial"/>
              </a:rPr>
              <a:t>s</a:t>
            </a:r>
            <a:r>
              <a:rPr sz="1600" spc="-5" dirty="0">
                <a:solidFill>
                  <a:srgbClr val="A50021"/>
                </a:solidFill>
                <a:latin typeface="Arial"/>
                <a:cs typeface="Arial"/>
              </a:rPr>
              <a:t>o</a:t>
            </a:r>
            <a:r>
              <a:rPr sz="1600" dirty="0">
                <a:solidFill>
                  <a:srgbClr val="A50021"/>
                </a:solidFill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9339" y="3706876"/>
            <a:ext cx="1017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A50021"/>
                </a:solidFill>
                <a:latin typeface="Arial"/>
                <a:cs typeface="Arial"/>
              </a:rPr>
              <a:t>R</a:t>
            </a:r>
            <a:r>
              <a:rPr sz="1600" spc="-5" dirty="0">
                <a:solidFill>
                  <a:srgbClr val="A50021"/>
                </a:solidFill>
                <a:latin typeface="Arial"/>
                <a:cs typeface="Arial"/>
              </a:rPr>
              <a:t>u</a:t>
            </a:r>
            <a:r>
              <a:rPr sz="1600" dirty="0">
                <a:solidFill>
                  <a:srgbClr val="A50021"/>
                </a:solidFill>
                <a:latin typeface="Arial"/>
                <a:cs typeface="Arial"/>
              </a:rPr>
              <a:t>m</a:t>
            </a:r>
            <a:r>
              <a:rPr sz="1600" spc="-5" dirty="0">
                <a:solidFill>
                  <a:srgbClr val="A50021"/>
                </a:solidFill>
                <a:latin typeface="Arial"/>
                <a:cs typeface="Arial"/>
              </a:rPr>
              <a:t>baug</a:t>
            </a:r>
            <a:r>
              <a:rPr sz="1600" dirty="0">
                <a:solidFill>
                  <a:srgbClr val="A50021"/>
                </a:solidFill>
                <a:latin typeface="Arial"/>
                <a:cs typeface="Arial"/>
              </a:rPr>
              <a:t>h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01101" y="1996137"/>
            <a:ext cx="690245" cy="538480"/>
          </a:xfrm>
          <a:custGeom>
            <a:avLst/>
            <a:gdLst/>
            <a:ahLst/>
            <a:cxnLst/>
            <a:rect l="l" t="t" r="r" b="b"/>
            <a:pathLst>
              <a:path w="690244" h="538480">
                <a:moveTo>
                  <a:pt x="625651" y="41769"/>
                </a:moveTo>
                <a:lnTo>
                  <a:pt x="0" y="528387"/>
                </a:lnTo>
                <a:lnTo>
                  <a:pt x="7797" y="538412"/>
                </a:lnTo>
                <a:lnTo>
                  <a:pt x="633449" y="51795"/>
                </a:lnTo>
                <a:lnTo>
                  <a:pt x="625651" y="41769"/>
                </a:lnTo>
                <a:close/>
              </a:path>
              <a:path w="690244" h="538480">
                <a:moveTo>
                  <a:pt x="673451" y="33972"/>
                </a:moveTo>
                <a:lnTo>
                  <a:pt x="635676" y="33972"/>
                </a:lnTo>
                <a:lnTo>
                  <a:pt x="643474" y="43997"/>
                </a:lnTo>
                <a:lnTo>
                  <a:pt x="633449" y="51795"/>
                </a:lnTo>
                <a:lnTo>
                  <a:pt x="652941" y="76856"/>
                </a:lnTo>
                <a:lnTo>
                  <a:pt x="673451" y="33972"/>
                </a:lnTo>
                <a:close/>
              </a:path>
              <a:path w="690244" h="538480">
                <a:moveTo>
                  <a:pt x="635676" y="33972"/>
                </a:moveTo>
                <a:lnTo>
                  <a:pt x="625651" y="41769"/>
                </a:lnTo>
                <a:lnTo>
                  <a:pt x="633449" y="51795"/>
                </a:lnTo>
                <a:lnTo>
                  <a:pt x="643474" y="43997"/>
                </a:lnTo>
                <a:lnTo>
                  <a:pt x="635676" y="33972"/>
                </a:lnTo>
                <a:close/>
              </a:path>
              <a:path w="690244" h="538480">
                <a:moveTo>
                  <a:pt x="689698" y="0"/>
                </a:moveTo>
                <a:lnTo>
                  <a:pt x="606159" y="16708"/>
                </a:lnTo>
                <a:lnTo>
                  <a:pt x="625651" y="41769"/>
                </a:lnTo>
                <a:lnTo>
                  <a:pt x="635676" y="33972"/>
                </a:lnTo>
                <a:lnTo>
                  <a:pt x="673451" y="33972"/>
                </a:lnTo>
                <a:lnTo>
                  <a:pt x="68969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33600" y="2643839"/>
            <a:ext cx="1752600" cy="76200"/>
          </a:xfrm>
          <a:custGeom>
            <a:avLst/>
            <a:gdLst/>
            <a:ahLst/>
            <a:cxnLst/>
            <a:rect l="l" t="t" r="r" b="b"/>
            <a:pathLst>
              <a:path w="1752600" h="76200">
                <a:moveTo>
                  <a:pt x="1676400" y="44449"/>
                </a:moveTo>
                <a:lnTo>
                  <a:pt x="1676400" y="76200"/>
                </a:lnTo>
                <a:lnTo>
                  <a:pt x="1739900" y="44450"/>
                </a:lnTo>
                <a:lnTo>
                  <a:pt x="1676400" y="44449"/>
                </a:lnTo>
                <a:close/>
              </a:path>
              <a:path w="1752600" h="76200">
                <a:moveTo>
                  <a:pt x="1676400" y="31749"/>
                </a:moveTo>
                <a:lnTo>
                  <a:pt x="1676400" y="44449"/>
                </a:lnTo>
                <a:lnTo>
                  <a:pt x="1689102" y="44450"/>
                </a:lnTo>
                <a:lnTo>
                  <a:pt x="1689102" y="31750"/>
                </a:lnTo>
                <a:lnTo>
                  <a:pt x="1676400" y="31749"/>
                </a:lnTo>
                <a:close/>
              </a:path>
              <a:path w="1752600" h="76200">
                <a:moveTo>
                  <a:pt x="1676400" y="0"/>
                </a:moveTo>
                <a:lnTo>
                  <a:pt x="1676400" y="31749"/>
                </a:lnTo>
                <a:lnTo>
                  <a:pt x="1689102" y="31750"/>
                </a:lnTo>
                <a:lnTo>
                  <a:pt x="1689102" y="44450"/>
                </a:lnTo>
                <a:lnTo>
                  <a:pt x="1739902" y="44448"/>
                </a:lnTo>
                <a:lnTo>
                  <a:pt x="1752600" y="38100"/>
                </a:lnTo>
                <a:lnTo>
                  <a:pt x="1676400" y="0"/>
                </a:lnTo>
                <a:close/>
              </a:path>
              <a:path w="1752600" h="76200">
                <a:moveTo>
                  <a:pt x="0" y="31748"/>
                </a:moveTo>
                <a:lnTo>
                  <a:pt x="0" y="44448"/>
                </a:lnTo>
                <a:lnTo>
                  <a:pt x="1676400" y="44449"/>
                </a:lnTo>
                <a:lnTo>
                  <a:pt x="1676400" y="31749"/>
                </a:lnTo>
                <a:lnTo>
                  <a:pt x="0" y="3174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96087" y="1382896"/>
            <a:ext cx="539115" cy="765810"/>
          </a:xfrm>
          <a:custGeom>
            <a:avLst/>
            <a:gdLst/>
            <a:ahLst/>
            <a:cxnLst/>
            <a:rect l="l" t="t" r="r" b="b"/>
            <a:pathLst>
              <a:path w="539115" h="765810">
                <a:moveTo>
                  <a:pt x="12485" y="681366"/>
                </a:moveTo>
                <a:lnTo>
                  <a:pt x="0" y="765641"/>
                </a:lnTo>
                <a:lnTo>
                  <a:pt x="74910" y="725064"/>
                </a:lnTo>
                <a:lnTo>
                  <a:pt x="63764" y="717261"/>
                </a:lnTo>
                <a:lnTo>
                  <a:pt x="41617" y="717261"/>
                </a:lnTo>
                <a:lnTo>
                  <a:pt x="31214" y="709978"/>
                </a:lnTo>
                <a:lnTo>
                  <a:pt x="38496" y="699574"/>
                </a:lnTo>
                <a:lnTo>
                  <a:pt x="12485" y="681366"/>
                </a:lnTo>
                <a:close/>
              </a:path>
              <a:path w="539115" h="765810">
                <a:moveTo>
                  <a:pt x="38496" y="699574"/>
                </a:moveTo>
                <a:lnTo>
                  <a:pt x="31214" y="709978"/>
                </a:lnTo>
                <a:lnTo>
                  <a:pt x="41617" y="717261"/>
                </a:lnTo>
                <a:lnTo>
                  <a:pt x="48900" y="706857"/>
                </a:lnTo>
                <a:lnTo>
                  <a:pt x="38496" y="699574"/>
                </a:lnTo>
                <a:close/>
              </a:path>
              <a:path w="539115" h="765810">
                <a:moveTo>
                  <a:pt x="48900" y="706857"/>
                </a:moveTo>
                <a:lnTo>
                  <a:pt x="41617" y="717261"/>
                </a:lnTo>
                <a:lnTo>
                  <a:pt x="63764" y="717261"/>
                </a:lnTo>
                <a:lnTo>
                  <a:pt x="48900" y="706857"/>
                </a:lnTo>
                <a:close/>
              </a:path>
              <a:path w="539115" h="765810">
                <a:moveTo>
                  <a:pt x="528198" y="0"/>
                </a:moveTo>
                <a:lnTo>
                  <a:pt x="38496" y="699574"/>
                </a:lnTo>
                <a:lnTo>
                  <a:pt x="48900" y="706857"/>
                </a:lnTo>
                <a:lnTo>
                  <a:pt x="538603" y="7282"/>
                </a:lnTo>
                <a:lnTo>
                  <a:pt x="52819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52909" y="3972848"/>
            <a:ext cx="690880" cy="690880"/>
          </a:xfrm>
          <a:custGeom>
            <a:avLst/>
            <a:gdLst/>
            <a:ahLst/>
            <a:cxnLst/>
            <a:rect l="l" t="t" r="r" b="b"/>
            <a:pathLst>
              <a:path w="690880" h="690879">
                <a:moveTo>
                  <a:pt x="631918" y="640897"/>
                </a:moveTo>
                <a:lnTo>
                  <a:pt x="609467" y="663348"/>
                </a:lnTo>
                <a:lnTo>
                  <a:pt x="690290" y="690289"/>
                </a:lnTo>
                <a:lnTo>
                  <a:pt x="676820" y="649878"/>
                </a:lnTo>
                <a:lnTo>
                  <a:pt x="640899" y="649878"/>
                </a:lnTo>
                <a:lnTo>
                  <a:pt x="631918" y="640897"/>
                </a:lnTo>
                <a:close/>
              </a:path>
              <a:path w="690880" h="690879">
                <a:moveTo>
                  <a:pt x="640899" y="631917"/>
                </a:moveTo>
                <a:lnTo>
                  <a:pt x="631918" y="640897"/>
                </a:lnTo>
                <a:lnTo>
                  <a:pt x="640899" y="649878"/>
                </a:lnTo>
                <a:lnTo>
                  <a:pt x="649879" y="640897"/>
                </a:lnTo>
                <a:lnTo>
                  <a:pt x="640899" y="631917"/>
                </a:lnTo>
                <a:close/>
              </a:path>
              <a:path w="690880" h="690879">
                <a:moveTo>
                  <a:pt x="663350" y="609466"/>
                </a:moveTo>
                <a:lnTo>
                  <a:pt x="640899" y="631917"/>
                </a:lnTo>
                <a:lnTo>
                  <a:pt x="649879" y="640897"/>
                </a:lnTo>
                <a:lnTo>
                  <a:pt x="640899" y="649878"/>
                </a:lnTo>
                <a:lnTo>
                  <a:pt x="676820" y="649878"/>
                </a:lnTo>
                <a:lnTo>
                  <a:pt x="663350" y="609466"/>
                </a:lnTo>
                <a:close/>
              </a:path>
              <a:path w="690880" h="690879">
                <a:moveTo>
                  <a:pt x="8980" y="0"/>
                </a:moveTo>
                <a:lnTo>
                  <a:pt x="0" y="8980"/>
                </a:lnTo>
                <a:lnTo>
                  <a:pt x="631918" y="640897"/>
                </a:lnTo>
                <a:lnTo>
                  <a:pt x="640899" y="631917"/>
                </a:lnTo>
                <a:lnTo>
                  <a:pt x="89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53200" y="2453337"/>
            <a:ext cx="857885" cy="1146810"/>
          </a:xfrm>
          <a:custGeom>
            <a:avLst/>
            <a:gdLst/>
            <a:ahLst/>
            <a:cxnLst/>
            <a:rect l="l" t="t" r="r" b="b"/>
            <a:pathLst>
              <a:path w="857884" h="1146810">
                <a:moveTo>
                  <a:pt x="50647" y="57285"/>
                </a:moveTo>
                <a:lnTo>
                  <a:pt x="40467" y="64878"/>
                </a:lnTo>
                <a:lnTo>
                  <a:pt x="847397" y="1146796"/>
                </a:lnTo>
                <a:lnTo>
                  <a:pt x="857577" y="1139203"/>
                </a:lnTo>
                <a:lnTo>
                  <a:pt x="50647" y="57285"/>
                </a:lnTo>
                <a:close/>
              </a:path>
              <a:path w="857884" h="1146810">
                <a:moveTo>
                  <a:pt x="0" y="0"/>
                </a:moveTo>
                <a:lnTo>
                  <a:pt x="15016" y="83860"/>
                </a:lnTo>
                <a:lnTo>
                  <a:pt x="40467" y="64878"/>
                </a:lnTo>
                <a:lnTo>
                  <a:pt x="32875" y="54698"/>
                </a:lnTo>
                <a:lnTo>
                  <a:pt x="43055" y="47106"/>
                </a:lnTo>
                <a:lnTo>
                  <a:pt x="64294" y="47106"/>
                </a:lnTo>
                <a:lnTo>
                  <a:pt x="76098" y="38303"/>
                </a:lnTo>
                <a:lnTo>
                  <a:pt x="0" y="0"/>
                </a:lnTo>
                <a:close/>
              </a:path>
              <a:path w="857884" h="1146810">
                <a:moveTo>
                  <a:pt x="43055" y="47106"/>
                </a:moveTo>
                <a:lnTo>
                  <a:pt x="32875" y="54698"/>
                </a:lnTo>
                <a:lnTo>
                  <a:pt x="40467" y="64878"/>
                </a:lnTo>
                <a:lnTo>
                  <a:pt x="50647" y="57285"/>
                </a:lnTo>
                <a:lnTo>
                  <a:pt x="43055" y="47106"/>
                </a:lnTo>
                <a:close/>
              </a:path>
              <a:path w="857884" h="1146810">
                <a:moveTo>
                  <a:pt x="64294" y="47106"/>
                </a:moveTo>
                <a:lnTo>
                  <a:pt x="43055" y="47106"/>
                </a:lnTo>
                <a:lnTo>
                  <a:pt x="50647" y="57285"/>
                </a:lnTo>
                <a:lnTo>
                  <a:pt x="64294" y="4710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19887" y="3744518"/>
            <a:ext cx="614680" cy="690245"/>
          </a:xfrm>
          <a:custGeom>
            <a:avLst/>
            <a:gdLst/>
            <a:ahLst/>
            <a:cxnLst/>
            <a:rect l="l" t="t" r="r" b="b"/>
            <a:pathLst>
              <a:path w="614679" h="690245">
                <a:moveTo>
                  <a:pt x="22148" y="607754"/>
                </a:moveTo>
                <a:lnTo>
                  <a:pt x="0" y="690018"/>
                </a:lnTo>
                <a:lnTo>
                  <a:pt x="79101" y="658378"/>
                </a:lnTo>
                <a:lnTo>
                  <a:pt x="66049" y="646776"/>
                </a:lnTo>
                <a:lnTo>
                  <a:pt x="46934" y="646776"/>
                </a:lnTo>
                <a:lnTo>
                  <a:pt x="37442" y="638340"/>
                </a:lnTo>
                <a:lnTo>
                  <a:pt x="45879" y="628848"/>
                </a:lnTo>
                <a:lnTo>
                  <a:pt x="22148" y="607754"/>
                </a:lnTo>
                <a:close/>
              </a:path>
              <a:path w="614679" h="690245">
                <a:moveTo>
                  <a:pt x="45879" y="628848"/>
                </a:moveTo>
                <a:lnTo>
                  <a:pt x="37442" y="638340"/>
                </a:lnTo>
                <a:lnTo>
                  <a:pt x="46934" y="646776"/>
                </a:lnTo>
                <a:lnTo>
                  <a:pt x="55371" y="637284"/>
                </a:lnTo>
                <a:lnTo>
                  <a:pt x="45879" y="628848"/>
                </a:lnTo>
                <a:close/>
              </a:path>
              <a:path w="614679" h="690245">
                <a:moveTo>
                  <a:pt x="55371" y="637284"/>
                </a:moveTo>
                <a:lnTo>
                  <a:pt x="46934" y="646776"/>
                </a:lnTo>
                <a:lnTo>
                  <a:pt x="66049" y="646776"/>
                </a:lnTo>
                <a:lnTo>
                  <a:pt x="55371" y="637284"/>
                </a:lnTo>
                <a:close/>
              </a:path>
              <a:path w="614679" h="690245">
                <a:moveTo>
                  <a:pt x="604854" y="0"/>
                </a:moveTo>
                <a:lnTo>
                  <a:pt x="45879" y="628848"/>
                </a:lnTo>
                <a:lnTo>
                  <a:pt x="55371" y="637284"/>
                </a:lnTo>
                <a:lnTo>
                  <a:pt x="614347" y="8437"/>
                </a:lnTo>
                <a:lnTo>
                  <a:pt x="6048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04463" y="3746729"/>
            <a:ext cx="247015" cy="688340"/>
          </a:xfrm>
          <a:custGeom>
            <a:avLst/>
            <a:gdLst/>
            <a:ahLst/>
            <a:cxnLst/>
            <a:rect l="l" t="t" r="r" b="b"/>
            <a:pathLst>
              <a:path w="247015" h="688339">
                <a:moveTo>
                  <a:pt x="204503" y="617526"/>
                </a:moveTo>
                <a:lnTo>
                  <a:pt x="174382" y="627566"/>
                </a:lnTo>
                <a:lnTo>
                  <a:pt x="234623" y="687807"/>
                </a:lnTo>
                <a:lnTo>
                  <a:pt x="242942" y="629574"/>
                </a:lnTo>
                <a:lnTo>
                  <a:pt x="208520" y="629574"/>
                </a:lnTo>
                <a:lnTo>
                  <a:pt x="204503" y="617526"/>
                </a:lnTo>
                <a:close/>
              </a:path>
              <a:path w="247015" h="688339">
                <a:moveTo>
                  <a:pt x="216551" y="613510"/>
                </a:moveTo>
                <a:lnTo>
                  <a:pt x="204503" y="617526"/>
                </a:lnTo>
                <a:lnTo>
                  <a:pt x="208520" y="629574"/>
                </a:lnTo>
                <a:lnTo>
                  <a:pt x="220567" y="625557"/>
                </a:lnTo>
                <a:lnTo>
                  <a:pt x="216551" y="613510"/>
                </a:lnTo>
                <a:close/>
              </a:path>
              <a:path w="247015" h="688339">
                <a:moveTo>
                  <a:pt x="246672" y="603469"/>
                </a:moveTo>
                <a:lnTo>
                  <a:pt x="216551" y="613510"/>
                </a:lnTo>
                <a:lnTo>
                  <a:pt x="220567" y="625557"/>
                </a:lnTo>
                <a:lnTo>
                  <a:pt x="208520" y="629574"/>
                </a:lnTo>
                <a:lnTo>
                  <a:pt x="242942" y="629574"/>
                </a:lnTo>
                <a:lnTo>
                  <a:pt x="246672" y="603469"/>
                </a:lnTo>
                <a:close/>
              </a:path>
              <a:path w="247015" h="688339">
                <a:moveTo>
                  <a:pt x="12048" y="0"/>
                </a:moveTo>
                <a:lnTo>
                  <a:pt x="0" y="4015"/>
                </a:lnTo>
                <a:lnTo>
                  <a:pt x="204503" y="617526"/>
                </a:lnTo>
                <a:lnTo>
                  <a:pt x="216551" y="613510"/>
                </a:lnTo>
                <a:lnTo>
                  <a:pt x="120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430462" y="224027"/>
            <a:ext cx="42830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面向对象分析</a:t>
            </a:r>
            <a:r>
              <a:rPr sz="3800" spc="-5" dirty="0">
                <a:latin typeface="Calibri"/>
                <a:cs typeface="Calibri"/>
              </a:rPr>
              <a:t>—U</a:t>
            </a:r>
            <a:r>
              <a:rPr sz="3800" dirty="0">
                <a:latin typeface="Calibri"/>
                <a:cs typeface="Calibri"/>
              </a:rPr>
              <a:t>ML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3887" y="251459"/>
            <a:ext cx="288163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5" dirty="0">
                <a:latin typeface="Calibri"/>
                <a:cs typeface="Calibri"/>
              </a:rPr>
              <a:t>U</a:t>
            </a:r>
            <a:r>
              <a:rPr sz="3800" dirty="0">
                <a:latin typeface="Calibri"/>
                <a:cs typeface="Calibri"/>
              </a:rPr>
              <a:t>ML</a:t>
            </a:r>
            <a:r>
              <a:rPr sz="3800" dirty="0"/>
              <a:t>发展历程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5650" y="2060575"/>
            <a:ext cx="7777163" cy="3189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0056" y="208788"/>
            <a:ext cx="55676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的特性与发展现状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1386331"/>
            <a:ext cx="7683500" cy="46615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UM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400" dirty="0">
                <a:latin typeface="宋体"/>
                <a:cs typeface="宋体"/>
              </a:rPr>
              <a:t>是一种</a:t>
            </a:r>
            <a:r>
              <a:rPr sz="2400" spc="-5" dirty="0">
                <a:latin typeface="Calibri"/>
                <a:cs typeface="Calibri"/>
              </a:rPr>
              <a:t>Language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dirty="0">
                <a:latin typeface="宋体"/>
                <a:cs typeface="宋体"/>
              </a:rPr>
              <a:t>语言）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2400" spc="-5" dirty="0">
                <a:latin typeface="Calibri"/>
                <a:cs typeface="Calibri"/>
              </a:rPr>
              <a:t>L</a:t>
            </a:r>
            <a:r>
              <a:rPr sz="2400" dirty="0">
                <a:latin typeface="宋体"/>
                <a:cs typeface="宋体"/>
              </a:rPr>
              <a:t>是一种</a:t>
            </a:r>
            <a:r>
              <a:rPr sz="2400" spc="-5" dirty="0">
                <a:latin typeface="Calibri"/>
                <a:cs typeface="Calibri"/>
              </a:rPr>
              <a:t>Modeling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dirty="0">
                <a:latin typeface="宋体"/>
                <a:cs typeface="宋体"/>
              </a:rPr>
              <a:t>建模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spc="-5" dirty="0">
                <a:latin typeface="Calibri"/>
                <a:cs typeface="Calibri"/>
              </a:rPr>
              <a:t>Language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400" spc="-5" dirty="0">
                <a:latin typeface="Calibri"/>
                <a:cs typeface="Calibri"/>
              </a:rPr>
              <a:t>ML</a:t>
            </a:r>
            <a:r>
              <a:rPr sz="2400" dirty="0">
                <a:latin typeface="宋体"/>
                <a:cs typeface="宋体"/>
              </a:rPr>
              <a:t>是</a:t>
            </a:r>
            <a:r>
              <a:rPr sz="2400" spc="-5" dirty="0">
                <a:latin typeface="Calibri"/>
                <a:cs typeface="Calibri"/>
              </a:rPr>
              <a:t>Unified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dirty="0">
                <a:latin typeface="宋体"/>
                <a:cs typeface="宋体"/>
              </a:rPr>
              <a:t>统一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spc="-5" dirty="0">
                <a:latin typeface="Calibri"/>
                <a:cs typeface="Calibri"/>
              </a:rPr>
              <a:t>Modeling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Language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663C"/>
              </a:buClr>
              <a:buFont typeface="Wingdings"/>
              <a:buChar char=""/>
            </a:pPr>
            <a:endParaRPr sz="29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88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已进入全面应用阶段的事实标准</a:t>
            </a:r>
            <a:endParaRPr sz="2400">
              <a:latin typeface="宋体"/>
              <a:cs typeface="宋体"/>
            </a:endParaRPr>
          </a:p>
          <a:p>
            <a:pPr marL="355600" marR="5080" indent="-342900">
              <a:lnSpc>
                <a:spcPct val="125000"/>
              </a:lnSpc>
              <a:spcBef>
                <a:spcPts val="6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应用领域正在逐渐扩展，包括嵌入式系统建模、业务建 模、流程建模等多个领域</a:t>
            </a:r>
            <a:endParaRPr sz="2400">
              <a:latin typeface="宋体"/>
              <a:cs typeface="宋体"/>
            </a:endParaRPr>
          </a:p>
          <a:p>
            <a:pPr marL="355600" marR="1214120" indent="-342900">
              <a:lnSpc>
                <a:spcPct val="125000"/>
              </a:lnSpc>
              <a:spcBef>
                <a:spcPts val="6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成为“产生式编程”的重要支持技术：</a:t>
            </a:r>
            <a:r>
              <a:rPr sz="2400" spc="-5" dirty="0">
                <a:latin typeface="Calibri"/>
                <a:cs typeface="Calibri"/>
              </a:rPr>
              <a:t>M</a:t>
            </a:r>
            <a:r>
              <a:rPr sz="2400" spc="-40" dirty="0">
                <a:latin typeface="Calibri"/>
                <a:cs typeface="Calibri"/>
              </a:rPr>
              <a:t>D</a:t>
            </a:r>
            <a:r>
              <a:rPr sz="2400" spc="-5" dirty="0">
                <a:latin typeface="Calibri"/>
                <a:cs typeface="Calibri"/>
              </a:rPr>
              <a:t>A</a:t>
            </a:r>
            <a:r>
              <a:rPr sz="2400" dirty="0">
                <a:latin typeface="宋体"/>
                <a:cs typeface="宋体"/>
              </a:rPr>
              <a:t>、 可执行</a:t>
            </a:r>
            <a:r>
              <a:rPr sz="2400" spc="-5" dirty="0">
                <a:latin typeface="Calibri"/>
                <a:cs typeface="Calibri"/>
              </a:rPr>
              <a:t>UML</a:t>
            </a:r>
            <a:r>
              <a:rPr sz="2400" dirty="0">
                <a:latin typeface="宋体"/>
                <a:cs typeface="宋体"/>
              </a:rPr>
              <a:t>等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052" y="1336403"/>
            <a:ext cx="7766050" cy="376809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9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需求获取</a:t>
            </a:r>
            <a:endParaRPr sz="3200">
              <a:latin typeface="宋体"/>
              <a:cs typeface="宋体"/>
            </a:endParaRPr>
          </a:p>
          <a:p>
            <a:pPr marL="641350" marR="5080" lvl="1" indent="-342900">
              <a:lnSpc>
                <a:spcPct val="125000"/>
              </a:lnSpc>
              <a:spcBef>
                <a:spcPts val="73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640715" algn="l"/>
                <a:tab pos="641350" algn="l"/>
              </a:tabLst>
            </a:pPr>
            <a:r>
              <a:rPr sz="2800" dirty="0">
                <a:latin typeface="宋体"/>
                <a:cs typeface="宋体"/>
              </a:rPr>
              <a:t>对捕获的需求进行整理和分析的工具，辅助开 发人员与用户进行沟通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639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需求分析</a:t>
            </a:r>
            <a:endParaRPr sz="3200">
              <a:latin typeface="宋体"/>
              <a:cs typeface="宋体"/>
            </a:endParaRPr>
          </a:p>
          <a:p>
            <a:pPr marL="641350" marR="5080" lvl="1" indent="-342900">
              <a:lnSpc>
                <a:spcPct val="125000"/>
              </a:lnSpc>
              <a:spcBef>
                <a:spcPts val="81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640715" algn="l"/>
                <a:tab pos="641350" algn="l"/>
              </a:tabLst>
            </a:pPr>
            <a:r>
              <a:rPr sz="2800" dirty="0">
                <a:latin typeface="宋体"/>
                <a:cs typeface="宋体"/>
              </a:rPr>
              <a:t>包含高层设计（架构模型）和详细设计模型， 用于统一开发人员、沟通设计信息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20056" y="208788"/>
            <a:ext cx="55676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软件需求工程中的</a:t>
            </a:r>
            <a:r>
              <a:rPr dirty="0">
                <a:latin typeface="Calibri"/>
                <a:cs typeface="Calibri"/>
              </a:rPr>
              <a:t>UML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0624" y="220980"/>
            <a:ext cx="47783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面向对象分析（</a:t>
            </a:r>
            <a:r>
              <a:rPr spc="-10" dirty="0">
                <a:latin typeface="Calibri"/>
                <a:cs typeface="Calibri"/>
              </a:rPr>
              <a:t>1</a:t>
            </a:r>
            <a:r>
              <a:rPr dirty="0"/>
              <a:t>）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475"/>
            <a:ext cx="5440680" cy="23634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面向对象方法概述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面向对象分析</a:t>
            </a:r>
            <a:r>
              <a:rPr sz="3200" spc="-919" dirty="0">
                <a:latin typeface="宋体"/>
                <a:cs typeface="宋体"/>
              </a:rPr>
              <a:t> </a:t>
            </a:r>
            <a:r>
              <a:rPr sz="3200" spc="-5" dirty="0">
                <a:latin typeface="Calibri"/>
                <a:cs typeface="Calibri"/>
              </a:rPr>
              <a:t>VS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宋体"/>
                <a:cs typeface="宋体"/>
              </a:rPr>
              <a:t>结构化分析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UML</a:t>
            </a:r>
            <a:r>
              <a:rPr sz="3200" dirty="0">
                <a:latin typeface="宋体"/>
                <a:cs typeface="宋体"/>
              </a:rPr>
              <a:t>模型概述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UML</a:t>
            </a: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和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Rose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052" y="1229868"/>
            <a:ext cx="43732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Rose</a:t>
            </a:r>
            <a:r>
              <a:rPr sz="3200" dirty="0">
                <a:latin typeface="宋体"/>
                <a:cs typeface="宋体"/>
              </a:rPr>
              <a:t>下的</a:t>
            </a:r>
            <a:r>
              <a:rPr sz="3200" spc="-5" dirty="0">
                <a:latin typeface="Calibri"/>
                <a:cs typeface="Calibri"/>
              </a:rPr>
              <a:t>UML</a:t>
            </a:r>
            <a:r>
              <a:rPr sz="3200" dirty="0">
                <a:latin typeface="宋体"/>
                <a:cs typeface="宋体"/>
              </a:rPr>
              <a:t>基本元素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4662" y="208788"/>
            <a:ext cx="65385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Rational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Rose 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建模工具</a:t>
            </a:r>
          </a:p>
        </p:txBody>
      </p:sp>
      <p:sp>
        <p:nvSpPr>
          <p:cNvPr id="4" name="object 4"/>
          <p:cNvSpPr/>
          <p:nvPr/>
        </p:nvSpPr>
        <p:spPr>
          <a:xfrm>
            <a:off x="959024" y="1897199"/>
            <a:ext cx="6897687" cy="4333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0646" y="208788"/>
            <a:ext cx="81661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其它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建模工具</a:t>
            </a:r>
            <a:r>
              <a:rPr dirty="0">
                <a:latin typeface="Calibri"/>
                <a:cs typeface="Calibri"/>
              </a:rPr>
              <a:t>: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PowerDesigner</a:t>
            </a:r>
          </a:p>
        </p:txBody>
      </p:sp>
      <p:sp>
        <p:nvSpPr>
          <p:cNvPr id="3" name="object 3"/>
          <p:cNvSpPr/>
          <p:nvPr/>
        </p:nvSpPr>
        <p:spPr>
          <a:xfrm>
            <a:off x="107973" y="1308969"/>
            <a:ext cx="3598179" cy="2192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64487" y="3079950"/>
            <a:ext cx="5179512" cy="29759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060" y="208788"/>
            <a:ext cx="711263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其它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建模工具</a:t>
            </a:r>
            <a:r>
              <a:rPr dirty="0">
                <a:latin typeface="Calibri"/>
                <a:cs typeface="Calibri"/>
              </a:rPr>
              <a:t>: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ProcessOn</a:t>
            </a:r>
          </a:p>
        </p:txBody>
      </p:sp>
      <p:sp>
        <p:nvSpPr>
          <p:cNvPr id="3" name="object 3"/>
          <p:cNvSpPr/>
          <p:nvPr/>
        </p:nvSpPr>
        <p:spPr>
          <a:xfrm>
            <a:off x="281834" y="1375117"/>
            <a:ext cx="8580327" cy="44125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3262" y="208788"/>
            <a:ext cx="44621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s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dirty="0"/>
              <a:t>模型组织元素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991108"/>
            <a:ext cx="4635500" cy="124460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图：最直接的一种组织元素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模型：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90327" y="2210308"/>
            <a:ext cx="2378075" cy="10922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800" spc="5" dirty="0">
                <a:latin typeface="Calibri"/>
                <a:cs typeface="Calibri"/>
              </a:rPr>
              <a:t>--</a:t>
            </a:r>
            <a:r>
              <a:rPr sz="2800" dirty="0">
                <a:latin typeface="宋体"/>
                <a:cs typeface="宋体"/>
              </a:rPr>
              <a:t>系统分析模型</a:t>
            </a:r>
            <a:endParaRPr sz="2800">
              <a:latin typeface="宋体"/>
              <a:cs typeface="宋体"/>
            </a:endParaRPr>
          </a:p>
          <a:p>
            <a:pPr marL="29845">
              <a:lnSpc>
                <a:spcPct val="100000"/>
              </a:lnSpc>
              <a:spcBef>
                <a:spcPts val="840"/>
              </a:spcBef>
            </a:pPr>
            <a:r>
              <a:rPr sz="2800" spc="5" dirty="0">
                <a:latin typeface="Calibri"/>
                <a:cs typeface="Calibri"/>
              </a:rPr>
              <a:t>--</a:t>
            </a:r>
            <a:r>
              <a:rPr sz="2800" dirty="0">
                <a:latin typeface="宋体"/>
                <a:cs typeface="宋体"/>
              </a:rPr>
              <a:t>实现模型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052" y="2210308"/>
            <a:ext cx="2720975" cy="33147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940"/>
              </a:spcBef>
            </a:pPr>
            <a:r>
              <a:rPr sz="2800" spc="5" dirty="0">
                <a:latin typeface="Calibri"/>
                <a:cs typeface="Calibri"/>
              </a:rPr>
              <a:t>--</a:t>
            </a:r>
            <a:r>
              <a:rPr sz="2800" dirty="0">
                <a:latin typeface="宋体"/>
                <a:cs typeface="宋体"/>
              </a:rPr>
              <a:t>业务分析模型</a:t>
            </a:r>
            <a:endParaRPr sz="280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840"/>
              </a:spcBef>
            </a:pPr>
            <a:r>
              <a:rPr sz="2800" spc="5" dirty="0">
                <a:latin typeface="Calibri"/>
                <a:cs typeface="Calibri"/>
              </a:rPr>
              <a:t>--</a:t>
            </a:r>
            <a:r>
              <a:rPr sz="2800" dirty="0">
                <a:latin typeface="宋体"/>
                <a:cs typeface="宋体"/>
              </a:rPr>
              <a:t>设计模型</a:t>
            </a:r>
            <a:endParaRPr sz="280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840"/>
              </a:spcBef>
            </a:pPr>
            <a:r>
              <a:rPr sz="2800" spc="5" dirty="0">
                <a:latin typeface="Calibri"/>
                <a:cs typeface="Calibri"/>
              </a:rPr>
              <a:t>--</a:t>
            </a:r>
            <a:r>
              <a:rPr sz="2800" dirty="0">
                <a:latin typeface="宋体"/>
                <a:cs typeface="宋体"/>
              </a:rPr>
              <a:t>测试模型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53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视图</a:t>
            </a:r>
            <a:endParaRPr sz="280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840"/>
              </a:spcBef>
            </a:pPr>
            <a:r>
              <a:rPr sz="2800" spc="5" dirty="0">
                <a:latin typeface="Calibri"/>
                <a:cs typeface="Calibri"/>
              </a:rPr>
              <a:t>--</a:t>
            </a:r>
            <a:r>
              <a:rPr sz="2800" dirty="0">
                <a:latin typeface="宋体"/>
                <a:cs typeface="宋体"/>
              </a:rPr>
              <a:t>逻辑视图</a:t>
            </a:r>
            <a:endParaRPr sz="2800">
              <a:latin typeface="宋体"/>
              <a:cs typeface="宋体"/>
            </a:endParaRPr>
          </a:p>
          <a:p>
            <a:pPr marL="355600">
              <a:lnSpc>
                <a:spcPct val="100000"/>
              </a:lnSpc>
              <a:spcBef>
                <a:spcPts val="840"/>
              </a:spcBef>
            </a:pPr>
            <a:r>
              <a:rPr sz="2800" spc="5" dirty="0">
                <a:latin typeface="Calibri"/>
                <a:cs typeface="Calibri"/>
              </a:rPr>
              <a:t>--</a:t>
            </a:r>
            <a:r>
              <a:rPr sz="2800" dirty="0">
                <a:latin typeface="宋体"/>
                <a:cs typeface="宋体"/>
              </a:rPr>
              <a:t>实现视图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7790" y="4432300"/>
            <a:ext cx="1666875" cy="10922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800" spc="5" dirty="0">
                <a:latin typeface="Calibri"/>
                <a:cs typeface="Calibri"/>
              </a:rPr>
              <a:t>--</a:t>
            </a:r>
            <a:r>
              <a:rPr sz="2800" dirty="0">
                <a:latin typeface="宋体"/>
                <a:cs typeface="宋体"/>
              </a:rPr>
              <a:t>进程视图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800" spc="5" dirty="0">
                <a:latin typeface="Calibri"/>
                <a:cs typeface="Calibri"/>
              </a:rPr>
              <a:t>--</a:t>
            </a:r>
            <a:r>
              <a:rPr sz="2800" dirty="0">
                <a:latin typeface="宋体"/>
                <a:cs typeface="宋体"/>
              </a:rPr>
              <a:t>部署视图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052" y="5694171"/>
            <a:ext cx="5702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包：视图、模型、子系统、层、包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6421" y="175259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视图、模型与图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3038" y="1838325"/>
          <a:ext cx="8664575" cy="30493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视图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模型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 rowSpan="2"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用例视图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业务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系统分析模型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为主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用例图、交互图、状态机图、类图、交互概述图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设计模型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交互图、状态机图、类图、交互概述图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90">
                <a:tc rowSpan="3"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逻辑视图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业务分析模型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类图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设计分析模型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为主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类图、交互图、状态机图、对象图、包图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设计模型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  <a:spcBef>
                          <a:spcPts val="45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活动图、交互图、活动图、交互概述图、状态机图、对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342265" algn="ctr">
                        <a:lnSpc>
                          <a:spcPts val="186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象图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实现视图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设计模型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构件图、部署图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部署视图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设计模型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部署图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1230" y="208788"/>
            <a:ext cx="33445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s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dirty="0"/>
              <a:t>操作基础</a:t>
            </a:r>
          </a:p>
        </p:txBody>
      </p:sp>
      <p:sp>
        <p:nvSpPr>
          <p:cNvPr id="3" name="object 3"/>
          <p:cNvSpPr/>
          <p:nvPr/>
        </p:nvSpPr>
        <p:spPr>
          <a:xfrm>
            <a:off x="323850" y="1102761"/>
            <a:ext cx="6978178" cy="5060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53071" y="2602009"/>
            <a:ext cx="3266804" cy="38000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6917" y="120395"/>
            <a:ext cx="4495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用例图的组织方法</a:t>
            </a:r>
          </a:p>
        </p:txBody>
      </p:sp>
      <p:sp>
        <p:nvSpPr>
          <p:cNvPr id="3" name="object 3"/>
          <p:cNvSpPr/>
          <p:nvPr/>
        </p:nvSpPr>
        <p:spPr>
          <a:xfrm>
            <a:off x="5123601" y="917488"/>
            <a:ext cx="2755041" cy="52204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36852" y="2552900"/>
            <a:ext cx="2908935" cy="1644650"/>
          </a:xfrm>
          <a:custGeom>
            <a:avLst/>
            <a:gdLst/>
            <a:ahLst/>
            <a:cxnLst/>
            <a:rect l="l" t="t" r="r" b="b"/>
            <a:pathLst>
              <a:path w="2908934" h="1644650">
                <a:moveTo>
                  <a:pt x="2908401" y="822137"/>
                </a:moveTo>
                <a:lnTo>
                  <a:pt x="2903331" y="752985"/>
                </a:lnTo>
                <a:lnTo>
                  <a:pt x="2888392" y="685421"/>
                </a:lnTo>
                <a:lnTo>
                  <a:pt x="2863986" y="619673"/>
                </a:lnTo>
                <a:lnTo>
                  <a:pt x="2830519" y="555968"/>
                </a:lnTo>
                <a:lnTo>
                  <a:pt x="2788393" y="494536"/>
                </a:lnTo>
                <a:lnTo>
                  <a:pt x="2764209" y="464742"/>
                </a:lnTo>
                <a:lnTo>
                  <a:pt x="2738013" y="435603"/>
                </a:lnTo>
                <a:lnTo>
                  <a:pt x="2709854" y="407145"/>
                </a:lnTo>
                <a:lnTo>
                  <a:pt x="2679782" y="379398"/>
                </a:lnTo>
                <a:lnTo>
                  <a:pt x="2647849" y="352389"/>
                </a:lnTo>
                <a:lnTo>
                  <a:pt x="2614105" y="326149"/>
                </a:lnTo>
                <a:lnTo>
                  <a:pt x="2578600" y="300704"/>
                </a:lnTo>
                <a:lnTo>
                  <a:pt x="2541386" y="276084"/>
                </a:lnTo>
                <a:lnTo>
                  <a:pt x="2502511" y="252316"/>
                </a:lnTo>
                <a:lnTo>
                  <a:pt x="2462027" y="229430"/>
                </a:lnTo>
                <a:lnTo>
                  <a:pt x="2419984" y="207455"/>
                </a:lnTo>
                <a:lnTo>
                  <a:pt x="2376434" y="186417"/>
                </a:lnTo>
                <a:lnTo>
                  <a:pt x="2331425" y="166347"/>
                </a:lnTo>
                <a:lnTo>
                  <a:pt x="2285009" y="147272"/>
                </a:lnTo>
                <a:lnTo>
                  <a:pt x="2237237" y="129222"/>
                </a:lnTo>
                <a:lnTo>
                  <a:pt x="2188158" y="112224"/>
                </a:lnTo>
                <a:lnTo>
                  <a:pt x="2137823" y="96307"/>
                </a:lnTo>
                <a:lnTo>
                  <a:pt x="2086283" y="81499"/>
                </a:lnTo>
                <a:lnTo>
                  <a:pt x="2033588" y="67830"/>
                </a:lnTo>
                <a:lnTo>
                  <a:pt x="1979789" y="55327"/>
                </a:lnTo>
                <a:lnTo>
                  <a:pt x="1924936" y="44019"/>
                </a:lnTo>
                <a:lnTo>
                  <a:pt x="1869079" y="33935"/>
                </a:lnTo>
                <a:lnTo>
                  <a:pt x="1812270" y="25102"/>
                </a:lnTo>
                <a:lnTo>
                  <a:pt x="1754558" y="17551"/>
                </a:lnTo>
                <a:lnTo>
                  <a:pt x="1695994" y="11308"/>
                </a:lnTo>
                <a:lnTo>
                  <a:pt x="1636629" y="6404"/>
                </a:lnTo>
                <a:lnTo>
                  <a:pt x="1576513" y="2865"/>
                </a:lnTo>
                <a:lnTo>
                  <a:pt x="1515697" y="721"/>
                </a:lnTo>
                <a:lnTo>
                  <a:pt x="1454230" y="0"/>
                </a:lnTo>
                <a:lnTo>
                  <a:pt x="1392757" y="721"/>
                </a:lnTo>
                <a:lnTo>
                  <a:pt x="1331933" y="2865"/>
                </a:lnTo>
                <a:lnTo>
                  <a:pt x="1271811" y="6404"/>
                </a:lnTo>
                <a:lnTo>
                  <a:pt x="1212440" y="11308"/>
                </a:lnTo>
                <a:lnTo>
                  <a:pt x="1153871" y="17551"/>
                </a:lnTo>
                <a:lnTo>
                  <a:pt x="1096155" y="25102"/>
                </a:lnTo>
                <a:lnTo>
                  <a:pt x="1039341" y="33935"/>
                </a:lnTo>
                <a:lnTo>
                  <a:pt x="983480" y="44019"/>
                </a:lnTo>
                <a:lnTo>
                  <a:pt x="928624" y="55327"/>
                </a:lnTo>
                <a:lnTo>
                  <a:pt x="874821" y="67830"/>
                </a:lnTo>
                <a:lnTo>
                  <a:pt x="822124" y="81499"/>
                </a:lnTo>
                <a:lnTo>
                  <a:pt x="770581" y="96307"/>
                </a:lnTo>
                <a:lnTo>
                  <a:pt x="720244" y="112224"/>
                </a:lnTo>
                <a:lnTo>
                  <a:pt x="671163" y="129222"/>
                </a:lnTo>
                <a:lnTo>
                  <a:pt x="623389" y="147272"/>
                </a:lnTo>
                <a:lnTo>
                  <a:pt x="576972" y="166347"/>
                </a:lnTo>
                <a:lnTo>
                  <a:pt x="531962" y="186417"/>
                </a:lnTo>
                <a:lnTo>
                  <a:pt x="488410" y="207455"/>
                </a:lnTo>
                <a:lnTo>
                  <a:pt x="446367" y="229430"/>
                </a:lnTo>
                <a:lnTo>
                  <a:pt x="405883" y="252316"/>
                </a:lnTo>
                <a:lnTo>
                  <a:pt x="367008" y="276084"/>
                </a:lnTo>
                <a:lnTo>
                  <a:pt x="329793" y="300704"/>
                </a:lnTo>
                <a:lnTo>
                  <a:pt x="294288" y="326149"/>
                </a:lnTo>
                <a:lnTo>
                  <a:pt x="260544" y="352389"/>
                </a:lnTo>
                <a:lnTo>
                  <a:pt x="228612" y="379398"/>
                </a:lnTo>
                <a:lnTo>
                  <a:pt x="198541" y="407145"/>
                </a:lnTo>
                <a:lnTo>
                  <a:pt x="170382" y="435603"/>
                </a:lnTo>
                <a:lnTo>
                  <a:pt x="144186" y="464742"/>
                </a:lnTo>
                <a:lnTo>
                  <a:pt x="120003" y="494536"/>
                </a:lnTo>
                <a:lnTo>
                  <a:pt x="77878" y="555968"/>
                </a:lnTo>
                <a:lnTo>
                  <a:pt x="44412" y="619673"/>
                </a:lnTo>
                <a:lnTo>
                  <a:pt x="20008" y="685421"/>
                </a:lnTo>
                <a:lnTo>
                  <a:pt x="5069" y="752985"/>
                </a:lnTo>
                <a:lnTo>
                  <a:pt x="0" y="822137"/>
                </a:lnTo>
                <a:lnTo>
                  <a:pt x="1275" y="856888"/>
                </a:lnTo>
                <a:lnTo>
                  <a:pt x="11330" y="925259"/>
                </a:lnTo>
                <a:lnTo>
                  <a:pt x="31052" y="991932"/>
                </a:lnTo>
                <a:lnTo>
                  <a:pt x="60038" y="1056679"/>
                </a:lnTo>
                <a:lnTo>
                  <a:pt x="97884" y="1119270"/>
                </a:lnTo>
                <a:lnTo>
                  <a:pt x="144186" y="1179478"/>
                </a:lnTo>
                <a:lnTo>
                  <a:pt x="170382" y="1208617"/>
                </a:lnTo>
                <a:lnTo>
                  <a:pt x="198541" y="1237075"/>
                </a:lnTo>
                <a:lnTo>
                  <a:pt x="228612" y="1264822"/>
                </a:lnTo>
                <a:lnTo>
                  <a:pt x="260544" y="1291831"/>
                </a:lnTo>
                <a:lnTo>
                  <a:pt x="294288" y="1318073"/>
                </a:lnTo>
                <a:lnTo>
                  <a:pt x="329793" y="1343519"/>
                </a:lnTo>
                <a:lnTo>
                  <a:pt x="367008" y="1368142"/>
                </a:lnTo>
                <a:lnTo>
                  <a:pt x="405883" y="1391911"/>
                </a:lnTo>
                <a:lnTo>
                  <a:pt x="446367" y="1414799"/>
                </a:lnTo>
                <a:lnTo>
                  <a:pt x="488410" y="1436777"/>
                </a:lnTo>
                <a:lnTo>
                  <a:pt x="531962" y="1457817"/>
                </a:lnTo>
                <a:lnTo>
                  <a:pt x="576972" y="1477890"/>
                </a:lnTo>
                <a:lnTo>
                  <a:pt x="623389" y="1496968"/>
                </a:lnTo>
                <a:lnTo>
                  <a:pt x="671163" y="1515022"/>
                </a:lnTo>
                <a:lnTo>
                  <a:pt x="720244" y="1532023"/>
                </a:lnTo>
                <a:lnTo>
                  <a:pt x="770581" y="1547943"/>
                </a:lnTo>
                <a:lnTo>
                  <a:pt x="822124" y="1562754"/>
                </a:lnTo>
                <a:lnTo>
                  <a:pt x="874821" y="1576426"/>
                </a:lnTo>
                <a:lnTo>
                  <a:pt x="928624" y="1588932"/>
                </a:lnTo>
                <a:lnTo>
                  <a:pt x="983480" y="1600243"/>
                </a:lnTo>
                <a:lnTo>
                  <a:pt x="1039341" y="1610329"/>
                </a:lnTo>
                <a:lnTo>
                  <a:pt x="1096155" y="1619164"/>
                </a:lnTo>
                <a:lnTo>
                  <a:pt x="1153871" y="1626718"/>
                </a:lnTo>
                <a:lnTo>
                  <a:pt x="1212440" y="1632962"/>
                </a:lnTo>
                <a:lnTo>
                  <a:pt x="1271811" y="1637868"/>
                </a:lnTo>
                <a:lnTo>
                  <a:pt x="1331933" y="1641408"/>
                </a:lnTo>
                <a:lnTo>
                  <a:pt x="1392757" y="1643553"/>
                </a:lnTo>
                <a:lnTo>
                  <a:pt x="1454230" y="1644274"/>
                </a:lnTo>
                <a:lnTo>
                  <a:pt x="1515697" y="1643553"/>
                </a:lnTo>
                <a:lnTo>
                  <a:pt x="1576513" y="1641408"/>
                </a:lnTo>
                <a:lnTo>
                  <a:pt x="1636629" y="1637868"/>
                </a:lnTo>
                <a:lnTo>
                  <a:pt x="1695994" y="1632962"/>
                </a:lnTo>
                <a:lnTo>
                  <a:pt x="1754558" y="1626718"/>
                </a:lnTo>
                <a:lnTo>
                  <a:pt x="1812270" y="1619164"/>
                </a:lnTo>
                <a:lnTo>
                  <a:pt x="1869079" y="1610329"/>
                </a:lnTo>
                <a:lnTo>
                  <a:pt x="1924936" y="1600243"/>
                </a:lnTo>
                <a:lnTo>
                  <a:pt x="1979789" y="1588932"/>
                </a:lnTo>
                <a:lnTo>
                  <a:pt x="2033588" y="1576426"/>
                </a:lnTo>
                <a:lnTo>
                  <a:pt x="2086283" y="1562754"/>
                </a:lnTo>
                <a:lnTo>
                  <a:pt x="2137823" y="1547943"/>
                </a:lnTo>
                <a:lnTo>
                  <a:pt x="2188158" y="1532023"/>
                </a:lnTo>
                <a:lnTo>
                  <a:pt x="2237237" y="1515022"/>
                </a:lnTo>
                <a:lnTo>
                  <a:pt x="2285009" y="1496968"/>
                </a:lnTo>
                <a:lnTo>
                  <a:pt x="2331425" y="1477890"/>
                </a:lnTo>
                <a:lnTo>
                  <a:pt x="2376434" y="1457817"/>
                </a:lnTo>
                <a:lnTo>
                  <a:pt x="2419984" y="1436777"/>
                </a:lnTo>
                <a:lnTo>
                  <a:pt x="2462027" y="1414799"/>
                </a:lnTo>
                <a:lnTo>
                  <a:pt x="2502511" y="1391911"/>
                </a:lnTo>
                <a:lnTo>
                  <a:pt x="2541386" y="1368142"/>
                </a:lnTo>
                <a:lnTo>
                  <a:pt x="2578600" y="1343519"/>
                </a:lnTo>
                <a:lnTo>
                  <a:pt x="2614105" y="1318073"/>
                </a:lnTo>
                <a:lnTo>
                  <a:pt x="2647849" y="1291831"/>
                </a:lnTo>
                <a:lnTo>
                  <a:pt x="2679782" y="1264822"/>
                </a:lnTo>
                <a:lnTo>
                  <a:pt x="2709854" y="1237075"/>
                </a:lnTo>
                <a:lnTo>
                  <a:pt x="2738013" y="1208617"/>
                </a:lnTo>
                <a:lnTo>
                  <a:pt x="2764209" y="1179478"/>
                </a:lnTo>
                <a:lnTo>
                  <a:pt x="2788393" y="1149687"/>
                </a:lnTo>
                <a:lnTo>
                  <a:pt x="2830519" y="1088258"/>
                </a:lnTo>
                <a:lnTo>
                  <a:pt x="2863986" y="1024561"/>
                </a:lnTo>
                <a:lnTo>
                  <a:pt x="2888392" y="958822"/>
                </a:lnTo>
                <a:lnTo>
                  <a:pt x="2903331" y="891272"/>
                </a:lnTo>
                <a:lnTo>
                  <a:pt x="2908401" y="822137"/>
                </a:lnTo>
                <a:close/>
              </a:path>
            </a:pathLst>
          </a:custGeom>
          <a:ln w="14497">
            <a:solidFill>
              <a:srgbClr val="FF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26357" y="3981811"/>
            <a:ext cx="895350" cy="287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10" dirty="0">
                <a:solidFill>
                  <a:srgbClr val="FF0000"/>
                </a:solidFill>
                <a:latin typeface="宋体"/>
                <a:cs typeface="宋体"/>
              </a:rPr>
              <a:t>设计部分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7633" y="1460499"/>
            <a:ext cx="4991100" cy="3609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25000"/>
              </a:lnSpc>
              <a:spcBef>
                <a:spcPts val="10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在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View</a:t>
            </a:r>
            <a:r>
              <a:rPr sz="2800" dirty="0">
                <a:latin typeface="宋体"/>
                <a:cs typeface="宋体"/>
              </a:rPr>
              <a:t>中包含了“业 务模型”和“系统模型”两个 包，这分别是指</a:t>
            </a:r>
            <a:endParaRPr sz="2800">
              <a:latin typeface="宋体"/>
              <a:cs typeface="宋体"/>
            </a:endParaRPr>
          </a:p>
          <a:p>
            <a:pPr marL="641350" lvl="1" indent="-342900">
              <a:lnSpc>
                <a:spcPct val="100000"/>
              </a:lnSpc>
              <a:spcBef>
                <a:spcPts val="1335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640715" algn="l"/>
                <a:tab pos="641350" algn="l"/>
              </a:tabLst>
            </a:pPr>
            <a:r>
              <a:rPr sz="2400" dirty="0">
                <a:latin typeface="宋体"/>
                <a:cs typeface="宋体"/>
              </a:rPr>
              <a:t>业务建模工作流产生的业务分析</a:t>
            </a:r>
            <a:endParaRPr sz="2400">
              <a:latin typeface="宋体"/>
              <a:cs typeface="宋体"/>
            </a:endParaRPr>
          </a:p>
          <a:p>
            <a:pPr marL="640715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宋体"/>
                <a:cs typeface="宋体"/>
              </a:rPr>
              <a:t>模型</a:t>
            </a:r>
            <a:endParaRPr sz="2400">
              <a:latin typeface="宋体"/>
              <a:cs typeface="宋体"/>
            </a:endParaRPr>
          </a:p>
          <a:p>
            <a:pPr marL="641350" lvl="1" indent="-342900">
              <a:lnSpc>
                <a:spcPct val="100000"/>
              </a:lnSpc>
              <a:spcBef>
                <a:spcPts val="13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640715" algn="l"/>
                <a:tab pos="641350" algn="l"/>
              </a:tabLst>
            </a:pPr>
            <a:r>
              <a:rPr sz="2400" dirty="0">
                <a:latin typeface="宋体"/>
                <a:cs typeface="宋体"/>
              </a:rPr>
              <a:t>需求及分析工作流产生的系统分</a:t>
            </a:r>
            <a:endParaRPr sz="2400">
              <a:latin typeface="宋体"/>
              <a:cs typeface="宋体"/>
            </a:endParaRPr>
          </a:p>
          <a:p>
            <a:pPr marL="640715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宋体"/>
                <a:cs typeface="宋体"/>
              </a:rPr>
              <a:t>析模型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0112" y="1221266"/>
            <a:ext cx="6996686" cy="4721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5718" y="120395"/>
            <a:ext cx="3378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用例图的细化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9869" y="135636"/>
            <a:ext cx="3378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模型创建流程</a:t>
            </a:r>
          </a:p>
        </p:txBody>
      </p:sp>
      <p:sp>
        <p:nvSpPr>
          <p:cNvPr id="3" name="object 3"/>
          <p:cNvSpPr/>
          <p:nvPr/>
        </p:nvSpPr>
        <p:spPr>
          <a:xfrm>
            <a:off x="709162" y="1265128"/>
            <a:ext cx="7725675" cy="45827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850" y="1196975"/>
            <a:ext cx="6388100" cy="4629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77185" y="120395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模型发布</a:t>
            </a:r>
          </a:p>
        </p:txBody>
      </p:sp>
      <p:sp>
        <p:nvSpPr>
          <p:cNvPr id="4" name="object 4"/>
          <p:cNvSpPr/>
          <p:nvPr/>
        </p:nvSpPr>
        <p:spPr>
          <a:xfrm>
            <a:off x="4859337" y="4076700"/>
            <a:ext cx="3816350" cy="2692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196595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本节小结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78636"/>
            <a:ext cx="8056880" cy="415861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marR="5080" indent="-342900">
              <a:lnSpc>
                <a:spcPct val="79400"/>
              </a:lnSpc>
              <a:spcBef>
                <a:spcPts val="89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面向对象分析是</a:t>
            </a:r>
            <a:r>
              <a:rPr sz="3200" dirty="0">
                <a:latin typeface="Calibri"/>
                <a:cs typeface="Calibri"/>
              </a:rPr>
              <a:t>90</a:t>
            </a:r>
            <a:r>
              <a:rPr sz="3200" dirty="0">
                <a:latin typeface="宋体"/>
                <a:cs typeface="宋体"/>
              </a:rPr>
              <a:t>年代之后的主流分析方 法，它以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dirty="0">
                <a:latin typeface="Calibri"/>
                <a:cs typeface="Calibri"/>
              </a:rPr>
              <a:t>ML</a:t>
            </a:r>
            <a:r>
              <a:rPr sz="3200" dirty="0">
                <a:latin typeface="宋体"/>
                <a:cs typeface="宋体"/>
              </a:rPr>
              <a:t>为基础，综合使用了多种不同 的分析技术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663C"/>
              </a:buClr>
              <a:buFont typeface="Wingdings"/>
              <a:buChar char=""/>
            </a:pPr>
            <a:endParaRPr sz="3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面向对象分析</a:t>
            </a:r>
            <a:r>
              <a:rPr sz="3200" spc="-880" dirty="0">
                <a:latin typeface="宋体"/>
                <a:cs typeface="宋体"/>
              </a:rPr>
              <a:t> </a:t>
            </a:r>
            <a:r>
              <a:rPr sz="3200" spc="-5" dirty="0">
                <a:latin typeface="Calibri"/>
                <a:cs typeface="Calibri"/>
              </a:rPr>
              <a:t>VS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dirty="0">
                <a:latin typeface="宋体"/>
                <a:cs typeface="宋体"/>
              </a:rPr>
              <a:t>结构化分析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663C"/>
              </a:buClr>
              <a:buFont typeface="Wingdings"/>
              <a:buChar char=""/>
            </a:pPr>
            <a:endParaRPr sz="3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U</a:t>
            </a:r>
            <a:r>
              <a:rPr sz="3200" dirty="0">
                <a:latin typeface="Calibri"/>
                <a:cs typeface="Calibri"/>
              </a:rPr>
              <a:t>ML</a:t>
            </a:r>
            <a:r>
              <a:rPr sz="3200" dirty="0">
                <a:latin typeface="宋体"/>
                <a:cs typeface="宋体"/>
              </a:rPr>
              <a:t>模型概述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336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Ro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spc="-10" dirty="0">
                <a:latin typeface="Calibri"/>
                <a:cs typeface="Calibri"/>
              </a:rPr>
              <a:t>e</a:t>
            </a:r>
            <a:r>
              <a:rPr sz="3200" dirty="0">
                <a:latin typeface="宋体"/>
                <a:cs typeface="宋体"/>
              </a:rPr>
              <a:t>建模工具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1114</Words>
  <Application>Microsoft Office PowerPoint</Application>
  <PresentationFormat>全屏显示(4:3)</PresentationFormat>
  <Paragraphs>356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3" baseType="lpstr">
      <vt:lpstr>华文行楷</vt:lpstr>
      <vt:lpstr>宋体</vt:lpstr>
      <vt:lpstr>Arial</vt:lpstr>
      <vt:lpstr>Calibri</vt:lpstr>
      <vt:lpstr>Corbel</vt:lpstr>
      <vt:lpstr>Times New Roman</vt:lpstr>
      <vt:lpstr>Wingdings</vt:lpstr>
      <vt:lpstr>Office Theme</vt:lpstr>
      <vt:lpstr>面向对象分析与UML建模(1)</vt:lpstr>
      <vt:lpstr>现实世界的复杂模型</vt:lpstr>
      <vt:lpstr>映射现实模型的面向对象思想</vt:lpstr>
      <vt:lpstr>面向对象分析基本思想</vt:lpstr>
      <vt:lpstr>对象分析方法</vt:lpstr>
      <vt:lpstr>面向对象方法基本概念</vt:lpstr>
      <vt:lpstr>类和对象的概念</vt:lpstr>
      <vt:lpstr>例子</vt:lpstr>
      <vt:lpstr>例子</vt:lpstr>
      <vt:lpstr>例子</vt:lpstr>
      <vt:lpstr>封装和消息的概念</vt:lpstr>
      <vt:lpstr>继承的概念</vt:lpstr>
      <vt:lpstr>继承示例</vt:lpstr>
      <vt:lpstr>多层继承示例1</vt:lpstr>
      <vt:lpstr>多层继承示例2</vt:lpstr>
      <vt:lpstr>多态性</vt:lpstr>
      <vt:lpstr>多态的实现机制</vt:lpstr>
      <vt:lpstr>多态性示例</vt:lpstr>
      <vt:lpstr>面向对象方法目标及实现机制</vt:lpstr>
      <vt:lpstr>高可维护性</vt:lpstr>
      <vt:lpstr>可复用性</vt:lpstr>
      <vt:lpstr>程序/机器无关性</vt:lpstr>
      <vt:lpstr>面向对象分析与UML建模(1)</vt:lpstr>
      <vt:lpstr>面向对象分析 VS 结构化分析</vt:lpstr>
      <vt:lpstr>两种方法共同点</vt:lpstr>
      <vt:lpstr>结构化分析方法的优缺点</vt:lpstr>
      <vt:lpstr>面向对象分析方法的优缺点</vt:lpstr>
      <vt:lpstr>面向对象分析与UML建模(1)</vt:lpstr>
      <vt:lpstr>面向对象建模</vt:lpstr>
      <vt:lpstr>面向对象分析—UML</vt:lpstr>
      <vt:lpstr>UML发展历程</vt:lpstr>
      <vt:lpstr>UML的特性与发展现状</vt:lpstr>
      <vt:lpstr>软件需求工程中的UML</vt:lpstr>
      <vt:lpstr>面向对象分析（1）</vt:lpstr>
      <vt:lpstr>Rational Rose UML建模工具</vt:lpstr>
      <vt:lpstr>其它UML建模工具: PowerDesigner</vt:lpstr>
      <vt:lpstr>其它UML建模工具: ProcessOn</vt:lpstr>
      <vt:lpstr>Rose模型组织元素</vt:lpstr>
      <vt:lpstr>视图、模型与图</vt:lpstr>
      <vt:lpstr>Rose操作基础</vt:lpstr>
      <vt:lpstr>用例图的组织方法</vt:lpstr>
      <vt:lpstr>用例图的细化</vt:lpstr>
      <vt:lpstr>模型创建流程</vt:lpstr>
      <vt:lpstr>模型发布</vt:lpstr>
      <vt:lpstr>本节小结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面向对象分析与UML建模(1)</dc:title>
  <cp:lastModifiedBy>- Vel</cp:lastModifiedBy>
  <cp:revision>1</cp:revision>
  <dcterms:created xsi:type="dcterms:W3CDTF">2024-04-26T01:51:57Z</dcterms:created>
  <dcterms:modified xsi:type="dcterms:W3CDTF">2024-04-26T03:44:37Z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2024-04-08T00:00:00Z</vt:filetime>
  </property>
  <property fmtid="{D5CDD505-2E9C-101B-9397-08002B2CF9AE}" pid="3" name="LastSaved">
    <vt:filetime>2024-04-26T00:00:00Z</vt:filetime>
  </property>
</Properties>
</file>
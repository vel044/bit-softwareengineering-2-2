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68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1493513" y="2066274"/>
            <a:ext cx="5634167" cy="33482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360680"/>
          </a:xfrm>
          <a:custGeom>
            <a:avLst/>
            <a:gdLst/>
            <a:ahLst/>
            <a:cxnLst/>
            <a:rect l="l" t="t" r="r" b="b"/>
            <a:pathLst>
              <a:path w="9144000" h="360680">
                <a:moveTo>
                  <a:pt x="0" y="0"/>
                </a:moveTo>
                <a:lnTo>
                  <a:pt x="9144000" y="0"/>
                </a:lnTo>
                <a:lnTo>
                  <a:pt x="9144000" y="360362"/>
                </a:lnTo>
                <a:lnTo>
                  <a:pt x="0" y="360362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6517305"/>
            <a:ext cx="9144000" cy="340995"/>
          </a:xfrm>
          <a:custGeom>
            <a:avLst/>
            <a:gdLst/>
            <a:ahLst/>
            <a:cxnLst/>
            <a:rect l="l" t="t" r="r" b="b"/>
            <a:pathLst>
              <a:path w="9144000" h="340995">
                <a:moveTo>
                  <a:pt x="0" y="0"/>
                </a:moveTo>
                <a:lnTo>
                  <a:pt x="9144000" y="0"/>
                </a:lnTo>
                <a:lnTo>
                  <a:pt x="9144000" y="340694"/>
                </a:lnTo>
                <a:lnTo>
                  <a:pt x="0" y="340694"/>
                </a:lnTo>
                <a:lnTo>
                  <a:pt x="0" y="0"/>
                </a:lnTo>
                <a:close/>
              </a:path>
            </a:pathLst>
          </a:custGeom>
          <a:solidFill>
            <a:srgbClr val="00663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6308725"/>
            <a:ext cx="9144000" cy="1905"/>
          </a:xfrm>
          <a:custGeom>
            <a:avLst/>
            <a:gdLst/>
            <a:ahLst/>
            <a:cxnLst/>
            <a:rect l="l" t="t" r="r" b="b"/>
            <a:pathLst>
              <a:path w="9144000" h="1904">
                <a:moveTo>
                  <a:pt x="0" y="0"/>
                </a:moveTo>
                <a:lnTo>
                  <a:pt x="9144000" y="1588"/>
                </a:lnTo>
              </a:path>
            </a:pathLst>
          </a:custGeom>
          <a:ln w="12700">
            <a:solidFill>
              <a:srgbClr val="0066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4700" y="269747"/>
            <a:ext cx="505460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663C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2109" y="1184147"/>
            <a:ext cx="8399780" cy="3757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1220" y="6432367"/>
            <a:ext cx="2243455" cy="2781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00663C"/>
                </a:solidFill>
                <a:latin typeface="华文行楷"/>
                <a:cs typeface="华文行楷"/>
              </a:defRPr>
            </a:lvl1pPr>
          </a:lstStyle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4147"/>
            <a:ext cx="3213100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815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需求的定义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理解需求内涵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需求分类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spcBef>
                <a:spcPts val="4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需求工程的路线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优秀需求特性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spcBef>
                <a:spcPts val="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常见需求错误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练习题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269747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优秀需求的特性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65191"/>
            <a:ext cx="7835900" cy="4359910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135"/>
              </a:spcBef>
              <a:buClr>
                <a:srgbClr val="00663C"/>
              </a:buClr>
              <a:buSzPct val="83870"/>
              <a:buFont typeface="Wingdings"/>
              <a:buChar char=""/>
              <a:tabLst>
                <a:tab pos="355600" algn="l"/>
              </a:tabLst>
            </a:pPr>
            <a:r>
              <a:rPr sz="3100" b="1" spc="145" dirty="0">
                <a:latin typeface="宋体"/>
                <a:cs typeface="宋体"/>
              </a:rPr>
              <a:t>完整性</a:t>
            </a:r>
            <a:endParaRPr sz="3100">
              <a:latin typeface="宋体"/>
              <a:cs typeface="宋体"/>
            </a:endParaRPr>
          </a:p>
          <a:p>
            <a:pPr marL="755650" marR="5080" lvl="1" indent="-285750">
              <a:lnSpc>
                <a:spcPts val="2710"/>
              </a:lnSpc>
              <a:spcBef>
                <a:spcPts val="1005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525" b="1" spc="127" baseline="1182" dirty="0">
                <a:solidFill>
                  <a:srgbClr val="009257"/>
                </a:solidFill>
                <a:latin typeface="宋体"/>
                <a:cs typeface="宋体"/>
              </a:rPr>
              <a:t>不需要做更多的扩</a:t>
            </a:r>
            <a:r>
              <a:rPr sz="3525" b="1" spc="135" baseline="1182" dirty="0">
                <a:solidFill>
                  <a:srgbClr val="009257"/>
                </a:solidFill>
                <a:latin typeface="宋体"/>
                <a:cs typeface="宋体"/>
              </a:rPr>
              <a:t>展</a:t>
            </a:r>
            <a:r>
              <a:rPr sz="2400" dirty="0">
                <a:latin typeface="宋体"/>
                <a:cs typeface="宋体"/>
              </a:rPr>
              <a:t>就可以充分的说明用户所需要的 系统功能。</a:t>
            </a:r>
            <a:endParaRPr sz="2400">
              <a:latin typeface="宋体"/>
              <a:cs typeface="宋体"/>
            </a:endParaRPr>
          </a:p>
          <a:p>
            <a:pPr marL="755650" marR="30480" lvl="1" indent="-285750">
              <a:lnSpc>
                <a:spcPts val="2690"/>
              </a:lnSpc>
              <a:spcBef>
                <a:spcPts val="905"/>
              </a:spcBef>
              <a:buClr>
                <a:srgbClr val="C00000"/>
              </a:buClr>
              <a:buSzPct val="58333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400" dirty="0">
                <a:latin typeface="宋体"/>
                <a:cs typeface="宋体"/>
              </a:rPr>
              <a:t>每一个需求的描述都应该包含开发人员</a:t>
            </a:r>
            <a:r>
              <a:rPr sz="3525" b="1" spc="127" baseline="1182" dirty="0">
                <a:latin typeface="宋体"/>
                <a:cs typeface="宋体"/>
              </a:rPr>
              <a:t>设计和实</a:t>
            </a:r>
            <a:r>
              <a:rPr sz="3525" b="1" spc="135" baseline="1182" dirty="0">
                <a:latin typeface="宋体"/>
                <a:cs typeface="宋体"/>
              </a:rPr>
              <a:t>现</a:t>
            </a:r>
            <a:r>
              <a:rPr sz="2400" dirty="0">
                <a:latin typeface="宋体"/>
                <a:cs typeface="宋体"/>
              </a:rPr>
              <a:t>这 项功能需要的</a:t>
            </a:r>
            <a:r>
              <a:rPr sz="2400" dirty="0">
                <a:solidFill>
                  <a:srgbClr val="009257"/>
                </a:solidFill>
                <a:latin typeface="宋体"/>
                <a:cs typeface="宋体"/>
              </a:rPr>
              <a:t>所有信息</a:t>
            </a:r>
            <a:endParaRPr sz="24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C00000"/>
              </a:buClr>
              <a:buFont typeface="Wingdings"/>
              <a:buChar char=""/>
            </a:pPr>
            <a:endParaRPr sz="30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buClr>
                <a:srgbClr val="C00000"/>
              </a:buClr>
              <a:buSzPct val="59574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示</a:t>
            </a:r>
            <a:r>
              <a:rPr sz="3525" b="1" spc="135" baseline="1182" dirty="0">
                <a:latin typeface="宋体"/>
                <a:cs typeface="宋体"/>
              </a:rPr>
              <a:t>例</a:t>
            </a:r>
            <a:r>
              <a:rPr sz="2500" i="1" spc="-100" dirty="0">
                <a:latin typeface="宋体"/>
                <a:cs typeface="宋体"/>
              </a:rPr>
              <a:t>：系统应该允许被扩展。</a:t>
            </a:r>
            <a:endParaRPr sz="25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5600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500" i="1" spc="-100" dirty="0">
                <a:latin typeface="宋体"/>
                <a:cs typeface="宋体"/>
              </a:rPr>
              <a:t>（更好）：系统的调度算法应该允许被扩展。</a:t>
            </a:r>
            <a:endParaRPr sz="25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384"/>
              </a:spcBef>
              <a:buClr>
                <a:srgbClr val="C00000"/>
              </a:buClr>
              <a:buSzPct val="59574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3525" b="1" spc="127" baseline="1182" dirty="0">
                <a:latin typeface="宋体"/>
                <a:cs typeface="宋体"/>
              </a:rPr>
              <a:t>示例</a:t>
            </a:r>
            <a:r>
              <a:rPr sz="3525" b="1" spc="135" baseline="1182" dirty="0">
                <a:latin typeface="宋体"/>
                <a:cs typeface="宋体"/>
              </a:rPr>
              <a:t>：</a:t>
            </a:r>
            <a:r>
              <a:rPr sz="2500" i="1" spc="-100" dirty="0">
                <a:latin typeface="宋体"/>
                <a:cs typeface="宋体"/>
              </a:rPr>
              <a:t>在收银员输入商品时，系统显示商品信息。</a:t>
            </a:r>
            <a:endParaRPr sz="25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00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如何输入？显示哪些信息？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269747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优秀需求的特性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5845"/>
            <a:ext cx="6183630" cy="34232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00663C"/>
              </a:buClr>
              <a:buSzPct val="83870"/>
              <a:buFont typeface="Wingdings"/>
              <a:buChar char=""/>
              <a:tabLst>
                <a:tab pos="355600" algn="l"/>
              </a:tabLst>
            </a:pPr>
            <a:r>
              <a:rPr sz="3100" b="1" spc="145" dirty="0">
                <a:latin typeface="宋体"/>
                <a:cs typeface="宋体"/>
              </a:rPr>
              <a:t>正确性</a:t>
            </a:r>
            <a:endParaRPr sz="31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真实的反映用户的意图</a:t>
            </a:r>
            <a:r>
              <a:rPr sz="2800" spc="-85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（真实性）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2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必须请需求的提出者予以确认</a:t>
            </a:r>
            <a:endParaRPr sz="28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2460"/>
              </a:spcBef>
              <a:buClr>
                <a:srgbClr val="00663C"/>
              </a:buClr>
              <a:buSzPct val="83870"/>
              <a:buFont typeface="Wingdings"/>
              <a:buChar char=""/>
              <a:tabLst>
                <a:tab pos="355600" algn="l"/>
              </a:tabLst>
            </a:pPr>
            <a:r>
              <a:rPr sz="3100" b="1" spc="145" dirty="0">
                <a:latin typeface="宋体"/>
                <a:cs typeface="宋体"/>
              </a:rPr>
              <a:t>精确性</a:t>
            </a:r>
            <a:endParaRPr sz="31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6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描述仅包含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必要的信息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5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简洁、清晰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269747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优秀需求的特性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95845"/>
            <a:ext cx="7880350" cy="4072254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Clr>
                <a:srgbClr val="00663C"/>
              </a:buClr>
              <a:buSzPct val="83870"/>
              <a:buFont typeface="Wingdings"/>
              <a:buChar char=""/>
              <a:tabLst>
                <a:tab pos="355600" algn="l"/>
              </a:tabLst>
            </a:pPr>
            <a:r>
              <a:rPr sz="3100" b="1" spc="145" dirty="0">
                <a:latin typeface="宋体"/>
                <a:cs typeface="宋体"/>
              </a:rPr>
              <a:t>可行性</a:t>
            </a:r>
            <a:endParaRPr sz="31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由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开发人员</a:t>
            </a:r>
            <a:r>
              <a:rPr sz="2800" dirty="0">
                <a:latin typeface="宋体"/>
                <a:cs typeface="宋体"/>
              </a:rPr>
              <a:t>进行检查</a:t>
            </a:r>
            <a:endParaRPr sz="280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08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需要进行一定的分析和研究，而不是单纯的凭 借经验和直觉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7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必要的时候要通过开发原型来加以验证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C00000"/>
              </a:buClr>
              <a:buFont typeface="Wingdings"/>
              <a:buChar char=""/>
            </a:pP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Clr>
                <a:srgbClr val="00663C"/>
              </a:buClr>
              <a:buSzPct val="83870"/>
              <a:buFont typeface="Wingdings"/>
              <a:buChar char=""/>
              <a:tabLst>
                <a:tab pos="355600" algn="l"/>
              </a:tabLst>
            </a:pPr>
            <a:r>
              <a:rPr sz="3100" b="1" spc="145" dirty="0">
                <a:latin typeface="宋体"/>
                <a:cs typeface="宋体"/>
              </a:rPr>
              <a:t>必要性</a:t>
            </a:r>
            <a:endParaRPr sz="31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8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满足用户的</a:t>
            </a:r>
            <a:r>
              <a:rPr sz="2800" dirty="0">
                <a:solidFill>
                  <a:srgbClr val="009257"/>
                </a:solidFill>
                <a:latin typeface="宋体"/>
                <a:cs typeface="宋体"/>
              </a:rPr>
              <a:t>业务需求</a:t>
            </a:r>
            <a:r>
              <a:rPr sz="2800" dirty="0">
                <a:latin typeface="宋体"/>
                <a:cs typeface="宋体"/>
              </a:rPr>
              <a:t>所必需的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03500" y="269747"/>
            <a:ext cx="39370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优秀需求的特性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05542"/>
            <a:ext cx="8032750" cy="467614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65"/>
              </a:spcBef>
              <a:buClr>
                <a:srgbClr val="00663C"/>
              </a:buClr>
              <a:buSzPct val="82352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825" b="1" spc="127" baseline="1089" dirty="0">
                <a:latin typeface="宋体"/>
                <a:cs typeface="宋体"/>
              </a:rPr>
              <a:t>无歧义</a:t>
            </a:r>
            <a:endParaRPr sz="3825" baseline="1089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8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每一项需求都应该有而且只能有一种解释</a:t>
            </a:r>
            <a:endParaRPr sz="2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定义一个可以共同理解的词汇表</a:t>
            </a:r>
            <a:r>
              <a:rPr sz="2200" spc="-5" dirty="0">
                <a:latin typeface="宋体"/>
                <a:cs typeface="宋体"/>
              </a:rPr>
              <a:t>（</a:t>
            </a:r>
            <a:r>
              <a:rPr sz="2200" spc="-5" dirty="0">
                <a:latin typeface="Calibri"/>
                <a:cs typeface="Calibri"/>
              </a:rPr>
              <a:t>Glossary</a:t>
            </a:r>
            <a:r>
              <a:rPr sz="2200" spc="-5" dirty="0">
                <a:latin typeface="宋体"/>
                <a:cs typeface="宋体"/>
              </a:rPr>
              <a:t>）</a:t>
            </a:r>
            <a:endParaRPr sz="22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00000"/>
              </a:buClr>
              <a:buFont typeface="Wingdings"/>
              <a:buChar char=""/>
            </a:pPr>
            <a:endParaRPr sz="25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buClr>
                <a:srgbClr val="00663C"/>
              </a:buClr>
              <a:buSzPct val="82352"/>
              <a:buFont typeface="Wingdings"/>
              <a:buChar char=""/>
              <a:tabLst>
                <a:tab pos="354965" algn="l"/>
                <a:tab pos="355600" algn="l"/>
              </a:tabLst>
            </a:pPr>
            <a:r>
              <a:rPr sz="3825" b="1" spc="127" baseline="1089" dirty="0">
                <a:latin typeface="宋体"/>
                <a:cs typeface="宋体"/>
              </a:rPr>
              <a:t>可验证</a:t>
            </a:r>
            <a:endParaRPr sz="3825" baseline="1089">
              <a:latin typeface="宋体"/>
              <a:cs typeface="宋体"/>
            </a:endParaRPr>
          </a:p>
          <a:p>
            <a:pPr marL="755650" marR="5080" lvl="1" indent="-285750">
              <a:lnSpc>
                <a:spcPts val="2500"/>
              </a:lnSpc>
              <a:spcBef>
                <a:spcPts val="894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通过分析、检查、模拟或者测试等方法能够判断需求是否被 满足</a:t>
            </a:r>
            <a:endParaRPr sz="2200">
              <a:latin typeface="宋体"/>
              <a:cs typeface="宋体"/>
            </a:endParaRPr>
          </a:p>
          <a:p>
            <a:pPr marL="755650" marR="5080" lvl="1" indent="-285750">
              <a:lnSpc>
                <a:spcPts val="2500"/>
              </a:lnSpc>
              <a:spcBef>
                <a:spcPts val="785"/>
              </a:spcBef>
              <a:buClr>
                <a:srgbClr val="C00000"/>
              </a:buClr>
              <a:buSzPct val="59090"/>
              <a:buFont typeface="Wingdings"/>
              <a:buChar char=""/>
              <a:tabLst>
                <a:tab pos="755015" algn="l"/>
                <a:tab pos="755650" algn="l"/>
              </a:tabLst>
            </a:pPr>
            <a:r>
              <a:rPr sz="2200" dirty="0">
                <a:latin typeface="宋体"/>
                <a:cs typeface="宋体"/>
              </a:rPr>
              <a:t>不可验证的需求往往是因为描述模糊或者过于抽象，所以在 进行需求的描述时要</a:t>
            </a:r>
            <a:endParaRPr sz="22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49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让需求具体化</a:t>
            </a:r>
            <a:endParaRPr sz="20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409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小心形容词和副词的使用</a:t>
            </a:r>
            <a:endParaRPr sz="20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1155065" algn="l"/>
                <a:tab pos="1155700" algn="l"/>
              </a:tabLst>
            </a:pPr>
            <a:r>
              <a:rPr sz="2000" dirty="0">
                <a:latin typeface="宋体"/>
                <a:cs typeface="宋体"/>
              </a:rPr>
              <a:t>避免程度词的使用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269747"/>
            <a:ext cx="22606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主要内容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184147"/>
            <a:ext cx="3213100" cy="3433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ts val="3815"/>
              </a:lnSpc>
              <a:spcBef>
                <a:spcPts val="10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需求的定义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04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理解需求内涵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29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需求分类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spcBef>
                <a:spcPts val="4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需求工程的路线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优秀需求特性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spcBef>
                <a:spcPts val="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solidFill>
                  <a:srgbClr val="FF0000"/>
                </a:solidFill>
                <a:latin typeface="宋体"/>
                <a:cs typeface="宋体"/>
              </a:rPr>
              <a:t>常见需求错误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ts val="3815"/>
              </a:lnSpc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练习题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常见的需求定义错误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519430" marR="471805" indent="-342900">
              <a:lnSpc>
                <a:spcPts val="3700"/>
              </a:lnSpc>
              <a:spcBef>
                <a:spcPts val="3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519430" algn="l"/>
              </a:tabLst>
            </a:pPr>
            <a:r>
              <a:rPr dirty="0">
                <a:latin typeface="宋体"/>
                <a:cs typeface="宋体"/>
              </a:rPr>
              <a:t>需求并没有反映用户的真实需要</a:t>
            </a:r>
            <a:r>
              <a:rPr spc="-950" dirty="0">
                <a:latin typeface="宋体"/>
                <a:cs typeface="宋体"/>
              </a:rPr>
              <a:t> </a:t>
            </a:r>
            <a:r>
              <a:rPr spc="-5" dirty="0"/>
              <a:t>(</a:t>
            </a:r>
            <a:r>
              <a:rPr spc="-5" dirty="0">
                <a:solidFill>
                  <a:srgbClr val="FF0000"/>
                </a:solidFill>
              </a:rPr>
              <a:t>Incorrect  </a:t>
            </a:r>
            <a:r>
              <a:rPr dirty="0">
                <a:solidFill>
                  <a:srgbClr val="FF0000"/>
                </a:solidFill>
              </a:rPr>
              <a:t>Fact</a:t>
            </a:r>
            <a:r>
              <a:rPr dirty="0"/>
              <a:t>)</a:t>
            </a:r>
          </a:p>
          <a:p>
            <a:pPr marL="919480" marR="5080" lvl="1" indent="-285750">
              <a:lnSpc>
                <a:spcPts val="3220"/>
              </a:lnSpc>
              <a:spcBef>
                <a:spcPts val="107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919480" algn="l"/>
              </a:tabLst>
            </a:pPr>
            <a:r>
              <a:rPr sz="2800" dirty="0">
                <a:latin typeface="宋体"/>
                <a:cs typeface="宋体"/>
              </a:rPr>
              <a:t>用户在表达自己的需要时，可能会在潜意识下进 行一定的加工</a:t>
            </a:r>
            <a:endParaRPr sz="2800">
              <a:latin typeface="宋体"/>
              <a:cs typeface="宋体"/>
            </a:endParaRPr>
          </a:p>
          <a:p>
            <a:pPr marL="1319530" lvl="2" indent="-228600">
              <a:lnSpc>
                <a:spcPct val="100000"/>
              </a:lnSpc>
              <a:spcBef>
                <a:spcPts val="455"/>
              </a:spcBef>
              <a:buFont typeface="Arial"/>
              <a:buChar char="•"/>
              <a:tabLst>
                <a:tab pos="1319530" algn="l"/>
              </a:tabLst>
            </a:pPr>
            <a:r>
              <a:rPr sz="2400" dirty="0">
                <a:latin typeface="宋体"/>
                <a:cs typeface="宋体"/>
              </a:rPr>
              <a:t>发现问题背后的问题</a:t>
            </a:r>
            <a:endParaRPr sz="2400">
              <a:latin typeface="宋体"/>
              <a:cs typeface="宋体"/>
            </a:endParaRPr>
          </a:p>
          <a:p>
            <a:pPr marL="919480" marR="5080" lvl="1" indent="-285750">
              <a:lnSpc>
                <a:spcPts val="3100"/>
              </a:lnSpc>
              <a:spcBef>
                <a:spcPts val="12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919480" algn="l"/>
              </a:tabLst>
            </a:pPr>
            <a:r>
              <a:rPr sz="2800" dirty="0">
                <a:latin typeface="宋体"/>
                <a:cs typeface="宋体"/>
              </a:rPr>
              <a:t>在人际交流当中，信息会发生自然的衰减，甚至 扭曲</a:t>
            </a:r>
            <a:endParaRPr sz="2800">
              <a:latin typeface="宋体"/>
              <a:cs typeface="宋体"/>
            </a:endParaRPr>
          </a:p>
          <a:p>
            <a:pPr marL="1319530" lvl="2" indent="-228600">
              <a:lnSpc>
                <a:spcPct val="100000"/>
              </a:lnSpc>
              <a:spcBef>
                <a:spcPts val="580"/>
              </a:spcBef>
              <a:buFont typeface="Arial"/>
              <a:buChar char="•"/>
              <a:tabLst>
                <a:tab pos="1319530" algn="l"/>
              </a:tabLst>
            </a:pPr>
            <a:r>
              <a:rPr sz="2400" dirty="0">
                <a:latin typeface="宋体"/>
                <a:cs typeface="宋体"/>
              </a:rPr>
              <a:t>检查和确认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520274" y="4616605"/>
            <a:ext cx="3300338" cy="14746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常见的需求定义错误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59905"/>
            <a:ext cx="8070850" cy="375348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模糊和歧义的需求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Inconsistency&amp;Ambiguity</a:t>
            </a:r>
            <a:r>
              <a:rPr sz="320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755650" marR="194945" lvl="1" indent="-285750">
              <a:lnSpc>
                <a:spcPts val="3100"/>
              </a:lnSpc>
              <a:spcBef>
                <a:spcPts val="118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无意中写出模糊和歧义的需求定义往往是因为 选词造句不当</a:t>
            </a:r>
            <a:endParaRPr sz="2800">
              <a:latin typeface="宋体"/>
              <a:cs typeface="宋体"/>
            </a:endParaRPr>
          </a:p>
          <a:p>
            <a:pPr marL="1155065" marR="201295" lvl="2" indent="-228600">
              <a:lnSpc>
                <a:spcPts val="2690"/>
              </a:lnSpc>
              <a:spcBef>
                <a:spcPts val="104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u="sng" dirty="0"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解决方案</a:t>
            </a:r>
            <a:r>
              <a:rPr sz="2400" dirty="0">
                <a:latin typeface="宋体"/>
                <a:cs typeface="宋体"/>
              </a:rPr>
              <a:t>：为项目中重要的词汇建立一个公共的可 共同理解的词汇表</a:t>
            </a:r>
            <a:endParaRPr sz="2400">
              <a:latin typeface="宋体"/>
              <a:cs typeface="宋体"/>
            </a:endParaRPr>
          </a:p>
          <a:p>
            <a:pPr marL="755650" marR="194945" lvl="1" indent="-285750">
              <a:lnSpc>
                <a:spcPts val="3190"/>
              </a:lnSpc>
              <a:spcBef>
                <a:spcPts val="101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有意产生的模糊和歧义的需求定义往往是为了 应付对需求持有不同立场的用户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47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在项目前景的指导下，促进用户之间的协商解决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553743" y="4942248"/>
            <a:ext cx="2138631" cy="13045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常见的需求定义错误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59905"/>
            <a:ext cx="7880350" cy="375348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明显的信息遗漏</a:t>
            </a:r>
            <a:r>
              <a:rPr sz="3200" spc="-880" dirty="0">
                <a:latin typeface="宋体"/>
                <a:cs typeface="宋体"/>
              </a:rPr>
              <a:t> </a:t>
            </a:r>
            <a:r>
              <a:rPr sz="3200" dirty="0">
                <a:latin typeface="Calibri"/>
                <a:cs typeface="Calibri"/>
              </a:rPr>
              <a:t>(</a:t>
            </a:r>
            <a:r>
              <a:rPr sz="3200" dirty="0">
                <a:solidFill>
                  <a:srgbClr val="FF0000"/>
                </a:solidFill>
                <a:latin typeface="Calibri"/>
                <a:cs typeface="Calibri"/>
              </a:rPr>
              <a:t>Omission</a:t>
            </a:r>
            <a:r>
              <a:rPr sz="3200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755650" marR="5080" lvl="1" indent="-285750">
              <a:lnSpc>
                <a:spcPts val="3100"/>
              </a:lnSpc>
              <a:spcBef>
                <a:spcPts val="118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明显的信息遗漏，其主要原因在于项目的范围 定义不当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加强对业务需求的处理</a:t>
            </a:r>
            <a:endParaRPr sz="2400">
              <a:latin typeface="宋体"/>
              <a:cs typeface="宋体"/>
            </a:endParaRPr>
          </a:p>
          <a:p>
            <a:pPr marL="755650" marR="5080" lvl="1" indent="-285750">
              <a:lnSpc>
                <a:spcPts val="3190"/>
              </a:lnSpc>
              <a:spcBef>
                <a:spcPts val="107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不明显的信息遗漏，往往是因为相关信息难以 发现</a:t>
            </a:r>
            <a:endParaRPr sz="2800">
              <a:latin typeface="宋体"/>
              <a:cs typeface="宋体"/>
            </a:endParaRPr>
          </a:p>
          <a:p>
            <a:pPr marL="1155065" marR="11430" lvl="2" indent="-228600">
              <a:lnSpc>
                <a:spcPts val="2690"/>
              </a:lnSpc>
              <a:spcBef>
                <a:spcPts val="93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该类问题是最难以解决的问题，只能靠需求工程师 的经验来加以避免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常见的需求定义错误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87773"/>
            <a:ext cx="7880350" cy="3890645"/>
          </a:xfrm>
          <a:prstGeom prst="rect">
            <a:avLst/>
          </a:prstGeom>
        </p:spPr>
        <p:txBody>
          <a:bodyPr vert="horz" wrap="square" lIns="0" tIns="10858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5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不必要的需求</a:t>
            </a:r>
            <a:r>
              <a:rPr sz="3200" spc="-880" dirty="0">
                <a:latin typeface="宋体"/>
                <a:cs typeface="宋体"/>
              </a:rPr>
              <a:t> </a:t>
            </a:r>
            <a:r>
              <a:rPr sz="3200" spc="-5" dirty="0">
                <a:latin typeface="Calibri"/>
                <a:cs typeface="Calibri"/>
              </a:rPr>
              <a:t>(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Misplaced</a:t>
            </a:r>
            <a:r>
              <a:rPr sz="32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200" spc="-5" dirty="0">
                <a:solidFill>
                  <a:srgbClr val="FF0000"/>
                </a:solidFill>
                <a:latin typeface="Calibri"/>
                <a:cs typeface="Calibri"/>
              </a:rPr>
              <a:t>Requirement</a:t>
            </a:r>
            <a:r>
              <a:rPr sz="3200" spc="-5" dirty="0">
                <a:latin typeface="Calibri"/>
                <a:cs typeface="Calibri"/>
              </a:rPr>
              <a:t>)</a:t>
            </a:r>
            <a:endParaRPr sz="32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665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其一是用户将之作为和开发人员谈判的筹码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4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谈判技巧</a:t>
            </a:r>
            <a:endParaRPr sz="2400">
              <a:latin typeface="宋体"/>
              <a:cs typeface="宋体"/>
            </a:endParaRPr>
          </a:p>
          <a:p>
            <a:pPr marL="755650" marR="5080" lvl="1" indent="-285750">
              <a:lnSpc>
                <a:spcPts val="3100"/>
              </a:lnSpc>
              <a:spcBef>
                <a:spcPts val="124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其二是用户在交流当中，用户总是倾向于表达 各种各样的需要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根据业务需求进行用户需求的过滤和选择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1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其三是需求开发人员“画蛇添足”</a:t>
            </a:r>
            <a:endParaRPr sz="2800">
              <a:latin typeface="宋体"/>
              <a:cs typeface="宋体"/>
            </a:endParaRPr>
          </a:p>
          <a:p>
            <a:pPr marL="1155700" lvl="2" indent="-228600">
              <a:lnSpc>
                <a:spcPct val="100000"/>
              </a:lnSpc>
              <a:spcBef>
                <a:spcPts val="64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保持以用户为中心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90731" y="4424905"/>
            <a:ext cx="2183005" cy="182190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300" y="269747"/>
            <a:ext cx="561340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不同类型需求定义错误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8668" y="178307"/>
            <a:ext cx="504698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第</a:t>
            </a:r>
            <a:r>
              <a:rPr spc="-10" dirty="0">
                <a:latin typeface="Calibri"/>
                <a:cs typeface="Calibri"/>
              </a:rPr>
              <a:t>2</a:t>
            </a:r>
            <a:r>
              <a:rPr dirty="0"/>
              <a:t>章</a:t>
            </a:r>
            <a:r>
              <a:rPr dirty="0">
                <a:latin typeface="Calibri"/>
                <a:cs typeface="Calibri"/>
              </a:rPr>
              <a:t>.</a:t>
            </a:r>
            <a:r>
              <a:rPr spc="-90" dirty="0">
                <a:latin typeface="Calibri"/>
                <a:cs typeface="Calibri"/>
              </a:rPr>
              <a:t> </a:t>
            </a:r>
            <a:r>
              <a:rPr dirty="0"/>
              <a:t>需求基础小结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/>
              <a:t>软件需求工程与</a:t>
            </a:r>
            <a:r>
              <a:rPr spc="-5" dirty="0">
                <a:latin typeface="Calibri"/>
                <a:cs typeface="Calibri"/>
              </a:rPr>
              <a:t>UM</a:t>
            </a:r>
            <a:r>
              <a:rPr dirty="0">
                <a:latin typeface="Calibri"/>
                <a:cs typeface="Calibri"/>
              </a:rPr>
              <a:t>L</a:t>
            </a:r>
            <a:r>
              <a:rPr dirty="0"/>
              <a:t>建模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05484"/>
            <a:ext cx="7880350" cy="392112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5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需求是人们对现实世界问题解决的期望</a:t>
            </a:r>
            <a:endParaRPr sz="3200">
              <a:latin typeface="宋体"/>
              <a:cs typeface="宋体"/>
            </a:endParaRPr>
          </a:p>
          <a:p>
            <a:pPr marL="355600" marR="201930" indent="-342900">
              <a:lnSpc>
                <a:spcPts val="3290"/>
              </a:lnSpc>
              <a:spcBef>
                <a:spcPts val="112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解系统通过共享知识和问题域进行互动， 从而解决现实世界中的问题</a:t>
            </a:r>
            <a:endParaRPr sz="3200">
              <a:latin typeface="宋体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340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具体的需求包括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2810"/>
              </a:lnSpc>
              <a:spcBef>
                <a:spcPts val="1120"/>
              </a:spcBef>
              <a:buClr>
                <a:srgbClr val="C00000"/>
              </a:buClr>
              <a:buSzPct val="60714"/>
              <a:buFont typeface="Wingdings"/>
              <a:buChar char="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功能需求、性能需求、质量属性、对外接口和 约束</a:t>
            </a:r>
            <a:endParaRPr sz="2800">
              <a:latin typeface="宋体"/>
              <a:cs typeface="宋体"/>
            </a:endParaRPr>
          </a:p>
          <a:p>
            <a:pPr marL="355600" marR="201930" indent="-342900">
              <a:lnSpc>
                <a:spcPts val="3190"/>
              </a:lnSpc>
              <a:spcBef>
                <a:spcPts val="1275"/>
              </a:spcBef>
              <a:buClr>
                <a:srgbClr val="00663C"/>
              </a:buClr>
              <a:buSzPct val="81250"/>
              <a:buFont typeface="Wingdings"/>
              <a:buChar char=""/>
              <a:tabLst>
                <a:tab pos="355600" algn="l"/>
              </a:tabLst>
            </a:pPr>
            <a:r>
              <a:rPr sz="3200" dirty="0">
                <a:latin typeface="宋体"/>
                <a:cs typeface="宋体"/>
              </a:rPr>
              <a:t>需求工程活动是依据需求的内涵与外延逐 步展开的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214</Words>
  <Application>Microsoft Office PowerPoint</Application>
  <PresentationFormat>全屏显示(4:3)</PresentationFormat>
  <Paragraphs>96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华文行楷</vt:lpstr>
      <vt:lpstr>宋体</vt:lpstr>
      <vt:lpstr>Arial</vt:lpstr>
      <vt:lpstr>Calibri</vt:lpstr>
      <vt:lpstr>Wingdings</vt:lpstr>
      <vt:lpstr>Office Theme</vt:lpstr>
      <vt:lpstr>主要内容</vt:lpstr>
      <vt:lpstr>优秀需求的特性</vt:lpstr>
      <vt:lpstr>优秀需求的特性</vt:lpstr>
      <vt:lpstr>优秀需求的特性</vt:lpstr>
      <vt:lpstr>优秀需求的特性</vt:lpstr>
      <vt:lpstr>主要内容</vt:lpstr>
      <vt:lpstr>常见的需求定义错误</vt:lpstr>
      <vt:lpstr>常见的需求定义错误</vt:lpstr>
      <vt:lpstr>常见的需求定义错误</vt:lpstr>
      <vt:lpstr>常见的需求定义错误</vt:lpstr>
      <vt:lpstr>不同类型需求定义错误</vt:lpstr>
      <vt:lpstr>第2章. 需求基础小结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主要内容</dc:title>
  <cp:lastModifiedBy>- Vel</cp:lastModifiedBy>
  <cp:revision>1</cp:revision>
  <dcterms:created xsi:type="dcterms:W3CDTF">2024-04-25T07:37:45Z</dcterms:created>
  <dcterms:modified xsi:type="dcterms:W3CDTF">2024-04-25T08:17:38Z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2024-03-05T00:00:00Z</vt:filetime>
  </property>
  <property fmtid="{D5CDD505-2E9C-101B-9397-08002B2CF9AE}" pid="3" name="LastSaved">
    <vt:filetime>2024-04-25T00:00:00Z</vt:filetime>
  </property>
</Properties>
</file>
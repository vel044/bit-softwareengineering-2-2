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2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2" r:id="rId20"/>
    <p:sldId id="303" r:id="rId21"/>
    <p:sldId id="306" r:id="rId22"/>
    <p:sldId id="308" r:id="rId23"/>
    <p:sldId id="309" r:id="rId24"/>
    <p:sldId id="310" r:id="rId25"/>
    <p:sldId id="311" r:id="rId26"/>
    <p:sldId id="312" r:id="rId27"/>
    <p:sldId id="313" r:id="rId28"/>
    <p:sldId id="317" r:id="rId29"/>
    <p:sldId id="318" r:id="rId30"/>
    <p:sldId id="319" r:id="rId31"/>
  </p:sldIdLst>
  <p:sldSz cx="9906000" cy="6858000" type="A4"/>
  <p:notesSz cx="9906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>
      <p:cViewPr varScale="1">
        <p:scale>
          <a:sx n="66" d="100"/>
          <a:sy n="66" d="100"/>
        </p:scale>
        <p:origin x="52" y="5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04:24.7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1406 263,'268'-16,"-94"3,9 6,193 18,-326-7,329 35,-281-24,173 50,-246-57,1 1,-2 2,0 1,0 0,-1 2,-1 1,28 23,-49-37,0-1,-1 1,1-1,0 1,-1 0,1-1,0 1,-1 0,1 0,-1 0,1-1,-1 1,1 0,-1 0,0 0,1 0,-1 0,0 1,0-1,0-1,0 1,-1-1,1 1,0-1,0 0,-1 1,1-1,0 1,-1-1,1 0,0 1,-1-1,1 0,-1 0,1 1,-1-1,1 0,-1 0,1 1,0-1,-1 0,1 0,-2 0,-38 1,35-1,-2 0,1 0,0-1,0 0,0 0,0-1,0 1,-7-5,12 6,-1-1,1 1,0-1,0 0,0 1,0-1,0 0,0 0,0 0,0 0,0 0,0 0,0 0,1 0,-1-1,0 1,1 0,-1 0,1-1,-1 1,1 0,0 0,-1-1,1 1,0 0,0-1,0 1,0-1,0 1,1 0,-1-1,0 1,0 0,1 0,-1-1,1 1,-1 0,1 0,1-3,0 1,0 0,0 1,0-1,1 0,-1 1,1-1,-1 1,1 0,0-1,6-2,36-16,-31 15,26-9,2 1,-1 2,2 2,66-8,176 1,-278 17,593-2,-290 4,-287 0,43 6,11 2,11-9,41 3,-109-3,0 2,0 0,-1 2,25 8,-41-12,1 0,-1 1,0-1,1 1,-1 0,0 0,0 0,0 0,-1 0,1 1,0 0,-1-1,0 1,1 0,-1 0,0 0,-1 0,1 1,0-1,-1 0,0 1,0-1,0 1,0-1,0 1,-1-1,0 1,0 0,0-1,0 1,0 0,-1-1,1 1,-3 6,-1 5,-2 1,0 0,0-1,-1 0,-1-1,-1 0,0 0,0-1,-2 0,1 0,-2-1,-13 11,-4 1,0 0,-2-2,-1-2,-40 20,19-15,0-2,-2-3,-73 17,47-20,-142 12,-402-33,386-6,-912 3,797 8,661 15,-147-5,442 0,-256-9,-112 13,-231-14,1-1,0 1,-1-1,1 1,-1 0,1 0,4 3,-7-4,-1 0,0 0,0 1,0-1,1 0,-1 0,0 0,0 0,0 1,0-1,0 0,0 0,0 0,1 1,-1-1,0 0,0 0,0 1,0-1,0 0,0 0,0 0,0 1,0-1,0 0,0 0,0 1,0-1,0 0,-1 0,1 0,0 1,0-1,0 0,0 0,0 0,0 1,-1-1,1 0,0 0,0 0,0 1,-23 12,-53 14,-2-2,-121 21,169-40,-139 26,-1-7,-2-8,-174-6,192-16,0-6,0-7,-236-59,211 21,179 56,-7-2,0-1,0 0,0-1,0 1,-9-8,15 10,0 0,0 0,0 0,0 0,0 0,1 0,-1 0,0-1,1 1,-1 0,0 0,1 0,0-1,-1 1,1 0,0-1,0 1,-1 0,1-1,0 1,0 0,1-1,-1 1,0 0,0-1,1 1,-1 0,0-1,1 1,0 0,-1 0,1 0,0-1,-1 1,1 0,2-1,4-8,1 2,0-1,0 1,1 0,0 1,17-11,68-32,-79 43,50-23,2 4,0 2,90-19,218-19,-233 50,0 6,0 6,1 6,184 32,-268-26,-58-12,0 0,0 0,0 0,0 0,0 0,0 1,0-1,0 0,0 1,-1-1,1 1,0-1,0 1,0-1,0 1,0-1,-1 1,1 0,0 0,0 0,-2 0,0 0,-1 0,1-1,0 1,0-1,-1 1,1-1,-1 1,1-1,0 0,-1 0,1 1,-3-1,-59 4,-1-3,-75-7,38 1,-301-6,387 11,-26 0,38 0,0 1,1-1,-1 1,1-1,-1 1,0 0,1 0,0 0,-1 0,1 0,-3 2,4-2,1-1,-1 1,1-1,0 0,-1 1,1-1,0 1,-1-1,1 1,0 0,0-1,-1 1,1-1,0 1,0-1,0 1,0 0,0-1,0 1,0-1,0 1,0-1,0 1,0 0,0-1,0 1,1-1,-1 1,0-1,0 1,1-1,-1 1,0-1,1 1,-1-1,0 1,1-1,0 1,4 5,0-1,0 0,0 0,1 0,0-1,12 8,48 20,-34-17,339 142,13-20,-347-124,786 264,-802-266,-22-6,-13 1,-18 0,0-1,-39 1,44-4,-729 13,546-27,-333-63,486 63,42 8,15 4,0 0,0 0,0 0,0 0,0 0,0-1,0 1,0 0,0 0,0 0,0 0,0 0,0 0,0 0,0 0,0 0,0 0,0 0,0 0,0 0,0 0,0 0,26 3,662 140,-643-129,-37-8,-15-2,-25-1,-37-2,0-4,0-2,-72-16,-205-56,-138-60,612 183,128 68,115 85,-354-190,-10-5,-1 0,1 0,0 0,-1 1,8 7,-14-12,0 0,1 0,-1 1,0-1,0 0,1 0,-1 0,0 1,0-1,0 0,1 1,-1-1,0 0,0 0,0 1,0-1,0 0,0 1,0-1,0 0,0 1,0-1,0 0,0 1,0-1,0 0,0 1,0-1,0 0,0 1,0-1,0 0,-1 0,1 1,0-1,0 0,0 1,0-1,-1 0,1 0,0 0,0 1,-1-1,1 0,0 0,0 0,-1 1,1-1,0 0,-1 0,1 0,0 0,0 0,-1 0,1 0,-1 0,-22 4,-22-6,1-1,1-2,-61-16,64 13,-616-148,641 152,-103-30,91 22,27 12,0-1,0 1,0 0,-1 0,1 0,0 0,0 0,0 0,0-1,0 1,0 0,-1 0,1 0,0 0,0 0,0-1,0 1,0 0,0 0,0 0,0-1,0 1,0 0,0 0,0 0,0-1,0 1,0 0,0 0,0 0,0 0,0-1,0 1,0 0,0 0,0 0,0 0,1-1,-1 1,0 0,0 0,0 0,0 0,0 0,0-1,1 1,-1 0,0 0,0 0,0 0,0 0,1 0,-1 0,0 0,0 0,0 0,0 0,1 0,-1-1,0 1,1 1,6-4,1 2,0-1,0 1,0 1,-1-1,10 2,2-1,181 0,-199 0,28-4,-29 4,1 0,-1 0,0-1,1 1,-1 0,0 0,1 0,-1 0,1 0,-1-1,0 1,1 0,-1 0,0 0,1-1,-1 1,0 0,0-1,1 1,-1 0,0-1,0 1,1 0,-1-1,0 1,0 0,0-1,0 1,0 0,0-1,1 1,-1-1,0 1,0 0,0-1,0 1,0-1,-1 1,1 0,0-1,0 1,0-1,0 1,0 0,0-1,-1 1,1 0,0-1,0 1,0 0,-1-1,1 1,0 0,-1-1,1 1,0 0,-1 0,1 0,0-1,-1 1,-11-9,-1 0,0 1,0 1,-1 0,1 1,-23-6,22 6,-348-114,17 6,259 80,-159-86,156 63,2-3,3-4,-93-94,-203-240,353 369,11 12,0 0,1-1,-23-38,32 38,6 18,0 0,0-1,0 1,0-1,0 1,1-1,-1 1,0 0,0-1,0 1,0-1,0 1,1 0,-1-1,0 1,0 0,1-1,-1 1,0 0,1-1,-1 1,1-1,1 1,0-1,0 0,0 1,0 0,1-1,-1 1,0 0,0 0,0 0,0 1,4 0,24 4,0 3,0 0,54 24,-34-12,408 126,-269-87,-107-32,110 23,-97-32,-89-16,-15-1,-26-1,27 0,-298-7,-162 3,336 18,98-10,75-22,724-203,-670 196,-54 14,343-83,-265 70,150-10,-261 33,0 1,0 0,0 0,0 0,0 1,0 0,11 4,-18-5,0 1,0-1,0 1,0-1,0 1,0 0,0-1,0 1,0 0,0 0,0 0,0 0,-1 0,1 0,0 0,-1 0,1 0,-1 0,1 0,-1 0,1 2,-1-1,0 0,0 1,0-1,0 1,-1-1,1 1,-1-1,1 0,-1 1,0-1,0 0,0 0,0 0,-3 4,-4 7,-1-1,-1 0,0-1,-17 15,-57 42,12-19,-1-3,-91 40,-167 60,260-116,9-5,-257 106,-7-21,283-97,37-11,11 0,24-1,40-5,-22 1,1155-26,-1177 30,-30-1,-43 0,41 0,-497 16,291 5,187-14,25-7,1 0,-1 1,0-1,1 1,-1-1,0 1,1-1,-1 1,0-1,1 1,-1-1,1 1,0 0,-1-1,1 1,-1 0,1 0,-1 1,2 0,-1 0,0 0,1 0,-1 0,1 0,0 0,0 0,0 0,0 0,0 0,0 0,0-1,1 1,-1 0,1-1,-1 1,1-1,0 1,-1-1,4 1,28 24,1-2,74 38,87 28,-158-73,232 92,-205-84,-5 1,-45-16,-14-10,0 0,0 0,0 0,0 1,0-1,0 0,1 0,-1 0,0 0,0 0,0 0,0 0,0 1,0-1,0 0,0 0,0 0,0 0,0 0,0 1,0-1,0 0,-1 0,1 0,0 0,0 0,0 0,0 0,0 1,0-1,0 0,0 0,0 0,0 0,0 0,-1 0,1 0,0 0,0 0,0 0,0 0,0 1,0-1,0 0,-1 0,1 0,0 0,0 0,0 0,0 0,0 0,-1 0,-32-2,-406-105,241 54,123 34,-107-29,150 36,29 9,8 2,16 4,0 0,22 8,-8-3,892 263,-899-262,-21-7,1 0,-1 0,1 1,-1 0,0 0,0 1,0 0,7 6,-14-10,0 0,0 0,0 0,0 0,0 0,0 0,0 0,0 0,0 1,0-1,0 0,0 0,0 0,0 0,0 0,0 0,0 0,0 0,0 0,0 0,0 1,0-1,0 0,0 0,0 0,-1 0,1 0,0 0,0 0,0 0,0 0,0 0,0 0,0 0,0 0,0 0,0 0,0 0,0 1,-1-1,1 0,0 0,0 0,0 0,0 0,0 0,0 0,0 0,0 0,0 0,0 0,-1 0,1-1,0 1,0 0,0 0,0 0,0 0,0 0,0 0,0 0,0 0,0 0,0 0,-1 0,-17-3,-432-118,310 78,-236-61,220 61,125 34,27 6,6 2,51 10,608 163,-591-153,408 122,-14 27,-398-138,-58-22,-17-7,-21-7,0-1,1-2,-48-21,28 11,-172-65,-1010-364,1231 448,-26-9,45 12,269 60,298 77,-557-129,-28-11,-1 0,0 0,0 0,1 1,-1-1,0 0,0 0,1 0,-1 0,0 0,0 0,0 1,1-1,-1 0,0 0,0 0,0 0,0 1,1-1,-1 0,0 0,0 1,0-1,0 0,0 0,0 0,0 1,0-1,0 0,0 0,0 1,1-1,-1 0,-1 1,1-1,0 0,0 0,0 1,0-1,0 0,0 0,0 1,0-1,0 0,0 0,-1 0,1 1,0-1,0 0,0 0,0 0,-1 1,1-1,-7 5,0 0,0 0,-1-1,1 0,-1 0,0-1,-10 3,-9 5,-412 152,32-13,386-141,-31 16,39-13,13-12,0 0,0 1,0-1,0 0,0 0,0 1,0-1,0 0,0 0,0 1,0-1,0 0,0 1,0-1,0 0,1 0,-1 1,0-1,0 0,0 0,0 0,1 1,-1-1,0 0,0 0,0 0,1 1,-1-1,0 0,0 0,1 0,-1 0,0 0,0 0,1 0,-1 0,0 0,1 1,9 1,1-1,0 1,0-2,13 0,378-13,-88 0,-4 21,-262-3,0 1,-1 2,53 17,-82-19,1 1,-1 0,0 1,0 1,-1 1,0 1,-1 0,0 1,-1 0,19 21,-31-30,0 0,-1 1,1 0,-1-1,1 1,-1 0,0 0,0 0,-1 0,0 0,1 1,-1-1,0 0,-1 1,1-1,-1 8,-1-7,0 0,0 0,0 0,-1 0,1 0,-1 0,-1 0,1 0,-1-1,1 1,-1-1,-5 6,-2 0,-1 0,0 0,0-1,-1 0,0-1,-1 0,0-1,0-1,-18 7,5-5,-1 0,0-2,0-1,-1-1,-35 1,20-5,0-2,-77-14,23-6,0-5,-102-43,177 62,-47-18,1-2,-80-47,144 73,-1-1,0 0,0-1,0 1,-6-7,11 10,-1-1,0 0,0 1,1-1,-1 0,1 0,-1 0,1 1,-1-1,1 0,0 0,-1 0,1 0,0 0,0 0,-1 0,1 0,0 0,0 0,0 0,0 0,0 0,1 0,-1 0,0 1,0-1,1 0,-1 0,0 0,1 0,-1 0,1 0,0 0,2-3,1 0,-1 1,1 0,0-1,0 2,0-1,0 0,1 1,-1 0,10-4,58-14,-51 15,95-21,2 6,216-9,242 48,-33 58,-392-44,226 79,-345-101,-22-8,-1 0,1 0,0 1,-1 0,0 1,0 0,0 0,10 10,-18-15,-1 0,0 1,1-1,-1 1,0-1,1 0,-1 1,0-1,0 1,0-1,1 1,-1-1,0 1,0-1,0 1,0-1,0 1,0-1,0 1,0-1,0 1,0-1,0 1,0-1,0 1,0-1,-1 1,1-1,0 1,0-1,-1 1,1-1,0 0,0 1,-1-1,1 1,0-1,-1 0,1 1,-1-1,1 0,-1 1,1-1,-1 0,-9 5,1 0,-1-1,-1 0,1 0,0-1,-1-1,0 0,-12 1,-6 2,-536 70,277-41,246-27,42-7,-1 0,0 0,0 0,0 1,0-1,0 0,0 1,0-1,0 0,0 1,0-1,1 1,-1-1,0 1,0 0,1 0,0 0,1-1,-1 1,1-1,0 1,-1-1,1 1,-1-1,1 1,0-1,-1 0,1 1,0-1,0 0,-1 1,1-1,0 0,0 0,-1 0,2 0,25 7,1-2,29 1,-26-2,262 25,81 10,-3 24,-353-59,-4-1,0 0,0 1,0 0,-1 1,26 13,-38-18,1 1,-1 0,0-1,0 1,0 0,0 0,0 0,0 0,0 0,0 0,-1 0,1 0,0 0,-1 0,1 0,0 0,-1 1,1-1,-1 0,0 0,1 1,-1-1,0 0,0 1,0-1,0 0,0 1,0-1,0 0,-1 1,1-1,0 0,-1 0,1 1,-1-1,1 0,-1 0,1 0,-1 1,0-1,0 0,-1 1,-3 4,0-1,-1 1,0-1,0 0,-1-1,-8 6,-15 6,0-1,-2-1,-61 18,-108 14,177-42,-910 142,741-120,139-21,341-51,355-53,8 44,-637 55,-2-1,0 1,-1 0,1 1,17 3,-20 0,-10 1,-16 5,-15 4,-1-2,-54 13,-519 81,348-68,-503 112,692-131,68-18,4-1,11-2,33-7,668-180,-390 101,375-104,-858 222,-461 73,-10-41,623-62,-361 8,314-13,39 0,15 5,0 0,-1-1,1 1,0 0,0 0,0 0,0 0,-1-1,1 1,0 0,0 0,0 0,0-1,0 1,0 0,0 0,0-1,0 1,0 0,0 0,0-1,0 1,0 0,0 0,0-1,0 1,0 0,0 0,0 0,0-1,0 1,0 0,2-2,0-1,0 2,0-1,0 0,0 0,0 1,1-1,4-2,23-10,1 1,1 1,0 2,36-7,106-21,267-21,186 29,-420 29,-185 2,-25 0,-42 0,-1329 3,1067-15,288 11,45 1,510 53,-4 37,-178-13,-344-75,-3-2,1 1,0 0,-1 1,1 0,-1 0,0 1,0-1,9 8,-16-11,0 0,1 1,-1-1,1 0,-1 1,0-1,1 0,-1 1,0-1,1 1,-1-1,0 1,1-1,-1 0,0 1,0-1,0 1,0-1,0 1,1-1,-1 1,0 0,0-1,0 1,0-1,0 1,0-1,-1 1,1-1,0 1,0-1,0 1,0-1,-1 1,1-1,0 0,0 1,-1-1,1 1,0-1,-1 1,1-1,-1 1,-26 13,-16 1,-1-3,-61 10,97-20,-831 103,-7-92,823-14,-33 0,-60-10,99 5,17 6,0 0,0-1,0 1,0 0,0 0,0 0,0-1,0 1,0 0,0 0,1-1,-1 1,0 0,0 0,0 0,0-1,0 1,0 0,0 0,1 0,-1 0,0-1,0 1,0 0,0 0,1 0,-1 0,0 0,0 0,0-1,1 1,-1 0,0 0,0 0,0 0,1 0,-1 0,0 0,39-10,66-5,160-2,-219 15,282-5,422 43,-587-16,0 7,-2 7,255 90,-409-121,-3-2,0 0,0 0,0 1,0 0,0 0,0 0,0 0,-1 1,4 2,-24-11,-177-95,95 58,-2 3,-2 5,-1 4,-203-31,190 48,0 5,0 5,0 5,-164 22,152-2,106-16,1 1,0 1,-23 10,43-17,0 1,0-1,0 1,1 0,-1 0,0 0,1 0,-1 0,1 0,-1 0,1 0,-1 1,1-1,0 0,0 1,-1 0,1-1,0 1,-1 3,2-5,0 1,0 0,0-1,1 1,-1 0,0-1,0 1,1-1,-1 1,0 0,1-1,-1 1,0-1,1 1,-1-1,1 1,-1-1,1 0,-1 1,1-1,0 1,25 10,-1-6,0 0,29 0,121 1,60-15,456-57,4-29,-98 13,-307 46,-55 9,58-3,-233 27,-54 6,-18 1,-158 35,118-30,-660 111,-10-45,433-69,270-6,0-2,-21-4,17-3,23 9,-1-1,0 1,1-1,-1 1,1-1,-1 1,1-1,-1 1,1-1,0 0,-1 1,1-1,-1 0,1 1,0-1,0 0,0 0,-1-1,2 0,-1-1,1 1,0 0,0-1,0 1,0 0,0-1,0 1,0 0,1 0,-1 0,1 0,0 1,0-1,-1 0,4-1,11-11,1 0,1 1,31-17,73-32,332-116,14 33,-429 134,216-62,262-83,-510 153,1 1,1-1,-1 0,0-1,12-8,-19 12,1-1,-1-1,0 1,1 0,-1 0,0 0,0-1,0 1,0 0,0-1,0 1,-1-1,1 0,0 1,-1-1,1 1,-1-1,0 0,1 1,-1-1,0 0,0 1,0-1,0 0,0 0,-1 1,1-1,-1-2,-2-3,0 1,0 0,-1-1,1 1,-1 1,-1-1,1 1,-8-7,-47-45,-88-63,123 102,-660-469,640 458,16 12,0-2,1-1,-39-37,64 55,0 0,1 0,-1-1,0 1,1-1,-1 1,1-1,-2-4,3 7,0-1,0 0,0 0,-1 0,1 0,0 0,0 0,0 0,1 0,-1 0,0 1,0-1,0 0,1 0,-1 0,0 0,1 0,-1 1,1-2,2-1,0 1,0 0,0-1,0 2,0-1,1 0,-1 0,0 1,1 0,0 0,-1 0,8-1,16-3,0 1,1 2,29 1,97 10,0 10,-1 7,0 6,-3 7,266 107,-376-130,-1 2,-1 1,36 25,-70-42,-1 1,1 0,-1 0,1 0,-1 1,0-1,3 5,-6-8,1 1,-1 0,0 0,1 0,-1 0,0 0,1 0,-1 0,0 0,0 0,0 0,0 0,0 0,0 0,0 0,0-1,0 1,-1 0,1 0,0 0,-1 0,1 0,0 0,-1 0,1 0,-1-1,0 1,1 0,-1 0,1-1,-1 1,0 0,0-1,1 1,-1-1,-2 2,-3 2,-1-1,0 1,0-1,0 0,0-1,-1 0,-8 2,-62 7,67-10,-138 12,-1-6,-229-20,334 9,0-1,0-3,0-1,-79-29,123 38,0-1,-1 1,1 0,0-1,0 1,0-1,0 1,-1-1,1 1,0-1,0 0,0 0,0 0,1 1,-1-1,0 0,0 0,0 0,1 0,-1 0,0-1,1 1,-1-2,1 2,1 0,0 0,0 0,0 0,0 0,0 0,0 0,0 0,1 0,-1 1,0-1,0 0,1 1,-1-1,0 1,1-1,-1 1,1 0,-1-1,0 1,2 0,16-3,-1 1,1 0,-1 2,1 0,-1 1,1 1,32 7,-23-2,-1 1,0 1,0 2,35 18,-61-28,3 0,-1 1,0 0,1 1,-1-1,5 5,-7-6,-1-1,1 1,-1 0,0-1,1 1,-1 0,1 0,-1-1,0 1,0 0,1 0,-1 0,0 0,0-1,0 1,0 0,0 0,0 0,0 0,0-1,0 1,0 0,-1 0,1 0,0-1,0 1,-1 0,1 0,-1-1,1 1,-1 0,1-1,-2 2,-2 3,0-1,-1 0,1 0,-1-1,0 1,0-1,-1 0,1 0,-7 2,-60 19,64-21,-77 19,-1-4,-159 12,-181-18,188-18,183 1,46 1,12-2,7 2,0 0,1 0,-1 1,1 0,0 1,0 0,16-1,-6 1,72-9,1 5,-1 3,1 5,120 17,-203-17,0-1,1 0,-1 1,0 1,0 0,0 0,0 1,15 8,-25-12,-1 1,1-1,-1 0,1 1,0-1,-1 1,1-1,-1 0,1 1,-1-1,1 1,-1 0,0-1,1 1,-1-1,0 1,1-1,-1 1,0 0,0-1,1 1,-1 0,0-1,0 1,0 0,0-1,0 1,0 0,0 0,0-1,0 1,-1 0,1-1,0 1,0 0,0-1,-1 1,1-1,-1 2,-1 1,-1-1,1 1,-1-1,1 0,-1 1,0-1,-3 1,-32 18,-1-2,-73 24,57-23,-217 78,262-94,3-2,1 0,-1 1,1 0,-1 0,1 0,-8 7,13-9,0 0,0 0,0 0,0 0,1 0,-1 0,0 1,0-1,1 0,-1 1,1-1,-1 0,1 1,0-1,-1 1,1-1,0 1,0-1,0 0,0 1,0-1,0 1,1-1,-1 1,0-1,1 0,-1 1,1-1,-1 1,1-1,0 0,0 0,-1 0,1 1,0-1,2 2,11 13,2-1,-1 0,2 0,0-2,0 0,29 15,29 15,3-4,1-2,94 28,261 51,-118-66,-275-44,-3 1,-38-7,0 1,1-1,-1 0,0 0,1 0,-1 0,0 0,1 0,-1 0,0 1,0-1,1 0,-1 0,0 0,0 1,1-1,-1 0,0 0,0 1,1-1,-1 0,0 0,0 1,0-1,0 0,0 1,1-1,-1 0,0 1,0 0,-1 0,0-1,1 1,-1 0,0 0,0 0,0-1,0 1,0-1,0 1,0-1,0 1,0-1,0 1,0-1,-1 1,-38 10,0-2,-72 8,79-13,-1134 80,1146-83,-5 0,49-5,247-23,1 11,390 29,-636-11,21 0,84 16,-126-17,-1 0,1 0,0 0,-1 0,0 1,1-1,-1 1,6 4,-8-5,0 0,-1-1,1 1,-1 0,1 0,-1 0,0 0,1 0,-1 0,0-1,1 1,-1 0,0 0,0 0,0 0,0 0,0 0,0 0,0 0,0 0,-1 0,1 0,0 0,0 0,-1 0,1 0,-1 0,1-1,-1 1,1 0,-1 0,1 0,-1-1,0 1,1 0,-1-1,-1 2,-6 5,1 0,-1 0,0 0,-1-1,0-1,-16 9,-69 26,77-34,-478 152,-14-40,245-69,247-46,-10 2,59-9,1307-96,-1298 101,-36 0,-10 1,-66 8,-652 69,440-50,-308 56,556-77,34-6,7-1,60-2,678-79,-512 49,-80 11,119-14,-235 33,-41 4,-21 3,-373 43,-18-35,-361-40,8-38,588 45,166 18,-1-1,1-1,-32-11,47 14,1 0,-1 0,0-1,1 1,-1 0,0-1,1 1,-1-1,1 1,-1-1,1 1,-1-1,1 1,-1-1,1 1,-1-1,1 1,0-1,-1 0,1 1,0-1,-1 0,1 1,0-3,0 2,1 0,-1 0,0 0,1 0,-1 0,1 0,0 0,-1 0,1 0,0 0,0 0,-1 0,1 0,0 0,0 0,2 0,15-11,0 2,1 0,23-8,137-52,70-20,725-220,-688 237,428-53,-343 102,-308 25,-1 2,0 3,107 24,-161-28,0 0,-1 0,1 1,-1 0,0 0,0 1,0 0,11 8,-16-10,-1-1,0 0,0 0,0 1,0-1,0 1,0-1,0 1,0-1,-1 1,1 0,-1-1,1 1,-1 0,1-1,-1 1,0 2,0-1,-1 0,1 0,-1 0,0 0,0 0,0-1,0 1,0 0,-1-1,1 1,-1-1,0 1,-2 2,-6 6,0-1,-1 0,0 0,0-1,-21 12,-77 37,47-32,-67 21,-129 16,-58-20,97-32,-318-25,-216-63,593 59,-263-30,55 12,76 15,83 14,80 12,125-4,-1-1,0 1,1 0,-1 0,1 0,0 0,-1 1,-7 4,12-6,0 0,0 0,-1 0,1 1,0-1,0 0,0 0,0 1,0-1,0 0,-1 0,1 1,0-1,0 0,0 0,0 1,0-1,0 0,0 0,0 1,0-1,0 0,0 0,0 1,1-1,-1 0,0 0,0 1,0-1,0 0,0 0,0 1,1-1,-1 0,0 0,0 0,0 1,0-1,1 0,-1 0,0 0,0 0,1 0,-1 1,29 11,39 4,1-3,77 4,469 16,9-35,-254-2,468 25,-750-12,-84-8,0 0,1 0,-1 0,0 0,0 1,0-1,4 4,-7-5,-1 0,1 1,-1-1,1 0,-1 1,0-1,1 1,-1-1,0 1,1-1,-1 1,0-1,0 1,1-1,-1 1,0-1,0 1,0-1,0 1,0-1,0 1,0 0,0 1,0-1,-1 0,1 0,-1 0,1 1,-1-1,1 0,-1 0,0 0,0 0,1 0,-1 0,0 0,-1 1,-16 11,0-1,-1 0,0-1,-1-1,-22 8,15-6,-190 79,-4-9,-388 87,324-113,-2-12,-360 7,525-49,113-2,-1-1,0 1,-12-4,21 4,1 0,0 0,-1 0,1 0,0 0,0 0,-1 0,1 0,0 0,-1-1,1 1,0 0,0 0,-1 0,1 0,0 0,0-1,0 1,-1 0,1 0,0 0,0-1,0 1,0 0,-1 0,1-1,0 1,0 0,0 0,0-1,0 1,0 0,0 0,0-1,0 1,0 0,0-1,0 1,0 0,0 0,0-1,0 1,0-1,2-1,-1 1,1-1,0 0,0 1,0-1,0 1,1 0,-1-1,4 0,26-12,44-11,112-24,67-5,770-91,8 77,-771 61,-188 5,283 3,-308 5,-48-6,-1 0,1 1,0-1,0 0,-1 0,1 0,0 0,-1 1,1-1,0 0,-1 1,1-1,-1 1,1-1,0 0,-1 1,1-1,-1 1,1 0,-1-1,0 1,1-1,-1 1,0 0,1-1,-1 1,0 0,0-1,1 1,-1 0,0-1,0 2,0 0,-1 0,0 1,0-2,0 1,0 0,0 0,0 0,0 0,-1-1,-2 4,-13 11,-1 0,-1-2,0 0,-1-1,-26 14,-24 8,-2-3,-1-4,-1-2,-2-4,-81 14,-395 30,-99-57,534-21,113 12,1-1,-1 1,1-1,-1 0,1 0,-1 0,1-1,0 1,0-1,-1 0,1 1,0-2,-2-1,4 3,1 1,0-1,-1 1,1-1,0 0,0 1,0-1,-1 0,1 1,0-1,0 0,0 1,0-1,0 0,0 1,0-1,1 0,-1 1,0-1,0 1,0-1,1 0,-1 1,0-1,1 0,1-2,0 0,0 0,1 1,-1-1,1 1,0-1,3-1,16-11,0 2,31-13,72-29,197-56,144-8,-229 69,347-29,-559 77,-12 0,-1 1,1 1,0-1,0 2,-1 0,1 0,17 5,-29-6,-1 0,0 0,1 0,-1 0,0 1,1-1,-1 0,0 0,0 0,1 0,-1 0,0 1,1-1,-1 0,0 0,0 1,1-1,-1 0,0 0,0 1,0-1,1 0,-1 1,0-1,0 0,0 0,0 1,0-1,0 0,0 1,0-1,1 0,-1 1,0-1,0 1,-1-1,1 0,0 1,0-1,0 0,0 1,0-1,0 0,0 0,0 1,-1-1,1 0,0 1,0-1,0 0,-1 0,1 1,0-1,0 0,-1 0,1 1,0-1,-1 0,1 0,0 0,0 0,-1 0,1 1,-7 4,-1-1,1 1,-1-1,1 0,-1-1,-12 4,-62 13,54-14,-163 29,-68-4,-1871 112,2004-141,122-1,0-1,1 1,-1-1,0-1,0 1,1 0,-1-1,1 0,-1 1,-5-3,9 2,0 1,0-1,1 1,-1-1,0 1,0-1,0 1,1 0,-1-1,0 1,1 0,-1-1,0 1,1 0,-1-1,0 1,1 0,-1-1,1 1,-1 0,0 0,1 0,0-1,29-13,386-131,-304 111,752-192,-653 188,1 9,250-2,-378 30,160 20,-227-16,0 0,32 11,-47-13,0-1,0 1,0 0,0 0,0 0,0 0,0 0,0 1,-1-1,1 0,0 1,-1 0,1-1,-1 1,0 0,1-1,-1 1,2 4,-3-4,0 0,0 0,0 0,0 0,-1 0,1 1,-1-1,1 0,-1 0,0 0,1 0,-1 0,0 0,0-1,-1 1,1 0,0 0,-1-1,1 1,-2 1,-9 9,0-1,0 0,-1 0,0-1,-22 12,-90 39,-92 21,2-20,-1-10,-347 37,-454-37,733-54,61-6,191 7,-193-18,221 19,0-1,0 0,0 0,0 0,-1-1,2 1,-8-4,11 5,0 0,0-1,-1 1,1 0,0 0,0-1,0 1,-1 0,1 0,0-1,0 1,0 0,0-1,0 1,-1 0,1-1,0 1,0 0,0 0,0-1,0 1,0 0,0-1,0 1,0 0,0-1,0 1,1 0,-1-1,0 1,0 0,0-1,0 1,1-1,0 0,0-1,1 1,0-1,-1 1,1-1,0 1,0 0,0 0,2-1,28-13,1 1,1 3,57-14,-41 13,172-45,922-161,17 126,-996 90,310 38,-453-32,57 9,-71-11,0 0,0 1,0 0,0 0,0 1,8 5,-15-9,0 1,0-1,0 0,0 1,-1 0,1-1,0 1,0-1,-1 1,1 0,0 0,-1-1,1 1,-1 0,1 0,-1 0,1 0,-1 0,0 0,1 0,-1-1,0 1,0 0,0 0,0 0,1 0,-1 0,-1 0,1 0,0 0,0 0,0 0,0 0,-1 0,1 0,0 0,-1 0,1 0,-1 0,0 0,-2 3,-1 0,0 0,0 0,0-1,0 0,-1 0,-4 3,-12 6,-1-1,0-2,-28 10,-84 18,-111 14,-340 27,-260-31,281-37,3-40,528 27,15 2,0-1,0 0,0-2,-30-9,40 6,8 7,0-1,0 1,0 0,0-1,1 1,-1 0,0-1,0 1,0 0,0-1,1 1,-1 0,0-1,0 1,0 0,1 0,-1-1,0 1,1 0,-1 0,0 0,0-1,1 1,-1 0,0 0,1 0,9-4,0 1,0 0,0 1,14-1,112-11,69 5,47 12,302 42,248 94,-484-65,-50 0,-61-9,-63-13,-131-47,-1 1,1 0,-1 0,17 13,-28-18,0 0,1 0,-1 0,0 0,0 0,0 0,-1 0,1 0,0 1,0-1,-1 0,1 0,0 1,-1-1,1 0,-1 1,0-1,1 4,-1-4,-1 0,1 0,0 0,-1 0,1 0,-1 0,1 0,-1 0,1 0,-1 0,0 0,1 0,-1 0,0-1,0 1,0 0,0 0,-1 0,-6 4,0-2,0 1,0-1,-1 0,-11 2,-24 4,-49 3,-353 14,-10-18,334-7,-579 0,7-27,545 13,127 11,-41-9,47 2,16 9,0 0,0 0,0-1,0 1,0 0,0-1,0 1,0 0,0-1,0 1,0 0,0-1,0 1,0 0,0 0,0-1,0 1,0 0,0-1,0 1,0 0,1 0,-1-1,0 1,0 0,0 0,0-1,1 1,-1 0,0 0,0 0,1-1,-1 1,0 0,0 0,1 0,8-5,0 0,0 1,1 1,18-5,763-184,-750 183,761-130,-599 119,403 14,-458 21,-131-13,0 1,0 1,21 7,-36-10,0 0,0-1,0 1,-1 0,1 0,0 0,-1 1,1-1,0 0,-1 1,0-1,2 3,-2-4,-1 1,0-1,0 1,0-1,1 1,-1-1,0 1,0 0,0-1,0 1,0-1,0 1,0-1,0 1,0 0,0-1,-1 1,1-1,0 1,0-1,0 1,-1-1,1 1,0-1,-1 1,1-1,-1 1,-3 3,0-1,0 0,-1 0,1-1,-1 1,0-1,1 0,-1 0,-5 1,-27 6,-59 9,-108 3,-757 0,710-22,-53 2,50 0,-61 7,270-3,86-3,88-7,72-12,298-34,278-26,0 31,-687 46,-86 0,0 0,0 1,0-1,-1 1,1 0,0 0,0 0,6 3,-9-3,-1-1,1 0,-1 1,0-1,1 1,-1-1,1 1,-1-1,0 0,1 1,-1-1,0 1,0 0,1-1,-1 1,0-1,0 1,0-1,0 1,0 0,0-1,0 1,0-1,0 2,0 0,-1 0,0 0,1 0,-1 0,0-1,0 1,0 0,0 0,-1 0,-1 1,-10 12,0-1,-1-1,-29 21,-64 35,30-28,-3-2,-1-4,-1-4,-2-3,-96 18,30-17,-1-6,-177 3,143-23,-317-34,368 9,126 21,0-1,0-1,-1 1,1-1,1-1,-1 1,-7-6,14 9,0-1,0 1,1-1,-1 0,1 1,-1-1,0 1,1-1,-1 0,1 0,-1 1,1-1,0 0,-1 0,1 0,0 1,-1-1,1 0,0 0,0 0,0 0,0 0,0 1,0-1,0 0,0 0,0 0,0 0,0 0,1 0,-1 1,0-1,1 0,-1 0,1 0,-1 1,0-1,1 0,0 1,-1-1,1 0,-1 1,1-1,1 0,6-6,1 0,1 0,-1 1,1 0,18-7,115-43,65-10,22 6,2 9,238-19,-179 45,366 15,-420 24,60 25,-286-37,1 0,0 1,21 7,-31-9,-1 0,1-1,0 1,-1 0,1 0,0 0,-1 0,1 0,-1 0,1 0,-1 1,0-1,0 1,1-1,-1 1,0-1,0 1,0-1,-1 1,1 0,0 0,-1-1,1 1,0 3,-2-2,1 1,-1 0,0-1,0 1,0-1,0 1,0-1,-1 1,0-1,0 0,0 0,0 0,0 0,0 0,-1 0,-3 2,-8 8,0 0,-19 11,-4 0,-1-2,-2-2,0-1,-1-2,0-1,-47 9,-22 0,-135 14,24-17,-239-8,421-15,69-2,261-6,152-6,24-27,-465 41,-6 1,-14-1,-31 0,-933-21,648 16,245 9,-152 26,198-18,36-6,12 0,7-1,0-1,1 0,-1-1,1 0,0-1,18-1,12 2,771 17,-502-17,-224 2,-74 1,-14-5,0 0,-1 1,1-1,0 0,0 1,-1-1,1 0,0 1,0-1,-1 0,1 0,0 1,-1-1,1 0,0 0,-1 0,1 1,-1-1,1 0,0 0,-1 0,1 0,-1 0,1 0,0 0,-1 0,-27 5,-35 2,-113 6,-135 7,-1218 82,1414-94,80-7,62-8,0 1,107-26,68-12,755-94,9 86,-926 51,98 2,-263-1,-75-9,-87-19,-78-22,-66-24,-227-66,-895-313,1276 352,84 23,165 66,-55-33,81 43,-1 1,1-1,-1 1,1-1,0 0,-1 0,1 0,0 0,0-1,1 1,-1 0,0-1,1 1,-1-1,1 0,0 1,0-1,-1-4,2 5,1-1,0 1,-1 0,1 0,0-1,0 1,0 0,0 0,1 0,-1 0,0 0,1 1,-1-1,1 0,0 1,0-1,-1 1,1-1,0 1,0 0,0 0,4-1,11-8,1 2,0 1,1 0,22-5,90-14,-119 23,165-25,1 8,0 7,1 8,0 8,0 8,273 51,-449-61,38 7,0 1,54 22,-92-30,0 0,-1 0,1 1,0-1,-1 1,0-1,5 5,-7-6,1 0,-1 1,0-1,0 1,1-1,-1 0,0 1,0-1,0 1,1-1,-1 0,0 1,0-1,0 1,0-1,0 1,0-1,0 0,0 1,0-1,0 1,0-1,0 1,0-1,0 0,-1 1,1-1,0 1,0-1,-1 1,-1 1,-1 1,0-1,0 0,0 0,0 0,0 0,-1-1,1 1,0-1,-5 1,-86 26,-155 25,151-34,92-18,-1 0,1 1,-1 0,1 0,0 0,0 1,0 0,0 0,-8 7,10-7,1 1,0-1,0 1,0 0,0 0,1 0,-1 0,1 0,0 0,0 1,1-1,0 1,-1-1,0 8,-1 13,1 0,0-1,2 1,3 25,19 99,-16-113,76 388,-58-305,-20-101,0-1,1 0,1 0,1 0,0-1,1 0,1 0,0-1,1 0,1-1,21 22,56 51,99 75,74 72,-230-197,-27-27,-4-10,0 1,0-1,0 0,0 0,0 0,0 1,0-1,0 0,0 0,-1 0,1 0,0 1,0-1,0 0,0 0,-1 0,1 0,0 0,0 0,0 1,-1-1,1 0,0 0,0 0,0 0,-1 0,1 0,0 0,0 0,-1 0,1 0,0 0,0 0,0 0,-1 0,-13-2,0-1,0 0,0-1,0 0,-25-13,-1 1,31 12,-513-189,-15 29,510 158,21 5,0 0,0 0,1 0,-1-1,0 0,0 0,1-1,-10-5,15 3,10-2,11-1,0 1,0 1,1 1,31-3,-44 6,823-84,-466 57,-330 25,-33 4,-5 0,-21 2,-123 9,-425 27,332-29,-594 42,787-44,38-3,25-2,59-4,103-16,-168 16,577-87,-26 2,-39 30,562 11,-1081 46,165 7,-136 0,-26-2,-14-1,-15 1,-13-5,29 0,-1-1,0 1,1 0,-1 1,0 0,1 0,-1 0,1 1,0 0,-13 5,-20 22,-3 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5-07T06:04:37.6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1810 641,'-4'71,"-19"116,17-147,-133 611,111-562,-4-1,-45 87,-13 32,55-117,4 2,4 1,-19 127,45-212,-1 21,2-29,0 0,0 0,0 0,0 1,0-1,0 0,0 0,0 0,1 0,-1 1,0-1,0 0,0 0,0 0,0 0,0 0,0 0,1 1,-1-1,0 0,0 0,0 0,0 0,0 0,1 0,-1 0,0 0,0 0,0 0,0 0,1 0,-1 0,0 0,0 0,0 0,0 0,1 0,-1 0,0 0,0 0,0 0,0 0,1 0,13-13,19-30,-2-1,37-70,-36 57,65-120,-7-4,-9-4,71-242,-2-106,-48-11,-92 453,28-170,-33 248,-2 19,-1 27,-2 20,-14 105,-25 58,31-180,-51 253,-57 310,87-402,-4 216,16 645,17-1036,0-41,1-1060,5 887,9 1,67-325,146-354,-214 822,-3 7,17-39,-18 64,-10 16,0 0,0 0,0 0,0 0,1 0,-1-1,0 1,0 0,0 0,0 0,1 0,-1 0,0 0,0 0,0 0,1 0,-1 0,0 0,0 0,0 0,0 0,1 0,-1 0,0 0,0 0,0 0,1 0,-1 0,0 0,0 0,0 0,1 0,-1 0,0 0,0 0,0 0,0 1,1-1,0 2,0 1,1 0,-1-1,-1 1,1 0,0 0,-1-1,1 1,-1 3,6 61,-5 83,-41 561,-41 2,51-504,-10-2,-95 290,83-349,-7-2,-6-3,-159 254,209-373,-22 25,30-41,-1 0,0 0,-1-1,0 0,-17 10,-55 34,-80 69,-32 21,184-134,-1-1,0 0,0-1,0 0,-1 0,1-1,-1-1,0 0,0 0,-1-1,1-1,0 1,-1-2,1 0,-14-1,-10 0,33 1,0 0,1 0,-1 1,0-1,1 1,-1-1,1 1,-1 0,1-1,-1 1,1 0,-1 0,1 0,0 0,0 0,-1 1,1-1,-1 2,2-3,-1 0,1 1,0-1,-1 0,1 1,0-1,0 0,0 1,-1-1,1 0,0 1,0-1,0 0,0 1,0-1,0 1,0-1,0 0,0 1,0-1,0 0,0 1,0-1,0 1,0-1,0 0,0 1,0-1,0 1,1-1,-1 0,0 1,0-1,0 0,1 0,-1 1,0-1,0 0,1 1,-1-1,0 0,1 0,-1 1,0-1,1 0,-1 0,0 0,1 0,-1 0,0 1,1-1,-1 0,1 0,-1 0,0 0,1 0,-1 0,1 0,-1 0,0 0,1-1,-1 1,0 0,1 0,7-2,-1 0,0-1,-1 1,1-1,0-1,-1 1,0-1,0 0,0-1,8-6,-2 1,298-252,-12-21,86-75,-332 312,-1-2,-3-2,-2-3,62-90,-90 115,-9 16,0 0,-2-1,0 0,0 0,6-18,-14 29,-3 5,-9 11,1-1,-14 21,6-6,-435 504,-39-24,-72 78,-25 122,556-662,28-32,7-14,0 0,0 0,0 0,0 1,0-1,0 0,0 0,0 0,0 0,0 0,0 0,0 0,1 0,-1 1,0-1,0 0,0 0,0 0,0 0,0 0,0 0,0 0,0 0,0 0,0 0,1 0,-1 0,0 1,0-1,0 0,0 0,0 0,0 0,0 0,0 0,1 0,-1 0,0 0,0 0,0 0,0 0,0 0,0 0,0 0,1 0,-1 0,0 0,0-1,0 1,0 0,0 0,0 0,0 0,25-15,46-42,-4-3,63-71,-46 44,97-90,7 9,416-286,-395 326,178-122,-326 205,-3-2,-1-3,-3-2,50-62,-50 41,-49 64,0 1,0-1,-1-1,0 1,-1 0,4-17,-7 25,1 0,-1 0,0-1,0 1,1 0,-1 0,0-1,0 1,0 0,0 0,-1-1,1 1,0 0,0 0,-1-1,1 1,-1 0,1 0,-1 0,1 0,-1 0,0 0,0 0,-1-2,1 2,-1 1,1-1,-1 1,1-1,-1 1,1 0,-1-1,0 1,1 0,-1 0,1 0,-1 0,0 0,1 1,-1-1,-2 1,-7 3,1 0,-1 0,1 1,-14 8,-15 14,2 1,0 2,-38 42,43-42,-516 522,279-274,-910 1015,1144-1249,27-29,9-9,1-6,0 0,-1-1,1 1,0 0,0-1,-1 1,1-1,-1 0,1 1,0-1,-1 0,1 0,-1 0,2-1,39-29,-1-2,37-39,-73 67,317-322,-11-22,-46 51,-243 273,-11 13,-1 0,1 1,19-14,-20 20,-6 8,-8 17,-7 5,-1 1,-1-2,-27 40,13-22,-57 84,-133 153,-125 98,318-351,-180 179,187-187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heavy">
                <a:solidFill>
                  <a:srgbClr val="12046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heavy">
                <a:solidFill>
                  <a:srgbClr val="12046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414009" y="2250750"/>
            <a:ext cx="3815079" cy="4140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 u="heavy">
                <a:solidFill>
                  <a:srgbClr val="12046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239344"/>
            <a:ext cx="867791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 u="heavy">
                <a:solidFill>
                  <a:srgbClr val="12046E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8950" y="1739010"/>
            <a:ext cx="8934450" cy="3426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41206" y="6472929"/>
            <a:ext cx="216534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mailto:pyro_yangxu@bit.edu.c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hyperlink" Target="mailto:pyro_yangxu@bit.edu.cn" TargetMode="External"/><Relationship Id="rId5" Type="http://schemas.openxmlformats.org/officeDocument/2006/relationships/image" Target="../media/image10.png"/><Relationship Id="rId10" Type="http://schemas.openxmlformats.org/officeDocument/2006/relationships/image" Target="../media/image15.jp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hyperlink" Target="mailto:pyro_yangxu@bit.edu.c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pyro_yangxu@bit.edu.cn" TargetMode="Externa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mailto:pyro_yangxu@bit.edu.c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pyro_yangxu@bit.edu.cn" TargetMode="Externa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hyperlink" Target="mailto:pyro_yangxu@bit.edu.c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pyro_yangxu@bit.edu.c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hyperlink" Target="mailto:pyro_yangxu@bit.edu.cn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yro_yangxu@bit.edu.cn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pyro_yangxu@bit.edu.c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符号数的反码表示法</a:t>
            </a:r>
          </a:p>
        </p:txBody>
      </p:sp>
      <p:sp>
        <p:nvSpPr>
          <p:cNvPr id="3" name="object 3"/>
          <p:cNvSpPr/>
          <p:nvPr/>
        </p:nvSpPr>
        <p:spPr>
          <a:xfrm>
            <a:off x="1537702" y="4146286"/>
            <a:ext cx="7043192" cy="1034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59052" y="4669510"/>
            <a:ext cx="7002018" cy="464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4000" y="2503932"/>
            <a:ext cx="7070598" cy="17305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59052" y="3189719"/>
            <a:ext cx="7002018" cy="4655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0" y="1024127"/>
            <a:ext cx="7070598" cy="17305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59052" y="1711426"/>
            <a:ext cx="7002018" cy="4640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99030" y="1122425"/>
            <a:ext cx="6325235" cy="395668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符号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z="2400" spc="-10" dirty="0">
                <a:latin typeface="Arial"/>
                <a:cs typeface="Arial"/>
              </a:rPr>
              <a:t>1</a:t>
            </a:r>
            <a:r>
              <a:rPr sz="2400" dirty="0">
                <a:latin typeface="微软雅黑"/>
                <a:cs typeface="微软雅黑"/>
              </a:rPr>
              <a:t>位二进制数表示符号</a:t>
            </a:r>
            <a:r>
              <a:rPr sz="2400" spc="-20" dirty="0">
                <a:latin typeface="微软雅黑"/>
                <a:cs typeface="微软雅黑"/>
              </a:rPr>
              <a:t>：</a:t>
            </a:r>
            <a:r>
              <a:rPr sz="2400" spc="-10" dirty="0">
                <a:latin typeface="Arial"/>
                <a:cs typeface="Arial"/>
              </a:rPr>
              <a:t>0</a:t>
            </a:r>
            <a:r>
              <a:rPr sz="2400" dirty="0">
                <a:latin typeface="微软雅黑"/>
                <a:cs typeface="微软雅黑"/>
              </a:rPr>
              <a:t>表示正数，</a:t>
            </a:r>
            <a:r>
              <a:rPr sz="2400" spc="-10" dirty="0">
                <a:latin typeface="Arial"/>
                <a:cs typeface="Arial"/>
              </a:rPr>
              <a:t>1</a:t>
            </a:r>
            <a:r>
              <a:rPr sz="2400" dirty="0">
                <a:latin typeface="微软雅黑"/>
                <a:cs typeface="微软雅黑"/>
              </a:rPr>
              <a:t>表示负数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数值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2400" dirty="0">
                <a:latin typeface="微软雅黑"/>
                <a:cs typeface="微软雅黑"/>
              </a:rPr>
              <a:t>正数用原码表示，负数以该数的反码表示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符号位置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2400" dirty="0">
                <a:latin typeface="微软雅黑"/>
                <a:cs typeface="微软雅黑"/>
              </a:rPr>
              <a:t>符号放在最高位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303" y="5201050"/>
            <a:ext cx="2357120" cy="10814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695"/>
              </a:spcBef>
            </a:pPr>
            <a:r>
              <a:rPr sz="3200" u="heavy" spc="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0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0</a:t>
            </a:r>
            <a:r>
              <a:rPr sz="3200" u="heavy" spc="8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010</a:t>
            </a:r>
            <a:r>
              <a:rPr sz="3200" u="heavy" spc="-15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11</a:t>
            </a:r>
            <a:r>
              <a:rPr sz="3200" u="heavy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  <a:tabLst>
                <a:tab pos="1570990" algn="l"/>
              </a:tabLst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符号	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原码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90467" y="5517007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59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90467" y="5603621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59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90467" y="5488178"/>
            <a:ext cx="323850" cy="57785"/>
          </a:xfrm>
          <a:custGeom>
            <a:avLst/>
            <a:gdLst/>
            <a:ahLst/>
            <a:cxnLst/>
            <a:rect l="l" t="t" r="r" b="b"/>
            <a:pathLst>
              <a:path w="323850" h="57785">
                <a:moveTo>
                  <a:pt x="0" y="0"/>
                </a:moveTo>
                <a:lnTo>
                  <a:pt x="323596" y="0"/>
                </a:lnTo>
                <a:lnTo>
                  <a:pt x="32359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90467" y="5574791"/>
            <a:ext cx="323850" cy="57785"/>
          </a:xfrm>
          <a:custGeom>
            <a:avLst/>
            <a:gdLst/>
            <a:ahLst/>
            <a:cxnLst/>
            <a:rect l="l" t="t" r="r" b="b"/>
            <a:pathLst>
              <a:path w="323850" h="57785">
                <a:moveTo>
                  <a:pt x="0" y="0"/>
                </a:moveTo>
                <a:lnTo>
                  <a:pt x="323596" y="0"/>
                </a:lnTo>
                <a:lnTo>
                  <a:pt x="32359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99686" y="5314289"/>
            <a:ext cx="751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5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23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861427" y="5517007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32486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861427" y="5603621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32486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61427" y="5488178"/>
            <a:ext cx="325120" cy="57785"/>
          </a:xfrm>
          <a:custGeom>
            <a:avLst/>
            <a:gdLst/>
            <a:ahLst/>
            <a:cxnLst/>
            <a:rect l="l" t="t" r="r" b="b"/>
            <a:pathLst>
              <a:path w="325120" h="57785">
                <a:moveTo>
                  <a:pt x="0" y="0"/>
                </a:moveTo>
                <a:lnTo>
                  <a:pt x="324866" y="0"/>
                </a:lnTo>
                <a:lnTo>
                  <a:pt x="32486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61427" y="5574791"/>
            <a:ext cx="325120" cy="57785"/>
          </a:xfrm>
          <a:custGeom>
            <a:avLst/>
            <a:gdLst/>
            <a:ahLst/>
            <a:cxnLst/>
            <a:rect l="l" t="t" r="r" b="b"/>
            <a:pathLst>
              <a:path w="325120" h="57785">
                <a:moveTo>
                  <a:pt x="0" y="0"/>
                </a:moveTo>
                <a:lnTo>
                  <a:pt x="324866" y="0"/>
                </a:lnTo>
                <a:lnTo>
                  <a:pt x="32486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472296" y="5314289"/>
            <a:ext cx="8864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5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104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7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</a:t>
            </a:fld>
            <a:endParaRPr spc="-5" dirty="0"/>
          </a:p>
        </p:txBody>
      </p:sp>
      <p:sp>
        <p:nvSpPr>
          <p:cNvPr id="21" name="object 21"/>
          <p:cNvSpPr txBox="1"/>
          <p:nvPr/>
        </p:nvSpPr>
        <p:spPr>
          <a:xfrm>
            <a:off x="5296027" y="5209083"/>
            <a:ext cx="2360930" cy="10661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520700">
              <a:lnSpc>
                <a:spcPct val="100000"/>
              </a:lnSpc>
              <a:spcBef>
                <a:spcPts val="635"/>
              </a:spcBef>
            </a:pPr>
            <a:r>
              <a:rPr sz="3200" u="heavy" spc="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1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0</a:t>
            </a:r>
            <a:r>
              <a:rPr sz="3200" u="heavy" spc="8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010</a:t>
            </a:r>
            <a:r>
              <a:rPr sz="3200" u="heavy" spc="-15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11</a:t>
            </a:r>
            <a:r>
              <a:rPr sz="3200" u="heavy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1570990" algn="l"/>
              </a:tabLst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符号	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反码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反码表示法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</a:t>
            </a:fld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8950" y="1785620"/>
          <a:ext cx="8915400" cy="2987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19">
                <a:tc>
                  <a:txBody>
                    <a:bodyPr/>
                    <a:lstStyle/>
                    <a:p>
                      <a:pPr marL="7886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b="1" spc="-5" dirty="0">
                          <a:solidFill>
                            <a:srgbClr val="001F5F"/>
                          </a:solidFill>
                          <a:latin typeface="微软雅黑"/>
                          <a:cs typeface="微软雅黑"/>
                        </a:rPr>
                        <a:t>十进制表示</a:t>
                      </a:r>
                      <a:endParaRPr sz="2200">
                        <a:latin typeface="微软雅黑"/>
                        <a:cs typeface="微软雅黑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b="1" spc="-5" dirty="0">
                          <a:solidFill>
                            <a:srgbClr val="001F5F"/>
                          </a:solidFill>
                          <a:latin typeface="微软雅黑"/>
                          <a:cs typeface="微软雅黑"/>
                        </a:rPr>
                        <a:t>二进制</a:t>
                      </a:r>
                      <a:endParaRPr sz="2200">
                        <a:latin typeface="微软雅黑"/>
                        <a:cs typeface="微软雅黑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93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b="1" spc="-5" dirty="0">
                          <a:solidFill>
                            <a:srgbClr val="001F5F"/>
                          </a:solidFill>
                          <a:latin typeface="微软雅黑"/>
                          <a:cs typeface="微软雅黑"/>
                        </a:rPr>
                        <a:t>反码表示法</a:t>
                      </a:r>
                      <a:endParaRPr sz="2200">
                        <a:latin typeface="微软雅黑"/>
                        <a:cs typeface="微软雅黑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R="8445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(+37)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0100101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58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0100101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R="15557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(-37)</a:t>
                      </a:r>
                      <a:r>
                        <a:rPr sz="2175" spc="-7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2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0100101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58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4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200" spc="-4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1011010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R="240029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(+0)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58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R="30988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(-0)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2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58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7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200" spc="-17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1111111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(+127)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200" spc="-15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1111111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0581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200" spc="-15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1111111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(-127)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2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17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1111111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581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67334" y="1145793"/>
            <a:ext cx="5603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例：数据位宽</a:t>
            </a:r>
            <a:r>
              <a:rPr sz="2800" spc="-5" dirty="0">
                <a:solidFill>
                  <a:srgbClr val="12046E"/>
                </a:solidFill>
                <a:latin typeface="Arial"/>
                <a:cs typeface="Arial"/>
              </a:rPr>
              <a:t>n=8</a:t>
            </a: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，最高</a:t>
            </a:r>
            <a:r>
              <a:rPr sz="2800" dirty="0">
                <a:solidFill>
                  <a:srgbClr val="12046E"/>
                </a:solidFill>
                <a:latin typeface="微软雅黑"/>
                <a:cs typeface="微软雅黑"/>
              </a:rPr>
              <a:t>位</a:t>
            </a: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为符</a:t>
            </a:r>
            <a:r>
              <a:rPr sz="2800" spc="10" dirty="0">
                <a:solidFill>
                  <a:srgbClr val="12046E"/>
                </a:solidFill>
                <a:latin typeface="微软雅黑"/>
                <a:cs typeface="微软雅黑"/>
              </a:rPr>
              <a:t>号</a:t>
            </a: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位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934" y="4798404"/>
            <a:ext cx="9136380" cy="1207770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39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位数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字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采用反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码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可表示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数据范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围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：</a:t>
            </a:r>
            <a:r>
              <a:rPr sz="2800" spc="-30" dirty="0">
                <a:solidFill>
                  <a:srgbClr val="3333CC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-(2</a:t>
            </a:r>
            <a:r>
              <a:rPr sz="2775" baseline="25525" dirty="0">
                <a:solidFill>
                  <a:srgbClr val="3333CC"/>
                </a:solidFill>
                <a:latin typeface="Arial"/>
                <a:cs typeface="Arial"/>
              </a:rPr>
              <a:t>n-1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-1)~+(2</a:t>
            </a:r>
            <a:r>
              <a:rPr sz="2775" baseline="25525" dirty="0">
                <a:solidFill>
                  <a:srgbClr val="3333CC"/>
                </a:solidFill>
                <a:latin typeface="Arial"/>
                <a:cs typeface="Arial"/>
              </a:rPr>
              <a:t>n-1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-1)</a:t>
            </a:r>
            <a:endParaRPr sz="28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30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0</a:t>
            </a:r>
            <a:r>
              <a:rPr sz="2800" spc="-10" dirty="0">
                <a:solidFill>
                  <a:srgbClr val="3333CC"/>
                </a:solidFill>
                <a:latin typeface="微软雅黑"/>
                <a:cs typeface="微软雅黑"/>
              </a:rPr>
              <a:t>有两种表示方式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：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+0</a:t>
            </a:r>
            <a:r>
              <a:rPr sz="2800" spc="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CC"/>
                </a:solidFill>
                <a:latin typeface="微软雅黑"/>
                <a:cs typeface="微软雅黑"/>
              </a:rPr>
              <a:t>和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-0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11449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补码</a:t>
            </a:r>
          </a:p>
        </p:txBody>
      </p:sp>
      <p:sp>
        <p:nvSpPr>
          <p:cNvPr id="3" name="object 3"/>
          <p:cNvSpPr/>
          <p:nvPr/>
        </p:nvSpPr>
        <p:spPr>
          <a:xfrm>
            <a:off x="489966" y="1270253"/>
            <a:ext cx="8784590" cy="1440180"/>
          </a:xfrm>
          <a:custGeom>
            <a:avLst/>
            <a:gdLst/>
            <a:ahLst/>
            <a:cxnLst/>
            <a:rect l="l" t="t" r="r" b="b"/>
            <a:pathLst>
              <a:path w="8784590" h="1440180">
                <a:moveTo>
                  <a:pt x="0" y="163830"/>
                </a:moveTo>
                <a:lnTo>
                  <a:pt x="5852" y="120297"/>
                </a:lnTo>
                <a:lnTo>
                  <a:pt x="22368" y="81167"/>
                </a:lnTo>
                <a:lnTo>
                  <a:pt x="47986" y="48005"/>
                </a:lnTo>
                <a:lnTo>
                  <a:pt x="81144" y="22380"/>
                </a:lnTo>
                <a:lnTo>
                  <a:pt x="120279" y="5856"/>
                </a:lnTo>
                <a:lnTo>
                  <a:pt x="163829" y="0"/>
                </a:lnTo>
                <a:lnTo>
                  <a:pt x="8620506" y="0"/>
                </a:lnTo>
                <a:lnTo>
                  <a:pt x="8664038" y="5856"/>
                </a:lnTo>
                <a:lnTo>
                  <a:pt x="8703168" y="22380"/>
                </a:lnTo>
                <a:lnTo>
                  <a:pt x="8736330" y="48006"/>
                </a:lnTo>
                <a:lnTo>
                  <a:pt x="8761955" y="81167"/>
                </a:lnTo>
                <a:lnTo>
                  <a:pt x="8778479" y="120297"/>
                </a:lnTo>
                <a:lnTo>
                  <a:pt x="8784336" y="163830"/>
                </a:lnTo>
                <a:lnTo>
                  <a:pt x="8784336" y="1276350"/>
                </a:lnTo>
                <a:lnTo>
                  <a:pt x="8778479" y="1319882"/>
                </a:lnTo>
                <a:lnTo>
                  <a:pt x="8761955" y="1359012"/>
                </a:lnTo>
                <a:lnTo>
                  <a:pt x="8736330" y="1392174"/>
                </a:lnTo>
                <a:lnTo>
                  <a:pt x="8703168" y="1417799"/>
                </a:lnTo>
                <a:lnTo>
                  <a:pt x="8664038" y="1434323"/>
                </a:lnTo>
                <a:lnTo>
                  <a:pt x="8620506" y="1440180"/>
                </a:lnTo>
                <a:lnTo>
                  <a:pt x="163829" y="1440180"/>
                </a:lnTo>
                <a:lnTo>
                  <a:pt x="120279" y="1434323"/>
                </a:lnTo>
                <a:lnTo>
                  <a:pt x="81144" y="1417799"/>
                </a:lnTo>
                <a:lnTo>
                  <a:pt x="47986" y="1392174"/>
                </a:lnTo>
                <a:lnTo>
                  <a:pt x="22368" y="1359012"/>
                </a:lnTo>
                <a:lnTo>
                  <a:pt x="5852" y="1319882"/>
                </a:lnTo>
                <a:lnTo>
                  <a:pt x="0" y="1276350"/>
                </a:lnTo>
                <a:lnTo>
                  <a:pt x="0" y="16383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5187" y="1337818"/>
            <a:ext cx="823150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0000FF"/>
                </a:solidFill>
                <a:latin typeface="微软雅黑"/>
                <a:cs typeface="微软雅黑"/>
              </a:rPr>
              <a:t>补码</a:t>
            </a:r>
            <a:r>
              <a:rPr sz="2600" spc="-5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r>
              <a:rPr sz="2600" dirty="0">
                <a:latin typeface="微软雅黑"/>
                <a:cs typeface="微软雅黑"/>
              </a:rPr>
              <a:t>设数</a:t>
            </a:r>
            <a:r>
              <a:rPr sz="2600" dirty="0">
                <a:latin typeface="Arial"/>
                <a:cs typeface="Arial"/>
              </a:rPr>
              <a:t>N</a:t>
            </a:r>
            <a:r>
              <a:rPr sz="2600" dirty="0">
                <a:latin typeface="微软雅黑"/>
                <a:cs typeface="微软雅黑"/>
              </a:rPr>
              <a:t>为包</a:t>
            </a:r>
            <a:r>
              <a:rPr sz="2600" spc="-5" dirty="0">
                <a:latin typeface="微软雅黑"/>
                <a:cs typeface="微软雅黑"/>
              </a:rPr>
              <a:t>含</a:t>
            </a:r>
            <a:r>
              <a:rPr sz="2600" spc="-10" dirty="0">
                <a:latin typeface="Arial"/>
                <a:cs typeface="Arial"/>
              </a:rPr>
              <a:t>n</a:t>
            </a:r>
            <a:r>
              <a:rPr sz="2600" dirty="0">
                <a:latin typeface="微软雅黑"/>
                <a:cs typeface="微软雅黑"/>
              </a:rPr>
              <a:t>位整</a:t>
            </a:r>
            <a:r>
              <a:rPr sz="2600" spc="-15" dirty="0">
                <a:latin typeface="微软雅黑"/>
                <a:cs typeface="微软雅黑"/>
              </a:rPr>
              <a:t>数</a:t>
            </a:r>
            <a:r>
              <a:rPr sz="2600" dirty="0">
                <a:latin typeface="微软雅黑"/>
                <a:cs typeface="微软雅黑"/>
              </a:rPr>
              <a:t>、</a:t>
            </a:r>
            <a:r>
              <a:rPr sz="2600" spc="-10" dirty="0">
                <a:latin typeface="Arial"/>
                <a:cs typeface="Arial"/>
              </a:rPr>
              <a:t>m</a:t>
            </a:r>
            <a:r>
              <a:rPr sz="2600" dirty="0">
                <a:latin typeface="微软雅黑"/>
                <a:cs typeface="微软雅黑"/>
              </a:rPr>
              <a:t>位小</a:t>
            </a:r>
            <a:r>
              <a:rPr sz="2600" spc="-15" dirty="0">
                <a:latin typeface="微软雅黑"/>
                <a:cs typeface="微软雅黑"/>
              </a:rPr>
              <a:t>数</a:t>
            </a:r>
            <a:r>
              <a:rPr sz="2600" dirty="0">
                <a:latin typeface="微软雅黑"/>
                <a:cs typeface="微软雅黑"/>
              </a:rPr>
              <a:t>的二</a:t>
            </a:r>
            <a:r>
              <a:rPr sz="2600" spc="-15" dirty="0">
                <a:latin typeface="微软雅黑"/>
                <a:cs typeface="微软雅黑"/>
              </a:rPr>
              <a:t>进</a:t>
            </a:r>
            <a:r>
              <a:rPr sz="2600" dirty="0">
                <a:latin typeface="微软雅黑"/>
                <a:cs typeface="微软雅黑"/>
              </a:rPr>
              <a:t>制数</a:t>
            </a:r>
            <a:r>
              <a:rPr sz="2600" spc="-15" dirty="0">
                <a:latin typeface="微软雅黑"/>
                <a:cs typeface="微软雅黑"/>
              </a:rPr>
              <a:t>，</a:t>
            </a:r>
            <a:r>
              <a:rPr sz="2600" spc="5" dirty="0">
                <a:latin typeface="微软雅黑"/>
                <a:cs typeface="微软雅黑"/>
              </a:rPr>
              <a:t>则</a:t>
            </a:r>
            <a:r>
              <a:rPr sz="2600" dirty="0">
                <a:latin typeface="Arial"/>
                <a:cs typeface="Arial"/>
              </a:rPr>
              <a:t>N  </a:t>
            </a:r>
            <a:r>
              <a:rPr sz="2600" dirty="0">
                <a:latin typeface="微软雅黑"/>
                <a:cs typeface="微软雅黑"/>
              </a:rPr>
              <a:t>的补码定义为：</a:t>
            </a:r>
            <a:endParaRPr sz="2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82181" y="1874723"/>
            <a:ext cx="3131820" cy="619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426210" algn="l"/>
                <a:tab pos="2366010" algn="l"/>
              </a:tabLst>
            </a:pPr>
            <a:r>
              <a:rPr sz="3900" spc="160" dirty="0">
                <a:latin typeface="Times New Roman"/>
                <a:cs typeface="Times New Roman"/>
              </a:rPr>
              <a:t>(</a:t>
            </a:r>
            <a:r>
              <a:rPr sz="3900" i="1" spc="160" dirty="0">
                <a:latin typeface="Times New Roman"/>
                <a:cs typeface="Times New Roman"/>
              </a:rPr>
              <a:t>N</a:t>
            </a:r>
            <a:r>
              <a:rPr sz="3900" i="1" spc="-560" dirty="0">
                <a:latin typeface="Times New Roman"/>
                <a:cs typeface="Times New Roman"/>
              </a:rPr>
              <a:t> </a:t>
            </a:r>
            <a:r>
              <a:rPr sz="3900" spc="15" dirty="0">
                <a:latin typeface="Times New Roman"/>
                <a:cs typeface="Times New Roman"/>
              </a:rPr>
              <a:t>)	</a:t>
            </a:r>
            <a:r>
              <a:rPr sz="3900" spc="25" dirty="0">
                <a:latin typeface="Symbol"/>
                <a:cs typeface="Symbol"/>
              </a:rPr>
              <a:t></a:t>
            </a:r>
            <a:r>
              <a:rPr sz="3900" spc="-90" dirty="0">
                <a:latin typeface="Times New Roman"/>
                <a:cs typeface="Times New Roman"/>
              </a:rPr>
              <a:t> </a:t>
            </a:r>
            <a:r>
              <a:rPr sz="3900" spc="90" dirty="0">
                <a:latin typeface="Times New Roman"/>
                <a:cs typeface="Times New Roman"/>
              </a:rPr>
              <a:t>2</a:t>
            </a:r>
            <a:r>
              <a:rPr sz="3375" i="1" spc="135" baseline="43209" dirty="0">
                <a:latin typeface="Times New Roman"/>
                <a:cs typeface="Times New Roman"/>
              </a:rPr>
              <a:t>n	</a:t>
            </a:r>
            <a:r>
              <a:rPr sz="3900" spc="25" dirty="0">
                <a:latin typeface="Symbol"/>
                <a:cs typeface="Symbol"/>
              </a:rPr>
              <a:t></a:t>
            </a:r>
            <a:r>
              <a:rPr sz="3900" spc="-215" dirty="0">
                <a:latin typeface="Times New Roman"/>
                <a:cs typeface="Times New Roman"/>
              </a:rPr>
              <a:t> </a:t>
            </a:r>
            <a:r>
              <a:rPr sz="3900" i="1" spc="30" dirty="0">
                <a:latin typeface="Times New Roman"/>
                <a:cs typeface="Times New Roman"/>
              </a:rPr>
              <a:t>N</a:t>
            </a:r>
            <a:endParaRPr sz="3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3010" y="2219424"/>
            <a:ext cx="461645" cy="3714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25" dirty="0">
                <a:latin typeface="宋体"/>
                <a:cs typeface="宋体"/>
              </a:rPr>
              <a:t>补</a:t>
            </a:r>
            <a:r>
              <a:rPr sz="2250" spc="25" dirty="0">
                <a:latin typeface="Times New Roman"/>
                <a:cs typeface="Times New Roman"/>
              </a:rPr>
              <a:t>n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911208" y="3426333"/>
            <a:ext cx="363220" cy="363220"/>
          </a:xfrm>
          <a:custGeom>
            <a:avLst/>
            <a:gdLst/>
            <a:ahLst/>
            <a:cxnLst/>
            <a:rect l="l" t="t" r="r" b="b"/>
            <a:pathLst>
              <a:path w="363220" h="363220">
                <a:moveTo>
                  <a:pt x="363093" y="0"/>
                </a:moveTo>
                <a:lnTo>
                  <a:pt x="72644" y="72643"/>
                </a:lnTo>
                <a:lnTo>
                  <a:pt x="0" y="363092"/>
                </a:lnTo>
                <a:lnTo>
                  <a:pt x="363093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9966" y="2925317"/>
            <a:ext cx="8784590" cy="864235"/>
          </a:xfrm>
          <a:custGeom>
            <a:avLst/>
            <a:gdLst/>
            <a:ahLst/>
            <a:cxnLst/>
            <a:rect l="l" t="t" r="r" b="b"/>
            <a:pathLst>
              <a:path w="8784590" h="864235">
                <a:moveTo>
                  <a:pt x="8421242" y="864108"/>
                </a:moveTo>
                <a:lnTo>
                  <a:pt x="8493887" y="573659"/>
                </a:lnTo>
                <a:lnTo>
                  <a:pt x="8784336" y="501015"/>
                </a:lnTo>
                <a:lnTo>
                  <a:pt x="8421242" y="864108"/>
                </a:lnTo>
                <a:lnTo>
                  <a:pt x="0" y="864108"/>
                </a:lnTo>
                <a:lnTo>
                  <a:pt x="0" y="0"/>
                </a:lnTo>
                <a:lnTo>
                  <a:pt x="8784336" y="0"/>
                </a:lnTo>
                <a:lnTo>
                  <a:pt x="8784336" y="501015"/>
                </a:lnTo>
              </a:path>
            </a:pathLst>
          </a:custGeom>
          <a:ln w="25907">
            <a:solidFill>
              <a:srgbClr val="E78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89966" y="4005834"/>
            <a:ext cx="8784590" cy="2087880"/>
          </a:xfrm>
          <a:custGeom>
            <a:avLst/>
            <a:gdLst/>
            <a:ahLst/>
            <a:cxnLst/>
            <a:rect l="l" t="t" r="r" b="b"/>
            <a:pathLst>
              <a:path w="8784590" h="2087879">
                <a:moveTo>
                  <a:pt x="0" y="237490"/>
                </a:moveTo>
                <a:lnTo>
                  <a:pt x="4825" y="189619"/>
                </a:lnTo>
                <a:lnTo>
                  <a:pt x="18664" y="145035"/>
                </a:lnTo>
                <a:lnTo>
                  <a:pt x="40563" y="104694"/>
                </a:lnTo>
                <a:lnTo>
                  <a:pt x="69565" y="69548"/>
                </a:lnTo>
                <a:lnTo>
                  <a:pt x="104717" y="40551"/>
                </a:lnTo>
                <a:lnTo>
                  <a:pt x="145062" y="18659"/>
                </a:lnTo>
                <a:lnTo>
                  <a:pt x="189647" y="4823"/>
                </a:lnTo>
                <a:lnTo>
                  <a:pt x="237515" y="0"/>
                </a:lnTo>
                <a:lnTo>
                  <a:pt x="8546845" y="0"/>
                </a:lnTo>
                <a:lnTo>
                  <a:pt x="8594716" y="4823"/>
                </a:lnTo>
                <a:lnTo>
                  <a:pt x="8639300" y="18659"/>
                </a:lnTo>
                <a:lnTo>
                  <a:pt x="8679641" y="40551"/>
                </a:lnTo>
                <a:lnTo>
                  <a:pt x="8714787" y="69548"/>
                </a:lnTo>
                <a:lnTo>
                  <a:pt x="8743784" y="104694"/>
                </a:lnTo>
                <a:lnTo>
                  <a:pt x="8765676" y="145035"/>
                </a:lnTo>
                <a:lnTo>
                  <a:pt x="8779512" y="189619"/>
                </a:lnTo>
                <a:lnTo>
                  <a:pt x="8784336" y="237490"/>
                </a:lnTo>
                <a:lnTo>
                  <a:pt x="8784336" y="1850364"/>
                </a:lnTo>
                <a:lnTo>
                  <a:pt x="8779512" y="1898232"/>
                </a:lnTo>
                <a:lnTo>
                  <a:pt x="8765676" y="1942817"/>
                </a:lnTo>
                <a:lnTo>
                  <a:pt x="8743784" y="1983162"/>
                </a:lnTo>
                <a:lnTo>
                  <a:pt x="8714787" y="2018314"/>
                </a:lnTo>
                <a:lnTo>
                  <a:pt x="8679641" y="2047316"/>
                </a:lnTo>
                <a:lnTo>
                  <a:pt x="8639300" y="2069215"/>
                </a:lnTo>
                <a:lnTo>
                  <a:pt x="8594716" y="2083054"/>
                </a:lnTo>
                <a:lnTo>
                  <a:pt x="8546845" y="2087880"/>
                </a:lnTo>
                <a:lnTo>
                  <a:pt x="237515" y="2087880"/>
                </a:lnTo>
                <a:lnTo>
                  <a:pt x="189647" y="2083054"/>
                </a:lnTo>
                <a:lnTo>
                  <a:pt x="145062" y="2069215"/>
                </a:lnTo>
                <a:lnTo>
                  <a:pt x="104717" y="2047316"/>
                </a:lnTo>
                <a:lnTo>
                  <a:pt x="69565" y="2018314"/>
                </a:lnTo>
                <a:lnTo>
                  <a:pt x="40563" y="1983162"/>
                </a:lnTo>
                <a:lnTo>
                  <a:pt x="18664" y="1942817"/>
                </a:lnTo>
                <a:lnTo>
                  <a:pt x="4825" y="1898232"/>
                </a:lnTo>
                <a:lnTo>
                  <a:pt x="0" y="1850364"/>
                </a:lnTo>
                <a:lnTo>
                  <a:pt x="0" y="23749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41934" y="2946654"/>
            <a:ext cx="8669655" cy="29108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/>
                <a:cs typeface="Arial"/>
              </a:rPr>
              <a:t>N</a:t>
            </a:r>
            <a:r>
              <a:rPr sz="2600" dirty="0">
                <a:latin typeface="微软雅黑"/>
                <a:cs typeface="微软雅黑"/>
              </a:rPr>
              <a:t>的补码</a:t>
            </a:r>
            <a:r>
              <a:rPr sz="2600" dirty="0">
                <a:solidFill>
                  <a:srgbClr val="FF0000"/>
                </a:solidFill>
                <a:latin typeface="微软雅黑"/>
                <a:cs typeface="微软雅黑"/>
              </a:rPr>
              <a:t>与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600" dirty="0">
                <a:solidFill>
                  <a:srgbClr val="FF0000"/>
                </a:solidFill>
                <a:latin typeface="微软雅黑"/>
                <a:cs typeface="微软雅黑"/>
              </a:rPr>
              <a:t>的大</a:t>
            </a:r>
            <a:r>
              <a:rPr sz="2600" spc="-15" dirty="0">
                <a:solidFill>
                  <a:srgbClr val="FF0000"/>
                </a:solidFill>
                <a:latin typeface="微软雅黑"/>
                <a:cs typeface="微软雅黑"/>
              </a:rPr>
              <a:t>小</a:t>
            </a:r>
            <a:r>
              <a:rPr sz="2600" dirty="0">
                <a:solidFill>
                  <a:srgbClr val="FF0000"/>
                </a:solidFill>
                <a:latin typeface="微软雅黑"/>
                <a:cs typeface="微软雅黑"/>
              </a:rPr>
              <a:t>有关</a:t>
            </a:r>
            <a:r>
              <a:rPr sz="2600" spc="-15" dirty="0">
                <a:solidFill>
                  <a:srgbClr val="FF0000"/>
                </a:solidFill>
                <a:latin typeface="微软雅黑"/>
                <a:cs typeface="微软雅黑"/>
              </a:rPr>
              <a:t>，</a:t>
            </a:r>
            <a:r>
              <a:rPr sz="2600" dirty="0">
                <a:solidFill>
                  <a:srgbClr val="FF0000"/>
                </a:solidFill>
                <a:latin typeface="微软雅黑"/>
                <a:cs typeface="微软雅黑"/>
              </a:rPr>
              <a:t>还与</a:t>
            </a:r>
            <a:r>
              <a:rPr sz="2600" spc="-15" dirty="0">
                <a:solidFill>
                  <a:srgbClr val="FF0000"/>
                </a:solidFill>
                <a:latin typeface="微软雅黑"/>
                <a:cs typeface="微软雅黑"/>
              </a:rPr>
              <a:t>整</a:t>
            </a:r>
            <a:r>
              <a:rPr sz="2600" dirty="0">
                <a:solidFill>
                  <a:srgbClr val="FF0000"/>
                </a:solidFill>
                <a:latin typeface="微软雅黑"/>
                <a:cs typeface="微软雅黑"/>
              </a:rPr>
              <a:t>数位</a:t>
            </a:r>
            <a:r>
              <a:rPr sz="2600" spc="-5" dirty="0">
                <a:solidFill>
                  <a:srgbClr val="FF0000"/>
                </a:solidFill>
                <a:latin typeface="微软雅黑"/>
                <a:cs typeface="微软雅黑"/>
              </a:rPr>
              <a:t>数</a:t>
            </a:r>
            <a:r>
              <a:rPr sz="2600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600" dirty="0">
                <a:solidFill>
                  <a:srgbClr val="FF0000"/>
                </a:solidFill>
                <a:latin typeface="微软雅黑"/>
                <a:cs typeface="微软雅黑"/>
              </a:rPr>
              <a:t>有</a:t>
            </a:r>
            <a:r>
              <a:rPr sz="2600" spc="-15" dirty="0">
                <a:solidFill>
                  <a:srgbClr val="FF0000"/>
                </a:solidFill>
                <a:latin typeface="微软雅黑"/>
                <a:cs typeface="微软雅黑"/>
              </a:rPr>
              <a:t>关</a:t>
            </a:r>
            <a:r>
              <a:rPr sz="2600" dirty="0">
                <a:latin typeface="微软雅黑"/>
                <a:cs typeface="微软雅黑"/>
              </a:rPr>
              <a:t>，</a:t>
            </a:r>
            <a:r>
              <a:rPr sz="2600" dirty="0">
                <a:solidFill>
                  <a:srgbClr val="0000FF"/>
                </a:solidFill>
                <a:latin typeface="微软雅黑"/>
                <a:cs typeface="微软雅黑"/>
              </a:rPr>
              <a:t>与小数位数 </a:t>
            </a:r>
            <a:r>
              <a:rPr sz="2600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600" dirty="0">
                <a:solidFill>
                  <a:srgbClr val="0000FF"/>
                </a:solidFill>
                <a:latin typeface="微软雅黑"/>
                <a:cs typeface="微软雅黑"/>
              </a:rPr>
              <a:t>无关</a:t>
            </a:r>
            <a:endParaRPr sz="2600">
              <a:latin typeface="微软雅黑"/>
              <a:cs typeface="微软雅黑"/>
            </a:endParaRPr>
          </a:p>
          <a:p>
            <a:pPr marL="107314">
              <a:lnSpc>
                <a:spcPct val="100000"/>
              </a:lnSpc>
              <a:spcBef>
                <a:spcPts val="2500"/>
              </a:spcBef>
            </a:pPr>
            <a:r>
              <a:rPr sz="2600" dirty="0">
                <a:latin typeface="微软雅黑"/>
                <a:cs typeface="微软雅黑"/>
              </a:rPr>
              <a:t>设</a:t>
            </a:r>
            <a:r>
              <a:rPr sz="2600" dirty="0">
                <a:latin typeface="Arial"/>
                <a:cs typeface="Arial"/>
              </a:rPr>
              <a:t>n=8,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5" dirty="0">
                <a:latin typeface="微软雅黑"/>
                <a:cs typeface="微软雅黑"/>
              </a:rPr>
              <a:t>则</a:t>
            </a:r>
            <a:endParaRPr sz="2600">
              <a:latin typeface="微软雅黑"/>
              <a:cs typeface="微软雅黑"/>
            </a:endParaRPr>
          </a:p>
          <a:p>
            <a:pPr marL="936625">
              <a:lnSpc>
                <a:spcPct val="100000"/>
              </a:lnSpc>
              <a:spcBef>
                <a:spcPts val="915"/>
              </a:spcBef>
            </a:pPr>
            <a:r>
              <a:rPr sz="2600" spc="-25" dirty="0">
                <a:latin typeface="Arial"/>
                <a:cs typeface="Arial"/>
              </a:rPr>
              <a:t>(11001)</a:t>
            </a:r>
            <a:r>
              <a:rPr sz="2550" spc="37" baseline="-21241" dirty="0">
                <a:latin typeface="微软雅黑"/>
                <a:cs typeface="微软雅黑"/>
              </a:rPr>
              <a:t>补</a:t>
            </a:r>
            <a:r>
              <a:rPr sz="2550" spc="7" baseline="-21241" dirty="0">
                <a:latin typeface="Arial"/>
                <a:cs typeface="Arial"/>
              </a:rPr>
              <a:t>.8</a:t>
            </a:r>
            <a:r>
              <a:rPr sz="2550" spc="15" baseline="-21241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spc="-55" dirty="0">
                <a:latin typeface="Arial"/>
                <a:cs typeface="Arial"/>
              </a:rPr>
              <a:t>2</a:t>
            </a:r>
            <a:r>
              <a:rPr sz="2550" spc="-82" baseline="26143" dirty="0">
                <a:latin typeface="Arial"/>
                <a:cs typeface="Arial"/>
              </a:rPr>
              <a:t>8</a:t>
            </a:r>
            <a:r>
              <a:rPr sz="2600" spc="-55" dirty="0">
                <a:latin typeface="Arial"/>
                <a:cs typeface="Arial"/>
              </a:rPr>
              <a:t>-11001=11100111</a:t>
            </a:r>
            <a:endParaRPr sz="2600">
              <a:latin typeface="Arial"/>
              <a:cs typeface="Arial"/>
            </a:endParaRPr>
          </a:p>
          <a:p>
            <a:pPr marR="3717925" algn="r">
              <a:lnSpc>
                <a:spcPts val="2965"/>
              </a:lnSpc>
              <a:spcBef>
                <a:spcPts val="885"/>
              </a:spcBef>
            </a:pPr>
            <a:r>
              <a:rPr sz="2600" spc="-15" dirty="0">
                <a:latin typeface="Arial"/>
                <a:cs typeface="Arial"/>
              </a:rPr>
              <a:t>(11001.0101)</a:t>
            </a:r>
            <a:r>
              <a:rPr sz="2550" spc="37" baseline="-21241" dirty="0">
                <a:latin typeface="微软雅黑"/>
                <a:cs typeface="微软雅黑"/>
              </a:rPr>
              <a:t>补</a:t>
            </a:r>
            <a:r>
              <a:rPr sz="2550" spc="7" baseline="-21241" dirty="0">
                <a:latin typeface="Arial"/>
                <a:cs typeface="Arial"/>
              </a:rPr>
              <a:t>.8</a:t>
            </a:r>
            <a:r>
              <a:rPr sz="2550" spc="15" baseline="-21241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=</a:t>
            </a:r>
            <a:r>
              <a:rPr sz="2600" spc="-15" dirty="0">
                <a:latin typeface="Arial"/>
                <a:cs typeface="Arial"/>
              </a:rPr>
              <a:t> 2</a:t>
            </a:r>
            <a:r>
              <a:rPr sz="2550" spc="-22" baseline="26143" dirty="0">
                <a:latin typeface="Arial"/>
                <a:cs typeface="Arial"/>
              </a:rPr>
              <a:t>8</a:t>
            </a:r>
            <a:r>
              <a:rPr sz="2600" spc="-15" dirty="0">
                <a:latin typeface="Arial"/>
                <a:cs typeface="Arial"/>
              </a:rPr>
              <a:t>-11001.0101</a:t>
            </a:r>
            <a:endParaRPr sz="2600">
              <a:latin typeface="Arial"/>
              <a:cs typeface="Arial"/>
            </a:endParaRPr>
          </a:p>
          <a:p>
            <a:pPr marR="3672840" algn="r">
              <a:lnSpc>
                <a:spcPts val="2965"/>
              </a:lnSpc>
            </a:pPr>
            <a:r>
              <a:rPr sz="2600" dirty="0">
                <a:latin typeface="Arial"/>
                <a:cs typeface="Arial"/>
              </a:rPr>
              <a:t>=</a:t>
            </a:r>
            <a:r>
              <a:rPr sz="2600" spc="-95" dirty="0">
                <a:latin typeface="Arial"/>
                <a:cs typeface="Arial"/>
              </a:rPr>
              <a:t> </a:t>
            </a:r>
            <a:r>
              <a:rPr sz="2600" spc="-55" dirty="0">
                <a:latin typeface="Arial"/>
                <a:cs typeface="Arial"/>
              </a:rPr>
              <a:t>11100110.1011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</a:t>
            </a:fld>
            <a:endParaRPr spc="-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>
                <a:solidFill>
                  <a:srgbClr val="666699"/>
                </a:solidFill>
              </a:rPr>
              <a:t>补码的求法</a:t>
            </a:r>
          </a:p>
        </p:txBody>
      </p:sp>
      <p:sp>
        <p:nvSpPr>
          <p:cNvPr id="3" name="object 3"/>
          <p:cNvSpPr/>
          <p:nvPr/>
        </p:nvSpPr>
        <p:spPr>
          <a:xfrm>
            <a:off x="457198" y="1513332"/>
            <a:ext cx="8987031" cy="1159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63167" y="1854720"/>
            <a:ext cx="3614928" cy="10302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300" y="1528572"/>
            <a:ext cx="8915400" cy="1088390"/>
          </a:xfrm>
          <a:custGeom>
            <a:avLst/>
            <a:gdLst/>
            <a:ahLst/>
            <a:cxnLst/>
            <a:rect l="l" t="t" r="r" b="b"/>
            <a:pathLst>
              <a:path w="8915400" h="1088389">
                <a:moveTo>
                  <a:pt x="0" y="1088136"/>
                </a:moveTo>
                <a:lnTo>
                  <a:pt x="8915400" y="1088136"/>
                </a:lnTo>
                <a:lnTo>
                  <a:pt x="8915400" y="0"/>
                </a:lnTo>
                <a:lnTo>
                  <a:pt x="0" y="0"/>
                </a:lnTo>
                <a:lnTo>
                  <a:pt x="0" y="1088136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5300" y="1528572"/>
            <a:ext cx="8915400" cy="1088390"/>
          </a:xfrm>
          <a:custGeom>
            <a:avLst/>
            <a:gdLst/>
            <a:ahLst/>
            <a:cxnLst/>
            <a:rect l="l" t="t" r="r" b="b"/>
            <a:pathLst>
              <a:path w="8915400" h="1088389">
                <a:moveTo>
                  <a:pt x="0" y="1088136"/>
                </a:moveTo>
                <a:lnTo>
                  <a:pt x="8915400" y="1088136"/>
                </a:lnTo>
                <a:lnTo>
                  <a:pt x="8915400" y="0"/>
                </a:lnTo>
                <a:lnTo>
                  <a:pt x="0" y="0"/>
                </a:lnTo>
                <a:lnTo>
                  <a:pt x="0" y="1088136"/>
                </a:lnTo>
                <a:close/>
              </a:path>
            </a:pathLst>
          </a:custGeom>
          <a:ln w="914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4800" y="2078862"/>
            <a:ext cx="31070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500" spc="-5" dirty="0">
                <a:latin typeface="微软雅黑"/>
                <a:cs typeface="微软雅黑"/>
              </a:rPr>
              <a:t>利用补码的定义计算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00683" y="1123175"/>
            <a:ext cx="6326886" cy="103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07414" y="1347597"/>
            <a:ext cx="9779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FFFFFF"/>
                </a:solidFill>
                <a:latin typeface="微软雅黑"/>
                <a:cs typeface="微软雅黑"/>
              </a:rPr>
              <a:t>方法一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198" y="3145512"/>
            <a:ext cx="8987031" cy="29642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63167" y="3486924"/>
            <a:ext cx="5465063" cy="10302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5300" y="3160776"/>
            <a:ext cx="8915400" cy="2893060"/>
          </a:xfrm>
          <a:custGeom>
            <a:avLst/>
            <a:gdLst/>
            <a:ahLst/>
            <a:cxnLst/>
            <a:rect l="l" t="t" r="r" b="b"/>
            <a:pathLst>
              <a:path w="8915400" h="2893060">
                <a:moveTo>
                  <a:pt x="0" y="2892552"/>
                </a:moveTo>
                <a:lnTo>
                  <a:pt x="8915400" y="2892552"/>
                </a:lnTo>
                <a:lnTo>
                  <a:pt x="8915400" y="0"/>
                </a:lnTo>
                <a:lnTo>
                  <a:pt x="0" y="0"/>
                </a:lnTo>
                <a:lnTo>
                  <a:pt x="0" y="2892552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5300" y="3160776"/>
            <a:ext cx="8915400" cy="2893060"/>
          </a:xfrm>
          <a:custGeom>
            <a:avLst/>
            <a:gdLst/>
            <a:ahLst/>
            <a:cxnLst/>
            <a:rect l="l" t="t" r="r" b="b"/>
            <a:pathLst>
              <a:path w="8915400" h="2893060">
                <a:moveTo>
                  <a:pt x="0" y="2892552"/>
                </a:moveTo>
                <a:lnTo>
                  <a:pt x="8915400" y="2892552"/>
                </a:lnTo>
                <a:lnTo>
                  <a:pt x="8915400" y="0"/>
                </a:lnTo>
                <a:lnTo>
                  <a:pt x="0" y="0"/>
                </a:lnTo>
                <a:lnTo>
                  <a:pt x="0" y="2892552"/>
                </a:lnTo>
                <a:close/>
              </a:path>
            </a:pathLst>
          </a:custGeom>
          <a:ln w="914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97636" y="2712707"/>
            <a:ext cx="6326886" cy="10355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203452" y="2938652"/>
            <a:ext cx="97663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5" dirty="0">
                <a:solidFill>
                  <a:srgbClr val="FFFFFF"/>
                </a:solidFill>
                <a:latin typeface="微软雅黑"/>
                <a:cs typeface="微软雅黑"/>
              </a:rPr>
              <a:t>方法二</a:t>
            </a:r>
            <a:endParaRPr sz="25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74800" y="3711321"/>
            <a:ext cx="5045710" cy="1009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500" spc="-5" dirty="0">
                <a:latin typeface="微软雅黑"/>
                <a:cs typeface="微软雅黑"/>
              </a:rPr>
              <a:t>将原码补足</a:t>
            </a:r>
            <a:r>
              <a:rPr sz="2500" spc="-5" dirty="0">
                <a:latin typeface="Arial"/>
                <a:cs typeface="Arial"/>
              </a:rPr>
              <a:t>n</a:t>
            </a:r>
            <a:r>
              <a:rPr sz="2500" spc="-5" dirty="0">
                <a:latin typeface="微软雅黑"/>
                <a:cs typeface="微软雅黑"/>
              </a:rPr>
              <a:t>位</a:t>
            </a:r>
            <a:r>
              <a:rPr sz="2500" b="1" spc="-5" dirty="0">
                <a:solidFill>
                  <a:srgbClr val="0000FF"/>
                </a:solidFill>
                <a:latin typeface="微软雅黑"/>
                <a:cs typeface="微软雅黑"/>
              </a:rPr>
              <a:t>整数</a:t>
            </a:r>
            <a:r>
              <a:rPr sz="2500" spc="-5" dirty="0">
                <a:latin typeface="微软雅黑"/>
                <a:cs typeface="微软雅黑"/>
              </a:rPr>
              <a:t>后</a:t>
            </a:r>
            <a:r>
              <a:rPr sz="2500" b="1" spc="-5" dirty="0">
                <a:solidFill>
                  <a:srgbClr val="0000FF"/>
                </a:solidFill>
                <a:latin typeface="微软雅黑"/>
                <a:cs typeface="微软雅黑"/>
              </a:rPr>
              <a:t>整体</a:t>
            </a:r>
            <a:r>
              <a:rPr sz="2500" spc="-5" dirty="0">
                <a:latin typeface="微软雅黑"/>
                <a:cs typeface="微软雅黑"/>
              </a:rPr>
              <a:t>求反加</a:t>
            </a:r>
            <a:r>
              <a:rPr sz="2500" spc="-5" dirty="0">
                <a:latin typeface="Arial"/>
                <a:cs typeface="Arial"/>
              </a:rPr>
              <a:t>1</a:t>
            </a:r>
            <a:endParaRPr sz="2500">
              <a:latin typeface="Arial"/>
              <a:cs typeface="Arial"/>
            </a:endParaRPr>
          </a:p>
          <a:p>
            <a:pPr marL="261620">
              <a:lnSpc>
                <a:spcPct val="100000"/>
              </a:lnSpc>
              <a:spcBef>
                <a:spcPts val="1864"/>
              </a:spcBef>
            </a:pPr>
            <a:r>
              <a:rPr sz="2400" dirty="0">
                <a:latin typeface="微软雅黑"/>
                <a:cs typeface="微软雅黑"/>
              </a:rPr>
              <a:t>如：求</a:t>
            </a:r>
            <a:r>
              <a:rPr sz="2400" spc="-30" dirty="0">
                <a:latin typeface="Arial"/>
                <a:cs typeface="Arial"/>
              </a:rPr>
              <a:t>(11001)</a:t>
            </a:r>
            <a:r>
              <a:rPr sz="2400" dirty="0">
                <a:latin typeface="微软雅黑"/>
                <a:cs typeface="微软雅黑"/>
              </a:rPr>
              <a:t>在</a:t>
            </a:r>
            <a:r>
              <a:rPr sz="2400" spc="-5" dirty="0">
                <a:latin typeface="Arial"/>
                <a:cs typeface="Arial"/>
              </a:rPr>
              <a:t>n=8</a:t>
            </a:r>
            <a:r>
              <a:rPr sz="2400" dirty="0">
                <a:latin typeface="微软雅黑"/>
                <a:cs typeface="微软雅黑"/>
              </a:rPr>
              <a:t>时的补码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0542" y="4694682"/>
            <a:ext cx="3218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1</a:t>
            </a:r>
            <a:r>
              <a:rPr sz="2400" spc="-5" dirty="0">
                <a:latin typeface="微软雅黑"/>
                <a:cs typeface="微软雅黑"/>
              </a:rPr>
              <a:t>）</a:t>
            </a:r>
            <a:r>
              <a:rPr sz="2400" dirty="0">
                <a:latin typeface="微软雅黑"/>
                <a:cs typeface="微软雅黑"/>
              </a:rPr>
              <a:t>补</a:t>
            </a:r>
            <a:r>
              <a:rPr sz="2400" spc="-5" dirty="0">
                <a:latin typeface="微软雅黑"/>
                <a:cs typeface="微软雅黑"/>
              </a:rPr>
              <a:t>齐</a:t>
            </a:r>
            <a:r>
              <a:rPr sz="2400" spc="-10" dirty="0">
                <a:latin typeface="Arial"/>
                <a:cs typeface="Arial"/>
              </a:rPr>
              <a:t>8</a:t>
            </a:r>
            <a:r>
              <a:rPr sz="2400" dirty="0">
                <a:latin typeface="微软雅黑"/>
                <a:cs typeface="微软雅黑"/>
              </a:rPr>
              <a:t>位</a:t>
            </a:r>
            <a:r>
              <a:rPr sz="2400" spc="-25" dirty="0">
                <a:latin typeface="微软雅黑"/>
                <a:cs typeface="微软雅黑"/>
              </a:rPr>
              <a:t>：</a:t>
            </a:r>
            <a:r>
              <a:rPr sz="2400" spc="-25" dirty="0">
                <a:latin typeface="Arial"/>
                <a:cs typeface="Arial"/>
              </a:rPr>
              <a:t>00011001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50542" y="5060137"/>
            <a:ext cx="14154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2</a:t>
            </a:r>
            <a:r>
              <a:rPr sz="2400" dirty="0">
                <a:latin typeface="微软雅黑"/>
                <a:cs typeface="微软雅黑"/>
              </a:rPr>
              <a:t>）求反：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"/>
                <a:cs typeface="Arial"/>
              </a:rPr>
              <a:t>3</a:t>
            </a:r>
            <a:r>
              <a:rPr sz="2400" spc="-5" dirty="0">
                <a:latin typeface="微软雅黑"/>
                <a:cs typeface="微软雅黑"/>
              </a:rPr>
              <a:t>）加</a:t>
            </a:r>
            <a:r>
              <a:rPr sz="2400" spc="-5" dirty="0">
                <a:latin typeface="Arial"/>
                <a:cs typeface="Arial"/>
              </a:rPr>
              <a:t>1</a:t>
            </a:r>
            <a:r>
              <a:rPr sz="2400" spc="-5" dirty="0">
                <a:latin typeface="微软雅黑"/>
                <a:cs typeface="微软雅黑"/>
              </a:rPr>
              <a:t>：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9784" y="5060137"/>
            <a:ext cx="13227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75" dirty="0">
                <a:latin typeface="Arial"/>
                <a:cs typeface="Arial"/>
              </a:rPr>
              <a:t>11100110</a:t>
            </a:r>
            <a:endParaRPr sz="2400">
              <a:latin typeface="Arial"/>
              <a:cs typeface="Arial"/>
            </a:endParaRPr>
          </a:p>
          <a:p>
            <a:pPr marL="47625">
              <a:lnSpc>
                <a:spcPct val="100000"/>
              </a:lnSpc>
              <a:spcBef>
                <a:spcPts val="5"/>
              </a:spcBef>
            </a:pPr>
            <a:r>
              <a:rPr sz="2400" spc="-190" dirty="0">
                <a:latin typeface="Arial"/>
                <a:cs typeface="Arial"/>
              </a:rPr>
              <a:t>11</a:t>
            </a:r>
            <a:r>
              <a:rPr sz="2400" spc="-5" dirty="0">
                <a:latin typeface="Arial"/>
                <a:cs typeface="Arial"/>
              </a:rPr>
              <a:t>10</a:t>
            </a:r>
            <a:r>
              <a:rPr sz="2400" spc="-15" dirty="0">
                <a:latin typeface="Arial"/>
                <a:cs typeface="Arial"/>
              </a:rPr>
              <a:t>0</a:t>
            </a:r>
            <a:r>
              <a:rPr sz="2400" spc="-190" dirty="0">
                <a:latin typeface="Arial"/>
                <a:cs typeface="Arial"/>
              </a:rPr>
              <a:t>11</a:t>
            </a: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614159" y="1720595"/>
            <a:ext cx="2990850" cy="130073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7220204" y="2020061"/>
            <a:ext cx="15494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较为繁琐， 一般不用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679692" y="3314700"/>
            <a:ext cx="3022854" cy="12443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317740" y="3659251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常用方法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520683" y="4724400"/>
            <a:ext cx="876300" cy="99364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8653398" y="567639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微软雅黑"/>
                <a:cs typeface="微软雅黑"/>
              </a:rPr>
              <a:t>一般人我 不告诉他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50458" y="4752594"/>
            <a:ext cx="2473960" cy="966469"/>
          </a:xfrm>
          <a:custGeom>
            <a:avLst/>
            <a:gdLst/>
            <a:ahLst/>
            <a:cxnLst/>
            <a:rect l="l" t="t" r="r" b="b"/>
            <a:pathLst>
              <a:path w="2473959" h="966470">
                <a:moveTo>
                  <a:pt x="2473451" y="0"/>
                </a:moveTo>
                <a:lnTo>
                  <a:pt x="153669" y="0"/>
                </a:lnTo>
                <a:lnTo>
                  <a:pt x="0" y="483107"/>
                </a:lnTo>
                <a:lnTo>
                  <a:pt x="153669" y="966215"/>
                </a:lnTo>
                <a:lnTo>
                  <a:pt x="2473451" y="966215"/>
                </a:lnTo>
                <a:lnTo>
                  <a:pt x="24734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950458" y="4752594"/>
            <a:ext cx="2473960" cy="966469"/>
          </a:xfrm>
          <a:custGeom>
            <a:avLst/>
            <a:gdLst/>
            <a:ahLst/>
            <a:cxnLst/>
            <a:rect l="l" t="t" r="r" b="b"/>
            <a:pathLst>
              <a:path w="2473959" h="966470">
                <a:moveTo>
                  <a:pt x="2473451" y="0"/>
                </a:moveTo>
                <a:lnTo>
                  <a:pt x="153669" y="0"/>
                </a:lnTo>
                <a:lnTo>
                  <a:pt x="0" y="483107"/>
                </a:lnTo>
                <a:lnTo>
                  <a:pt x="153669" y="966215"/>
                </a:lnTo>
                <a:lnTo>
                  <a:pt x="2473451" y="966215"/>
                </a:lnTo>
                <a:lnTo>
                  <a:pt x="2473451" y="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6106159" y="4793360"/>
            <a:ext cx="219710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“加1”是在整个数的 </a:t>
            </a:r>
            <a:r>
              <a:rPr sz="1800" spc="-5" dirty="0">
                <a:solidFill>
                  <a:srgbClr val="FF0000"/>
                </a:solidFill>
                <a:latin typeface="宋体"/>
                <a:cs typeface="宋体"/>
              </a:rPr>
              <a:t>最后一位（包括小数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部分）加1</a:t>
            </a:r>
            <a:r>
              <a:rPr sz="1800" spc="865" dirty="0">
                <a:solidFill>
                  <a:srgbClr val="FF0000"/>
                </a:solidFill>
                <a:latin typeface="宋体"/>
                <a:cs typeface="宋体"/>
              </a:rPr>
              <a:t> </a:t>
            </a:r>
            <a:r>
              <a:rPr sz="1800" dirty="0">
                <a:solidFill>
                  <a:srgbClr val="FF0000"/>
                </a:solidFill>
                <a:latin typeface="宋体"/>
                <a:cs typeface="宋体"/>
              </a:rPr>
              <a:t>！！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11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4</a:t>
            </a:fld>
            <a:endParaRPr spc="-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5650" y="2251455"/>
            <a:ext cx="2913380" cy="2843530"/>
          </a:xfrm>
          <a:custGeom>
            <a:avLst/>
            <a:gdLst/>
            <a:ahLst/>
            <a:cxnLst/>
            <a:rect l="l" t="t" r="r" b="b"/>
            <a:pathLst>
              <a:path w="2913379" h="2843529">
                <a:moveTo>
                  <a:pt x="0" y="2055368"/>
                </a:moveTo>
                <a:lnTo>
                  <a:pt x="2165858" y="0"/>
                </a:lnTo>
                <a:lnTo>
                  <a:pt x="2913379" y="787781"/>
                </a:lnTo>
                <a:lnTo>
                  <a:pt x="747394" y="2843022"/>
                </a:lnTo>
                <a:lnTo>
                  <a:pt x="0" y="2055368"/>
                </a:lnTo>
                <a:close/>
              </a:path>
            </a:pathLst>
          </a:custGeom>
          <a:ln w="25400">
            <a:solidFill>
              <a:srgbClr val="FFAF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095373" y="3635628"/>
            <a:ext cx="875030" cy="983615"/>
          </a:xfrm>
          <a:custGeom>
            <a:avLst/>
            <a:gdLst/>
            <a:ahLst/>
            <a:cxnLst/>
            <a:rect l="l" t="t" r="r" b="b"/>
            <a:pathLst>
              <a:path w="875030" h="983614">
                <a:moveTo>
                  <a:pt x="335212" y="721106"/>
                </a:moveTo>
                <a:lnTo>
                  <a:pt x="250570" y="721106"/>
                </a:lnTo>
                <a:lnTo>
                  <a:pt x="499618" y="983488"/>
                </a:lnTo>
                <a:lnTo>
                  <a:pt x="544194" y="941324"/>
                </a:lnTo>
                <a:lnTo>
                  <a:pt x="335212" y="721106"/>
                </a:lnTo>
                <a:close/>
              </a:path>
              <a:path w="875030" h="983614">
                <a:moveTo>
                  <a:pt x="210565" y="482600"/>
                </a:moveTo>
                <a:lnTo>
                  <a:pt x="148716" y="500761"/>
                </a:lnTo>
                <a:lnTo>
                  <a:pt x="161539" y="553891"/>
                </a:lnTo>
                <a:lnTo>
                  <a:pt x="172036" y="605077"/>
                </a:lnTo>
                <a:lnTo>
                  <a:pt x="180214" y="654319"/>
                </a:lnTo>
                <a:lnTo>
                  <a:pt x="186079" y="701617"/>
                </a:lnTo>
                <a:lnTo>
                  <a:pt x="189638" y="746972"/>
                </a:lnTo>
                <a:lnTo>
                  <a:pt x="190898" y="790383"/>
                </a:lnTo>
                <a:lnTo>
                  <a:pt x="189864" y="831850"/>
                </a:lnTo>
                <a:lnTo>
                  <a:pt x="207055" y="838446"/>
                </a:lnTo>
                <a:lnTo>
                  <a:pt x="223758" y="845280"/>
                </a:lnTo>
                <a:lnTo>
                  <a:pt x="239960" y="852352"/>
                </a:lnTo>
                <a:lnTo>
                  <a:pt x="255650" y="859663"/>
                </a:lnTo>
                <a:lnTo>
                  <a:pt x="255910" y="826351"/>
                </a:lnTo>
                <a:lnTo>
                  <a:pt x="255158" y="792146"/>
                </a:lnTo>
                <a:lnTo>
                  <a:pt x="253382" y="757060"/>
                </a:lnTo>
                <a:lnTo>
                  <a:pt x="250570" y="721106"/>
                </a:lnTo>
                <a:lnTo>
                  <a:pt x="335212" y="721106"/>
                </a:lnTo>
                <a:lnTo>
                  <a:pt x="237108" y="617728"/>
                </a:lnTo>
                <a:lnTo>
                  <a:pt x="231515" y="585059"/>
                </a:lnTo>
                <a:lnTo>
                  <a:pt x="225218" y="551640"/>
                </a:lnTo>
                <a:lnTo>
                  <a:pt x="218231" y="517483"/>
                </a:lnTo>
                <a:lnTo>
                  <a:pt x="210565" y="482600"/>
                </a:lnTo>
                <a:close/>
              </a:path>
              <a:path w="875030" h="983614">
                <a:moveTo>
                  <a:pt x="717712" y="376174"/>
                </a:moveTo>
                <a:lnTo>
                  <a:pt x="631951" y="376174"/>
                </a:lnTo>
                <a:lnTo>
                  <a:pt x="678179" y="424815"/>
                </a:lnTo>
                <a:lnTo>
                  <a:pt x="393191" y="695325"/>
                </a:lnTo>
                <a:lnTo>
                  <a:pt x="430402" y="734441"/>
                </a:lnTo>
                <a:lnTo>
                  <a:pt x="715390" y="464058"/>
                </a:lnTo>
                <a:lnTo>
                  <a:pt x="801065" y="464058"/>
                </a:lnTo>
                <a:lnTo>
                  <a:pt x="760476" y="421259"/>
                </a:lnTo>
                <a:lnTo>
                  <a:pt x="801838" y="382016"/>
                </a:lnTo>
                <a:lnTo>
                  <a:pt x="723264" y="382016"/>
                </a:lnTo>
                <a:lnTo>
                  <a:pt x="717712" y="376174"/>
                </a:lnTo>
                <a:close/>
              </a:path>
              <a:path w="875030" h="983614">
                <a:moveTo>
                  <a:pt x="801065" y="464058"/>
                </a:moveTo>
                <a:lnTo>
                  <a:pt x="715390" y="464058"/>
                </a:lnTo>
                <a:lnTo>
                  <a:pt x="786383" y="538861"/>
                </a:lnTo>
                <a:lnTo>
                  <a:pt x="799595" y="557385"/>
                </a:lnTo>
                <a:lnTo>
                  <a:pt x="784987" y="611124"/>
                </a:lnTo>
                <a:lnTo>
                  <a:pt x="738616" y="653224"/>
                </a:lnTo>
                <a:lnTo>
                  <a:pt x="694435" y="689229"/>
                </a:lnTo>
                <a:lnTo>
                  <a:pt x="710199" y="700351"/>
                </a:lnTo>
                <a:lnTo>
                  <a:pt x="724534" y="710676"/>
                </a:lnTo>
                <a:lnTo>
                  <a:pt x="737441" y="720215"/>
                </a:lnTo>
                <a:lnTo>
                  <a:pt x="748919" y="728980"/>
                </a:lnTo>
                <a:lnTo>
                  <a:pt x="820374" y="662185"/>
                </a:lnTo>
                <a:lnTo>
                  <a:pt x="837945" y="645541"/>
                </a:lnTo>
                <a:lnTo>
                  <a:pt x="864925" y="611538"/>
                </a:lnTo>
                <a:lnTo>
                  <a:pt x="874617" y="577167"/>
                </a:lnTo>
                <a:lnTo>
                  <a:pt x="867021" y="542438"/>
                </a:lnTo>
                <a:lnTo>
                  <a:pt x="842137" y="507365"/>
                </a:lnTo>
                <a:lnTo>
                  <a:pt x="801065" y="464058"/>
                </a:lnTo>
                <a:close/>
              </a:path>
              <a:path w="875030" h="983614">
                <a:moveTo>
                  <a:pt x="522858" y="650113"/>
                </a:moveTo>
                <a:lnTo>
                  <a:pt x="513333" y="707644"/>
                </a:lnTo>
                <a:lnTo>
                  <a:pt x="547312" y="710836"/>
                </a:lnTo>
                <a:lnTo>
                  <a:pt x="580659" y="714517"/>
                </a:lnTo>
                <a:lnTo>
                  <a:pt x="613364" y="718698"/>
                </a:lnTo>
                <a:lnTo>
                  <a:pt x="645413" y="723392"/>
                </a:lnTo>
                <a:lnTo>
                  <a:pt x="656970" y="661670"/>
                </a:lnTo>
                <a:lnTo>
                  <a:pt x="624085" y="657935"/>
                </a:lnTo>
                <a:lnTo>
                  <a:pt x="590772" y="654748"/>
                </a:lnTo>
                <a:lnTo>
                  <a:pt x="557029" y="652133"/>
                </a:lnTo>
                <a:lnTo>
                  <a:pt x="522858" y="650113"/>
                </a:lnTo>
                <a:close/>
              </a:path>
              <a:path w="875030" h="983614">
                <a:moveTo>
                  <a:pt x="712343" y="225425"/>
                </a:moveTo>
                <a:lnTo>
                  <a:pt x="334771" y="583692"/>
                </a:lnTo>
                <a:lnTo>
                  <a:pt x="371856" y="622935"/>
                </a:lnTo>
                <a:lnTo>
                  <a:pt x="631951" y="376174"/>
                </a:lnTo>
                <a:lnTo>
                  <a:pt x="717712" y="376174"/>
                </a:lnTo>
                <a:lnTo>
                  <a:pt x="677037" y="333375"/>
                </a:lnTo>
                <a:lnTo>
                  <a:pt x="749553" y="264541"/>
                </a:lnTo>
                <a:lnTo>
                  <a:pt x="712343" y="225425"/>
                </a:lnTo>
                <a:close/>
              </a:path>
              <a:path w="875030" h="983614">
                <a:moveTo>
                  <a:pt x="419481" y="0"/>
                </a:moveTo>
                <a:lnTo>
                  <a:pt x="116077" y="287909"/>
                </a:lnTo>
                <a:lnTo>
                  <a:pt x="340359" y="524256"/>
                </a:lnTo>
                <a:lnTo>
                  <a:pt x="383031" y="483743"/>
                </a:lnTo>
                <a:lnTo>
                  <a:pt x="363854" y="463550"/>
                </a:lnTo>
                <a:lnTo>
                  <a:pt x="403320" y="426085"/>
                </a:lnTo>
                <a:lnTo>
                  <a:pt x="328421" y="426085"/>
                </a:lnTo>
                <a:lnTo>
                  <a:pt x="278256" y="373253"/>
                </a:lnTo>
                <a:lnTo>
                  <a:pt x="316408" y="337058"/>
                </a:lnTo>
                <a:lnTo>
                  <a:pt x="243839" y="337058"/>
                </a:lnTo>
                <a:lnTo>
                  <a:pt x="194309" y="284734"/>
                </a:lnTo>
                <a:lnTo>
                  <a:pt x="412241" y="77978"/>
                </a:lnTo>
                <a:lnTo>
                  <a:pt x="493478" y="77978"/>
                </a:lnTo>
                <a:lnTo>
                  <a:pt x="419481" y="0"/>
                </a:lnTo>
                <a:close/>
              </a:path>
              <a:path w="875030" h="983614">
                <a:moveTo>
                  <a:pt x="577478" y="166497"/>
                </a:moveTo>
                <a:lnTo>
                  <a:pt x="496188" y="166497"/>
                </a:lnTo>
                <a:lnTo>
                  <a:pt x="546353" y="219329"/>
                </a:lnTo>
                <a:lnTo>
                  <a:pt x="328421" y="426085"/>
                </a:lnTo>
                <a:lnTo>
                  <a:pt x="403320" y="426085"/>
                </a:lnTo>
                <a:lnTo>
                  <a:pt x="581787" y="256667"/>
                </a:lnTo>
                <a:lnTo>
                  <a:pt x="622296" y="256667"/>
                </a:lnTo>
                <a:lnTo>
                  <a:pt x="643763" y="236347"/>
                </a:lnTo>
                <a:lnTo>
                  <a:pt x="577478" y="166497"/>
                </a:lnTo>
                <a:close/>
              </a:path>
              <a:path w="875030" h="983614">
                <a:moveTo>
                  <a:pt x="810006" y="299720"/>
                </a:moveTo>
                <a:lnTo>
                  <a:pt x="723264" y="382016"/>
                </a:lnTo>
                <a:lnTo>
                  <a:pt x="801838" y="382016"/>
                </a:lnTo>
                <a:lnTo>
                  <a:pt x="847216" y="338963"/>
                </a:lnTo>
                <a:lnTo>
                  <a:pt x="810006" y="299720"/>
                </a:lnTo>
                <a:close/>
              </a:path>
              <a:path w="875030" h="983614">
                <a:moveTo>
                  <a:pt x="493478" y="77978"/>
                </a:moveTo>
                <a:lnTo>
                  <a:pt x="412241" y="77978"/>
                </a:lnTo>
                <a:lnTo>
                  <a:pt x="461771" y="130302"/>
                </a:lnTo>
                <a:lnTo>
                  <a:pt x="243839" y="337058"/>
                </a:lnTo>
                <a:lnTo>
                  <a:pt x="316408" y="337058"/>
                </a:lnTo>
                <a:lnTo>
                  <a:pt x="496188" y="166497"/>
                </a:lnTo>
                <a:lnTo>
                  <a:pt x="577478" y="166497"/>
                </a:lnTo>
                <a:lnTo>
                  <a:pt x="493478" y="77978"/>
                </a:lnTo>
                <a:close/>
              </a:path>
              <a:path w="875030" h="983614">
                <a:moveTo>
                  <a:pt x="622296" y="256667"/>
                </a:moveTo>
                <a:lnTo>
                  <a:pt x="581787" y="256667"/>
                </a:lnTo>
                <a:lnTo>
                  <a:pt x="600963" y="276860"/>
                </a:lnTo>
                <a:lnTo>
                  <a:pt x="622296" y="256667"/>
                </a:lnTo>
                <a:close/>
              </a:path>
              <a:path w="875030" h="983614">
                <a:moveTo>
                  <a:pt x="65277" y="328295"/>
                </a:moveTo>
                <a:lnTo>
                  <a:pt x="0" y="343916"/>
                </a:lnTo>
                <a:lnTo>
                  <a:pt x="10900" y="395350"/>
                </a:lnTo>
                <a:lnTo>
                  <a:pt x="18579" y="446277"/>
                </a:lnTo>
                <a:lnTo>
                  <a:pt x="23034" y="496696"/>
                </a:lnTo>
                <a:lnTo>
                  <a:pt x="24261" y="546607"/>
                </a:lnTo>
                <a:lnTo>
                  <a:pt x="22257" y="596011"/>
                </a:lnTo>
                <a:lnTo>
                  <a:pt x="17018" y="644906"/>
                </a:lnTo>
                <a:lnTo>
                  <a:pt x="33756" y="649239"/>
                </a:lnTo>
                <a:lnTo>
                  <a:pt x="50053" y="653859"/>
                </a:lnTo>
                <a:lnTo>
                  <a:pt x="65899" y="658764"/>
                </a:lnTo>
                <a:lnTo>
                  <a:pt x="81279" y="663956"/>
                </a:lnTo>
                <a:lnTo>
                  <a:pt x="84539" y="618617"/>
                </a:lnTo>
                <a:lnTo>
                  <a:pt x="85938" y="572407"/>
                </a:lnTo>
                <a:lnTo>
                  <a:pt x="85485" y="525326"/>
                </a:lnTo>
                <a:lnTo>
                  <a:pt x="83186" y="477374"/>
                </a:lnTo>
                <a:lnTo>
                  <a:pt x="79047" y="428552"/>
                </a:lnTo>
                <a:lnTo>
                  <a:pt x="73075" y="378859"/>
                </a:lnTo>
                <a:lnTo>
                  <a:pt x="65277" y="328295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61132" y="2698369"/>
            <a:ext cx="1053465" cy="960755"/>
          </a:xfrm>
          <a:custGeom>
            <a:avLst/>
            <a:gdLst/>
            <a:ahLst/>
            <a:cxnLst/>
            <a:rect l="l" t="t" r="r" b="b"/>
            <a:pathLst>
              <a:path w="1053464" h="960754">
                <a:moveTo>
                  <a:pt x="327279" y="692022"/>
                </a:moveTo>
                <a:lnTo>
                  <a:pt x="240284" y="692022"/>
                </a:lnTo>
                <a:lnTo>
                  <a:pt x="416687" y="877823"/>
                </a:lnTo>
                <a:lnTo>
                  <a:pt x="431325" y="895518"/>
                </a:lnTo>
                <a:lnTo>
                  <a:pt x="442642" y="914130"/>
                </a:lnTo>
                <a:lnTo>
                  <a:pt x="450601" y="933670"/>
                </a:lnTo>
                <a:lnTo>
                  <a:pt x="455168" y="954150"/>
                </a:lnTo>
                <a:lnTo>
                  <a:pt x="525653" y="960627"/>
                </a:lnTo>
                <a:lnTo>
                  <a:pt x="524508" y="918168"/>
                </a:lnTo>
                <a:lnTo>
                  <a:pt x="524303" y="867933"/>
                </a:lnTo>
                <a:lnTo>
                  <a:pt x="524684" y="837438"/>
                </a:lnTo>
                <a:lnTo>
                  <a:pt x="465201" y="837438"/>
                </a:lnTo>
                <a:lnTo>
                  <a:pt x="327279" y="692022"/>
                </a:lnTo>
                <a:close/>
              </a:path>
              <a:path w="1053464" h="960754">
                <a:moveTo>
                  <a:pt x="389508" y="435355"/>
                </a:moveTo>
                <a:lnTo>
                  <a:pt x="343789" y="478789"/>
                </a:lnTo>
                <a:lnTo>
                  <a:pt x="655319" y="807084"/>
                </a:lnTo>
                <a:lnTo>
                  <a:pt x="572769" y="885443"/>
                </a:lnTo>
                <a:lnTo>
                  <a:pt x="614553" y="929385"/>
                </a:lnTo>
                <a:lnTo>
                  <a:pt x="789183" y="763651"/>
                </a:lnTo>
                <a:lnTo>
                  <a:pt x="701040" y="763651"/>
                </a:lnTo>
                <a:lnTo>
                  <a:pt x="389508" y="435355"/>
                </a:lnTo>
                <a:close/>
              </a:path>
              <a:path w="1053464" h="960754">
                <a:moveTo>
                  <a:pt x="466470" y="703071"/>
                </a:moveTo>
                <a:lnTo>
                  <a:pt x="466647" y="722629"/>
                </a:lnTo>
                <a:lnTo>
                  <a:pt x="466740" y="777827"/>
                </a:lnTo>
                <a:lnTo>
                  <a:pt x="466189" y="809912"/>
                </a:lnTo>
                <a:lnTo>
                  <a:pt x="465201" y="837438"/>
                </a:lnTo>
                <a:lnTo>
                  <a:pt x="524684" y="837438"/>
                </a:lnTo>
                <a:lnTo>
                  <a:pt x="525027" y="809912"/>
                </a:lnTo>
                <a:lnTo>
                  <a:pt x="526669" y="744092"/>
                </a:lnTo>
                <a:lnTo>
                  <a:pt x="508619" y="733111"/>
                </a:lnTo>
                <a:lnTo>
                  <a:pt x="492569" y="722629"/>
                </a:lnTo>
                <a:lnTo>
                  <a:pt x="478520" y="712624"/>
                </a:lnTo>
                <a:lnTo>
                  <a:pt x="466470" y="703071"/>
                </a:lnTo>
                <a:close/>
              </a:path>
              <a:path w="1053464" h="960754">
                <a:moveTo>
                  <a:pt x="473817" y="240029"/>
                </a:moveTo>
                <a:lnTo>
                  <a:pt x="383540" y="240029"/>
                </a:lnTo>
                <a:lnTo>
                  <a:pt x="795528" y="674115"/>
                </a:lnTo>
                <a:lnTo>
                  <a:pt x="701040" y="763651"/>
                </a:lnTo>
                <a:lnTo>
                  <a:pt x="789183" y="763651"/>
                </a:lnTo>
                <a:lnTo>
                  <a:pt x="931029" y="629030"/>
                </a:lnTo>
                <a:lnTo>
                  <a:pt x="843026" y="629030"/>
                </a:lnTo>
                <a:lnTo>
                  <a:pt x="642366" y="417702"/>
                </a:lnTo>
                <a:lnTo>
                  <a:pt x="688654" y="373760"/>
                </a:lnTo>
                <a:lnTo>
                  <a:pt x="600709" y="373760"/>
                </a:lnTo>
                <a:lnTo>
                  <a:pt x="473817" y="240029"/>
                </a:lnTo>
                <a:close/>
              </a:path>
              <a:path w="1053464" h="960754">
                <a:moveTo>
                  <a:pt x="245491" y="605789"/>
                </a:moveTo>
                <a:lnTo>
                  <a:pt x="127888" y="717422"/>
                </a:lnTo>
                <a:lnTo>
                  <a:pt x="168529" y="760221"/>
                </a:lnTo>
                <a:lnTo>
                  <a:pt x="240284" y="692022"/>
                </a:lnTo>
                <a:lnTo>
                  <a:pt x="327279" y="692022"/>
                </a:lnTo>
                <a:lnTo>
                  <a:pt x="245491" y="605789"/>
                </a:lnTo>
                <a:close/>
              </a:path>
              <a:path w="1053464" h="960754">
                <a:moveTo>
                  <a:pt x="1011555" y="469010"/>
                </a:moveTo>
                <a:lnTo>
                  <a:pt x="843026" y="629030"/>
                </a:lnTo>
                <a:lnTo>
                  <a:pt x="931029" y="629030"/>
                </a:lnTo>
                <a:lnTo>
                  <a:pt x="1053338" y="512952"/>
                </a:lnTo>
                <a:lnTo>
                  <a:pt x="1011555" y="469010"/>
                </a:lnTo>
                <a:close/>
              </a:path>
              <a:path w="1053464" h="960754">
                <a:moveTo>
                  <a:pt x="6350" y="473963"/>
                </a:moveTo>
                <a:lnTo>
                  <a:pt x="0" y="539750"/>
                </a:lnTo>
                <a:lnTo>
                  <a:pt x="52742" y="542841"/>
                </a:lnTo>
                <a:lnTo>
                  <a:pt x="102377" y="546957"/>
                </a:lnTo>
                <a:lnTo>
                  <a:pt x="148893" y="552072"/>
                </a:lnTo>
                <a:lnTo>
                  <a:pt x="192278" y="558164"/>
                </a:lnTo>
                <a:lnTo>
                  <a:pt x="200660" y="483615"/>
                </a:lnTo>
                <a:lnTo>
                  <a:pt x="166798" y="481161"/>
                </a:lnTo>
                <a:lnTo>
                  <a:pt x="123126" y="478742"/>
                </a:lnTo>
                <a:lnTo>
                  <a:pt x="6350" y="473963"/>
                </a:lnTo>
                <a:close/>
              </a:path>
              <a:path w="1053464" h="960754">
                <a:moveTo>
                  <a:pt x="548513" y="0"/>
                </a:moveTo>
                <a:lnTo>
                  <a:pt x="151892" y="376427"/>
                </a:lnTo>
                <a:lnTo>
                  <a:pt x="193548" y="420369"/>
                </a:lnTo>
                <a:lnTo>
                  <a:pt x="383540" y="240029"/>
                </a:lnTo>
                <a:lnTo>
                  <a:pt x="473817" y="240029"/>
                </a:lnTo>
                <a:lnTo>
                  <a:pt x="431038" y="194944"/>
                </a:lnTo>
                <a:lnTo>
                  <a:pt x="590169" y="43941"/>
                </a:lnTo>
                <a:lnTo>
                  <a:pt x="548513" y="0"/>
                </a:lnTo>
                <a:close/>
              </a:path>
              <a:path w="1053464" h="960754">
                <a:moveTo>
                  <a:pt x="738505" y="242950"/>
                </a:moveTo>
                <a:lnTo>
                  <a:pt x="600709" y="373760"/>
                </a:lnTo>
                <a:lnTo>
                  <a:pt x="688654" y="373760"/>
                </a:lnTo>
                <a:lnTo>
                  <a:pt x="780160" y="286892"/>
                </a:lnTo>
                <a:lnTo>
                  <a:pt x="738505" y="242950"/>
                </a:lnTo>
                <a:close/>
              </a:path>
            </a:pathLst>
          </a:custGeom>
          <a:solidFill>
            <a:srgbClr val="FFC9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补码的求法</a:t>
            </a:r>
          </a:p>
        </p:txBody>
      </p:sp>
      <p:sp>
        <p:nvSpPr>
          <p:cNvPr id="6" name="object 6"/>
          <p:cNvSpPr/>
          <p:nvPr/>
        </p:nvSpPr>
        <p:spPr>
          <a:xfrm>
            <a:off x="534716" y="2031329"/>
            <a:ext cx="479713" cy="4431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6888" y="2365248"/>
            <a:ext cx="1055370" cy="10096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6888" y="2913888"/>
            <a:ext cx="1055370" cy="1009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46888" y="3462528"/>
            <a:ext cx="1055370" cy="10096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6888" y="4011167"/>
            <a:ext cx="1055370" cy="10096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05458" y="1418081"/>
            <a:ext cx="37185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775" spc="30" baseline="-21021" dirty="0">
                <a:solidFill>
                  <a:srgbClr val="0000FF"/>
                </a:solidFill>
                <a:latin typeface="微软雅黑"/>
                <a:cs typeface="微软雅黑"/>
              </a:rPr>
              <a:t>补</a:t>
            </a:r>
            <a:r>
              <a:rPr sz="2775" spc="-75" baseline="-21021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775" baseline="2552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-N</a:t>
            </a:r>
            <a:r>
              <a:rPr sz="2800" spc="-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(2</a:t>
            </a:r>
            <a:r>
              <a:rPr sz="2775" baseline="2552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-1-N)+1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728722" y="2875026"/>
            <a:ext cx="1583690" cy="165100"/>
          </a:xfrm>
          <a:custGeom>
            <a:avLst/>
            <a:gdLst/>
            <a:ahLst/>
            <a:cxnLst/>
            <a:rect l="l" t="t" r="r" b="b"/>
            <a:pathLst>
              <a:path w="1583689" h="165100">
                <a:moveTo>
                  <a:pt x="1583436" y="0"/>
                </a:moveTo>
                <a:lnTo>
                  <a:pt x="1576879" y="32039"/>
                </a:lnTo>
                <a:lnTo>
                  <a:pt x="1558988" y="58197"/>
                </a:lnTo>
                <a:lnTo>
                  <a:pt x="1532429" y="75830"/>
                </a:lnTo>
                <a:lnTo>
                  <a:pt x="1499869" y="82296"/>
                </a:lnTo>
                <a:lnTo>
                  <a:pt x="875283" y="82296"/>
                </a:lnTo>
                <a:lnTo>
                  <a:pt x="842724" y="88761"/>
                </a:lnTo>
                <a:lnTo>
                  <a:pt x="816165" y="106394"/>
                </a:lnTo>
                <a:lnTo>
                  <a:pt x="798274" y="132552"/>
                </a:lnTo>
                <a:lnTo>
                  <a:pt x="791717" y="164591"/>
                </a:lnTo>
                <a:lnTo>
                  <a:pt x="785161" y="132552"/>
                </a:lnTo>
                <a:lnTo>
                  <a:pt x="767270" y="106394"/>
                </a:lnTo>
                <a:lnTo>
                  <a:pt x="740711" y="88761"/>
                </a:lnTo>
                <a:lnTo>
                  <a:pt x="708151" y="82296"/>
                </a:lnTo>
                <a:lnTo>
                  <a:pt x="83565" y="82296"/>
                </a:lnTo>
                <a:lnTo>
                  <a:pt x="51006" y="75830"/>
                </a:lnTo>
                <a:lnTo>
                  <a:pt x="24447" y="58197"/>
                </a:lnTo>
                <a:lnTo>
                  <a:pt x="6556" y="32039"/>
                </a:lnTo>
                <a:lnTo>
                  <a:pt x="0" y="0"/>
                </a:lnTo>
              </a:path>
            </a:pathLst>
          </a:custGeom>
          <a:ln w="38100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09930" y="1933702"/>
            <a:ext cx="393192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529"/>
              </a:lnSpc>
              <a:spcBef>
                <a:spcPts val="100"/>
              </a:spcBef>
            </a:pPr>
            <a:r>
              <a:rPr sz="3600" dirty="0">
                <a:solidFill>
                  <a:srgbClr val="FF9900"/>
                </a:solidFill>
                <a:latin typeface="微软雅黑"/>
                <a:cs typeface="微软雅黑"/>
              </a:rPr>
              <a:t>证</a:t>
            </a:r>
            <a:endParaRPr sz="3600">
              <a:latin typeface="微软雅黑"/>
              <a:cs typeface="微软雅黑"/>
            </a:endParaRPr>
          </a:p>
          <a:p>
            <a:pPr marL="38100">
              <a:lnSpc>
                <a:spcPts val="3525"/>
              </a:lnSpc>
              <a:tabLst>
                <a:tab pos="1033144" algn="l"/>
              </a:tabLst>
            </a:pPr>
            <a:r>
              <a:rPr sz="5400" baseline="-24691" dirty="0">
                <a:solidFill>
                  <a:srgbClr val="FF9900"/>
                </a:solidFill>
                <a:latin typeface="微软雅黑"/>
                <a:cs typeface="微软雅黑"/>
              </a:rPr>
              <a:t>明	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775" baseline="25525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-1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0000FF"/>
                </a:solidFill>
                <a:latin typeface="Arial"/>
                <a:cs typeface="Arial"/>
              </a:rPr>
              <a:t>111……111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ts val="4315"/>
              </a:lnSpc>
              <a:tabLst>
                <a:tab pos="2820670" algn="l"/>
              </a:tabLst>
            </a:pPr>
            <a:r>
              <a:rPr sz="5400" baseline="-24691" dirty="0">
                <a:solidFill>
                  <a:srgbClr val="FF9900"/>
                </a:solidFill>
                <a:latin typeface="微软雅黑"/>
                <a:cs typeface="微软雅黑"/>
              </a:rPr>
              <a:t>方	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个</a:t>
            </a:r>
            <a:endParaRPr sz="2800">
              <a:latin typeface="微软雅黑"/>
              <a:cs typeface="微软雅黑"/>
            </a:endParaRPr>
          </a:p>
          <a:p>
            <a:pPr marL="38100">
              <a:lnSpc>
                <a:spcPct val="100000"/>
              </a:lnSpc>
              <a:spcBef>
                <a:spcPts val="1590"/>
              </a:spcBef>
              <a:tabLst>
                <a:tab pos="1033144" algn="l"/>
              </a:tabLst>
            </a:pPr>
            <a:r>
              <a:rPr sz="3600" dirty="0">
                <a:solidFill>
                  <a:srgbClr val="FF9900"/>
                </a:solidFill>
                <a:latin typeface="微软雅黑"/>
                <a:cs typeface="微软雅黑"/>
              </a:rPr>
              <a:t>法	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2775" baseline="27027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-1-N</a:t>
            </a:r>
            <a:r>
              <a:rPr sz="28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 N</a:t>
            </a:r>
            <a:r>
              <a:rPr sz="2775" spc="30" baseline="-19519" dirty="0">
                <a:solidFill>
                  <a:srgbClr val="0000FF"/>
                </a:solidFill>
                <a:latin typeface="微软雅黑"/>
                <a:cs typeface="微软雅黑"/>
              </a:rPr>
              <a:t>反</a:t>
            </a:r>
            <a:endParaRPr sz="2775" baseline="-19519">
              <a:latin typeface="微软雅黑"/>
              <a:cs typeface="微软雅黑"/>
            </a:endParaRPr>
          </a:p>
          <a:p>
            <a:pPr marL="38100">
              <a:lnSpc>
                <a:spcPct val="100000"/>
              </a:lnSpc>
            </a:pPr>
            <a:r>
              <a:rPr sz="3600" dirty="0">
                <a:solidFill>
                  <a:srgbClr val="FF9900"/>
                </a:solidFill>
                <a:latin typeface="微软雅黑"/>
                <a:cs typeface="微软雅黑"/>
              </a:rPr>
              <a:t>二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5458" y="4660519"/>
            <a:ext cx="18738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775" spc="30" baseline="-21021" dirty="0">
                <a:solidFill>
                  <a:srgbClr val="0000FF"/>
                </a:solidFill>
                <a:latin typeface="微软雅黑"/>
                <a:cs typeface="微软雅黑"/>
              </a:rPr>
              <a:t>补</a:t>
            </a:r>
            <a:r>
              <a:rPr sz="2775" spc="284" baseline="-21021" dirty="0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775" spc="30" baseline="-21021" dirty="0">
                <a:solidFill>
                  <a:srgbClr val="0000FF"/>
                </a:solidFill>
                <a:latin typeface="微软雅黑"/>
                <a:cs typeface="微软雅黑"/>
              </a:rPr>
              <a:t>反</a:t>
            </a:r>
            <a:r>
              <a:rPr sz="2800" spc="-10" dirty="0">
                <a:solidFill>
                  <a:srgbClr val="0000FF"/>
                </a:solidFill>
                <a:latin typeface="Arial"/>
                <a:cs typeface="Arial"/>
              </a:rPr>
              <a:t>+1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33338" y="1459230"/>
            <a:ext cx="2607945" cy="1868805"/>
          </a:xfrm>
          <a:custGeom>
            <a:avLst/>
            <a:gdLst/>
            <a:ahLst/>
            <a:cxnLst/>
            <a:rect l="l" t="t" r="r" b="b"/>
            <a:pathLst>
              <a:path w="2607945" h="1868804">
                <a:moveTo>
                  <a:pt x="0" y="311404"/>
                </a:moveTo>
                <a:lnTo>
                  <a:pt x="3376" y="265392"/>
                </a:lnTo>
                <a:lnTo>
                  <a:pt x="13186" y="221475"/>
                </a:lnTo>
                <a:lnTo>
                  <a:pt x="28946" y="180135"/>
                </a:lnTo>
                <a:lnTo>
                  <a:pt x="50175" y="141852"/>
                </a:lnTo>
                <a:lnTo>
                  <a:pt x="76390" y="107110"/>
                </a:lnTo>
                <a:lnTo>
                  <a:pt x="107110" y="76390"/>
                </a:lnTo>
                <a:lnTo>
                  <a:pt x="141852" y="50175"/>
                </a:lnTo>
                <a:lnTo>
                  <a:pt x="180135" y="28946"/>
                </a:lnTo>
                <a:lnTo>
                  <a:pt x="221475" y="13186"/>
                </a:lnTo>
                <a:lnTo>
                  <a:pt x="265392" y="3376"/>
                </a:lnTo>
                <a:lnTo>
                  <a:pt x="311403" y="0"/>
                </a:lnTo>
                <a:lnTo>
                  <a:pt x="2296160" y="0"/>
                </a:lnTo>
                <a:lnTo>
                  <a:pt x="2342171" y="3376"/>
                </a:lnTo>
                <a:lnTo>
                  <a:pt x="2386088" y="13186"/>
                </a:lnTo>
                <a:lnTo>
                  <a:pt x="2427428" y="28946"/>
                </a:lnTo>
                <a:lnTo>
                  <a:pt x="2465711" y="50175"/>
                </a:lnTo>
                <a:lnTo>
                  <a:pt x="2500453" y="76390"/>
                </a:lnTo>
                <a:lnTo>
                  <a:pt x="2531173" y="107110"/>
                </a:lnTo>
                <a:lnTo>
                  <a:pt x="2557388" y="141852"/>
                </a:lnTo>
                <a:lnTo>
                  <a:pt x="2578617" y="180135"/>
                </a:lnTo>
                <a:lnTo>
                  <a:pt x="2594377" y="221475"/>
                </a:lnTo>
                <a:lnTo>
                  <a:pt x="2604187" y="265392"/>
                </a:lnTo>
                <a:lnTo>
                  <a:pt x="2607564" y="311404"/>
                </a:lnTo>
                <a:lnTo>
                  <a:pt x="2607564" y="1557020"/>
                </a:lnTo>
                <a:lnTo>
                  <a:pt x="2604187" y="1603031"/>
                </a:lnTo>
                <a:lnTo>
                  <a:pt x="2594377" y="1646948"/>
                </a:lnTo>
                <a:lnTo>
                  <a:pt x="2578617" y="1688288"/>
                </a:lnTo>
                <a:lnTo>
                  <a:pt x="2557388" y="1726571"/>
                </a:lnTo>
                <a:lnTo>
                  <a:pt x="2531173" y="1761313"/>
                </a:lnTo>
                <a:lnTo>
                  <a:pt x="2500453" y="1792033"/>
                </a:lnTo>
                <a:lnTo>
                  <a:pt x="2465711" y="1818248"/>
                </a:lnTo>
                <a:lnTo>
                  <a:pt x="2427428" y="1839477"/>
                </a:lnTo>
                <a:lnTo>
                  <a:pt x="2386088" y="1855237"/>
                </a:lnTo>
                <a:lnTo>
                  <a:pt x="2342171" y="1865047"/>
                </a:lnTo>
                <a:lnTo>
                  <a:pt x="2296160" y="1868424"/>
                </a:lnTo>
                <a:lnTo>
                  <a:pt x="311403" y="1868424"/>
                </a:lnTo>
                <a:lnTo>
                  <a:pt x="265392" y="1865047"/>
                </a:lnTo>
                <a:lnTo>
                  <a:pt x="221475" y="1855237"/>
                </a:lnTo>
                <a:lnTo>
                  <a:pt x="180135" y="1839477"/>
                </a:lnTo>
                <a:lnTo>
                  <a:pt x="141852" y="1818248"/>
                </a:lnTo>
                <a:lnTo>
                  <a:pt x="107110" y="1792033"/>
                </a:lnTo>
                <a:lnTo>
                  <a:pt x="76390" y="1761313"/>
                </a:lnTo>
                <a:lnTo>
                  <a:pt x="50175" y="1726571"/>
                </a:lnTo>
                <a:lnTo>
                  <a:pt x="28946" y="1688288"/>
                </a:lnTo>
                <a:lnTo>
                  <a:pt x="13186" y="1646948"/>
                </a:lnTo>
                <a:lnTo>
                  <a:pt x="3376" y="1603031"/>
                </a:lnTo>
                <a:lnTo>
                  <a:pt x="0" y="1557020"/>
                </a:lnTo>
                <a:lnTo>
                  <a:pt x="0" y="31140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03009" y="1573784"/>
            <a:ext cx="215646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6F2F9F"/>
                </a:solidFill>
                <a:latin typeface="Arial"/>
                <a:cs typeface="Arial"/>
              </a:rPr>
              <a:t>100000000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608455" algn="l"/>
              </a:tabLst>
            </a:pPr>
            <a:r>
              <a:rPr sz="2800" spc="-5" dirty="0">
                <a:solidFill>
                  <a:srgbClr val="6F2F9F"/>
                </a:solidFill>
                <a:latin typeface="Arial"/>
                <a:cs typeface="Arial"/>
              </a:rPr>
              <a:t>-	1</a:t>
            </a:r>
            <a:endParaRPr sz="2800">
              <a:latin typeface="Arial"/>
              <a:cs typeface="Arial"/>
            </a:endParaRPr>
          </a:p>
          <a:p>
            <a:pPr marL="307975" marR="5080" indent="-295910">
              <a:lnSpc>
                <a:spcPct val="100000"/>
              </a:lnSpc>
            </a:pPr>
            <a:r>
              <a:rPr sz="2800" spc="-5" dirty="0">
                <a:solidFill>
                  <a:srgbClr val="6F2F9F"/>
                </a:solidFill>
                <a:latin typeface="Arial"/>
                <a:cs typeface="Arial"/>
              </a:rPr>
              <a:t>——————  </a:t>
            </a:r>
            <a:r>
              <a:rPr sz="2800" spc="-60" dirty="0">
                <a:solidFill>
                  <a:srgbClr val="6F2F9F"/>
                </a:solidFill>
                <a:latin typeface="Arial"/>
                <a:cs typeface="Arial"/>
              </a:rPr>
              <a:t>11111111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33338" y="3935729"/>
            <a:ext cx="2607945" cy="1941830"/>
          </a:xfrm>
          <a:custGeom>
            <a:avLst/>
            <a:gdLst/>
            <a:ahLst/>
            <a:cxnLst/>
            <a:rect l="l" t="t" r="r" b="b"/>
            <a:pathLst>
              <a:path w="2607945" h="1941829">
                <a:moveTo>
                  <a:pt x="0" y="323596"/>
                </a:moveTo>
                <a:lnTo>
                  <a:pt x="3509" y="275783"/>
                </a:lnTo>
                <a:lnTo>
                  <a:pt x="13703" y="230147"/>
                </a:lnTo>
                <a:lnTo>
                  <a:pt x="30080" y="187188"/>
                </a:lnTo>
                <a:lnTo>
                  <a:pt x="52140" y="147407"/>
                </a:lnTo>
                <a:lnTo>
                  <a:pt x="79382" y="111304"/>
                </a:lnTo>
                <a:lnTo>
                  <a:pt x="111304" y="79382"/>
                </a:lnTo>
                <a:lnTo>
                  <a:pt x="147407" y="52140"/>
                </a:lnTo>
                <a:lnTo>
                  <a:pt x="187188" y="30080"/>
                </a:lnTo>
                <a:lnTo>
                  <a:pt x="230147" y="13703"/>
                </a:lnTo>
                <a:lnTo>
                  <a:pt x="275783" y="3509"/>
                </a:lnTo>
                <a:lnTo>
                  <a:pt x="323596" y="0"/>
                </a:lnTo>
                <a:lnTo>
                  <a:pt x="2283967" y="0"/>
                </a:lnTo>
                <a:lnTo>
                  <a:pt x="2331780" y="3509"/>
                </a:lnTo>
                <a:lnTo>
                  <a:pt x="2377416" y="13703"/>
                </a:lnTo>
                <a:lnTo>
                  <a:pt x="2420375" y="30080"/>
                </a:lnTo>
                <a:lnTo>
                  <a:pt x="2460156" y="52140"/>
                </a:lnTo>
                <a:lnTo>
                  <a:pt x="2496259" y="79382"/>
                </a:lnTo>
                <a:lnTo>
                  <a:pt x="2528181" y="111304"/>
                </a:lnTo>
                <a:lnTo>
                  <a:pt x="2555423" y="147407"/>
                </a:lnTo>
                <a:lnTo>
                  <a:pt x="2577483" y="187188"/>
                </a:lnTo>
                <a:lnTo>
                  <a:pt x="2593860" y="230147"/>
                </a:lnTo>
                <a:lnTo>
                  <a:pt x="2604054" y="275783"/>
                </a:lnTo>
                <a:lnTo>
                  <a:pt x="2607564" y="323596"/>
                </a:lnTo>
                <a:lnTo>
                  <a:pt x="2607564" y="1617980"/>
                </a:lnTo>
                <a:lnTo>
                  <a:pt x="2604054" y="1665798"/>
                </a:lnTo>
                <a:lnTo>
                  <a:pt x="2593860" y="1711437"/>
                </a:lnTo>
                <a:lnTo>
                  <a:pt x="2577483" y="1754398"/>
                </a:lnTo>
                <a:lnTo>
                  <a:pt x="2555423" y="1794180"/>
                </a:lnTo>
                <a:lnTo>
                  <a:pt x="2528181" y="1830281"/>
                </a:lnTo>
                <a:lnTo>
                  <a:pt x="2496259" y="1862202"/>
                </a:lnTo>
                <a:lnTo>
                  <a:pt x="2460156" y="1889441"/>
                </a:lnTo>
                <a:lnTo>
                  <a:pt x="2420375" y="1911499"/>
                </a:lnTo>
                <a:lnTo>
                  <a:pt x="2377416" y="1927875"/>
                </a:lnTo>
                <a:lnTo>
                  <a:pt x="2331780" y="1938067"/>
                </a:lnTo>
                <a:lnTo>
                  <a:pt x="2283967" y="1941576"/>
                </a:lnTo>
                <a:lnTo>
                  <a:pt x="323596" y="1941576"/>
                </a:lnTo>
                <a:lnTo>
                  <a:pt x="275783" y="1938067"/>
                </a:lnTo>
                <a:lnTo>
                  <a:pt x="230147" y="1927875"/>
                </a:lnTo>
                <a:lnTo>
                  <a:pt x="187188" y="1911499"/>
                </a:lnTo>
                <a:lnTo>
                  <a:pt x="147407" y="1889441"/>
                </a:lnTo>
                <a:lnTo>
                  <a:pt x="111304" y="1862202"/>
                </a:lnTo>
                <a:lnTo>
                  <a:pt x="79382" y="1830281"/>
                </a:lnTo>
                <a:lnTo>
                  <a:pt x="52140" y="1794180"/>
                </a:lnTo>
                <a:lnTo>
                  <a:pt x="30080" y="1754398"/>
                </a:lnTo>
                <a:lnTo>
                  <a:pt x="13703" y="1711437"/>
                </a:lnTo>
                <a:lnTo>
                  <a:pt x="3509" y="1665798"/>
                </a:lnTo>
                <a:lnTo>
                  <a:pt x="0" y="1617980"/>
                </a:lnTo>
                <a:lnTo>
                  <a:pt x="0" y="323596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06692" y="4054221"/>
            <a:ext cx="2156460" cy="1732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79400" algn="r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solidFill>
                  <a:srgbClr val="6F2F9F"/>
                </a:solidFill>
                <a:latin typeface="Arial"/>
                <a:cs typeface="Arial"/>
              </a:rPr>
              <a:t>11111111</a:t>
            </a:r>
            <a:endParaRPr sz="2800">
              <a:latin typeface="Arial"/>
              <a:cs typeface="Arial"/>
            </a:endParaRPr>
          </a:p>
          <a:p>
            <a:pPr marR="216535" algn="r">
              <a:lnSpc>
                <a:spcPct val="100000"/>
              </a:lnSpc>
              <a:tabLst>
                <a:tab pos="322580" algn="l"/>
              </a:tabLst>
            </a:pPr>
            <a:r>
              <a:rPr sz="2800" spc="-5" dirty="0">
                <a:solidFill>
                  <a:srgbClr val="6F2F9F"/>
                </a:solidFill>
                <a:latin typeface="Arial"/>
                <a:cs typeface="Arial"/>
              </a:rPr>
              <a:t>-	</a:t>
            </a:r>
            <a:r>
              <a:rPr sz="2800" spc="20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2800" spc="-18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2800" spc="20" dirty="0">
                <a:solidFill>
                  <a:srgbClr val="6F2F9F"/>
                </a:solidFill>
                <a:latin typeface="Arial"/>
                <a:cs typeface="Arial"/>
              </a:rPr>
              <a:t>1</a:t>
            </a:r>
            <a:r>
              <a:rPr sz="2800" spc="25" dirty="0">
                <a:solidFill>
                  <a:srgbClr val="6F2F9F"/>
                </a:solidFill>
                <a:latin typeface="Arial"/>
                <a:cs typeface="Arial"/>
              </a:rPr>
              <a:t>0</a:t>
            </a:r>
            <a:r>
              <a:rPr sz="2800" spc="45" dirty="0">
                <a:solidFill>
                  <a:srgbClr val="6F2F9F"/>
                </a:solidFill>
                <a:latin typeface="Arial"/>
                <a:cs typeface="Arial"/>
              </a:rPr>
              <a:t>1001</a:t>
            </a:r>
            <a:endParaRPr sz="2800">
              <a:latin typeface="Arial"/>
              <a:cs typeface="Arial"/>
            </a:endParaRPr>
          </a:p>
          <a:p>
            <a:pPr marL="307975" marR="5080" indent="-295910">
              <a:lnSpc>
                <a:spcPct val="100000"/>
              </a:lnSpc>
            </a:pPr>
            <a:r>
              <a:rPr sz="2800" spc="-10" dirty="0">
                <a:solidFill>
                  <a:srgbClr val="6F2F9F"/>
                </a:solidFill>
                <a:latin typeface="Arial"/>
                <a:cs typeface="Arial"/>
              </a:rPr>
              <a:t>——————  </a:t>
            </a:r>
            <a:r>
              <a:rPr sz="2800" spc="35" dirty="0">
                <a:solidFill>
                  <a:srgbClr val="6F2F9F"/>
                </a:solidFill>
                <a:latin typeface="Arial"/>
                <a:cs typeface="Arial"/>
              </a:rPr>
              <a:t>10010110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18126" y="2387345"/>
            <a:ext cx="987425" cy="407670"/>
          </a:xfrm>
          <a:custGeom>
            <a:avLst/>
            <a:gdLst/>
            <a:ahLst/>
            <a:cxnLst/>
            <a:rect l="l" t="t" r="r" b="b"/>
            <a:pathLst>
              <a:path w="987425" h="407669">
                <a:moveTo>
                  <a:pt x="12446" y="226949"/>
                </a:moveTo>
                <a:lnTo>
                  <a:pt x="0" y="229107"/>
                </a:lnTo>
                <a:lnTo>
                  <a:pt x="31369" y="407288"/>
                </a:lnTo>
                <a:lnTo>
                  <a:pt x="43687" y="405129"/>
                </a:lnTo>
                <a:lnTo>
                  <a:pt x="12446" y="226949"/>
                </a:lnTo>
                <a:close/>
              </a:path>
              <a:path w="987425" h="407669">
                <a:moveTo>
                  <a:pt x="49529" y="220471"/>
                </a:moveTo>
                <a:lnTo>
                  <a:pt x="24764" y="224789"/>
                </a:lnTo>
                <a:lnTo>
                  <a:pt x="56134" y="402843"/>
                </a:lnTo>
                <a:lnTo>
                  <a:pt x="80899" y="398525"/>
                </a:lnTo>
                <a:lnTo>
                  <a:pt x="49529" y="220471"/>
                </a:lnTo>
                <a:close/>
              </a:path>
              <a:path w="987425" h="407669">
                <a:moveTo>
                  <a:pt x="664210" y="0"/>
                </a:moveTo>
                <a:lnTo>
                  <a:pt x="683387" y="109092"/>
                </a:lnTo>
                <a:lnTo>
                  <a:pt x="61975" y="218312"/>
                </a:lnTo>
                <a:lnTo>
                  <a:pt x="93218" y="396366"/>
                </a:lnTo>
                <a:lnTo>
                  <a:pt x="714628" y="287146"/>
                </a:lnTo>
                <a:lnTo>
                  <a:pt x="844903" y="287146"/>
                </a:lnTo>
                <a:lnTo>
                  <a:pt x="987171" y="147446"/>
                </a:lnTo>
                <a:lnTo>
                  <a:pt x="664210" y="0"/>
                </a:lnTo>
                <a:close/>
              </a:path>
              <a:path w="987425" h="407669">
                <a:moveTo>
                  <a:pt x="844903" y="287146"/>
                </a:moveTo>
                <a:lnTo>
                  <a:pt x="714628" y="287146"/>
                </a:lnTo>
                <a:lnTo>
                  <a:pt x="733806" y="396239"/>
                </a:lnTo>
                <a:lnTo>
                  <a:pt x="844903" y="287146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13363" y="2603055"/>
            <a:ext cx="90424" cy="1963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80102" y="2387345"/>
            <a:ext cx="925194" cy="396875"/>
          </a:xfrm>
          <a:custGeom>
            <a:avLst/>
            <a:gdLst/>
            <a:ahLst/>
            <a:cxnLst/>
            <a:rect l="l" t="t" r="r" b="b"/>
            <a:pathLst>
              <a:path w="925195" h="396875">
                <a:moveTo>
                  <a:pt x="0" y="218312"/>
                </a:moveTo>
                <a:lnTo>
                  <a:pt x="621411" y="109092"/>
                </a:lnTo>
                <a:lnTo>
                  <a:pt x="602234" y="0"/>
                </a:lnTo>
                <a:lnTo>
                  <a:pt x="925195" y="147446"/>
                </a:lnTo>
                <a:lnTo>
                  <a:pt x="671830" y="396239"/>
                </a:lnTo>
                <a:lnTo>
                  <a:pt x="652652" y="287146"/>
                </a:lnTo>
                <a:lnTo>
                  <a:pt x="31242" y="396366"/>
                </a:lnTo>
                <a:lnTo>
                  <a:pt x="0" y="21831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66615" y="4009644"/>
            <a:ext cx="916305" cy="579755"/>
          </a:xfrm>
          <a:custGeom>
            <a:avLst/>
            <a:gdLst/>
            <a:ahLst/>
            <a:cxnLst/>
            <a:rect l="l" t="t" r="r" b="b"/>
            <a:pathLst>
              <a:path w="916304" h="579754">
                <a:moveTo>
                  <a:pt x="139446" y="29082"/>
                </a:moveTo>
                <a:lnTo>
                  <a:pt x="55752" y="189483"/>
                </a:lnTo>
                <a:lnTo>
                  <a:pt x="615061" y="481329"/>
                </a:lnTo>
                <a:lnTo>
                  <a:pt x="563880" y="579500"/>
                </a:lnTo>
                <a:lnTo>
                  <a:pt x="916305" y="536574"/>
                </a:lnTo>
                <a:lnTo>
                  <a:pt x="802088" y="321055"/>
                </a:lnTo>
                <a:lnTo>
                  <a:pt x="698754" y="321055"/>
                </a:lnTo>
                <a:lnTo>
                  <a:pt x="139446" y="29082"/>
                </a:lnTo>
                <a:close/>
              </a:path>
              <a:path w="916304" h="579754">
                <a:moveTo>
                  <a:pt x="750062" y="222884"/>
                </a:moveTo>
                <a:lnTo>
                  <a:pt x="698754" y="321055"/>
                </a:lnTo>
                <a:lnTo>
                  <a:pt x="802088" y="321055"/>
                </a:lnTo>
                <a:lnTo>
                  <a:pt x="750062" y="222884"/>
                </a:lnTo>
                <a:close/>
              </a:path>
              <a:path w="916304" h="579754">
                <a:moveTo>
                  <a:pt x="105918" y="11683"/>
                </a:moveTo>
                <a:lnTo>
                  <a:pt x="22351" y="171957"/>
                </a:lnTo>
                <a:lnTo>
                  <a:pt x="44576" y="183641"/>
                </a:lnTo>
                <a:lnTo>
                  <a:pt x="128270" y="23240"/>
                </a:lnTo>
                <a:lnTo>
                  <a:pt x="105918" y="11683"/>
                </a:lnTo>
                <a:close/>
              </a:path>
              <a:path w="916304" h="579754">
                <a:moveTo>
                  <a:pt x="83693" y="0"/>
                </a:moveTo>
                <a:lnTo>
                  <a:pt x="0" y="160400"/>
                </a:lnTo>
                <a:lnTo>
                  <a:pt x="11175" y="166242"/>
                </a:lnTo>
                <a:lnTo>
                  <a:pt x="94869" y="5841"/>
                </a:lnTo>
                <a:lnTo>
                  <a:pt x="8369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61852" y="4004881"/>
            <a:ext cx="137795" cy="1931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22367" y="4038727"/>
            <a:ext cx="861060" cy="550545"/>
          </a:xfrm>
          <a:custGeom>
            <a:avLst/>
            <a:gdLst/>
            <a:ahLst/>
            <a:cxnLst/>
            <a:rect l="l" t="t" r="r" b="b"/>
            <a:pathLst>
              <a:path w="861060" h="550545">
                <a:moveTo>
                  <a:pt x="83693" y="0"/>
                </a:moveTo>
                <a:lnTo>
                  <a:pt x="643001" y="291973"/>
                </a:lnTo>
                <a:lnTo>
                  <a:pt x="694309" y="193802"/>
                </a:lnTo>
                <a:lnTo>
                  <a:pt x="860552" y="507492"/>
                </a:lnTo>
                <a:lnTo>
                  <a:pt x="508127" y="550418"/>
                </a:lnTo>
                <a:lnTo>
                  <a:pt x="559308" y="452247"/>
                </a:lnTo>
                <a:lnTo>
                  <a:pt x="0" y="160400"/>
                </a:lnTo>
                <a:lnTo>
                  <a:pt x="83693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9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5</a:t>
            </a:fld>
            <a:endParaRPr spc="-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补码的求法</a:t>
            </a:r>
          </a:p>
        </p:txBody>
      </p:sp>
      <p:sp>
        <p:nvSpPr>
          <p:cNvPr id="3" name="object 3"/>
          <p:cNvSpPr/>
          <p:nvPr/>
        </p:nvSpPr>
        <p:spPr>
          <a:xfrm>
            <a:off x="457198" y="1630670"/>
            <a:ext cx="8987031" cy="44942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0308" y="2177795"/>
            <a:ext cx="6243827" cy="24292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5300" y="1645920"/>
            <a:ext cx="8915400" cy="4422775"/>
          </a:xfrm>
          <a:custGeom>
            <a:avLst/>
            <a:gdLst/>
            <a:ahLst/>
            <a:cxnLst/>
            <a:rect l="l" t="t" r="r" b="b"/>
            <a:pathLst>
              <a:path w="8915400" h="4422775">
                <a:moveTo>
                  <a:pt x="0" y="4422648"/>
                </a:moveTo>
                <a:lnTo>
                  <a:pt x="8915400" y="4422648"/>
                </a:lnTo>
                <a:lnTo>
                  <a:pt x="8915400" y="0"/>
                </a:lnTo>
                <a:lnTo>
                  <a:pt x="0" y="0"/>
                </a:lnTo>
                <a:lnTo>
                  <a:pt x="0" y="4422648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5300" y="1645920"/>
            <a:ext cx="8915400" cy="4422775"/>
          </a:xfrm>
          <a:custGeom>
            <a:avLst/>
            <a:gdLst/>
            <a:ahLst/>
            <a:cxnLst/>
            <a:rect l="l" t="t" r="r" b="b"/>
            <a:pathLst>
              <a:path w="8915400" h="4422775">
                <a:moveTo>
                  <a:pt x="0" y="4422648"/>
                </a:moveTo>
                <a:lnTo>
                  <a:pt x="8915400" y="4422648"/>
                </a:lnTo>
                <a:lnTo>
                  <a:pt x="8915400" y="0"/>
                </a:lnTo>
                <a:lnTo>
                  <a:pt x="0" y="0"/>
                </a:lnTo>
                <a:lnTo>
                  <a:pt x="0" y="4422648"/>
                </a:lnTo>
                <a:close/>
              </a:path>
            </a:pathLst>
          </a:custGeom>
          <a:ln w="9144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4004" y="1008888"/>
            <a:ext cx="6430518" cy="145618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36700" y="1329054"/>
            <a:ext cx="7432040" cy="4229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微软雅黑"/>
                <a:cs typeface="微软雅黑"/>
              </a:rPr>
              <a:t>方法三</a:t>
            </a:r>
            <a:endParaRPr sz="3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>
              <a:latin typeface="微软雅黑"/>
              <a:cs typeface="微软雅黑"/>
            </a:endParaRPr>
          </a:p>
          <a:p>
            <a:pPr marL="337185" indent="-287020">
              <a:lnSpc>
                <a:spcPct val="100000"/>
              </a:lnSpc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2800" spc="-5" dirty="0">
                <a:latin typeface="微软雅黑"/>
                <a:cs typeface="微软雅黑"/>
              </a:rPr>
              <a:t>将数</a:t>
            </a:r>
            <a:r>
              <a:rPr sz="2800" spc="-10" dirty="0">
                <a:latin typeface="Arial"/>
                <a:cs typeface="Arial"/>
              </a:rPr>
              <a:t>N</a:t>
            </a:r>
            <a:r>
              <a:rPr sz="2800" spc="-5" dirty="0">
                <a:latin typeface="微软雅黑"/>
                <a:cs typeface="微软雅黑"/>
              </a:rPr>
              <a:t>补足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5" dirty="0">
                <a:latin typeface="微软雅黑"/>
                <a:cs typeface="微软雅黑"/>
              </a:rPr>
              <a:t>位整数</a:t>
            </a:r>
            <a:endParaRPr sz="2800">
              <a:latin typeface="微软雅黑"/>
              <a:cs typeface="微软雅黑"/>
            </a:endParaRPr>
          </a:p>
          <a:p>
            <a:pPr marL="337185" indent="-28702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337185" algn="l"/>
                <a:tab pos="337820" algn="l"/>
              </a:tabLst>
            </a:pPr>
            <a:r>
              <a:rPr sz="2800" spc="-5" dirty="0">
                <a:latin typeface="微软雅黑"/>
                <a:cs typeface="微软雅黑"/>
              </a:rPr>
              <a:t>从右往左第一个</a:t>
            </a:r>
            <a:r>
              <a:rPr sz="2800" dirty="0">
                <a:latin typeface="Arial"/>
                <a:cs typeface="Arial"/>
              </a:rPr>
              <a:t>1</a:t>
            </a:r>
            <a:r>
              <a:rPr sz="2800" spc="-5" dirty="0">
                <a:latin typeface="微软雅黑"/>
                <a:cs typeface="微软雅黑"/>
              </a:rPr>
              <a:t>及其右边的</a:t>
            </a:r>
            <a:r>
              <a:rPr sz="2800" dirty="0">
                <a:latin typeface="Arial"/>
                <a:cs typeface="Arial"/>
              </a:rPr>
              <a:t>0</a:t>
            </a:r>
            <a:r>
              <a:rPr sz="2800" spc="-5" dirty="0">
                <a:latin typeface="微软雅黑"/>
                <a:cs typeface="微软雅黑"/>
              </a:rPr>
              <a:t>不变</a:t>
            </a:r>
            <a:endParaRPr sz="2800">
              <a:latin typeface="微软雅黑"/>
              <a:cs typeface="微软雅黑"/>
            </a:endParaRPr>
          </a:p>
          <a:p>
            <a:pPr marL="300355" indent="-250190">
              <a:lnSpc>
                <a:spcPct val="100000"/>
              </a:lnSpc>
              <a:spcBef>
                <a:spcPts val="3290"/>
              </a:spcBef>
              <a:buClr>
                <a:srgbClr val="000000"/>
              </a:buClr>
              <a:buChar char="•"/>
              <a:tabLst>
                <a:tab pos="300990" algn="l"/>
              </a:tabLst>
            </a:pPr>
            <a:r>
              <a:rPr sz="2800" spc="-1739" dirty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4200" spc="-450" baseline="31746" dirty="0">
                <a:latin typeface="微软雅黑"/>
                <a:cs typeface="微软雅黑"/>
              </a:rPr>
              <a:t>其</a:t>
            </a:r>
            <a:r>
              <a:rPr sz="2800" spc="-135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4200" spc="-1019" baseline="31746" dirty="0">
                <a:latin typeface="微软雅黑"/>
                <a:cs typeface="微软雅黑"/>
              </a:rPr>
              <a:t>余</a:t>
            </a:r>
            <a:r>
              <a:rPr sz="2800" spc="-894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4200" spc="-2872" baseline="31746" dirty="0">
                <a:latin typeface="微软雅黑"/>
                <a:cs typeface="微软雅黑"/>
              </a:rPr>
              <a:t>各</a:t>
            </a:r>
            <a:r>
              <a:rPr sz="2800" spc="-610" dirty="0">
                <a:solidFill>
                  <a:srgbClr val="FF3300"/>
                </a:solidFill>
                <a:latin typeface="Arial"/>
                <a:cs typeface="Arial"/>
              </a:rPr>
              <a:t>0</a:t>
            </a:r>
            <a:r>
              <a:rPr sz="2800" spc="-610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4200" spc="-2392" baseline="31746" dirty="0">
                <a:latin typeface="微软雅黑"/>
                <a:cs typeface="微软雅黑"/>
              </a:rPr>
              <a:t>位</a:t>
            </a:r>
            <a:r>
              <a:rPr sz="2800" spc="-770" dirty="0">
                <a:solidFill>
                  <a:srgbClr val="0000FF"/>
                </a:solidFill>
                <a:latin typeface="Arial"/>
                <a:cs typeface="Arial"/>
              </a:rPr>
              <a:t>00</a:t>
            </a:r>
            <a:r>
              <a:rPr sz="4200" spc="-1912" baseline="31746" dirty="0">
                <a:latin typeface="微软雅黑"/>
                <a:cs typeface="微软雅黑"/>
              </a:rPr>
              <a:t>求</a:t>
            </a:r>
            <a:r>
              <a:rPr sz="2800" spc="-295" dirty="0">
                <a:solidFill>
                  <a:srgbClr val="0000FF"/>
                </a:solidFill>
                <a:latin typeface="Arial"/>
                <a:cs typeface="Arial"/>
              </a:rPr>
              <a:t>1</a:t>
            </a:r>
            <a:r>
              <a:rPr sz="4200" spc="-3765" baseline="31746" dirty="0">
                <a:latin typeface="微软雅黑"/>
                <a:cs typeface="微软雅黑"/>
              </a:rPr>
              <a:t>反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00</a:t>
            </a:r>
            <a:r>
              <a:rPr sz="2800" spc="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10" dirty="0">
                <a:solidFill>
                  <a:srgbClr val="FF8740"/>
                </a:solidFill>
                <a:latin typeface="Arial"/>
                <a:cs typeface="Arial"/>
              </a:rPr>
              <a:t> </a:t>
            </a:r>
            <a:r>
              <a:rPr sz="2800" u="heavy" dirty="0">
                <a:solidFill>
                  <a:srgbClr val="FF8740"/>
                </a:solidFill>
                <a:uFill>
                  <a:solidFill>
                    <a:srgbClr val="FF8740"/>
                  </a:solidFill>
                </a:uFill>
                <a:latin typeface="Arial"/>
                <a:cs typeface="Arial"/>
              </a:rPr>
              <a:t>00100</a:t>
            </a:r>
            <a:r>
              <a:rPr sz="2800" spc="10" dirty="0">
                <a:solidFill>
                  <a:srgbClr val="3399FF"/>
                </a:solidFill>
                <a:latin typeface="Arial"/>
                <a:cs typeface="Arial"/>
              </a:rPr>
              <a:t> </a:t>
            </a:r>
            <a:r>
              <a:rPr sz="2800" u="heavy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100</a:t>
            </a:r>
            <a:endParaRPr sz="2800">
              <a:latin typeface="Arial"/>
              <a:cs typeface="Arial"/>
            </a:endParaRPr>
          </a:p>
          <a:p>
            <a:pPr marL="1707514">
              <a:lnSpc>
                <a:spcPct val="100000"/>
              </a:lnSpc>
            </a:pPr>
            <a:r>
              <a:rPr sz="2800" spc="-5" dirty="0">
                <a:solidFill>
                  <a:srgbClr val="0000FF"/>
                </a:solidFill>
                <a:latin typeface="Arial"/>
                <a:cs typeface="Arial"/>
              </a:rPr>
              <a:t>(N)</a:t>
            </a:r>
            <a:r>
              <a:rPr sz="2775" spc="22" baseline="-21021" dirty="0">
                <a:solidFill>
                  <a:srgbClr val="0000FF"/>
                </a:solidFill>
                <a:latin typeface="微软雅黑"/>
                <a:cs typeface="微软雅黑"/>
              </a:rPr>
              <a:t>补</a:t>
            </a:r>
            <a:r>
              <a:rPr sz="2775" baseline="-21021" dirty="0">
                <a:solidFill>
                  <a:srgbClr val="0000FF"/>
                </a:solidFill>
                <a:latin typeface="Arial"/>
                <a:cs typeface="Arial"/>
              </a:rPr>
              <a:t>.8</a:t>
            </a:r>
            <a:r>
              <a:rPr sz="2800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8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800" u="heavy" spc="-85" dirty="0">
                <a:solidFill>
                  <a:srgbClr val="FF8740"/>
                </a:solidFill>
                <a:uFill>
                  <a:solidFill>
                    <a:srgbClr val="FF8740"/>
                  </a:solidFill>
                </a:uFill>
                <a:latin typeface="Arial"/>
                <a:cs typeface="Arial"/>
              </a:rPr>
              <a:t>11011</a:t>
            </a:r>
            <a:r>
              <a:rPr sz="2800" spc="5" dirty="0">
                <a:solidFill>
                  <a:srgbClr val="FF8740"/>
                </a:solidFill>
                <a:latin typeface="Arial"/>
                <a:cs typeface="Arial"/>
              </a:rPr>
              <a:t> </a:t>
            </a:r>
            <a:r>
              <a:rPr sz="2800" u="heavy" spc="-5" dirty="0">
                <a:solidFill>
                  <a:srgbClr val="3399FF"/>
                </a:solidFill>
                <a:uFill>
                  <a:solidFill>
                    <a:srgbClr val="3399FF"/>
                  </a:solidFill>
                </a:uFill>
                <a:latin typeface="Arial"/>
                <a:cs typeface="Arial"/>
              </a:rPr>
              <a:t>100</a:t>
            </a:r>
            <a:endParaRPr sz="2800">
              <a:latin typeface="Arial"/>
              <a:cs typeface="Arial"/>
            </a:endParaRPr>
          </a:p>
          <a:p>
            <a:pPr marL="307340">
              <a:lnSpc>
                <a:spcPct val="100000"/>
              </a:lnSpc>
              <a:spcBef>
                <a:spcPts val="2670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依据：</a:t>
            </a: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100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求反加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仍为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100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，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其它</a:t>
            </a:r>
            <a:r>
              <a:rPr sz="2800" spc="10" dirty="0">
                <a:solidFill>
                  <a:srgbClr val="FF0000"/>
                </a:solidFill>
                <a:latin typeface="微软雅黑"/>
                <a:cs typeface="微软雅黑"/>
              </a:rPr>
              <a:t>位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求反</a:t>
            </a:r>
            <a:r>
              <a:rPr sz="2800" spc="10" dirty="0">
                <a:solidFill>
                  <a:srgbClr val="FF0000"/>
                </a:solidFill>
                <a:latin typeface="微软雅黑"/>
                <a:cs typeface="微软雅黑"/>
              </a:rPr>
              <a:t>不</a:t>
            </a: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变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5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6</a:t>
            </a:fld>
            <a:endParaRPr spc="-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264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补充概念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48640" y="982653"/>
            <a:ext cx="6428105" cy="28956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81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反码又称</a:t>
            </a:r>
            <a:r>
              <a:rPr sz="2800" spc="-15" dirty="0">
                <a:solidFill>
                  <a:srgbClr val="0033CC"/>
                </a:solidFill>
                <a:latin typeface="微软雅黑"/>
                <a:cs typeface="微软雅黑"/>
              </a:rPr>
              <a:t>为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的补码（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1’s</a:t>
            </a:r>
            <a:r>
              <a:rPr sz="2800" spc="1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complement)</a:t>
            </a:r>
            <a:endParaRPr sz="2800">
              <a:latin typeface="Arial"/>
              <a:cs typeface="Arial"/>
            </a:endParaRPr>
          </a:p>
          <a:p>
            <a:pPr marL="865505" lvl="1" indent="-370840">
              <a:lnSpc>
                <a:spcPct val="100000"/>
              </a:lnSpc>
              <a:spcBef>
                <a:spcPts val="615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865505" algn="l"/>
                <a:tab pos="866140" algn="l"/>
              </a:tabLst>
            </a:pP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-1-N</a:t>
            </a:r>
            <a:endParaRPr sz="24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25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补码又称</a:t>
            </a:r>
            <a:r>
              <a:rPr sz="2800" spc="-15" dirty="0">
                <a:solidFill>
                  <a:srgbClr val="0033CC"/>
                </a:solidFill>
                <a:latin typeface="微软雅黑"/>
                <a:cs typeface="微软雅黑"/>
              </a:rPr>
              <a:t>为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的补码（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2’s</a:t>
            </a:r>
            <a:r>
              <a:rPr sz="2800" spc="1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complement)</a:t>
            </a:r>
            <a:endParaRPr sz="2800">
              <a:latin typeface="Arial"/>
              <a:cs typeface="Arial"/>
            </a:endParaRPr>
          </a:p>
          <a:p>
            <a:pPr marL="865505" lvl="1" indent="-370840">
              <a:lnSpc>
                <a:spcPct val="100000"/>
              </a:lnSpc>
              <a:spcBef>
                <a:spcPts val="620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865505" algn="l"/>
                <a:tab pos="866140" algn="l"/>
              </a:tabLst>
            </a:pP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endParaRPr sz="2400">
              <a:latin typeface="Arial"/>
              <a:cs typeface="Arial"/>
            </a:endParaRPr>
          </a:p>
          <a:p>
            <a:pPr marL="865505" lvl="1" indent="-37084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865505" algn="l"/>
                <a:tab pos="866140" algn="l"/>
              </a:tabLst>
            </a:pP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N+(N)</a:t>
            </a:r>
            <a:r>
              <a:rPr sz="2400" spc="-7" baseline="-20833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=N+ 2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-N=2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endParaRPr sz="2400" baseline="24305">
              <a:latin typeface="Arial"/>
              <a:cs typeface="Arial"/>
            </a:endParaRPr>
          </a:p>
          <a:p>
            <a:pPr marL="838200" lvl="1" indent="-343535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838200" algn="l"/>
                <a:tab pos="838835" algn="l"/>
              </a:tabLst>
            </a:pP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((N)</a:t>
            </a:r>
            <a:r>
              <a:rPr sz="2400" spc="-7" baseline="-20833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)</a:t>
            </a:r>
            <a:r>
              <a:rPr sz="2400" spc="-7" baseline="-20833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=N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符号数的补码表示法</a:t>
            </a:r>
          </a:p>
        </p:txBody>
      </p:sp>
      <p:sp>
        <p:nvSpPr>
          <p:cNvPr id="3" name="object 3"/>
          <p:cNvSpPr/>
          <p:nvPr/>
        </p:nvSpPr>
        <p:spPr>
          <a:xfrm>
            <a:off x="1537702" y="4146286"/>
            <a:ext cx="7043192" cy="10345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59052" y="4669510"/>
            <a:ext cx="7002018" cy="464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24000" y="2503932"/>
            <a:ext cx="7070598" cy="17305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59052" y="3189719"/>
            <a:ext cx="7002018" cy="4655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24000" y="1024127"/>
            <a:ext cx="7070598" cy="17305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59052" y="1711426"/>
            <a:ext cx="7002018" cy="4640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847214" y="1122425"/>
            <a:ext cx="6433185" cy="395668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45"/>
              </a:spcBef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符号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50"/>
              </a:spcBef>
            </a:pPr>
            <a:r>
              <a:rPr sz="2400" spc="-10" dirty="0">
                <a:latin typeface="Arial"/>
                <a:cs typeface="Arial"/>
              </a:rPr>
              <a:t>1</a:t>
            </a:r>
            <a:r>
              <a:rPr sz="2400" dirty="0">
                <a:latin typeface="微软雅黑"/>
                <a:cs typeface="微软雅黑"/>
              </a:rPr>
              <a:t>位二进制数表示符号</a:t>
            </a:r>
            <a:r>
              <a:rPr sz="2400" spc="-15" dirty="0">
                <a:latin typeface="微软雅黑"/>
                <a:cs typeface="微软雅黑"/>
              </a:rPr>
              <a:t>：</a:t>
            </a:r>
            <a:r>
              <a:rPr sz="2400" spc="-15" dirty="0">
                <a:latin typeface="Arial"/>
                <a:cs typeface="Arial"/>
              </a:rPr>
              <a:t>0</a:t>
            </a:r>
            <a:r>
              <a:rPr sz="2400" dirty="0">
                <a:latin typeface="微软雅黑"/>
                <a:cs typeface="微软雅黑"/>
              </a:rPr>
              <a:t>表示正数</a:t>
            </a:r>
            <a:r>
              <a:rPr sz="2400" spc="-5" dirty="0">
                <a:latin typeface="微软雅黑"/>
                <a:cs typeface="微软雅黑"/>
              </a:rPr>
              <a:t>，</a:t>
            </a:r>
            <a:r>
              <a:rPr sz="2400" spc="-5" dirty="0">
                <a:latin typeface="Arial"/>
                <a:cs typeface="Arial"/>
              </a:rPr>
              <a:t>1</a:t>
            </a:r>
            <a:r>
              <a:rPr sz="2400" dirty="0">
                <a:latin typeface="微软雅黑"/>
                <a:cs typeface="微软雅黑"/>
              </a:rPr>
              <a:t>表示负数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数值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2400" dirty="0">
                <a:latin typeface="微软雅黑"/>
                <a:cs typeface="微软雅黑"/>
              </a:rPr>
              <a:t>正数用原码表示，负数用该数绝对值的补码表示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符号位置</a:t>
            </a:r>
            <a:endParaRPr sz="24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944"/>
              </a:spcBef>
            </a:pPr>
            <a:r>
              <a:rPr sz="2400" dirty="0">
                <a:latin typeface="微软雅黑"/>
                <a:cs typeface="微软雅黑"/>
              </a:rPr>
              <a:t>符号放在最高位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7303" y="5201050"/>
            <a:ext cx="2357120" cy="108140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695"/>
              </a:spcBef>
            </a:pPr>
            <a:r>
              <a:rPr sz="3200" u="heavy" spc="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0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0</a:t>
            </a:r>
            <a:r>
              <a:rPr sz="3200" u="heavy" spc="8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010</a:t>
            </a:r>
            <a:r>
              <a:rPr sz="3200" u="heavy" spc="-15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11</a:t>
            </a:r>
            <a:r>
              <a:rPr sz="3200" u="heavy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  <a:tabLst>
                <a:tab pos="1570990" algn="l"/>
              </a:tabLst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符号	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原码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490467" y="5517007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59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90467" y="5603621"/>
            <a:ext cx="323850" cy="0"/>
          </a:xfrm>
          <a:custGeom>
            <a:avLst/>
            <a:gdLst/>
            <a:ahLst/>
            <a:cxnLst/>
            <a:rect l="l" t="t" r="r" b="b"/>
            <a:pathLst>
              <a:path w="323850">
                <a:moveTo>
                  <a:pt x="0" y="0"/>
                </a:moveTo>
                <a:lnTo>
                  <a:pt x="32359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90467" y="5488178"/>
            <a:ext cx="323850" cy="57785"/>
          </a:xfrm>
          <a:custGeom>
            <a:avLst/>
            <a:gdLst/>
            <a:ahLst/>
            <a:cxnLst/>
            <a:rect l="l" t="t" r="r" b="b"/>
            <a:pathLst>
              <a:path w="323850" h="57785">
                <a:moveTo>
                  <a:pt x="0" y="0"/>
                </a:moveTo>
                <a:lnTo>
                  <a:pt x="323596" y="0"/>
                </a:lnTo>
                <a:lnTo>
                  <a:pt x="32359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90467" y="5574791"/>
            <a:ext cx="323850" cy="57785"/>
          </a:xfrm>
          <a:custGeom>
            <a:avLst/>
            <a:gdLst/>
            <a:ahLst/>
            <a:cxnLst/>
            <a:rect l="l" t="t" r="r" b="b"/>
            <a:pathLst>
              <a:path w="323850" h="57785">
                <a:moveTo>
                  <a:pt x="0" y="0"/>
                </a:moveTo>
                <a:lnTo>
                  <a:pt x="323596" y="0"/>
                </a:lnTo>
                <a:lnTo>
                  <a:pt x="32359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99686" y="5314289"/>
            <a:ext cx="751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5" dirty="0">
                <a:solidFill>
                  <a:srgbClr val="FF0000"/>
                </a:solidFill>
                <a:latin typeface="Arial"/>
                <a:cs typeface="Arial"/>
              </a:rPr>
              <a:t>+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23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04153" y="5276494"/>
            <a:ext cx="18529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9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Arial"/>
                <a:cs typeface="Arial"/>
              </a:rPr>
              <a:t>1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0</a:t>
            </a:r>
            <a:r>
              <a:rPr sz="3200" u="heavy" spc="8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010</a:t>
            </a:r>
            <a:r>
              <a:rPr sz="3200" u="heavy" spc="-155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11</a:t>
            </a:r>
            <a:r>
              <a:rPr sz="3200" u="heavy" dirty="0">
                <a:solidFill>
                  <a:srgbClr val="3333CC"/>
                </a:solidFill>
                <a:uFill>
                  <a:solidFill>
                    <a:srgbClr val="0000FF"/>
                  </a:solidFill>
                </a:u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861427" y="5517007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32486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61427" y="5603621"/>
            <a:ext cx="325120" cy="0"/>
          </a:xfrm>
          <a:custGeom>
            <a:avLst/>
            <a:gdLst/>
            <a:ahLst/>
            <a:cxnLst/>
            <a:rect l="l" t="t" r="r" b="b"/>
            <a:pathLst>
              <a:path w="325120">
                <a:moveTo>
                  <a:pt x="0" y="0"/>
                </a:moveTo>
                <a:lnTo>
                  <a:pt x="324866" y="0"/>
                </a:lnTo>
              </a:path>
            </a:pathLst>
          </a:custGeom>
          <a:ln w="5765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861427" y="5488178"/>
            <a:ext cx="325120" cy="57785"/>
          </a:xfrm>
          <a:custGeom>
            <a:avLst/>
            <a:gdLst/>
            <a:ahLst/>
            <a:cxnLst/>
            <a:rect l="l" t="t" r="r" b="b"/>
            <a:pathLst>
              <a:path w="325120" h="57785">
                <a:moveTo>
                  <a:pt x="0" y="0"/>
                </a:moveTo>
                <a:lnTo>
                  <a:pt x="324866" y="0"/>
                </a:lnTo>
                <a:lnTo>
                  <a:pt x="32486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861427" y="5574791"/>
            <a:ext cx="325120" cy="57785"/>
          </a:xfrm>
          <a:custGeom>
            <a:avLst/>
            <a:gdLst/>
            <a:ahLst/>
            <a:cxnLst/>
            <a:rect l="l" t="t" r="r" b="b"/>
            <a:pathLst>
              <a:path w="325120" h="57785">
                <a:moveTo>
                  <a:pt x="0" y="0"/>
                </a:moveTo>
                <a:lnTo>
                  <a:pt x="324866" y="0"/>
                </a:lnTo>
                <a:lnTo>
                  <a:pt x="324866" y="57658"/>
                </a:lnTo>
                <a:lnTo>
                  <a:pt x="0" y="57658"/>
                </a:lnTo>
                <a:lnTo>
                  <a:pt x="0" y="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472296" y="5314289"/>
            <a:ext cx="8864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5" dirty="0">
                <a:solidFill>
                  <a:srgbClr val="FF0000"/>
                </a:solidFill>
                <a:latin typeface="Arial"/>
                <a:cs typeface="Arial"/>
              </a:rPr>
              <a:t>-</a:t>
            </a:r>
            <a:r>
              <a:rPr sz="3200" spc="85" dirty="0">
                <a:solidFill>
                  <a:srgbClr val="3333CC"/>
                </a:solidFill>
                <a:latin typeface="Arial"/>
                <a:cs typeface="Arial"/>
              </a:rPr>
              <a:t>105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7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8</a:t>
            </a:fld>
            <a:endParaRPr spc="-5" dirty="0"/>
          </a:p>
        </p:txBody>
      </p:sp>
      <p:sp>
        <p:nvSpPr>
          <p:cNvPr id="22" name="object 22"/>
          <p:cNvSpPr txBox="1"/>
          <p:nvPr/>
        </p:nvSpPr>
        <p:spPr>
          <a:xfrm>
            <a:off x="5296027" y="5823610"/>
            <a:ext cx="30575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3765" algn="l"/>
              </a:tabLst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符号	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绝对值的补码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0622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符号数的补码表示法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9</a:t>
            </a:fld>
            <a:endParaRPr spc="-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8950" y="1739010"/>
          <a:ext cx="8915400" cy="3413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719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b="1" spc="-5" dirty="0">
                          <a:solidFill>
                            <a:srgbClr val="001F5F"/>
                          </a:solidFill>
                          <a:latin typeface="微软雅黑"/>
                          <a:cs typeface="微软雅黑"/>
                        </a:rPr>
                        <a:t>十进制表示</a:t>
                      </a:r>
                      <a:endParaRPr sz="2200">
                        <a:latin typeface="微软雅黑"/>
                        <a:cs typeface="微软雅黑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b="1" spc="-5" dirty="0">
                          <a:solidFill>
                            <a:srgbClr val="001F5F"/>
                          </a:solidFill>
                          <a:latin typeface="微软雅黑"/>
                          <a:cs typeface="微软雅黑"/>
                        </a:rPr>
                        <a:t>二进制</a:t>
                      </a:r>
                      <a:endParaRPr sz="2200">
                        <a:latin typeface="微软雅黑"/>
                        <a:cs typeface="微软雅黑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200" b="1" spc="-5" dirty="0">
                          <a:solidFill>
                            <a:srgbClr val="001F5F"/>
                          </a:solidFill>
                          <a:latin typeface="微软雅黑"/>
                          <a:cs typeface="微软雅黑"/>
                        </a:rPr>
                        <a:t>补码表示法</a:t>
                      </a:r>
                      <a:endParaRPr sz="2200">
                        <a:latin typeface="微软雅黑"/>
                        <a:cs typeface="微软雅黑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28575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(+37)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0100101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0100101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28575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(-37)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2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0100101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6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200" spc="-6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1011011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(+0)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(-0)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2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(+127)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2200" spc="-15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1111111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200" spc="-15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0</a:t>
                      </a:r>
                      <a:r>
                        <a:rPr sz="2200" spc="-15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1111111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(-127)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200" spc="-10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200" spc="-17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1111111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0000001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19">
                <a:tc>
                  <a:txBody>
                    <a:bodyPr/>
                    <a:lstStyle/>
                    <a:p>
                      <a:pPr marL="10058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(-128)</a:t>
                      </a:r>
                      <a:r>
                        <a:rPr sz="2175" baseline="-21072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2175" baseline="-21072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10000000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064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200" spc="-5" dirty="0">
                          <a:solidFill>
                            <a:srgbClr val="FF000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2200" spc="-5" dirty="0">
                          <a:solidFill>
                            <a:srgbClr val="001F5F"/>
                          </a:solidFill>
                          <a:latin typeface="Arial"/>
                          <a:cs typeface="Arial"/>
                        </a:rPr>
                        <a:t>0000000</a:t>
                      </a:r>
                      <a:endParaRPr sz="22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C9AA"/>
                      </a:solidFill>
                      <a:prstDash val="solid"/>
                    </a:lnL>
                    <a:lnR w="12700">
                      <a:solidFill>
                        <a:srgbClr val="FFC9AA"/>
                      </a:solidFill>
                      <a:prstDash val="solid"/>
                    </a:lnR>
                    <a:lnT w="12700">
                      <a:solidFill>
                        <a:srgbClr val="FFC9AA"/>
                      </a:solidFill>
                      <a:prstDash val="solid"/>
                    </a:lnT>
                    <a:lnB w="12700">
                      <a:solidFill>
                        <a:srgbClr val="FFC9AA"/>
                      </a:solidFill>
                      <a:prstDash val="solid"/>
                    </a:lnB>
                    <a:solidFill>
                      <a:srgbClr val="FFC9AA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67334" y="1145793"/>
            <a:ext cx="5603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例：数据位宽</a:t>
            </a:r>
            <a:r>
              <a:rPr sz="2800" spc="-5" dirty="0">
                <a:solidFill>
                  <a:srgbClr val="12046E"/>
                </a:solidFill>
                <a:latin typeface="Arial"/>
                <a:cs typeface="Arial"/>
              </a:rPr>
              <a:t>n=8</a:t>
            </a: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，最高</a:t>
            </a:r>
            <a:r>
              <a:rPr sz="2800" dirty="0">
                <a:solidFill>
                  <a:srgbClr val="12046E"/>
                </a:solidFill>
                <a:latin typeface="微软雅黑"/>
                <a:cs typeface="微软雅黑"/>
              </a:rPr>
              <a:t>位</a:t>
            </a: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为符</a:t>
            </a:r>
            <a:r>
              <a:rPr sz="2800" spc="10" dirty="0">
                <a:solidFill>
                  <a:srgbClr val="12046E"/>
                </a:solidFill>
                <a:latin typeface="微软雅黑"/>
                <a:cs typeface="微软雅黑"/>
              </a:rPr>
              <a:t>号</a:t>
            </a:r>
            <a:r>
              <a:rPr sz="2800" spc="-5" dirty="0">
                <a:solidFill>
                  <a:srgbClr val="12046E"/>
                </a:solidFill>
                <a:latin typeface="微软雅黑"/>
                <a:cs typeface="微软雅黑"/>
              </a:rPr>
              <a:t>位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40" y="5113426"/>
            <a:ext cx="8818245" cy="12084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139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位数字采用补码可表示的数据范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围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：</a:t>
            </a:r>
            <a:r>
              <a:rPr sz="2800" spc="-10" dirty="0">
                <a:solidFill>
                  <a:srgbClr val="3333CC"/>
                </a:solidFill>
                <a:latin typeface="微软雅黑"/>
                <a:cs typeface="微软雅黑"/>
              </a:rPr>
              <a:t>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-(2</a:t>
            </a:r>
            <a:r>
              <a:rPr sz="2775" baseline="25525" dirty="0">
                <a:solidFill>
                  <a:srgbClr val="3333CC"/>
                </a:solidFill>
                <a:latin typeface="Arial"/>
                <a:cs typeface="Arial"/>
              </a:rPr>
              <a:t>n-1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)~+(2</a:t>
            </a:r>
            <a:r>
              <a:rPr sz="2775" baseline="25525" dirty="0">
                <a:solidFill>
                  <a:srgbClr val="3333CC"/>
                </a:solidFill>
                <a:latin typeface="Arial"/>
                <a:cs typeface="Arial"/>
              </a:rPr>
              <a:t>n-1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-1)</a:t>
            </a:r>
            <a:endParaRPr sz="28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295"/>
              </a:spcBef>
            </a:pPr>
            <a:r>
              <a:rPr sz="2100" dirty="0">
                <a:solidFill>
                  <a:srgbClr val="FF6600"/>
                </a:solidFill>
                <a:latin typeface="Wingdings"/>
                <a:cs typeface="Wingdings"/>
              </a:rPr>
              <a:t></a:t>
            </a:r>
            <a:r>
              <a:rPr sz="2100" spc="295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+0</a:t>
            </a:r>
            <a:r>
              <a:rPr sz="2800" spc="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和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-0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的表示方法相同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62150" y="2388870"/>
            <a:ext cx="144780" cy="288290"/>
          </a:xfrm>
          <a:custGeom>
            <a:avLst/>
            <a:gdLst/>
            <a:ahLst/>
            <a:cxnLst/>
            <a:rect l="l" t="t" r="r" b="b"/>
            <a:pathLst>
              <a:path w="144780" h="288289">
                <a:moveTo>
                  <a:pt x="120650" y="0"/>
                </a:moveTo>
                <a:lnTo>
                  <a:pt x="24130" y="0"/>
                </a:lnTo>
                <a:lnTo>
                  <a:pt x="14733" y="1895"/>
                </a:lnTo>
                <a:lnTo>
                  <a:pt x="7064" y="7064"/>
                </a:lnTo>
                <a:lnTo>
                  <a:pt x="1895" y="14733"/>
                </a:lnTo>
                <a:lnTo>
                  <a:pt x="0" y="24129"/>
                </a:lnTo>
                <a:lnTo>
                  <a:pt x="0" y="263905"/>
                </a:lnTo>
                <a:lnTo>
                  <a:pt x="1895" y="273302"/>
                </a:lnTo>
                <a:lnTo>
                  <a:pt x="7064" y="280971"/>
                </a:lnTo>
                <a:lnTo>
                  <a:pt x="14733" y="286140"/>
                </a:lnTo>
                <a:lnTo>
                  <a:pt x="24130" y="288035"/>
                </a:lnTo>
                <a:lnTo>
                  <a:pt x="120650" y="288035"/>
                </a:lnTo>
                <a:lnTo>
                  <a:pt x="130046" y="286140"/>
                </a:lnTo>
                <a:lnTo>
                  <a:pt x="137715" y="280971"/>
                </a:lnTo>
                <a:lnTo>
                  <a:pt x="142884" y="273302"/>
                </a:lnTo>
                <a:lnTo>
                  <a:pt x="144780" y="263905"/>
                </a:lnTo>
                <a:lnTo>
                  <a:pt x="144780" y="24129"/>
                </a:lnTo>
                <a:lnTo>
                  <a:pt x="142884" y="14733"/>
                </a:lnTo>
                <a:lnTo>
                  <a:pt x="137715" y="7064"/>
                </a:lnTo>
                <a:lnTo>
                  <a:pt x="130046" y="1895"/>
                </a:lnTo>
                <a:lnTo>
                  <a:pt x="1206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62150" y="2388870"/>
            <a:ext cx="144780" cy="288290"/>
          </a:xfrm>
          <a:custGeom>
            <a:avLst/>
            <a:gdLst/>
            <a:ahLst/>
            <a:cxnLst/>
            <a:rect l="l" t="t" r="r" b="b"/>
            <a:pathLst>
              <a:path w="144780" h="288289">
                <a:moveTo>
                  <a:pt x="0" y="24129"/>
                </a:moveTo>
                <a:lnTo>
                  <a:pt x="1895" y="14733"/>
                </a:lnTo>
                <a:lnTo>
                  <a:pt x="7064" y="7064"/>
                </a:lnTo>
                <a:lnTo>
                  <a:pt x="14733" y="1895"/>
                </a:lnTo>
                <a:lnTo>
                  <a:pt x="24130" y="0"/>
                </a:lnTo>
                <a:lnTo>
                  <a:pt x="120650" y="0"/>
                </a:lnTo>
                <a:lnTo>
                  <a:pt x="130046" y="1895"/>
                </a:lnTo>
                <a:lnTo>
                  <a:pt x="137715" y="7064"/>
                </a:lnTo>
                <a:lnTo>
                  <a:pt x="142884" y="14733"/>
                </a:lnTo>
                <a:lnTo>
                  <a:pt x="144780" y="24129"/>
                </a:lnTo>
                <a:lnTo>
                  <a:pt x="144780" y="263905"/>
                </a:lnTo>
                <a:lnTo>
                  <a:pt x="142884" y="273302"/>
                </a:lnTo>
                <a:lnTo>
                  <a:pt x="137715" y="280971"/>
                </a:lnTo>
                <a:lnTo>
                  <a:pt x="130046" y="286140"/>
                </a:lnTo>
                <a:lnTo>
                  <a:pt x="120650" y="288035"/>
                </a:lnTo>
                <a:lnTo>
                  <a:pt x="24130" y="288035"/>
                </a:lnTo>
                <a:lnTo>
                  <a:pt x="14733" y="286140"/>
                </a:lnTo>
                <a:lnTo>
                  <a:pt x="7064" y="280971"/>
                </a:lnTo>
                <a:lnTo>
                  <a:pt x="1895" y="273302"/>
                </a:lnTo>
                <a:lnTo>
                  <a:pt x="0" y="263905"/>
                </a:lnTo>
                <a:lnTo>
                  <a:pt x="0" y="24129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94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问</a:t>
            </a:r>
            <a:r>
              <a:rPr dirty="0"/>
              <a:t>题</a:t>
            </a:r>
            <a:r>
              <a:rPr dirty="0">
                <a:latin typeface="Times New Roman"/>
                <a:cs typeface="Times New Roman"/>
              </a:rPr>
              <a:t>1</a:t>
            </a:r>
            <a:r>
              <a:rPr dirty="0"/>
              <a:t>：</a:t>
            </a:r>
            <a:r>
              <a:rPr spc="5" dirty="0"/>
              <a:t>如何求</a:t>
            </a:r>
            <a:r>
              <a:rPr spc="5" dirty="0">
                <a:highlight>
                  <a:srgbClr val="FFFF00"/>
                </a:highlight>
              </a:rPr>
              <a:t>有</a:t>
            </a:r>
            <a:r>
              <a:rPr spc="-10" dirty="0">
                <a:highlight>
                  <a:srgbClr val="FFFF00"/>
                </a:highlight>
              </a:rPr>
              <a:t>符号</a:t>
            </a:r>
            <a:r>
              <a:rPr spc="5" dirty="0">
                <a:highlight>
                  <a:srgbClr val="FFFF00"/>
                </a:highlight>
              </a:rPr>
              <a:t>数的</a:t>
            </a:r>
            <a:r>
              <a:rPr spc="-15" dirty="0">
                <a:highlight>
                  <a:srgbClr val="FFFF00"/>
                </a:highlight>
              </a:rPr>
              <a:t>相</a:t>
            </a:r>
            <a:r>
              <a:rPr spc="5" dirty="0">
                <a:highlight>
                  <a:srgbClr val="FFFF00"/>
                </a:highlight>
              </a:rPr>
              <a:t>反</a:t>
            </a:r>
            <a:r>
              <a:rPr dirty="0">
                <a:highlight>
                  <a:srgbClr val="FFFF00"/>
                </a:highlight>
              </a:rPr>
              <a:t>数</a:t>
            </a:r>
            <a:r>
              <a:rPr spc="5" dirty="0">
                <a:solidFill>
                  <a:srgbClr val="666699"/>
                </a:solidFill>
              </a:rPr>
              <a:t>？</a:t>
            </a:r>
          </a:p>
        </p:txBody>
      </p:sp>
      <p:sp>
        <p:nvSpPr>
          <p:cNvPr id="9" name="object 9"/>
          <p:cNvSpPr/>
          <p:nvPr/>
        </p:nvSpPr>
        <p:spPr>
          <a:xfrm>
            <a:off x="489966" y="1701545"/>
            <a:ext cx="8784590" cy="504825"/>
          </a:xfrm>
          <a:custGeom>
            <a:avLst/>
            <a:gdLst/>
            <a:ahLst/>
            <a:cxnLst/>
            <a:rect l="l" t="t" r="r" b="b"/>
            <a:pathLst>
              <a:path w="8784590" h="504825">
                <a:moveTo>
                  <a:pt x="0" y="57403"/>
                </a:moveTo>
                <a:lnTo>
                  <a:pt x="4509" y="35040"/>
                </a:lnTo>
                <a:lnTo>
                  <a:pt x="16806" y="16795"/>
                </a:lnTo>
                <a:lnTo>
                  <a:pt x="35045" y="4504"/>
                </a:lnTo>
                <a:lnTo>
                  <a:pt x="57378" y="0"/>
                </a:lnTo>
                <a:lnTo>
                  <a:pt x="8726932" y="0"/>
                </a:lnTo>
                <a:lnTo>
                  <a:pt x="8749295" y="4504"/>
                </a:lnTo>
                <a:lnTo>
                  <a:pt x="8767540" y="16795"/>
                </a:lnTo>
                <a:lnTo>
                  <a:pt x="8779831" y="35040"/>
                </a:lnTo>
                <a:lnTo>
                  <a:pt x="8784336" y="57403"/>
                </a:lnTo>
                <a:lnTo>
                  <a:pt x="8784336" y="447039"/>
                </a:lnTo>
                <a:lnTo>
                  <a:pt x="8779831" y="469403"/>
                </a:lnTo>
                <a:lnTo>
                  <a:pt x="8767540" y="487648"/>
                </a:lnTo>
                <a:lnTo>
                  <a:pt x="8749295" y="499939"/>
                </a:lnTo>
                <a:lnTo>
                  <a:pt x="8726932" y="504443"/>
                </a:lnTo>
                <a:lnTo>
                  <a:pt x="57378" y="504443"/>
                </a:lnTo>
                <a:lnTo>
                  <a:pt x="35045" y="499939"/>
                </a:lnTo>
                <a:lnTo>
                  <a:pt x="16806" y="487648"/>
                </a:lnTo>
                <a:lnTo>
                  <a:pt x="4509" y="469403"/>
                </a:lnTo>
                <a:lnTo>
                  <a:pt x="0" y="447039"/>
                </a:lnTo>
                <a:lnTo>
                  <a:pt x="0" y="5740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4098" y="1716786"/>
            <a:ext cx="56134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baseline="-4273" dirty="0">
                <a:solidFill>
                  <a:srgbClr val="006FC0"/>
                </a:solidFill>
                <a:latin typeface="微软雅黑"/>
                <a:cs typeface="微软雅黑"/>
              </a:rPr>
              <a:t>原码表示法</a:t>
            </a:r>
            <a:r>
              <a:rPr sz="3900" spc="-644" baseline="-4273" dirty="0">
                <a:solidFill>
                  <a:srgbClr val="006FC0"/>
                </a:solidFill>
                <a:latin typeface="微软雅黑"/>
                <a:cs typeface="微软雅黑"/>
              </a:rPr>
              <a:t>：</a:t>
            </a:r>
            <a:r>
              <a:rPr sz="2400" dirty="0">
                <a:latin typeface="微软雅黑"/>
                <a:cs typeface="微软雅黑"/>
              </a:rPr>
              <a:t>将符号位取反，其余位不变</a:t>
            </a:r>
          </a:p>
        </p:txBody>
      </p:sp>
      <p:sp>
        <p:nvSpPr>
          <p:cNvPr id="11" name="object 11"/>
          <p:cNvSpPr/>
          <p:nvPr/>
        </p:nvSpPr>
        <p:spPr>
          <a:xfrm>
            <a:off x="2502245" y="1049917"/>
            <a:ext cx="557359" cy="5649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41191" y="1158239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90">
                <a:moveTo>
                  <a:pt x="9017" y="72009"/>
                </a:moveTo>
                <a:lnTo>
                  <a:pt x="0" y="72009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9"/>
                </a:lnTo>
                <a:close/>
              </a:path>
              <a:path w="431800" h="288290">
                <a:moveTo>
                  <a:pt x="36068" y="72009"/>
                </a:moveTo>
                <a:lnTo>
                  <a:pt x="18034" y="72009"/>
                </a:lnTo>
                <a:lnTo>
                  <a:pt x="18034" y="216026"/>
                </a:lnTo>
                <a:lnTo>
                  <a:pt x="36068" y="216026"/>
                </a:lnTo>
                <a:lnTo>
                  <a:pt x="36068" y="72009"/>
                </a:lnTo>
                <a:close/>
              </a:path>
              <a:path w="431800" h="288290">
                <a:moveTo>
                  <a:pt x="287274" y="0"/>
                </a:moveTo>
                <a:lnTo>
                  <a:pt x="287274" y="72009"/>
                </a:lnTo>
                <a:lnTo>
                  <a:pt x="44958" y="72009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6"/>
                </a:lnTo>
                <a:lnTo>
                  <a:pt x="431292" y="144018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36620" y="1225677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69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54653" y="1225677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4" h="153669">
                <a:moveTo>
                  <a:pt x="0" y="153162"/>
                </a:moveTo>
                <a:lnTo>
                  <a:pt x="27178" y="153162"/>
                </a:lnTo>
                <a:lnTo>
                  <a:pt x="27178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86150" y="1158239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90">
                <a:moveTo>
                  <a:pt x="0" y="72009"/>
                </a:moveTo>
                <a:lnTo>
                  <a:pt x="242315" y="72009"/>
                </a:lnTo>
                <a:lnTo>
                  <a:pt x="242315" y="0"/>
                </a:lnTo>
                <a:lnTo>
                  <a:pt x="386334" y="144018"/>
                </a:lnTo>
                <a:lnTo>
                  <a:pt x="242315" y="288036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24435" y="1049917"/>
            <a:ext cx="749275" cy="5649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218176" y="1117079"/>
            <a:ext cx="482371" cy="6286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81527" y="2348483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6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76955" y="2415920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69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94989" y="2415920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69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26485" y="2348483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6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998976" y="2236469"/>
            <a:ext cx="2443480" cy="89026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2400" spc="-15" dirty="0">
                <a:latin typeface="Arial"/>
                <a:cs typeface="Arial"/>
              </a:rPr>
              <a:t>-A=(-3)</a:t>
            </a:r>
            <a:r>
              <a:rPr sz="2400" spc="-22" baseline="-20833" dirty="0">
                <a:latin typeface="Arial"/>
                <a:cs typeface="Arial"/>
              </a:rPr>
              <a:t>10</a:t>
            </a:r>
            <a:r>
              <a:rPr sz="2400" spc="-15" dirty="0">
                <a:latin typeface="Arial"/>
                <a:cs typeface="Arial"/>
              </a:rPr>
              <a:t>=(</a:t>
            </a:r>
            <a:r>
              <a:rPr sz="2400" spc="-1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2400" spc="-15" dirty="0">
                <a:latin typeface="Arial"/>
                <a:cs typeface="Arial"/>
              </a:rPr>
              <a:t>011)</a:t>
            </a:r>
            <a:r>
              <a:rPr sz="2400" spc="-22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2400" spc="-5" dirty="0">
                <a:latin typeface="Arial"/>
                <a:cs typeface="Arial"/>
              </a:rPr>
              <a:t>-B=(2)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592" baseline="-20833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=(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2400" spc="-5" dirty="0">
                <a:latin typeface="Arial"/>
                <a:cs typeface="Arial"/>
              </a:rPr>
              <a:t>010)</a:t>
            </a:r>
            <a:r>
              <a:rPr sz="2400" spc="-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81527" y="2781300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9"/>
                </a:moveTo>
                <a:lnTo>
                  <a:pt x="0" y="72009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9"/>
                </a:lnTo>
                <a:close/>
              </a:path>
              <a:path w="431800" h="288289">
                <a:moveTo>
                  <a:pt x="35941" y="72009"/>
                </a:moveTo>
                <a:lnTo>
                  <a:pt x="18034" y="72009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9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9"/>
                </a:lnTo>
                <a:lnTo>
                  <a:pt x="44958" y="72009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6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76955" y="2848736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69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94989" y="2848736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69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126485" y="2781300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9"/>
                </a:moveTo>
                <a:lnTo>
                  <a:pt x="242315" y="72009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6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40814" y="2820161"/>
            <a:ext cx="143510" cy="288290"/>
          </a:xfrm>
          <a:custGeom>
            <a:avLst/>
            <a:gdLst/>
            <a:ahLst/>
            <a:cxnLst/>
            <a:rect l="l" t="t" r="r" b="b"/>
            <a:pathLst>
              <a:path w="143510" h="288289">
                <a:moveTo>
                  <a:pt x="119380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4"/>
                </a:lnTo>
                <a:lnTo>
                  <a:pt x="1873" y="14573"/>
                </a:lnTo>
                <a:lnTo>
                  <a:pt x="0" y="23875"/>
                </a:lnTo>
                <a:lnTo>
                  <a:pt x="0" y="264160"/>
                </a:lnTo>
                <a:lnTo>
                  <a:pt x="1873" y="273462"/>
                </a:lnTo>
                <a:lnTo>
                  <a:pt x="6985" y="281050"/>
                </a:lnTo>
                <a:lnTo>
                  <a:pt x="14573" y="286162"/>
                </a:lnTo>
                <a:lnTo>
                  <a:pt x="23875" y="288036"/>
                </a:lnTo>
                <a:lnTo>
                  <a:pt x="119380" y="288036"/>
                </a:lnTo>
                <a:lnTo>
                  <a:pt x="128682" y="286162"/>
                </a:lnTo>
                <a:lnTo>
                  <a:pt x="136270" y="281050"/>
                </a:lnTo>
                <a:lnTo>
                  <a:pt x="141382" y="273462"/>
                </a:lnTo>
                <a:lnTo>
                  <a:pt x="143256" y="264160"/>
                </a:lnTo>
                <a:lnTo>
                  <a:pt x="143256" y="23875"/>
                </a:lnTo>
                <a:lnTo>
                  <a:pt x="141382" y="14573"/>
                </a:lnTo>
                <a:lnTo>
                  <a:pt x="136270" y="6984"/>
                </a:lnTo>
                <a:lnTo>
                  <a:pt x="128682" y="1873"/>
                </a:lnTo>
                <a:lnTo>
                  <a:pt x="1193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40814" y="2820161"/>
            <a:ext cx="143510" cy="288290"/>
          </a:xfrm>
          <a:custGeom>
            <a:avLst/>
            <a:gdLst/>
            <a:ahLst/>
            <a:cxnLst/>
            <a:rect l="l" t="t" r="r" b="b"/>
            <a:pathLst>
              <a:path w="143510" h="288289">
                <a:moveTo>
                  <a:pt x="0" y="23875"/>
                </a:moveTo>
                <a:lnTo>
                  <a:pt x="1873" y="14573"/>
                </a:lnTo>
                <a:lnTo>
                  <a:pt x="6985" y="6984"/>
                </a:lnTo>
                <a:lnTo>
                  <a:pt x="14573" y="1873"/>
                </a:lnTo>
                <a:lnTo>
                  <a:pt x="23875" y="0"/>
                </a:lnTo>
                <a:lnTo>
                  <a:pt x="119380" y="0"/>
                </a:lnTo>
                <a:lnTo>
                  <a:pt x="128682" y="1873"/>
                </a:lnTo>
                <a:lnTo>
                  <a:pt x="136270" y="6984"/>
                </a:lnTo>
                <a:lnTo>
                  <a:pt x="141382" y="14573"/>
                </a:lnTo>
                <a:lnTo>
                  <a:pt x="143256" y="23875"/>
                </a:lnTo>
                <a:lnTo>
                  <a:pt x="143256" y="264160"/>
                </a:lnTo>
                <a:lnTo>
                  <a:pt x="141382" y="273462"/>
                </a:lnTo>
                <a:lnTo>
                  <a:pt x="136270" y="281050"/>
                </a:lnTo>
                <a:lnTo>
                  <a:pt x="128682" y="286162"/>
                </a:lnTo>
                <a:lnTo>
                  <a:pt x="119380" y="288036"/>
                </a:lnTo>
                <a:lnTo>
                  <a:pt x="23875" y="288036"/>
                </a:lnTo>
                <a:lnTo>
                  <a:pt x="14573" y="286162"/>
                </a:lnTo>
                <a:lnTo>
                  <a:pt x="6985" y="281050"/>
                </a:lnTo>
                <a:lnTo>
                  <a:pt x="1873" y="273462"/>
                </a:lnTo>
                <a:lnTo>
                  <a:pt x="0" y="264160"/>
                </a:lnTo>
                <a:lnTo>
                  <a:pt x="0" y="23875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41934" y="2236469"/>
            <a:ext cx="2331085" cy="89026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592" baseline="-20833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=(</a:t>
            </a:r>
            <a:r>
              <a:rPr sz="2400" spc="-25" dirty="0">
                <a:solidFill>
                  <a:srgbClr val="FF0000"/>
                </a:solidFill>
                <a:latin typeface="Arial"/>
                <a:cs typeface="Arial"/>
              </a:rPr>
              <a:t>0</a:t>
            </a:r>
            <a:r>
              <a:rPr sz="2400" spc="-25" dirty="0">
                <a:latin typeface="Arial"/>
                <a:cs typeface="Arial"/>
              </a:rPr>
              <a:t>011)</a:t>
            </a:r>
            <a:r>
              <a:rPr sz="2400" spc="-3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  <a:tabLst>
                <a:tab pos="1738630" algn="l"/>
              </a:tabLst>
            </a:pPr>
            <a:r>
              <a:rPr sz="2400" spc="-5" dirty="0">
                <a:latin typeface="Arial"/>
                <a:cs typeface="Arial"/>
              </a:rPr>
              <a:t>B=(-2)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-5" dirty="0">
                <a:latin typeface="Arial"/>
                <a:cs typeface="Arial"/>
              </a:rPr>
              <a:t>=(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1	</a:t>
            </a:r>
            <a:r>
              <a:rPr sz="2400" spc="-5" dirty="0">
                <a:latin typeface="Arial"/>
                <a:cs typeface="Arial"/>
              </a:rPr>
              <a:t>10)</a:t>
            </a:r>
            <a:r>
              <a:rPr sz="2400" spc="-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89966" y="3286505"/>
            <a:ext cx="8784590" cy="502920"/>
          </a:xfrm>
          <a:custGeom>
            <a:avLst/>
            <a:gdLst/>
            <a:ahLst/>
            <a:cxnLst/>
            <a:rect l="l" t="t" r="r" b="b"/>
            <a:pathLst>
              <a:path w="8784590" h="502920">
                <a:moveTo>
                  <a:pt x="0" y="57150"/>
                </a:moveTo>
                <a:lnTo>
                  <a:pt x="4496" y="34932"/>
                </a:lnTo>
                <a:lnTo>
                  <a:pt x="16757" y="16763"/>
                </a:lnTo>
                <a:lnTo>
                  <a:pt x="34943" y="4500"/>
                </a:lnTo>
                <a:lnTo>
                  <a:pt x="57213" y="0"/>
                </a:lnTo>
                <a:lnTo>
                  <a:pt x="8727186" y="0"/>
                </a:lnTo>
                <a:lnTo>
                  <a:pt x="8749403" y="4500"/>
                </a:lnTo>
                <a:lnTo>
                  <a:pt x="8767571" y="16763"/>
                </a:lnTo>
                <a:lnTo>
                  <a:pt x="8779835" y="34932"/>
                </a:lnTo>
                <a:lnTo>
                  <a:pt x="8784336" y="57150"/>
                </a:lnTo>
                <a:lnTo>
                  <a:pt x="8784336" y="445770"/>
                </a:lnTo>
                <a:lnTo>
                  <a:pt x="8779835" y="467987"/>
                </a:lnTo>
                <a:lnTo>
                  <a:pt x="8767571" y="486156"/>
                </a:lnTo>
                <a:lnTo>
                  <a:pt x="8749403" y="498419"/>
                </a:lnTo>
                <a:lnTo>
                  <a:pt x="8727186" y="502920"/>
                </a:lnTo>
                <a:lnTo>
                  <a:pt x="57213" y="502920"/>
                </a:lnTo>
                <a:lnTo>
                  <a:pt x="34943" y="498419"/>
                </a:lnTo>
                <a:lnTo>
                  <a:pt x="16757" y="486156"/>
                </a:lnTo>
                <a:lnTo>
                  <a:pt x="4496" y="467987"/>
                </a:lnTo>
                <a:lnTo>
                  <a:pt x="0" y="445770"/>
                </a:lnTo>
                <a:lnTo>
                  <a:pt x="0" y="5715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84098" y="3301365"/>
            <a:ext cx="77470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baseline="-3205" dirty="0">
                <a:solidFill>
                  <a:srgbClr val="006FC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反码表示法</a:t>
            </a:r>
            <a:r>
              <a:rPr sz="3900" spc="-644" baseline="-3205" dirty="0">
                <a:solidFill>
                  <a:srgbClr val="006FC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：</a:t>
            </a:r>
            <a:r>
              <a:rPr sz="2400" dirty="0">
                <a:highlight>
                  <a:srgbClr val="FFFF00"/>
                </a:highlight>
                <a:latin typeface="微软雅黑"/>
                <a:cs typeface="微软雅黑"/>
              </a:rPr>
              <a:t>将整个数值连同符号位一起取反（求反码）</a:t>
            </a:r>
          </a:p>
        </p:txBody>
      </p:sp>
      <p:sp>
        <p:nvSpPr>
          <p:cNvPr id="32" name="object 32"/>
          <p:cNvSpPr/>
          <p:nvPr/>
        </p:nvSpPr>
        <p:spPr>
          <a:xfrm>
            <a:off x="3081527" y="3933444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5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76955" y="4000880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4989" y="4000880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126485" y="3933444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5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41934" y="3820485"/>
            <a:ext cx="2320290" cy="89026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592" baseline="-20833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=(0011)</a:t>
            </a:r>
            <a:r>
              <a:rPr sz="2400" spc="-3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2400" spc="-15" dirty="0">
                <a:latin typeface="Arial"/>
                <a:cs typeface="Arial"/>
              </a:rPr>
              <a:t>B=(-2)</a:t>
            </a:r>
            <a:r>
              <a:rPr sz="2400" spc="-22" baseline="-20833" dirty="0">
                <a:latin typeface="Arial"/>
                <a:cs typeface="Arial"/>
              </a:rPr>
              <a:t>10</a:t>
            </a:r>
            <a:r>
              <a:rPr sz="2400" spc="-15" dirty="0">
                <a:latin typeface="Arial"/>
                <a:cs typeface="Arial"/>
              </a:rPr>
              <a:t>=(1101)</a:t>
            </a:r>
            <a:r>
              <a:rPr sz="2400" spc="-22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98976" y="3820485"/>
            <a:ext cx="2443480" cy="89026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400" spc="-15" dirty="0">
                <a:latin typeface="Arial"/>
                <a:cs typeface="Arial"/>
              </a:rPr>
              <a:t>-A=(-3)</a:t>
            </a:r>
            <a:r>
              <a:rPr sz="2400" spc="-22" baseline="-20833" dirty="0">
                <a:latin typeface="Arial"/>
                <a:cs typeface="Arial"/>
              </a:rPr>
              <a:t>10</a:t>
            </a:r>
            <a:r>
              <a:rPr sz="2400" spc="-15" dirty="0">
                <a:latin typeface="Arial"/>
                <a:cs typeface="Arial"/>
              </a:rPr>
              <a:t>=(1100)</a:t>
            </a:r>
            <a:r>
              <a:rPr sz="2400" spc="-22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Arial"/>
                <a:cs typeface="Arial"/>
              </a:rPr>
              <a:t>-B=(2)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15" baseline="-20833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=(0010)</a:t>
            </a:r>
            <a:r>
              <a:rPr sz="2400" spc="-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81527" y="4364735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6"/>
                </a:lnTo>
                <a:lnTo>
                  <a:pt x="431292" y="144018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76955" y="4432172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94989" y="4432172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126485" y="4364735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8"/>
                </a:lnTo>
                <a:lnTo>
                  <a:pt x="242315" y="288036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84098" y="4813503"/>
            <a:ext cx="878713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74735" algn="l"/>
              </a:tabLst>
            </a:pPr>
            <a:r>
              <a:rPr sz="3900" baseline="-3205" dirty="0">
                <a:solidFill>
                  <a:srgbClr val="006FC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补码表示法</a:t>
            </a:r>
            <a:r>
              <a:rPr sz="3900" spc="-637" baseline="-3205" dirty="0">
                <a:solidFill>
                  <a:srgbClr val="006FC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：</a:t>
            </a:r>
            <a:r>
              <a:rPr sz="2400" dirty="0">
                <a:highlight>
                  <a:srgbClr val="FFFF00"/>
                </a:highlight>
                <a:latin typeface="微软雅黑"/>
                <a:cs typeface="微软雅黑"/>
              </a:rPr>
              <a:t>将整个数值连同符号位一起取反</a:t>
            </a:r>
            <a:r>
              <a:rPr sz="2400" spc="5" dirty="0">
                <a:highlight>
                  <a:srgbClr val="FFFF00"/>
                </a:highlight>
                <a:latin typeface="微软雅黑"/>
                <a:cs typeface="微软雅黑"/>
              </a:rPr>
              <a:t>加</a:t>
            </a:r>
            <a:r>
              <a:rPr sz="2400" spc="-10" dirty="0">
                <a:highlight>
                  <a:srgbClr val="FFFF00"/>
                </a:highlight>
                <a:latin typeface="Arial"/>
                <a:cs typeface="Arial"/>
              </a:rPr>
              <a:t>1</a:t>
            </a:r>
            <a:r>
              <a:rPr sz="2400" dirty="0">
                <a:highlight>
                  <a:srgbClr val="FFFF00"/>
                </a:highlight>
                <a:latin typeface="微软雅黑"/>
                <a:cs typeface="微软雅黑"/>
              </a:rPr>
              <a:t>（求补码）</a:t>
            </a:r>
            <a:r>
              <a:rPr sz="2400" dirty="0">
                <a:latin typeface="微软雅黑"/>
                <a:cs typeface="微软雅黑"/>
              </a:rPr>
              <a:t>	</a:t>
            </a:r>
            <a:r>
              <a:rPr sz="2400" u="heavy" spc="175" dirty="0">
                <a:uFill>
                  <a:solidFill>
                    <a:srgbClr val="FF9900"/>
                  </a:solidFill>
                </a:uFill>
                <a:latin typeface="Times New Roman"/>
                <a:cs typeface="Times New Roman"/>
              </a:rPr>
              <a:t>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081527" y="5445252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9"/>
                </a:moveTo>
                <a:lnTo>
                  <a:pt x="0" y="72009"/>
                </a:lnTo>
                <a:lnTo>
                  <a:pt x="0" y="216027"/>
                </a:lnTo>
                <a:lnTo>
                  <a:pt x="9017" y="216027"/>
                </a:lnTo>
                <a:lnTo>
                  <a:pt x="9017" y="72009"/>
                </a:lnTo>
                <a:close/>
              </a:path>
              <a:path w="431800" h="288289">
                <a:moveTo>
                  <a:pt x="35941" y="72009"/>
                </a:moveTo>
                <a:lnTo>
                  <a:pt x="18034" y="72009"/>
                </a:lnTo>
                <a:lnTo>
                  <a:pt x="18034" y="216027"/>
                </a:lnTo>
                <a:lnTo>
                  <a:pt x="35941" y="216027"/>
                </a:lnTo>
                <a:lnTo>
                  <a:pt x="35941" y="72009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9"/>
                </a:lnTo>
                <a:lnTo>
                  <a:pt x="44958" y="72009"/>
                </a:lnTo>
                <a:lnTo>
                  <a:pt x="44958" y="216027"/>
                </a:lnTo>
                <a:lnTo>
                  <a:pt x="287274" y="216027"/>
                </a:lnTo>
                <a:lnTo>
                  <a:pt x="287274" y="288036"/>
                </a:lnTo>
                <a:lnTo>
                  <a:pt x="431292" y="144018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76955" y="5512689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94989" y="5512689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26485" y="5445252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9"/>
                </a:moveTo>
                <a:lnTo>
                  <a:pt x="242315" y="72009"/>
                </a:lnTo>
                <a:lnTo>
                  <a:pt x="242315" y="0"/>
                </a:lnTo>
                <a:lnTo>
                  <a:pt x="386334" y="144018"/>
                </a:lnTo>
                <a:lnTo>
                  <a:pt x="242315" y="288036"/>
                </a:lnTo>
                <a:lnTo>
                  <a:pt x="242315" y="216027"/>
                </a:lnTo>
                <a:lnTo>
                  <a:pt x="0" y="216027"/>
                </a:lnTo>
                <a:lnTo>
                  <a:pt x="0" y="7200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541934" y="5333491"/>
            <a:ext cx="232029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182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 </a:t>
            </a:r>
            <a:r>
              <a:rPr sz="2400" spc="-25" dirty="0">
                <a:latin typeface="Arial"/>
                <a:cs typeface="Arial"/>
              </a:rPr>
              <a:t>=(0011)</a:t>
            </a:r>
            <a:r>
              <a:rPr sz="2400" spc="-37" baseline="-20833" dirty="0">
                <a:latin typeface="Arial"/>
                <a:cs typeface="Arial"/>
              </a:rPr>
              <a:t>2  </a:t>
            </a:r>
            <a:r>
              <a:rPr sz="2400" spc="-25" dirty="0">
                <a:latin typeface="Arial"/>
                <a:cs typeface="Arial"/>
              </a:rPr>
              <a:t>B=(-2)</a:t>
            </a:r>
            <a:r>
              <a:rPr sz="2400" spc="-37" baseline="-20833" dirty="0">
                <a:latin typeface="Arial"/>
                <a:cs typeface="Arial"/>
              </a:rPr>
              <a:t>10</a:t>
            </a:r>
            <a:r>
              <a:rPr sz="2400" spc="-25" dirty="0">
                <a:latin typeface="Arial"/>
                <a:cs typeface="Arial"/>
              </a:rPr>
              <a:t>=(1110)</a:t>
            </a:r>
            <a:r>
              <a:rPr sz="2400" spc="-3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98976" y="5333491"/>
            <a:ext cx="2443480" cy="89026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2400" spc="-15" dirty="0">
                <a:latin typeface="Arial"/>
                <a:cs typeface="Arial"/>
              </a:rPr>
              <a:t>-A=(-3)</a:t>
            </a:r>
            <a:r>
              <a:rPr sz="2400" spc="-22" baseline="-20833" dirty="0">
                <a:latin typeface="Arial"/>
                <a:cs typeface="Arial"/>
              </a:rPr>
              <a:t>10</a:t>
            </a:r>
            <a:r>
              <a:rPr sz="2400" spc="-15" dirty="0">
                <a:latin typeface="Arial"/>
                <a:cs typeface="Arial"/>
              </a:rPr>
              <a:t>=(1101)</a:t>
            </a:r>
            <a:r>
              <a:rPr sz="2400" spc="-22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2400" spc="-5" dirty="0">
                <a:latin typeface="Arial"/>
                <a:cs typeface="Arial"/>
              </a:rPr>
              <a:t>-B=(2)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15" baseline="-20833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=(0010)</a:t>
            </a:r>
            <a:r>
              <a:rPr sz="2400" spc="-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081527" y="5876544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5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76955" y="5943980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94989" y="5943980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26485" y="5876544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5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166606" y="6472929"/>
            <a:ext cx="16573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</a:rPr>
              <a:t>36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77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spc="5" dirty="0"/>
              <a:t>问</a:t>
            </a:r>
            <a:r>
              <a:rPr dirty="0"/>
              <a:t>题</a:t>
            </a:r>
            <a:r>
              <a:rPr dirty="0">
                <a:latin typeface="Times New Roman"/>
                <a:cs typeface="Times New Roman"/>
              </a:rPr>
              <a:t>2</a:t>
            </a:r>
            <a:r>
              <a:rPr spc="5" dirty="0"/>
              <a:t>：如何</a:t>
            </a:r>
            <a:r>
              <a:rPr spc="5" dirty="0">
                <a:highlight>
                  <a:srgbClr val="FFFF00"/>
                </a:highlight>
              </a:rPr>
              <a:t>扩展</a:t>
            </a:r>
            <a:r>
              <a:rPr spc="-10" dirty="0">
                <a:highlight>
                  <a:srgbClr val="FFFF00"/>
                </a:highlight>
              </a:rPr>
              <a:t>数据</a:t>
            </a:r>
            <a:r>
              <a:rPr spc="5" dirty="0">
                <a:highlight>
                  <a:srgbClr val="FFFF00"/>
                </a:highlight>
              </a:rPr>
              <a:t>的宽度</a:t>
            </a:r>
            <a:r>
              <a:rPr dirty="0"/>
              <a:t>	</a:t>
            </a:r>
          </a:p>
        </p:txBody>
      </p:sp>
      <p:sp>
        <p:nvSpPr>
          <p:cNvPr id="7" name="object 7"/>
          <p:cNvSpPr/>
          <p:nvPr/>
        </p:nvSpPr>
        <p:spPr>
          <a:xfrm>
            <a:off x="489966" y="1701545"/>
            <a:ext cx="8784590" cy="504825"/>
          </a:xfrm>
          <a:custGeom>
            <a:avLst/>
            <a:gdLst/>
            <a:ahLst/>
            <a:cxnLst/>
            <a:rect l="l" t="t" r="r" b="b"/>
            <a:pathLst>
              <a:path w="8784590" h="504825">
                <a:moveTo>
                  <a:pt x="0" y="57403"/>
                </a:moveTo>
                <a:lnTo>
                  <a:pt x="4509" y="35040"/>
                </a:lnTo>
                <a:lnTo>
                  <a:pt x="16806" y="16795"/>
                </a:lnTo>
                <a:lnTo>
                  <a:pt x="35045" y="4504"/>
                </a:lnTo>
                <a:lnTo>
                  <a:pt x="57378" y="0"/>
                </a:lnTo>
                <a:lnTo>
                  <a:pt x="8726932" y="0"/>
                </a:lnTo>
                <a:lnTo>
                  <a:pt x="8749295" y="4504"/>
                </a:lnTo>
                <a:lnTo>
                  <a:pt x="8767540" y="16795"/>
                </a:lnTo>
                <a:lnTo>
                  <a:pt x="8779831" y="35040"/>
                </a:lnTo>
                <a:lnTo>
                  <a:pt x="8784336" y="57403"/>
                </a:lnTo>
                <a:lnTo>
                  <a:pt x="8784336" y="447039"/>
                </a:lnTo>
                <a:lnTo>
                  <a:pt x="8779831" y="469403"/>
                </a:lnTo>
                <a:lnTo>
                  <a:pt x="8767540" y="487648"/>
                </a:lnTo>
                <a:lnTo>
                  <a:pt x="8749295" y="499939"/>
                </a:lnTo>
                <a:lnTo>
                  <a:pt x="8726932" y="504443"/>
                </a:lnTo>
                <a:lnTo>
                  <a:pt x="57378" y="504443"/>
                </a:lnTo>
                <a:lnTo>
                  <a:pt x="35045" y="499939"/>
                </a:lnTo>
                <a:lnTo>
                  <a:pt x="16806" y="487648"/>
                </a:lnTo>
                <a:lnTo>
                  <a:pt x="4509" y="469403"/>
                </a:lnTo>
                <a:lnTo>
                  <a:pt x="0" y="447039"/>
                </a:lnTo>
                <a:lnTo>
                  <a:pt x="0" y="57403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4098" y="1716786"/>
            <a:ext cx="578358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baseline="-4273" dirty="0">
                <a:solidFill>
                  <a:srgbClr val="006FC0"/>
                </a:solidFill>
                <a:latin typeface="微软雅黑"/>
                <a:cs typeface="微软雅黑"/>
              </a:rPr>
              <a:t>原码表示法</a:t>
            </a:r>
            <a:r>
              <a:rPr sz="3900" spc="-644" baseline="-4273" dirty="0">
                <a:solidFill>
                  <a:srgbClr val="006FC0"/>
                </a:solidFill>
                <a:latin typeface="微软雅黑"/>
                <a:cs typeface="微软雅黑"/>
              </a:rPr>
              <a:t>：</a:t>
            </a:r>
            <a:r>
              <a:rPr sz="2400" dirty="0">
                <a:highlight>
                  <a:srgbClr val="FFFF00"/>
                </a:highlight>
                <a:latin typeface="微软雅黑"/>
                <a:cs typeface="微软雅黑"/>
              </a:rPr>
              <a:t>在符号位和数据位之间填</a:t>
            </a:r>
            <a:r>
              <a:rPr sz="2400" spc="5" dirty="0">
                <a:highlight>
                  <a:srgbClr val="FFFF00"/>
                </a:highlight>
                <a:latin typeface="微软雅黑"/>
                <a:cs typeface="微软雅黑"/>
              </a:rPr>
              <a:t>充</a:t>
            </a:r>
            <a:r>
              <a:rPr sz="2400" spc="-5" dirty="0">
                <a:highlight>
                  <a:srgbClr val="FFFF00"/>
                </a:highlight>
                <a:latin typeface="Arial"/>
                <a:cs typeface="Arial"/>
              </a:rPr>
              <a:t>0</a:t>
            </a:r>
            <a:endParaRPr sz="2400" dirty="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885126" y="1002741"/>
            <a:ext cx="999116" cy="6638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24783" y="1124711"/>
            <a:ext cx="433070" cy="288290"/>
          </a:xfrm>
          <a:custGeom>
            <a:avLst/>
            <a:gdLst/>
            <a:ahLst/>
            <a:cxnLst/>
            <a:rect l="l" t="t" r="r" b="b"/>
            <a:pathLst>
              <a:path w="433070" h="288290">
                <a:moveTo>
                  <a:pt x="9017" y="72009"/>
                </a:moveTo>
                <a:lnTo>
                  <a:pt x="0" y="72009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9"/>
                </a:lnTo>
                <a:close/>
              </a:path>
              <a:path w="433070" h="288290">
                <a:moveTo>
                  <a:pt x="35941" y="72009"/>
                </a:moveTo>
                <a:lnTo>
                  <a:pt x="18034" y="72009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9"/>
                </a:lnTo>
                <a:close/>
              </a:path>
              <a:path w="433070" h="288290">
                <a:moveTo>
                  <a:pt x="288798" y="0"/>
                </a:moveTo>
                <a:lnTo>
                  <a:pt x="288798" y="72009"/>
                </a:lnTo>
                <a:lnTo>
                  <a:pt x="44957" y="72009"/>
                </a:lnTo>
                <a:lnTo>
                  <a:pt x="44957" y="216026"/>
                </a:lnTo>
                <a:lnTo>
                  <a:pt x="288798" y="216026"/>
                </a:lnTo>
                <a:lnTo>
                  <a:pt x="288798" y="288036"/>
                </a:lnTo>
                <a:lnTo>
                  <a:pt x="432816" y="144017"/>
                </a:lnTo>
                <a:lnTo>
                  <a:pt x="28879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20211" y="1192149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69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38245" y="1192149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4" h="153669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269741" y="1124711"/>
            <a:ext cx="387985" cy="288290"/>
          </a:xfrm>
          <a:custGeom>
            <a:avLst/>
            <a:gdLst/>
            <a:ahLst/>
            <a:cxnLst/>
            <a:rect l="l" t="t" r="r" b="b"/>
            <a:pathLst>
              <a:path w="387985" h="288290">
                <a:moveTo>
                  <a:pt x="0" y="72009"/>
                </a:moveTo>
                <a:lnTo>
                  <a:pt x="243840" y="72009"/>
                </a:lnTo>
                <a:lnTo>
                  <a:pt x="243840" y="0"/>
                </a:lnTo>
                <a:lnTo>
                  <a:pt x="387858" y="144017"/>
                </a:lnTo>
                <a:lnTo>
                  <a:pt x="243840" y="288036"/>
                </a:lnTo>
                <a:lnTo>
                  <a:pt x="243840" y="216026"/>
                </a:lnTo>
                <a:lnTo>
                  <a:pt x="0" y="216026"/>
                </a:lnTo>
                <a:lnTo>
                  <a:pt x="0" y="7200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11752" y="1014983"/>
            <a:ext cx="1005090" cy="6819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649467" y="972299"/>
            <a:ext cx="483882" cy="63018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81527" y="2348483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6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76955" y="2415920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69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94989" y="2415920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69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126485" y="2348483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6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41934" y="2236469"/>
            <a:ext cx="2331085" cy="8902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18200"/>
              </a:lnSpc>
              <a:spcBef>
                <a:spcPts val="95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 </a:t>
            </a:r>
            <a:r>
              <a:rPr sz="2400" spc="-25" dirty="0">
                <a:latin typeface="Arial"/>
                <a:cs typeface="Arial"/>
              </a:rPr>
              <a:t>=(0011)</a:t>
            </a:r>
            <a:r>
              <a:rPr sz="2400" spc="-37" baseline="-20833" dirty="0">
                <a:latin typeface="Arial"/>
                <a:cs typeface="Arial"/>
              </a:rPr>
              <a:t>2  </a:t>
            </a:r>
            <a:r>
              <a:rPr sz="2400" dirty="0">
                <a:latin typeface="Arial"/>
                <a:cs typeface="Arial"/>
              </a:rPr>
              <a:t>B=(-</a:t>
            </a:r>
            <a:r>
              <a:rPr sz="2400" spc="-10" dirty="0">
                <a:latin typeface="Arial"/>
                <a:cs typeface="Arial"/>
              </a:rPr>
              <a:t>2</a:t>
            </a:r>
            <a:r>
              <a:rPr sz="2400" spc="-5" dirty="0">
                <a:latin typeface="Arial"/>
                <a:cs typeface="Arial"/>
              </a:rPr>
              <a:t>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-5" dirty="0">
                <a:latin typeface="Arial"/>
                <a:cs typeface="Arial"/>
              </a:rPr>
              <a:t>=(1010)</a:t>
            </a:r>
            <a:r>
              <a:rPr sz="2400" spc="-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81527" y="2781300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9"/>
                </a:moveTo>
                <a:lnTo>
                  <a:pt x="0" y="72009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9"/>
                </a:lnTo>
                <a:close/>
              </a:path>
              <a:path w="431800" h="288289">
                <a:moveTo>
                  <a:pt x="35941" y="72009"/>
                </a:moveTo>
                <a:lnTo>
                  <a:pt x="18034" y="72009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9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9"/>
                </a:lnTo>
                <a:lnTo>
                  <a:pt x="44958" y="72009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6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76955" y="2848736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69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4989" y="2848736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69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126485" y="2781300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9"/>
                </a:moveTo>
                <a:lnTo>
                  <a:pt x="242315" y="72009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6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9966" y="3286505"/>
            <a:ext cx="8784590" cy="502920"/>
          </a:xfrm>
          <a:custGeom>
            <a:avLst/>
            <a:gdLst/>
            <a:ahLst/>
            <a:cxnLst/>
            <a:rect l="l" t="t" r="r" b="b"/>
            <a:pathLst>
              <a:path w="8784590" h="502920">
                <a:moveTo>
                  <a:pt x="0" y="57150"/>
                </a:moveTo>
                <a:lnTo>
                  <a:pt x="4496" y="34932"/>
                </a:lnTo>
                <a:lnTo>
                  <a:pt x="16757" y="16763"/>
                </a:lnTo>
                <a:lnTo>
                  <a:pt x="34943" y="4500"/>
                </a:lnTo>
                <a:lnTo>
                  <a:pt x="57213" y="0"/>
                </a:lnTo>
                <a:lnTo>
                  <a:pt x="8727186" y="0"/>
                </a:lnTo>
                <a:lnTo>
                  <a:pt x="8749403" y="4500"/>
                </a:lnTo>
                <a:lnTo>
                  <a:pt x="8767571" y="16763"/>
                </a:lnTo>
                <a:lnTo>
                  <a:pt x="8779835" y="34932"/>
                </a:lnTo>
                <a:lnTo>
                  <a:pt x="8784336" y="57150"/>
                </a:lnTo>
                <a:lnTo>
                  <a:pt x="8784336" y="445770"/>
                </a:lnTo>
                <a:lnTo>
                  <a:pt x="8779835" y="467987"/>
                </a:lnTo>
                <a:lnTo>
                  <a:pt x="8767571" y="486156"/>
                </a:lnTo>
                <a:lnTo>
                  <a:pt x="8749403" y="498419"/>
                </a:lnTo>
                <a:lnTo>
                  <a:pt x="8727186" y="502920"/>
                </a:lnTo>
                <a:lnTo>
                  <a:pt x="57213" y="502920"/>
                </a:lnTo>
                <a:lnTo>
                  <a:pt x="34943" y="498419"/>
                </a:lnTo>
                <a:lnTo>
                  <a:pt x="16757" y="486156"/>
                </a:lnTo>
                <a:lnTo>
                  <a:pt x="4496" y="467987"/>
                </a:lnTo>
                <a:lnTo>
                  <a:pt x="0" y="445770"/>
                </a:lnTo>
                <a:lnTo>
                  <a:pt x="0" y="5715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4098" y="3301365"/>
            <a:ext cx="439420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baseline="-3205" dirty="0">
                <a:solidFill>
                  <a:srgbClr val="006FC0"/>
                </a:solidFill>
                <a:latin typeface="微软雅黑"/>
                <a:cs typeface="微软雅黑"/>
              </a:rPr>
              <a:t>反码表示法</a:t>
            </a:r>
            <a:r>
              <a:rPr sz="3900" spc="-644" baseline="-3205" dirty="0">
                <a:solidFill>
                  <a:srgbClr val="006FC0"/>
                </a:solidFill>
                <a:latin typeface="微软雅黑"/>
                <a:cs typeface="微软雅黑"/>
              </a:rPr>
              <a:t>：</a:t>
            </a:r>
            <a:r>
              <a:rPr sz="2400" dirty="0">
                <a:highlight>
                  <a:srgbClr val="FFFF00"/>
                </a:highlight>
                <a:latin typeface="微软雅黑"/>
                <a:cs typeface="微软雅黑"/>
              </a:rPr>
              <a:t>直接进行符号扩展</a:t>
            </a:r>
          </a:p>
        </p:txBody>
      </p:sp>
      <p:sp>
        <p:nvSpPr>
          <p:cNvPr id="27" name="object 27"/>
          <p:cNvSpPr/>
          <p:nvPr/>
        </p:nvSpPr>
        <p:spPr>
          <a:xfrm>
            <a:off x="3081527" y="3933444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5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76955" y="4000880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4989" y="4000880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26485" y="3933444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5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41934" y="3820485"/>
            <a:ext cx="2320290" cy="89026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592" baseline="-20833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=(0011)</a:t>
            </a:r>
            <a:r>
              <a:rPr sz="2400" spc="-3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0"/>
              </a:spcBef>
            </a:pPr>
            <a:r>
              <a:rPr sz="2400" spc="-15" dirty="0">
                <a:latin typeface="Arial"/>
                <a:cs typeface="Arial"/>
              </a:rPr>
              <a:t>B=(-2)</a:t>
            </a:r>
            <a:r>
              <a:rPr sz="2400" spc="-22" baseline="-20833" dirty="0">
                <a:latin typeface="Arial"/>
                <a:cs typeface="Arial"/>
              </a:rPr>
              <a:t>10</a:t>
            </a:r>
            <a:r>
              <a:rPr sz="2400" spc="-15" dirty="0">
                <a:latin typeface="Arial"/>
                <a:cs typeface="Arial"/>
              </a:rPr>
              <a:t>=(1101)</a:t>
            </a:r>
            <a:r>
              <a:rPr sz="2400" spc="-22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66032" y="3820485"/>
            <a:ext cx="3023870" cy="890269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5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15" baseline="-20833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=(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0000</a:t>
            </a:r>
            <a:r>
              <a:rPr sz="2400" spc="-20" dirty="0">
                <a:latin typeface="Arial"/>
                <a:cs typeface="Arial"/>
              </a:rPr>
              <a:t>0011)</a:t>
            </a:r>
            <a:r>
              <a:rPr sz="2400" spc="-30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520"/>
              </a:spcBef>
            </a:pPr>
            <a:r>
              <a:rPr sz="2400" spc="-5" dirty="0">
                <a:latin typeface="Arial"/>
                <a:cs typeface="Arial"/>
              </a:rPr>
              <a:t>B=(-2)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00" baseline="-20833" dirty="0">
                <a:latin typeface="Arial"/>
                <a:cs typeface="Arial"/>
              </a:rPr>
              <a:t> </a:t>
            </a:r>
            <a:r>
              <a:rPr sz="2400" spc="-80" dirty="0">
                <a:latin typeface="Arial"/>
                <a:cs typeface="Arial"/>
              </a:rPr>
              <a:t>=(</a:t>
            </a:r>
            <a:r>
              <a:rPr sz="2400" spc="-80" dirty="0">
                <a:solidFill>
                  <a:srgbClr val="FF0000"/>
                </a:solidFill>
                <a:latin typeface="Arial"/>
                <a:cs typeface="Arial"/>
              </a:rPr>
              <a:t>1111</a:t>
            </a:r>
            <a:r>
              <a:rPr sz="2400" spc="-80" dirty="0">
                <a:latin typeface="Arial"/>
                <a:cs typeface="Arial"/>
              </a:rPr>
              <a:t>1101)</a:t>
            </a:r>
            <a:r>
              <a:rPr sz="2400" spc="-120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081527" y="4364735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6"/>
                </a:lnTo>
                <a:lnTo>
                  <a:pt x="431292" y="144018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76955" y="4432172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94989" y="4432172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126485" y="4364735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8"/>
                </a:lnTo>
                <a:lnTo>
                  <a:pt x="242315" y="288036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89966" y="4798314"/>
            <a:ext cx="8784590" cy="502920"/>
          </a:xfrm>
          <a:custGeom>
            <a:avLst/>
            <a:gdLst/>
            <a:ahLst/>
            <a:cxnLst/>
            <a:rect l="l" t="t" r="r" b="b"/>
            <a:pathLst>
              <a:path w="8784590" h="502920">
                <a:moveTo>
                  <a:pt x="0" y="57150"/>
                </a:moveTo>
                <a:lnTo>
                  <a:pt x="4496" y="34932"/>
                </a:lnTo>
                <a:lnTo>
                  <a:pt x="16757" y="16764"/>
                </a:lnTo>
                <a:lnTo>
                  <a:pt x="34943" y="4500"/>
                </a:lnTo>
                <a:lnTo>
                  <a:pt x="57213" y="0"/>
                </a:lnTo>
                <a:lnTo>
                  <a:pt x="8727186" y="0"/>
                </a:lnTo>
                <a:lnTo>
                  <a:pt x="8749403" y="4500"/>
                </a:lnTo>
                <a:lnTo>
                  <a:pt x="8767571" y="16763"/>
                </a:lnTo>
                <a:lnTo>
                  <a:pt x="8779835" y="34932"/>
                </a:lnTo>
                <a:lnTo>
                  <a:pt x="8784336" y="57150"/>
                </a:lnTo>
                <a:lnTo>
                  <a:pt x="8784336" y="445770"/>
                </a:lnTo>
                <a:lnTo>
                  <a:pt x="8779835" y="467987"/>
                </a:lnTo>
                <a:lnTo>
                  <a:pt x="8767571" y="486156"/>
                </a:lnTo>
                <a:lnTo>
                  <a:pt x="8749403" y="498419"/>
                </a:lnTo>
                <a:lnTo>
                  <a:pt x="8727186" y="502920"/>
                </a:lnTo>
                <a:lnTo>
                  <a:pt x="57213" y="502920"/>
                </a:lnTo>
                <a:lnTo>
                  <a:pt x="34943" y="498419"/>
                </a:lnTo>
                <a:lnTo>
                  <a:pt x="16757" y="486156"/>
                </a:lnTo>
                <a:lnTo>
                  <a:pt x="4496" y="467987"/>
                </a:lnTo>
                <a:lnTo>
                  <a:pt x="0" y="445770"/>
                </a:lnTo>
                <a:lnTo>
                  <a:pt x="0" y="5715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84098" y="4813503"/>
            <a:ext cx="439420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00" baseline="-3205" dirty="0">
                <a:solidFill>
                  <a:srgbClr val="006FC0"/>
                </a:solidFill>
                <a:latin typeface="微软雅黑"/>
                <a:cs typeface="微软雅黑"/>
              </a:rPr>
              <a:t>补码表示法</a:t>
            </a:r>
            <a:r>
              <a:rPr sz="3900" spc="-637" baseline="-3205" dirty="0">
                <a:solidFill>
                  <a:srgbClr val="006FC0"/>
                </a:solidFill>
                <a:latin typeface="微软雅黑"/>
                <a:cs typeface="微软雅黑"/>
              </a:rPr>
              <a:t>：</a:t>
            </a:r>
            <a:r>
              <a:rPr sz="2400" dirty="0">
                <a:highlight>
                  <a:srgbClr val="FFFF00"/>
                </a:highlight>
                <a:latin typeface="微软雅黑"/>
                <a:cs typeface="微软雅黑"/>
              </a:rPr>
              <a:t>直接进行符号扩展</a:t>
            </a:r>
          </a:p>
        </p:txBody>
      </p:sp>
      <p:sp>
        <p:nvSpPr>
          <p:cNvPr id="39" name="object 39"/>
          <p:cNvSpPr/>
          <p:nvPr/>
        </p:nvSpPr>
        <p:spPr>
          <a:xfrm>
            <a:off x="3081527" y="5445252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9"/>
                </a:moveTo>
                <a:lnTo>
                  <a:pt x="0" y="72009"/>
                </a:lnTo>
                <a:lnTo>
                  <a:pt x="0" y="216027"/>
                </a:lnTo>
                <a:lnTo>
                  <a:pt x="9017" y="216027"/>
                </a:lnTo>
                <a:lnTo>
                  <a:pt x="9017" y="72009"/>
                </a:lnTo>
                <a:close/>
              </a:path>
              <a:path w="431800" h="288289">
                <a:moveTo>
                  <a:pt x="35941" y="72009"/>
                </a:moveTo>
                <a:lnTo>
                  <a:pt x="18034" y="72009"/>
                </a:lnTo>
                <a:lnTo>
                  <a:pt x="18034" y="216027"/>
                </a:lnTo>
                <a:lnTo>
                  <a:pt x="35941" y="216027"/>
                </a:lnTo>
                <a:lnTo>
                  <a:pt x="35941" y="72009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9"/>
                </a:lnTo>
                <a:lnTo>
                  <a:pt x="44958" y="72009"/>
                </a:lnTo>
                <a:lnTo>
                  <a:pt x="44958" y="216027"/>
                </a:lnTo>
                <a:lnTo>
                  <a:pt x="287274" y="216027"/>
                </a:lnTo>
                <a:lnTo>
                  <a:pt x="287274" y="288036"/>
                </a:lnTo>
                <a:lnTo>
                  <a:pt x="431292" y="144018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76955" y="5512689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94989" y="5512689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126485" y="5445252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9"/>
                </a:moveTo>
                <a:lnTo>
                  <a:pt x="242315" y="72009"/>
                </a:lnTo>
                <a:lnTo>
                  <a:pt x="242315" y="0"/>
                </a:lnTo>
                <a:lnTo>
                  <a:pt x="386334" y="144018"/>
                </a:lnTo>
                <a:lnTo>
                  <a:pt x="242315" y="288036"/>
                </a:lnTo>
                <a:lnTo>
                  <a:pt x="242315" y="216027"/>
                </a:lnTo>
                <a:lnTo>
                  <a:pt x="0" y="216027"/>
                </a:lnTo>
                <a:lnTo>
                  <a:pt x="0" y="7200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41934" y="5333491"/>
            <a:ext cx="2397760" cy="89026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00" baseline="-20833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=(0011)</a:t>
            </a:r>
            <a:r>
              <a:rPr sz="2400" spc="-37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25"/>
              </a:spcBef>
            </a:pPr>
            <a:r>
              <a:rPr sz="2400" spc="-5" dirty="0">
                <a:latin typeface="Arial"/>
                <a:cs typeface="Arial"/>
              </a:rPr>
              <a:t>B=(-2)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07" baseline="-20833" dirty="0">
                <a:latin typeface="Arial"/>
                <a:cs typeface="Arial"/>
              </a:rPr>
              <a:t> </a:t>
            </a:r>
            <a:r>
              <a:rPr sz="2400" spc="-50" dirty="0">
                <a:latin typeface="Arial"/>
                <a:cs typeface="Arial"/>
              </a:rPr>
              <a:t>=(1110)</a:t>
            </a:r>
            <a:r>
              <a:rPr sz="2400" spc="-75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066032" y="5333491"/>
            <a:ext cx="3001010" cy="890269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20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07" baseline="-20833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=(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0000</a:t>
            </a:r>
            <a:r>
              <a:rPr sz="2400" spc="-20" dirty="0">
                <a:latin typeface="Arial"/>
                <a:cs typeface="Arial"/>
              </a:rPr>
              <a:t>0011)</a:t>
            </a:r>
            <a:r>
              <a:rPr sz="2400" spc="-30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525"/>
              </a:spcBef>
            </a:pPr>
            <a:r>
              <a:rPr sz="2400" spc="-5" dirty="0">
                <a:latin typeface="Arial"/>
                <a:cs typeface="Arial"/>
              </a:rPr>
              <a:t>B=(-2)</a:t>
            </a:r>
            <a:r>
              <a:rPr sz="2400" spc="-7" baseline="-20833" dirty="0">
                <a:latin typeface="Arial"/>
                <a:cs typeface="Arial"/>
              </a:rPr>
              <a:t>10</a:t>
            </a:r>
            <a:r>
              <a:rPr sz="2400" spc="607" baseline="-20833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=(</a:t>
            </a:r>
            <a:r>
              <a:rPr sz="2400" spc="-95" dirty="0">
                <a:solidFill>
                  <a:srgbClr val="FF0000"/>
                </a:solidFill>
                <a:latin typeface="Arial"/>
                <a:cs typeface="Arial"/>
              </a:rPr>
              <a:t>1111</a:t>
            </a:r>
            <a:r>
              <a:rPr sz="2400" spc="-95" dirty="0">
                <a:latin typeface="Arial"/>
                <a:cs typeface="Arial"/>
              </a:rPr>
              <a:t>1110)</a:t>
            </a:r>
            <a:r>
              <a:rPr sz="2400" spc="-142" baseline="-20833" dirty="0">
                <a:latin typeface="Arial"/>
                <a:cs typeface="Arial"/>
              </a:rPr>
              <a:t>2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081527" y="5876544"/>
            <a:ext cx="431800" cy="288290"/>
          </a:xfrm>
          <a:custGeom>
            <a:avLst/>
            <a:gdLst/>
            <a:ahLst/>
            <a:cxnLst/>
            <a:rect l="l" t="t" r="r" b="b"/>
            <a:pathLst>
              <a:path w="431800" h="288289">
                <a:moveTo>
                  <a:pt x="9017" y="72008"/>
                </a:moveTo>
                <a:lnTo>
                  <a:pt x="0" y="72008"/>
                </a:lnTo>
                <a:lnTo>
                  <a:pt x="0" y="216026"/>
                </a:lnTo>
                <a:lnTo>
                  <a:pt x="9017" y="216026"/>
                </a:lnTo>
                <a:lnTo>
                  <a:pt x="9017" y="72008"/>
                </a:lnTo>
                <a:close/>
              </a:path>
              <a:path w="431800" h="288289">
                <a:moveTo>
                  <a:pt x="35941" y="72008"/>
                </a:moveTo>
                <a:lnTo>
                  <a:pt x="18034" y="72008"/>
                </a:lnTo>
                <a:lnTo>
                  <a:pt x="18034" y="216026"/>
                </a:lnTo>
                <a:lnTo>
                  <a:pt x="35941" y="216026"/>
                </a:lnTo>
                <a:lnTo>
                  <a:pt x="35941" y="72008"/>
                </a:lnTo>
                <a:close/>
              </a:path>
              <a:path w="431800" h="288289">
                <a:moveTo>
                  <a:pt x="287274" y="0"/>
                </a:moveTo>
                <a:lnTo>
                  <a:pt x="287274" y="72008"/>
                </a:lnTo>
                <a:lnTo>
                  <a:pt x="44958" y="72008"/>
                </a:lnTo>
                <a:lnTo>
                  <a:pt x="44958" y="216026"/>
                </a:lnTo>
                <a:lnTo>
                  <a:pt x="287274" y="216026"/>
                </a:lnTo>
                <a:lnTo>
                  <a:pt x="287274" y="288035"/>
                </a:lnTo>
                <a:lnTo>
                  <a:pt x="431292" y="144017"/>
                </a:lnTo>
                <a:lnTo>
                  <a:pt x="28727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76955" y="5943980"/>
            <a:ext cx="18415" cy="153670"/>
          </a:xfrm>
          <a:custGeom>
            <a:avLst/>
            <a:gdLst/>
            <a:ahLst/>
            <a:cxnLst/>
            <a:rect l="l" t="t" r="r" b="b"/>
            <a:pathLst>
              <a:path w="18414" h="153670">
                <a:moveTo>
                  <a:pt x="0" y="153162"/>
                </a:moveTo>
                <a:lnTo>
                  <a:pt x="18161" y="153162"/>
                </a:lnTo>
                <a:lnTo>
                  <a:pt x="18161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94989" y="5943980"/>
            <a:ext cx="27305" cy="153670"/>
          </a:xfrm>
          <a:custGeom>
            <a:avLst/>
            <a:gdLst/>
            <a:ahLst/>
            <a:cxnLst/>
            <a:rect l="l" t="t" r="r" b="b"/>
            <a:pathLst>
              <a:path w="27305" h="153670">
                <a:moveTo>
                  <a:pt x="0" y="153162"/>
                </a:moveTo>
                <a:lnTo>
                  <a:pt x="27050" y="153162"/>
                </a:lnTo>
                <a:lnTo>
                  <a:pt x="27050" y="0"/>
                </a:lnTo>
                <a:lnTo>
                  <a:pt x="0" y="0"/>
                </a:lnTo>
                <a:lnTo>
                  <a:pt x="0" y="1531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26485" y="5876544"/>
            <a:ext cx="386715" cy="288290"/>
          </a:xfrm>
          <a:custGeom>
            <a:avLst/>
            <a:gdLst/>
            <a:ahLst/>
            <a:cxnLst/>
            <a:rect l="l" t="t" r="r" b="b"/>
            <a:pathLst>
              <a:path w="386714" h="288289">
                <a:moveTo>
                  <a:pt x="0" y="72008"/>
                </a:moveTo>
                <a:lnTo>
                  <a:pt x="242315" y="72008"/>
                </a:lnTo>
                <a:lnTo>
                  <a:pt x="242315" y="0"/>
                </a:lnTo>
                <a:lnTo>
                  <a:pt x="386334" y="144017"/>
                </a:lnTo>
                <a:lnTo>
                  <a:pt x="242315" y="288035"/>
                </a:lnTo>
                <a:lnTo>
                  <a:pt x="242315" y="216026"/>
                </a:lnTo>
                <a:lnTo>
                  <a:pt x="0" y="216026"/>
                </a:lnTo>
                <a:lnTo>
                  <a:pt x="0" y="720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663946" y="2327910"/>
            <a:ext cx="658495" cy="360045"/>
          </a:xfrm>
          <a:custGeom>
            <a:avLst/>
            <a:gdLst/>
            <a:ahLst/>
            <a:cxnLst/>
            <a:rect l="l" t="t" r="r" b="b"/>
            <a:pathLst>
              <a:path w="658495" h="360044">
                <a:moveTo>
                  <a:pt x="598424" y="0"/>
                </a:moveTo>
                <a:lnTo>
                  <a:pt x="59943" y="0"/>
                </a:lnTo>
                <a:lnTo>
                  <a:pt x="36593" y="4704"/>
                </a:lnTo>
                <a:lnTo>
                  <a:pt x="17541" y="17541"/>
                </a:lnTo>
                <a:lnTo>
                  <a:pt x="4704" y="36593"/>
                </a:lnTo>
                <a:lnTo>
                  <a:pt x="0" y="59943"/>
                </a:lnTo>
                <a:lnTo>
                  <a:pt x="0" y="299719"/>
                </a:lnTo>
                <a:lnTo>
                  <a:pt x="4704" y="323070"/>
                </a:lnTo>
                <a:lnTo>
                  <a:pt x="17541" y="342122"/>
                </a:lnTo>
                <a:lnTo>
                  <a:pt x="36593" y="354959"/>
                </a:lnTo>
                <a:lnTo>
                  <a:pt x="59943" y="359663"/>
                </a:lnTo>
                <a:lnTo>
                  <a:pt x="598424" y="359663"/>
                </a:lnTo>
                <a:lnTo>
                  <a:pt x="621774" y="354959"/>
                </a:lnTo>
                <a:lnTo>
                  <a:pt x="640826" y="342122"/>
                </a:lnTo>
                <a:lnTo>
                  <a:pt x="653663" y="323070"/>
                </a:lnTo>
                <a:lnTo>
                  <a:pt x="658367" y="299719"/>
                </a:lnTo>
                <a:lnTo>
                  <a:pt x="658367" y="59943"/>
                </a:lnTo>
                <a:lnTo>
                  <a:pt x="653663" y="36593"/>
                </a:lnTo>
                <a:lnTo>
                  <a:pt x="640826" y="17541"/>
                </a:lnTo>
                <a:lnTo>
                  <a:pt x="621774" y="4704"/>
                </a:lnTo>
                <a:lnTo>
                  <a:pt x="5984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663946" y="2327910"/>
            <a:ext cx="658495" cy="360045"/>
          </a:xfrm>
          <a:custGeom>
            <a:avLst/>
            <a:gdLst/>
            <a:ahLst/>
            <a:cxnLst/>
            <a:rect l="l" t="t" r="r" b="b"/>
            <a:pathLst>
              <a:path w="658495" h="360044">
                <a:moveTo>
                  <a:pt x="0" y="59943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3" y="0"/>
                </a:lnTo>
                <a:lnTo>
                  <a:pt x="598424" y="0"/>
                </a:lnTo>
                <a:lnTo>
                  <a:pt x="621774" y="4704"/>
                </a:lnTo>
                <a:lnTo>
                  <a:pt x="640826" y="17541"/>
                </a:lnTo>
                <a:lnTo>
                  <a:pt x="653663" y="36593"/>
                </a:lnTo>
                <a:lnTo>
                  <a:pt x="658367" y="59943"/>
                </a:lnTo>
                <a:lnTo>
                  <a:pt x="658367" y="299719"/>
                </a:lnTo>
                <a:lnTo>
                  <a:pt x="653663" y="323070"/>
                </a:lnTo>
                <a:lnTo>
                  <a:pt x="640826" y="342122"/>
                </a:lnTo>
                <a:lnTo>
                  <a:pt x="621774" y="354959"/>
                </a:lnTo>
                <a:lnTo>
                  <a:pt x="598424" y="359663"/>
                </a:lnTo>
                <a:lnTo>
                  <a:pt x="59943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19"/>
                </a:lnTo>
                <a:lnTo>
                  <a:pt x="0" y="5994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668517" y="2762250"/>
            <a:ext cx="699770" cy="360045"/>
          </a:xfrm>
          <a:custGeom>
            <a:avLst/>
            <a:gdLst/>
            <a:ahLst/>
            <a:cxnLst/>
            <a:rect l="l" t="t" r="r" b="b"/>
            <a:pathLst>
              <a:path w="699770" h="360044">
                <a:moveTo>
                  <a:pt x="639572" y="0"/>
                </a:moveTo>
                <a:lnTo>
                  <a:pt x="59944" y="0"/>
                </a:lnTo>
                <a:lnTo>
                  <a:pt x="36593" y="4704"/>
                </a:lnTo>
                <a:lnTo>
                  <a:pt x="17541" y="17541"/>
                </a:lnTo>
                <a:lnTo>
                  <a:pt x="4704" y="36593"/>
                </a:lnTo>
                <a:lnTo>
                  <a:pt x="0" y="59944"/>
                </a:lnTo>
                <a:lnTo>
                  <a:pt x="0" y="299720"/>
                </a:lnTo>
                <a:lnTo>
                  <a:pt x="4704" y="323070"/>
                </a:lnTo>
                <a:lnTo>
                  <a:pt x="17541" y="342122"/>
                </a:lnTo>
                <a:lnTo>
                  <a:pt x="36593" y="354959"/>
                </a:lnTo>
                <a:lnTo>
                  <a:pt x="59944" y="359663"/>
                </a:lnTo>
                <a:lnTo>
                  <a:pt x="639572" y="359663"/>
                </a:lnTo>
                <a:lnTo>
                  <a:pt x="662922" y="354959"/>
                </a:lnTo>
                <a:lnTo>
                  <a:pt x="681974" y="342122"/>
                </a:lnTo>
                <a:lnTo>
                  <a:pt x="694811" y="323070"/>
                </a:lnTo>
                <a:lnTo>
                  <a:pt x="699516" y="299720"/>
                </a:lnTo>
                <a:lnTo>
                  <a:pt x="699516" y="59944"/>
                </a:lnTo>
                <a:lnTo>
                  <a:pt x="694811" y="36593"/>
                </a:lnTo>
                <a:lnTo>
                  <a:pt x="681974" y="17541"/>
                </a:lnTo>
                <a:lnTo>
                  <a:pt x="662922" y="4704"/>
                </a:lnTo>
                <a:lnTo>
                  <a:pt x="6395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668517" y="2762250"/>
            <a:ext cx="699770" cy="360045"/>
          </a:xfrm>
          <a:custGeom>
            <a:avLst/>
            <a:gdLst/>
            <a:ahLst/>
            <a:cxnLst/>
            <a:rect l="l" t="t" r="r" b="b"/>
            <a:pathLst>
              <a:path w="699770" h="360044">
                <a:moveTo>
                  <a:pt x="0" y="59944"/>
                </a:moveTo>
                <a:lnTo>
                  <a:pt x="4704" y="36593"/>
                </a:lnTo>
                <a:lnTo>
                  <a:pt x="17541" y="17541"/>
                </a:lnTo>
                <a:lnTo>
                  <a:pt x="36593" y="4704"/>
                </a:lnTo>
                <a:lnTo>
                  <a:pt x="59944" y="0"/>
                </a:lnTo>
                <a:lnTo>
                  <a:pt x="639572" y="0"/>
                </a:lnTo>
                <a:lnTo>
                  <a:pt x="662922" y="4704"/>
                </a:lnTo>
                <a:lnTo>
                  <a:pt x="681974" y="17541"/>
                </a:lnTo>
                <a:lnTo>
                  <a:pt x="694811" y="36593"/>
                </a:lnTo>
                <a:lnTo>
                  <a:pt x="699516" y="59944"/>
                </a:lnTo>
                <a:lnTo>
                  <a:pt x="699516" y="299720"/>
                </a:lnTo>
                <a:lnTo>
                  <a:pt x="694811" y="323070"/>
                </a:lnTo>
                <a:lnTo>
                  <a:pt x="681974" y="342122"/>
                </a:lnTo>
                <a:lnTo>
                  <a:pt x="662922" y="354959"/>
                </a:lnTo>
                <a:lnTo>
                  <a:pt x="639572" y="359663"/>
                </a:lnTo>
                <a:lnTo>
                  <a:pt x="59944" y="359663"/>
                </a:lnTo>
                <a:lnTo>
                  <a:pt x="36593" y="354959"/>
                </a:lnTo>
                <a:lnTo>
                  <a:pt x="17541" y="342122"/>
                </a:lnTo>
                <a:lnTo>
                  <a:pt x="4704" y="323070"/>
                </a:lnTo>
                <a:lnTo>
                  <a:pt x="0" y="299720"/>
                </a:lnTo>
                <a:lnTo>
                  <a:pt x="0" y="59944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019041" y="2236216"/>
            <a:ext cx="3122295" cy="89471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40"/>
              </a:spcBef>
            </a:pPr>
            <a:r>
              <a:rPr sz="2400" spc="-5" dirty="0">
                <a:latin typeface="Arial"/>
                <a:cs typeface="Arial"/>
              </a:rPr>
              <a:t>A=(3)</a:t>
            </a:r>
            <a:r>
              <a:rPr sz="2400" spc="-7" baseline="-19097" dirty="0">
                <a:latin typeface="Arial"/>
                <a:cs typeface="Arial"/>
              </a:rPr>
              <a:t>10</a:t>
            </a:r>
            <a:r>
              <a:rPr sz="2400" spc="607" baseline="-19097" dirty="0">
                <a:latin typeface="Arial"/>
                <a:cs typeface="Arial"/>
              </a:rPr>
              <a:t> </a:t>
            </a:r>
            <a:r>
              <a:rPr sz="2400" spc="-20" dirty="0">
                <a:latin typeface="Arial"/>
                <a:cs typeface="Arial"/>
              </a:rPr>
              <a:t>=(0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0000</a:t>
            </a:r>
            <a:r>
              <a:rPr sz="2400" spc="-20" dirty="0">
                <a:latin typeface="Arial"/>
                <a:cs typeface="Arial"/>
              </a:rPr>
              <a:t>011)</a:t>
            </a:r>
            <a:r>
              <a:rPr sz="2400" spc="-30" baseline="-19097" dirty="0">
                <a:latin typeface="Arial"/>
                <a:cs typeface="Arial"/>
              </a:rPr>
              <a:t>2</a:t>
            </a:r>
            <a:endParaRPr sz="2400" baseline="-19097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3600" spc="-7" baseline="1157" dirty="0">
                <a:latin typeface="Arial"/>
                <a:cs typeface="Arial"/>
              </a:rPr>
              <a:t>B=(-2)</a:t>
            </a:r>
            <a:r>
              <a:rPr sz="2400" spc="-7" baseline="-19097" dirty="0">
                <a:latin typeface="Arial"/>
                <a:cs typeface="Arial"/>
              </a:rPr>
              <a:t>10</a:t>
            </a:r>
            <a:r>
              <a:rPr sz="2400" spc="622" baseline="-19097" dirty="0">
                <a:latin typeface="Arial"/>
                <a:cs typeface="Arial"/>
              </a:rPr>
              <a:t> </a:t>
            </a:r>
            <a:r>
              <a:rPr sz="3600" spc="-7" baseline="1157" dirty="0">
                <a:latin typeface="Arial"/>
                <a:cs typeface="Arial"/>
              </a:rPr>
              <a:t>=(1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0000</a:t>
            </a:r>
            <a:r>
              <a:rPr sz="3600" spc="-7" baseline="1157" dirty="0">
                <a:latin typeface="Arial"/>
                <a:cs typeface="Arial"/>
              </a:rPr>
              <a:t>010)</a:t>
            </a:r>
            <a:r>
              <a:rPr sz="2400" spc="-7" baseline="-19097" dirty="0">
                <a:latin typeface="Arial"/>
                <a:cs typeface="Arial"/>
              </a:rPr>
              <a:t>2</a:t>
            </a:r>
            <a:endParaRPr sz="2400" baseline="-19097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7300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补码表示的符号数的加减运算</a:t>
            </a:r>
          </a:p>
        </p:txBody>
      </p:sp>
      <p:sp>
        <p:nvSpPr>
          <p:cNvPr id="3" name="object 3"/>
          <p:cNvSpPr/>
          <p:nvPr/>
        </p:nvSpPr>
        <p:spPr>
          <a:xfrm>
            <a:off x="496062" y="1270253"/>
            <a:ext cx="3162300" cy="1367155"/>
          </a:xfrm>
          <a:custGeom>
            <a:avLst/>
            <a:gdLst/>
            <a:ahLst/>
            <a:cxnLst/>
            <a:rect l="l" t="t" r="r" b="b"/>
            <a:pathLst>
              <a:path w="3162300" h="1367155">
                <a:moveTo>
                  <a:pt x="0" y="227837"/>
                </a:moveTo>
                <a:lnTo>
                  <a:pt x="4628" y="181913"/>
                </a:lnTo>
                <a:lnTo>
                  <a:pt x="17904" y="139142"/>
                </a:lnTo>
                <a:lnTo>
                  <a:pt x="38911" y="100440"/>
                </a:lnTo>
                <a:lnTo>
                  <a:pt x="66732" y="66722"/>
                </a:lnTo>
                <a:lnTo>
                  <a:pt x="100451" y="38904"/>
                </a:lnTo>
                <a:lnTo>
                  <a:pt x="139153" y="17901"/>
                </a:lnTo>
                <a:lnTo>
                  <a:pt x="181920" y="4627"/>
                </a:lnTo>
                <a:lnTo>
                  <a:pt x="227837" y="0"/>
                </a:lnTo>
                <a:lnTo>
                  <a:pt x="2934462" y="0"/>
                </a:lnTo>
                <a:lnTo>
                  <a:pt x="2980386" y="4627"/>
                </a:lnTo>
                <a:lnTo>
                  <a:pt x="3023157" y="17901"/>
                </a:lnTo>
                <a:lnTo>
                  <a:pt x="3061859" y="38904"/>
                </a:lnTo>
                <a:lnTo>
                  <a:pt x="3095577" y="66722"/>
                </a:lnTo>
                <a:lnTo>
                  <a:pt x="3123395" y="100440"/>
                </a:lnTo>
                <a:lnTo>
                  <a:pt x="3144398" y="139142"/>
                </a:lnTo>
                <a:lnTo>
                  <a:pt x="3157672" y="181913"/>
                </a:lnTo>
                <a:lnTo>
                  <a:pt x="3162300" y="227837"/>
                </a:lnTo>
                <a:lnTo>
                  <a:pt x="3162300" y="1139190"/>
                </a:lnTo>
                <a:lnTo>
                  <a:pt x="3157672" y="1185114"/>
                </a:lnTo>
                <a:lnTo>
                  <a:pt x="3144398" y="1227885"/>
                </a:lnTo>
                <a:lnTo>
                  <a:pt x="3123395" y="1266587"/>
                </a:lnTo>
                <a:lnTo>
                  <a:pt x="3095577" y="1300305"/>
                </a:lnTo>
                <a:lnTo>
                  <a:pt x="3061859" y="1328123"/>
                </a:lnTo>
                <a:lnTo>
                  <a:pt x="3023157" y="1349126"/>
                </a:lnTo>
                <a:lnTo>
                  <a:pt x="2980386" y="1362400"/>
                </a:lnTo>
                <a:lnTo>
                  <a:pt x="2934462" y="1367028"/>
                </a:lnTo>
                <a:lnTo>
                  <a:pt x="227837" y="1367028"/>
                </a:lnTo>
                <a:lnTo>
                  <a:pt x="181920" y="1362400"/>
                </a:lnTo>
                <a:lnTo>
                  <a:pt x="139153" y="1349126"/>
                </a:lnTo>
                <a:lnTo>
                  <a:pt x="100451" y="1328123"/>
                </a:lnTo>
                <a:lnTo>
                  <a:pt x="66732" y="1300305"/>
                </a:lnTo>
                <a:lnTo>
                  <a:pt x="38911" y="1266587"/>
                </a:lnTo>
                <a:lnTo>
                  <a:pt x="17904" y="1227885"/>
                </a:lnTo>
                <a:lnTo>
                  <a:pt x="4628" y="1185114"/>
                </a:lnTo>
                <a:lnTo>
                  <a:pt x="0" y="1139190"/>
                </a:lnTo>
                <a:lnTo>
                  <a:pt x="0" y="227837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40791" y="1353693"/>
            <a:ext cx="287528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8740"/>
                </a:solidFill>
                <a:latin typeface="微软雅黑"/>
                <a:cs typeface="微软雅黑"/>
              </a:rPr>
              <a:t>只需要</a:t>
            </a:r>
            <a:r>
              <a:rPr sz="3200" dirty="0">
                <a:solidFill>
                  <a:srgbClr val="FF874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加</a:t>
            </a:r>
            <a:r>
              <a:rPr sz="3200" spc="5" dirty="0">
                <a:solidFill>
                  <a:srgbClr val="FF874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法</a:t>
            </a:r>
            <a:r>
              <a:rPr sz="3200" dirty="0">
                <a:solidFill>
                  <a:srgbClr val="FF874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器就 </a:t>
            </a:r>
            <a:r>
              <a:rPr sz="3200" spc="5" dirty="0">
                <a:solidFill>
                  <a:srgbClr val="FF874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可完成加减</a:t>
            </a:r>
            <a:r>
              <a:rPr sz="3200" spc="-10" dirty="0">
                <a:solidFill>
                  <a:srgbClr val="FF874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运</a:t>
            </a:r>
            <a:r>
              <a:rPr sz="3200" spc="5" dirty="0">
                <a:solidFill>
                  <a:srgbClr val="FF874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算</a:t>
            </a:r>
            <a:endParaRPr sz="32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8001" y="2637282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080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8001" y="3286505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4">
                <a:moveTo>
                  <a:pt x="0" y="0"/>
                </a:moveTo>
                <a:lnTo>
                  <a:pt x="432054" y="0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8001" y="3286505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081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8001" y="3934205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4">
                <a:moveTo>
                  <a:pt x="0" y="0"/>
                </a:moveTo>
                <a:lnTo>
                  <a:pt x="432054" y="0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8001" y="3934205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081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78001" y="4581905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4">
                <a:moveTo>
                  <a:pt x="0" y="0"/>
                </a:moveTo>
                <a:lnTo>
                  <a:pt x="432054" y="0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78001" y="4581905"/>
            <a:ext cx="0" cy="648335"/>
          </a:xfrm>
          <a:custGeom>
            <a:avLst/>
            <a:gdLst/>
            <a:ahLst/>
            <a:cxnLst/>
            <a:rect l="l" t="t" r="r" b="b"/>
            <a:pathLst>
              <a:path h="648335">
                <a:moveTo>
                  <a:pt x="0" y="0"/>
                </a:moveTo>
                <a:lnTo>
                  <a:pt x="0" y="648081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8001" y="5229605"/>
            <a:ext cx="432434" cy="0"/>
          </a:xfrm>
          <a:custGeom>
            <a:avLst/>
            <a:gdLst/>
            <a:ahLst/>
            <a:cxnLst/>
            <a:rect l="l" t="t" r="r" b="b"/>
            <a:pathLst>
              <a:path w="432434">
                <a:moveTo>
                  <a:pt x="0" y="0"/>
                </a:moveTo>
                <a:lnTo>
                  <a:pt x="432054" y="0"/>
                </a:lnTo>
              </a:path>
            </a:pathLst>
          </a:custGeom>
          <a:ln w="38100">
            <a:solidFill>
              <a:srgbClr val="FF87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287525" y="2796057"/>
            <a:ext cx="2733040" cy="2632710"/>
          </a:xfrm>
          <a:prstGeom prst="rect">
            <a:avLst/>
          </a:prstGeom>
        </p:spPr>
        <p:txBody>
          <a:bodyPr vert="horz" wrap="square" lIns="0" tIns="2374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A+B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A-B = A +</a:t>
            </a:r>
            <a:r>
              <a:rPr sz="2800" spc="-4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(-B)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B-A =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(-A)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+</a:t>
            </a:r>
            <a:r>
              <a:rPr sz="2800" spc="-24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-A-B = (-A) +</a:t>
            </a:r>
            <a:r>
              <a:rPr sz="2800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3333CC"/>
                </a:solidFill>
                <a:latin typeface="Arial"/>
                <a:cs typeface="Arial"/>
              </a:rPr>
              <a:t>(-B)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326635" y="1392936"/>
            <a:ext cx="1225296" cy="766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34609" y="1535684"/>
            <a:ext cx="3224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节省硬件，降低成本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26635" y="2950464"/>
            <a:ext cx="1225296" cy="766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634609" y="3093542"/>
            <a:ext cx="32245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符号位直接参与运算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326635" y="4607052"/>
            <a:ext cx="1225296" cy="7665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634609" y="4750434"/>
            <a:ext cx="2868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结果仍为补码表示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28600"/>
            <a:ext cx="73005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补码表示的符号数的加减运算</a:t>
            </a:r>
          </a:p>
        </p:txBody>
      </p:sp>
      <p:sp>
        <p:nvSpPr>
          <p:cNvPr id="3" name="object 3"/>
          <p:cNvSpPr/>
          <p:nvPr/>
        </p:nvSpPr>
        <p:spPr>
          <a:xfrm>
            <a:off x="489966" y="2337054"/>
            <a:ext cx="8784590" cy="3889375"/>
          </a:xfrm>
          <a:custGeom>
            <a:avLst/>
            <a:gdLst/>
            <a:ahLst/>
            <a:cxnLst/>
            <a:rect l="l" t="t" r="r" b="b"/>
            <a:pathLst>
              <a:path w="8784590" h="3889375">
                <a:moveTo>
                  <a:pt x="0" y="168021"/>
                </a:moveTo>
                <a:lnTo>
                  <a:pt x="6002" y="123339"/>
                </a:lnTo>
                <a:lnTo>
                  <a:pt x="22942" y="83199"/>
                </a:lnTo>
                <a:lnTo>
                  <a:pt x="49218" y="49196"/>
                </a:lnTo>
                <a:lnTo>
                  <a:pt x="83229" y="22930"/>
                </a:lnTo>
                <a:lnTo>
                  <a:pt x="123372" y="5998"/>
                </a:lnTo>
                <a:lnTo>
                  <a:pt x="168046" y="0"/>
                </a:lnTo>
                <a:lnTo>
                  <a:pt x="8616315" y="0"/>
                </a:lnTo>
                <a:lnTo>
                  <a:pt x="8660996" y="5998"/>
                </a:lnTo>
                <a:lnTo>
                  <a:pt x="8701136" y="22930"/>
                </a:lnTo>
                <a:lnTo>
                  <a:pt x="8735139" y="49196"/>
                </a:lnTo>
                <a:lnTo>
                  <a:pt x="8761405" y="83199"/>
                </a:lnTo>
                <a:lnTo>
                  <a:pt x="8778337" y="123339"/>
                </a:lnTo>
                <a:lnTo>
                  <a:pt x="8784336" y="168021"/>
                </a:lnTo>
                <a:lnTo>
                  <a:pt x="8784336" y="3721201"/>
                </a:lnTo>
                <a:lnTo>
                  <a:pt x="8778337" y="3765875"/>
                </a:lnTo>
                <a:lnTo>
                  <a:pt x="8761405" y="3806018"/>
                </a:lnTo>
                <a:lnTo>
                  <a:pt x="8735139" y="3840029"/>
                </a:lnTo>
                <a:lnTo>
                  <a:pt x="8701136" y="3866305"/>
                </a:lnTo>
                <a:lnTo>
                  <a:pt x="8660996" y="3883245"/>
                </a:lnTo>
                <a:lnTo>
                  <a:pt x="8616315" y="3889248"/>
                </a:lnTo>
                <a:lnTo>
                  <a:pt x="168046" y="3889248"/>
                </a:lnTo>
                <a:lnTo>
                  <a:pt x="123372" y="3883245"/>
                </a:lnTo>
                <a:lnTo>
                  <a:pt x="83229" y="3866305"/>
                </a:lnTo>
                <a:lnTo>
                  <a:pt x="49218" y="3840029"/>
                </a:lnTo>
                <a:lnTo>
                  <a:pt x="22942" y="3806018"/>
                </a:lnTo>
                <a:lnTo>
                  <a:pt x="6002" y="3765875"/>
                </a:lnTo>
                <a:lnTo>
                  <a:pt x="0" y="3721201"/>
                </a:lnTo>
                <a:lnTo>
                  <a:pt x="0" y="168021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1007" y="2774696"/>
            <a:ext cx="146494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解：</a:t>
            </a:r>
            <a:r>
              <a:rPr sz="2400" dirty="0">
                <a:latin typeface="Arial"/>
                <a:cs typeface="Arial"/>
              </a:rPr>
              <a:t>(A)</a:t>
            </a:r>
            <a:r>
              <a:rPr sz="2400" spc="-7" baseline="-20833" dirty="0">
                <a:latin typeface="微软雅黑"/>
                <a:cs typeface="微软雅黑"/>
              </a:rPr>
              <a:t>补</a:t>
            </a:r>
            <a:r>
              <a:rPr sz="2400" spc="-7" baseline="-20833" dirty="0">
                <a:latin typeface="Arial"/>
                <a:cs typeface="Arial"/>
              </a:rPr>
              <a:t>.8</a:t>
            </a:r>
            <a:endParaRPr sz="2400" baseline="-20833">
              <a:latin typeface="Arial"/>
              <a:cs typeface="Arial"/>
            </a:endParaRPr>
          </a:p>
          <a:p>
            <a:pPr marR="31750" algn="r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Arial"/>
                <a:cs typeface="Arial"/>
              </a:rPr>
              <a:t>(-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-7" baseline="-20833" dirty="0">
                <a:latin typeface="微软雅黑"/>
                <a:cs typeface="微软雅黑"/>
              </a:rPr>
              <a:t>补</a:t>
            </a:r>
            <a:r>
              <a:rPr sz="2400" spc="-7" baseline="-20833" dirty="0">
                <a:latin typeface="Arial"/>
                <a:cs typeface="Arial"/>
              </a:rPr>
              <a:t>.8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7288" y="2774696"/>
            <a:ext cx="1703070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=</a:t>
            </a:r>
            <a:r>
              <a:rPr sz="2400" spc="-8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00010011,</a:t>
            </a:r>
            <a:endParaRPr sz="24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20"/>
              </a:spcBef>
            </a:pPr>
            <a:r>
              <a:rPr sz="2400" spc="-60" dirty="0">
                <a:latin typeface="Arial"/>
                <a:cs typeface="Arial"/>
              </a:rPr>
              <a:t>=11101101,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90669" y="2774696"/>
            <a:ext cx="261175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(B)</a:t>
            </a:r>
            <a:r>
              <a:rPr sz="2400" spc="-7" baseline="-20833" dirty="0">
                <a:latin typeface="微软雅黑"/>
                <a:cs typeface="微软雅黑"/>
              </a:rPr>
              <a:t>补</a:t>
            </a:r>
            <a:r>
              <a:rPr sz="2400" spc="-7" baseline="-20833" dirty="0">
                <a:latin typeface="Arial"/>
                <a:cs typeface="Arial"/>
              </a:rPr>
              <a:t>.8</a:t>
            </a:r>
            <a:r>
              <a:rPr sz="2400" spc="63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25" dirty="0">
                <a:latin typeface="Arial"/>
                <a:cs typeface="Arial"/>
              </a:rPr>
              <a:t>00001101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0"/>
              </a:spcBef>
            </a:pPr>
            <a:r>
              <a:rPr sz="2400" dirty="0">
                <a:latin typeface="Arial"/>
                <a:cs typeface="Arial"/>
              </a:rPr>
              <a:t>(-B)</a:t>
            </a:r>
            <a:r>
              <a:rPr sz="2400" spc="-7" baseline="-20833" dirty="0">
                <a:latin typeface="微软雅黑"/>
                <a:cs typeface="微软雅黑"/>
              </a:rPr>
              <a:t>补</a:t>
            </a:r>
            <a:r>
              <a:rPr sz="2400" spc="-7" baseline="-20833" dirty="0">
                <a:latin typeface="Arial"/>
                <a:cs typeface="Arial"/>
              </a:rPr>
              <a:t>.8</a:t>
            </a:r>
            <a:r>
              <a:rPr sz="2400" spc="-30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=</a:t>
            </a:r>
            <a:r>
              <a:rPr sz="2400" spc="-25" dirty="0">
                <a:latin typeface="Arial"/>
                <a:cs typeface="Arial"/>
              </a:rPr>
              <a:t> </a:t>
            </a:r>
            <a:r>
              <a:rPr sz="2400" spc="-95" dirty="0">
                <a:latin typeface="Arial"/>
                <a:cs typeface="Arial"/>
              </a:rPr>
              <a:t>11110011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131" y="4786376"/>
            <a:ext cx="16294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000100</a:t>
            </a:r>
            <a:r>
              <a:rPr sz="2400" spc="-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tabLst>
                <a:tab pos="394335" algn="l"/>
              </a:tabLst>
            </a:pP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	0000</a:t>
            </a:r>
            <a:r>
              <a:rPr sz="2400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  <a:p>
            <a:pPr marR="13335" algn="r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00100000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4597" y="4054220"/>
            <a:ext cx="2070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imes New Roman"/>
                <a:cs typeface="Times New Roman"/>
              </a:rPr>
              <a:t>-A+B=11111010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84597" y="4786121"/>
            <a:ext cx="14808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4450" algn="r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11</a:t>
            </a:r>
            <a:r>
              <a:rPr sz="2400" dirty="0">
                <a:latin typeface="Times New Roman"/>
                <a:cs typeface="Times New Roman"/>
              </a:rPr>
              <a:t>10</a:t>
            </a:r>
            <a:r>
              <a:rPr sz="2400" spc="-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+</a:t>
            </a:r>
            <a:r>
              <a:rPr sz="2400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00001101</a:t>
            </a:r>
            <a:endParaRPr sz="2400">
              <a:latin typeface="Times New Roman"/>
              <a:cs typeface="Times New Roman"/>
            </a:endParaRPr>
          </a:p>
          <a:p>
            <a:pPr marR="55244" algn="r">
              <a:lnSpc>
                <a:spcPct val="100000"/>
              </a:lnSpc>
            </a:pPr>
            <a:r>
              <a:rPr sz="2400" spc="-85" dirty="0">
                <a:latin typeface="Times New Roman"/>
                <a:cs typeface="Times New Roman"/>
              </a:rPr>
              <a:t>1111</a:t>
            </a:r>
            <a:r>
              <a:rPr sz="2400" dirty="0">
                <a:latin typeface="Times New Roman"/>
                <a:cs typeface="Times New Roman"/>
              </a:rPr>
              <a:t>1010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0064" y="4054297"/>
            <a:ext cx="3305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8840" algn="l"/>
              </a:tabLst>
            </a:pPr>
            <a:r>
              <a:rPr sz="2400" dirty="0">
                <a:latin typeface="Times New Roman"/>
                <a:cs typeface="Times New Roman"/>
              </a:rPr>
              <a:t>A+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10000</a:t>
            </a:r>
            <a:r>
              <a:rPr sz="2400" dirty="0">
                <a:latin typeface="Times New Roman"/>
                <a:cs typeface="Times New Roman"/>
              </a:rPr>
              <a:t>0	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85261" y="4786121"/>
            <a:ext cx="1234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Times New Roman"/>
                <a:cs typeface="Times New Roman"/>
              </a:rPr>
              <a:t>00010011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56661" y="5151882"/>
            <a:ext cx="1449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11110011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6661" y="5517591"/>
            <a:ext cx="1463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00000110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659379" y="5545835"/>
            <a:ext cx="1515110" cy="0"/>
          </a:xfrm>
          <a:custGeom>
            <a:avLst/>
            <a:gdLst/>
            <a:ahLst/>
            <a:cxnLst/>
            <a:rect l="l" t="t" r="r" b="b"/>
            <a:pathLst>
              <a:path w="1515110">
                <a:moveTo>
                  <a:pt x="0" y="0"/>
                </a:moveTo>
                <a:lnTo>
                  <a:pt x="151485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26079" y="4783835"/>
            <a:ext cx="0" cy="1237615"/>
          </a:xfrm>
          <a:custGeom>
            <a:avLst/>
            <a:gdLst/>
            <a:ahLst/>
            <a:cxnLst/>
            <a:rect l="l" t="t" r="r" b="b"/>
            <a:pathLst>
              <a:path h="1237614">
                <a:moveTo>
                  <a:pt x="0" y="0"/>
                </a:moveTo>
                <a:lnTo>
                  <a:pt x="0" y="1237488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173594" y="4054220"/>
            <a:ext cx="2022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85" dirty="0">
                <a:latin typeface="Times New Roman"/>
                <a:cs typeface="Times New Roman"/>
              </a:rPr>
              <a:t>11</a:t>
            </a:r>
            <a:r>
              <a:rPr sz="2400" dirty="0">
                <a:latin typeface="Times New Roman"/>
                <a:cs typeface="Times New Roman"/>
              </a:rPr>
              <a:t>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02194" y="4786121"/>
            <a:ext cx="1212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Times New Roman"/>
                <a:cs typeface="Times New Roman"/>
              </a:rPr>
              <a:t>11</a:t>
            </a:r>
            <a:r>
              <a:rPr sz="2400" dirty="0">
                <a:latin typeface="Times New Roman"/>
                <a:cs typeface="Times New Roman"/>
              </a:rPr>
              <a:t>10</a:t>
            </a:r>
            <a:r>
              <a:rPr sz="2400" spc="-85" dirty="0">
                <a:latin typeface="Times New Roman"/>
                <a:cs typeface="Times New Roman"/>
              </a:rPr>
              <a:t>1</a:t>
            </a:r>
            <a:r>
              <a:rPr sz="2400" dirty="0"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3594" y="5151882"/>
            <a:ext cx="14490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11110011</a:t>
            </a:r>
            <a:endParaRPr sz="240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</a:pPr>
            <a:r>
              <a:rPr sz="2400" spc="-30" dirty="0">
                <a:latin typeface="Times New Roman"/>
                <a:cs typeface="Times New Roman"/>
              </a:rPr>
              <a:t>111100000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185659" y="5564123"/>
            <a:ext cx="1382395" cy="0"/>
          </a:xfrm>
          <a:custGeom>
            <a:avLst/>
            <a:gdLst/>
            <a:ahLst/>
            <a:cxnLst/>
            <a:rect l="l" t="t" r="r" b="b"/>
            <a:pathLst>
              <a:path w="1382395">
                <a:moveTo>
                  <a:pt x="0" y="0"/>
                </a:moveTo>
                <a:lnTo>
                  <a:pt x="138226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402068" y="4869179"/>
            <a:ext cx="0" cy="1152525"/>
          </a:xfrm>
          <a:custGeom>
            <a:avLst/>
            <a:gdLst/>
            <a:ahLst/>
            <a:cxnLst/>
            <a:rect l="l" t="t" r="r" b="b"/>
            <a:pathLst>
              <a:path h="1152525">
                <a:moveTo>
                  <a:pt x="0" y="0"/>
                </a:moveTo>
                <a:lnTo>
                  <a:pt x="0" y="1152144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89204" y="1196339"/>
            <a:ext cx="8784590" cy="1009015"/>
          </a:xfrm>
          <a:custGeom>
            <a:avLst/>
            <a:gdLst/>
            <a:ahLst/>
            <a:cxnLst/>
            <a:rect l="l" t="t" r="r" b="b"/>
            <a:pathLst>
              <a:path w="8784590" h="1009014">
                <a:moveTo>
                  <a:pt x="8616188" y="0"/>
                </a:moveTo>
                <a:lnTo>
                  <a:pt x="168160" y="0"/>
                </a:lnTo>
                <a:lnTo>
                  <a:pt x="123456" y="6008"/>
                </a:lnTo>
                <a:lnTo>
                  <a:pt x="83285" y="22963"/>
                </a:lnTo>
                <a:lnTo>
                  <a:pt x="49252" y="49260"/>
                </a:lnTo>
                <a:lnTo>
                  <a:pt x="22958" y="83293"/>
                </a:lnTo>
                <a:lnTo>
                  <a:pt x="6006" y="123457"/>
                </a:lnTo>
                <a:lnTo>
                  <a:pt x="0" y="168148"/>
                </a:lnTo>
                <a:lnTo>
                  <a:pt x="0" y="840739"/>
                </a:lnTo>
                <a:lnTo>
                  <a:pt x="6006" y="885430"/>
                </a:lnTo>
                <a:lnTo>
                  <a:pt x="22958" y="925594"/>
                </a:lnTo>
                <a:lnTo>
                  <a:pt x="49252" y="959627"/>
                </a:lnTo>
                <a:lnTo>
                  <a:pt x="83285" y="985924"/>
                </a:lnTo>
                <a:lnTo>
                  <a:pt x="123456" y="1002879"/>
                </a:lnTo>
                <a:lnTo>
                  <a:pt x="168160" y="1008888"/>
                </a:lnTo>
                <a:lnTo>
                  <a:pt x="8616188" y="1008888"/>
                </a:lnTo>
                <a:lnTo>
                  <a:pt x="8660878" y="1002879"/>
                </a:lnTo>
                <a:lnTo>
                  <a:pt x="8701042" y="985924"/>
                </a:lnTo>
                <a:lnTo>
                  <a:pt x="8735075" y="959627"/>
                </a:lnTo>
                <a:lnTo>
                  <a:pt x="8761372" y="925594"/>
                </a:lnTo>
                <a:lnTo>
                  <a:pt x="8778327" y="885430"/>
                </a:lnTo>
                <a:lnTo>
                  <a:pt x="8784336" y="840739"/>
                </a:lnTo>
                <a:lnTo>
                  <a:pt x="8784336" y="168148"/>
                </a:lnTo>
                <a:lnTo>
                  <a:pt x="8778327" y="123457"/>
                </a:lnTo>
                <a:lnTo>
                  <a:pt x="8761372" y="83293"/>
                </a:lnTo>
                <a:lnTo>
                  <a:pt x="8735075" y="49260"/>
                </a:lnTo>
                <a:lnTo>
                  <a:pt x="8701042" y="22963"/>
                </a:lnTo>
                <a:lnTo>
                  <a:pt x="8660878" y="6008"/>
                </a:lnTo>
                <a:lnTo>
                  <a:pt x="861618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9204" y="1196339"/>
            <a:ext cx="8784590" cy="1009015"/>
          </a:xfrm>
          <a:custGeom>
            <a:avLst/>
            <a:gdLst/>
            <a:ahLst/>
            <a:cxnLst/>
            <a:rect l="l" t="t" r="r" b="b"/>
            <a:pathLst>
              <a:path w="8784590" h="1009014">
                <a:moveTo>
                  <a:pt x="0" y="168148"/>
                </a:moveTo>
                <a:lnTo>
                  <a:pt x="6006" y="123457"/>
                </a:lnTo>
                <a:lnTo>
                  <a:pt x="22958" y="83293"/>
                </a:lnTo>
                <a:lnTo>
                  <a:pt x="49252" y="49260"/>
                </a:lnTo>
                <a:lnTo>
                  <a:pt x="83285" y="22963"/>
                </a:lnTo>
                <a:lnTo>
                  <a:pt x="123456" y="6008"/>
                </a:lnTo>
                <a:lnTo>
                  <a:pt x="168160" y="0"/>
                </a:lnTo>
                <a:lnTo>
                  <a:pt x="8616188" y="0"/>
                </a:lnTo>
                <a:lnTo>
                  <a:pt x="8660878" y="6008"/>
                </a:lnTo>
                <a:lnTo>
                  <a:pt x="8701042" y="22963"/>
                </a:lnTo>
                <a:lnTo>
                  <a:pt x="8735075" y="49260"/>
                </a:lnTo>
                <a:lnTo>
                  <a:pt x="8761372" y="83293"/>
                </a:lnTo>
                <a:lnTo>
                  <a:pt x="8778327" y="123457"/>
                </a:lnTo>
                <a:lnTo>
                  <a:pt x="8784336" y="168148"/>
                </a:lnTo>
                <a:lnTo>
                  <a:pt x="8784336" y="840739"/>
                </a:lnTo>
                <a:lnTo>
                  <a:pt x="8778327" y="885430"/>
                </a:lnTo>
                <a:lnTo>
                  <a:pt x="8761372" y="925594"/>
                </a:lnTo>
                <a:lnTo>
                  <a:pt x="8735075" y="959627"/>
                </a:lnTo>
                <a:lnTo>
                  <a:pt x="8701042" y="985924"/>
                </a:lnTo>
                <a:lnTo>
                  <a:pt x="8660878" y="1002879"/>
                </a:lnTo>
                <a:lnTo>
                  <a:pt x="8616188" y="1008888"/>
                </a:lnTo>
                <a:lnTo>
                  <a:pt x="168160" y="1008888"/>
                </a:lnTo>
                <a:lnTo>
                  <a:pt x="123456" y="1002879"/>
                </a:lnTo>
                <a:lnTo>
                  <a:pt x="83285" y="985924"/>
                </a:lnTo>
                <a:lnTo>
                  <a:pt x="49252" y="959627"/>
                </a:lnTo>
                <a:lnTo>
                  <a:pt x="22958" y="925594"/>
                </a:lnTo>
                <a:lnTo>
                  <a:pt x="6006" y="885430"/>
                </a:lnTo>
                <a:lnTo>
                  <a:pt x="0" y="840739"/>
                </a:lnTo>
                <a:lnTo>
                  <a:pt x="0" y="16814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16407" y="1267205"/>
            <a:ext cx="822452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设</a:t>
            </a:r>
            <a:r>
              <a:rPr sz="2800" spc="-5" dirty="0">
                <a:latin typeface="Arial"/>
                <a:cs typeface="Arial"/>
              </a:rPr>
              <a:t>n=8</a:t>
            </a:r>
            <a:r>
              <a:rPr sz="2800" spc="-5" dirty="0">
                <a:latin typeface="微软雅黑"/>
                <a:cs typeface="微软雅黑"/>
              </a:rPr>
              <a:t>，有两个正数</a:t>
            </a:r>
            <a:r>
              <a:rPr sz="2800" spc="-30" dirty="0">
                <a:latin typeface="Arial"/>
                <a:cs typeface="Arial"/>
              </a:rPr>
              <a:t>A=10011</a:t>
            </a:r>
            <a:r>
              <a:rPr sz="2800" spc="-30" dirty="0">
                <a:latin typeface="微软雅黑"/>
                <a:cs typeface="微软雅黑"/>
              </a:rPr>
              <a:t>，</a:t>
            </a:r>
            <a:r>
              <a:rPr sz="2800" spc="-30" dirty="0">
                <a:latin typeface="Arial"/>
                <a:cs typeface="Arial"/>
              </a:rPr>
              <a:t>B=1101</a:t>
            </a:r>
            <a:r>
              <a:rPr sz="2800" spc="5" dirty="0">
                <a:latin typeface="微软雅黑"/>
                <a:cs typeface="微软雅黑"/>
              </a:rPr>
              <a:t>。</a:t>
            </a:r>
            <a:r>
              <a:rPr sz="2800" spc="-5" dirty="0">
                <a:latin typeface="微软雅黑"/>
                <a:cs typeface="微软雅黑"/>
              </a:rPr>
              <a:t>试用</a:t>
            </a:r>
            <a:r>
              <a:rPr sz="2800" spc="10" dirty="0">
                <a:latin typeface="微软雅黑"/>
                <a:cs typeface="微软雅黑"/>
              </a:rPr>
              <a:t>补</a:t>
            </a:r>
            <a:r>
              <a:rPr sz="2800" spc="-5" dirty="0">
                <a:latin typeface="微软雅黑"/>
                <a:cs typeface="微软雅黑"/>
              </a:rPr>
              <a:t>码求</a:t>
            </a:r>
            <a:endParaRPr sz="2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A+B</a:t>
            </a:r>
            <a:r>
              <a:rPr sz="2800" spc="-10" dirty="0">
                <a:latin typeface="微软雅黑"/>
                <a:cs typeface="微软雅黑"/>
              </a:rPr>
              <a:t>，</a:t>
            </a:r>
            <a:r>
              <a:rPr sz="2800" spc="-10" dirty="0">
                <a:latin typeface="Arial"/>
                <a:cs typeface="Arial"/>
              </a:rPr>
              <a:t>A-B</a:t>
            </a:r>
            <a:r>
              <a:rPr sz="2800" spc="-10" dirty="0">
                <a:latin typeface="微软雅黑"/>
                <a:cs typeface="微软雅黑"/>
              </a:rPr>
              <a:t>，</a:t>
            </a:r>
            <a:r>
              <a:rPr sz="2800" spc="-10" dirty="0">
                <a:latin typeface="Arial"/>
                <a:cs typeface="Arial"/>
              </a:rPr>
              <a:t>B-A</a:t>
            </a:r>
            <a:r>
              <a:rPr sz="2800" spc="-10" dirty="0">
                <a:latin typeface="微软雅黑"/>
                <a:cs typeface="微软雅黑"/>
              </a:rPr>
              <a:t>，</a:t>
            </a:r>
            <a:r>
              <a:rPr sz="2800" spc="-10" dirty="0">
                <a:latin typeface="Arial"/>
                <a:cs typeface="Arial"/>
              </a:rPr>
              <a:t>-A-B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778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补码表</a:t>
            </a:r>
            <a:r>
              <a:rPr spc="-20" dirty="0"/>
              <a:t>示</a:t>
            </a:r>
            <a:r>
              <a:rPr spc="5" dirty="0"/>
              <a:t>的符号</a:t>
            </a:r>
            <a:r>
              <a:rPr spc="-20" dirty="0"/>
              <a:t>数</a:t>
            </a:r>
            <a:r>
              <a:rPr spc="5" dirty="0"/>
              <a:t>的加减</a:t>
            </a:r>
            <a:r>
              <a:rPr spc="-20" dirty="0"/>
              <a:t>运</a:t>
            </a:r>
            <a:r>
              <a:rPr spc="-25" dirty="0"/>
              <a:t>算</a:t>
            </a:r>
            <a:r>
              <a:rPr spc="-5" dirty="0">
                <a:latin typeface="Times New Roman"/>
                <a:cs typeface="Times New Roman"/>
              </a:rPr>
              <a:t>(</a:t>
            </a:r>
            <a:r>
              <a:rPr spc="-10" dirty="0"/>
              <a:t>证</a:t>
            </a:r>
            <a:r>
              <a:rPr dirty="0"/>
              <a:t>明</a:t>
            </a:r>
            <a:r>
              <a:rPr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6606" y="6460947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40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4933" y="2180082"/>
            <a:ext cx="8351520" cy="944880"/>
          </a:xfrm>
          <a:custGeom>
            <a:avLst/>
            <a:gdLst/>
            <a:ahLst/>
            <a:cxnLst/>
            <a:rect l="l" t="t" r="r" b="b"/>
            <a:pathLst>
              <a:path w="8351520" h="944880">
                <a:moveTo>
                  <a:pt x="0" y="944880"/>
                </a:moveTo>
                <a:lnTo>
                  <a:pt x="8351520" y="944880"/>
                </a:lnTo>
                <a:lnTo>
                  <a:pt x="8351520" y="0"/>
                </a:lnTo>
                <a:lnTo>
                  <a:pt x="0" y="0"/>
                </a:lnTo>
                <a:lnTo>
                  <a:pt x="0" y="94488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6038" y="1735073"/>
            <a:ext cx="5846445" cy="844550"/>
          </a:xfrm>
          <a:custGeom>
            <a:avLst/>
            <a:gdLst/>
            <a:ahLst/>
            <a:cxnLst/>
            <a:rect l="l" t="t" r="r" b="b"/>
            <a:pathLst>
              <a:path w="5846445" h="844550">
                <a:moveTo>
                  <a:pt x="5705347" y="0"/>
                </a:moveTo>
                <a:lnTo>
                  <a:pt x="140715" y="0"/>
                </a:lnTo>
                <a:lnTo>
                  <a:pt x="96240" y="7172"/>
                </a:lnTo>
                <a:lnTo>
                  <a:pt x="57612" y="27147"/>
                </a:lnTo>
                <a:lnTo>
                  <a:pt x="27151" y="57607"/>
                </a:lnTo>
                <a:lnTo>
                  <a:pt x="7174" y="96235"/>
                </a:lnTo>
                <a:lnTo>
                  <a:pt x="0" y="140715"/>
                </a:lnTo>
                <a:lnTo>
                  <a:pt x="0" y="703579"/>
                </a:lnTo>
                <a:lnTo>
                  <a:pt x="7174" y="748060"/>
                </a:lnTo>
                <a:lnTo>
                  <a:pt x="27151" y="786688"/>
                </a:lnTo>
                <a:lnTo>
                  <a:pt x="57612" y="817148"/>
                </a:lnTo>
                <a:lnTo>
                  <a:pt x="96240" y="837123"/>
                </a:lnTo>
                <a:lnTo>
                  <a:pt x="140715" y="844296"/>
                </a:lnTo>
                <a:lnTo>
                  <a:pt x="5705347" y="844296"/>
                </a:lnTo>
                <a:lnTo>
                  <a:pt x="5749828" y="837123"/>
                </a:lnTo>
                <a:lnTo>
                  <a:pt x="5788456" y="817148"/>
                </a:lnTo>
                <a:lnTo>
                  <a:pt x="5818916" y="786688"/>
                </a:lnTo>
                <a:lnTo>
                  <a:pt x="5838891" y="748060"/>
                </a:lnTo>
                <a:lnTo>
                  <a:pt x="5846064" y="703579"/>
                </a:lnTo>
                <a:lnTo>
                  <a:pt x="5846064" y="140715"/>
                </a:lnTo>
                <a:lnTo>
                  <a:pt x="5838891" y="96235"/>
                </a:lnTo>
                <a:lnTo>
                  <a:pt x="5818916" y="57607"/>
                </a:lnTo>
                <a:lnTo>
                  <a:pt x="5788456" y="27147"/>
                </a:lnTo>
                <a:lnTo>
                  <a:pt x="5749828" y="7172"/>
                </a:lnTo>
                <a:lnTo>
                  <a:pt x="5705347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6038" y="1735073"/>
            <a:ext cx="5846445" cy="844550"/>
          </a:xfrm>
          <a:custGeom>
            <a:avLst/>
            <a:gdLst/>
            <a:ahLst/>
            <a:cxnLst/>
            <a:rect l="l" t="t" r="r" b="b"/>
            <a:pathLst>
              <a:path w="5846445" h="844550">
                <a:moveTo>
                  <a:pt x="0" y="140715"/>
                </a:moveTo>
                <a:lnTo>
                  <a:pt x="7174" y="96235"/>
                </a:lnTo>
                <a:lnTo>
                  <a:pt x="27151" y="57607"/>
                </a:lnTo>
                <a:lnTo>
                  <a:pt x="57612" y="27147"/>
                </a:lnTo>
                <a:lnTo>
                  <a:pt x="96240" y="7172"/>
                </a:lnTo>
                <a:lnTo>
                  <a:pt x="140715" y="0"/>
                </a:lnTo>
                <a:lnTo>
                  <a:pt x="5705347" y="0"/>
                </a:lnTo>
                <a:lnTo>
                  <a:pt x="5749828" y="7172"/>
                </a:lnTo>
                <a:lnTo>
                  <a:pt x="5788456" y="27147"/>
                </a:lnTo>
                <a:lnTo>
                  <a:pt x="5818916" y="57607"/>
                </a:lnTo>
                <a:lnTo>
                  <a:pt x="5838891" y="96235"/>
                </a:lnTo>
                <a:lnTo>
                  <a:pt x="5846064" y="140715"/>
                </a:lnTo>
                <a:lnTo>
                  <a:pt x="5846064" y="703579"/>
                </a:lnTo>
                <a:lnTo>
                  <a:pt x="5838891" y="748060"/>
                </a:lnTo>
                <a:lnTo>
                  <a:pt x="5818916" y="786688"/>
                </a:lnTo>
                <a:lnTo>
                  <a:pt x="5788456" y="817148"/>
                </a:lnTo>
                <a:lnTo>
                  <a:pt x="5749828" y="837123"/>
                </a:lnTo>
                <a:lnTo>
                  <a:pt x="5705347" y="844296"/>
                </a:lnTo>
                <a:lnTo>
                  <a:pt x="140715" y="844296"/>
                </a:lnTo>
                <a:lnTo>
                  <a:pt x="96240" y="837123"/>
                </a:lnTo>
                <a:lnTo>
                  <a:pt x="57612" y="817148"/>
                </a:lnTo>
                <a:lnTo>
                  <a:pt x="27151" y="786688"/>
                </a:lnTo>
                <a:lnTo>
                  <a:pt x="7174" y="748060"/>
                </a:lnTo>
                <a:lnTo>
                  <a:pt x="0" y="703579"/>
                </a:lnTo>
                <a:lnTo>
                  <a:pt x="0" y="140715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4933" y="3719321"/>
            <a:ext cx="8351520" cy="2710180"/>
          </a:xfrm>
          <a:custGeom>
            <a:avLst/>
            <a:gdLst/>
            <a:ahLst/>
            <a:cxnLst/>
            <a:rect l="l" t="t" r="r" b="b"/>
            <a:pathLst>
              <a:path w="8351520" h="2710179">
                <a:moveTo>
                  <a:pt x="0" y="2709672"/>
                </a:moveTo>
                <a:lnTo>
                  <a:pt x="8351520" y="2709672"/>
                </a:lnTo>
                <a:lnTo>
                  <a:pt x="8351520" y="0"/>
                </a:lnTo>
                <a:lnTo>
                  <a:pt x="0" y="0"/>
                </a:lnTo>
                <a:lnTo>
                  <a:pt x="0" y="2709672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66038" y="3245357"/>
            <a:ext cx="5846445" cy="783590"/>
          </a:xfrm>
          <a:custGeom>
            <a:avLst/>
            <a:gdLst/>
            <a:ahLst/>
            <a:cxnLst/>
            <a:rect l="l" t="t" r="r" b="b"/>
            <a:pathLst>
              <a:path w="5846445" h="783589">
                <a:moveTo>
                  <a:pt x="5715508" y="0"/>
                </a:moveTo>
                <a:lnTo>
                  <a:pt x="130556" y="0"/>
                </a:lnTo>
                <a:lnTo>
                  <a:pt x="79740" y="10255"/>
                </a:lnTo>
                <a:lnTo>
                  <a:pt x="38241" y="38226"/>
                </a:lnTo>
                <a:lnTo>
                  <a:pt x="10260" y="79724"/>
                </a:lnTo>
                <a:lnTo>
                  <a:pt x="0" y="130555"/>
                </a:lnTo>
                <a:lnTo>
                  <a:pt x="0" y="652779"/>
                </a:lnTo>
                <a:lnTo>
                  <a:pt x="10260" y="703611"/>
                </a:lnTo>
                <a:lnTo>
                  <a:pt x="38241" y="745108"/>
                </a:lnTo>
                <a:lnTo>
                  <a:pt x="79740" y="773080"/>
                </a:lnTo>
                <a:lnTo>
                  <a:pt x="130556" y="783335"/>
                </a:lnTo>
                <a:lnTo>
                  <a:pt x="5715508" y="783335"/>
                </a:lnTo>
                <a:lnTo>
                  <a:pt x="5766339" y="773080"/>
                </a:lnTo>
                <a:lnTo>
                  <a:pt x="5807837" y="745108"/>
                </a:lnTo>
                <a:lnTo>
                  <a:pt x="5835808" y="703611"/>
                </a:lnTo>
                <a:lnTo>
                  <a:pt x="5846064" y="652779"/>
                </a:lnTo>
                <a:lnTo>
                  <a:pt x="5846064" y="130555"/>
                </a:lnTo>
                <a:lnTo>
                  <a:pt x="5835808" y="79724"/>
                </a:lnTo>
                <a:lnTo>
                  <a:pt x="5807837" y="38226"/>
                </a:lnTo>
                <a:lnTo>
                  <a:pt x="5766339" y="10255"/>
                </a:lnTo>
                <a:lnTo>
                  <a:pt x="571550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66038" y="3245357"/>
            <a:ext cx="5846445" cy="783590"/>
          </a:xfrm>
          <a:custGeom>
            <a:avLst/>
            <a:gdLst/>
            <a:ahLst/>
            <a:cxnLst/>
            <a:rect l="l" t="t" r="r" b="b"/>
            <a:pathLst>
              <a:path w="5846445" h="783589">
                <a:moveTo>
                  <a:pt x="0" y="130555"/>
                </a:moveTo>
                <a:lnTo>
                  <a:pt x="10260" y="79724"/>
                </a:lnTo>
                <a:lnTo>
                  <a:pt x="38241" y="38226"/>
                </a:lnTo>
                <a:lnTo>
                  <a:pt x="79740" y="10255"/>
                </a:lnTo>
                <a:lnTo>
                  <a:pt x="130556" y="0"/>
                </a:lnTo>
                <a:lnTo>
                  <a:pt x="5715508" y="0"/>
                </a:lnTo>
                <a:lnTo>
                  <a:pt x="5766339" y="10255"/>
                </a:lnTo>
                <a:lnTo>
                  <a:pt x="5807837" y="38226"/>
                </a:lnTo>
                <a:lnTo>
                  <a:pt x="5835808" y="79724"/>
                </a:lnTo>
                <a:lnTo>
                  <a:pt x="5846064" y="130555"/>
                </a:lnTo>
                <a:lnTo>
                  <a:pt x="5846064" y="652779"/>
                </a:lnTo>
                <a:lnTo>
                  <a:pt x="5835808" y="703611"/>
                </a:lnTo>
                <a:lnTo>
                  <a:pt x="5807837" y="745108"/>
                </a:lnTo>
                <a:lnTo>
                  <a:pt x="5766339" y="773080"/>
                </a:lnTo>
                <a:lnTo>
                  <a:pt x="5715508" y="783335"/>
                </a:lnTo>
                <a:lnTo>
                  <a:pt x="130556" y="783335"/>
                </a:lnTo>
                <a:lnTo>
                  <a:pt x="79740" y="773080"/>
                </a:lnTo>
                <a:lnTo>
                  <a:pt x="38241" y="745108"/>
                </a:lnTo>
                <a:lnTo>
                  <a:pt x="10260" y="703611"/>
                </a:lnTo>
                <a:lnTo>
                  <a:pt x="0" y="652779"/>
                </a:lnTo>
                <a:lnTo>
                  <a:pt x="0" y="130555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18972" y="1125473"/>
            <a:ext cx="8338184" cy="270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对任意正整数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75" baseline="-2102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和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75" baseline="-2102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,(-N</a:t>
            </a:r>
            <a:r>
              <a:rPr sz="2775" baseline="-2102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)</a:t>
            </a:r>
            <a:r>
              <a:rPr sz="2775" spc="30" baseline="-21021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775" spc="7" baseline="-21021" dirty="0">
                <a:solidFill>
                  <a:srgbClr val="0033CC"/>
                </a:solidFill>
                <a:latin typeface="Arial"/>
                <a:cs typeface="Arial"/>
              </a:rPr>
              <a:t>.n</a:t>
            </a:r>
            <a:r>
              <a:rPr sz="2775" spc="405" baseline="-21021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=2</a:t>
            </a:r>
            <a:r>
              <a:rPr sz="2775" baseline="2552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775" baseline="-2102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,</a:t>
            </a:r>
            <a:r>
              <a:rPr sz="2800" spc="-1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(-N</a:t>
            </a:r>
            <a:r>
              <a:rPr sz="2775" spc="-7" baseline="-2102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)</a:t>
            </a:r>
            <a:r>
              <a:rPr sz="2775" spc="30" baseline="-21021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775" spc="7" baseline="-21021" dirty="0">
                <a:solidFill>
                  <a:srgbClr val="0033CC"/>
                </a:solidFill>
                <a:latin typeface="Arial"/>
                <a:cs typeface="Arial"/>
              </a:rPr>
              <a:t>.n</a:t>
            </a:r>
            <a:r>
              <a:rPr sz="2775" spc="352" baseline="-21021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=2</a:t>
            </a:r>
            <a:r>
              <a:rPr sz="2775" baseline="2552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775" baseline="-2102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endParaRPr sz="2775" baseline="-21021">
              <a:latin typeface="Arial"/>
              <a:cs typeface="Arial"/>
            </a:endParaRPr>
          </a:p>
          <a:p>
            <a:pPr marL="807720">
              <a:lnSpc>
                <a:spcPct val="100000"/>
              </a:lnSpc>
              <a:spcBef>
                <a:spcPts val="2720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+N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775" baseline="-21021">
              <a:latin typeface="Arial"/>
              <a:cs typeface="Arial"/>
            </a:endParaRPr>
          </a:p>
          <a:p>
            <a:pPr marL="970915" indent="-229235">
              <a:lnSpc>
                <a:spcPct val="100000"/>
              </a:lnSpc>
              <a:spcBef>
                <a:spcPts val="2345"/>
              </a:spcBef>
              <a:buFont typeface="Arial"/>
              <a:buChar char="•"/>
              <a:tabLst>
                <a:tab pos="971550" algn="l"/>
              </a:tabLst>
            </a:pP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两个正数相加，结果为正数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微软雅黑"/>
              <a:cs typeface="微软雅黑"/>
            </a:endParaRPr>
          </a:p>
          <a:p>
            <a:pPr marL="804545">
              <a:lnSpc>
                <a:spcPct val="100000"/>
              </a:lnSpc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-N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3772" y="4029202"/>
            <a:ext cx="7130415" cy="26447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20"/>
              </a:spcBef>
              <a:buChar char="•"/>
              <a:tabLst>
                <a:tab pos="266700" algn="l"/>
              </a:tabLst>
            </a:pP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=N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+(2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)=2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-(N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),</a:t>
            </a:r>
            <a:endParaRPr sz="2400">
              <a:latin typeface="Arial"/>
              <a:cs typeface="Arial"/>
            </a:endParaRPr>
          </a:p>
          <a:p>
            <a:pPr marL="495300" lvl="1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495300" algn="l"/>
              </a:tabLst>
            </a:pP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若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&gt;N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则结果为负</a:t>
            </a:r>
            <a:r>
              <a:rPr sz="2400" spc="-5" dirty="0">
                <a:solidFill>
                  <a:srgbClr val="0033CC"/>
                </a:solidFill>
                <a:latin typeface="微软雅黑"/>
                <a:cs typeface="微软雅黑"/>
              </a:rPr>
              <a:t>，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-(N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就是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-(N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)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的</a:t>
            </a:r>
            <a:endParaRPr sz="2400">
              <a:latin typeface="微软雅黑"/>
              <a:cs typeface="微软雅黑"/>
            </a:endParaRPr>
          </a:p>
          <a:p>
            <a:pPr marL="495300">
              <a:lnSpc>
                <a:spcPct val="100000"/>
              </a:lnSpc>
              <a:spcBef>
                <a:spcPts val="830"/>
              </a:spcBef>
            </a:pP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补码表示形式；</a:t>
            </a:r>
            <a:endParaRPr sz="2400">
              <a:latin typeface="微软雅黑"/>
              <a:cs typeface="微软雅黑"/>
            </a:endParaRPr>
          </a:p>
          <a:p>
            <a:pPr marL="495300" lvl="1" indent="-228600">
              <a:lnSpc>
                <a:spcPct val="100000"/>
              </a:lnSpc>
              <a:spcBef>
                <a:spcPts val="830"/>
              </a:spcBef>
              <a:buFont typeface="Arial"/>
              <a:buChar char="•"/>
              <a:tabLst>
                <a:tab pos="495300" algn="l"/>
              </a:tabLst>
            </a:pP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若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&gt;N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,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则结果为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+(N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),2</a:t>
            </a:r>
            <a:r>
              <a:rPr sz="2400" spc="-7" baseline="2430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位于</a:t>
            </a:r>
            <a:r>
              <a:rPr sz="2400" spc="-5" dirty="0">
                <a:solidFill>
                  <a:srgbClr val="0033CC"/>
                </a:solidFill>
                <a:latin typeface="微软雅黑"/>
                <a:cs typeface="微软雅黑"/>
              </a:rPr>
              <a:t>第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n+1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位，为</a:t>
            </a:r>
            <a:endParaRPr sz="2400">
              <a:latin typeface="微软雅黑"/>
              <a:cs typeface="微软雅黑"/>
            </a:endParaRPr>
          </a:p>
          <a:p>
            <a:pPr marL="495300" marR="191770">
              <a:lnSpc>
                <a:spcPct val="107300"/>
              </a:lnSpc>
              <a:spcBef>
                <a:spcPts val="620"/>
              </a:spcBef>
            </a:pP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第</a:t>
            </a:r>
            <a:r>
              <a:rPr sz="2400" spc="-10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位的进位，位于</a:t>
            </a:r>
            <a:r>
              <a:rPr sz="2400" spc="-10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位运算器之外，舍去，故结 </a:t>
            </a:r>
            <a:r>
              <a:rPr sz="3600" baseline="-13888" dirty="0">
                <a:solidFill>
                  <a:srgbClr val="0033CC"/>
                </a:solidFill>
                <a:latin typeface="微软雅黑"/>
                <a:cs typeface="微软雅黑"/>
              </a:rPr>
              <a:t>果</a:t>
            </a:r>
            <a:r>
              <a:rPr sz="3600" spc="-7" baseline="-13888" dirty="0">
                <a:solidFill>
                  <a:srgbClr val="0033CC"/>
                </a:solidFill>
                <a:latin typeface="微软雅黑"/>
                <a:cs typeface="微软雅黑"/>
              </a:rPr>
              <a:t>为</a:t>
            </a:r>
            <a:r>
              <a:rPr sz="3600" spc="-7" baseline="-13888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7" baseline="-41666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3600" spc="-7" baseline="-13888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41666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3600" spc="-7" baseline="-13888" dirty="0">
                <a:solidFill>
                  <a:srgbClr val="0033CC"/>
                </a:solidFill>
                <a:latin typeface="微软雅黑"/>
                <a:cs typeface="微软雅黑"/>
              </a:rPr>
              <a:t>，正确</a:t>
            </a:r>
            <a:r>
              <a:rPr sz="3600" spc="-682" baseline="-13888" dirty="0">
                <a:solidFill>
                  <a:srgbClr val="0033CC"/>
                </a:solidFill>
                <a:latin typeface="微软雅黑"/>
                <a:cs typeface="微软雅黑"/>
              </a:rPr>
              <a:t>。</a:t>
            </a: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778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补码表</a:t>
            </a:r>
            <a:r>
              <a:rPr spc="-20" dirty="0"/>
              <a:t>示</a:t>
            </a:r>
            <a:r>
              <a:rPr spc="5" dirty="0"/>
              <a:t>的符号</a:t>
            </a:r>
            <a:r>
              <a:rPr spc="-20" dirty="0"/>
              <a:t>数</a:t>
            </a:r>
            <a:r>
              <a:rPr spc="5" dirty="0"/>
              <a:t>的加减</a:t>
            </a:r>
            <a:r>
              <a:rPr spc="-20" dirty="0"/>
              <a:t>运</a:t>
            </a:r>
            <a:r>
              <a:rPr spc="-25" dirty="0"/>
              <a:t>算</a:t>
            </a:r>
            <a:r>
              <a:rPr spc="-5" dirty="0">
                <a:latin typeface="Times New Roman"/>
                <a:cs typeface="Times New Roman"/>
              </a:rPr>
              <a:t>(</a:t>
            </a:r>
            <a:r>
              <a:rPr spc="-10" dirty="0"/>
              <a:t>证</a:t>
            </a:r>
            <a:r>
              <a:rPr dirty="0"/>
              <a:t>明</a:t>
            </a:r>
            <a:r>
              <a:rPr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7" name="object 7"/>
          <p:cNvSpPr/>
          <p:nvPr/>
        </p:nvSpPr>
        <p:spPr>
          <a:xfrm>
            <a:off x="496062" y="1479041"/>
            <a:ext cx="9066530" cy="1104900"/>
          </a:xfrm>
          <a:custGeom>
            <a:avLst/>
            <a:gdLst/>
            <a:ahLst/>
            <a:cxnLst/>
            <a:rect l="l" t="t" r="r" b="b"/>
            <a:pathLst>
              <a:path w="9066530" h="1104900">
                <a:moveTo>
                  <a:pt x="0" y="1104900"/>
                </a:moveTo>
                <a:lnTo>
                  <a:pt x="9066276" y="1104900"/>
                </a:lnTo>
                <a:lnTo>
                  <a:pt x="9066276" y="0"/>
                </a:lnTo>
                <a:lnTo>
                  <a:pt x="0" y="0"/>
                </a:lnTo>
                <a:lnTo>
                  <a:pt x="0" y="1104900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60983" y="2066035"/>
            <a:ext cx="19862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292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67335" algn="l"/>
              </a:tabLst>
            </a:pP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与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400" dirty="0">
                <a:solidFill>
                  <a:srgbClr val="0033CC"/>
                </a:solidFill>
                <a:latin typeface="微软雅黑"/>
                <a:cs typeface="微软雅黑"/>
              </a:rPr>
              <a:t>同理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76122" y="1076705"/>
            <a:ext cx="6346190" cy="797560"/>
          </a:xfrm>
          <a:custGeom>
            <a:avLst/>
            <a:gdLst/>
            <a:ahLst/>
            <a:cxnLst/>
            <a:rect l="l" t="t" r="r" b="b"/>
            <a:pathLst>
              <a:path w="6346190" h="797560">
                <a:moveTo>
                  <a:pt x="6213094" y="0"/>
                </a:moveTo>
                <a:lnTo>
                  <a:pt x="132841" y="0"/>
                </a:lnTo>
                <a:lnTo>
                  <a:pt x="90853" y="6768"/>
                </a:lnTo>
                <a:lnTo>
                  <a:pt x="54386" y="25619"/>
                </a:lnTo>
                <a:lnTo>
                  <a:pt x="25630" y="54370"/>
                </a:lnTo>
                <a:lnTo>
                  <a:pt x="6772" y="90838"/>
                </a:lnTo>
                <a:lnTo>
                  <a:pt x="0" y="132842"/>
                </a:lnTo>
                <a:lnTo>
                  <a:pt x="0" y="664210"/>
                </a:lnTo>
                <a:lnTo>
                  <a:pt x="6772" y="706213"/>
                </a:lnTo>
                <a:lnTo>
                  <a:pt x="25630" y="742681"/>
                </a:lnTo>
                <a:lnTo>
                  <a:pt x="54386" y="771432"/>
                </a:lnTo>
                <a:lnTo>
                  <a:pt x="90853" y="790283"/>
                </a:lnTo>
                <a:lnTo>
                  <a:pt x="132841" y="797052"/>
                </a:lnTo>
                <a:lnTo>
                  <a:pt x="6213094" y="797052"/>
                </a:lnTo>
                <a:lnTo>
                  <a:pt x="6255097" y="790283"/>
                </a:lnTo>
                <a:lnTo>
                  <a:pt x="6291565" y="771432"/>
                </a:lnTo>
                <a:lnTo>
                  <a:pt x="6320316" y="742681"/>
                </a:lnTo>
                <a:lnTo>
                  <a:pt x="6339167" y="706213"/>
                </a:lnTo>
                <a:lnTo>
                  <a:pt x="6345935" y="664210"/>
                </a:lnTo>
                <a:lnTo>
                  <a:pt x="6345935" y="132842"/>
                </a:lnTo>
                <a:lnTo>
                  <a:pt x="6339167" y="90838"/>
                </a:lnTo>
                <a:lnTo>
                  <a:pt x="6320316" y="54370"/>
                </a:lnTo>
                <a:lnTo>
                  <a:pt x="6291565" y="25619"/>
                </a:lnTo>
                <a:lnTo>
                  <a:pt x="6255097" y="6768"/>
                </a:lnTo>
                <a:lnTo>
                  <a:pt x="6213094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6122" y="1076705"/>
            <a:ext cx="6346190" cy="797560"/>
          </a:xfrm>
          <a:custGeom>
            <a:avLst/>
            <a:gdLst/>
            <a:ahLst/>
            <a:cxnLst/>
            <a:rect l="l" t="t" r="r" b="b"/>
            <a:pathLst>
              <a:path w="6346190" h="797560">
                <a:moveTo>
                  <a:pt x="0" y="132842"/>
                </a:moveTo>
                <a:lnTo>
                  <a:pt x="6772" y="90838"/>
                </a:lnTo>
                <a:lnTo>
                  <a:pt x="25630" y="54370"/>
                </a:lnTo>
                <a:lnTo>
                  <a:pt x="54386" y="25619"/>
                </a:lnTo>
                <a:lnTo>
                  <a:pt x="90853" y="6768"/>
                </a:lnTo>
                <a:lnTo>
                  <a:pt x="132841" y="0"/>
                </a:lnTo>
                <a:lnTo>
                  <a:pt x="6213094" y="0"/>
                </a:lnTo>
                <a:lnTo>
                  <a:pt x="6255097" y="6768"/>
                </a:lnTo>
                <a:lnTo>
                  <a:pt x="6291565" y="25619"/>
                </a:lnTo>
                <a:lnTo>
                  <a:pt x="6320316" y="54370"/>
                </a:lnTo>
                <a:lnTo>
                  <a:pt x="6339167" y="90838"/>
                </a:lnTo>
                <a:lnTo>
                  <a:pt x="6345935" y="132842"/>
                </a:lnTo>
                <a:lnTo>
                  <a:pt x="6345935" y="664210"/>
                </a:lnTo>
                <a:lnTo>
                  <a:pt x="6339167" y="706213"/>
                </a:lnTo>
                <a:lnTo>
                  <a:pt x="6320316" y="742681"/>
                </a:lnTo>
                <a:lnTo>
                  <a:pt x="6291565" y="771432"/>
                </a:lnTo>
                <a:lnTo>
                  <a:pt x="6255097" y="790283"/>
                </a:lnTo>
                <a:lnTo>
                  <a:pt x="6213094" y="797052"/>
                </a:lnTo>
                <a:lnTo>
                  <a:pt x="132841" y="797052"/>
                </a:lnTo>
                <a:lnTo>
                  <a:pt x="90853" y="790283"/>
                </a:lnTo>
                <a:lnTo>
                  <a:pt x="54386" y="771432"/>
                </a:lnTo>
                <a:lnTo>
                  <a:pt x="25630" y="742681"/>
                </a:lnTo>
                <a:lnTo>
                  <a:pt x="6772" y="706213"/>
                </a:lnTo>
                <a:lnTo>
                  <a:pt x="0" y="664210"/>
                </a:lnTo>
                <a:lnTo>
                  <a:pt x="0" y="132842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28852" y="1215085"/>
            <a:ext cx="94741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-N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775" baseline="-21021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6062" y="3128010"/>
            <a:ext cx="9066530" cy="2976880"/>
          </a:xfrm>
          <a:custGeom>
            <a:avLst/>
            <a:gdLst/>
            <a:ahLst/>
            <a:cxnLst/>
            <a:rect l="l" t="t" r="r" b="b"/>
            <a:pathLst>
              <a:path w="9066530" h="2976879">
                <a:moveTo>
                  <a:pt x="0" y="2976372"/>
                </a:moveTo>
                <a:lnTo>
                  <a:pt x="9066276" y="2976372"/>
                </a:lnTo>
                <a:lnTo>
                  <a:pt x="9066276" y="0"/>
                </a:lnTo>
                <a:lnTo>
                  <a:pt x="0" y="0"/>
                </a:lnTo>
                <a:lnTo>
                  <a:pt x="0" y="297637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48689" y="2730245"/>
            <a:ext cx="6347460" cy="797560"/>
          </a:xfrm>
          <a:custGeom>
            <a:avLst/>
            <a:gdLst/>
            <a:ahLst/>
            <a:cxnLst/>
            <a:rect l="l" t="t" r="r" b="b"/>
            <a:pathLst>
              <a:path w="6347459" h="797560">
                <a:moveTo>
                  <a:pt x="6214618" y="0"/>
                </a:moveTo>
                <a:lnTo>
                  <a:pt x="132841" y="0"/>
                </a:lnTo>
                <a:lnTo>
                  <a:pt x="90853" y="6768"/>
                </a:lnTo>
                <a:lnTo>
                  <a:pt x="54386" y="25619"/>
                </a:lnTo>
                <a:lnTo>
                  <a:pt x="25630" y="54370"/>
                </a:lnTo>
                <a:lnTo>
                  <a:pt x="6772" y="90838"/>
                </a:lnTo>
                <a:lnTo>
                  <a:pt x="0" y="132841"/>
                </a:lnTo>
                <a:lnTo>
                  <a:pt x="0" y="664209"/>
                </a:lnTo>
                <a:lnTo>
                  <a:pt x="6772" y="706213"/>
                </a:lnTo>
                <a:lnTo>
                  <a:pt x="25630" y="742681"/>
                </a:lnTo>
                <a:lnTo>
                  <a:pt x="54386" y="771432"/>
                </a:lnTo>
                <a:lnTo>
                  <a:pt x="90853" y="790283"/>
                </a:lnTo>
                <a:lnTo>
                  <a:pt x="132841" y="797051"/>
                </a:lnTo>
                <a:lnTo>
                  <a:pt x="6214618" y="797051"/>
                </a:lnTo>
                <a:lnTo>
                  <a:pt x="6256621" y="790283"/>
                </a:lnTo>
                <a:lnTo>
                  <a:pt x="6293089" y="771432"/>
                </a:lnTo>
                <a:lnTo>
                  <a:pt x="6321840" y="742681"/>
                </a:lnTo>
                <a:lnTo>
                  <a:pt x="6340691" y="706213"/>
                </a:lnTo>
                <a:lnTo>
                  <a:pt x="6347460" y="664209"/>
                </a:lnTo>
                <a:lnTo>
                  <a:pt x="6347460" y="132841"/>
                </a:lnTo>
                <a:lnTo>
                  <a:pt x="6340691" y="90838"/>
                </a:lnTo>
                <a:lnTo>
                  <a:pt x="6321840" y="54370"/>
                </a:lnTo>
                <a:lnTo>
                  <a:pt x="6293089" y="25619"/>
                </a:lnTo>
                <a:lnTo>
                  <a:pt x="6256621" y="6768"/>
                </a:lnTo>
                <a:lnTo>
                  <a:pt x="621461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8689" y="2730245"/>
            <a:ext cx="6347460" cy="797560"/>
          </a:xfrm>
          <a:custGeom>
            <a:avLst/>
            <a:gdLst/>
            <a:ahLst/>
            <a:cxnLst/>
            <a:rect l="l" t="t" r="r" b="b"/>
            <a:pathLst>
              <a:path w="6347459" h="797560">
                <a:moveTo>
                  <a:pt x="0" y="132841"/>
                </a:moveTo>
                <a:lnTo>
                  <a:pt x="6772" y="90838"/>
                </a:lnTo>
                <a:lnTo>
                  <a:pt x="25630" y="54370"/>
                </a:lnTo>
                <a:lnTo>
                  <a:pt x="54386" y="25619"/>
                </a:lnTo>
                <a:lnTo>
                  <a:pt x="90853" y="6768"/>
                </a:lnTo>
                <a:lnTo>
                  <a:pt x="132841" y="0"/>
                </a:lnTo>
                <a:lnTo>
                  <a:pt x="6214618" y="0"/>
                </a:lnTo>
                <a:lnTo>
                  <a:pt x="6256621" y="6768"/>
                </a:lnTo>
                <a:lnTo>
                  <a:pt x="6293089" y="25619"/>
                </a:lnTo>
                <a:lnTo>
                  <a:pt x="6321840" y="54370"/>
                </a:lnTo>
                <a:lnTo>
                  <a:pt x="6340691" y="90838"/>
                </a:lnTo>
                <a:lnTo>
                  <a:pt x="6347460" y="132841"/>
                </a:lnTo>
                <a:lnTo>
                  <a:pt x="6347460" y="664209"/>
                </a:lnTo>
                <a:lnTo>
                  <a:pt x="6340691" y="706213"/>
                </a:lnTo>
                <a:lnTo>
                  <a:pt x="6321840" y="742681"/>
                </a:lnTo>
                <a:lnTo>
                  <a:pt x="6293089" y="771432"/>
                </a:lnTo>
                <a:lnTo>
                  <a:pt x="6256621" y="790283"/>
                </a:lnTo>
                <a:lnTo>
                  <a:pt x="6214618" y="797051"/>
                </a:lnTo>
                <a:lnTo>
                  <a:pt x="132841" y="797051"/>
                </a:lnTo>
                <a:lnTo>
                  <a:pt x="90853" y="790283"/>
                </a:lnTo>
                <a:lnTo>
                  <a:pt x="54386" y="771432"/>
                </a:lnTo>
                <a:lnTo>
                  <a:pt x="25630" y="742681"/>
                </a:lnTo>
                <a:lnTo>
                  <a:pt x="6772" y="706213"/>
                </a:lnTo>
                <a:lnTo>
                  <a:pt x="0" y="664209"/>
                </a:lnTo>
                <a:lnTo>
                  <a:pt x="0" y="132841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48283" y="2869183"/>
            <a:ext cx="7766684" cy="3584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-N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r>
              <a:rPr sz="2800" dirty="0">
                <a:solidFill>
                  <a:srgbClr val="FFFFFF"/>
                </a:solidFill>
                <a:latin typeface="Arial"/>
                <a:cs typeface="Arial"/>
              </a:rPr>
              <a:t>-N</a:t>
            </a:r>
            <a:r>
              <a:rPr sz="2775" baseline="-2102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775" baseline="-2102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"/>
              <a:cs typeface="Arial"/>
            </a:endParaRPr>
          </a:p>
          <a:p>
            <a:pPr marL="279400" indent="-229235">
              <a:lnSpc>
                <a:spcPct val="100000"/>
              </a:lnSpc>
              <a:buChar char="•"/>
              <a:tabLst>
                <a:tab pos="280035" algn="l"/>
              </a:tabLst>
            </a:pP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=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（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7" baseline="24691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）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+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（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7" baseline="24691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-N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）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=2</a:t>
            </a:r>
            <a:r>
              <a:rPr sz="2700" spc="-7" baseline="24691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+[2</a:t>
            </a:r>
            <a:r>
              <a:rPr sz="2700" spc="-7" baseline="24691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405" baseline="24691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-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（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+N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）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]</a:t>
            </a:r>
            <a:endParaRPr sz="2700">
              <a:latin typeface="Arial"/>
              <a:cs typeface="Arial"/>
            </a:endParaRPr>
          </a:p>
          <a:p>
            <a:pPr marL="279400" marR="179070" indent="-229235">
              <a:lnSpc>
                <a:spcPct val="129000"/>
              </a:lnSpc>
              <a:spcBef>
                <a:spcPts val="680"/>
              </a:spcBef>
              <a:buFont typeface="Arial"/>
              <a:buChar char="•"/>
              <a:tabLst>
                <a:tab pos="280035" algn="l"/>
              </a:tabLst>
            </a:pP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第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个</a:t>
            </a:r>
            <a:r>
              <a:rPr sz="2700" spc="-10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15" baseline="24691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为第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位的进位，位于在</a:t>
            </a:r>
            <a:r>
              <a:rPr sz="2700" dirty="0">
                <a:solidFill>
                  <a:srgbClr val="0033CC"/>
                </a:solidFill>
                <a:latin typeface="微软雅黑"/>
                <a:cs typeface="微软雅黑"/>
              </a:rPr>
              <a:t>第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n+1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位上，在</a:t>
            </a:r>
            <a:r>
              <a:rPr sz="2700" dirty="0">
                <a:solidFill>
                  <a:srgbClr val="0033CC"/>
                </a:solidFill>
                <a:latin typeface="Arial"/>
                <a:cs typeface="Arial"/>
              </a:rPr>
              <a:t>n  </a:t>
            </a:r>
            <a:r>
              <a:rPr sz="2700" dirty="0">
                <a:solidFill>
                  <a:srgbClr val="0033CC"/>
                </a:solidFill>
                <a:latin typeface="微软雅黑"/>
                <a:cs typeface="微软雅黑"/>
              </a:rPr>
              <a:t>位运算器之外，舍去</a:t>
            </a:r>
            <a:endParaRPr sz="2700">
              <a:latin typeface="微软雅黑"/>
              <a:cs typeface="微软雅黑"/>
            </a:endParaRPr>
          </a:p>
          <a:p>
            <a:pPr marL="279400" marR="275590" indent="-229235">
              <a:lnSpc>
                <a:spcPct val="128600"/>
              </a:lnSpc>
              <a:spcBef>
                <a:spcPts val="695"/>
              </a:spcBef>
              <a:buFont typeface="Arial"/>
              <a:buChar char="•"/>
              <a:tabLst>
                <a:tab pos="280035" algn="l"/>
              </a:tabLst>
            </a:pP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而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[2</a:t>
            </a:r>
            <a:r>
              <a:rPr sz="2700" spc="-7" baseline="24691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-(N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+N</a:t>
            </a:r>
            <a:r>
              <a:rPr sz="2700" spc="-7" baseline="-2006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5" dirty="0">
                <a:solidFill>
                  <a:srgbClr val="0033CC"/>
                </a:solidFill>
                <a:latin typeface="Arial"/>
                <a:cs typeface="Arial"/>
              </a:rPr>
              <a:t>)]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就是负数</a:t>
            </a:r>
            <a:r>
              <a:rPr sz="2700" spc="-10" dirty="0">
                <a:solidFill>
                  <a:srgbClr val="0033CC"/>
                </a:solidFill>
                <a:latin typeface="Arial"/>
                <a:cs typeface="Arial"/>
              </a:rPr>
              <a:t>-(N</a:t>
            </a:r>
            <a:r>
              <a:rPr sz="2700" spc="-15" baseline="-20061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700" spc="-10" dirty="0">
                <a:solidFill>
                  <a:srgbClr val="0033CC"/>
                </a:solidFill>
                <a:latin typeface="Arial"/>
                <a:cs typeface="Arial"/>
              </a:rPr>
              <a:t>+N</a:t>
            </a:r>
            <a:r>
              <a:rPr sz="2700" spc="-15" baseline="-20061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700" spc="-10" dirty="0">
                <a:solidFill>
                  <a:srgbClr val="0033CC"/>
                </a:solidFill>
                <a:latin typeface="Arial"/>
                <a:cs typeface="Arial"/>
              </a:rPr>
              <a:t>)</a:t>
            </a:r>
            <a:r>
              <a:rPr sz="2700" spc="-5" dirty="0">
                <a:solidFill>
                  <a:srgbClr val="0033CC"/>
                </a:solidFill>
                <a:latin typeface="微软雅黑"/>
                <a:cs typeface="微软雅黑"/>
              </a:rPr>
              <a:t>的补码表示，计 </a:t>
            </a:r>
            <a:r>
              <a:rPr sz="2700" dirty="0">
                <a:solidFill>
                  <a:srgbClr val="0033CC"/>
                </a:solidFill>
                <a:latin typeface="微软雅黑"/>
                <a:cs typeface="微软雅黑"/>
              </a:rPr>
              <a:t>算结果正确</a:t>
            </a:r>
            <a:endParaRPr sz="27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15</a:t>
            </a:fld>
            <a:endParaRPr spc="-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93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补码表示的符号数的加减运</a:t>
            </a:r>
            <a:r>
              <a:rPr spc="-30" dirty="0"/>
              <a:t>算</a:t>
            </a:r>
            <a:r>
              <a:rPr spc="-10" dirty="0">
                <a:latin typeface="Times New Roman"/>
                <a:cs typeface="Times New Roman"/>
              </a:rPr>
              <a:t>_</a:t>
            </a:r>
            <a:r>
              <a:rPr dirty="0"/>
              <a:t>溢出</a:t>
            </a:r>
          </a:p>
        </p:txBody>
      </p:sp>
      <p:sp>
        <p:nvSpPr>
          <p:cNvPr id="7" name="object 7"/>
          <p:cNvSpPr/>
          <p:nvPr/>
        </p:nvSpPr>
        <p:spPr>
          <a:xfrm>
            <a:off x="512063" y="1196339"/>
            <a:ext cx="8784590" cy="1009015"/>
          </a:xfrm>
          <a:custGeom>
            <a:avLst/>
            <a:gdLst/>
            <a:ahLst/>
            <a:cxnLst/>
            <a:rect l="l" t="t" r="r" b="b"/>
            <a:pathLst>
              <a:path w="8784590" h="1009014">
                <a:moveTo>
                  <a:pt x="8616188" y="0"/>
                </a:moveTo>
                <a:lnTo>
                  <a:pt x="168160" y="0"/>
                </a:lnTo>
                <a:lnTo>
                  <a:pt x="123456" y="6008"/>
                </a:lnTo>
                <a:lnTo>
                  <a:pt x="83285" y="22963"/>
                </a:lnTo>
                <a:lnTo>
                  <a:pt x="49252" y="49260"/>
                </a:lnTo>
                <a:lnTo>
                  <a:pt x="22958" y="83293"/>
                </a:lnTo>
                <a:lnTo>
                  <a:pt x="6006" y="123457"/>
                </a:lnTo>
                <a:lnTo>
                  <a:pt x="0" y="168148"/>
                </a:lnTo>
                <a:lnTo>
                  <a:pt x="0" y="840739"/>
                </a:lnTo>
                <a:lnTo>
                  <a:pt x="6006" y="885430"/>
                </a:lnTo>
                <a:lnTo>
                  <a:pt x="22958" y="925594"/>
                </a:lnTo>
                <a:lnTo>
                  <a:pt x="49252" y="959627"/>
                </a:lnTo>
                <a:lnTo>
                  <a:pt x="83285" y="985924"/>
                </a:lnTo>
                <a:lnTo>
                  <a:pt x="123456" y="1002879"/>
                </a:lnTo>
                <a:lnTo>
                  <a:pt x="168160" y="1008888"/>
                </a:lnTo>
                <a:lnTo>
                  <a:pt x="8616188" y="1008888"/>
                </a:lnTo>
                <a:lnTo>
                  <a:pt x="8660878" y="1002879"/>
                </a:lnTo>
                <a:lnTo>
                  <a:pt x="8701042" y="985924"/>
                </a:lnTo>
                <a:lnTo>
                  <a:pt x="8735075" y="959627"/>
                </a:lnTo>
                <a:lnTo>
                  <a:pt x="8761372" y="925594"/>
                </a:lnTo>
                <a:lnTo>
                  <a:pt x="8778327" y="885430"/>
                </a:lnTo>
                <a:lnTo>
                  <a:pt x="8784336" y="840739"/>
                </a:lnTo>
                <a:lnTo>
                  <a:pt x="8784336" y="168148"/>
                </a:lnTo>
                <a:lnTo>
                  <a:pt x="8778327" y="123457"/>
                </a:lnTo>
                <a:lnTo>
                  <a:pt x="8761372" y="83293"/>
                </a:lnTo>
                <a:lnTo>
                  <a:pt x="8735075" y="49260"/>
                </a:lnTo>
                <a:lnTo>
                  <a:pt x="8701042" y="22963"/>
                </a:lnTo>
                <a:lnTo>
                  <a:pt x="8660878" y="6008"/>
                </a:lnTo>
                <a:lnTo>
                  <a:pt x="8616188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12063" y="1196339"/>
            <a:ext cx="8784590" cy="1009015"/>
          </a:xfrm>
          <a:custGeom>
            <a:avLst/>
            <a:gdLst/>
            <a:ahLst/>
            <a:cxnLst/>
            <a:rect l="l" t="t" r="r" b="b"/>
            <a:pathLst>
              <a:path w="8784590" h="1009014">
                <a:moveTo>
                  <a:pt x="0" y="168148"/>
                </a:moveTo>
                <a:lnTo>
                  <a:pt x="6006" y="123457"/>
                </a:lnTo>
                <a:lnTo>
                  <a:pt x="22958" y="83293"/>
                </a:lnTo>
                <a:lnTo>
                  <a:pt x="49252" y="49260"/>
                </a:lnTo>
                <a:lnTo>
                  <a:pt x="83285" y="22963"/>
                </a:lnTo>
                <a:lnTo>
                  <a:pt x="123456" y="6008"/>
                </a:lnTo>
                <a:lnTo>
                  <a:pt x="168160" y="0"/>
                </a:lnTo>
                <a:lnTo>
                  <a:pt x="8616188" y="0"/>
                </a:lnTo>
                <a:lnTo>
                  <a:pt x="8660878" y="6008"/>
                </a:lnTo>
                <a:lnTo>
                  <a:pt x="8701042" y="22963"/>
                </a:lnTo>
                <a:lnTo>
                  <a:pt x="8735075" y="49260"/>
                </a:lnTo>
                <a:lnTo>
                  <a:pt x="8761372" y="83293"/>
                </a:lnTo>
                <a:lnTo>
                  <a:pt x="8778327" y="123457"/>
                </a:lnTo>
                <a:lnTo>
                  <a:pt x="8784336" y="168148"/>
                </a:lnTo>
                <a:lnTo>
                  <a:pt x="8784336" y="840739"/>
                </a:lnTo>
                <a:lnTo>
                  <a:pt x="8778327" y="885430"/>
                </a:lnTo>
                <a:lnTo>
                  <a:pt x="8761372" y="925594"/>
                </a:lnTo>
                <a:lnTo>
                  <a:pt x="8735075" y="959627"/>
                </a:lnTo>
                <a:lnTo>
                  <a:pt x="8701042" y="985924"/>
                </a:lnTo>
                <a:lnTo>
                  <a:pt x="8660878" y="1002879"/>
                </a:lnTo>
                <a:lnTo>
                  <a:pt x="8616188" y="1008888"/>
                </a:lnTo>
                <a:lnTo>
                  <a:pt x="168160" y="1008888"/>
                </a:lnTo>
                <a:lnTo>
                  <a:pt x="123456" y="1002879"/>
                </a:lnTo>
                <a:lnTo>
                  <a:pt x="83285" y="985924"/>
                </a:lnTo>
                <a:lnTo>
                  <a:pt x="49252" y="959627"/>
                </a:lnTo>
                <a:lnTo>
                  <a:pt x="22958" y="925594"/>
                </a:lnTo>
                <a:lnTo>
                  <a:pt x="6006" y="885430"/>
                </a:lnTo>
                <a:lnTo>
                  <a:pt x="0" y="840739"/>
                </a:lnTo>
                <a:lnTo>
                  <a:pt x="0" y="16814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9572" y="1267205"/>
            <a:ext cx="82543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微软雅黑"/>
                <a:cs typeface="微软雅黑"/>
              </a:rPr>
              <a:t>设</a:t>
            </a:r>
            <a:r>
              <a:rPr sz="2800" spc="-5" dirty="0">
                <a:latin typeface="Arial"/>
                <a:cs typeface="Arial"/>
              </a:rPr>
              <a:t>n=</a:t>
            </a:r>
            <a:r>
              <a:rPr sz="2800" dirty="0">
                <a:latin typeface="Arial"/>
                <a:cs typeface="Arial"/>
              </a:rPr>
              <a:t>8</a:t>
            </a:r>
            <a:r>
              <a:rPr sz="2800" spc="-5" dirty="0">
                <a:latin typeface="微软雅黑"/>
                <a:cs typeface="微软雅黑"/>
              </a:rPr>
              <a:t>，有两个正数</a:t>
            </a:r>
            <a:r>
              <a:rPr sz="2800" spc="-5" dirty="0">
                <a:latin typeface="Arial"/>
                <a:cs typeface="Arial"/>
              </a:rPr>
              <a:t>A=</a:t>
            </a:r>
            <a:r>
              <a:rPr sz="2800" spc="-210" dirty="0">
                <a:latin typeface="Arial"/>
                <a:cs typeface="Arial"/>
              </a:rPr>
              <a:t>1</a:t>
            </a:r>
            <a:r>
              <a:rPr sz="2800" spc="-5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0</a:t>
            </a:r>
            <a:r>
              <a:rPr sz="2800" spc="-5" dirty="0">
                <a:latin typeface="Arial"/>
                <a:cs typeface="Arial"/>
              </a:rPr>
              <a:t>0</a:t>
            </a:r>
            <a:r>
              <a:rPr sz="2800" spc="-200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1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B=</a:t>
            </a:r>
            <a:r>
              <a:rPr sz="2800" spc="-200" dirty="0">
                <a:latin typeface="Arial"/>
                <a:cs typeface="Arial"/>
              </a:rPr>
              <a:t>1</a:t>
            </a:r>
            <a:r>
              <a:rPr sz="2800" spc="-5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0</a:t>
            </a:r>
            <a:r>
              <a:rPr sz="2800" spc="-204" dirty="0">
                <a:latin typeface="Arial"/>
                <a:cs typeface="Arial"/>
              </a:rPr>
              <a:t>1</a:t>
            </a:r>
            <a:r>
              <a:rPr sz="2800" spc="-5" dirty="0">
                <a:latin typeface="Arial"/>
                <a:cs typeface="Arial"/>
              </a:rPr>
              <a:t>1</a:t>
            </a:r>
            <a:r>
              <a:rPr sz="2800" dirty="0">
                <a:latin typeface="Arial"/>
                <a:cs typeface="Arial"/>
              </a:rPr>
              <a:t>0</a:t>
            </a:r>
            <a:r>
              <a:rPr sz="2800" spc="20" dirty="0">
                <a:latin typeface="Arial"/>
                <a:cs typeface="Arial"/>
              </a:rPr>
              <a:t>1</a:t>
            </a:r>
            <a:r>
              <a:rPr sz="2800" spc="-5" dirty="0">
                <a:latin typeface="微软雅黑"/>
                <a:cs typeface="微软雅黑"/>
              </a:rPr>
              <a:t>。试</a:t>
            </a:r>
            <a:r>
              <a:rPr sz="2800" dirty="0">
                <a:latin typeface="微软雅黑"/>
                <a:cs typeface="微软雅黑"/>
              </a:rPr>
              <a:t>用</a:t>
            </a:r>
            <a:r>
              <a:rPr sz="2800" spc="-5" dirty="0">
                <a:latin typeface="微软雅黑"/>
                <a:cs typeface="微软雅黑"/>
              </a:rPr>
              <a:t>补 码</a:t>
            </a:r>
            <a:r>
              <a:rPr sz="2800" spc="-10" dirty="0">
                <a:latin typeface="微软雅黑"/>
                <a:cs typeface="微软雅黑"/>
              </a:rPr>
              <a:t>求</a:t>
            </a:r>
            <a:r>
              <a:rPr sz="2800" spc="-10" dirty="0">
                <a:latin typeface="Arial"/>
                <a:cs typeface="Arial"/>
              </a:rPr>
              <a:t>A+B</a:t>
            </a:r>
            <a:r>
              <a:rPr sz="2800" spc="-10" dirty="0">
                <a:latin typeface="微软雅黑"/>
                <a:cs typeface="微软雅黑"/>
              </a:rPr>
              <a:t>，</a:t>
            </a:r>
            <a:r>
              <a:rPr sz="2800" spc="-10" dirty="0">
                <a:latin typeface="Arial"/>
                <a:cs typeface="Arial"/>
              </a:rPr>
              <a:t>A-B</a:t>
            </a:r>
            <a:r>
              <a:rPr sz="2800" spc="-10" dirty="0">
                <a:latin typeface="微软雅黑"/>
                <a:cs typeface="微软雅黑"/>
              </a:rPr>
              <a:t>，</a:t>
            </a:r>
            <a:r>
              <a:rPr sz="2800" spc="-10" dirty="0">
                <a:latin typeface="Arial"/>
                <a:cs typeface="Arial"/>
              </a:rPr>
              <a:t>B-A</a:t>
            </a:r>
            <a:r>
              <a:rPr sz="2800" spc="-10" dirty="0">
                <a:latin typeface="微软雅黑"/>
                <a:cs typeface="微软雅黑"/>
              </a:rPr>
              <a:t>，</a:t>
            </a:r>
            <a:r>
              <a:rPr sz="2800" spc="-10" dirty="0">
                <a:latin typeface="Arial"/>
                <a:cs typeface="Arial"/>
              </a:rPr>
              <a:t>-A-B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3494" y="2314194"/>
            <a:ext cx="8785860" cy="3996054"/>
          </a:xfrm>
          <a:custGeom>
            <a:avLst/>
            <a:gdLst/>
            <a:ahLst/>
            <a:cxnLst/>
            <a:rect l="l" t="t" r="r" b="b"/>
            <a:pathLst>
              <a:path w="8785860" h="3996054">
                <a:moveTo>
                  <a:pt x="8613140" y="0"/>
                </a:moveTo>
                <a:lnTo>
                  <a:pt x="172656" y="0"/>
                </a:lnTo>
                <a:lnTo>
                  <a:pt x="126758" y="6170"/>
                </a:lnTo>
                <a:lnTo>
                  <a:pt x="85515" y="23584"/>
                </a:lnTo>
                <a:lnTo>
                  <a:pt x="50571" y="50593"/>
                </a:lnTo>
                <a:lnTo>
                  <a:pt x="23573" y="85550"/>
                </a:lnTo>
                <a:lnTo>
                  <a:pt x="6167" y="126808"/>
                </a:lnTo>
                <a:lnTo>
                  <a:pt x="0" y="172719"/>
                </a:lnTo>
                <a:lnTo>
                  <a:pt x="0" y="3823271"/>
                </a:lnTo>
                <a:lnTo>
                  <a:pt x="6167" y="3869169"/>
                </a:lnTo>
                <a:lnTo>
                  <a:pt x="23573" y="3910412"/>
                </a:lnTo>
                <a:lnTo>
                  <a:pt x="50571" y="3945356"/>
                </a:lnTo>
                <a:lnTo>
                  <a:pt x="85515" y="3972354"/>
                </a:lnTo>
                <a:lnTo>
                  <a:pt x="126758" y="3989760"/>
                </a:lnTo>
                <a:lnTo>
                  <a:pt x="172656" y="3995928"/>
                </a:lnTo>
                <a:lnTo>
                  <a:pt x="8613140" y="3995928"/>
                </a:lnTo>
                <a:lnTo>
                  <a:pt x="8659051" y="3989760"/>
                </a:lnTo>
                <a:lnTo>
                  <a:pt x="8700309" y="3972354"/>
                </a:lnTo>
                <a:lnTo>
                  <a:pt x="8735266" y="3945356"/>
                </a:lnTo>
                <a:lnTo>
                  <a:pt x="8762275" y="3910412"/>
                </a:lnTo>
                <a:lnTo>
                  <a:pt x="8779689" y="3869169"/>
                </a:lnTo>
                <a:lnTo>
                  <a:pt x="8785860" y="3823271"/>
                </a:lnTo>
                <a:lnTo>
                  <a:pt x="8785860" y="172719"/>
                </a:lnTo>
                <a:lnTo>
                  <a:pt x="8779689" y="126808"/>
                </a:lnTo>
                <a:lnTo>
                  <a:pt x="8762275" y="85550"/>
                </a:lnTo>
                <a:lnTo>
                  <a:pt x="8735266" y="50593"/>
                </a:lnTo>
                <a:lnTo>
                  <a:pt x="8700309" y="23584"/>
                </a:lnTo>
                <a:lnTo>
                  <a:pt x="8659051" y="6170"/>
                </a:lnTo>
                <a:lnTo>
                  <a:pt x="8613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3494" y="2314194"/>
            <a:ext cx="8785860" cy="3996054"/>
          </a:xfrm>
          <a:custGeom>
            <a:avLst/>
            <a:gdLst/>
            <a:ahLst/>
            <a:cxnLst/>
            <a:rect l="l" t="t" r="r" b="b"/>
            <a:pathLst>
              <a:path w="8785860" h="3996054">
                <a:moveTo>
                  <a:pt x="0" y="172719"/>
                </a:moveTo>
                <a:lnTo>
                  <a:pt x="6167" y="126808"/>
                </a:lnTo>
                <a:lnTo>
                  <a:pt x="23573" y="85550"/>
                </a:lnTo>
                <a:lnTo>
                  <a:pt x="50571" y="50593"/>
                </a:lnTo>
                <a:lnTo>
                  <a:pt x="85515" y="23584"/>
                </a:lnTo>
                <a:lnTo>
                  <a:pt x="126758" y="6170"/>
                </a:lnTo>
                <a:lnTo>
                  <a:pt x="172656" y="0"/>
                </a:lnTo>
                <a:lnTo>
                  <a:pt x="8613140" y="0"/>
                </a:lnTo>
                <a:lnTo>
                  <a:pt x="8659051" y="6170"/>
                </a:lnTo>
                <a:lnTo>
                  <a:pt x="8700309" y="23584"/>
                </a:lnTo>
                <a:lnTo>
                  <a:pt x="8735266" y="50593"/>
                </a:lnTo>
                <a:lnTo>
                  <a:pt x="8762275" y="85550"/>
                </a:lnTo>
                <a:lnTo>
                  <a:pt x="8779689" y="126808"/>
                </a:lnTo>
                <a:lnTo>
                  <a:pt x="8785860" y="172719"/>
                </a:lnTo>
                <a:lnTo>
                  <a:pt x="8785860" y="3823271"/>
                </a:lnTo>
                <a:lnTo>
                  <a:pt x="8779689" y="3869169"/>
                </a:lnTo>
                <a:lnTo>
                  <a:pt x="8762275" y="3910412"/>
                </a:lnTo>
                <a:lnTo>
                  <a:pt x="8735266" y="3945356"/>
                </a:lnTo>
                <a:lnTo>
                  <a:pt x="8700309" y="3972354"/>
                </a:lnTo>
                <a:lnTo>
                  <a:pt x="8659051" y="3989760"/>
                </a:lnTo>
                <a:lnTo>
                  <a:pt x="8613140" y="3995928"/>
                </a:lnTo>
                <a:lnTo>
                  <a:pt x="172656" y="3995928"/>
                </a:lnTo>
                <a:lnTo>
                  <a:pt x="126758" y="3989760"/>
                </a:lnTo>
                <a:lnTo>
                  <a:pt x="85515" y="3972354"/>
                </a:lnTo>
                <a:lnTo>
                  <a:pt x="50571" y="3945356"/>
                </a:lnTo>
                <a:lnTo>
                  <a:pt x="23573" y="3910412"/>
                </a:lnTo>
                <a:lnTo>
                  <a:pt x="6167" y="3869169"/>
                </a:lnTo>
                <a:lnTo>
                  <a:pt x="0" y="3823271"/>
                </a:lnTo>
                <a:lnTo>
                  <a:pt x="0" y="172719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7278" y="2546045"/>
            <a:ext cx="1465580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33CC"/>
                </a:solidFill>
                <a:latin typeface="微软雅黑"/>
                <a:cs typeface="微软雅黑"/>
              </a:rPr>
              <a:t>解：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(A)</a:t>
            </a:r>
            <a:r>
              <a:rPr sz="2400" spc="-7" baseline="-20833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.8</a:t>
            </a:r>
            <a:endParaRPr sz="2400" baseline="-20833">
              <a:latin typeface="Arial"/>
              <a:cs typeface="Arial"/>
            </a:endParaRPr>
          </a:p>
          <a:p>
            <a:pPr marR="31750" algn="r">
              <a:lnSpc>
                <a:spcPct val="100000"/>
              </a:lnSpc>
              <a:spcBef>
                <a:spcPts val="30"/>
              </a:spcBef>
            </a:pP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(-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A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)</a:t>
            </a:r>
            <a:r>
              <a:rPr sz="2400" spc="-7" baseline="-20833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.8</a:t>
            </a:r>
            <a:endParaRPr sz="2400" baseline="-20833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13610" y="2546045"/>
            <a:ext cx="1725930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=</a:t>
            </a:r>
            <a:r>
              <a:rPr sz="2400" spc="-95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00110011,</a:t>
            </a:r>
            <a:endParaRPr sz="2400">
              <a:latin typeface="Arial"/>
              <a:cs typeface="Arial"/>
            </a:endParaRPr>
          </a:p>
          <a:p>
            <a:pPr marL="93345">
              <a:lnSpc>
                <a:spcPct val="100000"/>
              </a:lnSpc>
              <a:spcBef>
                <a:spcPts val="30"/>
              </a:spcBef>
            </a:pP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=11001101,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96485" y="2546045"/>
            <a:ext cx="2627630" cy="760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(B)</a:t>
            </a:r>
            <a:r>
              <a:rPr sz="2400" spc="-15" baseline="-20833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.8</a:t>
            </a:r>
            <a:r>
              <a:rPr sz="2400" spc="622" baseline="-20833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=</a:t>
            </a:r>
            <a:r>
              <a:rPr sz="2400" spc="-3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01101101</a:t>
            </a:r>
            <a:endParaRPr sz="2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0"/>
              </a:spcBef>
            </a:pPr>
            <a:r>
              <a:rPr sz="2400" spc="-5" dirty="0">
                <a:solidFill>
                  <a:srgbClr val="0033CC"/>
                </a:solidFill>
                <a:latin typeface="Arial"/>
                <a:cs typeface="Arial"/>
              </a:rPr>
              <a:t>(-B)</a:t>
            </a:r>
            <a:r>
              <a:rPr sz="2400" spc="-7" baseline="-20833" dirty="0">
                <a:solidFill>
                  <a:srgbClr val="0033CC"/>
                </a:solidFill>
                <a:latin typeface="微软雅黑"/>
                <a:cs typeface="微软雅黑"/>
              </a:rPr>
              <a:t>补</a:t>
            </a:r>
            <a:r>
              <a:rPr sz="2400" spc="-7" baseline="-20833" dirty="0">
                <a:solidFill>
                  <a:srgbClr val="0033CC"/>
                </a:solidFill>
                <a:latin typeface="Arial"/>
                <a:cs typeface="Arial"/>
              </a:rPr>
              <a:t>.8</a:t>
            </a:r>
            <a:r>
              <a:rPr sz="2400" spc="-15" baseline="-20833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33CC"/>
                </a:solidFill>
                <a:latin typeface="Arial"/>
                <a:cs typeface="Arial"/>
              </a:rPr>
              <a:t>=</a:t>
            </a:r>
            <a:r>
              <a:rPr sz="2400" spc="-4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0033CC"/>
                </a:solidFill>
                <a:latin typeface="Arial"/>
                <a:cs typeface="Arial"/>
              </a:rPr>
              <a:t>10010011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6783" y="3550411"/>
            <a:ext cx="2011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33CC"/>
                </a:solidFill>
                <a:latin typeface="Times New Roman"/>
                <a:cs typeface="Times New Roman"/>
              </a:rPr>
              <a:t>A+B=10100000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52983" y="4282185"/>
            <a:ext cx="1628139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6670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00</a:t>
            </a:r>
            <a:r>
              <a:rPr sz="2400" spc="-8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8890" algn="r">
              <a:lnSpc>
                <a:spcPct val="100000"/>
              </a:lnSpc>
              <a:tabLst>
                <a:tab pos="398780" algn="l"/>
              </a:tabLst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	0</a:t>
            </a:r>
            <a:r>
              <a:rPr sz="2400" spc="-8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</a:t>
            </a:r>
            <a:r>
              <a:rPr sz="2400" spc="-8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61416" y="5065776"/>
            <a:ext cx="1792605" cy="0"/>
          </a:xfrm>
          <a:custGeom>
            <a:avLst/>
            <a:gdLst/>
            <a:ahLst/>
            <a:cxnLst/>
            <a:rect l="l" t="t" r="r" b="b"/>
            <a:pathLst>
              <a:path w="1792605">
                <a:moveTo>
                  <a:pt x="0" y="0"/>
                </a:moveTo>
                <a:lnTo>
                  <a:pt x="1792224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890520" y="4286453"/>
            <a:ext cx="163322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655" algn="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00</a:t>
            </a:r>
            <a:r>
              <a:rPr sz="2400" spc="-9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</a:t>
            </a:r>
            <a:r>
              <a:rPr sz="2400" spc="-9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  <a:tabLst>
                <a:tab pos="398780" algn="l"/>
              </a:tabLst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	100100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R="33655" algn="r">
              <a:lnSpc>
                <a:spcPct val="100000"/>
              </a:lnSpc>
            </a:pP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938272" y="5065776"/>
            <a:ext cx="1873250" cy="0"/>
          </a:xfrm>
          <a:custGeom>
            <a:avLst/>
            <a:gdLst/>
            <a:ahLst/>
            <a:cxnLst/>
            <a:rect l="l" t="t" r="r" b="b"/>
            <a:pathLst>
              <a:path w="1873250">
                <a:moveTo>
                  <a:pt x="0" y="0"/>
                </a:moveTo>
                <a:lnTo>
                  <a:pt x="187299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255002" y="3550411"/>
            <a:ext cx="2033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33CC"/>
                </a:solidFill>
                <a:latin typeface="Times New Roman"/>
                <a:cs typeface="Times New Roman"/>
              </a:rPr>
              <a:t>-A-B=01100000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55002" y="4282185"/>
            <a:ext cx="17100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655" algn="r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tabLst>
                <a:tab pos="475615" algn="l"/>
              </a:tabLst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	100100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59802" y="5013705"/>
            <a:ext cx="1388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</a:t>
            </a:r>
            <a:r>
              <a:rPr sz="2400" spc="-80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10628" y="5065776"/>
            <a:ext cx="1656714" cy="0"/>
          </a:xfrm>
          <a:custGeom>
            <a:avLst/>
            <a:gdLst/>
            <a:ahLst/>
            <a:cxnLst/>
            <a:rect l="l" t="t" r="r" b="b"/>
            <a:pathLst>
              <a:path w="1656715">
                <a:moveTo>
                  <a:pt x="0" y="0"/>
                </a:moveTo>
                <a:lnTo>
                  <a:pt x="165658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688580" y="4363211"/>
            <a:ext cx="0" cy="1082040"/>
          </a:xfrm>
          <a:custGeom>
            <a:avLst/>
            <a:gdLst/>
            <a:ahLst/>
            <a:cxnLst/>
            <a:rect l="l" t="t" r="r" b="b"/>
            <a:pathLst>
              <a:path h="1082039">
                <a:moveTo>
                  <a:pt x="0" y="0"/>
                </a:moveTo>
                <a:lnTo>
                  <a:pt x="0" y="1082040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890520" y="3555238"/>
            <a:ext cx="41433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63750" algn="l"/>
              </a:tabLst>
            </a:pPr>
            <a:r>
              <a:rPr sz="2400" spc="-10" dirty="0">
                <a:solidFill>
                  <a:srgbClr val="0033CC"/>
                </a:solidFill>
                <a:latin typeface="Times New Roman"/>
                <a:cs typeface="Times New Roman"/>
              </a:rPr>
              <a:t>A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-</a:t>
            </a:r>
            <a:r>
              <a:rPr sz="2400" spc="-5" dirty="0">
                <a:solidFill>
                  <a:srgbClr val="0033CC"/>
                </a:solidFill>
                <a:latin typeface="Times New Roman"/>
                <a:cs typeface="Times New Roman"/>
              </a:rPr>
              <a:t>B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=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	</a:t>
            </a:r>
            <a:r>
              <a:rPr sz="3600" baseline="1157" dirty="0">
                <a:solidFill>
                  <a:srgbClr val="0033CC"/>
                </a:solidFill>
                <a:latin typeface="Times New Roman"/>
                <a:cs typeface="Times New Roman"/>
              </a:rPr>
              <a:t>-A+</a:t>
            </a:r>
            <a:r>
              <a:rPr sz="3600" spc="-15" baseline="1157" dirty="0">
                <a:solidFill>
                  <a:srgbClr val="0033CC"/>
                </a:solidFill>
                <a:latin typeface="Times New Roman"/>
                <a:cs typeface="Times New Roman"/>
              </a:rPr>
              <a:t>B</a:t>
            </a:r>
            <a:r>
              <a:rPr sz="3600" baseline="1157" dirty="0">
                <a:solidFill>
                  <a:srgbClr val="0033CC"/>
                </a:solidFill>
                <a:latin typeface="Times New Roman"/>
                <a:cs typeface="Times New Roman"/>
              </a:rPr>
              <a:t>=00</a:t>
            </a:r>
            <a:r>
              <a:rPr sz="3600" spc="-127" baseline="1157" dirty="0">
                <a:solidFill>
                  <a:srgbClr val="0033CC"/>
                </a:solidFill>
                <a:latin typeface="Times New Roman"/>
                <a:cs typeface="Times New Roman"/>
              </a:rPr>
              <a:t>11</a:t>
            </a:r>
            <a:r>
              <a:rPr sz="3600" baseline="1157" dirty="0">
                <a:solidFill>
                  <a:srgbClr val="0033CC"/>
                </a:solidFill>
                <a:latin typeface="Times New Roman"/>
                <a:cs typeface="Times New Roman"/>
              </a:rPr>
              <a:t>1010</a:t>
            </a:r>
            <a:endParaRPr sz="3600" baseline="1157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41823" y="4282185"/>
            <a:ext cx="16992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2860" algn="r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tabLst>
                <a:tab pos="474980" algn="l"/>
              </a:tabLst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+	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246623" y="5013705"/>
            <a:ext cx="1376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100</a:t>
            </a:r>
            <a:r>
              <a:rPr sz="2400" spc="-85" dirty="0">
                <a:solidFill>
                  <a:srgbClr val="0033CC"/>
                </a:solidFill>
                <a:latin typeface="Times New Roman"/>
                <a:cs typeface="Times New Roman"/>
              </a:rPr>
              <a:t>11</a:t>
            </a:r>
            <a:r>
              <a:rPr sz="2400" dirty="0">
                <a:solidFill>
                  <a:srgbClr val="0033CC"/>
                </a:solidFill>
                <a:latin typeface="Times New Roman"/>
                <a:cs typeface="Times New Roman"/>
              </a:rPr>
              <a:t>1010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039867" y="5065776"/>
            <a:ext cx="1583690" cy="0"/>
          </a:xfrm>
          <a:custGeom>
            <a:avLst/>
            <a:gdLst/>
            <a:ahLst/>
            <a:cxnLst/>
            <a:rect l="l" t="t" r="r" b="b"/>
            <a:pathLst>
              <a:path w="1583690">
                <a:moveTo>
                  <a:pt x="0" y="0"/>
                </a:moveTo>
                <a:lnTo>
                  <a:pt x="158343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385815" y="4364735"/>
            <a:ext cx="0" cy="1009015"/>
          </a:xfrm>
          <a:custGeom>
            <a:avLst/>
            <a:gdLst/>
            <a:ahLst/>
            <a:cxnLst/>
            <a:rect l="l" t="t" r="r" b="b"/>
            <a:pathLst>
              <a:path h="1009014">
                <a:moveTo>
                  <a:pt x="0" y="0"/>
                </a:moveTo>
                <a:lnTo>
                  <a:pt x="0" y="1008888"/>
                </a:lnTo>
              </a:path>
            </a:pathLst>
          </a:custGeom>
          <a:ln w="9144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68223" y="5635244"/>
            <a:ext cx="166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51+109=-96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316479" y="5649467"/>
            <a:ext cx="432816" cy="409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7326248" y="5635244"/>
            <a:ext cx="159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-51-109=96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912352" y="5649467"/>
            <a:ext cx="432816" cy="4099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2871977" y="5635244"/>
            <a:ext cx="1592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51-109=-58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4448555" y="5623559"/>
            <a:ext cx="435863" cy="4358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104638" y="5635244"/>
            <a:ext cx="1668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-51+109=58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752843" y="5603747"/>
            <a:ext cx="455675" cy="4556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6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16</a:t>
            </a:fld>
            <a:endParaRPr spc="-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93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补码表示的符号数的加减运</a:t>
            </a:r>
            <a:r>
              <a:rPr spc="-30" dirty="0"/>
              <a:t>算</a:t>
            </a:r>
            <a:r>
              <a:rPr spc="-10" dirty="0">
                <a:latin typeface="Times New Roman"/>
                <a:cs typeface="Times New Roman"/>
              </a:rPr>
              <a:t>_</a:t>
            </a:r>
            <a:r>
              <a:rPr dirty="0"/>
              <a:t>溢出</a:t>
            </a:r>
          </a:p>
        </p:txBody>
      </p:sp>
      <p:sp>
        <p:nvSpPr>
          <p:cNvPr id="7" name="object 7"/>
          <p:cNvSpPr/>
          <p:nvPr/>
        </p:nvSpPr>
        <p:spPr>
          <a:xfrm>
            <a:off x="518922" y="2399538"/>
            <a:ext cx="8655050" cy="1644650"/>
          </a:xfrm>
          <a:custGeom>
            <a:avLst/>
            <a:gdLst/>
            <a:ahLst/>
            <a:cxnLst/>
            <a:rect l="l" t="t" r="r" b="b"/>
            <a:pathLst>
              <a:path w="8655050" h="1644650">
                <a:moveTo>
                  <a:pt x="0" y="1644395"/>
                </a:moveTo>
                <a:lnTo>
                  <a:pt x="8654796" y="1644395"/>
                </a:lnTo>
                <a:lnTo>
                  <a:pt x="8654796" y="0"/>
                </a:lnTo>
                <a:lnTo>
                  <a:pt x="0" y="0"/>
                </a:lnTo>
                <a:lnTo>
                  <a:pt x="0" y="164439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1738" y="1971294"/>
            <a:ext cx="6057900" cy="856615"/>
          </a:xfrm>
          <a:custGeom>
            <a:avLst/>
            <a:gdLst/>
            <a:ahLst/>
            <a:cxnLst/>
            <a:rect l="l" t="t" r="r" b="b"/>
            <a:pathLst>
              <a:path w="6057900" h="856614">
                <a:moveTo>
                  <a:pt x="5915152" y="0"/>
                </a:moveTo>
                <a:lnTo>
                  <a:pt x="142748" y="0"/>
                </a:lnTo>
                <a:lnTo>
                  <a:pt x="97627" y="7274"/>
                </a:lnTo>
                <a:lnTo>
                  <a:pt x="58441" y="27533"/>
                </a:lnTo>
                <a:lnTo>
                  <a:pt x="27540" y="58430"/>
                </a:lnTo>
                <a:lnTo>
                  <a:pt x="7276" y="97617"/>
                </a:lnTo>
                <a:lnTo>
                  <a:pt x="0" y="142747"/>
                </a:lnTo>
                <a:lnTo>
                  <a:pt x="0" y="713739"/>
                </a:lnTo>
                <a:lnTo>
                  <a:pt x="7276" y="758870"/>
                </a:lnTo>
                <a:lnTo>
                  <a:pt x="27540" y="798057"/>
                </a:lnTo>
                <a:lnTo>
                  <a:pt x="58441" y="828954"/>
                </a:lnTo>
                <a:lnTo>
                  <a:pt x="97627" y="849213"/>
                </a:lnTo>
                <a:lnTo>
                  <a:pt x="142748" y="856488"/>
                </a:lnTo>
                <a:lnTo>
                  <a:pt x="5915152" y="856488"/>
                </a:lnTo>
                <a:lnTo>
                  <a:pt x="5960282" y="849213"/>
                </a:lnTo>
                <a:lnTo>
                  <a:pt x="5999469" y="828954"/>
                </a:lnTo>
                <a:lnTo>
                  <a:pt x="6030366" y="798057"/>
                </a:lnTo>
                <a:lnTo>
                  <a:pt x="6050625" y="758870"/>
                </a:lnTo>
                <a:lnTo>
                  <a:pt x="6057900" y="713739"/>
                </a:lnTo>
                <a:lnTo>
                  <a:pt x="6057900" y="142747"/>
                </a:lnTo>
                <a:lnTo>
                  <a:pt x="6050625" y="97617"/>
                </a:lnTo>
                <a:lnTo>
                  <a:pt x="6030366" y="58430"/>
                </a:lnTo>
                <a:lnTo>
                  <a:pt x="5999469" y="27533"/>
                </a:lnTo>
                <a:lnTo>
                  <a:pt x="5960282" y="7274"/>
                </a:lnTo>
                <a:lnTo>
                  <a:pt x="5915152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738" y="1971294"/>
            <a:ext cx="6057900" cy="856615"/>
          </a:xfrm>
          <a:custGeom>
            <a:avLst/>
            <a:gdLst/>
            <a:ahLst/>
            <a:cxnLst/>
            <a:rect l="l" t="t" r="r" b="b"/>
            <a:pathLst>
              <a:path w="6057900" h="856614">
                <a:moveTo>
                  <a:pt x="0" y="142747"/>
                </a:moveTo>
                <a:lnTo>
                  <a:pt x="7276" y="97617"/>
                </a:lnTo>
                <a:lnTo>
                  <a:pt x="27540" y="58430"/>
                </a:lnTo>
                <a:lnTo>
                  <a:pt x="58441" y="27533"/>
                </a:lnTo>
                <a:lnTo>
                  <a:pt x="97627" y="7274"/>
                </a:lnTo>
                <a:lnTo>
                  <a:pt x="142748" y="0"/>
                </a:lnTo>
                <a:lnTo>
                  <a:pt x="5915152" y="0"/>
                </a:lnTo>
                <a:lnTo>
                  <a:pt x="5960282" y="7274"/>
                </a:lnTo>
                <a:lnTo>
                  <a:pt x="5999469" y="27533"/>
                </a:lnTo>
                <a:lnTo>
                  <a:pt x="6030366" y="58430"/>
                </a:lnTo>
                <a:lnTo>
                  <a:pt x="6050625" y="97617"/>
                </a:lnTo>
                <a:lnTo>
                  <a:pt x="6057900" y="142747"/>
                </a:lnTo>
                <a:lnTo>
                  <a:pt x="6057900" y="713739"/>
                </a:lnTo>
                <a:lnTo>
                  <a:pt x="6050625" y="758870"/>
                </a:lnTo>
                <a:lnTo>
                  <a:pt x="6030366" y="798057"/>
                </a:lnTo>
                <a:lnTo>
                  <a:pt x="5999469" y="828954"/>
                </a:lnTo>
                <a:lnTo>
                  <a:pt x="5960282" y="849213"/>
                </a:lnTo>
                <a:lnTo>
                  <a:pt x="5915152" y="856488"/>
                </a:lnTo>
                <a:lnTo>
                  <a:pt x="142748" y="856488"/>
                </a:lnTo>
                <a:lnTo>
                  <a:pt x="97627" y="849213"/>
                </a:lnTo>
                <a:lnTo>
                  <a:pt x="58441" y="828954"/>
                </a:lnTo>
                <a:lnTo>
                  <a:pt x="27540" y="798057"/>
                </a:lnTo>
                <a:lnTo>
                  <a:pt x="7276" y="758870"/>
                </a:lnTo>
                <a:lnTo>
                  <a:pt x="0" y="713739"/>
                </a:lnTo>
                <a:lnTo>
                  <a:pt x="0" y="142747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18922" y="4629150"/>
            <a:ext cx="8655050" cy="1644650"/>
          </a:xfrm>
          <a:custGeom>
            <a:avLst/>
            <a:gdLst/>
            <a:ahLst/>
            <a:cxnLst/>
            <a:rect l="l" t="t" r="r" b="b"/>
            <a:pathLst>
              <a:path w="8655050" h="1644650">
                <a:moveTo>
                  <a:pt x="0" y="1644395"/>
                </a:moveTo>
                <a:lnTo>
                  <a:pt x="8654796" y="1644395"/>
                </a:lnTo>
                <a:lnTo>
                  <a:pt x="8654796" y="0"/>
                </a:lnTo>
                <a:lnTo>
                  <a:pt x="0" y="0"/>
                </a:lnTo>
                <a:lnTo>
                  <a:pt x="0" y="164439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738" y="4200905"/>
            <a:ext cx="6057900" cy="855344"/>
          </a:xfrm>
          <a:custGeom>
            <a:avLst/>
            <a:gdLst/>
            <a:ahLst/>
            <a:cxnLst/>
            <a:rect l="l" t="t" r="r" b="b"/>
            <a:pathLst>
              <a:path w="6057900" h="855345">
                <a:moveTo>
                  <a:pt x="5915406" y="0"/>
                </a:moveTo>
                <a:lnTo>
                  <a:pt x="142494" y="0"/>
                </a:lnTo>
                <a:lnTo>
                  <a:pt x="97453" y="7260"/>
                </a:lnTo>
                <a:lnTo>
                  <a:pt x="58336" y="27480"/>
                </a:lnTo>
                <a:lnTo>
                  <a:pt x="27491" y="58320"/>
                </a:lnTo>
                <a:lnTo>
                  <a:pt x="7263" y="97438"/>
                </a:lnTo>
                <a:lnTo>
                  <a:pt x="0" y="142494"/>
                </a:lnTo>
                <a:lnTo>
                  <a:pt x="0" y="712470"/>
                </a:lnTo>
                <a:lnTo>
                  <a:pt x="7263" y="757525"/>
                </a:lnTo>
                <a:lnTo>
                  <a:pt x="27491" y="796643"/>
                </a:lnTo>
                <a:lnTo>
                  <a:pt x="58336" y="827483"/>
                </a:lnTo>
                <a:lnTo>
                  <a:pt x="97453" y="847703"/>
                </a:lnTo>
                <a:lnTo>
                  <a:pt x="142494" y="854964"/>
                </a:lnTo>
                <a:lnTo>
                  <a:pt x="5915406" y="854964"/>
                </a:lnTo>
                <a:lnTo>
                  <a:pt x="5960461" y="847703"/>
                </a:lnTo>
                <a:lnTo>
                  <a:pt x="5999579" y="827483"/>
                </a:lnTo>
                <a:lnTo>
                  <a:pt x="6030419" y="796643"/>
                </a:lnTo>
                <a:lnTo>
                  <a:pt x="6050639" y="757525"/>
                </a:lnTo>
                <a:lnTo>
                  <a:pt x="6057900" y="712470"/>
                </a:lnTo>
                <a:lnTo>
                  <a:pt x="6057900" y="142494"/>
                </a:lnTo>
                <a:lnTo>
                  <a:pt x="6050639" y="97438"/>
                </a:lnTo>
                <a:lnTo>
                  <a:pt x="6030419" y="58320"/>
                </a:lnTo>
                <a:lnTo>
                  <a:pt x="5999579" y="27480"/>
                </a:lnTo>
                <a:lnTo>
                  <a:pt x="5960461" y="7260"/>
                </a:lnTo>
                <a:lnTo>
                  <a:pt x="591540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738" y="4200905"/>
            <a:ext cx="6057900" cy="855344"/>
          </a:xfrm>
          <a:custGeom>
            <a:avLst/>
            <a:gdLst/>
            <a:ahLst/>
            <a:cxnLst/>
            <a:rect l="l" t="t" r="r" b="b"/>
            <a:pathLst>
              <a:path w="6057900" h="855345">
                <a:moveTo>
                  <a:pt x="0" y="142494"/>
                </a:moveTo>
                <a:lnTo>
                  <a:pt x="7263" y="97438"/>
                </a:lnTo>
                <a:lnTo>
                  <a:pt x="27491" y="58320"/>
                </a:lnTo>
                <a:lnTo>
                  <a:pt x="58336" y="27480"/>
                </a:lnTo>
                <a:lnTo>
                  <a:pt x="97453" y="7260"/>
                </a:lnTo>
                <a:lnTo>
                  <a:pt x="142494" y="0"/>
                </a:lnTo>
                <a:lnTo>
                  <a:pt x="5915406" y="0"/>
                </a:lnTo>
                <a:lnTo>
                  <a:pt x="5960461" y="7260"/>
                </a:lnTo>
                <a:lnTo>
                  <a:pt x="5999579" y="27480"/>
                </a:lnTo>
                <a:lnTo>
                  <a:pt x="6030419" y="58320"/>
                </a:lnTo>
                <a:lnTo>
                  <a:pt x="6050639" y="97438"/>
                </a:lnTo>
                <a:lnTo>
                  <a:pt x="6057900" y="142494"/>
                </a:lnTo>
                <a:lnTo>
                  <a:pt x="6057900" y="712470"/>
                </a:lnTo>
                <a:lnTo>
                  <a:pt x="6050639" y="757525"/>
                </a:lnTo>
                <a:lnTo>
                  <a:pt x="6030419" y="796643"/>
                </a:lnTo>
                <a:lnTo>
                  <a:pt x="5999579" y="827483"/>
                </a:lnTo>
                <a:lnTo>
                  <a:pt x="5960461" y="847703"/>
                </a:lnTo>
                <a:lnTo>
                  <a:pt x="5915406" y="854964"/>
                </a:lnTo>
                <a:lnTo>
                  <a:pt x="142494" y="854964"/>
                </a:lnTo>
                <a:lnTo>
                  <a:pt x="97453" y="847703"/>
                </a:lnTo>
                <a:lnTo>
                  <a:pt x="58336" y="827483"/>
                </a:lnTo>
                <a:lnTo>
                  <a:pt x="27491" y="796643"/>
                </a:lnTo>
                <a:lnTo>
                  <a:pt x="7263" y="757525"/>
                </a:lnTo>
                <a:lnTo>
                  <a:pt x="0" y="712470"/>
                </a:lnTo>
                <a:lnTo>
                  <a:pt x="0" y="142494"/>
                </a:lnTo>
                <a:close/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70382" y="1218056"/>
            <a:ext cx="8615680" cy="5048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溢</a:t>
            </a:r>
            <a:r>
              <a:rPr sz="2800" spc="-10" dirty="0">
                <a:solidFill>
                  <a:srgbClr val="FF0000"/>
                </a:solidFill>
                <a:latin typeface="微软雅黑"/>
                <a:cs typeface="微软雅黑"/>
              </a:rPr>
              <a:t>出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(Overflow)</a:t>
            </a:r>
            <a:r>
              <a:rPr sz="2800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计算结果超出了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位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符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号数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表示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范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围</a:t>
            </a:r>
            <a:endParaRPr sz="28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50" dirty="0">
              <a:latin typeface="微软雅黑"/>
              <a:cs typeface="微软雅黑"/>
            </a:endParaRPr>
          </a:p>
          <a:p>
            <a:pPr marL="65087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两个加数</a:t>
            </a:r>
            <a:r>
              <a:rPr sz="2800" spc="-5" dirty="0">
                <a:solidFill>
                  <a:srgbClr val="FFFFFF"/>
                </a:solidFill>
                <a:highlight>
                  <a:srgbClr val="000080"/>
                </a:highlight>
                <a:latin typeface="微软雅黑"/>
                <a:cs typeface="微软雅黑"/>
              </a:rPr>
              <a:t>符号相同</a:t>
            </a:r>
            <a:endParaRPr sz="2800" dirty="0">
              <a:highlight>
                <a:srgbClr val="000080"/>
              </a:highlight>
              <a:latin typeface="微软雅黑"/>
              <a:cs typeface="微软雅黑"/>
            </a:endParaRPr>
          </a:p>
          <a:p>
            <a:pPr marL="905510" marR="954405" indent="-287020">
              <a:lnSpc>
                <a:spcPct val="128600"/>
              </a:lnSpc>
              <a:spcBef>
                <a:spcPts val="2660"/>
              </a:spcBef>
              <a:buFont typeface="Arial"/>
              <a:buChar char="•"/>
              <a:tabLst>
                <a:tab pos="905510" algn="l"/>
                <a:tab pos="906144" algn="l"/>
              </a:tabLst>
            </a:pP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当两个加数的绝对值之和超出符号</a:t>
            </a:r>
            <a:r>
              <a:rPr sz="2800" dirty="0">
                <a:solidFill>
                  <a:srgbClr val="0033CC"/>
                </a:solidFill>
                <a:latin typeface="微软雅黑"/>
                <a:cs typeface="微软雅黑"/>
              </a:rPr>
              <a:t>数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的表示 范围时，</a:t>
            </a:r>
            <a:r>
              <a:rPr sz="2800" spc="-5" dirty="0">
                <a:solidFill>
                  <a:srgbClr val="00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发生溢出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650875">
              <a:lnSpc>
                <a:spcPct val="100000"/>
              </a:lnSpc>
              <a:spcBef>
                <a:spcPts val="2890"/>
              </a:spcBef>
            </a:pP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两个加数</a:t>
            </a:r>
            <a:r>
              <a:rPr sz="2800" spc="-5" dirty="0">
                <a:solidFill>
                  <a:srgbClr val="FFFFFF"/>
                </a:solidFill>
                <a:highlight>
                  <a:srgbClr val="000080"/>
                </a:highlight>
                <a:latin typeface="微软雅黑"/>
                <a:cs typeface="微软雅黑"/>
              </a:rPr>
              <a:t>符号不同</a:t>
            </a:r>
            <a:endParaRPr sz="2800" dirty="0">
              <a:highlight>
                <a:srgbClr val="000080"/>
              </a:highlight>
              <a:latin typeface="微软雅黑"/>
              <a:cs typeface="微软雅黑"/>
            </a:endParaRPr>
          </a:p>
          <a:p>
            <a:pPr marL="905510" marR="954405" indent="-287020">
              <a:lnSpc>
                <a:spcPct val="128600"/>
              </a:lnSpc>
              <a:spcBef>
                <a:spcPts val="2660"/>
              </a:spcBef>
              <a:buFont typeface="Arial"/>
              <a:buChar char="•"/>
              <a:tabLst>
                <a:tab pos="905510" algn="l"/>
                <a:tab pos="906144" algn="l"/>
              </a:tabLst>
            </a:pP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相加结果的绝对值一定小于某一个</a:t>
            </a:r>
            <a:r>
              <a:rPr sz="2800" dirty="0">
                <a:solidFill>
                  <a:srgbClr val="0033CC"/>
                </a:solidFill>
                <a:latin typeface="微软雅黑"/>
                <a:cs typeface="微软雅黑"/>
              </a:rPr>
              <a:t>加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数的绝 对值，</a:t>
            </a:r>
            <a:r>
              <a:rPr sz="2800" spc="-5" dirty="0">
                <a:solidFill>
                  <a:srgbClr val="00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因此一定不会溢出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17</a:t>
            </a:fld>
            <a:endParaRPr spc="-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496961" y="4100883"/>
            <a:ext cx="2409914" cy="23179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937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补码表示的符号数的加减运</a:t>
            </a:r>
            <a:r>
              <a:rPr spc="-30" dirty="0"/>
              <a:t>算</a:t>
            </a:r>
            <a:r>
              <a:rPr spc="-10" dirty="0">
                <a:latin typeface="Times New Roman"/>
                <a:cs typeface="Times New Roman"/>
              </a:rPr>
              <a:t>_</a:t>
            </a:r>
            <a:r>
              <a:rPr dirty="0"/>
              <a:t>溢出</a:t>
            </a:r>
          </a:p>
        </p:txBody>
      </p:sp>
      <p:sp>
        <p:nvSpPr>
          <p:cNvPr id="8" name="object 8"/>
          <p:cNvSpPr/>
          <p:nvPr/>
        </p:nvSpPr>
        <p:spPr>
          <a:xfrm>
            <a:off x="496062" y="1521713"/>
            <a:ext cx="8778240" cy="2466340"/>
          </a:xfrm>
          <a:custGeom>
            <a:avLst/>
            <a:gdLst/>
            <a:ahLst/>
            <a:cxnLst/>
            <a:rect l="l" t="t" r="r" b="b"/>
            <a:pathLst>
              <a:path w="8778240" h="2466340">
                <a:moveTo>
                  <a:pt x="0" y="2465832"/>
                </a:moveTo>
                <a:lnTo>
                  <a:pt x="8778240" y="2465832"/>
                </a:lnTo>
                <a:lnTo>
                  <a:pt x="8778240" y="0"/>
                </a:lnTo>
                <a:lnTo>
                  <a:pt x="0" y="0"/>
                </a:lnTo>
                <a:lnTo>
                  <a:pt x="0" y="246583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4974" y="1093469"/>
            <a:ext cx="6144895" cy="856615"/>
          </a:xfrm>
          <a:custGeom>
            <a:avLst/>
            <a:gdLst/>
            <a:ahLst/>
            <a:cxnLst/>
            <a:rect l="l" t="t" r="r" b="b"/>
            <a:pathLst>
              <a:path w="6144895" h="856614">
                <a:moveTo>
                  <a:pt x="6002020" y="0"/>
                </a:moveTo>
                <a:lnTo>
                  <a:pt x="142747" y="0"/>
                </a:lnTo>
                <a:lnTo>
                  <a:pt x="97627" y="7274"/>
                </a:lnTo>
                <a:lnTo>
                  <a:pt x="58441" y="27533"/>
                </a:lnTo>
                <a:lnTo>
                  <a:pt x="27540" y="58430"/>
                </a:lnTo>
                <a:lnTo>
                  <a:pt x="7276" y="97617"/>
                </a:lnTo>
                <a:lnTo>
                  <a:pt x="0" y="142747"/>
                </a:lnTo>
                <a:lnTo>
                  <a:pt x="0" y="713739"/>
                </a:lnTo>
                <a:lnTo>
                  <a:pt x="7276" y="758870"/>
                </a:lnTo>
                <a:lnTo>
                  <a:pt x="27540" y="798057"/>
                </a:lnTo>
                <a:lnTo>
                  <a:pt x="58441" y="828954"/>
                </a:lnTo>
                <a:lnTo>
                  <a:pt x="97627" y="849213"/>
                </a:lnTo>
                <a:lnTo>
                  <a:pt x="142747" y="856488"/>
                </a:lnTo>
                <a:lnTo>
                  <a:pt x="6002020" y="856488"/>
                </a:lnTo>
                <a:lnTo>
                  <a:pt x="6047150" y="849213"/>
                </a:lnTo>
                <a:lnTo>
                  <a:pt x="6086337" y="828954"/>
                </a:lnTo>
                <a:lnTo>
                  <a:pt x="6117234" y="798057"/>
                </a:lnTo>
                <a:lnTo>
                  <a:pt x="6137493" y="758870"/>
                </a:lnTo>
                <a:lnTo>
                  <a:pt x="6144768" y="713739"/>
                </a:lnTo>
                <a:lnTo>
                  <a:pt x="6144768" y="142747"/>
                </a:lnTo>
                <a:lnTo>
                  <a:pt x="6137493" y="97617"/>
                </a:lnTo>
                <a:lnTo>
                  <a:pt x="6117234" y="58430"/>
                </a:lnTo>
                <a:lnTo>
                  <a:pt x="6086337" y="27533"/>
                </a:lnTo>
                <a:lnTo>
                  <a:pt x="6047150" y="7274"/>
                </a:lnTo>
                <a:lnTo>
                  <a:pt x="600202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34974" y="1093469"/>
            <a:ext cx="6144895" cy="856615"/>
          </a:xfrm>
          <a:custGeom>
            <a:avLst/>
            <a:gdLst/>
            <a:ahLst/>
            <a:cxnLst/>
            <a:rect l="l" t="t" r="r" b="b"/>
            <a:pathLst>
              <a:path w="6144895" h="856614">
                <a:moveTo>
                  <a:pt x="0" y="142747"/>
                </a:moveTo>
                <a:lnTo>
                  <a:pt x="7276" y="97617"/>
                </a:lnTo>
                <a:lnTo>
                  <a:pt x="27540" y="58430"/>
                </a:lnTo>
                <a:lnTo>
                  <a:pt x="58441" y="27533"/>
                </a:lnTo>
                <a:lnTo>
                  <a:pt x="97627" y="7274"/>
                </a:lnTo>
                <a:lnTo>
                  <a:pt x="142747" y="0"/>
                </a:lnTo>
                <a:lnTo>
                  <a:pt x="6002020" y="0"/>
                </a:lnTo>
                <a:lnTo>
                  <a:pt x="6047150" y="7274"/>
                </a:lnTo>
                <a:lnTo>
                  <a:pt x="6086337" y="27533"/>
                </a:lnTo>
                <a:lnTo>
                  <a:pt x="6117234" y="58430"/>
                </a:lnTo>
                <a:lnTo>
                  <a:pt x="6137493" y="97617"/>
                </a:lnTo>
                <a:lnTo>
                  <a:pt x="6144768" y="142747"/>
                </a:lnTo>
                <a:lnTo>
                  <a:pt x="6144768" y="713739"/>
                </a:lnTo>
                <a:lnTo>
                  <a:pt x="6137493" y="758870"/>
                </a:lnTo>
                <a:lnTo>
                  <a:pt x="6117234" y="798057"/>
                </a:lnTo>
                <a:lnTo>
                  <a:pt x="6086337" y="828954"/>
                </a:lnTo>
                <a:lnTo>
                  <a:pt x="6047150" y="849213"/>
                </a:lnTo>
                <a:lnTo>
                  <a:pt x="6002020" y="856488"/>
                </a:lnTo>
                <a:lnTo>
                  <a:pt x="142747" y="856488"/>
                </a:lnTo>
                <a:lnTo>
                  <a:pt x="97627" y="849213"/>
                </a:lnTo>
                <a:lnTo>
                  <a:pt x="58441" y="828954"/>
                </a:lnTo>
                <a:lnTo>
                  <a:pt x="27540" y="798057"/>
                </a:lnTo>
                <a:lnTo>
                  <a:pt x="7276" y="758870"/>
                </a:lnTo>
                <a:lnTo>
                  <a:pt x="0" y="713739"/>
                </a:lnTo>
                <a:lnTo>
                  <a:pt x="0" y="142747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64132" y="1271778"/>
            <a:ext cx="7577455" cy="2437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微软雅黑"/>
                <a:cs typeface="微软雅黑"/>
              </a:rPr>
              <a:t>溢出判断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ct val="128800"/>
              </a:lnSpc>
              <a:spcBef>
                <a:spcPts val="2650"/>
              </a:spcBef>
              <a:buSzPct val="96428"/>
              <a:buFont typeface="Arial"/>
              <a:buChar char="•"/>
              <a:tabLst>
                <a:tab pos="137795" algn="l"/>
              </a:tabLst>
            </a:pP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当第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-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1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位（符</a:t>
            </a:r>
            <a:r>
              <a:rPr sz="2800" spc="10" dirty="0">
                <a:solidFill>
                  <a:srgbClr val="0033CC"/>
                </a:solidFill>
                <a:latin typeface="微软雅黑"/>
                <a:cs typeface="微软雅黑"/>
              </a:rPr>
              <a:t>号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位）和</a:t>
            </a:r>
            <a:r>
              <a:rPr sz="2800" dirty="0">
                <a:solidFill>
                  <a:srgbClr val="0033CC"/>
                </a:solidFill>
                <a:latin typeface="微软雅黑"/>
                <a:cs typeface="微软雅黑"/>
              </a:rPr>
              <a:t>第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n</a:t>
            </a:r>
            <a:r>
              <a:rPr sz="2800" spc="-5" dirty="0">
                <a:solidFill>
                  <a:srgbClr val="0033CC"/>
                </a:solidFill>
                <a:latin typeface="Arial"/>
                <a:cs typeface="Arial"/>
              </a:rPr>
              <a:t>-</a:t>
            </a:r>
            <a:r>
              <a:rPr sz="2800" dirty="0">
                <a:solidFill>
                  <a:srgbClr val="0033CC"/>
                </a:solidFill>
                <a:latin typeface="Arial"/>
                <a:cs typeface="Arial"/>
              </a:rPr>
              <a:t>2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位（最高数</a:t>
            </a:r>
            <a:r>
              <a:rPr sz="2800" dirty="0">
                <a:solidFill>
                  <a:srgbClr val="0033CC"/>
                </a:solidFill>
                <a:latin typeface="微软雅黑"/>
                <a:cs typeface="微软雅黑"/>
              </a:rPr>
              <a:t>字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位） 不同时有进位（两个负数相加时）</a:t>
            </a:r>
            <a:r>
              <a:rPr sz="2800" dirty="0">
                <a:solidFill>
                  <a:srgbClr val="0033CC"/>
                </a:solidFill>
                <a:latin typeface="微软雅黑"/>
                <a:cs typeface="微软雅黑"/>
              </a:rPr>
              <a:t>或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不同</a:t>
            </a:r>
            <a:r>
              <a:rPr sz="2800" dirty="0">
                <a:solidFill>
                  <a:srgbClr val="0033CC"/>
                </a:solidFill>
                <a:latin typeface="微软雅黑"/>
                <a:cs typeface="微软雅黑"/>
              </a:rPr>
              <a:t>时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无 进位（两个正数相加时）时有溢出</a:t>
            </a:r>
            <a:r>
              <a:rPr sz="2800" dirty="0">
                <a:solidFill>
                  <a:srgbClr val="0033CC"/>
                </a:solidFill>
                <a:latin typeface="微软雅黑"/>
                <a:cs typeface="微软雅黑"/>
              </a:rPr>
              <a:t>发</a:t>
            </a:r>
            <a:r>
              <a:rPr sz="2800" spc="-5" dirty="0">
                <a:solidFill>
                  <a:srgbClr val="0033CC"/>
                </a:solidFill>
                <a:latin typeface="微软雅黑"/>
                <a:cs typeface="微软雅黑"/>
              </a:rPr>
              <a:t>生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6488" y="4221479"/>
            <a:ext cx="1863852" cy="18638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12492" y="4104132"/>
            <a:ext cx="4313682" cy="15019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412492" y="4928615"/>
            <a:ext cx="4313682" cy="15019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43276" y="4284345"/>
            <a:ext cx="3454400" cy="16732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85"/>
              </a:spcBef>
            </a:pPr>
            <a:r>
              <a:rPr sz="5400" dirty="0">
                <a:solidFill>
                  <a:srgbClr val="FF9900"/>
                </a:solidFill>
                <a:latin typeface="微软雅黑"/>
                <a:cs typeface="微软雅黑"/>
              </a:rPr>
              <a:t>有没有简单 </a:t>
            </a:r>
            <a:r>
              <a:rPr sz="5400" spc="-5" dirty="0">
                <a:solidFill>
                  <a:srgbClr val="FF9900"/>
                </a:solidFill>
                <a:latin typeface="微软雅黑"/>
                <a:cs typeface="微软雅黑"/>
              </a:rPr>
              <a:t>点的办法啊</a:t>
            </a:r>
            <a:endParaRPr sz="5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7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18</a:t>
            </a:fld>
            <a:endParaRPr spc="-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80">
            <a:extLst>
              <a:ext uri="{FF2B5EF4-FFF2-40B4-BE49-F238E27FC236}">
                <a16:creationId xmlns:a16="http://schemas.microsoft.com/office/drawing/2014/main" id="{33AE24C6-EC3A-A346-D4B8-C1F2B8DD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2EE86344-22FD-8402-7D7A-E79CD525D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9905997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77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spc="5" dirty="0"/>
              <a:t>二</a:t>
            </a:r>
            <a:r>
              <a:rPr spc="-5" dirty="0">
                <a:latin typeface="Times New Roman"/>
                <a:cs typeface="Times New Roman"/>
              </a:rPr>
              <a:t>-</a:t>
            </a:r>
            <a:r>
              <a:rPr dirty="0"/>
              <a:t>十进制编码</a:t>
            </a:r>
            <a:r>
              <a:rPr spc="5" dirty="0"/>
              <a:t>（</a:t>
            </a:r>
            <a:r>
              <a:rPr dirty="0">
                <a:latin typeface="Times New Roman"/>
                <a:cs typeface="Times New Roman"/>
              </a:rPr>
              <a:t>BCD</a:t>
            </a:r>
            <a:r>
              <a:rPr spc="-10" dirty="0"/>
              <a:t>码</a:t>
            </a:r>
            <a:r>
              <a:rPr spc="5" dirty="0"/>
              <a:t>）</a:t>
            </a:r>
            <a:r>
              <a:rPr dirty="0"/>
              <a:t>	</a:t>
            </a:r>
          </a:p>
        </p:txBody>
      </p:sp>
      <p:sp>
        <p:nvSpPr>
          <p:cNvPr id="7" name="object 7"/>
          <p:cNvSpPr/>
          <p:nvPr/>
        </p:nvSpPr>
        <p:spPr>
          <a:xfrm>
            <a:off x="496062" y="1645157"/>
            <a:ext cx="8707120" cy="2466340"/>
          </a:xfrm>
          <a:custGeom>
            <a:avLst/>
            <a:gdLst/>
            <a:ahLst/>
            <a:cxnLst/>
            <a:rect l="l" t="t" r="r" b="b"/>
            <a:pathLst>
              <a:path w="8707120" h="2466340">
                <a:moveTo>
                  <a:pt x="0" y="2465832"/>
                </a:moveTo>
                <a:lnTo>
                  <a:pt x="8706612" y="2465832"/>
                </a:lnTo>
                <a:lnTo>
                  <a:pt x="8706612" y="0"/>
                </a:lnTo>
                <a:lnTo>
                  <a:pt x="0" y="0"/>
                </a:lnTo>
                <a:lnTo>
                  <a:pt x="0" y="246583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31925" y="1245869"/>
            <a:ext cx="6094730" cy="797560"/>
          </a:xfrm>
          <a:custGeom>
            <a:avLst/>
            <a:gdLst/>
            <a:ahLst/>
            <a:cxnLst/>
            <a:rect l="l" t="t" r="r" b="b"/>
            <a:pathLst>
              <a:path w="6094730" h="797560">
                <a:moveTo>
                  <a:pt x="5961633" y="0"/>
                </a:moveTo>
                <a:lnTo>
                  <a:pt x="132842" y="0"/>
                </a:lnTo>
                <a:lnTo>
                  <a:pt x="90853" y="6768"/>
                </a:lnTo>
                <a:lnTo>
                  <a:pt x="54386" y="25619"/>
                </a:lnTo>
                <a:lnTo>
                  <a:pt x="25630" y="54370"/>
                </a:lnTo>
                <a:lnTo>
                  <a:pt x="6772" y="90838"/>
                </a:lnTo>
                <a:lnTo>
                  <a:pt x="0" y="132841"/>
                </a:lnTo>
                <a:lnTo>
                  <a:pt x="0" y="664209"/>
                </a:lnTo>
                <a:lnTo>
                  <a:pt x="6772" y="706213"/>
                </a:lnTo>
                <a:lnTo>
                  <a:pt x="25630" y="742681"/>
                </a:lnTo>
                <a:lnTo>
                  <a:pt x="54386" y="771432"/>
                </a:lnTo>
                <a:lnTo>
                  <a:pt x="90853" y="790283"/>
                </a:lnTo>
                <a:lnTo>
                  <a:pt x="132842" y="797051"/>
                </a:lnTo>
                <a:lnTo>
                  <a:pt x="5961633" y="797051"/>
                </a:lnTo>
                <a:lnTo>
                  <a:pt x="6003637" y="790283"/>
                </a:lnTo>
                <a:lnTo>
                  <a:pt x="6040105" y="771432"/>
                </a:lnTo>
                <a:lnTo>
                  <a:pt x="6068856" y="742681"/>
                </a:lnTo>
                <a:lnTo>
                  <a:pt x="6087707" y="706213"/>
                </a:lnTo>
                <a:lnTo>
                  <a:pt x="6094476" y="664209"/>
                </a:lnTo>
                <a:lnTo>
                  <a:pt x="6094476" y="132841"/>
                </a:lnTo>
                <a:lnTo>
                  <a:pt x="6087707" y="90838"/>
                </a:lnTo>
                <a:lnTo>
                  <a:pt x="6068856" y="54370"/>
                </a:lnTo>
                <a:lnTo>
                  <a:pt x="6040105" y="25619"/>
                </a:lnTo>
                <a:lnTo>
                  <a:pt x="6003637" y="6768"/>
                </a:lnTo>
                <a:lnTo>
                  <a:pt x="59616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31925" y="1245869"/>
            <a:ext cx="6094730" cy="797560"/>
          </a:xfrm>
          <a:custGeom>
            <a:avLst/>
            <a:gdLst/>
            <a:ahLst/>
            <a:cxnLst/>
            <a:rect l="l" t="t" r="r" b="b"/>
            <a:pathLst>
              <a:path w="6094730" h="797560">
                <a:moveTo>
                  <a:pt x="0" y="132841"/>
                </a:moveTo>
                <a:lnTo>
                  <a:pt x="6772" y="90838"/>
                </a:lnTo>
                <a:lnTo>
                  <a:pt x="25630" y="54370"/>
                </a:lnTo>
                <a:lnTo>
                  <a:pt x="54386" y="25619"/>
                </a:lnTo>
                <a:lnTo>
                  <a:pt x="90853" y="6768"/>
                </a:lnTo>
                <a:lnTo>
                  <a:pt x="132842" y="0"/>
                </a:lnTo>
                <a:lnTo>
                  <a:pt x="5961633" y="0"/>
                </a:lnTo>
                <a:lnTo>
                  <a:pt x="6003637" y="6768"/>
                </a:lnTo>
                <a:lnTo>
                  <a:pt x="6040105" y="25619"/>
                </a:lnTo>
                <a:lnTo>
                  <a:pt x="6068856" y="54370"/>
                </a:lnTo>
                <a:lnTo>
                  <a:pt x="6087707" y="90838"/>
                </a:lnTo>
                <a:lnTo>
                  <a:pt x="6094476" y="132841"/>
                </a:lnTo>
                <a:lnTo>
                  <a:pt x="6094476" y="664209"/>
                </a:lnTo>
                <a:lnTo>
                  <a:pt x="6087707" y="706213"/>
                </a:lnTo>
                <a:lnTo>
                  <a:pt x="6068856" y="742681"/>
                </a:lnTo>
                <a:lnTo>
                  <a:pt x="6040105" y="771432"/>
                </a:lnTo>
                <a:lnTo>
                  <a:pt x="6003637" y="790283"/>
                </a:lnTo>
                <a:lnTo>
                  <a:pt x="5961633" y="797051"/>
                </a:lnTo>
                <a:lnTo>
                  <a:pt x="132842" y="797051"/>
                </a:lnTo>
                <a:lnTo>
                  <a:pt x="90853" y="790283"/>
                </a:lnTo>
                <a:lnTo>
                  <a:pt x="54386" y="771432"/>
                </a:lnTo>
                <a:lnTo>
                  <a:pt x="25630" y="742681"/>
                </a:lnTo>
                <a:lnTo>
                  <a:pt x="6772" y="706213"/>
                </a:lnTo>
                <a:lnTo>
                  <a:pt x="0" y="664209"/>
                </a:lnTo>
                <a:lnTo>
                  <a:pt x="0" y="132841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8471" y="4770881"/>
            <a:ext cx="8707120" cy="1318260"/>
          </a:xfrm>
          <a:custGeom>
            <a:avLst/>
            <a:gdLst/>
            <a:ahLst/>
            <a:cxnLst/>
            <a:rect l="l" t="t" r="r" b="b"/>
            <a:pathLst>
              <a:path w="8707120" h="1318260">
                <a:moveTo>
                  <a:pt x="0" y="1318259"/>
                </a:moveTo>
                <a:lnTo>
                  <a:pt x="8706612" y="1318259"/>
                </a:lnTo>
                <a:lnTo>
                  <a:pt x="8706612" y="0"/>
                </a:lnTo>
                <a:lnTo>
                  <a:pt x="0" y="0"/>
                </a:lnTo>
                <a:lnTo>
                  <a:pt x="0" y="1318259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6800" y="3911599"/>
            <a:ext cx="6094730" cy="797560"/>
          </a:xfrm>
          <a:custGeom>
            <a:avLst/>
            <a:gdLst/>
            <a:ahLst/>
            <a:cxnLst/>
            <a:rect l="l" t="t" r="r" b="b"/>
            <a:pathLst>
              <a:path w="6094730" h="797560">
                <a:moveTo>
                  <a:pt x="5961633" y="0"/>
                </a:moveTo>
                <a:lnTo>
                  <a:pt x="132842" y="0"/>
                </a:lnTo>
                <a:lnTo>
                  <a:pt x="90853" y="6768"/>
                </a:lnTo>
                <a:lnTo>
                  <a:pt x="54386" y="25619"/>
                </a:lnTo>
                <a:lnTo>
                  <a:pt x="25630" y="54370"/>
                </a:lnTo>
                <a:lnTo>
                  <a:pt x="6772" y="90838"/>
                </a:lnTo>
                <a:lnTo>
                  <a:pt x="0" y="132841"/>
                </a:lnTo>
                <a:lnTo>
                  <a:pt x="0" y="664209"/>
                </a:lnTo>
                <a:lnTo>
                  <a:pt x="6772" y="706213"/>
                </a:lnTo>
                <a:lnTo>
                  <a:pt x="25630" y="742681"/>
                </a:lnTo>
                <a:lnTo>
                  <a:pt x="54386" y="771432"/>
                </a:lnTo>
                <a:lnTo>
                  <a:pt x="90853" y="790283"/>
                </a:lnTo>
                <a:lnTo>
                  <a:pt x="132842" y="797051"/>
                </a:lnTo>
                <a:lnTo>
                  <a:pt x="5961633" y="797051"/>
                </a:lnTo>
                <a:lnTo>
                  <a:pt x="6003637" y="790283"/>
                </a:lnTo>
                <a:lnTo>
                  <a:pt x="6040105" y="771432"/>
                </a:lnTo>
                <a:lnTo>
                  <a:pt x="6068856" y="742681"/>
                </a:lnTo>
                <a:lnTo>
                  <a:pt x="6087707" y="706213"/>
                </a:lnTo>
                <a:lnTo>
                  <a:pt x="6094476" y="664209"/>
                </a:lnTo>
                <a:lnTo>
                  <a:pt x="6094476" y="132841"/>
                </a:lnTo>
                <a:lnTo>
                  <a:pt x="6087707" y="90838"/>
                </a:lnTo>
                <a:lnTo>
                  <a:pt x="6068856" y="54370"/>
                </a:lnTo>
                <a:lnTo>
                  <a:pt x="6040105" y="25619"/>
                </a:lnTo>
                <a:lnTo>
                  <a:pt x="6003637" y="6768"/>
                </a:lnTo>
                <a:lnTo>
                  <a:pt x="5961633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47800" y="1431289"/>
            <a:ext cx="7112634" cy="428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2700" spc="-5" dirty="0">
                <a:solidFill>
                  <a:srgbClr val="FFFFFF"/>
                </a:solidFill>
                <a:latin typeface="微软雅黑"/>
                <a:cs typeface="微软雅黑"/>
              </a:rPr>
              <a:t>有权码</a:t>
            </a:r>
            <a:r>
              <a:rPr sz="27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700" spc="-5" dirty="0">
                <a:solidFill>
                  <a:srgbClr val="FFFFFF"/>
                </a:solidFill>
                <a:latin typeface="微软雅黑"/>
                <a:cs typeface="微软雅黑"/>
              </a:rPr>
              <a:t>每一位都有固定的权值</a:t>
            </a:r>
            <a:endParaRPr sz="27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buFont typeface="Arial"/>
              <a:buChar char="•"/>
              <a:tabLst>
                <a:tab pos="241935" algn="l"/>
              </a:tabLst>
            </a:pP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如</a:t>
            </a:r>
            <a:r>
              <a:rPr sz="2700" spc="-10" dirty="0">
                <a:solidFill>
                  <a:srgbClr val="3333CC"/>
                </a:solidFill>
                <a:latin typeface="Arial"/>
                <a:cs typeface="Arial"/>
              </a:rPr>
              <a:t>8421</a:t>
            </a: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、</a:t>
            </a:r>
            <a:r>
              <a:rPr sz="2700" spc="-50" dirty="0">
                <a:solidFill>
                  <a:srgbClr val="3333CC"/>
                </a:solidFill>
                <a:latin typeface="微软雅黑"/>
                <a:cs typeface="微软雅黑"/>
              </a:rPr>
              <a:t> </a:t>
            </a:r>
            <a:r>
              <a:rPr sz="2700" spc="-5" dirty="0">
                <a:solidFill>
                  <a:srgbClr val="3333CC"/>
                </a:solidFill>
                <a:latin typeface="Arial"/>
                <a:cs typeface="Arial"/>
              </a:rPr>
              <a:t>5421</a:t>
            </a: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、</a:t>
            </a:r>
            <a:r>
              <a:rPr sz="2700" spc="-45" dirty="0">
                <a:solidFill>
                  <a:srgbClr val="3333CC"/>
                </a:solidFill>
                <a:latin typeface="微软雅黑"/>
                <a:cs typeface="微软雅黑"/>
              </a:rPr>
              <a:t> </a:t>
            </a:r>
            <a:r>
              <a:rPr sz="2700" spc="-10" dirty="0">
                <a:solidFill>
                  <a:srgbClr val="3333CC"/>
                </a:solidFill>
                <a:latin typeface="Arial"/>
                <a:cs typeface="Arial"/>
              </a:rPr>
              <a:t>2421</a:t>
            </a: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码</a:t>
            </a:r>
            <a:endParaRPr sz="2700" dirty="0">
              <a:latin typeface="微软雅黑"/>
              <a:cs typeface="微软雅黑"/>
            </a:endParaRPr>
          </a:p>
          <a:p>
            <a:pPr marL="241300" marR="5080" indent="-229235">
              <a:lnSpc>
                <a:spcPct val="129000"/>
              </a:lnSpc>
              <a:spcBef>
                <a:spcPts val="680"/>
              </a:spcBef>
              <a:buFont typeface="Arial"/>
              <a:buChar char="•"/>
              <a:tabLst>
                <a:tab pos="241935" algn="l"/>
              </a:tabLst>
            </a:pP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有权码所表示十进制数的大小就是各位加权相 加的值</a:t>
            </a:r>
            <a:endParaRPr sz="27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3333CC"/>
              </a:buClr>
              <a:buFont typeface="Arial"/>
              <a:buChar char="•"/>
            </a:pPr>
            <a:endParaRPr sz="2600" dirty="0">
              <a:latin typeface="微软雅黑"/>
              <a:cs typeface="微软雅黑"/>
            </a:endParaRPr>
          </a:p>
          <a:p>
            <a:pPr marL="41275">
              <a:lnSpc>
                <a:spcPct val="100000"/>
              </a:lnSpc>
            </a:pPr>
            <a:r>
              <a:rPr sz="2700" spc="-5" dirty="0">
                <a:solidFill>
                  <a:srgbClr val="FFFFFF"/>
                </a:solidFill>
                <a:latin typeface="微软雅黑"/>
                <a:cs typeface="微软雅黑"/>
              </a:rPr>
              <a:t>无权码</a:t>
            </a:r>
            <a:r>
              <a:rPr sz="27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700" spc="-5" dirty="0">
                <a:solidFill>
                  <a:srgbClr val="FFFFFF"/>
                </a:solidFill>
                <a:latin typeface="微软雅黑"/>
                <a:cs typeface="微软雅黑"/>
              </a:rPr>
              <a:t>各位没有固定的权值</a:t>
            </a:r>
            <a:endParaRPr sz="27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800" dirty="0">
              <a:latin typeface="微软雅黑"/>
              <a:cs typeface="微软雅黑"/>
            </a:endParaRPr>
          </a:p>
          <a:p>
            <a:pPr marL="241300" indent="-229235">
              <a:lnSpc>
                <a:spcPct val="100000"/>
              </a:lnSpc>
              <a:buFont typeface="Arial"/>
              <a:buChar char="•"/>
              <a:tabLst>
                <a:tab pos="241935" algn="l"/>
              </a:tabLst>
            </a:pP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如余</a:t>
            </a:r>
            <a:r>
              <a:rPr sz="2700" spc="-10" dirty="0">
                <a:solidFill>
                  <a:srgbClr val="3333CC"/>
                </a:solidFill>
                <a:latin typeface="Arial"/>
                <a:cs typeface="Arial"/>
              </a:rPr>
              <a:t>3</a:t>
            </a: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码和余</a:t>
            </a:r>
            <a:r>
              <a:rPr sz="2700" spc="-5" dirty="0">
                <a:solidFill>
                  <a:srgbClr val="3333CC"/>
                </a:solidFill>
                <a:latin typeface="Arial"/>
                <a:cs typeface="Arial"/>
              </a:rPr>
              <a:t>3</a:t>
            </a:r>
            <a:r>
              <a:rPr sz="2700" dirty="0">
                <a:solidFill>
                  <a:srgbClr val="3333CC"/>
                </a:solidFill>
                <a:latin typeface="微软雅黑"/>
                <a:cs typeface="微软雅黑"/>
              </a:rPr>
              <a:t>循环码</a:t>
            </a:r>
            <a:endParaRPr sz="2700" dirty="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3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20</a:t>
            </a:fld>
            <a:endParaRPr spc="-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63938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二</a:t>
            </a:r>
            <a:r>
              <a:rPr u="none" spc="-5" dirty="0">
                <a:latin typeface="Times New Roman"/>
                <a:cs typeface="Times New Roman"/>
              </a:rPr>
              <a:t>-</a:t>
            </a:r>
            <a:r>
              <a:rPr u="none" dirty="0"/>
              <a:t>十进制编码（</a:t>
            </a:r>
            <a:r>
              <a:rPr u="none" dirty="0">
                <a:highlight>
                  <a:srgbClr val="FFFF00"/>
                </a:highlight>
                <a:latin typeface="Times New Roman"/>
                <a:cs typeface="Times New Roman"/>
              </a:rPr>
              <a:t>BCD</a:t>
            </a:r>
            <a:r>
              <a:rPr u="none" spc="-10" dirty="0">
                <a:highlight>
                  <a:srgbClr val="FFFF00"/>
                </a:highlight>
              </a:rPr>
              <a:t>码</a:t>
            </a:r>
            <a:r>
              <a:rPr u="none" spc="-10" dirty="0"/>
              <a:t>）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48640" y="1070863"/>
            <a:ext cx="8645525" cy="446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30480" indent="-342900">
              <a:lnSpc>
                <a:spcPct val="100000"/>
              </a:lnSpc>
              <a:spcBef>
                <a:spcPts val="10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两</a:t>
            </a:r>
            <a:r>
              <a:rPr sz="3200" spc="-5" dirty="0">
                <a:solidFill>
                  <a:srgbClr val="3333CC"/>
                </a:solidFill>
                <a:latin typeface="微软雅黑"/>
                <a:cs typeface="微软雅黑"/>
              </a:rPr>
              <a:t>个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BCD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码相加，结果必</a:t>
            </a:r>
            <a:r>
              <a:rPr sz="3200" spc="-15" dirty="0">
                <a:solidFill>
                  <a:srgbClr val="3333CC"/>
                </a:solidFill>
                <a:latin typeface="微软雅黑"/>
                <a:cs typeface="微软雅黑"/>
              </a:rPr>
              <a:t>须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还</a:t>
            </a:r>
            <a:r>
              <a:rPr sz="3200" spc="5" dirty="0">
                <a:solidFill>
                  <a:srgbClr val="3333CC"/>
                </a:solidFill>
                <a:latin typeface="微软雅黑"/>
                <a:cs typeface="微软雅黑"/>
              </a:rPr>
              <a:t>是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C</a:t>
            </a:r>
            <a:r>
              <a:rPr sz="3200" spc="5" dirty="0">
                <a:solidFill>
                  <a:srgbClr val="3333CC"/>
                </a:solidFill>
                <a:latin typeface="Arial"/>
                <a:cs typeface="Arial"/>
              </a:rPr>
              <a:t>D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码</a:t>
            </a:r>
            <a:r>
              <a:rPr sz="3200" spc="-15" dirty="0">
                <a:solidFill>
                  <a:srgbClr val="3333CC"/>
                </a:solidFill>
                <a:latin typeface="微软雅黑"/>
                <a:cs typeface="微软雅黑"/>
              </a:rPr>
              <a:t>，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并且 </a:t>
            </a:r>
            <a:r>
              <a:rPr sz="3200" spc="5" dirty="0">
                <a:solidFill>
                  <a:srgbClr val="3333CC"/>
                </a:solidFill>
                <a:latin typeface="微软雅黑"/>
                <a:cs typeface="微软雅黑"/>
              </a:rPr>
              <a:t>还必须是合法</a:t>
            </a:r>
            <a:r>
              <a:rPr sz="3200" spc="-10" dirty="0">
                <a:solidFill>
                  <a:srgbClr val="3333CC"/>
                </a:solidFill>
                <a:latin typeface="微软雅黑"/>
                <a:cs typeface="微软雅黑"/>
              </a:rPr>
              <a:t>的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BCD</a:t>
            </a:r>
            <a:r>
              <a:rPr sz="3200" spc="5" dirty="0">
                <a:solidFill>
                  <a:srgbClr val="3333CC"/>
                </a:solidFill>
                <a:latin typeface="微软雅黑"/>
                <a:cs typeface="微软雅黑"/>
              </a:rPr>
              <a:t>码</a:t>
            </a:r>
            <a:endParaRPr sz="3200">
              <a:latin typeface="微软雅黑"/>
              <a:cs typeface="微软雅黑"/>
            </a:endParaRPr>
          </a:p>
          <a:p>
            <a:pPr marL="431165">
              <a:lnSpc>
                <a:spcPct val="100000"/>
              </a:lnSpc>
              <a:spcBef>
                <a:spcPts val="1335"/>
              </a:spcBef>
            </a:pPr>
            <a:r>
              <a:rPr sz="2800" spc="-5" dirty="0">
                <a:latin typeface="Arial"/>
                <a:cs typeface="Arial"/>
              </a:rPr>
              <a:t>(0010 0001 </a:t>
            </a:r>
            <a:r>
              <a:rPr sz="2800" dirty="0">
                <a:latin typeface="Arial"/>
                <a:cs typeface="Arial"/>
              </a:rPr>
              <a:t>0110)</a:t>
            </a:r>
            <a:r>
              <a:rPr sz="2775" baseline="-21021" dirty="0">
                <a:latin typeface="Arial"/>
                <a:cs typeface="Arial"/>
              </a:rPr>
              <a:t>8421</a:t>
            </a:r>
            <a:r>
              <a:rPr sz="2800" dirty="0">
                <a:latin typeface="Arial"/>
                <a:cs typeface="Arial"/>
              </a:rPr>
              <a:t>+(0011 1001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0011)</a:t>
            </a:r>
            <a:r>
              <a:rPr sz="2775" spc="7" baseline="-21021" dirty="0">
                <a:latin typeface="Arial"/>
                <a:cs typeface="Arial"/>
              </a:rPr>
              <a:t>8421</a:t>
            </a:r>
            <a:endParaRPr sz="2775" baseline="-21021">
              <a:latin typeface="Arial"/>
              <a:cs typeface="Arial"/>
            </a:endParaRPr>
          </a:p>
          <a:p>
            <a:pPr marL="233045">
              <a:lnSpc>
                <a:spcPct val="100000"/>
              </a:lnSpc>
              <a:spcBef>
                <a:spcPts val="1310"/>
              </a:spcBef>
            </a:pPr>
            <a:r>
              <a:rPr sz="2800" dirty="0">
                <a:latin typeface="Arial"/>
                <a:cs typeface="Arial"/>
              </a:rPr>
              <a:t>=(0101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1010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1001)</a:t>
            </a:r>
            <a:r>
              <a:rPr sz="2775" spc="7" baseline="-21021" dirty="0">
                <a:latin typeface="Arial"/>
                <a:cs typeface="Arial"/>
              </a:rPr>
              <a:t>8421</a:t>
            </a:r>
            <a:endParaRPr sz="2775" baseline="-21021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26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其中和的</a:t>
            </a:r>
            <a:r>
              <a:rPr sz="3200" spc="-10" dirty="0">
                <a:solidFill>
                  <a:srgbClr val="3333CC"/>
                </a:solidFill>
                <a:latin typeface="微软雅黑"/>
                <a:cs typeface="微软雅黑"/>
              </a:rPr>
              <a:t>第</a:t>
            </a:r>
            <a:r>
              <a:rPr sz="3200" spc="-5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位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BCD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码为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1010</a:t>
            </a:r>
            <a:r>
              <a:rPr sz="3200" spc="-10" dirty="0">
                <a:solidFill>
                  <a:srgbClr val="3333CC"/>
                </a:solidFill>
                <a:latin typeface="微软雅黑"/>
                <a:cs typeface="微软雅黑"/>
              </a:rPr>
              <a:t>，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是</a:t>
            </a:r>
            <a:r>
              <a:rPr sz="3200" spc="-15" dirty="0">
                <a:solidFill>
                  <a:srgbClr val="3333CC"/>
                </a:solidFill>
                <a:latin typeface="微软雅黑"/>
                <a:cs typeface="微软雅黑"/>
              </a:rPr>
              <a:t>非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法的</a:t>
            </a:r>
            <a:endParaRPr sz="3200">
              <a:latin typeface="微软雅黑"/>
              <a:cs typeface="微软雅黑"/>
            </a:endParaRPr>
          </a:p>
          <a:p>
            <a:pPr marL="381000">
              <a:lnSpc>
                <a:spcPct val="100000"/>
              </a:lnSpc>
            </a:pPr>
            <a:r>
              <a:rPr sz="3200" spc="-5" dirty="0">
                <a:solidFill>
                  <a:srgbClr val="3333CC"/>
                </a:solidFill>
                <a:latin typeface="Arial"/>
                <a:cs typeface="Arial"/>
              </a:rPr>
              <a:t>8421BCD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码，要对其进行调</a:t>
            </a:r>
            <a:r>
              <a:rPr sz="3200" spc="-15" dirty="0">
                <a:solidFill>
                  <a:srgbClr val="3333CC"/>
                </a:solidFill>
                <a:latin typeface="微软雅黑"/>
                <a:cs typeface="微软雅黑"/>
              </a:rPr>
              <a:t>整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：本</a:t>
            </a:r>
            <a:r>
              <a:rPr sz="3200" spc="-15" dirty="0">
                <a:solidFill>
                  <a:srgbClr val="3333CC"/>
                </a:solidFill>
                <a:latin typeface="微软雅黑"/>
                <a:cs typeface="微软雅黑"/>
              </a:rPr>
              <a:t>位</a:t>
            </a:r>
            <a:r>
              <a:rPr sz="3200" spc="-20" dirty="0">
                <a:solidFill>
                  <a:srgbClr val="3333CC"/>
                </a:solidFill>
                <a:latin typeface="微软雅黑"/>
                <a:cs typeface="微软雅黑"/>
              </a:rPr>
              <a:t>加</a:t>
            </a:r>
            <a:r>
              <a:rPr sz="3200" spc="-10" dirty="0">
                <a:solidFill>
                  <a:srgbClr val="3333CC"/>
                </a:solidFill>
                <a:latin typeface="Arial"/>
                <a:cs typeface="Arial"/>
              </a:rPr>
              <a:t>0110</a:t>
            </a:r>
            <a:endParaRPr sz="320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</a:pPr>
            <a:r>
              <a:rPr sz="3200" spc="-5" dirty="0">
                <a:solidFill>
                  <a:srgbClr val="3333CC"/>
                </a:solidFill>
                <a:latin typeface="微软雅黑"/>
                <a:cs typeface="微软雅黑"/>
              </a:rPr>
              <a:t>（</a:t>
            </a:r>
            <a:r>
              <a:rPr sz="3200" spc="-5" dirty="0">
                <a:solidFill>
                  <a:srgbClr val="3333CC"/>
                </a:solidFill>
                <a:latin typeface="Arial"/>
                <a:cs typeface="Arial"/>
              </a:rPr>
              <a:t>10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的补码），并向高位</a:t>
            </a:r>
            <a:r>
              <a:rPr sz="3200" spc="-5" dirty="0">
                <a:solidFill>
                  <a:srgbClr val="3333CC"/>
                </a:solidFill>
                <a:latin typeface="微软雅黑"/>
                <a:cs typeface="微软雅黑"/>
              </a:rPr>
              <a:t>进</a:t>
            </a:r>
            <a:r>
              <a:rPr sz="3200" dirty="0">
                <a:solidFill>
                  <a:srgbClr val="3333CC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 marL="381000" indent="-342900">
              <a:lnSpc>
                <a:spcPct val="100000"/>
              </a:lnSpc>
              <a:spcBef>
                <a:spcPts val="129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81000" algn="l"/>
              </a:tabLst>
            </a:pP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调整后结果应</a:t>
            </a:r>
            <a:r>
              <a:rPr sz="3200" spc="-10" dirty="0">
                <a:solidFill>
                  <a:srgbClr val="3333CC"/>
                </a:solidFill>
                <a:latin typeface="微软雅黑"/>
                <a:cs typeface="微软雅黑"/>
              </a:rPr>
              <a:t>为</a:t>
            </a:r>
            <a:r>
              <a:rPr sz="3200" spc="-5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3200" u="heavy" spc="-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0110</a:t>
            </a:r>
            <a:r>
              <a:rPr sz="3200" spc="-4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u="heavy" spc="-5" dirty="0">
                <a:solidFill>
                  <a:srgbClr val="3333CC"/>
                </a:solidFill>
                <a:uFill>
                  <a:solidFill>
                    <a:srgbClr val="3333CC"/>
                  </a:solidFill>
                </a:uFill>
                <a:latin typeface="Arial"/>
                <a:cs typeface="Arial"/>
              </a:rPr>
              <a:t>0000</a:t>
            </a:r>
            <a:r>
              <a:rPr sz="3200" spc="-3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200" spc="5" dirty="0">
                <a:solidFill>
                  <a:srgbClr val="3333CC"/>
                </a:solidFill>
                <a:latin typeface="Arial"/>
                <a:cs typeface="Arial"/>
              </a:rPr>
              <a:t>1001)</a:t>
            </a:r>
            <a:r>
              <a:rPr sz="3150" spc="7" baseline="-21164" dirty="0">
                <a:solidFill>
                  <a:srgbClr val="3333CC"/>
                </a:solidFill>
                <a:latin typeface="Arial"/>
                <a:cs typeface="Arial"/>
              </a:rPr>
              <a:t>8421</a:t>
            </a:r>
            <a:r>
              <a:rPr sz="2800" spc="-5" dirty="0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9966" y="982217"/>
            <a:ext cx="8749665" cy="0"/>
          </a:xfrm>
          <a:custGeom>
            <a:avLst/>
            <a:gdLst/>
            <a:ahLst/>
            <a:cxnLst/>
            <a:rect l="l" t="t" r="r" b="b"/>
            <a:pathLst>
              <a:path w="8749665">
                <a:moveTo>
                  <a:pt x="0" y="0"/>
                </a:moveTo>
                <a:lnTo>
                  <a:pt x="8749284" y="0"/>
                </a:lnTo>
              </a:path>
            </a:pathLst>
          </a:custGeom>
          <a:ln w="19812">
            <a:solidFill>
              <a:srgbClr val="6666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050539" y="287782"/>
            <a:ext cx="635000" cy="75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序号</a:t>
            </a:r>
            <a:endParaRPr sz="2400">
              <a:latin typeface="宋体"/>
              <a:cs typeface="宋体"/>
            </a:endParaRPr>
          </a:p>
          <a:p>
            <a:pPr marL="165100">
              <a:lnSpc>
                <a:spcPts val="2860"/>
              </a:lnSpc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4940" y="287782"/>
            <a:ext cx="2616835" cy="75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0"/>
              </a:lnSpc>
              <a:spcBef>
                <a:spcPts val="100"/>
              </a:spcBef>
              <a:tabLst>
                <a:tab pos="1676400" algn="l"/>
              </a:tabLst>
            </a:pPr>
            <a:r>
              <a:rPr sz="2400" dirty="0">
                <a:latin typeface="宋体"/>
                <a:cs typeface="宋体"/>
              </a:rPr>
              <a:t>二进制码	格雷码</a:t>
            </a:r>
            <a:endParaRPr sz="2400">
              <a:latin typeface="宋体"/>
              <a:cs typeface="宋体"/>
            </a:endParaRPr>
          </a:p>
          <a:p>
            <a:pPr algn="ctr">
              <a:lnSpc>
                <a:spcPts val="2860"/>
              </a:lnSpc>
              <a:tabLst>
                <a:tab pos="1676400" algn="l"/>
              </a:tabLst>
            </a:pPr>
            <a:r>
              <a:rPr sz="2400" dirty="0">
                <a:latin typeface="Times New Roman"/>
                <a:cs typeface="Times New Roman"/>
              </a:rPr>
              <a:t>0000	0000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2939" y="1014729"/>
            <a:ext cx="17843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7340" y="1014729"/>
            <a:ext cx="63627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0001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0010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0011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0100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0101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0110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45" dirty="0">
                <a:latin typeface="Times New Roman"/>
                <a:cs typeface="Times New Roman"/>
              </a:rPr>
              <a:t>0111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3994" y="1014729"/>
            <a:ext cx="635000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0001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0011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0010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0110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45" dirty="0">
                <a:latin typeface="Times New Roman"/>
                <a:cs typeface="Times New Roman"/>
              </a:rPr>
              <a:t>0111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0101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0100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0539" y="3575684"/>
            <a:ext cx="33020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8</a:t>
            </a:r>
            <a:endParaRPr sz="2400">
              <a:latin typeface="Times New Roman"/>
              <a:cs typeface="Times New Roman"/>
            </a:endParaRPr>
          </a:p>
          <a:p>
            <a:pPr marL="1651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9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85" dirty="0">
                <a:latin typeface="Times New Roman"/>
                <a:cs typeface="Times New Roman"/>
              </a:rPr>
              <a:t>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14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15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17340" y="3575684"/>
            <a:ext cx="63627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1000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1001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1010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1011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1100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1101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45" dirty="0">
                <a:latin typeface="Times New Roman"/>
                <a:cs typeface="Times New Roman"/>
              </a:rPr>
              <a:t>1110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85" dirty="0">
                <a:latin typeface="Times New Roman"/>
                <a:cs typeface="Times New Roman"/>
              </a:rPr>
              <a:t>1111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93994" y="3575684"/>
            <a:ext cx="63500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Times New Roman"/>
                <a:cs typeface="Times New Roman"/>
              </a:rPr>
              <a:t>1100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1101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90" dirty="0">
                <a:latin typeface="Times New Roman"/>
                <a:cs typeface="Times New Roman"/>
              </a:rPr>
              <a:t>1111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45" dirty="0">
                <a:latin typeface="Times New Roman"/>
                <a:cs typeface="Times New Roman"/>
              </a:rPr>
              <a:t>1110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1010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1011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1001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1000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30145" y="3605021"/>
            <a:ext cx="5904865" cy="0"/>
          </a:xfrm>
          <a:custGeom>
            <a:avLst/>
            <a:gdLst/>
            <a:ahLst/>
            <a:cxnLst/>
            <a:rect l="l" t="t" r="r" b="b"/>
            <a:pathLst>
              <a:path w="5904865">
                <a:moveTo>
                  <a:pt x="0" y="0"/>
                </a:moveTo>
                <a:lnTo>
                  <a:pt x="5904610" y="0"/>
                </a:lnTo>
              </a:path>
            </a:pathLst>
          </a:custGeom>
          <a:ln w="38100">
            <a:solidFill>
              <a:srgbClr val="FF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00927" y="3598417"/>
            <a:ext cx="2873375" cy="2279015"/>
          </a:xfrm>
          <a:custGeom>
            <a:avLst/>
            <a:gdLst/>
            <a:ahLst/>
            <a:cxnLst/>
            <a:rect l="l" t="t" r="r" b="b"/>
            <a:pathLst>
              <a:path w="2873375" h="2279015">
                <a:moveTo>
                  <a:pt x="2669413" y="1055116"/>
                </a:moveTo>
                <a:lnTo>
                  <a:pt x="916304" y="1055116"/>
                </a:lnTo>
                <a:lnTo>
                  <a:pt x="869537" y="1060502"/>
                </a:lnTo>
                <a:lnTo>
                  <a:pt x="826605" y="1075846"/>
                </a:lnTo>
                <a:lnTo>
                  <a:pt x="788735" y="1099922"/>
                </a:lnTo>
                <a:lnTo>
                  <a:pt x="757149" y="1131508"/>
                </a:lnTo>
                <a:lnTo>
                  <a:pt x="733073" y="1169378"/>
                </a:lnTo>
                <a:lnTo>
                  <a:pt x="717729" y="1212310"/>
                </a:lnTo>
                <a:lnTo>
                  <a:pt x="712343" y="1259078"/>
                </a:lnTo>
                <a:lnTo>
                  <a:pt x="712343" y="2074926"/>
                </a:lnTo>
                <a:lnTo>
                  <a:pt x="717729" y="2121693"/>
                </a:lnTo>
                <a:lnTo>
                  <a:pt x="733073" y="2164625"/>
                </a:lnTo>
                <a:lnTo>
                  <a:pt x="757149" y="2202495"/>
                </a:lnTo>
                <a:lnTo>
                  <a:pt x="788735" y="2234081"/>
                </a:lnTo>
                <a:lnTo>
                  <a:pt x="826605" y="2258157"/>
                </a:lnTo>
                <a:lnTo>
                  <a:pt x="869537" y="2273501"/>
                </a:lnTo>
                <a:lnTo>
                  <a:pt x="916304" y="2278888"/>
                </a:lnTo>
                <a:lnTo>
                  <a:pt x="2669413" y="2278888"/>
                </a:lnTo>
                <a:lnTo>
                  <a:pt x="2716180" y="2273501"/>
                </a:lnTo>
                <a:lnTo>
                  <a:pt x="2759112" y="2258157"/>
                </a:lnTo>
                <a:lnTo>
                  <a:pt x="2796982" y="2234081"/>
                </a:lnTo>
                <a:lnTo>
                  <a:pt x="2828568" y="2202495"/>
                </a:lnTo>
                <a:lnTo>
                  <a:pt x="2852644" y="2164625"/>
                </a:lnTo>
                <a:lnTo>
                  <a:pt x="2867988" y="2121693"/>
                </a:lnTo>
                <a:lnTo>
                  <a:pt x="2873375" y="2074926"/>
                </a:lnTo>
                <a:lnTo>
                  <a:pt x="2873375" y="1259078"/>
                </a:lnTo>
                <a:lnTo>
                  <a:pt x="2867988" y="1212310"/>
                </a:lnTo>
                <a:lnTo>
                  <a:pt x="2852644" y="1169378"/>
                </a:lnTo>
                <a:lnTo>
                  <a:pt x="2828568" y="1131508"/>
                </a:lnTo>
                <a:lnTo>
                  <a:pt x="2796982" y="1099922"/>
                </a:lnTo>
                <a:lnTo>
                  <a:pt x="2759112" y="1075846"/>
                </a:lnTo>
                <a:lnTo>
                  <a:pt x="2716180" y="1060502"/>
                </a:lnTo>
                <a:lnTo>
                  <a:pt x="2669413" y="1055116"/>
                </a:lnTo>
                <a:close/>
              </a:path>
              <a:path w="2873375" h="2279015">
                <a:moveTo>
                  <a:pt x="0" y="0"/>
                </a:moveTo>
                <a:lnTo>
                  <a:pt x="1072515" y="1055116"/>
                </a:lnTo>
                <a:lnTo>
                  <a:pt x="1612773" y="1055116"/>
                </a:lnTo>
                <a:lnTo>
                  <a:pt x="0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00927" y="3598417"/>
            <a:ext cx="2873375" cy="2279015"/>
          </a:xfrm>
          <a:custGeom>
            <a:avLst/>
            <a:gdLst/>
            <a:ahLst/>
            <a:cxnLst/>
            <a:rect l="l" t="t" r="r" b="b"/>
            <a:pathLst>
              <a:path w="2873375" h="2279015">
                <a:moveTo>
                  <a:pt x="712343" y="1259078"/>
                </a:moveTo>
                <a:lnTo>
                  <a:pt x="717729" y="1212310"/>
                </a:lnTo>
                <a:lnTo>
                  <a:pt x="733073" y="1169378"/>
                </a:lnTo>
                <a:lnTo>
                  <a:pt x="757149" y="1131508"/>
                </a:lnTo>
                <a:lnTo>
                  <a:pt x="788735" y="1099922"/>
                </a:lnTo>
                <a:lnTo>
                  <a:pt x="826605" y="1075846"/>
                </a:lnTo>
                <a:lnTo>
                  <a:pt x="869537" y="1060502"/>
                </a:lnTo>
                <a:lnTo>
                  <a:pt x="916304" y="1055116"/>
                </a:lnTo>
                <a:lnTo>
                  <a:pt x="1072515" y="1055116"/>
                </a:lnTo>
                <a:lnTo>
                  <a:pt x="0" y="0"/>
                </a:lnTo>
                <a:lnTo>
                  <a:pt x="1612773" y="1055116"/>
                </a:lnTo>
                <a:lnTo>
                  <a:pt x="2669413" y="1055116"/>
                </a:lnTo>
                <a:lnTo>
                  <a:pt x="2716180" y="1060502"/>
                </a:lnTo>
                <a:lnTo>
                  <a:pt x="2759112" y="1075846"/>
                </a:lnTo>
                <a:lnTo>
                  <a:pt x="2796982" y="1099922"/>
                </a:lnTo>
                <a:lnTo>
                  <a:pt x="2828568" y="1131508"/>
                </a:lnTo>
                <a:lnTo>
                  <a:pt x="2852644" y="1169378"/>
                </a:lnTo>
                <a:lnTo>
                  <a:pt x="2867988" y="1212310"/>
                </a:lnTo>
                <a:lnTo>
                  <a:pt x="2873375" y="1259078"/>
                </a:lnTo>
                <a:lnTo>
                  <a:pt x="2873375" y="1565021"/>
                </a:lnTo>
                <a:lnTo>
                  <a:pt x="2873375" y="2074926"/>
                </a:lnTo>
                <a:lnTo>
                  <a:pt x="2867988" y="2121693"/>
                </a:lnTo>
                <a:lnTo>
                  <a:pt x="2852644" y="2164625"/>
                </a:lnTo>
                <a:lnTo>
                  <a:pt x="2828568" y="2202495"/>
                </a:lnTo>
                <a:lnTo>
                  <a:pt x="2796982" y="2234081"/>
                </a:lnTo>
                <a:lnTo>
                  <a:pt x="2759112" y="2258157"/>
                </a:lnTo>
                <a:lnTo>
                  <a:pt x="2716180" y="2273501"/>
                </a:lnTo>
                <a:lnTo>
                  <a:pt x="2669413" y="2278888"/>
                </a:lnTo>
                <a:lnTo>
                  <a:pt x="1612773" y="2278888"/>
                </a:lnTo>
                <a:lnTo>
                  <a:pt x="1072515" y="2278888"/>
                </a:lnTo>
                <a:lnTo>
                  <a:pt x="916304" y="2278888"/>
                </a:lnTo>
                <a:lnTo>
                  <a:pt x="869537" y="2273501"/>
                </a:lnTo>
                <a:lnTo>
                  <a:pt x="826605" y="2258157"/>
                </a:lnTo>
                <a:lnTo>
                  <a:pt x="788735" y="2234081"/>
                </a:lnTo>
                <a:lnTo>
                  <a:pt x="757149" y="2202495"/>
                </a:lnTo>
                <a:lnTo>
                  <a:pt x="733073" y="2164625"/>
                </a:lnTo>
                <a:lnTo>
                  <a:pt x="717729" y="2121693"/>
                </a:lnTo>
                <a:lnTo>
                  <a:pt x="712343" y="2074926"/>
                </a:lnTo>
                <a:lnTo>
                  <a:pt x="712343" y="1565021"/>
                </a:lnTo>
                <a:lnTo>
                  <a:pt x="712343" y="1259078"/>
                </a:lnTo>
                <a:close/>
              </a:path>
            </a:pathLst>
          </a:custGeom>
          <a:ln w="25908">
            <a:solidFill>
              <a:srgbClr val="BB6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266813" y="4692777"/>
            <a:ext cx="1854200" cy="1124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200"/>
              </a:lnSpc>
              <a:spcBef>
                <a:spcPts val="95"/>
              </a:spcBef>
            </a:pPr>
            <a:r>
              <a:rPr sz="2400" dirty="0">
                <a:solidFill>
                  <a:srgbClr val="FFFFFF"/>
                </a:solidFill>
                <a:latin typeface="微软雅黑"/>
                <a:cs typeface="微软雅黑"/>
              </a:rPr>
              <a:t>第一位自反， 其它各位关于 </a:t>
            </a:r>
            <a:r>
              <a:rPr sz="2400" spc="-5" dirty="0">
                <a:solidFill>
                  <a:srgbClr val="FFFFFF"/>
                </a:solidFill>
                <a:latin typeface="微软雅黑"/>
                <a:cs typeface="微软雅黑"/>
              </a:rPr>
              <a:t>中间轴对称</a:t>
            </a:r>
            <a:endParaRPr sz="2400" dirty="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01617" y="1773173"/>
            <a:ext cx="1224280" cy="3672840"/>
          </a:xfrm>
          <a:custGeom>
            <a:avLst/>
            <a:gdLst/>
            <a:ahLst/>
            <a:cxnLst/>
            <a:rect l="l" t="t" r="r" b="b"/>
            <a:pathLst>
              <a:path w="1224279" h="3672840">
                <a:moveTo>
                  <a:pt x="0" y="203962"/>
                </a:moveTo>
                <a:lnTo>
                  <a:pt x="5386" y="157194"/>
                </a:lnTo>
                <a:lnTo>
                  <a:pt x="20730" y="114262"/>
                </a:lnTo>
                <a:lnTo>
                  <a:pt x="44806" y="76392"/>
                </a:lnTo>
                <a:lnTo>
                  <a:pt x="76392" y="44806"/>
                </a:lnTo>
                <a:lnTo>
                  <a:pt x="114262" y="20730"/>
                </a:lnTo>
                <a:lnTo>
                  <a:pt x="157194" y="5386"/>
                </a:lnTo>
                <a:lnTo>
                  <a:pt x="203962" y="0"/>
                </a:lnTo>
                <a:lnTo>
                  <a:pt x="1019810" y="0"/>
                </a:lnTo>
                <a:lnTo>
                  <a:pt x="1066577" y="5386"/>
                </a:lnTo>
                <a:lnTo>
                  <a:pt x="1109509" y="20730"/>
                </a:lnTo>
                <a:lnTo>
                  <a:pt x="1147379" y="44806"/>
                </a:lnTo>
                <a:lnTo>
                  <a:pt x="1178965" y="76392"/>
                </a:lnTo>
                <a:lnTo>
                  <a:pt x="1203041" y="114262"/>
                </a:lnTo>
                <a:lnTo>
                  <a:pt x="1218385" y="157194"/>
                </a:lnTo>
                <a:lnTo>
                  <a:pt x="1223772" y="203962"/>
                </a:lnTo>
                <a:lnTo>
                  <a:pt x="1223772" y="3468878"/>
                </a:lnTo>
                <a:lnTo>
                  <a:pt x="1218385" y="3515645"/>
                </a:lnTo>
                <a:lnTo>
                  <a:pt x="1203041" y="3558577"/>
                </a:lnTo>
                <a:lnTo>
                  <a:pt x="1178965" y="3596447"/>
                </a:lnTo>
                <a:lnTo>
                  <a:pt x="1147379" y="3628033"/>
                </a:lnTo>
                <a:lnTo>
                  <a:pt x="1109509" y="3652109"/>
                </a:lnTo>
                <a:lnTo>
                  <a:pt x="1066577" y="3667453"/>
                </a:lnTo>
                <a:lnTo>
                  <a:pt x="1019810" y="3672840"/>
                </a:lnTo>
                <a:lnTo>
                  <a:pt x="203962" y="3672840"/>
                </a:lnTo>
                <a:lnTo>
                  <a:pt x="157194" y="3667453"/>
                </a:lnTo>
                <a:lnTo>
                  <a:pt x="114262" y="3652109"/>
                </a:lnTo>
                <a:lnTo>
                  <a:pt x="76392" y="3628033"/>
                </a:lnTo>
                <a:lnTo>
                  <a:pt x="44806" y="3596447"/>
                </a:lnTo>
                <a:lnTo>
                  <a:pt x="20730" y="3558577"/>
                </a:lnTo>
                <a:lnTo>
                  <a:pt x="5386" y="3515645"/>
                </a:lnTo>
                <a:lnTo>
                  <a:pt x="0" y="3468878"/>
                </a:lnTo>
                <a:lnTo>
                  <a:pt x="0" y="20396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58205" y="1773173"/>
            <a:ext cx="1224280" cy="3672840"/>
          </a:xfrm>
          <a:custGeom>
            <a:avLst/>
            <a:gdLst/>
            <a:ahLst/>
            <a:cxnLst/>
            <a:rect l="l" t="t" r="r" b="b"/>
            <a:pathLst>
              <a:path w="1224279" h="3672840">
                <a:moveTo>
                  <a:pt x="0" y="203962"/>
                </a:moveTo>
                <a:lnTo>
                  <a:pt x="5386" y="157194"/>
                </a:lnTo>
                <a:lnTo>
                  <a:pt x="20730" y="114262"/>
                </a:lnTo>
                <a:lnTo>
                  <a:pt x="44806" y="76392"/>
                </a:lnTo>
                <a:lnTo>
                  <a:pt x="76392" y="44806"/>
                </a:lnTo>
                <a:lnTo>
                  <a:pt x="114262" y="20730"/>
                </a:lnTo>
                <a:lnTo>
                  <a:pt x="157194" y="5386"/>
                </a:lnTo>
                <a:lnTo>
                  <a:pt x="203962" y="0"/>
                </a:lnTo>
                <a:lnTo>
                  <a:pt x="1019810" y="0"/>
                </a:lnTo>
                <a:lnTo>
                  <a:pt x="1066577" y="5386"/>
                </a:lnTo>
                <a:lnTo>
                  <a:pt x="1109509" y="20730"/>
                </a:lnTo>
                <a:lnTo>
                  <a:pt x="1147379" y="44806"/>
                </a:lnTo>
                <a:lnTo>
                  <a:pt x="1178965" y="76392"/>
                </a:lnTo>
                <a:lnTo>
                  <a:pt x="1203041" y="114262"/>
                </a:lnTo>
                <a:lnTo>
                  <a:pt x="1218385" y="157194"/>
                </a:lnTo>
                <a:lnTo>
                  <a:pt x="1223772" y="203962"/>
                </a:lnTo>
                <a:lnTo>
                  <a:pt x="1223772" y="3468878"/>
                </a:lnTo>
                <a:lnTo>
                  <a:pt x="1218385" y="3515645"/>
                </a:lnTo>
                <a:lnTo>
                  <a:pt x="1203041" y="3558577"/>
                </a:lnTo>
                <a:lnTo>
                  <a:pt x="1178965" y="3596447"/>
                </a:lnTo>
                <a:lnTo>
                  <a:pt x="1147379" y="3628033"/>
                </a:lnTo>
                <a:lnTo>
                  <a:pt x="1109509" y="3652109"/>
                </a:lnTo>
                <a:lnTo>
                  <a:pt x="1066577" y="3667453"/>
                </a:lnTo>
                <a:lnTo>
                  <a:pt x="1019810" y="3672840"/>
                </a:lnTo>
                <a:lnTo>
                  <a:pt x="203962" y="3672840"/>
                </a:lnTo>
                <a:lnTo>
                  <a:pt x="157194" y="3667453"/>
                </a:lnTo>
                <a:lnTo>
                  <a:pt x="114262" y="3652109"/>
                </a:lnTo>
                <a:lnTo>
                  <a:pt x="76392" y="3628033"/>
                </a:lnTo>
                <a:lnTo>
                  <a:pt x="44806" y="3596447"/>
                </a:lnTo>
                <a:lnTo>
                  <a:pt x="20730" y="3558577"/>
                </a:lnTo>
                <a:lnTo>
                  <a:pt x="5386" y="3515645"/>
                </a:lnTo>
                <a:lnTo>
                  <a:pt x="0" y="3468878"/>
                </a:lnTo>
                <a:lnTo>
                  <a:pt x="0" y="203962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089660" y="2249449"/>
            <a:ext cx="2737104" cy="6659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27175" y="2159495"/>
            <a:ext cx="1798320" cy="10454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36903" y="2276855"/>
            <a:ext cx="1583436" cy="5760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852292" y="2276855"/>
            <a:ext cx="0" cy="576580"/>
          </a:xfrm>
          <a:custGeom>
            <a:avLst/>
            <a:gdLst/>
            <a:ahLst/>
            <a:cxnLst/>
            <a:rect l="l" t="t" r="r" b="b"/>
            <a:pathLst>
              <a:path h="576580">
                <a:moveTo>
                  <a:pt x="0" y="0"/>
                </a:moveTo>
                <a:lnTo>
                  <a:pt x="0" y="576072"/>
                </a:lnTo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852292" y="2384805"/>
            <a:ext cx="934719" cy="248920"/>
          </a:xfrm>
          <a:custGeom>
            <a:avLst/>
            <a:gdLst/>
            <a:ahLst/>
            <a:cxnLst/>
            <a:rect l="l" t="t" r="r" b="b"/>
            <a:pathLst>
              <a:path w="934720" h="248919">
                <a:moveTo>
                  <a:pt x="0" y="0"/>
                </a:moveTo>
                <a:lnTo>
                  <a:pt x="131952" y="0"/>
                </a:lnTo>
                <a:lnTo>
                  <a:pt x="934339" y="248920"/>
                </a:lnTo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136903" y="2276855"/>
            <a:ext cx="1583690" cy="576580"/>
          </a:xfrm>
          <a:prstGeom prst="rect">
            <a:avLst/>
          </a:prstGeom>
          <a:ln w="9144">
            <a:solidFill>
              <a:srgbClr val="FF9600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207010">
              <a:lnSpc>
                <a:spcPts val="4305"/>
              </a:lnSpc>
              <a:spcBef>
                <a:spcPts val="229"/>
              </a:spcBef>
            </a:pPr>
            <a:r>
              <a:rPr sz="3600" dirty="0">
                <a:latin typeface="微软雅黑"/>
                <a:cs typeface="微软雅黑"/>
              </a:rPr>
              <a:t>余</a:t>
            </a:r>
            <a:r>
              <a:rPr sz="3600" spc="-5" dirty="0">
                <a:latin typeface="Arial"/>
                <a:cs typeface="Arial"/>
              </a:rPr>
              <a:t>3</a:t>
            </a:r>
            <a:r>
              <a:rPr sz="3600" dirty="0">
                <a:latin typeface="微软雅黑"/>
                <a:cs typeface="微软雅黑"/>
              </a:rPr>
              <a:t>码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632447" y="2033028"/>
            <a:ext cx="2179320" cy="12420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075931" y="1943100"/>
            <a:ext cx="1798320" cy="159410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185659" y="2060448"/>
            <a:ext cx="1583436" cy="115214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053706" y="2060448"/>
            <a:ext cx="0" cy="1152525"/>
          </a:xfrm>
          <a:custGeom>
            <a:avLst/>
            <a:gdLst/>
            <a:ahLst/>
            <a:cxnLst/>
            <a:rect l="l" t="t" r="r" b="b"/>
            <a:pathLst>
              <a:path h="1152525">
                <a:moveTo>
                  <a:pt x="0" y="0"/>
                </a:moveTo>
                <a:lnTo>
                  <a:pt x="0" y="1152143"/>
                </a:lnTo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678548" y="2276475"/>
            <a:ext cx="375285" cy="443230"/>
          </a:xfrm>
          <a:custGeom>
            <a:avLst/>
            <a:gdLst/>
            <a:ahLst/>
            <a:cxnLst/>
            <a:rect l="l" t="t" r="r" b="b"/>
            <a:pathLst>
              <a:path w="375284" h="443230">
                <a:moveTo>
                  <a:pt x="375157" y="0"/>
                </a:moveTo>
                <a:lnTo>
                  <a:pt x="243204" y="0"/>
                </a:lnTo>
                <a:lnTo>
                  <a:pt x="0" y="443229"/>
                </a:lnTo>
              </a:path>
            </a:pathLst>
          </a:custGeom>
          <a:ln w="9144">
            <a:solidFill>
              <a:srgbClr val="FF9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7185659" y="2060448"/>
            <a:ext cx="1583690" cy="1152525"/>
          </a:xfrm>
          <a:prstGeom prst="rect">
            <a:avLst/>
          </a:prstGeom>
          <a:ln w="9144">
            <a:solidFill>
              <a:srgbClr val="FF9600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334645" marR="198120" indent="-127000">
              <a:lnSpc>
                <a:spcPct val="100000"/>
              </a:lnSpc>
              <a:spcBef>
                <a:spcPts val="234"/>
              </a:spcBef>
            </a:pPr>
            <a:r>
              <a:rPr sz="3600" dirty="0">
                <a:latin typeface="微软雅黑"/>
                <a:cs typeface="微软雅黑"/>
              </a:rPr>
              <a:t>余</a:t>
            </a:r>
            <a:r>
              <a:rPr sz="3600" spc="-5" dirty="0">
                <a:latin typeface="Arial"/>
                <a:cs typeface="Arial"/>
              </a:rPr>
              <a:t>3</a:t>
            </a:r>
            <a:r>
              <a:rPr sz="3600" spc="-5" dirty="0">
                <a:latin typeface="微软雅黑"/>
                <a:cs typeface="微软雅黑"/>
              </a:rPr>
              <a:t>循 环码</a:t>
            </a:r>
            <a:endParaRPr sz="36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9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2286000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4571999"/>
            <a:ext cx="248920" cy="2286000"/>
          </a:xfrm>
          <a:custGeom>
            <a:avLst/>
            <a:gdLst/>
            <a:ahLst/>
            <a:cxnLst/>
            <a:rect l="l" t="t" r="r" b="b"/>
            <a:pathLst>
              <a:path w="248920" h="2286000">
                <a:moveTo>
                  <a:pt x="0" y="2286000"/>
                </a:moveTo>
                <a:lnTo>
                  <a:pt x="248411" y="2286000"/>
                </a:lnTo>
                <a:lnTo>
                  <a:pt x="248411" y="0"/>
                </a:lnTo>
                <a:lnTo>
                  <a:pt x="0" y="0"/>
                </a:lnTo>
                <a:lnTo>
                  <a:pt x="0" y="2286000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6288023"/>
            <a:ext cx="2496311" cy="5699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8677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664575" algn="l"/>
              </a:tabLst>
            </a:pPr>
            <a:r>
              <a:rPr spc="5" dirty="0"/>
              <a:t>格雷</a:t>
            </a:r>
            <a:r>
              <a:rPr spc="-5" dirty="0"/>
              <a:t>（</a:t>
            </a:r>
            <a:r>
              <a:rPr dirty="0">
                <a:latin typeface="Times New Roman"/>
                <a:cs typeface="Times New Roman"/>
              </a:rPr>
              <a:t>Gray</a:t>
            </a:r>
            <a:r>
              <a:rPr dirty="0"/>
              <a:t>）</a:t>
            </a:r>
            <a:r>
              <a:rPr spc="1055" dirty="0"/>
              <a:t>码</a:t>
            </a:r>
            <a:r>
              <a:rPr spc="5" dirty="0"/>
              <a:t>的特点</a:t>
            </a:r>
            <a:r>
              <a:rPr dirty="0"/>
              <a:t>	</a:t>
            </a:r>
          </a:p>
        </p:txBody>
      </p:sp>
      <p:sp>
        <p:nvSpPr>
          <p:cNvPr id="7" name="object 7"/>
          <p:cNvSpPr/>
          <p:nvPr/>
        </p:nvSpPr>
        <p:spPr>
          <a:xfrm>
            <a:off x="1087374" y="2131314"/>
            <a:ext cx="2056130" cy="3365500"/>
          </a:xfrm>
          <a:custGeom>
            <a:avLst/>
            <a:gdLst/>
            <a:ahLst/>
            <a:cxnLst/>
            <a:rect l="l" t="t" r="r" b="b"/>
            <a:pathLst>
              <a:path w="2056130" h="3365500">
                <a:moveTo>
                  <a:pt x="2055876" y="0"/>
                </a:moveTo>
                <a:lnTo>
                  <a:pt x="342772" y="0"/>
                </a:lnTo>
                <a:lnTo>
                  <a:pt x="296255" y="3128"/>
                </a:lnTo>
                <a:lnTo>
                  <a:pt x="251642" y="12240"/>
                </a:lnTo>
                <a:lnTo>
                  <a:pt x="209340" y="26929"/>
                </a:lnTo>
                <a:lnTo>
                  <a:pt x="169758" y="46787"/>
                </a:lnTo>
                <a:lnTo>
                  <a:pt x="133304" y="71406"/>
                </a:lnTo>
                <a:lnTo>
                  <a:pt x="100387" y="100377"/>
                </a:lnTo>
                <a:lnTo>
                  <a:pt x="71413" y="133293"/>
                </a:lnTo>
                <a:lnTo>
                  <a:pt x="46793" y="169747"/>
                </a:lnTo>
                <a:lnTo>
                  <a:pt x="26933" y="209329"/>
                </a:lnTo>
                <a:lnTo>
                  <a:pt x="12242" y="251633"/>
                </a:lnTo>
                <a:lnTo>
                  <a:pt x="3128" y="296250"/>
                </a:lnTo>
                <a:lnTo>
                  <a:pt x="0" y="342773"/>
                </a:lnTo>
                <a:lnTo>
                  <a:pt x="0" y="3022219"/>
                </a:lnTo>
                <a:lnTo>
                  <a:pt x="3128" y="3068741"/>
                </a:lnTo>
                <a:lnTo>
                  <a:pt x="12242" y="3113358"/>
                </a:lnTo>
                <a:lnTo>
                  <a:pt x="26933" y="3155662"/>
                </a:lnTo>
                <a:lnTo>
                  <a:pt x="46793" y="3195244"/>
                </a:lnTo>
                <a:lnTo>
                  <a:pt x="71413" y="3231698"/>
                </a:lnTo>
                <a:lnTo>
                  <a:pt x="100387" y="3264614"/>
                </a:lnTo>
                <a:lnTo>
                  <a:pt x="133304" y="3293585"/>
                </a:lnTo>
                <a:lnTo>
                  <a:pt x="169758" y="3318204"/>
                </a:lnTo>
                <a:lnTo>
                  <a:pt x="209340" y="3338062"/>
                </a:lnTo>
                <a:lnTo>
                  <a:pt x="251642" y="3352751"/>
                </a:lnTo>
                <a:lnTo>
                  <a:pt x="296255" y="3361863"/>
                </a:lnTo>
                <a:lnTo>
                  <a:pt x="342772" y="3364992"/>
                </a:lnTo>
                <a:lnTo>
                  <a:pt x="2055876" y="3364992"/>
                </a:lnTo>
                <a:lnTo>
                  <a:pt x="2055876" y="0"/>
                </a:lnTo>
                <a:close/>
              </a:path>
            </a:pathLst>
          </a:custGeom>
          <a:solidFill>
            <a:srgbClr val="FFD3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7374" y="2131314"/>
            <a:ext cx="2056130" cy="3365500"/>
          </a:xfrm>
          <a:custGeom>
            <a:avLst/>
            <a:gdLst/>
            <a:ahLst/>
            <a:cxnLst/>
            <a:rect l="l" t="t" r="r" b="b"/>
            <a:pathLst>
              <a:path w="2056130" h="3365500">
                <a:moveTo>
                  <a:pt x="0" y="3022219"/>
                </a:moveTo>
                <a:lnTo>
                  <a:pt x="0" y="342773"/>
                </a:lnTo>
                <a:lnTo>
                  <a:pt x="3128" y="296250"/>
                </a:lnTo>
                <a:lnTo>
                  <a:pt x="12242" y="251633"/>
                </a:lnTo>
                <a:lnTo>
                  <a:pt x="26933" y="209329"/>
                </a:lnTo>
                <a:lnTo>
                  <a:pt x="46793" y="169747"/>
                </a:lnTo>
                <a:lnTo>
                  <a:pt x="71413" y="133293"/>
                </a:lnTo>
                <a:lnTo>
                  <a:pt x="100387" y="100377"/>
                </a:lnTo>
                <a:lnTo>
                  <a:pt x="133304" y="71406"/>
                </a:lnTo>
                <a:lnTo>
                  <a:pt x="169758" y="46787"/>
                </a:lnTo>
                <a:lnTo>
                  <a:pt x="209340" y="26929"/>
                </a:lnTo>
                <a:lnTo>
                  <a:pt x="251642" y="12240"/>
                </a:lnTo>
                <a:lnTo>
                  <a:pt x="296255" y="3128"/>
                </a:lnTo>
                <a:lnTo>
                  <a:pt x="342772" y="0"/>
                </a:lnTo>
                <a:lnTo>
                  <a:pt x="2055876" y="0"/>
                </a:lnTo>
                <a:lnTo>
                  <a:pt x="2055876" y="3364992"/>
                </a:lnTo>
                <a:lnTo>
                  <a:pt x="342772" y="3364992"/>
                </a:lnTo>
                <a:lnTo>
                  <a:pt x="296255" y="3361863"/>
                </a:lnTo>
                <a:lnTo>
                  <a:pt x="251642" y="3352751"/>
                </a:lnTo>
                <a:lnTo>
                  <a:pt x="209340" y="3338062"/>
                </a:lnTo>
                <a:lnTo>
                  <a:pt x="169758" y="3318204"/>
                </a:lnTo>
                <a:lnTo>
                  <a:pt x="133304" y="3293585"/>
                </a:lnTo>
                <a:lnTo>
                  <a:pt x="100387" y="3264614"/>
                </a:lnTo>
                <a:lnTo>
                  <a:pt x="71413" y="3231698"/>
                </a:lnTo>
                <a:lnTo>
                  <a:pt x="46793" y="3195244"/>
                </a:lnTo>
                <a:lnTo>
                  <a:pt x="26933" y="3155662"/>
                </a:lnTo>
                <a:lnTo>
                  <a:pt x="12242" y="3113358"/>
                </a:lnTo>
                <a:lnTo>
                  <a:pt x="3128" y="3068741"/>
                </a:lnTo>
                <a:lnTo>
                  <a:pt x="0" y="3022219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96161" y="2336647"/>
            <a:ext cx="1653539" cy="1906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28600"/>
              </a:lnSpc>
              <a:spcBef>
                <a:spcPts val="90"/>
              </a:spcBef>
            </a:pP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位置相邻 的格雷码 </a:t>
            </a:r>
            <a:r>
              <a:rPr sz="32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逻辑相邻</a:t>
            </a:r>
            <a:endParaRPr sz="32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36214" y="2131314"/>
            <a:ext cx="2056130" cy="3365500"/>
          </a:xfrm>
          <a:custGeom>
            <a:avLst/>
            <a:gdLst/>
            <a:ahLst/>
            <a:cxnLst/>
            <a:rect l="l" t="t" r="r" b="b"/>
            <a:pathLst>
              <a:path w="2056129" h="3365500">
                <a:moveTo>
                  <a:pt x="1713102" y="0"/>
                </a:moveTo>
                <a:lnTo>
                  <a:pt x="0" y="0"/>
                </a:lnTo>
                <a:lnTo>
                  <a:pt x="0" y="3364992"/>
                </a:lnTo>
                <a:lnTo>
                  <a:pt x="1713102" y="3364992"/>
                </a:lnTo>
                <a:lnTo>
                  <a:pt x="1759625" y="3361863"/>
                </a:lnTo>
                <a:lnTo>
                  <a:pt x="1804242" y="3352751"/>
                </a:lnTo>
                <a:lnTo>
                  <a:pt x="1846546" y="3338062"/>
                </a:lnTo>
                <a:lnTo>
                  <a:pt x="1886128" y="3318204"/>
                </a:lnTo>
                <a:lnTo>
                  <a:pt x="1922582" y="3293585"/>
                </a:lnTo>
                <a:lnTo>
                  <a:pt x="1955498" y="3264614"/>
                </a:lnTo>
                <a:lnTo>
                  <a:pt x="1984469" y="3231698"/>
                </a:lnTo>
                <a:lnTo>
                  <a:pt x="2009088" y="3195244"/>
                </a:lnTo>
                <a:lnTo>
                  <a:pt x="2028946" y="3155662"/>
                </a:lnTo>
                <a:lnTo>
                  <a:pt x="2043635" y="3113358"/>
                </a:lnTo>
                <a:lnTo>
                  <a:pt x="2052747" y="3068741"/>
                </a:lnTo>
                <a:lnTo>
                  <a:pt x="2055876" y="3022219"/>
                </a:lnTo>
                <a:lnTo>
                  <a:pt x="2055876" y="342773"/>
                </a:lnTo>
                <a:lnTo>
                  <a:pt x="2052747" y="296250"/>
                </a:lnTo>
                <a:lnTo>
                  <a:pt x="2043635" y="251633"/>
                </a:lnTo>
                <a:lnTo>
                  <a:pt x="2028946" y="209329"/>
                </a:lnTo>
                <a:lnTo>
                  <a:pt x="2009088" y="169747"/>
                </a:lnTo>
                <a:lnTo>
                  <a:pt x="1984469" y="133293"/>
                </a:lnTo>
                <a:lnTo>
                  <a:pt x="1955498" y="100377"/>
                </a:lnTo>
                <a:lnTo>
                  <a:pt x="1922582" y="71406"/>
                </a:lnTo>
                <a:lnTo>
                  <a:pt x="1886128" y="46787"/>
                </a:lnTo>
                <a:lnTo>
                  <a:pt x="1846546" y="26929"/>
                </a:lnTo>
                <a:lnTo>
                  <a:pt x="1804242" y="12240"/>
                </a:lnTo>
                <a:lnTo>
                  <a:pt x="1759625" y="3128"/>
                </a:lnTo>
                <a:lnTo>
                  <a:pt x="1713102" y="0"/>
                </a:lnTo>
                <a:close/>
              </a:path>
            </a:pathLst>
          </a:custGeom>
          <a:solidFill>
            <a:srgbClr val="FFD3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236214" y="2131314"/>
            <a:ext cx="2056130" cy="3365500"/>
          </a:xfrm>
          <a:custGeom>
            <a:avLst/>
            <a:gdLst/>
            <a:ahLst/>
            <a:cxnLst/>
            <a:rect l="l" t="t" r="r" b="b"/>
            <a:pathLst>
              <a:path w="2056129" h="3365500">
                <a:moveTo>
                  <a:pt x="2055876" y="342773"/>
                </a:moveTo>
                <a:lnTo>
                  <a:pt x="2055876" y="3022219"/>
                </a:lnTo>
                <a:lnTo>
                  <a:pt x="2052747" y="3068741"/>
                </a:lnTo>
                <a:lnTo>
                  <a:pt x="2043635" y="3113358"/>
                </a:lnTo>
                <a:lnTo>
                  <a:pt x="2028946" y="3155662"/>
                </a:lnTo>
                <a:lnTo>
                  <a:pt x="2009088" y="3195244"/>
                </a:lnTo>
                <a:lnTo>
                  <a:pt x="1984469" y="3231698"/>
                </a:lnTo>
                <a:lnTo>
                  <a:pt x="1955498" y="3264614"/>
                </a:lnTo>
                <a:lnTo>
                  <a:pt x="1922582" y="3293585"/>
                </a:lnTo>
                <a:lnTo>
                  <a:pt x="1886128" y="3318204"/>
                </a:lnTo>
                <a:lnTo>
                  <a:pt x="1846546" y="3338062"/>
                </a:lnTo>
                <a:lnTo>
                  <a:pt x="1804242" y="3352751"/>
                </a:lnTo>
                <a:lnTo>
                  <a:pt x="1759625" y="3361863"/>
                </a:lnTo>
                <a:lnTo>
                  <a:pt x="1713102" y="3364992"/>
                </a:lnTo>
                <a:lnTo>
                  <a:pt x="0" y="3364992"/>
                </a:lnTo>
                <a:lnTo>
                  <a:pt x="0" y="0"/>
                </a:lnTo>
                <a:lnTo>
                  <a:pt x="1713102" y="0"/>
                </a:lnTo>
                <a:lnTo>
                  <a:pt x="1759625" y="3128"/>
                </a:lnTo>
                <a:lnTo>
                  <a:pt x="1804242" y="12240"/>
                </a:lnTo>
                <a:lnTo>
                  <a:pt x="1846546" y="26929"/>
                </a:lnTo>
                <a:lnTo>
                  <a:pt x="1886128" y="46787"/>
                </a:lnTo>
                <a:lnTo>
                  <a:pt x="1922582" y="71406"/>
                </a:lnTo>
                <a:lnTo>
                  <a:pt x="1955498" y="100377"/>
                </a:lnTo>
                <a:lnTo>
                  <a:pt x="1984469" y="133293"/>
                </a:lnTo>
                <a:lnTo>
                  <a:pt x="2009088" y="169747"/>
                </a:lnTo>
                <a:lnTo>
                  <a:pt x="2028946" y="209329"/>
                </a:lnTo>
                <a:lnTo>
                  <a:pt x="2043635" y="251633"/>
                </a:lnTo>
                <a:lnTo>
                  <a:pt x="2052747" y="296250"/>
                </a:lnTo>
                <a:lnTo>
                  <a:pt x="2055876" y="342773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406266" y="2336647"/>
            <a:ext cx="1653539" cy="2534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28699"/>
              </a:lnSpc>
              <a:spcBef>
                <a:spcPts val="90"/>
              </a:spcBef>
            </a:pPr>
            <a:r>
              <a:rPr sz="32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最高位自 反</a:t>
            </a:r>
            <a:r>
              <a:rPr sz="3200" dirty="0">
                <a:solidFill>
                  <a:srgbClr val="3333CC"/>
                </a:solidFill>
                <a:latin typeface="微软雅黑"/>
                <a:cs typeface="微软雅黑"/>
              </a:rPr>
              <a:t>，</a:t>
            </a:r>
            <a:r>
              <a:rPr sz="32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其它 位关于中 间轴对称</a:t>
            </a:r>
            <a:endParaRPr sz="32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48789" y="1331341"/>
            <a:ext cx="1971039" cy="940435"/>
          </a:xfrm>
          <a:custGeom>
            <a:avLst/>
            <a:gdLst/>
            <a:ahLst/>
            <a:cxnLst/>
            <a:rect l="l" t="t" r="r" b="b"/>
            <a:pathLst>
              <a:path w="1971039" h="940435">
                <a:moveTo>
                  <a:pt x="940181" y="0"/>
                </a:moveTo>
                <a:lnTo>
                  <a:pt x="891805" y="1223"/>
                </a:lnTo>
                <a:lnTo>
                  <a:pt x="844064" y="4854"/>
                </a:lnTo>
                <a:lnTo>
                  <a:pt x="797017" y="10834"/>
                </a:lnTo>
                <a:lnTo>
                  <a:pt x="750722" y="19104"/>
                </a:lnTo>
                <a:lnTo>
                  <a:pt x="705239" y="29603"/>
                </a:lnTo>
                <a:lnTo>
                  <a:pt x="660626" y="42274"/>
                </a:lnTo>
                <a:lnTo>
                  <a:pt x="616908" y="57072"/>
                </a:lnTo>
                <a:lnTo>
                  <a:pt x="574250" y="73894"/>
                </a:lnTo>
                <a:lnTo>
                  <a:pt x="532604" y="92724"/>
                </a:lnTo>
                <a:lnTo>
                  <a:pt x="492066" y="113489"/>
                </a:lnTo>
                <a:lnTo>
                  <a:pt x="452694" y="136129"/>
                </a:lnTo>
                <a:lnTo>
                  <a:pt x="414548" y="160587"/>
                </a:lnTo>
                <a:lnTo>
                  <a:pt x="377686" y="186801"/>
                </a:lnTo>
                <a:lnTo>
                  <a:pt x="342168" y="214714"/>
                </a:lnTo>
                <a:lnTo>
                  <a:pt x="308052" y="244267"/>
                </a:lnTo>
                <a:lnTo>
                  <a:pt x="275399" y="275399"/>
                </a:lnTo>
                <a:lnTo>
                  <a:pt x="244267" y="308052"/>
                </a:lnTo>
                <a:lnTo>
                  <a:pt x="214714" y="342168"/>
                </a:lnTo>
                <a:lnTo>
                  <a:pt x="186801" y="377686"/>
                </a:lnTo>
                <a:lnTo>
                  <a:pt x="160587" y="414548"/>
                </a:lnTo>
                <a:lnTo>
                  <a:pt x="136129" y="452694"/>
                </a:lnTo>
                <a:lnTo>
                  <a:pt x="113489" y="492066"/>
                </a:lnTo>
                <a:lnTo>
                  <a:pt x="92724" y="532604"/>
                </a:lnTo>
                <a:lnTo>
                  <a:pt x="73894" y="574250"/>
                </a:lnTo>
                <a:lnTo>
                  <a:pt x="57057" y="616943"/>
                </a:lnTo>
                <a:lnTo>
                  <a:pt x="42274" y="660626"/>
                </a:lnTo>
                <a:lnTo>
                  <a:pt x="29603" y="705239"/>
                </a:lnTo>
                <a:lnTo>
                  <a:pt x="19104" y="750722"/>
                </a:lnTo>
                <a:lnTo>
                  <a:pt x="10834" y="797017"/>
                </a:lnTo>
                <a:lnTo>
                  <a:pt x="4854" y="844064"/>
                </a:lnTo>
                <a:lnTo>
                  <a:pt x="1223" y="891805"/>
                </a:lnTo>
                <a:lnTo>
                  <a:pt x="0" y="940181"/>
                </a:lnTo>
                <a:lnTo>
                  <a:pt x="268605" y="940181"/>
                </a:lnTo>
                <a:lnTo>
                  <a:pt x="270472" y="890029"/>
                </a:lnTo>
                <a:lnTo>
                  <a:pt x="276002" y="840649"/>
                </a:lnTo>
                <a:lnTo>
                  <a:pt x="285087" y="792204"/>
                </a:lnTo>
                <a:lnTo>
                  <a:pt x="297618" y="744858"/>
                </a:lnTo>
                <a:lnTo>
                  <a:pt x="313486" y="698777"/>
                </a:lnTo>
                <a:lnTo>
                  <a:pt x="332583" y="654122"/>
                </a:lnTo>
                <a:lnTo>
                  <a:pt x="354801" y="611060"/>
                </a:lnTo>
                <a:lnTo>
                  <a:pt x="380031" y="569753"/>
                </a:lnTo>
                <a:lnTo>
                  <a:pt x="408165" y="530366"/>
                </a:lnTo>
                <a:lnTo>
                  <a:pt x="439093" y="493064"/>
                </a:lnTo>
                <a:lnTo>
                  <a:pt x="472709" y="458009"/>
                </a:lnTo>
                <a:lnTo>
                  <a:pt x="508902" y="425366"/>
                </a:lnTo>
                <a:lnTo>
                  <a:pt x="547566" y="395300"/>
                </a:lnTo>
                <a:lnTo>
                  <a:pt x="588591" y="367974"/>
                </a:lnTo>
                <a:lnTo>
                  <a:pt x="631868" y="343552"/>
                </a:lnTo>
                <a:lnTo>
                  <a:pt x="677291" y="322199"/>
                </a:lnTo>
                <a:lnTo>
                  <a:pt x="722077" y="304979"/>
                </a:lnTo>
                <a:lnTo>
                  <a:pt x="767318" y="291150"/>
                </a:lnTo>
                <a:lnTo>
                  <a:pt x="812862" y="280650"/>
                </a:lnTo>
                <a:lnTo>
                  <a:pt x="858561" y="273420"/>
                </a:lnTo>
                <a:lnTo>
                  <a:pt x="904267" y="269399"/>
                </a:lnTo>
                <a:lnTo>
                  <a:pt x="949829" y="268528"/>
                </a:lnTo>
                <a:lnTo>
                  <a:pt x="1597705" y="268528"/>
                </a:lnTo>
                <a:lnTo>
                  <a:pt x="1574921" y="246639"/>
                </a:lnTo>
                <a:lnTo>
                  <a:pt x="1540360" y="216530"/>
                </a:lnTo>
                <a:lnTo>
                  <a:pt x="1504394" y="188150"/>
                </a:lnTo>
                <a:lnTo>
                  <a:pt x="1467092" y="161551"/>
                </a:lnTo>
                <a:lnTo>
                  <a:pt x="1428521" y="136785"/>
                </a:lnTo>
                <a:lnTo>
                  <a:pt x="1388752" y="113902"/>
                </a:lnTo>
                <a:lnTo>
                  <a:pt x="1347852" y="92955"/>
                </a:lnTo>
                <a:lnTo>
                  <a:pt x="1305890" y="73994"/>
                </a:lnTo>
                <a:lnTo>
                  <a:pt x="1262893" y="57057"/>
                </a:lnTo>
                <a:lnTo>
                  <a:pt x="1219053" y="42238"/>
                </a:lnTo>
                <a:lnTo>
                  <a:pt x="1174316" y="29546"/>
                </a:lnTo>
                <a:lnTo>
                  <a:pt x="1128791" y="19047"/>
                </a:lnTo>
                <a:lnTo>
                  <a:pt x="1082546" y="10791"/>
                </a:lnTo>
                <a:lnTo>
                  <a:pt x="1035650" y="4830"/>
                </a:lnTo>
                <a:lnTo>
                  <a:pt x="988172" y="1216"/>
                </a:lnTo>
                <a:lnTo>
                  <a:pt x="940181" y="0"/>
                </a:lnTo>
                <a:close/>
              </a:path>
              <a:path w="1971039" h="940435">
                <a:moveTo>
                  <a:pt x="1970532" y="677291"/>
                </a:moveTo>
                <a:lnTo>
                  <a:pt x="1433322" y="677291"/>
                </a:lnTo>
                <a:lnTo>
                  <a:pt x="1745996" y="940181"/>
                </a:lnTo>
                <a:lnTo>
                  <a:pt x="1970532" y="677291"/>
                </a:lnTo>
                <a:close/>
              </a:path>
              <a:path w="1971039" h="940435">
                <a:moveTo>
                  <a:pt x="1597705" y="268528"/>
                </a:moveTo>
                <a:lnTo>
                  <a:pt x="949829" y="268528"/>
                </a:lnTo>
                <a:lnTo>
                  <a:pt x="995100" y="270745"/>
                </a:lnTo>
                <a:lnTo>
                  <a:pt x="1039930" y="275992"/>
                </a:lnTo>
                <a:lnTo>
                  <a:pt x="1084170" y="284208"/>
                </a:lnTo>
                <a:lnTo>
                  <a:pt x="1127671" y="295332"/>
                </a:lnTo>
                <a:lnTo>
                  <a:pt x="1170285" y="309305"/>
                </a:lnTo>
                <a:lnTo>
                  <a:pt x="1211861" y="326066"/>
                </a:lnTo>
                <a:lnTo>
                  <a:pt x="1252252" y="345556"/>
                </a:lnTo>
                <a:lnTo>
                  <a:pt x="1291308" y="367714"/>
                </a:lnTo>
                <a:lnTo>
                  <a:pt x="1328880" y="392481"/>
                </a:lnTo>
                <a:lnTo>
                  <a:pt x="1364820" y="419795"/>
                </a:lnTo>
                <a:lnTo>
                  <a:pt x="1398977" y="449597"/>
                </a:lnTo>
                <a:lnTo>
                  <a:pt x="1431204" y="481828"/>
                </a:lnTo>
                <a:lnTo>
                  <a:pt x="1461351" y="516425"/>
                </a:lnTo>
                <a:lnTo>
                  <a:pt x="1489270" y="553331"/>
                </a:lnTo>
                <a:lnTo>
                  <a:pt x="1514810" y="592483"/>
                </a:lnTo>
                <a:lnTo>
                  <a:pt x="1537824" y="633823"/>
                </a:lnTo>
                <a:lnTo>
                  <a:pt x="1558163" y="677291"/>
                </a:lnTo>
                <a:lnTo>
                  <a:pt x="1842770" y="677291"/>
                </a:lnTo>
                <a:lnTo>
                  <a:pt x="1828186" y="631549"/>
                </a:lnTo>
                <a:lnTo>
                  <a:pt x="1811443" y="586972"/>
                </a:lnTo>
                <a:lnTo>
                  <a:pt x="1792610" y="543610"/>
                </a:lnTo>
                <a:lnTo>
                  <a:pt x="1771755" y="501515"/>
                </a:lnTo>
                <a:lnTo>
                  <a:pt x="1748947" y="460738"/>
                </a:lnTo>
                <a:lnTo>
                  <a:pt x="1724255" y="421331"/>
                </a:lnTo>
                <a:lnTo>
                  <a:pt x="1697746" y="383345"/>
                </a:lnTo>
                <a:lnTo>
                  <a:pt x="1669490" y="346831"/>
                </a:lnTo>
                <a:lnTo>
                  <a:pt x="1639555" y="311841"/>
                </a:lnTo>
                <a:lnTo>
                  <a:pt x="1608009" y="278427"/>
                </a:lnTo>
                <a:lnTo>
                  <a:pt x="1597705" y="268528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48789" y="1331341"/>
            <a:ext cx="1971039" cy="940435"/>
          </a:xfrm>
          <a:custGeom>
            <a:avLst/>
            <a:gdLst/>
            <a:ahLst/>
            <a:cxnLst/>
            <a:rect l="l" t="t" r="r" b="b"/>
            <a:pathLst>
              <a:path w="1971039" h="940435">
                <a:moveTo>
                  <a:pt x="0" y="940181"/>
                </a:moveTo>
                <a:lnTo>
                  <a:pt x="1223" y="891805"/>
                </a:lnTo>
                <a:lnTo>
                  <a:pt x="4854" y="844064"/>
                </a:lnTo>
                <a:lnTo>
                  <a:pt x="10834" y="797017"/>
                </a:lnTo>
                <a:lnTo>
                  <a:pt x="19104" y="750722"/>
                </a:lnTo>
                <a:lnTo>
                  <a:pt x="29603" y="705239"/>
                </a:lnTo>
                <a:lnTo>
                  <a:pt x="42274" y="660626"/>
                </a:lnTo>
                <a:lnTo>
                  <a:pt x="57057" y="616943"/>
                </a:lnTo>
                <a:lnTo>
                  <a:pt x="73894" y="574250"/>
                </a:lnTo>
                <a:lnTo>
                  <a:pt x="92724" y="532604"/>
                </a:lnTo>
                <a:lnTo>
                  <a:pt x="113489" y="492066"/>
                </a:lnTo>
                <a:lnTo>
                  <a:pt x="136129" y="452694"/>
                </a:lnTo>
                <a:lnTo>
                  <a:pt x="160587" y="414548"/>
                </a:lnTo>
                <a:lnTo>
                  <a:pt x="186801" y="377686"/>
                </a:lnTo>
                <a:lnTo>
                  <a:pt x="214714" y="342168"/>
                </a:lnTo>
                <a:lnTo>
                  <a:pt x="244267" y="308052"/>
                </a:lnTo>
                <a:lnTo>
                  <a:pt x="275399" y="275399"/>
                </a:lnTo>
                <a:lnTo>
                  <a:pt x="308052" y="244267"/>
                </a:lnTo>
                <a:lnTo>
                  <a:pt x="342168" y="214714"/>
                </a:lnTo>
                <a:lnTo>
                  <a:pt x="377686" y="186801"/>
                </a:lnTo>
                <a:lnTo>
                  <a:pt x="414548" y="160587"/>
                </a:lnTo>
                <a:lnTo>
                  <a:pt x="452694" y="136129"/>
                </a:lnTo>
                <a:lnTo>
                  <a:pt x="492066" y="113489"/>
                </a:lnTo>
                <a:lnTo>
                  <a:pt x="532604" y="92724"/>
                </a:lnTo>
                <a:lnTo>
                  <a:pt x="574250" y="73894"/>
                </a:lnTo>
                <a:lnTo>
                  <a:pt x="616943" y="57057"/>
                </a:lnTo>
                <a:lnTo>
                  <a:pt x="660626" y="42274"/>
                </a:lnTo>
                <a:lnTo>
                  <a:pt x="705239" y="29603"/>
                </a:lnTo>
                <a:lnTo>
                  <a:pt x="750722" y="19104"/>
                </a:lnTo>
                <a:lnTo>
                  <a:pt x="797017" y="10834"/>
                </a:lnTo>
                <a:lnTo>
                  <a:pt x="844064" y="4854"/>
                </a:lnTo>
                <a:lnTo>
                  <a:pt x="891805" y="1223"/>
                </a:lnTo>
                <a:lnTo>
                  <a:pt x="940181" y="0"/>
                </a:lnTo>
                <a:lnTo>
                  <a:pt x="988172" y="1216"/>
                </a:lnTo>
                <a:lnTo>
                  <a:pt x="1035650" y="4830"/>
                </a:lnTo>
                <a:lnTo>
                  <a:pt x="1082546" y="10791"/>
                </a:lnTo>
                <a:lnTo>
                  <a:pt x="1128791" y="19047"/>
                </a:lnTo>
                <a:lnTo>
                  <a:pt x="1174316" y="29546"/>
                </a:lnTo>
                <a:lnTo>
                  <a:pt x="1219053" y="42238"/>
                </a:lnTo>
                <a:lnTo>
                  <a:pt x="1262934" y="57072"/>
                </a:lnTo>
                <a:lnTo>
                  <a:pt x="1305890" y="73994"/>
                </a:lnTo>
                <a:lnTo>
                  <a:pt x="1347852" y="92955"/>
                </a:lnTo>
                <a:lnTo>
                  <a:pt x="1388752" y="113902"/>
                </a:lnTo>
                <a:lnTo>
                  <a:pt x="1428521" y="136785"/>
                </a:lnTo>
                <a:lnTo>
                  <a:pt x="1467092" y="161551"/>
                </a:lnTo>
                <a:lnTo>
                  <a:pt x="1504394" y="188150"/>
                </a:lnTo>
                <a:lnTo>
                  <a:pt x="1540360" y="216530"/>
                </a:lnTo>
                <a:lnTo>
                  <a:pt x="1574921" y="246639"/>
                </a:lnTo>
                <a:lnTo>
                  <a:pt x="1608009" y="278427"/>
                </a:lnTo>
                <a:lnTo>
                  <a:pt x="1639555" y="311841"/>
                </a:lnTo>
                <a:lnTo>
                  <a:pt x="1669490" y="346831"/>
                </a:lnTo>
                <a:lnTo>
                  <a:pt x="1697746" y="383345"/>
                </a:lnTo>
                <a:lnTo>
                  <a:pt x="1724255" y="421331"/>
                </a:lnTo>
                <a:lnTo>
                  <a:pt x="1748947" y="460738"/>
                </a:lnTo>
                <a:lnTo>
                  <a:pt x="1771755" y="501515"/>
                </a:lnTo>
                <a:lnTo>
                  <a:pt x="1792610" y="543610"/>
                </a:lnTo>
                <a:lnTo>
                  <a:pt x="1811443" y="586972"/>
                </a:lnTo>
                <a:lnTo>
                  <a:pt x="1828186" y="631549"/>
                </a:lnTo>
                <a:lnTo>
                  <a:pt x="1842770" y="677291"/>
                </a:lnTo>
                <a:lnTo>
                  <a:pt x="1970532" y="677291"/>
                </a:lnTo>
                <a:lnTo>
                  <a:pt x="1745996" y="940181"/>
                </a:lnTo>
                <a:lnTo>
                  <a:pt x="1433322" y="677291"/>
                </a:lnTo>
                <a:lnTo>
                  <a:pt x="1558163" y="677291"/>
                </a:lnTo>
                <a:lnTo>
                  <a:pt x="1537824" y="633823"/>
                </a:lnTo>
                <a:lnTo>
                  <a:pt x="1514810" y="592483"/>
                </a:lnTo>
                <a:lnTo>
                  <a:pt x="1489270" y="553331"/>
                </a:lnTo>
                <a:lnTo>
                  <a:pt x="1461351" y="516425"/>
                </a:lnTo>
                <a:lnTo>
                  <a:pt x="1431204" y="481828"/>
                </a:lnTo>
                <a:lnTo>
                  <a:pt x="1398977" y="449597"/>
                </a:lnTo>
                <a:lnTo>
                  <a:pt x="1364820" y="419795"/>
                </a:lnTo>
                <a:lnTo>
                  <a:pt x="1328880" y="392481"/>
                </a:lnTo>
                <a:lnTo>
                  <a:pt x="1291308" y="367714"/>
                </a:lnTo>
                <a:lnTo>
                  <a:pt x="1252252" y="345556"/>
                </a:lnTo>
                <a:lnTo>
                  <a:pt x="1211861" y="326066"/>
                </a:lnTo>
                <a:lnTo>
                  <a:pt x="1170285" y="309305"/>
                </a:lnTo>
                <a:lnTo>
                  <a:pt x="1127671" y="295332"/>
                </a:lnTo>
                <a:lnTo>
                  <a:pt x="1084170" y="284208"/>
                </a:lnTo>
                <a:lnTo>
                  <a:pt x="1039930" y="275992"/>
                </a:lnTo>
                <a:lnTo>
                  <a:pt x="995100" y="270745"/>
                </a:lnTo>
                <a:lnTo>
                  <a:pt x="949829" y="268528"/>
                </a:lnTo>
                <a:lnTo>
                  <a:pt x="904267" y="269399"/>
                </a:lnTo>
                <a:lnTo>
                  <a:pt x="858561" y="273420"/>
                </a:lnTo>
                <a:lnTo>
                  <a:pt x="812862" y="280650"/>
                </a:lnTo>
                <a:lnTo>
                  <a:pt x="767318" y="291150"/>
                </a:lnTo>
                <a:lnTo>
                  <a:pt x="722077" y="304979"/>
                </a:lnTo>
                <a:lnTo>
                  <a:pt x="677291" y="322199"/>
                </a:lnTo>
                <a:lnTo>
                  <a:pt x="631868" y="343552"/>
                </a:lnTo>
                <a:lnTo>
                  <a:pt x="588591" y="367974"/>
                </a:lnTo>
                <a:lnTo>
                  <a:pt x="547566" y="395300"/>
                </a:lnTo>
                <a:lnTo>
                  <a:pt x="508902" y="425366"/>
                </a:lnTo>
                <a:lnTo>
                  <a:pt x="472709" y="458009"/>
                </a:lnTo>
                <a:lnTo>
                  <a:pt x="439093" y="493064"/>
                </a:lnTo>
                <a:lnTo>
                  <a:pt x="408165" y="530366"/>
                </a:lnTo>
                <a:lnTo>
                  <a:pt x="380031" y="569753"/>
                </a:lnTo>
                <a:lnTo>
                  <a:pt x="354801" y="611060"/>
                </a:lnTo>
                <a:lnTo>
                  <a:pt x="332583" y="654122"/>
                </a:lnTo>
                <a:lnTo>
                  <a:pt x="313486" y="698777"/>
                </a:lnTo>
                <a:lnTo>
                  <a:pt x="297618" y="744858"/>
                </a:lnTo>
                <a:lnTo>
                  <a:pt x="285087" y="792204"/>
                </a:lnTo>
                <a:lnTo>
                  <a:pt x="276002" y="840649"/>
                </a:lnTo>
                <a:lnTo>
                  <a:pt x="270472" y="890029"/>
                </a:lnTo>
                <a:lnTo>
                  <a:pt x="268605" y="940181"/>
                </a:lnTo>
                <a:lnTo>
                  <a:pt x="0" y="940181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58619" y="5356097"/>
            <a:ext cx="1970405" cy="940435"/>
          </a:xfrm>
          <a:custGeom>
            <a:avLst/>
            <a:gdLst/>
            <a:ahLst/>
            <a:cxnLst/>
            <a:rect l="l" t="t" r="r" b="b"/>
            <a:pathLst>
              <a:path w="1970404" h="940435">
                <a:moveTo>
                  <a:pt x="412369" y="262864"/>
                </a:moveTo>
                <a:lnTo>
                  <a:pt x="127762" y="262864"/>
                </a:lnTo>
                <a:lnTo>
                  <a:pt x="142345" y="308603"/>
                </a:lnTo>
                <a:lnTo>
                  <a:pt x="159088" y="353177"/>
                </a:lnTo>
                <a:lnTo>
                  <a:pt x="177921" y="396536"/>
                </a:lnTo>
                <a:lnTo>
                  <a:pt x="198776" y="438629"/>
                </a:lnTo>
                <a:lnTo>
                  <a:pt x="221584" y="479403"/>
                </a:lnTo>
                <a:lnTo>
                  <a:pt x="246276" y="518808"/>
                </a:lnTo>
                <a:lnTo>
                  <a:pt x="272785" y="556792"/>
                </a:lnTo>
                <a:lnTo>
                  <a:pt x="301041" y="593304"/>
                </a:lnTo>
                <a:lnTo>
                  <a:pt x="330976" y="628291"/>
                </a:lnTo>
                <a:lnTo>
                  <a:pt x="362522" y="661704"/>
                </a:lnTo>
                <a:lnTo>
                  <a:pt x="395610" y="693490"/>
                </a:lnTo>
                <a:lnTo>
                  <a:pt x="430171" y="723598"/>
                </a:lnTo>
                <a:lnTo>
                  <a:pt x="466137" y="751976"/>
                </a:lnTo>
                <a:lnTo>
                  <a:pt x="503439" y="778573"/>
                </a:lnTo>
                <a:lnTo>
                  <a:pt x="542010" y="803339"/>
                </a:lnTo>
                <a:lnTo>
                  <a:pt x="581779" y="826220"/>
                </a:lnTo>
                <a:lnTo>
                  <a:pt x="622679" y="847166"/>
                </a:lnTo>
                <a:lnTo>
                  <a:pt x="664641" y="866126"/>
                </a:lnTo>
                <a:lnTo>
                  <a:pt x="707666" y="883071"/>
                </a:lnTo>
                <a:lnTo>
                  <a:pt x="751478" y="897880"/>
                </a:lnTo>
                <a:lnTo>
                  <a:pt x="796215" y="910572"/>
                </a:lnTo>
                <a:lnTo>
                  <a:pt x="841740" y="921071"/>
                </a:lnTo>
                <a:lnTo>
                  <a:pt x="887985" y="929326"/>
                </a:lnTo>
                <a:lnTo>
                  <a:pt x="934881" y="935287"/>
                </a:lnTo>
                <a:lnTo>
                  <a:pt x="982359" y="938901"/>
                </a:lnTo>
                <a:lnTo>
                  <a:pt x="1030351" y="940117"/>
                </a:lnTo>
                <a:lnTo>
                  <a:pt x="1078725" y="938894"/>
                </a:lnTo>
                <a:lnTo>
                  <a:pt x="1126465" y="935263"/>
                </a:lnTo>
                <a:lnTo>
                  <a:pt x="1173511" y="929285"/>
                </a:lnTo>
                <a:lnTo>
                  <a:pt x="1219804" y="921017"/>
                </a:lnTo>
                <a:lnTo>
                  <a:pt x="1265284" y="910520"/>
                </a:lnTo>
                <a:lnTo>
                  <a:pt x="1309893" y="897851"/>
                </a:lnTo>
                <a:lnTo>
                  <a:pt x="1353631" y="883048"/>
                </a:lnTo>
                <a:lnTo>
                  <a:pt x="1396261" y="866238"/>
                </a:lnTo>
                <a:lnTo>
                  <a:pt x="1437902" y="847411"/>
                </a:lnTo>
                <a:lnTo>
                  <a:pt x="1478435" y="826650"/>
                </a:lnTo>
                <a:lnTo>
                  <a:pt x="1517802" y="804013"/>
                </a:lnTo>
                <a:lnTo>
                  <a:pt x="1555943" y="779560"/>
                </a:lnTo>
                <a:lnTo>
                  <a:pt x="1592799" y="753349"/>
                </a:lnTo>
                <a:lnTo>
                  <a:pt x="1628312" y="725440"/>
                </a:lnTo>
                <a:lnTo>
                  <a:pt x="1662421" y="695892"/>
                </a:lnTo>
                <a:lnTo>
                  <a:pt x="1687885" y="671613"/>
                </a:lnTo>
                <a:lnTo>
                  <a:pt x="1020702" y="671613"/>
                </a:lnTo>
                <a:lnTo>
                  <a:pt x="975431" y="669398"/>
                </a:lnTo>
                <a:lnTo>
                  <a:pt x="930601" y="664153"/>
                </a:lnTo>
                <a:lnTo>
                  <a:pt x="886361" y="655939"/>
                </a:lnTo>
                <a:lnTo>
                  <a:pt x="842860" y="644817"/>
                </a:lnTo>
                <a:lnTo>
                  <a:pt x="800246" y="630846"/>
                </a:lnTo>
                <a:lnTo>
                  <a:pt x="758670" y="614086"/>
                </a:lnTo>
                <a:lnTo>
                  <a:pt x="718279" y="594598"/>
                </a:lnTo>
                <a:lnTo>
                  <a:pt x="679223" y="572441"/>
                </a:lnTo>
                <a:lnTo>
                  <a:pt x="641651" y="547675"/>
                </a:lnTo>
                <a:lnTo>
                  <a:pt x="605711" y="520362"/>
                </a:lnTo>
                <a:lnTo>
                  <a:pt x="571554" y="490560"/>
                </a:lnTo>
                <a:lnTo>
                  <a:pt x="539327" y="458330"/>
                </a:lnTo>
                <a:lnTo>
                  <a:pt x="509180" y="423733"/>
                </a:lnTo>
                <a:lnTo>
                  <a:pt x="481261" y="386827"/>
                </a:lnTo>
                <a:lnTo>
                  <a:pt x="455721" y="347674"/>
                </a:lnTo>
                <a:lnTo>
                  <a:pt x="432707" y="306333"/>
                </a:lnTo>
                <a:lnTo>
                  <a:pt x="412369" y="262864"/>
                </a:lnTo>
                <a:close/>
              </a:path>
              <a:path w="1970404" h="940435">
                <a:moveTo>
                  <a:pt x="1970405" y="0"/>
                </a:moveTo>
                <a:lnTo>
                  <a:pt x="1701927" y="0"/>
                </a:lnTo>
                <a:lnTo>
                  <a:pt x="1700059" y="50157"/>
                </a:lnTo>
                <a:lnTo>
                  <a:pt x="1694529" y="99540"/>
                </a:lnTo>
                <a:lnTo>
                  <a:pt x="1685444" y="147986"/>
                </a:lnTo>
                <a:lnTo>
                  <a:pt x="1672913" y="195330"/>
                </a:lnTo>
                <a:lnTo>
                  <a:pt x="1657045" y="241408"/>
                </a:lnTo>
                <a:lnTo>
                  <a:pt x="1637948" y="286058"/>
                </a:lnTo>
                <a:lnTo>
                  <a:pt x="1615730" y="329115"/>
                </a:lnTo>
                <a:lnTo>
                  <a:pt x="1590500" y="370416"/>
                </a:lnTo>
                <a:lnTo>
                  <a:pt x="1562366" y="409796"/>
                </a:lnTo>
                <a:lnTo>
                  <a:pt x="1531438" y="447092"/>
                </a:lnTo>
                <a:lnTo>
                  <a:pt x="1497822" y="482140"/>
                </a:lnTo>
                <a:lnTo>
                  <a:pt x="1461629" y="514776"/>
                </a:lnTo>
                <a:lnTo>
                  <a:pt x="1422965" y="544837"/>
                </a:lnTo>
                <a:lnTo>
                  <a:pt x="1381940" y="572159"/>
                </a:lnTo>
                <a:lnTo>
                  <a:pt x="1338663" y="596578"/>
                </a:lnTo>
                <a:lnTo>
                  <a:pt x="1293241" y="617931"/>
                </a:lnTo>
                <a:lnTo>
                  <a:pt x="1248454" y="635152"/>
                </a:lnTo>
                <a:lnTo>
                  <a:pt x="1203213" y="648983"/>
                </a:lnTo>
                <a:lnTo>
                  <a:pt x="1157669" y="659484"/>
                </a:lnTo>
                <a:lnTo>
                  <a:pt x="1111970" y="666717"/>
                </a:lnTo>
                <a:lnTo>
                  <a:pt x="1066264" y="670739"/>
                </a:lnTo>
                <a:lnTo>
                  <a:pt x="1020702" y="671613"/>
                </a:lnTo>
                <a:lnTo>
                  <a:pt x="1687885" y="671613"/>
                </a:lnTo>
                <a:lnTo>
                  <a:pt x="1726195" y="632114"/>
                </a:lnTo>
                <a:lnTo>
                  <a:pt x="1755741" y="598002"/>
                </a:lnTo>
                <a:lnTo>
                  <a:pt x="1783649" y="562487"/>
                </a:lnTo>
                <a:lnTo>
                  <a:pt x="1809858" y="525629"/>
                </a:lnTo>
                <a:lnTo>
                  <a:pt x="1834309" y="487485"/>
                </a:lnTo>
                <a:lnTo>
                  <a:pt x="1856945" y="448116"/>
                </a:lnTo>
                <a:lnTo>
                  <a:pt x="1877705" y="407580"/>
                </a:lnTo>
                <a:lnTo>
                  <a:pt x="1896530" y="365936"/>
                </a:lnTo>
                <a:lnTo>
                  <a:pt x="1913362" y="323244"/>
                </a:lnTo>
                <a:lnTo>
                  <a:pt x="1928141" y="279562"/>
                </a:lnTo>
                <a:lnTo>
                  <a:pt x="1940809" y="234950"/>
                </a:lnTo>
                <a:lnTo>
                  <a:pt x="1951306" y="189466"/>
                </a:lnTo>
                <a:lnTo>
                  <a:pt x="1959573" y="143170"/>
                </a:lnTo>
                <a:lnTo>
                  <a:pt x="1965551" y="96121"/>
                </a:lnTo>
                <a:lnTo>
                  <a:pt x="1969181" y="48378"/>
                </a:lnTo>
                <a:lnTo>
                  <a:pt x="1970405" y="0"/>
                </a:lnTo>
                <a:close/>
              </a:path>
              <a:path w="1970404" h="940435">
                <a:moveTo>
                  <a:pt x="224536" y="0"/>
                </a:moveTo>
                <a:lnTo>
                  <a:pt x="0" y="262864"/>
                </a:lnTo>
                <a:lnTo>
                  <a:pt x="537210" y="262864"/>
                </a:lnTo>
                <a:lnTo>
                  <a:pt x="224536" y="0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58619" y="5356097"/>
            <a:ext cx="1970405" cy="940435"/>
          </a:xfrm>
          <a:custGeom>
            <a:avLst/>
            <a:gdLst/>
            <a:ahLst/>
            <a:cxnLst/>
            <a:rect l="l" t="t" r="r" b="b"/>
            <a:pathLst>
              <a:path w="1970404" h="940435">
                <a:moveTo>
                  <a:pt x="1970405" y="0"/>
                </a:moveTo>
                <a:lnTo>
                  <a:pt x="1969181" y="48378"/>
                </a:lnTo>
                <a:lnTo>
                  <a:pt x="1965551" y="96121"/>
                </a:lnTo>
                <a:lnTo>
                  <a:pt x="1959573" y="143170"/>
                </a:lnTo>
                <a:lnTo>
                  <a:pt x="1951306" y="189466"/>
                </a:lnTo>
                <a:lnTo>
                  <a:pt x="1940809" y="234950"/>
                </a:lnTo>
                <a:lnTo>
                  <a:pt x="1928141" y="279562"/>
                </a:lnTo>
                <a:lnTo>
                  <a:pt x="1913362" y="323244"/>
                </a:lnTo>
                <a:lnTo>
                  <a:pt x="1896530" y="365936"/>
                </a:lnTo>
                <a:lnTo>
                  <a:pt x="1877705" y="407580"/>
                </a:lnTo>
                <a:lnTo>
                  <a:pt x="1856945" y="448116"/>
                </a:lnTo>
                <a:lnTo>
                  <a:pt x="1834309" y="487485"/>
                </a:lnTo>
                <a:lnTo>
                  <a:pt x="1809858" y="525629"/>
                </a:lnTo>
                <a:lnTo>
                  <a:pt x="1783649" y="562487"/>
                </a:lnTo>
                <a:lnTo>
                  <a:pt x="1755741" y="598002"/>
                </a:lnTo>
                <a:lnTo>
                  <a:pt x="1726195" y="632114"/>
                </a:lnTo>
                <a:lnTo>
                  <a:pt x="1695069" y="664764"/>
                </a:lnTo>
                <a:lnTo>
                  <a:pt x="1662421" y="695892"/>
                </a:lnTo>
                <a:lnTo>
                  <a:pt x="1628312" y="725440"/>
                </a:lnTo>
                <a:lnTo>
                  <a:pt x="1592799" y="753349"/>
                </a:lnTo>
                <a:lnTo>
                  <a:pt x="1555943" y="779560"/>
                </a:lnTo>
                <a:lnTo>
                  <a:pt x="1517802" y="804013"/>
                </a:lnTo>
                <a:lnTo>
                  <a:pt x="1478435" y="826650"/>
                </a:lnTo>
                <a:lnTo>
                  <a:pt x="1437902" y="847411"/>
                </a:lnTo>
                <a:lnTo>
                  <a:pt x="1396261" y="866238"/>
                </a:lnTo>
                <a:lnTo>
                  <a:pt x="1353572" y="883071"/>
                </a:lnTo>
                <a:lnTo>
                  <a:pt x="1309893" y="897851"/>
                </a:lnTo>
                <a:lnTo>
                  <a:pt x="1265284" y="910520"/>
                </a:lnTo>
                <a:lnTo>
                  <a:pt x="1219804" y="921017"/>
                </a:lnTo>
                <a:lnTo>
                  <a:pt x="1173511" y="929285"/>
                </a:lnTo>
                <a:lnTo>
                  <a:pt x="1126465" y="935263"/>
                </a:lnTo>
                <a:lnTo>
                  <a:pt x="1078725" y="938894"/>
                </a:lnTo>
                <a:lnTo>
                  <a:pt x="1030351" y="940117"/>
                </a:lnTo>
                <a:lnTo>
                  <a:pt x="982359" y="938901"/>
                </a:lnTo>
                <a:lnTo>
                  <a:pt x="934881" y="935287"/>
                </a:lnTo>
                <a:lnTo>
                  <a:pt x="887985" y="929326"/>
                </a:lnTo>
                <a:lnTo>
                  <a:pt x="841740" y="921071"/>
                </a:lnTo>
                <a:lnTo>
                  <a:pt x="796215" y="910572"/>
                </a:lnTo>
                <a:lnTo>
                  <a:pt x="751478" y="897880"/>
                </a:lnTo>
                <a:lnTo>
                  <a:pt x="707597" y="883048"/>
                </a:lnTo>
                <a:lnTo>
                  <a:pt x="664641" y="866126"/>
                </a:lnTo>
                <a:lnTo>
                  <a:pt x="622679" y="847166"/>
                </a:lnTo>
                <a:lnTo>
                  <a:pt x="581779" y="826220"/>
                </a:lnTo>
                <a:lnTo>
                  <a:pt x="542010" y="803339"/>
                </a:lnTo>
                <a:lnTo>
                  <a:pt x="503439" y="778573"/>
                </a:lnTo>
                <a:lnTo>
                  <a:pt x="466137" y="751976"/>
                </a:lnTo>
                <a:lnTo>
                  <a:pt x="430171" y="723598"/>
                </a:lnTo>
                <a:lnTo>
                  <a:pt x="395610" y="693490"/>
                </a:lnTo>
                <a:lnTo>
                  <a:pt x="362522" y="661704"/>
                </a:lnTo>
                <a:lnTo>
                  <a:pt x="330976" y="628291"/>
                </a:lnTo>
                <a:lnTo>
                  <a:pt x="301041" y="593304"/>
                </a:lnTo>
                <a:lnTo>
                  <a:pt x="272785" y="556792"/>
                </a:lnTo>
                <a:lnTo>
                  <a:pt x="246276" y="518808"/>
                </a:lnTo>
                <a:lnTo>
                  <a:pt x="221584" y="479403"/>
                </a:lnTo>
                <a:lnTo>
                  <a:pt x="198776" y="438629"/>
                </a:lnTo>
                <a:lnTo>
                  <a:pt x="177921" y="396536"/>
                </a:lnTo>
                <a:lnTo>
                  <a:pt x="159088" y="353177"/>
                </a:lnTo>
                <a:lnTo>
                  <a:pt x="142345" y="308603"/>
                </a:lnTo>
                <a:lnTo>
                  <a:pt x="127762" y="262864"/>
                </a:lnTo>
                <a:lnTo>
                  <a:pt x="0" y="262864"/>
                </a:lnTo>
                <a:lnTo>
                  <a:pt x="224536" y="0"/>
                </a:lnTo>
                <a:lnTo>
                  <a:pt x="537210" y="262864"/>
                </a:lnTo>
                <a:lnTo>
                  <a:pt x="412369" y="262864"/>
                </a:lnTo>
                <a:lnTo>
                  <a:pt x="432707" y="306333"/>
                </a:lnTo>
                <a:lnTo>
                  <a:pt x="455721" y="347674"/>
                </a:lnTo>
                <a:lnTo>
                  <a:pt x="481261" y="386827"/>
                </a:lnTo>
                <a:lnTo>
                  <a:pt x="509180" y="423733"/>
                </a:lnTo>
                <a:lnTo>
                  <a:pt x="539327" y="458330"/>
                </a:lnTo>
                <a:lnTo>
                  <a:pt x="571554" y="490560"/>
                </a:lnTo>
                <a:lnTo>
                  <a:pt x="605711" y="520362"/>
                </a:lnTo>
                <a:lnTo>
                  <a:pt x="641651" y="547675"/>
                </a:lnTo>
                <a:lnTo>
                  <a:pt x="679223" y="572441"/>
                </a:lnTo>
                <a:lnTo>
                  <a:pt x="718279" y="594598"/>
                </a:lnTo>
                <a:lnTo>
                  <a:pt x="758670" y="614086"/>
                </a:lnTo>
                <a:lnTo>
                  <a:pt x="800246" y="630846"/>
                </a:lnTo>
                <a:lnTo>
                  <a:pt x="842860" y="644817"/>
                </a:lnTo>
                <a:lnTo>
                  <a:pt x="886361" y="655939"/>
                </a:lnTo>
                <a:lnTo>
                  <a:pt x="930601" y="664153"/>
                </a:lnTo>
                <a:lnTo>
                  <a:pt x="975431" y="669398"/>
                </a:lnTo>
                <a:lnTo>
                  <a:pt x="1020702" y="671613"/>
                </a:lnTo>
                <a:lnTo>
                  <a:pt x="1066264" y="670739"/>
                </a:lnTo>
                <a:lnTo>
                  <a:pt x="1111970" y="666717"/>
                </a:lnTo>
                <a:lnTo>
                  <a:pt x="1157669" y="659484"/>
                </a:lnTo>
                <a:lnTo>
                  <a:pt x="1203213" y="648983"/>
                </a:lnTo>
                <a:lnTo>
                  <a:pt x="1248454" y="635152"/>
                </a:lnTo>
                <a:lnTo>
                  <a:pt x="1293241" y="617931"/>
                </a:lnTo>
                <a:lnTo>
                  <a:pt x="1338663" y="596578"/>
                </a:lnTo>
                <a:lnTo>
                  <a:pt x="1381940" y="572159"/>
                </a:lnTo>
                <a:lnTo>
                  <a:pt x="1422965" y="544837"/>
                </a:lnTo>
                <a:lnTo>
                  <a:pt x="1461629" y="514776"/>
                </a:lnTo>
                <a:lnTo>
                  <a:pt x="1497822" y="482140"/>
                </a:lnTo>
                <a:lnTo>
                  <a:pt x="1531438" y="447092"/>
                </a:lnTo>
                <a:lnTo>
                  <a:pt x="1562366" y="409796"/>
                </a:lnTo>
                <a:lnTo>
                  <a:pt x="1590500" y="370416"/>
                </a:lnTo>
                <a:lnTo>
                  <a:pt x="1615730" y="329115"/>
                </a:lnTo>
                <a:lnTo>
                  <a:pt x="1637948" y="286058"/>
                </a:lnTo>
                <a:lnTo>
                  <a:pt x="1657045" y="241408"/>
                </a:lnTo>
                <a:lnTo>
                  <a:pt x="1672913" y="195330"/>
                </a:lnTo>
                <a:lnTo>
                  <a:pt x="1685444" y="147986"/>
                </a:lnTo>
                <a:lnTo>
                  <a:pt x="1694529" y="99540"/>
                </a:lnTo>
                <a:lnTo>
                  <a:pt x="1700059" y="50157"/>
                </a:lnTo>
                <a:lnTo>
                  <a:pt x="1701927" y="0"/>
                </a:lnTo>
                <a:lnTo>
                  <a:pt x="1970405" y="0"/>
                </a:lnTo>
                <a:close/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860796" y="1756663"/>
            <a:ext cx="287401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0000"/>
                </a:solidFill>
                <a:latin typeface="微软雅黑"/>
                <a:cs typeface="微软雅黑"/>
              </a:rPr>
              <a:t>根据此特点可方 便地写出格雷码</a:t>
            </a:r>
            <a:endParaRPr sz="32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80532" y="2956560"/>
            <a:ext cx="2857500" cy="2857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4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23</a:t>
            </a:fld>
            <a:endParaRPr spc="-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格雷码的写法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7775" y="2447035"/>
            <a:ext cx="1949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6085" y="2447035"/>
            <a:ext cx="3638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01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44339" y="2447035"/>
            <a:ext cx="36385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01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90" dirty="0">
                <a:latin typeface="Arial"/>
                <a:cs typeface="Arial"/>
              </a:rPr>
              <a:t>11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12890" y="2447035"/>
            <a:ext cx="533400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000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001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65" dirty="0">
                <a:latin typeface="Arial"/>
                <a:cs typeface="Arial"/>
              </a:rPr>
              <a:t>011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010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65034" y="2447035"/>
            <a:ext cx="53340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"/>
                <a:cs typeface="Arial"/>
              </a:rPr>
              <a:t>000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001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65" dirty="0">
                <a:latin typeface="Arial"/>
                <a:cs typeface="Arial"/>
              </a:rPr>
              <a:t>011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010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65" dirty="0">
                <a:latin typeface="Arial"/>
                <a:cs typeface="Arial"/>
              </a:rPr>
              <a:t>110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90" dirty="0">
                <a:latin typeface="Arial"/>
                <a:cs typeface="Arial"/>
              </a:rPr>
              <a:t>111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Arial"/>
                <a:cs typeface="Arial"/>
              </a:rPr>
              <a:t>101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100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83714" y="1723135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一位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96258" y="172377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二位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16954" y="1723771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微软雅黑"/>
                <a:cs typeface="微软雅黑"/>
              </a:rPr>
              <a:t>三位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85366" y="1341882"/>
            <a:ext cx="1369060" cy="4464050"/>
          </a:xfrm>
          <a:custGeom>
            <a:avLst/>
            <a:gdLst/>
            <a:ahLst/>
            <a:cxnLst/>
            <a:rect l="l" t="t" r="r" b="b"/>
            <a:pathLst>
              <a:path w="1369060" h="4464050">
                <a:moveTo>
                  <a:pt x="0" y="228091"/>
                </a:moveTo>
                <a:lnTo>
                  <a:pt x="4633" y="182119"/>
                </a:lnTo>
                <a:lnTo>
                  <a:pt x="17922" y="139303"/>
                </a:lnTo>
                <a:lnTo>
                  <a:pt x="38951" y="100558"/>
                </a:lnTo>
                <a:lnTo>
                  <a:pt x="66801" y="66801"/>
                </a:lnTo>
                <a:lnTo>
                  <a:pt x="100558" y="38951"/>
                </a:lnTo>
                <a:lnTo>
                  <a:pt x="139303" y="17922"/>
                </a:lnTo>
                <a:lnTo>
                  <a:pt x="182119" y="4633"/>
                </a:lnTo>
                <a:lnTo>
                  <a:pt x="228091" y="0"/>
                </a:lnTo>
                <a:lnTo>
                  <a:pt x="1140459" y="0"/>
                </a:lnTo>
                <a:lnTo>
                  <a:pt x="1186432" y="4633"/>
                </a:lnTo>
                <a:lnTo>
                  <a:pt x="1229248" y="17922"/>
                </a:lnTo>
                <a:lnTo>
                  <a:pt x="1267993" y="38951"/>
                </a:lnTo>
                <a:lnTo>
                  <a:pt x="1301750" y="66801"/>
                </a:lnTo>
                <a:lnTo>
                  <a:pt x="1329600" y="100558"/>
                </a:lnTo>
                <a:lnTo>
                  <a:pt x="1350629" y="139303"/>
                </a:lnTo>
                <a:lnTo>
                  <a:pt x="1363918" y="182119"/>
                </a:lnTo>
                <a:lnTo>
                  <a:pt x="1368552" y="228091"/>
                </a:lnTo>
                <a:lnTo>
                  <a:pt x="1368552" y="4235704"/>
                </a:lnTo>
                <a:lnTo>
                  <a:pt x="1363918" y="4281672"/>
                </a:lnTo>
                <a:lnTo>
                  <a:pt x="1350629" y="4324487"/>
                </a:lnTo>
                <a:lnTo>
                  <a:pt x="1329600" y="4363232"/>
                </a:lnTo>
                <a:lnTo>
                  <a:pt x="1301750" y="4396989"/>
                </a:lnTo>
                <a:lnTo>
                  <a:pt x="1267993" y="4424841"/>
                </a:lnTo>
                <a:lnTo>
                  <a:pt x="1229248" y="4445871"/>
                </a:lnTo>
                <a:lnTo>
                  <a:pt x="1186432" y="4459161"/>
                </a:lnTo>
                <a:lnTo>
                  <a:pt x="1140459" y="4463795"/>
                </a:lnTo>
                <a:lnTo>
                  <a:pt x="228091" y="4463795"/>
                </a:lnTo>
                <a:lnTo>
                  <a:pt x="182119" y="4459161"/>
                </a:lnTo>
                <a:lnTo>
                  <a:pt x="139303" y="4445871"/>
                </a:lnTo>
                <a:lnTo>
                  <a:pt x="100558" y="4424841"/>
                </a:lnTo>
                <a:lnTo>
                  <a:pt x="66801" y="4396989"/>
                </a:lnTo>
                <a:lnTo>
                  <a:pt x="38951" y="4363232"/>
                </a:lnTo>
                <a:lnTo>
                  <a:pt x="17922" y="4324487"/>
                </a:lnTo>
                <a:lnTo>
                  <a:pt x="4633" y="4281672"/>
                </a:lnTo>
                <a:lnTo>
                  <a:pt x="0" y="4235704"/>
                </a:lnTo>
                <a:lnTo>
                  <a:pt x="0" y="228091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585209" y="1341882"/>
            <a:ext cx="1873250" cy="4464050"/>
          </a:xfrm>
          <a:custGeom>
            <a:avLst/>
            <a:gdLst/>
            <a:ahLst/>
            <a:cxnLst/>
            <a:rect l="l" t="t" r="r" b="b"/>
            <a:pathLst>
              <a:path w="1873250" h="4464050">
                <a:moveTo>
                  <a:pt x="0" y="312165"/>
                </a:moveTo>
                <a:lnTo>
                  <a:pt x="3386" y="266051"/>
                </a:lnTo>
                <a:lnTo>
                  <a:pt x="13222" y="222032"/>
                </a:lnTo>
                <a:lnTo>
                  <a:pt x="29024" y="180593"/>
                </a:lnTo>
                <a:lnTo>
                  <a:pt x="50308" y="142217"/>
                </a:lnTo>
                <a:lnTo>
                  <a:pt x="76591" y="107388"/>
                </a:lnTo>
                <a:lnTo>
                  <a:pt x="107388" y="76591"/>
                </a:lnTo>
                <a:lnTo>
                  <a:pt x="142217" y="50308"/>
                </a:lnTo>
                <a:lnTo>
                  <a:pt x="180593" y="29024"/>
                </a:lnTo>
                <a:lnTo>
                  <a:pt x="222032" y="13222"/>
                </a:lnTo>
                <a:lnTo>
                  <a:pt x="266051" y="3386"/>
                </a:lnTo>
                <a:lnTo>
                  <a:pt x="312165" y="0"/>
                </a:lnTo>
                <a:lnTo>
                  <a:pt x="1560829" y="0"/>
                </a:lnTo>
                <a:lnTo>
                  <a:pt x="1606944" y="3386"/>
                </a:lnTo>
                <a:lnTo>
                  <a:pt x="1650963" y="13222"/>
                </a:lnTo>
                <a:lnTo>
                  <a:pt x="1692402" y="29024"/>
                </a:lnTo>
                <a:lnTo>
                  <a:pt x="1730778" y="50308"/>
                </a:lnTo>
                <a:lnTo>
                  <a:pt x="1765607" y="76591"/>
                </a:lnTo>
                <a:lnTo>
                  <a:pt x="1796404" y="107388"/>
                </a:lnTo>
                <a:lnTo>
                  <a:pt x="1822687" y="142217"/>
                </a:lnTo>
                <a:lnTo>
                  <a:pt x="1843971" y="180593"/>
                </a:lnTo>
                <a:lnTo>
                  <a:pt x="1859773" y="222032"/>
                </a:lnTo>
                <a:lnTo>
                  <a:pt x="1869609" y="266051"/>
                </a:lnTo>
                <a:lnTo>
                  <a:pt x="1872995" y="312165"/>
                </a:lnTo>
                <a:lnTo>
                  <a:pt x="1872995" y="4151629"/>
                </a:lnTo>
                <a:lnTo>
                  <a:pt x="1869609" y="4197759"/>
                </a:lnTo>
                <a:lnTo>
                  <a:pt x="1859773" y="4241786"/>
                </a:lnTo>
                <a:lnTo>
                  <a:pt x="1843971" y="4283230"/>
                </a:lnTo>
                <a:lnTo>
                  <a:pt x="1822687" y="4321606"/>
                </a:lnTo>
                <a:lnTo>
                  <a:pt x="1796404" y="4356433"/>
                </a:lnTo>
                <a:lnTo>
                  <a:pt x="1765607" y="4387226"/>
                </a:lnTo>
                <a:lnTo>
                  <a:pt x="1730778" y="4413503"/>
                </a:lnTo>
                <a:lnTo>
                  <a:pt x="1692402" y="4434782"/>
                </a:lnTo>
                <a:lnTo>
                  <a:pt x="1650963" y="4450579"/>
                </a:lnTo>
                <a:lnTo>
                  <a:pt x="1606944" y="4460411"/>
                </a:lnTo>
                <a:lnTo>
                  <a:pt x="1560829" y="4463795"/>
                </a:lnTo>
                <a:lnTo>
                  <a:pt x="312165" y="4463795"/>
                </a:lnTo>
                <a:lnTo>
                  <a:pt x="266051" y="4460411"/>
                </a:lnTo>
                <a:lnTo>
                  <a:pt x="222032" y="4450579"/>
                </a:lnTo>
                <a:lnTo>
                  <a:pt x="180593" y="4434782"/>
                </a:lnTo>
                <a:lnTo>
                  <a:pt x="142217" y="4413503"/>
                </a:lnTo>
                <a:lnTo>
                  <a:pt x="107388" y="4387226"/>
                </a:lnTo>
                <a:lnTo>
                  <a:pt x="76591" y="4356433"/>
                </a:lnTo>
                <a:lnTo>
                  <a:pt x="50308" y="4321606"/>
                </a:lnTo>
                <a:lnTo>
                  <a:pt x="29024" y="4283230"/>
                </a:lnTo>
                <a:lnTo>
                  <a:pt x="13222" y="4241786"/>
                </a:lnTo>
                <a:lnTo>
                  <a:pt x="3386" y="4197759"/>
                </a:lnTo>
                <a:lnTo>
                  <a:pt x="0" y="4151629"/>
                </a:lnTo>
                <a:lnTo>
                  <a:pt x="0" y="312165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61126" y="1341882"/>
            <a:ext cx="2016760" cy="4464050"/>
          </a:xfrm>
          <a:custGeom>
            <a:avLst/>
            <a:gdLst/>
            <a:ahLst/>
            <a:cxnLst/>
            <a:rect l="l" t="t" r="r" b="b"/>
            <a:pathLst>
              <a:path w="2016759" h="4464050">
                <a:moveTo>
                  <a:pt x="0" y="336041"/>
                </a:moveTo>
                <a:lnTo>
                  <a:pt x="3644" y="286394"/>
                </a:lnTo>
                <a:lnTo>
                  <a:pt x="14231" y="239004"/>
                </a:lnTo>
                <a:lnTo>
                  <a:pt x="31239" y="194394"/>
                </a:lnTo>
                <a:lnTo>
                  <a:pt x="54149" y="153082"/>
                </a:lnTo>
                <a:lnTo>
                  <a:pt x="82440" y="115591"/>
                </a:lnTo>
                <a:lnTo>
                  <a:pt x="115591" y="82440"/>
                </a:lnTo>
                <a:lnTo>
                  <a:pt x="153082" y="54149"/>
                </a:lnTo>
                <a:lnTo>
                  <a:pt x="194394" y="31239"/>
                </a:lnTo>
                <a:lnTo>
                  <a:pt x="239004" y="14231"/>
                </a:lnTo>
                <a:lnTo>
                  <a:pt x="286394" y="3644"/>
                </a:lnTo>
                <a:lnTo>
                  <a:pt x="336041" y="0"/>
                </a:lnTo>
                <a:lnTo>
                  <a:pt x="1680209" y="0"/>
                </a:lnTo>
                <a:lnTo>
                  <a:pt x="1729857" y="3644"/>
                </a:lnTo>
                <a:lnTo>
                  <a:pt x="1777247" y="14231"/>
                </a:lnTo>
                <a:lnTo>
                  <a:pt x="1821857" y="31239"/>
                </a:lnTo>
                <a:lnTo>
                  <a:pt x="1863169" y="54149"/>
                </a:lnTo>
                <a:lnTo>
                  <a:pt x="1900660" y="82440"/>
                </a:lnTo>
                <a:lnTo>
                  <a:pt x="1933811" y="115591"/>
                </a:lnTo>
                <a:lnTo>
                  <a:pt x="1962102" y="153082"/>
                </a:lnTo>
                <a:lnTo>
                  <a:pt x="1985012" y="194394"/>
                </a:lnTo>
                <a:lnTo>
                  <a:pt x="2002020" y="239004"/>
                </a:lnTo>
                <a:lnTo>
                  <a:pt x="2012607" y="286394"/>
                </a:lnTo>
                <a:lnTo>
                  <a:pt x="2016252" y="336041"/>
                </a:lnTo>
                <a:lnTo>
                  <a:pt x="2016252" y="4127754"/>
                </a:lnTo>
                <a:lnTo>
                  <a:pt x="2012607" y="4177410"/>
                </a:lnTo>
                <a:lnTo>
                  <a:pt x="2002020" y="4224805"/>
                </a:lnTo>
                <a:lnTo>
                  <a:pt x="1985012" y="4269418"/>
                </a:lnTo>
                <a:lnTo>
                  <a:pt x="1962102" y="4310729"/>
                </a:lnTo>
                <a:lnTo>
                  <a:pt x="1933811" y="4348219"/>
                </a:lnTo>
                <a:lnTo>
                  <a:pt x="1900660" y="4381368"/>
                </a:lnTo>
                <a:lnTo>
                  <a:pt x="1863169" y="4409656"/>
                </a:lnTo>
                <a:lnTo>
                  <a:pt x="1821857" y="4432562"/>
                </a:lnTo>
                <a:lnTo>
                  <a:pt x="1777247" y="4449567"/>
                </a:lnTo>
                <a:lnTo>
                  <a:pt x="1729857" y="4460152"/>
                </a:lnTo>
                <a:lnTo>
                  <a:pt x="1680209" y="4463795"/>
                </a:lnTo>
                <a:lnTo>
                  <a:pt x="336041" y="4463795"/>
                </a:lnTo>
                <a:lnTo>
                  <a:pt x="286394" y="4460152"/>
                </a:lnTo>
                <a:lnTo>
                  <a:pt x="239004" y="4449567"/>
                </a:lnTo>
                <a:lnTo>
                  <a:pt x="194394" y="4432562"/>
                </a:lnTo>
                <a:lnTo>
                  <a:pt x="153082" y="4409656"/>
                </a:lnTo>
                <a:lnTo>
                  <a:pt x="115591" y="4381368"/>
                </a:lnTo>
                <a:lnTo>
                  <a:pt x="82440" y="4348219"/>
                </a:lnTo>
                <a:lnTo>
                  <a:pt x="54149" y="4310729"/>
                </a:lnTo>
                <a:lnTo>
                  <a:pt x="31239" y="4269418"/>
                </a:lnTo>
                <a:lnTo>
                  <a:pt x="14231" y="4224805"/>
                </a:lnTo>
                <a:lnTo>
                  <a:pt x="3644" y="4177410"/>
                </a:lnTo>
                <a:lnTo>
                  <a:pt x="0" y="4127754"/>
                </a:lnTo>
                <a:lnTo>
                  <a:pt x="0" y="336041"/>
                </a:lnTo>
                <a:close/>
              </a:path>
            </a:pathLst>
          </a:custGeom>
          <a:ln w="25907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二进制码与格雷码转换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73911"/>
            <a:ext cx="8699500" cy="2654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异或运算</a:t>
            </a:r>
            <a:r>
              <a:rPr sz="2800" spc="-15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r>
              <a:rPr sz="2800" spc="-5" dirty="0">
                <a:latin typeface="微软雅黑"/>
                <a:cs typeface="微软雅黑"/>
              </a:rPr>
              <a:t>逻辑变</a:t>
            </a:r>
            <a:r>
              <a:rPr sz="2800" spc="-10" dirty="0">
                <a:latin typeface="微软雅黑"/>
                <a:cs typeface="微软雅黑"/>
              </a:rPr>
              <a:t>量</a:t>
            </a:r>
            <a:r>
              <a:rPr sz="2800" spc="-10" dirty="0">
                <a:latin typeface="Arial"/>
                <a:cs typeface="Arial"/>
              </a:rPr>
              <a:t>A</a:t>
            </a:r>
            <a:r>
              <a:rPr sz="2800" spc="-5" dirty="0">
                <a:latin typeface="微软雅黑"/>
                <a:cs typeface="微软雅黑"/>
              </a:rPr>
              <a:t>、</a:t>
            </a:r>
            <a:r>
              <a:rPr sz="2800" spc="-10" dirty="0">
                <a:latin typeface="Arial"/>
                <a:cs typeface="Arial"/>
              </a:rPr>
              <a:t>B</a:t>
            </a:r>
            <a:r>
              <a:rPr sz="2800" spc="-5" dirty="0">
                <a:latin typeface="微软雅黑"/>
                <a:cs typeface="微软雅黑"/>
              </a:rPr>
              <a:t>的取值</a:t>
            </a:r>
            <a:r>
              <a:rPr sz="2800" dirty="0">
                <a:latin typeface="微软雅黑"/>
                <a:cs typeface="微软雅黑"/>
              </a:rPr>
              <a:t>范</a:t>
            </a:r>
            <a:r>
              <a:rPr sz="2800" spc="5" dirty="0">
                <a:latin typeface="微软雅黑"/>
                <a:cs typeface="微软雅黑"/>
              </a:rPr>
              <a:t>围</a:t>
            </a:r>
            <a:r>
              <a:rPr sz="2800" spc="-10" dirty="0">
                <a:latin typeface="微软雅黑"/>
                <a:cs typeface="微软雅黑"/>
              </a:rPr>
              <a:t>为</a:t>
            </a:r>
            <a:r>
              <a:rPr sz="2800" dirty="0">
                <a:latin typeface="Arial"/>
                <a:cs typeface="Arial"/>
              </a:rPr>
              <a:t>0</a:t>
            </a:r>
            <a:r>
              <a:rPr sz="2800" spc="5" dirty="0">
                <a:latin typeface="微软雅黑"/>
                <a:cs typeface="微软雅黑"/>
              </a:rPr>
              <a:t>、</a:t>
            </a:r>
            <a:r>
              <a:rPr sz="2800" dirty="0">
                <a:latin typeface="Arial"/>
                <a:cs typeface="Arial"/>
              </a:rPr>
              <a:t>1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dirty="0">
                <a:latin typeface="微软雅黑"/>
                <a:cs typeface="微软雅黑"/>
              </a:rPr>
              <a:t>则</a:t>
            </a:r>
            <a:r>
              <a:rPr sz="2800" spc="-5" dirty="0">
                <a:latin typeface="微软雅黑"/>
                <a:cs typeface="微软雅黑"/>
              </a:rPr>
              <a:t>它们 的</a:t>
            </a:r>
            <a:r>
              <a:rPr sz="2800" b="1" spc="-5" dirty="0">
                <a:latin typeface="微软雅黑"/>
                <a:cs typeface="微软雅黑"/>
              </a:rPr>
              <a:t>异或</a:t>
            </a:r>
            <a:r>
              <a:rPr sz="2800" spc="-5" dirty="0">
                <a:latin typeface="微软雅黑"/>
                <a:cs typeface="微软雅黑"/>
              </a:rPr>
              <a:t>运算定义为</a:t>
            </a:r>
            <a:endParaRPr sz="2800">
              <a:latin typeface="微软雅黑"/>
              <a:cs typeface="微软雅黑"/>
            </a:endParaRPr>
          </a:p>
          <a:p>
            <a:pPr marL="2473960">
              <a:lnSpc>
                <a:spcPct val="100000"/>
              </a:lnSpc>
              <a:spcBef>
                <a:spcPts val="1300"/>
              </a:spcBef>
              <a:tabLst>
                <a:tab pos="2952750" algn="l"/>
              </a:tabLst>
            </a:pPr>
            <a:r>
              <a:rPr sz="2800" spc="-5" dirty="0">
                <a:latin typeface="Arial"/>
                <a:cs typeface="Arial"/>
              </a:rPr>
              <a:t>1	</a:t>
            </a:r>
            <a:r>
              <a:rPr sz="2800" spc="-5" dirty="0">
                <a:latin typeface="微软雅黑"/>
                <a:cs typeface="微软雅黑"/>
              </a:rPr>
              <a:t>当</a:t>
            </a:r>
            <a:r>
              <a:rPr sz="2800" spc="-10" dirty="0">
                <a:latin typeface="Arial"/>
                <a:cs typeface="Arial"/>
              </a:rPr>
              <a:t>A≠B</a:t>
            </a:r>
            <a:r>
              <a:rPr sz="2800" spc="-5" dirty="0">
                <a:latin typeface="微软雅黑"/>
                <a:cs typeface="微软雅黑"/>
              </a:rPr>
              <a:t>时</a:t>
            </a:r>
            <a:endParaRPr sz="2800">
              <a:latin typeface="微软雅黑"/>
              <a:cs typeface="微软雅黑"/>
            </a:endParaRPr>
          </a:p>
          <a:p>
            <a:pPr marL="602615">
              <a:lnSpc>
                <a:spcPct val="100000"/>
              </a:lnSpc>
              <a:spcBef>
                <a:spcPts val="1305"/>
              </a:spcBef>
            </a:pPr>
            <a:r>
              <a:rPr sz="2800" spc="-10" dirty="0">
                <a:latin typeface="Arial"/>
                <a:cs typeface="Arial"/>
              </a:rPr>
              <a:t>F=A</a:t>
            </a:r>
            <a:r>
              <a:rPr sz="2800" spc="-10" dirty="0">
                <a:latin typeface="微软雅黑"/>
                <a:cs typeface="微软雅黑"/>
              </a:rPr>
              <a:t>⊕</a:t>
            </a:r>
            <a:r>
              <a:rPr sz="2800" spc="-10" dirty="0">
                <a:latin typeface="Arial"/>
                <a:cs typeface="Arial"/>
              </a:rPr>
              <a:t>B=</a:t>
            </a:r>
            <a:endParaRPr sz="2800">
              <a:latin typeface="Arial"/>
              <a:cs typeface="Arial"/>
            </a:endParaRPr>
          </a:p>
          <a:p>
            <a:pPr marL="2473960">
              <a:lnSpc>
                <a:spcPct val="100000"/>
              </a:lnSpc>
              <a:spcBef>
                <a:spcPts val="1295"/>
              </a:spcBef>
              <a:tabLst>
                <a:tab pos="2967990" algn="l"/>
              </a:tabLst>
            </a:pPr>
            <a:r>
              <a:rPr sz="2800" spc="-5" dirty="0">
                <a:latin typeface="Arial"/>
                <a:cs typeface="Arial"/>
              </a:rPr>
              <a:t>0	</a:t>
            </a:r>
            <a:r>
              <a:rPr sz="2800" spc="-10" dirty="0">
                <a:latin typeface="微软雅黑"/>
                <a:cs typeface="微软雅黑"/>
              </a:rPr>
              <a:t>当</a:t>
            </a:r>
            <a:r>
              <a:rPr sz="2800" spc="-10" dirty="0">
                <a:latin typeface="Arial"/>
                <a:cs typeface="Arial"/>
              </a:rPr>
              <a:t>A=B</a:t>
            </a:r>
            <a:r>
              <a:rPr sz="2800" spc="-5" dirty="0">
                <a:latin typeface="微软雅黑"/>
                <a:cs typeface="微软雅黑"/>
              </a:rPr>
              <a:t>时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21101" y="2349245"/>
            <a:ext cx="288290" cy="1152525"/>
          </a:xfrm>
          <a:custGeom>
            <a:avLst/>
            <a:gdLst/>
            <a:ahLst/>
            <a:cxnLst/>
            <a:rect l="l" t="t" r="r" b="b"/>
            <a:pathLst>
              <a:path w="288289" h="1152525">
                <a:moveTo>
                  <a:pt x="288036" y="1152143"/>
                </a:moveTo>
                <a:lnTo>
                  <a:pt x="231993" y="1143160"/>
                </a:lnTo>
                <a:lnTo>
                  <a:pt x="186213" y="1118663"/>
                </a:lnTo>
                <a:lnTo>
                  <a:pt x="155340" y="1082331"/>
                </a:lnTo>
                <a:lnTo>
                  <a:pt x="144018" y="1037843"/>
                </a:lnTo>
                <a:lnTo>
                  <a:pt x="144018" y="690371"/>
                </a:lnTo>
                <a:lnTo>
                  <a:pt x="132695" y="645884"/>
                </a:lnTo>
                <a:lnTo>
                  <a:pt x="101822" y="609552"/>
                </a:lnTo>
                <a:lnTo>
                  <a:pt x="56042" y="585055"/>
                </a:lnTo>
                <a:lnTo>
                  <a:pt x="0" y="576071"/>
                </a:lnTo>
                <a:lnTo>
                  <a:pt x="56042" y="567088"/>
                </a:lnTo>
                <a:lnTo>
                  <a:pt x="101822" y="542591"/>
                </a:lnTo>
                <a:lnTo>
                  <a:pt x="132695" y="506259"/>
                </a:lnTo>
                <a:lnTo>
                  <a:pt x="144018" y="461771"/>
                </a:lnTo>
                <a:lnTo>
                  <a:pt x="144018" y="114300"/>
                </a:lnTo>
                <a:lnTo>
                  <a:pt x="155340" y="69812"/>
                </a:lnTo>
                <a:lnTo>
                  <a:pt x="186213" y="33480"/>
                </a:lnTo>
                <a:lnTo>
                  <a:pt x="231993" y="8983"/>
                </a:lnTo>
                <a:lnTo>
                  <a:pt x="288036" y="0"/>
                </a:lnTo>
              </a:path>
            </a:pathLst>
          </a:custGeom>
          <a:ln w="320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25</a:t>
            </a:fld>
            <a:endParaRPr spc="-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二进制码与格雷码转换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73911"/>
            <a:ext cx="3935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由</a:t>
            </a:r>
            <a:r>
              <a:rPr sz="2800" spc="-5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二进制码生成格雷码</a:t>
            </a:r>
            <a:r>
              <a:rPr sz="2800" spc="-5" dirty="0">
                <a:solidFill>
                  <a:srgbClr val="0000FF"/>
                </a:solidFill>
                <a:latin typeface="微软雅黑"/>
                <a:cs typeface="微软雅黑"/>
              </a:rPr>
              <a:t>：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640" y="1751787"/>
            <a:ext cx="3350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baseline="13888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n-1</a:t>
            </a:r>
            <a:r>
              <a:rPr sz="4200" baseline="13888" dirty="0">
                <a:solidFill>
                  <a:srgbClr val="FF0000"/>
                </a:solidFill>
                <a:latin typeface="Arial"/>
                <a:cs typeface="Arial"/>
              </a:rPr>
              <a:t>=B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n-1</a:t>
            </a:r>
            <a:r>
              <a:rPr sz="4200" baseline="13888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4200" spc="-52" baseline="1388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200" spc="-7" baseline="13888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1850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4200" spc="-7" baseline="13888" dirty="0">
                <a:solidFill>
                  <a:srgbClr val="FF0000"/>
                </a:solidFill>
                <a:latin typeface="Arial"/>
                <a:cs typeface="Arial"/>
              </a:rPr>
              <a:t>=B</a:t>
            </a:r>
            <a:r>
              <a:rPr sz="1850" spc="-5" dirty="0">
                <a:solidFill>
                  <a:srgbClr val="FF0000"/>
                </a:solidFill>
                <a:latin typeface="Arial"/>
                <a:cs typeface="Arial"/>
              </a:rPr>
              <a:t>i+1</a:t>
            </a:r>
            <a:r>
              <a:rPr sz="4200" spc="-7" baseline="13888" dirty="0">
                <a:solidFill>
                  <a:srgbClr val="FF0000"/>
                </a:solidFill>
                <a:latin typeface="微软雅黑"/>
                <a:cs typeface="微软雅黑"/>
              </a:rPr>
              <a:t>⊕</a:t>
            </a:r>
            <a:r>
              <a:rPr sz="4200" spc="-7" baseline="13888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1850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9895" y="1664919"/>
            <a:ext cx="4622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微软雅黑"/>
                <a:cs typeface="微软雅黑"/>
              </a:rPr>
              <a:t>式中</a:t>
            </a:r>
            <a:r>
              <a:rPr sz="2800" spc="-5" dirty="0">
                <a:latin typeface="Arial"/>
                <a:cs typeface="Arial"/>
              </a:rPr>
              <a:t>i=n-2,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n-3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…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2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1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4040" y="2849625"/>
            <a:ext cx="6019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350895" algn="l"/>
                <a:tab pos="3844290" algn="l"/>
                <a:tab pos="4337685" algn="l"/>
              </a:tabLst>
            </a:pPr>
            <a:r>
              <a:rPr sz="2800" spc="-5" dirty="0">
                <a:latin typeface="微软雅黑"/>
                <a:cs typeface="微软雅黑"/>
              </a:rPr>
              <a:t>例如：求二进制</a:t>
            </a:r>
            <a:r>
              <a:rPr sz="2800" spc="-20" dirty="0">
                <a:latin typeface="微软雅黑"/>
                <a:cs typeface="微软雅黑"/>
              </a:rPr>
              <a:t>码</a:t>
            </a:r>
            <a:r>
              <a:rPr sz="2800" spc="-5" dirty="0">
                <a:latin typeface="Arial"/>
                <a:cs typeface="Arial"/>
              </a:rPr>
              <a:t>1	0	1	1</a:t>
            </a:r>
            <a:r>
              <a:rPr sz="2800" spc="-465" dirty="0">
                <a:latin typeface="Arial"/>
                <a:cs typeface="Arial"/>
              </a:rPr>
              <a:t> </a:t>
            </a:r>
            <a:r>
              <a:rPr sz="2800" spc="-5" dirty="0">
                <a:latin typeface="微软雅黑"/>
                <a:cs typeface="微软雅黑"/>
              </a:rPr>
              <a:t>的格雷码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48939" y="4150614"/>
            <a:ext cx="96520" cy="1152525"/>
          </a:xfrm>
          <a:custGeom>
            <a:avLst/>
            <a:gdLst/>
            <a:ahLst/>
            <a:cxnLst/>
            <a:rect l="l" t="t" r="r" b="b"/>
            <a:pathLst>
              <a:path w="96519" h="1152525">
                <a:moveTo>
                  <a:pt x="32004" y="1056132"/>
                </a:moveTo>
                <a:lnTo>
                  <a:pt x="0" y="1056132"/>
                </a:lnTo>
                <a:lnTo>
                  <a:pt x="48006" y="1152144"/>
                </a:lnTo>
                <a:lnTo>
                  <a:pt x="88011" y="1072134"/>
                </a:lnTo>
                <a:lnTo>
                  <a:pt x="32004" y="1072134"/>
                </a:lnTo>
                <a:lnTo>
                  <a:pt x="32004" y="1056132"/>
                </a:lnTo>
                <a:close/>
              </a:path>
              <a:path w="96519" h="1152525">
                <a:moveTo>
                  <a:pt x="64008" y="0"/>
                </a:moveTo>
                <a:lnTo>
                  <a:pt x="32004" y="0"/>
                </a:lnTo>
                <a:lnTo>
                  <a:pt x="32004" y="1072134"/>
                </a:lnTo>
                <a:lnTo>
                  <a:pt x="64008" y="1072134"/>
                </a:lnTo>
                <a:lnTo>
                  <a:pt x="64008" y="0"/>
                </a:lnTo>
                <a:close/>
              </a:path>
              <a:path w="96519" h="1152525">
                <a:moveTo>
                  <a:pt x="96012" y="1056132"/>
                </a:moveTo>
                <a:lnTo>
                  <a:pt x="64008" y="1056132"/>
                </a:lnTo>
                <a:lnTo>
                  <a:pt x="64008" y="1072134"/>
                </a:lnTo>
                <a:lnTo>
                  <a:pt x="88011" y="1072134"/>
                </a:lnTo>
                <a:lnTo>
                  <a:pt x="96012" y="1056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73779" y="4150614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4" y="335280"/>
                </a:moveTo>
                <a:lnTo>
                  <a:pt x="0" y="335280"/>
                </a:lnTo>
                <a:lnTo>
                  <a:pt x="48006" y="431292"/>
                </a:lnTo>
                <a:lnTo>
                  <a:pt x="88011" y="351281"/>
                </a:lnTo>
                <a:lnTo>
                  <a:pt x="32004" y="351281"/>
                </a:lnTo>
                <a:lnTo>
                  <a:pt x="32004" y="335280"/>
                </a:lnTo>
                <a:close/>
              </a:path>
              <a:path w="96520" h="431800">
                <a:moveTo>
                  <a:pt x="64008" y="0"/>
                </a:moveTo>
                <a:lnTo>
                  <a:pt x="32004" y="0"/>
                </a:lnTo>
                <a:lnTo>
                  <a:pt x="32004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80"/>
                </a:moveTo>
                <a:lnTo>
                  <a:pt x="64008" y="335280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97096" y="4150614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80"/>
                </a:moveTo>
                <a:lnTo>
                  <a:pt x="0" y="335280"/>
                </a:lnTo>
                <a:lnTo>
                  <a:pt x="48005" y="431292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80"/>
                </a:lnTo>
                <a:close/>
              </a:path>
              <a:path w="96520" h="431800">
                <a:moveTo>
                  <a:pt x="64007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7" y="351281"/>
                </a:lnTo>
                <a:lnTo>
                  <a:pt x="64007" y="0"/>
                </a:lnTo>
                <a:close/>
              </a:path>
              <a:path w="96520" h="431800">
                <a:moveTo>
                  <a:pt x="96012" y="335280"/>
                </a:moveTo>
                <a:lnTo>
                  <a:pt x="64007" y="335280"/>
                </a:lnTo>
                <a:lnTo>
                  <a:pt x="64007" y="351281"/>
                </a:lnTo>
                <a:lnTo>
                  <a:pt x="88011" y="351281"/>
                </a:lnTo>
                <a:lnTo>
                  <a:pt x="96012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820411" y="4150614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80"/>
                </a:moveTo>
                <a:lnTo>
                  <a:pt x="0" y="335280"/>
                </a:lnTo>
                <a:lnTo>
                  <a:pt x="48005" y="431292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80"/>
                </a:lnTo>
                <a:close/>
              </a:path>
              <a:path w="96520" h="431800">
                <a:moveTo>
                  <a:pt x="64008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80"/>
                </a:moveTo>
                <a:lnTo>
                  <a:pt x="64008" y="335280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20261" y="4581144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64052" y="4581144"/>
            <a:ext cx="312420" cy="289560"/>
          </a:xfrm>
          <a:custGeom>
            <a:avLst/>
            <a:gdLst/>
            <a:ahLst/>
            <a:cxnLst/>
            <a:rect l="l" t="t" r="r" b="b"/>
            <a:pathLst>
              <a:path w="312420" h="289560">
                <a:moveTo>
                  <a:pt x="0" y="144779"/>
                </a:moveTo>
                <a:lnTo>
                  <a:pt x="7967" y="98999"/>
                </a:lnTo>
                <a:lnTo>
                  <a:pt x="30150" y="59253"/>
                </a:lnTo>
                <a:lnTo>
                  <a:pt x="63971" y="27919"/>
                </a:lnTo>
                <a:lnTo>
                  <a:pt x="106850" y="7376"/>
                </a:lnTo>
                <a:lnTo>
                  <a:pt x="156210" y="0"/>
                </a:lnTo>
                <a:lnTo>
                  <a:pt x="205569" y="7376"/>
                </a:lnTo>
                <a:lnTo>
                  <a:pt x="248448" y="27919"/>
                </a:lnTo>
                <a:lnTo>
                  <a:pt x="282269" y="59253"/>
                </a:lnTo>
                <a:lnTo>
                  <a:pt x="304452" y="98999"/>
                </a:lnTo>
                <a:lnTo>
                  <a:pt x="312420" y="144779"/>
                </a:lnTo>
                <a:lnTo>
                  <a:pt x="304452" y="190560"/>
                </a:lnTo>
                <a:lnTo>
                  <a:pt x="282269" y="230306"/>
                </a:lnTo>
                <a:lnTo>
                  <a:pt x="248448" y="261640"/>
                </a:lnTo>
                <a:lnTo>
                  <a:pt x="205569" y="282183"/>
                </a:lnTo>
                <a:lnTo>
                  <a:pt x="156210" y="289559"/>
                </a:lnTo>
                <a:lnTo>
                  <a:pt x="106850" y="282183"/>
                </a:lnTo>
                <a:lnTo>
                  <a:pt x="63971" y="261640"/>
                </a:lnTo>
                <a:lnTo>
                  <a:pt x="30150" y="230306"/>
                </a:lnTo>
                <a:lnTo>
                  <a:pt x="7967" y="190560"/>
                </a:lnTo>
                <a:lnTo>
                  <a:pt x="0" y="1447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44340" y="4581144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88891" y="4581144"/>
            <a:ext cx="311150" cy="289560"/>
          </a:xfrm>
          <a:custGeom>
            <a:avLst/>
            <a:gdLst/>
            <a:ahLst/>
            <a:cxnLst/>
            <a:rect l="l" t="t" r="r" b="b"/>
            <a:pathLst>
              <a:path w="311150" h="289560">
                <a:moveTo>
                  <a:pt x="0" y="144779"/>
                </a:moveTo>
                <a:lnTo>
                  <a:pt x="7924" y="98999"/>
                </a:lnTo>
                <a:lnTo>
                  <a:pt x="29992" y="59253"/>
                </a:lnTo>
                <a:lnTo>
                  <a:pt x="63642" y="27919"/>
                </a:lnTo>
                <a:lnTo>
                  <a:pt x="106314" y="7376"/>
                </a:lnTo>
                <a:lnTo>
                  <a:pt x="155448" y="0"/>
                </a:lnTo>
                <a:lnTo>
                  <a:pt x="204581" y="7376"/>
                </a:lnTo>
                <a:lnTo>
                  <a:pt x="247253" y="27919"/>
                </a:lnTo>
                <a:lnTo>
                  <a:pt x="280903" y="59253"/>
                </a:lnTo>
                <a:lnTo>
                  <a:pt x="302971" y="98999"/>
                </a:lnTo>
                <a:lnTo>
                  <a:pt x="310896" y="144779"/>
                </a:lnTo>
                <a:lnTo>
                  <a:pt x="302971" y="190560"/>
                </a:lnTo>
                <a:lnTo>
                  <a:pt x="280903" y="230306"/>
                </a:lnTo>
                <a:lnTo>
                  <a:pt x="247253" y="261640"/>
                </a:lnTo>
                <a:lnTo>
                  <a:pt x="204581" y="282183"/>
                </a:lnTo>
                <a:lnTo>
                  <a:pt x="155448" y="289559"/>
                </a:lnTo>
                <a:lnTo>
                  <a:pt x="106314" y="282183"/>
                </a:lnTo>
                <a:lnTo>
                  <a:pt x="63642" y="261640"/>
                </a:lnTo>
                <a:lnTo>
                  <a:pt x="29992" y="230306"/>
                </a:lnTo>
                <a:lnTo>
                  <a:pt x="7924" y="190560"/>
                </a:lnTo>
                <a:lnTo>
                  <a:pt x="0" y="1447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869179" y="4581144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13732" y="4581144"/>
            <a:ext cx="311150" cy="289560"/>
          </a:xfrm>
          <a:custGeom>
            <a:avLst/>
            <a:gdLst/>
            <a:ahLst/>
            <a:cxnLst/>
            <a:rect l="l" t="t" r="r" b="b"/>
            <a:pathLst>
              <a:path w="311150" h="289560">
                <a:moveTo>
                  <a:pt x="0" y="144779"/>
                </a:moveTo>
                <a:lnTo>
                  <a:pt x="7924" y="98999"/>
                </a:lnTo>
                <a:lnTo>
                  <a:pt x="29992" y="59253"/>
                </a:lnTo>
                <a:lnTo>
                  <a:pt x="63642" y="27919"/>
                </a:lnTo>
                <a:lnTo>
                  <a:pt x="106314" y="7376"/>
                </a:lnTo>
                <a:lnTo>
                  <a:pt x="155447" y="0"/>
                </a:lnTo>
                <a:lnTo>
                  <a:pt x="204581" y="7376"/>
                </a:lnTo>
                <a:lnTo>
                  <a:pt x="247253" y="27919"/>
                </a:lnTo>
                <a:lnTo>
                  <a:pt x="280903" y="59253"/>
                </a:lnTo>
                <a:lnTo>
                  <a:pt x="302971" y="98999"/>
                </a:lnTo>
                <a:lnTo>
                  <a:pt x="310895" y="144779"/>
                </a:lnTo>
                <a:lnTo>
                  <a:pt x="302971" y="190560"/>
                </a:lnTo>
                <a:lnTo>
                  <a:pt x="280903" y="230306"/>
                </a:lnTo>
                <a:lnTo>
                  <a:pt x="247253" y="261640"/>
                </a:lnTo>
                <a:lnTo>
                  <a:pt x="204581" y="282183"/>
                </a:lnTo>
                <a:lnTo>
                  <a:pt x="155447" y="289559"/>
                </a:lnTo>
                <a:lnTo>
                  <a:pt x="106314" y="282183"/>
                </a:lnTo>
                <a:lnTo>
                  <a:pt x="63642" y="261640"/>
                </a:lnTo>
                <a:lnTo>
                  <a:pt x="29992" y="230306"/>
                </a:lnTo>
                <a:lnTo>
                  <a:pt x="7924" y="190560"/>
                </a:lnTo>
                <a:lnTo>
                  <a:pt x="0" y="1447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39694" y="4069207"/>
            <a:ext cx="403225" cy="514350"/>
          </a:xfrm>
          <a:custGeom>
            <a:avLst/>
            <a:gdLst/>
            <a:ahLst/>
            <a:cxnLst/>
            <a:rect l="l" t="t" r="r" b="b"/>
            <a:pathLst>
              <a:path w="403225" h="514350">
                <a:moveTo>
                  <a:pt x="331410" y="448036"/>
                </a:moveTo>
                <a:lnTo>
                  <a:pt x="306069" y="467614"/>
                </a:lnTo>
                <a:lnTo>
                  <a:pt x="402844" y="514223"/>
                </a:lnTo>
                <a:lnTo>
                  <a:pt x="392266" y="460756"/>
                </a:lnTo>
                <a:lnTo>
                  <a:pt x="341248" y="460756"/>
                </a:lnTo>
                <a:lnTo>
                  <a:pt x="331410" y="448036"/>
                </a:lnTo>
                <a:close/>
              </a:path>
              <a:path w="403225" h="514350">
                <a:moveTo>
                  <a:pt x="356701" y="428497"/>
                </a:moveTo>
                <a:lnTo>
                  <a:pt x="331410" y="448036"/>
                </a:lnTo>
                <a:lnTo>
                  <a:pt x="341248" y="460756"/>
                </a:lnTo>
                <a:lnTo>
                  <a:pt x="366521" y="441198"/>
                </a:lnTo>
                <a:lnTo>
                  <a:pt x="356701" y="428497"/>
                </a:lnTo>
                <a:close/>
              </a:path>
              <a:path w="403225" h="514350">
                <a:moveTo>
                  <a:pt x="382016" y="408940"/>
                </a:moveTo>
                <a:lnTo>
                  <a:pt x="356701" y="428497"/>
                </a:lnTo>
                <a:lnTo>
                  <a:pt x="366521" y="441198"/>
                </a:lnTo>
                <a:lnTo>
                  <a:pt x="341248" y="460756"/>
                </a:lnTo>
                <a:lnTo>
                  <a:pt x="392266" y="460756"/>
                </a:lnTo>
                <a:lnTo>
                  <a:pt x="382016" y="408940"/>
                </a:lnTo>
                <a:close/>
              </a:path>
              <a:path w="403225" h="514350">
                <a:moveTo>
                  <a:pt x="25400" y="0"/>
                </a:moveTo>
                <a:lnTo>
                  <a:pt x="0" y="19558"/>
                </a:lnTo>
                <a:lnTo>
                  <a:pt x="331410" y="448036"/>
                </a:lnTo>
                <a:lnTo>
                  <a:pt x="356701" y="428497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64534" y="4069207"/>
            <a:ext cx="403225" cy="514350"/>
          </a:xfrm>
          <a:custGeom>
            <a:avLst/>
            <a:gdLst/>
            <a:ahLst/>
            <a:cxnLst/>
            <a:rect l="l" t="t" r="r" b="b"/>
            <a:pathLst>
              <a:path w="403225" h="514350">
                <a:moveTo>
                  <a:pt x="331410" y="448036"/>
                </a:moveTo>
                <a:lnTo>
                  <a:pt x="306069" y="467614"/>
                </a:lnTo>
                <a:lnTo>
                  <a:pt x="402843" y="514223"/>
                </a:lnTo>
                <a:lnTo>
                  <a:pt x="392266" y="460756"/>
                </a:lnTo>
                <a:lnTo>
                  <a:pt x="341249" y="460756"/>
                </a:lnTo>
                <a:lnTo>
                  <a:pt x="331410" y="448036"/>
                </a:lnTo>
                <a:close/>
              </a:path>
              <a:path w="403225" h="514350">
                <a:moveTo>
                  <a:pt x="356701" y="428497"/>
                </a:moveTo>
                <a:lnTo>
                  <a:pt x="331410" y="448036"/>
                </a:lnTo>
                <a:lnTo>
                  <a:pt x="341249" y="460756"/>
                </a:lnTo>
                <a:lnTo>
                  <a:pt x="366521" y="441198"/>
                </a:lnTo>
                <a:lnTo>
                  <a:pt x="356701" y="428497"/>
                </a:lnTo>
                <a:close/>
              </a:path>
              <a:path w="403225" h="514350">
                <a:moveTo>
                  <a:pt x="382015" y="408940"/>
                </a:moveTo>
                <a:lnTo>
                  <a:pt x="356701" y="428497"/>
                </a:lnTo>
                <a:lnTo>
                  <a:pt x="366521" y="441198"/>
                </a:lnTo>
                <a:lnTo>
                  <a:pt x="341249" y="460756"/>
                </a:lnTo>
                <a:lnTo>
                  <a:pt x="392266" y="460756"/>
                </a:lnTo>
                <a:lnTo>
                  <a:pt x="382015" y="408940"/>
                </a:lnTo>
                <a:close/>
              </a:path>
              <a:path w="403225" h="514350">
                <a:moveTo>
                  <a:pt x="25400" y="0"/>
                </a:moveTo>
                <a:lnTo>
                  <a:pt x="0" y="19558"/>
                </a:lnTo>
                <a:lnTo>
                  <a:pt x="331410" y="448036"/>
                </a:lnTo>
                <a:lnTo>
                  <a:pt x="356701" y="428497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87850" y="4069207"/>
            <a:ext cx="403225" cy="514350"/>
          </a:xfrm>
          <a:custGeom>
            <a:avLst/>
            <a:gdLst/>
            <a:ahLst/>
            <a:cxnLst/>
            <a:rect l="l" t="t" r="r" b="b"/>
            <a:pathLst>
              <a:path w="403225" h="514350">
                <a:moveTo>
                  <a:pt x="331410" y="448036"/>
                </a:moveTo>
                <a:lnTo>
                  <a:pt x="306070" y="467614"/>
                </a:lnTo>
                <a:lnTo>
                  <a:pt x="402844" y="514223"/>
                </a:lnTo>
                <a:lnTo>
                  <a:pt x="392266" y="460756"/>
                </a:lnTo>
                <a:lnTo>
                  <a:pt x="341249" y="460756"/>
                </a:lnTo>
                <a:lnTo>
                  <a:pt x="331410" y="448036"/>
                </a:lnTo>
                <a:close/>
              </a:path>
              <a:path w="403225" h="514350">
                <a:moveTo>
                  <a:pt x="356701" y="428497"/>
                </a:moveTo>
                <a:lnTo>
                  <a:pt x="331410" y="448036"/>
                </a:lnTo>
                <a:lnTo>
                  <a:pt x="341249" y="460756"/>
                </a:lnTo>
                <a:lnTo>
                  <a:pt x="366522" y="441198"/>
                </a:lnTo>
                <a:lnTo>
                  <a:pt x="356701" y="428497"/>
                </a:lnTo>
                <a:close/>
              </a:path>
              <a:path w="403225" h="514350">
                <a:moveTo>
                  <a:pt x="382015" y="408940"/>
                </a:moveTo>
                <a:lnTo>
                  <a:pt x="356701" y="428497"/>
                </a:lnTo>
                <a:lnTo>
                  <a:pt x="366522" y="441198"/>
                </a:lnTo>
                <a:lnTo>
                  <a:pt x="341249" y="460756"/>
                </a:lnTo>
                <a:lnTo>
                  <a:pt x="392266" y="460756"/>
                </a:lnTo>
                <a:lnTo>
                  <a:pt x="382015" y="408940"/>
                </a:lnTo>
                <a:close/>
              </a:path>
              <a:path w="403225" h="514350">
                <a:moveTo>
                  <a:pt x="25400" y="0"/>
                </a:moveTo>
                <a:lnTo>
                  <a:pt x="0" y="19558"/>
                </a:lnTo>
                <a:lnTo>
                  <a:pt x="331410" y="448036"/>
                </a:lnTo>
                <a:lnTo>
                  <a:pt x="356701" y="428497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73779" y="4871465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4" y="335279"/>
                </a:moveTo>
                <a:lnTo>
                  <a:pt x="0" y="335279"/>
                </a:lnTo>
                <a:lnTo>
                  <a:pt x="48006" y="431291"/>
                </a:lnTo>
                <a:lnTo>
                  <a:pt x="88011" y="351281"/>
                </a:lnTo>
                <a:lnTo>
                  <a:pt x="32004" y="351281"/>
                </a:lnTo>
                <a:lnTo>
                  <a:pt x="32004" y="335279"/>
                </a:lnTo>
                <a:close/>
              </a:path>
              <a:path w="96520" h="431800">
                <a:moveTo>
                  <a:pt x="64008" y="0"/>
                </a:moveTo>
                <a:lnTo>
                  <a:pt x="32004" y="0"/>
                </a:lnTo>
                <a:lnTo>
                  <a:pt x="32004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79"/>
                </a:moveTo>
                <a:lnTo>
                  <a:pt x="64008" y="335279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97096" y="4871465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79"/>
                </a:moveTo>
                <a:lnTo>
                  <a:pt x="0" y="335279"/>
                </a:lnTo>
                <a:lnTo>
                  <a:pt x="48005" y="431291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79"/>
                </a:lnTo>
                <a:close/>
              </a:path>
              <a:path w="96520" h="431800">
                <a:moveTo>
                  <a:pt x="64007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7" y="351281"/>
                </a:lnTo>
                <a:lnTo>
                  <a:pt x="64007" y="0"/>
                </a:lnTo>
                <a:close/>
              </a:path>
              <a:path w="96520" h="431800">
                <a:moveTo>
                  <a:pt x="96012" y="335279"/>
                </a:moveTo>
                <a:lnTo>
                  <a:pt x="64007" y="335279"/>
                </a:lnTo>
                <a:lnTo>
                  <a:pt x="64007" y="351281"/>
                </a:lnTo>
                <a:lnTo>
                  <a:pt x="88011" y="351281"/>
                </a:lnTo>
                <a:lnTo>
                  <a:pt x="96012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820411" y="4871465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79"/>
                </a:moveTo>
                <a:lnTo>
                  <a:pt x="0" y="335279"/>
                </a:lnTo>
                <a:lnTo>
                  <a:pt x="48005" y="431291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79"/>
                </a:lnTo>
                <a:close/>
              </a:path>
              <a:path w="96520" h="431800">
                <a:moveTo>
                  <a:pt x="64008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79"/>
                </a:moveTo>
                <a:lnTo>
                  <a:pt x="64008" y="335279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822955" y="3573970"/>
          <a:ext cx="2202813" cy="22720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1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51953">
                <a:tc>
                  <a:txBody>
                    <a:bodyPr/>
                    <a:lstStyle/>
                    <a:p>
                      <a:pPr marL="38735">
                        <a:lnSpc>
                          <a:spcPts val="3540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320">
                        <a:lnSpc>
                          <a:spcPts val="3540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85">
                        <a:lnSpc>
                          <a:spcPts val="3540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3540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395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ts val="3779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13335">
                        <a:lnSpc>
                          <a:spcPts val="3779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12700">
                        <a:lnSpc>
                          <a:spcPts val="3779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1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4150">
                        <a:latin typeface="Times New Roman"/>
                        <a:cs typeface="Times New Roman"/>
                      </a:endParaRPr>
                    </a:p>
                    <a:p>
                      <a:pPr marL="12065">
                        <a:lnSpc>
                          <a:spcPts val="3779"/>
                        </a:lnSpc>
                      </a:pPr>
                      <a:r>
                        <a:rPr sz="3200" dirty="0">
                          <a:latin typeface="Arial"/>
                          <a:cs typeface="Arial"/>
                        </a:rPr>
                        <a:t>0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T="5080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26</a:t>
            </a:fld>
            <a:endParaRPr spc="-5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7" name="墨迹 26">
                <a:extLst>
                  <a:ext uri="{FF2B5EF4-FFF2-40B4-BE49-F238E27FC236}">
                    <a16:creationId xmlns:a16="http://schemas.microsoft.com/office/drawing/2014/main" id="{F065D853-F78A-93C9-F446-AF7122C9D8F9}"/>
                  </a:ext>
                </a:extLst>
              </p14:cNvPr>
              <p14:cNvContentPartPr/>
              <p14:nvPr/>
            </p14:nvContentPartPr>
            <p14:xfrm>
              <a:off x="2945869" y="3612449"/>
              <a:ext cx="2067480" cy="1421280"/>
            </p14:xfrm>
          </p:contentPart>
        </mc:Choice>
        <mc:Fallback xmlns="">
          <p:pic>
            <p:nvPicPr>
              <p:cNvPr id="27" name="墨迹 26">
                <a:extLst>
                  <a:ext uri="{FF2B5EF4-FFF2-40B4-BE49-F238E27FC236}">
                    <a16:creationId xmlns:a16="http://schemas.microsoft.com/office/drawing/2014/main" id="{F065D853-F78A-93C9-F446-AF7122C9D8F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1869" y="3504809"/>
                <a:ext cx="2175120" cy="1636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5621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二进制码与格雷码转换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4040" y="1073911"/>
            <a:ext cx="39350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0000FF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由格雷码生成二进制码：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640" y="1751787"/>
            <a:ext cx="34493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200" baseline="13888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n-1</a:t>
            </a:r>
            <a:r>
              <a:rPr sz="4200" baseline="13888" dirty="0">
                <a:solidFill>
                  <a:srgbClr val="FF0000"/>
                </a:solidFill>
                <a:latin typeface="Arial"/>
                <a:cs typeface="Arial"/>
              </a:rPr>
              <a:t>= G</a:t>
            </a:r>
            <a:r>
              <a:rPr sz="1850" dirty="0">
                <a:solidFill>
                  <a:srgbClr val="FF0000"/>
                </a:solidFill>
                <a:latin typeface="Arial"/>
                <a:cs typeface="Arial"/>
              </a:rPr>
              <a:t>n-1</a:t>
            </a:r>
            <a:r>
              <a:rPr sz="4200" baseline="13888" dirty="0">
                <a:solidFill>
                  <a:srgbClr val="FF0000"/>
                </a:solidFill>
                <a:latin typeface="Arial"/>
                <a:cs typeface="Arial"/>
              </a:rPr>
              <a:t>,</a:t>
            </a:r>
            <a:r>
              <a:rPr sz="4200" spc="-44" baseline="1388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4200" spc="-7" baseline="13888" dirty="0">
                <a:solidFill>
                  <a:srgbClr val="FF0000"/>
                </a:solidFill>
                <a:latin typeface="Arial"/>
                <a:cs typeface="Arial"/>
              </a:rPr>
              <a:t>B</a:t>
            </a:r>
            <a:r>
              <a:rPr sz="1850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4200" spc="-7" baseline="13888" dirty="0">
                <a:solidFill>
                  <a:srgbClr val="FF0000"/>
                </a:solidFill>
                <a:latin typeface="Arial"/>
                <a:cs typeface="Arial"/>
              </a:rPr>
              <a:t>=B</a:t>
            </a:r>
            <a:r>
              <a:rPr sz="1850" spc="-5" dirty="0">
                <a:solidFill>
                  <a:srgbClr val="FF0000"/>
                </a:solidFill>
                <a:latin typeface="Arial"/>
                <a:cs typeface="Arial"/>
              </a:rPr>
              <a:t>i+1</a:t>
            </a:r>
            <a:r>
              <a:rPr sz="4200" spc="-7" baseline="13888" dirty="0">
                <a:solidFill>
                  <a:srgbClr val="FF0000"/>
                </a:solidFill>
                <a:latin typeface="微软雅黑"/>
                <a:cs typeface="微软雅黑"/>
              </a:rPr>
              <a:t>⊕</a:t>
            </a:r>
            <a:r>
              <a:rPr sz="4200" spc="-7" baseline="13888" dirty="0">
                <a:solidFill>
                  <a:srgbClr val="FF0000"/>
                </a:solidFill>
                <a:latin typeface="Arial"/>
                <a:cs typeface="Arial"/>
              </a:rPr>
              <a:t>G</a:t>
            </a:r>
            <a:r>
              <a:rPr sz="1850" spc="-5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2275" y="1664919"/>
            <a:ext cx="4622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微软雅黑"/>
                <a:cs typeface="微软雅黑"/>
              </a:rPr>
              <a:t>式中</a:t>
            </a:r>
            <a:r>
              <a:rPr sz="2800" spc="-5" dirty="0">
                <a:latin typeface="Arial"/>
                <a:cs typeface="Arial"/>
              </a:rPr>
              <a:t>i=n-2,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n-3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…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2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1</a:t>
            </a:r>
            <a:r>
              <a:rPr sz="2800" spc="-5" dirty="0">
                <a:latin typeface="微软雅黑"/>
                <a:cs typeface="微软雅黑"/>
              </a:rPr>
              <a:t>，</a:t>
            </a:r>
            <a:r>
              <a:rPr sz="2800" spc="-5" dirty="0"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42488" y="4074414"/>
            <a:ext cx="96520" cy="1152525"/>
          </a:xfrm>
          <a:custGeom>
            <a:avLst/>
            <a:gdLst/>
            <a:ahLst/>
            <a:cxnLst/>
            <a:rect l="l" t="t" r="r" b="b"/>
            <a:pathLst>
              <a:path w="96519" h="1152525">
                <a:moveTo>
                  <a:pt x="32004" y="1056132"/>
                </a:moveTo>
                <a:lnTo>
                  <a:pt x="0" y="1056132"/>
                </a:lnTo>
                <a:lnTo>
                  <a:pt x="48006" y="1152144"/>
                </a:lnTo>
                <a:lnTo>
                  <a:pt x="88011" y="1072134"/>
                </a:lnTo>
                <a:lnTo>
                  <a:pt x="32004" y="1072134"/>
                </a:lnTo>
                <a:lnTo>
                  <a:pt x="32004" y="1056132"/>
                </a:lnTo>
                <a:close/>
              </a:path>
              <a:path w="96519" h="1152525">
                <a:moveTo>
                  <a:pt x="64007" y="0"/>
                </a:moveTo>
                <a:lnTo>
                  <a:pt x="32004" y="0"/>
                </a:lnTo>
                <a:lnTo>
                  <a:pt x="32004" y="1072134"/>
                </a:lnTo>
                <a:lnTo>
                  <a:pt x="64007" y="1072134"/>
                </a:lnTo>
                <a:lnTo>
                  <a:pt x="64007" y="0"/>
                </a:lnTo>
                <a:close/>
              </a:path>
              <a:path w="96519" h="1152525">
                <a:moveTo>
                  <a:pt x="96012" y="1056132"/>
                </a:moveTo>
                <a:lnTo>
                  <a:pt x="64007" y="1056132"/>
                </a:lnTo>
                <a:lnTo>
                  <a:pt x="64007" y="1072134"/>
                </a:lnTo>
                <a:lnTo>
                  <a:pt x="88011" y="1072134"/>
                </a:lnTo>
                <a:lnTo>
                  <a:pt x="96012" y="10561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65803" y="4074414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4" y="335280"/>
                </a:moveTo>
                <a:lnTo>
                  <a:pt x="0" y="335280"/>
                </a:lnTo>
                <a:lnTo>
                  <a:pt x="48006" y="431292"/>
                </a:lnTo>
                <a:lnTo>
                  <a:pt x="88011" y="351281"/>
                </a:lnTo>
                <a:lnTo>
                  <a:pt x="32004" y="351281"/>
                </a:lnTo>
                <a:lnTo>
                  <a:pt x="32004" y="335280"/>
                </a:lnTo>
                <a:close/>
              </a:path>
              <a:path w="96520" h="431800">
                <a:moveTo>
                  <a:pt x="64008" y="0"/>
                </a:moveTo>
                <a:lnTo>
                  <a:pt x="32004" y="0"/>
                </a:lnTo>
                <a:lnTo>
                  <a:pt x="32004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80"/>
                </a:moveTo>
                <a:lnTo>
                  <a:pt x="64008" y="335280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89120" y="4074414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80"/>
                </a:moveTo>
                <a:lnTo>
                  <a:pt x="0" y="335280"/>
                </a:lnTo>
                <a:lnTo>
                  <a:pt x="48005" y="431292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80"/>
                </a:lnTo>
                <a:close/>
              </a:path>
              <a:path w="96520" h="431800">
                <a:moveTo>
                  <a:pt x="64007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7" y="351281"/>
                </a:lnTo>
                <a:lnTo>
                  <a:pt x="64007" y="0"/>
                </a:lnTo>
                <a:close/>
              </a:path>
              <a:path w="96520" h="431800">
                <a:moveTo>
                  <a:pt x="96012" y="335280"/>
                </a:moveTo>
                <a:lnTo>
                  <a:pt x="64007" y="335280"/>
                </a:lnTo>
                <a:lnTo>
                  <a:pt x="64007" y="351281"/>
                </a:lnTo>
                <a:lnTo>
                  <a:pt x="88011" y="351281"/>
                </a:lnTo>
                <a:lnTo>
                  <a:pt x="96012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012435" y="4074414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80"/>
                </a:moveTo>
                <a:lnTo>
                  <a:pt x="0" y="335280"/>
                </a:lnTo>
                <a:lnTo>
                  <a:pt x="48005" y="431292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80"/>
                </a:lnTo>
                <a:close/>
              </a:path>
              <a:path w="96520" h="431800">
                <a:moveTo>
                  <a:pt x="64008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80"/>
                </a:moveTo>
                <a:lnTo>
                  <a:pt x="64008" y="335280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13047" y="4504944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657600" y="4649723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89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657600" y="4504944"/>
            <a:ext cx="311150" cy="289560"/>
          </a:xfrm>
          <a:custGeom>
            <a:avLst/>
            <a:gdLst/>
            <a:ahLst/>
            <a:cxnLst/>
            <a:rect l="l" t="t" r="r" b="b"/>
            <a:pathLst>
              <a:path w="311150" h="289560">
                <a:moveTo>
                  <a:pt x="0" y="144779"/>
                </a:moveTo>
                <a:lnTo>
                  <a:pt x="7924" y="98999"/>
                </a:lnTo>
                <a:lnTo>
                  <a:pt x="29992" y="59253"/>
                </a:lnTo>
                <a:lnTo>
                  <a:pt x="63642" y="27919"/>
                </a:lnTo>
                <a:lnTo>
                  <a:pt x="106314" y="7376"/>
                </a:lnTo>
                <a:lnTo>
                  <a:pt x="155448" y="0"/>
                </a:lnTo>
                <a:lnTo>
                  <a:pt x="204581" y="7376"/>
                </a:lnTo>
                <a:lnTo>
                  <a:pt x="247253" y="27919"/>
                </a:lnTo>
                <a:lnTo>
                  <a:pt x="280903" y="59253"/>
                </a:lnTo>
                <a:lnTo>
                  <a:pt x="302971" y="98999"/>
                </a:lnTo>
                <a:lnTo>
                  <a:pt x="310896" y="144779"/>
                </a:lnTo>
                <a:lnTo>
                  <a:pt x="302971" y="190560"/>
                </a:lnTo>
                <a:lnTo>
                  <a:pt x="280903" y="230306"/>
                </a:lnTo>
                <a:lnTo>
                  <a:pt x="247253" y="261640"/>
                </a:lnTo>
                <a:lnTo>
                  <a:pt x="204581" y="282183"/>
                </a:lnTo>
                <a:lnTo>
                  <a:pt x="155448" y="289559"/>
                </a:lnTo>
                <a:lnTo>
                  <a:pt x="106314" y="282183"/>
                </a:lnTo>
                <a:lnTo>
                  <a:pt x="63642" y="261640"/>
                </a:lnTo>
                <a:lnTo>
                  <a:pt x="29992" y="230306"/>
                </a:lnTo>
                <a:lnTo>
                  <a:pt x="7924" y="190560"/>
                </a:lnTo>
                <a:lnTo>
                  <a:pt x="0" y="1447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436364" y="4504944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80915" y="4649723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89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80915" y="4504944"/>
            <a:ext cx="311150" cy="289560"/>
          </a:xfrm>
          <a:custGeom>
            <a:avLst/>
            <a:gdLst/>
            <a:ahLst/>
            <a:cxnLst/>
            <a:rect l="l" t="t" r="r" b="b"/>
            <a:pathLst>
              <a:path w="311150" h="289560">
                <a:moveTo>
                  <a:pt x="0" y="144779"/>
                </a:moveTo>
                <a:lnTo>
                  <a:pt x="7924" y="98999"/>
                </a:lnTo>
                <a:lnTo>
                  <a:pt x="29992" y="59253"/>
                </a:lnTo>
                <a:lnTo>
                  <a:pt x="63642" y="27919"/>
                </a:lnTo>
                <a:lnTo>
                  <a:pt x="106314" y="7376"/>
                </a:lnTo>
                <a:lnTo>
                  <a:pt x="155448" y="0"/>
                </a:lnTo>
                <a:lnTo>
                  <a:pt x="204581" y="7376"/>
                </a:lnTo>
                <a:lnTo>
                  <a:pt x="247253" y="27919"/>
                </a:lnTo>
                <a:lnTo>
                  <a:pt x="280903" y="59253"/>
                </a:lnTo>
                <a:lnTo>
                  <a:pt x="302971" y="98999"/>
                </a:lnTo>
                <a:lnTo>
                  <a:pt x="310896" y="144779"/>
                </a:lnTo>
                <a:lnTo>
                  <a:pt x="302971" y="190560"/>
                </a:lnTo>
                <a:lnTo>
                  <a:pt x="280903" y="230306"/>
                </a:lnTo>
                <a:lnTo>
                  <a:pt x="247253" y="261640"/>
                </a:lnTo>
                <a:lnTo>
                  <a:pt x="204581" y="282183"/>
                </a:lnTo>
                <a:lnTo>
                  <a:pt x="155448" y="289559"/>
                </a:lnTo>
                <a:lnTo>
                  <a:pt x="106314" y="282183"/>
                </a:lnTo>
                <a:lnTo>
                  <a:pt x="63642" y="261640"/>
                </a:lnTo>
                <a:lnTo>
                  <a:pt x="29992" y="230306"/>
                </a:lnTo>
                <a:lnTo>
                  <a:pt x="7924" y="190560"/>
                </a:lnTo>
                <a:lnTo>
                  <a:pt x="0" y="1447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061203" y="4504944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0"/>
                </a:moveTo>
                <a:lnTo>
                  <a:pt x="0" y="289559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05755" y="4649723"/>
            <a:ext cx="311150" cy="0"/>
          </a:xfrm>
          <a:custGeom>
            <a:avLst/>
            <a:gdLst/>
            <a:ahLst/>
            <a:cxnLst/>
            <a:rect l="l" t="t" r="r" b="b"/>
            <a:pathLst>
              <a:path w="311150">
                <a:moveTo>
                  <a:pt x="0" y="0"/>
                </a:moveTo>
                <a:lnTo>
                  <a:pt x="31089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905755" y="4504944"/>
            <a:ext cx="311150" cy="289560"/>
          </a:xfrm>
          <a:custGeom>
            <a:avLst/>
            <a:gdLst/>
            <a:ahLst/>
            <a:cxnLst/>
            <a:rect l="l" t="t" r="r" b="b"/>
            <a:pathLst>
              <a:path w="311150" h="289560">
                <a:moveTo>
                  <a:pt x="0" y="144779"/>
                </a:moveTo>
                <a:lnTo>
                  <a:pt x="7924" y="98999"/>
                </a:lnTo>
                <a:lnTo>
                  <a:pt x="29992" y="59253"/>
                </a:lnTo>
                <a:lnTo>
                  <a:pt x="63642" y="27919"/>
                </a:lnTo>
                <a:lnTo>
                  <a:pt x="106314" y="7376"/>
                </a:lnTo>
                <a:lnTo>
                  <a:pt x="155448" y="0"/>
                </a:lnTo>
                <a:lnTo>
                  <a:pt x="204581" y="7376"/>
                </a:lnTo>
                <a:lnTo>
                  <a:pt x="247253" y="27919"/>
                </a:lnTo>
                <a:lnTo>
                  <a:pt x="280903" y="59253"/>
                </a:lnTo>
                <a:lnTo>
                  <a:pt x="302971" y="98999"/>
                </a:lnTo>
                <a:lnTo>
                  <a:pt x="310896" y="144779"/>
                </a:lnTo>
                <a:lnTo>
                  <a:pt x="302971" y="190560"/>
                </a:lnTo>
                <a:lnTo>
                  <a:pt x="280903" y="230306"/>
                </a:lnTo>
                <a:lnTo>
                  <a:pt x="247253" y="261640"/>
                </a:lnTo>
                <a:lnTo>
                  <a:pt x="204581" y="282183"/>
                </a:lnTo>
                <a:lnTo>
                  <a:pt x="155448" y="289559"/>
                </a:lnTo>
                <a:lnTo>
                  <a:pt x="106314" y="282183"/>
                </a:lnTo>
                <a:lnTo>
                  <a:pt x="63642" y="261640"/>
                </a:lnTo>
                <a:lnTo>
                  <a:pt x="29992" y="230306"/>
                </a:lnTo>
                <a:lnTo>
                  <a:pt x="7924" y="190560"/>
                </a:lnTo>
                <a:lnTo>
                  <a:pt x="0" y="144779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254883" y="4722114"/>
            <a:ext cx="403860" cy="442595"/>
          </a:xfrm>
          <a:custGeom>
            <a:avLst/>
            <a:gdLst/>
            <a:ahLst/>
            <a:cxnLst/>
            <a:rect l="l" t="t" r="r" b="b"/>
            <a:pathLst>
              <a:path w="403860" h="442595">
                <a:moveTo>
                  <a:pt x="327079" y="60340"/>
                </a:moveTo>
                <a:lnTo>
                  <a:pt x="0" y="420497"/>
                </a:lnTo>
                <a:lnTo>
                  <a:pt x="23621" y="442087"/>
                </a:lnTo>
                <a:lnTo>
                  <a:pt x="350788" y="81847"/>
                </a:lnTo>
                <a:lnTo>
                  <a:pt x="327079" y="60340"/>
                </a:lnTo>
                <a:close/>
              </a:path>
              <a:path w="403860" h="442595">
                <a:moveTo>
                  <a:pt x="389890" y="48513"/>
                </a:moveTo>
                <a:lnTo>
                  <a:pt x="337819" y="48513"/>
                </a:lnTo>
                <a:lnTo>
                  <a:pt x="361568" y="69977"/>
                </a:lnTo>
                <a:lnTo>
                  <a:pt x="350788" y="81847"/>
                </a:lnTo>
                <a:lnTo>
                  <a:pt x="374522" y="103378"/>
                </a:lnTo>
                <a:lnTo>
                  <a:pt x="389890" y="48513"/>
                </a:lnTo>
                <a:close/>
              </a:path>
              <a:path w="403860" h="442595">
                <a:moveTo>
                  <a:pt x="337819" y="48513"/>
                </a:moveTo>
                <a:lnTo>
                  <a:pt x="327079" y="60340"/>
                </a:lnTo>
                <a:lnTo>
                  <a:pt x="350788" y="81847"/>
                </a:lnTo>
                <a:lnTo>
                  <a:pt x="361568" y="69977"/>
                </a:lnTo>
                <a:lnTo>
                  <a:pt x="337819" y="48513"/>
                </a:lnTo>
                <a:close/>
              </a:path>
              <a:path w="403860" h="442595">
                <a:moveTo>
                  <a:pt x="403478" y="0"/>
                </a:moveTo>
                <a:lnTo>
                  <a:pt x="303402" y="38862"/>
                </a:lnTo>
                <a:lnTo>
                  <a:pt x="327079" y="60340"/>
                </a:lnTo>
                <a:lnTo>
                  <a:pt x="337819" y="48513"/>
                </a:lnTo>
                <a:lnTo>
                  <a:pt x="389890" y="48513"/>
                </a:lnTo>
                <a:lnTo>
                  <a:pt x="4034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765803" y="4795265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4" y="335279"/>
                </a:moveTo>
                <a:lnTo>
                  <a:pt x="0" y="335279"/>
                </a:lnTo>
                <a:lnTo>
                  <a:pt x="48006" y="431291"/>
                </a:lnTo>
                <a:lnTo>
                  <a:pt x="88011" y="351281"/>
                </a:lnTo>
                <a:lnTo>
                  <a:pt x="32004" y="351281"/>
                </a:lnTo>
                <a:lnTo>
                  <a:pt x="32004" y="335279"/>
                </a:lnTo>
                <a:close/>
              </a:path>
              <a:path w="96520" h="431800">
                <a:moveTo>
                  <a:pt x="64008" y="0"/>
                </a:moveTo>
                <a:lnTo>
                  <a:pt x="32004" y="0"/>
                </a:lnTo>
                <a:lnTo>
                  <a:pt x="32004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79"/>
                </a:moveTo>
                <a:lnTo>
                  <a:pt x="64008" y="335279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89120" y="4795265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79"/>
                </a:moveTo>
                <a:lnTo>
                  <a:pt x="0" y="335279"/>
                </a:lnTo>
                <a:lnTo>
                  <a:pt x="48005" y="431291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79"/>
                </a:lnTo>
                <a:close/>
              </a:path>
              <a:path w="96520" h="431800">
                <a:moveTo>
                  <a:pt x="64007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7" y="351281"/>
                </a:lnTo>
                <a:lnTo>
                  <a:pt x="64007" y="0"/>
                </a:lnTo>
                <a:close/>
              </a:path>
              <a:path w="96520" h="431800">
                <a:moveTo>
                  <a:pt x="96012" y="335279"/>
                </a:moveTo>
                <a:lnTo>
                  <a:pt x="64007" y="335279"/>
                </a:lnTo>
                <a:lnTo>
                  <a:pt x="64007" y="351281"/>
                </a:lnTo>
                <a:lnTo>
                  <a:pt x="88011" y="351281"/>
                </a:lnTo>
                <a:lnTo>
                  <a:pt x="96012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012435" y="4795265"/>
            <a:ext cx="96520" cy="431800"/>
          </a:xfrm>
          <a:custGeom>
            <a:avLst/>
            <a:gdLst/>
            <a:ahLst/>
            <a:cxnLst/>
            <a:rect l="l" t="t" r="r" b="b"/>
            <a:pathLst>
              <a:path w="96520" h="431800">
                <a:moveTo>
                  <a:pt x="32003" y="335279"/>
                </a:moveTo>
                <a:lnTo>
                  <a:pt x="0" y="335279"/>
                </a:lnTo>
                <a:lnTo>
                  <a:pt x="48005" y="431291"/>
                </a:lnTo>
                <a:lnTo>
                  <a:pt x="88011" y="351281"/>
                </a:lnTo>
                <a:lnTo>
                  <a:pt x="32003" y="351281"/>
                </a:lnTo>
                <a:lnTo>
                  <a:pt x="32003" y="335279"/>
                </a:lnTo>
                <a:close/>
              </a:path>
              <a:path w="96520" h="431800">
                <a:moveTo>
                  <a:pt x="64008" y="0"/>
                </a:moveTo>
                <a:lnTo>
                  <a:pt x="32003" y="0"/>
                </a:lnTo>
                <a:lnTo>
                  <a:pt x="32003" y="351281"/>
                </a:lnTo>
                <a:lnTo>
                  <a:pt x="64008" y="351281"/>
                </a:lnTo>
                <a:lnTo>
                  <a:pt x="64008" y="0"/>
                </a:lnTo>
                <a:close/>
              </a:path>
              <a:path w="96520" h="431800">
                <a:moveTo>
                  <a:pt x="96012" y="335279"/>
                </a:moveTo>
                <a:lnTo>
                  <a:pt x="64008" y="335279"/>
                </a:lnTo>
                <a:lnTo>
                  <a:pt x="64008" y="351281"/>
                </a:lnTo>
                <a:lnTo>
                  <a:pt x="88011" y="351281"/>
                </a:lnTo>
                <a:lnTo>
                  <a:pt x="96012" y="3352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79722" y="4722114"/>
            <a:ext cx="401955" cy="442595"/>
          </a:xfrm>
          <a:custGeom>
            <a:avLst/>
            <a:gdLst/>
            <a:ahLst/>
            <a:cxnLst/>
            <a:rect l="l" t="t" r="r" b="b"/>
            <a:pathLst>
              <a:path w="401954" h="442595">
                <a:moveTo>
                  <a:pt x="325726" y="60464"/>
                </a:moveTo>
                <a:lnTo>
                  <a:pt x="0" y="420497"/>
                </a:lnTo>
                <a:lnTo>
                  <a:pt x="23622" y="442087"/>
                </a:lnTo>
                <a:lnTo>
                  <a:pt x="349456" y="81948"/>
                </a:lnTo>
                <a:lnTo>
                  <a:pt x="325726" y="60464"/>
                </a:lnTo>
                <a:close/>
              </a:path>
              <a:path w="401954" h="442595">
                <a:moveTo>
                  <a:pt x="388390" y="48641"/>
                </a:moveTo>
                <a:lnTo>
                  <a:pt x="336423" y="48641"/>
                </a:lnTo>
                <a:lnTo>
                  <a:pt x="360172" y="70104"/>
                </a:lnTo>
                <a:lnTo>
                  <a:pt x="349456" y="81948"/>
                </a:lnTo>
                <a:lnTo>
                  <a:pt x="373125" y="103378"/>
                </a:lnTo>
                <a:lnTo>
                  <a:pt x="388390" y="48641"/>
                </a:lnTo>
                <a:close/>
              </a:path>
              <a:path w="401954" h="442595">
                <a:moveTo>
                  <a:pt x="336423" y="48641"/>
                </a:moveTo>
                <a:lnTo>
                  <a:pt x="325726" y="60464"/>
                </a:lnTo>
                <a:lnTo>
                  <a:pt x="349456" y="81948"/>
                </a:lnTo>
                <a:lnTo>
                  <a:pt x="360172" y="70104"/>
                </a:lnTo>
                <a:lnTo>
                  <a:pt x="336423" y="48641"/>
                </a:lnTo>
                <a:close/>
              </a:path>
              <a:path w="401954" h="442595">
                <a:moveTo>
                  <a:pt x="401954" y="0"/>
                </a:moveTo>
                <a:lnTo>
                  <a:pt x="302005" y="38988"/>
                </a:lnTo>
                <a:lnTo>
                  <a:pt x="325726" y="60464"/>
                </a:lnTo>
                <a:lnTo>
                  <a:pt x="336423" y="48641"/>
                </a:lnTo>
                <a:lnTo>
                  <a:pt x="388390" y="48641"/>
                </a:lnTo>
                <a:lnTo>
                  <a:pt x="401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04563" y="4722114"/>
            <a:ext cx="401955" cy="442595"/>
          </a:xfrm>
          <a:custGeom>
            <a:avLst/>
            <a:gdLst/>
            <a:ahLst/>
            <a:cxnLst/>
            <a:rect l="l" t="t" r="r" b="b"/>
            <a:pathLst>
              <a:path w="401954" h="442595">
                <a:moveTo>
                  <a:pt x="325726" y="60464"/>
                </a:moveTo>
                <a:lnTo>
                  <a:pt x="0" y="420497"/>
                </a:lnTo>
                <a:lnTo>
                  <a:pt x="23622" y="442087"/>
                </a:lnTo>
                <a:lnTo>
                  <a:pt x="349456" y="81948"/>
                </a:lnTo>
                <a:lnTo>
                  <a:pt x="325726" y="60464"/>
                </a:lnTo>
                <a:close/>
              </a:path>
              <a:path w="401954" h="442595">
                <a:moveTo>
                  <a:pt x="388390" y="48641"/>
                </a:moveTo>
                <a:lnTo>
                  <a:pt x="336423" y="48641"/>
                </a:lnTo>
                <a:lnTo>
                  <a:pt x="360172" y="70104"/>
                </a:lnTo>
                <a:lnTo>
                  <a:pt x="349456" y="81948"/>
                </a:lnTo>
                <a:lnTo>
                  <a:pt x="373125" y="103378"/>
                </a:lnTo>
                <a:lnTo>
                  <a:pt x="388390" y="48641"/>
                </a:lnTo>
                <a:close/>
              </a:path>
              <a:path w="401954" h="442595">
                <a:moveTo>
                  <a:pt x="336423" y="48641"/>
                </a:moveTo>
                <a:lnTo>
                  <a:pt x="325726" y="60464"/>
                </a:lnTo>
                <a:lnTo>
                  <a:pt x="349456" y="81948"/>
                </a:lnTo>
                <a:lnTo>
                  <a:pt x="360172" y="70104"/>
                </a:lnTo>
                <a:lnTo>
                  <a:pt x="336423" y="48641"/>
                </a:lnTo>
                <a:close/>
              </a:path>
              <a:path w="401954" h="442595">
                <a:moveTo>
                  <a:pt x="401954" y="0"/>
                </a:moveTo>
                <a:lnTo>
                  <a:pt x="302006" y="38988"/>
                </a:lnTo>
                <a:lnTo>
                  <a:pt x="325726" y="60464"/>
                </a:lnTo>
                <a:lnTo>
                  <a:pt x="336423" y="48641"/>
                </a:lnTo>
                <a:lnTo>
                  <a:pt x="388390" y="48641"/>
                </a:lnTo>
                <a:lnTo>
                  <a:pt x="4019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034410" y="5247843"/>
            <a:ext cx="21234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5000" algn="l"/>
                <a:tab pos="1259205" algn="l"/>
                <a:tab pos="1884045" algn="l"/>
              </a:tabLst>
            </a:pPr>
            <a:r>
              <a:rPr sz="3200" dirty="0">
                <a:latin typeface="Arial"/>
                <a:cs typeface="Arial"/>
              </a:rPr>
              <a:t>1	1	0	1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27</a:t>
            </a:fld>
            <a:endParaRPr spc="-5" dirty="0"/>
          </a:p>
        </p:txBody>
      </p:sp>
      <p:sp>
        <p:nvSpPr>
          <p:cNvPr id="26" name="object 26"/>
          <p:cNvSpPr txBox="1"/>
          <p:nvPr/>
        </p:nvSpPr>
        <p:spPr>
          <a:xfrm>
            <a:off x="574040" y="2637634"/>
            <a:ext cx="3357879" cy="139509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4"/>
              </a:spcBef>
              <a:tabLst>
                <a:tab pos="2995930" algn="l"/>
              </a:tabLst>
            </a:pPr>
            <a:r>
              <a:rPr sz="2800" spc="-5" dirty="0">
                <a:latin typeface="微软雅黑"/>
                <a:cs typeface="微软雅黑"/>
              </a:rPr>
              <a:t>例如：求格雷</a:t>
            </a:r>
            <a:r>
              <a:rPr sz="2800" spc="-15" dirty="0">
                <a:latin typeface="微软雅黑"/>
                <a:cs typeface="微软雅黑"/>
              </a:rPr>
              <a:t>码</a:t>
            </a:r>
            <a:r>
              <a:rPr sz="2800" spc="-5" dirty="0">
                <a:latin typeface="Arial"/>
                <a:cs typeface="Arial"/>
              </a:rPr>
              <a:t>1	0</a:t>
            </a:r>
            <a:endParaRPr sz="28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1914"/>
              </a:spcBef>
              <a:tabLst>
                <a:tab pos="622300" algn="l"/>
              </a:tabLst>
            </a:pPr>
            <a:r>
              <a:rPr sz="3200" dirty="0">
                <a:latin typeface="Arial"/>
                <a:cs typeface="Arial"/>
              </a:rPr>
              <a:t>1	0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51025" y="2637634"/>
            <a:ext cx="2896870" cy="139509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4"/>
              </a:spcBef>
              <a:tabLst>
                <a:tab pos="506095" algn="l"/>
                <a:tab pos="1108075" algn="l"/>
              </a:tabLst>
            </a:pPr>
            <a:r>
              <a:rPr sz="2800" spc="-5" dirty="0">
                <a:latin typeface="Arial"/>
                <a:cs typeface="Arial"/>
              </a:rPr>
              <a:t>1	1	</a:t>
            </a:r>
            <a:r>
              <a:rPr sz="2800" spc="-5" dirty="0">
                <a:latin typeface="微软雅黑"/>
                <a:cs typeface="微软雅黑"/>
              </a:rPr>
              <a:t>的二进制码</a:t>
            </a:r>
            <a:endParaRPr sz="2800">
              <a:latin typeface="微软雅黑"/>
              <a:cs typeface="微软雅黑"/>
            </a:endParaRPr>
          </a:p>
          <a:p>
            <a:pPr marL="265430">
              <a:lnSpc>
                <a:spcPct val="100000"/>
              </a:lnSpc>
              <a:spcBef>
                <a:spcPts val="1914"/>
              </a:spcBef>
              <a:tabLst>
                <a:tab pos="889635" algn="l"/>
              </a:tabLst>
            </a:pPr>
            <a:r>
              <a:rPr sz="3200" dirty="0">
                <a:latin typeface="Arial"/>
                <a:cs typeface="Arial"/>
              </a:rPr>
              <a:t>1	1</a:t>
            </a:r>
            <a:endParaRPr sz="3200">
              <a:latin typeface="Arial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0" name="墨迹 29">
                <a:extLst>
                  <a:ext uri="{FF2B5EF4-FFF2-40B4-BE49-F238E27FC236}">
                    <a16:creationId xmlns:a16="http://schemas.microsoft.com/office/drawing/2014/main" id="{A11050D1-174B-2A8D-20A6-B248D86DCED0}"/>
                  </a:ext>
                </a:extLst>
              </p14:cNvPr>
              <p14:cNvContentPartPr/>
              <p14:nvPr/>
            </p14:nvContentPartPr>
            <p14:xfrm>
              <a:off x="3084109" y="3512009"/>
              <a:ext cx="854640" cy="1958400"/>
            </p14:xfrm>
          </p:contentPart>
        </mc:Choice>
        <mc:Fallback xmlns="">
          <p:pic>
            <p:nvPicPr>
              <p:cNvPr id="30" name="墨迹 29">
                <a:extLst>
                  <a:ext uri="{FF2B5EF4-FFF2-40B4-BE49-F238E27FC236}">
                    <a16:creationId xmlns:a16="http://schemas.microsoft.com/office/drawing/2014/main" id="{A11050D1-174B-2A8D-20A6-B248D86DCE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30109" y="3404369"/>
                <a:ext cx="962280" cy="217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42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检错码和纠错码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74040" y="1482674"/>
            <a:ext cx="8570595" cy="4848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检错码</a:t>
            </a:r>
            <a:r>
              <a:rPr sz="2800" spc="-15" dirty="0">
                <a:solidFill>
                  <a:srgbClr val="FF0000"/>
                </a:solidFill>
                <a:latin typeface="微软雅黑"/>
                <a:cs typeface="微软雅黑"/>
              </a:rPr>
              <a:t>：</a:t>
            </a:r>
            <a:r>
              <a:rPr sz="2800" spc="-10" dirty="0">
                <a:solidFill>
                  <a:srgbClr val="3333CC"/>
                </a:solidFill>
                <a:latin typeface="微软雅黑"/>
                <a:cs typeface="微软雅黑"/>
              </a:rPr>
              <a:t>仅能检测数字信号是否发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生</a:t>
            </a:r>
            <a:r>
              <a:rPr sz="2800" spc="-10" dirty="0">
                <a:solidFill>
                  <a:srgbClr val="3333CC"/>
                </a:solidFill>
                <a:latin typeface="微软雅黑"/>
                <a:cs typeface="微软雅黑"/>
              </a:rPr>
              <a:t>错误</a:t>
            </a:r>
            <a:endParaRPr sz="2800" dirty="0">
              <a:latin typeface="微软雅黑"/>
              <a:cs typeface="微软雅黑"/>
            </a:endParaRPr>
          </a:p>
          <a:p>
            <a:pPr marL="31750">
              <a:lnSpc>
                <a:spcPct val="100000"/>
              </a:lnSpc>
              <a:spcBef>
                <a:spcPts val="2875"/>
              </a:spcBef>
            </a:pPr>
            <a:r>
              <a:rPr sz="2800" spc="-5" dirty="0">
                <a:solidFill>
                  <a:srgbClr val="FF0000"/>
                </a:solidFill>
                <a:latin typeface="微软雅黑"/>
                <a:cs typeface="微软雅黑"/>
              </a:rPr>
              <a:t>纠错码：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能够检测并纠正数字信号</a:t>
            </a:r>
            <a:r>
              <a:rPr sz="2800" dirty="0">
                <a:solidFill>
                  <a:srgbClr val="3333CC"/>
                </a:solidFill>
                <a:latin typeface="微软雅黑"/>
                <a:cs typeface="微软雅黑"/>
              </a:rPr>
              <a:t>中</a:t>
            </a:r>
            <a:r>
              <a:rPr sz="2800" spc="-5" dirty="0">
                <a:solidFill>
                  <a:srgbClr val="3333CC"/>
                </a:solidFill>
                <a:latin typeface="微软雅黑"/>
                <a:cs typeface="微软雅黑"/>
              </a:rPr>
              <a:t>的错误</a:t>
            </a:r>
            <a:endParaRPr sz="2800" dirty="0">
              <a:latin typeface="微软雅黑"/>
              <a:cs typeface="微软雅黑"/>
            </a:endParaRPr>
          </a:p>
          <a:p>
            <a:pPr marL="2197735" marR="5080" indent="-2165985">
              <a:lnSpc>
                <a:spcPct val="100000"/>
              </a:lnSpc>
              <a:spcBef>
                <a:spcPts val="3065"/>
              </a:spcBef>
            </a:pPr>
            <a:r>
              <a:rPr sz="2800" spc="-5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奇偶校验码：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除要发送的信息码之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外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再多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发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送一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位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奇偶 校验位Ｐ，奇偶校验位一般放在最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高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位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  <a:spcBef>
                <a:spcPts val="2920"/>
              </a:spcBef>
            </a:pPr>
            <a:r>
              <a:rPr sz="2800" spc="-10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奇校验码：</a:t>
            </a:r>
            <a:r>
              <a:rPr sz="2800" spc="-1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信息码与校验位所构成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2800" spc="-1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奇偶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校</a:t>
            </a:r>
            <a:r>
              <a:rPr sz="2800" spc="-1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验码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中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，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1863725">
              <a:lnSpc>
                <a:spcPct val="100000"/>
              </a:lnSpc>
              <a:spcBef>
                <a:spcPts val="5"/>
              </a:spcBef>
            </a:pP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Arial"/>
                <a:cs typeface="Arial"/>
              </a:rPr>
              <a:t>‘1’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的个数为奇数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  <a:spcBef>
                <a:spcPts val="2235"/>
              </a:spcBef>
            </a:pPr>
            <a:r>
              <a:rPr sz="2800" spc="-5" dirty="0">
                <a:solidFill>
                  <a:srgbClr val="FF0000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偶校验码：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信息码与校验位所构成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奇偶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校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验码</a:t>
            </a: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中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，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  <a:p>
            <a:pPr marL="1863725">
              <a:lnSpc>
                <a:spcPct val="100000"/>
              </a:lnSpc>
            </a:pPr>
            <a:r>
              <a:rPr sz="2800" dirty="0">
                <a:solidFill>
                  <a:srgbClr val="3333CC"/>
                </a:solidFill>
                <a:highlight>
                  <a:srgbClr val="FFFF00"/>
                </a:highlight>
                <a:latin typeface="Arial"/>
                <a:cs typeface="Arial"/>
              </a:rPr>
              <a:t>‘1’</a:t>
            </a:r>
            <a:r>
              <a:rPr sz="2800" spc="-5" dirty="0">
                <a:solidFill>
                  <a:srgbClr val="3333CC"/>
                </a:solidFill>
                <a:highlight>
                  <a:srgbClr val="FFFF00"/>
                </a:highlight>
                <a:latin typeface="微软雅黑"/>
                <a:cs typeface="微软雅黑"/>
              </a:rPr>
              <a:t>的个数为偶数</a:t>
            </a:r>
            <a:endParaRPr sz="2800" dirty="0">
              <a:highlight>
                <a:srgbClr val="FFFF00"/>
              </a:highlight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奇偶校验码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74040" y="986203"/>
            <a:ext cx="8545830" cy="465074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微软雅黑"/>
                <a:cs typeface="微软雅黑"/>
              </a:rPr>
              <a:t>采用偶校验发送字</a:t>
            </a:r>
            <a:r>
              <a:rPr sz="2800" spc="-20" dirty="0">
                <a:latin typeface="微软雅黑"/>
                <a:cs typeface="微软雅黑"/>
              </a:rPr>
              <a:t>符</a:t>
            </a:r>
            <a:r>
              <a:rPr sz="2800" spc="-5" dirty="0">
                <a:latin typeface="Arial"/>
                <a:cs typeface="Arial"/>
              </a:rPr>
              <a:t>“</a:t>
            </a:r>
            <a:r>
              <a:rPr sz="2800" spc="-5" dirty="0">
                <a:latin typeface="微软雅黑"/>
                <a:cs typeface="微软雅黑"/>
              </a:rPr>
              <a:t>Ａ</a:t>
            </a:r>
            <a:r>
              <a:rPr sz="2800" spc="-5" dirty="0">
                <a:latin typeface="Arial"/>
                <a:cs typeface="Arial"/>
              </a:rPr>
              <a:t>”</a:t>
            </a:r>
            <a:endParaRPr sz="2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90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756920" algn="l"/>
              </a:tabLst>
            </a:pPr>
            <a:r>
              <a:rPr sz="2400" dirty="0">
                <a:latin typeface="Arial"/>
                <a:cs typeface="Arial"/>
              </a:rPr>
              <a:t>“</a:t>
            </a:r>
            <a:r>
              <a:rPr sz="2400" dirty="0">
                <a:latin typeface="微软雅黑"/>
                <a:cs typeface="微软雅黑"/>
              </a:rPr>
              <a:t>Ａ</a:t>
            </a:r>
            <a:r>
              <a:rPr sz="2400" dirty="0">
                <a:latin typeface="Arial"/>
                <a:cs typeface="Arial"/>
              </a:rPr>
              <a:t>”</a:t>
            </a:r>
            <a:r>
              <a:rPr sz="2400" dirty="0">
                <a:latin typeface="微软雅黑"/>
                <a:cs typeface="微软雅黑"/>
              </a:rPr>
              <a:t>的ＡＳＣＩＩ符为１０００００１</a:t>
            </a: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756920" algn="l"/>
              </a:tabLst>
            </a:pPr>
            <a:r>
              <a:rPr sz="2400" dirty="0">
                <a:latin typeface="微软雅黑"/>
                <a:cs typeface="微软雅黑"/>
              </a:rPr>
              <a:t>加上Ｐ位使１的个数为偶数Ｐ１０００００１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lr>
                <a:srgbClr val="FF6600"/>
              </a:buClr>
              <a:buSzPct val="75000"/>
              <a:buFont typeface="Wingdings"/>
              <a:buChar char=""/>
              <a:tabLst>
                <a:tab pos="756920" algn="l"/>
              </a:tabLst>
            </a:pPr>
            <a:r>
              <a:rPr sz="2400" dirty="0">
                <a:latin typeface="微软雅黑"/>
                <a:cs typeface="微软雅黑"/>
              </a:rPr>
              <a:t>则Ｐ＝０</a:t>
            </a:r>
          </a:p>
          <a:p>
            <a:pPr marL="355600" indent="-342900">
              <a:lnSpc>
                <a:spcPct val="100000"/>
              </a:lnSpc>
              <a:spcBef>
                <a:spcPts val="128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微软雅黑"/>
                <a:cs typeface="微软雅黑"/>
              </a:rPr>
              <a:t>传输效</a:t>
            </a:r>
            <a:r>
              <a:rPr sz="2800" spc="-15" dirty="0">
                <a:latin typeface="微软雅黑"/>
                <a:cs typeface="微软雅黑"/>
              </a:rPr>
              <a:t>率</a:t>
            </a:r>
            <a:r>
              <a:rPr sz="2800" spc="-10" dirty="0">
                <a:latin typeface="Arial"/>
                <a:cs typeface="Arial"/>
              </a:rPr>
              <a:t>η</a:t>
            </a:r>
            <a:r>
              <a:rPr sz="2800" spc="-10" dirty="0">
                <a:latin typeface="微软雅黑"/>
                <a:cs typeface="微软雅黑"/>
              </a:rPr>
              <a:t>＝７／８＝８７．５％</a:t>
            </a:r>
            <a:endParaRPr sz="2800" dirty="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1310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微软雅黑"/>
                <a:cs typeface="微软雅黑"/>
              </a:rPr>
              <a:t>可靠性是牺牲效率换来的</a:t>
            </a:r>
            <a:endParaRPr sz="2800" dirty="0">
              <a:latin typeface="微软雅黑"/>
              <a:cs typeface="微软雅黑"/>
            </a:endParaRPr>
          </a:p>
          <a:p>
            <a:pPr marL="355600" marR="5080" indent="-342900">
              <a:lnSpc>
                <a:spcPct val="100400"/>
              </a:lnSpc>
              <a:spcBef>
                <a:spcPts val="127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微软雅黑"/>
                <a:cs typeface="微软雅黑"/>
              </a:rPr>
              <a:t>奇偶校验只能发现奇数位错，因为</a:t>
            </a:r>
            <a:r>
              <a:rPr sz="2800" spc="5" dirty="0">
                <a:latin typeface="微软雅黑"/>
                <a:cs typeface="微软雅黑"/>
              </a:rPr>
              <a:t>偶</a:t>
            </a:r>
            <a:r>
              <a:rPr sz="2800" spc="-5" dirty="0">
                <a:latin typeface="微软雅黑"/>
                <a:cs typeface="微软雅黑"/>
              </a:rPr>
              <a:t>数位</a:t>
            </a:r>
            <a:r>
              <a:rPr sz="2800" spc="5" dirty="0">
                <a:latin typeface="微软雅黑"/>
                <a:cs typeface="微软雅黑"/>
              </a:rPr>
              <a:t>错</a:t>
            </a:r>
            <a:r>
              <a:rPr sz="2800" spc="-5" dirty="0">
                <a:latin typeface="微软雅黑"/>
                <a:cs typeface="微软雅黑"/>
              </a:rPr>
              <a:t>不改</a:t>
            </a:r>
            <a:r>
              <a:rPr sz="2800" spc="5" dirty="0">
                <a:latin typeface="微软雅黑"/>
                <a:cs typeface="微软雅黑"/>
              </a:rPr>
              <a:t>变</a:t>
            </a:r>
            <a:r>
              <a:rPr sz="2800" spc="-5" dirty="0">
                <a:latin typeface="微软雅黑"/>
                <a:cs typeface="微软雅黑"/>
              </a:rPr>
              <a:t>码 的奇偶性</a:t>
            </a:r>
            <a:endParaRPr sz="2800" dirty="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1295"/>
              </a:spcBef>
              <a:buClr>
                <a:srgbClr val="FF6600"/>
              </a:buClr>
              <a:buSzPct val="75000"/>
              <a:buFont typeface="Wingdings"/>
              <a:buChar char=""/>
              <a:tabLst>
                <a:tab pos="355600" algn="l"/>
              </a:tabLst>
            </a:pPr>
            <a:r>
              <a:rPr sz="2800" spc="-5" dirty="0">
                <a:latin typeface="微软雅黑"/>
                <a:cs typeface="微软雅黑"/>
              </a:rPr>
              <a:t>适用于误码率较低的场合</a:t>
            </a:r>
            <a:endParaRPr sz="2800" dirty="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4040" y="239344"/>
            <a:ext cx="3942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u="none" spc="5" dirty="0"/>
              <a:t>二维奇偶纠错码</a:t>
            </a:r>
          </a:p>
        </p:txBody>
      </p:sp>
      <p:sp>
        <p:nvSpPr>
          <p:cNvPr id="3" name="object 3"/>
          <p:cNvSpPr/>
          <p:nvPr/>
        </p:nvSpPr>
        <p:spPr>
          <a:xfrm>
            <a:off x="2932176" y="2045207"/>
            <a:ext cx="3718560" cy="2348865"/>
          </a:xfrm>
          <a:custGeom>
            <a:avLst/>
            <a:gdLst/>
            <a:ahLst/>
            <a:cxnLst/>
            <a:rect l="l" t="t" r="r" b="b"/>
            <a:pathLst>
              <a:path w="3718559" h="2348865">
                <a:moveTo>
                  <a:pt x="0" y="2348484"/>
                </a:moveTo>
                <a:lnTo>
                  <a:pt x="3718560" y="2348484"/>
                </a:lnTo>
                <a:lnTo>
                  <a:pt x="3718560" y="0"/>
                </a:lnTo>
                <a:lnTo>
                  <a:pt x="0" y="0"/>
                </a:lnTo>
                <a:lnTo>
                  <a:pt x="0" y="2348484"/>
                </a:lnTo>
                <a:close/>
              </a:path>
            </a:pathLst>
          </a:custGeom>
          <a:solidFill>
            <a:srgbClr val="FF9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32176" y="2045207"/>
            <a:ext cx="3718560" cy="2348865"/>
          </a:xfrm>
          <a:custGeom>
            <a:avLst/>
            <a:gdLst/>
            <a:ahLst/>
            <a:cxnLst/>
            <a:rect l="l" t="t" r="r" b="b"/>
            <a:pathLst>
              <a:path w="3718559" h="2348865">
                <a:moveTo>
                  <a:pt x="0" y="2348484"/>
                </a:moveTo>
                <a:lnTo>
                  <a:pt x="3718560" y="2348484"/>
                </a:lnTo>
                <a:lnTo>
                  <a:pt x="3718560" y="0"/>
                </a:lnTo>
                <a:lnTo>
                  <a:pt x="0" y="0"/>
                </a:lnTo>
                <a:lnTo>
                  <a:pt x="0" y="234848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51447" y="2058923"/>
            <a:ext cx="0" cy="2334895"/>
          </a:xfrm>
          <a:custGeom>
            <a:avLst/>
            <a:gdLst/>
            <a:ahLst/>
            <a:cxnLst/>
            <a:rect l="l" t="t" r="r" b="b"/>
            <a:pathLst>
              <a:path h="2334895">
                <a:moveTo>
                  <a:pt x="0" y="0"/>
                </a:moveTo>
                <a:lnTo>
                  <a:pt x="0" y="233476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32176" y="4070603"/>
            <a:ext cx="3718560" cy="0"/>
          </a:xfrm>
          <a:custGeom>
            <a:avLst/>
            <a:gdLst/>
            <a:ahLst/>
            <a:cxnLst/>
            <a:rect l="l" t="t" r="r" b="b"/>
            <a:pathLst>
              <a:path w="3718559">
                <a:moveTo>
                  <a:pt x="0" y="0"/>
                </a:moveTo>
                <a:lnTo>
                  <a:pt x="3718559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68040" y="2058923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184903" y="2063495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85615" y="2069592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20767" y="2069592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36108" y="2049779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038344" y="2069592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68040" y="4346447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53684" y="2040635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785615" y="4326635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184903" y="4335779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20767" y="4351020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38344" y="4351020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36108" y="4346447"/>
            <a:ext cx="0" cy="62865"/>
          </a:xfrm>
          <a:custGeom>
            <a:avLst/>
            <a:gdLst/>
            <a:ahLst/>
            <a:cxnLst/>
            <a:rect l="l" t="t" r="r" b="b"/>
            <a:pathLst>
              <a:path h="62864">
                <a:moveTo>
                  <a:pt x="0" y="0"/>
                </a:moveTo>
                <a:lnTo>
                  <a:pt x="0" y="62483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853684" y="4340352"/>
            <a:ext cx="0" cy="64135"/>
          </a:xfrm>
          <a:custGeom>
            <a:avLst/>
            <a:gdLst/>
            <a:ahLst/>
            <a:cxnLst/>
            <a:rect l="l" t="t" r="r" b="b"/>
            <a:pathLst>
              <a:path h="64135">
                <a:moveTo>
                  <a:pt x="0" y="0"/>
                </a:moveTo>
                <a:lnTo>
                  <a:pt x="0" y="6400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68040" y="3992879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85615" y="3983735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7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184903" y="3988308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20767" y="3979164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038344" y="3979164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36108" y="3979164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853684" y="3988308"/>
            <a:ext cx="0" cy="193675"/>
          </a:xfrm>
          <a:custGeom>
            <a:avLst/>
            <a:gdLst/>
            <a:ahLst/>
            <a:cxnLst/>
            <a:rect l="l" t="t" r="r" b="b"/>
            <a:pathLst>
              <a:path h="193675">
                <a:moveTo>
                  <a:pt x="0" y="0"/>
                </a:moveTo>
                <a:lnTo>
                  <a:pt x="0" y="193548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176771" y="3139439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76771" y="3380232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76771" y="3636264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6771" y="3863340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76771" y="2595372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176771" y="2878835"/>
            <a:ext cx="170815" cy="0"/>
          </a:xfrm>
          <a:custGeom>
            <a:avLst/>
            <a:gdLst/>
            <a:ahLst/>
            <a:cxnLst/>
            <a:rect l="l" t="t" r="r" b="b"/>
            <a:pathLst>
              <a:path w="170814">
                <a:moveTo>
                  <a:pt x="0" y="0"/>
                </a:moveTo>
                <a:lnTo>
                  <a:pt x="17068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176771" y="2305811"/>
            <a:ext cx="151130" cy="0"/>
          </a:xfrm>
          <a:custGeom>
            <a:avLst/>
            <a:gdLst/>
            <a:ahLst/>
            <a:cxnLst/>
            <a:rect l="l" t="t" r="r" b="b"/>
            <a:pathLst>
              <a:path w="151129">
                <a:moveTo>
                  <a:pt x="0" y="0"/>
                </a:moveTo>
                <a:lnTo>
                  <a:pt x="15087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932176" y="2310383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932176" y="2589276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32176" y="2889504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574535" y="2305811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32176" y="3139439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932176" y="3640835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932176" y="3867911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592823" y="3867911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574535" y="3640835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574535" y="3386328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574535" y="3144011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574535" y="2883407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574535" y="2584704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932176" y="3380232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620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5667247" y="1513078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行校验位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785615" y="3636264"/>
            <a:ext cx="402590" cy="226060"/>
          </a:xfrm>
          <a:custGeom>
            <a:avLst/>
            <a:gdLst/>
            <a:ahLst/>
            <a:cxnLst/>
            <a:rect l="l" t="t" r="r" b="b"/>
            <a:pathLst>
              <a:path w="402589" h="226060">
                <a:moveTo>
                  <a:pt x="0" y="225551"/>
                </a:moveTo>
                <a:lnTo>
                  <a:pt x="402336" y="225551"/>
                </a:lnTo>
                <a:lnTo>
                  <a:pt x="402336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536698" y="2734183"/>
            <a:ext cx="5380990" cy="2045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06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信息位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宋体"/>
                <a:cs typeface="宋体"/>
              </a:rPr>
              <a:t>列校验码</a:t>
            </a:r>
            <a:endParaRPr sz="2400">
              <a:latin typeface="宋体"/>
              <a:cs typeface="宋体"/>
            </a:endParaRPr>
          </a:p>
          <a:p>
            <a:pPr marL="1338580">
              <a:lnSpc>
                <a:spcPct val="100000"/>
              </a:lnSpc>
              <a:spcBef>
                <a:spcPts val="470"/>
              </a:spcBef>
            </a:pPr>
            <a:r>
              <a:rPr sz="2400" spc="-5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209294" y="2134361"/>
            <a:ext cx="2689860" cy="1646555"/>
          </a:xfrm>
          <a:custGeom>
            <a:avLst/>
            <a:gdLst/>
            <a:ahLst/>
            <a:cxnLst/>
            <a:rect l="l" t="t" r="r" b="b"/>
            <a:pathLst>
              <a:path w="2689860" h="1646554">
                <a:moveTo>
                  <a:pt x="1032510" y="641603"/>
                </a:moveTo>
                <a:lnTo>
                  <a:pt x="722757" y="641603"/>
                </a:lnTo>
                <a:lnTo>
                  <a:pt x="2689479" y="1646301"/>
                </a:lnTo>
                <a:lnTo>
                  <a:pt x="1032510" y="641603"/>
                </a:lnTo>
                <a:close/>
              </a:path>
              <a:path w="2689860" h="1646554">
                <a:moveTo>
                  <a:pt x="1132078" y="0"/>
                </a:moveTo>
                <a:lnTo>
                  <a:pt x="106934" y="0"/>
                </a:lnTo>
                <a:lnTo>
                  <a:pt x="65311" y="8403"/>
                </a:lnTo>
                <a:lnTo>
                  <a:pt x="31321" y="31321"/>
                </a:lnTo>
                <a:lnTo>
                  <a:pt x="8403" y="65311"/>
                </a:lnTo>
                <a:lnTo>
                  <a:pt x="0" y="106934"/>
                </a:lnTo>
                <a:lnTo>
                  <a:pt x="0" y="534670"/>
                </a:lnTo>
                <a:lnTo>
                  <a:pt x="8403" y="576292"/>
                </a:lnTo>
                <a:lnTo>
                  <a:pt x="31321" y="610282"/>
                </a:lnTo>
                <a:lnTo>
                  <a:pt x="65311" y="633200"/>
                </a:lnTo>
                <a:lnTo>
                  <a:pt x="106934" y="641603"/>
                </a:lnTo>
                <a:lnTo>
                  <a:pt x="1132078" y="641603"/>
                </a:lnTo>
                <a:lnTo>
                  <a:pt x="1173700" y="633200"/>
                </a:lnTo>
                <a:lnTo>
                  <a:pt x="1207690" y="610282"/>
                </a:lnTo>
                <a:lnTo>
                  <a:pt x="1230608" y="576292"/>
                </a:lnTo>
                <a:lnTo>
                  <a:pt x="1239012" y="534670"/>
                </a:lnTo>
                <a:lnTo>
                  <a:pt x="1239012" y="106934"/>
                </a:lnTo>
                <a:lnTo>
                  <a:pt x="1230608" y="65311"/>
                </a:lnTo>
                <a:lnTo>
                  <a:pt x="1207690" y="31321"/>
                </a:lnTo>
                <a:lnTo>
                  <a:pt x="1173700" y="8403"/>
                </a:lnTo>
                <a:lnTo>
                  <a:pt x="11320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09294" y="2134361"/>
            <a:ext cx="2689860" cy="1646555"/>
          </a:xfrm>
          <a:custGeom>
            <a:avLst/>
            <a:gdLst/>
            <a:ahLst/>
            <a:cxnLst/>
            <a:rect l="l" t="t" r="r" b="b"/>
            <a:pathLst>
              <a:path w="2689860" h="1646554">
                <a:moveTo>
                  <a:pt x="0" y="106934"/>
                </a:moveTo>
                <a:lnTo>
                  <a:pt x="8403" y="65311"/>
                </a:lnTo>
                <a:lnTo>
                  <a:pt x="31321" y="31321"/>
                </a:lnTo>
                <a:lnTo>
                  <a:pt x="65311" y="8403"/>
                </a:lnTo>
                <a:lnTo>
                  <a:pt x="106934" y="0"/>
                </a:lnTo>
                <a:lnTo>
                  <a:pt x="722757" y="0"/>
                </a:lnTo>
                <a:lnTo>
                  <a:pt x="1032510" y="0"/>
                </a:lnTo>
                <a:lnTo>
                  <a:pt x="1132078" y="0"/>
                </a:lnTo>
                <a:lnTo>
                  <a:pt x="1173700" y="8403"/>
                </a:lnTo>
                <a:lnTo>
                  <a:pt x="1207690" y="31321"/>
                </a:lnTo>
                <a:lnTo>
                  <a:pt x="1230608" y="65311"/>
                </a:lnTo>
                <a:lnTo>
                  <a:pt x="1239012" y="106934"/>
                </a:lnTo>
                <a:lnTo>
                  <a:pt x="1239012" y="374268"/>
                </a:lnTo>
                <a:lnTo>
                  <a:pt x="1239012" y="534670"/>
                </a:lnTo>
                <a:lnTo>
                  <a:pt x="1230608" y="576292"/>
                </a:lnTo>
                <a:lnTo>
                  <a:pt x="1207690" y="610282"/>
                </a:lnTo>
                <a:lnTo>
                  <a:pt x="1173700" y="633200"/>
                </a:lnTo>
                <a:lnTo>
                  <a:pt x="1132078" y="641603"/>
                </a:lnTo>
                <a:lnTo>
                  <a:pt x="1032510" y="641603"/>
                </a:lnTo>
                <a:lnTo>
                  <a:pt x="2689479" y="1646301"/>
                </a:lnTo>
                <a:lnTo>
                  <a:pt x="722757" y="641603"/>
                </a:lnTo>
                <a:lnTo>
                  <a:pt x="106934" y="641603"/>
                </a:lnTo>
                <a:lnTo>
                  <a:pt x="65311" y="633200"/>
                </a:lnTo>
                <a:lnTo>
                  <a:pt x="31321" y="610282"/>
                </a:lnTo>
                <a:lnTo>
                  <a:pt x="8403" y="576292"/>
                </a:lnTo>
                <a:lnTo>
                  <a:pt x="0" y="534670"/>
                </a:lnTo>
                <a:lnTo>
                  <a:pt x="0" y="374268"/>
                </a:lnTo>
                <a:lnTo>
                  <a:pt x="0" y="106934"/>
                </a:lnTo>
                <a:close/>
              </a:path>
            </a:pathLst>
          </a:custGeom>
          <a:ln w="25908">
            <a:solidFill>
              <a:srgbClr val="FF99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320800" y="2297429"/>
            <a:ext cx="1016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微软雅黑"/>
                <a:cs typeface="微软雅黑"/>
              </a:rPr>
              <a:t>该位出错</a:t>
            </a:r>
            <a:r>
              <a:rPr sz="1800" b="1" dirty="0"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244721" y="6472929"/>
            <a:ext cx="1416685" cy="167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-10" dirty="0">
                <a:latin typeface="Arial"/>
                <a:cs typeface="Arial"/>
                <a:hlinkClick r:id="rId2"/>
              </a:rPr>
              <a:t>pyro_yangxu@bit.edu.cn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t>30</a:t>
            </a:fld>
            <a:endParaRPr spc="-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1708</Words>
  <Application>Microsoft Office PowerPoint</Application>
  <PresentationFormat>A4 纸张(210x297 毫米)</PresentationFormat>
  <Paragraphs>466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宋体</vt:lpstr>
      <vt:lpstr>微软雅黑</vt:lpstr>
      <vt:lpstr>Arial</vt:lpstr>
      <vt:lpstr>Calibri</vt:lpstr>
      <vt:lpstr>Symbol</vt:lpstr>
      <vt:lpstr>Times New Roman</vt:lpstr>
      <vt:lpstr>Wingdings</vt:lpstr>
      <vt:lpstr>Office Theme</vt:lpstr>
      <vt:lpstr>符号数的反码表示法</vt:lpstr>
      <vt:lpstr>反码表示法</vt:lpstr>
      <vt:lpstr>补码</vt:lpstr>
      <vt:lpstr>补码的求法</vt:lpstr>
      <vt:lpstr>补码的求法</vt:lpstr>
      <vt:lpstr>补码的求法</vt:lpstr>
      <vt:lpstr>补充概念</vt:lpstr>
      <vt:lpstr>符号数的补码表示法</vt:lpstr>
      <vt:lpstr>符号数的补码表示法</vt:lpstr>
      <vt:lpstr>问题1：如何求有符号数的相反数？</vt:lpstr>
      <vt:lpstr>问题2：如何扩展数据的宽度 </vt:lpstr>
      <vt:lpstr>补码表示的符号数的加减运算</vt:lpstr>
      <vt:lpstr>补码表示的符号数的加减运算</vt:lpstr>
      <vt:lpstr>补码表示的符号数的加减运算(证明)</vt:lpstr>
      <vt:lpstr>补码表示的符号数的加减运算(证明)</vt:lpstr>
      <vt:lpstr>补码表示的符号数的加减运算_溢出</vt:lpstr>
      <vt:lpstr>补码表示的符号数的加减运算_溢出</vt:lpstr>
      <vt:lpstr>补码表示的符号数的加减运算_溢出</vt:lpstr>
      <vt:lpstr>PowerPoint 演示文稿</vt:lpstr>
      <vt:lpstr>二-十进制编码（BCD码） </vt:lpstr>
      <vt:lpstr>二-十进制编码（BCD码）</vt:lpstr>
      <vt:lpstr>PowerPoint 演示文稿</vt:lpstr>
      <vt:lpstr>格雷（Gray）码的特点 </vt:lpstr>
      <vt:lpstr>格雷码的写法</vt:lpstr>
      <vt:lpstr>二进制码与格雷码转换</vt:lpstr>
      <vt:lpstr>二进制码与格雷码转换</vt:lpstr>
      <vt:lpstr>二进制码与格雷码转换</vt:lpstr>
      <vt:lpstr>检错码和纠错码</vt:lpstr>
      <vt:lpstr>奇偶校验码</vt:lpstr>
      <vt:lpstr>二维奇偶纠错码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now</dc:creator>
  <cp:lastModifiedBy>- Vel</cp:lastModifiedBy>
  <cp:revision>5</cp:revision>
  <dcterms:created xsi:type="dcterms:W3CDTF">2024-05-07T02:28:30Z</dcterms:created>
  <dcterms:modified xsi:type="dcterms:W3CDTF">2024-05-11T07:15:39Z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2024-05-07T00:00:00Z</vt:filetime>
  </property>
</Properties>
</file>
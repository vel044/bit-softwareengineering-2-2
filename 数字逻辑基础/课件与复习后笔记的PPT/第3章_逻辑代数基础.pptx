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2"/>
    <p:sldId id="275" r:id="rId3"/>
    <p:sldId id="277" r:id="rId4"/>
    <p:sldId id="27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319" r:id="rId43"/>
    <p:sldId id="320" r:id="rId44"/>
    <p:sldId id="321" r:id="rId45"/>
    <p:sldId id="322" r:id="rId46"/>
    <p:sldId id="323" r:id="rId47"/>
    <p:sldId id="324" r:id="rId48"/>
    <p:sldId id="325" r:id="rId49"/>
    <p:sldId id="326" r:id="rId50"/>
    <p:sldId id="327" r:id="rId51"/>
    <p:sldId id="367" r:id="rId52"/>
    <p:sldId id="368" r:id="rId53"/>
    <p:sldId id="369" r:id="rId54"/>
    <p:sldId id="370" r:id="rId55"/>
    <p:sldId id="371" r:id="rId56"/>
    <p:sldId id="372" r:id="rId57"/>
    <p:sldId id="373" r:id="rId58"/>
    <p:sldId id="374" r:id="rId59"/>
    <p:sldId id="375" r:id="rId60"/>
  </p:sldIdLst>
  <p:sldSz cx="9906000" cy="6858000" type="A4"/>
  <p:notesSz cx="9906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27" autoAdjust="0"/>
    <p:restoredTop sz="94660"/>
  </p:normalViewPr>
  <p:slideViewPr>
    <p:cSldViewPr>
      <p:cViewPr varScale="1">
        <p:scale>
          <a:sx n="90" d="100"/>
          <a:sy n="90" d="100"/>
        </p:scale>
        <p:origin x="101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6:34:30.2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308 1,'524'27,"57"18,-288-18,-174-13,-69-8,350 31,-277-31,156-13,-134-7,229-53,-308 48,-39 10,1 2,0 1,31-3,-36 8,1 1,-1 1,0 1,44 10,-17 2,53 22,-10-3,-26-9,73 36,-134-57,0 0,-1 0,0 1,0 0,0 0,5 6,-8-9,-1 0,0 1,1-1,-1 1,0 0,0-1,0 1,0 0,-1 0,1 0,0 0,-1 0,0-1,1 1,-1 0,0 0,0 0,0 0,0 0,0 0,0 0,-1 0,1 0,-1 3,-3 1,0 1,-1-1,1 0,-1 0,0 0,-1 0,1-1,-1 0,0 0,0-1,-14 8,-19 11,-79 34,-53 7,148-55,-483 148,-12-25,512-131,-161 35,-2-8,-228 10,-343-30,426-10,257-2,0-2,0-2,-74-21,88 18,1-2,0-1,1-3,1-1,1-2,-69-47,102 62,1 0,-1 0,1-1,0 0,0 0,1-1,0 1,0-1,-6-14,0-6,-9-38,5 16,-2-2,-39-108,55 158,0 0,0 1,-1-1,1 0,0 0,0 1,0-1,0 0,0 0,0 1,0-1,0 0,0 0,0 1,0-1,0 0,1 0,-1 1,0-1,1 0,-1 1,0-1,1 0,-1 1,1-1,-1 0,1 1,-1-1,1 1,-1-1,1 1,0-1,-1 1,1 0,0-1,-1 1,1 0,0-1,0 1,-1 0,1 0,0 0,0 0,-1 0,3 0,5-1,0 0,1 1,12 0,-13 1,45 3,0 2,54 13,103 35,-186-47,590 207,-168-50,-1-58,-390-95,49 9,1-5,1-4,191-6,-256-9,0-2,49-12,79-31,-84 23,69-14,186-23,-295 57,21-5,108-2,-153 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6:34:48.1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4471 377,'-75'-2,"0"-4,-99-21,-139-47,298 71,-416-121,397 116,0 2,-65-3,-72 10,72 0,-28 6,-208 38,269-34,-51 2,-7 1,23 4,-165 25,198-35,-279 21,264-27,0-4,0-3,-88-18,-180-25,2 30,69 17,1091-18,-355-12,-13 1,-190 17,697-50,108 6,-908 66,234 43,-334-46,1-2,66-3,27 1,-125 2,-18-3,-1-1,0 0,0 0,0 0,1 0,-1 0,0 1,0-1,0 0,0 0,1 0,-1 1,0-1,0 0,0 0,0 0,0 1,0-1,0 0,1 0,-1 1,0-1,0 0,0 0,0 1,0-1,0 0,0 0,0 1,0-1,0 0,-1 0,1 1,0-1,0 0,0 1,-2 1,-1 1,1 0,-1-1,0 0,0 1,0-1,0 0,-4 2,-98 47,37-21,-70 35,-3-5,-169 46,182-74,-2-4,-168 12,-272-22,533-21,0-1,0-2,-50-15,41 9,-67-9,-71 4,-220 8,353 12,0 3,-98 25,-94 45,-30 7,175-62,-1-5,0-3,0-5,-134-7,199-3,1-2,-1-2,1-1,1-1,0-2,-52-23,46 15,1-2,1-1,1-2,-62-53,82 65,11 9,0-1,0 0,1 0,-1 0,-4-5,8 7,-1 1,1-1,-1 1,1-1,0 0,0 1,-1-1,1 1,0-1,0 0,0 1,0-1,0 0,0 1,0-1,0 0,0 1,0-1,0 0,0 1,0-1,0 1,1-1,-1 0,0 1,1-1,-1 1,0-1,1 1,-1-1,0 1,1-1,-1 1,1-1,-1 1,1-1,-1 1,1 0,-1-1,1 1,0 0,-1-1,1 1,1 0,5-4,1 1,-1 0,1 1,0 0,0 0,0 1,17-2,62 5,-70-2,335 22,-70-4,39 4,270 8,285-29,-477-3,-228 9,-142-4,-1 1,1 2,50 17,-66-19,-1-1,1 0,-1 0,1-2,0 1,0-2,16 0,91-16,-72 9,16-3,209-27,5 24,-256 13,-8 0,0 0,27 5,-22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6:34:52.3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205 49,'109'-8,"-27"1,537 11,-316 3,865-3,-1118-4,316-24,-34 1,-202 21,186 22,-210-2,0 4,-2 4,-1 5,133 59,-13-1,-166-70,116 22,-68-29,200-3,-137-9,-160 0,16 0,0 1,1 1,-1 0,0 2,33 10,-40-5,-17-9,1 0,-1 1,0-1,0 0,1 0,-1 1,0-1,1 0,-1 1,0-1,0 0,0 1,1-1,-1 0,0 1,0-1,0 0,0 1,0-1,0 0,0 1,0-1,0 1,0-1,0 0,0 1,-1 1,-1 0,0-1,0 1,0-1,1 1,-1-1,-1 0,1 0,0 0,0 0,0 0,-1 0,1 0,0-1,-5 1,-217 55,164-42,-202 46,-72 17,-630 158,80-18,-4-23,267-104,516-83,-1-5,0-5,-195-30,-46-44,190 40,156 37,-35-8,-55-20,87 27,1-1,-1 1,1-1,0 0,0 0,0 0,0 0,0 0,0-1,1 1,-1-1,-3-4,5 5,1 0,-1 0,0 0,1 0,-1 0,1 0,-1 0,1 0,0 0,0 0,0 0,0 0,0 0,1 0,-1-1,0 1,1 0,0 0,-1 1,1-1,0 0,2-3,2-3,-1 1,2-1,-1 1,1 0,0 1,13-12,49-30,-59 42,32-19,2 2,0 1,2 3,0 1,1 3,1 1,54-8,9 5,225-4,76 44,-1 32,-283-36,737 117,-317-63,-4-26,-521-43,-52 2,-987 101,773-98,-1-11,-294-41,314 9,2-10,2-10,-331-126,464 144,2-3,-112-70,187 102,0 1,0-1,0-1,-12-12,21 18,0 0,0 1,0-1,1 0,-1 0,1-1,0 1,-1 0,1 0,0-1,0 1,0 0,1-1,-1 1,1-1,-1 1,1-1,0 1,0-1,0 1,0-1,0 1,1-5,1 3,0 0,-1 0,1 0,1 0,-1 1,1-1,-1 0,1 1,0 0,5-4,2-2,1 0,17-8,6-2,2 1,0 2,0 2,2 1,49-10,206-21,-55 28,0 10,0 11,307 45,728 190,-951-155,523 130,-187-54,-632-155,0-1,0-1,1-1,-1-2,1 0,-1-2,1-1,44-9,283-81,-277 70,-3 2,289-72,-293 82,143-2,-127 10,-84 2,0 0,0 0,0 0,0 0,0 0,0 0,0 0,0-1,-1 1,1-1,0 0,0 1,0-1,-1 0,1 0,-1 0,1 0,0 0,-1 0,0-1,1 1,0-2,-1 1,-1-1,1 1,-1 0,0 0,0-1,0 1,-1 0,1 0,0-1,-1 1,0 0,1 0,-1 0,0 0,0 0,0 0,0 0,-1 0,-2-3,-8-13,-2 1,0 0,-1 1,-1 1,-1 1,0 0,0 1,-1 1,-1 0,-22-9,-27-11,-118-36,55 30,-1 6,-1 5,-2 7,-143-4,-556 30,751-4,0-3,0-4,0-4,-87-21,23-7,-149-59,256 80,32 8,12 3,21 1,147 1,-61 3,276-17,176-1,268 72,-290 54,-305-55,-159-34,-124-11,-19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6:35:14.0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1 234,'83'1,"92"-3,-120-8,-40 6,-1 1,20-1,58 4,-62 1,1-1,-1-2,44-7,-38 2,1 2,57-1,76 10,36 19,-129-13,482 96,-408-73,-4-8,-128-24,1 0,-1-1,0-1,0-1,30-7,18-8,-6 0,1 3,100-9,37 23,7 0,-158-6,54-12,-63 10,1 1,65-2,-26 10,-14 1,0-3,88-14,-102 10,85 1,-114 4,-286 12,7 0,-142-39,201 7,105 11,0-4,-93-25,22-8,-114-27,221 62,0 2,-115-3,-894 14,1029-1,-56 11,20-2,38-4,-53 15,11-2,64-17,2 0,0 0,1 1,-1 0,-12 6,21-8,0 0,0 0,0 0,0 0,1 0,-1 1,0-1,0 1,1-1,-1 1,1-1,0 1,-1 0,1 0,0 0,0 0,0 0,0 0,0 0,1 0,-1 0,1 0,-1 0,1 1,0-1,0 4,0-1,0 0,1 0,0-1,0 1,0 0,0-1,1 1,0-1,0 0,0 1,1-1,-1 0,1 0,0-1,6 8,2-3,-1 0,1-1,0 0,21 10,22 8,1-3,75 21,122 17,-50-13,-32-1,-3 7,244 113,-386-152,2-2,-1 0,1-2,1-2,47 10,23-2,-50-7,51 3,291-9,-213-5,-138 0,-1-2,0-2,0-2,61-20,59-12,-129 37,36-1,-42 4,0-1,0-2,27-5,174-62,-161 49,66-13,-31 10,-62 15,0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6:35:27.4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1 751,'1419'0,"-1048"-25,-24 1,-309 25,0 1,47 10,-17-4,1-4,86-4,-70-1,862 0,-770-12,-8 1,-139 10,-1-2,0-1,0-1,0-2,34-13,-31 9,1 3,0 0,52-6,-67 13,2 1,0-1,1-1,-1 0,28-10,-16 2,0 1,0 2,1 1,1 2,-1 1,1 1,57 4,-67 5,-16-2,-14-1,-4-2,0-1,0-1,0 0,1 0,-1-1,-13-4,2 2,-421-128,41 10,330 105,-1 3,0 4,-129-3,-129 33,-79-11,104-8,46 22,-79 1,291-24,-1-1,1-3,0-1,0-3,-88-26,67 10,0 3,-116-20,56 17,-132-42,189 46,-96-21,128 34,0 2,-55-1,-241 9,311-3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6:35:31.8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365 282,'409'23,"-80"-1,-144-17,183 7,234-4,-577-8,0 1,0 2,0 0,-1 2,1 1,-1 0,0 2,-1 1,43 22,-51-23,1-1,-1-1,1-1,0 0,1-1,25 3,103 0,-24-2,-2 4,-35-3,136 26,-171-20,197 36,64-6,26 2,-174-24,119 11,19-26,-184-7,-90 0,0-1,0-2,-1 0,45-17,-66 21,0 0,-1 0,1-1,0 0,-1 1,0-1,6-4,-9 5,1 1,-1 0,0 0,1-1,-1 1,0-1,0 1,1 0,-1-1,0 1,0-1,1 1,-1-1,0 1,0 0,0-1,0 1,0-1,0 1,0-1,0 1,0-1,0 1,0-1,0 0,-1 0,1 0,-1 1,1-1,-1 0,0 0,1 1,-1-1,0 0,0 1,0-1,1 1,-1-1,0 1,0 0,0-1,-1 1,-30-9,0 1,0 2,-1 1,-47-1,77 6,-692-8,379 12,-399-40,597 27,1 6,-157 14,-320-2,143-7,391 4,0 2,-93 25,95-19,0-2,-113 9,-181-21,133-2,108-4,-210-38,211 25,46 11,35 5,0-2,-30-7,42 3,16 9,1 0,0 0,0-1,-1 1,1 0,0-1,0 1,-1 0,1-1,0 1,0 0,0-1,0 1,-1 0,1-1,0 1,0 0,0-1,0 1,0-1,0 1,0 0,0-1,0 1,0-1,0 1,2-2,-1 0,0 0,1 1,0-1,-1 1,1-1,0 1,-1 0,1-1,0 1,0 0,0 0,0 0,3 0,168-59,-96 37,674-180,-629 179,151-9,122 19,-214 13,-1-8,221-40,-262 22,260-40,203 37,-460 29,137 3,-112 18,-88-12,128 31,-127-22,-36-11,0-2,1-1,62-6,-19 1,-70 2,109 4,-107-2,0 1,-1 1,1 1,24 9,5 2,82 16,-63-17,44 6,-88-19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6:35:41.1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16 766,'548'13,"325"-2,-545-13,-98 4,336-8,-456-3,-2-5,0-4,201-63,-256 63,56-26,-83 31,-1 0,-1-2,46-35,-65 45,12-10,1 1,20-13,-30 23,0 0,1 0,-1 1,1 0,0 0,0 1,0 0,11-1,17 1,1 1,-1 2,60 10,113 30,-159-29,865 216,-89-56,-523-118,-168-29,252 14,-111-28,93 1,-351-13,-34-2,-614-34,556 35,-1003 10,352 4,3-31,165-50,216 20,-134-27,307 33,-46-11,169 46,-1 2,1 2,-47 1,-437 6,366-3,92-3,-1-3,-96-21,135 22,-54 0,53 4,-49-8,-77-12,-170-2,165 15,-81-2,241 10,1 0,-1-1,1 1,-1-1,1 0,0 0,-1 0,-3-2,7 3,0 0,0 0,0 0,-1-1,1 1,0 0,0 0,0 0,0 0,0 0,0 0,0-1,0 1,0 0,0 0,0 0,0 0,0 0,0 0,0-1,0 1,0 0,0 0,0 0,0 0,0 0,0-1,0 1,0 0,1 0,-1 0,0 0,0 0,0 0,0 0,0 0,0-1,0 1,0 0,0 0,1 0,-1 0,0 0,0 0,0 0,0 0,0 0,0 0,1 0,-1 0,0 0,0 0,0 0,0 0,0 0,1 0,-1 0,25-4,251-5,-55 4,1493-189,-1071 93,-6 1,-533 82,379-58,4 43,-335 36,0 7,-1 6,198 47,-102 2,347 139,-571-195,-1 1,0 1,-1 0,0 2,23 18,-42-30,-1 1,1-1,-1 0,0 0,0 1,0-1,1 1,-2 0,1-1,0 1,0-1,0 1,-1 0,1 0,-1 0,1-1,-1 1,0 0,0 0,0 0,0 0,0-1,0 1,0 0,-1 0,1 0,-1 0,1-1,-2 4,-2 3,-1 0,0 0,0 0,-1-1,-8 8,-33 32,-2-1,-59 41,-85 52,-387 208,427-268,-310 113,365-161,-1-4,-2-5,0-4,-159 8,190-25,-1-4,1-3,-1-4,-119-30,-260-111,289 92,21 7,-207-67,-129-22,417 122,-1 3,-119-15,120 24,-93-4,91 11,1 3,-1 3,-87 18,-120 63,144-42,96-36,2 1,-32 17,58-27,0 0,-1 0,1 0,-1 0,1 1,0-1,-1 0,1 0,-1 0,1 0,0 1,-1-1,1 0,0 0,-1 1,1-1,0 0,0 0,-1 1,1-1,0 0,0 1,0-1,-1 0,1 1,0-1,0 1,0-1,0 0,0 1,0-1,-1 1,1-1,0 0,0 1,0-1,1 1,-1-1,0 0,0 1,19 6,25-2,1-2,59-4,-61 0,272-23,3-22,-135 18,-96 15,521-58,-317 65,517 55,-700-38,210 33,215 101,-496-133,420 140,-401-130,96 55,-103-50,29 7,-52-24,27 14,-39-15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6:35:48.9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2,'67'-1,"76"2,-86 10,-42-7,32 3,114-8,26 3,-130 9,-42-7,-1-1,22 1,66 9,-64-8,51 3,-59-7,52 11,-32-4,61 11,-57-8,1-3,75 1,-37-10,121 2,-127 10,-50-5,41 1,-37-7,207 14,-132-5,153-7,-126-4,-65 2,122-14,-95 5,-69 8,46-9,47-6,-30 4,75-11,-91 15,161 5,-119 5,527-2,-625-1,47-9,12-1,333 9,-215 4,551-2,-719 1,47 9,26 2,227-12,-159-1,-165 2,0 0,0 1,19 5,0 1,-14-5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6:35:57.0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1 421,'147'4,"0"5,-1 8,213 50,-77-8,-117-26,13 9,53 10,-180-43,1-3,82 0,-98-6,-10 0,0-1,0 0,0-2,45-11,17-12,119-39,-144 43,183-75,-222 87,1 1,1 2,-1 0,1 2,41-4,-28 4,55-14,-49 9,0 2,76-4,-68 8,80-16,80-26,-152 37,94-4,-39 13,-42 1,-1-3,111-18,29-5,-184 20,0 0,-1-2,0-1,46-20,33-9,-45 22,72-6,-71 12,71-18,-100 19,1 1,0 2,41-1,108 6,-84 2,29-3,118 3,-126 13,-83-9,98 20,-33-7,-51-9,70 5,412-11,-287-6,182-13,-339 9,0 4,0 4,116 17,-27 9,50 6,-84-23,178-10,-141-3,-161 3,1 2,-1 1,0 0,0 2,27 10,35 8,76 12,1-8,2-7,192 0,109-8,-272-6,-87-5,110 17,99 11,-300-30,0 1,0 1,13 3,-26-5,0 0,0 0,0 0,0 0,0 0,0 1,-1-1,1 0,0 0,0 0,0 0,0 0,0 0,0 0,0 0,0 0,0 0,0 0,0 0,0 0,0 0,0 0,0 1,0-1,0 0,0 0,0 0,0 0,0 0,0 0,0 0,0 0,0 0,0 0,0 0,0 1,0-1,0 0,0 0,0 0,0 0,0 0,0 0,0 0,0 0,0 0,0 0,0 0,0 0,0 0,0 0,1 1,-1-1,0 0,0 0,-15 3,-21 1,-114-3,0-7,-175-29,204 12,69 12,-93-7,122 16,-31-7,31 4,-31-1,9 5,19 1,0-1,-35-7,-38-8,-24-4,57 4,-2 3,1 4,-105-2,41 13,-271-4,208-20,-14-1,160 19,0-3,-71-17,72 12,-1 2,-69-4,89 12,-33-7,32 4,-31-2,-82-6,74 5,-81-17,-3 0,16 4,84 11,-98-5,-74 2,83 3,-142 9,126 3,33-3,-136 3,46 25,97-9,-66 9,-117 13,-84-34,213-8,-226 2,390 0,4-1,0 1,0 0,0 0,0 0,1 0,-1 0,0 1,0-1,0 1,1 0,-1 0,0 0,-4 3,7-4,-1 1,1-1,0 0,0 1,0-1,0 1,-1-1,1 0,0 1,0-1,0 1,0-1,0 1,0-1,0 1,0-1,0 0,0 1,0-1,0 1,1-1,-1 1,0-1,0 0,0 1,1-1,-1 0,0 1,0-1,1 1,-1-1,0 0,1 0,-1 1,0-1,1 1,16 11,-15-10,17 9,0-1,1-1,38 13,68 12,-115-32,57 13,0-4,107 4,142-16,-125-2,-163 3,194-3,-159-1,95-19,-120 15,11-4,0 3,84-4,293 15,-388 0,0 2,-1 2,60 15,-76-15,98 14,1 0,-48-3,175 38,39 7,-129-36,57 11,-12-7,-13-3,176 76,-315-86,-25-11,0-2,1 0,-1-1,1-2,50-3,-17 0,128-11,-20 1,-150 11,-1-1,20-6,-19 4,33-2,279 4,-168 3,-150-1,-1 1,21 2,-14 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6:36:02.6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12604 281,'-700'0,"534"-11,-12-1,139 12,-55 1,-1-4,-103-17,102 8,-136-1,29 3,83 2,0 4,-169 17,-124-2,271-13,-157-21,248 12,37 7,0 1,-24-2,-57-6,-10-1,-42 11,-107-8,-7-20,160 20,69 7,0-1,1-2,0 0,-32-11,45 11,-1 1,0 1,0 0,0 2,-38 1,-36-3,-369-16,283 7,10 1,128 10,0 1,1 3,0 1,-60 14,42 1,-70 32,-18 8,-92 15,172-57,-112 14,-112-25,167-8,-138-20,247 19,-1-1,1 0,-1-1,-18-9,-23-7,-7 0,34 10,-2 2,1 0,-1 3,-50-6,19 6,-119-26,40 4,40 11,34 4,-1 3,-81-1,148 11,-32 0,-1 0,1 2,-1 2,1 0,-32 11,23-3,0-1,0-2,-1-2,-79 3,-91-2,180-4,1 1,0 1,1 2,-49 18,29-5,1 1,-82 22,-151 22,138-33,125-29,1-1,-1-1,0 0,0-2,0 0,-34-5,19-2,-1-1,-58-23,76 26,0 0,0 2,0 0,-1 1,-18 0,14 1,0-1,-39-9,-427-147,459 148,-7-2,-1 2,0 2,-77-7,-117 10,221 5,-19 3,0 0,0 3,1 0,0 2,-42 16,-13 4,24-10,12-3,-64 11,-3 0,15-3,95-22,0 0,0 0,0 1,1-1,-1 1,1 0,-8 4,-1 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6:36:07.1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8613 489,'-437'-14,"320"6,-1 5,-119 13,32 4,-209-13,370-6,0-1,1-3,0-1,-63-24,-1 1,92 29,-1 1,1 1,-1 0,0 1,0 1,0 1,1 0,-1 1,-23 5,-9 6,-76 32,84-29,-54 22,42-15,-1-2,-1-3,-98 20,40-24,-177-1,-187-14,455 0,1-2,0 0,0-1,-21-7,15 4,-42-7,-44 4,-71-9,9 1,116 15,1-3,-97-23,-253-124,99 30,281 115,-32-5,38 9,-1-1,-32-12,-23-12,-2 3,-148-28,-165 7,298 37,45 4,-58 0,100 7,1-1,-1 2,1-1,0 1,0 0,0 0,0 0,0 1,0 0,0 0,1 1,-8 5,-5 6,-32 35,38-38,0 2,-2-1,0-1,0 0,-1 0,0-2,-1 1,0-2,-1-1,0 0,0-1,-1 0,0-2,0 0,0-1,-1-1,-30 2,33-4,0 0,0-1,0-1,0 0,0-1,0-1,1 0,-1-2,-25-10,-131-57,152 66,0 1,-1 1,1 1,-1 1,0 0,-31 3,18-1,-42-6,32 0,-175-32,80 12,132 26,1-1,-1 1,0 0,0 1,0 0,1 0,-1 0,-6 3,-53 23,31-12,-13 4,-88 50,114-55,0 0,0 1,2 2,-36 36,-45 57,96-105,1-1,0 1,0 0,0 0,1 0,-6 12,9-16,-1 0,1 1,-1-1,1 1,0-1,0 1,0-1,0 1,0-1,0 1,0-1,0 1,0-1,1 0,-1 1,1-1,-1 1,1-1,-1 0,1 1,0-1,0 0,-1 0,1 1,0-1,0 0,0 0,1 0,-1 0,0 0,0-1,0 1,3 1,11 6,-1-1,2-1,-1 0,1-1,-1 0,21 2,104 9,-125-15,590 14,1-50,-124-25,-121 11,112-1,-272 20,-62 7,-77 14,174-18,-113 18,184-6,1178 16,-1247-13,11-1,-172 15,101-3,-92-9,25-2,99 11,-139 2,-41 0,0 2,32 8,-35-6,0 0,50 0,-4-11,-5-5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25:19.2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25,'1970'0,"-1940"-2,50-8,-48 5,36-1,529 4,-290 4,-197-3,122 3,-121 9,27 0,668-10,-388-2,4344 1,-4707 2,103 20,11 0,137-20,-34-2,-222 4,0 3,70 18,-82-19,0-2,0-1,0-2,42-4,2 1,-21 1,72 3,-84 9,-21-4,-11-4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25:25.3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0 333,'12'1,"0"0,0 1,-1 1,1 0,14 6,27 7,14-8,0-2,131-6,-90-2,-11 1,171 2,-186 4,103 17,283 75,-410-88,88 1,62-11,-96-1,43 3,128-3,-96-20,-13 1,-35 10,150-5,-254 15,-1-2,39-7,-3 2,0 3,93 6,-64 1,-68-1,0-1,0-2,0-1,0-2,-1-1,0-1,42-15,325-125,-315 122,1 5,166-21,301 34,-315 11,-184-2,1 3,-1 1,1 3,-2 2,0 2,0 2,84 39,-94-37,-15-6,40 21,-64-31,0-1,0 1,1 0,-1 0,0 0,0 0,0 0,0 0,0 0,0 0,0 0,0 1,0 1,-1-3,0 1,1-1,-1 1,0-1,0 0,0 1,0-1,0 1,-1-1,1 1,0-1,0 1,0-1,0 1,0-1,-1 1,1-1,0 0,0 1,-1-1,1 1,0-1,-1 0,1 1,0-1,-1 1,-3 1,0 0,0 0,0 0,0-1,0 1,-1-1,1 0,-4 0,-76 10,1-4,-109-5,113-3,-621 14,666-12,-452 7,430-12,0-2,-58-16,3 2,-308-61,301 51,-169-68,278 94,-36-14,0-1,-68-43,82 38,25 14,12 6,21 5,-21-1,491 64,-394-53,588 65,-58-32,-401-35,267-3,-218-24,285-8,214 55,-654-15,382 35,432-23,-864-24,-1 4,1 4,-2 2,0 4,-1 3,0 3,76 35,-116-44,393 153,-400-158,0-1,0-2,1 0,0-2,-1 0,44-3,-48 0,-1 1,37 7,-3 0,-33-6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25:28.4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5326 1019,'50'-1,"486"15,61-3,-378-13,-194 0,-25 2,0-1,0 1,1 0,-1 0,0 0,0 0,0 0,0 0,0 0,0 0,0 0,0 0,0-1,0 1,0 0,0 0,0 0,0 0,0 0,0 0,0 0,0 0,0-1,0 1,0 0,0 0,0 0,0 0,0 0,0 0,0 0,0-1,0 1,0 0,0 0,0 0,0 0,0 0,0 0,0 0,0 0,0 0,0 0,-1-1,1 1,0 0,0 0,0 0,0 0,0 0,0 0,0 0,0 0,-1 0,1 0,0 0,0 0,0 0,0 0,0 0,0 0,0 0,-1 0,-22-8,-246-60,20 4,-62-17,-646-144,-9 20,434 94,482 100,31 3,22 5,12 1,70-2,93 7,87 20,-157-12,590 84,-518-52,8 1,-141-36,1-1,49 0,-50-7,-1-2,1-1,75-17,-99 15,-13 4,0-1,0 0,-1-1,1 0,11-6,-19 8,0 0,-1 0,1 0,-1 0,1 0,-1-1,1 1,-1 0,0-1,1 1,-1-1,0 0,0 1,0-1,0 0,-1 0,1 0,0 1,-1-1,1 0,-1 0,0 0,1 0,-1 0,0 0,0 0,-1 0,1 0,0 0,0 0,-1 0,0-2,-3-6,0-1,0 1,-1 1,-1-1,-11-17,-41-42,47 56,-29-28,-50-41,12 13,78 69,-1-1,0 0,0 1,0-1,0 0,0 1,1-1,-1 0,0 0,1 0,-1 0,1 0,-1 0,1 0,-1 0,1 0,-1 0,1 0,0 0,0 0,0 0,-1-2,3 3,-1-1,0 0,0 1,1-1,-1 1,0 0,0-1,1 1,-1 0,1 0,-1-1,0 1,1 0,-1 1,0-1,1 0,-1 0,3 1,48 9,-1 2,0 2,51 23,-44-17,530 214,-10 30,-527-240,438 182,-480-203,79 25,-81-27,1 1,0-1,0 0,0 0,0-1,0 0,0-1,0 0,9-2,-15 3,0-1,0 1,0-1,-1 0,1 0,0 0,0 0,0 0,-1-1,1 1,0 0,-1-1,1 1,-1-1,0 1,1-1,-1 0,0 0,1-2,-2 3,1-1,-1 1,0-1,0 1,0-1,0 1,0-1,0 1,-1-1,1 1,0-1,-1 1,1 0,-1-1,1 1,-1-1,0 1,1 0,-1 0,0-1,0 1,0 0,0 0,0 0,0 0,-1 0,1 0,0 0,-2 0,-13-8,0 0,-1 2,0 0,0 1,0 0,-1 1,-23-2,-123-20,-66 1,-68 3,-78 6,-89 12,-72 17,-348 20,-1159 29,1803-59,-14-11,231 6,22 2,5 1,43 2,488 51,1071 71,-1317-108,493 31,-346 0,-508-52,5 2,-124-10,-95-6,-84-8,-1439-146,-79-106,1158 132,558 109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25:32.9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758 483,'182'0,"37"1,94 7,75 11,1758 245,-717 85,-1172-265,-4-2,-221-72,0-2,0 0,0-3,1-1,60 1,-84-7,-9 1,-22-6,-219-50,-10 5,-93-12,-92-9,-66-7,-1765-157,1756 209,61 8,68 7,78 6,79 4,151 3,-92-4,162 4,1 0,-1-1,0 1,1-1,-1 0,-5-2,9 3,0 0,0 0,0-1,-1 1,1 0,0 0,0 0,0 0,0 0,0 0,0 0,0-1,0 1,0 0,0 0,-1 0,1 0,0-1,0 1,0 0,0 0,0 0,0 0,0 0,0-1,0 1,0 0,0 0,0 0,1 0,-1 0,0-1,0 1,0 0,0 0,0 0,0 0,0 0,0-1,0 1,0 0,1 0,-1 0,0 0,0 0,16-10,20-3,0 2,69-13,-91 21,167-30,60-3,773-138,-293 52,9 44,68 54,-4 33,-495-4,-283-5,7 0,-23 1,-13 0,-964 94,2 44,922-131,31-5,0 0,0 2,-36 12,58-17,0 0,0 0,-1 0,1 0,0 0,0 0,0 0,0 0,-1 0,1 0,0 0,0 0,0 0,0 0,0 0,0 0,-1 0,1 0,0 1,0-1,0 0,0 0,0 0,0 0,0 0,-1 0,1 0,0 1,0-1,0 0,0 0,0 0,0 0,0 0,0 0,0 1,0-1,0 0,0 0,0 0,0 0,0 1,0-1,0 0,0 0,0 0,0 0,0 0,0 1,0-1,0 0,15 4,148 4,-100-6,957 72,-667-33,313 35,2-22,312-26,-2-29,-390-2,-490 2,-92 1,28-3,-34 3,0 0,0 0,1 0,-1 0,0 0,0 0,0 0,0 0,0 0,0 0,0 0,0 0,1 0,-1 0,0 0,0 0,0 0,0 0,0 0,0 0,0 0,0 0,0 0,1 0,-1 0,0 0,0 0,0-1,0 1,0 0,0 0,0 0,0 0,0 0,0 0,0 0,0 0,0 0,0-1,0 1,0 0,0 0,0 0,0 0,0 0,0 0,0 0,0 0,0-1,0 1,0 0,0 0,0 0,0 0,0 0,0 0,0 0,0 0,0 0,0-1,0 1,-1 0,1 0,0 0,0 0,0 0,-19-8,-164-38,145 38,-552-108,-14 20,355 58,-400-50,-831-5,1276 93,81-1,99-2,23 0,7 0,17-3,1 0,27-2,164-13,104 5,75 15,684 71,-5 87,-8 58,-9 33,-128-67,-870-175,-57-6,0 0,-1 0,1 0,0 0,0 0,0 0,0 0,-1 0,1 0,0 0,0 0,0 0,0 0,-1-1,1 1,0 0,0-1,0 1,-1-1,1 1,0-1,-1 1,1-1,0 1,0-2,-1 1,-1 0,1 0,-1 0,1 0,-1 0,1 0,-1 0,0 0,1 0,-1 0,0 0,0 1,0-1,0 0,0 0,0 1,0-1,0 1,-1-1,-24-12,0 1,0 2,-40-11,39 13,-176-48,-3 9,-384-37,-433 63,-262 151,1217-118,60-9,19-2,184-17,-127 9,193-19,77-2,1913-29,-1314 96,-8 62,-894-96,-13-3,-1 2,1 0,20 8,-33-7,-14-1,-51-2,-646-31,-8-38,341 29,25 4,-983-74,1276 107,44 1,11 1,83 8,93 5,73 9,58 2,-75-8,690 58,-343-12,369 35,1-41,-299-56,-616-1,-47 3,-75 3,-88 3,-79 0,-73-4,-62-8,-746-37,12 1,968 35,80-2,72 6,1 0,-1 0,0 0,0 0,0 0,0 0,0 0,0 0,0 0,0 0,0-1,0 1,0 0,0 0,0 0,0 0,0 0,0 0,0 0,0 0,0-1,0 1,0 0,0 0,0 0,0 0,0 0,0 0,0 0,0 0,0 0,0-1,0 1,0 0,0 0,0 0,0 0,0 0,0 0,0 0,0 0,0 0,0 0,-1-1,1 1,0 0,0 0,0 0,0 0,0 0,0 0,0 0,25-6,108-12,112-7,89-1,2270-46,-1800 118,-10 30,-698-67,-91-9,0 1,0-1,0 0,0-1,0 1,5-2,-10 2,1 0,-1 0,0-1,0 1,0 0,0 0,0 0,1 0,-1 0,0 0,0 0,0-1,0 1,0 0,0 0,0 0,0 0,1-1,-1 1,0 0,0 0,0 0,0 0,0-1,0 1,0 0,0 0,0 0,0 0,0-1,0 1,0 0,0 0,0 0,-1-1,1 1,0 0,0 0,0 0,0 0,0 0,0-1,0 1,0 0,-1 0,1 0,0 0,0 0,0 0,0 0,0-1,-1 1,-22-14,-226-84,224 90,-230-75,-69-10,-206-35,-5 23,-727-50,1149 148,93 8,31 3,50 6,103 7,80 5,63 12,1149 222,-879-111,338 77,-697-181,-166-35,-43-9,-13-4,-2 2,-1 0,0 0,0 1,0 0,0 0,0 1,-9-3,-69-19,81 24,-167-33,-250-9,-8 22,148 10,-707-42,976 53,-183-17,193 17,-32-8,34 8,0 0,0 0,-1 0,1 0,0 0,0-1,-1 1,1 0,0 0,0 0,-1-1,1 1,0 0,0 0,0 0,-1-1,1 1,0 0,0 0,0-1,0 1,0 0,0 0,0-1,-1 1,1 0,0-1,0 1,0 0,0 0,0-1,0 1,0 0,1-1,-1 0,1 0,0 0,0 0,0 0,0 0,0 0,0 0,1 0,-1 0,0 1,0-1,3 0,22-10,33-9,106-27,81-19,66-10,586-87,-646 135,404 6,-384 40,-182-8,0 3,98 30,-170-39,-1 1,1 1,-1 0,0 2,-1 0,0 0,24 18,-38-24,0-1,0 1,0 0,0 0,0 0,-1 0,1 0,-1 1,1-1,-1 0,0 1,0-1,0 1,0-1,1 6,-2-6,0 0,0 0,-1 0,1 1,0-1,-1 0,1 0,-1 0,0 0,0-1,0 1,1 0,-2 0,1 0,0-1,-2 3,-3 2,0-1,0 0,0-1,0 1,-1-1,0 0,0-1,0 0,-14 4,-13 2,-1-1,-1-2,1-2,-1-1,0-2,1-1,-1-2,0-1,-35-9,-27-10,2-4,-93-39,-208-97,-113-39,185 100,322 100,8 2,19 4,16 3,119 21,81 8,-78-13,976 167,-872-133,79 24,-337-81,21 6,0 1,47 20,-72-26,14 9,-18-10,1-1,-1 1,0-1,0 0,0 1,0-1,1 1,-1-1,0 1,0-1,0 1,0-1,0 0,0 1,0-1,0 1,0-1,-1 1,1-1,0 1,0-1,0 0,0 1,-1-1,1 1,0-1,0 0,-1 1,1-1,0 1,-1-1,1 0,0 0,-1 1,1-1,0 0,-1 0,1 1,-1-1,1 0,0 0,-1 0,1 0,-1 1,1-1,-1 0,-24 12,0-2,-1 0,-46 10,30-8,-581 120,-16-44,485-68,10-2,126-16,-1-1,-27-1,45 0,1 0,-1 0,0 0,1 0,-1 0,0 0,1 0,-1 0,0-1,1 1,-1 0,1-1,-1 1,0 0,1-1,-1 1,1-1,-1 1,1 0,-1-2,0 1,1 1,1-1,-1 0,0 1,0-1,0 0,0 1,0-1,0 0,1 1,-1-1,0 0,1 1,-1-1,0 1,1-1,-1 1,1-1,-1 1,1-1,0 0,10-9,1 0,1 1,24-14,44-20,1 3,1 4,107-31,-65 32,220-33,-288 59,0 3,0 3,102 7,-154-4,0 0,0 1,0-1,0 1,0 0,0 1,-1-1,1 1,0 0,-1 1,1-1,-1 1,5 3,1 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26:16.0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1 718,'29'1,"0"2,34 6,10 2,26 0,460 54,-486-55,129-2,-162-7,53 9,-1-1,-72-8,1 0,-1-1,1-1,-1-2,1 0,27-7,1-3,1 3,72-6,-75 10,225-5,-60 5,551 6,-485 10,64 4,-170-5,329-27,79-29,-119 11,162 20,-99 8,-405 1,206-20,272-37,-575 62,496-8,-336 11,77 12,-21-1,631-11,-414-3,-392 4,-1 3,1 3,-2 2,117 35,-131-29,52 14,-85-26,0 1,0 1,0 0,-1 0,0 1,12 10,-24-17,-1 0,0 0,0 0,0 0,1 0,-1 1,0-1,0 0,0 0,1 0,-1 0,0 1,0-1,0 0,0 0,0 1,0-1,1 0,-1 0,0 0,0 1,0-1,0 0,0 0,0 1,0-1,0 0,0 0,0 1,0-1,0 0,0 0,0 1,0-1,0 0,-1 0,1 1,0-1,0 0,0 0,0 1,0-1,-1 0,1 0,0 0,0 0,0 1,0-1,-1 0,1 0,0 0,0 0,-1 0,1 0,0 1,0-1,-1 0,1 0,0 0,0 0,-1 0,1 0,0 0,0 0,-1 0,1 0,0 0,-27 4,-55 0,-113-8,120 1,-986-61,298 14,-83-11,13-58,402 42,-3 37,181 30,-137-3,1 21,-535 44,80-42,664-11,-459-32,362-11,128 17,-142-30,-9-2,20 11,5-20,271 67,-147-43,121 38,0 0,-1 2,-34 0,-12 4,-185-10,250 9,2-1,0 1,0 0,0 1,-1 0,-16 3,24-2,0 0,0 0,0 0,0 0,1 0,-1 1,0 0,1-1,-1 1,1 0,0 0,0 0,0 0,0 1,0-1,0 1,0-1,1 1,-1-1,1 1,0 0,0 0,-1 5,-4 10,0 0,2 1,0 0,0 23,3-37,1 0,0 0,0 0,1 0,0 0,0 0,0 0,0 0,1 0,-1-1,1 1,1 0,-1-1,1 0,-1 1,1-1,0 0,1-1,-1 1,1 0,6 4,2 0,0-1,1-1,0 0,23 7,59 12,-67-18,52 10,1-3,130 4,165-30,232-91,-373 55,-183 38,486-85,-368 73,205 0,-43 42,-7 27,-254-36,68 9,110 19,-142-20,-7-2,156 48,-144-25,147 43,-142-60,158 12,123-15,-329-18,528 3,-148-3,-270 7,348 64,159 50,-538-97,145 31,108 28,-366-77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33:19.6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49,'2294'0,"-2022"23,-30 0,33-8,226-4,-313-13,-101 1,92-13,18-10,-146 18,62 1,25-2,36-22,-131 23,0 2,0 2,62 4,-24 0,1228-2,-1134-12,-15 1,-98 10,175 4,-96 18,21 2,233-20,-204-5,148 15,-197-3,33 4,-58-5,145-7,-125-4,1272 2,-1209-12,-5-1,2042 12,-1038 3,-1172-2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36:48.2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0,'194'14,"-101"-4,225 24,331 17,-122-72,-158 3,-301 18,-1 3,0 3,90 20,221 31,2-22,-7 11,-94-10,-128-22,-1-7,1-6,158-21,222-5,-491 23,54-8,-52 4,47 0,-59 6,18 1,1-2,-1-3,0-1,51-13,-86 15,1 0,-1-1,0 0,0-2,-1 1,0-1,0-1,0 0,18-15,-14 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36:48.7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40:30.1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0,'15'0,"1"1,26 5,-3 0,187 25,534 65,8-64,-319-65,-3-24,-83 9,-261 39,2 5,-1 4,141 18,291 76,-192-12,-232-51,114 51,-193-68,35 13,-60-25,0 0,0-1,0 0,0 0,0 0,0-1,14-1,-19 1,-1-1,1 1,-1 0,0-1,1 1,-1-1,0 1,1-1,-1 1,0-1,0 0,1 0,-1 0,0 0,0 0,0 0,0 0,0 0,0 0,0 0,-1 0,1-1,0 1,-1 0,1-1,-1 1,1 0,-1-1,0 1,1-1,-1 1,0 0,0-1,0 1,0-1,0 1,-1-1,1-1,-5-22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41:32.9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249 649,'27'6,"0"1,34 13,-12-3,-13-5,257 77,-215-70,148 18,-7-26,-34-3,-75 1,283 13,-312-20,0 3,0 3,-1 5,93 25,534 218,-684-245,1-1,0-1,1-2,0 0,0-2,1 0,42 1,50-9,-42 0,102 9,-136-3,-1-2,0-2,75-10,-47-1,91-29,-152 38,35-12,-41 14,-1 1,1-1,-1 0,1 0,-1 0,1 0,-1 0,0 0,0 0,1 0,-1 0,0-1,0 1,0 0,0-1,0 1,-1-1,1 1,0-1,0-2,-1 3,0-1,0 1,-1 0,1-1,0 1,-1-1,1 1,-1 0,0-1,1 1,-1 0,0 0,0 0,0-1,1 1,-1 0,-1 0,1 0,0 0,0 0,0 1,0-1,-3-1,-37-17,36 17,-183-55,63 22,-453-160,146 45,-454-128,-266-89,1125 359,20 6,0 1,-1-2,1 1,0-1,1 0,-1-1,0 1,1-1,-6-5,12 9,-1 0,1 0,0 0,0 0,0-1,0 1,0 0,0 0,0 0,0 0,0 0,0 0,0 0,0 0,0-1,0 1,0 0,0 0,0 0,0 0,0 0,0 0,0 0,0-1,0 1,0 0,0 0,0 0,0 0,0 0,0 0,0 0,0-1,0 1,0 0,0 0,0 0,0 0,0 0,0 0,1 0,-1 0,0 0,0 0,0 0,0-1,0 1,0 0,12-2,25 1,-1 2,50 7,-79-7,1153 194,-699-79,-13 25,-418-131,92 31,119 60,-176-69,-2 3,-1 3,77 61,-112-76,30 34,-55-55,15 21,-17-22,1-1,-1 1,0-1,0 1,0-1,0 1,1-1,-1 1,0 0,0-1,0 1,0-1,0 1,0 0,-1-1,1 1,0-1,0 1,0-1,-1 1,1 0,0-1,0 1,-1-1,1 1,0-1,-1 0,1 1,-1-1,1 1,-1-1,1 0,-1 1,1-1,-1 0,1 1,-1-1,1 0,-1 0,1 0,-1 1,1-1,-2 0,-4 2,-1-1,1 0,0 0,-1-1,0 0,1 0,-10-1,-55-12,38 6,-226-49,-94-17,-735-75,1070 146,-282-30,-394-54,-241-116,908 192,20 3,7 7,1 0,-1-1,0 1,0 0,1-1,-1 1,0 0,1-1,-1 1,0 0,1 0,-1-1,0 1,1 0,-1 0,1 0,-1-1,0 1,1 0,-1 0,1 0,-1 0,1 0,-1 0,0 0,1 0,20-3,-1 1,27 1,-20 1,649 1,893 117,-984-9,-421-64,237 97,-309-101,169 104,-242-131,28 25,-21-17,-8-7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44:50.5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46:59.7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1318 1157,'694'294,"-198"-73,-353-164,249 63,-335-108,0-1,1-4,0-2,0-2,0-3,0-3,97-16,232-84,29-6,-103 70,-202 39,198 25,-241-17,288 48,-239-34,288 37,-369-54,-7-1,0-1,-1-2,1-1,0-1,0-1,-1-1,1-2,-1-1,28-10,-32 9,-9 2,29-12,-43 17,0-1,0 1,-1-1,1 0,0 1,0-1,0 0,0 1,-1-1,1 0,0 0,-1 0,1 1,0-3,0 3,-1-1,0 1,0-1,0 1,0-1,0 1,0-1,0 0,0 1,0-1,-1 1,1-1,0 1,0 0,0-1,0 1,-1-1,1 1,0-1,-1 1,1-1,-1 0,-3-2,0 0,0 0,0 1,0-1,0 1,-1 0,-4-2,-29-10,-41-9,-130-25,-92-17,-76-17,-197-40,-304-66,7-26,-712-284,653 150,725 275,163 60,37 14,9 5,7 2,0-1,1 0,0 0,0-1,18 5,-18-6,407 130,-395-129,194 49,241 26,229-12,-349-48,444 47,-414-2,-4 15,366 134,-563-159,487 157,-470-165,-74-21,-95-22,-16-5,0 0,0 0,0 0,0 0,-1 0,1 0,0 0,0 0,0 0,0 0,0 0,0 0,0 1,0-1,0 0,0 0,0 0,0 0,0 0,0 0,0 0,0 0,0 0,0 0,0 0,0 0,0 0,0 0,0 0,0 0,0 0,-38-5,-297-61,24 13,-93 0,-78 7,-1147-25,-2 67,1229 6,82 0,86 0,-9 1,502-2,1 0,79 7,75 6,67 10,2202 211,-742 44,-1263-191,-656-86,-16-3,1 2,0-1,0 1,-1 0,1 0,0 1,-1 0,1 0,6 4,-11-1,-11 1,-10 2,-1-1,-1-1,1-1,-23 3,-12 3,-139 29,-75 10,-75 8,-789 58,-11-85,119-83,805 24,2-9,-344-106,438 101,-175-87,234 96,2-3,2-3,1-2,-67-62,124 101,-8-7,1-1,0 0,1-1,-10-13,19 23,-1 0,0 0,0 0,1 0,-1 0,1 0,-1-1,1 1,0 0,-1 0,1 0,0-1,0 1,0 0,0 0,0-1,0 1,0 0,0 0,0 0,1-3,1 2,-1 0,1 0,0 0,-1 0,1 0,0 0,1 0,-1 0,0 1,0-1,4-1,16-8,-1 1,44-15,63-10,-112 31,240-50,91 4,80 11,65 13,1049 20,-1141 30,724 138,-807-84,-93-5,-214-69,106 42,-98-38,-1 1,-1 0,29 22,-43-29,1-1,-1 1,0 0,0 0,0 0,0 0,-1 1,1-1,-1 0,1 1,-1-1,0 1,1 3,-1-5,-1 0,0 0,0 1,0-1,0 0,0 0,0 1,-1-1,1 0,0 0,-1 1,1-1,-1 0,1 0,-1 0,1 0,-1 0,0 0,0 0,1 0,-2 1,-4 3,0-1,0 0,0-1,0 1,0-1,-1 0,0-1,-12 4,-30 7,-1-2,-56 5,-110-1,196-14,-715 6,-5-45,-594-123,266-77,907 190,-300-134,385 143,74 37,0 1,0 0,0-1,0 1,0-1,0 0,0 0,0 0,1 0,-3-3,4 5,0-1,-1 0,1 1,0-1,0 0,0 1,0-1,-1 0,1 1,0-1,0 0,0 0,1 1,-1-1,0 0,0 1,0-1,0 0,1 1,-1-1,0 0,1 1,-1-1,0 1,2-2,3-2,0 0,0 1,0-1,1 1,0 0,0 1,-1-1,13-2,164-38,140-10,150-5,139 7,99 11,769 25,-7 110,-903-15,-126 15,-129 0,-108-9,-182-73,0 0,32 24,-49-31,0 0,0 0,-1 1,1 0,-1 0,-1 1,1-1,-1 1,5 13,-7-15,-1-1,0 1,-1 0,1 0,-1 0,-1 0,1 0,-1 0,0 0,0 0,-1 0,0 0,0 0,0 0,-1 0,1 0,-4 6,-2 1,0 0,0 0,-1-1,-1 0,-20 22,1-5,-2-1,-1-2,-1-1,-39 24,-154 70,-21-16,-56-1,-56-11,18-24,-2-16,-2-15,-361-8,463-33,-280-42,370 23,1-7,-284-97,398 114,-42-24,75 37,0-1,0 0,1 0,-1 0,1-1,0 1,-1-1,1 0,0 0,1 0,-1 0,0-1,-2-5,4 8,1 0,0-1,0 1,-1 0,1-1,0 1,0 0,1 0,-1-1,0 1,0 0,0 0,1-1,-1 1,1 0,-1 0,2-2,1-1,-1 0,1 1,0-1,0 1,0 0,1 0,3-2,12-8,1 1,0 1,42-17,144-36,45 5,382-40,266 50,-572 58,-252-2,-62-4,-34-2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47:01.1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2450 779,'39'-11,"76"-12,-49 12,100-15,-105 17,-30 2,-22 3,-9-1,-18-5,17 10,-64-28,-110-29,108 37,-142-43,-562-135,-11 43,505 108,53 11,177 29,-183-34,159 21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47:20.9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1445 0,'29'0,"31"5,-10 0,1479 141,-1004-75,-10 39,-444-88,45 11,-99-30,1-1,-1 0,0-1,0-1,21-2,38-9,113-30,-153 29,-36 12,-1 0,1 0,0 0,0 0,-1 0,1 0,0 0,0 0,-1-1,1 1,0 0,0 0,-1 0,1 0,0 0,0 0,-1-1,1 1,0 0,0 0,0 0,0-1,-1 1,1 0,0 0,0-1,0 1,0 0,0 0,0-1,0 1,0 0,-1 0,1-1,0 1,0 0,0 0,0-1,0 1,0 0,1 0,-1-1,0 1,0 0,0 0,0-1,0 1,0 0,0 0,0-1,1 1,-1 0,0 0,0 0,0-1,1 1,-1 0,0 0,0 0,0 0,1-1,-1 1,0 0,0 0,1 0,-1 0,0 0,0 0,1 0,-12-3,0 0,0 1,-19-1,-113-3,-77 15,-63 22,-1115 219,17 88,1073-259,23-7,44-7,-163 40,371-95,28-8,7 0,52 0,-34-2,131 2,83 0,84 1,80-1,84-7,729-49,5-37,-546 39,-384 33,-231 15,35-2,1 3,137 15,-195-7,-2 2,1 1,-1 2,0 1,0 1,-2 1,0 2,0 1,39 30,-67-45,0-1,0 1,0-1,0 1,0 0,-1-1,1 1,0 0,0 0,0 0,-1-1,1 1,-1 0,1 0,-1 0,2 2,-3-3,0 1,0-1,0 1,0-1,0 1,0-1,0 0,0 0,0 1,0-1,0 0,0 0,0 0,0 0,0 0,0 0,0-1,0 1,0 0,-2-1,-115-20,-186-57,232 57,-690-230,268 44,357 141,-194-125,247 130,83 60,-14-14,18 8,11 2,10 2,-1 0,1 2,0 1,39 5,-38-3,156 17,59 12,437 84,1 25,-270-54,-309-66,210 50,-260-54,-36-9,-13-7,0 0,0 0,1 0,-1 1,0-1,0 0,0 0,0 0,0 0,0 0,0 0,0 0,0 0,0 1,0-1,0 0,0 0,0 0,0 0,0 0,0 0,0 1,0-1,0 0,0 0,0 0,0 0,0 0,-1 0,1 0,0 0,0 1,0-1,0 0,0 0,0 0,0 0,0 0,0 0,0 0,-1 0,1 0,0 0,0 0,0 0,0 0,0 0,0 0,0 0,-1 0,1 0,-31 5,29-5,-253 11,242-10,-227 2,-59-8,-551-28,3-43,510 24,253 34,-148-52,165 42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47:57.2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48:22.6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0,'323'67,"-201"-39,703 136,15-74,329-105,-713-33,-8-29,26-4,-444 77,231-28,-201 27,1 4,80 8,98 31,62 5,-152-37,153-16,148-34,-315 25,65-5,-155 21,0 2,66 6,141 40,-71-11,-9-9,2-9,0-6,234-19,13-10,-329 19,157-1,-188-2,122-24,-127 14,-2-3,80-36,-123 48,0 0,0 0,12-1,3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7:48:27.0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406 431,'0'1952,"2"-1903,2 1,3-1,2-1,1 0,31 84,-17-61,-3 0,-4 2,10 78,0 141,16-18,-15-120,3 189,-28 5,-3-308,-16 486,14-496,-5 58,7 157,11-145,4 54,-14-127,-1-1,-2 0,-7 46,4-58,3-15,-2-9,-1-18,0 0,0-33,5 50,-8-384,24-10,-14 366,44-654,3-47,-45 6,-29 489,7 92,13 100,3 1,9-101,-3 129,-2 19,-3 14,-42 183,-42 236,18 4,-19 718,112-154,-12-860,7-1,73 253,-75-340,-19-48,0 0,0-1,0 1,0 0,0 0,0-1,0 1,1 0,-1 0,0-1,0 1,0 0,0 0,0 0,1-1,-1 1,0 0,0 0,0 0,1-1,-1 1,0 0,0 0,1 0,-1 0,0 0,0 0,1 0,-1-1,0 1,0 0,1 0,-1 0,0 0,1 0,-1 0,0 0,0 0,1 0,-1 1,0-1,0 0,1 0,-1 0,0 0,0 0,1 0,-1 0,0 1,0-1,0 0,1 0,-1 0,0 1,0-1,0 0,1 0,-1 0,0 1,0-1,0 0,0 0,0 1,0-1,0 0,0 1,0-1,1 1,2-16,0 1,-1 0,0-1,-1 1,-2-29,1 2,-20-810,-85 2,-22 276,-26 9,36 122,27-8,71 304,-2-161,21 198,5 0,23-128,-24 209,13-58,-15 78,1 0,0 0,0 1,1-1,-1 1,2 0,-1 0,7-7,-7 10,1 0,0 0,0 1,0 0,0 0,1 0,-1 1,1 0,0 0,-1 0,1 0,7 0,23-8,-19 1,0 0,-1-1,0-1,-1 0,0-2,20-20,27-22,-54 49,13-10,32-19,-48 32,-1 0,1 1,1 0,-1 0,0 0,0 0,1 1,-1 0,1 0,-1 0,1 1,-1-1,8 2,-11 0,1-1,0 1,-1 0,1 1,-1-1,0 0,1 1,-1-1,0 1,0 0,0 0,0 0,0 0,0 0,-1 0,1 0,-1 0,1 1,-1-1,0 1,0-1,0 1,1 3,2 8,-1 0,0 0,0 18,-2-24,2 39,-1 0,-3 0,-11 73,-38 144,40-218,-108 550,32 8,60-337,-33 298,49-486,0 94,13-302,-3-50,1-75,0-65,5-301,0-672,-9 1001,-2 77,1-170,6 368,2 21,3 31,63 673,-68-679,27 433,27 299,52-6,-61-525,92 273,-110-424,-21-61,-8-22,-15-36,-239-745,193 525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4040" y="239344"/>
            <a:ext cx="875791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666699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666699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666699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4040" y="239344"/>
            <a:ext cx="50622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666699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4462" y="1177543"/>
            <a:ext cx="8992235" cy="19138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41206" y="6472929"/>
            <a:ext cx="216534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pyro_yangxu@bit.edu.c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pyro_yangxu@bit.edu.cn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pyro_yangxu@bit.edu.cn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pyro_yangxu@bit.edu.cn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customXml" Target="../ink/ink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8.png"/><Relationship Id="rId7" Type="http://schemas.openxmlformats.org/officeDocument/2006/relationships/customXml" Target="../ink/ink5.xml"/><Relationship Id="rId12" Type="http://schemas.openxmlformats.org/officeDocument/2006/relationships/image" Target="../media/image3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customXml" Target="../ink/ink7.xml"/><Relationship Id="rId5" Type="http://schemas.openxmlformats.org/officeDocument/2006/relationships/customXml" Target="../ink/ink4.xml"/><Relationship Id="rId10" Type="http://schemas.openxmlformats.org/officeDocument/2006/relationships/image" Target="../media/image35.png"/><Relationship Id="rId4" Type="http://schemas.openxmlformats.org/officeDocument/2006/relationships/hyperlink" Target="mailto:pyro_yangxu@bit.edu.cn" TargetMode="External"/><Relationship Id="rId9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8.png"/><Relationship Id="rId7" Type="http://schemas.openxmlformats.org/officeDocument/2006/relationships/customXml" Target="../ink/ink9.xml"/><Relationship Id="rId12" Type="http://schemas.openxmlformats.org/officeDocument/2006/relationships/image" Target="../media/image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0" Type="http://schemas.openxmlformats.org/officeDocument/2006/relationships/image" Target="../media/image39.png"/><Relationship Id="rId4" Type="http://schemas.openxmlformats.org/officeDocument/2006/relationships/hyperlink" Target="mailto:pyro_yangxu@bit.edu.cn" TargetMode="External"/><Relationship Id="rId9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pyro_yangxu@bit.edu.cn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pyro_yangxu@bit.edu.cn" TargetMode="Externa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7.png"/><Relationship Id="rId7" Type="http://schemas.openxmlformats.org/officeDocument/2006/relationships/image" Target="../media/image4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hyperlink" Target="mailto:pyro_yangxu@bit.edu.cn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hyperlink" Target="mailto:pyro_yangxu@bit.edu.cn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pyro_yangxu@bit.edu.cn" TargetMode="External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pyro_yangxu@bit.edu.cn" TargetMode="Externa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pyro_yangxu@bit.edu.cn" TargetMode="Externa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mailto:pyro_yangxu@bit.edu.cn" TargetMode="External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mailto:pyro_yangxu@bit.edu.cn" TargetMode="External"/><Relationship Id="rId3" Type="http://schemas.openxmlformats.org/officeDocument/2006/relationships/image" Target="../media/image67.png"/><Relationship Id="rId7" Type="http://schemas.openxmlformats.org/officeDocument/2006/relationships/image" Target="../media/image69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8.png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pyro_yangxu@bit.edu.cn" TargetMode="External"/><Relationship Id="rId4" Type="http://schemas.openxmlformats.org/officeDocument/2006/relationships/image" Target="../media/image7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ailto:pyro_yangxu@bit.edu.cn" TargetMode="Externa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ailto:pyro_yangxu@bit.edu.cn" TargetMode="Externa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pyro_yangxu@bit.edu.cn" TargetMode="External"/><Relationship Id="rId4" Type="http://schemas.openxmlformats.org/officeDocument/2006/relationships/image" Target="../media/image7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mailto:pyro_yangxu@bit.edu.cn" TargetMode="Externa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hyperlink" Target="mailto:pyro_yangxu@bit.edu.cn" TargetMode="External"/><Relationship Id="rId3" Type="http://schemas.openxmlformats.org/officeDocument/2006/relationships/image" Target="../media/image80.png"/><Relationship Id="rId7" Type="http://schemas.openxmlformats.org/officeDocument/2006/relationships/image" Target="../media/image84.jpg"/><Relationship Id="rId12" Type="http://schemas.openxmlformats.org/officeDocument/2006/relationships/image" Target="../media/image8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pyro_yangxu@bit.edu.cn" TargetMode="External"/><Relationship Id="rId4" Type="http://schemas.openxmlformats.org/officeDocument/2006/relationships/image" Target="../media/image9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107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95.png"/><Relationship Id="rId4" Type="http://schemas.openxmlformats.org/officeDocument/2006/relationships/hyperlink" Target="mailto:pyro_yangxu@bit.edu.cn" TargetMode="Externa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94.png"/><Relationship Id="rId7" Type="http://schemas.openxmlformats.org/officeDocument/2006/relationships/image" Target="../media/image11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112.png"/><Relationship Id="rId5" Type="http://schemas.openxmlformats.org/officeDocument/2006/relationships/image" Target="../media/image97.png"/><Relationship Id="rId10" Type="http://schemas.openxmlformats.org/officeDocument/2006/relationships/customXml" Target="../ink/ink15.xml"/><Relationship Id="rId4" Type="http://schemas.openxmlformats.org/officeDocument/2006/relationships/hyperlink" Target="mailto:pyro_yangxu@bit.edu.cn" TargetMode="External"/><Relationship Id="rId9" Type="http://schemas.openxmlformats.org/officeDocument/2006/relationships/image" Target="../media/image11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customXml" Target="../ink/ink16.xml"/><Relationship Id="rId4" Type="http://schemas.openxmlformats.org/officeDocument/2006/relationships/hyperlink" Target="mailto:pyro_yangxu@bit.edu.cn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customXml" Target="../ink/ink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customXml" Target="../ink/ink19.xml"/><Relationship Id="rId4" Type="http://schemas.openxmlformats.org/officeDocument/2006/relationships/image" Target="../media/image11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image" Target="../media/image12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customXml" Target="../ink/ink22.xml"/><Relationship Id="rId7" Type="http://schemas.openxmlformats.org/officeDocument/2006/relationships/customXml" Target="../ink/ink24.xml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customXml" Target="../ink/ink23.xml"/><Relationship Id="rId4" Type="http://schemas.openxmlformats.org/officeDocument/2006/relationships/image" Target="../media/image12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131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5" Type="http://schemas.openxmlformats.org/officeDocument/2006/relationships/hyperlink" Target="mailto:pyro_yangxu@bit.edu.cn" TargetMode="External"/><Relationship Id="rId4" Type="http://schemas.openxmlformats.org/officeDocument/2006/relationships/image" Target="../media/image10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customXml" Target="../ink/ink26.xml"/><Relationship Id="rId7" Type="http://schemas.openxmlformats.org/officeDocument/2006/relationships/customXml" Target="../ink/ink28.xml"/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customXml" Target="../ink/ink27.xml"/><Relationship Id="rId4" Type="http://schemas.openxmlformats.org/officeDocument/2006/relationships/image" Target="../media/image12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pyro_yangxu@bit.edu.cn" TargetMode="External"/><Relationship Id="rId5" Type="http://schemas.openxmlformats.org/officeDocument/2006/relationships/image" Target="../media/image115.png"/><Relationship Id="rId4" Type="http://schemas.openxmlformats.org/officeDocument/2006/relationships/image" Target="../media/image11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pyro_yangxu@bit.edu.cn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pyro_yangxu@bit.edu.cn" TargetMode="Externa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4502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逻辑代数基本定律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772240"/>
              </p:ext>
            </p:extLst>
          </p:nvPr>
        </p:nvGraphicFramePr>
        <p:xfrm>
          <a:off x="488950" y="1046225"/>
          <a:ext cx="8917937" cy="45993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7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0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7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35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25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78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L="3536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名称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公式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2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类别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722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0-1</a:t>
                      </a:r>
                      <a:r>
                        <a:rPr sz="2000" spc="5" dirty="0">
                          <a:latin typeface="微软雅黑"/>
                          <a:cs typeface="微软雅黑"/>
                        </a:rPr>
                        <a:t>律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  <a:p>
                      <a:pPr marL="91440" marR="354330">
                        <a:lnSpc>
                          <a:spcPct val="120000"/>
                        </a:lnSpc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自等律 互补律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1.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2.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912494" indent="-635" algn="just">
                        <a:lnSpc>
                          <a:spcPct val="120000"/>
                        </a:lnSpc>
                        <a:spcBef>
                          <a:spcPts val="4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A·0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= 0  A·1</a:t>
                      </a:r>
                      <a:r>
                        <a:rPr sz="20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2000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  A·A =</a:t>
                      </a:r>
                      <a:r>
                        <a:rPr sz="2000" spc="-2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3250">
                        <a:latin typeface="Times New Roman"/>
                        <a:cs typeface="Times New Roman"/>
                      </a:endParaRPr>
                    </a:p>
                    <a:p>
                      <a:pPr marR="112395" algn="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*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1’.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2’.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3’.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1488440" algn="just">
                        <a:lnSpc>
                          <a:spcPct val="120000"/>
                        </a:lnSpc>
                        <a:spcBef>
                          <a:spcPts val="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A+1 = 1  A+0 =</a:t>
                      </a:r>
                      <a:r>
                        <a:rPr sz="2000" spc="-2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  A+A =</a:t>
                      </a:r>
                      <a:r>
                        <a:rPr sz="2000" spc="-2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*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 marL="1098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*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604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 marR="314960" algn="just">
                        <a:lnSpc>
                          <a:spcPct val="120000"/>
                        </a:lnSpc>
                        <a:spcBef>
                          <a:spcPts val="40"/>
                        </a:spcBef>
                      </a:pPr>
                      <a:r>
                        <a:rPr sz="2000" spc="-5" dirty="0">
                          <a:latin typeface="微软雅黑"/>
                          <a:cs typeface="微软雅黑"/>
                        </a:rPr>
                        <a:t>常量和变 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量间的等 式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7097">
                <a:tc>
                  <a:txBody>
                    <a:bodyPr/>
                    <a:lstStyle/>
                    <a:p>
                      <a:pPr marL="91440" marR="354330" algn="just">
                        <a:lnSpc>
                          <a:spcPct val="120000"/>
                        </a:lnSpc>
                        <a:spcBef>
                          <a:spcPts val="4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交换律 结合律 </a:t>
                      </a:r>
                      <a:r>
                        <a:rPr sz="2000" spc="-5" dirty="0">
                          <a:latin typeface="微软雅黑"/>
                          <a:cs typeface="微软雅黑"/>
                        </a:rPr>
                        <a:t>分配律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4. A·B =</a:t>
                      </a:r>
                      <a:r>
                        <a:rPr sz="2000" spc="-1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B·A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442595" algn="l"/>
                        </a:tabLst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5.	(A·B)·C =</a:t>
                      </a:r>
                      <a:r>
                        <a:rPr sz="2000" spc="-1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A·(B·C)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6. A·(B+C) = A·B +</a:t>
                      </a:r>
                      <a:r>
                        <a:rPr sz="20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A·C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4’.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A+B =</a:t>
                      </a:r>
                      <a:r>
                        <a:rPr sz="2000" spc="-1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B+A</a:t>
                      </a: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5’.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(A+B)+C =</a:t>
                      </a:r>
                      <a:r>
                        <a:rPr sz="2000" spc="-2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A+(B+C)</a:t>
                      </a: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6’. </a:t>
                      </a:r>
                      <a:r>
                        <a:rPr sz="2000" dirty="0">
                          <a:highlight>
                            <a:srgbClr val="FFFF00"/>
                          </a:highlight>
                          <a:latin typeface="Arial"/>
                          <a:cs typeface="Arial"/>
                        </a:rPr>
                        <a:t>A+B·C =</a:t>
                      </a:r>
                      <a:r>
                        <a:rPr sz="2000" spc="-185" dirty="0">
                          <a:highlight>
                            <a:srgbClr val="FFFF00"/>
                          </a:highlight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highlight>
                            <a:srgbClr val="FFFF00"/>
                          </a:highlight>
                          <a:latin typeface="Arial"/>
                          <a:cs typeface="Arial"/>
                        </a:rPr>
                        <a:t>(A+B)(A+C)</a:t>
                      </a:r>
                    </a:p>
                  </a:txBody>
                  <a:tcPr marL="0" marR="0" marT="6667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3250">
                        <a:latin typeface="Times New Roman"/>
                        <a:cs typeface="Times New Roman"/>
                      </a:endParaRPr>
                    </a:p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*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27660" algn="just">
                        <a:lnSpc>
                          <a:spcPct val="120000"/>
                        </a:lnSpc>
                        <a:spcBef>
                          <a:spcPts val="4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类似 普通 </a:t>
                      </a:r>
                      <a:r>
                        <a:rPr sz="2000" spc="-5" dirty="0">
                          <a:latin typeface="微软雅黑"/>
                          <a:cs typeface="微软雅黑"/>
                        </a:rPr>
                        <a:t>代数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 marR="141605" algn="just">
                        <a:lnSpc>
                          <a:spcPct val="120000"/>
                        </a:lnSpc>
                        <a:spcBef>
                          <a:spcPts val="4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变 量 间 的 等 式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880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-5" dirty="0">
                          <a:latin typeface="微软雅黑"/>
                          <a:cs typeface="微软雅黑"/>
                        </a:rPr>
                        <a:t>重叠律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反演律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  <a:p>
                      <a:pPr marL="91440" marR="183515">
                        <a:lnSpc>
                          <a:spcPct val="12000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德</a:t>
                      </a:r>
                      <a:r>
                        <a:rPr sz="2000" spc="5" dirty="0">
                          <a:latin typeface="Arial"/>
                          <a:cs typeface="Arial"/>
                        </a:rPr>
                        <a:t>·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摩根 定 理 ）  还原律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34340" indent="-343535">
                        <a:lnSpc>
                          <a:spcPct val="100000"/>
                        </a:lnSpc>
                        <a:spcBef>
                          <a:spcPts val="525"/>
                        </a:spcBef>
                        <a:buAutoNum type="arabicPeriod" startAt="7"/>
                        <a:tabLst>
                          <a:tab pos="434340" algn="l"/>
                          <a:tab pos="434975" algn="l"/>
                        </a:tabLst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A·A =</a:t>
                      </a:r>
                      <a:r>
                        <a:rPr sz="2000" spc="-2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  <a:buFont typeface="Arial"/>
                        <a:buAutoNum type="arabicPeriod" startAt="7"/>
                      </a:pPr>
                      <a:endParaRPr sz="2900" dirty="0">
                        <a:latin typeface="Times New Roman"/>
                        <a:cs typeface="Times New Roman"/>
                      </a:endParaRPr>
                    </a:p>
                    <a:p>
                      <a:pPr marL="428625" indent="-337820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 startAt="7"/>
                        <a:tabLst>
                          <a:tab pos="429259" algn="l"/>
                        </a:tabLst>
                      </a:pPr>
                      <a:r>
                        <a:rPr sz="2000" dirty="0">
                          <a:highlight>
                            <a:srgbClr val="FFFF00"/>
                          </a:highlight>
                          <a:latin typeface="Arial"/>
                          <a:cs typeface="Arial"/>
                        </a:rPr>
                        <a:t>A·B =</a:t>
                      </a:r>
                      <a:r>
                        <a:rPr sz="2000" spc="-160" dirty="0">
                          <a:highlight>
                            <a:srgbClr val="FFFF00"/>
                          </a:highlight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highlight>
                            <a:srgbClr val="FFFF00"/>
                          </a:highlight>
                          <a:latin typeface="Arial"/>
                          <a:cs typeface="Arial"/>
                        </a:rPr>
                        <a:t>A+B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"/>
                        <a:buAutoNum type="arabicPeriod" startAt="7"/>
                      </a:pPr>
                      <a:endParaRPr sz="2900" dirty="0">
                        <a:latin typeface="Times New Roman"/>
                        <a:cs typeface="Times New Roman"/>
                      </a:endParaRPr>
                    </a:p>
                    <a:p>
                      <a:pPr marL="427990" indent="-337185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 startAt="7"/>
                        <a:tabLst>
                          <a:tab pos="428625" algn="l"/>
                        </a:tabLst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A =</a:t>
                      </a:r>
                      <a:r>
                        <a:rPr sz="2000" spc="-2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marL="0" marR="0" marT="6667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6680" algn="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*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 marR="11747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*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 marR="15684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*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7’.</a:t>
                      </a:r>
                      <a:endParaRPr sz="20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9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8’.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A+A =</a:t>
                      </a:r>
                      <a:r>
                        <a:rPr sz="2000" spc="-2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A+B =</a:t>
                      </a:r>
                      <a:r>
                        <a:rPr sz="2000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A·B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*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 marL="1130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*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27660" algn="just">
                        <a:lnSpc>
                          <a:spcPct val="120000"/>
                        </a:lnSpc>
                        <a:spcBef>
                          <a:spcPts val="45"/>
                        </a:spcBef>
                      </a:pPr>
                      <a:r>
                        <a:rPr sz="2000" spc="-5" dirty="0">
                          <a:latin typeface="微软雅黑"/>
                          <a:cs typeface="微软雅黑"/>
                        </a:rPr>
                        <a:t>逻辑 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代数 特有</a:t>
                      </a: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509011" y="5772801"/>
            <a:ext cx="8956557" cy="6052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1104" y="5757671"/>
            <a:ext cx="4223004" cy="723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1594" y="5805678"/>
            <a:ext cx="8856345" cy="504825"/>
          </a:xfrm>
          <a:custGeom>
            <a:avLst/>
            <a:gdLst/>
            <a:ahLst/>
            <a:cxnLst/>
            <a:rect l="l" t="t" r="r" b="b"/>
            <a:pathLst>
              <a:path w="8856345" h="504825">
                <a:moveTo>
                  <a:pt x="8771890" y="0"/>
                </a:moveTo>
                <a:lnTo>
                  <a:pt x="84074" y="0"/>
                </a:lnTo>
                <a:lnTo>
                  <a:pt x="51349" y="6607"/>
                </a:lnTo>
                <a:lnTo>
                  <a:pt x="24625" y="24625"/>
                </a:lnTo>
                <a:lnTo>
                  <a:pt x="6607" y="51349"/>
                </a:lnTo>
                <a:lnTo>
                  <a:pt x="0" y="84074"/>
                </a:lnTo>
                <a:lnTo>
                  <a:pt x="0" y="420370"/>
                </a:lnTo>
                <a:lnTo>
                  <a:pt x="6607" y="453094"/>
                </a:lnTo>
                <a:lnTo>
                  <a:pt x="24625" y="479818"/>
                </a:lnTo>
                <a:lnTo>
                  <a:pt x="51349" y="497836"/>
                </a:lnTo>
                <a:lnTo>
                  <a:pt x="84074" y="504444"/>
                </a:lnTo>
                <a:lnTo>
                  <a:pt x="8771890" y="504444"/>
                </a:lnTo>
                <a:lnTo>
                  <a:pt x="8804636" y="497836"/>
                </a:lnTo>
                <a:lnTo>
                  <a:pt x="8831357" y="479818"/>
                </a:lnTo>
                <a:lnTo>
                  <a:pt x="8849363" y="453094"/>
                </a:lnTo>
                <a:lnTo>
                  <a:pt x="8855964" y="420370"/>
                </a:lnTo>
                <a:lnTo>
                  <a:pt x="8855964" y="84074"/>
                </a:lnTo>
                <a:lnTo>
                  <a:pt x="8849363" y="51349"/>
                </a:lnTo>
                <a:lnTo>
                  <a:pt x="8831357" y="24625"/>
                </a:lnTo>
                <a:lnTo>
                  <a:pt x="8804636" y="6607"/>
                </a:lnTo>
                <a:lnTo>
                  <a:pt x="877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1594" y="5805678"/>
            <a:ext cx="8856345" cy="504825"/>
          </a:xfrm>
          <a:custGeom>
            <a:avLst/>
            <a:gdLst/>
            <a:ahLst/>
            <a:cxnLst/>
            <a:rect l="l" t="t" r="r" b="b"/>
            <a:pathLst>
              <a:path w="8856345" h="504825">
                <a:moveTo>
                  <a:pt x="0" y="84074"/>
                </a:moveTo>
                <a:lnTo>
                  <a:pt x="6607" y="51349"/>
                </a:lnTo>
                <a:lnTo>
                  <a:pt x="24625" y="24625"/>
                </a:lnTo>
                <a:lnTo>
                  <a:pt x="51349" y="6607"/>
                </a:lnTo>
                <a:lnTo>
                  <a:pt x="84074" y="0"/>
                </a:lnTo>
                <a:lnTo>
                  <a:pt x="8771890" y="0"/>
                </a:lnTo>
                <a:lnTo>
                  <a:pt x="8804636" y="6607"/>
                </a:lnTo>
                <a:lnTo>
                  <a:pt x="8831357" y="24625"/>
                </a:lnTo>
                <a:lnTo>
                  <a:pt x="8849363" y="51349"/>
                </a:lnTo>
                <a:lnTo>
                  <a:pt x="8855964" y="84074"/>
                </a:lnTo>
                <a:lnTo>
                  <a:pt x="8855964" y="420370"/>
                </a:lnTo>
                <a:lnTo>
                  <a:pt x="8849363" y="453094"/>
                </a:lnTo>
                <a:lnTo>
                  <a:pt x="8831357" y="479818"/>
                </a:lnTo>
                <a:lnTo>
                  <a:pt x="8804636" y="497836"/>
                </a:lnTo>
                <a:lnTo>
                  <a:pt x="8771890" y="504444"/>
                </a:lnTo>
                <a:lnTo>
                  <a:pt x="84074" y="504444"/>
                </a:lnTo>
                <a:lnTo>
                  <a:pt x="51349" y="497836"/>
                </a:lnTo>
                <a:lnTo>
                  <a:pt x="24625" y="479818"/>
                </a:lnTo>
                <a:lnTo>
                  <a:pt x="6607" y="453094"/>
                </a:lnTo>
                <a:lnTo>
                  <a:pt x="0" y="420370"/>
                </a:lnTo>
                <a:lnTo>
                  <a:pt x="0" y="8407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3955" y="5853480"/>
            <a:ext cx="38023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带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*</a:t>
            </a:r>
            <a:r>
              <a:rPr sz="2400" spc="-5" dirty="0">
                <a:solidFill>
                  <a:srgbClr val="FF0000"/>
                </a:solidFill>
                <a:latin typeface="微软雅黑"/>
                <a:cs typeface="微软雅黑"/>
              </a:rPr>
              <a:t>的公式在普通代数里没有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91155" y="2276855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53455" y="2276855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44267" y="4581144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4">
                <a:moveTo>
                  <a:pt x="0" y="0"/>
                </a:moveTo>
                <a:lnTo>
                  <a:pt x="360044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40735" y="4581144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53155" y="4581144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41035" y="4581144"/>
            <a:ext cx="432434" cy="0"/>
          </a:xfrm>
          <a:custGeom>
            <a:avLst/>
            <a:gdLst/>
            <a:ahLst/>
            <a:cxnLst/>
            <a:rect l="l" t="t" r="r" b="b"/>
            <a:pathLst>
              <a:path w="432435">
                <a:moveTo>
                  <a:pt x="0" y="0"/>
                </a:moveTo>
                <a:lnTo>
                  <a:pt x="432053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77128" y="4581144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233159" y="4581144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7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44267" y="5349240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44267" y="5300471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4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6181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用代数方法证明基本定律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40" y="1073911"/>
            <a:ext cx="54965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证明公</a:t>
            </a:r>
            <a:r>
              <a:rPr sz="2800" spc="-15" dirty="0">
                <a:solidFill>
                  <a:srgbClr val="0000FF"/>
                </a:solidFill>
                <a:latin typeface="微软雅黑"/>
                <a:cs typeface="微软雅黑"/>
              </a:rPr>
              <a:t>式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6’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：</a:t>
            </a:r>
            <a:r>
              <a:rPr sz="2800" spc="-45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A+B·C</a:t>
            </a:r>
            <a:r>
              <a:rPr sz="28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(A+B)(A+C)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49912" y="2488663"/>
            <a:ext cx="1335405" cy="0"/>
          </a:xfrm>
          <a:custGeom>
            <a:avLst/>
            <a:gdLst/>
            <a:ahLst/>
            <a:cxnLst/>
            <a:rect l="l" t="t" r="r" b="b"/>
            <a:pathLst>
              <a:path w="1335404">
                <a:moveTo>
                  <a:pt x="0" y="0"/>
                </a:moveTo>
                <a:lnTo>
                  <a:pt x="1334789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49912" y="2419808"/>
            <a:ext cx="1335405" cy="0"/>
          </a:xfrm>
          <a:custGeom>
            <a:avLst/>
            <a:gdLst/>
            <a:ahLst/>
            <a:cxnLst/>
            <a:rect l="l" t="t" r="r" b="b"/>
            <a:pathLst>
              <a:path w="1335404">
                <a:moveTo>
                  <a:pt x="0" y="0"/>
                </a:moveTo>
                <a:lnTo>
                  <a:pt x="1334789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49912" y="3183296"/>
            <a:ext cx="226060" cy="0"/>
          </a:xfrm>
          <a:custGeom>
            <a:avLst/>
            <a:gdLst/>
            <a:ahLst/>
            <a:cxnLst/>
            <a:rect l="l" t="t" r="r" b="b"/>
            <a:pathLst>
              <a:path w="226060">
                <a:moveTo>
                  <a:pt x="0" y="0"/>
                </a:moveTo>
                <a:lnTo>
                  <a:pt x="225672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69555" y="3183296"/>
            <a:ext cx="757555" cy="0"/>
          </a:xfrm>
          <a:custGeom>
            <a:avLst/>
            <a:gdLst/>
            <a:ahLst/>
            <a:cxnLst/>
            <a:rect l="l" t="t" r="r" b="b"/>
            <a:pathLst>
              <a:path w="757554">
                <a:moveTo>
                  <a:pt x="0" y="0"/>
                </a:moveTo>
                <a:lnTo>
                  <a:pt x="757193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49912" y="3113524"/>
            <a:ext cx="1276985" cy="0"/>
          </a:xfrm>
          <a:custGeom>
            <a:avLst/>
            <a:gdLst/>
            <a:ahLst/>
            <a:cxnLst/>
            <a:rect l="l" t="t" r="r" b="b"/>
            <a:pathLst>
              <a:path w="1276985">
                <a:moveTo>
                  <a:pt x="0" y="0"/>
                </a:moveTo>
                <a:lnTo>
                  <a:pt x="1276836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9588" y="3183296"/>
            <a:ext cx="226060" cy="0"/>
          </a:xfrm>
          <a:custGeom>
            <a:avLst/>
            <a:gdLst/>
            <a:ahLst/>
            <a:cxnLst/>
            <a:rect l="l" t="t" r="r" b="b"/>
            <a:pathLst>
              <a:path w="226060">
                <a:moveTo>
                  <a:pt x="0" y="0"/>
                </a:moveTo>
                <a:lnTo>
                  <a:pt x="225611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66647" y="3183296"/>
            <a:ext cx="225425" cy="0"/>
          </a:xfrm>
          <a:custGeom>
            <a:avLst/>
            <a:gdLst/>
            <a:ahLst/>
            <a:cxnLst/>
            <a:rect l="l" t="t" r="r" b="b"/>
            <a:pathLst>
              <a:path w="225425">
                <a:moveTo>
                  <a:pt x="0" y="0"/>
                </a:moveTo>
                <a:lnTo>
                  <a:pt x="224997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44334" y="3183296"/>
            <a:ext cx="236854" cy="0"/>
          </a:xfrm>
          <a:custGeom>
            <a:avLst/>
            <a:gdLst/>
            <a:ahLst/>
            <a:cxnLst/>
            <a:rect l="l" t="t" r="r" b="b"/>
            <a:pathLst>
              <a:path w="236854">
                <a:moveTo>
                  <a:pt x="0" y="0"/>
                </a:moveTo>
                <a:lnTo>
                  <a:pt x="236661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19588" y="3113524"/>
            <a:ext cx="1588770" cy="0"/>
          </a:xfrm>
          <a:custGeom>
            <a:avLst/>
            <a:gdLst/>
            <a:ahLst/>
            <a:cxnLst/>
            <a:rect l="l" t="t" r="r" b="b"/>
            <a:pathLst>
              <a:path w="1588770">
                <a:moveTo>
                  <a:pt x="0" y="0"/>
                </a:moveTo>
                <a:lnTo>
                  <a:pt x="1588486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49912" y="3877073"/>
            <a:ext cx="226060" cy="0"/>
          </a:xfrm>
          <a:custGeom>
            <a:avLst/>
            <a:gdLst/>
            <a:ahLst/>
            <a:cxnLst/>
            <a:rect l="l" t="t" r="r" b="b"/>
            <a:pathLst>
              <a:path w="226060">
                <a:moveTo>
                  <a:pt x="0" y="0"/>
                </a:moveTo>
                <a:lnTo>
                  <a:pt x="225672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69555" y="3877073"/>
            <a:ext cx="226060" cy="0"/>
          </a:xfrm>
          <a:custGeom>
            <a:avLst/>
            <a:gdLst/>
            <a:ahLst/>
            <a:cxnLst/>
            <a:rect l="l" t="t" r="r" b="b"/>
            <a:pathLst>
              <a:path w="226060">
                <a:moveTo>
                  <a:pt x="0" y="0"/>
                </a:moveTo>
                <a:lnTo>
                  <a:pt x="225672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47825" y="3877073"/>
            <a:ext cx="225425" cy="0"/>
          </a:xfrm>
          <a:custGeom>
            <a:avLst/>
            <a:gdLst/>
            <a:ahLst/>
            <a:cxnLst/>
            <a:rect l="l" t="t" r="r" b="b"/>
            <a:pathLst>
              <a:path w="225425">
                <a:moveTo>
                  <a:pt x="0" y="0"/>
                </a:moveTo>
                <a:lnTo>
                  <a:pt x="224905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67406" y="3877073"/>
            <a:ext cx="237490" cy="0"/>
          </a:xfrm>
          <a:custGeom>
            <a:avLst/>
            <a:gdLst/>
            <a:ahLst/>
            <a:cxnLst/>
            <a:rect l="l" t="t" r="r" b="b"/>
            <a:pathLst>
              <a:path w="237489">
                <a:moveTo>
                  <a:pt x="0" y="0"/>
                </a:moveTo>
                <a:lnTo>
                  <a:pt x="236968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49912" y="3808065"/>
            <a:ext cx="1854835" cy="0"/>
          </a:xfrm>
          <a:custGeom>
            <a:avLst/>
            <a:gdLst/>
            <a:ahLst/>
            <a:cxnLst/>
            <a:rect l="l" t="t" r="r" b="b"/>
            <a:pathLst>
              <a:path w="1854835">
                <a:moveTo>
                  <a:pt x="0" y="0"/>
                </a:moveTo>
                <a:lnTo>
                  <a:pt x="1854462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49912" y="4571584"/>
            <a:ext cx="226060" cy="0"/>
          </a:xfrm>
          <a:custGeom>
            <a:avLst/>
            <a:gdLst/>
            <a:ahLst/>
            <a:cxnLst/>
            <a:rect l="l" t="t" r="r" b="b"/>
            <a:pathLst>
              <a:path w="226060">
                <a:moveTo>
                  <a:pt x="0" y="0"/>
                </a:moveTo>
                <a:lnTo>
                  <a:pt x="225672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69555" y="4571584"/>
            <a:ext cx="226060" cy="0"/>
          </a:xfrm>
          <a:custGeom>
            <a:avLst/>
            <a:gdLst/>
            <a:ahLst/>
            <a:cxnLst/>
            <a:rect l="l" t="t" r="r" b="b"/>
            <a:pathLst>
              <a:path w="226060">
                <a:moveTo>
                  <a:pt x="0" y="0"/>
                </a:moveTo>
                <a:lnTo>
                  <a:pt x="225672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49912" y="4501842"/>
            <a:ext cx="745490" cy="0"/>
          </a:xfrm>
          <a:custGeom>
            <a:avLst/>
            <a:gdLst/>
            <a:ahLst/>
            <a:cxnLst/>
            <a:rect l="l" t="t" r="r" b="b"/>
            <a:pathLst>
              <a:path w="745489">
                <a:moveTo>
                  <a:pt x="0" y="0"/>
                </a:moveTo>
                <a:lnTo>
                  <a:pt x="745314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89934" y="4571584"/>
            <a:ext cx="225425" cy="0"/>
          </a:xfrm>
          <a:custGeom>
            <a:avLst/>
            <a:gdLst/>
            <a:ahLst/>
            <a:cxnLst/>
            <a:rect l="l" t="t" r="r" b="b"/>
            <a:pathLst>
              <a:path w="225425">
                <a:moveTo>
                  <a:pt x="0" y="0"/>
                </a:moveTo>
                <a:lnTo>
                  <a:pt x="224935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909699" y="4571584"/>
            <a:ext cx="236854" cy="0"/>
          </a:xfrm>
          <a:custGeom>
            <a:avLst/>
            <a:gdLst/>
            <a:ahLst/>
            <a:cxnLst/>
            <a:rect l="l" t="t" r="r" b="b"/>
            <a:pathLst>
              <a:path w="236854">
                <a:moveTo>
                  <a:pt x="0" y="0"/>
                </a:moveTo>
                <a:lnTo>
                  <a:pt x="236661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89934" y="4501842"/>
            <a:ext cx="756920" cy="0"/>
          </a:xfrm>
          <a:custGeom>
            <a:avLst/>
            <a:gdLst/>
            <a:ahLst/>
            <a:cxnLst/>
            <a:rect l="l" t="t" r="r" b="b"/>
            <a:pathLst>
              <a:path w="756920">
                <a:moveTo>
                  <a:pt x="0" y="0"/>
                </a:moveTo>
                <a:lnTo>
                  <a:pt x="756426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66647" y="4571584"/>
            <a:ext cx="225425" cy="0"/>
          </a:xfrm>
          <a:custGeom>
            <a:avLst/>
            <a:gdLst/>
            <a:ahLst/>
            <a:cxnLst/>
            <a:rect l="l" t="t" r="r" b="b"/>
            <a:pathLst>
              <a:path w="225425">
                <a:moveTo>
                  <a:pt x="0" y="0"/>
                </a:moveTo>
                <a:lnTo>
                  <a:pt x="224997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66647" y="4501842"/>
            <a:ext cx="225425" cy="0"/>
          </a:xfrm>
          <a:custGeom>
            <a:avLst/>
            <a:gdLst/>
            <a:ahLst/>
            <a:cxnLst/>
            <a:rect l="l" t="t" r="r" b="b"/>
            <a:pathLst>
              <a:path w="225425">
                <a:moveTo>
                  <a:pt x="0" y="0"/>
                </a:moveTo>
                <a:lnTo>
                  <a:pt x="224997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44334" y="4571584"/>
            <a:ext cx="226060" cy="0"/>
          </a:xfrm>
          <a:custGeom>
            <a:avLst/>
            <a:gdLst/>
            <a:ahLst/>
            <a:cxnLst/>
            <a:rect l="l" t="t" r="r" b="b"/>
            <a:pathLst>
              <a:path w="226060">
                <a:moveTo>
                  <a:pt x="0" y="0"/>
                </a:moveTo>
                <a:lnTo>
                  <a:pt x="225611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44334" y="4501842"/>
            <a:ext cx="226060" cy="0"/>
          </a:xfrm>
          <a:custGeom>
            <a:avLst/>
            <a:gdLst/>
            <a:ahLst/>
            <a:cxnLst/>
            <a:rect l="l" t="t" r="r" b="b"/>
            <a:pathLst>
              <a:path w="226060">
                <a:moveTo>
                  <a:pt x="0" y="0"/>
                </a:moveTo>
                <a:lnTo>
                  <a:pt x="225611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746818" y="4571584"/>
            <a:ext cx="226060" cy="0"/>
          </a:xfrm>
          <a:custGeom>
            <a:avLst/>
            <a:gdLst/>
            <a:ahLst/>
            <a:cxnLst/>
            <a:rect l="l" t="t" r="r" b="b"/>
            <a:pathLst>
              <a:path w="226060">
                <a:moveTo>
                  <a:pt x="0" y="0"/>
                </a:moveTo>
                <a:lnTo>
                  <a:pt x="225611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746818" y="4501842"/>
            <a:ext cx="226060" cy="0"/>
          </a:xfrm>
          <a:custGeom>
            <a:avLst/>
            <a:gdLst/>
            <a:ahLst/>
            <a:cxnLst/>
            <a:rect l="l" t="t" r="r" b="b"/>
            <a:pathLst>
              <a:path w="226060">
                <a:moveTo>
                  <a:pt x="0" y="0"/>
                </a:moveTo>
                <a:lnTo>
                  <a:pt x="225611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324505" y="4571584"/>
            <a:ext cx="236854" cy="0"/>
          </a:xfrm>
          <a:custGeom>
            <a:avLst/>
            <a:gdLst/>
            <a:ahLst/>
            <a:cxnLst/>
            <a:rect l="l" t="t" r="r" b="b"/>
            <a:pathLst>
              <a:path w="236854">
                <a:moveTo>
                  <a:pt x="0" y="0"/>
                </a:moveTo>
                <a:lnTo>
                  <a:pt x="236661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324505" y="4501842"/>
            <a:ext cx="236854" cy="0"/>
          </a:xfrm>
          <a:custGeom>
            <a:avLst/>
            <a:gdLst/>
            <a:ahLst/>
            <a:cxnLst/>
            <a:rect l="l" t="t" r="r" b="b"/>
            <a:pathLst>
              <a:path w="236854">
                <a:moveTo>
                  <a:pt x="0" y="0"/>
                </a:moveTo>
                <a:lnTo>
                  <a:pt x="236661" y="0"/>
                </a:lnTo>
              </a:path>
            </a:pathLst>
          </a:custGeom>
          <a:ln w="155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042475" y="4422785"/>
            <a:ext cx="4672965" cy="113601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900" spc="5" dirty="0">
                <a:latin typeface="Symbol"/>
                <a:cs typeface="Symbol"/>
              </a:rPr>
              <a:t></a:t>
            </a:r>
            <a:r>
              <a:rPr sz="2900" spc="165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A</a:t>
            </a:r>
            <a:r>
              <a:rPr sz="2900" i="1" spc="-41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</a:t>
            </a:r>
            <a:r>
              <a:rPr sz="2900" spc="-210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B</a:t>
            </a:r>
            <a:r>
              <a:rPr sz="2900" i="1" spc="-28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</a:t>
            </a:r>
            <a:r>
              <a:rPr sz="2900" spc="-75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A</a:t>
            </a:r>
            <a:r>
              <a:rPr sz="2900" i="1" spc="-42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</a:t>
            </a:r>
            <a:r>
              <a:rPr sz="2900" spc="-385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C</a:t>
            </a:r>
            <a:r>
              <a:rPr sz="2900" i="1" spc="9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</a:t>
            </a:r>
            <a:r>
              <a:rPr sz="2900" spc="-10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(</a:t>
            </a:r>
            <a:r>
              <a:rPr sz="2900" spc="-425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A</a:t>
            </a:r>
            <a:r>
              <a:rPr sz="2900" i="1" spc="-32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</a:t>
            </a:r>
            <a:r>
              <a:rPr sz="2900" spc="-100" dirty="0">
                <a:latin typeface="Times New Roman"/>
                <a:cs typeface="Times New Roman"/>
              </a:rPr>
              <a:t> </a:t>
            </a:r>
            <a:r>
              <a:rPr sz="2900" i="1" spc="35" dirty="0">
                <a:latin typeface="Times New Roman"/>
                <a:cs typeface="Times New Roman"/>
              </a:rPr>
              <a:t>B</a:t>
            </a:r>
            <a:r>
              <a:rPr sz="2900" spc="35" dirty="0">
                <a:latin typeface="Times New Roman"/>
                <a:cs typeface="Times New Roman"/>
              </a:rPr>
              <a:t>)(</a:t>
            </a:r>
            <a:r>
              <a:rPr sz="2900" spc="-465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A</a:t>
            </a:r>
            <a:r>
              <a:rPr sz="2900" i="1" spc="-32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</a:t>
            </a:r>
            <a:r>
              <a:rPr sz="2900" spc="-290" dirty="0">
                <a:latin typeface="Times New Roman"/>
                <a:cs typeface="Times New Roman"/>
              </a:rPr>
              <a:t> </a:t>
            </a:r>
            <a:r>
              <a:rPr sz="2900" i="1" spc="100" dirty="0">
                <a:latin typeface="Times New Roman"/>
                <a:cs typeface="Times New Roman"/>
              </a:rPr>
              <a:t>C</a:t>
            </a:r>
            <a:r>
              <a:rPr sz="2900" spc="100" dirty="0">
                <a:latin typeface="Times New Roman"/>
                <a:cs typeface="Times New Roman"/>
              </a:rPr>
              <a:t>)</a:t>
            </a: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900" spc="5" dirty="0">
                <a:latin typeface="Symbol"/>
                <a:cs typeface="Symbol"/>
              </a:rPr>
              <a:t></a:t>
            </a:r>
            <a:r>
              <a:rPr sz="2900" spc="-10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Times New Roman"/>
                <a:cs typeface="Times New Roman"/>
              </a:rPr>
              <a:t>(</a:t>
            </a:r>
            <a:r>
              <a:rPr sz="2900" spc="-425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A</a:t>
            </a:r>
            <a:r>
              <a:rPr sz="2900" i="1" spc="-32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</a:t>
            </a:r>
            <a:r>
              <a:rPr sz="2900" spc="-105" dirty="0">
                <a:latin typeface="Times New Roman"/>
                <a:cs typeface="Times New Roman"/>
              </a:rPr>
              <a:t> </a:t>
            </a:r>
            <a:r>
              <a:rPr sz="2900" i="1" spc="35" dirty="0">
                <a:latin typeface="Times New Roman"/>
                <a:cs typeface="Times New Roman"/>
              </a:rPr>
              <a:t>B</a:t>
            </a:r>
            <a:r>
              <a:rPr sz="2900" spc="35" dirty="0">
                <a:latin typeface="Times New Roman"/>
                <a:cs typeface="Times New Roman"/>
              </a:rPr>
              <a:t>)(</a:t>
            </a:r>
            <a:r>
              <a:rPr sz="2900" spc="-455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A</a:t>
            </a:r>
            <a:r>
              <a:rPr sz="2900" i="1" spc="-33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</a:t>
            </a:r>
            <a:r>
              <a:rPr sz="2900" spc="-285" dirty="0">
                <a:latin typeface="Times New Roman"/>
                <a:cs typeface="Times New Roman"/>
              </a:rPr>
              <a:t> </a:t>
            </a:r>
            <a:r>
              <a:rPr sz="2900" i="1" spc="100" dirty="0">
                <a:latin typeface="Times New Roman"/>
                <a:cs typeface="Times New Roman"/>
              </a:rPr>
              <a:t>C</a:t>
            </a:r>
            <a:r>
              <a:rPr sz="2900" spc="100" dirty="0">
                <a:latin typeface="Times New Roman"/>
                <a:cs typeface="Times New Roman"/>
              </a:rPr>
              <a:t>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21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042475" y="3840075"/>
            <a:ext cx="216789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5" dirty="0">
                <a:latin typeface="Symbol"/>
                <a:cs typeface="Symbol"/>
              </a:rPr>
              <a:t></a:t>
            </a:r>
            <a:r>
              <a:rPr sz="2900" spc="155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A</a:t>
            </a:r>
            <a:r>
              <a:rPr sz="2900" i="1" spc="-42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</a:t>
            </a:r>
            <a:r>
              <a:rPr sz="2900" spc="-215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B</a:t>
            </a:r>
            <a:r>
              <a:rPr sz="2900" i="1" spc="-204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</a:t>
            </a:r>
            <a:r>
              <a:rPr sz="2900" spc="25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A</a:t>
            </a:r>
            <a:r>
              <a:rPr sz="2900" i="1" spc="-42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</a:t>
            </a:r>
            <a:r>
              <a:rPr sz="2900" spc="-395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C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42475" y="3146329"/>
            <a:ext cx="3592829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5" dirty="0">
                <a:latin typeface="Symbol"/>
                <a:cs typeface="Symbol"/>
              </a:rPr>
              <a:t></a:t>
            </a:r>
            <a:r>
              <a:rPr sz="2900" spc="160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A</a:t>
            </a:r>
            <a:r>
              <a:rPr sz="2900" i="1" spc="-41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</a:t>
            </a:r>
            <a:r>
              <a:rPr sz="2900" spc="-215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B</a:t>
            </a:r>
            <a:r>
              <a:rPr sz="2900" i="1" spc="-28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</a:t>
            </a:r>
            <a:r>
              <a:rPr sz="2900" spc="-390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C</a:t>
            </a:r>
            <a:r>
              <a:rPr sz="2900" i="1" spc="8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</a:t>
            </a:r>
            <a:r>
              <a:rPr sz="2900" spc="165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A</a:t>
            </a:r>
            <a:r>
              <a:rPr sz="2900" i="1" spc="-42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</a:t>
            </a:r>
            <a:r>
              <a:rPr sz="2900" spc="-345" dirty="0">
                <a:latin typeface="Times New Roman"/>
                <a:cs typeface="Times New Roman"/>
              </a:rPr>
              <a:t> </a:t>
            </a:r>
            <a:r>
              <a:rPr sz="2900" spc="90" dirty="0">
                <a:latin typeface="Times New Roman"/>
                <a:cs typeface="Times New Roman"/>
              </a:rPr>
              <a:t>(</a:t>
            </a:r>
            <a:r>
              <a:rPr sz="2900" i="1" spc="90" dirty="0">
                <a:latin typeface="Times New Roman"/>
                <a:cs typeface="Times New Roman"/>
              </a:rPr>
              <a:t>B</a:t>
            </a:r>
            <a:r>
              <a:rPr sz="2900" i="1" spc="-19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</a:t>
            </a:r>
            <a:r>
              <a:rPr sz="2900" spc="-290" dirty="0">
                <a:latin typeface="Times New Roman"/>
                <a:cs typeface="Times New Roman"/>
              </a:rPr>
              <a:t> </a:t>
            </a:r>
            <a:r>
              <a:rPr sz="2900" i="1" spc="105" dirty="0">
                <a:latin typeface="Times New Roman"/>
                <a:cs typeface="Times New Roman"/>
              </a:rPr>
              <a:t>C</a:t>
            </a:r>
            <a:r>
              <a:rPr sz="2900" spc="105" dirty="0">
                <a:latin typeface="Times New Roman"/>
                <a:cs typeface="Times New Roman"/>
              </a:rPr>
              <a:t>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2759" y="2451848"/>
            <a:ext cx="305752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i="1" spc="10" dirty="0">
                <a:latin typeface="Times New Roman"/>
                <a:cs typeface="Times New Roman"/>
              </a:rPr>
              <a:t>A</a:t>
            </a:r>
            <a:r>
              <a:rPr sz="2900" i="1" spc="-33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</a:t>
            </a:r>
            <a:r>
              <a:rPr sz="2900" spc="-105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B</a:t>
            </a:r>
            <a:r>
              <a:rPr sz="2900" i="1" spc="-29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</a:t>
            </a:r>
            <a:r>
              <a:rPr sz="2900" spc="-390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C</a:t>
            </a:r>
            <a:r>
              <a:rPr sz="2900" i="1" spc="9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</a:t>
            </a:r>
            <a:r>
              <a:rPr sz="2900" spc="160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A</a:t>
            </a:r>
            <a:r>
              <a:rPr sz="2900" i="1" spc="-330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</a:t>
            </a:r>
            <a:r>
              <a:rPr sz="2900" spc="-110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B</a:t>
            </a:r>
            <a:r>
              <a:rPr sz="2900" i="1" spc="-285" dirty="0">
                <a:latin typeface="Times New Roman"/>
                <a:cs typeface="Times New Roman"/>
              </a:rPr>
              <a:t> </a:t>
            </a:r>
            <a:r>
              <a:rPr sz="2900" spc="5" dirty="0">
                <a:latin typeface="Symbol"/>
                <a:cs typeface="Symbol"/>
              </a:rPr>
              <a:t></a:t>
            </a:r>
            <a:r>
              <a:rPr sz="2900" spc="-390" dirty="0">
                <a:latin typeface="Times New Roman"/>
                <a:cs typeface="Times New Roman"/>
              </a:rPr>
              <a:t> </a:t>
            </a:r>
            <a:r>
              <a:rPr sz="2900" i="1" spc="10" dirty="0">
                <a:latin typeface="Times New Roman"/>
                <a:cs typeface="Times New Roman"/>
              </a:rPr>
              <a:t>C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10781" y="2369896"/>
            <a:ext cx="2630170" cy="3188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微软雅黑"/>
                <a:cs typeface="微软雅黑"/>
              </a:rPr>
              <a:t>（还原律）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315"/>
              </a:spcBef>
            </a:pPr>
            <a:r>
              <a:rPr sz="2800" spc="-5" dirty="0">
                <a:latin typeface="微软雅黑"/>
                <a:cs typeface="微软雅黑"/>
              </a:rPr>
              <a:t>（狄</a:t>
            </a:r>
            <a:r>
              <a:rPr sz="2800" spc="-5" dirty="0">
                <a:latin typeface="Arial"/>
                <a:cs typeface="Arial"/>
              </a:rPr>
              <a:t>·</a:t>
            </a:r>
            <a:r>
              <a:rPr sz="2800" spc="-5" dirty="0">
                <a:latin typeface="微软雅黑"/>
                <a:cs typeface="微软雅黑"/>
              </a:rPr>
              <a:t>摩根定理）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310"/>
              </a:spcBef>
            </a:pPr>
            <a:r>
              <a:rPr sz="2800" spc="-5" dirty="0">
                <a:latin typeface="微软雅黑"/>
                <a:cs typeface="微软雅黑"/>
              </a:rPr>
              <a:t>（分配律）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2800" spc="-5" dirty="0">
                <a:latin typeface="微软雅黑"/>
                <a:cs typeface="微软雅黑"/>
              </a:rPr>
              <a:t>（狄</a:t>
            </a:r>
            <a:r>
              <a:rPr sz="2800" spc="-5" dirty="0">
                <a:latin typeface="Arial"/>
                <a:cs typeface="Arial"/>
              </a:rPr>
              <a:t>·</a:t>
            </a:r>
            <a:r>
              <a:rPr sz="2800" spc="-5" dirty="0">
                <a:latin typeface="微软雅黑"/>
                <a:cs typeface="微软雅黑"/>
              </a:rPr>
              <a:t>摩根定理）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2800" spc="-5" dirty="0">
                <a:latin typeface="微软雅黑"/>
                <a:cs typeface="微软雅黑"/>
              </a:rPr>
              <a:t>（还原律）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6062" y="2853689"/>
            <a:ext cx="8778240" cy="3168650"/>
          </a:xfrm>
          <a:custGeom>
            <a:avLst/>
            <a:gdLst/>
            <a:ahLst/>
            <a:cxnLst/>
            <a:rect l="l" t="t" r="r" b="b"/>
            <a:pathLst>
              <a:path w="8778240" h="3168650">
                <a:moveTo>
                  <a:pt x="0" y="200533"/>
                </a:moveTo>
                <a:lnTo>
                  <a:pt x="5295" y="154554"/>
                </a:lnTo>
                <a:lnTo>
                  <a:pt x="20381" y="112346"/>
                </a:lnTo>
                <a:lnTo>
                  <a:pt x="44052" y="75112"/>
                </a:lnTo>
                <a:lnTo>
                  <a:pt x="75105" y="44057"/>
                </a:lnTo>
                <a:lnTo>
                  <a:pt x="112336" y="20383"/>
                </a:lnTo>
                <a:lnTo>
                  <a:pt x="154542" y="5296"/>
                </a:lnTo>
                <a:lnTo>
                  <a:pt x="200520" y="0"/>
                </a:lnTo>
                <a:lnTo>
                  <a:pt x="8577707" y="0"/>
                </a:lnTo>
                <a:lnTo>
                  <a:pt x="8623685" y="5296"/>
                </a:lnTo>
                <a:lnTo>
                  <a:pt x="8665893" y="20383"/>
                </a:lnTo>
                <a:lnTo>
                  <a:pt x="8703127" y="44057"/>
                </a:lnTo>
                <a:lnTo>
                  <a:pt x="8734182" y="75112"/>
                </a:lnTo>
                <a:lnTo>
                  <a:pt x="8757856" y="112346"/>
                </a:lnTo>
                <a:lnTo>
                  <a:pt x="8772943" y="154554"/>
                </a:lnTo>
                <a:lnTo>
                  <a:pt x="8778240" y="200533"/>
                </a:lnTo>
                <a:lnTo>
                  <a:pt x="8778240" y="2967875"/>
                </a:lnTo>
                <a:lnTo>
                  <a:pt x="8772943" y="3013853"/>
                </a:lnTo>
                <a:lnTo>
                  <a:pt x="8757856" y="3056059"/>
                </a:lnTo>
                <a:lnTo>
                  <a:pt x="8734182" y="3093290"/>
                </a:lnTo>
                <a:lnTo>
                  <a:pt x="8703127" y="3124343"/>
                </a:lnTo>
                <a:lnTo>
                  <a:pt x="8665893" y="3148014"/>
                </a:lnTo>
                <a:lnTo>
                  <a:pt x="8623685" y="3163100"/>
                </a:lnTo>
                <a:lnTo>
                  <a:pt x="8577707" y="3168396"/>
                </a:lnTo>
                <a:lnTo>
                  <a:pt x="200520" y="3168396"/>
                </a:lnTo>
                <a:lnTo>
                  <a:pt x="154542" y="3163100"/>
                </a:lnTo>
                <a:lnTo>
                  <a:pt x="112336" y="3148014"/>
                </a:lnTo>
                <a:lnTo>
                  <a:pt x="75105" y="3124343"/>
                </a:lnTo>
                <a:lnTo>
                  <a:pt x="44052" y="3093290"/>
                </a:lnTo>
                <a:lnTo>
                  <a:pt x="20381" y="3056059"/>
                </a:lnTo>
                <a:lnTo>
                  <a:pt x="5295" y="3013853"/>
                </a:lnTo>
                <a:lnTo>
                  <a:pt x="0" y="2967875"/>
                </a:lnTo>
                <a:lnTo>
                  <a:pt x="0" y="200533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2866" y="2936239"/>
            <a:ext cx="41789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微软雅黑"/>
                <a:cs typeface="微软雅黑"/>
              </a:rPr>
              <a:t>利用</a:t>
            </a:r>
            <a:r>
              <a:rPr sz="2000" spc="-5" dirty="0">
                <a:latin typeface="微软雅黑"/>
                <a:cs typeface="微软雅黑"/>
              </a:rPr>
              <a:t>代</a:t>
            </a:r>
            <a:r>
              <a:rPr sz="2000" dirty="0">
                <a:latin typeface="微软雅黑"/>
                <a:cs typeface="微软雅黑"/>
              </a:rPr>
              <a:t>入规则证明多变</a:t>
            </a:r>
            <a:r>
              <a:rPr sz="2000" spc="-10" dirty="0">
                <a:latin typeface="微软雅黑"/>
                <a:cs typeface="微软雅黑"/>
              </a:rPr>
              <a:t>量</a:t>
            </a:r>
            <a:r>
              <a:rPr sz="2000" spc="-20" dirty="0">
                <a:latin typeface="微软雅黑"/>
                <a:cs typeface="微软雅黑"/>
              </a:rPr>
              <a:t>狄</a:t>
            </a:r>
            <a:r>
              <a:rPr sz="2000" spc="-10" dirty="0">
                <a:latin typeface="Arial"/>
                <a:cs typeface="Arial"/>
              </a:rPr>
              <a:t>·</a:t>
            </a:r>
            <a:r>
              <a:rPr sz="2000" dirty="0">
                <a:latin typeface="微软雅黑"/>
                <a:cs typeface="微软雅黑"/>
              </a:rPr>
              <a:t>摩根</a:t>
            </a:r>
            <a:r>
              <a:rPr sz="2000" spc="-15" dirty="0">
                <a:latin typeface="微软雅黑"/>
                <a:cs typeface="微软雅黑"/>
              </a:rPr>
              <a:t>定</a:t>
            </a:r>
            <a:r>
              <a:rPr sz="2000" dirty="0">
                <a:latin typeface="微软雅黑"/>
                <a:cs typeface="微软雅黑"/>
              </a:rPr>
              <a:t>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866" y="3423615"/>
            <a:ext cx="40792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754120" algn="l"/>
              </a:tabLst>
            </a:pPr>
            <a:r>
              <a:rPr sz="2000" dirty="0">
                <a:latin typeface="微软雅黑"/>
                <a:cs typeface="微软雅黑"/>
              </a:rPr>
              <a:t>狄</a:t>
            </a:r>
            <a:r>
              <a:rPr sz="2000" dirty="0">
                <a:latin typeface="Arial"/>
                <a:cs typeface="Arial"/>
              </a:rPr>
              <a:t>·</a:t>
            </a:r>
            <a:r>
              <a:rPr sz="2000" dirty="0">
                <a:latin typeface="微软雅黑"/>
                <a:cs typeface="微软雅黑"/>
              </a:rPr>
              <a:t>摩根定理</a:t>
            </a:r>
            <a:r>
              <a:rPr sz="2000" spc="5" dirty="0">
                <a:latin typeface="微软雅黑"/>
                <a:cs typeface="微软雅黑"/>
              </a:rPr>
              <a:t>：</a:t>
            </a:r>
            <a:r>
              <a:rPr sz="2000" dirty="0">
                <a:latin typeface="微软雅黑"/>
                <a:cs typeface="微软雅黑"/>
              </a:rPr>
              <a:t>	</a:t>
            </a:r>
            <a:r>
              <a:rPr sz="2000" dirty="0">
                <a:latin typeface="Arial"/>
                <a:cs typeface="Arial"/>
              </a:rPr>
              <a:t>(1)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08442" y="3423615"/>
            <a:ext cx="3371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(2)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61712" y="4499829"/>
            <a:ext cx="550545" cy="0"/>
          </a:xfrm>
          <a:custGeom>
            <a:avLst/>
            <a:gdLst/>
            <a:ahLst/>
            <a:cxnLst/>
            <a:rect l="l" t="t" r="r" b="b"/>
            <a:pathLst>
              <a:path w="550544">
                <a:moveTo>
                  <a:pt x="0" y="0"/>
                </a:moveTo>
                <a:lnTo>
                  <a:pt x="550023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02129" y="4499829"/>
            <a:ext cx="1160145" cy="0"/>
          </a:xfrm>
          <a:custGeom>
            <a:avLst/>
            <a:gdLst/>
            <a:ahLst/>
            <a:cxnLst/>
            <a:rect l="l" t="t" r="r" b="b"/>
            <a:pathLst>
              <a:path w="1160145">
                <a:moveTo>
                  <a:pt x="0" y="0"/>
                </a:moveTo>
                <a:lnTo>
                  <a:pt x="1159891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51732" y="4499829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>
                <a:moveTo>
                  <a:pt x="0" y="0"/>
                </a:moveTo>
                <a:lnTo>
                  <a:pt x="166373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78446" y="4499829"/>
            <a:ext cx="589280" cy="0"/>
          </a:xfrm>
          <a:custGeom>
            <a:avLst/>
            <a:gdLst/>
            <a:ahLst/>
            <a:cxnLst/>
            <a:rect l="l" t="t" r="r" b="b"/>
            <a:pathLst>
              <a:path w="589279">
                <a:moveTo>
                  <a:pt x="0" y="0"/>
                </a:moveTo>
                <a:lnTo>
                  <a:pt x="589002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57296" y="4499829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>
                <a:moveTo>
                  <a:pt x="0" y="0"/>
                </a:moveTo>
                <a:lnTo>
                  <a:pt x="166146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83784" y="4499829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0" y="0"/>
                </a:moveTo>
                <a:lnTo>
                  <a:pt x="174998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19123" y="4499829"/>
            <a:ext cx="196215" cy="0"/>
          </a:xfrm>
          <a:custGeom>
            <a:avLst/>
            <a:gdLst/>
            <a:ahLst/>
            <a:cxnLst/>
            <a:rect l="l" t="t" r="r" b="b"/>
            <a:pathLst>
              <a:path w="196214">
                <a:moveTo>
                  <a:pt x="0" y="0"/>
                </a:moveTo>
                <a:lnTo>
                  <a:pt x="195880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15615" y="4499829"/>
            <a:ext cx="972819" cy="0"/>
          </a:xfrm>
          <a:custGeom>
            <a:avLst/>
            <a:gdLst/>
            <a:ahLst/>
            <a:cxnLst/>
            <a:rect l="l" t="t" r="r" b="b"/>
            <a:pathLst>
              <a:path w="972820">
                <a:moveTo>
                  <a:pt x="0" y="0"/>
                </a:moveTo>
                <a:lnTo>
                  <a:pt x="972818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578281" y="4494149"/>
            <a:ext cx="120650" cy="6985"/>
          </a:xfrm>
          <a:custGeom>
            <a:avLst/>
            <a:gdLst/>
            <a:ahLst/>
            <a:cxnLst/>
            <a:rect l="l" t="t" r="r" b="b"/>
            <a:pathLst>
              <a:path w="120650" h="6985">
                <a:moveTo>
                  <a:pt x="120443" y="0"/>
                </a:moveTo>
                <a:lnTo>
                  <a:pt x="0" y="0"/>
                </a:lnTo>
                <a:lnTo>
                  <a:pt x="0" y="6967"/>
                </a:lnTo>
                <a:lnTo>
                  <a:pt x="1204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49630" y="4365497"/>
            <a:ext cx="8136890" cy="504825"/>
          </a:xfrm>
          <a:custGeom>
            <a:avLst/>
            <a:gdLst/>
            <a:ahLst/>
            <a:cxnLst/>
            <a:rect l="l" t="t" r="r" b="b"/>
            <a:pathLst>
              <a:path w="8136890" h="504825">
                <a:moveTo>
                  <a:pt x="0" y="84074"/>
                </a:moveTo>
                <a:lnTo>
                  <a:pt x="6607" y="51327"/>
                </a:lnTo>
                <a:lnTo>
                  <a:pt x="24625" y="24606"/>
                </a:lnTo>
                <a:lnTo>
                  <a:pt x="51349" y="6600"/>
                </a:lnTo>
                <a:lnTo>
                  <a:pt x="84073" y="0"/>
                </a:lnTo>
                <a:lnTo>
                  <a:pt x="8052562" y="0"/>
                </a:lnTo>
                <a:lnTo>
                  <a:pt x="8085308" y="6600"/>
                </a:lnTo>
                <a:lnTo>
                  <a:pt x="8112029" y="24606"/>
                </a:lnTo>
                <a:lnTo>
                  <a:pt x="8130035" y="51327"/>
                </a:lnTo>
                <a:lnTo>
                  <a:pt x="8136636" y="84074"/>
                </a:lnTo>
                <a:lnTo>
                  <a:pt x="8136636" y="420369"/>
                </a:lnTo>
                <a:lnTo>
                  <a:pt x="8130035" y="453116"/>
                </a:lnTo>
                <a:lnTo>
                  <a:pt x="8112029" y="479837"/>
                </a:lnTo>
                <a:lnTo>
                  <a:pt x="8085308" y="497843"/>
                </a:lnTo>
                <a:lnTo>
                  <a:pt x="8052562" y="504444"/>
                </a:lnTo>
                <a:lnTo>
                  <a:pt x="84073" y="504444"/>
                </a:lnTo>
                <a:lnTo>
                  <a:pt x="51349" y="497843"/>
                </a:lnTo>
                <a:lnTo>
                  <a:pt x="24625" y="479837"/>
                </a:lnTo>
                <a:lnTo>
                  <a:pt x="6607" y="453116"/>
                </a:lnTo>
                <a:lnTo>
                  <a:pt x="0" y="420369"/>
                </a:lnTo>
                <a:lnTo>
                  <a:pt x="0" y="84074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73005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逻辑代数运算的三个重要规则</a:t>
            </a:r>
          </a:p>
        </p:txBody>
      </p:sp>
      <p:sp>
        <p:nvSpPr>
          <p:cNvPr id="17" name="object 17"/>
          <p:cNvSpPr/>
          <p:nvPr/>
        </p:nvSpPr>
        <p:spPr>
          <a:xfrm>
            <a:off x="1109461" y="1101808"/>
            <a:ext cx="8193044" cy="15743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78408" y="1033272"/>
            <a:ext cx="8362188" cy="1680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43000" y="1115567"/>
            <a:ext cx="8130540" cy="15118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43000" y="1161034"/>
            <a:ext cx="813054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440" marR="183515" algn="just">
              <a:lnSpc>
                <a:spcPct val="100000"/>
              </a:lnSpc>
              <a:spcBef>
                <a:spcPts val="95"/>
              </a:spcBef>
            </a:pPr>
            <a:r>
              <a:rPr sz="2800" b="1" spc="15" dirty="0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代</a:t>
            </a:r>
            <a:r>
              <a:rPr sz="2800" b="1" dirty="0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入规则</a:t>
            </a:r>
            <a:r>
              <a:rPr sz="2800" b="1" spc="30" dirty="0">
                <a:solidFill>
                  <a:srgbClr val="FF0000"/>
                </a:solidFill>
                <a:latin typeface="Microsoft JhengHei"/>
                <a:cs typeface="Microsoft JhengHei"/>
              </a:rPr>
              <a:t>：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任何一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个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逻辑等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式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，将等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式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两边出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现</a:t>
            </a:r>
            <a:r>
              <a:rPr sz="2800" b="1" spc="-5" dirty="0">
                <a:solidFill>
                  <a:srgbClr val="12046E"/>
                </a:solidFill>
                <a:latin typeface="Microsoft JhengHei"/>
                <a:cs typeface="Microsoft JhengHei"/>
              </a:rPr>
              <a:t>的 </a:t>
            </a:r>
            <a:r>
              <a:rPr sz="2800" b="1" spc="1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同</a:t>
            </a:r>
            <a:r>
              <a:rPr sz="2800" b="1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一个逻</a:t>
            </a:r>
            <a:r>
              <a:rPr sz="2800" b="1" spc="1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辑</a:t>
            </a:r>
            <a:r>
              <a:rPr sz="2800" b="1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变量都</a:t>
            </a:r>
            <a:r>
              <a:rPr sz="2800" b="1" spc="1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代</a:t>
            </a:r>
            <a:r>
              <a:rPr sz="2800" b="1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之以同</a:t>
            </a:r>
            <a:r>
              <a:rPr sz="2800" b="1" spc="1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样</a:t>
            </a:r>
            <a:r>
              <a:rPr sz="2800" b="1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的逻辑</a:t>
            </a:r>
            <a:r>
              <a:rPr sz="2800" b="1" spc="1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函</a:t>
            </a:r>
            <a:r>
              <a:rPr sz="2800" b="1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数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，逻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辑</a:t>
            </a:r>
            <a:r>
              <a:rPr sz="2800" b="1" spc="-5" dirty="0">
                <a:solidFill>
                  <a:srgbClr val="12046E"/>
                </a:solidFill>
                <a:latin typeface="Microsoft JhengHei"/>
                <a:cs typeface="Microsoft JhengHei"/>
              </a:rPr>
              <a:t>等 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式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仍然成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立</a:t>
            </a:r>
            <a:r>
              <a:rPr sz="2800" b="1" spc="-5" dirty="0">
                <a:solidFill>
                  <a:srgbClr val="12046E"/>
                </a:solidFill>
                <a:latin typeface="Microsoft JhengHei"/>
                <a:cs typeface="Microsoft JhengHei"/>
              </a:rPr>
              <a:t>。</a:t>
            </a:r>
            <a:endParaRPr sz="2800" dirty="0">
              <a:latin typeface="Microsoft JhengHei"/>
              <a:cs typeface="Microsoft JhengHe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212960" y="5507193"/>
            <a:ext cx="593090" cy="0"/>
          </a:xfrm>
          <a:custGeom>
            <a:avLst/>
            <a:gdLst/>
            <a:ahLst/>
            <a:cxnLst/>
            <a:rect l="l" t="t" r="r" b="b"/>
            <a:pathLst>
              <a:path w="593089">
                <a:moveTo>
                  <a:pt x="0" y="0"/>
                </a:moveTo>
                <a:lnTo>
                  <a:pt x="593055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96484" y="5507193"/>
            <a:ext cx="1246505" cy="0"/>
          </a:xfrm>
          <a:custGeom>
            <a:avLst/>
            <a:gdLst/>
            <a:ahLst/>
            <a:cxnLst/>
            <a:rect l="l" t="t" r="r" b="b"/>
            <a:pathLst>
              <a:path w="1246504">
                <a:moveTo>
                  <a:pt x="0" y="0"/>
                </a:moveTo>
                <a:lnTo>
                  <a:pt x="1245953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32270" y="5507193"/>
            <a:ext cx="167640" cy="0"/>
          </a:xfrm>
          <a:custGeom>
            <a:avLst/>
            <a:gdLst/>
            <a:ahLst/>
            <a:cxnLst/>
            <a:rect l="l" t="t" r="r" b="b"/>
            <a:pathLst>
              <a:path w="167639">
                <a:moveTo>
                  <a:pt x="0" y="0"/>
                </a:moveTo>
                <a:lnTo>
                  <a:pt x="167110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16671" y="5507193"/>
            <a:ext cx="631825" cy="0"/>
          </a:xfrm>
          <a:custGeom>
            <a:avLst/>
            <a:gdLst/>
            <a:ahLst/>
            <a:cxnLst/>
            <a:rect l="l" t="t" r="r" b="b"/>
            <a:pathLst>
              <a:path w="631825">
                <a:moveTo>
                  <a:pt x="0" y="0"/>
                </a:moveTo>
                <a:lnTo>
                  <a:pt x="631661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38733" y="5507193"/>
            <a:ext cx="167005" cy="0"/>
          </a:xfrm>
          <a:custGeom>
            <a:avLst/>
            <a:gdLst/>
            <a:ahLst/>
            <a:cxnLst/>
            <a:rect l="l" t="t" r="r" b="b"/>
            <a:pathLst>
              <a:path w="167004">
                <a:moveTo>
                  <a:pt x="0" y="0"/>
                </a:moveTo>
                <a:lnTo>
                  <a:pt x="166429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322452" y="5507193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284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715254" y="5507193"/>
            <a:ext cx="196850" cy="0"/>
          </a:xfrm>
          <a:custGeom>
            <a:avLst/>
            <a:gdLst/>
            <a:ahLst/>
            <a:cxnLst/>
            <a:rect l="l" t="t" r="r" b="b"/>
            <a:pathLst>
              <a:path w="196850">
                <a:moveTo>
                  <a:pt x="0" y="0"/>
                </a:moveTo>
                <a:lnTo>
                  <a:pt x="196400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312630" y="5507193"/>
            <a:ext cx="1059180" cy="0"/>
          </a:xfrm>
          <a:custGeom>
            <a:avLst/>
            <a:gdLst/>
            <a:ahLst/>
            <a:cxnLst/>
            <a:rect l="l" t="t" r="r" b="b"/>
            <a:pathLst>
              <a:path w="1059179">
                <a:moveTo>
                  <a:pt x="0" y="0"/>
                </a:moveTo>
                <a:lnTo>
                  <a:pt x="1058747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661325" y="5507193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>
                <a:moveTo>
                  <a:pt x="0" y="0"/>
                </a:moveTo>
                <a:lnTo>
                  <a:pt x="166202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045044" y="5507193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284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437619" y="5507193"/>
            <a:ext cx="196850" cy="0"/>
          </a:xfrm>
          <a:custGeom>
            <a:avLst/>
            <a:gdLst/>
            <a:ahLst/>
            <a:cxnLst/>
            <a:rect l="l" t="t" r="r" b="b"/>
            <a:pathLst>
              <a:path w="196850">
                <a:moveTo>
                  <a:pt x="0" y="0"/>
                </a:moveTo>
                <a:lnTo>
                  <a:pt x="196627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32866" y="3852417"/>
            <a:ext cx="8020684" cy="197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6409" algn="l"/>
                <a:tab pos="1868805" algn="l"/>
              </a:tabLst>
            </a:pPr>
            <a:r>
              <a:rPr sz="2400" dirty="0">
                <a:latin typeface="微软雅黑"/>
                <a:cs typeface="微软雅黑"/>
              </a:rPr>
              <a:t>令</a:t>
            </a:r>
            <a:r>
              <a:rPr sz="2400" dirty="0">
                <a:highlight>
                  <a:srgbClr val="FFFF00"/>
                </a:highlight>
                <a:latin typeface="微软雅黑"/>
                <a:cs typeface="微软雅黑"/>
              </a:rPr>
              <a:t>	</a:t>
            </a:r>
            <a:r>
              <a:rPr sz="2400" b="1" spc="-3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B=C·D</a:t>
            </a:r>
            <a:r>
              <a:rPr sz="2400" b="1" spc="-30" dirty="0">
                <a:solidFill>
                  <a:srgbClr val="12046E"/>
                </a:solidFill>
                <a:latin typeface="Microsoft JhengHei"/>
                <a:cs typeface="Microsoft JhengHei"/>
              </a:rPr>
              <a:t>，	</a:t>
            </a:r>
            <a:r>
              <a:rPr sz="2000" dirty="0">
                <a:latin typeface="微软雅黑"/>
                <a:cs typeface="微软雅黑"/>
              </a:rPr>
              <a:t>代入（</a:t>
            </a:r>
            <a:r>
              <a:rPr sz="2000" dirty="0">
                <a:latin typeface="Arial"/>
                <a:cs typeface="Arial"/>
              </a:rPr>
              <a:t>1</a:t>
            </a:r>
            <a:r>
              <a:rPr sz="2000" dirty="0">
                <a:latin typeface="微软雅黑"/>
                <a:cs typeface="微软雅黑"/>
              </a:rPr>
              <a:t>）式：</a:t>
            </a:r>
          </a:p>
          <a:p>
            <a:pPr marL="645795">
              <a:lnSpc>
                <a:spcPct val="100000"/>
              </a:lnSpc>
              <a:spcBef>
                <a:spcPts val="2005"/>
              </a:spcBef>
            </a:pPr>
            <a:r>
              <a:rPr sz="2100" i="1" spc="35" dirty="0">
                <a:latin typeface="Times New Roman"/>
                <a:cs typeface="Times New Roman"/>
              </a:rPr>
              <a:t>A</a:t>
            </a:r>
            <a:r>
              <a:rPr sz="2100" i="1" spc="-310" dirty="0">
                <a:latin typeface="Times New Roman"/>
                <a:cs typeface="Times New Roman"/>
              </a:rPr>
              <a:t> </a:t>
            </a:r>
            <a:r>
              <a:rPr sz="2100" spc="25" dirty="0">
                <a:latin typeface="Symbol"/>
                <a:cs typeface="Symbol"/>
              </a:rPr>
              <a:t></a:t>
            </a:r>
            <a:r>
              <a:rPr sz="2100" spc="-145" dirty="0">
                <a:latin typeface="Times New Roman"/>
                <a:cs typeface="Times New Roman"/>
              </a:rPr>
              <a:t> </a:t>
            </a:r>
            <a:r>
              <a:rPr sz="2100" i="1" spc="35" dirty="0">
                <a:latin typeface="Times New Roman"/>
                <a:cs typeface="Times New Roman"/>
              </a:rPr>
              <a:t>B</a:t>
            </a:r>
            <a:r>
              <a:rPr sz="2100" i="1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</a:t>
            </a:r>
            <a:r>
              <a:rPr sz="2100" spc="135" dirty="0">
                <a:latin typeface="Times New Roman"/>
                <a:cs typeface="Times New Roman"/>
              </a:rPr>
              <a:t> </a:t>
            </a:r>
            <a:r>
              <a:rPr sz="2100" i="1" spc="35" dirty="0">
                <a:latin typeface="Times New Roman"/>
                <a:cs typeface="Times New Roman"/>
              </a:rPr>
              <a:t>A</a:t>
            </a:r>
            <a:r>
              <a:rPr sz="2100" i="1" spc="-305" dirty="0">
                <a:latin typeface="Times New Roman"/>
                <a:cs typeface="Times New Roman"/>
              </a:rPr>
              <a:t> </a:t>
            </a:r>
            <a:r>
              <a:rPr sz="2100" spc="25" dirty="0">
                <a:latin typeface="Symbol"/>
                <a:cs typeface="Symbol"/>
              </a:rPr>
              <a:t></a:t>
            </a:r>
            <a:r>
              <a:rPr sz="2100" spc="-245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Times New Roman"/>
                <a:cs typeface="Times New Roman"/>
              </a:rPr>
              <a:t>(</a:t>
            </a:r>
            <a:r>
              <a:rPr sz="2100" i="1" spc="20" dirty="0">
                <a:latin typeface="Times New Roman"/>
                <a:cs typeface="Times New Roman"/>
              </a:rPr>
              <a:t>C</a:t>
            </a:r>
            <a:r>
              <a:rPr sz="2100" i="1" spc="-125" dirty="0">
                <a:latin typeface="Times New Roman"/>
                <a:cs typeface="Times New Roman"/>
              </a:rPr>
              <a:t> </a:t>
            </a:r>
            <a:r>
              <a:rPr sz="2100" spc="25" dirty="0">
                <a:latin typeface="Symbol"/>
                <a:cs typeface="Symbol"/>
              </a:rPr>
              <a:t></a:t>
            </a:r>
            <a:r>
              <a:rPr sz="2100" spc="-145" dirty="0">
                <a:latin typeface="Times New Roman"/>
                <a:cs typeface="Times New Roman"/>
              </a:rPr>
              <a:t> </a:t>
            </a:r>
            <a:r>
              <a:rPr sz="2100" i="1" spc="55" dirty="0">
                <a:latin typeface="Times New Roman"/>
                <a:cs typeface="Times New Roman"/>
              </a:rPr>
              <a:t>D</a:t>
            </a:r>
            <a:r>
              <a:rPr sz="2100" spc="55" dirty="0">
                <a:latin typeface="Times New Roman"/>
                <a:cs typeface="Times New Roman"/>
              </a:rPr>
              <a:t>)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</a:t>
            </a:r>
            <a:r>
              <a:rPr sz="2100" spc="125" dirty="0">
                <a:latin typeface="Times New Roman"/>
                <a:cs typeface="Times New Roman"/>
              </a:rPr>
              <a:t> </a:t>
            </a:r>
            <a:r>
              <a:rPr sz="2100" i="1" spc="35" dirty="0">
                <a:latin typeface="Times New Roman"/>
                <a:cs typeface="Times New Roman"/>
              </a:rPr>
              <a:t>A</a:t>
            </a:r>
            <a:r>
              <a:rPr sz="2100" i="1" spc="-235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</a:t>
            </a:r>
            <a:r>
              <a:rPr sz="2100" spc="-200" dirty="0">
                <a:latin typeface="Times New Roman"/>
                <a:cs typeface="Times New Roman"/>
              </a:rPr>
              <a:t> </a:t>
            </a:r>
            <a:r>
              <a:rPr sz="2100" i="1" spc="40" dirty="0">
                <a:latin typeface="Times New Roman"/>
                <a:cs typeface="Times New Roman"/>
              </a:rPr>
              <a:t>C</a:t>
            </a:r>
            <a:r>
              <a:rPr sz="2100" i="1" spc="-125" dirty="0">
                <a:latin typeface="Times New Roman"/>
                <a:cs typeface="Times New Roman"/>
              </a:rPr>
              <a:t> </a:t>
            </a:r>
            <a:r>
              <a:rPr sz="2100" spc="25" dirty="0">
                <a:latin typeface="Symbol"/>
                <a:cs typeface="Symbol"/>
              </a:rPr>
              <a:t></a:t>
            </a:r>
            <a:r>
              <a:rPr sz="2100" spc="-145" dirty="0">
                <a:latin typeface="Times New Roman"/>
                <a:cs typeface="Times New Roman"/>
              </a:rPr>
              <a:t> </a:t>
            </a:r>
            <a:r>
              <a:rPr sz="2100" i="1" spc="40" dirty="0">
                <a:latin typeface="Times New Roman"/>
                <a:cs typeface="Times New Roman"/>
              </a:rPr>
              <a:t>D</a:t>
            </a:r>
            <a:r>
              <a:rPr sz="2100" i="1" spc="-5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</a:t>
            </a:r>
            <a:endParaRPr sz="2100" dirty="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  <a:tabLst>
                <a:tab pos="659765" algn="l"/>
              </a:tabLst>
            </a:pPr>
            <a:r>
              <a:rPr sz="2000" dirty="0">
                <a:latin typeface="微软雅黑"/>
                <a:cs typeface="微软雅黑"/>
              </a:rPr>
              <a:t>再</a:t>
            </a:r>
            <a:r>
              <a:rPr sz="2000" spc="5" dirty="0">
                <a:latin typeface="微软雅黑"/>
                <a:cs typeface="微软雅黑"/>
              </a:rPr>
              <a:t>令	</a:t>
            </a:r>
            <a:r>
              <a:rPr sz="2000" b="1" spc="-345" dirty="0">
                <a:solidFill>
                  <a:srgbClr val="12046E"/>
                </a:solidFill>
                <a:latin typeface="Microsoft JhengHei"/>
                <a:cs typeface="Microsoft JhengHei"/>
              </a:rPr>
              <a:t>B=C+D，</a:t>
            </a:r>
            <a:r>
              <a:rPr sz="2000" b="1" spc="-300" dirty="0">
                <a:solidFill>
                  <a:srgbClr val="12046E"/>
                </a:solidFill>
                <a:latin typeface="Microsoft JhengHei"/>
                <a:cs typeface="Microsoft JhengHei"/>
              </a:rPr>
              <a:t> </a:t>
            </a:r>
            <a:r>
              <a:rPr sz="2000" dirty="0">
                <a:latin typeface="微软雅黑"/>
                <a:cs typeface="微软雅黑"/>
              </a:rPr>
              <a:t>代入（</a:t>
            </a:r>
            <a:r>
              <a:rPr sz="2000" dirty="0">
                <a:latin typeface="Arial"/>
                <a:cs typeface="Arial"/>
              </a:rPr>
              <a:t>2</a:t>
            </a:r>
            <a:r>
              <a:rPr sz="2000" dirty="0">
                <a:latin typeface="微软雅黑"/>
                <a:cs typeface="微软雅黑"/>
              </a:rPr>
              <a:t>）式：</a:t>
            </a:r>
          </a:p>
          <a:p>
            <a:pPr marL="596900">
              <a:lnSpc>
                <a:spcPct val="100000"/>
              </a:lnSpc>
              <a:spcBef>
                <a:spcPts val="1310"/>
              </a:spcBef>
            </a:pPr>
            <a:r>
              <a:rPr sz="2100" i="1" spc="35" dirty="0">
                <a:latin typeface="Times New Roman"/>
                <a:cs typeface="Times New Roman"/>
              </a:rPr>
              <a:t>A</a:t>
            </a:r>
            <a:r>
              <a:rPr sz="2100" i="1" spc="-235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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i="1" spc="35" dirty="0">
                <a:latin typeface="Times New Roman"/>
                <a:cs typeface="Times New Roman"/>
              </a:rPr>
              <a:t>B</a:t>
            </a:r>
            <a:r>
              <a:rPr sz="2100" i="1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</a:t>
            </a:r>
            <a:r>
              <a:rPr sz="2100" spc="135" dirty="0">
                <a:latin typeface="Times New Roman"/>
                <a:cs typeface="Times New Roman"/>
              </a:rPr>
              <a:t> </a:t>
            </a:r>
            <a:r>
              <a:rPr sz="2100" i="1" spc="35" dirty="0">
                <a:latin typeface="Times New Roman"/>
                <a:cs typeface="Times New Roman"/>
              </a:rPr>
              <a:t>A</a:t>
            </a:r>
            <a:r>
              <a:rPr sz="2100" i="1" spc="-235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</a:t>
            </a:r>
            <a:r>
              <a:rPr sz="2100" spc="-17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Times New Roman"/>
                <a:cs typeface="Times New Roman"/>
              </a:rPr>
              <a:t>(</a:t>
            </a:r>
            <a:r>
              <a:rPr sz="2100" i="1" spc="20" dirty="0">
                <a:latin typeface="Times New Roman"/>
                <a:cs typeface="Times New Roman"/>
              </a:rPr>
              <a:t>C</a:t>
            </a:r>
            <a:r>
              <a:rPr sz="2100" i="1" spc="-60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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i="1" spc="55" dirty="0">
                <a:latin typeface="Times New Roman"/>
                <a:cs typeface="Times New Roman"/>
              </a:rPr>
              <a:t>D</a:t>
            </a:r>
            <a:r>
              <a:rPr sz="2100" spc="55" dirty="0">
                <a:latin typeface="Times New Roman"/>
                <a:cs typeface="Times New Roman"/>
              </a:rPr>
              <a:t>)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</a:t>
            </a:r>
            <a:r>
              <a:rPr sz="2100" spc="135" dirty="0">
                <a:latin typeface="Times New Roman"/>
                <a:cs typeface="Times New Roman"/>
              </a:rPr>
              <a:t> </a:t>
            </a:r>
            <a:r>
              <a:rPr sz="2100" i="1" spc="35" dirty="0">
                <a:latin typeface="Times New Roman"/>
                <a:cs typeface="Times New Roman"/>
              </a:rPr>
              <a:t>A</a:t>
            </a:r>
            <a:r>
              <a:rPr sz="2100" i="1" spc="-305" dirty="0">
                <a:latin typeface="Times New Roman"/>
                <a:cs typeface="Times New Roman"/>
              </a:rPr>
              <a:t> </a:t>
            </a:r>
            <a:r>
              <a:rPr sz="2100" spc="25" dirty="0">
                <a:latin typeface="Symbol"/>
                <a:cs typeface="Symbol"/>
              </a:rPr>
              <a:t></a:t>
            </a:r>
            <a:r>
              <a:rPr sz="2100" spc="-275" dirty="0">
                <a:latin typeface="Times New Roman"/>
                <a:cs typeface="Times New Roman"/>
              </a:rPr>
              <a:t> </a:t>
            </a:r>
            <a:r>
              <a:rPr sz="2100" i="1" spc="40" dirty="0">
                <a:latin typeface="Times New Roman"/>
                <a:cs typeface="Times New Roman"/>
              </a:rPr>
              <a:t>C</a:t>
            </a:r>
            <a:r>
              <a:rPr sz="2100" i="1" spc="-55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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i="1" spc="40" dirty="0">
                <a:latin typeface="Times New Roman"/>
                <a:cs typeface="Times New Roman"/>
              </a:rPr>
              <a:t>D</a:t>
            </a:r>
            <a:r>
              <a:rPr sz="2100" i="1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</a:t>
            </a:r>
            <a:r>
              <a:rPr sz="2100" spc="135" dirty="0">
                <a:latin typeface="Times New Roman"/>
                <a:cs typeface="Times New Roman"/>
              </a:rPr>
              <a:t> </a:t>
            </a:r>
            <a:r>
              <a:rPr sz="2100" i="1" spc="35" dirty="0">
                <a:latin typeface="Times New Roman"/>
                <a:cs typeface="Times New Roman"/>
              </a:rPr>
              <a:t>A</a:t>
            </a:r>
            <a:r>
              <a:rPr sz="2100" i="1" spc="-305" dirty="0">
                <a:latin typeface="Times New Roman"/>
                <a:cs typeface="Times New Roman"/>
              </a:rPr>
              <a:t> </a:t>
            </a:r>
            <a:r>
              <a:rPr sz="2100" spc="25" dirty="0">
                <a:latin typeface="Symbol"/>
                <a:cs typeface="Symbol"/>
              </a:rPr>
              <a:t></a:t>
            </a:r>
            <a:r>
              <a:rPr sz="2100" spc="-275" dirty="0">
                <a:latin typeface="Times New Roman"/>
                <a:cs typeface="Times New Roman"/>
              </a:rPr>
              <a:t> </a:t>
            </a:r>
            <a:r>
              <a:rPr sz="2100" i="1" spc="40" dirty="0">
                <a:latin typeface="Times New Roman"/>
                <a:cs typeface="Times New Roman"/>
              </a:rPr>
              <a:t>C</a:t>
            </a:r>
            <a:r>
              <a:rPr sz="2100" i="1" spc="-125" dirty="0">
                <a:latin typeface="Times New Roman"/>
                <a:cs typeface="Times New Roman"/>
              </a:rPr>
              <a:t> </a:t>
            </a:r>
            <a:r>
              <a:rPr sz="2100" spc="25" dirty="0">
                <a:latin typeface="Symbol"/>
                <a:cs typeface="Symbol"/>
              </a:rPr>
              <a:t></a:t>
            </a:r>
            <a:r>
              <a:rPr sz="2100" spc="-140" dirty="0">
                <a:latin typeface="Times New Roman"/>
                <a:cs typeface="Times New Roman"/>
              </a:rPr>
              <a:t> </a:t>
            </a:r>
            <a:r>
              <a:rPr sz="2100" i="1" spc="40" dirty="0">
                <a:latin typeface="Times New Roman"/>
                <a:cs typeface="Times New Roman"/>
              </a:rPr>
              <a:t>D</a:t>
            </a:r>
            <a:r>
              <a:rPr sz="2100" i="1" spc="-75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Symbol"/>
                <a:cs typeface="Symbol"/>
              </a:rPr>
              <a:t></a:t>
            </a:r>
            <a:r>
              <a:rPr sz="2100" spc="130" dirty="0">
                <a:latin typeface="Times New Roman"/>
                <a:cs typeface="Times New Roman"/>
              </a:rPr>
              <a:t> </a:t>
            </a:r>
            <a:r>
              <a:rPr sz="2100" i="1" spc="35" dirty="0">
                <a:latin typeface="Times New Roman"/>
                <a:cs typeface="Times New Roman"/>
              </a:rPr>
              <a:t>A</a:t>
            </a:r>
            <a:r>
              <a:rPr sz="2100" i="1" spc="-235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</a:t>
            </a:r>
            <a:r>
              <a:rPr sz="2100" spc="-200" dirty="0">
                <a:latin typeface="Times New Roman"/>
                <a:cs typeface="Times New Roman"/>
              </a:rPr>
              <a:t> </a:t>
            </a:r>
            <a:r>
              <a:rPr sz="2100" i="1" spc="40" dirty="0">
                <a:latin typeface="Times New Roman"/>
                <a:cs typeface="Times New Roman"/>
              </a:rPr>
              <a:t>C</a:t>
            </a:r>
            <a:r>
              <a:rPr sz="2100" i="1" spc="-55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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i="1" spc="40" dirty="0">
                <a:latin typeface="Times New Roman"/>
                <a:cs typeface="Times New Roman"/>
              </a:rPr>
              <a:t>D</a:t>
            </a:r>
            <a:r>
              <a:rPr sz="2100" i="1" spc="-5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</a:t>
            </a:r>
            <a:r>
              <a:rPr sz="2100" spc="135" dirty="0">
                <a:latin typeface="Times New Roman"/>
                <a:cs typeface="Times New Roman"/>
              </a:rPr>
              <a:t> </a:t>
            </a:r>
            <a:r>
              <a:rPr sz="2100" i="1" spc="35" dirty="0">
                <a:latin typeface="Times New Roman"/>
                <a:cs typeface="Times New Roman"/>
              </a:rPr>
              <a:t>A</a:t>
            </a:r>
            <a:r>
              <a:rPr sz="2100" i="1" spc="-300" dirty="0">
                <a:latin typeface="Times New Roman"/>
                <a:cs typeface="Times New Roman"/>
              </a:rPr>
              <a:t> </a:t>
            </a:r>
            <a:r>
              <a:rPr sz="2100" spc="25" dirty="0">
                <a:latin typeface="Symbol"/>
                <a:cs typeface="Symbol"/>
              </a:rPr>
              <a:t></a:t>
            </a:r>
            <a:r>
              <a:rPr sz="2100" spc="-280" dirty="0">
                <a:latin typeface="Times New Roman"/>
                <a:cs typeface="Times New Roman"/>
              </a:rPr>
              <a:t> </a:t>
            </a:r>
            <a:r>
              <a:rPr sz="2100" i="1" spc="40" dirty="0">
                <a:latin typeface="Times New Roman"/>
                <a:cs typeface="Times New Roman"/>
              </a:rPr>
              <a:t>C</a:t>
            </a:r>
            <a:r>
              <a:rPr sz="2100" i="1" spc="-110" dirty="0">
                <a:latin typeface="Times New Roman"/>
                <a:cs typeface="Times New Roman"/>
              </a:rPr>
              <a:t> </a:t>
            </a:r>
            <a:r>
              <a:rPr sz="2100" spc="25" dirty="0">
                <a:latin typeface="Symbol"/>
                <a:cs typeface="Symbol"/>
              </a:rPr>
              <a:t></a:t>
            </a:r>
            <a:r>
              <a:rPr sz="2100" spc="-145" dirty="0">
                <a:latin typeface="Times New Roman"/>
                <a:cs typeface="Times New Roman"/>
              </a:rPr>
              <a:t> </a:t>
            </a:r>
            <a:r>
              <a:rPr sz="2100" i="1" spc="40" dirty="0">
                <a:latin typeface="Times New Roman"/>
                <a:cs typeface="Times New Roman"/>
              </a:rPr>
              <a:t>D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49630" y="5374385"/>
            <a:ext cx="8136890" cy="502920"/>
          </a:xfrm>
          <a:custGeom>
            <a:avLst/>
            <a:gdLst/>
            <a:ahLst/>
            <a:cxnLst/>
            <a:rect l="l" t="t" r="r" b="b"/>
            <a:pathLst>
              <a:path w="8136890" h="502920">
                <a:moveTo>
                  <a:pt x="0" y="83819"/>
                </a:moveTo>
                <a:lnTo>
                  <a:pt x="6587" y="51167"/>
                </a:lnTo>
                <a:lnTo>
                  <a:pt x="24550" y="24526"/>
                </a:lnTo>
                <a:lnTo>
                  <a:pt x="51193" y="6578"/>
                </a:lnTo>
                <a:lnTo>
                  <a:pt x="83819" y="0"/>
                </a:lnTo>
                <a:lnTo>
                  <a:pt x="8052816" y="0"/>
                </a:lnTo>
                <a:lnTo>
                  <a:pt x="8085468" y="6578"/>
                </a:lnTo>
                <a:lnTo>
                  <a:pt x="8112109" y="24526"/>
                </a:lnTo>
                <a:lnTo>
                  <a:pt x="8130057" y="51167"/>
                </a:lnTo>
                <a:lnTo>
                  <a:pt x="8136636" y="83819"/>
                </a:lnTo>
                <a:lnTo>
                  <a:pt x="8136636" y="419100"/>
                </a:lnTo>
                <a:lnTo>
                  <a:pt x="8130057" y="451726"/>
                </a:lnTo>
                <a:lnTo>
                  <a:pt x="8112109" y="478369"/>
                </a:lnTo>
                <a:lnTo>
                  <a:pt x="8085468" y="496332"/>
                </a:lnTo>
                <a:lnTo>
                  <a:pt x="8052816" y="502919"/>
                </a:lnTo>
                <a:lnTo>
                  <a:pt x="83819" y="502919"/>
                </a:lnTo>
                <a:lnTo>
                  <a:pt x="51193" y="496332"/>
                </a:lnTo>
                <a:lnTo>
                  <a:pt x="24550" y="478369"/>
                </a:lnTo>
                <a:lnTo>
                  <a:pt x="6587" y="451726"/>
                </a:lnTo>
                <a:lnTo>
                  <a:pt x="0" y="419100"/>
                </a:lnTo>
                <a:lnTo>
                  <a:pt x="0" y="83819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451760" y="3491625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5">
                <a:moveTo>
                  <a:pt x="0" y="0"/>
                </a:moveTo>
                <a:lnTo>
                  <a:pt x="636456" y="0"/>
                </a:lnTo>
              </a:path>
            </a:pathLst>
          </a:custGeom>
          <a:ln w="11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23782" y="3491625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4">
                <a:moveTo>
                  <a:pt x="0" y="0"/>
                </a:moveTo>
                <a:lnTo>
                  <a:pt x="192377" y="0"/>
                </a:lnTo>
              </a:path>
            </a:pathLst>
          </a:custGeom>
          <a:ln w="11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917663" y="3491625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4">
                <a:moveTo>
                  <a:pt x="0" y="0"/>
                </a:moveTo>
                <a:lnTo>
                  <a:pt x="192377" y="0"/>
                </a:lnTo>
              </a:path>
            </a:pathLst>
          </a:custGeom>
          <a:ln w="11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458614" y="3461410"/>
            <a:ext cx="1668780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i="1" spc="225" dirty="0">
                <a:latin typeface="Times New Roman"/>
                <a:cs typeface="Times New Roman"/>
              </a:rPr>
              <a:t>A</a:t>
            </a:r>
            <a:r>
              <a:rPr sz="2100" i="1" spc="-260" dirty="0">
                <a:latin typeface="Times New Roman"/>
                <a:cs typeface="Times New Roman"/>
              </a:rPr>
              <a:t> </a:t>
            </a:r>
            <a:r>
              <a:rPr sz="2100" spc="170" dirty="0">
                <a:latin typeface="Symbol"/>
                <a:cs typeface="Symbol"/>
              </a:rPr>
              <a:t>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i="1" spc="225" dirty="0">
                <a:latin typeface="Times New Roman"/>
                <a:cs typeface="Times New Roman"/>
              </a:rPr>
              <a:t>B</a:t>
            </a:r>
            <a:r>
              <a:rPr sz="2100" i="1" spc="75" dirty="0">
                <a:latin typeface="Times New Roman"/>
                <a:cs typeface="Times New Roman"/>
              </a:rPr>
              <a:t> </a:t>
            </a:r>
            <a:r>
              <a:rPr sz="2100" spc="204" dirty="0">
                <a:latin typeface="Symbol"/>
                <a:cs typeface="Symbol"/>
              </a:rPr>
              <a:t>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i="1" spc="225" dirty="0">
                <a:latin typeface="Times New Roman"/>
                <a:cs typeface="Times New Roman"/>
              </a:rPr>
              <a:t>A</a:t>
            </a:r>
            <a:r>
              <a:rPr sz="2100" i="1" spc="-185" dirty="0">
                <a:latin typeface="Times New Roman"/>
                <a:cs typeface="Times New Roman"/>
              </a:rPr>
              <a:t> </a:t>
            </a:r>
            <a:r>
              <a:rPr sz="2100" spc="204" dirty="0">
                <a:latin typeface="Symbol"/>
                <a:cs typeface="Symbol"/>
              </a:rPr>
              <a:t>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i="1" spc="225" dirty="0">
                <a:latin typeface="Times New Roman"/>
                <a:cs typeface="Times New Roman"/>
              </a:rPr>
              <a:t>B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510428" y="3491625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646" y="0"/>
                </a:lnTo>
              </a:path>
            </a:pathLst>
          </a:custGeom>
          <a:ln w="11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532267" y="3491625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4">
                <a:moveTo>
                  <a:pt x="0" y="0"/>
                </a:moveTo>
                <a:lnTo>
                  <a:pt x="192403" y="0"/>
                </a:lnTo>
              </a:path>
            </a:pathLst>
          </a:custGeom>
          <a:ln w="11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976332" y="3491625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4">
                <a:moveTo>
                  <a:pt x="0" y="0"/>
                </a:moveTo>
                <a:lnTo>
                  <a:pt x="192377" y="0"/>
                </a:lnTo>
              </a:path>
            </a:pathLst>
          </a:custGeom>
          <a:ln w="11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517282" y="3461410"/>
            <a:ext cx="1668780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i="1" spc="225" dirty="0">
                <a:latin typeface="Times New Roman"/>
                <a:cs typeface="Times New Roman"/>
              </a:rPr>
              <a:t>A</a:t>
            </a:r>
            <a:r>
              <a:rPr sz="2100" i="1" spc="-185" dirty="0">
                <a:latin typeface="Times New Roman"/>
                <a:cs typeface="Times New Roman"/>
              </a:rPr>
              <a:t> </a:t>
            </a:r>
            <a:r>
              <a:rPr sz="2100" spc="204" dirty="0">
                <a:latin typeface="Symbol"/>
                <a:cs typeface="Symbol"/>
              </a:rPr>
              <a:t>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i="1" spc="225" dirty="0">
                <a:latin typeface="Times New Roman"/>
                <a:cs typeface="Times New Roman"/>
              </a:rPr>
              <a:t>B</a:t>
            </a:r>
            <a:r>
              <a:rPr sz="2100" i="1" spc="75" dirty="0">
                <a:latin typeface="Times New Roman"/>
                <a:cs typeface="Times New Roman"/>
              </a:rPr>
              <a:t> </a:t>
            </a:r>
            <a:r>
              <a:rPr sz="2100" spc="204" dirty="0">
                <a:latin typeface="Symbol"/>
                <a:cs typeface="Symbol"/>
              </a:rPr>
              <a:t>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i="1" spc="225" dirty="0">
                <a:latin typeface="Times New Roman"/>
                <a:cs typeface="Times New Roman"/>
              </a:rPr>
              <a:t>A</a:t>
            </a:r>
            <a:r>
              <a:rPr sz="2100" i="1" spc="-260" dirty="0">
                <a:latin typeface="Times New Roman"/>
                <a:cs typeface="Times New Roman"/>
              </a:rPr>
              <a:t> </a:t>
            </a:r>
            <a:r>
              <a:rPr sz="2100" spc="170" dirty="0">
                <a:latin typeface="Symbol"/>
                <a:cs typeface="Symbol"/>
              </a:rPr>
              <a:t>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i="1" spc="225" dirty="0">
                <a:latin typeface="Times New Roman"/>
                <a:cs typeface="Times New Roman"/>
              </a:rPr>
              <a:t>B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92251" y="1121663"/>
            <a:ext cx="653046" cy="151714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26770" y="1242822"/>
            <a:ext cx="381000" cy="1306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90"/>
              </a:spcBef>
            </a:pPr>
            <a:r>
              <a:rPr sz="2800" spc="-5" dirty="0">
                <a:solidFill>
                  <a:srgbClr val="F1F1F1"/>
                </a:solidFill>
                <a:latin typeface="微软雅黑"/>
                <a:cs typeface="微软雅黑"/>
              </a:rPr>
              <a:t>规 则 一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6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73005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逻辑代数运算的三个重要规则</a:t>
            </a:r>
          </a:p>
        </p:txBody>
      </p:sp>
      <p:sp>
        <p:nvSpPr>
          <p:cNvPr id="3" name="object 3"/>
          <p:cNvSpPr/>
          <p:nvPr/>
        </p:nvSpPr>
        <p:spPr>
          <a:xfrm>
            <a:off x="1114033" y="2407891"/>
            <a:ext cx="8193044" cy="14310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82980" y="2339327"/>
            <a:ext cx="8185404" cy="1254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47572" y="2421635"/>
            <a:ext cx="8130540" cy="13685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47572" y="2466848"/>
            <a:ext cx="813054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440" marR="356870">
              <a:lnSpc>
                <a:spcPct val="100000"/>
              </a:lnSpc>
              <a:spcBef>
                <a:spcPts val="95"/>
              </a:spcBef>
            </a:pPr>
            <a:r>
              <a:rPr sz="2800" b="1" spc="15" dirty="0" err="1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反</a:t>
            </a:r>
            <a:r>
              <a:rPr sz="2800" b="1" dirty="0" err="1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演规则</a:t>
            </a:r>
            <a:r>
              <a:rPr sz="2800" b="1" spc="30" dirty="0" err="1">
                <a:solidFill>
                  <a:srgbClr val="FF0000"/>
                </a:solidFill>
                <a:latin typeface="Microsoft JhengHei"/>
                <a:cs typeface="Microsoft JhengHei"/>
              </a:rPr>
              <a:t>：</a:t>
            </a:r>
            <a:r>
              <a:rPr sz="2800" b="1" dirty="0" err="1">
                <a:solidFill>
                  <a:srgbClr val="12046E"/>
                </a:solidFill>
                <a:latin typeface="Microsoft JhengHei"/>
                <a:cs typeface="Microsoft JhengHei"/>
              </a:rPr>
              <a:t>对于任</a:t>
            </a:r>
            <a:r>
              <a:rPr sz="2800" b="1" spc="15" dirty="0" err="1">
                <a:solidFill>
                  <a:srgbClr val="12046E"/>
                </a:solidFill>
                <a:latin typeface="Microsoft JhengHei"/>
                <a:cs typeface="Microsoft JhengHei"/>
              </a:rPr>
              <a:t>意</a:t>
            </a:r>
            <a:r>
              <a:rPr sz="2800" b="1" dirty="0" err="1">
                <a:solidFill>
                  <a:srgbClr val="12046E"/>
                </a:solidFill>
                <a:latin typeface="Microsoft JhengHei"/>
                <a:cs typeface="Microsoft JhengHei"/>
              </a:rPr>
              <a:t>逻辑函</a:t>
            </a:r>
            <a:r>
              <a:rPr lang="zh-CN" altLang="en-US" sz="2800" b="1" spc="45" dirty="0">
                <a:solidFill>
                  <a:srgbClr val="12046E"/>
                </a:solidFill>
                <a:latin typeface="Microsoft JhengHei"/>
                <a:cs typeface="Microsoft JhengHei"/>
              </a:rPr>
              <a:t>数</a:t>
            </a:r>
            <a:r>
              <a:rPr sz="2800" b="1" spc="-110" dirty="0" err="1">
                <a:solidFill>
                  <a:srgbClr val="12046E"/>
                </a:solidFill>
                <a:latin typeface="Microsoft JhengHei"/>
                <a:cs typeface="Microsoft JhengHei"/>
              </a:rPr>
              <a:t>F</a:t>
            </a:r>
            <a:r>
              <a:rPr sz="2800" b="1" spc="15" dirty="0" err="1">
                <a:solidFill>
                  <a:srgbClr val="12046E"/>
                </a:solidFill>
                <a:latin typeface="Microsoft JhengHei"/>
                <a:cs typeface="Microsoft JhengHei"/>
              </a:rPr>
              <a:t>，</a:t>
            </a:r>
            <a:r>
              <a:rPr sz="2800" b="1" dirty="0" err="1">
                <a:solidFill>
                  <a:srgbClr val="12046E"/>
                </a:solidFill>
                <a:latin typeface="Microsoft JhengHei"/>
                <a:cs typeface="Microsoft JhengHei"/>
              </a:rPr>
              <a:t>做</a:t>
            </a:r>
            <a:r>
              <a:rPr sz="2800" b="1" spc="15" dirty="0" err="1">
                <a:solidFill>
                  <a:srgbClr val="12046E"/>
                </a:solidFill>
                <a:latin typeface="Microsoft JhengHei"/>
                <a:cs typeface="Microsoft JhengHei"/>
              </a:rPr>
              <a:t>以</a:t>
            </a:r>
            <a:r>
              <a:rPr sz="2800" b="1" dirty="0" err="1">
                <a:solidFill>
                  <a:srgbClr val="12046E"/>
                </a:solidFill>
                <a:latin typeface="Microsoft JhengHei"/>
                <a:cs typeface="Microsoft JhengHei"/>
              </a:rPr>
              <a:t>下三种</a:t>
            </a:r>
            <a:r>
              <a:rPr sz="2800" b="1" spc="15" dirty="0" err="1">
                <a:solidFill>
                  <a:srgbClr val="12046E"/>
                </a:solidFill>
                <a:latin typeface="Microsoft JhengHei"/>
                <a:cs typeface="Microsoft JhengHei"/>
              </a:rPr>
              <a:t>变</a:t>
            </a:r>
            <a:r>
              <a:rPr sz="2800" b="1" spc="-5" dirty="0" err="1">
                <a:solidFill>
                  <a:srgbClr val="12046E"/>
                </a:solidFill>
                <a:latin typeface="Microsoft JhengHei"/>
                <a:cs typeface="Microsoft JhengHei"/>
              </a:rPr>
              <a:t>化</a:t>
            </a:r>
            <a:r>
              <a:rPr sz="2800" b="1" spc="-5" dirty="0">
                <a:solidFill>
                  <a:srgbClr val="12046E"/>
                </a:solidFill>
                <a:latin typeface="Microsoft JhengHei"/>
                <a:cs typeface="Microsoft JhengHei"/>
              </a:rPr>
              <a:t> 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后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可以得</a:t>
            </a:r>
            <a:r>
              <a:rPr sz="2800" b="1" spc="30" dirty="0">
                <a:solidFill>
                  <a:srgbClr val="12046E"/>
                </a:solidFill>
                <a:latin typeface="Microsoft JhengHei"/>
                <a:cs typeface="Microsoft JhengHei"/>
              </a:rPr>
              <a:t>到</a:t>
            </a:r>
            <a:r>
              <a:rPr sz="2800" b="1" spc="-110" dirty="0">
                <a:solidFill>
                  <a:srgbClr val="12046E"/>
                </a:solidFill>
                <a:latin typeface="Microsoft JhengHei"/>
                <a:cs typeface="Microsoft JhengHei"/>
              </a:rPr>
              <a:t>F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的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反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函数</a:t>
            </a:r>
            <a:r>
              <a:rPr sz="2800" b="1" spc="-100" dirty="0">
                <a:solidFill>
                  <a:srgbClr val="12046E"/>
                </a:solidFill>
                <a:latin typeface="Microsoft JhengHei"/>
                <a:cs typeface="Microsoft JhengHei"/>
              </a:rPr>
              <a:t>F</a:t>
            </a:r>
            <a:r>
              <a:rPr sz="2800" b="1" spc="-5" dirty="0">
                <a:solidFill>
                  <a:srgbClr val="12046E"/>
                </a:solidFill>
                <a:latin typeface="Microsoft JhengHei"/>
                <a:cs typeface="Microsoft JhengHei"/>
              </a:rPr>
              <a:t>。</a:t>
            </a:r>
            <a:endParaRPr sz="2800" dirty="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5300" y="2426207"/>
            <a:ext cx="653046" cy="13662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0732" y="2440304"/>
            <a:ext cx="381000" cy="1306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90"/>
              </a:spcBef>
            </a:pPr>
            <a:r>
              <a:rPr sz="2800" spc="-5" dirty="0">
                <a:solidFill>
                  <a:srgbClr val="F1F1F1"/>
                </a:solidFill>
                <a:latin typeface="微软雅黑"/>
                <a:cs typeface="微软雅黑"/>
              </a:rPr>
              <a:t>规 则 二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6062" y="3775709"/>
            <a:ext cx="8783320" cy="2463165"/>
          </a:xfrm>
          <a:custGeom>
            <a:avLst/>
            <a:gdLst/>
            <a:ahLst/>
            <a:cxnLst/>
            <a:rect l="l" t="t" r="r" b="b"/>
            <a:pathLst>
              <a:path w="8783320" h="2463165">
                <a:moveTo>
                  <a:pt x="0" y="2462784"/>
                </a:moveTo>
                <a:lnTo>
                  <a:pt x="8782812" y="2462784"/>
                </a:lnTo>
                <a:lnTo>
                  <a:pt x="8782812" y="0"/>
                </a:lnTo>
                <a:lnTo>
                  <a:pt x="0" y="0"/>
                </a:lnTo>
                <a:lnTo>
                  <a:pt x="0" y="2462784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6770" y="3817696"/>
            <a:ext cx="8453755" cy="23878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2440" indent="-460375">
              <a:lnSpc>
                <a:spcPct val="100000"/>
              </a:lnSpc>
              <a:spcBef>
                <a:spcPts val="100"/>
              </a:spcBef>
              <a:buSzPct val="95833"/>
              <a:buAutoNum type="arabicPlain"/>
              <a:tabLst>
                <a:tab pos="473075" algn="l"/>
              </a:tabLst>
            </a:pPr>
            <a:r>
              <a:rPr sz="2400" b="1" spc="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把原表达式中所有的</a:t>
            </a:r>
            <a:r>
              <a:rPr sz="2400" b="1" spc="60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“·”</a:t>
            </a:r>
            <a:r>
              <a:rPr sz="2400" b="1" spc="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运算符换成</a:t>
            </a:r>
            <a:r>
              <a:rPr sz="2400" b="1" spc="-19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“+”</a:t>
            </a:r>
            <a:r>
              <a:rPr sz="2400" b="1" spc="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运算符，同时</a:t>
            </a:r>
            <a:endParaRPr sz="2400" dirty="0">
              <a:highlight>
                <a:srgbClr val="FFFF00"/>
              </a:highlight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把所有的</a:t>
            </a:r>
            <a:r>
              <a:rPr sz="2400" b="1" spc="-19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“+”</a:t>
            </a: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运算符换成</a:t>
            </a:r>
            <a:r>
              <a:rPr sz="2400" b="1" spc="60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“·”</a:t>
            </a: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运算符</a:t>
            </a:r>
            <a:r>
              <a:rPr sz="2400" b="1" spc="10" dirty="0">
                <a:solidFill>
                  <a:srgbClr val="12046E"/>
                </a:solidFill>
                <a:latin typeface="Microsoft JhengHei"/>
                <a:cs typeface="Microsoft JhengHei"/>
              </a:rPr>
              <a:t>。</a:t>
            </a:r>
            <a:endParaRPr sz="2400" dirty="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  <a:buSzPct val="95833"/>
              <a:buAutoNum type="arabicPlain" startAt="2"/>
              <a:tabLst>
                <a:tab pos="473075" algn="l"/>
              </a:tabLst>
            </a:pP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把原表达式中所有的逻辑常量</a:t>
            </a:r>
            <a:r>
              <a:rPr sz="2400" b="1" spc="1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“</a:t>
            </a:r>
            <a:r>
              <a:rPr sz="2400" b="1" spc="-22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0</a:t>
            </a: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”换成逻辑常量“</a:t>
            </a:r>
            <a:r>
              <a:rPr sz="2400" b="1" spc="-22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1</a:t>
            </a: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”，而 把所有的逻辑常量</a:t>
            </a:r>
            <a:r>
              <a:rPr sz="2400" b="1" spc="-7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“1”</a:t>
            </a: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换成逻辑常量</a:t>
            </a:r>
            <a:r>
              <a:rPr sz="2400" b="1" spc="-7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“0”</a:t>
            </a:r>
            <a:r>
              <a:rPr sz="2400" b="1" spc="10" dirty="0">
                <a:solidFill>
                  <a:srgbClr val="12046E"/>
                </a:solidFill>
                <a:latin typeface="Microsoft JhengHei"/>
                <a:cs typeface="Microsoft JhengHei"/>
              </a:rPr>
              <a:t>。</a:t>
            </a:r>
            <a:endParaRPr sz="2400" dirty="0">
              <a:latin typeface="Microsoft JhengHei"/>
              <a:cs typeface="Microsoft JhengHei"/>
            </a:endParaRPr>
          </a:p>
          <a:p>
            <a:pPr marL="12700" marR="8255">
              <a:lnSpc>
                <a:spcPts val="2770"/>
              </a:lnSpc>
              <a:spcBef>
                <a:spcPts val="785"/>
              </a:spcBef>
              <a:buSzPct val="95833"/>
              <a:buAutoNum type="arabicPlain" startAt="2"/>
              <a:tabLst>
                <a:tab pos="473075" algn="l"/>
              </a:tabLst>
            </a:pP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把原表达式中所有的原变量换成反变量，再把所有的反变量 换成原变量</a:t>
            </a:r>
            <a:r>
              <a:rPr sz="2400" b="1" spc="10" dirty="0">
                <a:solidFill>
                  <a:srgbClr val="12046E"/>
                </a:solidFill>
                <a:latin typeface="Microsoft JhengHei"/>
                <a:cs typeface="Microsoft JhengHei"/>
              </a:rPr>
              <a:t>。</a:t>
            </a:r>
            <a:endParaRPr sz="2400" dirty="0">
              <a:latin typeface="Microsoft JhengHei"/>
              <a:cs typeface="Microsoft JhengHe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04442" y="1928234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167" y="0"/>
                </a:lnTo>
              </a:path>
            </a:pathLst>
          </a:custGeom>
          <a:ln w="147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15823" y="1026413"/>
            <a:ext cx="8418830" cy="131445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1099"/>
              </a:lnSpc>
              <a:spcBef>
                <a:spcPts val="60"/>
              </a:spcBef>
            </a:pPr>
            <a:r>
              <a:rPr sz="2800" b="1" spc="15" dirty="0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反</a:t>
            </a:r>
            <a:r>
              <a:rPr sz="2800" b="1" dirty="0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函数</a:t>
            </a:r>
            <a:r>
              <a:rPr sz="2800" b="1" spc="15" dirty="0">
                <a:solidFill>
                  <a:srgbClr val="FF0000"/>
                </a:solidFill>
                <a:latin typeface="Microsoft JhengHei"/>
                <a:cs typeface="Microsoft JhengHei"/>
              </a:rPr>
              <a:t>：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若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两个逻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辑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函</a:t>
            </a:r>
            <a:r>
              <a:rPr sz="2800" b="1" spc="40" dirty="0">
                <a:solidFill>
                  <a:srgbClr val="12046E"/>
                </a:solidFill>
                <a:latin typeface="Microsoft JhengHei"/>
                <a:cs typeface="Microsoft JhengHei"/>
              </a:rPr>
              <a:t>数</a:t>
            </a:r>
            <a:r>
              <a:rPr sz="2800" b="1" spc="-110" dirty="0">
                <a:solidFill>
                  <a:srgbClr val="12046E"/>
                </a:solidFill>
                <a:latin typeface="Microsoft JhengHei"/>
                <a:cs typeface="Microsoft JhengHei"/>
              </a:rPr>
              <a:t>F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和</a:t>
            </a:r>
            <a:r>
              <a:rPr sz="2800" b="1" spc="-700" dirty="0">
                <a:solidFill>
                  <a:srgbClr val="12046E"/>
                </a:solidFill>
                <a:latin typeface="Microsoft JhengHei"/>
                <a:cs typeface="Microsoft JhengHei"/>
              </a:rPr>
              <a:t>G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的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输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入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变量相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同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，而</a:t>
            </a:r>
            <a:r>
              <a:rPr sz="2800" b="1" spc="35" dirty="0">
                <a:solidFill>
                  <a:srgbClr val="12046E"/>
                </a:solidFill>
                <a:latin typeface="Microsoft JhengHei"/>
                <a:cs typeface="Microsoft JhengHei"/>
              </a:rPr>
              <a:t>且</a:t>
            </a:r>
            <a:r>
              <a:rPr sz="2800" b="1" spc="-85" dirty="0">
                <a:solidFill>
                  <a:srgbClr val="12046E"/>
                </a:solidFill>
                <a:latin typeface="Microsoft JhengHei"/>
                <a:cs typeface="Microsoft JhengHei"/>
              </a:rPr>
              <a:t>F 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和</a:t>
            </a:r>
            <a:r>
              <a:rPr sz="2800" b="1" spc="-700" dirty="0">
                <a:solidFill>
                  <a:srgbClr val="12046E"/>
                </a:solidFill>
                <a:latin typeface="Microsoft JhengHei"/>
                <a:cs typeface="Microsoft JhengHei"/>
              </a:rPr>
              <a:t>G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对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于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任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意的一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组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输入变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量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取值都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有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相反的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函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数值</a:t>
            </a:r>
            <a:r>
              <a:rPr sz="2800" b="1" spc="-5" dirty="0">
                <a:solidFill>
                  <a:srgbClr val="12046E"/>
                </a:solidFill>
                <a:latin typeface="Microsoft JhengHei"/>
                <a:cs typeface="Microsoft JhengHei"/>
              </a:rPr>
              <a:t>，  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则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称这两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个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函数互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反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（互补</a:t>
            </a:r>
            <a:r>
              <a:rPr sz="2800" b="1" spc="5" dirty="0">
                <a:solidFill>
                  <a:srgbClr val="12046E"/>
                </a:solidFill>
                <a:latin typeface="Microsoft JhengHei"/>
                <a:cs typeface="Microsoft JhengHei"/>
              </a:rPr>
              <a:t>），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记</a:t>
            </a:r>
            <a:r>
              <a:rPr sz="2800" b="1" spc="-5" dirty="0">
                <a:solidFill>
                  <a:srgbClr val="12046E"/>
                </a:solidFill>
                <a:latin typeface="Microsoft JhengHei"/>
                <a:cs typeface="Microsoft JhengHei"/>
              </a:rPr>
              <a:t>做</a:t>
            </a:r>
            <a:r>
              <a:rPr sz="2800" b="1" spc="495" dirty="0">
                <a:solidFill>
                  <a:srgbClr val="12046E"/>
                </a:solidFill>
                <a:latin typeface="Microsoft JhengHei"/>
                <a:cs typeface="Microsoft JhengHei"/>
              </a:rPr>
              <a:t> </a:t>
            </a:r>
            <a:r>
              <a:rPr sz="2750" i="1" spc="10" dirty="0">
                <a:latin typeface="Times New Roman"/>
                <a:cs typeface="Times New Roman"/>
              </a:rPr>
              <a:t>F</a:t>
            </a:r>
            <a:r>
              <a:rPr sz="2750" i="1" spc="245" dirty="0">
                <a:latin typeface="Times New Roman"/>
                <a:cs typeface="Times New Roman"/>
              </a:rPr>
              <a:t> </a:t>
            </a:r>
            <a:r>
              <a:rPr sz="2750" spc="10" dirty="0">
                <a:latin typeface="Symbol"/>
                <a:cs typeface="Symbol"/>
              </a:rPr>
              <a:t></a:t>
            </a:r>
            <a:r>
              <a:rPr sz="2750" spc="39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12046E"/>
                </a:solidFill>
                <a:latin typeface="Microsoft JhengHei"/>
                <a:cs typeface="Microsoft JhengHei"/>
              </a:rPr>
              <a:t>。</a:t>
            </a:r>
            <a:endParaRPr sz="2800" dirty="0">
              <a:latin typeface="Microsoft JhengHei"/>
              <a:cs typeface="Microsoft JhengHe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52009" y="2964942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7" y="0"/>
                </a:lnTo>
              </a:path>
            </a:pathLst>
          </a:custGeom>
          <a:ln w="19812">
            <a:solidFill>
              <a:srgbClr val="09007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6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50">
            <a:extLst>
              <a:ext uri="{FF2B5EF4-FFF2-40B4-BE49-F238E27FC236}">
                <a16:creationId xmlns:a16="http://schemas.microsoft.com/office/drawing/2014/main" id="{62EB4E8A-F205-EEAD-6ED9-754860968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"/>
            <a:ext cx="9483356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301828"/>
            <a:ext cx="66268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逻辑代数运算的三个重要规则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74040" y="1098296"/>
            <a:ext cx="8702040" cy="3148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92100">
              <a:lnSpc>
                <a:spcPct val="100000"/>
              </a:lnSpc>
              <a:spcBef>
                <a:spcPts val="95"/>
              </a:spcBef>
            </a:pPr>
            <a:r>
              <a:rPr sz="2800" b="1" spc="15" dirty="0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对</a:t>
            </a:r>
            <a:r>
              <a:rPr sz="2800" b="1" spc="5" dirty="0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偶式</a:t>
            </a:r>
            <a:r>
              <a:rPr sz="2800" b="1" spc="10" dirty="0">
                <a:solidFill>
                  <a:srgbClr val="FF0000"/>
                </a:solidFill>
                <a:latin typeface="Microsoft JhengHei"/>
                <a:cs typeface="Microsoft JhengHei"/>
              </a:rPr>
              <a:t>：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对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于任意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逻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辑函</a:t>
            </a:r>
            <a:r>
              <a:rPr sz="2800" b="1" spc="30" dirty="0">
                <a:solidFill>
                  <a:srgbClr val="12046E"/>
                </a:solidFill>
                <a:latin typeface="Microsoft JhengHei"/>
                <a:cs typeface="Microsoft JhengHei"/>
              </a:rPr>
              <a:t>数</a:t>
            </a:r>
            <a:r>
              <a:rPr sz="2800" b="1" spc="-100" dirty="0">
                <a:solidFill>
                  <a:srgbClr val="12046E"/>
                </a:solidFill>
                <a:latin typeface="Microsoft JhengHei"/>
                <a:cs typeface="Microsoft JhengHei"/>
              </a:rPr>
              <a:t>F</a:t>
            </a:r>
            <a:r>
              <a:rPr sz="2800" b="1" spc="5" dirty="0">
                <a:solidFill>
                  <a:srgbClr val="12046E"/>
                </a:solidFill>
                <a:latin typeface="Microsoft JhengHei"/>
                <a:cs typeface="Microsoft JhengHei"/>
              </a:rPr>
              <a:t>，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做</a:t>
            </a:r>
            <a:r>
              <a:rPr sz="2800" b="1" spc="5" dirty="0">
                <a:solidFill>
                  <a:srgbClr val="12046E"/>
                </a:solidFill>
                <a:latin typeface="Microsoft JhengHei"/>
                <a:cs typeface="Microsoft JhengHei"/>
              </a:rPr>
              <a:t>以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下</a:t>
            </a:r>
            <a:r>
              <a:rPr sz="2800" b="1" spc="5" dirty="0">
                <a:solidFill>
                  <a:srgbClr val="12046E"/>
                </a:solidFill>
                <a:latin typeface="Microsoft JhengHei"/>
                <a:cs typeface="Microsoft JhengHei"/>
              </a:rPr>
              <a:t>三种变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化</a:t>
            </a:r>
            <a:r>
              <a:rPr sz="2800" b="1" spc="5" dirty="0">
                <a:solidFill>
                  <a:srgbClr val="12046E"/>
                </a:solidFill>
                <a:latin typeface="Microsoft JhengHei"/>
                <a:cs typeface="Microsoft JhengHei"/>
              </a:rPr>
              <a:t>后即</a:t>
            </a:r>
            <a:r>
              <a:rPr sz="2800" b="1" spc="-5" dirty="0">
                <a:solidFill>
                  <a:srgbClr val="12046E"/>
                </a:solidFill>
                <a:latin typeface="Microsoft JhengHei"/>
                <a:cs typeface="Microsoft JhengHei"/>
              </a:rPr>
              <a:t>得 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到</a:t>
            </a:r>
            <a:r>
              <a:rPr sz="2800" b="1" spc="-110" dirty="0">
                <a:solidFill>
                  <a:srgbClr val="12046E"/>
                </a:solidFill>
                <a:latin typeface="Microsoft JhengHei"/>
                <a:cs typeface="Microsoft JhengHei"/>
              </a:rPr>
              <a:t>F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的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对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偶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式（对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偶</a:t>
            </a:r>
            <a:r>
              <a:rPr sz="2800" b="1" dirty="0">
                <a:solidFill>
                  <a:srgbClr val="12046E"/>
                </a:solidFill>
                <a:latin typeface="Microsoft JhengHei"/>
                <a:cs typeface="Microsoft JhengHei"/>
              </a:rPr>
              <a:t>函数</a:t>
            </a:r>
            <a:r>
              <a:rPr sz="2800" b="1" spc="-20" dirty="0">
                <a:solidFill>
                  <a:srgbClr val="12046E"/>
                </a:solidFill>
                <a:latin typeface="Microsoft JhengHei"/>
                <a:cs typeface="Microsoft JhengHei"/>
              </a:rPr>
              <a:t>）F’</a:t>
            </a:r>
            <a:r>
              <a:rPr sz="2800" b="1" spc="-5" dirty="0">
                <a:solidFill>
                  <a:srgbClr val="12046E"/>
                </a:solidFill>
                <a:latin typeface="Microsoft JhengHei"/>
                <a:cs typeface="Microsoft JhengHei"/>
              </a:rPr>
              <a:t>。</a:t>
            </a:r>
            <a:endParaRPr sz="2800" dirty="0">
              <a:latin typeface="Microsoft JhengHei"/>
              <a:cs typeface="Microsoft JhengHei"/>
            </a:endParaRPr>
          </a:p>
          <a:p>
            <a:pPr marL="413384" marR="5080">
              <a:lnSpc>
                <a:spcPct val="100000"/>
              </a:lnSpc>
              <a:spcBef>
                <a:spcPts val="1180"/>
              </a:spcBef>
              <a:buSzPct val="95833"/>
              <a:buAutoNum type="arabicPlain"/>
              <a:tabLst>
                <a:tab pos="874394" algn="l"/>
              </a:tabLst>
            </a:pP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把原表达式中所有的“</a:t>
            </a:r>
            <a:r>
              <a:rPr sz="2400" b="1" spc="179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·</a:t>
            </a: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”运算符换成“</a:t>
            </a:r>
            <a:r>
              <a:rPr sz="2400" b="1" spc="-58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+</a:t>
            </a: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”运算符，同时 把所有的</a:t>
            </a:r>
            <a:r>
              <a:rPr sz="2400" b="1" spc="-19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“+”</a:t>
            </a: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运算符换成</a:t>
            </a:r>
            <a:r>
              <a:rPr sz="2400" b="1" spc="60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“·”</a:t>
            </a: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运算符</a:t>
            </a:r>
            <a:r>
              <a:rPr sz="2400" b="1" spc="10" dirty="0">
                <a:solidFill>
                  <a:srgbClr val="12046E"/>
                </a:solidFill>
                <a:latin typeface="Microsoft JhengHei"/>
                <a:cs typeface="Microsoft JhengHei"/>
              </a:rPr>
              <a:t>。</a:t>
            </a:r>
            <a:endParaRPr sz="2400" dirty="0">
              <a:latin typeface="Microsoft JhengHei"/>
              <a:cs typeface="Microsoft JhengHei"/>
            </a:endParaRPr>
          </a:p>
          <a:p>
            <a:pPr marL="413384" marR="158750">
              <a:lnSpc>
                <a:spcPct val="100000"/>
              </a:lnSpc>
              <a:spcBef>
                <a:spcPts val="1200"/>
              </a:spcBef>
              <a:buSzPct val="95833"/>
              <a:buAutoNum type="arabicPlain"/>
              <a:tabLst>
                <a:tab pos="874394" algn="l"/>
              </a:tabLst>
            </a:pP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把原表达式中所有的逻辑常量</a:t>
            </a:r>
            <a:r>
              <a:rPr sz="2400" b="1" spc="1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“</a:t>
            </a:r>
            <a:r>
              <a:rPr sz="2400" b="1" spc="-22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0</a:t>
            </a: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”换成逻辑常量</a:t>
            </a:r>
            <a:r>
              <a:rPr sz="2400" b="1" spc="1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“</a:t>
            </a:r>
            <a:r>
              <a:rPr sz="2400" b="1" spc="-22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1</a:t>
            </a: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”， </a:t>
            </a:r>
            <a:r>
              <a:rPr sz="2400" b="1" spc="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而把所有的逻辑常量</a:t>
            </a:r>
            <a:r>
              <a:rPr sz="2400" b="1" spc="-7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“1”</a:t>
            </a:r>
            <a:r>
              <a:rPr sz="2400" b="1" spc="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换成逻辑常量</a:t>
            </a:r>
            <a:r>
              <a:rPr sz="2400" b="1" spc="-7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“0”</a:t>
            </a:r>
            <a:r>
              <a:rPr sz="2400" b="1" spc="5" dirty="0">
                <a:solidFill>
                  <a:srgbClr val="12046E"/>
                </a:solidFill>
                <a:latin typeface="Microsoft JhengHei"/>
                <a:cs typeface="Microsoft JhengHei"/>
              </a:rPr>
              <a:t>。</a:t>
            </a:r>
            <a:endParaRPr sz="2400" dirty="0">
              <a:latin typeface="Microsoft JhengHei"/>
              <a:cs typeface="Microsoft JhengHei"/>
            </a:endParaRPr>
          </a:p>
          <a:p>
            <a:pPr marL="873760" indent="-461009">
              <a:lnSpc>
                <a:spcPct val="100000"/>
              </a:lnSpc>
              <a:spcBef>
                <a:spcPts val="1095"/>
              </a:spcBef>
              <a:buSzPct val="95833"/>
              <a:buAutoNum type="arabicPlain"/>
              <a:tabLst>
                <a:tab pos="874394" algn="l"/>
              </a:tabLst>
            </a:pPr>
            <a:r>
              <a:rPr sz="2400" b="1" spc="10" dirty="0">
                <a:solidFill>
                  <a:srgbClr val="12046E"/>
                </a:solidFill>
                <a:latin typeface="Microsoft JhengHei"/>
                <a:cs typeface="Microsoft JhengHei"/>
              </a:rPr>
              <a:t>原表达式中所有的</a:t>
            </a:r>
            <a:r>
              <a:rPr sz="2400" b="1" spc="10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原变量和反变量均保持不变</a:t>
            </a:r>
            <a:r>
              <a:rPr sz="2400" b="1" spc="10" dirty="0">
                <a:solidFill>
                  <a:srgbClr val="12046E"/>
                </a:solidFill>
                <a:latin typeface="Microsoft JhengHei"/>
                <a:cs typeface="Microsoft JhengHei"/>
              </a:rPr>
              <a:t>。</a:t>
            </a:r>
            <a:endParaRPr sz="2400" dirty="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37604" y="4912908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0" y="0"/>
                </a:moveTo>
                <a:lnTo>
                  <a:pt x="174876" y="0"/>
                </a:lnTo>
              </a:path>
            </a:pathLst>
          </a:custGeom>
          <a:ln w="119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98238" y="4912908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>
                <a:moveTo>
                  <a:pt x="0" y="0"/>
                </a:moveTo>
                <a:lnTo>
                  <a:pt x="206047" y="0"/>
                </a:lnTo>
              </a:path>
            </a:pathLst>
          </a:custGeom>
          <a:ln w="119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12727" y="4912908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231" y="0"/>
                </a:lnTo>
              </a:path>
            </a:pathLst>
          </a:custGeom>
          <a:ln w="119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70292" y="4912908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>
                <a:moveTo>
                  <a:pt x="0" y="0"/>
                </a:moveTo>
                <a:lnTo>
                  <a:pt x="205975" y="0"/>
                </a:lnTo>
              </a:path>
            </a:pathLst>
          </a:custGeom>
          <a:ln w="119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37452" y="4881593"/>
            <a:ext cx="2461260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i="1" spc="40" dirty="0">
                <a:latin typeface="Times New Roman"/>
                <a:cs typeface="Times New Roman"/>
              </a:rPr>
              <a:t>F</a:t>
            </a:r>
            <a:r>
              <a:rPr sz="2200" i="1" spc="-320" dirty="0">
                <a:latin typeface="Times New Roman"/>
                <a:cs typeface="Times New Roman"/>
              </a:rPr>
              <a:t> </a:t>
            </a:r>
            <a:r>
              <a:rPr sz="2200" spc="10" dirty="0">
                <a:latin typeface="Times New Roman"/>
                <a:cs typeface="Times New Roman"/>
              </a:rPr>
              <a:t>'</a:t>
            </a:r>
            <a:r>
              <a:rPr sz="2200" spc="-335" dirty="0">
                <a:latin typeface="Times New Roman"/>
                <a:cs typeface="Times New Roman"/>
              </a:rPr>
              <a:t> </a:t>
            </a:r>
            <a:r>
              <a:rPr sz="2200" spc="35" dirty="0">
                <a:latin typeface="Symbol"/>
                <a:cs typeface="Symbol"/>
              </a:rPr>
              <a:t>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20" dirty="0">
                <a:latin typeface="Times New Roman"/>
                <a:cs typeface="Times New Roman"/>
              </a:rPr>
              <a:t>(</a:t>
            </a:r>
            <a:r>
              <a:rPr sz="2200" spc="-325" dirty="0">
                <a:latin typeface="Times New Roman"/>
                <a:cs typeface="Times New Roman"/>
              </a:rPr>
              <a:t> </a:t>
            </a:r>
            <a:r>
              <a:rPr sz="2200" i="1" spc="40" dirty="0">
                <a:latin typeface="Times New Roman"/>
                <a:cs typeface="Times New Roman"/>
              </a:rPr>
              <a:t>A</a:t>
            </a:r>
            <a:r>
              <a:rPr sz="2200" i="1" spc="-250" dirty="0">
                <a:latin typeface="Times New Roman"/>
                <a:cs typeface="Times New Roman"/>
              </a:rPr>
              <a:t> </a:t>
            </a:r>
            <a:r>
              <a:rPr sz="2200" spc="35" dirty="0">
                <a:latin typeface="Symbol"/>
                <a:cs typeface="Symbol"/>
              </a:rPr>
              <a:t>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i="1" spc="60" dirty="0">
                <a:latin typeface="Times New Roman"/>
                <a:cs typeface="Times New Roman"/>
              </a:rPr>
              <a:t>B</a:t>
            </a:r>
            <a:r>
              <a:rPr sz="2200" spc="60" dirty="0">
                <a:latin typeface="Times New Roman"/>
                <a:cs typeface="Times New Roman"/>
              </a:rPr>
              <a:t>)</a:t>
            </a:r>
            <a:r>
              <a:rPr sz="2200" spc="-254" dirty="0">
                <a:latin typeface="Times New Roman"/>
                <a:cs typeface="Times New Roman"/>
              </a:rPr>
              <a:t> </a:t>
            </a:r>
            <a:r>
              <a:rPr sz="2200" spc="30" dirty="0">
                <a:latin typeface="Symbol"/>
                <a:cs typeface="Symbol"/>
              </a:rPr>
              <a:t></a:t>
            </a:r>
            <a:r>
              <a:rPr sz="2200" spc="-265" dirty="0">
                <a:latin typeface="Times New Roman"/>
                <a:cs typeface="Times New Roman"/>
              </a:rPr>
              <a:t> </a:t>
            </a:r>
            <a:r>
              <a:rPr sz="2200" spc="25" dirty="0">
                <a:latin typeface="Times New Roman"/>
                <a:cs typeface="Times New Roman"/>
              </a:rPr>
              <a:t>(</a:t>
            </a:r>
            <a:r>
              <a:rPr sz="2200" i="1" spc="25" dirty="0">
                <a:latin typeface="Times New Roman"/>
                <a:cs typeface="Times New Roman"/>
              </a:rPr>
              <a:t>C</a:t>
            </a:r>
            <a:r>
              <a:rPr sz="2200" i="1" spc="-65" dirty="0">
                <a:latin typeface="Times New Roman"/>
                <a:cs typeface="Times New Roman"/>
              </a:rPr>
              <a:t> </a:t>
            </a:r>
            <a:r>
              <a:rPr sz="2200" spc="35" dirty="0">
                <a:latin typeface="Symbol"/>
                <a:cs typeface="Symbol"/>
              </a:rPr>
              <a:t>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i="1" spc="60" dirty="0">
                <a:latin typeface="Times New Roman"/>
                <a:cs typeface="Times New Roman"/>
              </a:rPr>
              <a:t>D</a:t>
            </a:r>
            <a:r>
              <a:rPr sz="2200" spc="6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19035" y="4881593"/>
            <a:ext cx="31051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70" dirty="0">
                <a:latin typeface="Symbol"/>
                <a:cs typeface="Symbol"/>
              </a:rPr>
              <a:t>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4431" y="4881593"/>
            <a:ext cx="1999614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i="1" spc="40" dirty="0">
                <a:latin typeface="Times New Roman"/>
                <a:cs typeface="Times New Roman"/>
              </a:rPr>
              <a:t>F</a:t>
            </a:r>
            <a:r>
              <a:rPr sz="2200" i="1" spc="160" dirty="0">
                <a:latin typeface="Times New Roman"/>
                <a:cs typeface="Times New Roman"/>
              </a:rPr>
              <a:t> </a:t>
            </a:r>
            <a:r>
              <a:rPr sz="2200" spc="35" dirty="0">
                <a:latin typeface="Symbol"/>
                <a:cs typeface="Symbol"/>
              </a:rPr>
              <a:t>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i="1" spc="40" dirty="0">
                <a:latin typeface="Times New Roman"/>
                <a:cs typeface="Times New Roman"/>
              </a:rPr>
              <a:t>A</a:t>
            </a:r>
            <a:r>
              <a:rPr sz="2200" i="1" spc="-320" dirty="0">
                <a:latin typeface="Times New Roman"/>
                <a:cs typeface="Times New Roman"/>
              </a:rPr>
              <a:t> </a:t>
            </a:r>
            <a:r>
              <a:rPr sz="2200" spc="30" dirty="0">
                <a:latin typeface="Symbol"/>
                <a:cs typeface="Symbol"/>
              </a:rPr>
              <a:t></a:t>
            </a:r>
            <a:r>
              <a:rPr sz="2200" spc="-160" dirty="0">
                <a:latin typeface="Times New Roman"/>
                <a:cs typeface="Times New Roman"/>
              </a:rPr>
              <a:t> </a:t>
            </a:r>
            <a:r>
              <a:rPr sz="2200" i="1" spc="40" dirty="0">
                <a:latin typeface="Times New Roman"/>
                <a:cs typeface="Times New Roman"/>
              </a:rPr>
              <a:t>B</a:t>
            </a:r>
            <a:r>
              <a:rPr sz="2200" i="1" spc="-145" dirty="0">
                <a:latin typeface="Times New Roman"/>
                <a:cs typeface="Times New Roman"/>
              </a:rPr>
              <a:t> </a:t>
            </a:r>
            <a:r>
              <a:rPr sz="2200" spc="35" dirty="0">
                <a:latin typeface="Symbol"/>
                <a:cs typeface="Symbol"/>
              </a:rPr>
              <a:t></a:t>
            </a:r>
            <a:r>
              <a:rPr sz="2200" spc="-220" dirty="0">
                <a:latin typeface="Times New Roman"/>
                <a:cs typeface="Times New Roman"/>
              </a:rPr>
              <a:t> </a:t>
            </a:r>
            <a:r>
              <a:rPr sz="2200" i="1" spc="45" dirty="0">
                <a:latin typeface="Times New Roman"/>
                <a:cs typeface="Times New Roman"/>
              </a:rPr>
              <a:t>C</a:t>
            </a:r>
            <a:r>
              <a:rPr sz="2200" i="1" spc="-135" dirty="0">
                <a:latin typeface="Times New Roman"/>
                <a:cs typeface="Times New Roman"/>
              </a:rPr>
              <a:t> </a:t>
            </a:r>
            <a:r>
              <a:rPr sz="2200" spc="30" dirty="0">
                <a:latin typeface="Symbol"/>
                <a:cs typeface="Symbol"/>
              </a:rPr>
              <a:t></a:t>
            </a:r>
            <a:r>
              <a:rPr sz="2200" spc="-155" dirty="0">
                <a:latin typeface="Times New Roman"/>
                <a:cs typeface="Times New Roman"/>
              </a:rPr>
              <a:t> </a:t>
            </a:r>
            <a:r>
              <a:rPr sz="2200" i="1" spc="50" dirty="0">
                <a:latin typeface="Times New Roman"/>
                <a:cs typeface="Times New Roman"/>
              </a:rPr>
              <a:t>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31930" y="5530820"/>
            <a:ext cx="1609090" cy="3663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11910" algn="l"/>
              </a:tabLst>
            </a:pPr>
            <a:r>
              <a:rPr sz="2200" i="1" spc="35" dirty="0">
                <a:latin typeface="Times New Roman"/>
                <a:cs typeface="Times New Roman"/>
              </a:rPr>
              <a:t>F</a:t>
            </a:r>
            <a:r>
              <a:rPr sz="2200" i="1" spc="180" dirty="0">
                <a:latin typeface="Times New Roman"/>
                <a:cs typeface="Times New Roman"/>
              </a:rPr>
              <a:t> </a:t>
            </a:r>
            <a:r>
              <a:rPr sz="2200" spc="35" dirty="0">
                <a:latin typeface="Symbol"/>
                <a:cs typeface="Symbol"/>
              </a:rPr>
              <a:t>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i="1" spc="35" dirty="0">
                <a:latin typeface="Times New Roman"/>
                <a:cs typeface="Times New Roman"/>
              </a:rPr>
              <a:t>A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spc="60" dirty="0">
                <a:latin typeface="Symbol"/>
                <a:cs typeface="Symbol"/>
              </a:rPr>
              <a:t>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92886" y="4725161"/>
            <a:ext cx="7993380" cy="1440180"/>
          </a:xfrm>
          <a:custGeom>
            <a:avLst/>
            <a:gdLst/>
            <a:ahLst/>
            <a:cxnLst/>
            <a:rect l="l" t="t" r="r" b="b"/>
            <a:pathLst>
              <a:path w="7993380" h="1440179">
                <a:moveTo>
                  <a:pt x="0" y="240030"/>
                </a:moveTo>
                <a:lnTo>
                  <a:pt x="4876" y="191648"/>
                </a:lnTo>
                <a:lnTo>
                  <a:pt x="18863" y="146589"/>
                </a:lnTo>
                <a:lnTo>
                  <a:pt x="40994" y="105816"/>
                </a:lnTo>
                <a:lnTo>
                  <a:pt x="70305" y="70294"/>
                </a:lnTo>
                <a:lnTo>
                  <a:pt x="105831" y="40987"/>
                </a:lnTo>
                <a:lnTo>
                  <a:pt x="146605" y="18859"/>
                </a:lnTo>
                <a:lnTo>
                  <a:pt x="191664" y="4875"/>
                </a:lnTo>
                <a:lnTo>
                  <a:pt x="240042" y="0"/>
                </a:lnTo>
                <a:lnTo>
                  <a:pt x="7753350" y="0"/>
                </a:lnTo>
                <a:lnTo>
                  <a:pt x="7801731" y="4875"/>
                </a:lnTo>
                <a:lnTo>
                  <a:pt x="7846790" y="18859"/>
                </a:lnTo>
                <a:lnTo>
                  <a:pt x="7887563" y="40987"/>
                </a:lnTo>
                <a:lnTo>
                  <a:pt x="7923085" y="70294"/>
                </a:lnTo>
                <a:lnTo>
                  <a:pt x="7952392" y="105816"/>
                </a:lnTo>
                <a:lnTo>
                  <a:pt x="7974520" y="146589"/>
                </a:lnTo>
                <a:lnTo>
                  <a:pt x="7988504" y="191648"/>
                </a:lnTo>
                <a:lnTo>
                  <a:pt x="7993380" y="240030"/>
                </a:lnTo>
                <a:lnTo>
                  <a:pt x="7993380" y="1200137"/>
                </a:lnTo>
                <a:lnTo>
                  <a:pt x="7988504" y="1248515"/>
                </a:lnTo>
                <a:lnTo>
                  <a:pt x="7974520" y="1293574"/>
                </a:lnTo>
                <a:lnTo>
                  <a:pt x="7952392" y="1334348"/>
                </a:lnTo>
                <a:lnTo>
                  <a:pt x="7923085" y="1369874"/>
                </a:lnTo>
                <a:lnTo>
                  <a:pt x="7887563" y="1399185"/>
                </a:lnTo>
                <a:lnTo>
                  <a:pt x="7846790" y="1421316"/>
                </a:lnTo>
                <a:lnTo>
                  <a:pt x="7801731" y="1435303"/>
                </a:lnTo>
                <a:lnTo>
                  <a:pt x="7753350" y="1440180"/>
                </a:lnTo>
                <a:lnTo>
                  <a:pt x="240042" y="1440180"/>
                </a:lnTo>
                <a:lnTo>
                  <a:pt x="191664" y="1435303"/>
                </a:lnTo>
                <a:lnTo>
                  <a:pt x="146605" y="1421316"/>
                </a:lnTo>
                <a:lnTo>
                  <a:pt x="105831" y="1399185"/>
                </a:lnTo>
                <a:lnTo>
                  <a:pt x="70305" y="1369874"/>
                </a:lnTo>
                <a:lnTo>
                  <a:pt x="40994" y="1334348"/>
                </a:lnTo>
                <a:lnTo>
                  <a:pt x="18863" y="1293574"/>
                </a:lnTo>
                <a:lnTo>
                  <a:pt x="4876" y="1248515"/>
                </a:lnTo>
                <a:lnTo>
                  <a:pt x="0" y="1200137"/>
                </a:lnTo>
                <a:lnTo>
                  <a:pt x="0" y="24003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27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2AFDE78-EAC7-3F64-7B6F-9ED7A75A9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839" y="5501848"/>
            <a:ext cx="1095528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301828"/>
            <a:ext cx="66249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逻辑代数运算的</a:t>
            </a:r>
            <a:r>
              <a:rPr sz="4000" spc="-20" dirty="0"/>
              <a:t>三</a:t>
            </a:r>
            <a:r>
              <a:rPr sz="4000" spc="-5" dirty="0"/>
              <a:t>个重要规则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496062" y="2494026"/>
            <a:ext cx="8772525" cy="647700"/>
          </a:xfrm>
          <a:custGeom>
            <a:avLst/>
            <a:gdLst/>
            <a:ahLst/>
            <a:cxnLst/>
            <a:rect l="l" t="t" r="r" b="b"/>
            <a:pathLst>
              <a:path w="8772525" h="647700">
                <a:moveTo>
                  <a:pt x="0" y="80390"/>
                </a:moveTo>
                <a:lnTo>
                  <a:pt x="6321" y="49131"/>
                </a:lnTo>
                <a:lnTo>
                  <a:pt x="23561" y="23574"/>
                </a:lnTo>
                <a:lnTo>
                  <a:pt x="49131" y="6328"/>
                </a:lnTo>
                <a:lnTo>
                  <a:pt x="80441" y="0"/>
                </a:lnTo>
                <a:lnTo>
                  <a:pt x="8691753" y="0"/>
                </a:lnTo>
                <a:lnTo>
                  <a:pt x="8723012" y="6328"/>
                </a:lnTo>
                <a:lnTo>
                  <a:pt x="8748569" y="23574"/>
                </a:lnTo>
                <a:lnTo>
                  <a:pt x="8765815" y="49131"/>
                </a:lnTo>
                <a:lnTo>
                  <a:pt x="8772144" y="80390"/>
                </a:lnTo>
                <a:lnTo>
                  <a:pt x="8772144" y="567309"/>
                </a:lnTo>
                <a:lnTo>
                  <a:pt x="8765815" y="598568"/>
                </a:lnTo>
                <a:lnTo>
                  <a:pt x="8748569" y="624125"/>
                </a:lnTo>
                <a:lnTo>
                  <a:pt x="8723012" y="641371"/>
                </a:lnTo>
                <a:lnTo>
                  <a:pt x="8691753" y="647700"/>
                </a:lnTo>
                <a:lnTo>
                  <a:pt x="80441" y="647700"/>
                </a:lnTo>
                <a:lnTo>
                  <a:pt x="49131" y="641371"/>
                </a:lnTo>
                <a:lnTo>
                  <a:pt x="23561" y="624125"/>
                </a:lnTo>
                <a:lnTo>
                  <a:pt x="6321" y="598568"/>
                </a:lnTo>
                <a:lnTo>
                  <a:pt x="0" y="567309"/>
                </a:lnTo>
                <a:lnTo>
                  <a:pt x="0" y="8039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240" y="3285744"/>
            <a:ext cx="8568055" cy="1583690"/>
          </a:xfrm>
          <a:custGeom>
            <a:avLst/>
            <a:gdLst/>
            <a:ahLst/>
            <a:cxnLst/>
            <a:rect l="l" t="t" r="r" b="b"/>
            <a:pathLst>
              <a:path w="8568055" h="1583689">
                <a:moveTo>
                  <a:pt x="4093442" y="1145539"/>
                </a:moveTo>
                <a:lnTo>
                  <a:pt x="3060319" y="1145539"/>
                </a:lnTo>
                <a:lnTo>
                  <a:pt x="3365627" y="1583435"/>
                </a:lnTo>
                <a:lnTo>
                  <a:pt x="4093442" y="1145539"/>
                </a:lnTo>
                <a:close/>
              </a:path>
              <a:path w="8568055" h="1583689">
                <a:moveTo>
                  <a:pt x="5533442" y="1094866"/>
                </a:moveTo>
                <a:lnTo>
                  <a:pt x="4177665" y="1094866"/>
                </a:lnTo>
                <a:lnTo>
                  <a:pt x="5254625" y="1446910"/>
                </a:lnTo>
                <a:lnTo>
                  <a:pt x="5533442" y="1094866"/>
                </a:lnTo>
                <a:close/>
              </a:path>
              <a:path w="8568055" h="1583689">
                <a:moveTo>
                  <a:pt x="6831262" y="1059814"/>
                </a:moveTo>
                <a:lnTo>
                  <a:pt x="5561203" y="1059814"/>
                </a:lnTo>
                <a:lnTo>
                  <a:pt x="7197470" y="1326514"/>
                </a:lnTo>
                <a:lnTo>
                  <a:pt x="6831262" y="1059814"/>
                </a:lnTo>
                <a:close/>
              </a:path>
              <a:path w="8568055" h="1583689">
                <a:moveTo>
                  <a:pt x="6778947" y="1021714"/>
                </a:moveTo>
                <a:lnTo>
                  <a:pt x="2247900" y="1021714"/>
                </a:lnTo>
                <a:lnTo>
                  <a:pt x="1888871" y="1291462"/>
                </a:lnTo>
                <a:lnTo>
                  <a:pt x="3060319" y="1145539"/>
                </a:lnTo>
                <a:lnTo>
                  <a:pt x="4093442" y="1145539"/>
                </a:lnTo>
                <a:lnTo>
                  <a:pt x="4177665" y="1094866"/>
                </a:lnTo>
                <a:lnTo>
                  <a:pt x="5533442" y="1094866"/>
                </a:lnTo>
                <a:lnTo>
                  <a:pt x="5561203" y="1059814"/>
                </a:lnTo>
                <a:lnTo>
                  <a:pt x="6831262" y="1059814"/>
                </a:lnTo>
                <a:lnTo>
                  <a:pt x="6778947" y="1021714"/>
                </a:lnTo>
                <a:close/>
              </a:path>
              <a:path w="8568055" h="1583689">
                <a:moveTo>
                  <a:pt x="146761" y="168275"/>
                </a:moveTo>
                <a:lnTo>
                  <a:pt x="1835403" y="558418"/>
                </a:lnTo>
                <a:lnTo>
                  <a:pt x="0" y="631570"/>
                </a:lnTo>
                <a:lnTo>
                  <a:pt x="1476374" y="863218"/>
                </a:lnTo>
                <a:lnTo>
                  <a:pt x="53543" y="1069339"/>
                </a:lnTo>
                <a:lnTo>
                  <a:pt x="2247900" y="1021714"/>
                </a:lnTo>
                <a:lnTo>
                  <a:pt x="6778947" y="1021714"/>
                </a:lnTo>
                <a:lnTo>
                  <a:pt x="6678676" y="948689"/>
                </a:lnTo>
                <a:lnTo>
                  <a:pt x="8372022" y="948689"/>
                </a:lnTo>
                <a:lnTo>
                  <a:pt x="6984110" y="767841"/>
                </a:lnTo>
                <a:lnTo>
                  <a:pt x="8368410" y="596518"/>
                </a:lnTo>
                <a:lnTo>
                  <a:pt x="6625082" y="536193"/>
                </a:lnTo>
                <a:lnTo>
                  <a:pt x="6856772" y="463295"/>
                </a:lnTo>
                <a:lnTo>
                  <a:pt x="2900426" y="463295"/>
                </a:lnTo>
                <a:lnTo>
                  <a:pt x="146761" y="168275"/>
                </a:lnTo>
                <a:close/>
              </a:path>
              <a:path w="8568055" h="1583689">
                <a:moveTo>
                  <a:pt x="8372022" y="948689"/>
                </a:moveTo>
                <a:lnTo>
                  <a:pt x="6678676" y="948689"/>
                </a:lnTo>
                <a:lnTo>
                  <a:pt x="8567928" y="974216"/>
                </a:lnTo>
                <a:lnTo>
                  <a:pt x="8372022" y="948689"/>
                </a:lnTo>
                <a:close/>
              </a:path>
              <a:path w="8568055" h="1583689">
                <a:moveTo>
                  <a:pt x="3312922" y="168275"/>
                </a:moveTo>
                <a:lnTo>
                  <a:pt x="2900426" y="463295"/>
                </a:lnTo>
                <a:lnTo>
                  <a:pt x="6856772" y="463295"/>
                </a:lnTo>
                <a:lnTo>
                  <a:pt x="6977865" y="425195"/>
                </a:lnTo>
                <a:lnTo>
                  <a:pt x="4283964" y="425195"/>
                </a:lnTo>
                <a:lnTo>
                  <a:pt x="3312922" y="168275"/>
                </a:lnTo>
                <a:close/>
              </a:path>
              <a:path w="8568055" h="1583689">
                <a:moveTo>
                  <a:pt x="5760339" y="0"/>
                </a:moveTo>
                <a:lnTo>
                  <a:pt x="4283964" y="425195"/>
                </a:lnTo>
                <a:lnTo>
                  <a:pt x="6977865" y="425195"/>
                </a:lnTo>
                <a:lnTo>
                  <a:pt x="7088463" y="390397"/>
                </a:lnTo>
                <a:lnTo>
                  <a:pt x="5614797" y="390397"/>
                </a:lnTo>
                <a:lnTo>
                  <a:pt x="5760339" y="0"/>
                </a:lnTo>
                <a:close/>
              </a:path>
              <a:path w="8568055" h="1583689">
                <a:moveTo>
                  <a:pt x="7290688" y="326770"/>
                </a:moveTo>
                <a:lnTo>
                  <a:pt x="5614797" y="390397"/>
                </a:lnTo>
                <a:lnTo>
                  <a:pt x="7088463" y="390397"/>
                </a:lnTo>
                <a:lnTo>
                  <a:pt x="7290688" y="32677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7240" y="3285744"/>
            <a:ext cx="8568055" cy="1583690"/>
          </a:xfrm>
          <a:custGeom>
            <a:avLst/>
            <a:gdLst/>
            <a:ahLst/>
            <a:cxnLst/>
            <a:rect l="l" t="t" r="r" b="b"/>
            <a:pathLst>
              <a:path w="8568055" h="1583689">
                <a:moveTo>
                  <a:pt x="4283964" y="425195"/>
                </a:moveTo>
                <a:lnTo>
                  <a:pt x="5760339" y="0"/>
                </a:lnTo>
                <a:lnTo>
                  <a:pt x="5614797" y="390397"/>
                </a:lnTo>
                <a:lnTo>
                  <a:pt x="7290688" y="326770"/>
                </a:lnTo>
                <a:lnTo>
                  <a:pt x="6625082" y="536193"/>
                </a:lnTo>
                <a:lnTo>
                  <a:pt x="8368410" y="596518"/>
                </a:lnTo>
                <a:lnTo>
                  <a:pt x="6984110" y="767841"/>
                </a:lnTo>
                <a:lnTo>
                  <a:pt x="8567928" y="974216"/>
                </a:lnTo>
                <a:lnTo>
                  <a:pt x="6678676" y="948689"/>
                </a:lnTo>
                <a:lnTo>
                  <a:pt x="7197470" y="1326514"/>
                </a:lnTo>
                <a:lnTo>
                  <a:pt x="5561203" y="1059814"/>
                </a:lnTo>
                <a:lnTo>
                  <a:pt x="5254625" y="1446910"/>
                </a:lnTo>
                <a:lnTo>
                  <a:pt x="4177665" y="1094866"/>
                </a:lnTo>
                <a:lnTo>
                  <a:pt x="3365627" y="1583435"/>
                </a:lnTo>
                <a:lnTo>
                  <a:pt x="3060319" y="1145539"/>
                </a:lnTo>
                <a:lnTo>
                  <a:pt x="1888871" y="1291462"/>
                </a:lnTo>
                <a:lnTo>
                  <a:pt x="2247900" y="1021714"/>
                </a:lnTo>
                <a:lnTo>
                  <a:pt x="53543" y="1069339"/>
                </a:lnTo>
                <a:lnTo>
                  <a:pt x="1476374" y="863218"/>
                </a:lnTo>
                <a:lnTo>
                  <a:pt x="0" y="631570"/>
                </a:lnTo>
                <a:lnTo>
                  <a:pt x="1835403" y="558418"/>
                </a:lnTo>
                <a:lnTo>
                  <a:pt x="146761" y="168275"/>
                </a:lnTo>
                <a:lnTo>
                  <a:pt x="2900426" y="463295"/>
                </a:lnTo>
                <a:lnTo>
                  <a:pt x="3312922" y="168275"/>
                </a:lnTo>
                <a:lnTo>
                  <a:pt x="4283964" y="42519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2940" y="3705729"/>
            <a:ext cx="398145" cy="0"/>
          </a:xfrm>
          <a:custGeom>
            <a:avLst/>
            <a:gdLst/>
            <a:ahLst/>
            <a:cxnLst/>
            <a:rect l="l" t="t" r="r" b="b"/>
            <a:pathLst>
              <a:path w="398145">
                <a:moveTo>
                  <a:pt x="0" y="0"/>
                </a:moveTo>
                <a:lnTo>
                  <a:pt x="397779" y="0"/>
                </a:lnTo>
              </a:path>
            </a:pathLst>
          </a:custGeom>
          <a:ln w="238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53029" y="2534488"/>
            <a:ext cx="4065270" cy="15190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783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000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若</a:t>
            </a:r>
            <a:r>
              <a:rPr sz="320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F=G</a:t>
            </a:r>
            <a:r>
              <a:rPr sz="3200" dirty="0">
                <a:solidFill>
                  <a:srgbClr val="FF000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，则</a:t>
            </a:r>
            <a:r>
              <a:rPr sz="320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F’</a:t>
            </a:r>
            <a:r>
              <a:rPr sz="3200" spc="-185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=</a:t>
            </a:r>
            <a:r>
              <a:rPr sz="3200" spc="-3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G’</a:t>
            </a:r>
            <a:r>
              <a:rPr sz="3200" spc="5" dirty="0">
                <a:solidFill>
                  <a:srgbClr val="FF000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。</a:t>
            </a:r>
            <a:endParaRPr sz="3200" dirty="0">
              <a:highlight>
                <a:srgbClr val="FFFF00"/>
              </a:highlight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050" dirty="0">
              <a:latin typeface="微软雅黑"/>
              <a:cs typeface="微软雅黑"/>
            </a:endParaRPr>
          </a:p>
          <a:p>
            <a:pPr marL="5080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一般情况下</a:t>
            </a:r>
            <a:r>
              <a:rPr sz="2400" spc="-195" dirty="0">
                <a:latin typeface="微软雅黑"/>
                <a:cs typeface="微软雅黑"/>
              </a:rPr>
              <a:t>：</a:t>
            </a:r>
            <a:r>
              <a:rPr sz="6675" i="1" spc="-292" baseline="-14357" dirty="0">
                <a:latin typeface="Times New Roman"/>
                <a:cs typeface="Times New Roman"/>
              </a:rPr>
              <a:t>F</a:t>
            </a:r>
            <a:r>
              <a:rPr sz="6675" i="1" spc="600" baseline="-14357" dirty="0">
                <a:latin typeface="Times New Roman"/>
                <a:cs typeface="Times New Roman"/>
              </a:rPr>
              <a:t> </a:t>
            </a:r>
            <a:r>
              <a:rPr sz="6675" spc="22" baseline="-14357" dirty="0">
                <a:latin typeface="Symbol"/>
                <a:cs typeface="Symbol"/>
              </a:rPr>
              <a:t></a:t>
            </a:r>
            <a:endParaRPr sz="6675" baseline="-14357" dirty="0">
              <a:latin typeface="Symbol"/>
              <a:cs typeface="Symbo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6062" y="5157978"/>
            <a:ext cx="8772525" cy="1080770"/>
          </a:xfrm>
          <a:custGeom>
            <a:avLst/>
            <a:gdLst/>
            <a:ahLst/>
            <a:cxnLst/>
            <a:rect l="l" t="t" r="r" b="b"/>
            <a:pathLst>
              <a:path w="8772525" h="1080770">
                <a:moveTo>
                  <a:pt x="0" y="180086"/>
                </a:moveTo>
                <a:lnTo>
                  <a:pt x="6433" y="132218"/>
                </a:lnTo>
                <a:lnTo>
                  <a:pt x="24588" y="89201"/>
                </a:lnTo>
                <a:lnTo>
                  <a:pt x="52747" y="52752"/>
                </a:lnTo>
                <a:lnTo>
                  <a:pt x="89195" y="24590"/>
                </a:lnTo>
                <a:lnTo>
                  <a:pt x="132213" y="6434"/>
                </a:lnTo>
                <a:lnTo>
                  <a:pt x="180086" y="0"/>
                </a:lnTo>
                <a:lnTo>
                  <a:pt x="8592058" y="0"/>
                </a:lnTo>
                <a:lnTo>
                  <a:pt x="8639925" y="6434"/>
                </a:lnTo>
                <a:lnTo>
                  <a:pt x="8682942" y="24590"/>
                </a:lnTo>
                <a:lnTo>
                  <a:pt x="8719391" y="52752"/>
                </a:lnTo>
                <a:lnTo>
                  <a:pt x="8747553" y="89201"/>
                </a:lnTo>
                <a:lnTo>
                  <a:pt x="8765709" y="132218"/>
                </a:lnTo>
                <a:lnTo>
                  <a:pt x="8772144" y="180086"/>
                </a:lnTo>
                <a:lnTo>
                  <a:pt x="8772144" y="900430"/>
                </a:lnTo>
                <a:lnTo>
                  <a:pt x="8765709" y="948302"/>
                </a:lnTo>
                <a:lnTo>
                  <a:pt x="8747553" y="991320"/>
                </a:lnTo>
                <a:lnTo>
                  <a:pt x="8719391" y="1027768"/>
                </a:lnTo>
                <a:lnTo>
                  <a:pt x="8682942" y="1055927"/>
                </a:lnTo>
                <a:lnTo>
                  <a:pt x="8639925" y="1074082"/>
                </a:lnTo>
                <a:lnTo>
                  <a:pt x="8592058" y="1080516"/>
                </a:lnTo>
                <a:lnTo>
                  <a:pt x="180086" y="1080516"/>
                </a:lnTo>
                <a:lnTo>
                  <a:pt x="132213" y="1074082"/>
                </a:lnTo>
                <a:lnTo>
                  <a:pt x="89195" y="1055927"/>
                </a:lnTo>
                <a:lnTo>
                  <a:pt x="52747" y="1027768"/>
                </a:lnTo>
                <a:lnTo>
                  <a:pt x="24588" y="991320"/>
                </a:lnTo>
                <a:lnTo>
                  <a:pt x="6433" y="948302"/>
                </a:lnTo>
                <a:lnTo>
                  <a:pt x="0" y="900430"/>
                </a:lnTo>
                <a:lnTo>
                  <a:pt x="0" y="180086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6770" y="5230469"/>
            <a:ext cx="8202930" cy="8801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0"/>
              </a:spcBef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逻辑代数基本定律表格中，右边一</a:t>
            </a:r>
            <a:r>
              <a:rPr sz="2800" spc="5" dirty="0">
                <a:solidFill>
                  <a:srgbClr val="0000FF"/>
                </a:solidFill>
                <a:latin typeface="微软雅黑"/>
                <a:cs typeface="微软雅黑"/>
              </a:rPr>
              <a:t>栏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的公</a:t>
            </a:r>
            <a:r>
              <a:rPr sz="2800" spc="5" dirty="0">
                <a:solidFill>
                  <a:srgbClr val="0000FF"/>
                </a:solidFill>
                <a:latin typeface="微软雅黑"/>
                <a:cs typeface="微软雅黑"/>
              </a:rPr>
              <a:t>式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分别</a:t>
            </a:r>
            <a:r>
              <a:rPr sz="2800" spc="5" dirty="0">
                <a:solidFill>
                  <a:srgbClr val="0000FF"/>
                </a:solidFill>
                <a:latin typeface="微软雅黑"/>
                <a:cs typeface="微软雅黑"/>
              </a:rPr>
              <a:t>是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左 边一栏公式的对偶式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03365" y="1011916"/>
            <a:ext cx="8193044" cy="14325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2311" y="943343"/>
            <a:ext cx="8362188" cy="1254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36903" y="1025652"/>
            <a:ext cx="8130540" cy="13700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36903" y="1071753"/>
            <a:ext cx="813054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440" marR="180340">
              <a:lnSpc>
                <a:spcPct val="100000"/>
              </a:lnSpc>
              <a:spcBef>
                <a:spcPts val="95"/>
              </a:spcBef>
            </a:pPr>
            <a:r>
              <a:rPr sz="2800" b="1" spc="15" dirty="0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对</a:t>
            </a:r>
            <a:r>
              <a:rPr sz="2800" b="1" dirty="0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偶规则</a:t>
            </a:r>
            <a:r>
              <a:rPr sz="2800" b="1" spc="30" dirty="0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：</a:t>
            </a:r>
            <a:r>
              <a:rPr sz="2800" b="1" spc="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如果两</a:t>
            </a:r>
            <a:r>
              <a:rPr sz="2800" b="1" spc="1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个</a:t>
            </a:r>
            <a:r>
              <a:rPr sz="2800" b="1" spc="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函数相</a:t>
            </a:r>
            <a:r>
              <a:rPr sz="2800" b="1" spc="1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等</a:t>
            </a:r>
            <a:r>
              <a:rPr sz="2800" b="1" spc="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，则他</a:t>
            </a:r>
            <a:r>
              <a:rPr sz="2800" b="1" spc="1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们</a:t>
            </a:r>
            <a:r>
              <a:rPr sz="2800" b="1" spc="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的对偶</a:t>
            </a:r>
            <a:r>
              <a:rPr sz="2800" b="1" spc="1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式</a:t>
            </a:r>
            <a:r>
              <a:rPr sz="2800" b="1" spc="-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（ </a:t>
            </a:r>
            <a:r>
              <a:rPr sz="2800" b="1" spc="1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对</a:t>
            </a:r>
            <a:r>
              <a:rPr sz="2800" b="1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偶函数</a:t>
            </a:r>
            <a:r>
              <a:rPr sz="2800" b="1" spc="1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）</a:t>
            </a:r>
            <a:r>
              <a:rPr sz="2800" b="1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也相等</a:t>
            </a:r>
            <a:r>
              <a:rPr sz="2800" b="1" spc="-5" dirty="0">
                <a:solidFill>
                  <a:srgbClr val="12046E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。</a:t>
            </a:r>
            <a:endParaRPr sz="2800" dirty="0">
              <a:highlight>
                <a:srgbClr val="FFFF00"/>
              </a:highlight>
              <a:latin typeface="Microsoft JhengHei"/>
              <a:cs typeface="Microsoft JhengHe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4631" y="1031747"/>
            <a:ext cx="653046" cy="13662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9759" y="1045210"/>
            <a:ext cx="381000" cy="1307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90"/>
              </a:spcBef>
            </a:pPr>
            <a:r>
              <a:rPr sz="2800" spc="-5" dirty="0">
                <a:solidFill>
                  <a:srgbClr val="F1F1F1"/>
                </a:solidFill>
                <a:latin typeface="微软雅黑"/>
                <a:cs typeface="微软雅黑"/>
              </a:rPr>
              <a:t>规 则 三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6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28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B7BB6F7-859F-DFED-2A20-6D2A9FB20D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040" y="3196869"/>
            <a:ext cx="8783700" cy="17126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>
            <a:extLst>
              <a:ext uri="{FF2B5EF4-FFF2-40B4-BE49-F238E27FC236}">
                <a16:creationId xmlns:a16="http://schemas.microsoft.com/office/drawing/2014/main" id="{2EB76014-1658-79CF-48E9-E4EF1EB63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D43147E2-98B9-231E-0534-5ACDFA7FD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9557"/>
            <a:ext cx="9144000" cy="61783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3D9AABA4-8346-6CE6-AF28-189F8763008E}"/>
                  </a:ext>
                </a:extLst>
              </p14:cNvPr>
              <p14:cNvContentPartPr/>
              <p14:nvPr/>
            </p14:nvContentPartPr>
            <p14:xfrm>
              <a:off x="2229896" y="1216133"/>
              <a:ext cx="1466640" cy="32832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3D9AABA4-8346-6CE6-AF28-189F876300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6256" y="1108493"/>
                <a:ext cx="1574280" cy="54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C87E4EFD-2C30-93D1-B266-CFE1746246B9}"/>
                  </a:ext>
                </a:extLst>
              </p14:cNvPr>
              <p14:cNvContentPartPr/>
              <p14:nvPr/>
            </p14:nvContentPartPr>
            <p14:xfrm>
              <a:off x="1981136" y="1852613"/>
              <a:ext cx="1760400" cy="25416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C87E4EFD-2C30-93D1-B266-CFE1746246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27136" y="1744613"/>
                <a:ext cx="186804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68FD4185-5951-25A3-06F6-A8F22AA0459A}"/>
                  </a:ext>
                </a:extLst>
              </p14:cNvPr>
              <p14:cNvContentPartPr/>
              <p14:nvPr/>
            </p14:nvContentPartPr>
            <p14:xfrm>
              <a:off x="4724696" y="1828133"/>
              <a:ext cx="2419560" cy="50004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68FD4185-5951-25A3-06F6-A8F22AA0459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71056" y="1720133"/>
                <a:ext cx="2527200" cy="715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4502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逻辑代数基本定理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40" y="1055623"/>
            <a:ext cx="3235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15" dirty="0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（</a:t>
            </a:r>
            <a:r>
              <a:rPr sz="2800" b="1" spc="5" dirty="0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定理二</a:t>
            </a:r>
            <a:r>
              <a:rPr sz="2800" b="1" spc="15" dirty="0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）</a:t>
            </a:r>
            <a:r>
              <a:rPr sz="2800" b="1" spc="5" dirty="0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吸收定</a:t>
            </a:r>
            <a:r>
              <a:rPr sz="2800" b="1" spc="-5" dirty="0">
                <a:solidFill>
                  <a:srgbClr val="FF0000"/>
                </a:solidFill>
                <a:highlight>
                  <a:srgbClr val="FFFF00"/>
                </a:highlight>
                <a:latin typeface="Microsoft JhengHei"/>
                <a:cs typeface="Microsoft JhengHei"/>
              </a:rPr>
              <a:t>理</a:t>
            </a:r>
            <a:endParaRPr sz="2800" dirty="0">
              <a:highlight>
                <a:srgbClr val="FFFF00"/>
              </a:highlight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68163" y="2585332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>
                <a:moveTo>
                  <a:pt x="0" y="0"/>
                </a:moveTo>
                <a:lnTo>
                  <a:pt x="194227" y="0"/>
                </a:lnTo>
              </a:path>
            </a:pathLst>
          </a:custGeom>
          <a:ln w="132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97938" y="2585333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>
                <a:moveTo>
                  <a:pt x="0" y="0"/>
                </a:moveTo>
                <a:lnTo>
                  <a:pt x="194174" y="0"/>
                </a:lnTo>
              </a:path>
            </a:pathLst>
          </a:custGeom>
          <a:ln w="132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77555" y="1855057"/>
            <a:ext cx="1931670" cy="110490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500" i="1" spc="30" dirty="0">
                <a:latin typeface="Times New Roman"/>
                <a:cs typeface="Times New Roman"/>
              </a:rPr>
              <a:t>A </a:t>
            </a:r>
            <a:r>
              <a:rPr sz="2500" spc="25" dirty="0">
                <a:latin typeface="Symbol"/>
                <a:cs typeface="Symbol"/>
              </a:rPr>
              <a:t>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i="1" spc="-10" dirty="0">
                <a:latin typeface="Times New Roman"/>
                <a:cs typeface="Times New Roman"/>
              </a:rPr>
              <a:t>AB </a:t>
            </a:r>
            <a:r>
              <a:rPr sz="2500" spc="25" dirty="0">
                <a:latin typeface="Symbol"/>
                <a:cs typeface="Symbol"/>
              </a:rPr>
              <a:t></a:t>
            </a:r>
            <a:r>
              <a:rPr sz="2500" spc="-225" dirty="0">
                <a:latin typeface="Times New Roman"/>
                <a:cs typeface="Times New Roman"/>
              </a:rPr>
              <a:t> </a:t>
            </a:r>
            <a:r>
              <a:rPr sz="2500" i="1" spc="30" dirty="0">
                <a:latin typeface="Times New Roman"/>
                <a:cs typeface="Times New Roman"/>
              </a:rPr>
              <a:t>A</a:t>
            </a: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500" i="1" spc="30" dirty="0">
                <a:latin typeface="Times New Roman"/>
                <a:cs typeface="Times New Roman"/>
              </a:rPr>
              <a:t>A</a:t>
            </a:r>
            <a:r>
              <a:rPr sz="2500" i="1" spc="-315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Symbol"/>
                <a:cs typeface="Symbol"/>
              </a:rPr>
              <a:t>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i="1" spc="-45" dirty="0">
                <a:latin typeface="Times New Roman"/>
                <a:cs typeface="Times New Roman"/>
              </a:rPr>
              <a:t>AB</a:t>
            </a:r>
            <a:r>
              <a:rPr sz="2500" i="1" spc="-40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Symbol"/>
                <a:cs typeface="Symbol"/>
              </a:rPr>
              <a:t></a:t>
            </a:r>
            <a:r>
              <a:rPr sz="2500" spc="105" dirty="0">
                <a:latin typeface="Times New Roman"/>
                <a:cs typeface="Times New Roman"/>
              </a:rPr>
              <a:t> </a:t>
            </a:r>
            <a:r>
              <a:rPr sz="2500" i="1" spc="30" dirty="0">
                <a:latin typeface="Times New Roman"/>
                <a:cs typeface="Times New Roman"/>
              </a:rPr>
              <a:t>A</a:t>
            </a:r>
            <a:r>
              <a:rPr sz="2500" i="1" spc="-310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Symbol"/>
                <a:cs typeface="Symbol"/>
              </a:rPr>
              <a:t>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i="1" spc="30" dirty="0">
                <a:latin typeface="Times New Roman"/>
                <a:cs typeface="Times New Roman"/>
              </a:rPr>
              <a:t>B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34482" y="1855058"/>
            <a:ext cx="1913889" cy="1104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610" marR="5080" indent="-42545">
              <a:lnSpc>
                <a:spcPct val="141600"/>
              </a:lnSpc>
              <a:spcBef>
                <a:spcPts val="95"/>
              </a:spcBef>
            </a:pPr>
            <a:r>
              <a:rPr sz="2500" i="1" spc="-15" dirty="0">
                <a:latin typeface="Times New Roman"/>
                <a:cs typeface="Times New Roman"/>
              </a:rPr>
              <a:t>A</a:t>
            </a:r>
            <a:r>
              <a:rPr sz="2500" spc="-15" dirty="0">
                <a:latin typeface="Times New Roman"/>
                <a:cs typeface="Times New Roman"/>
              </a:rPr>
              <a:t>( </a:t>
            </a:r>
            <a:r>
              <a:rPr sz="2500" i="1" spc="30" dirty="0">
                <a:latin typeface="Times New Roman"/>
                <a:cs typeface="Times New Roman"/>
              </a:rPr>
              <a:t>A </a:t>
            </a:r>
            <a:r>
              <a:rPr sz="2500" spc="25" dirty="0">
                <a:latin typeface="Symbol"/>
                <a:cs typeface="Symbol"/>
              </a:rPr>
              <a:t>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i="1" spc="45" dirty="0">
                <a:latin typeface="Times New Roman"/>
                <a:cs typeface="Times New Roman"/>
              </a:rPr>
              <a:t>B</a:t>
            </a:r>
            <a:r>
              <a:rPr sz="2500" spc="45" dirty="0">
                <a:latin typeface="Times New Roman"/>
                <a:cs typeface="Times New Roman"/>
              </a:rPr>
              <a:t>) </a:t>
            </a:r>
            <a:r>
              <a:rPr sz="2500" spc="25" dirty="0">
                <a:latin typeface="Symbol"/>
                <a:cs typeface="Symbol"/>
              </a:rPr>
              <a:t>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i="1" spc="30" dirty="0">
                <a:latin typeface="Times New Roman"/>
                <a:cs typeface="Times New Roman"/>
              </a:rPr>
              <a:t>A  </a:t>
            </a:r>
            <a:r>
              <a:rPr sz="2500" i="1" spc="-15" dirty="0">
                <a:latin typeface="Times New Roman"/>
                <a:cs typeface="Times New Roman"/>
              </a:rPr>
              <a:t>A</a:t>
            </a:r>
            <a:r>
              <a:rPr sz="2500" spc="-15" dirty="0">
                <a:latin typeface="Times New Roman"/>
                <a:cs typeface="Times New Roman"/>
              </a:rPr>
              <a:t>(</a:t>
            </a:r>
            <a:r>
              <a:rPr sz="2500" spc="-390" dirty="0">
                <a:latin typeface="Times New Roman"/>
                <a:cs typeface="Times New Roman"/>
              </a:rPr>
              <a:t> </a:t>
            </a:r>
            <a:r>
              <a:rPr sz="2500" i="1" spc="30" dirty="0">
                <a:latin typeface="Times New Roman"/>
                <a:cs typeface="Times New Roman"/>
              </a:rPr>
              <a:t>A</a:t>
            </a:r>
            <a:r>
              <a:rPr sz="2500" i="1" spc="-315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Symbol"/>
                <a:cs typeface="Symbol"/>
              </a:rPr>
              <a:t></a:t>
            </a:r>
            <a:r>
              <a:rPr sz="2500" spc="-120" dirty="0">
                <a:latin typeface="Times New Roman"/>
                <a:cs typeface="Times New Roman"/>
              </a:rPr>
              <a:t> </a:t>
            </a:r>
            <a:r>
              <a:rPr sz="2500" i="1" spc="45" dirty="0">
                <a:latin typeface="Times New Roman"/>
                <a:cs typeface="Times New Roman"/>
              </a:rPr>
              <a:t>B</a:t>
            </a:r>
            <a:r>
              <a:rPr sz="2500" spc="45" dirty="0">
                <a:latin typeface="Times New Roman"/>
                <a:cs typeface="Times New Roman"/>
              </a:rPr>
              <a:t>)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25" dirty="0">
                <a:latin typeface="Symbol"/>
                <a:cs typeface="Symbol"/>
              </a:rPr>
              <a:t></a:t>
            </a:r>
            <a:r>
              <a:rPr sz="2500" spc="110" dirty="0">
                <a:latin typeface="Times New Roman"/>
                <a:cs typeface="Times New Roman"/>
              </a:rPr>
              <a:t> </a:t>
            </a:r>
            <a:r>
              <a:rPr sz="2500" i="1" spc="-45" dirty="0">
                <a:latin typeface="Times New Roman"/>
                <a:cs typeface="Times New Roman"/>
              </a:rPr>
              <a:t>AB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3222" y="1846326"/>
            <a:ext cx="8569960" cy="1295400"/>
          </a:xfrm>
          <a:custGeom>
            <a:avLst/>
            <a:gdLst/>
            <a:ahLst/>
            <a:cxnLst/>
            <a:rect l="l" t="t" r="r" b="b"/>
            <a:pathLst>
              <a:path w="8569960" h="1295400">
                <a:moveTo>
                  <a:pt x="0" y="242824"/>
                </a:moveTo>
                <a:lnTo>
                  <a:pt x="6362" y="211324"/>
                </a:lnTo>
                <a:lnTo>
                  <a:pt x="23712" y="185610"/>
                </a:lnTo>
                <a:lnTo>
                  <a:pt x="49447" y="168278"/>
                </a:lnTo>
                <a:lnTo>
                  <a:pt x="80962" y="161925"/>
                </a:lnTo>
                <a:lnTo>
                  <a:pt x="8407527" y="161925"/>
                </a:lnTo>
                <a:lnTo>
                  <a:pt x="8407527" y="80899"/>
                </a:lnTo>
                <a:lnTo>
                  <a:pt x="8413882" y="49399"/>
                </a:lnTo>
                <a:lnTo>
                  <a:pt x="8431228" y="23685"/>
                </a:lnTo>
                <a:lnTo>
                  <a:pt x="8456979" y="6353"/>
                </a:lnTo>
                <a:lnTo>
                  <a:pt x="8488553" y="0"/>
                </a:lnTo>
                <a:lnTo>
                  <a:pt x="8520052" y="6353"/>
                </a:lnTo>
                <a:lnTo>
                  <a:pt x="8545766" y="23685"/>
                </a:lnTo>
                <a:lnTo>
                  <a:pt x="8563098" y="49399"/>
                </a:lnTo>
                <a:lnTo>
                  <a:pt x="8569452" y="80899"/>
                </a:lnTo>
                <a:lnTo>
                  <a:pt x="8569452" y="1052576"/>
                </a:lnTo>
                <a:lnTo>
                  <a:pt x="8563098" y="1084075"/>
                </a:lnTo>
                <a:lnTo>
                  <a:pt x="8545766" y="1109789"/>
                </a:lnTo>
                <a:lnTo>
                  <a:pt x="8520052" y="1127121"/>
                </a:lnTo>
                <a:lnTo>
                  <a:pt x="8488553" y="1133475"/>
                </a:lnTo>
                <a:lnTo>
                  <a:pt x="161925" y="1133475"/>
                </a:lnTo>
                <a:lnTo>
                  <a:pt x="161925" y="1214501"/>
                </a:lnTo>
                <a:lnTo>
                  <a:pt x="155562" y="1246000"/>
                </a:lnTo>
                <a:lnTo>
                  <a:pt x="138212" y="1271714"/>
                </a:lnTo>
                <a:lnTo>
                  <a:pt x="112477" y="1289046"/>
                </a:lnTo>
                <a:lnTo>
                  <a:pt x="80962" y="1295400"/>
                </a:lnTo>
                <a:lnTo>
                  <a:pt x="49447" y="1289046"/>
                </a:lnTo>
                <a:lnTo>
                  <a:pt x="23712" y="1271714"/>
                </a:lnTo>
                <a:lnTo>
                  <a:pt x="6362" y="1246000"/>
                </a:lnTo>
                <a:lnTo>
                  <a:pt x="0" y="1214501"/>
                </a:lnTo>
                <a:lnTo>
                  <a:pt x="0" y="242824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027794" y="1914270"/>
            <a:ext cx="187832" cy="1069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0280" y="2035810"/>
            <a:ext cx="187833" cy="1473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5147" y="2089150"/>
            <a:ext cx="0" cy="890905"/>
          </a:xfrm>
          <a:custGeom>
            <a:avLst/>
            <a:gdLst/>
            <a:ahLst/>
            <a:cxnLst/>
            <a:rect l="l" t="t" r="r" b="b"/>
            <a:pathLst>
              <a:path h="890905">
                <a:moveTo>
                  <a:pt x="0" y="0"/>
                </a:moveTo>
                <a:lnTo>
                  <a:pt x="0" y="890651"/>
                </a:lnTo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3222" y="3501390"/>
            <a:ext cx="8569960" cy="2737485"/>
          </a:xfrm>
          <a:custGeom>
            <a:avLst/>
            <a:gdLst/>
            <a:ahLst/>
            <a:cxnLst/>
            <a:rect l="l" t="t" r="r" b="b"/>
            <a:pathLst>
              <a:path w="8569960" h="2737485">
                <a:moveTo>
                  <a:pt x="0" y="160655"/>
                </a:moveTo>
                <a:lnTo>
                  <a:pt x="8190" y="109858"/>
                </a:lnTo>
                <a:lnTo>
                  <a:pt x="30999" y="65754"/>
                </a:lnTo>
                <a:lnTo>
                  <a:pt x="65779" y="30983"/>
                </a:lnTo>
                <a:lnTo>
                  <a:pt x="109884" y="8185"/>
                </a:lnTo>
                <a:lnTo>
                  <a:pt x="160667" y="0"/>
                </a:lnTo>
                <a:lnTo>
                  <a:pt x="8408797" y="0"/>
                </a:lnTo>
                <a:lnTo>
                  <a:pt x="8459593" y="8185"/>
                </a:lnTo>
                <a:lnTo>
                  <a:pt x="8503697" y="30983"/>
                </a:lnTo>
                <a:lnTo>
                  <a:pt x="8538468" y="65754"/>
                </a:lnTo>
                <a:lnTo>
                  <a:pt x="8561266" y="109858"/>
                </a:lnTo>
                <a:lnTo>
                  <a:pt x="8569452" y="160655"/>
                </a:lnTo>
                <a:lnTo>
                  <a:pt x="8569452" y="2576436"/>
                </a:lnTo>
                <a:lnTo>
                  <a:pt x="8561266" y="2627219"/>
                </a:lnTo>
                <a:lnTo>
                  <a:pt x="8538468" y="2671324"/>
                </a:lnTo>
                <a:lnTo>
                  <a:pt x="8503697" y="2706104"/>
                </a:lnTo>
                <a:lnTo>
                  <a:pt x="8459593" y="2728913"/>
                </a:lnTo>
                <a:lnTo>
                  <a:pt x="8408797" y="2737104"/>
                </a:lnTo>
                <a:lnTo>
                  <a:pt x="160667" y="2737104"/>
                </a:lnTo>
                <a:lnTo>
                  <a:pt x="109884" y="2728913"/>
                </a:lnTo>
                <a:lnTo>
                  <a:pt x="65779" y="2706104"/>
                </a:lnTo>
                <a:lnTo>
                  <a:pt x="30999" y="2671324"/>
                </a:lnTo>
                <a:lnTo>
                  <a:pt x="8190" y="2627219"/>
                </a:lnTo>
                <a:lnTo>
                  <a:pt x="0" y="2576436"/>
                </a:lnTo>
                <a:lnTo>
                  <a:pt x="0" y="160655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33215" y="5026571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412" y="0"/>
                </a:lnTo>
              </a:path>
            </a:pathLst>
          </a:custGeom>
          <a:ln w="127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67574" y="5026571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437" y="0"/>
                </a:lnTo>
              </a:path>
            </a:pathLst>
          </a:custGeom>
          <a:ln w="127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07487" y="5026571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462" y="0"/>
                </a:lnTo>
              </a:path>
            </a:pathLst>
          </a:custGeom>
          <a:ln w="127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72534" y="5536240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412" y="0"/>
                </a:lnTo>
              </a:path>
            </a:pathLst>
          </a:custGeom>
          <a:ln w="127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62791" y="5536240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412" y="0"/>
                </a:lnTo>
              </a:path>
            </a:pathLst>
          </a:custGeom>
          <a:ln w="127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58444" y="3435030"/>
            <a:ext cx="7041515" cy="245554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800" spc="-5" dirty="0">
                <a:latin typeface="微软雅黑"/>
                <a:cs typeface="微软雅黑"/>
              </a:rPr>
              <a:t>证明：</a:t>
            </a:r>
            <a:endParaRPr sz="1800">
              <a:latin typeface="微软雅黑"/>
              <a:cs typeface="微软雅黑"/>
            </a:endParaRPr>
          </a:p>
          <a:p>
            <a:pPr marL="1520190">
              <a:lnSpc>
                <a:spcPct val="100000"/>
              </a:lnSpc>
              <a:spcBef>
                <a:spcPts val="1460"/>
              </a:spcBef>
            </a:pPr>
            <a:r>
              <a:rPr sz="2350" i="1" spc="15" dirty="0">
                <a:latin typeface="Times New Roman"/>
                <a:cs typeface="Times New Roman"/>
              </a:rPr>
              <a:t>A</a:t>
            </a:r>
            <a:r>
              <a:rPr sz="2350" i="1" spc="-26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40" dirty="0">
                <a:latin typeface="Times New Roman"/>
                <a:cs typeface="Times New Roman"/>
              </a:rPr>
              <a:t> </a:t>
            </a:r>
            <a:r>
              <a:rPr sz="2350" i="1" spc="-5" dirty="0">
                <a:latin typeface="Times New Roman"/>
                <a:cs typeface="Times New Roman"/>
              </a:rPr>
              <a:t>AB</a:t>
            </a:r>
            <a:r>
              <a:rPr sz="2350" i="1" spc="45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45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A</a:t>
            </a:r>
            <a:r>
              <a:rPr sz="2350" dirty="0">
                <a:latin typeface="Times New Roman"/>
                <a:cs typeface="Times New Roman"/>
              </a:rPr>
              <a:t>(1</a:t>
            </a:r>
            <a:r>
              <a:rPr sz="2350" dirty="0">
                <a:latin typeface="Symbol"/>
                <a:cs typeface="Symbol"/>
              </a:rPr>
              <a:t>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i="1" spc="45" dirty="0">
                <a:latin typeface="Times New Roman"/>
                <a:cs typeface="Times New Roman"/>
              </a:rPr>
              <a:t>B</a:t>
            </a:r>
            <a:r>
              <a:rPr sz="2350" spc="45" dirty="0">
                <a:latin typeface="Times New Roman"/>
                <a:cs typeface="Times New Roman"/>
              </a:rPr>
              <a:t>)</a:t>
            </a:r>
            <a:r>
              <a:rPr sz="2350" spc="-4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45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</a:t>
            </a:r>
            <a:r>
              <a:rPr sz="2350" i="1" spc="-325" dirty="0">
                <a:latin typeface="Times New Roman"/>
                <a:cs typeface="Times New Roman"/>
              </a:rPr>
              <a:t> </a:t>
            </a:r>
            <a:r>
              <a:rPr sz="2350" spc="60" dirty="0">
                <a:latin typeface="Symbol"/>
                <a:cs typeface="Symbol"/>
              </a:rPr>
              <a:t></a:t>
            </a:r>
            <a:r>
              <a:rPr sz="2350" spc="60" dirty="0">
                <a:latin typeface="Times New Roman"/>
                <a:cs typeface="Times New Roman"/>
              </a:rPr>
              <a:t>1</a:t>
            </a:r>
            <a:r>
              <a:rPr sz="2350" spc="-25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45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</a:t>
            </a:r>
            <a:endParaRPr sz="2350">
              <a:latin typeface="Times New Roman"/>
              <a:cs typeface="Times New Roman"/>
            </a:endParaRPr>
          </a:p>
          <a:p>
            <a:pPr marL="1520190">
              <a:lnSpc>
                <a:spcPct val="100000"/>
              </a:lnSpc>
              <a:spcBef>
                <a:spcPts val="745"/>
              </a:spcBef>
            </a:pPr>
            <a:r>
              <a:rPr sz="2350" i="1" spc="-10" dirty="0">
                <a:latin typeface="Times New Roman"/>
                <a:cs typeface="Times New Roman"/>
              </a:rPr>
              <a:t>A</a:t>
            </a:r>
            <a:r>
              <a:rPr sz="2350" spc="-10" dirty="0">
                <a:latin typeface="Times New Roman"/>
                <a:cs typeface="Times New Roman"/>
              </a:rPr>
              <a:t>(</a:t>
            </a:r>
            <a:r>
              <a:rPr sz="2350" spc="-340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</a:t>
            </a:r>
            <a:r>
              <a:rPr sz="2350" i="1" spc="-254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-75" dirty="0">
                <a:latin typeface="Times New Roman"/>
                <a:cs typeface="Times New Roman"/>
              </a:rPr>
              <a:t> </a:t>
            </a:r>
            <a:r>
              <a:rPr sz="2350" i="1" spc="50" dirty="0">
                <a:latin typeface="Times New Roman"/>
                <a:cs typeface="Times New Roman"/>
              </a:rPr>
              <a:t>B</a:t>
            </a:r>
            <a:r>
              <a:rPr sz="2350" spc="50" dirty="0">
                <a:latin typeface="Times New Roman"/>
                <a:cs typeface="Times New Roman"/>
              </a:rPr>
              <a:t>)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50" dirty="0">
                <a:latin typeface="Times New Roman"/>
                <a:cs typeface="Times New Roman"/>
              </a:rPr>
              <a:t> </a:t>
            </a:r>
            <a:r>
              <a:rPr sz="2350" i="1" spc="-5" dirty="0">
                <a:latin typeface="Times New Roman"/>
                <a:cs typeface="Times New Roman"/>
              </a:rPr>
              <a:t>AA</a:t>
            </a:r>
            <a:r>
              <a:rPr sz="2350" i="1" spc="-215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35" dirty="0">
                <a:latin typeface="Times New Roman"/>
                <a:cs typeface="Times New Roman"/>
              </a:rPr>
              <a:t> </a:t>
            </a:r>
            <a:r>
              <a:rPr sz="2350" i="1" spc="-5" dirty="0">
                <a:latin typeface="Times New Roman"/>
                <a:cs typeface="Times New Roman"/>
              </a:rPr>
              <a:t>AB</a:t>
            </a:r>
            <a:r>
              <a:rPr sz="2350" i="1" spc="4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50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</a:t>
            </a:r>
            <a:r>
              <a:rPr sz="2350" i="1" spc="-254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35" dirty="0">
                <a:latin typeface="Times New Roman"/>
                <a:cs typeface="Times New Roman"/>
              </a:rPr>
              <a:t> </a:t>
            </a:r>
            <a:r>
              <a:rPr sz="2350" i="1" spc="-5" dirty="0">
                <a:latin typeface="Times New Roman"/>
                <a:cs typeface="Times New Roman"/>
              </a:rPr>
              <a:t>AB</a:t>
            </a:r>
            <a:r>
              <a:rPr sz="2350" i="1" spc="4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50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</a:t>
            </a:r>
            <a:endParaRPr sz="2350">
              <a:latin typeface="Times New Roman"/>
              <a:cs typeface="Times New Roman"/>
            </a:endParaRPr>
          </a:p>
          <a:p>
            <a:pPr marL="1520190" marR="5080">
              <a:lnSpc>
                <a:spcPct val="142300"/>
              </a:lnSpc>
              <a:spcBef>
                <a:spcPts val="5"/>
              </a:spcBef>
            </a:pPr>
            <a:r>
              <a:rPr sz="2350" i="1" spc="15" dirty="0">
                <a:latin typeface="Times New Roman"/>
                <a:cs typeface="Times New Roman"/>
              </a:rPr>
              <a:t>A</a:t>
            </a:r>
            <a:r>
              <a:rPr sz="2350" i="1" spc="-26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40" dirty="0">
                <a:latin typeface="Times New Roman"/>
                <a:cs typeface="Times New Roman"/>
              </a:rPr>
              <a:t> </a:t>
            </a:r>
            <a:r>
              <a:rPr sz="2350" i="1" spc="-45" dirty="0">
                <a:latin typeface="Times New Roman"/>
                <a:cs typeface="Times New Roman"/>
              </a:rPr>
              <a:t>AB</a:t>
            </a:r>
            <a:r>
              <a:rPr sz="2350" i="1" spc="1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45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</a:t>
            </a:r>
            <a:r>
              <a:rPr sz="2350" i="1" spc="-254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40" dirty="0">
                <a:latin typeface="Times New Roman"/>
                <a:cs typeface="Times New Roman"/>
              </a:rPr>
              <a:t> </a:t>
            </a:r>
            <a:r>
              <a:rPr sz="2350" i="1" spc="-5" dirty="0">
                <a:latin typeface="Times New Roman"/>
                <a:cs typeface="Times New Roman"/>
              </a:rPr>
              <a:t>AB</a:t>
            </a:r>
            <a:r>
              <a:rPr sz="2350" i="1" spc="-105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40" dirty="0">
                <a:latin typeface="Times New Roman"/>
                <a:cs typeface="Times New Roman"/>
              </a:rPr>
              <a:t> </a:t>
            </a:r>
            <a:r>
              <a:rPr sz="2350" i="1" spc="-45" dirty="0">
                <a:latin typeface="Times New Roman"/>
                <a:cs typeface="Times New Roman"/>
              </a:rPr>
              <a:t>AB</a:t>
            </a:r>
            <a:r>
              <a:rPr sz="2350" i="1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50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</a:t>
            </a:r>
            <a:r>
              <a:rPr sz="2350" i="1" spc="-254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-185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Times New Roman"/>
                <a:cs typeface="Times New Roman"/>
              </a:rPr>
              <a:t>(</a:t>
            </a:r>
            <a:r>
              <a:rPr sz="2350" spc="-335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</a:t>
            </a:r>
            <a:r>
              <a:rPr sz="2350" i="1" spc="-26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40" dirty="0">
                <a:latin typeface="Times New Roman"/>
                <a:cs typeface="Times New Roman"/>
              </a:rPr>
              <a:t> </a:t>
            </a:r>
            <a:r>
              <a:rPr sz="2350" i="1" spc="45" dirty="0">
                <a:latin typeface="Times New Roman"/>
                <a:cs typeface="Times New Roman"/>
              </a:rPr>
              <a:t>A</a:t>
            </a:r>
            <a:r>
              <a:rPr sz="2350" spc="45" dirty="0">
                <a:latin typeface="Times New Roman"/>
                <a:cs typeface="Times New Roman"/>
              </a:rPr>
              <a:t>)</a:t>
            </a:r>
            <a:r>
              <a:rPr sz="2350" i="1" spc="45" dirty="0">
                <a:latin typeface="Times New Roman"/>
                <a:cs typeface="Times New Roman"/>
              </a:rPr>
              <a:t>B</a:t>
            </a:r>
            <a:r>
              <a:rPr sz="2350" i="1" spc="5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55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</a:t>
            </a:r>
            <a:r>
              <a:rPr sz="2350" i="1" spc="-26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-75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B  </a:t>
            </a:r>
            <a:r>
              <a:rPr sz="2350" i="1" spc="-10" dirty="0">
                <a:latin typeface="Times New Roman"/>
                <a:cs typeface="Times New Roman"/>
              </a:rPr>
              <a:t>A</a:t>
            </a:r>
            <a:r>
              <a:rPr sz="2350" spc="-10" dirty="0">
                <a:latin typeface="Times New Roman"/>
                <a:cs typeface="Times New Roman"/>
              </a:rPr>
              <a:t>(</a:t>
            </a:r>
            <a:r>
              <a:rPr sz="2350" spc="-340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</a:t>
            </a:r>
            <a:r>
              <a:rPr sz="2350" i="1" spc="-254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-75" dirty="0">
                <a:latin typeface="Times New Roman"/>
                <a:cs typeface="Times New Roman"/>
              </a:rPr>
              <a:t> </a:t>
            </a:r>
            <a:r>
              <a:rPr sz="2350" i="1" spc="50" dirty="0">
                <a:latin typeface="Times New Roman"/>
                <a:cs typeface="Times New Roman"/>
              </a:rPr>
              <a:t>B</a:t>
            </a:r>
            <a:r>
              <a:rPr sz="2350" spc="50" dirty="0">
                <a:latin typeface="Times New Roman"/>
                <a:cs typeface="Times New Roman"/>
              </a:rPr>
              <a:t>)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50" dirty="0">
                <a:latin typeface="Times New Roman"/>
                <a:cs typeface="Times New Roman"/>
              </a:rPr>
              <a:t> </a:t>
            </a:r>
            <a:r>
              <a:rPr sz="2350" i="1" spc="105" dirty="0">
                <a:latin typeface="Times New Roman"/>
                <a:cs typeface="Times New Roman"/>
              </a:rPr>
              <a:t>AA</a:t>
            </a:r>
            <a:r>
              <a:rPr sz="2350" i="1" spc="-254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40" dirty="0">
                <a:latin typeface="Times New Roman"/>
                <a:cs typeface="Times New Roman"/>
              </a:rPr>
              <a:t> </a:t>
            </a:r>
            <a:r>
              <a:rPr sz="2350" i="1" spc="-5" dirty="0">
                <a:latin typeface="Times New Roman"/>
                <a:cs typeface="Times New Roman"/>
              </a:rPr>
              <a:t>AB</a:t>
            </a:r>
            <a:r>
              <a:rPr sz="2350" i="1" spc="4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50" dirty="0">
                <a:latin typeface="Times New Roman"/>
                <a:cs typeface="Times New Roman"/>
              </a:rPr>
              <a:t> </a:t>
            </a:r>
            <a:r>
              <a:rPr sz="2350" i="1" spc="-25" dirty="0">
                <a:latin typeface="Times New Roman"/>
                <a:cs typeface="Times New Roman"/>
              </a:rPr>
              <a:t>AB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4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30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492A0E09-486C-49BD-3EB6-4ABDD0A531C2}"/>
                  </a:ext>
                </a:extLst>
              </p14:cNvPr>
              <p14:cNvContentPartPr/>
              <p14:nvPr/>
            </p14:nvContentPartPr>
            <p14:xfrm>
              <a:off x="2281376" y="2071493"/>
              <a:ext cx="1410480" cy="30348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492A0E09-486C-49BD-3EB6-4ABDD0A531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7736" y="1963493"/>
                <a:ext cx="1518120" cy="51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C0BFCC0C-13C0-59D5-911F-554AB148F01D}"/>
                  </a:ext>
                </a:extLst>
              </p14:cNvPr>
              <p14:cNvContentPartPr/>
              <p14:nvPr/>
            </p14:nvContentPartPr>
            <p14:xfrm>
              <a:off x="4856816" y="1953053"/>
              <a:ext cx="1750320" cy="27036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C0BFCC0C-13C0-59D5-911F-554AB148F01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03176" y="1845413"/>
                <a:ext cx="185796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0F44EA6E-052E-FA7B-744A-38BF3C5689B8}"/>
                  </a:ext>
                </a:extLst>
              </p14:cNvPr>
              <p14:cNvContentPartPr/>
              <p14:nvPr/>
            </p14:nvContentPartPr>
            <p14:xfrm>
              <a:off x="2167256" y="2591333"/>
              <a:ext cx="2036520" cy="26172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0F44EA6E-052E-FA7B-744A-38BF3C5689B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13256" y="2483693"/>
                <a:ext cx="214416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C9439506-5DBD-1D19-F6C2-718D568CCE79}"/>
                  </a:ext>
                </a:extLst>
              </p14:cNvPr>
              <p14:cNvContentPartPr/>
              <p14:nvPr/>
            </p14:nvContentPartPr>
            <p14:xfrm>
              <a:off x="4784096" y="2316653"/>
              <a:ext cx="2655720" cy="58176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C9439506-5DBD-1D19-F6C2-718D568CCE7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30456" y="2209013"/>
                <a:ext cx="2763360" cy="79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4502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逻辑代数基本定理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40" y="1055623"/>
            <a:ext cx="35934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15" dirty="0">
                <a:solidFill>
                  <a:srgbClr val="FF0000"/>
                </a:solidFill>
                <a:latin typeface="Microsoft JhengHei"/>
                <a:cs typeface="Microsoft JhengHei"/>
              </a:rPr>
              <a:t>（</a:t>
            </a:r>
            <a:r>
              <a:rPr sz="2800" b="1" spc="5" dirty="0">
                <a:solidFill>
                  <a:srgbClr val="FF0000"/>
                </a:solidFill>
                <a:latin typeface="Microsoft JhengHei"/>
                <a:cs typeface="Microsoft JhengHei"/>
              </a:rPr>
              <a:t>定理三</a:t>
            </a:r>
            <a:r>
              <a:rPr sz="2800" b="1" spc="15" dirty="0">
                <a:solidFill>
                  <a:srgbClr val="FF0000"/>
                </a:solidFill>
                <a:latin typeface="Microsoft JhengHei"/>
                <a:cs typeface="Microsoft JhengHei"/>
              </a:rPr>
              <a:t>）</a:t>
            </a:r>
            <a:r>
              <a:rPr sz="2800" b="1" spc="5" dirty="0">
                <a:solidFill>
                  <a:srgbClr val="FF0000"/>
                </a:solidFill>
                <a:latin typeface="Microsoft JhengHei"/>
                <a:cs typeface="Microsoft JhengHei"/>
              </a:rPr>
              <a:t>添加项</a:t>
            </a:r>
            <a:r>
              <a:rPr sz="2800" b="1" spc="15" dirty="0">
                <a:solidFill>
                  <a:srgbClr val="FF0000"/>
                </a:solidFill>
                <a:latin typeface="Microsoft JhengHei"/>
                <a:cs typeface="Microsoft JhengHei"/>
              </a:rPr>
              <a:t>定</a:t>
            </a:r>
            <a:r>
              <a:rPr sz="2800" b="1" spc="-5" dirty="0">
                <a:solidFill>
                  <a:srgbClr val="FF0000"/>
                </a:solidFill>
                <a:latin typeface="Microsoft JhengHei"/>
                <a:cs typeface="Microsoft JhengHei"/>
              </a:rPr>
              <a:t>理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91755" y="2185678"/>
            <a:ext cx="164465" cy="0"/>
          </a:xfrm>
          <a:custGeom>
            <a:avLst/>
            <a:gdLst/>
            <a:ahLst/>
            <a:cxnLst/>
            <a:rect l="l" t="t" r="r" b="b"/>
            <a:pathLst>
              <a:path w="164464">
                <a:moveTo>
                  <a:pt x="0" y="0"/>
                </a:moveTo>
                <a:lnTo>
                  <a:pt x="164109" y="0"/>
                </a:lnTo>
              </a:path>
            </a:pathLst>
          </a:custGeom>
          <a:ln w="85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22822" y="2185678"/>
            <a:ext cx="164465" cy="0"/>
          </a:xfrm>
          <a:custGeom>
            <a:avLst/>
            <a:gdLst/>
            <a:ahLst/>
            <a:cxnLst/>
            <a:rect l="l" t="t" r="r" b="b"/>
            <a:pathLst>
              <a:path w="164464">
                <a:moveTo>
                  <a:pt x="0" y="0"/>
                </a:moveTo>
                <a:lnTo>
                  <a:pt x="164153" y="0"/>
                </a:lnTo>
              </a:path>
            </a:pathLst>
          </a:custGeom>
          <a:ln w="85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16646" y="2185678"/>
            <a:ext cx="164465" cy="0"/>
          </a:xfrm>
          <a:custGeom>
            <a:avLst/>
            <a:gdLst/>
            <a:ahLst/>
            <a:cxnLst/>
            <a:rect l="l" t="t" r="r" b="b"/>
            <a:pathLst>
              <a:path w="164464">
                <a:moveTo>
                  <a:pt x="0" y="0"/>
                </a:moveTo>
                <a:lnTo>
                  <a:pt x="164153" y="0"/>
                </a:lnTo>
              </a:path>
            </a:pathLst>
          </a:custGeom>
          <a:ln w="85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64608" y="2185678"/>
            <a:ext cx="164465" cy="0"/>
          </a:xfrm>
          <a:custGeom>
            <a:avLst/>
            <a:gdLst/>
            <a:ahLst/>
            <a:cxnLst/>
            <a:rect l="l" t="t" r="r" b="b"/>
            <a:pathLst>
              <a:path w="164465">
                <a:moveTo>
                  <a:pt x="0" y="0"/>
                </a:moveTo>
                <a:lnTo>
                  <a:pt x="164153" y="0"/>
                </a:lnTo>
              </a:path>
            </a:pathLst>
          </a:custGeom>
          <a:ln w="85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91755" y="2536259"/>
            <a:ext cx="164465" cy="0"/>
          </a:xfrm>
          <a:custGeom>
            <a:avLst/>
            <a:gdLst/>
            <a:ahLst/>
            <a:cxnLst/>
            <a:rect l="l" t="t" r="r" b="b"/>
            <a:pathLst>
              <a:path w="164464">
                <a:moveTo>
                  <a:pt x="0" y="0"/>
                </a:moveTo>
                <a:lnTo>
                  <a:pt x="164109" y="0"/>
                </a:lnTo>
              </a:path>
            </a:pathLst>
          </a:custGeom>
          <a:ln w="85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08251" y="2536259"/>
            <a:ext cx="164465" cy="0"/>
          </a:xfrm>
          <a:custGeom>
            <a:avLst/>
            <a:gdLst/>
            <a:ahLst/>
            <a:cxnLst/>
            <a:rect l="l" t="t" r="r" b="b"/>
            <a:pathLst>
              <a:path w="164464">
                <a:moveTo>
                  <a:pt x="0" y="0"/>
                </a:moveTo>
                <a:lnTo>
                  <a:pt x="163929" y="0"/>
                </a:lnTo>
              </a:path>
            </a:pathLst>
          </a:custGeom>
          <a:ln w="85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01851" y="2536259"/>
            <a:ext cx="164465" cy="0"/>
          </a:xfrm>
          <a:custGeom>
            <a:avLst/>
            <a:gdLst/>
            <a:ahLst/>
            <a:cxnLst/>
            <a:rect l="l" t="t" r="r" b="b"/>
            <a:pathLst>
              <a:path w="164464">
                <a:moveTo>
                  <a:pt x="0" y="0"/>
                </a:moveTo>
                <a:lnTo>
                  <a:pt x="164153" y="0"/>
                </a:lnTo>
              </a:path>
            </a:pathLst>
          </a:custGeom>
          <a:ln w="85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00396" y="2536259"/>
            <a:ext cx="164465" cy="0"/>
          </a:xfrm>
          <a:custGeom>
            <a:avLst/>
            <a:gdLst/>
            <a:ahLst/>
            <a:cxnLst/>
            <a:rect l="l" t="t" r="r" b="b"/>
            <a:pathLst>
              <a:path w="164465">
                <a:moveTo>
                  <a:pt x="0" y="0"/>
                </a:moveTo>
                <a:lnTo>
                  <a:pt x="164153" y="0"/>
                </a:lnTo>
              </a:path>
            </a:pathLst>
          </a:custGeom>
          <a:ln w="85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15320" y="2057008"/>
            <a:ext cx="4895850" cy="72771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600" spc="185" dirty="0">
                <a:latin typeface="Times New Roman"/>
                <a:cs typeface="Times New Roman"/>
              </a:rPr>
              <a:t>(</a:t>
            </a:r>
            <a:r>
              <a:rPr sz="1600" spc="-200" dirty="0">
                <a:latin typeface="Times New Roman"/>
                <a:cs typeface="Times New Roman"/>
              </a:rPr>
              <a:t> </a:t>
            </a:r>
            <a:r>
              <a:rPr sz="1600" i="1" spc="340" dirty="0">
                <a:latin typeface="Times New Roman"/>
                <a:cs typeface="Times New Roman"/>
              </a:rPr>
              <a:t>A</a:t>
            </a:r>
            <a:r>
              <a:rPr sz="1600" i="1" spc="-135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i="1" spc="250" dirty="0">
                <a:latin typeface="Times New Roman"/>
                <a:cs typeface="Times New Roman"/>
              </a:rPr>
              <a:t>B</a:t>
            </a:r>
            <a:r>
              <a:rPr sz="1600" spc="250" dirty="0">
                <a:latin typeface="Times New Roman"/>
                <a:cs typeface="Times New Roman"/>
              </a:rPr>
              <a:t>)(</a:t>
            </a:r>
            <a:r>
              <a:rPr sz="1600" spc="-220" dirty="0">
                <a:latin typeface="Times New Roman"/>
                <a:cs typeface="Times New Roman"/>
              </a:rPr>
              <a:t> </a:t>
            </a:r>
            <a:r>
              <a:rPr sz="1600" i="1" spc="340" dirty="0">
                <a:latin typeface="Times New Roman"/>
                <a:cs typeface="Times New Roman"/>
              </a:rPr>
              <a:t>A</a:t>
            </a:r>
            <a:r>
              <a:rPr sz="1600" i="1" spc="-135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i="1" spc="320" dirty="0">
                <a:latin typeface="Times New Roman"/>
                <a:cs typeface="Times New Roman"/>
              </a:rPr>
              <a:t>C</a:t>
            </a:r>
            <a:r>
              <a:rPr sz="1600" spc="320" dirty="0">
                <a:latin typeface="Times New Roman"/>
                <a:cs typeface="Times New Roman"/>
              </a:rPr>
              <a:t>)(</a:t>
            </a:r>
            <a:r>
              <a:rPr sz="1600" i="1" spc="320" dirty="0">
                <a:latin typeface="Times New Roman"/>
                <a:cs typeface="Times New Roman"/>
              </a:rPr>
              <a:t>B</a:t>
            </a:r>
            <a:r>
              <a:rPr sz="1600" i="1" spc="-35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i="1" spc="335" dirty="0">
                <a:latin typeface="Times New Roman"/>
                <a:cs typeface="Times New Roman"/>
              </a:rPr>
              <a:t>C</a:t>
            </a:r>
            <a:r>
              <a:rPr sz="1600" spc="335" dirty="0">
                <a:latin typeface="Times New Roman"/>
                <a:cs typeface="Times New Roman"/>
              </a:rPr>
              <a:t>)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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185" dirty="0">
                <a:latin typeface="Times New Roman"/>
                <a:cs typeface="Times New Roman"/>
              </a:rPr>
              <a:t>(</a:t>
            </a:r>
            <a:r>
              <a:rPr sz="1600" spc="-195" dirty="0">
                <a:latin typeface="Times New Roman"/>
                <a:cs typeface="Times New Roman"/>
              </a:rPr>
              <a:t> </a:t>
            </a:r>
            <a:r>
              <a:rPr sz="1600" i="1" spc="340" dirty="0">
                <a:latin typeface="Times New Roman"/>
                <a:cs typeface="Times New Roman"/>
              </a:rPr>
              <a:t>A</a:t>
            </a:r>
            <a:r>
              <a:rPr sz="1600" i="1" spc="-130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i="1" spc="250" dirty="0">
                <a:latin typeface="Times New Roman"/>
                <a:cs typeface="Times New Roman"/>
              </a:rPr>
              <a:t>B</a:t>
            </a:r>
            <a:r>
              <a:rPr sz="1600" spc="250" dirty="0">
                <a:latin typeface="Times New Roman"/>
                <a:cs typeface="Times New Roman"/>
              </a:rPr>
              <a:t>)(</a:t>
            </a:r>
            <a:r>
              <a:rPr sz="1600" spc="-220" dirty="0">
                <a:latin typeface="Times New Roman"/>
                <a:cs typeface="Times New Roman"/>
              </a:rPr>
              <a:t> </a:t>
            </a:r>
            <a:r>
              <a:rPr sz="1600" i="1" spc="340" dirty="0">
                <a:latin typeface="Times New Roman"/>
                <a:cs typeface="Times New Roman"/>
              </a:rPr>
              <a:t>A</a:t>
            </a:r>
            <a:r>
              <a:rPr sz="1600" i="1" spc="-135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i="1" spc="335" dirty="0">
                <a:latin typeface="Times New Roman"/>
                <a:cs typeface="Times New Roman"/>
              </a:rPr>
              <a:t>C</a:t>
            </a:r>
            <a:r>
              <a:rPr sz="1600" spc="33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197485">
              <a:lnSpc>
                <a:spcPct val="100000"/>
              </a:lnSpc>
              <a:spcBef>
                <a:spcPts val="844"/>
              </a:spcBef>
            </a:pPr>
            <a:r>
              <a:rPr sz="1600" spc="185" dirty="0">
                <a:latin typeface="Times New Roman"/>
                <a:cs typeface="Times New Roman"/>
              </a:rPr>
              <a:t>(</a:t>
            </a:r>
            <a:r>
              <a:rPr sz="1600" spc="-200" dirty="0">
                <a:latin typeface="Times New Roman"/>
                <a:cs typeface="Times New Roman"/>
              </a:rPr>
              <a:t> </a:t>
            </a:r>
            <a:r>
              <a:rPr sz="1600" i="1" spc="340" dirty="0">
                <a:latin typeface="Times New Roman"/>
                <a:cs typeface="Times New Roman"/>
              </a:rPr>
              <a:t>A</a:t>
            </a:r>
            <a:r>
              <a:rPr sz="1600" i="1" spc="-135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i="1" spc="245" dirty="0">
                <a:latin typeface="Times New Roman"/>
                <a:cs typeface="Times New Roman"/>
              </a:rPr>
              <a:t>B</a:t>
            </a:r>
            <a:r>
              <a:rPr sz="1600" spc="245" dirty="0">
                <a:latin typeface="Times New Roman"/>
                <a:cs typeface="Times New Roman"/>
              </a:rPr>
              <a:t>)(</a:t>
            </a:r>
            <a:r>
              <a:rPr sz="1600" spc="-220" dirty="0">
                <a:latin typeface="Times New Roman"/>
                <a:cs typeface="Times New Roman"/>
              </a:rPr>
              <a:t> </a:t>
            </a:r>
            <a:r>
              <a:rPr sz="1600" i="1" spc="340" dirty="0">
                <a:latin typeface="Times New Roman"/>
                <a:cs typeface="Times New Roman"/>
              </a:rPr>
              <a:t>A</a:t>
            </a:r>
            <a:r>
              <a:rPr sz="1600" i="1" spc="-130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i="1" spc="320" dirty="0">
                <a:latin typeface="Times New Roman"/>
                <a:cs typeface="Times New Roman"/>
              </a:rPr>
              <a:t>C</a:t>
            </a:r>
            <a:r>
              <a:rPr sz="1600" spc="320" dirty="0">
                <a:latin typeface="Times New Roman"/>
                <a:cs typeface="Times New Roman"/>
              </a:rPr>
              <a:t>)(</a:t>
            </a:r>
            <a:r>
              <a:rPr sz="1600" i="1" spc="320" dirty="0">
                <a:latin typeface="Times New Roman"/>
                <a:cs typeface="Times New Roman"/>
              </a:rPr>
              <a:t>B</a:t>
            </a:r>
            <a:r>
              <a:rPr sz="1600" i="1" spc="-35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i="1" spc="375" dirty="0">
                <a:latin typeface="Times New Roman"/>
                <a:cs typeface="Times New Roman"/>
              </a:rPr>
              <a:t>C</a:t>
            </a:r>
            <a:r>
              <a:rPr sz="1600" i="1" spc="45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i="1" spc="310" dirty="0">
                <a:latin typeface="Times New Roman"/>
                <a:cs typeface="Times New Roman"/>
              </a:rPr>
              <a:t>D</a:t>
            </a:r>
            <a:r>
              <a:rPr sz="1600" spc="310" dirty="0">
                <a:latin typeface="Times New Roman"/>
                <a:cs typeface="Times New Roman"/>
              </a:rPr>
              <a:t>)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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185" dirty="0">
                <a:latin typeface="Times New Roman"/>
                <a:cs typeface="Times New Roman"/>
              </a:rPr>
              <a:t>(</a:t>
            </a:r>
            <a:r>
              <a:rPr sz="1600" spc="-200" dirty="0">
                <a:latin typeface="Times New Roman"/>
                <a:cs typeface="Times New Roman"/>
              </a:rPr>
              <a:t> </a:t>
            </a:r>
            <a:r>
              <a:rPr sz="1600" i="1" spc="340" dirty="0">
                <a:latin typeface="Times New Roman"/>
                <a:cs typeface="Times New Roman"/>
              </a:rPr>
              <a:t>A</a:t>
            </a:r>
            <a:r>
              <a:rPr sz="1600" i="1" spc="-135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i="1" spc="250" dirty="0">
                <a:latin typeface="Times New Roman"/>
                <a:cs typeface="Times New Roman"/>
              </a:rPr>
              <a:t>B</a:t>
            </a:r>
            <a:r>
              <a:rPr sz="1600" spc="250" dirty="0">
                <a:latin typeface="Times New Roman"/>
                <a:cs typeface="Times New Roman"/>
              </a:rPr>
              <a:t>)(</a:t>
            </a:r>
            <a:r>
              <a:rPr sz="1600" spc="-215" dirty="0">
                <a:latin typeface="Times New Roman"/>
                <a:cs typeface="Times New Roman"/>
              </a:rPr>
              <a:t> </a:t>
            </a:r>
            <a:r>
              <a:rPr sz="1600" i="1" spc="340" dirty="0">
                <a:latin typeface="Times New Roman"/>
                <a:cs typeface="Times New Roman"/>
              </a:rPr>
              <a:t>A</a:t>
            </a:r>
            <a:r>
              <a:rPr sz="1600" i="1" spc="-140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i="1" spc="335" dirty="0">
                <a:latin typeface="Times New Roman"/>
                <a:cs typeface="Times New Roman"/>
              </a:rPr>
              <a:t>C</a:t>
            </a:r>
            <a:r>
              <a:rPr sz="1600" spc="33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7910" y="2057008"/>
            <a:ext cx="2957830" cy="727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900"/>
              </a:lnSpc>
              <a:spcBef>
                <a:spcPts val="95"/>
              </a:spcBef>
            </a:pPr>
            <a:r>
              <a:rPr sz="1600" i="1" spc="305" dirty="0">
                <a:latin typeface="Times New Roman"/>
                <a:cs typeface="Times New Roman"/>
              </a:rPr>
              <a:t>AB</a:t>
            </a:r>
            <a:r>
              <a:rPr sz="1600" i="1" spc="5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i="1" spc="225" dirty="0">
                <a:latin typeface="Times New Roman"/>
                <a:cs typeface="Times New Roman"/>
              </a:rPr>
              <a:t>AC</a:t>
            </a:r>
            <a:r>
              <a:rPr sz="1600" i="1" spc="40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i="1" spc="370" dirty="0">
                <a:latin typeface="Times New Roman"/>
                <a:cs typeface="Times New Roman"/>
              </a:rPr>
              <a:t>BC</a:t>
            </a:r>
            <a:r>
              <a:rPr sz="1600" i="1" spc="114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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i="1" spc="305" dirty="0">
                <a:latin typeface="Times New Roman"/>
                <a:cs typeface="Times New Roman"/>
              </a:rPr>
              <a:t>AB</a:t>
            </a:r>
            <a:r>
              <a:rPr sz="1600" i="1" spc="5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i="1" spc="225" dirty="0">
                <a:latin typeface="Times New Roman"/>
                <a:cs typeface="Times New Roman"/>
              </a:rPr>
              <a:t>AC  </a:t>
            </a:r>
            <a:r>
              <a:rPr sz="1600" i="1" spc="305" dirty="0">
                <a:latin typeface="Times New Roman"/>
                <a:cs typeface="Times New Roman"/>
              </a:rPr>
              <a:t>AB</a:t>
            </a:r>
            <a:r>
              <a:rPr sz="1600" i="1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i="1" spc="225" dirty="0">
                <a:latin typeface="Times New Roman"/>
                <a:cs typeface="Times New Roman"/>
              </a:rPr>
              <a:t>AC</a:t>
            </a:r>
            <a:r>
              <a:rPr sz="1600" i="1" spc="40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i="1" spc="380" dirty="0">
                <a:latin typeface="Times New Roman"/>
                <a:cs typeface="Times New Roman"/>
              </a:rPr>
              <a:t>BCD</a:t>
            </a:r>
            <a:r>
              <a:rPr sz="1600" i="1" spc="15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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i="1" spc="305" dirty="0">
                <a:latin typeface="Times New Roman"/>
                <a:cs typeface="Times New Roman"/>
              </a:rPr>
              <a:t>AB</a:t>
            </a:r>
            <a:r>
              <a:rPr sz="1600" i="1" dirty="0">
                <a:latin typeface="Times New Roman"/>
                <a:cs typeface="Times New Roman"/>
              </a:rPr>
              <a:t> </a:t>
            </a:r>
            <a:r>
              <a:rPr sz="1600" spc="305" dirty="0">
                <a:latin typeface="Symbol"/>
                <a:cs typeface="Symbol"/>
              </a:rPr>
              <a:t>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i="1" spc="225" dirty="0">
                <a:latin typeface="Times New Roman"/>
                <a:cs typeface="Times New Roman"/>
              </a:rPr>
              <a:t>AC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3222" y="1846326"/>
            <a:ext cx="8569960" cy="1295400"/>
          </a:xfrm>
          <a:custGeom>
            <a:avLst/>
            <a:gdLst/>
            <a:ahLst/>
            <a:cxnLst/>
            <a:rect l="l" t="t" r="r" b="b"/>
            <a:pathLst>
              <a:path w="8569960" h="1295400">
                <a:moveTo>
                  <a:pt x="0" y="242824"/>
                </a:moveTo>
                <a:lnTo>
                  <a:pt x="6362" y="211324"/>
                </a:lnTo>
                <a:lnTo>
                  <a:pt x="23712" y="185610"/>
                </a:lnTo>
                <a:lnTo>
                  <a:pt x="49447" y="168278"/>
                </a:lnTo>
                <a:lnTo>
                  <a:pt x="80962" y="161925"/>
                </a:lnTo>
                <a:lnTo>
                  <a:pt x="8407527" y="161925"/>
                </a:lnTo>
                <a:lnTo>
                  <a:pt x="8407527" y="80899"/>
                </a:lnTo>
                <a:lnTo>
                  <a:pt x="8413882" y="49399"/>
                </a:lnTo>
                <a:lnTo>
                  <a:pt x="8431228" y="23685"/>
                </a:lnTo>
                <a:lnTo>
                  <a:pt x="8456979" y="6353"/>
                </a:lnTo>
                <a:lnTo>
                  <a:pt x="8488553" y="0"/>
                </a:lnTo>
                <a:lnTo>
                  <a:pt x="8520052" y="6353"/>
                </a:lnTo>
                <a:lnTo>
                  <a:pt x="8545766" y="23685"/>
                </a:lnTo>
                <a:lnTo>
                  <a:pt x="8563098" y="49399"/>
                </a:lnTo>
                <a:lnTo>
                  <a:pt x="8569452" y="80899"/>
                </a:lnTo>
                <a:lnTo>
                  <a:pt x="8569452" y="1052576"/>
                </a:lnTo>
                <a:lnTo>
                  <a:pt x="8563098" y="1084075"/>
                </a:lnTo>
                <a:lnTo>
                  <a:pt x="8545766" y="1109789"/>
                </a:lnTo>
                <a:lnTo>
                  <a:pt x="8520052" y="1127121"/>
                </a:lnTo>
                <a:lnTo>
                  <a:pt x="8488553" y="1133475"/>
                </a:lnTo>
                <a:lnTo>
                  <a:pt x="161925" y="1133475"/>
                </a:lnTo>
                <a:lnTo>
                  <a:pt x="161925" y="1214501"/>
                </a:lnTo>
                <a:lnTo>
                  <a:pt x="155562" y="1246000"/>
                </a:lnTo>
                <a:lnTo>
                  <a:pt x="138212" y="1271714"/>
                </a:lnTo>
                <a:lnTo>
                  <a:pt x="112477" y="1289046"/>
                </a:lnTo>
                <a:lnTo>
                  <a:pt x="80962" y="1295400"/>
                </a:lnTo>
                <a:lnTo>
                  <a:pt x="49447" y="1289046"/>
                </a:lnTo>
                <a:lnTo>
                  <a:pt x="23712" y="1271714"/>
                </a:lnTo>
                <a:lnTo>
                  <a:pt x="6362" y="1246000"/>
                </a:lnTo>
                <a:lnTo>
                  <a:pt x="0" y="1214501"/>
                </a:lnTo>
                <a:lnTo>
                  <a:pt x="0" y="242824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027794" y="1914270"/>
            <a:ext cx="187832" cy="1069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20280" y="2035810"/>
            <a:ext cx="187833" cy="1473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5147" y="2089150"/>
            <a:ext cx="0" cy="890905"/>
          </a:xfrm>
          <a:custGeom>
            <a:avLst/>
            <a:gdLst/>
            <a:ahLst/>
            <a:cxnLst/>
            <a:rect l="l" t="t" r="r" b="b"/>
            <a:pathLst>
              <a:path h="890905">
                <a:moveTo>
                  <a:pt x="0" y="0"/>
                </a:moveTo>
                <a:lnTo>
                  <a:pt x="0" y="890651"/>
                </a:lnTo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3222" y="3501390"/>
            <a:ext cx="8569960" cy="2737485"/>
          </a:xfrm>
          <a:custGeom>
            <a:avLst/>
            <a:gdLst/>
            <a:ahLst/>
            <a:cxnLst/>
            <a:rect l="l" t="t" r="r" b="b"/>
            <a:pathLst>
              <a:path w="8569960" h="2737485">
                <a:moveTo>
                  <a:pt x="0" y="160655"/>
                </a:moveTo>
                <a:lnTo>
                  <a:pt x="8190" y="109858"/>
                </a:lnTo>
                <a:lnTo>
                  <a:pt x="30999" y="65754"/>
                </a:lnTo>
                <a:lnTo>
                  <a:pt x="65779" y="30983"/>
                </a:lnTo>
                <a:lnTo>
                  <a:pt x="109884" y="8185"/>
                </a:lnTo>
                <a:lnTo>
                  <a:pt x="160667" y="0"/>
                </a:lnTo>
                <a:lnTo>
                  <a:pt x="8408797" y="0"/>
                </a:lnTo>
                <a:lnTo>
                  <a:pt x="8459593" y="8185"/>
                </a:lnTo>
                <a:lnTo>
                  <a:pt x="8503697" y="30983"/>
                </a:lnTo>
                <a:lnTo>
                  <a:pt x="8538468" y="65754"/>
                </a:lnTo>
                <a:lnTo>
                  <a:pt x="8561266" y="109858"/>
                </a:lnTo>
                <a:lnTo>
                  <a:pt x="8569452" y="160655"/>
                </a:lnTo>
                <a:lnTo>
                  <a:pt x="8569452" y="2576436"/>
                </a:lnTo>
                <a:lnTo>
                  <a:pt x="8561266" y="2627219"/>
                </a:lnTo>
                <a:lnTo>
                  <a:pt x="8538468" y="2671324"/>
                </a:lnTo>
                <a:lnTo>
                  <a:pt x="8503697" y="2706104"/>
                </a:lnTo>
                <a:lnTo>
                  <a:pt x="8459593" y="2728913"/>
                </a:lnTo>
                <a:lnTo>
                  <a:pt x="8408797" y="2737104"/>
                </a:lnTo>
                <a:lnTo>
                  <a:pt x="160667" y="2737104"/>
                </a:lnTo>
                <a:lnTo>
                  <a:pt x="109884" y="2728913"/>
                </a:lnTo>
                <a:lnTo>
                  <a:pt x="65779" y="2706104"/>
                </a:lnTo>
                <a:lnTo>
                  <a:pt x="30999" y="2671324"/>
                </a:lnTo>
                <a:lnTo>
                  <a:pt x="8190" y="2627219"/>
                </a:lnTo>
                <a:lnTo>
                  <a:pt x="0" y="2576436"/>
                </a:lnTo>
                <a:lnTo>
                  <a:pt x="0" y="160655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58444" y="3573856"/>
            <a:ext cx="7112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微软雅黑"/>
                <a:cs typeface="微软雅黑"/>
              </a:rPr>
              <a:t>证明：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78064" y="3938333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385" y="0"/>
                </a:lnTo>
              </a:path>
            </a:pathLst>
          </a:custGeom>
          <a:ln w="149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34789" y="3938333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400" y="0"/>
                </a:lnTo>
              </a:path>
            </a:pathLst>
          </a:custGeom>
          <a:ln w="149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78299" y="3938333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400" y="0"/>
                </a:lnTo>
              </a:path>
            </a:pathLst>
          </a:custGeom>
          <a:ln w="149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831018" y="4449095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400" y="0"/>
                </a:lnTo>
              </a:path>
            </a:pathLst>
          </a:custGeom>
          <a:ln w="149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497685" y="4449095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4">
                <a:moveTo>
                  <a:pt x="0" y="0"/>
                </a:moveTo>
                <a:lnTo>
                  <a:pt x="184400" y="0"/>
                </a:lnTo>
              </a:path>
            </a:pathLst>
          </a:custGeom>
          <a:ln w="149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24396" y="4959872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385" y="0"/>
                </a:lnTo>
              </a:path>
            </a:pathLst>
          </a:custGeom>
          <a:ln w="149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34789" y="5470633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400" y="0"/>
                </a:lnTo>
              </a:path>
            </a:pathLst>
          </a:custGeom>
          <a:ln w="149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912871" y="3756598"/>
            <a:ext cx="5293360" cy="206883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350" i="1" spc="15" dirty="0">
                <a:latin typeface="Times New Roman"/>
                <a:cs typeface="Times New Roman"/>
              </a:rPr>
              <a:t>AB</a:t>
            </a:r>
            <a:r>
              <a:rPr sz="2350" i="1" spc="-15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40" dirty="0">
                <a:latin typeface="Times New Roman"/>
                <a:cs typeface="Times New Roman"/>
              </a:rPr>
              <a:t> </a:t>
            </a:r>
            <a:r>
              <a:rPr sz="2350" i="1" spc="-120" dirty="0">
                <a:latin typeface="Times New Roman"/>
                <a:cs typeface="Times New Roman"/>
              </a:rPr>
              <a:t>AC</a:t>
            </a:r>
            <a:r>
              <a:rPr sz="2350" i="1" spc="-55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-75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BC</a:t>
            </a:r>
            <a:r>
              <a:rPr sz="2350" i="1" spc="95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45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AB</a:t>
            </a:r>
            <a:r>
              <a:rPr sz="2350" i="1" spc="-145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40" dirty="0">
                <a:latin typeface="Times New Roman"/>
                <a:cs typeface="Times New Roman"/>
              </a:rPr>
              <a:t> </a:t>
            </a:r>
            <a:r>
              <a:rPr sz="2350" i="1" spc="-120" dirty="0">
                <a:latin typeface="Times New Roman"/>
                <a:cs typeface="Times New Roman"/>
              </a:rPr>
              <a:t>AC</a:t>
            </a:r>
            <a:r>
              <a:rPr sz="2350" i="1" spc="-55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-170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Times New Roman"/>
                <a:cs typeface="Times New Roman"/>
              </a:rPr>
              <a:t>(</a:t>
            </a:r>
            <a:r>
              <a:rPr sz="2350" spc="-350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</a:t>
            </a:r>
            <a:r>
              <a:rPr sz="2350" i="1" spc="-254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35" dirty="0">
                <a:latin typeface="Times New Roman"/>
                <a:cs typeface="Times New Roman"/>
              </a:rPr>
              <a:t> </a:t>
            </a:r>
            <a:r>
              <a:rPr sz="2350" i="1" spc="35" dirty="0">
                <a:latin typeface="Times New Roman"/>
                <a:cs typeface="Times New Roman"/>
              </a:rPr>
              <a:t>A</a:t>
            </a:r>
            <a:r>
              <a:rPr sz="2350" spc="35" dirty="0">
                <a:latin typeface="Times New Roman"/>
                <a:cs typeface="Times New Roman"/>
              </a:rPr>
              <a:t>)</a:t>
            </a:r>
            <a:r>
              <a:rPr sz="2350" i="1" spc="35" dirty="0">
                <a:latin typeface="Times New Roman"/>
                <a:cs typeface="Times New Roman"/>
              </a:rPr>
              <a:t>BC</a:t>
            </a:r>
            <a:endParaRPr sz="2350">
              <a:latin typeface="Times New Roman"/>
              <a:cs typeface="Times New Roman"/>
            </a:endParaRPr>
          </a:p>
          <a:p>
            <a:pPr marL="1809114">
              <a:lnSpc>
                <a:spcPct val="100000"/>
              </a:lnSpc>
              <a:spcBef>
                <a:spcPts val="1200"/>
              </a:spcBef>
            </a:pP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-80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Times New Roman"/>
                <a:cs typeface="Times New Roman"/>
              </a:rPr>
              <a:t>(</a:t>
            </a:r>
            <a:r>
              <a:rPr sz="2350" spc="-340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AB</a:t>
            </a:r>
            <a:r>
              <a:rPr sz="2350" i="1" spc="-155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35" dirty="0">
                <a:latin typeface="Times New Roman"/>
                <a:cs typeface="Times New Roman"/>
              </a:rPr>
              <a:t> </a:t>
            </a:r>
            <a:r>
              <a:rPr sz="2350" i="1" spc="55" dirty="0">
                <a:latin typeface="Times New Roman"/>
                <a:cs typeface="Times New Roman"/>
              </a:rPr>
              <a:t>ABC</a:t>
            </a:r>
            <a:r>
              <a:rPr sz="2350" spc="55" dirty="0">
                <a:latin typeface="Times New Roman"/>
                <a:cs typeface="Times New Roman"/>
              </a:rPr>
              <a:t>)</a:t>
            </a:r>
            <a:r>
              <a:rPr sz="2350" spc="-20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-185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Times New Roman"/>
                <a:cs typeface="Times New Roman"/>
              </a:rPr>
              <a:t>(</a:t>
            </a:r>
            <a:r>
              <a:rPr sz="2350" spc="-345" dirty="0">
                <a:latin typeface="Times New Roman"/>
                <a:cs typeface="Times New Roman"/>
              </a:rPr>
              <a:t> </a:t>
            </a:r>
            <a:r>
              <a:rPr sz="2350" i="1" spc="-120" dirty="0">
                <a:latin typeface="Times New Roman"/>
                <a:cs typeface="Times New Roman"/>
              </a:rPr>
              <a:t>AC</a:t>
            </a:r>
            <a:r>
              <a:rPr sz="2350" i="1" spc="-6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30" dirty="0">
                <a:latin typeface="Times New Roman"/>
                <a:cs typeface="Times New Roman"/>
              </a:rPr>
              <a:t> </a:t>
            </a:r>
            <a:r>
              <a:rPr sz="2350" i="1" spc="25" dirty="0">
                <a:latin typeface="Times New Roman"/>
                <a:cs typeface="Times New Roman"/>
              </a:rPr>
              <a:t>ABC</a:t>
            </a:r>
            <a:r>
              <a:rPr sz="2350" spc="25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  <a:p>
            <a:pPr marL="1809114">
              <a:lnSpc>
                <a:spcPct val="100000"/>
              </a:lnSpc>
              <a:spcBef>
                <a:spcPts val="1205"/>
              </a:spcBef>
            </a:pP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25" dirty="0">
                <a:latin typeface="Times New Roman"/>
                <a:cs typeface="Times New Roman"/>
              </a:rPr>
              <a:t>AB</a:t>
            </a:r>
            <a:r>
              <a:rPr sz="2350" spc="25" dirty="0">
                <a:latin typeface="Times New Roman"/>
                <a:cs typeface="Times New Roman"/>
              </a:rPr>
              <a:t>(1</a:t>
            </a:r>
            <a:r>
              <a:rPr sz="2350" spc="25" dirty="0">
                <a:latin typeface="Symbol"/>
                <a:cs typeface="Symbol"/>
              </a:rPr>
              <a:t></a:t>
            </a:r>
            <a:r>
              <a:rPr sz="2350" spc="25" dirty="0">
                <a:latin typeface="Times New Roman"/>
                <a:cs typeface="Times New Roman"/>
              </a:rPr>
              <a:t> </a:t>
            </a:r>
            <a:r>
              <a:rPr sz="2350" i="1" spc="90" dirty="0">
                <a:latin typeface="Times New Roman"/>
                <a:cs typeface="Times New Roman"/>
              </a:rPr>
              <a:t>C</a:t>
            </a:r>
            <a:r>
              <a:rPr sz="2350" spc="90" dirty="0">
                <a:latin typeface="Times New Roman"/>
                <a:cs typeface="Times New Roman"/>
              </a:rPr>
              <a:t>)</a:t>
            </a:r>
            <a:r>
              <a:rPr sz="2350" spc="-35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-10" dirty="0">
                <a:latin typeface="Times New Roman"/>
                <a:cs typeface="Times New Roman"/>
              </a:rPr>
              <a:t>AC</a:t>
            </a:r>
            <a:r>
              <a:rPr sz="2350" spc="-10" dirty="0">
                <a:latin typeface="Times New Roman"/>
                <a:cs typeface="Times New Roman"/>
              </a:rPr>
              <a:t>(1</a:t>
            </a:r>
            <a:r>
              <a:rPr sz="2350" spc="-10" dirty="0">
                <a:latin typeface="Symbol"/>
                <a:cs typeface="Symbol"/>
              </a:rPr>
              <a:t>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i="1" spc="50" dirty="0">
                <a:latin typeface="Times New Roman"/>
                <a:cs typeface="Times New Roman"/>
              </a:rPr>
              <a:t>B</a:t>
            </a:r>
            <a:r>
              <a:rPr sz="2350" spc="50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  <a:p>
            <a:pPr marL="1809114">
              <a:lnSpc>
                <a:spcPct val="100000"/>
              </a:lnSpc>
              <a:spcBef>
                <a:spcPts val="1200"/>
              </a:spcBef>
            </a:pP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AB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15" dirty="0">
                <a:latin typeface="Times New Roman"/>
                <a:cs typeface="Times New Roman"/>
              </a:rPr>
              <a:t> </a:t>
            </a:r>
            <a:r>
              <a:rPr sz="2350" i="1" spc="-120" dirty="0">
                <a:latin typeface="Times New Roman"/>
                <a:cs typeface="Times New Roman"/>
              </a:rPr>
              <a:t>AC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4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31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042AC907-CD68-CFA8-6917-F191C3D28A56}"/>
                  </a:ext>
                </a:extLst>
              </p14:cNvPr>
              <p14:cNvContentPartPr/>
              <p14:nvPr/>
            </p14:nvContentPartPr>
            <p14:xfrm>
              <a:off x="930656" y="2222693"/>
              <a:ext cx="2626200" cy="68400"/>
            </p14:xfrm>
          </p:contentPart>
        </mc:Choice>
        <mc:Fallback xmlns=""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042AC907-CD68-CFA8-6917-F191C3D28A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7016" y="2115053"/>
                <a:ext cx="273384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9E7FA3AC-C526-B710-B789-750B7CD9B4CE}"/>
                  </a:ext>
                </a:extLst>
              </p14:cNvPr>
              <p14:cNvContentPartPr/>
              <p14:nvPr/>
            </p14:nvContentPartPr>
            <p14:xfrm>
              <a:off x="4261376" y="2130173"/>
              <a:ext cx="4242960" cy="261360"/>
            </p14:xfrm>
          </p:contentPart>
        </mc:Choice>
        <mc:Fallback xmlns=""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9E7FA3AC-C526-B710-B789-750B7CD9B4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07736" y="2022173"/>
                <a:ext cx="435060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28DA9224-E5E6-D741-D76A-2BBC5CCADD50}"/>
                  </a:ext>
                </a:extLst>
              </p14:cNvPr>
              <p14:cNvContentPartPr/>
              <p14:nvPr/>
            </p14:nvContentPartPr>
            <p14:xfrm>
              <a:off x="4471976" y="2549573"/>
              <a:ext cx="4537800" cy="126720"/>
            </p14:xfrm>
          </p:contentPart>
        </mc:Choice>
        <mc:Fallback xmlns=""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28DA9224-E5E6-D741-D76A-2BBC5CCADD5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17976" y="2441933"/>
                <a:ext cx="46454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A44C917D-108D-F2EF-6DD4-86F0892FDB11}"/>
                  </a:ext>
                </a:extLst>
              </p14:cNvPr>
              <p14:cNvContentPartPr/>
              <p14:nvPr/>
            </p14:nvContentPartPr>
            <p14:xfrm>
              <a:off x="942536" y="2483333"/>
              <a:ext cx="3101040" cy="227160"/>
            </p14:xfrm>
          </p:contentPart>
        </mc:Choice>
        <mc:Fallback xmlns=""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A44C917D-108D-F2EF-6DD4-86F0892FDB1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8896" y="2375333"/>
                <a:ext cx="3208680" cy="442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4502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逻辑代数基本定理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40" y="1036419"/>
            <a:ext cx="4132579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15" dirty="0">
                <a:solidFill>
                  <a:srgbClr val="FF0000"/>
                </a:solidFill>
                <a:latin typeface="Microsoft JhengHei"/>
                <a:cs typeface="Microsoft JhengHei"/>
              </a:rPr>
              <a:t>（</a:t>
            </a:r>
            <a:r>
              <a:rPr sz="2800" b="1" spc="5" dirty="0">
                <a:solidFill>
                  <a:srgbClr val="FF0000"/>
                </a:solidFill>
                <a:latin typeface="Microsoft JhengHei"/>
                <a:cs typeface="Microsoft JhengHei"/>
              </a:rPr>
              <a:t>定理四</a:t>
            </a:r>
            <a:r>
              <a:rPr sz="2800" b="1" spc="25" dirty="0">
                <a:solidFill>
                  <a:srgbClr val="FF0000"/>
                </a:solidFill>
                <a:latin typeface="Microsoft JhengHei"/>
                <a:cs typeface="Microsoft JhengHei"/>
              </a:rPr>
              <a:t>）</a:t>
            </a:r>
            <a:r>
              <a:rPr sz="2950" b="1" spc="-150" dirty="0">
                <a:solidFill>
                  <a:srgbClr val="FF0000"/>
                </a:solidFill>
                <a:latin typeface="Microsoft JhengHei"/>
                <a:cs typeface="Microsoft JhengHei"/>
              </a:rPr>
              <a:t>叫什么</a:t>
            </a:r>
            <a:r>
              <a:rPr sz="2950" b="1" spc="-135" dirty="0">
                <a:solidFill>
                  <a:srgbClr val="FF0000"/>
                </a:solidFill>
                <a:latin typeface="Microsoft JhengHei"/>
                <a:cs typeface="Microsoft JhengHei"/>
              </a:rPr>
              <a:t>好</a:t>
            </a:r>
            <a:r>
              <a:rPr sz="2950" b="1" spc="-150" dirty="0">
                <a:solidFill>
                  <a:srgbClr val="FF0000"/>
                </a:solidFill>
                <a:latin typeface="Microsoft JhengHei"/>
                <a:cs typeface="Microsoft JhengHei"/>
              </a:rPr>
              <a:t>呢</a:t>
            </a:r>
            <a:r>
              <a:rPr sz="2950" b="1" spc="-70" dirty="0">
                <a:solidFill>
                  <a:srgbClr val="FF0000"/>
                </a:solidFill>
                <a:latin typeface="Microsoft JhengHei"/>
                <a:cs typeface="Microsoft JhengHei"/>
              </a:rPr>
              <a:t>？?</a:t>
            </a:r>
            <a:endParaRPr sz="295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3222" y="1846326"/>
            <a:ext cx="8569960" cy="935990"/>
          </a:xfrm>
          <a:custGeom>
            <a:avLst/>
            <a:gdLst/>
            <a:ahLst/>
            <a:cxnLst/>
            <a:rect l="l" t="t" r="r" b="b"/>
            <a:pathLst>
              <a:path w="8569960" h="935989">
                <a:moveTo>
                  <a:pt x="0" y="175387"/>
                </a:moveTo>
                <a:lnTo>
                  <a:pt x="4596" y="152650"/>
                </a:lnTo>
                <a:lnTo>
                  <a:pt x="17130" y="134080"/>
                </a:lnTo>
                <a:lnTo>
                  <a:pt x="35720" y="121558"/>
                </a:lnTo>
                <a:lnTo>
                  <a:pt x="58483" y="116966"/>
                </a:lnTo>
                <a:lnTo>
                  <a:pt x="8452485" y="116966"/>
                </a:lnTo>
                <a:lnTo>
                  <a:pt x="8452485" y="58420"/>
                </a:lnTo>
                <a:lnTo>
                  <a:pt x="8457076" y="35683"/>
                </a:lnTo>
                <a:lnTo>
                  <a:pt x="8469598" y="17113"/>
                </a:lnTo>
                <a:lnTo>
                  <a:pt x="8488168" y="4591"/>
                </a:lnTo>
                <a:lnTo>
                  <a:pt x="8510905" y="0"/>
                </a:lnTo>
                <a:lnTo>
                  <a:pt x="8533715" y="4591"/>
                </a:lnTo>
                <a:lnTo>
                  <a:pt x="8552322" y="17113"/>
                </a:lnTo>
                <a:lnTo>
                  <a:pt x="8564858" y="35683"/>
                </a:lnTo>
                <a:lnTo>
                  <a:pt x="8569452" y="58420"/>
                </a:lnTo>
                <a:lnTo>
                  <a:pt x="8569452" y="760349"/>
                </a:lnTo>
                <a:lnTo>
                  <a:pt x="8564860" y="783085"/>
                </a:lnTo>
                <a:lnTo>
                  <a:pt x="8552338" y="801655"/>
                </a:lnTo>
                <a:lnTo>
                  <a:pt x="8533768" y="814177"/>
                </a:lnTo>
                <a:lnTo>
                  <a:pt x="8511032" y="818769"/>
                </a:lnTo>
                <a:lnTo>
                  <a:pt x="116967" y="818769"/>
                </a:lnTo>
                <a:lnTo>
                  <a:pt x="116967" y="877315"/>
                </a:lnTo>
                <a:lnTo>
                  <a:pt x="112370" y="900052"/>
                </a:lnTo>
                <a:lnTo>
                  <a:pt x="99836" y="918622"/>
                </a:lnTo>
                <a:lnTo>
                  <a:pt x="81246" y="931144"/>
                </a:lnTo>
                <a:lnTo>
                  <a:pt x="58483" y="935736"/>
                </a:lnTo>
                <a:lnTo>
                  <a:pt x="35722" y="931144"/>
                </a:lnTo>
                <a:lnTo>
                  <a:pt x="17137" y="918622"/>
                </a:lnTo>
                <a:lnTo>
                  <a:pt x="4607" y="900052"/>
                </a:lnTo>
                <a:lnTo>
                  <a:pt x="12" y="877315"/>
                </a:lnTo>
                <a:lnTo>
                  <a:pt x="0" y="175387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72753" y="1891792"/>
            <a:ext cx="142875" cy="844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68" y="1979548"/>
            <a:ext cx="142862" cy="113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0188" y="2021713"/>
            <a:ext cx="0" cy="643890"/>
          </a:xfrm>
          <a:custGeom>
            <a:avLst/>
            <a:gdLst/>
            <a:ahLst/>
            <a:cxnLst/>
            <a:rect l="l" t="t" r="r" b="b"/>
            <a:pathLst>
              <a:path h="643889">
                <a:moveTo>
                  <a:pt x="0" y="0"/>
                </a:moveTo>
                <a:lnTo>
                  <a:pt x="0" y="643382"/>
                </a:lnTo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3222" y="2925317"/>
            <a:ext cx="8569960" cy="3313429"/>
          </a:xfrm>
          <a:custGeom>
            <a:avLst/>
            <a:gdLst/>
            <a:ahLst/>
            <a:cxnLst/>
            <a:rect l="l" t="t" r="r" b="b"/>
            <a:pathLst>
              <a:path w="8569960" h="3313429">
                <a:moveTo>
                  <a:pt x="0" y="194437"/>
                </a:moveTo>
                <a:lnTo>
                  <a:pt x="5136" y="149876"/>
                </a:lnTo>
                <a:lnTo>
                  <a:pt x="19766" y="108958"/>
                </a:lnTo>
                <a:lnTo>
                  <a:pt x="42724" y="72855"/>
                </a:lnTo>
                <a:lnTo>
                  <a:pt x="72841" y="42737"/>
                </a:lnTo>
                <a:lnTo>
                  <a:pt x="108950" y="19774"/>
                </a:lnTo>
                <a:lnTo>
                  <a:pt x="149884" y="5138"/>
                </a:lnTo>
                <a:lnTo>
                  <a:pt x="194475" y="0"/>
                </a:lnTo>
                <a:lnTo>
                  <a:pt x="8375014" y="0"/>
                </a:lnTo>
                <a:lnTo>
                  <a:pt x="8419575" y="5138"/>
                </a:lnTo>
                <a:lnTo>
                  <a:pt x="8460493" y="19774"/>
                </a:lnTo>
                <a:lnTo>
                  <a:pt x="8496596" y="42737"/>
                </a:lnTo>
                <a:lnTo>
                  <a:pt x="8526714" y="72855"/>
                </a:lnTo>
                <a:lnTo>
                  <a:pt x="8549677" y="108958"/>
                </a:lnTo>
                <a:lnTo>
                  <a:pt x="8564313" y="149876"/>
                </a:lnTo>
                <a:lnTo>
                  <a:pt x="8569452" y="194437"/>
                </a:lnTo>
                <a:lnTo>
                  <a:pt x="8569452" y="3118700"/>
                </a:lnTo>
                <a:lnTo>
                  <a:pt x="8564313" y="3163291"/>
                </a:lnTo>
                <a:lnTo>
                  <a:pt x="8549677" y="3204225"/>
                </a:lnTo>
                <a:lnTo>
                  <a:pt x="8526714" y="3240334"/>
                </a:lnTo>
                <a:lnTo>
                  <a:pt x="8496596" y="3270451"/>
                </a:lnTo>
                <a:lnTo>
                  <a:pt x="8460493" y="3293409"/>
                </a:lnTo>
                <a:lnTo>
                  <a:pt x="8419575" y="3308039"/>
                </a:lnTo>
                <a:lnTo>
                  <a:pt x="8375014" y="3313176"/>
                </a:lnTo>
                <a:lnTo>
                  <a:pt x="194475" y="3313176"/>
                </a:lnTo>
                <a:lnTo>
                  <a:pt x="149884" y="3308039"/>
                </a:lnTo>
                <a:lnTo>
                  <a:pt x="108950" y="3293409"/>
                </a:lnTo>
                <a:lnTo>
                  <a:pt x="72841" y="3270451"/>
                </a:lnTo>
                <a:lnTo>
                  <a:pt x="42724" y="3240334"/>
                </a:lnTo>
                <a:lnTo>
                  <a:pt x="19766" y="3204225"/>
                </a:lnTo>
                <a:lnTo>
                  <a:pt x="5136" y="3163291"/>
                </a:lnTo>
                <a:lnTo>
                  <a:pt x="0" y="3118700"/>
                </a:lnTo>
                <a:lnTo>
                  <a:pt x="0" y="194437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98341" y="3419133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26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27558" y="3363094"/>
            <a:ext cx="1049655" cy="0"/>
          </a:xfrm>
          <a:custGeom>
            <a:avLst/>
            <a:gdLst/>
            <a:ahLst/>
            <a:cxnLst/>
            <a:rect l="l" t="t" r="r" b="b"/>
            <a:pathLst>
              <a:path w="1049654">
                <a:moveTo>
                  <a:pt x="0" y="0"/>
                </a:moveTo>
                <a:lnTo>
                  <a:pt x="1049051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97697" y="3419133"/>
            <a:ext cx="383540" cy="0"/>
          </a:xfrm>
          <a:custGeom>
            <a:avLst/>
            <a:gdLst/>
            <a:ahLst/>
            <a:cxnLst/>
            <a:rect l="l" t="t" r="r" b="b"/>
            <a:pathLst>
              <a:path w="383539">
                <a:moveTo>
                  <a:pt x="0" y="0"/>
                </a:moveTo>
                <a:lnTo>
                  <a:pt x="383121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21640" y="3419133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26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21640" y="3363094"/>
            <a:ext cx="378460" cy="0"/>
          </a:xfrm>
          <a:custGeom>
            <a:avLst/>
            <a:gdLst/>
            <a:ahLst/>
            <a:cxnLst/>
            <a:rect l="l" t="t" r="r" b="b"/>
            <a:pathLst>
              <a:path w="378460">
                <a:moveTo>
                  <a:pt x="0" y="0"/>
                </a:moveTo>
                <a:lnTo>
                  <a:pt x="37826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01675" y="3929137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26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74215" y="3929137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26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80330" y="3929137"/>
            <a:ext cx="193675" cy="0"/>
          </a:xfrm>
          <a:custGeom>
            <a:avLst/>
            <a:gdLst/>
            <a:ahLst/>
            <a:cxnLst/>
            <a:rect l="l" t="t" r="r" b="b"/>
            <a:pathLst>
              <a:path w="193675">
                <a:moveTo>
                  <a:pt x="0" y="0"/>
                </a:moveTo>
                <a:lnTo>
                  <a:pt x="193371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05678" y="4438538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26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86175" y="4438538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26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58715" y="4438538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31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566671" y="4438538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>
                <a:moveTo>
                  <a:pt x="0" y="0"/>
                </a:moveTo>
                <a:lnTo>
                  <a:pt x="194125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48968" y="4438538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31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56924" y="4438538"/>
            <a:ext cx="193675" cy="0"/>
          </a:xfrm>
          <a:custGeom>
            <a:avLst/>
            <a:gdLst/>
            <a:ahLst/>
            <a:cxnLst/>
            <a:rect l="l" t="t" r="r" b="b"/>
            <a:pathLst>
              <a:path w="193675">
                <a:moveTo>
                  <a:pt x="0" y="0"/>
                </a:moveTo>
                <a:lnTo>
                  <a:pt x="193371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205678" y="4947914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26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78193" y="4947914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26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886175" y="4947914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>
                <a:moveTo>
                  <a:pt x="0" y="0"/>
                </a:moveTo>
                <a:lnTo>
                  <a:pt x="194000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368522" y="4947914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4067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76478" y="4947914"/>
            <a:ext cx="193675" cy="0"/>
          </a:xfrm>
          <a:custGeom>
            <a:avLst/>
            <a:gdLst/>
            <a:ahLst/>
            <a:cxnLst/>
            <a:rect l="l" t="t" r="r" b="b"/>
            <a:pathLst>
              <a:path w="193675">
                <a:moveTo>
                  <a:pt x="0" y="0"/>
                </a:moveTo>
                <a:lnTo>
                  <a:pt x="193371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05678" y="5457290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26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678193" y="5457290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268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86175" y="5457290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>
                <a:moveTo>
                  <a:pt x="0" y="0"/>
                </a:moveTo>
                <a:lnTo>
                  <a:pt x="194000" y="0"/>
                </a:lnTo>
              </a:path>
            </a:pathLst>
          </a:custGeom>
          <a:ln w="12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68197" y="2928416"/>
            <a:ext cx="5688330" cy="288353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800" dirty="0">
                <a:latin typeface="微软雅黑"/>
                <a:cs typeface="微软雅黑"/>
              </a:rPr>
              <a:t>证明：</a:t>
            </a:r>
            <a:endParaRPr sz="1800">
              <a:latin typeface="微软雅黑"/>
              <a:cs typeface="微软雅黑"/>
            </a:endParaRPr>
          </a:p>
          <a:p>
            <a:pPr marL="1877695">
              <a:lnSpc>
                <a:spcPct val="100000"/>
              </a:lnSpc>
              <a:spcBef>
                <a:spcPts val="844"/>
              </a:spcBef>
            </a:pPr>
            <a:r>
              <a:rPr sz="2350" i="1" spc="-5" dirty="0">
                <a:latin typeface="Times New Roman"/>
                <a:cs typeface="Times New Roman"/>
              </a:rPr>
              <a:t>AB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-114" dirty="0">
                <a:latin typeface="Times New Roman"/>
                <a:cs typeface="Times New Roman"/>
              </a:rPr>
              <a:t>AC </a:t>
            </a: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-5" dirty="0">
                <a:latin typeface="Times New Roman"/>
                <a:cs typeface="Times New Roman"/>
              </a:rPr>
              <a:t>AB </a:t>
            </a:r>
            <a:r>
              <a:rPr sz="2350" spc="10" dirty="0">
                <a:latin typeface="Symbol"/>
                <a:cs typeface="Symbol"/>
              </a:rPr>
              <a:t></a:t>
            </a:r>
            <a:r>
              <a:rPr sz="2350" spc="40" dirty="0">
                <a:latin typeface="Times New Roman"/>
                <a:cs typeface="Times New Roman"/>
              </a:rPr>
              <a:t> </a:t>
            </a:r>
            <a:r>
              <a:rPr sz="2350" i="1" spc="-114" dirty="0">
                <a:latin typeface="Times New Roman"/>
                <a:cs typeface="Times New Roman"/>
              </a:rPr>
              <a:t>AC</a:t>
            </a:r>
            <a:endParaRPr sz="2350">
              <a:latin typeface="Times New Roman"/>
              <a:cs typeface="Times New Roman"/>
            </a:endParaRPr>
          </a:p>
          <a:p>
            <a:pPr marL="2988310">
              <a:lnSpc>
                <a:spcPct val="100000"/>
              </a:lnSpc>
              <a:spcBef>
                <a:spcPts val="1195"/>
              </a:spcBef>
            </a:pP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-75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Times New Roman"/>
                <a:cs typeface="Times New Roman"/>
              </a:rPr>
              <a:t>(</a:t>
            </a:r>
            <a:r>
              <a:rPr sz="2350" spc="-345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</a:t>
            </a:r>
            <a:r>
              <a:rPr sz="2350" i="1" spc="-26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-75" dirty="0">
                <a:latin typeface="Times New Roman"/>
                <a:cs typeface="Times New Roman"/>
              </a:rPr>
              <a:t> </a:t>
            </a:r>
            <a:r>
              <a:rPr sz="2350" i="1" spc="45" dirty="0">
                <a:latin typeface="Times New Roman"/>
                <a:cs typeface="Times New Roman"/>
              </a:rPr>
              <a:t>B</a:t>
            </a:r>
            <a:r>
              <a:rPr sz="2350" spc="45" dirty="0">
                <a:latin typeface="Times New Roman"/>
                <a:cs typeface="Times New Roman"/>
              </a:rPr>
              <a:t>)</a:t>
            </a:r>
            <a:r>
              <a:rPr sz="2350" spc="-265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</a:t>
            </a:r>
            <a:r>
              <a:rPr sz="2350" spc="-275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Times New Roman"/>
                <a:cs typeface="Times New Roman"/>
              </a:rPr>
              <a:t>(</a:t>
            </a:r>
            <a:r>
              <a:rPr sz="2350" spc="-335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A</a:t>
            </a:r>
            <a:r>
              <a:rPr sz="2350" i="1" spc="-26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-225" dirty="0">
                <a:latin typeface="Times New Roman"/>
                <a:cs typeface="Times New Roman"/>
              </a:rPr>
              <a:t> </a:t>
            </a:r>
            <a:r>
              <a:rPr sz="2350" i="1" spc="90" dirty="0">
                <a:latin typeface="Times New Roman"/>
                <a:cs typeface="Times New Roman"/>
              </a:rPr>
              <a:t>C</a:t>
            </a:r>
            <a:r>
              <a:rPr sz="2350" spc="90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  <a:p>
            <a:pPr marL="2988310">
              <a:lnSpc>
                <a:spcPct val="100000"/>
              </a:lnSpc>
              <a:spcBef>
                <a:spcPts val="1190"/>
              </a:spcBef>
            </a:pP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105" dirty="0">
                <a:latin typeface="Times New Roman"/>
                <a:cs typeface="Times New Roman"/>
              </a:rPr>
              <a:t>AA</a:t>
            </a:r>
            <a:r>
              <a:rPr sz="2350" i="1" spc="-420" dirty="0">
                <a:latin typeface="Times New Roman"/>
                <a:cs typeface="Times New Roman"/>
              </a:rPr>
              <a:t>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50" dirty="0">
                <a:latin typeface="Times New Roman"/>
                <a:cs typeface="Times New Roman"/>
              </a:rPr>
              <a:t>AB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-25" dirty="0">
                <a:latin typeface="Times New Roman"/>
                <a:cs typeface="Times New Roman"/>
              </a:rPr>
              <a:t>AC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30" dirty="0">
                <a:latin typeface="Times New Roman"/>
                <a:cs typeface="Times New Roman"/>
              </a:rPr>
              <a:t>BC</a:t>
            </a:r>
            <a:endParaRPr sz="2350">
              <a:latin typeface="Times New Roman"/>
              <a:cs typeface="Times New Roman"/>
            </a:endParaRPr>
          </a:p>
          <a:p>
            <a:pPr marL="2988310">
              <a:lnSpc>
                <a:spcPct val="100000"/>
              </a:lnSpc>
              <a:spcBef>
                <a:spcPts val="1190"/>
              </a:spcBef>
            </a:pP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50" dirty="0">
                <a:latin typeface="Times New Roman"/>
                <a:cs typeface="Times New Roman"/>
              </a:rPr>
              <a:t>AB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-25" dirty="0">
                <a:latin typeface="Times New Roman"/>
                <a:cs typeface="Times New Roman"/>
              </a:rPr>
              <a:t>AC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-150" dirty="0">
                <a:latin typeface="Times New Roman"/>
                <a:cs typeface="Times New Roman"/>
              </a:rPr>
              <a:t> </a:t>
            </a:r>
            <a:r>
              <a:rPr sz="2350" i="1" spc="30" dirty="0">
                <a:latin typeface="Times New Roman"/>
                <a:cs typeface="Times New Roman"/>
              </a:rPr>
              <a:t>BC</a:t>
            </a:r>
            <a:endParaRPr sz="2350">
              <a:latin typeface="Times New Roman"/>
              <a:cs typeface="Times New Roman"/>
            </a:endParaRPr>
          </a:p>
          <a:p>
            <a:pPr marL="2988310">
              <a:lnSpc>
                <a:spcPct val="100000"/>
              </a:lnSpc>
              <a:spcBef>
                <a:spcPts val="1195"/>
              </a:spcBef>
            </a:pPr>
            <a:r>
              <a:rPr sz="2350" spc="10" dirty="0">
                <a:latin typeface="Symbol"/>
                <a:cs typeface="Symbol"/>
              </a:rPr>
              <a:t>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50" dirty="0">
                <a:latin typeface="Times New Roman"/>
                <a:cs typeface="Times New Roman"/>
              </a:rPr>
              <a:t>AB </a:t>
            </a:r>
            <a:r>
              <a:rPr sz="2350" spc="10" dirty="0">
                <a:latin typeface="Symbol"/>
                <a:cs typeface="Symbol"/>
              </a:rPr>
              <a:t>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i="1" spc="-25" dirty="0">
                <a:latin typeface="Times New Roman"/>
                <a:cs typeface="Times New Roman"/>
              </a:rPr>
              <a:t>AC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4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621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复合运算和复合逻辑门</a:t>
            </a:r>
          </a:p>
        </p:txBody>
      </p:sp>
      <p:sp>
        <p:nvSpPr>
          <p:cNvPr id="3" name="object 3"/>
          <p:cNvSpPr/>
          <p:nvPr/>
        </p:nvSpPr>
        <p:spPr>
          <a:xfrm>
            <a:off x="2468875" y="1182554"/>
            <a:ext cx="6974596" cy="21589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7763" y="1318260"/>
            <a:ext cx="2259330" cy="19484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42011" y="3473105"/>
            <a:ext cx="6835932" cy="20674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8620" y="3520440"/>
            <a:ext cx="2277618" cy="19728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94436" y="1404315"/>
            <a:ext cx="7857490" cy="35274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062480" marR="78740" indent="-1750695">
              <a:lnSpc>
                <a:spcPct val="86000"/>
              </a:lnSpc>
              <a:spcBef>
                <a:spcPts val="795"/>
              </a:spcBef>
              <a:tabLst>
                <a:tab pos="2062480" algn="l"/>
              </a:tabLst>
            </a:pPr>
            <a:r>
              <a:rPr sz="6150" b="1" spc="15" baseline="-11517" dirty="0">
                <a:solidFill>
                  <a:srgbClr val="FFFFFF"/>
                </a:solidFill>
                <a:latin typeface="Microsoft JhengHei"/>
                <a:cs typeface="Microsoft JhengHei"/>
              </a:rPr>
              <a:t>复</a:t>
            </a:r>
            <a:r>
              <a:rPr sz="6150" b="1" spc="7" baseline="-11517" dirty="0">
                <a:solidFill>
                  <a:srgbClr val="FFFFFF"/>
                </a:solidFill>
                <a:latin typeface="Microsoft JhengHei"/>
                <a:cs typeface="Microsoft JhengHei"/>
              </a:rPr>
              <a:t>合</a:t>
            </a:r>
            <a:r>
              <a:rPr sz="6150" b="1" baseline="-11517" dirty="0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将三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种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基本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运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算（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与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、或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、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非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） 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按</a:t>
            </a:r>
            <a:r>
              <a:rPr sz="3200" b="1" spc="20" dirty="0">
                <a:solidFill>
                  <a:srgbClr val="0000FF"/>
                </a:solidFill>
                <a:latin typeface="Microsoft JhengHei"/>
                <a:cs typeface="Microsoft JhengHei"/>
              </a:rPr>
              <a:t>某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种形</a:t>
            </a:r>
            <a:r>
              <a:rPr sz="3200" b="1" spc="15" dirty="0">
                <a:solidFill>
                  <a:srgbClr val="0000FF"/>
                </a:solidFill>
                <a:latin typeface="Microsoft JhengHei"/>
                <a:cs typeface="Microsoft JhengHei"/>
              </a:rPr>
              <a:t>式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进行</a:t>
            </a:r>
            <a:r>
              <a:rPr sz="3200" b="1" spc="15" dirty="0">
                <a:solidFill>
                  <a:srgbClr val="0000FF"/>
                </a:solidFill>
                <a:latin typeface="Microsoft JhengHei"/>
                <a:cs typeface="Microsoft JhengHei"/>
              </a:rPr>
              <a:t>的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简单</a:t>
            </a:r>
            <a:r>
              <a:rPr sz="3200" b="1" spc="15" dirty="0">
                <a:solidFill>
                  <a:srgbClr val="0000FF"/>
                </a:solidFill>
                <a:latin typeface="Microsoft JhengHei"/>
                <a:cs typeface="Microsoft JhengHei"/>
              </a:rPr>
              <a:t>的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组合构</a:t>
            </a:r>
            <a:endParaRPr sz="3200">
              <a:latin typeface="Microsoft JhengHei"/>
              <a:cs typeface="Microsoft JhengHei"/>
            </a:endParaRPr>
          </a:p>
          <a:p>
            <a:pPr marL="311785">
              <a:lnSpc>
                <a:spcPts val="3520"/>
              </a:lnSpc>
              <a:tabLst>
                <a:tab pos="2062480" algn="l"/>
              </a:tabLst>
            </a:pPr>
            <a:r>
              <a:rPr sz="4100" b="1" spc="10" dirty="0">
                <a:solidFill>
                  <a:srgbClr val="FFFFFF"/>
                </a:solidFill>
                <a:latin typeface="Microsoft JhengHei"/>
                <a:cs typeface="Microsoft JhengHei"/>
              </a:rPr>
              <a:t>运</a:t>
            </a:r>
            <a:r>
              <a:rPr sz="4100" b="1" dirty="0">
                <a:solidFill>
                  <a:srgbClr val="FFFFFF"/>
                </a:solidFill>
                <a:latin typeface="Microsoft JhengHei"/>
                <a:cs typeface="Microsoft JhengHei"/>
              </a:rPr>
              <a:t>算	</a:t>
            </a:r>
            <a:r>
              <a:rPr sz="3200" b="1" spc="15" dirty="0">
                <a:solidFill>
                  <a:srgbClr val="0000FF"/>
                </a:solidFill>
                <a:latin typeface="Microsoft JhengHei"/>
                <a:cs typeface="Microsoft JhengHei"/>
              </a:rPr>
              <a:t>成的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新的逻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辑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运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算</a:t>
            </a:r>
            <a:endParaRPr sz="32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150">
              <a:latin typeface="Microsoft JhengHei"/>
              <a:cs typeface="Microsoft JhengHei"/>
            </a:endParaRPr>
          </a:p>
          <a:p>
            <a:pPr marL="50800">
              <a:lnSpc>
                <a:spcPts val="4100"/>
              </a:lnSpc>
              <a:tabLst>
                <a:tab pos="2098675" algn="l"/>
              </a:tabLst>
            </a:pPr>
            <a:r>
              <a:rPr sz="4100" b="1" spc="10" dirty="0">
                <a:solidFill>
                  <a:srgbClr val="FFFFFF"/>
                </a:solidFill>
                <a:latin typeface="Microsoft JhengHei"/>
                <a:cs typeface="Microsoft JhengHei"/>
              </a:rPr>
              <a:t>复</a:t>
            </a:r>
            <a:r>
              <a:rPr sz="4100" b="1" dirty="0">
                <a:solidFill>
                  <a:srgbClr val="FFFFFF"/>
                </a:solidFill>
                <a:latin typeface="Microsoft JhengHei"/>
                <a:cs typeface="Microsoft JhengHei"/>
              </a:rPr>
              <a:t>合逻	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用于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实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现复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合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逻辑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运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算的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逻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辑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门</a:t>
            </a:r>
            <a:endParaRPr sz="3200">
              <a:latin typeface="Microsoft JhengHei"/>
              <a:cs typeface="Microsoft JhengHei"/>
            </a:endParaRPr>
          </a:p>
          <a:p>
            <a:pPr marL="311150">
              <a:lnSpc>
                <a:spcPts val="4100"/>
              </a:lnSpc>
              <a:tabLst>
                <a:tab pos="2098675" algn="l"/>
              </a:tabLst>
            </a:pPr>
            <a:r>
              <a:rPr sz="6150" b="1" spc="15" baseline="-12872" dirty="0">
                <a:solidFill>
                  <a:srgbClr val="FFFFFF"/>
                </a:solidFill>
                <a:latin typeface="Microsoft JhengHei"/>
                <a:cs typeface="Microsoft JhengHei"/>
              </a:rPr>
              <a:t>辑</a:t>
            </a:r>
            <a:r>
              <a:rPr sz="6150" b="1" spc="7" baseline="-12872" dirty="0">
                <a:solidFill>
                  <a:srgbClr val="FFFFFF"/>
                </a:solidFill>
                <a:latin typeface="Microsoft JhengHei"/>
                <a:cs typeface="Microsoft JhengHei"/>
              </a:rPr>
              <a:t>门	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电路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，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简称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复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合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门</a:t>
            </a:r>
            <a:endParaRPr sz="3200">
              <a:latin typeface="Microsoft JhengHei"/>
              <a:cs typeface="Microsoft JhengHe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6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53">
            <a:extLst>
              <a:ext uri="{FF2B5EF4-FFF2-40B4-BE49-F238E27FC236}">
                <a16:creationId xmlns:a16="http://schemas.microsoft.com/office/drawing/2014/main" id="{140D5E80-C627-5ABF-FC29-EB04865F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90EFFF74-8FEF-1799-AB02-8FF708E26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200"/>
            <a:ext cx="9013291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复合运算</a:t>
            </a:r>
          </a:p>
        </p:txBody>
      </p:sp>
      <p:sp>
        <p:nvSpPr>
          <p:cNvPr id="3" name="object 3"/>
          <p:cNvSpPr/>
          <p:nvPr/>
        </p:nvSpPr>
        <p:spPr>
          <a:xfrm>
            <a:off x="626071" y="1558289"/>
            <a:ext cx="8720455" cy="258445"/>
          </a:xfrm>
          <a:custGeom>
            <a:avLst/>
            <a:gdLst/>
            <a:ahLst/>
            <a:cxnLst/>
            <a:rect l="l" t="t" r="r" b="b"/>
            <a:pathLst>
              <a:path w="8720455" h="258444">
                <a:moveTo>
                  <a:pt x="32245" y="161162"/>
                </a:moveTo>
                <a:lnTo>
                  <a:pt x="19695" y="163702"/>
                </a:lnTo>
                <a:lnTo>
                  <a:pt x="9445" y="170624"/>
                </a:lnTo>
                <a:lnTo>
                  <a:pt x="2534" y="180879"/>
                </a:lnTo>
                <a:lnTo>
                  <a:pt x="0" y="193421"/>
                </a:lnTo>
                <a:lnTo>
                  <a:pt x="0" y="257937"/>
                </a:lnTo>
                <a:lnTo>
                  <a:pt x="25097" y="252857"/>
                </a:lnTo>
                <a:lnTo>
                  <a:pt x="45593" y="239014"/>
                </a:lnTo>
                <a:lnTo>
                  <a:pt x="59410" y="218503"/>
                </a:lnTo>
                <a:lnTo>
                  <a:pt x="64477" y="193421"/>
                </a:lnTo>
                <a:lnTo>
                  <a:pt x="61945" y="180879"/>
                </a:lnTo>
                <a:lnTo>
                  <a:pt x="55038" y="170624"/>
                </a:lnTo>
                <a:lnTo>
                  <a:pt x="44793" y="163702"/>
                </a:lnTo>
                <a:lnTo>
                  <a:pt x="32245" y="161162"/>
                </a:lnTo>
                <a:close/>
              </a:path>
              <a:path w="8720455" h="258444">
                <a:moveTo>
                  <a:pt x="8719858" y="64515"/>
                </a:moveTo>
                <a:lnTo>
                  <a:pt x="8655342" y="64515"/>
                </a:lnTo>
                <a:lnTo>
                  <a:pt x="8655342" y="128905"/>
                </a:lnTo>
                <a:lnTo>
                  <a:pt x="8680478" y="123844"/>
                </a:lnTo>
                <a:lnTo>
                  <a:pt x="8700982" y="110045"/>
                </a:lnTo>
                <a:lnTo>
                  <a:pt x="8714795" y="89578"/>
                </a:lnTo>
                <a:lnTo>
                  <a:pt x="8719858" y="64515"/>
                </a:lnTo>
                <a:close/>
              </a:path>
              <a:path w="8720455" h="258444">
                <a:moveTo>
                  <a:pt x="8655342" y="0"/>
                </a:moveTo>
                <a:lnTo>
                  <a:pt x="8630279" y="5062"/>
                </a:lnTo>
                <a:lnTo>
                  <a:pt x="8609812" y="18875"/>
                </a:lnTo>
                <a:lnTo>
                  <a:pt x="8596013" y="39379"/>
                </a:lnTo>
                <a:lnTo>
                  <a:pt x="8590953" y="64515"/>
                </a:lnTo>
                <a:lnTo>
                  <a:pt x="8593473" y="77057"/>
                </a:lnTo>
                <a:lnTo>
                  <a:pt x="8600351" y="87312"/>
                </a:lnTo>
                <a:lnTo>
                  <a:pt x="8610562" y="94234"/>
                </a:lnTo>
                <a:lnTo>
                  <a:pt x="8623084" y="96774"/>
                </a:lnTo>
                <a:lnTo>
                  <a:pt x="8635678" y="94234"/>
                </a:lnTo>
                <a:lnTo>
                  <a:pt x="8645928" y="87312"/>
                </a:lnTo>
                <a:lnTo>
                  <a:pt x="8652819" y="77057"/>
                </a:lnTo>
                <a:lnTo>
                  <a:pt x="8655342" y="64515"/>
                </a:lnTo>
                <a:lnTo>
                  <a:pt x="8719858" y="64515"/>
                </a:lnTo>
                <a:lnTo>
                  <a:pt x="8714795" y="39379"/>
                </a:lnTo>
                <a:lnTo>
                  <a:pt x="8700982" y="18875"/>
                </a:lnTo>
                <a:lnTo>
                  <a:pt x="8680478" y="5062"/>
                </a:lnTo>
                <a:lnTo>
                  <a:pt x="8655342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581" y="1558289"/>
            <a:ext cx="8784590" cy="1367155"/>
          </a:xfrm>
          <a:custGeom>
            <a:avLst/>
            <a:gdLst/>
            <a:ahLst/>
            <a:cxnLst/>
            <a:rect l="l" t="t" r="r" b="b"/>
            <a:pathLst>
              <a:path w="8784590" h="1367155">
                <a:moveTo>
                  <a:pt x="12" y="193421"/>
                </a:moveTo>
                <a:lnTo>
                  <a:pt x="5079" y="168338"/>
                </a:lnTo>
                <a:lnTo>
                  <a:pt x="18897" y="147827"/>
                </a:lnTo>
                <a:lnTo>
                  <a:pt x="39392" y="133985"/>
                </a:lnTo>
                <a:lnTo>
                  <a:pt x="64490" y="128905"/>
                </a:lnTo>
                <a:lnTo>
                  <a:pt x="8655443" y="128905"/>
                </a:lnTo>
                <a:lnTo>
                  <a:pt x="8655443" y="64515"/>
                </a:lnTo>
                <a:lnTo>
                  <a:pt x="8660503" y="39379"/>
                </a:lnTo>
                <a:lnTo>
                  <a:pt x="8674303" y="18875"/>
                </a:lnTo>
                <a:lnTo>
                  <a:pt x="8694770" y="5062"/>
                </a:lnTo>
                <a:lnTo>
                  <a:pt x="8719832" y="0"/>
                </a:lnTo>
                <a:lnTo>
                  <a:pt x="8744968" y="5062"/>
                </a:lnTo>
                <a:lnTo>
                  <a:pt x="8765473" y="18875"/>
                </a:lnTo>
                <a:lnTo>
                  <a:pt x="8779286" y="39379"/>
                </a:lnTo>
                <a:lnTo>
                  <a:pt x="8784348" y="64515"/>
                </a:lnTo>
                <a:lnTo>
                  <a:pt x="8784348" y="1173607"/>
                </a:lnTo>
                <a:lnTo>
                  <a:pt x="8779286" y="1198689"/>
                </a:lnTo>
                <a:lnTo>
                  <a:pt x="8765473" y="1219200"/>
                </a:lnTo>
                <a:lnTo>
                  <a:pt x="8744968" y="1233043"/>
                </a:lnTo>
                <a:lnTo>
                  <a:pt x="8719832" y="1238123"/>
                </a:lnTo>
                <a:lnTo>
                  <a:pt x="128968" y="1238123"/>
                </a:lnTo>
                <a:lnTo>
                  <a:pt x="128968" y="1302512"/>
                </a:lnTo>
                <a:lnTo>
                  <a:pt x="123899" y="1327648"/>
                </a:lnTo>
                <a:lnTo>
                  <a:pt x="110077" y="1348152"/>
                </a:lnTo>
                <a:lnTo>
                  <a:pt x="89577" y="1361965"/>
                </a:lnTo>
                <a:lnTo>
                  <a:pt x="64477" y="1367027"/>
                </a:lnTo>
                <a:lnTo>
                  <a:pt x="39379" y="1361965"/>
                </a:lnTo>
                <a:lnTo>
                  <a:pt x="18884" y="1348152"/>
                </a:lnTo>
                <a:lnTo>
                  <a:pt x="5066" y="1327648"/>
                </a:lnTo>
                <a:lnTo>
                  <a:pt x="0" y="1302512"/>
                </a:lnTo>
                <a:lnTo>
                  <a:pt x="12" y="193421"/>
                </a:lnTo>
                <a:close/>
              </a:path>
            </a:pathLst>
          </a:custGeom>
          <a:ln w="25908">
            <a:solidFill>
              <a:srgbClr val="E78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04070" y="1609852"/>
            <a:ext cx="154812" cy="902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8640" y="1706498"/>
            <a:ext cx="154863" cy="1226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0549" y="1751710"/>
            <a:ext cx="0" cy="1045210"/>
          </a:xfrm>
          <a:custGeom>
            <a:avLst/>
            <a:gdLst/>
            <a:ahLst/>
            <a:cxnLst/>
            <a:rect l="l" t="t" r="r" b="b"/>
            <a:pathLst>
              <a:path h="1045210">
                <a:moveTo>
                  <a:pt x="0" y="0"/>
                </a:moveTo>
                <a:lnTo>
                  <a:pt x="0" y="1044701"/>
                </a:lnTo>
              </a:path>
            </a:pathLst>
          </a:custGeom>
          <a:ln w="25908">
            <a:solidFill>
              <a:srgbClr val="E78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9132" y="3717797"/>
            <a:ext cx="8717280" cy="270510"/>
          </a:xfrm>
          <a:custGeom>
            <a:avLst/>
            <a:gdLst/>
            <a:ahLst/>
            <a:cxnLst/>
            <a:rect l="l" t="t" r="r" b="b"/>
            <a:pathLst>
              <a:path w="8717280" h="270510">
                <a:moveTo>
                  <a:pt x="33769" y="168782"/>
                </a:moveTo>
                <a:lnTo>
                  <a:pt x="20622" y="171436"/>
                </a:lnTo>
                <a:lnTo>
                  <a:pt x="9888" y="178673"/>
                </a:lnTo>
                <a:lnTo>
                  <a:pt x="2652" y="189410"/>
                </a:lnTo>
                <a:lnTo>
                  <a:pt x="0" y="202564"/>
                </a:lnTo>
                <a:lnTo>
                  <a:pt x="0" y="270128"/>
                </a:lnTo>
                <a:lnTo>
                  <a:pt x="26286" y="264822"/>
                </a:lnTo>
                <a:lnTo>
                  <a:pt x="47750" y="250348"/>
                </a:lnTo>
                <a:lnTo>
                  <a:pt x="62220" y="228873"/>
                </a:lnTo>
                <a:lnTo>
                  <a:pt x="67525" y="202564"/>
                </a:lnTo>
                <a:lnTo>
                  <a:pt x="64873" y="189410"/>
                </a:lnTo>
                <a:lnTo>
                  <a:pt x="57638" y="178673"/>
                </a:lnTo>
                <a:lnTo>
                  <a:pt x="46909" y="171436"/>
                </a:lnTo>
                <a:lnTo>
                  <a:pt x="33769" y="168782"/>
                </a:lnTo>
                <a:close/>
              </a:path>
              <a:path w="8717280" h="270510">
                <a:moveTo>
                  <a:pt x="8716797" y="67563"/>
                </a:moveTo>
                <a:lnTo>
                  <a:pt x="8649233" y="67563"/>
                </a:lnTo>
                <a:lnTo>
                  <a:pt x="8649233" y="135000"/>
                </a:lnTo>
                <a:lnTo>
                  <a:pt x="8675542" y="129696"/>
                </a:lnTo>
                <a:lnTo>
                  <a:pt x="8697017" y="115236"/>
                </a:lnTo>
                <a:lnTo>
                  <a:pt x="8711491" y="93799"/>
                </a:lnTo>
                <a:lnTo>
                  <a:pt x="8716797" y="67563"/>
                </a:lnTo>
                <a:close/>
              </a:path>
              <a:path w="8717280" h="270510">
                <a:moveTo>
                  <a:pt x="8649233" y="0"/>
                </a:moveTo>
                <a:lnTo>
                  <a:pt x="8622978" y="5306"/>
                </a:lnTo>
                <a:lnTo>
                  <a:pt x="8601497" y="19780"/>
                </a:lnTo>
                <a:lnTo>
                  <a:pt x="8586993" y="41255"/>
                </a:lnTo>
                <a:lnTo>
                  <a:pt x="8581669" y="67563"/>
                </a:lnTo>
                <a:lnTo>
                  <a:pt x="8584322" y="80718"/>
                </a:lnTo>
                <a:lnTo>
                  <a:pt x="8591559" y="91455"/>
                </a:lnTo>
                <a:lnTo>
                  <a:pt x="8602296" y="98692"/>
                </a:lnTo>
                <a:lnTo>
                  <a:pt x="8615451" y="101345"/>
                </a:lnTo>
                <a:lnTo>
                  <a:pt x="8628605" y="98692"/>
                </a:lnTo>
                <a:lnTo>
                  <a:pt x="8639343" y="91455"/>
                </a:lnTo>
                <a:lnTo>
                  <a:pt x="8646580" y="80718"/>
                </a:lnTo>
                <a:lnTo>
                  <a:pt x="8649233" y="67563"/>
                </a:lnTo>
                <a:lnTo>
                  <a:pt x="8716797" y="67563"/>
                </a:lnTo>
                <a:lnTo>
                  <a:pt x="8711491" y="41255"/>
                </a:lnTo>
                <a:lnTo>
                  <a:pt x="8697017" y="19780"/>
                </a:lnTo>
                <a:lnTo>
                  <a:pt x="8675542" y="5306"/>
                </a:lnTo>
                <a:lnTo>
                  <a:pt x="8649233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1581" y="3717797"/>
            <a:ext cx="8784590" cy="1080770"/>
          </a:xfrm>
          <a:custGeom>
            <a:avLst/>
            <a:gdLst/>
            <a:ahLst/>
            <a:cxnLst/>
            <a:rect l="l" t="t" r="r" b="b"/>
            <a:pathLst>
              <a:path w="8784590" h="1080770">
                <a:moveTo>
                  <a:pt x="12" y="202564"/>
                </a:moveTo>
                <a:lnTo>
                  <a:pt x="5320" y="176309"/>
                </a:lnTo>
                <a:lnTo>
                  <a:pt x="19794" y="154828"/>
                </a:lnTo>
                <a:lnTo>
                  <a:pt x="41262" y="140325"/>
                </a:lnTo>
                <a:lnTo>
                  <a:pt x="67551" y="135000"/>
                </a:lnTo>
                <a:lnTo>
                  <a:pt x="8649347" y="135000"/>
                </a:lnTo>
                <a:lnTo>
                  <a:pt x="8649347" y="67563"/>
                </a:lnTo>
                <a:lnTo>
                  <a:pt x="8654651" y="41255"/>
                </a:lnTo>
                <a:lnTo>
                  <a:pt x="8669112" y="19780"/>
                </a:lnTo>
                <a:lnTo>
                  <a:pt x="8690549" y="5306"/>
                </a:lnTo>
                <a:lnTo>
                  <a:pt x="8716784" y="0"/>
                </a:lnTo>
                <a:lnTo>
                  <a:pt x="8743093" y="5306"/>
                </a:lnTo>
                <a:lnTo>
                  <a:pt x="8764568" y="19780"/>
                </a:lnTo>
                <a:lnTo>
                  <a:pt x="8779042" y="41255"/>
                </a:lnTo>
                <a:lnTo>
                  <a:pt x="8784348" y="67563"/>
                </a:lnTo>
                <a:lnTo>
                  <a:pt x="8784348" y="877951"/>
                </a:lnTo>
                <a:lnTo>
                  <a:pt x="8779042" y="904206"/>
                </a:lnTo>
                <a:lnTo>
                  <a:pt x="8764568" y="925687"/>
                </a:lnTo>
                <a:lnTo>
                  <a:pt x="8743093" y="940190"/>
                </a:lnTo>
                <a:lnTo>
                  <a:pt x="8716784" y="945514"/>
                </a:lnTo>
                <a:lnTo>
                  <a:pt x="135077" y="945514"/>
                </a:lnTo>
                <a:lnTo>
                  <a:pt x="135077" y="1012951"/>
                </a:lnTo>
                <a:lnTo>
                  <a:pt x="129769" y="1039260"/>
                </a:lnTo>
                <a:lnTo>
                  <a:pt x="115295" y="1060735"/>
                </a:lnTo>
                <a:lnTo>
                  <a:pt x="93827" y="1075209"/>
                </a:lnTo>
                <a:lnTo>
                  <a:pt x="67538" y="1080515"/>
                </a:lnTo>
                <a:lnTo>
                  <a:pt x="41249" y="1075209"/>
                </a:lnTo>
                <a:lnTo>
                  <a:pt x="19781" y="1060735"/>
                </a:lnTo>
                <a:lnTo>
                  <a:pt x="5307" y="1039260"/>
                </a:lnTo>
                <a:lnTo>
                  <a:pt x="0" y="1012951"/>
                </a:lnTo>
                <a:lnTo>
                  <a:pt x="12" y="202564"/>
                </a:lnTo>
                <a:close/>
              </a:path>
            </a:pathLst>
          </a:custGeom>
          <a:ln w="25908">
            <a:solidFill>
              <a:srgbClr val="E78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97847" y="3772408"/>
            <a:ext cx="161035" cy="933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8640" y="3873627"/>
            <a:ext cx="160972" cy="12725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96658" y="3920363"/>
            <a:ext cx="0" cy="742950"/>
          </a:xfrm>
          <a:custGeom>
            <a:avLst/>
            <a:gdLst/>
            <a:ahLst/>
            <a:cxnLst/>
            <a:rect l="l" t="t" r="r" b="b"/>
            <a:pathLst>
              <a:path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ln w="25908">
            <a:solidFill>
              <a:srgbClr val="E78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9012" y="3037161"/>
            <a:ext cx="8884926" cy="6038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8076" y="3038855"/>
            <a:ext cx="8574024" cy="6172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1594" y="3070098"/>
            <a:ext cx="8784590" cy="502920"/>
          </a:xfrm>
          <a:custGeom>
            <a:avLst/>
            <a:gdLst/>
            <a:ahLst/>
            <a:cxnLst/>
            <a:rect l="l" t="t" r="r" b="b"/>
            <a:pathLst>
              <a:path w="8784590" h="502920">
                <a:moveTo>
                  <a:pt x="8700516" y="0"/>
                </a:moveTo>
                <a:lnTo>
                  <a:pt x="83820" y="0"/>
                </a:lnTo>
                <a:lnTo>
                  <a:pt x="51193" y="6578"/>
                </a:lnTo>
                <a:lnTo>
                  <a:pt x="24550" y="24526"/>
                </a:lnTo>
                <a:lnTo>
                  <a:pt x="6587" y="51167"/>
                </a:lnTo>
                <a:lnTo>
                  <a:pt x="0" y="83819"/>
                </a:lnTo>
                <a:lnTo>
                  <a:pt x="0" y="419100"/>
                </a:lnTo>
                <a:lnTo>
                  <a:pt x="6587" y="451752"/>
                </a:lnTo>
                <a:lnTo>
                  <a:pt x="24550" y="478393"/>
                </a:lnTo>
                <a:lnTo>
                  <a:pt x="51193" y="496341"/>
                </a:lnTo>
                <a:lnTo>
                  <a:pt x="83820" y="502919"/>
                </a:lnTo>
                <a:lnTo>
                  <a:pt x="8700516" y="502919"/>
                </a:lnTo>
                <a:lnTo>
                  <a:pt x="8733168" y="496341"/>
                </a:lnTo>
                <a:lnTo>
                  <a:pt x="8759809" y="478393"/>
                </a:lnTo>
                <a:lnTo>
                  <a:pt x="8777757" y="451752"/>
                </a:lnTo>
                <a:lnTo>
                  <a:pt x="8784336" y="419100"/>
                </a:lnTo>
                <a:lnTo>
                  <a:pt x="8784336" y="83819"/>
                </a:lnTo>
                <a:lnTo>
                  <a:pt x="8777757" y="51167"/>
                </a:lnTo>
                <a:lnTo>
                  <a:pt x="8759809" y="24526"/>
                </a:lnTo>
                <a:lnTo>
                  <a:pt x="8733168" y="6578"/>
                </a:lnTo>
                <a:lnTo>
                  <a:pt x="8700516" y="0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1594" y="3070098"/>
            <a:ext cx="8784590" cy="502920"/>
          </a:xfrm>
          <a:custGeom>
            <a:avLst/>
            <a:gdLst/>
            <a:ahLst/>
            <a:cxnLst/>
            <a:rect l="l" t="t" r="r" b="b"/>
            <a:pathLst>
              <a:path w="8784590" h="502920">
                <a:moveTo>
                  <a:pt x="0" y="83819"/>
                </a:moveTo>
                <a:lnTo>
                  <a:pt x="6587" y="51167"/>
                </a:lnTo>
                <a:lnTo>
                  <a:pt x="24550" y="24526"/>
                </a:lnTo>
                <a:lnTo>
                  <a:pt x="51193" y="6578"/>
                </a:lnTo>
                <a:lnTo>
                  <a:pt x="83820" y="0"/>
                </a:lnTo>
                <a:lnTo>
                  <a:pt x="8700516" y="0"/>
                </a:lnTo>
                <a:lnTo>
                  <a:pt x="8733168" y="6578"/>
                </a:lnTo>
                <a:lnTo>
                  <a:pt x="8759809" y="24526"/>
                </a:lnTo>
                <a:lnTo>
                  <a:pt x="8777757" y="51167"/>
                </a:lnTo>
                <a:lnTo>
                  <a:pt x="8784336" y="83819"/>
                </a:lnTo>
                <a:lnTo>
                  <a:pt x="8784336" y="419100"/>
                </a:lnTo>
                <a:lnTo>
                  <a:pt x="8777757" y="451752"/>
                </a:lnTo>
                <a:lnTo>
                  <a:pt x="8759809" y="478393"/>
                </a:lnTo>
                <a:lnTo>
                  <a:pt x="8733168" y="496341"/>
                </a:lnTo>
                <a:lnTo>
                  <a:pt x="8700516" y="502919"/>
                </a:lnTo>
                <a:lnTo>
                  <a:pt x="83820" y="502919"/>
                </a:lnTo>
                <a:lnTo>
                  <a:pt x="51193" y="496341"/>
                </a:lnTo>
                <a:lnTo>
                  <a:pt x="24550" y="478393"/>
                </a:lnTo>
                <a:lnTo>
                  <a:pt x="6587" y="451752"/>
                </a:lnTo>
                <a:lnTo>
                  <a:pt x="0" y="419100"/>
                </a:lnTo>
                <a:lnTo>
                  <a:pt x="0" y="8381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9012" y="4837157"/>
            <a:ext cx="8884926" cy="14691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61594" y="4869941"/>
            <a:ext cx="8784590" cy="1369060"/>
          </a:xfrm>
          <a:custGeom>
            <a:avLst/>
            <a:gdLst/>
            <a:ahLst/>
            <a:cxnLst/>
            <a:rect l="l" t="t" r="r" b="b"/>
            <a:pathLst>
              <a:path w="8784590" h="1369060">
                <a:moveTo>
                  <a:pt x="8650732" y="0"/>
                </a:moveTo>
                <a:lnTo>
                  <a:pt x="133642" y="0"/>
                </a:lnTo>
                <a:lnTo>
                  <a:pt x="91404" y="6811"/>
                </a:lnTo>
                <a:lnTo>
                  <a:pt x="54718" y="25777"/>
                </a:lnTo>
                <a:lnTo>
                  <a:pt x="25787" y="54699"/>
                </a:lnTo>
                <a:lnTo>
                  <a:pt x="6814" y="91374"/>
                </a:lnTo>
                <a:lnTo>
                  <a:pt x="0" y="133603"/>
                </a:lnTo>
                <a:lnTo>
                  <a:pt x="0" y="1234897"/>
                </a:lnTo>
                <a:lnTo>
                  <a:pt x="6814" y="1277141"/>
                </a:lnTo>
                <a:lnTo>
                  <a:pt x="25787" y="1313830"/>
                </a:lnTo>
                <a:lnTo>
                  <a:pt x="54718" y="1342763"/>
                </a:lnTo>
                <a:lnTo>
                  <a:pt x="91404" y="1361737"/>
                </a:lnTo>
                <a:lnTo>
                  <a:pt x="133642" y="1368551"/>
                </a:lnTo>
                <a:lnTo>
                  <a:pt x="8650732" y="1368551"/>
                </a:lnTo>
                <a:lnTo>
                  <a:pt x="8692961" y="1361737"/>
                </a:lnTo>
                <a:lnTo>
                  <a:pt x="8729636" y="1342763"/>
                </a:lnTo>
                <a:lnTo>
                  <a:pt x="8758558" y="1313830"/>
                </a:lnTo>
                <a:lnTo>
                  <a:pt x="8777524" y="1277141"/>
                </a:lnTo>
                <a:lnTo>
                  <a:pt x="8784336" y="1234897"/>
                </a:lnTo>
                <a:lnTo>
                  <a:pt x="8784336" y="133603"/>
                </a:lnTo>
                <a:lnTo>
                  <a:pt x="8777524" y="91374"/>
                </a:lnTo>
                <a:lnTo>
                  <a:pt x="8758558" y="54699"/>
                </a:lnTo>
                <a:lnTo>
                  <a:pt x="8729636" y="25777"/>
                </a:lnTo>
                <a:lnTo>
                  <a:pt x="8692961" y="6811"/>
                </a:lnTo>
                <a:lnTo>
                  <a:pt x="8650732" y="0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61594" y="4869941"/>
            <a:ext cx="8784590" cy="1369060"/>
          </a:xfrm>
          <a:custGeom>
            <a:avLst/>
            <a:gdLst/>
            <a:ahLst/>
            <a:cxnLst/>
            <a:rect l="l" t="t" r="r" b="b"/>
            <a:pathLst>
              <a:path w="8784590" h="1369060">
                <a:moveTo>
                  <a:pt x="0" y="133603"/>
                </a:moveTo>
                <a:lnTo>
                  <a:pt x="6814" y="91374"/>
                </a:lnTo>
                <a:lnTo>
                  <a:pt x="25787" y="54699"/>
                </a:lnTo>
                <a:lnTo>
                  <a:pt x="54718" y="25777"/>
                </a:lnTo>
                <a:lnTo>
                  <a:pt x="91404" y="6811"/>
                </a:lnTo>
                <a:lnTo>
                  <a:pt x="133642" y="0"/>
                </a:lnTo>
                <a:lnTo>
                  <a:pt x="8650732" y="0"/>
                </a:lnTo>
                <a:lnTo>
                  <a:pt x="8692961" y="6811"/>
                </a:lnTo>
                <a:lnTo>
                  <a:pt x="8729636" y="25777"/>
                </a:lnTo>
                <a:lnTo>
                  <a:pt x="8758558" y="54699"/>
                </a:lnTo>
                <a:lnTo>
                  <a:pt x="8777524" y="91374"/>
                </a:lnTo>
                <a:lnTo>
                  <a:pt x="8784336" y="133603"/>
                </a:lnTo>
                <a:lnTo>
                  <a:pt x="8784336" y="1234897"/>
                </a:lnTo>
                <a:lnTo>
                  <a:pt x="8777524" y="1277141"/>
                </a:lnTo>
                <a:lnTo>
                  <a:pt x="8758558" y="1313830"/>
                </a:lnTo>
                <a:lnTo>
                  <a:pt x="8729636" y="1342763"/>
                </a:lnTo>
                <a:lnTo>
                  <a:pt x="8692961" y="1361737"/>
                </a:lnTo>
                <a:lnTo>
                  <a:pt x="8650732" y="1368551"/>
                </a:lnTo>
                <a:lnTo>
                  <a:pt x="133642" y="1368551"/>
                </a:lnTo>
                <a:lnTo>
                  <a:pt x="91404" y="1361737"/>
                </a:lnTo>
                <a:lnTo>
                  <a:pt x="54718" y="1342763"/>
                </a:lnTo>
                <a:lnTo>
                  <a:pt x="25787" y="1313830"/>
                </a:lnTo>
                <a:lnTo>
                  <a:pt x="6814" y="1277141"/>
                </a:lnTo>
                <a:lnTo>
                  <a:pt x="0" y="1234897"/>
                </a:lnTo>
                <a:lnTo>
                  <a:pt x="0" y="13360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74040" y="1055623"/>
            <a:ext cx="8630285" cy="4710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“</a:t>
            </a:r>
            <a:r>
              <a:rPr sz="2800" b="1" spc="5" dirty="0">
                <a:solidFill>
                  <a:srgbClr val="12046E"/>
                </a:solidFill>
                <a:latin typeface="Microsoft JhengHei"/>
                <a:cs typeface="Microsoft JhengHei"/>
              </a:rPr>
              <a:t>异或”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运</a:t>
            </a:r>
            <a:r>
              <a:rPr sz="2800" b="1" spc="5" dirty="0">
                <a:solidFill>
                  <a:srgbClr val="12046E"/>
                </a:solidFill>
                <a:latin typeface="Microsoft JhengHei"/>
                <a:cs typeface="Microsoft JhengHei"/>
              </a:rPr>
              <a:t>算的特</a:t>
            </a:r>
            <a:r>
              <a:rPr sz="2800" b="1" spc="-5" dirty="0">
                <a:solidFill>
                  <a:srgbClr val="12046E"/>
                </a:solidFill>
                <a:latin typeface="Microsoft JhengHei"/>
                <a:cs typeface="Microsoft JhengHei"/>
              </a:rPr>
              <a:t>性</a:t>
            </a:r>
            <a:endParaRPr sz="2800" dirty="0">
              <a:latin typeface="Microsoft JhengHei"/>
              <a:cs typeface="Microsoft JhengHei"/>
            </a:endParaRPr>
          </a:p>
          <a:p>
            <a:pPr marL="207010" marR="5080">
              <a:lnSpc>
                <a:spcPct val="100000"/>
              </a:lnSpc>
              <a:spcBef>
                <a:spcPts val="1800"/>
              </a:spcBef>
            </a:pP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特性</a:t>
            </a:r>
            <a:r>
              <a:rPr sz="2000" dirty="0">
                <a:solidFill>
                  <a:srgbClr val="001F5F"/>
                </a:solidFill>
                <a:latin typeface="Arial"/>
                <a:cs typeface="Arial"/>
              </a:rPr>
              <a:t>1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：多变</a:t>
            </a:r>
            <a:r>
              <a:rPr sz="2000" spc="5" dirty="0">
                <a:solidFill>
                  <a:srgbClr val="001F5F"/>
                </a:solidFill>
                <a:latin typeface="微软雅黑"/>
                <a:cs typeface="微软雅黑"/>
              </a:rPr>
              <a:t>量</a:t>
            </a:r>
            <a:r>
              <a:rPr sz="2000" dirty="0">
                <a:solidFill>
                  <a:srgbClr val="001F5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异</a:t>
            </a:r>
            <a:r>
              <a:rPr sz="2000" spc="-10" dirty="0">
                <a:solidFill>
                  <a:srgbClr val="001F5F"/>
                </a:solidFill>
                <a:latin typeface="微软雅黑"/>
                <a:cs typeface="微软雅黑"/>
              </a:rPr>
              <a:t>或</a:t>
            </a:r>
            <a:r>
              <a:rPr sz="2000" spc="-10" dirty="0">
                <a:solidFill>
                  <a:srgbClr val="001F5F"/>
                </a:solidFill>
                <a:latin typeface="Arial"/>
                <a:cs typeface="Arial"/>
              </a:rPr>
              <a:t>”</a:t>
            </a:r>
            <a:r>
              <a:rPr sz="2000" spc="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运算</a:t>
            </a:r>
            <a:r>
              <a:rPr sz="2000" spc="-2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的</a:t>
            </a:r>
            <a:r>
              <a:rPr sz="2000" spc="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结果</a:t>
            </a:r>
            <a:r>
              <a:rPr sz="2000" spc="-2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取</a:t>
            </a:r>
            <a:r>
              <a:rPr sz="2000" spc="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决于</a:t>
            </a:r>
            <a:r>
              <a:rPr sz="2000" spc="-2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变</a:t>
            </a:r>
            <a:r>
              <a:rPr sz="2000" spc="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量中</a:t>
            </a:r>
            <a:r>
              <a:rPr sz="2000" spc="-2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取</a:t>
            </a:r>
            <a:r>
              <a:rPr sz="2000" spc="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值为</a:t>
            </a:r>
            <a:r>
              <a:rPr sz="2000" spc="-5" dirty="0">
                <a:solidFill>
                  <a:srgbClr val="001F5F"/>
                </a:solidFill>
                <a:highlight>
                  <a:srgbClr val="FFFF00"/>
                </a:highlight>
                <a:latin typeface="Arial"/>
                <a:cs typeface="Arial"/>
              </a:rPr>
              <a:t>“1”</a:t>
            </a:r>
            <a:r>
              <a:rPr sz="2000" spc="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的</a:t>
            </a:r>
            <a:r>
              <a:rPr sz="2000" spc="-1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变</a:t>
            </a:r>
            <a:r>
              <a:rPr sz="2000" spc="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量的</a:t>
            </a:r>
            <a:r>
              <a:rPr sz="2000" spc="-2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个</a:t>
            </a:r>
            <a:r>
              <a:rPr sz="2000" spc="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数，而 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与取值</a:t>
            </a:r>
            <a:r>
              <a:rPr sz="2000" spc="-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为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Arial"/>
                <a:cs typeface="Arial"/>
              </a:rPr>
              <a:t>“0”</a:t>
            </a:r>
            <a:r>
              <a:rPr sz="2000" spc="-1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的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变量的个数</a:t>
            </a:r>
            <a:r>
              <a:rPr sz="2000" spc="-1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无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关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。若取值</a:t>
            </a:r>
            <a:r>
              <a:rPr sz="2000" spc="-35" dirty="0">
                <a:solidFill>
                  <a:srgbClr val="001F5F"/>
                </a:solidFill>
                <a:latin typeface="微软雅黑"/>
                <a:cs typeface="微软雅黑"/>
              </a:rPr>
              <a:t>为</a:t>
            </a:r>
            <a:r>
              <a:rPr sz="2000" spc="-5" dirty="0">
                <a:solidFill>
                  <a:srgbClr val="001F5F"/>
                </a:solidFill>
                <a:latin typeface="Arial"/>
                <a:cs typeface="Arial"/>
              </a:rPr>
              <a:t>“1”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的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变量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的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个数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是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奇数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，</a:t>
            </a:r>
            <a:r>
              <a:rPr sz="2000" spc="-10" dirty="0">
                <a:solidFill>
                  <a:srgbClr val="001F5F"/>
                </a:solidFill>
                <a:latin typeface="微软雅黑"/>
                <a:cs typeface="微软雅黑"/>
              </a:rPr>
              <a:t>则</a:t>
            </a:r>
            <a:r>
              <a:rPr sz="2000" spc="-5" dirty="0">
                <a:solidFill>
                  <a:srgbClr val="001F5F"/>
                </a:solidFill>
                <a:latin typeface="Arial"/>
                <a:cs typeface="Arial"/>
              </a:rPr>
              <a:t>“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异或</a:t>
            </a:r>
            <a:r>
              <a:rPr sz="2000" dirty="0">
                <a:solidFill>
                  <a:srgbClr val="001F5F"/>
                </a:solidFill>
                <a:latin typeface="Arial"/>
                <a:cs typeface="Arial"/>
              </a:rPr>
              <a:t>”  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的结果</a:t>
            </a:r>
            <a:r>
              <a:rPr sz="2000" spc="-5" dirty="0">
                <a:solidFill>
                  <a:srgbClr val="001F5F"/>
                </a:solidFill>
                <a:latin typeface="微软雅黑"/>
                <a:cs typeface="微软雅黑"/>
              </a:rPr>
              <a:t>为</a:t>
            </a:r>
            <a:r>
              <a:rPr sz="2000" spc="-5" dirty="0">
                <a:solidFill>
                  <a:srgbClr val="001F5F"/>
                </a:solidFill>
                <a:latin typeface="Arial"/>
                <a:cs typeface="Arial"/>
              </a:rPr>
              <a:t>“1”</a:t>
            </a:r>
            <a:r>
              <a:rPr sz="2000" spc="-5" dirty="0">
                <a:solidFill>
                  <a:srgbClr val="001F5F"/>
                </a:solidFill>
                <a:latin typeface="微软雅黑"/>
                <a:cs typeface="微软雅黑"/>
              </a:rPr>
              <a:t>；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若取值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为</a:t>
            </a:r>
            <a:r>
              <a:rPr sz="2000" spc="-10" dirty="0">
                <a:solidFill>
                  <a:srgbClr val="001F5F"/>
                </a:solidFill>
                <a:latin typeface="Arial"/>
                <a:cs typeface="Arial"/>
              </a:rPr>
              <a:t>“1”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的变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量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的个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数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为偶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数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，则</a:t>
            </a:r>
            <a:r>
              <a:rPr sz="2000" spc="-10" dirty="0">
                <a:solidFill>
                  <a:srgbClr val="001F5F"/>
                </a:solidFill>
                <a:latin typeface="Arial"/>
                <a:cs typeface="Arial"/>
              </a:rPr>
              <a:t>“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异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或</a:t>
            </a:r>
            <a:r>
              <a:rPr sz="2000" spc="-10" dirty="0">
                <a:solidFill>
                  <a:srgbClr val="001F5F"/>
                </a:solidFill>
                <a:latin typeface="Arial"/>
                <a:cs typeface="Arial"/>
              </a:rPr>
              <a:t>”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的结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果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为</a:t>
            </a:r>
            <a:r>
              <a:rPr sz="2000" spc="-10" dirty="0">
                <a:solidFill>
                  <a:srgbClr val="001F5F"/>
                </a:solidFill>
                <a:latin typeface="Arial"/>
                <a:cs typeface="Arial"/>
              </a:rPr>
              <a:t>“0”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。</a:t>
            </a:r>
            <a:endParaRPr sz="20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00" dirty="0">
              <a:latin typeface="微软雅黑"/>
              <a:cs typeface="微软雅黑"/>
            </a:endParaRPr>
          </a:p>
          <a:p>
            <a:pPr marL="212725" indent="1587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微软雅黑"/>
                <a:cs typeface="微软雅黑"/>
              </a:rPr>
              <a:t>由特性</a:t>
            </a:r>
            <a:r>
              <a:rPr sz="2000" dirty="0">
                <a:latin typeface="Arial"/>
                <a:cs typeface="Arial"/>
              </a:rPr>
              <a:t>1</a:t>
            </a:r>
            <a:r>
              <a:rPr sz="2000" dirty="0">
                <a:latin typeface="微软雅黑"/>
                <a:cs typeface="微软雅黑"/>
              </a:rPr>
              <a:t>可得：</a:t>
            </a:r>
            <a:r>
              <a:rPr sz="2000" dirty="0">
                <a:latin typeface="Arial"/>
                <a:cs typeface="Arial"/>
              </a:rPr>
              <a:t>“</a:t>
            </a:r>
            <a:r>
              <a:rPr sz="2000" dirty="0">
                <a:latin typeface="微软雅黑"/>
                <a:cs typeface="微软雅黑"/>
              </a:rPr>
              <a:t>异或</a:t>
            </a:r>
            <a:r>
              <a:rPr sz="2000" spc="-10" dirty="0">
                <a:latin typeface="Arial"/>
                <a:cs typeface="Arial"/>
              </a:rPr>
              <a:t>”</a:t>
            </a:r>
            <a:r>
              <a:rPr sz="2000" spc="-15" dirty="0">
                <a:highlight>
                  <a:srgbClr val="FFFF00"/>
                </a:highlight>
                <a:latin typeface="微软雅黑"/>
                <a:cs typeface="微软雅黑"/>
              </a:rPr>
              <a:t>函</a:t>
            </a:r>
            <a:r>
              <a:rPr sz="2000" dirty="0">
                <a:highlight>
                  <a:srgbClr val="FFFF00"/>
                </a:highlight>
                <a:latin typeface="微软雅黑"/>
                <a:cs typeface="微软雅黑"/>
              </a:rPr>
              <a:t>数中</a:t>
            </a:r>
            <a:r>
              <a:rPr sz="2000" spc="-15" dirty="0">
                <a:highlight>
                  <a:srgbClr val="FFFF00"/>
                </a:highlight>
                <a:latin typeface="微软雅黑"/>
                <a:cs typeface="微软雅黑"/>
              </a:rPr>
              <a:t>任</a:t>
            </a:r>
            <a:r>
              <a:rPr sz="2000" dirty="0">
                <a:highlight>
                  <a:srgbClr val="FFFF00"/>
                </a:highlight>
                <a:latin typeface="微软雅黑"/>
                <a:cs typeface="微软雅黑"/>
              </a:rPr>
              <a:t>意一</a:t>
            </a:r>
            <a:r>
              <a:rPr sz="2000" spc="-15" dirty="0">
                <a:highlight>
                  <a:srgbClr val="FFFF00"/>
                </a:highlight>
                <a:latin typeface="微软雅黑"/>
                <a:cs typeface="微软雅黑"/>
              </a:rPr>
              <a:t>个</a:t>
            </a:r>
            <a:r>
              <a:rPr sz="2000" dirty="0">
                <a:highlight>
                  <a:srgbClr val="FFFF00"/>
                </a:highlight>
                <a:latin typeface="微软雅黑"/>
                <a:cs typeface="微软雅黑"/>
              </a:rPr>
              <a:t>输入</a:t>
            </a:r>
            <a:r>
              <a:rPr sz="2000" spc="-15" dirty="0">
                <a:highlight>
                  <a:srgbClr val="FFFF00"/>
                </a:highlight>
                <a:latin typeface="微软雅黑"/>
                <a:cs typeface="微软雅黑"/>
              </a:rPr>
              <a:t>变</a:t>
            </a:r>
            <a:r>
              <a:rPr sz="2000" dirty="0">
                <a:highlight>
                  <a:srgbClr val="FFFF00"/>
                </a:highlight>
                <a:latin typeface="微软雅黑"/>
                <a:cs typeface="微软雅黑"/>
              </a:rPr>
              <a:t>量取</a:t>
            </a:r>
            <a:r>
              <a:rPr sz="2000" spc="-15" dirty="0">
                <a:highlight>
                  <a:srgbClr val="FFFF00"/>
                </a:highlight>
                <a:latin typeface="微软雅黑"/>
                <a:cs typeface="微软雅黑"/>
              </a:rPr>
              <a:t>反</a:t>
            </a:r>
            <a:r>
              <a:rPr sz="2000" dirty="0">
                <a:highlight>
                  <a:srgbClr val="FFFF00"/>
                </a:highlight>
                <a:latin typeface="微软雅黑"/>
                <a:cs typeface="微软雅黑"/>
              </a:rPr>
              <a:t>，将</a:t>
            </a:r>
            <a:r>
              <a:rPr sz="2000" spc="-15" dirty="0">
                <a:highlight>
                  <a:srgbClr val="FFFF00"/>
                </a:highlight>
                <a:latin typeface="微软雅黑"/>
                <a:cs typeface="微软雅黑"/>
              </a:rPr>
              <a:t>导</a:t>
            </a:r>
            <a:r>
              <a:rPr sz="2000" dirty="0">
                <a:highlight>
                  <a:srgbClr val="FFFF00"/>
                </a:highlight>
                <a:latin typeface="微软雅黑"/>
                <a:cs typeface="微软雅黑"/>
              </a:rPr>
              <a:t>致运</a:t>
            </a:r>
            <a:r>
              <a:rPr sz="2000" spc="-15" dirty="0">
                <a:highlight>
                  <a:srgbClr val="FFFF00"/>
                </a:highlight>
                <a:latin typeface="微软雅黑"/>
                <a:cs typeface="微软雅黑"/>
              </a:rPr>
              <a:t>算</a:t>
            </a:r>
            <a:r>
              <a:rPr sz="2000" dirty="0">
                <a:highlight>
                  <a:srgbClr val="FFFF00"/>
                </a:highlight>
                <a:latin typeface="微软雅黑"/>
                <a:cs typeface="微软雅黑"/>
              </a:rPr>
              <a:t>结果</a:t>
            </a:r>
            <a:r>
              <a:rPr sz="2000" spc="-15" dirty="0">
                <a:highlight>
                  <a:srgbClr val="FFFF00"/>
                </a:highlight>
                <a:latin typeface="微软雅黑"/>
                <a:cs typeface="微软雅黑"/>
              </a:rPr>
              <a:t>取</a:t>
            </a:r>
            <a:r>
              <a:rPr sz="2000" dirty="0">
                <a:highlight>
                  <a:srgbClr val="FFFF00"/>
                </a:highlight>
                <a:latin typeface="微软雅黑"/>
                <a:cs typeface="微软雅黑"/>
              </a:rPr>
              <a:t>反</a:t>
            </a: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900" dirty="0">
              <a:latin typeface="微软雅黑"/>
              <a:cs typeface="微软雅黑"/>
            </a:endParaRPr>
          </a:p>
          <a:p>
            <a:pPr marL="212725" marR="135255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特性</a:t>
            </a:r>
            <a:r>
              <a:rPr sz="2000" dirty="0">
                <a:solidFill>
                  <a:srgbClr val="001F5F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：异或运算具有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因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果互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换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关系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。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即，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等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式两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边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的逻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辑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变量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可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以互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相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交 换位置而仍然保持等式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的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成立。</a:t>
            </a:r>
            <a:endParaRPr sz="20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150" dirty="0">
              <a:latin typeface="微软雅黑"/>
              <a:cs typeface="微软雅黑"/>
            </a:endParaRPr>
          </a:p>
          <a:p>
            <a:pPr marL="234950">
              <a:lnSpc>
                <a:spcPct val="100000"/>
              </a:lnSpc>
            </a:pPr>
            <a:r>
              <a:rPr sz="2100" spc="25" dirty="0">
                <a:latin typeface="宋体"/>
                <a:cs typeface="宋体"/>
              </a:rPr>
              <a:t>若</a:t>
            </a:r>
            <a:r>
              <a:rPr sz="2100" i="1" spc="15" dirty="0">
                <a:latin typeface="Times New Roman"/>
                <a:cs typeface="Times New Roman"/>
              </a:rPr>
              <a:t>A</a:t>
            </a:r>
            <a:r>
              <a:rPr sz="2100" i="1" spc="-275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Symbol"/>
                <a:cs typeface="Symbol"/>
              </a:rPr>
              <a:t>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i="1" spc="15" dirty="0">
                <a:latin typeface="Times New Roman"/>
                <a:cs typeface="Times New Roman"/>
              </a:rPr>
              <a:t>B</a:t>
            </a:r>
            <a:r>
              <a:rPr sz="2100" i="1" spc="-5" dirty="0">
                <a:latin typeface="Times New Roman"/>
                <a:cs typeface="Times New Roman"/>
              </a:rPr>
              <a:t> </a:t>
            </a:r>
            <a:r>
              <a:rPr sz="2100" spc="15" dirty="0">
                <a:latin typeface="Symbol"/>
                <a:cs typeface="Symbol"/>
              </a:rPr>
              <a:t></a:t>
            </a:r>
            <a:r>
              <a:rPr sz="2100" spc="-100" dirty="0">
                <a:latin typeface="Times New Roman"/>
                <a:cs typeface="Times New Roman"/>
              </a:rPr>
              <a:t> </a:t>
            </a:r>
            <a:r>
              <a:rPr sz="2100" i="1" spc="20" dirty="0">
                <a:latin typeface="Times New Roman"/>
                <a:cs typeface="Times New Roman"/>
              </a:rPr>
              <a:t>C</a:t>
            </a:r>
            <a:r>
              <a:rPr sz="2100" spc="-35" dirty="0">
                <a:latin typeface="宋体"/>
                <a:cs typeface="宋体"/>
              </a:rPr>
              <a:t>成立，</a:t>
            </a:r>
            <a:r>
              <a:rPr sz="2100" spc="190" dirty="0">
                <a:latin typeface="宋体"/>
                <a:cs typeface="宋体"/>
              </a:rPr>
              <a:t>则</a:t>
            </a:r>
            <a:r>
              <a:rPr sz="2100" spc="20" dirty="0">
                <a:latin typeface="Times New Roman"/>
                <a:cs typeface="Times New Roman"/>
              </a:rPr>
              <a:t>A</a:t>
            </a:r>
            <a:r>
              <a:rPr sz="2100" spc="-175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Symbol"/>
                <a:cs typeface="Symbol"/>
              </a:rPr>
              <a:t></a:t>
            </a:r>
            <a:r>
              <a:rPr sz="2100" spc="-21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Times New Roman"/>
                <a:cs typeface="Times New Roman"/>
              </a:rPr>
              <a:t>C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spc="15" dirty="0">
                <a:latin typeface="Symbol"/>
                <a:cs typeface="Symbol"/>
              </a:rPr>
              <a:t>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B</a:t>
            </a:r>
            <a:r>
              <a:rPr sz="2100" spc="-35" dirty="0">
                <a:latin typeface="宋体"/>
                <a:cs typeface="宋体"/>
              </a:rPr>
              <a:t>成立</a:t>
            </a:r>
            <a:r>
              <a:rPr sz="2100" spc="75" dirty="0">
                <a:latin typeface="宋体"/>
                <a:cs typeface="宋体"/>
              </a:rPr>
              <a:t>；</a:t>
            </a:r>
            <a:r>
              <a:rPr sz="2100" spc="75" dirty="0">
                <a:latin typeface="Times New Roman"/>
                <a:cs typeface="Times New Roman"/>
              </a:rPr>
              <a:t>B</a:t>
            </a:r>
            <a:r>
              <a:rPr sz="2100" spc="-26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Symbol"/>
                <a:cs typeface="Symbol"/>
              </a:rPr>
              <a:t></a:t>
            </a:r>
            <a:r>
              <a:rPr sz="2100" spc="-204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Times New Roman"/>
                <a:cs typeface="Times New Roman"/>
              </a:rPr>
              <a:t>C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spc="15" dirty="0">
                <a:latin typeface="Symbol"/>
                <a:cs typeface="Symbol"/>
              </a:rPr>
              <a:t>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30" dirty="0">
                <a:latin typeface="Times New Roman"/>
                <a:cs typeface="Times New Roman"/>
              </a:rPr>
              <a:t>A</a:t>
            </a:r>
            <a:r>
              <a:rPr sz="2100" spc="-35" dirty="0">
                <a:latin typeface="宋体"/>
                <a:cs typeface="宋体"/>
              </a:rPr>
              <a:t>成立。</a:t>
            </a:r>
            <a:endParaRPr sz="2100" dirty="0">
              <a:latin typeface="宋体"/>
              <a:cs typeface="宋体"/>
            </a:endParaRPr>
          </a:p>
          <a:p>
            <a:pPr marL="236854">
              <a:lnSpc>
                <a:spcPct val="100000"/>
              </a:lnSpc>
              <a:spcBef>
                <a:spcPts val="905"/>
              </a:spcBef>
            </a:pPr>
            <a:r>
              <a:rPr sz="2200" spc="40" dirty="0">
                <a:latin typeface="宋体"/>
                <a:cs typeface="宋体"/>
              </a:rPr>
              <a:t>推</a:t>
            </a:r>
            <a:r>
              <a:rPr sz="2200" spc="30" dirty="0">
                <a:latin typeface="宋体"/>
                <a:cs typeface="宋体"/>
              </a:rPr>
              <a:t>广</a:t>
            </a:r>
            <a:r>
              <a:rPr sz="2200" spc="40" dirty="0">
                <a:latin typeface="宋体"/>
                <a:cs typeface="宋体"/>
              </a:rPr>
              <a:t>到多个</a:t>
            </a:r>
            <a:r>
              <a:rPr sz="2200" spc="30" dirty="0">
                <a:latin typeface="宋体"/>
                <a:cs typeface="宋体"/>
              </a:rPr>
              <a:t>变</a:t>
            </a:r>
            <a:r>
              <a:rPr sz="2200" spc="40" dirty="0">
                <a:latin typeface="宋体"/>
                <a:cs typeface="宋体"/>
              </a:rPr>
              <a:t>量：</a:t>
            </a:r>
            <a:endParaRPr sz="2200" dirty="0">
              <a:latin typeface="宋体"/>
              <a:cs typeface="宋体"/>
            </a:endParaRPr>
          </a:p>
          <a:p>
            <a:pPr marL="236854">
              <a:lnSpc>
                <a:spcPct val="100000"/>
              </a:lnSpc>
              <a:spcBef>
                <a:spcPts val="790"/>
              </a:spcBef>
            </a:pPr>
            <a:r>
              <a:rPr sz="2200" dirty="0">
                <a:latin typeface="宋体"/>
                <a:cs typeface="宋体"/>
              </a:rPr>
              <a:t>若</a:t>
            </a:r>
            <a:r>
              <a:rPr sz="2200" i="1" spc="25" dirty="0">
                <a:latin typeface="Times New Roman"/>
                <a:cs typeface="Times New Roman"/>
              </a:rPr>
              <a:t>A</a:t>
            </a:r>
            <a:r>
              <a:rPr sz="2200" i="1" spc="-310" dirty="0">
                <a:latin typeface="Times New Roman"/>
                <a:cs typeface="Times New Roman"/>
              </a:rPr>
              <a:t> </a:t>
            </a:r>
            <a:r>
              <a:rPr sz="2200" spc="30" dirty="0">
                <a:latin typeface="Symbol"/>
                <a:cs typeface="Symbol"/>
              </a:rPr>
              <a:t>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i="1" spc="25" dirty="0">
                <a:latin typeface="Times New Roman"/>
                <a:cs typeface="Times New Roman"/>
              </a:rPr>
              <a:t>B</a:t>
            </a:r>
            <a:r>
              <a:rPr sz="2200" i="1" spc="-200" dirty="0">
                <a:latin typeface="Times New Roman"/>
                <a:cs typeface="Times New Roman"/>
              </a:rPr>
              <a:t> </a:t>
            </a:r>
            <a:r>
              <a:rPr sz="2200" spc="30" dirty="0">
                <a:latin typeface="Symbol"/>
                <a:cs typeface="Symbol"/>
              </a:rPr>
              <a:t></a:t>
            </a:r>
            <a:r>
              <a:rPr sz="2200" spc="-240" dirty="0">
                <a:latin typeface="Times New Roman"/>
                <a:cs typeface="Times New Roman"/>
              </a:rPr>
              <a:t> </a:t>
            </a:r>
            <a:r>
              <a:rPr sz="2200" spc="25" dirty="0">
                <a:latin typeface="Times New Roman"/>
                <a:cs typeface="Times New Roman"/>
              </a:rPr>
              <a:t>C</a:t>
            </a:r>
            <a:r>
              <a:rPr sz="2200" spc="-260" dirty="0">
                <a:latin typeface="Times New Roman"/>
                <a:cs typeface="Times New Roman"/>
              </a:rPr>
              <a:t> </a:t>
            </a:r>
            <a:r>
              <a:rPr sz="2200" spc="30" dirty="0">
                <a:latin typeface="Symbol"/>
                <a:cs typeface="Symbol"/>
              </a:rPr>
              <a:t>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i="1" spc="25" dirty="0">
                <a:latin typeface="Times New Roman"/>
                <a:cs typeface="Times New Roman"/>
              </a:rPr>
              <a:t>D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spc="20" dirty="0">
                <a:latin typeface="Symbol"/>
                <a:cs typeface="Symbol"/>
              </a:rPr>
              <a:t>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F</a:t>
            </a:r>
            <a:r>
              <a:rPr sz="2200" spc="40" dirty="0">
                <a:latin typeface="宋体"/>
                <a:cs typeface="宋体"/>
              </a:rPr>
              <a:t>成</a:t>
            </a:r>
            <a:r>
              <a:rPr sz="2200" spc="30" dirty="0">
                <a:latin typeface="宋体"/>
                <a:cs typeface="宋体"/>
              </a:rPr>
              <a:t>立</a:t>
            </a:r>
            <a:r>
              <a:rPr sz="2200" spc="40" dirty="0">
                <a:latin typeface="宋体"/>
                <a:cs typeface="宋体"/>
              </a:rPr>
              <a:t>，</a:t>
            </a:r>
            <a:r>
              <a:rPr sz="2200" spc="-95" dirty="0">
                <a:latin typeface="宋体"/>
                <a:cs typeface="宋体"/>
              </a:rPr>
              <a:t>则</a:t>
            </a:r>
            <a:r>
              <a:rPr sz="2200" spc="25" dirty="0">
                <a:latin typeface="Times New Roman"/>
                <a:cs typeface="Times New Roman"/>
              </a:rPr>
              <a:t>A</a:t>
            </a:r>
            <a:r>
              <a:rPr sz="2200" spc="-210" dirty="0">
                <a:latin typeface="Times New Roman"/>
                <a:cs typeface="Times New Roman"/>
              </a:rPr>
              <a:t> </a:t>
            </a:r>
            <a:r>
              <a:rPr sz="2200" spc="30" dirty="0">
                <a:latin typeface="Symbol"/>
                <a:cs typeface="Symbol"/>
              </a:rPr>
              <a:t>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i="1" spc="25" dirty="0">
                <a:latin typeface="Times New Roman"/>
                <a:cs typeface="Times New Roman"/>
              </a:rPr>
              <a:t>F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spc="30" dirty="0">
                <a:latin typeface="Symbol"/>
                <a:cs typeface="Symbol"/>
              </a:rPr>
              <a:t></a:t>
            </a:r>
            <a:r>
              <a:rPr sz="2200" spc="-240" dirty="0">
                <a:latin typeface="Times New Roman"/>
                <a:cs typeface="Times New Roman"/>
              </a:rPr>
              <a:t> </a:t>
            </a:r>
            <a:r>
              <a:rPr sz="2200" spc="25" dirty="0">
                <a:latin typeface="Times New Roman"/>
                <a:cs typeface="Times New Roman"/>
              </a:rPr>
              <a:t>C</a:t>
            </a:r>
            <a:r>
              <a:rPr sz="2200" spc="-254" dirty="0">
                <a:latin typeface="Times New Roman"/>
                <a:cs typeface="Times New Roman"/>
              </a:rPr>
              <a:t> </a:t>
            </a:r>
            <a:r>
              <a:rPr sz="2200" spc="30" dirty="0">
                <a:latin typeface="Symbol"/>
                <a:cs typeface="Symbol"/>
              </a:rPr>
              <a:t></a:t>
            </a:r>
            <a:r>
              <a:rPr sz="2200" spc="-204" dirty="0">
                <a:latin typeface="Times New Roman"/>
                <a:cs typeface="Times New Roman"/>
              </a:rPr>
              <a:t> </a:t>
            </a:r>
            <a:r>
              <a:rPr sz="2200" spc="25" dirty="0">
                <a:latin typeface="Times New Roman"/>
                <a:cs typeface="Times New Roman"/>
              </a:rPr>
              <a:t>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20" dirty="0">
                <a:latin typeface="Symbol"/>
                <a:cs typeface="Symbol"/>
              </a:rPr>
              <a:t>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B</a:t>
            </a:r>
            <a:r>
              <a:rPr sz="2200" spc="40" dirty="0">
                <a:latin typeface="宋体"/>
                <a:cs typeface="宋体"/>
              </a:rPr>
              <a:t>成立</a:t>
            </a:r>
            <a:endParaRPr sz="2200" dirty="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9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标题 78">
            <a:extLst>
              <a:ext uri="{FF2B5EF4-FFF2-40B4-BE49-F238E27FC236}">
                <a16:creationId xmlns:a16="http://schemas.microsoft.com/office/drawing/2014/main" id="{6B9EFAD8-9CB1-C08A-D578-E5F370C2F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44799839-511D-A295-FC5D-11018BF15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2566"/>
            <a:ext cx="9366511" cy="57972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复合运算</a:t>
            </a:r>
          </a:p>
        </p:txBody>
      </p:sp>
      <p:sp>
        <p:nvSpPr>
          <p:cNvPr id="3" name="object 3"/>
          <p:cNvSpPr/>
          <p:nvPr/>
        </p:nvSpPr>
        <p:spPr>
          <a:xfrm>
            <a:off x="622693" y="1558289"/>
            <a:ext cx="8723630" cy="244475"/>
          </a:xfrm>
          <a:custGeom>
            <a:avLst/>
            <a:gdLst/>
            <a:ahLst/>
            <a:cxnLst/>
            <a:rect l="l" t="t" r="r" b="b"/>
            <a:pathLst>
              <a:path w="8723630" h="244475">
                <a:moveTo>
                  <a:pt x="30543" y="152781"/>
                </a:moveTo>
                <a:lnTo>
                  <a:pt x="18655" y="155168"/>
                </a:lnTo>
                <a:lnTo>
                  <a:pt x="8947" y="161686"/>
                </a:lnTo>
                <a:lnTo>
                  <a:pt x="2400" y="171372"/>
                </a:lnTo>
                <a:lnTo>
                  <a:pt x="0" y="183261"/>
                </a:lnTo>
                <a:lnTo>
                  <a:pt x="0" y="244348"/>
                </a:lnTo>
                <a:lnTo>
                  <a:pt x="23782" y="239553"/>
                </a:lnTo>
                <a:lnTo>
                  <a:pt x="43203" y="226472"/>
                </a:lnTo>
                <a:lnTo>
                  <a:pt x="56298" y="207057"/>
                </a:lnTo>
                <a:lnTo>
                  <a:pt x="61099" y="183261"/>
                </a:lnTo>
                <a:lnTo>
                  <a:pt x="58698" y="171372"/>
                </a:lnTo>
                <a:lnTo>
                  <a:pt x="52150" y="161686"/>
                </a:lnTo>
                <a:lnTo>
                  <a:pt x="42438" y="155168"/>
                </a:lnTo>
                <a:lnTo>
                  <a:pt x="30543" y="152781"/>
                </a:lnTo>
                <a:close/>
              </a:path>
              <a:path w="8723630" h="244475">
                <a:moveTo>
                  <a:pt x="8723236" y="61087"/>
                </a:moveTo>
                <a:lnTo>
                  <a:pt x="8662149" y="61087"/>
                </a:lnTo>
                <a:lnTo>
                  <a:pt x="8662149" y="122174"/>
                </a:lnTo>
                <a:lnTo>
                  <a:pt x="8685945" y="117379"/>
                </a:lnTo>
                <a:lnTo>
                  <a:pt x="8705361" y="104298"/>
                </a:lnTo>
                <a:lnTo>
                  <a:pt x="8718442" y="84883"/>
                </a:lnTo>
                <a:lnTo>
                  <a:pt x="8723236" y="61087"/>
                </a:lnTo>
                <a:close/>
              </a:path>
              <a:path w="8723630" h="244475">
                <a:moveTo>
                  <a:pt x="8662149" y="0"/>
                </a:moveTo>
                <a:lnTo>
                  <a:pt x="8638352" y="4794"/>
                </a:lnTo>
                <a:lnTo>
                  <a:pt x="8618937" y="17875"/>
                </a:lnTo>
                <a:lnTo>
                  <a:pt x="8605856" y="37290"/>
                </a:lnTo>
                <a:lnTo>
                  <a:pt x="8601062" y="61087"/>
                </a:lnTo>
                <a:lnTo>
                  <a:pt x="8603467" y="72995"/>
                </a:lnTo>
                <a:lnTo>
                  <a:pt x="8610015" y="82724"/>
                </a:lnTo>
                <a:lnTo>
                  <a:pt x="8619707" y="89286"/>
                </a:lnTo>
                <a:lnTo>
                  <a:pt x="8631542" y="91694"/>
                </a:lnTo>
                <a:lnTo>
                  <a:pt x="8643450" y="89286"/>
                </a:lnTo>
                <a:lnTo>
                  <a:pt x="8653179" y="82724"/>
                </a:lnTo>
                <a:lnTo>
                  <a:pt x="8659742" y="72995"/>
                </a:lnTo>
                <a:lnTo>
                  <a:pt x="8662149" y="61087"/>
                </a:lnTo>
                <a:lnTo>
                  <a:pt x="8723236" y="61087"/>
                </a:lnTo>
                <a:lnTo>
                  <a:pt x="8718442" y="37290"/>
                </a:lnTo>
                <a:lnTo>
                  <a:pt x="8705361" y="17875"/>
                </a:lnTo>
                <a:lnTo>
                  <a:pt x="8685945" y="4794"/>
                </a:lnTo>
                <a:lnTo>
                  <a:pt x="866214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1594" y="1558289"/>
            <a:ext cx="8784590" cy="1295400"/>
          </a:xfrm>
          <a:custGeom>
            <a:avLst/>
            <a:gdLst/>
            <a:ahLst/>
            <a:cxnLst/>
            <a:rect l="l" t="t" r="r" b="b"/>
            <a:pathLst>
              <a:path w="8784590" h="1295400">
                <a:moveTo>
                  <a:pt x="0" y="183261"/>
                </a:moveTo>
                <a:lnTo>
                  <a:pt x="4801" y="159517"/>
                </a:lnTo>
                <a:lnTo>
                  <a:pt x="17895" y="140096"/>
                </a:lnTo>
                <a:lnTo>
                  <a:pt x="37317" y="126986"/>
                </a:lnTo>
                <a:lnTo>
                  <a:pt x="61099" y="122174"/>
                </a:lnTo>
                <a:lnTo>
                  <a:pt x="8662162" y="122174"/>
                </a:lnTo>
                <a:lnTo>
                  <a:pt x="8662162" y="61087"/>
                </a:lnTo>
                <a:lnTo>
                  <a:pt x="8666956" y="37290"/>
                </a:lnTo>
                <a:lnTo>
                  <a:pt x="8680037" y="17875"/>
                </a:lnTo>
                <a:lnTo>
                  <a:pt x="8699452" y="4794"/>
                </a:lnTo>
                <a:lnTo>
                  <a:pt x="8723249" y="0"/>
                </a:lnTo>
                <a:lnTo>
                  <a:pt x="8747045" y="4794"/>
                </a:lnTo>
                <a:lnTo>
                  <a:pt x="8766460" y="17875"/>
                </a:lnTo>
                <a:lnTo>
                  <a:pt x="8779541" y="37290"/>
                </a:lnTo>
                <a:lnTo>
                  <a:pt x="8784336" y="61087"/>
                </a:lnTo>
                <a:lnTo>
                  <a:pt x="8784336" y="1112139"/>
                </a:lnTo>
                <a:lnTo>
                  <a:pt x="8779541" y="1135882"/>
                </a:lnTo>
                <a:lnTo>
                  <a:pt x="8766460" y="1155303"/>
                </a:lnTo>
                <a:lnTo>
                  <a:pt x="8747045" y="1168413"/>
                </a:lnTo>
                <a:lnTo>
                  <a:pt x="8723249" y="1173226"/>
                </a:lnTo>
                <a:lnTo>
                  <a:pt x="122199" y="1173226"/>
                </a:lnTo>
                <a:lnTo>
                  <a:pt x="122199" y="1234313"/>
                </a:lnTo>
                <a:lnTo>
                  <a:pt x="117397" y="1258109"/>
                </a:lnTo>
                <a:lnTo>
                  <a:pt x="104303" y="1277524"/>
                </a:lnTo>
                <a:lnTo>
                  <a:pt x="84882" y="1290605"/>
                </a:lnTo>
                <a:lnTo>
                  <a:pt x="61099" y="1295400"/>
                </a:lnTo>
                <a:lnTo>
                  <a:pt x="37317" y="1290605"/>
                </a:lnTo>
                <a:lnTo>
                  <a:pt x="17895" y="1277524"/>
                </a:lnTo>
                <a:lnTo>
                  <a:pt x="4801" y="1258109"/>
                </a:lnTo>
                <a:lnTo>
                  <a:pt x="0" y="1234313"/>
                </a:lnTo>
                <a:lnTo>
                  <a:pt x="0" y="183261"/>
                </a:lnTo>
                <a:close/>
              </a:path>
            </a:pathLst>
          </a:custGeom>
          <a:ln w="25908">
            <a:solidFill>
              <a:srgbClr val="E78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10802" y="1606422"/>
            <a:ext cx="148081" cy="869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8640" y="1698117"/>
            <a:ext cx="148107" cy="1174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3793" y="1741551"/>
            <a:ext cx="0" cy="989965"/>
          </a:xfrm>
          <a:custGeom>
            <a:avLst/>
            <a:gdLst/>
            <a:ahLst/>
            <a:cxnLst/>
            <a:rect l="l" t="t" r="r" b="b"/>
            <a:pathLst>
              <a:path h="989964">
                <a:moveTo>
                  <a:pt x="0" y="0"/>
                </a:moveTo>
                <a:lnTo>
                  <a:pt x="0" y="989964"/>
                </a:lnTo>
              </a:path>
            </a:pathLst>
          </a:custGeom>
          <a:ln w="25908">
            <a:solidFill>
              <a:srgbClr val="E78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4560" y="3717797"/>
            <a:ext cx="8721725" cy="252095"/>
          </a:xfrm>
          <a:custGeom>
            <a:avLst/>
            <a:gdLst/>
            <a:ahLst/>
            <a:cxnLst/>
            <a:rect l="l" t="t" r="r" b="b"/>
            <a:pathLst>
              <a:path w="8721725" h="252095">
                <a:moveTo>
                  <a:pt x="31470" y="157352"/>
                </a:moveTo>
                <a:lnTo>
                  <a:pt x="19218" y="159827"/>
                </a:lnTo>
                <a:lnTo>
                  <a:pt x="9215" y="166576"/>
                </a:lnTo>
                <a:lnTo>
                  <a:pt x="2472" y="176587"/>
                </a:lnTo>
                <a:lnTo>
                  <a:pt x="0" y="188849"/>
                </a:lnTo>
                <a:lnTo>
                  <a:pt x="0" y="251840"/>
                </a:lnTo>
                <a:lnTo>
                  <a:pt x="24506" y="246891"/>
                </a:lnTo>
                <a:lnTo>
                  <a:pt x="44516" y="233394"/>
                </a:lnTo>
                <a:lnTo>
                  <a:pt x="58007" y="213371"/>
                </a:lnTo>
                <a:lnTo>
                  <a:pt x="62953" y="188849"/>
                </a:lnTo>
                <a:lnTo>
                  <a:pt x="60479" y="176587"/>
                </a:lnTo>
                <a:lnTo>
                  <a:pt x="53732" y="166576"/>
                </a:lnTo>
                <a:lnTo>
                  <a:pt x="43724" y="159827"/>
                </a:lnTo>
                <a:lnTo>
                  <a:pt x="31470" y="157352"/>
                </a:lnTo>
                <a:close/>
              </a:path>
              <a:path w="8721725" h="252095">
                <a:moveTo>
                  <a:pt x="8721369" y="62991"/>
                </a:moveTo>
                <a:lnTo>
                  <a:pt x="8658377" y="62991"/>
                </a:lnTo>
                <a:lnTo>
                  <a:pt x="8658377" y="125983"/>
                </a:lnTo>
                <a:lnTo>
                  <a:pt x="8682900" y="121034"/>
                </a:lnTo>
                <a:lnTo>
                  <a:pt x="8702922" y="107537"/>
                </a:lnTo>
                <a:lnTo>
                  <a:pt x="8716420" y="87514"/>
                </a:lnTo>
                <a:lnTo>
                  <a:pt x="8721369" y="62991"/>
                </a:lnTo>
                <a:close/>
              </a:path>
              <a:path w="8721725" h="252095">
                <a:moveTo>
                  <a:pt x="8658377" y="0"/>
                </a:moveTo>
                <a:lnTo>
                  <a:pt x="8633854" y="4949"/>
                </a:lnTo>
                <a:lnTo>
                  <a:pt x="8613832" y="18446"/>
                </a:lnTo>
                <a:lnTo>
                  <a:pt x="8600334" y="38469"/>
                </a:lnTo>
                <a:lnTo>
                  <a:pt x="8595385" y="62991"/>
                </a:lnTo>
                <a:lnTo>
                  <a:pt x="8597859" y="75253"/>
                </a:lnTo>
                <a:lnTo>
                  <a:pt x="8604608" y="85264"/>
                </a:lnTo>
                <a:lnTo>
                  <a:pt x="8614619" y="92013"/>
                </a:lnTo>
                <a:lnTo>
                  <a:pt x="8626881" y="94487"/>
                </a:lnTo>
                <a:lnTo>
                  <a:pt x="8639142" y="92013"/>
                </a:lnTo>
                <a:lnTo>
                  <a:pt x="8649154" y="85264"/>
                </a:lnTo>
                <a:lnTo>
                  <a:pt x="8655902" y="75253"/>
                </a:lnTo>
                <a:lnTo>
                  <a:pt x="8658377" y="62991"/>
                </a:lnTo>
                <a:lnTo>
                  <a:pt x="8721369" y="62991"/>
                </a:lnTo>
                <a:lnTo>
                  <a:pt x="8716420" y="38469"/>
                </a:lnTo>
                <a:lnTo>
                  <a:pt x="8702922" y="18446"/>
                </a:lnTo>
                <a:lnTo>
                  <a:pt x="8682900" y="4949"/>
                </a:lnTo>
                <a:lnTo>
                  <a:pt x="8658377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1594" y="3717797"/>
            <a:ext cx="8784590" cy="1007744"/>
          </a:xfrm>
          <a:custGeom>
            <a:avLst/>
            <a:gdLst/>
            <a:ahLst/>
            <a:cxnLst/>
            <a:rect l="l" t="t" r="r" b="b"/>
            <a:pathLst>
              <a:path w="8784590" h="1007745">
                <a:moveTo>
                  <a:pt x="0" y="188849"/>
                </a:moveTo>
                <a:lnTo>
                  <a:pt x="4948" y="164326"/>
                </a:lnTo>
                <a:lnTo>
                  <a:pt x="18443" y="144303"/>
                </a:lnTo>
                <a:lnTo>
                  <a:pt x="38458" y="130806"/>
                </a:lnTo>
                <a:lnTo>
                  <a:pt x="62966" y="125856"/>
                </a:lnTo>
                <a:lnTo>
                  <a:pt x="8658479" y="125983"/>
                </a:lnTo>
                <a:lnTo>
                  <a:pt x="8658479" y="62991"/>
                </a:lnTo>
                <a:lnTo>
                  <a:pt x="8663408" y="38469"/>
                </a:lnTo>
                <a:lnTo>
                  <a:pt x="8676862" y="18446"/>
                </a:lnTo>
                <a:lnTo>
                  <a:pt x="8696840" y="4949"/>
                </a:lnTo>
                <a:lnTo>
                  <a:pt x="8721344" y="0"/>
                </a:lnTo>
                <a:lnTo>
                  <a:pt x="8745866" y="4949"/>
                </a:lnTo>
                <a:lnTo>
                  <a:pt x="8765889" y="18446"/>
                </a:lnTo>
                <a:lnTo>
                  <a:pt x="8779386" y="38469"/>
                </a:lnTo>
                <a:lnTo>
                  <a:pt x="8784336" y="62991"/>
                </a:lnTo>
                <a:lnTo>
                  <a:pt x="8784336" y="818514"/>
                </a:lnTo>
                <a:lnTo>
                  <a:pt x="8779386" y="843037"/>
                </a:lnTo>
                <a:lnTo>
                  <a:pt x="8765889" y="863060"/>
                </a:lnTo>
                <a:lnTo>
                  <a:pt x="8745866" y="876557"/>
                </a:lnTo>
                <a:lnTo>
                  <a:pt x="8721344" y="881507"/>
                </a:lnTo>
                <a:lnTo>
                  <a:pt x="125920" y="881507"/>
                </a:lnTo>
                <a:lnTo>
                  <a:pt x="125920" y="944371"/>
                </a:lnTo>
                <a:lnTo>
                  <a:pt x="120973" y="968894"/>
                </a:lnTo>
                <a:lnTo>
                  <a:pt x="107483" y="988917"/>
                </a:lnTo>
                <a:lnTo>
                  <a:pt x="87472" y="1002414"/>
                </a:lnTo>
                <a:lnTo>
                  <a:pt x="62966" y="1007363"/>
                </a:lnTo>
                <a:lnTo>
                  <a:pt x="38458" y="1002414"/>
                </a:lnTo>
                <a:lnTo>
                  <a:pt x="18443" y="988917"/>
                </a:lnTo>
                <a:lnTo>
                  <a:pt x="4948" y="968894"/>
                </a:lnTo>
                <a:lnTo>
                  <a:pt x="0" y="944371"/>
                </a:lnTo>
                <a:lnTo>
                  <a:pt x="0" y="188849"/>
                </a:lnTo>
                <a:close/>
              </a:path>
            </a:pathLst>
          </a:custGeom>
          <a:ln w="25908">
            <a:solidFill>
              <a:srgbClr val="E78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06992" y="3767835"/>
            <a:ext cx="151891" cy="889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8640" y="3862196"/>
            <a:ext cx="151828" cy="1203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7514" y="3906646"/>
            <a:ext cx="0" cy="692785"/>
          </a:xfrm>
          <a:custGeom>
            <a:avLst/>
            <a:gdLst/>
            <a:ahLst/>
            <a:cxnLst/>
            <a:rect l="l" t="t" r="r" b="b"/>
            <a:pathLst>
              <a:path h="692785">
                <a:moveTo>
                  <a:pt x="0" y="0"/>
                </a:moveTo>
                <a:lnTo>
                  <a:pt x="0" y="692657"/>
                </a:lnTo>
              </a:path>
            </a:pathLst>
          </a:custGeom>
          <a:ln w="25908">
            <a:solidFill>
              <a:srgbClr val="E78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9012" y="3037182"/>
            <a:ext cx="8884926" cy="5321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5027" y="3035807"/>
            <a:ext cx="8574024" cy="6172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1594" y="3070098"/>
            <a:ext cx="8784590" cy="431800"/>
          </a:xfrm>
          <a:custGeom>
            <a:avLst/>
            <a:gdLst/>
            <a:ahLst/>
            <a:cxnLst/>
            <a:rect l="l" t="t" r="r" b="b"/>
            <a:pathLst>
              <a:path w="8784590" h="431800">
                <a:moveTo>
                  <a:pt x="8712454" y="0"/>
                </a:moveTo>
                <a:lnTo>
                  <a:pt x="71882" y="0"/>
                </a:lnTo>
                <a:lnTo>
                  <a:pt x="43901" y="5641"/>
                </a:lnTo>
                <a:lnTo>
                  <a:pt x="21053" y="21034"/>
                </a:lnTo>
                <a:lnTo>
                  <a:pt x="5648" y="43880"/>
                </a:lnTo>
                <a:lnTo>
                  <a:pt x="0" y="71881"/>
                </a:lnTo>
                <a:lnTo>
                  <a:pt x="0" y="359410"/>
                </a:lnTo>
                <a:lnTo>
                  <a:pt x="5648" y="387411"/>
                </a:lnTo>
                <a:lnTo>
                  <a:pt x="21053" y="410257"/>
                </a:lnTo>
                <a:lnTo>
                  <a:pt x="43901" y="425650"/>
                </a:lnTo>
                <a:lnTo>
                  <a:pt x="71882" y="431291"/>
                </a:lnTo>
                <a:lnTo>
                  <a:pt x="8712454" y="431291"/>
                </a:lnTo>
                <a:lnTo>
                  <a:pt x="8740455" y="425650"/>
                </a:lnTo>
                <a:lnTo>
                  <a:pt x="8763301" y="410257"/>
                </a:lnTo>
                <a:lnTo>
                  <a:pt x="8778694" y="387411"/>
                </a:lnTo>
                <a:lnTo>
                  <a:pt x="8784336" y="359410"/>
                </a:lnTo>
                <a:lnTo>
                  <a:pt x="8784336" y="71881"/>
                </a:lnTo>
                <a:lnTo>
                  <a:pt x="8778694" y="43880"/>
                </a:lnTo>
                <a:lnTo>
                  <a:pt x="8763301" y="21034"/>
                </a:lnTo>
                <a:lnTo>
                  <a:pt x="8740455" y="5641"/>
                </a:lnTo>
                <a:lnTo>
                  <a:pt x="8712454" y="0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1594" y="3070098"/>
            <a:ext cx="8784590" cy="431800"/>
          </a:xfrm>
          <a:custGeom>
            <a:avLst/>
            <a:gdLst/>
            <a:ahLst/>
            <a:cxnLst/>
            <a:rect l="l" t="t" r="r" b="b"/>
            <a:pathLst>
              <a:path w="8784590" h="431800">
                <a:moveTo>
                  <a:pt x="0" y="71881"/>
                </a:moveTo>
                <a:lnTo>
                  <a:pt x="5648" y="43880"/>
                </a:lnTo>
                <a:lnTo>
                  <a:pt x="21053" y="21034"/>
                </a:lnTo>
                <a:lnTo>
                  <a:pt x="43901" y="5641"/>
                </a:lnTo>
                <a:lnTo>
                  <a:pt x="71882" y="0"/>
                </a:lnTo>
                <a:lnTo>
                  <a:pt x="8712454" y="0"/>
                </a:lnTo>
                <a:lnTo>
                  <a:pt x="8740455" y="5641"/>
                </a:lnTo>
                <a:lnTo>
                  <a:pt x="8763301" y="21034"/>
                </a:lnTo>
                <a:lnTo>
                  <a:pt x="8778694" y="43880"/>
                </a:lnTo>
                <a:lnTo>
                  <a:pt x="8784336" y="71881"/>
                </a:lnTo>
                <a:lnTo>
                  <a:pt x="8784336" y="359410"/>
                </a:lnTo>
                <a:lnTo>
                  <a:pt x="8778694" y="387411"/>
                </a:lnTo>
                <a:lnTo>
                  <a:pt x="8763301" y="410257"/>
                </a:lnTo>
                <a:lnTo>
                  <a:pt x="8740455" y="425650"/>
                </a:lnTo>
                <a:lnTo>
                  <a:pt x="8712454" y="431291"/>
                </a:lnTo>
                <a:lnTo>
                  <a:pt x="71882" y="431291"/>
                </a:lnTo>
                <a:lnTo>
                  <a:pt x="43901" y="425650"/>
                </a:lnTo>
                <a:lnTo>
                  <a:pt x="21053" y="410257"/>
                </a:lnTo>
                <a:lnTo>
                  <a:pt x="5648" y="387411"/>
                </a:lnTo>
                <a:lnTo>
                  <a:pt x="0" y="359410"/>
                </a:lnTo>
                <a:lnTo>
                  <a:pt x="0" y="7188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9012" y="4908781"/>
            <a:ext cx="8884926" cy="13975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61594" y="4941570"/>
            <a:ext cx="8784590" cy="1297305"/>
          </a:xfrm>
          <a:custGeom>
            <a:avLst/>
            <a:gdLst/>
            <a:ahLst/>
            <a:cxnLst/>
            <a:rect l="l" t="t" r="r" b="b"/>
            <a:pathLst>
              <a:path w="8784590" h="1297304">
                <a:moveTo>
                  <a:pt x="8657716" y="0"/>
                </a:moveTo>
                <a:lnTo>
                  <a:pt x="126657" y="0"/>
                </a:lnTo>
                <a:lnTo>
                  <a:pt x="77356" y="9943"/>
                </a:lnTo>
                <a:lnTo>
                  <a:pt x="37096" y="37068"/>
                </a:lnTo>
                <a:lnTo>
                  <a:pt x="9953" y="77313"/>
                </a:lnTo>
                <a:lnTo>
                  <a:pt x="0" y="126618"/>
                </a:lnTo>
                <a:lnTo>
                  <a:pt x="0" y="1170266"/>
                </a:lnTo>
                <a:lnTo>
                  <a:pt x="9953" y="1219567"/>
                </a:lnTo>
                <a:lnTo>
                  <a:pt x="37096" y="1259827"/>
                </a:lnTo>
                <a:lnTo>
                  <a:pt x="77356" y="1286970"/>
                </a:lnTo>
                <a:lnTo>
                  <a:pt x="126657" y="1296923"/>
                </a:lnTo>
                <a:lnTo>
                  <a:pt x="8657716" y="1296923"/>
                </a:lnTo>
                <a:lnTo>
                  <a:pt x="8706969" y="1286970"/>
                </a:lnTo>
                <a:lnTo>
                  <a:pt x="8747220" y="1259827"/>
                </a:lnTo>
                <a:lnTo>
                  <a:pt x="8774374" y="1219567"/>
                </a:lnTo>
                <a:lnTo>
                  <a:pt x="8784336" y="1170266"/>
                </a:lnTo>
                <a:lnTo>
                  <a:pt x="8784336" y="126618"/>
                </a:lnTo>
                <a:lnTo>
                  <a:pt x="8774374" y="77313"/>
                </a:lnTo>
                <a:lnTo>
                  <a:pt x="8747220" y="37068"/>
                </a:lnTo>
                <a:lnTo>
                  <a:pt x="8706969" y="9943"/>
                </a:lnTo>
                <a:lnTo>
                  <a:pt x="8657716" y="0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61594" y="4941570"/>
            <a:ext cx="8784590" cy="1297305"/>
          </a:xfrm>
          <a:custGeom>
            <a:avLst/>
            <a:gdLst/>
            <a:ahLst/>
            <a:cxnLst/>
            <a:rect l="l" t="t" r="r" b="b"/>
            <a:pathLst>
              <a:path w="8784590" h="1297304">
                <a:moveTo>
                  <a:pt x="0" y="126618"/>
                </a:moveTo>
                <a:lnTo>
                  <a:pt x="9953" y="77313"/>
                </a:lnTo>
                <a:lnTo>
                  <a:pt x="37096" y="37068"/>
                </a:lnTo>
                <a:lnTo>
                  <a:pt x="77356" y="9943"/>
                </a:lnTo>
                <a:lnTo>
                  <a:pt x="126657" y="0"/>
                </a:lnTo>
                <a:lnTo>
                  <a:pt x="8657716" y="0"/>
                </a:lnTo>
                <a:lnTo>
                  <a:pt x="8706969" y="9943"/>
                </a:lnTo>
                <a:lnTo>
                  <a:pt x="8747220" y="37068"/>
                </a:lnTo>
                <a:lnTo>
                  <a:pt x="8774374" y="77313"/>
                </a:lnTo>
                <a:lnTo>
                  <a:pt x="8784336" y="126618"/>
                </a:lnTo>
                <a:lnTo>
                  <a:pt x="8784336" y="1170266"/>
                </a:lnTo>
                <a:lnTo>
                  <a:pt x="8774374" y="1219567"/>
                </a:lnTo>
                <a:lnTo>
                  <a:pt x="8747220" y="1259827"/>
                </a:lnTo>
                <a:lnTo>
                  <a:pt x="8706969" y="1286970"/>
                </a:lnTo>
                <a:lnTo>
                  <a:pt x="8657716" y="1296923"/>
                </a:lnTo>
                <a:lnTo>
                  <a:pt x="126657" y="1296923"/>
                </a:lnTo>
                <a:lnTo>
                  <a:pt x="77356" y="1286970"/>
                </a:lnTo>
                <a:lnTo>
                  <a:pt x="37096" y="1259827"/>
                </a:lnTo>
                <a:lnTo>
                  <a:pt x="9953" y="1219567"/>
                </a:lnTo>
                <a:lnTo>
                  <a:pt x="0" y="1170266"/>
                </a:lnTo>
                <a:lnTo>
                  <a:pt x="0" y="12661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10721" y="5011730"/>
            <a:ext cx="196215" cy="30797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950" spc="45" dirty="0">
                <a:latin typeface="Symbol"/>
                <a:cs typeface="Symbol"/>
              </a:rPr>
              <a:t>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18893" y="5011730"/>
            <a:ext cx="196215" cy="30797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950" spc="45" dirty="0">
                <a:latin typeface="Symbol"/>
                <a:cs typeface="Symbol"/>
              </a:rPr>
              <a:t>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48662" y="5011730"/>
            <a:ext cx="196215" cy="30797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950" spc="45" dirty="0">
                <a:latin typeface="Symbol"/>
                <a:cs typeface="Symbol"/>
              </a:rPr>
              <a:t>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45657" y="5840814"/>
            <a:ext cx="199390" cy="3124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spc="25" dirty="0">
                <a:latin typeface="Symbol"/>
                <a:cs typeface="Symbol"/>
              </a:rPr>
              <a:t>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04035" y="5840814"/>
            <a:ext cx="199390" cy="3124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spc="25" dirty="0">
                <a:latin typeface="Symbol"/>
                <a:cs typeface="Symbol"/>
              </a:rPr>
              <a:t>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38090" y="5840814"/>
            <a:ext cx="199390" cy="3124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spc="25" dirty="0">
                <a:latin typeface="Symbol"/>
                <a:cs typeface="Symbol"/>
              </a:rPr>
              <a:t>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36834" y="5840814"/>
            <a:ext cx="199390" cy="3124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spc="25" dirty="0">
                <a:latin typeface="Symbol"/>
                <a:cs typeface="Symbol"/>
              </a:rPr>
              <a:t>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95402" y="5840814"/>
            <a:ext cx="199390" cy="3124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spc="25" dirty="0">
                <a:latin typeface="Symbol"/>
                <a:cs typeface="Symbol"/>
              </a:rPr>
              <a:t>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49360" y="5840814"/>
            <a:ext cx="199390" cy="3124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spc="25" dirty="0">
                <a:latin typeface="Symbol"/>
                <a:cs typeface="Symbol"/>
              </a:rPr>
              <a:t>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208532" y="5012435"/>
            <a:ext cx="288290" cy="361315"/>
          </a:xfrm>
          <a:custGeom>
            <a:avLst/>
            <a:gdLst/>
            <a:ahLst/>
            <a:cxnLst/>
            <a:rect l="l" t="t" r="r" b="b"/>
            <a:pathLst>
              <a:path w="288290" h="361314">
                <a:moveTo>
                  <a:pt x="0" y="361188"/>
                </a:moveTo>
                <a:lnTo>
                  <a:pt x="288036" y="361188"/>
                </a:lnTo>
                <a:lnTo>
                  <a:pt x="288036" y="0"/>
                </a:lnTo>
                <a:lnTo>
                  <a:pt x="0" y="0"/>
                </a:lnTo>
                <a:lnTo>
                  <a:pt x="0" y="361188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08532" y="5012435"/>
            <a:ext cx="288290" cy="361315"/>
          </a:xfrm>
          <a:custGeom>
            <a:avLst/>
            <a:gdLst/>
            <a:ahLst/>
            <a:cxnLst/>
            <a:rect l="l" t="t" r="r" b="b"/>
            <a:pathLst>
              <a:path w="288290" h="361314">
                <a:moveTo>
                  <a:pt x="0" y="361188"/>
                </a:moveTo>
                <a:lnTo>
                  <a:pt x="288036" y="361188"/>
                </a:lnTo>
                <a:lnTo>
                  <a:pt x="288036" y="0"/>
                </a:lnTo>
                <a:lnTo>
                  <a:pt x="0" y="0"/>
                </a:lnTo>
                <a:lnTo>
                  <a:pt x="0" y="361188"/>
                </a:lnTo>
                <a:close/>
              </a:path>
            </a:pathLst>
          </a:custGeom>
          <a:ln w="9144">
            <a:solidFill>
              <a:srgbClr val="FFC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64408" y="5012435"/>
            <a:ext cx="288290" cy="361315"/>
          </a:xfrm>
          <a:custGeom>
            <a:avLst/>
            <a:gdLst/>
            <a:ahLst/>
            <a:cxnLst/>
            <a:rect l="l" t="t" r="r" b="b"/>
            <a:pathLst>
              <a:path w="288289" h="361314">
                <a:moveTo>
                  <a:pt x="0" y="361188"/>
                </a:moveTo>
                <a:lnTo>
                  <a:pt x="288036" y="361188"/>
                </a:lnTo>
                <a:lnTo>
                  <a:pt x="288036" y="0"/>
                </a:lnTo>
                <a:lnTo>
                  <a:pt x="0" y="0"/>
                </a:lnTo>
                <a:lnTo>
                  <a:pt x="0" y="361188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264408" y="5012435"/>
            <a:ext cx="288290" cy="361315"/>
          </a:xfrm>
          <a:custGeom>
            <a:avLst/>
            <a:gdLst/>
            <a:ahLst/>
            <a:cxnLst/>
            <a:rect l="l" t="t" r="r" b="b"/>
            <a:pathLst>
              <a:path w="288289" h="361314">
                <a:moveTo>
                  <a:pt x="0" y="361188"/>
                </a:moveTo>
                <a:lnTo>
                  <a:pt x="288036" y="361188"/>
                </a:lnTo>
                <a:lnTo>
                  <a:pt x="288036" y="0"/>
                </a:lnTo>
                <a:lnTo>
                  <a:pt x="0" y="0"/>
                </a:lnTo>
                <a:lnTo>
                  <a:pt x="0" y="361188"/>
                </a:lnTo>
                <a:close/>
              </a:path>
            </a:pathLst>
          </a:custGeom>
          <a:ln w="9144">
            <a:solidFill>
              <a:srgbClr val="FFC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065776" y="5012435"/>
            <a:ext cx="288290" cy="361315"/>
          </a:xfrm>
          <a:custGeom>
            <a:avLst/>
            <a:gdLst/>
            <a:ahLst/>
            <a:cxnLst/>
            <a:rect l="l" t="t" r="r" b="b"/>
            <a:pathLst>
              <a:path w="288289" h="361314">
                <a:moveTo>
                  <a:pt x="0" y="361188"/>
                </a:moveTo>
                <a:lnTo>
                  <a:pt x="288036" y="361188"/>
                </a:lnTo>
                <a:lnTo>
                  <a:pt x="288036" y="0"/>
                </a:lnTo>
                <a:lnTo>
                  <a:pt x="0" y="0"/>
                </a:lnTo>
                <a:lnTo>
                  <a:pt x="0" y="361188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065776" y="5012435"/>
            <a:ext cx="288290" cy="361315"/>
          </a:xfrm>
          <a:custGeom>
            <a:avLst/>
            <a:gdLst/>
            <a:ahLst/>
            <a:cxnLst/>
            <a:rect l="l" t="t" r="r" b="b"/>
            <a:pathLst>
              <a:path w="288289" h="361314">
                <a:moveTo>
                  <a:pt x="0" y="361188"/>
                </a:moveTo>
                <a:lnTo>
                  <a:pt x="288036" y="361188"/>
                </a:lnTo>
                <a:lnTo>
                  <a:pt x="288036" y="0"/>
                </a:lnTo>
                <a:lnTo>
                  <a:pt x="0" y="0"/>
                </a:lnTo>
                <a:lnTo>
                  <a:pt x="0" y="361188"/>
                </a:lnTo>
                <a:close/>
              </a:path>
            </a:pathLst>
          </a:custGeom>
          <a:ln w="9144">
            <a:solidFill>
              <a:srgbClr val="FFC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08532" y="5804915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90" h="360045">
                <a:moveTo>
                  <a:pt x="0" y="359664"/>
                </a:moveTo>
                <a:lnTo>
                  <a:pt x="288036" y="359664"/>
                </a:lnTo>
                <a:lnTo>
                  <a:pt x="288036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08532" y="5804915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90" h="360045">
                <a:moveTo>
                  <a:pt x="0" y="359664"/>
                </a:moveTo>
                <a:lnTo>
                  <a:pt x="288036" y="359664"/>
                </a:lnTo>
                <a:lnTo>
                  <a:pt x="288036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ln w="9144">
            <a:solidFill>
              <a:srgbClr val="FFC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641348" y="5804915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89" h="360045">
                <a:moveTo>
                  <a:pt x="0" y="359664"/>
                </a:moveTo>
                <a:lnTo>
                  <a:pt x="288036" y="359664"/>
                </a:lnTo>
                <a:lnTo>
                  <a:pt x="288036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641348" y="5804915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89" h="360045">
                <a:moveTo>
                  <a:pt x="0" y="359664"/>
                </a:moveTo>
                <a:lnTo>
                  <a:pt x="288036" y="359664"/>
                </a:lnTo>
                <a:lnTo>
                  <a:pt x="288036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ln w="9144">
            <a:solidFill>
              <a:srgbClr val="FFC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097023" y="5804915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89" h="360045">
                <a:moveTo>
                  <a:pt x="0" y="359664"/>
                </a:moveTo>
                <a:lnTo>
                  <a:pt x="288036" y="359664"/>
                </a:lnTo>
                <a:lnTo>
                  <a:pt x="288036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097023" y="5804915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89" h="360045">
                <a:moveTo>
                  <a:pt x="0" y="359664"/>
                </a:moveTo>
                <a:lnTo>
                  <a:pt x="288036" y="359664"/>
                </a:lnTo>
                <a:lnTo>
                  <a:pt x="288036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ln w="9144">
            <a:solidFill>
              <a:srgbClr val="FFC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184903" y="5804915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89" h="360045">
                <a:moveTo>
                  <a:pt x="0" y="359664"/>
                </a:moveTo>
                <a:lnTo>
                  <a:pt x="288036" y="359664"/>
                </a:lnTo>
                <a:lnTo>
                  <a:pt x="288036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84903" y="5804915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89" h="360045">
                <a:moveTo>
                  <a:pt x="0" y="359664"/>
                </a:moveTo>
                <a:lnTo>
                  <a:pt x="288036" y="359664"/>
                </a:lnTo>
                <a:lnTo>
                  <a:pt x="288036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ln w="9144">
            <a:solidFill>
              <a:srgbClr val="FFC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649723" y="5804915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89" h="360045">
                <a:moveTo>
                  <a:pt x="0" y="359664"/>
                </a:moveTo>
                <a:lnTo>
                  <a:pt x="288036" y="359664"/>
                </a:lnTo>
                <a:lnTo>
                  <a:pt x="288036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649723" y="5804915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89" h="360045">
                <a:moveTo>
                  <a:pt x="0" y="359664"/>
                </a:moveTo>
                <a:lnTo>
                  <a:pt x="288036" y="359664"/>
                </a:lnTo>
                <a:lnTo>
                  <a:pt x="288036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ln w="9144">
            <a:solidFill>
              <a:srgbClr val="FFC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096255" y="5804915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89" h="360045">
                <a:moveTo>
                  <a:pt x="0" y="359664"/>
                </a:moveTo>
                <a:lnTo>
                  <a:pt x="288036" y="359664"/>
                </a:lnTo>
                <a:lnTo>
                  <a:pt x="288036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096255" y="5804915"/>
            <a:ext cx="288290" cy="360045"/>
          </a:xfrm>
          <a:custGeom>
            <a:avLst/>
            <a:gdLst/>
            <a:ahLst/>
            <a:cxnLst/>
            <a:rect l="l" t="t" r="r" b="b"/>
            <a:pathLst>
              <a:path w="288289" h="360045">
                <a:moveTo>
                  <a:pt x="0" y="359664"/>
                </a:moveTo>
                <a:lnTo>
                  <a:pt x="288036" y="359664"/>
                </a:lnTo>
                <a:lnTo>
                  <a:pt x="288036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ln w="9144">
            <a:solidFill>
              <a:srgbClr val="FFC9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574040" y="1055623"/>
            <a:ext cx="8626475" cy="5113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“</a:t>
            </a:r>
            <a:r>
              <a:rPr sz="2800" b="1" spc="5" dirty="0">
                <a:solidFill>
                  <a:srgbClr val="12046E"/>
                </a:solidFill>
                <a:latin typeface="Microsoft JhengHei"/>
                <a:cs typeface="Microsoft JhengHei"/>
              </a:rPr>
              <a:t>同或”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运</a:t>
            </a:r>
            <a:r>
              <a:rPr sz="2800" b="1" spc="5" dirty="0">
                <a:solidFill>
                  <a:srgbClr val="12046E"/>
                </a:solidFill>
                <a:latin typeface="Microsoft JhengHei"/>
                <a:cs typeface="Microsoft JhengHei"/>
              </a:rPr>
              <a:t>算的特</a:t>
            </a:r>
            <a:r>
              <a:rPr sz="2800" b="1" spc="-5" dirty="0">
                <a:solidFill>
                  <a:srgbClr val="12046E"/>
                </a:solidFill>
                <a:latin typeface="Microsoft JhengHei"/>
                <a:cs typeface="Microsoft JhengHei"/>
              </a:rPr>
              <a:t>性</a:t>
            </a:r>
            <a:endParaRPr sz="2800" dirty="0">
              <a:latin typeface="Microsoft JhengHei"/>
              <a:cs typeface="Microsoft JhengHei"/>
            </a:endParaRPr>
          </a:p>
          <a:p>
            <a:pPr marL="200025" marR="5080">
              <a:lnSpc>
                <a:spcPct val="100000"/>
              </a:lnSpc>
              <a:spcBef>
                <a:spcPts val="1750"/>
              </a:spcBef>
            </a:pP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特</a:t>
            </a:r>
            <a:r>
              <a:rPr sz="2000" spc="-5" dirty="0">
                <a:solidFill>
                  <a:srgbClr val="001F5F"/>
                </a:solidFill>
                <a:latin typeface="微软雅黑"/>
                <a:cs typeface="微软雅黑"/>
              </a:rPr>
              <a:t>性</a:t>
            </a:r>
            <a:r>
              <a:rPr sz="2000" dirty="0">
                <a:solidFill>
                  <a:srgbClr val="001F5F"/>
                </a:solidFill>
                <a:latin typeface="Arial"/>
                <a:cs typeface="Arial"/>
              </a:rPr>
              <a:t>1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：多变量</a:t>
            </a:r>
            <a:r>
              <a:rPr sz="2000" dirty="0">
                <a:solidFill>
                  <a:srgbClr val="001F5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同</a:t>
            </a:r>
            <a:r>
              <a:rPr sz="2000" spc="-10" dirty="0">
                <a:solidFill>
                  <a:srgbClr val="001F5F"/>
                </a:solidFill>
                <a:latin typeface="微软雅黑"/>
                <a:cs typeface="微软雅黑"/>
              </a:rPr>
              <a:t>或</a:t>
            </a:r>
            <a:r>
              <a:rPr sz="2000" spc="-10" dirty="0">
                <a:solidFill>
                  <a:srgbClr val="001F5F"/>
                </a:solidFill>
                <a:latin typeface="Arial"/>
                <a:cs typeface="Arial"/>
              </a:rPr>
              <a:t>”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运算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的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结果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取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决于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变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量中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取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值为</a:t>
            </a:r>
            <a:r>
              <a:rPr sz="2000" spc="-10" dirty="0">
                <a:solidFill>
                  <a:srgbClr val="001F5F"/>
                </a:solidFill>
                <a:latin typeface="Arial"/>
                <a:cs typeface="Arial"/>
              </a:rPr>
              <a:t>“0”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的</a:t>
            </a:r>
            <a:r>
              <a:rPr sz="2000" spc="-10" dirty="0">
                <a:solidFill>
                  <a:srgbClr val="001F5F"/>
                </a:solidFill>
                <a:latin typeface="微软雅黑"/>
                <a:cs typeface="微软雅黑"/>
              </a:rPr>
              <a:t>变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量的个数，而 </a:t>
            </a:r>
            <a:r>
              <a:rPr sz="2000" spc="5" dirty="0">
                <a:solidFill>
                  <a:srgbClr val="001F5F"/>
                </a:solidFill>
                <a:latin typeface="微软雅黑"/>
                <a:cs typeface="微软雅黑"/>
              </a:rPr>
              <a:t>与取值</a:t>
            </a:r>
            <a:r>
              <a:rPr sz="2000" spc="-5" dirty="0">
                <a:solidFill>
                  <a:srgbClr val="001F5F"/>
                </a:solidFill>
                <a:latin typeface="微软雅黑"/>
                <a:cs typeface="微软雅黑"/>
              </a:rPr>
              <a:t>为</a:t>
            </a:r>
            <a:r>
              <a:rPr sz="2000" dirty="0">
                <a:solidFill>
                  <a:srgbClr val="001F5F"/>
                </a:solidFill>
                <a:latin typeface="Arial"/>
                <a:cs typeface="Arial"/>
              </a:rPr>
              <a:t>“1”</a:t>
            </a:r>
            <a:r>
              <a:rPr sz="2000" spc="-10" dirty="0">
                <a:solidFill>
                  <a:srgbClr val="001F5F"/>
                </a:solidFill>
                <a:latin typeface="微软雅黑"/>
                <a:cs typeface="微软雅黑"/>
              </a:rPr>
              <a:t>的</a:t>
            </a:r>
            <a:r>
              <a:rPr sz="2000" spc="5" dirty="0">
                <a:solidFill>
                  <a:srgbClr val="001F5F"/>
                </a:solidFill>
                <a:latin typeface="微软雅黑"/>
                <a:cs typeface="微软雅黑"/>
              </a:rPr>
              <a:t>变量</a:t>
            </a:r>
            <a:r>
              <a:rPr sz="2000" spc="-20" dirty="0">
                <a:solidFill>
                  <a:srgbClr val="001F5F"/>
                </a:solidFill>
                <a:latin typeface="微软雅黑"/>
                <a:cs typeface="微软雅黑"/>
              </a:rPr>
              <a:t>的</a:t>
            </a:r>
            <a:r>
              <a:rPr sz="2000" spc="5" dirty="0">
                <a:solidFill>
                  <a:srgbClr val="001F5F"/>
                </a:solidFill>
                <a:latin typeface="微软雅黑"/>
                <a:cs typeface="微软雅黑"/>
              </a:rPr>
              <a:t>个数</a:t>
            </a:r>
            <a:r>
              <a:rPr sz="2000" spc="-20" dirty="0">
                <a:solidFill>
                  <a:srgbClr val="001F5F"/>
                </a:solidFill>
                <a:latin typeface="微软雅黑"/>
                <a:cs typeface="微软雅黑"/>
              </a:rPr>
              <a:t>无</a:t>
            </a:r>
            <a:r>
              <a:rPr sz="2000" spc="5" dirty="0">
                <a:solidFill>
                  <a:srgbClr val="001F5F"/>
                </a:solidFill>
                <a:latin typeface="微软雅黑"/>
                <a:cs typeface="微软雅黑"/>
              </a:rPr>
              <a:t>关。</a:t>
            </a:r>
            <a:r>
              <a:rPr sz="2000" spc="-2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若</a:t>
            </a:r>
            <a:r>
              <a:rPr sz="2000" spc="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取值</a:t>
            </a:r>
            <a:r>
              <a:rPr sz="2000" spc="-1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为</a:t>
            </a:r>
            <a:r>
              <a:rPr sz="2000" spc="-5" dirty="0">
                <a:solidFill>
                  <a:srgbClr val="001F5F"/>
                </a:solidFill>
                <a:highlight>
                  <a:srgbClr val="FFFF00"/>
                </a:highlight>
                <a:latin typeface="Arial"/>
                <a:cs typeface="Arial"/>
              </a:rPr>
              <a:t>“0”</a:t>
            </a:r>
            <a:r>
              <a:rPr sz="2000" spc="-1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的</a:t>
            </a:r>
            <a:r>
              <a:rPr sz="2000" spc="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变量</a:t>
            </a:r>
            <a:r>
              <a:rPr sz="2000" spc="-2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的</a:t>
            </a:r>
            <a:r>
              <a:rPr sz="2000" spc="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个数</a:t>
            </a:r>
            <a:r>
              <a:rPr sz="2000" spc="-2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是</a:t>
            </a:r>
            <a:r>
              <a:rPr sz="2000" spc="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偶数</a:t>
            </a:r>
            <a:r>
              <a:rPr sz="2000" spc="-2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，</a:t>
            </a:r>
            <a:r>
              <a:rPr sz="2000" spc="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则</a:t>
            </a:r>
            <a:r>
              <a:rPr sz="2000" spc="-10" dirty="0">
                <a:solidFill>
                  <a:srgbClr val="001F5F"/>
                </a:solidFill>
                <a:highlight>
                  <a:srgbClr val="FFFF00"/>
                </a:highlight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同</a:t>
            </a:r>
            <a:r>
              <a:rPr sz="2000" spc="-1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或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Arial"/>
                <a:cs typeface="Arial"/>
              </a:rPr>
              <a:t>”  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的结果</a:t>
            </a:r>
            <a:r>
              <a:rPr sz="2000" spc="-1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为</a:t>
            </a:r>
            <a:r>
              <a:rPr sz="2000" spc="-5" dirty="0">
                <a:solidFill>
                  <a:srgbClr val="001F5F"/>
                </a:solidFill>
                <a:highlight>
                  <a:srgbClr val="FFFF00"/>
                </a:highlight>
                <a:latin typeface="Arial"/>
                <a:cs typeface="Arial"/>
              </a:rPr>
              <a:t>“1”</a:t>
            </a:r>
            <a:r>
              <a:rPr sz="2000" spc="-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；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若取</a:t>
            </a:r>
            <a:r>
              <a:rPr sz="2000" spc="-1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值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为</a:t>
            </a:r>
            <a:r>
              <a:rPr sz="2000" spc="-10" dirty="0">
                <a:solidFill>
                  <a:srgbClr val="001F5F"/>
                </a:solidFill>
                <a:highlight>
                  <a:srgbClr val="FFFF00"/>
                </a:highlight>
                <a:latin typeface="Arial"/>
                <a:cs typeface="Arial"/>
              </a:rPr>
              <a:t>“0”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的变</a:t>
            </a:r>
            <a:r>
              <a:rPr sz="2000" spc="-1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量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的个</a:t>
            </a:r>
            <a:r>
              <a:rPr sz="2000" spc="-1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数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为奇</a:t>
            </a:r>
            <a:r>
              <a:rPr sz="2000" spc="-1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数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，则</a:t>
            </a:r>
            <a:r>
              <a:rPr sz="2000" spc="-10" dirty="0">
                <a:solidFill>
                  <a:srgbClr val="001F5F"/>
                </a:solidFill>
                <a:highlight>
                  <a:srgbClr val="FFFF00"/>
                </a:highlight>
                <a:latin typeface="Arial"/>
                <a:cs typeface="Arial"/>
              </a:rPr>
              <a:t>“</a:t>
            </a:r>
            <a:r>
              <a:rPr sz="2000" spc="-1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同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或</a:t>
            </a:r>
            <a:r>
              <a:rPr sz="2000" spc="-10" dirty="0">
                <a:solidFill>
                  <a:srgbClr val="001F5F"/>
                </a:solidFill>
                <a:highlight>
                  <a:srgbClr val="FFFF00"/>
                </a:highlight>
                <a:latin typeface="Arial"/>
                <a:cs typeface="Arial"/>
              </a:rPr>
              <a:t>”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的结</a:t>
            </a:r>
            <a:r>
              <a:rPr sz="2000" spc="-15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果</a:t>
            </a:r>
            <a:r>
              <a:rPr sz="2000" dirty="0">
                <a:solidFill>
                  <a:srgbClr val="001F5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为</a:t>
            </a:r>
            <a:r>
              <a:rPr sz="2000" spc="-10" dirty="0">
                <a:solidFill>
                  <a:srgbClr val="001F5F"/>
                </a:solidFill>
                <a:highlight>
                  <a:srgbClr val="FFFF00"/>
                </a:highlight>
                <a:latin typeface="Arial"/>
                <a:cs typeface="Arial"/>
              </a:rPr>
              <a:t>“0</a:t>
            </a:r>
            <a:r>
              <a:rPr sz="2000" spc="-10" dirty="0">
                <a:solidFill>
                  <a:srgbClr val="001F5F"/>
                </a:solidFill>
                <a:latin typeface="Arial"/>
                <a:cs typeface="Arial"/>
              </a:rPr>
              <a:t>”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。</a:t>
            </a:r>
            <a:endParaRPr sz="2000" dirty="0">
              <a:latin typeface="微软雅黑"/>
              <a:cs typeface="微软雅黑"/>
            </a:endParaRPr>
          </a:p>
          <a:p>
            <a:pPr marL="203835" marR="203835" indent="21590">
              <a:lnSpc>
                <a:spcPct val="247100"/>
              </a:lnSpc>
              <a:spcBef>
                <a:spcPts val="380"/>
              </a:spcBef>
            </a:pPr>
            <a:r>
              <a:rPr sz="2000" dirty="0">
                <a:latin typeface="微软雅黑"/>
                <a:cs typeface="微软雅黑"/>
              </a:rPr>
              <a:t>由特性</a:t>
            </a:r>
            <a:r>
              <a:rPr sz="2000" dirty="0">
                <a:latin typeface="Arial"/>
                <a:cs typeface="Arial"/>
              </a:rPr>
              <a:t>1</a:t>
            </a:r>
            <a:r>
              <a:rPr sz="2000" dirty="0">
                <a:latin typeface="微软雅黑"/>
                <a:cs typeface="微软雅黑"/>
              </a:rPr>
              <a:t>可得</a:t>
            </a:r>
            <a:r>
              <a:rPr sz="2000" dirty="0">
                <a:highlight>
                  <a:srgbClr val="FFFF00"/>
                </a:highlight>
                <a:latin typeface="微软雅黑"/>
                <a:cs typeface="微软雅黑"/>
              </a:rPr>
              <a:t>：</a:t>
            </a:r>
            <a:r>
              <a:rPr sz="2000" dirty="0">
                <a:highlight>
                  <a:srgbClr val="FFFF00"/>
                </a:highlight>
                <a:latin typeface="Arial"/>
                <a:cs typeface="Arial"/>
              </a:rPr>
              <a:t>“</a:t>
            </a:r>
            <a:r>
              <a:rPr sz="2000" spc="5" dirty="0">
                <a:highlight>
                  <a:srgbClr val="FFFF00"/>
                </a:highlight>
                <a:latin typeface="微软雅黑"/>
                <a:cs typeface="微软雅黑"/>
              </a:rPr>
              <a:t>同</a:t>
            </a:r>
            <a:r>
              <a:rPr sz="2000" dirty="0">
                <a:highlight>
                  <a:srgbClr val="FFFF00"/>
                </a:highlight>
                <a:latin typeface="微软雅黑"/>
                <a:cs typeface="微软雅黑"/>
              </a:rPr>
              <a:t>或</a:t>
            </a:r>
            <a:r>
              <a:rPr sz="2000" spc="-10" dirty="0">
                <a:highlight>
                  <a:srgbClr val="FFFF00"/>
                </a:highlight>
                <a:latin typeface="Arial"/>
                <a:cs typeface="Arial"/>
              </a:rPr>
              <a:t>”</a:t>
            </a:r>
            <a:r>
              <a:rPr sz="2000" spc="-10" dirty="0">
                <a:highlight>
                  <a:srgbClr val="FFFF00"/>
                </a:highlight>
                <a:latin typeface="微软雅黑"/>
                <a:cs typeface="微软雅黑"/>
              </a:rPr>
              <a:t>函</a:t>
            </a:r>
            <a:r>
              <a:rPr sz="2000" spc="5" dirty="0">
                <a:highlight>
                  <a:srgbClr val="FFFF00"/>
                </a:highlight>
                <a:latin typeface="微软雅黑"/>
                <a:cs typeface="微软雅黑"/>
              </a:rPr>
              <a:t>数中</a:t>
            </a:r>
            <a:r>
              <a:rPr sz="2000" spc="-20" dirty="0">
                <a:highlight>
                  <a:srgbClr val="FFFF00"/>
                </a:highlight>
                <a:latin typeface="微软雅黑"/>
                <a:cs typeface="微软雅黑"/>
              </a:rPr>
              <a:t>任</a:t>
            </a:r>
            <a:r>
              <a:rPr sz="2000" spc="5" dirty="0">
                <a:highlight>
                  <a:srgbClr val="FFFF00"/>
                </a:highlight>
                <a:latin typeface="微软雅黑"/>
                <a:cs typeface="微软雅黑"/>
              </a:rPr>
              <a:t>意一</a:t>
            </a:r>
            <a:r>
              <a:rPr sz="2000" spc="-20" dirty="0">
                <a:highlight>
                  <a:srgbClr val="FFFF00"/>
                </a:highlight>
                <a:latin typeface="微软雅黑"/>
                <a:cs typeface="微软雅黑"/>
              </a:rPr>
              <a:t>个</a:t>
            </a:r>
            <a:r>
              <a:rPr sz="2000" spc="5" dirty="0">
                <a:highlight>
                  <a:srgbClr val="FFFF00"/>
                </a:highlight>
                <a:latin typeface="微软雅黑"/>
                <a:cs typeface="微软雅黑"/>
              </a:rPr>
              <a:t>输入</a:t>
            </a:r>
            <a:r>
              <a:rPr sz="2000" spc="-20" dirty="0">
                <a:highlight>
                  <a:srgbClr val="FFFF00"/>
                </a:highlight>
                <a:latin typeface="微软雅黑"/>
                <a:cs typeface="微软雅黑"/>
              </a:rPr>
              <a:t>变</a:t>
            </a:r>
            <a:r>
              <a:rPr sz="2000" spc="5" dirty="0">
                <a:highlight>
                  <a:srgbClr val="FFFF00"/>
                </a:highlight>
                <a:latin typeface="微软雅黑"/>
                <a:cs typeface="微软雅黑"/>
              </a:rPr>
              <a:t>量取</a:t>
            </a:r>
            <a:r>
              <a:rPr sz="2000" spc="-20" dirty="0">
                <a:highlight>
                  <a:srgbClr val="FFFF00"/>
                </a:highlight>
                <a:latin typeface="微软雅黑"/>
                <a:cs typeface="微软雅黑"/>
              </a:rPr>
              <a:t>反</a:t>
            </a:r>
            <a:r>
              <a:rPr sz="2000" spc="5" dirty="0">
                <a:highlight>
                  <a:srgbClr val="FFFF00"/>
                </a:highlight>
                <a:latin typeface="微软雅黑"/>
                <a:cs typeface="微软雅黑"/>
              </a:rPr>
              <a:t>，将</a:t>
            </a:r>
            <a:r>
              <a:rPr sz="2000" spc="-20" dirty="0">
                <a:highlight>
                  <a:srgbClr val="FFFF00"/>
                </a:highlight>
                <a:latin typeface="微软雅黑"/>
                <a:cs typeface="微软雅黑"/>
              </a:rPr>
              <a:t>导</a:t>
            </a:r>
            <a:r>
              <a:rPr sz="2000" spc="5" dirty="0">
                <a:highlight>
                  <a:srgbClr val="FFFF00"/>
                </a:highlight>
                <a:latin typeface="微软雅黑"/>
                <a:cs typeface="微软雅黑"/>
              </a:rPr>
              <a:t>致运</a:t>
            </a:r>
            <a:r>
              <a:rPr sz="2000" spc="-20" dirty="0">
                <a:highlight>
                  <a:srgbClr val="FFFF00"/>
                </a:highlight>
                <a:latin typeface="微软雅黑"/>
                <a:cs typeface="微软雅黑"/>
              </a:rPr>
              <a:t>算</a:t>
            </a:r>
            <a:r>
              <a:rPr sz="2000" spc="5" dirty="0">
                <a:highlight>
                  <a:srgbClr val="FFFF00"/>
                </a:highlight>
                <a:latin typeface="微软雅黑"/>
                <a:cs typeface="微软雅黑"/>
              </a:rPr>
              <a:t>结果</a:t>
            </a:r>
            <a:r>
              <a:rPr sz="2000" spc="-20" dirty="0">
                <a:highlight>
                  <a:srgbClr val="FFFF00"/>
                </a:highlight>
                <a:latin typeface="微软雅黑"/>
                <a:cs typeface="微软雅黑"/>
              </a:rPr>
              <a:t>取</a:t>
            </a:r>
            <a:r>
              <a:rPr sz="2000" spc="5" dirty="0">
                <a:highlight>
                  <a:srgbClr val="FFFF00"/>
                </a:highlight>
                <a:latin typeface="微软雅黑"/>
                <a:cs typeface="微软雅黑"/>
              </a:rPr>
              <a:t>反 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特性</a:t>
            </a:r>
            <a:r>
              <a:rPr sz="2000" dirty="0">
                <a:solidFill>
                  <a:srgbClr val="001F5F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：</a:t>
            </a:r>
            <a:r>
              <a:rPr sz="2000" dirty="0">
                <a:solidFill>
                  <a:srgbClr val="001F5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同</a:t>
            </a:r>
            <a:r>
              <a:rPr sz="2000" spc="5" dirty="0">
                <a:solidFill>
                  <a:srgbClr val="001F5F"/>
                </a:solidFill>
                <a:latin typeface="微软雅黑"/>
                <a:cs typeface="微软雅黑"/>
              </a:rPr>
              <a:t>或</a:t>
            </a:r>
            <a:r>
              <a:rPr sz="2000" spc="-10" dirty="0">
                <a:solidFill>
                  <a:srgbClr val="001F5F"/>
                </a:solidFill>
                <a:latin typeface="Arial"/>
                <a:cs typeface="Arial"/>
              </a:rPr>
              <a:t>”</a:t>
            </a:r>
            <a:r>
              <a:rPr sz="2000" spc="5" dirty="0">
                <a:solidFill>
                  <a:srgbClr val="001F5F"/>
                </a:solidFill>
                <a:latin typeface="微软雅黑"/>
                <a:cs typeface="微软雅黑"/>
              </a:rPr>
              <a:t>运算</a:t>
            </a:r>
            <a:r>
              <a:rPr sz="2000" spc="-20" dirty="0">
                <a:solidFill>
                  <a:srgbClr val="001F5F"/>
                </a:solidFill>
                <a:latin typeface="微软雅黑"/>
                <a:cs typeface="微软雅黑"/>
              </a:rPr>
              <a:t>具</a:t>
            </a:r>
            <a:r>
              <a:rPr sz="2000" spc="5" dirty="0">
                <a:solidFill>
                  <a:srgbClr val="001F5F"/>
                </a:solidFill>
                <a:latin typeface="微软雅黑"/>
                <a:cs typeface="微软雅黑"/>
              </a:rPr>
              <a:t>有因</a:t>
            </a:r>
            <a:r>
              <a:rPr sz="2000" spc="-20" dirty="0">
                <a:solidFill>
                  <a:srgbClr val="001F5F"/>
                </a:solidFill>
                <a:latin typeface="微软雅黑"/>
                <a:cs typeface="微软雅黑"/>
              </a:rPr>
              <a:t>果</a:t>
            </a:r>
            <a:r>
              <a:rPr sz="2000" spc="5" dirty="0">
                <a:solidFill>
                  <a:srgbClr val="001F5F"/>
                </a:solidFill>
                <a:latin typeface="微软雅黑"/>
                <a:cs typeface="微软雅黑"/>
              </a:rPr>
              <a:t>互换</a:t>
            </a:r>
            <a:r>
              <a:rPr sz="2000" spc="-20" dirty="0">
                <a:solidFill>
                  <a:srgbClr val="001F5F"/>
                </a:solidFill>
                <a:latin typeface="微软雅黑"/>
                <a:cs typeface="微软雅黑"/>
              </a:rPr>
              <a:t>关</a:t>
            </a:r>
            <a:r>
              <a:rPr sz="2000" spc="5" dirty="0">
                <a:solidFill>
                  <a:srgbClr val="001F5F"/>
                </a:solidFill>
                <a:latin typeface="微软雅黑"/>
                <a:cs typeface="微软雅黑"/>
              </a:rPr>
              <a:t>系。</a:t>
            </a:r>
            <a:r>
              <a:rPr sz="2000" spc="-20" dirty="0">
                <a:solidFill>
                  <a:srgbClr val="001F5F"/>
                </a:solidFill>
                <a:latin typeface="微软雅黑"/>
                <a:cs typeface="微软雅黑"/>
              </a:rPr>
              <a:t>即</a:t>
            </a:r>
            <a:r>
              <a:rPr sz="2000" spc="5" dirty="0">
                <a:solidFill>
                  <a:srgbClr val="001F5F"/>
                </a:solidFill>
                <a:latin typeface="微软雅黑"/>
                <a:cs typeface="微软雅黑"/>
              </a:rPr>
              <a:t>，等</a:t>
            </a:r>
            <a:r>
              <a:rPr sz="2000" spc="-20" dirty="0">
                <a:solidFill>
                  <a:srgbClr val="001F5F"/>
                </a:solidFill>
                <a:latin typeface="微软雅黑"/>
                <a:cs typeface="微软雅黑"/>
              </a:rPr>
              <a:t>式</a:t>
            </a:r>
            <a:r>
              <a:rPr sz="2000" spc="5" dirty="0">
                <a:solidFill>
                  <a:srgbClr val="001F5F"/>
                </a:solidFill>
                <a:latin typeface="微软雅黑"/>
                <a:cs typeface="微软雅黑"/>
              </a:rPr>
              <a:t>两边</a:t>
            </a:r>
            <a:r>
              <a:rPr sz="2000" spc="-20" dirty="0">
                <a:solidFill>
                  <a:srgbClr val="001F5F"/>
                </a:solidFill>
                <a:latin typeface="微软雅黑"/>
                <a:cs typeface="微软雅黑"/>
              </a:rPr>
              <a:t>的</a:t>
            </a:r>
            <a:r>
              <a:rPr sz="2000" spc="5" dirty="0">
                <a:solidFill>
                  <a:srgbClr val="001F5F"/>
                </a:solidFill>
                <a:latin typeface="微软雅黑"/>
                <a:cs typeface="微软雅黑"/>
              </a:rPr>
              <a:t>逻辑</a:t>
            </a:r>
            <a:r>
              <a:rPr sz="2000" spc="-20" dirty="0">
                <a:solidFill>
                  <a:srgbClr val="001F5F"/>
                </a:solidFill>
                <a:latin typeface="微软雅黑"/>
                <a:cs typeface="微软雅黑"/>
              </a:rPr>
              <a:t>变</a:t>
            </a:r>
            <a:r>
              <a:rPr sz="2000" spc="5" dirty="0">
                <a:solidFill>
                  <a:srgbClr val="001F5F"/>
                </a:solidFill>
                <a:latin typeface="微软雅黑"/>
                <a:cs typeface="微软雅黑"/>
              </a:rPr>
              <a:t>量可</a:t>
            </a:r>
            <a:r>
              <a:rPr sz="2000" spc="-20" dirty="0">
                <a:solidFill>
                  <a:srgbClr val="001F5F"/>
                </a:solidFill>
                <a:latin typeface="微软雅黑"/>
                <a:cs typeface="微软雅黑"/>
              </a:rPr>
              <a:t>以</a:t>
            </a:r>
            <a:r>
              <a:rPr sz="2000" spc="5" dirty="0">
                <a:solidFill>
                  <a:srgbClr val="001F5F"/>
                </a:solidFill>
                <a:latin typeface="微软雅黑"/>
                <a:cs typeface="微软雅黑"/>
              </a:rPr>
              <a:t>互相</a:t>
            </a:r>
            <a:endParaRPr sz="2000" dirty="0">
              <a:latin typeface="微软雅黑"/>
              <a:cs typeface="微软雅黑"/>
            </a:endParaRPr>
          </a:p>
          <a:p>
            <a:pPr marL="203835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交换位置而仍然保持等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式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的成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立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。</a:t>
            </a:r>
            <a:endParaRPr sz="20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50" dirty="0">
              <a:latin typeface="微软雅黑"/>
              <a:cs typeface="微软雅黑"/>
            </a:endParaRPr>
          </a:p>
          <a:p>
            <a:pPr marL="233045">
              <a:lnSpc>
                <a:spcPct val="100000"/>
              </a:lnSpc>
            </a:pPr>
            <a:r>
              <a:rPr sz="2925" spc="75" baseline="1424" dirty="0">
                <a:latin typeface="宋体"/>
                <a:cs typeface="宋体"/>
              </a:rPr>
              <a:t>若</a:t>
            </a:r>
            <a:r>
              <a:rPr sz="2925" i="1" spc="52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A</a:t>
            </a:r>
            <a:r>
              <a:rPr sz="2925" i="1" spc="-337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2000" spc="80" dirty="0">
                <a:highlight>
                  <a:srgbClr val="FFFF00"/>
                </a:highlight>
                <a:latin typeface="Wingdings 2"/>
                <a:cs typeface="Wingdings 2"/>
              </a:rPr>
              <a:t></a:t>
            </a:r>
            <a:r>
              <a:rPr sz="2925" i="1" spc="120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B</a:t>
            </a:r>
            <a:r>
              <a:rPr sz="2925" i="1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2925" spc="44" baseline="1424" dirty="0">
                <a:highlight>
                  <a:srgbClr val="FFFF00"/>
                </a:highlight>
                <a:latin typeface="Symbol"/>
                <a:cs typeface="Symbol"/>
              </a:rPr>
              <a:t></a:t>
            </a:r>
            <a:r>
              <a:rPr sz="2925" spc="-135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2925" i="1" spc="52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C</a:t>
            </a:r>
            <a:r>
              <a:rPr sz="2925" spc="-15" baseline="1424" dirty="0">
                <a:highlight>
                  <a:srgbClr val="FFFF00"/>
                </a:highlight>
                <a:latin typeface="宋体"/>
                <a:cs typeface="宋体"/>
              </a:rPr>
              <a:t>成立，</a:t>
            </a:r>
            <a:r>
              <a:rPr sz="2925" spc="307" baseline="1424" dirty="0">
                <a:highlight>
                  <a:srgbClr val="FFFF00"/>
                </a:highlight>
                <a:latin typeface="宋体"/>
                <a:cs typeface="宋体"/>
              </a:rPr>
              <a:t>则</a:t>
            </a:r>
            <a:r>
              <a:rPr sz="2925" spc="127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A</a:t>
            </a:r>
            <a:r>
              <a:rPr sz="2000" spc="85" dirty="0">
                <a:highlight>
                  <a:srgbClr val="FFFF00"/>
                </a:highlight>
                <a:latin typeface="Wingdings 2"/>
                <a:cs typeface="Wingdings 2"/>
              </a:rPr>
              <a:t></a:t>
            </a:r>
            <a:r>
              <a:rPr sz="2000" spc="-240" dirty="0"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2925" spc="52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C</a:t>
            </a:r>
            <a:r>
              <a:rPr sz="2925" spc="-67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2925" spc="44" baseline="1424" dirty="0">
                <a:highlight>
                  <a:srgbClr val="FFFF00"/>
                </a:highlight>
                <a:latin typeface="Symbol"/>
                <a:cs typeface="Symbol"/>
              </a:rPr>
              <a:t></a:t>
            </a:r>
            <a:r>
              <a:rPr sz="2925" spc="-44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2925" spc="7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B</a:t>
            </a:r>
            <a:r>
              <a:rPr sz="2925" spc="-15" baseline="1424" dirty="0">
                <a:highlight>
                  <a:srgbClr val="FFFF00"/>
                </a:highlight>
                <a:latin typeface="宋体"/>
                <a:cs typeface="宋体"/>
              </a:rPr>
              <a:t>成立</a:t>
            </a:r>
            <a:r>
              <a:rPr sz="2925" spc="142" baseline="1424" dirty="0">
                <a:highlight>
                  <a:srgbClr val="FFFF00"/>
                </a:highlight>
                <a:latin typeface="宋体"/>
                <a:cs typeface="宋体"/>
              </a:rPr>
              <a:t>；</a:t>
            </a:r>
            <a:r>
              <a:rPr sz="2925" spc="142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B</a:t>
            </a:r>
            <a:r>
              <a:rPr sz="2925" spc="-465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2000" spc="85" dirty="0">
                <a:highlight>
                  <a:srgbClr val="FFFF00"/>
                </a:highlight>
                <a:latin typeface="Wingdings 2"/>
                <a:cs typeface="Wingdings 2"/>
              </a:rPr>
              <a:t></a:t>
            </a:r>
            <a:r>
              <a:rPr sz="2925" spc="127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C</a:t>
            </a:r>
            <a:r>
              <a:rPr sz="2925" spc="-67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2925" spc="44" baseline="1424" dirty="0">
                <a:highlight>
                  <a:srgbClr val="FFFF00"/>
                </a:highlight>
                <a:latin typeface="Symbol"/>
                <a:cs typeface="Symbol"/>
              </a:rPr>
              <a:t></a:t>
            </a:r>
            <a:r>
              <a:rPr sz="2925" spc="-44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2925" spc="-7" baseline="1424" dirty="0">
                <a:highlight>
                  <a:srgbClr val="FFFF00"/>
                </a:highlight>
                <a:latin typeface="Times New Roman"/>
                <a:cs typeface="Times New Roman"/>
              </a:rPr>
              <a:t>A</a:t>
            </a:r>
            <a:r>
              <a:rPr sz="2925" spc="-15" baseline="1424" dirty="0">
                <a:latin typeface="宋体"/>
                <a:cs typeface="宋体"/>
              </a:rPr>
              <a:t>成立。</a:t>
            </a:r>
            <a:endParaRPr sz="2925" baseline="1424" dirty="0">
              <a:latin typeface="宋体"/>
              <a:cs typeface="宋体"/>
            </a:endParaRPr>
          </a:p>
          <a:p>
            <a:pPr marL="233679">
              <a:lnSpc>
                <a:spcPct val="100000"/>
              </a:lnSpc>
              <a:spcBef>
                <a:spcPts val="980"/>
              </a:spcBef>
            </a:pPr>
            <a:r>
              <a:rPr sz="2000" spc="35" dirty="0">
                <a:latin typeface="宋体"/>
                <a:cs typeface="宋体"/>
              </a:rPr>
              <a:t>推</a:t>
            </a:r>
            <a:r>
              <a:rPr sz="2000" spc="25" dirty="0">
                <a:latin typeface="宋体"/>
                <a:cs typeface="宋体"/>
              </a:rPr>
              <a:t>广</a:t>
            </a:r>
            <a:r>
              <a:rPr sz="2000" spc="35" dirty="0">
                <a:latin typeface="宋体"/>
                <a:cs typeface="宋体"/>
              </a:rPr>
              <a:t>到多个</a:t>
            </a:r>
            <a:r>
              <a:rPr sz="2000" spc="25" dirty="0">
                <a:latin typeface="宋体"/>
                <a:cs typeface="宋体"/>
              </a:rPr>
              <a:t>变</a:t>
            </a:r>
            <a:r>
              <a:rPr sz="2000" spc="35" dirty="0">
                <a:latin typeface="宋体"/>
                <a:cs typeface="宋体"/>
              </a:rPr>
              <a:t>量：</a:t>
            </a:r>
            <a:endParaRPr sz="2000" dirty="0">
              <a:latin typeface="宋体"/>
              <a:cs typeface="宋体"/>
            </a:endParaRPr>
          </a:p>
          <a:p>
            <a:pPr marL="233679">
              <a:lnSpc>
                <a:spcPct val="100000"/>
              </a:lnSpc>
              <a:spcBef>
                <a:spcPts val="770"/>
              </a:spcBef>
            </a:pPr>
            <a:r>
              <a:rPr sz="3000" baseline="1388" dirty="0">
                <a:latin typeface="宋体"/>
                <a:cs typeface="宋体"/>
              </a:rPr>
              <a:t>若</a:t>
            </a:r>
            <a:r>
              <a:rPr sz="3000" i="1" spc="60" baseline="1388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Wingdings 2"/>
                <a:cs typeface="Wingdings 2"/>
              </a:rPr>
              <a:t>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3000" i="1" spc="225" baseline="1388" dirty="0">
                <a:latin typeface="Times New Roman"/>
                <a:cs typeface="Times New Roman"/>
              </a:rPr>
              <a:t>B</a:t>
            </a:r>
            <a:r>
              <a:rPr sz="2000" spc="150" dirty="0">
                <a:latin typeface="Wingdings 2"/>
                <a:cs typeface="Wingdings 2"/>
              </a:rPr>
              <a:t></a:t>
            </a:r>
            <a:r>
              <a:rPr sz="3000" spc="225" baseline="1388" dirty="0">
                <a:latin typeface="Times New Roman"/>
                <a:cs typeface="Times New Roman"/>
              </a:rPr>
              <a:t>C</a:t>
            </a:r>
            <a:r>
              <a:rPr sz="3000" spc="225" baseline="2777" dirty="0">
                <a:latin typeface="Wingdings 2"/>
                <a:cs typeface="Wingdings 2"/>
              </a:rPr>
              <a:t></a:t>
            </a:r>
            <a:r>
              <a:rPr sz="3000" spc="-367" baseline="2777" dirty="0">
                <a:latin typeface="Times New Roman"/>
                <a:cs typeface="Times New Roman"/>
              </a:rPr>
              <a:t> </a:t>
            </a:r>
            <a:r>
              <a:rPr sz="3000" i="1" spc="37" baseline="1388" dirty="0">
                <a:latin typeface="Times New Roman"/>
                <a:cs typeface="Times New Roman"/>
              </a:rPr>
              <a:t>D</a:t>
            </a:r>
            <a:r>
              <a:rPr sz="3000" i="1" spc="-44" baseline="1388" dirty="0">
                <a:latin typeface="Times New Roman"/>
                <a:cs typeface="Times New Roman"/>
              </a:rPr>
              <a:t> </a:t>
            </a:r>
            <a:r>
              <a:rPr sz="3000" spc="30" baseline="1388" dirty="0">
                <a:latin typeface="Symbol"/>
                <a:cs typeface="Symbol"/>
              </a:rPr>
              <a:t></a:t>
            </a:r>
            <a:r>
              <a:rPr sz="3000" spc="15" baseline="1388" dirty="0">
                <a:latin typeface="Times New Roman"/>
                <a:cs typeface="Times New Roman"/>
              </a:rPr>
              <a:t> </a:t>
            </a:r>
            <a:r>
              <a:rPr sz="3000" i="1" spc="-7" baseline="1388" dirty="0">
                <a:latin typeface="Times New Roman"/>
                <a:cs typeface="Times New Roman"/>
              </a:rPr>
              <a:t>F</a:t>
            </a:r>
            <a:r>
              <a:rPr sz="3000" spc="52" baseline="1388" dirty="0">
                <a:latin typeface="宋体"/>
                <a:cs typeface="宋体"/>
              </a:rPr>
              <a:t>成</a:t>
            </a:r>
            <a:r>
              <a:rPr sz="3000" spc="37" baseline="1388" dirty="0">
                <a:latin typeface="宋体"/>
                <a:cs typeface="宋体"/>
              </a:rPr>
              <a:t>立</a:t>
            </a:r>
            <a:r>
              <a:rPr sz="3000" spc="52" baseline="1388" dirty="0">
                <a:latin typeface="宋体"/>
                <a:cs typeface="宋体"/>
              </a:rPr>
              <a:t>，</a:t>
            </a:r>
            <a:r>
              <a:rPr sz="3000" spc="-127" baseline="1388" dirty="0">
                <a:latin typeface="宋体"/>
                <a:cs typeface="宋体"/>
              </a:rPr>
              <a:t>则</a:t>
            </a:r>
            <a:r>
              <a:rPr sz="3000" spc="104" baseline="1388" dirty="0">
                <a:latin typeface="Times New Roman"/>
                <a:cs typeface="Times New Roman"/>
              </a:rPr>
              <a:t>A</a:t>
            </a:r>
            <a:r>
              <a:rPr sz="3000" spc="104" baseline="4166" dirty="0">
                <a:latin typeface="Wingdings 2"/>
                <a:cs typeface="Wingdings 2"/>
              </a:rPr>
              <a:t></a:t>
            </a:r>
            <a:r>
              <a:rPr sz="3000" spc="-217" baseline="4166" dirty="0">
                <a:latin typeface="Times New Roman"/>
                <a:cs typeface="Times New Roman"/>
              </a:rPr>
              <a:t> </a:t>
            </a:r>
            <a:r>
              <a:rPr sz="3000" i="1" spc="30" baseline="1388" dirty="0">
                <a:latin typeface="Times New Roman"/>
                <a:cs typeface="Times New Roman"/>
              </a:rPr>
              <a:t>F</a:t>
            </a:r>
            <a:r>
              <a:rPr sz="3000" i="1" spc="-262" baseline="1388" dirty="0">
                <a:latin typeface="Times New Roman"/>
                <a:cs typeface="Times New Roman"/>
              </a:rPr>
              <a:t> </a:t>
            </a:r>
            <a:r>
              <a:rPr sz="3000" spc="142" baseline="1388" dirty="0">
                <a:latin typeface="Wingdings 2"/>
                <a:cs typeface="Wingdings 2"/>
              </a:rPr>
              <a:t></a:t>
            </a:r>
            <a:r>
              <a:rPr sz="3000" spc="142" baseline="1388" dirty="0">
                <a:latin typeface="Times New Roman"/>
                <a:cs typeface="Times New Roman"/>
              </a:rPr>
              <a:t>C</a:t>
            </a:r>
            <a:r>
              <a:rPr sz="3000" spc="142" baseline="1388" dirty="0">
                <a:latin typeface="Wingdings 2"/>
                <a:cs typeface="Wingdings 2"/>
              </a:rPr>
              <a:t></a:t>
            </a:r>
            <a:r>
              <a:rPr sz="3000" spc="-277" baseline="1388" dirty="0">
                <a:latin typeface="Times New Roman"/>
                <a:cs typeface="Times New Roman"/>
              </a:rPr>
              <a:t> </a:t>
            </a:r>
            <a:r>
              <a:rPr sz="3000" spc="37" baseline="1388" dirty="0">
                <a:latin typeface="Times New Roman"/>
                <a:cs typeface="Times New Roman"/>
              </a:rPr>
              <a:t>D</a:t>
            </a:r>
            <a:r>
              <a:rPr sz="3000" spc="-97" baseline="1388" dirty="0">
                <a:latin typeface="Times New Roman"/>
                <a:cs typeface="Times New Roman"/>
              </a:rPr>
              <a:t> </a:t>
            </a:r>
            <a:r>
              <a:rPr sz="3000" spc="30" baseline="1388" dirty="0">
                <a:latin typeface="Symbol"/>
                <a:cs typeface="Symbol"/>
              </a:rPr>
              <a:t></a:t>
            </a:r>
            <a:r>
              <a:rPr sz="3000" spc="-82" baseline="1388" dirty="0">
                <a:latin typeface="Times New Roman"/>
                <a:cs typeface="Times New Roman"/>
              </a:rPr>
              <a:t> </a:t>
            </a:r>
            <a:r>
              <a:rPr sz="3000" spc="-30" baseline="1388" dirty="0">
                <a:latin typeface="Times New Roman"/>
                <a:cs typeface="Times New Roman"/>
              </a:rPr>
              <a:t>B</a:t>
            </a:r>
            <a:r>
              <a:rPr sz="3000" spc="52" baseline="1388" dirty="0">
                <a:latin typeface="宋体"/>
                <a:cs typeface="宋体"/>
              </a:rPr>
              <a:t>成立</a:t>
            </a:r>
            <a:endParaRPr sz="3000" baseline="1388" dirty="0">
              <a:latin typeface="宋体"/>
              <a:cs typeface="宋体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9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8205" y="1126997"/>
            <a:ext cx="3801110" cy="901065"/>
          </a:xfrm>
          <a:custGeom>
            <a:avLst/>
            <a:gdLst/>
            <a:ahLst/>
            <a:cxnLst/>
            <a:rect l="l" t="t" r="r" b="b"/>
            <a:pathLst>
              <a:path w="3801109" h="901064">
                <a:moveTo>
                  <a:pt x="0" y="150113"/>
                </a:moveTo>
                <a:lnTo>
                  <a:pt x="7650" y="102656"/>
                </a:lnTo>
                <a:lnTo>
                  <a:pt x="28955" y="61447"/>
                </a:lnTo>
                <a:lnTo>
                  <a:pt x="61447" y="28955"/>
                </a:lnTo>
                <a:lnTo>
                  <a:pt x="102656" y="7650"/>
                </a:lnTo>
                <a:lnTo>
                  <a:pt x="150114" y="0"/>
                </a:lnTo>
                <a:lnTo>
                  <a:pt x="3650742" y="0"/>
                </a:lnTo>
                <a:lnTo>
                  <a:pt x="3698199" y="7650"/>
                </a:lnTo>
                <a:lnTo>
                  <a:pt x="3739408" y="28955"/>
                </a:lnTo>
                <a:lnTo>
                  <a:pt x="3771900" y="61447"/>
                </a:lnTo>
                <a:lnTo>
                  <a:pt x="3793205" y="102656"/>
                </a:lnTo>
                <a:lnTo>
                  <a:pt x="3800855" y="150113"/>
                </a:lnTo>
                <a:lnTo>
                  <a:pt x="3800855" y="750569"/>
                </a:lnTo>
                <a:lnTo>
                  <a:pt x="3793205" y="798027"/>
                </a:lnTo>
                <a:lnTo>
                  <a:pt x="3771900" y="839236"/>
                </a:lnTo>
                <a:lnTo>
                  <a:pt x="3739408" y="871727"/>
                </a:lnTo>
                <a:lnTo>
                  <a:pt x="3698199" y="893033"/>
                </a:lnTo>
                <a:lnTo>
                  <a:pt x="3650742" y="900684"/>
                </a:lnTo>
                <a:lnTo>
                  <a:pt x="150114" y="900684"/>
                </a:lnTo>
                <a:lnTo>
                  <a:pt x="102656" y="893033"/>
                </a:lnTo>
                <a:lnTo>
                  <a:pt x="61447" y="871728"/>
                </a:lnTo>
                <a:lnTo>
                  <a:pt x="28956" y="839236"/>
                </a:lnTo>
                <a:lnTo>
                  <a:pt x="7650" y="798027"/>
                </a:lnTo>
                <a:lnTo>
                  <a:pt x="0" y="750569"/>
                </a:lnTo>
                <a:lnTo>
                  <a:pt x="0" y="150113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80634" y="1191844"/>
            <a:ext cx="338201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9900FF"/>
                </a:solidFill>
                <a:latin typeface="Arial"/>
                <a:cs typeface="Arial"/>
              </a:rPr>
              <a:t>“</a:t>
            </a:r>
            <a:r>
              <a:rPr sz="2400" spc="-5" dirty="0">
                <a:solidFill>
                  <a:srgbClr val="9900FF"/>
                </a:solidFill>
                <a:latin typeface="微软雅黑"/>
                <a:cs typeface="微软雅黑"/>
              </a:rPr>
              <a:t>与</a:t>
            </a:r>
            <a:r>
              <a:rPr sz="2400" dirty="0">
                <a:solidFill>
                  <a:srgbClr val="9900FF"/>
                </a:solidFill>
                <a:latin typeface="Arial"/>
                <a:cs typeface="Arial"/>
              </a:rPr>
              <a:t>”</a:t>
            </a:r>
            <a:r>
              <a:rPr sz="2400" spc="-5" dirty="0">
                <a:solidFill>
                  <a:srgbClr val="9900FF"/>
                </a:solidFill>
                <a:latin typeface="微软雅黑"/>
                <a:cs typeface="微软雅黑"/>
              </a:rPr>
              <a:t>、</a:t>
            </a:r>
            <a:r>
              <a:rPr sz="2400" dirty="0">
                <a:solidFill>
                  <a:srgbClr val="9900FF"/>
                </a:solidFill>
                <a:latin typeface="Arial"/>
                <a:cs typeface="Arial"/>
              </a:rPr>
              <a:t>“</a:t>
            </a:r>
            <a:r>
              <a:rPr sz="2400" spc="-5" dirty="0">
                <a:solidFill>
                  <a:srgbClr val="9900FF"/>
                </a:solidFill>
                <a:latin typeface="微软雅黑"/>
                <a:cs typeface="微软雅黑"/>
              </a:rPr>
              <a:t>或</a:t>
            </a:r>
            <a:r>
              <a:rPr sz="2400" spc="5" dirty="0">
                <a:solidFill>
                  <a:srgbClr val="9900FF"/>
                </a:solidFill>
                <a:latin typeface="Arial"/>
                <a:cs typeface="Arial"/>
              </a:rPr>
              <a:t>”</a:t>
            </a:r>
            <a:r>
              <a:rPr sz="2400" spc="-5" dirty="0">
                <a:solidFill>
                  <a:srgbClr val="9900FF"/>
                </a:solidFill>
                <a:latin typeface="微软雅黑"/>
                <a:cs typeface="微软雅黑"/>
              </a:rPr>
              <a:t>、</a:t>
            </a:r>
            <a:r>
              <a:rPr sz="2400" dirty="0">
                <a:solidFill>
                  <a:srgbClr val="9900FF"/>
                </a:solidFill>
                <a:latin typeface="Arial"/>
                <a:cs typeface="Arial"/>
              </a:rPr>
              <a:t>“</a:t>
            </a:r>
            <a:r>
              <a:rPr sz="2400" spc="-5" dirty="0">
                <a:solidFill>
                  <a:srgbClr val="9900FF"/>
                </a:solidFill>
                <a:latin typeface="微软雅黑"/>
                <a:cs typeface="微软雅黑"/>
              </a:rPr>
              <a:t>非</a:t>
            </a:r>
            <a:r>
              <a:rPr sz="2400" dirty="0">
                <a:solidFill>
                  <a:srgbClr val="9900FF"/>
                </a:solidFill>
                <a:latin typeface="Arial"/>
                <a:cs typeface="Arial"/>
              </a:rPr>
              <a:t>”</a:t>
            </a:r>
            <a:r>
              <a:rPr sz="2400" spc="-5" dirty="0">
                <a:solidFill>
                  <a:srgbClr val="9900FF"/>
                </a:solidFill>
                <a:latin typeface="微软雅黑"/>
                <a:cs typeface="微软雅黑"/>
              </a:rPr>
              <a:t>是一组逻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9900FF"/>
                </a:solidFill>
                <a:latin typeface="微软雅黑"/>
                <a:cs typeface="微软雅黑"/>
              </a:rPr>
              <a:t>辑功能完备的逻辑运算符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621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逻辑运算符号的完备性</a:t>
            </a:r>
          </a:p>
        </p:txBody>
      </p:sp>
      <p:sp>
        <p:nvSpPr>
          <p:cNvPr id="5" name="object 5"/>
          <p:cNvSpPr/>
          <p:nvPr/>
        </p:nvSpPr>
        <p:spPr>
          <a:xfrm>
            <a:off x="496062" y="4077461"/>
            <a:ext cx="8763000" cy="2304415"/>
          </a:xfrm>
          <a:custGeom>
            <a:avLst/>
            <a:gdLst/>
            <a:ahLst/>
            <a:cxnLst/>
            <a:rect l="l" t="t" r="r" b="b"/>
            <a:pathLst>
              <a:path w="8763000" h="2304415">
                <a:moveTo>
                  <a:pt x="0" y="157352"/>
                </a:moveTo>
                <a:lnTo>
                  <a:pt x="8023" y="107630"/>
                </a:lnTo>
                <a:lnTo>
                  <a:pt x="30365" y="64437"/>
                </a:lnTo>
                <a:lnTo>
                  <a:pt x="64435" y="30370"/>
                </a:lnTo>
                <a:lnTo>
                  <a:pt x="107640" y="8025"/>
                </a:lnTo>
                <a:lnTo>
                  <a:pt x="157391" y="0"/>
                </a:lnTo>
                <a:lnTo>
                  <a:pt x="8605646" y="0"/>
                </a:lnTo>
                <a:lnTo>
                  <a:pt x="8655369" y="8025"/>
                </a:lnTo>
                <a:lnTo>
                  <a:pt x="8698562" y="30370"/>
                </a:lnTo>
                <a:lnTo>
                  <a:pt x="8732629" y="64437"/>
                </a:lnTo>
                <a:lnTo>
                  <a:pt x="8754974" y="107630"/>
                </a:lnTo>
                <a:lnTo>
                  <a:pt x="8763000" y="157352"/>
                </a:lnTo>
                <a:lnTo>
                  <a:pt x="8763000" y="2146896"/>
                </a:lnTo>
                <a:lnTo>
                  <a:pt x="8754974" y="2196647"/>
                </a:lnTo>
                <a:lnTo>
                  <a:pt x="8732629" y="2239852"/>
                </a:lnTo>
                <a:lnTo>
                  <a:pt x="8698562" y="2273922"/>
                </a:lnTo>
                <a:lnTo>
                  <a:pt x="8655369" y="2296264"/>
                </a:lnTo>
                <a:lnTo>
                  <a:pt x="8605646" y="2304288"/>
                </a:lnTo>
                <a:lnTo>
                  <a:pt x="157391" y="2304288"/>
                </a:lnTo>
                <a:lnTo>
                  <a:pt x="107640" y="2296264"/>
                </a:lnTo>
                <a:lnTo>
                  <a:pt x="64435" y="2273922"/>
                </a:lnTo>
                <a:lnTo>
                  <a:pt x="30365" y="2239852"/>
                </a:lnTo>
                <a:lnTo>
                  <a:pt x="8023" y="2196647"/>
                </a:lnTo>
                <a:lnTo>
                  <a:pt x="0" y="2146896"/>
                </a:lnTo>
                <a:lnTo>
                  <a:pt x="0" y="157352"/>
                </a:lnTo>
                <a:close/>
              </a:path>
            </a:pathLst>
          </a:custGeom>
          <a:ln w="25907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61293" y="4823042"/>
            <a:ext cx="496570" cy="0"/>
          </a:xfrm>
          <a:custGeom>
            <a:avLst/>
            <a:gdLst/>
            <a:ahLst/>
            <a:cxnLst/>
            <a:rect l="l" t="t" r="r" b="b"/>
            <a:pathLst>
              <a:path w="496570">
                <a:moveTo>
                  <a:pt x="0" y="0"/>
                </a:moveTo>
                <a:lnTo>
                  <a:pt x="496365" y="0"/>
                </a:lnTo>
              </a:path>
            </a:pathLst>
          </a:custGeom>
          <a:ln w="102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61293" y="4776919"/>
            <a:ext cx="496570" cy="0"/>
          </a:xfrm>
          <a:custGeom>
            <a:avLst/>
            <a:gdLst/>
            <a:ahLst/>
            <a:cxnLst/>
            <a:rect l="l" t="t" r="r" b="b"/>
            <a:pathLst>
              <a:path w="496570">
                <a:moveTo>
                  <a:pt x="0" y="0"/>
                </a:moveTo>
                <a:lnTo>
                  <a:pt x="496365" y="0"/>
                </a:lnTo>
              </a:path>
            </a:pathLst>
          </a:custGeom>
          <a:ln w="102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19476" y="4823042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0" y="0"/>
                </a:moveTo>
                <a:lnTo>
                  <a:pt x="150283" y="0"/>
                </a:lnTo>
              </a:path>
            </a:pathLst>
          </a:custGeom>
          <a:ln w="102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04718" y="4823042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0" y="0"/>
                </a:moveTo>
                <a:lnTo>
                  <a:pt x="150283" y="0"/>
                </a:lnTo>
              </a:path>
            </a:pathLst>
          </a:custGeom>
          <a:ln w="102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19476" y="4776919"/>
            <a:ext cx="535940" cy="0"/>
          </a:xfrm>
          <a:custGeom>
            <a:avLst/>
            <a:gdLst/>
            <a:ahLst/>
            <a:cxnLst/>
            <a:rect l="l" t="t" r="r" b="b"/>
            <a:pathLst>
              <a:path w="535939">
                <a:moveTo>
                  <a:pt x="0" y="0"/>
                </a:moveTo>
                <a:lnTo>
                  <a:pt x="535525" y="0"/>
                </a:lnTo>
              </a:path>
            </a:pathLst>
          </a:custGeom>
          <a:ln w="102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16818" y="4823042"/>
            <a:ext cx="488950" cy="0"/>
          </a:xfrm>
          <a:custGeom>
            <a:avLst/>
            <a:gdLst/>
            <a:ahLst/>
            <a:cxnLst/>
            <a:rect l="l" t="t" r="r" b="b"/>
            <a:pathLst>
              <a:path w="488950">
                <a:moveTo>
                  <a:pt x="0" y="0"/>
                </a:moveTo>
                <a:lnTo>
                  <a:pt x="488779" y="0"/>
                </a:lnTo>
              </a:path>
            </a:pathLst>
          </a:custGeom>
          <a:ln w="102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40147" y="4823042"/>
            <a:ext cx="489584" cy="0"/>
          </a:xfrm>
          <a:custGeom>
            <a:avLst/>
            <a:gdLst/>
            <a:ahLst/>
            <a:cxnLst/>
            <a:rect l="l" t="t" r="r" b="b"/>
            <a:pathLst>
              <a:path w="489585">
                <a:moveTo>
                  <a:pt x="0" y="0"/>
                </a:moveTo>
                <a:lnTo>
                  <a:pt x="488984" y="0"/>
                </a:lnTo>
              </a:path>
            </a:pathLst>
          </a:custGeom>
          <a:ln w="102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16818" y="4776919"/>
            <a:ext cx="1212850" cy="0"/>
          </a:xfrm>
          <a:custGeom>
            <a:avLst/>
            <a:gdLst/>
            <a:ahLst/>
            <a:cxnLst/>
            <a:rect l="l" t="t" r="r" b="b"/>
            <a:pathLst>
              <a:path w="1212850">
                <a:moveTo>
                  <a:pt x="0" y="0"/>
                </a:moveTo>
                <a:lnTo>
                  <a:pt x="1212313" y="0"/>
                </a:lnTo>
              </a:path>
            </a:pathLst>
          </a:custGeom>
          <a:ln w="102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90949" y="4823042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4">
                <a:moveTo>
                  <a:pt x="0" y="0"/>
                </a:moveTo>
                <a:lnTo>
                  <a:pt x="534910" y="0"/>
                </a:lnTo>
              </a:path>
            </a:pathLst>
          </a:custGeom>
          <a:ln w="102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61023" y="4823042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4">
                <a:moveTo>
                  <a:pt x="0" y="0"/>
                </a:moveTo>
                <a:lnTo>
                  <a:pt x="534910" y="0"/>
                </a:lnTo>
              </a:path>
            </a:pathLst>
          </a:custGeom>
          <a:ln w="102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90949" y="4776919"/>
            <a:ext cx="1305560" cy="0"/>
          </a:xfrm>
          <a:custGeom>
            <a:avLst/>
            <a:gdLst/>
            <a:ahLst/>
            <a:cxnLst/>
            <a:rect l="l" t="t" r="r" b="b"/>
            <a:pathLst>
              <a:path w="1305559">
                <a:moveTo>
                  <a:pt x="0" y="0"/>
                </a:moveTo>
                <a:lnTo>
                  <a:pt x="1304984" y="0"/>
                </a:lnTo>
              </a:path>
            </a:pathLst>
          </a:custGeom>
          <a:ln w="102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01628" y="5399459"/>
            <a:ext cx="535940" cy="0"/>
          </a:xfrm>
          <a:custGeom>
            <a:avLst/>
            <a:gdLst/>
            <a:ahLst/>
            <a:cxnLst/>
            <a:rect l="l" t="t" r="r" b="b"/>
            <a:pathLst>
              <a:path w="535939">
                <a:moveTo>
                  <a:pt x="0" y="0"/>
                </a:moveTo>
                <a:lnTo>
                  <a:pt x="535386" y="0"/>
                </a:lnTo>
              </a:path>
            </a:pathLst>
          </a:custGeom>
          <a:ln w="103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01628" y="5353174"/>
            <a:ext cx="535940" cy="0"/>
          </a:xfrm>
          <a:custGeom>
            <a:avLst/>
            <a:gdLst/>
            <a:ahLst/>
            <a:cxnLst/>
            <a:rect l="l" t="t" r="r" b="b"/>
            <a:pathLst>
              <a:path w="535939">
                <a:moveTo>
                  <a:pt x="0" y="0"/>
                </a:moveTo>
                <a:lnTo>
                  <a:pt x="535386" y="0"/>
                </a:lnTo>
              </a:path>
            </a:pathLst>
          </a:custGeom>
          <a:ln w="103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99177" y="5399459"/>
            <a:ext cx="535940" cy="0"/>
          </a:xfrm>
          <a:custGeom>
            <a:avLst/>
            <a:gdLst/>
            <a:ahLst/>
            <a:cxnLst/>
            <a:rect l="l" t="t" r="r" b="b"/>
            <a:pathLst>
              <a:path w="535939">
                <a:moveTo>
                  <a:pt x="0" y="0"/>
                </a:moveTo>
                <a:lnTo>
                  <a:pt x="535386" y="0"/>
                </a:lnTo>
              </a:path>
            </a:pathLst>
          </a:custGeom>
          <a:ln w="103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99177" y="5353174"/>
            <a:ext cx="875030" cy="0"/>
          </a:xfrm>
          <a:custGeom>
            <a:avLst/>
            <a:gdLst/>
            <a:ahLst/>
            <a:cxnLst/>
            <a:rect l="l" t="t" r="r" b="b"/>
            <a:pathLst>
              <a:path w="875029">
                <a:moveTo>
                  <a:pt x="0" y="0"/>
                </a:moveTo>
                <a:lnTo>
                  <a:pt x="874764" y="0"/>
                </a:lnTo>
              </a:path>
            </a:pathLst>
          </a:custGeom>
          <a:ln w="103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035901" y="5399459"/>
            <a:ext cx="535940" cy="0"/>
          </a:xfrm>
          <a:custGeom>
            <a:avLst/>
            <a:gdLst/>
            <a:ahLst/>
            <a:cxnLst/>
            <a:rect l="l" t="t" r="r" b="b"/>
            <a:pathLst>
              <a:path w="535939">
                <a:moveTo>
                  <a:pt x="0" y="0"/>
                </a:moveTo>
                <a:lnTo>
                  <a:pt x="535386" y="0"/>
                </a:lnTo>
              </a:path>
            </a:pathLst>
          </a:custGeom>
          <a:ln w="103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06210" y="5399459"/>
            <a:ext cx="535940" cy="0"/>
          </a:xfrm>
          <a:custGeom>
            <a:avLst/>
            <a:gdLst/>
            <a:ahLst/>
            <a:cxnLst/>
            <a:rect l="l" t="t" r="r" b="b"/>
            <a:pathLst>
              <a:path w="535939">
                <a:moveTo>
                  <a:pt x="0" y="0"/>
                </a:moveTo>
                <a:lnTo>
                  <a:pt x="535386" y="0"/>
                </a:lnTo>
              </a:path>
            </a:pathLst>
          </a:custGeom>
          <a:ln w="103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035901" y="5353174"/>
            <a:ext cx="1306195" cy="0"/>
          </a:xfrm>
          <a:custGeom>
            <a:avLst/>
            <a:gdLst/>
            <a:ahLst/>
            <a:cxnLst/>
            <a:rect l="l" t="t" r="r" b="b"/>
            <a:pathLst>
              <a:path w="1306195">
                <a:moveTo>
                  <a:pt x="0" y="0"/>
                </a:moveTo>
                <a:lnTo>
                  <a:pt x="1305695" y="0"/>
                </a:lnTo>
              </a:path>
            </a:pathLst>
          </a:custGeom>
          <a:ln w="103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02469" y="5882159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4">
                <a:moveTo>
                  <a:pt x="0" y="0"/>
                </a:moveTo>
                <a:lnTo>
                  <a:pt x="150068" y="0"/>
                </a:lnTo>
              </a:path>
            </a:pathLst>
          </a:custGeom>
          <a:ln w="10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14050" y="5882159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5">
                <a:moveTo>
                  <a:pt x="0" y="0"/>
                </a:moveTo>
                <a:lnTo>
                  <a:pt x="534925" y="0"/>
                </a:lnTo>
              </a:path>
            </a:pathLst>
          </a:custGeom>
          <a:ln w="10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10898" y="5882159"/>
            <a:ext cx="488950" cy="0"/>
          </a:xfrm>
          <a:custGeom>
            <a:avLst/>
            <a:gdLst/>
            <a:ahLst/>
            <a:cxnLst/>
            <a:rect l="l" t="t" r="r" b="b"/>
            <a:pathLst>
              <a:path w="488950">
                <a:moveTo>
                  <a:pt x="0" y="0"/>
                </a:moveTo>
                <a:lnTo>
                  <a:pt x="488417" y="0"/>
                </a:lnTo>
              </a:path>
            </a:pathLst>
          </a:custGeom>
          <a:ln w="10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20369" y="4146550"/>
            <a:ext cx="6794500" cy="202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例：用</a:t>
            </a:r>
            <a:r>
              <a:rPr sz="2400" dirty="0">
                <a:latin typeface="Arial"/>
                <a:cs typeface="Arial"/>
              </a:rPr>
              <a:t>“</a:t>
            </a:r>
            <a:r>
              <a:rPr sz="2400" dirty="0">
                <a:latin typeface="微软雅黑"/>
                <a:cs typeface="微软雅黑"/>
              </a:rPr>
              <a:t>或非</a:t>
            </a:r>
            <a:r>
              <a:rPr sz="2400" dirty="0">
                <a:latin typeface="Arial"/>
                <a:cs typeface="Arial"/>
              </a:rPr>
              <a:t>”</a:t>
            </a:r>
            <a:r>
              <a:rPr sz="2400" dirty="0">
                <a:latin typeface="微软雅黑"/>
                <a:cs typeface="微软雅黑"/>
              </a:rPr>
              <a:t>门实</a:t>
            </a:r>
            <a:r>
              <a:rPr sz="2400" spc="-5" dirty="0">
                <a:latin typeface="微软雅黑"/>
                <a:cs typeface="微软雅黑"/>
              </a:rPr>
              <a:t>现</a:t>
            </a:r>
            <a:r>
              <a:rPr sz="2400" dirty="0">
                <a:latin typeface="Arial"/>
                <a:cs typeface="Arial"/>
              </a:rPr>
              <a:t>“</a:t>
            </a:r>
            <a:r>
              <a:rPr sz="2400" dirty="0">
                <a:latin typeface="微软雅黑"/>
                <a:cs typeface="微软雅黑"/>
              </a:rPr>
              <a:t>与</a:t>
            </a:r>
            <a:r>
              <a:rPr sz="2400" dirty="0">
                <a:latin typeface="Arial"/>
                <a:cs typeface="Arial"/>
              </a:rPr>
              <a:t>”</a:t>
            </a:r>
            <a:r>
              <a:rPr sz="2400" dirty="0">
                <a:latin typeface="微软雅黑"/>
                <a:cs typeface="微软雅黑"/>
              </a:rPr>
              <a:t>、</a:t>
            </a:r>
            <a:r>
              <a:rPr sz="2400" dirty="0">
                <a:latin typeface="Arial"/>
                <a:cs typeface="Arial"/>
              </a:rPr>
              <a:t>“</a:t>
            </a:r>
            <a:r>
              <a:rPr sz="2400" dirty="0">
                <a:latin typeface="微软雅黑"/>
                <a:cs typeface="微软雅黑"/>
              </a:rPr>
              <a:t>或</a:t>
            </a:r>
            <a:r>
              <a:rPr sz="2400" dirty="0">
                <a:latin typeface="Arial"/>
                <a:cs typeface="Arial"/>
              </a:rPr>
              <a:t>”</a:t>
            </a:r>
            <a:r>
              <a:rPr sz="2400" dirty="0">
                <a:latin typeface="微软雅黑"/>
                <a:cs typeface="微软雅黑"/>
              </a:rPr>
              <a:t>、</a:t>
            </a:r>
            <a:r>
              <a:rPr sz="2400" dirty="0">
                <a:latin typeface="Arial"/>
                <a:cs typeface="Arial"/>
              </a:rPr>
              <a:t>“</a:t>
            </a:r>
            <a:r>
              <a:rPr sz="2400" dirty="0">
                <a:latin typeface="微软雅黑"/>
                <a:cs typeface="微软雅黑"/>
              </a:rPr>
              <a:t>非</a:t>
            </a:r>
            <a:r>
              <a:rPr sz="2400" dirty="0">
                <a:latin typeface="Arial"/>
                <a:cs typeface="Arial"/>
              </a:rPr>
              <a:t>”</a:t>
            </a:r>
            <a:r>
              <a:rPr sz="2400" dirty="0">
                <a:latin typeface="微软雅黑"/>
                <a:cs typeface="微软雅黑"/>
              </a:rPr>
              <a:t>运算</a:t>
            </a:r>
            <a:endParaRPr sz="2400">
              <a:latin typeface="微软雅黑"/>
              <a:cs typeface="微软雅黑"/>
            </a:endParaRPr>
          </a:p>
          <a:p>
            <a:pPr marL="153670">
              <a:lnSpc>
                <a:spcPct val="100000"/>
              </a:lnSpc>
              <a:spcBef>
                <a:spcPts val="2255"/>
              </a:spcBef>
              <a:tabLst>
                <a:tab pos="1297305" algn="l"/>
              </a:tabLst>
            </a:pPr>
            <a:r>
              <a:rPr sz="1900" spc="-15" dirty="0">
                <a:latin typeface="宋体"/>
                <a:cs typeface="宋体"/>
              </a:rPr>
              <a:t>“与</a:t>
            </a:r>
            <a:r>
              <a:rPr sz="1900" spc="60" dirty="0">
                <a:latin typeface="宋体"/>
                <a:cs typeface="宋体"/>
              </a:rPr>
              <a:t>”	</a:t>
            </a:r>
            <a:r>
              <a:rPr sz="1900" spc="30" dirty="0">
                <a:latin typeface="Times New Roman"/>
                <a:cs typeface="Times New Roman"/>
              </a:rPr>
              <a:t>F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Symbol"/>
                <a:cs typeface="Symbol"/>
              </a:rPr>
              <a:t>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i="1" spc="35" dirty="0">
                <a:latin typeface="Times New Roman"/>
                <a:cs typeface="Times New Roman"/>
              </a:rPr>
              <a:t>A</a:t>
            </a:r>
            <a:r>
              <a:rPr sz="1900" i="1" spc="-28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Symbol"/>
                <a:cs typeface="Symbol"/>
              </a:rPr>
              <a:t></a:t>
            </a:r>
            <a:r>
              <a:rPr sz="1900" spc="-135" dirty="0">
                <a:latin typeface="Times New Roman"/>
                <a:cs typeface="Times New Roman"/>
              </a:rPr>
              <a:t> </a:t>
            </a:r>
            <a:r>
              <a:rPr sz="1900" i="1" spc="35" dirty="0">
                <a:latin typeface="Times New Roman"/>
                <a:cs typeface="Times New Roman"/>
              </a:rPr>
              <a:t>B</a:t>
            </a:r>
            <a:r>
              <a:rPr sz="1900" i="1" spc="-15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Symbol"/>
                <a:cs typeface="Symbol"/>
              </a:rPr>
              <a:t>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i="1" spc="35" dirty="0">
                <a:latin typeface="Times New Roman"/>
                <a:cs typeface="Times New Roman"/>
              </a:rPr>
              <a:t>A</a:t>
            </a:r>
            <a:r>
              <a:rPr sz="1900" i="1" spc="-28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Symbol"/>
                <a:cs typeface="Symbol"/>
              </a:rPr>
              <a:t>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1900" i="1" spc="35" dirty="0">
                <a:latin typeface="Times New Roman"/>
                <a:cs typeface="Times New Roman"/>
              </a:rPr>
              <a:t>B</a:t>
            </a:r>
            <a:r>
              <a:rPr sz="1900" i="1" spc="-10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Symbol"/>
                <a:cs typeface="Symbol"/>
              </a:rPr>
              <a:t>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i="1" spc="35" dirty="0">
                <a:latin typeface="Times New Roman"/>
                <a:cs typeface="Times New Roman"/>
              </a:rPr>
              <a:t>A</a:t>
            </a:r>
            <a:r>
              <a:rPr sz="1900" i="1" spc="-220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Symbol"/>
                <a:cs typeface="Symbol"/>
              </a:rPr>
              <a:t>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i="1" spc="35" dirty="0">
                <a:latin typeface="Times New Roman"/>
                <a:cs typeface="Times New Roman"/>
              </a:rPr>
              <a:t>B</a:t>
            </a:r>
            <a:r>
              <a:rPr sz="1900" i="1" spc="-5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Symbol"/>
                <a:cs typeface="Symbol"/>
              </a:rPr>
              <a:t>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i="1" spc="35" dirty="0">
                <a:latin typeface="Times New Roman"/>
                <a:cs typeface="Times New Roman"/>
              </a:rPr>
              <a:t>A</a:t>
            </a:r>
            <a:r>
              <a:rPr sz="1900" i="1" spc="-229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Symbol"/>
                <a:cs typeface="Symbol"/>
              </a:rPr>
              <a:t></a:t>
            </a:r>
            <a:r>
              <a:rPr sz="1900" spc="-160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Times New Roman"/>
                <a:cs typeface="Times New Roman"/>
              </a:rPr>
              <a:t>0</a:t>
            </a:r>
            <a:r>
              <a:rPr sz="1900" spc="-180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Symbol"/>
                <a:cs typeface="Symbol"/>
              </a:rPr>
              <a:t>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i="1" spc="35" dirty="0">
                <a:latin typeface="Times New Roman"/>
                <a:cs typeface="Times New Roman"/>
              </a:rPr>
              <a:t>B</a:t>
            </a:r>
            <a:r>
              <a:rPr sz="1900" i="1" spc="-130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Symbol"/>
                <a:cs typeface="Symbol"/>
              </a:rPr>
              <a:t></a:t>
            </a:r>
            <a:r>
              <a:rPr sz="1900" spc="-165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Times New Roman"/>
                <a:cs typeface="Times New Roman"/>
              </a:rPr>
              <a:t>0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Symbol"/>
                <a:cs typeface="Symbol"/>
              </a:rPr>
              <a:t>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i="1" spc="35" dirty="0">
                <a:latin typeface="Times New Roman"/>
                <a:cs typeface="Times New Roman"/>
              </a:rPr>
              <a:t>A</a:t>
            </a:r>
            <a:r>
              <a:rPr sz="1900" i="1" spc="-220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Symbol"/>
                <a:cs typeface="Symbol"/>
              </a:rPr>
              <a:t>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i="1" spc="35" dirty="0">
                <a:latin typeface="Times New Roman"/>
                <a:cs typeface="Times New Roman"/>
              </a:rPr>
              <a:t>A</a:t>
            </a:r>
            <a:r>
              <a:rPr sz="1900" i="1" spc="-220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Symbol"/>
                <a:cs typeface="Symbol"/>
              </a:rPr>
              <a:t>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i="1" spc="35" dirty="0">
                <a:latin typeface="Times New Roman"/>
                <a:cs typeface="Times New Roman"/>
              </a:rPr>
              <a:t>B</a:t>
            </a:r>
            <a:r>
              <a:rPr sz="1900" i="1" spc="-130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Symbol"/>
                <a:cs typeface="Symbol"/>
              </a:rPr>
              <a:t>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i="1" spc="35" dirty="0">
                <a:latin typeface="Times New Roman"/>
                <a:cs typeface="Times New Roman"/>
              </a:rPr>
              <a:t>B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00">
              <a:latin typeface="Times New Roman"/>
              <a:cs typeface="Times New Roman"/>
            </a:endParaRPr>
          </a:p>
          <a:p>
            <a:pPr marL="153670">
              <a:lnSpc>
                <a:spcPct val="100000"/>
              </a:lnSpc>
              <a:tabLst>
                <a:tab pos="1297940" algn="l"/>
              </a:tabLst>
            </a:pPr>
            <a:r>
              <a:rPr sz="1950" spc="-65" dirty="0">
                <a:latin typeface="宋体"/>
                <a:cs typeface="宋体"/>
              </a:rPr>
              <a:t>“或</a:t>
            </a:r>
            <a:r>
              <a:rPr sz="1950" spc="5" dirty="0">
                <a:latin typeface="宋体"/>
                <a:cs typeface="宋体"/>
              </a:rPr>
              <a:t>”	</a:t>
            </a:r>
            <a:r>
              <a:rPr sz="1950" dirty="0">
                <a:latin typeface="Times New Roman"/>
                <a:cs typeface="Times New Roman"/>
              </a:rPr>
              <a:t>F</a:t>
            </a:r>
            <a:r>
              <a:rPr sz="1950" spc="-9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</a:t>
            </a:r>
            <a:r>
              <a:rPr sz="1950" spc="105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950" i="1" spc="-229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-80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B</a:t>
            </a:r>
            <a:r>
              <a:rPr sz="1950" i="1" spc="-1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</a:t>
            </a:r>
            <a:r>
              <a:rPr sz="1950" spc="105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950" i="1" spc="-229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-80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B</a:t>
            </a:r>
            <a:r>
              <a:rPr sz="1950" i="1" spc="-1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</a:t>
            </a:r>
            <a:r>
              <a:rPr sz="1950" spc="105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950" i="1" spc="-229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-75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B</a:t>
            </a:r>
            <a:r>
              <a:rPr sz="1950" i="1" spc="-14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-17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0</a:t>
            </a:r>
            <a:r>
              <a:rPr sz="1950" spc="-7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</a:t>
            </a:r>
            <a:r>
              <a:rPr sz="1950" spc="105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950" i="1" spc="-229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-80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B</a:t>
            </a:r>
            <a:r>
              <a:rPr sz="1950" i="1" spc="-14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950" i="1" spc="-229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</a:t>
            </a:r>
            <a:r>
              <a:rPr sz="1950" spc="-80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B</a:t>
            </a:r>
            <a:endParaRPr sz="1950">
              <a:latin typeface="Times New Roman"/>
              <a:cs typeface="Times New Roman"/>
            </a:endParaRPr>
          </a:p>
          <a:p>
            <a:pPr marL="153670">
              <a:lnSpc>
                <a:spcPct val="100000"/>
              </a:lnSpc>
              <a:spcBef>
                <a:spcPts val="1495"/>
              </a:spcBef>
              <a:tabLst>
                <a:tab pos="1296670" algn="l"/>
              </a:tabLst>
            </a:pPr>
            <a:r>
              <a:rPr sz="1900" spc="-20" dirty="0">
                <a:latin typeface="宋体"/>
                <a:cs typeface="宋体"/>
              </a:rPr>
              <a:t>“非</a:t>
            </a:r>
            <a:r>
              <a:rPr sz="1900" spc="45" dirty="0">
                <a:latin typeface="宋体"/>
                <a:cs typeface="宋体"/>
              </a:rPr>
              <a:t>”	</a:t>
            </a:r>
            <a:r>
              <a:rPr sz="1900" spc="25" dirty="0">
                <a:latin typeface="Times New Roman"/>
                <a:cs typeface="Times New Roman"/>
              </a:rPr>
              <a:t>F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Symbol"/>
                <a:cs typeface="Symbol"/>
              </a:rPr>
              <a:t></a:t>
            </a:r>
            <a:r>
              <a:rPr sz="1900" spc="120" dirty="0">
                <a:latin typeface="Times New Roman"/>
                <a:cs typeface="Times New Roman"/>
              </a:rPr>
              <a:t> </a:t>
            </a:r>
            <a:r>
              <a:rPr sz="1900" i="1" spc="30" dirty="0">
                <a:latin typeface="Times New Roman"/>
                <a:cs typeface="Times New Roman"/>
              </a:rPr>
              <a:t>A</a:t>
            </a:r>
            <a:r>
              <a:rPr sz="1900" i="1" spc="-95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Symbol"/>
                <a:cs typeface="Symbol"/>
              </a:rPr>
              <a:t>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i="1" spc="30" dirty="0">
                <a:latin typeface="Times New Roman"/>
                <a:cs typeface="Times New Roman"/>
              </a:rPr>
              <a:t>A</a:t>
            </a:r>
            <a:r>
              <a:rPr sz="1900" i="1" spc="-22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Symbol"/>
                <a:cs typeface="Symbol"/>
              </a:rPr>
              <a:t>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i="1" spc="30" dirty="0">
                <a:latin typeface="Times New Roman"/>
                <a:cs typeface="Times New Roman"/>
              </a:rPr>
              <a:t>A</a:t>
            </a:r>
            <a:r>
              <a:rPr sz="1900" i="1" spc="-95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Symbol"/>
                <a:cs typeface="Symbol"/>
              </a:rPr>
              <a:t></a:t>
            </a:r>
            <a:r>
              <a:rPr sz="1900" spc="120" dirty="0">
                <a:latin typeface="Times New Roman"/>
                <a:cs typeface="Times New Roman"/>
              </a:rPr>
              <a:t> </a:t>
            </a:r>
            <a:r>
              <a:rPr sz="1900" i="1" spc="30" dirty="0">
                <a:latin typeface="Times New Roman"/>
                <a:cs typeface="Times New Roman"/>
              </a:rPr>
              <a:t>A</a:t>
            </a:r>
            <a:r>
              <a:rPr sz="1900" i="1" spc="-22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Symbol"/>
                <a:cs typeface="Symbol"/>
              </a:rPr>
              <a:t></a:t>
            </a:r>
            <a:r>
              <a:rPr sz="1900" spc="-155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7586" y="1126997"/>
            <a:ext cx="5032375" cy="901065"/>
          </a:xfrm>
          <a:custGeom>
            <a:avLst/>
            <a:gdLst/>
            <a:ahLst/>
            <a:cxnLst/>
            <a:rect l="l" t="t" r="r" b="b"/>
            <a:pathLst>
              <a:path w="5032375" h="901064">
                <a:moveTo>
                  <a:pt x="4771644" y="0"/>
                </a:moveTo>
                <a:lnTo>
                  <a:pt x="0" y="0"/>
                </a:lnTo>
                <a:lnTo>
                  <a:pt x="0" y="900684"/>
                </a:lnTo>
                <a:lnTo>
                  <a:pt x="4771644" y="900684"/>
                </a:lnTo>
                <a:lnTo>
                  <a:pt x="4771644" y="552830"/>
                </a:lnTo>
                <a:lnTo>
                  <a:pt x="4929759" y="552830"/>
                </a:lnTo>
                <a:lnTo>
                  <a:pt x="5032248" y="450341"/>
                </a:lnTo>
                <a:lnTo>
                  <a:pt x="4929759" y="347852"/>
                </a:lnTo>
                <a:lnTo>
                  <a:pt x="4771644" y="347852"/>
                </a:lnTo>
                <a:lnTo>
                  <a:pt x="4771644" y="0"/>
                </a:lnTo>
                <a:close/>
              </a:path>
              <a:path w="5032375" h="901064">
                <a:moveTo>
                  <a:pt x="4929759" y="552830"/>
                </a:moveTo>
                <a:lnTo>
                  <a:pt x="4807077" y="552830"/>
                </a:lnTo>
                <a:lnTo>
                  <a:pt x="4807077" y="675513"/>
                </a:lnTo>
                <a:lnTo>
                  <a:pt x="4929759" y="552830"/>
                </a:lnTo>
                <a:close/>
              </a:path>
              <a:path w="5032375" h="901064">
                <a:moveTo>
                  <a:pt x="4807077" y="225171"/>
                </a:moveTo>
                <a:lnTo>
                  <a:pt x="4807077" y="347852"/>
                </a:lnTo>
                <a:lnTo>
                  <a:pt x="4929759" y="347852"/>
                </a:lnTo>
                <a:lnTo>
                  <a:pt x="4807077" y="2251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7586" y="1126997"/>
            <a:ext cx="5032375" cy="901065"/>
          </a:xfrm>
          <a:custGeom>
            <a:avLst/>
            <a:gdLst/>
            <a:ahLst/>
            <a:cxnLst/>
            <a:rect l="l" t="t" r="r" b="b"/>
            <a:pathLst>
              <a:path w="5032375" h="901064">
                <a:moveTo>
                  <a:pt x="0" y="0"/>
                </a:moveTo>
                <a:lnTo>
                  <a:pt x="4771644" y="0"/>
                </a:lnTo>
                <a:lnTo>
                  <a:pt x="4771644" y="347852"/>
                </a:lnTo>
                <a:lnTo>
                  <a:pt x="4807077" y="347852"/>
                </a:lnTo>
                <a:lnTo>
                  <a:pt x="4807077" y="225171"/>
                </a:lnTo>
                <a:lnTo>
                  <a:pt x="5032248" y="450341"/>
                </a:lnTo>
                <a:lnTo>
                  <a:pt x="4807077" y="675513"/>
                </a:lnTo>
                <a:lnTo>
                  <a:pt x="4807077" y="552830"/>
                </a:lnTo>
                <a:lnTo>
                  <a:pt x="4771644" y="552830"/>
                </a:lnTo>
                <a:lnTo>
                  <a:pt x="4771644" y="900684"/>
                </a:lnTo>
                <a:lnTo>
                  <a:pt x="0" y="900684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75868" y="1148918"/>
            <a:ext cx="46031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由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与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、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或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、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三种基本逻辑运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算可以组成任意逻辑函数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00633" y="2221229"/>
            <a:ext cx="2581910" cy="1691639"/>
          </a:xfrm>
          <a:custGeom>
            <a:avLst/>
            <a:gdLst/>
            <a:ahLst/>
            <a:cxnLst/>
            <a:rect l="l" t="t" r="r" b="b"/>
            <a:pathLst>
              <a:path w="2581910" h="1691639">
                <a:moveTo>
                  <a:pt x="0" y="149860"/>
                </a:moveTo>
                <a:lnTo>
                  <a:pt x="7639" y="102477"/>
                </a:lnTo>
                <a:lnTo>
                  <a:pt x="28914" y="61337"/>
                </a:lnTo>
                <a:lnTo>
                  <a:pt x="61354" y="28903"/>
                </a:lnTo>
                <a:lnTo>
                  <a:pt x="102492" y="7636"/>
                </a:lnTo>
                <a:lnTo>
                  <a:pt x="149859" y="0"/>
                </a:lnTo>
                <a:lnTo>
                  <a:pt x="2431796" y="0"/>
                </a:lnTo>
                <a:lnTo>
                  <a:pt x="2479178" y="7636"/>
                </a:lnTo>
                <a:lnTo>
                  <a:pt x="2520318" y="28903"/>
                </a:lnTo>
                <a:lnTo>
                  <a:pt x="2552752" y="61337"/>
                </a:lnTo>
                <a:lnTo>
                  <a:pt x="2574019" y="102477"/>
                </a:lnTo>
                <a:lnTo>
                  <a:pt x="2581655" y="149860"/>
                </a:lnTo>
                <a:lnTo>
                  <a:pt x="2581655" y="1541780"/>
                </a:lnTo>
                <a:lnTo>
                  <a:pt x="2574019" y="1589162"/>
                </a:lnTo>
                <a:lnTo>
                  <a:pt x="2552752" y="1630302"/>
                </a:lnTo>
                <a:lnTo>
                  <a:pt x="2520318" y="1662736"/>
                </a:lnTo>
                <a:lnTo>
                  <a:pt x="2479178" y="1684003"/>
                </a:lnTo>
                <a:lnTo>
                  <a:pt x="2431796" y="1691640"/>
                </a:lnTo>
                <a:lnTo>
                  <a:pt x="149859" y="1691640"/>
                </a:lnTo>
                <a:lnTo>
                  <a:pt x="102492" y="1684003"/>
                </a:lnTo>
                <a:lnTo>
                  <a:pt x="61354" y="1662736"/>
                </a:lnTo>
                <a:lnTo>
                  <a:pt x="28914" y="1630302"/>
                </a:lnTo>
                <a:lnTo>
                  <a:pt x="7639" y="1589162"/>
                </a:lnTo>
                <a:lnTo>
                  <a:pt x="0" y="1541780"/>
                </a:lnTo>
                <a:lnTo>
                  <a:pt x="0" y="14986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22198" y="2287651"/>
            <a:ext cx="226314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solidFill>
                  <a:srgbClr val="9900FF"/>
                </a:solidFill>
                <a:highlight>
                  <a:srgbClr val="FFFF00"/>
                </a:highlight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99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与非</a:t>
            </a:r>
            <a:r>
              <a:rPr sz="2400" dirty="0">
                <a:solidFill>
                  <a:srgbClr val="9900FF"/>
                </a:solidFill>
                <a:highlight>
                  <a:srgbClr val="FFFF00"/>
                </a:highlight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99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、</a:t>
            </a:r>
            <a:r>
              <a:rPr sz="2400" dirty="0">
                <a:solidFill>
                  <a:srgbClr val="9900FF"/>
                </a:solidFill>
                <a:highlight>
                  <a:srgbClr val="FFFF00"/>
                </a:highlight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99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或非</a:t>
            </a:r>
            <a:r>
              <a:rPr sz="2400" dirty="0">
                <a:solidFill>
                  <a:srgbClr val="9900FF"/>
                </a:solidFill>
                <a:highlight>
                  <a:srgbClr val="FFFF00"/>
                </a:highlight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99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、  </a:t>
            </a:r>
            <a:r>
              <a:rPr sz="2400" spc="5" dirty="0">
                <a:solidFill>
                  <a:srgbClr val="9900FF"/>
                </a:solidFill>
                <a:highlight>
                  <a:srgbClr val="FFFF00"/>
                </a:highlight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99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与或非</a:t>
            </a:r>
            <a:r>
              <a:rPr sz="2400" dirty="0">
                <a:solidFill>
                  <a:srgbClr val="9900FF"/>
                </a:solidFill>
                <a:highlight>
                  <a:srgbClr val="FFFF00"/>
                </a:highlight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99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运算各 自都是功能完备 的逻辑运算符</a:t>
            </a:r>
            <a:endParaRPr sz="2400" dirty="0">
              <a:highlight>
                <a:srgbClr val="FFFF00"/>
              </a:highlight>
              <a:latin typeface="微软雅黑"/>
              <a:cs typeface="微软雅黑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356512" y="2348483"/>
            <a:ext cx="1111855" cy="1501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537075" y="2277236"/>
            <a:ext cx="460121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与非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、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或非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、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与或非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中的任何 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一种运算都能单独实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现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与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、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或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endParaRPr sz="2400">
              <a:latin typeface="Arial"/>
              <a:cs typeface="Arial"/>
            </a:endParaRPr>
          </a:p>
          <a:p>
            <a:pPr marL="12700" marR="108585">
              <a:lnSpc>
                <a:spcPct val="100000"/>
              </a:lnSpc>
            </a:pP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、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这三种基本逻辑运算，都可 单独组成任何一个逻辑函数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3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062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逻辑函数的标准形式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40" y="1073911"/>
            <a:ext cx="5711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一个逻辑函数可以有多种表达式形式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544" y="1501902"/>
            <a:ext cx="2752725" cy="22205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SzPct val="75000"/>
              <a:buFont typeface="Wingdings"/>
              <a:buChar char=""/>
              <a:tabLst>
                <a:tab pos="299720" algn="l"/>
              </a:tabLst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与或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表达式</a:t>
            </a:r>
            <a:endParaRPr sz="2400">
              <a:latin typeface="微软雅黑"/>
              <a:cs typeface="微软雅黑"/>
            </a:endParaRPr>
          </a:p>
          <a:p>
            <a:pPr marL="299085" indent="-287020">
              <a:lnSpc>
                <a:spcPct val="100000"/>
              </a:lnSpc>
              <a:spcBef>
                <a:spcPts val="580"/>
              </a:spcBef>
              <a:buClr>
                <a:srgbClr val="FF6600"/>
              </a:buClr>
              <a:buSzPct val="75000"/>
              <a:buFont typeface="Wingdings"/>
              <a:buChar char=""/>
              <a:tabLst>
                <a:tab pos="299720" algn="l"/>
              </a:tabLst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或与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表达式</a:t>
            </a:r>
            <a:endParaRPr sz="2400">
              <a:latin typeface="微软雅黑"/>
              <a:cs typeface="微软雅黑"/>
            </a:endParaRPr>
          </a:p>
          <a:p>
            <a:pPr marL="299085" indent="-28702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SzPct val="75000"/>
              <a:buFont typeface="Wingdings"/>
              <a:buChar char=""/>
              <a:tabLst>
                <a:tab pos="299720" algn="l"/>
              </a:tabLst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与非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与非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表达式</a:t>
            </a:r>
            <a:endParaRPr sz="2400">
              <a:latin typeface="微软雅黑"/>
              <a:cs typeface="微软雅黑"/>
            </a:endParaRPr>
          </a:p>
          <a:p>
            <a:pPr marL="299085" indent="-28702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SzPct val="75000"/>
              <a:buFont typeface="Wingdings"/>
              <a:buChar char=""/>
              <a:tabLst>
                <a:tab pos="299720" algn="l"/>
              </a:tabLst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或非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或非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表达式</a:t>
            </a:r>
            <a:endParaRPr sz="2400">
              <a:latin typeface="微软雅黑"/>
              <a:cs typeface="微软雅黑"/>
            </a:endParaRPr>
          </a:p>
          <a:p>
            <a:pPr marL="299085" indent="-28702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SzPct val="75000"/>
              <a:buFont typeface="Wingdings"/>
              <a:buChar char=""/>
              <a:tabLst>
                <a:tab pos="299720" algn="l"/>
              </a:tabLst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与或非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表达式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55224" y="1610862"/>
            <a:ext cx="4895110" cy="4751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93335" y="1629155"/>
            <a:ext cx="4823460" cy="46802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93335" y="1629155"/>
            <a:ext cx="4823460" cy="4680585"/>
          </a:xfrm>
          <a:custGeom>
            <a:avLst/>
            <a:gdLst/>
            <a:ahLst/>
            <a:cxnLst/>
            <a:rect l="l" t="t" r="r" b="b"/>
            <a:pathLst>
              <a:path w="4823459" h="4680585">
                <a:moveTo>
                  <a:pt x="0" y="322834"/>
                </a:moveTo>
                <a:lnTo>
                  <a:pt x="3500" y="275125"/>
                </a:lnTo>
                <a:lnTo>
                  <a:pt x="13667" y="229591"/>
                </a:lnTo>
                <a:lnTo>
                  <a:pt x="30003" y="186730"/>
                </a:lnTo>
                <a:lnTo>
                  <a:pt x="52007" y="147042"/>
                </a:lnTo>
                <a:lnTo>
                  <a:pt x="79181" y="111026"/>
                </a:lnTo>
                <a:lnTo>
                  <a:pt x="111026" y="79181"/>
                </a:lnTo>
                <a:lnTo>
                  <a:pt x="147042" y="52007"/>
                </a:lnTo>
                <a:lnTo>
                  <a:pt x="186730" y="30003"/>
                </a:lnTo>
                <a:lnTo>
                  <a:pt x="229591" y="13667"/>
                </a:lnTo>
                <a:lnTo>
                  <a:pt x="275125" y="3500"/>
                </a:lnTo>
                <a:lnTo>
                  <a:pt x="322834" y="0"/>
                </a:lnTo>
                <a:lnTo>
                  <a:pt x="4500625" y="0"/>
                </a:lnTo>
                <a:lnTo>
                  <a:pt x="4548334" y="3500"/>
                </a:lnTo>
                <a:lnTo>
                  <a:pt x="4593868" y="13667"/>
                </a:lnTo>
                <a:lnTo>
                  <a:pt x="4636729" y="30003"/>
                </a:lnTo>
                <a:lnTo>
                  <a:pt x="4676417" y="52007"/>
                </a:lnTo>
                <a:lnTo>
                  <a:pt x="4712433" y="79181"/>
                </a:lnTo>
                <a:lnTo>
                  <a:pt x="4744278" y="111026"/>
                </a:lnTo>
                <a:lnTo>
                  <a:pt x="4771452" y="147042"/>
                </a:lnTo>
                <a:lnTo>
                  <a:pt x="4793456" y="186730"/>
                </a:lnTo>
                <a:lnTo>
                  <a:pt x="4809792" y="229591"/>
                </a:lnTo>
                <a:lnTo>
                  <a:pt x="4819959" y="275125"/>
                </a:lnTo>
                <a:lnTo>
                  <a:pt x="4823460" y="322834"/>
                </a:lnTo>
                <a:lnTo>
                  <a:pt x="4823460" y="4357319"/>
                </a:lnTo>
                <a:lnTo>
                  <a:pt x="4819959" y="4405031"/>
                </a:lnTo>
                <a:lnTo>
                  <a:pt x="4809792" y="4450571"/>
                </a:lnTo>
                <a:lnTo>
                  <a:pt x="4793456" y="4493437"/>
                </a:lnTo>
                <a:lnTo>
                  <a:pt x="4771452" y="4533131"/>
                </a:lnTo>
                <a:lnTo>
                  <a:pt x="4744278" y="4569153"/>
                </a:lnTo>
                <a:lnTo>
                  <a:pt x="4712433" y="4601004"/>
                </a:lnTo>
                <a:lnTo>
                  <a:pt x="4676417" y="4628184"/>
                </a:lnTo>
                <a:lnTo>
                  <a:pt x="4636729" y="4650193"/>
                </a:lnTo>
                <a:lnTo>
                  <a:pt x="4593868" y="4666533"/>
                </a:lnTo>
                <a:lnTo>
                  <a:pt x="4548334" y="4676703"/>
                </a:lnTo>
                <a:lnTo>
                  <a:pt x="4500625" y="4680204"/>
                </a:lnTo>
                <a:lnTo>
                  <a:pt x="322834" y="4680204"/>
                </a:lnTo>
                <a:lnTo>
                  <a:pt x="275125" y="4676703"/>
                </a:lnTo>
                <a:lnTo>
                  <a:pt x="229591" y="4666533"/>
                </a:lnTo>
                <a:lnTo>
                  <a:pt x="186730" y="4650193"/>
                </a:lnTo>
                <a:lnTo>
                  <a:pt x="147042" y="4628184"/>
                </a:lnTo>
                <a:lnTo>
                  <a:pt x="111026" y="4601004"/>
                </a:lnTo>
                <a:lnTo>
                  <a:pt x="79181" y="4569153"/>
                </a:lnTo>
                <a:lnTo>
                  <a:pt x="52007" y="4533131"/>
                </a:lnTo>
                <a:lnTo>
                  <a:pt x="30003" y="4493437"/>
                </a:lnTo>
                <a:lnTo>
                  <a:pt x="13667" y="4450571"/>
                </a:lnTo>
                <a:lnTo>
                  <a:pt x="3500" y="4405031"/>
                </a:lnTo>
                <a:lnTo>
                  <a:pt x="0" y="4357319"/>
                </a:lnTo>
                <a:lnTo>
                  <a:pt x="0" y="322834"/>
                </a:lnTo>
                <a:close/>
              </a:path>
            </a:pathLst>
          </a:custGeom>
          <a:ln w="9144">
            <a:solidFill>
              <a:srgbClr val="FF9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81546" y="1794018"/>
            <a:ext cx="154940" cy="0"/>
          </a:xfrm>
          <a:custGeom>
            <a:avLst/>
            <a:gdLst/>
            <a:ahLst/>
            <a:cxnLst/>
            <a:rect l="l" t="t" r="r" b="b"/>
            <a:pathLst>
              <a:path w="154939">
                <a:moveTo>
                  <a:pt x="0" y="0"/>
                </a:moveTo>
                <a:lnTo>
                  <a:pt x="154452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81546" y="2220779"/>
            <a:ext cx="154940" cy="0"/>
          </a:xfrm>
          <a:custGeom>
            <a:avLst/>
            <a:gdLst/>
            <a:ahLst/>
            <a:cxnLst/>
            <a:rect l="l" t="t" r="r" b="b"/>
            <a:pathLst>
              <a:path w="154939">
                <a:moveTo>
                  <a:pt x="0" y="0"/>
                </a:moveTo>
                <a:lnTo>
                  <a:pt x="154452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84993" y="2220779"/>
            <a:ext cx="154305" cy="0"/>
          </a:xfrm>
          <a:custGeom>
            <a:avLst/>
            <a:gdLst/>
            <a:ahLst/>
            <a:cxnLst/>
            <a:rect l="l" t="t" r="r" b="b"/>
            <a:pathLst>
              <a:path w="154304">
                <a:moveTo>
                  <a:pt x="0" y="0"/>
                </a:moveTo>
                <a:lnTo>
                  <a:pt x="153969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21227" y="2647750"/>
            <a:ext cx="154305" cy="0"/>
          </a:xfrm>
          <a:custGeom>
            <a:avLst/>
            <a:gdLst/>
            <a:ahLst/>
            <a:cxnLst/>
            <a:rect l="l" t="t" r="r" b="b"/>
            <a:pathLst>
              <a:path w="154304">
                <a:moveTo>
                  <a:pt x="0" y="0"/>
                </a:moveTo>
                <a:lnTo>
                  <a:pt x="153927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08106" y="3074301"/>
            <a:ext cx="154305" cy="0"/>
          </a:xfrm>
          <a:custGeom>
            <a:avLst/>
            <a:gdLst/>
            <a:ahLst/>
            <a:cxnLst/>
            <a:rect l="l" t="t" r="r" b="b"/>
            <a:pathLst>
              <a:path w="154304">
                <a:moveTo>
                  <a:pt x="0" y="0"/>
                </a:moveTo>
                <a:lnTo>
                  <a:pt x="153906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81546" y="3596457"/>
            <a:ext cx="154940" cy="0"/>
          </a:xfrm>
          <a:custGeom>
            <a:avLst/>
            <a:gdLst/>
            <a:ahLst/>
            <a:cxnLst/>
            <a:rect l="l" t="t" r="r" b="b"/>
            <a:pathLst>
              <a:path w="154939">
                <a:moveTo>
                  <a:pt x="0" y="0"/>
                </a:moveTo>
                <a:lnTo>
                  <a:pt x="154452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21228" y="3549180"/>
            <a:ext cx="876300" cy="0"/>
          </a:xfrm>
          <a:custGeom>
            <a:avLst/>
            <a:gdLst/>
            <a:ahLst/>
            <a:cxnLst/>
            <a:rect l="l" t="t" r="r" b="b"/>
            <a:pathLst>
              <a:path w="876300">
                <a:moveTo>
                  <a:pt x="0" y="0"/>
                </a:moveTo>
                <a:lnTo>
                  <a:pt x="876302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221228" y="3501271"/>
            <a:ext cx="876300" cy="0"/>
          </a:xfrm>
          <a:custGeom>
            <a:avLst/>
            <a:gdLst/>
            <a:ahLst/>
            <a:cxnLst/>
            <a:rect l="l" t="t" r="r" b="b"/>
            <a:pathLst>
              <a:path w="876300">
                <a:moveTo>
                  <a:pt x="0" y="0"/>
                </a:moveTo>
                <a:lnTo>
                  <a:pt x="876302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21228" y="4118194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19533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42434" y="4118194"/>
            <a:ext cx="154305" cy="0"/>
          </a:xfrm>
          <a:custGeom>
            <a:avLst/>
            <a:gdLst/>
            <a:ahLst/>
            <a:cxnLst/>
            <a:rect l="l" t="t" r="r" b="b"/>
            <a:pathLst>
              <a:path w="154304">
                <a:moveTo>
                  <a:pt x="0" y="0"/>
                </a:moveTo>
                <a:lnTo>
                  <a:pt x="153927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42434" y="4070811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5">
                <a:moveTo>
                  <a:pt x="0" y="0"/>
                </a:moveTo>
                <a:lnTo>
                  <a:pt x="315479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21228" y="4023428"/>
            <a:ext cx="836930" cy="0"/>
          </a:xfrm>
          <a:custGeom>
            <a:avLst/>
            <a:gdLst/>
            <a:ahLst/>
            <a:cxnLst/>
            <a:rect l="l" t="t" r="r" b="b"/>
            <a:pathLst>
              <a:path w="836929">
                <a:moveTo>
                  <a:pt x="0" y="0"/>
                </a:moveTo>
                <a:lnTo>
                  <a:pt x="836686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08106" y="4639910"/>
            <a:ext cx="154305" cy="0"/>
          </a:xfrm>
          <a:custGeom>
            <a:avLst/>
            <a:gdLst/>
            <a:ahLst/>
            <a:cxnLst/>
            <a:rect l="l" t="t" r="r" b="b"/>
            <a:pathLst>
              <a:path w="154304">
                <a:moveTo>
                  <a:pt x="0" y="0"/>
                </a:moveTo>
                <a:lnTo>
                  <a:pt x="153906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221228" y="4592527"/>
            <a:ext cx="1468755" cy="0"/>
          </a:xfrm>
          <a:custGeom>
            <a:avLst/>
            <a:gdLst/>
            <a:ahLst/>
            <a:cxnLst/>
            <a:rect l="l" t="t" r="r" b="b"/>
            <a:pathLst>
              <a:path w="1468754">
                <a:moveTo>
                  <a:pt x="0" y="0"/>
                </a:moveTo>
                <a:lnTo>
                  <a:pt x="1468633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221228" y="4545144"/>
            <a:ext cx="1468755" cy="0"/>
          </a:xfrm>
          <a:custGeom>
            <a:avLst/>
            <a:gdLst/>
            <a:ahLst/>
            <a:cxnLst/>
            <a:rect l="l" t="t" r="r" b="b"/>
            <a:pathLst>
              <a:path w="1468754">
                <a:moveTo>
                  <a:pt x="0" y="0"/>
                </a:moveTo>
                <a:lnTo>
                  <a:pt x="1468633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21228" y="5161604"/>
            <a:ext cx="154305" cy="0"/>
          </a:xfrm>
          <a:custGeom>
            <a:avLst/>
            <a:gdLst/>
            <a:ahLst/>
            <a:cxnLst/>
            <a:rect l="l" t="t" r="r" b="b"/>
            <a:pathLst>
              <a:path w="154304">
                <a:moveTo>
                  <a:pt x="0" y="0"/>
                </a:moveTo>
                <a:lnTo>
                  <a:pt x="153927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21228" y="5114242"/>
            <a:ext cx="548640" cy="0"/>
          </a:xfrm>
          <a:custGeom>
            <a:avLst/>
            <a:gdLst/>
            <a:ahLst/>
            <a:cxnLst/>
            <a:rect l="l" t="t" r="r" b="b"/>
            <a:pathLst>
              <a:path w="548639">
                <a:moveTo>
                  <a:pt x="0" y="0"/>
                </a:moveTo>
                <a:lnTo>
                  <a:pt x="548639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10673" y="5161604"/>
            <a:ext cx="556895" cy="0"/>
          </a:xfrm>
          <a:custGeom>
            <a:avLst/>
            <a:gdLst/>
            <a:ahLst/>
            <a:cxnLst/>
            <a:rect l="l" t="t" r="r" b="b"/>
            <a:pathLst>
              <a:path w="556895">
                <a:moveTo>
                  <a:pt x="0" y="0"/>
                </a:moveTo>
                <a:lnTo>
                  <a:pt x="556768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21228" y="5066860"/>
            <a:ext cx="1346835" cy="0"/>
          </a:xfrm>
          <a:custGeom>
            <a:avLst/>
            <a:gdLst/>
            <a:ahLst/>
            <a:cxnLst/>
            <a:rect l="l" t="t" r="r" b="b"/>
            <a:pathLst>
              <a:path w="1346834">
                <a:moveTo>
                  <a:pt x="0" y="0"/>
                </a:moveTo>
                <a:lnTo>
                  <a:pt x="1346214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394963" y="5635937"/>
            <a:ext cx="154305" cy="0"/>
          </a:xfrm>
          <a:custGeom>
            <a:avLst/>
            <a:gdLst/>
            <a:ahLst/>
            <a:cxnLst/>
            <a:rect l="l" t="t" r="r" b="b"/>
            <a:pathLst>
              <a:path w="154304">
                <a:moveTo>
                  <a:pt x="0" y="0"/>
                </a:moveTo>
                <a:lnTo>
                  <a:pt x="153927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789676" y="5635937"/>
            <a:ext cx="154305" cy="0"/>
          </a:xfrm>
          <a:custGeom>
            <a:avLst/>
            <a:gdLst/>
            <a:ahLst/>
            <a:cxnLst/>
            <a:rect l="l" t="t" r="r" b="b"/>
            <a:pathLst>
              <a:path w="154304">
                <a:moveTo>
                  <a:pt x="0" y="0"/>
                </a:moveTo>
                <a:lnTo>
                  <a:pt x="153927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963432" y="5635937"/>
            <a:ext cx="162560" cy="0"/>
          </a:xfrm>
          <a:custGeom>
            <a:avLst/>
            <a:gdLst/>
            <a:ahLst/>
            <a:cxnLst/>
            <a:rect l="l" t="t" r="r" b="b"/>
            <a:pathLst>
              <a:path w="162560">
                <a:moveTo>
                  <a:pt x="0" y="0"/>
                </a:moveTo>
                <a:lnTo>
                  <a:pt x="162035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221228" y="5588554"/>
            <a:ext cx="904240" cy="0"/>
          </a:xfrm>
          <a:custGeom>
            <a:avLst/>
            <a:gdLst/>
            <a:ahLst/>
            <a:cxnLst/>
            <a:rect l="l" t="t" r="r" b="b"/>
            <a:pathLst>
              <a:path w="904239">
                <a:moveTo>
                  <a:pt x="0" y="0"/>
                </a:moveTo>
                <a:lnTo>
                  <a:pt x="904239" y="0"/>
                </a:lnTo>
              </a:path>
            </a:pathLst>
          </a:custGeom>
          <a:ln w="10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006855" y="5606570"/>
            <a:ext cx="1126490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20" dirty="0">
                <a:latin typeface="Symbol"/>
                <a:cs typeface="Symbol"/>
              </a:rPr>
              <a:t>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i="1" spc="50" dirty="0">
                <a:latin typeface="Times New Roman"/>
                <a:cs typeface="Times New Roman"/>
              </a:rPr>
              <a:t>AB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-110" dirty="0">
                <a:latin typeface="Times New Roman"/>
                <a:cs typeface="Times New Roman"/>
              </a:rPr>
              <a:t> </a:t>
            </a:r>
            <a:r>
              <a:rPr sz="1950" i="1" spc="-10" dirty="0">
                <a:latin typeface="Times New Roman"/>
                <a:cs typeface="Times New Roman"/>
              </a:rPr>
              <a:t>AC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06855" y="5132241"/>
            <a:ext cx="1568450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20" dirty="0">
                <a:latin typeface="Symbol"/>
                <a:cs typeface="Symbol"/>
              </a:rPr>
              <a:t></a:t>
            </a:r>
            <a:r>
              <a:rPr sz="1950" spc="110" dirty="0">
                <a:latin typeface="Times New Roman"/>
                <a:cs typeface="Times New Roman"/>
              </a:rPr>
              <a:t> </a:t>
            </a:r>
            <a:r>
              <a:rPr sz="1950" i="1" spc="20" dirty="0">
                <a:latin typeface="Times New Roman"/>
                <a:cs typeface="Times New Roman"/>
              </a:rPr>
              <a:t>A</a:t>
            </a:r>
            <a:r>
              <a:rPr sz="1950" i="1" spc="-220" dirty="0">
                <a:latin typeface="Times New Roman"/>
                <a:cs typeface="Times New Roman"/>
              </a:rPr>
              <a:t>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i="1" spc="20" dirty="0">
                <a:latin typeface="Times New Roman"/>
                <a:cs typeface="Times New Roman"/>
              </a:rPr>
              <a:t>B</a:t>
            </a:r>
            <a:r>
              <a:rPr sz="1950" i="1" spc="-135" dirty="0">
                <a:latin typeface="Times New Roman"/>
                <a:cs typeface="Times New Roman"/>
              </a:rPr>
              <a:t>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i="1" spc="20" dirty="0">
                <a:latin typeface="Times New Roman"/>
                <a:cs typeface="Times New Roman"/>
              </a:rPr>
              <a:t>A</a:t>
            </a:r>
            <a:r>
              <a:rPr sz="1950" i="1" spc="-215" dirty="0">
                <a:latin typeface="Times New Roman"/>
                <a:cs typeface="Times New Roman"/>
              </a:rPr>
              <a:t>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-190" dirty="0">
                <a:latin typeface="Times New Roman"/>
                <a:cs typeface="Times New Roman"/>
              </a:rPr>
              <a:t> </a:t>
            </a:r>
            <a:r>
              <a:rPr sz="1950" i="1" spc="25" dirty="0">
                <a:latin typeface="Times New Roman"/>
                <a:cs typeface="Times New Roman"/>
              </a:rPr>
              <a:t>C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06855" y="4088810"/>
            <a:ext cx="1058545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20" dirty="0">
                <a:latin typeface="Symbol"/>
                <a:cs typeface="Symbol"/>
              </a:rPr>
              <a:t>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i="1" spc="5" dirty="0">
                <a:latin typeface="Times New Roman"/>
                <a:cs typeface="Times New Roman"/>
              </a:rPr>
              <a:t>AB </a:t>
            </a:r>
            <a:r>
              <a:rPr sz="1950" spc="15" dirty="0">
                <a:latin typeface="Symbol"/>
                <a:cs typeface="Symbol"/>
              </a:rPr>
              <a:t></a:t>
            </a:r>
            <a:r>
              <a:rPr sz="1950" spc="-165" dirty="0">
                <a:latin typeface="Times New Roman"/>
                <a:cs typeface="Times New Roman"/>
              </a:rPr>
              <a:t> </a:t>
            </a:r>
            <a:r>
              <a:rPr sz="1950" i="1" spc="-90" dirty="0">
                <a:latin typeface="Times New Roman"/>
                <a:cs typeface="Times New Roman"/>
              </a:rPr>
              <a:t>AC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06855" y="3567095"/>
            <a:ext cx="1098550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20" dirty="0">
                <a:latin typeface="Symbol"/>
                <a:cs typeface="Symbol"/>
              </a:rPr>
              <a:t>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i="1" spc="5" dirty="0">
                <a:latin typeface="Times New Roman"/>
                <a:cs typeface="Times New Roman"/>
              </a:rPr>
              <a:t>AB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-35" dirty="0">
                <a:latin typeface="Times New Roman"/>
                <a:cs typeface="Times New Roman"/>
              </a:rPr>
              <a:t> </a:t>
            </a:r>
            <a:r>
              <a:rPr sz="1950" i="1" spc="-90" dirty="0">
                <a:latin typeface="Times New Roman"/>
                <a:cs typeface="Times New Roman"/>
              </a:rPr>
              <a:t>AC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06855" y="4610526"/>
            <a:ext cx="1705610" cy="328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20" dirty="0">
                <a:latin typeface="Symbol"/>
                <a:cs typeface="Symbol"/>
              </a:rPr>
              <a:t></a:t>
            </a:r>
            <a:r>
              <a:rPr sz="1950" spc="-7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(</a:t>
            </a:r>
            <a:r>
              <a:rPr sz="1950" spc="-290" dirty="0">
                <a:latin typeface="Times New Roman"/>
                <a:cs typeface="Times New Roman"/>
              </a:rPr>
              <a:t> </a:t>
            </a:r>
            <a:r>
              <a:rPr sz="1950" i="1" spc="20" dirty="0">
                <a:latin typeface="Times New Roman"/>
                <a:cs typeface="Times New Roman"/>
              </a:rPr>
              <a:t>A</a:t>
            </a:r>
            <a:r>
              <a:rPr sz="1950" i="1" spc="-220" dirty="0">
                <a:latin typeface="Times New Roman"/>
                <a:cs typeface="Times New Roman"/>
              </a:rPr>
              <a:t>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-70" dirty="0">
                <a:latin typeface="Times New Roman"/>
                <a:cs typeface="Times New Roman"/>
              </a:rPr>
              <a:t> </a:t>
            </a:r>
            <a:r>
              <a:rPr sz="1950" i="1" spc="35" dirty="0">
                <a:latin typeface="Times New Roman"/>
                <a:cs typeface="Times New Roman"/>
              </a:rPr>
              <a:t>B</a:t>
            </a:r>
            <a:r>
              <a:rPr sz="1950" spc="35" dirty="0">
                <a:latin typeface="Times New Roman"/>
                <a:cs typeface="Times New Roman"/>
              </a:rPr>
              <a:t>)(</a:t>
            </a:r>
            <a:r>
              <a:rPr sz="1950" spc="-305" dirty="0">
                <a:latin typeface="Times New Roman"/>
                <a:cs typeface="Times New Roman"/>
              </a:rPr>
              <a:t> </a:t>
            </a:r>
            <a:r>
              <a:rPr sz="1950" i="1" spc="20" dirty="0">
                <a:latin typeface="Times New Roman"/>
                <a:cs typeface="Times New Roman"/>
              </a:rPr>
              <a:t>A</a:t>
            </a:r>
            <a:r>
              <a:rPr sz="1950" i="1" spc="-220" dirty="0">
                <a:latin typeface="Times New Roman"/>
                <a:cs typeface="Times New Roman"/>
              </a:rPr>
              <a:t>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-190" dirty="0">
                <a:latin typeface="Times New Roman"/>
                <a:cs typeface="Times New Roman"/>
              </a:rPr>
              <a:t> </a:t>
            </a:r>
            <a:r>
              <a:rPr sz="1950" i="1" spc="85" dirty="0">
                <a:latin typeface="Times New Roman"/>
                <a:cs typeface="Times New Roman"/>
              </a:rPr>
              <a:t>C</a:t>
            </a:r>
            <a:r>
              <a:rPr sz="1950" spc="85" dirty="0">
                <a:latin typeface="Times New Roman"/>
                <a:cs typeface="Times New Roman"/>
              </a:rPr>
              <a:t>)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70120" y="1640620"/>
            <a:ext cx="2522220" cy="1732914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950" i="1" spc="20" dirty="0">
                <a:latin typeface="Times New Roman"/>
                <a:cs typeface="Times New Roman"/>
              </a:rPr>
              <a:t>F </a:t>
            </a:r>
            <a:r>
              <a:rPr sz="1950" spc="20" dirty="0">
                <a:latin typeface="Symbol"/>
                <a:cs typeface="Symbol"/>
              </a:rPr>
              <a:t>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i="1" spc="5" dirty="0">
                <a:latin typeface="Times New Roman"/>
                <a:cs typeface="Times New Roman"/>
              </a:rPr>
              <a:t>AB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170" dirty="0">
                <a:latin typeface="Times New Roman"/>
                <a:cs typeface="Times New Roman"/>
              </a:rPr>
              <a:t> </a:t>
            </a:r>
            <a:r>
              <a:rPr sz="1950" i="1" spc="-90" dirty="0">
                <a:latin typeface="Times New Roman"/>
                <a:cs typeface="Times New Roman"/>
              </a:rPr>
              <a:t>AC</a:t>
            </a:r>
            <a:endParaRPr sz="1950">
              <a:latin typeface="Times New Roman"/>
              <a:cs typeface="Times New Roman"/>
            </a:endParaRPr>
          </a:p>
          <a:p>
            <a:pPr marL="248920">
              <a:lnSpc>
                <a:spcPct val="100000"/>
              </a:lnSpc>
              <a:spcBef>
                <a:spcPts val="1019"/>
              </a:spcBef>
            </a:pPr>
            <a:r>
              <a:rPr sz="1950" spc="20" dirty="0">
                <a:latin typeface="Symbol"/>
                <a:cs typeface="Symbol"/>
              </a:rPr>
              <a:t>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i="1" spc="5" dirty="0">
                <a:latin typeface="Times New Roman"/>
                <a:cs typeface="Times New Roman"/>
              </a:rPr>
              <a:t>AB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i="1" spc="-90" dirty="0">
                <a:latin typeface="Times New Roman"/>
                <a:cs typeface="Times New Roman"/>
              </a:rPr>
              <a:t>AC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i="1" spc="45" dirty="0">
                <a:latin typeface="Times New Roman"/>
                <a:cs typeface="Times New Roman"/>
              </a:rPr>
              <a:t>BC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-180" dirty="0">
                <a:latin typeface="Times New Roman"/>
                <a:cs typeface="Times New Roman"/>
              </a:rPr>
              <a:t> </a:t>
            </a:r>
            <a:r>
              <a:rPr sz="1950" i="1" spc="95" dirty="0">
                <a:latin typeface="Times New Roman"/>
                <a:cs typeface="Times New Roman"/>
              </a:rPr>
              <a:t>AA</a:t>
            </a:r>
            <a:endParaRPr sz="1950">
              <a:latin typeface="Times New Roman"/>
              <a:cs typeface="Times New Roman"/>
            </a:endParaRPr>
          </a:p>
          <a:p>
            <a:pPr marL="248920">
              <a:lnSpc>
                <a:spcPct val="100000"/>
              </a:lnSpc>
              <a:spcBef>
                <a:spcPts val="1020"/>
              </a:spcBef>
            </a:pPr>
            <a:r>
              <a:rPr sz="1950" spc="20" dirty="0">
                <a:latin typeface="Symbol"/>
                <a:cs typeface="Symbol"/>
              </a:rPr>
              <a:t></a:t>
            </a:r>
            <a:r>
              <a:rPr sz="1950" spc="114" dirty="0">
                <a:latin typeface="Times New Roman"/>
                <a:cs typeface="Times New Roman"/>
              </a:rPr>
              <a:t> </a:t>
            </a:r>
            <a:r>
              <a:rPr sz="1950" i="1" dirty="0">
                <a:latin typeface="Times New Roman"/>
                <a:cs typeface="Times New Roman"/>
              </a:rPr>
              <a:t>A</a:t>
            </a:r>
            <a:r>
              <a:rPr sz="1950" dirty="0">
                <a:latin typeface="Times New Roman"/>
                <a:cs typeface="Times New Roman"/>
              </a:rPr>
              <a:t>(</a:t>
            </a:r>
            <a:r>
              <a:rPr sz="1950" spc="-285" dirty="0">
                <a:latin typeface="Times New Roman"/>
                <a:cs typeface="Times New Roman"/>
              </a:rPr>
              <a:t> </a:t>
            </a:r>
            <a:r>
              <a:rPr sz="1950" i="1" spc="20" dirty="0">
                <a:latin typeface="Times New Roman"/>
                <a:cs typeface="Times New Roman"/>
              </a:rPr>
              <a:t>A</a:t>
            </a:r>
            <a:r>
              <a:rPr sz="1950" i="1" spc="-220" dirty="0">
                <a:latin typeface="Times New Roman"/>
                <a:cs typeface="Times New Roman"/>
              </a:rPr>
              <a:t>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-185" dirty="0">
                <a:latin typeface="Times New Roman"/>
                <a:cs typeface="Times New Roman"/>
              </a:rPr>
              <a:t> </a:t>
            </a:r>
            <a:r>
              <a:rPr sz="1950" i="1" spc="80" dirty="0">
                <a:latin typeface="Times New Roman"/>
                <a:cs typeface="Times New Roman"/>
              </a:rPr>
              <a:t>C</a:t>
            </a:r>
            <a:r>
              <a:rPr sz="1950" spc="80" dirty="0">
                <a:latin typeface="Times New Roman"/>
                <a:cs typeface="Times New Roman"/>
              </a:rPr>
              <a:t>)</a:t>
            </a:r>
            <a:r>
              <a:rPr sz="1950" spc="-165" dirty="0">
                <a:latin typeface="Times New Roman"/>
                <a:cs typeface="Times New Roman"/>
              </a:rPr>
              <a:t>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i="1" spc="45" dirty="0">
                <a:latin typeface="Times New Roman"/>
                <a:cs typeface="Times New Roman"/>
              </a:rPr>
              <a:t>B</a:t>
            </a:r>
            <a:r>
              <a:rPr sz="1950" spc="45" dirty="0">
                <a:latin typeface="Times New Roman"/>
                <a:cs typeface="Times New Roman"/>
              </a:rPr>
              <a:t>(</a:t>
            </a:r>
            <a:r>
              <a:rPr sz="1950" spc="-285" dirty="0">
                <a:latin typeface="Times New Roman"/>
                <a:cs typeface="Times New Roman"/>
              </a:rPr>
              <a:t> </a:t>
            </a:r>
            <a:r>
              <a:rPr sz="1950" i="1" spc="20" dirty="0">
                <a:latin typeface="Times New Roman"/>
                <a:cs typeface="Times New Roman"/>
              </a:rPr>
              <a:t>A</a:t>
            </a:r>
            <a:r>
              <a:rPr sz="1950" i="1" spc="-215" dirty="0">
                <a:latin typeface="Times New Roman"/>
                <a:cs typeface="Times New Roman"/>
              </a:rPr>
              <a:t>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-190" dirty="0">
                <a:latin typeface="Times New Roman"/>
                <a:cs typeface="Times New Roman"/>
              </a:rPr>
              <a:t> </a:t>
            </a:r>
            <a:r>
              <a:rPr sz="1950" i="1" spc="80" dirty="0">
                <a:latin typeface="Times New Roman"/>
                <a:cs typeface="Times New Roman"/>
              </a:rPr>
              <a:t>C</a:t>
            </a:r>
            <a:r>
              <a:rPr sz="1950" spc="80" dirty="0">
                <a:latin typeface="Times New Roman"/>
                <a:cs typeface="Times New Roman"/>
              </a:rPr>
              <a:t>)</a:t>
            </a:r>
            <a:endParaRPr sz="1950">
              <a:latin typeface="Times New Roman"/>
              <a:cs typeface="Times New Roman"/>
            </a:endParaRPr>
          </a:p>
          <a:p>
            <a:pPr marL="248920">
              <a:lnSpc>
                <a:spcPct val="100000"/>
              </a:lnSpc>
              <a:spcBef>
                <a:spcPts val="1019"/>
              </a:spcBef>
            </a:pPr>
            <a:r>
              <a:rPr sz="1950" spc="20" dirty="0">
                <a:latin typeface="Symbol"/>
                <a:cs typeface="Symbol"/>
              </a:rPr>
              <a:t></a:t>
            </a:r>
            <a:r>
              <a:rPr sz="1950" spc="-6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(</a:t>
            </a:r>
            <a:r>
              <a:rPr sz="1950" spc="-285" dirty="0">
                <a:latin typeface="Times New Roman"/>
                <a:cs typeface="Times New Roman"/>
              </a:rPr>
              <a:t> </a:t>
            </a:r>
            <a:r>
              <a:rPr sz="1950" i="1" spc="20" dirty="0">
                <a:latin typeface="Times New Roman"/>
                <a:cs typeface="Times New Roman"/>
              </a:rPr>
              <a:t>A</a:t>
            </a:r>
            <a:r>
              <a:rPr sz="1950" i="1" spc="-215" dirty="0">
                <a:latin typeface="Times New Roman"/>
                <a:cs typeface="Times New Roman"/>
              </a:rPr>
              <a:t>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-60" dirty="0">
                <a:latin typeface="Times New Roman"/>
                <a:cs typeface="Times New Roman"/>
              </a:rPr>
              <a:t> </a:t>
            </a:r>
            <a:r>
              <a:rPr sz="1950" i="1" spc="35" dirty="0">
                <a:latin typeface="Times New Roman"/>
                <a:cs typeface="Times New Roman"/>
              </a:rPr>
              <a:t>B</a:t>
            </a:r>
            <a:r>
              <a:rPr sz="1950" spc="35" dirty="0">
                <a:latin typeface="Times New Roman"/>
                <a:cs typeface="Times New Roman"/>
              </a:rPr>
              <a:t>)(</a:t>
            </a:r>
            <a:r>
              <a:rPr sz="1950" spc="-300" dirty="0">
                <a:latin typeface="Times New Roman"/>
                <a:cs typeface="Times New Roman"/>
              </a:rPr>
              <a:t> </a:t>
            </a:r>
            <a:r>
              <a:rPr sz="1950" i="1" spc="20" dirty="0">
                <a:latin typeface="Times New Roman"/>
                <a:cs typeface="Times New Roman"/>
              </a:rPr>
              <a:t>A</a:t>
            </a:r>
            <a:r>
              <a:rPr sz="1950" i="1" spc="-215" dirty="0">
                <a:latin typeface="Times New Roman"/>
                <a:cs typeface="Times New Roman"/>
              </a:rPr>
              <a:t> </a:t>
            </a:r>
            <a:r>
              <a:rPr sz="1950" spc="20" dirty="0">
                <a:latin typeface="Symbol"/>
                <a:cs typeface="Symbol"/>
              </a:rPr>
              <a:t></a:t>
            </a:r>
            <a:r>
              <a:rPr sz="1950" spc="-180" dirty="0">
                <a:latin typeface="Times New Roman"/>
                <a:cs typeface="Times New Roman"/>
              </a:rPr>
              <a:t> </a:t>
            </a:r>
            <a:r>
              <a:rPr sz="1950" i="1" spc="85" dirty="0">
                <a:latin typeface="Times New Roman"/>
                <a:cs typeface="Times New Roman"/>
              </a:rPr>
              <a:t>C</a:t>
            </a:r>
            <a:r>
              <a:rPr sz="1950" spc="85" dirty="0">
                <a:latin typeface="Times New Roman"/>
                <a:cs typeface="Times New Roman"/>
              </a:rPr>
              <a:t>)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81061" y="3094990"/>
            <a:ext cx="1320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“</a:t>
            </a:r>
            <a:r>
              <a:rPr sz="1800" dirty="0">
                <a:latin typeface="微软雅黑"/>
                <a:cs typeface="微软雅黑"/>
              </a:rPr>
              <a:t>或与</a:t>
            </a:r>
            <a:r>
              <a:rPr sz="1800" dirty="0">
                <a:latin typeface="Arial"/>
                <a:cs typeface="Arial"/>
              </a:rPr>
              <a:t>”</a:t>
            </a:r>
            <a:r>
              <a:rPr sz="1800" dirty="0">
                <a:latin typeface="微软雅黑"/>
                <a:cs typeface="微软雅黑"/>
              </a:rPr>
              <a:t>表达式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36917" y="4031360"/>
            <a:ext cx="1854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“</a:t>
            </a:r>
            <a:r>
              <a:rPr sz="1800" dirty="0">
                <a:latin typeface="微软雅黑"/>
                <a:cs typeface="微软雅黑"/>
              </a:rPr>
              <a:t>与非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dirty="0">
                <a:latin typeface="微软雅黑"/>
                <a:cs typeface="微软雅黑"/>
              </a:rPr>
              <a:t>与非</a:t>
            </a:r>
            <a:r>
              <a:rPr sz="1800" dirty="0">
                <a:latin typeface="Arial"/>
                <a:cs typeface="Arial"/>
              </a:rPr>
              <a:t>”</a:t>
            </a:r>
            <a:r>
              <a:rPr sz="1800" dirty="0">
                <a:latin typeface="微软雅黑"/>
                <a:cs typeface="微软雅黑"/>
              </a:rPr>
              <a:t>表达式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65034" y="5039614"/>
            <a:ext cx="1854835" cy="803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“</a:t>
            </a:r>
            <a:r>
              <a:rPr sz="1800" dirty="0">
                <a:latin typeface="微软雅黑"/>
                <a:cs typeface="微软雅黑"/>
              </a:rPr>
              <a:t>或非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dirty="0">
                <a:latin typeface="微软雅黑"/>
                <a:cs typeface="微软雅黑"/>
              </a:rPr>
              <a:t>或</a:t>
            </a:r>
            <a:r>
              <a:rPr sz="1800" spc="-5" dirty="0">
                <a:latin typeface="微软雅黑"/>
                <a:cs typeface="微软雅黑"/>
              </a:rPr>
              <a:t>非</a:t>
            </a:r>
            <a:r>
              <a:rPr sz="1800" dirty="0">
                <a:latin typeface="Arial"/>
                <a:cs typeface="Arial"/>
              </a:rPr>
              <a:t>”</a:t>
            </a:r>
            <a:r>
              <a:rPr sz="1800" dirty="0">
                <a:latin typeface="微软雅黑"/>
                <a:cs typeface="微软雅黑"/>
              </a:rPr>
              <a:t>表达式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1800" dirty="0">
                <a:latin typeface="Arial"/>
                <a:cs typeface="Arial"/>
              </a:rPr>
              <a:t>“</a:t>
            </a:r>
            <a:r>
              <a:rPr sz="1800" dirty="0">
                <a:latin typeface="微软雅黑"/>
                <a:cs typeface="微软雅黑"/>
              </a:rPr>
              <a:t>与或非</a:t>
            </a:r>
            <a:r>
              <a:rPr sz="1800" dirty="0">
                <a:latin typeface="Arial"/>
                <a:cs typeface="Arial"/>
              </a:rPr>
              <a:t>”</a:t>
            </a:r>
            <a:r>
              <a:rPr sz="1800" dirty="0">
                <a:latin typeface="微软雅黑"/>
                <a:cs typeface="微软雅黑"/>
              </a:rPr>
              <a:t>表达式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29751" y="4442415"/>
            <a:ext cx="3820795" cy="1729105"/>
          </a:xfrm>
          <a:custGeom>
            <a:avLst/>
            <a:gdLst/>
            <a:ahLst/>
            <a:cxnLst/>
            <a:rect l="l" t="t" r="r" b="b"/>
            <a:pathLst>
              <a:path w="3820795" h="1729104">
                <a:moveTo>
                  <a:pt x="2450087" y="1564709"/>
                </a:moveTo>
                <a:lnTo>
                  <a:pt x="1458509" y="1564709"/>
                </a:lnTo>
                <a:lnTo>
                  <a:pt x="1493620" y="1593945"/>
                </a:lnTo>
                <a:lnTo>
                  <a:pt x="1532977" y="1620740"/>
                </a:lnTo>
                <a:lnTo>
                  <a:pt x="1576238" y="1644940"/>
                </a:lnTo>
                <a:lnTo>
                  <a:pt x="1623059" y="1666388"/>
                </a:lnTo>
                <a:lnTo>
                  <a:pt x="1673100" y="1684928"/>
                </a:lnTo>
                <a:lnTo>
                  <a:pt x="1726017" y="1700406"/>
                </a:lnTo>
                <a:lnTo>
                  <a:pt x="1781470" y="1712664"/>
                </a:lnTo>
                <a:lnTo>
                  <a:pt x="1837249" y="1721338"/>
                </a:lnTo>
                <a:lnTo>
                  <a:pt x="1893084" y="1726603"/>
                </a:lnTo>
                <a:lnTo>
                  <a:pt x="1948661" y="1728563"/>
                </a:lnTo>
                <a:lnTo>
                  <a:pt x="2003670" y="1727320"/>
                </a:lnTo>
                <a:lnTo>
                  <a:pt x="2057798" y="1722978"/>
                </a:lnTo>
                <a:lnTo>
                  <a:pt x="2110734" y="1715640"/>
                </a:lnTo>
                <a:lnTo>
                  <a:pt x="2162166" y="1705408"/>
                </a:lnTo>
                <a:lnTo>
                  <a:pt x="2211782" y="1692387"/>
                </a:lnTo>
                <a:lnTo>
                  <a:pt x="2259271" y="1676679"/>
                </a:lnTo>
                <a:lnTo>
                  <a:pt x="2304321" y="1658387"/>
                </a:lnTo>
                <a:lnTo>
                  <a:pt x="2346619" y="1637615"/>
                </a:lnTo>
                <a:lnTo>
                  <a:pt x="2385855" y="1614465"/>
                </a:lnTo>
                <a:lnTo>
                  <a:pt x="2421716" y="1589041"/>
                </a:lnTo>
                <a:lnTo>
                  <a:pt x="2450087" y="1564709"/>
                </a:lnTo>
                <a:close/>
              </a:path>
              <a:path w="3820795" h="1729104">
                <a:moveTo>
                  <a:pt x="3170671" y="1412932"/>
                </a:moveTo>
                <a:lnTo>
                  <a:pt x="515496" y="1412932"/>
                </a:lnTo>
                <a:lnTo>
                  <a:pt x="517845" y="1415472"/>
                </a:lnTo>
                <a:lnTo>
                  <a:pt x="551907" y="1448122"/>
                </a:lnTo>
                <a:lnTo>
                  <a:pt x="583971" y="1473849"/>
                </a:lnTo>
                <a:lnTo>
                  <a:pt x="618679" y="1497673"/>
                </a:lnTo>
                <a:lnTo>
                  <a:pt x="655824" y="1519563"/>
                </a:lnTo>
                <a:lnTo>
                  <a:pt x="695197" y="1539487"/>
                </a:lnTo>
                <a:lnTo>
                  <a:pt x="736592" y="1557412"/>
                </a:lnTo>
                <a:lnTo>
                  <a:pt x="779798" y="1573308"/>
                </a:lnTo>
                <a:lnTo>
                  <a:pt x="824609" y="1587141"/>
                </a:lnTo>
                <a:lnTo>
                  <a:pt x="870817" y="1598879"/>
                </a:lnTo>
                <a:lnTo>
                  <a:pt x="918213" y="1608491"/>
                </a:lnTo>
                <a:lnTo>
                  <a:pt x="966590" y="1615945"/>
                </a:lnTo>
                <a:lnTo>
                  <a:pt x="1015739" y="1621208"/>
                </a:lnTo>
                <a:lnTo>
                  <a:pt x="1065452" y="1624248"/>
                </a:lnTo>
                <a:lnTo>
                  <a:pt x="1115521" y="1625034"/>
                </a:lnTo>
                <a:lnTo>
                  <a:pt x="1165739" y="1623533"/>
                </a:lnTo>
                <a:lnTo>
                  <a:pt x="1215897" y="1619713"/>
                </a:lnTo>
                <a:lnTo>
                  <a:pt x="1265787" y="1613542"/>
                </a:lnTo>
                <a:lnTo>
                  <a:pt x="1315201" y="1604988"/>
                </a:lnTo>
                <a:lnTo>
                  <a:pt x="1363932" y="1594020"/>
                </a:lnTo>
                <a:lnTo>
                  <a:pt x="1411770" y="1580604"/>
                </a:lnTo>
                <a:lnTo>
                  <a:pt x="1458509" y="1564709"/>
                </a:lnTo>
                <a:lnTo>
                  <a:pt x="2450087" y="1564709"/>
                </a:lnTo>
                <a:lnTo>
                  <a:pt x="2453891" y="1561446"/>
                </a:lnTo>
                <a:lnTo>
                  <a:pt x="2482069" y="1531783"/>
                </a:lnTo>
                <a:lnTo>
                  <a:pt x="2505936" y="1500155"/>
                </a:lnTo>
                <a:lnTo>
                  <a:pt x="2525182" y="1466665"/>
                </a:lnTo>
                <a:lnTo>
                  <a:pt x="3066545" y="1466665"/>
                </a:lnTo>
                <a:lnTo>
                  <a:pt x="3112248" y="1446846"/>
                </a:lnTo>
                <a:lnTo>
                  <a:pt x="3154276" y="1424014"/>
                </a:lnTo>
                <a:lnTo>
                  <a:pt x="3170671" y="1412932"/>
                </a:lnTo>
                <a:close/>
              </a:path>
              <a:path w="3820795" h="1729104">
                <a:moveTo>
                  <a:pt x="3066545" y="1466665"/>
                </a:moveTo>
                <a:lnTo>
                  <a:pt x="2525182" y="1466665"/>
                </a:lnTo>
                <a:lnTo>
                  <a:pt x="2574571" y="1483392"/>
                </a:lnTo>
                <a:lnTo>
                  <a:pt x="2626404" y="1496617"/>
                </a:lnTo>
                <a:lnTo>
                  <a:pt x="2680200" y="1506252"/>
                </a:lnTo>
                <a:lnTo>
                  <a:pt x="2735478" y="1512211"/>
                </a:lnTo>
                <a:lnTo>
                  <a:pt x="2791755" y="1514405"/>
                </a:lnTo>
                <a:lnTo>
                  <a:pt x="2851371" y="1512582"/>
                </a:lnTo>
                <a:lnTo>
                  <a:pt x="2909023" y="1506672"/>
                </a:lnTo>
                <a:lnTo>
                  <a:pt x="2964323" y="1496910"/>
                </a:lnTo>
                <a:lnTo>
                  <a:pt x="3016885" y="1483528"/>
                </a:lnTo>
                <a:lnTo>
                  <a:pt x="3066322" y="1466762"/>
                </a:lnTo>
                <a:lnTo>
                  <a:pt x="3066545" y="1466665"/>
                </a:lnTo>
                <a:close/>
              </a:path>
              <a:path w="3820795" h="1729104">
                <a:moveTo>
                  <a:pt x="957172" y="151827"/>
                </a:moveTo>
                <a:lnTo>
                  <a:pt x="907568" y="152128"/>
                </a:lnTo>
                <a:lnTo>
                  <a:pt x="857926" y="154984"/>
                </a:lnTo>
                <a:lnTo>
                  <a:pt x="797900" y="161920"/>
                </a:lnTo>
                <a:lnTo>
                  <a:pt x="740425" y="172352"/>
                </a:lnTo>
                <a:lnTo>
                  <a:pt x="685755" y="186070"/>
                </a:lnTo>
                <a:lnTo>
                  <a:pt x="634149" y="202867"/>
                </a:lnTo>
                <a:lnTo>
                  <a:pt x="585863" y="222535"/>
                </a:lnTo>
                <a:lnTo>
                  <a:pt x="541153" y="244866"/>
                </a:lnTo>
                <a:lnTo>
                  <a:pt x="500276" y="269651"/>
                </a:lnTo>
                <a:lnTo>
                  <a:pt x="463489" y="296684"/>
                </a:lnTo>
                <a:lnTo>
                  <a:pt x="431048" y="325756"/>
                </a:lnTo>
                <a:lnTo>
                  <a:pt x="403211" y="356658"/>
                </a:lnTo>
                <a:lnTo>
                  <a:pt x="380233" y="389184"/>
                </a:lnTo>
                <a:lnTo>
                  <a:pt x="362371" y="423125"/>
                </a:lnTo>
                <a:lnTo>
                  <a:pt x="343023" y="494419"/>
                </a:lnTo>
                <a:lnTo>
                  <a:pt x="342050" y="531356"/>
                </a:lnTo>
                <a:lnTo>
                  <a:pt x="347221" y="568877"/>
                </a:lnTo>
                <a:lnTo>
                  <a:pt x="344008" y="574211"/>
                </a:lnTo>
                <a:lnTo>
                  <a:pt x="284440" y="580985"/>
                </a:lnTo>
                <a:lnTo>
                  <a:pt x="228009" y="593308"/>
                </a:lnTo>
                <a:lnTo>
                  <a:pt x="175639" y="610803"/>
                </a:lnTo>
                <a:lnTo>
                  <a:pt x="128257" y="633092"/>
                </a:lnTo>
                <a:lnTo>
                  <a:pt x="86789" y="659798"/>
                </a:lnTo>
                <a:lnTo>
                  <a:pt x="52162" y="690543"/>
                </a:lnTo>
                <a:lnTo>
                  <a:pt x="25038" y="725422"/>
                </a:lnTo>
                <a:lnTo>
                  <a:pt x="7744" y="761568"/>
                </a:lnTo>
                <a:lnTo>
                  <a:pt x="0" y="798312"/>
                </a:lnTo>
                <a:lnTo>
                  <a:pt x="1520" y="834984"/>
                </a:lnTo>
                <a:lnTo>
                  <a:pt x="31230" y="905436"/>
                </a:lnTo>
                <a:lnTo>
                  <a:pt x="58854" y="937879"/>
                </a:lnTo>
                <a:lnTo>
                  <a:pt x="94613" y="967574"/>
                </a:lnTo>
                <a:lnTo>
                  <a:pt x="138226" y="993852"/>
                </a:lnTo>
                <a:lnTo>
                  <a:pt x="189410" y="1016044"/>
                </a:lnTo>
                <a:lnTo>
                  <a:pt x="147849" y="1048599"/>
                </a:lnTo>
                <a:lnTo>
                  <a:pt x="116461" y="1084708"/>
                </a:lnTo>
                <a:lnTo>
                  <a:pt x="95720" y="1123474"/>
                </a:lnTo>
                <a:lnTo>
                  <a:pt x="86101" y="1164000"/>
                </a:lnTo>
                <a:lnTo>
                  <a:pt x="88077" y="1205388"/>
                </a:lnTo>
                <a:lnTo>
                  <a:pt x="117237" y="1272129"/>
                </a:lnTo>
                <a:lnTo>
                  <a:pt x="142554" y="1301949"/>
                </a:lnTo>
                <a:lnTo>
                  <a:pt x="174147" y="1328975"/>
                </a:lnTo>
                <a:lnTo>
                  <a:pt x="211355" y="1352885"/>
                </a:lnTo>
                <a:lnTo>
                  <a:pt x="253518" y="1373358"/>
                </a:lnTo>
                <a:lnTo>
                  <a:pt x="299972" y="1390074"/>
                </a:lnTo>
                <a:lnTo>
                  <a:pt x="350059" y="1402710"/>
                </a:lnTo>
                <a:lnTo>
                  <a:pt x="403116" y="1410945"/>
                </a:lnTo>
                <a:lnTo>
                  <a:pt x="458482" y="1414460"/>
                </a:lnTo>
                <a:lnTo>
                  <a:pt x="515496" y="1412932"/>
                </a:lnTo>
                <a:lnTo>
                  <a:pt x="3170671" y="1412932"/>
                </a:lnTo>
                <a:lnTo>
                  <a:pt x="3225093" y="1370539"/>
                </a:lnTo>
                <a:lnTo>
                  <a:pt x="3253109" y="1340366"/>
                </a:lnTo>
                <a:lnTo>
                  <a:pt x="3275681" y="1308213"/>
                </a:lnTo>
                <a:lnTo>
                  <a:pt x="3302946" y="1238909"/>
                </a:lnTo>
                <a:lnTo>
                  <a:pt x="3306867" y="1202226"/>
                </a:lnTo>
                <a:lnTo>
                  <a:pt x="3357295" y="1196412"/>
                </a:lnTo>
                <a:lnTo>
                  <a:pt x="3406552" y="1187992"/>
                </a:lnTo>
                <a:lnTo>
                  <a:pt x="3454377" y="1177034"/>
                </a:lnTo>
                <a:lnTo>
                  <a:pt x="3500509" y="1163602"/>
                </a:lnTo>
                <a:lnTo>
                  <a:pt x="3544686" y="1147763"/>
                </a:lnTo>
                <a:lnTo>
                  <a:pt x="3586648" y="1129582"/>
                </a:lnTo>
                <a:lnTo>
                  <a:pt x="3636224" y="1103386"/>
                </a:lnTo>
                <a:lnTo>
                  <a:pt x="3680057" y="1074641"/>
                </a:lnTo>
                <a:lnTo>
                  <a:pt x="3718081" y="1043661"/>
                </a:lnTo>
                <a:lnTo>
                  <a:pt x="3750226" y="1010762"/>
                </a:lnTo>
                <a:lnTo>
                  <a:pt x="3776428" y="976260"/>
                </a:lnTo>
                <a:lnTo>
                  <a:pt x="3796618" y="940470"/>
                </a:lnTo>
                <a:lnTo>
                  <a:pt x="3810730" y="903707"/>
                </a:lnTo>
                <a:lnTo>
                  <a:pt x="3818697" y="866287"/>
                </a:lnTo>
                <a:lnTo>
                  <a:pt x="3820451" y="828525"/>
                </a:lnTo>
                <a:lnTo>
                  <a:pt x="3815925" y="790736"/>
                </a:lnTo>
                <a:lnTo>
                  <a:pt x="3805053" y="753237"/>
                </a:lnTo>
                <a:lnTo>
                  <a:pt x="3787767" y="716342"/>
                </a:lnTo>
                <a:lnTo>
                  <a:pt x="3764000" y="680367"/>
                </a:lnTo>
                <a:lnTo>
                  <a:pt x="3733686" y="645627"/>
                </a:lnTo>
                <a:lnTo>
                  <a:pt x="3696757" y="612438"/>
                </a:lnTo>
                <a:lnTo>
                  <a:pt x="3702970" y="603036"/>
                </a:lnTo>
                <a:lnTo>
                  <a:pt x="3730324" y="538396"/>
                </a:lnTo>
                <a:lnTo>
                  <a:pt x="3734929" y="502745"/>
                </a:lnTo>
                <a:lnTo>
                  <a:pt x="3732469" y="467590"/>
                </a:lnTo>
                <a:lnTo>
                  <a:pt x="3707598" y="400111"/>
                </a:lnTo>
                <a:lnTo>
                  <a:pt x="3685806" y="368455"/>
                </a:lnTo>
                <a:lnTo>
                  <a:pt x="3658189" y="338634"/>
                </a:lnTo>
                <a:lnTo>
                  <a:pt x="3625057" y="310982"/>
                </a:lnTo>
                <a:lnTo>
                  <a:pt x="3586720" y="285833"/>
                </a:lnTo>
                <a:lnTo>
                  <a:pt x="3543487" y="263522"/>
                </a:lnTo>
                <a:lnTo>
                  <a:pt x="3495668" y="244383"/>
                </a:lnTo>
                <a:lnTo>
                  <a:pt x="3443573" y="228751"/>
                </a:lnTo>
                <a:lnTo>
                  <a:pt x="3387512" y="216960"/>
                </a:lnTo>
                <a:lnTo>
                  <a:pt x="3380957" y="202101"/>
                </a:lnTo>
                <a:lnTo>
                  <a:pt x="1239815" y="202101"/>
                </a:lnTo>
                <a:lnTo>
                  <a:pt x="1195756" y="187663"/>
                </a:lnTo>
                <a:lnTo>
                  <a:pt x="1150141" y="175611"/>
                </a:lnTo>
                <a:lnTo>
                  <a:pt x="1103222" y="165974"/>
                </a:lnTo>
                <a:lnTo>
                  <a:pt x="1055252" y="158778"/>
                </a:lnTo>
                <a:lnTo>
                  <a:pt x="1006485" y="154053"/>
                </a:lnTo>
                <a:lnTo>
                  <a:pt x="957172" y="151827"/>
                </a:lnTo>
                <a:close/>
              </a:path>
              <a:path w="3820795" h="1729104">
                <a:moveTo>
                  <a:pt x="1671433" y="47824"/>
                </a:moveTo>
                <a:lnTo>
                  <a:pt x="1619419" y="48563"/>
                </a:lnTo>
                <a:lnTo>
                  <a:pt x="1568097" y="52807"/>
                </a:lnTo>
                <a:lnTo>
                  <a:pt x="1517945" y="60464"/>
                </a:lnTo>
                <a:lnTo>
                  <a:pt x="1469441" y="71446"/>
                </a:lnTo>
                <a:lnTo>
                  <a:pt x="1423064" y="85661"/>
                </a:lnTo>
                <a:lnTo>
                  <a:pt x="1379292" y="103021"/>
                </a:lnTo>
                <a:lnTo>
                  <a:pt x="1338603" y="123435"/>
                </a:lnTo>
                <a:lnTo>
                  <a:pt x="1301475" y="146813"/>
                </a:lnTo>
                <a:lnTo>
                  <a:pt x="1268386" y="173065"/>
                </a:lnTo>
                <a:lnTo>
                  <a:pt x="1239815" y="202101"/>
                </a:lnTo>
                <a:lnTo>
                  <a:pt x="3380957" y="202101"/>
                </a:lnTo>
                <a:lnTo>
                  <a:pt x="3368122" y="173006"/>
                </a:lnTo>
                <a:lnTo>
                  <a:pt x="3336982" y="132029"/>
                </a:lnTo>
                <a:lnTo>
                  <a:pt x="3336082" y="131235"/>
                </a:lnTo>
                <a:lnTo>
                  <a:pt x="1986321" y="131235"/>
                </a:lnTo>
                <a:lnTo>
                  <a:pt x="1961214" y="117049"/>
                </a:lnTo>
                <a:lnTo>
                  <a:pt x="1906382" y="92248"/>
                </a:lnTo>
                <a:lnTo>
                  <a:pt x="1826846" y="67529"/>
                </a:lnTo>
                <a:lnTo>
                  <a:pt x="1775625" y="57216"/>
                </a:lnTo>
                <a:lnTo>
                  <a:pt x="1723661" y="50678"/>
                </a:lnTo>
                <a:lnTo>
                  <a:pt x="1671433" y="47824"/>
                </a:lnTo>
                <a:close/>
              </a:path>
              <a:path w="3820795" h="1729104">
                <a:moveTo>
                  <a:pt x="2355670" y="4"/>
                </a:moveTo>
                <a:lnTo>
                  <a:pt x="2305862" y="86"/>
                </a:lnTo>
                <a:lnTo>
                  <a:pt x="2256809" y="4089"/>
                </a:lnTo>
                <a:lnTo>
                  <a:pt x="2209126" y="11887"/>
                </a:lnTo>
                <a:lnTo>
                  <a:pt x="2163431" y="23351"/>
                </a:lnTo>
                <a:lnTo>
                  <a:pt x="2120339" y="38356"/>
                </a:lnTo>
                <a:lnTo>
                  <a:pt x="2080465" y="56773"/>
                </a:lnTo>
                <a:lnTo>
                  <a:pt x="2044427" y="78477"/>
                </a:lnTo>
                <a:lnTo>
                  <a:pt x="2012840" y="103340"/>
                </a:lnTo>
                <a:lnTo>
                  <a:pt x="1986321" y="131235"/>
                </a:lnTo>
                <a:lnTo>
                  <a:pt x="3336082" y="131235"/>
                </a:lnTo>
                <a:lnTo>
                  <a:pt x="3294911" y="94909"/>
                </a:lnTo>
                <a:lnTo>
                  <a:pt x="3292052" y="93135"/>
                </a:lnTo>
                <a:lnTo>
                  <a:pt x="2637958" y="93135"/>
                </a:lnTo>
                <a:lnTo>
                  <a:pt x="2609317" y="72543"/>
                </a:lnTo>
                <a:lnTo>
                  <a:pt x="2541749" y="38074"/>
                </a:lnTo>
                <a:lnTo>
                  <a:pt x="2503465" y="24555"/>
                </a:lnTo>
                <a:lnTo>
                  <a:pt x="2455088" y="12112"/>
                </a:lnTo>
                <a:lnTo>
                  <a:pt x="2405618" y="3970"/>
                </a:lnTo>
                <a:lnTo>
                  <a:pt x="2355670" y="4"/>
                </a:lnTo>
                <a:close/>
              </a:path>
              <a:path w="3820795" h="1729104">
                <a:moveTo>
                  <a:pt x="2955363" y="0"/>
                </a:moveTo>
                <a:lnTo>
                  <a:pt x="2904875" y="2555"/>
                </a:lnTo>
                <a:lnTo>
                  <a:pt x="2855157" y="8742"/>
                </a:lnTo>
                <a:lnTo>
                  <a:pt x="2806776" y="18531"/>
                </a:lnTo>
                <a:lnTo>
                  <a:pt x="2760299" y="31894"/>
                </a:lnTo>
                <a:lnTo>
                  <a:pt x="2716292" y="48801"/>
                </a:lnTo>
                <a:lnTo>
                  <a:pt x="2675323" y="69225"/>
                </a:lnTo>
                <a:lnTo>
                  <a:pt x="2637958" y="93135"/>
                </a:lnTo>
                <a:lnTo>
                  <a:pt x="3292052" y="93135"/>
                </a:lnTo>
                <a:lnTo>
                  <a:pt x="3242732" y="62528"/>
                </a:lnTo>
                <a:lnTo>
                  <a:pt x="3199523" y="42693"/>
                </a:lnTo>
                <a:lnTo>
                  <a:pt x="3153684" y="26662"/>
                </a:lnTo>
                <a:lnTo>
                  <a:pt x="3105782" y="14406"/>
                </a:lnTo>
                <a:lnTo>
                  <a:pt x="3056383" y="5896"/>
                </a:lnTo>
                <a:lnTo>
                  <a:pt x="3006055" y="1103"/>
                </a:lnTo>
                <a:lnTo>
                  <a:pt x="295536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694433" y="6223584"/>
            <a:ext cx="192024" cy="2050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48154" y="6037236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144018" y="0"/>
                </a:moveTo>
                <a:lnTo>
                  <a:pt x="98511" y="7342"/>
                </a:lnTo>
                <a:lnTo>
                  <a:pt x="58978" y="27786"/>
                </a:lnTo>
                <a:lnTo>
                  <a:pt x="27797" y="58962"/>
                </a:lnTo>
                <a:lnTo>
                  <a:pt x="7345" y="98496"/>
                </a:lnTo>
                <a:lnTo>
                  <a:pt x="0" y="144018"/>
                </a:lnTo>
                <a:lnTo>
                  <a:pt x="7345" y="189539"/>
                </a:lnTo>
                <a:lnTo>
                  <a:pt x="27797" y="229073"/>
                </a:lnTo>
                <a:lnTo>
                  <a:pt x="58978" y="260249"/>
                </a:lnTo>
                <a:lnTo>
                  <a:pt x="98511" y="280693"/>
                </a:lnTo>
                <a:lnTo>
                  <a:pt x="144018" y="288036"/>
                </a:lnTo>
                <a:lnTo>
                  <a:pt x="189573" y="280693"/>
                </a:lnTo>
                <a:lnTo>
                  <a:pt x="229112" y="260249"/>
                </a:lnTo>
                <a:lnTo>
                  <a:pt x="260274" y="229073"/>
                </a:lnTo>
                <a:lnTo>
                  <a:pt x="280702" y="189539"/>
                </a:lnTo>
                <a:lnTo>
                  <a:pt x="288036" y="144018"/>
                </a:lnTo>
                <a:lnTo>
                  <a:pt x="280702" y="98496"/>
                </a:lnTo>
                <a:lnTo>
                  <a:pt x="260274" y="58962"/>
                </a:lnTo>
                <a:lnTo>
                  <a:pt x="229112" y="27786"/>
                </a:lnTo>
                <a:lnTo>
                  <a:pt x="189573" y="7342"/>
                </a:lnTo>
                <a:lnTo>
                  <a:pt x="14401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29751" y="4442415"/>
            <a:ext cx="3820795" cy="1729105"/>
          </a:xfrm>
          <a:custGeom>
            <a:avLst/>
            <a:gdLst/>
            <a:ahLst/>
            <a:cxnLst/>
            <a:rect l="l" t="t" r="r" b="b"/>
            <a:pathLst>
              <a:path w="3820795" h="1729104">
                <a:moveTo>
                  <a:pt x="347221" y="568877"/>
                </a:moveTo>
                <a:lnTo>
                  <a:pt x="342050" y="531356"/>
                </a:lnTo>
                <a:lnTo>
                  <a:pt x="343023" y="494419"/>
                </a:lnTo>
                <a:lnTo>
                  <a:pt x="349882" y="458272"/>
                </a:lnTo>
                <a:lnTo>
                  <a:pt x="380233" y="389184"/>
                </a:lnTo>
                <a:lnTo>
                  <a:pt x="403211" y="356658"/>
                </a:lnTo>
                <a:lnTo>
                  <a:pt x="431048" y="325756"/>
                </a:lnTo>
                <a:lnTo>
                  <a:pt x="463489" y="296684"/>
                </a:lnTo>
                <a:lnTo>
                  <a:pt x="500276" y="269651"/>
                </a:lnTo>
                <a:lnTo>
                  <a:pt x="541153" y="244866"/>
                </a:lnTo>
                <a:lnTo>
                  <a:pt x="585863" y="222535"/>
                </a:lnTo>
                <a:lnTo>
                  <a:pt x="634149" y="202867"/>
                </a:lnTo>
                <a:lnTo>
                  <a:pt x="685755" y="186070"/>
                </a:lnTo>
                <a:lnTo>
                  <a:pt x="740425" y="172352"/>
                </a:lnTo>
                <a:lnTo>
                  <a:pt x="797900" y="161920"/>
                </a:lnTo>
                <a:lnTo>
                  <a:pt x="857926" y="154984"/>
                </a:lnTo>
                <a:lnTo>
                  <a:pt x="907568" y="152128"/>
                </a:lnTo>
                <a:lnTo>
                  <a:pt x="957172" y="151827"/>
                </a:lnTo>
                <a:lnTo>
                  <a:pt x="1006485" y="154053"/>
                </a:lnTo>
                <a:lnTo>
                  <a:pt x="1055252" y="158778"/>
                </a:lnTo>
                <a:lnTo>
                  <a:pt x="1103222" y="165974"/>
                </a:lnTo>
                <a:lnTo>
                  <a:pt x="1150141" y="175611"/>
                </a:lnTo>
                <a:lnTo>
                  <a:pt x="1195756" y="187663"/>
                </a:lnTo>
                <a:lnTo>
                  <a:pt x="1239815" y="202101"/>
                </a:lnTo>
                <a:lnTo>
                  <a:pt x="1268386" y="173065"/>
                </a:lnTo>
                <a:lnTo>
                  <a:pt x="1301475" y="146813"/>
                </a:lnTo>
                <a:lnTo>
                  <a:pt x="1338603" y="123435"/>
                </a:lnTo>
                <a:lnTo>
                  <a:pt x="1379292" y="103021"/>
                </a:lnTo>
                <a:lnTo>
                  <a:pt x="1423064" y="85661"/>
                </a:lnTo>
                <a:lnTo>
                  <a:pt x="1469441" y="71446"/>
                </a:lnTo>
                <a:lnTo>
                  <a:pt x="1517945" y="60464"/>
                </a:lnTo>
                <a:lnTo>
                  <a:pt x="1568097" y="52807"/>
                </a:lnTo>
                <a:lnTo>
                  <a:pt x="1619419" y="48563"/>
                </a:lnTo>
                <a:lnTo>
                  <a:pt x="1671433" y="47824"/>
                </a:lnTo>
                <a:lnTo>
                  <a:pt x="1723661" y="50678"/>
                </a:lnTo>
                <a:lnTo>
                  <a:pt x="1775625" y="57216"/>
                </a:lnTo>
                <a:lnTo>
                  <a:pt x="1826846" y="67529"/>
                </a:lnTo>
                <a:lnTo>
                  <a:pt x="1876847" y="81705"/>
                </a:lnTo>
                <a:lnTo>
                  <a:pt x="1934537" y="104041"/>
                </a:lnTo>
                <a:lnTo>
                  <a:pt x="1986321" y="131235"/>
                </a:lnTo>
                <a:lnTo>
                  <a:pt x="2012840" y="103340"/>
                </a:lnTo>
                <a:lnTo>
                  <a:pt x="2044427" y="78477"/>
                </a:lnTo>
                <a:lnTo>
                  <a:pt x="2080465" y="56773"/>
                </a:lnTo>
                <a:lnTo>
                  <a:pt x="2120339" y="38356"/>
                </a:lnTo>
                <a:lnTo>
                  <a:pt x="2163431" y="23351"/>
                </a:lnTo>
                <a:lnTo>
                  <a:pt x="2209126" y="11887"/>
                </a:lnTo>
                <a:lnTo>
                  <a:pt x="2256809" y="4089"/>
                </a:lnTo>
                <a:lnTo>
                  <a:pt x="2305862" y="86"/>
                </a:lnTo>
                <a:lnTo>
                  <a:pt x="2355670" y="4"/>
                </a:lnTo>
                <a:lnTo>
                  <a:pt x="2405618" y="3970"/>
                </a:lnTo>
                <a:lnTo>
                  <a:pt x="2455088" y="12112"/>
                </a:lnTo>
                <a:lnTo>
                  <a:pt x="2503465" y="24555"/>
                </a:lnTo>
                <a:lnTo>
                  <a:pt x="2541749" y="38074"/>
                </a:lnTo>
                <a:lnTo>
                  <a:pt x="2577141" y="54130"/>
                </a:lnTo>
                <a:lnTo>
                  <a:pt x="2637958" y="93135"/>
                </a:lnTo>
                <a:lnTo>
                  <a:pt x="2675323" y="69225"/>
                </a:lnTo>
                <a:lnTo>
                  <a:pt x="2716292" y="48801"/>
                </a:lnTo>
                <a:lnTo>
                  <a:pt x="2760299" y="31894"/>
                </a:lnTo>
                <a:lnTo>
                  <a:pt x="2806776" y="18531"/>
                </a:lnTo>
                <a:lnTo>
                  <a:pt x="2855157" y="8742"/>
                </a:lnTo>
                <a:lnTo>
                  <a:pt x="2904875" y="2555"/>
                </a:lnTo>
                <a:lnTo>
                  <a:pt x="2955363" y="0"/>
                </a:lnTo>
                <a:lnTo>
                  <a:pt x="3006055" y="1103"/>
                </a:lnTo>
                <a:lnTo>
                  <a:pt x="3056383" y="5896"/>
                </a:lnTo>
                <a:lnTo>
                  <a:pt x="3105782" y="14406"/>
                </a:lnTo>
                <a:lnTo>
                  <a:pt x="3153684" y="26662"/>
                </a:lnTo>
                <a:lnTo>
                  <a:pt x="3199523" y="42693"/>
                </a:lnTo>
                <a:lnTo>
                  <a:pt x="3242732" y="62528"/>
                </a:lnTo>
                <a:lnTo>
                  <a:pt x="3294911" y="94909"/>
                </a:lnTo>
                <a:lnTo>
                  <a:pt x="3336982" y="132029"/>
                </a:lnTo>
                <a:lnTo>
                  <a:pt x="3368122" y="173006"/>
                </a:lnTo>
                <a:lnTo>
                  <a:pt x="3387512" y="216960"/>
                </a:lnTo>
                <a:lnTo>
                  <a:pt x="3443573" y="228751"/>
                </a:lnTo>
                <a:lnTo>
                  <a:pt x="3495668" y="244383"/>
                </a:lnTo>
                <a:lnTo>
                  <a:pt x="3543487" y="263522"/>
                </a:lnTo>
                <a:lnTo>
                  <a:pt x="3586720" y="285833"/>
                </a:lnTo>
                <a:lnTo>
                  <a:pt x="3625057" y="310982"/>
                </a:lnTo>
                <a:lnTo>
                  <a:pt x="3658189" y="338634"/>
                </a:lnTo>
                <a:lnTo>
                  <a:pt x="3685806" y="368455"/>
                </a:lnTo>
                <a:lnTo>
                  <a:pt x="3707598" y="400111"/>
                </a:lnTo>
                <a:lnTo>
                  <a:pt x="3732469" y="467590"/>
                </a:lnTo>
                <a:lnTo>
                  <a:pt x="3734929" y="502745"/>
                </a:lnTo>
                <a:lnTo>
                  <a:pt x="3730324" y="538396"/>
                </a:lnTo>
                <a:lnTo>
                  <a:pt x="3713777" y="583899"/>
                </a:lnTo>
                <a:lnTo>
                  <a:pt x="3696757" y="612438"/>
                </a:lnTo>
                <a:lnTo>
                  <a:pt x="3733686" y="645627"/>
                </a:lnTo>
                <a:lnTo>
                  <a:pt x="3764000" y="680367"/>
                </a:lnTo>
                <a:lnTo>
                  <a:pt x="3787767" y="716342"/>
                </a:lnTo>
                <a:lnTo>
                  <a:pt x="3805053" y="753237"/>
                </a:lnTo>
                <a:lnTo>
                  <a:pt x="3815925" y="790736"/>
                </a:lnTo>
                <a:lnTo>
                  <a:pt x="3820451" y="828525"/>
                </a:lnTo>
                <a:lnTo>
                  <a:pt x="3818697" y="866287"/>
                </a:lnTo>
                <a:lnTo>
                  <a:pt x="3810730" y="903707"/>
                </a:lnTo>
                <a:lnTo>
                  <a:pt x="3796618" y="940470"/>
                </a:lnTo>
                <a:lnTo>
                  <a:pt x="3776428" y="976260"/>
                </a:lnTo>
                <a:lnTo>
                  <a:pt x="3750226" y="1010762"/>
                </a:lnTo>
                <a:lnTo>
                  <a:pt x="3718081" y="1043661"/>
                </a:lnTo>
                <a:lnTo>
                  <a:pt x="3680057" y="1074641"/>
                </a:lnTo>
                <a:lnTo>
                  <a:pt x="3636224" y="1103386"/>
                </a:lnTo>
                <a:lnTo>
                  <a:pt x="3586648" y="1129582"/>
                </a:lnTo>
                <a:lnTo>
                  <a:pt x="3544686" y="1147763"/>
                </a:lnTo>
                <a:lnTo>
                  <a:pt x="3500509" y="1163602"/>
                </a:lnTo>
                <a:lnTo>
                  <a:pt x="3454377" y="1177034"/>
                </a:lnTo>
                <a:lnTo>
                  <a:pt x="3406552" y="1187992"/>
                </a:lnTo>
                <a:lnTo>
                  <a:pt x="3357295" y="1196412"/>
                </a:lnTo>
                <a:lnTo>
                  <a:pt x="3306867" y="1202226"/>
                </a:lnTo>
                <a:lnTo>
                  <a:pt x="3302946" y="1238909"/>
                </a:lnTo>
                <a:lnTo>
                  <a:pt x="3275681" y="1308213"/>
                </a:lnTo>
                <a:lnTo>
                  <a:pt x="3253109" y="1340366"/>
                </a:lnTo>
                <a:lnTo>
                  <a:pt x="3225093" y="1370539"/>
                </a:lnTo>
                <a:lnTo>
                  <a:pt x="3192020" y="1398500"/>
                </a:lnTo>
                <a:lnTo>
                  <a:pt x="3154276" y="1424014"/>
                </a:lnTo>
                <a:lnTo>
                  <a:pt x="3112248" y="1446846"/>
                </a:lnTo>
                <a:lnTo>
                  <a:pt x="3066322" y="1466762"/>
                </a:lnTo>
                <a:lnTo>
                  <a:pt x="3016885" y="1483528"/>
                </a:lnTo>
                <a:lnTo>
                  <a:pt x="2964323" y="1496910"/>
                </a:lnTo>
                <a:lnTo>
                  <a:pt x="2909023" y="1506672"/>
                </a:lnTo>
                <a:lnTo>
                  <a:pt x="2851371" y="1512582"/>
                </a:lnTo>
                <a:lnTo>
                  <a:pt x="2791755" y="1514405"/>
                </a:lnTo>
                <a:lnTo>
                  <a:pt x="2735478" y="1512211"/>
                </a:lnTo>
                <a:lnTo>
                  <a:pt x="2680200" y="1506252"/>
                </a:lnTo>
                <a:lnTo>
                  <a:pt x="2626404" y="1496617"/>
                </a:lnTo>
                <a:lnTo>
                  <a:pt x="2574571" y="1483392"/>
                </a:lnTo>
                <a:lnTo>
                  <a:pt x="2525182" y="1466665"/>
                </a:lnTo>
                <a:lnTo>
                  <a:pt x="2505936" y="1500155"/>
                </a:lnTo>
                <a:lnTo>
                  <a:pt x="2482069" y="1531783"/>
                </a:lnTo>
                <a:lnTo>
                  <a:pt x="2453891" y="1561446"/>
                </a:lnTo>
                <a:lnTo>
                  <a:pt x="2421716" y="1589041"/>
                </a:lnTo>
                <a:lnTo>
                  <a:pt x="2385855" y="1614465"/>
                </a:lnTo>
                <a:lnTo>
                  <a:pt x="2346619" y="1637615"/>
                </a:lnTo>
                <a:lnTo>
                  <a:pt x="2304321" y="1658387"/>
                </a:lnTo>
                <a:lnTo>
                  <a:pt x="2259271" y="1676679"/>
                </a:lnTo>
                <a:lnTo>
                  <a:pt x="2211782" y="1692387"/>
                </a:lnTo>
                <a:lnTo>
                  <a:pt x="2162166" y="1705408"/>
                </a:lnTo>
                <a:lnTo>
                  <a:pt x="2110734" y="1715640"/>
                </a:lnTo>
                <a:lnTo>
                  <a:pt x="2057798" y="1722978"/>
                </a:lnTo>
                <a:lnTo>
                  <a:pt x="2003670" y="1727320"/>
                </a:lnTo>
                <a:lnTo>
                  <a:pt x="1948661" y="1728563"/>
                </a:lnTo>
                <a:lnTo>
                  <a:pt x="1893084" y="1726603"/>
                </a:lnTo>
                <a:lnTo>
                  <a:pt x="1837249" y="1721338"/>
                </a:lnTo>
                <a:lnTo>
                  <a:pt x="1781470" y="1712664"/>
                </a:lnTo>
                <a:lnTo>
                  <a:pt x="1726017" y="1700406"/>
                </a:lnTo>
                <a:lnTo>
                  <a:pt x="1673100" y="1684928"/>
                </a:lnTo>
                <a:lnTo>
                  <a:pt x="1623059" y="1666388"/>
                </a:lnTo>
                <a:lnTo>
                  <a:pt x="1576238" y="1644940"/>
                </a:lnTo>
                <a:lnTo>
                  <a:pt x="1532977" y="1620740"/>
                </a:lnTo>
                <a:lnTo>
                  <a:pt x="1493620" y="1593945"/>
                </a:lnTo>
                <a:lnTo>
                  <a:pt x="1458509" y="1564709"/>
                </a:lnTo>
                <a:lnTo>
                  <a:pt x="1411770" y="1580604"/>
                </a:lnTo>
                <a:lnTo>
                  <a:pt x="1363932" y="1594020"/>
                </a:lnTo>
                <a:lnTo>
                  <a:pt x="1315201" y="1604988"/>
                </a:lnTo>
                <a:lnTo>
                  <a:pt x="1265787" y="1613542"/>
                </a:lnTo>
                <a:lnTo>
                  <a:pt x="1215897" y="1619713"/>
                </a:lnTo>
                <a:lnTo>
                  <a:pt x="1165739" y="1623533"/>
                </a:lnTo>
                <a:lnTo>
                  <a:pt x="1115521" y="1625034"/>
                </a:lnTo>
                <a:lnTo>
                  <a:pt x="1065452" y="1624248"/>
                </a:lnTo>
                <a:lnTo>
                  <a:pt x="1015739" y="1621208"/>
                </a:lnTo>
                <a:lnTo>
                  <a:pt x="966590" y="1615945"/>
                </a:lnTo>
                <a:lnTo>
                  <a:pt x="918213" y="1608491"/>
                </a:lnTo>
                <a:lnTo>
                  <a:pt x="870817" y="1598879"/>
                </a:lnTo>
                <a:lnTo>
                  <a:pt x="824609" y="1587141"/>
                </a:lnTo>
                <a:lnTo>
                  <a:pt x="779798" y="1573308"/>
                </a:lnTo>
                <a:lnTo>
                  <a:pt x="736592" y="1557412"/>
                </a:lnTo>
                <a:lnTo>
                  <a:pt x="695197" y="1539487"/>
                </a:lnTo>
                <a:lnTo>
                  <a:pt x="655824" y="1519563"/>
                </a:lnTo>
                <a:lnTo>
                  <a:pt x="618679" y="1497673"/>
                </a:lnTo>
                <a:lnTo>
                  <a:pt x="583971" y="1473849"/>
                </a:lnTo>
                <a:lnTo>
                  <a:pt x="551907" y="1448122"/>
                </a:lnTo>
                <a:lnTo>
                  <a:pt x="522697" y="1420526"/>
                </a:lnTo>
                <a:lnTo>
                  <a:pt x="515496" y="1412932"/>
                </a:lnTo>
                <a:lnTo>
                  <a:pt x="458482" y="1414460"/>
                </a:lnTo>
                <a:lnTo>
                  <a:pt x="403116" y="1410945"/>
                </a:lnTo>
                <a:lnTo>
                  <a:pt x="350059" y="1402710"/>
                </a:lnTo>
                <a:lnTo>
                  <a:pt x="299972" y="1390074"/>
                </a:lnTo>
                <a:lnTo>
                  <a:pt x="253518" y="1373358"/>
                </a:lnTo>
                <a:lnTo>
                  <a:pt x="211355" y="1352885"/>
                </a:lnTo>
                <a:lnTo>
                  <a:pt x="174147" y="1328975"/>
                </a:lnTo>
                <a:lnTo>
                  <a:pt x="142554" y="1301949"/>
                </a:lnTo>
                <a:lnTo>
                  <a:pt x="117237" y="1272129"/>
                </a:lnTo>
                <a:lnTo>
                  <a:pt x="88077" y="1205388"/>
                </a:lnTo>
                <a:lnTo>
                  <a:pt x="86101" y="1164000"/>
                </a:lnTo>
                <a:lnTo>
                  <a:pt x="95720" y="1123474"/>
                </a:lnTo>
                <a:lnTo>
                  <a:pt x="116461" y="1084708"/>
                </a:lnTo>
                <a:lnTo>
                  <a:pt x="147849" y="1048599"/>
                </a:lnTo>
                <a:lnTo>
                  <a:pt x="189410" y="1016044"/>
                </a:lnTo>
                <a:lnTo>
                  <a:pt x="138226" y="993852"/>
                </a:lnTo>
                <a:lnTo>
                  <a:pt x="94613" y="967574"/>
                </a:lnTo>
                <a:lnTo>
                  <a:pt x="58854" y="937879"/>
                </a:lnTo>
                <a:lnTo>
                  <a:pt x="31230" y="905436"/>
                </a:lnTo>
                <a:lnTo>
                  <a:pt x="12025" y="870915"/>
                </a:lnTo>
                <a:lnTo>
                  <a:pt x="0" y="798312"/>
                </a:lnTo>
                <a:lnTo>
                  <a:pt x="7744" y="761568"/>
                </a:lnTo>
                <a:lnTo>
                  <a:pt x="25038" y="725422"/>
                </a:lnTo>
                <a:lnTo>
                  <a:pt x="52162" y="690543"/>
                </a:lnTo>
                <a:lnTo>
                  <a:pt x="86789" y="659798"/>
                </a:lnTo>
                <a:lnTo>
                  <a:pt x="128257" y="633092"/>
                </a:lnTo>
                <a:lnTo>
                  <a:pt x="175639" y="610803"/>
                </a:lnTo>
                <a:lnTo>
                  <a:pt x="228009" y="593308"/>
                </a:lnTo>
                <a:lnTo>
                  <a:pt x="284440" y="580985"/>
                </a:lnTo>
                <a:lnTo>
                  <a:pt x="344008" y="574211"/>
                </a:lnTo>
                <a:lnTo>
                  <a:pt x="347221" y="56887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689861" y="6219012"/>
            <a:ext cx="201168" cy="2141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748154" y="6037236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288036" y="144018"/>
                </a:moveTo>
                <a:lnTo>
                  <a:pt x="280702" y="189539"/>
                </a:lnTo>
                <a:lnTo>
                  <a:pt x="260274" y="229073"/>
                </a:lnTo>
                <a:lnTo>
                  <a:pt x="229112" y="260249"/>
                </a:lnTo>
                <a:lnTo>
                  <a:pt x="189573" y="280693"/>
                </a:lnTo>
                <a:lnTo>
                  <a:pt x="144018" y="288036"/>
                </a:lnTo>
                <a:lnTo>
                  <a:pt x="98511" y="280693"/>
                </a:lnTo>
                <a:lnTo>
                  <a:pt x="58978" y="260249"/>
                </a:lnTo>
                <a:lnTo>
                  <a:pt x="27797" y="229073"/>
                </a:lnTo>
                <a:lnTo>
                  <a:pt x="7345" y="189539"/>
                </a:lnTo>
                <a:lnTo>
                  <a:pt x="0" y="144018"/>
                </a:lnTo>
                <a:lnTo>
                  <a:pt x="7345" y="98496"/>
                </a:lnTo>
                <a:lnTo>
                  <a:pt x="27797" y="58962"/>
                </a:lnTo>
                <a:lnTo>
                  <a:pt x="58978" y="27786"/>
                </a:lnTo>
                <a:lnTo>
                  <a:pt x="98511" y="7342"/>
                </a:lnTo>
                <a:lnTo>
                  <a:pt x="144018" y="0"/>
                </a:lnTo>
                <a:lnTo>
                  <a:pt x="189573" y="7342"/>
                </a:lnTo>
                <a:lnTo>
                  <a:pt x="229112" y="27786"/>
                </a:lnTo>
                <a:lnTo>
                  <a:pt x="260274" y="58962"/>
                </a:lnTo>
                <a:lnTo>
                  <a:pt x="280702" y="98496"/>
                </a:lnTo>
                <a:lnTo>
                  <a:pt x="288036" y="14401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23252" y="5451728"/>
            <a:ext cx="224154" cy="32384"/>
          </a:xfrm>
          <a:custGeom>
            <a:avLst/>
            <a:gdLst/>
            <a:ahLst/>
            <a:cxnLst/>
            <a:rect l="l" t="t" r="r" b="b"/>
            <a:pathLst>
              <a:path w="224155" h="32385">
                <a:moveTo>
                  <a:pt x="223761" y="31877"/>
                </a:moveTo>
                <a:lnTo>
                  <a:pt x="176996" y="32329"/>
                </a:lnTo>
                <a:lnTo>
                  <a:pt x="130732" y="29306"/>
                </a:lnTo>
                <a:lnTo>
                  <a:pt x="85475" y="22870"/>
                </a:lnTo>
                <a:lnTo>
                  <a:pt x="41729" y="13081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146543" y="5832500"/>
            <a:ext cx="98425" cy="15875"/>
          </a:xfrm>
          <a:custGeom>
            <a:avLst/>
            <a:gdLst/>
            <a:ahLst/>
            <a:cxnLst/>
            <a:rect l="l" t="t" r="r" b="b"/>
            <a:pathLst>
              <a:path w="98425" h="15875">
                <a:moveTo>
                  <a:pt x="97904" y="0"/>
                </a:moveTo>
                <a:lnTo>
                  <a:pt x="74080" y="5296"/>
                </a:lnTo>
                <a:lnTo>
                  <a:pt x="49771" y="9612"/>
                </a:lnTo>
                <a:lnTo>
                  <a:pt x="25052" y="12935"/>
                </a:lnTo>
                <a:lnTo>
                  <a:pt x="0" y="15252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029079" y="5930544"/>
            <a:ext cx="59055" cy="69850"/>
          </a:xfrm>
          <a:custGeom>
            <a:avLst/>
            <a:gdLst/>
            <a:ahLst/>
            <a:cxnLst/>
            <a:rect l="l" t="t" r="r" b="b"/>
            <a:pathLst>
              <a:path w="59055" h="69850">
                <a:moveTo>
                  <a:pt x="58927" y="69608"/>
                </a:moveTo>
                <a:lnTo>
                  <a:pt x="41951" y="52958"/>
                </a:lnTo>
                <a:lnTo>
                  <a:pt x="26463" y="35780"/>
                </a:lnTo>
                <a:lnTo>
                  <a:pt x="12475" y="18114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155314" y="5826582"/>
            <a:ext cx="24130" cy="76835"/>
          </a:xfrm>
          <a:custGeom>
            <a:avLst/>
            <a:gdLst/>
            <a:ahLst/>
            <a:cxnLst/>
            <a:rect l="l" t="t" r="r" b="b"/>
            <a:pathLst>
              <a:path w="24130" h="76835">
                <a:moveTo>
                  <a:pt x="23622" y="0"/>
                </a:moveTo>
                <a:lnTo>
                  <a:pt x="20145" y="19359"/>
                </a:lnTo>
                <a:lnTo>
                  <a:pt x="15049" y="38569"/>
                </a:lnTo>
                <a:lnTo>
                  <a:pt x="8334" y="57589"/>
                </a:lnTo>
                <a:lnTo>
                  <a:pt x="0" y="7637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647313" y="5354701"/>
            <a:ext cx="287655" cy="285750"/>
          </a:xfrm>
          <a:custGeom>
            <a:avLst/>
            <a:gdLst/>
            <a:ahLst/>
            <a:cxnLst/>
            <a:rect l="l" t="t" r="r" b="b"/>
            <a:pathLst>
              <a:path w="287654" h="285750">
                <a:moveTo>
                  <a:pt x="0" y="0"/>
                </a:moveTo>
                <a:lnTo>
                  <a:pt x="56528" y="19774"/>
                </a:lnTo>
                <a:lnTo>
                  <a:pt x="107826" y="43447"/>
                </a:lnTo>
                <a:lnTo>
                  <a:pt x="153495" y="70627"/>
                </a:lnTo>
                <a:lnTo>
                  <a:pt x="193141" y="100920"/>
                </a:lnTo>
                <a:lnTo>
                  <a:pt x="226367" y="133937"/>
                </a:lnTo>
                <a:lnTo>
                  <a:pt x="252777" y="169284"/>
                </a:lnTo>
                <a:lnTo>
                  <a:pt x="271974" y="206570"/>
                </a:lnTo>
                <a:lnTo>
                  <a:pt x="283562" y="245404"/>
                </a:lnTo>
                <a:lnTo>
                  <a:pt x="287147" y="28539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196841" y="5050663"/>
            <a:ext cx="128270" cy="107314"/>
          </a:xfrm>
          <a:custGeom>
            <a:avLst/>
            <a:gdLst/>
            <a:ahLst/>
            <a:cxnLst/>
            <a:rect l="l" t="t" r="r" b="b"/>
            <a:pathLst>
              <a:path w="128270" h="107314">
                <a:moveTo>
                  <a:pt x="127888" y="0"/>
                </a:moveTo>
                <a:lnTo>
                  <a:pt x="103584" y="30031"/>
                </a:lnTo>
                <a:lnTo>
                  <a:pt x="73945" y="58038"/>
                </a:lnTo>
                <a:lnTo>
                  <a:pt x="39306" y="83760"/>
                </a:lnTo>
                <a:lnTo>
                  <a:pt x="0" y="10693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017771" y="4653407"/>
            <a:ext cx="6985" cy="50800"/>
          </a:xfrm>
          <a:custGeom>
            <a:avLst/>
            <a:gdLst/>
            <a:ahLst/>
            <a:cxnLst/>
            <a:rect l="l" t="t" r="r" b="b"/>
            <a:pathLst>
              <a:path w="6985" h="50800">
                <a:moveTo>
                  <a:pt x="0" y="0"/>
                </a:moveTo>
                <a:lnTo>
                  <a:pt x="3214" y="12594"/>
                </a:lnTo>
                <a:lnTo>
                  <a:pt x="5429" y="25225"/>
                </a:lnTo>
                <a:lnTo>
                  <a:pt x="6643" y="37879"/>
                </a:lnTo>
                <a:lnTo>
                  <a:pt x="6857" y="5054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201035" y="4529963"/>
            <a:ext cx="66040" cy="64769"/>
          </a:xfrm>
          <a:custGeom>
            <a:avLst/>
            <a:gdLst/>
            <a:ahLst/>
            <a:cxnLst/>
            <a:rect l="l" t="t" r="r" b="b"/>
            <a:pathLst>
              <a:path w="66039" h="64770">
                <a:moveTo>
                  <a:pt x="0" y="64516"/>
                </a:moveTo>
                <a:lnTo>
                  <a:pt x="13543" y="47309"/>
                </a:lnTo>
                <a:lnTo>
                  <a:pt x="29003" y="30781"/>
                </a:lnTo>
                <a:lnTo>
                  <a:pt x="46345" y="14991"/>
                </a:lnTo>
                <a:lnTo>
                  <a:pt x="65531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588260" y="4569586"/>
            <a:ext cx="31750" cy="55880"/>
          </a:xfrm>
          <a:custGeom>
            <a:avLst/>
            <a:gdLst/>
            <a:ahLst/>
            <a:cxnLst/>
            <a:rect l="l" t="t" r="r" b="b"/>
            <a:pathLst>
              <a:path w="31750" h="55879">
                <a:moveTo>
                  <a:pt x="0" y="55625"/>
                </a:moveTo>
                <a:lnTo>
                  <a:pt x="5853" y="41273"/>
                </a:lnTo>
                <a:lnTo>
                  <a:pt x="13112" y="27193"/>
                </a:lnTo>
                <a:lnTo>
                  <a:pt x="21752" y="13424"/>
                </a:lnTo>
                <a:lnTo>
                  <a:pt x="3175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869185" y="4644009"/>
            <a:ext cx="114935" cy="53975"/>
          </a:xfrm>
          <a:custGeom>
            <a:avLst/>
            <a:gdLst/>
            <a:ahLst/>
            <a:cxnLst/>
            <a:rect l="l" t="t" r="r" b="b"/>
            <a:pathLst>
              <a:path w="114935" h="53975">
                <a:moveTo>
                  <a:pt x="0" y="0"/>
                </a:moveTo>
                <a:lnTo>
                  <a:pt x="30654" y="11898"/>
                </a:lnTo>
                <a:lnTo>
                  <a:pt x="60070" y="24892"/>
                </a:lnTo>
                <a:lnTo>
                  <a:pt x="88153" y="38933"/>
                </a:lnTo>
                <a:lnTo>
                  <a:pt x="114807" y="5397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76985" y="5011292"/>
            <a:ext cx="20320" cy="57150"/>
          </a:xfrm>
          <a:custGeom>
            <a:avLst/>
            <a:gdLst/>
            <a:ahLst/>
            <a:cxnLst/>
            <a:rect l="l" t="t" r="r" b="b"/>
            <a:pathLst>
              <a:path w="20319" h="57150">
                <a:moveTo>
                  <a:pt x="20040" y="56768"/>
                </a:moveTo>
                <a:lnTo>
                  <a:pt x="13664" y="42719"/>
                </a:lnTo>
                <a:lnTo>
                  <a:pt x="8196" y="28574"/>
                </a:lnTo>
                <a:lnTo>
                  <a:pt x="3640" y="14335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237589" y="4718126"/>
            <a:ext cx="2156460" cy="8807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z="2800" spc="-10" dirty="0">
                <a:latin typeface="微软雅黑"/>
                <a:cs typeface="微软雅黑"/>
              </a:rPr>
              <a:t>有没有相对唯 </a:t>
            </a:r>
            <a:r>
              <a:rPr sz="2800" spc="-5" dirty="0">
                <a:latin typeface="微软雅黑"/>
                <a:cs typeface="微软雅黑"/>
              </a:rPr>
              <a:t>一的表达式？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6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3942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最大项和最小项</a:t>
            </a:r>
          </a:p>
        </p:txBody>
      </p:sp>
      <p:sp>
        <p:nvSpPr>
          <p:cNvPr id="3" name="object 3"/>
          <p:cNvSpPr/>
          <p:nvPr/>
        </p:nvSpPr>
        <p:spPr>
          <a:xfrm>
            <a:off x="701598" y="1197102"/>
            <a:ext cx="8501380" cy="273685"/>
          </a:xfrm>
          <a:custGeom>
            <a:avLst/>
            <a:gdLst/>
            <a:ahLst/>
            <a:cxnLst/>
            <a:rect l="l" t="t" r="r" b="b"/>
            <a:pathLst>
              <a:path w="8501380" h="273684">
                <a:moveTo>
                  <a:pt x="34188" y="170942"/>
                </a:moveTo>
                <a:lnTo>
                  <a:pt x="20879" y="173636"/>
                </a:lnTo>
                <a:lnTo>
                  <a:pt x="10012" y="180975"/>
                </a:lnTo>
                <a:lnTo>
                  <a:pt x="2686" y="191837"/>
                </a:lnTo>
                <a:lnTo>
                  <a:pt x="0" y="205105"/>
                </a:lnTo>
                <a:lnTo>
                  <a:pt x="0" y="273558"/>
                </a:lnTo>
                <a:lnTo>
                  <a:pt x="26612" y="268184"/>
                </a:lnTo>
                <a:lnTo>
                  <a:pt x="48347" y="253523"/>
                </a:lnTo>
                <a:lnTo>
                  <a:pt x="63002" y="231767"/>
                </a:lnTo>
                <a:lnTo>
                  <a:pt x="68376" y="205105"/>
                </a:lnTo>
                <a:lnTo>
                  <a:pt x="65690" y="191837"/>
                </a:lnTo>
                <a:lnTo>
                  <a:pt x="58364" y="180975"/>
                </a:lnTo>
                <a:lnTo>
                  <a:pt x="47497" y="173636"/>
                </a:lnTo>
                <a:lnTo>
                  <a:pt x="34188" y="170942"/>
                </a:lnTo>
                <a:close/>
              </a:path>
              <a:path w="8501380" h="273684">
                <a:moveTo>
                  <a:pt x="8501075" y="68325"/>
                </a:moveTo>
                <a:lnTo>
                  <a:pt x="8432749" y="68325"/>
                </a:lnTo>
                <a:lnTo>
                  <a:pt x="8432749" y="136778"/>
                </a:lnTo>
                <a:lnTo>
                  <a:pt x="8459337" y="131405"/>
                </a:lnTo>
                <a:lnTo>
                  <a:pt x="8481056" y="116744"/>
                </a:lnTo>
                <a:lnTo>
                  <a:pt x="8495703" y="94988"/>
                </a:lnTo>
                <a:lnTo>
                  <a:pt x="8501075" y="68325"/>
                </a:lnTo>
                <a:close/>
              </a:path>
              <a:path w="8501380" h="273684">
                <a:moveTo>
                  <a:pt x="8432749" y="0"/>
                </a:moveTo>
                <a:lnTo>
                  <a:pt x="8406087" y="5371"/>
                </a:lnTo>
                <a:lnTo>
                  <a:pt x="8384330" y="20018"/>
                </a:lnTo>
                <a:lnTo>
                  <a:pt x="8369669" y="41737"/>
                </a:lnTo>
                <a:lnTo>
                  <a:pt x="8364296" y="68325"/>
                </a:lnTo>
                <a:lnTo>
                  <a:pt x="8366990" y="81666"/>
                </a:lnTo>
                <a:lnTo>
                  <a:pt x="8374329" y="92567"/>
                </a:lnTo>
                <a:lnTo>
                  <a:pt x="8385191" y="99919"/>
                </a:lnTo>
                <a:lnTo>
                  <a:pt x="8398459" y="102615"/>
                </a:lnTo>
                <a:lnTo>
                  <a:pt x="8411800" y="99919"/>
                </a:lnTo>
                <a:lnTo>
                  <a:pt x="8422700" y="92567"/>
                </a:lnTo>
                <a:lnTo>
                  <a:pt x="8430052" y="81666"/>
                </a:lnTo>
                <a:lnTo>
                  <a:pt x="8432749" y="68325"/>
                </a:lnTo>
                <a:lnTo>
                  <a:pt x="8501075" y="68325"/>
                </a:lnTo>
                <a:lnTo>
                  <a:pt x="8495703" y="41737"/>
                </a:lnTo>
                <a:lnTo>
                  <a:pt x="8481056" y="20018"/>
                </a:lnTo>
                <a:lnTo>
                  <a:pt x="8459337" y="5371"/>
                </a:lnTo>
                <a:lnTo>
                  <a:pt x="843274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3222" y="1197102"/>
            <a:ext cx="8569960" cy="1801495"/>
          </a:xfrm>
          <a:custGeom>
            <a:avLst/>
            <a:gdLst/>
            <a:ahLst/>
            <a:cxnLst/>
            <a:rect l="l" t="t" r="r" b="b"/>
            <a:pathLst>
              <a:path w="8569960" h="1801495">
                <a:moveTo>
                  <a:pt x="0" y="205105"/>
                </a:moveTo>
                <a:lnTo>
                  <a:pt x="5372" y="178516"/>
                </a:lnTo>
                <a:lnTo>
                  <a:pt x="20024" y="156797"/>
                </a:lnTo>
                <a:lnTo>
                  <a:pt x="41758" y="142150"/>
                </a:lnTo>
                <a:lnTo>
                  <a:pt x="68376" y="136778"/>
                </a:lnTo>
                <a:lnTo>
                  <a:pt x="8432673" y="136778"/>
                </a:lnTo>
                <a:lnTo>
                  <a:pt x="8432673" y="68325"/>
                </a:lnTo>
                <a:lnTo>
                  <a:pt x="8438046" y="41737"/>
                </a:lnTo>
                <a:lnTo>
                  <a:pt x="8452707" y="20018"/>
                </a:lnTo>
                <a:lnTo>
                  <a:pt x="8474463" y="5371"/>
                </a:lnTo>
                <a:lnTo>
                  <a:pt x="8501126" y="0"/>
                </a:lnTo>
                <a:lnTo>
                  <a:pt x="8527714" y="5371"/>
                </a:lnTo>
                <a:lnTo>
                  <a:pt x="8549433" y="20018"/>
                </a:lnTo>
                <a:lnTo>
                  <a:pt x="8564080" y="41737"/>
                </a:lnTo>
                <a:lnTo>
                  <a:pt x="8569452" y="68325"/>
                </a:lnTo>
                <a:lnTo>
                  <a:pt x="8569452" y="1596263"/>
                </a:lnTo>
                <a:lnTo>
                  <a:pt x="8564080" y="1622851"/>
                </a:lnTo>
                <a:lnTo>
                  <a:pt x="8549433" y="1644570"/>
                </a:lnTo>
                <a:lnTo>
                  <a:pt x="8527714" y="1659217"/>
                </a:lnTo>
                <a:lnTo>
                  <a:pt x="8501126" y="1664589"/>
                </a:lnTo>
                <a:lnTo>
                  <a:pt x="136766" y="1664589"/>
                </a:lnTo>
                <a:lnTo>
                  <a:pt x="136766" y="1733042"/>
                </a:lnTo>
                <a:lnTo>
                  <a:pt x="131392" y="1759630"/>
                </a:lnTo>
                <a:lnTo>
                  <a:pt x="116736" y="1781349"/>
                </a:lnTo>
                <a:lnTo>
                  <a:pt x="95002" y="1795996"/>
                </a:lnTo>
                <a:lnTo>
                  <a:pt x="68389" y="1801368"/>
                </a:lnTo>
                <a:lnTo>
                  <a:pt x="41771" y="1795996"/>
                </a:lnTo>
                <a:lnTo>
                  <a:pt x="20037" y="1781349"/>
                </a:lnTo>
                <a:lnTo>
                  <a:pt x="5385" y="1759630"/>
                </a:lnTo>
                <a:lnTo>
                  <a:pt x="12" y="1733042"/>
                </a:lnTo>
                <a:lnTo>
                  <a:pt x="0" y="205105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52941" y="1252474"/>
            <a:ext cx="162686" cy="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268" y="1355089"/>
            <a:ext cx="162661" cy="1285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9988" y="1402207"/>
            <a:ext cx="0" cy="1459865"/>
          </a:xfrm>
          <a:custGeom>
            <a:avLst/>
            <a:gdLst/>
            <a:ahLst/>
            <a:cxnLst/>
            <a:rect l="l" t="t" r="r" b="b"/>
            <a:pathLst>
              <a:path h="1459864">
                <a:moveTo>
                  <a:pt x="0" y="0"/>
                </a:moveTo>
                <a:lnTo>
                  <a:pt x="0" y="1459483"/>
                </a:lnTo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1535" y="3070098"/>
            <a:ext cx="8501380" cy="273685"/>
          </a:xfrm>
          <a:custGeom>
            <a:avLst/>
            <a:gdLst/>
            <a:ahLst/>
            <a:cxnLst/>
            <a:rect l="l" t="t" r="r" b="b"/>
            <a:pathLst>
              <a:path w="8501380" h="273685">
                <a:moveTo>
                  <a:pt x="34163" y="170814"/>
                </a:moveTo>
                <a:lnTo>
                  <a:pt x="20868" y="173491"/>
                </a:lnTo>
                <a:lnTo>
                  <a:pt x="10009" y="180800"/>
                </a:lnTo>
                <a:lnTo>
                  <a:pt x="2685" y="191656"/>
                </a:lnTo>
                <a:lnTo>
                  <a:pt x="0" y="204977"/>
                </a:lnTo>
                <a:lnTo>
                  <a:pt x="0" y="273303"/>
                </a:lnTo>
                <a:lnTo>
                  <a:pt x="26593" y="267932"/>
                </a:lnTo>
                <a:lnTo>
                  <a:pt x="48312" y="253285"/>
                </a:lnTo>
                <a:lnTo>
                  <a:pt x="62956" y="231566"/>
                </a:lnTo>
                <a:lnTo>
                  <a:pt x="68326" y="204977"/>
                </a:lnTo>
                <a:lnTo>
                  <a:pt x="65641" y="191656"/>
                </a:lnTo>
                <a:lnTo>
                  <a:pt x="58321" y="180800"/>
                </a:lnTo>
                <a:lnTo>
                  <a:pt x="47462" y="173491"/>
                </a:lnTo>
                <a:lnTo>
                  <a:pt x="34163" y="170814"/>
                </a:lnTo>
                <a:close/>
              </a:path>
              <a:path w="8501380" h="273685">
                <a:moveTo>
                  <a:pt x="8501138" y="68325"/>
                </a:moveTo>
                <a:lnTo>
                  <a:pt x="8432812" y="68325"/>
                </a:lnTo>
                <a:lnTo>
                  <a:pt x="8432812" y="136651"/>
                </a:lnTo>
                <a:lnTo>
                  <a:pt x="8459401" y="131280"/>
                </a:lnTo>
                <a:lnTo>
                  <a:pt x="8481120" y="116633"/>
                </a:lnTo>
                <a:lnTo>
                  <a:pt x="8495766" y="94914"/>
                </a:lnTo>
                <a:lnTo>
                  <a:pt x="8501138" y="68325"/>
                </a:lnTo>
                <a:close/>
              </a:path>
              <a:path w="8501380" h="273685">
                <a:moveTo>
                  <a:pt x="8432812" y="0"/>
                </a:moveTo>
                <a:lnTo>
                  <a:pt x="8406224" y="5371"/>
                </a:lnTo>
                <a:lnTo>
                  <a:pt x="8384505" y="20018"/>
                </a:lnTo>
                <a:lnTo>
                  <a:pt x="8369858" y="41737"/>
                </a:lnTo>
                <a:lnTo>
                  <a:pt x="8364486" y="68325"/>
                </a:lnTo>
                <a:lnTo>
                  <a:pt x="8367181" y="81647"/>
                </a:lnTo>
                <a:lnTo>
                  <a:pt x="8374519" y="92503"/>
                </a:lnTo>
                <a:lnTo>
                  <a:pt x="8385382" y="99812"/>
                </a:lnTo>
                <a:lnTo>
                  <a:pt x="8398649" y="102488"/>
                </a:lnTo>
                <a:lnTo>
                  <a:pt x="8411970" y="99812"/>
                </a:lnTo>
                <a:lnTo>
                  <a:pt x="8422827" y="92503"/>
                </a:lnTo>
                <a:lnTo>
                  <a:pt x="8430135" y="81647"/>
                </a:lnTo>
                <a:lnTo>
                  <a:pt x="8432812" y="68325"/>
                </a:lnTo>
                <a:lnTo>
                  <a:pt x="8501138" y="68325"/>
                </a:lnTo>
                <a:lnTo>
                  <a:pt x="8495766" y="41737"/>
                </a:lnTo>
                <a:lnTo>
                  <a:pt x="8481120" y="20018"/>
                </a:lnTo>
                <a:lnTo>
                  <a:pt x="8459401" y="5371"/>
                </a:lnTo>
                <a:lnTo>
                  <a:pt x="8432812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3222" y="3070098"/>
            <a:ext cx="8569960" cy="1800225"/>
          </a:xfrm>
          <a:custGeom>
            <a:avLst/>
            <a:gdLst/>
            <a:ahLst/>
            <a:cxnLst/>
            <a:rect l="l" t="t" r="r" b="b"/>
            <a:pathLst>
              <a:path w="8569960" h="1800225">
                <a:moveTo>
                  <a:pt x="0" y="204977"/>
                </a:moveTo>
                <a:lnTo>
                  <a:pt x="5367" y="178389"/>
                </a:lnTo>
                <a:lnTo>
                  <a:pt x="20007" y="156670"/>
                </a:lnTo>
                <a:lnTo>
                  <a:pt x="41721" y="142023"/>
                </a:lnTo>
                <a:lnTo>
                  <a:pt x="68313" y="136651"/>
                </a:lnTo>
                <a:lnTo>
                  <a:pt x="8432800" y="136651"/>
                </a:lnTo>
                <a:lnTo>
                  <a:pt x="8432800" y="68325"/>
                </a:lnTo>
                <a:lnTo>
                  <a:pt x="8438171" y="41737"/>
                </a:lnTo>
                <a:lnTo>
                  <a:pt x="8452818" y="20018"/>
                </a:lnTo>
                <a:lnTo>
                  <a:pt x="8474537" y="5371"/>
                </a:lnTo>
                <a:lnTo>
                  <a:pt x="8501126" y="0"/>
                </a:lnTo>
                <a:lnTo>
                  <a:pt x="8527714" y="5371"/>
                </a:lnTo>
                <a:lnTo>
                  <a:pt x="8549433" y="20018"/>
                </a:lnTo>
                <a:lnTo>
                  <a:pt x="8564080" y="41737"/>
                </a:lnTo>
                <a:lnTo>
                  <a:pt x="8569452" y="68325"/>
                </a:lnTo>
                <a:lnTo>
                  <a:pt x="8569452" y="1594865"/>
                </a:lnTo>
                <a:lnTo>
                  <a:pt x="8564080" y="1621454"/>
                </a:lnTo>
                <a:lnTo>
                  <a:pt x="8549433" y="1643173"/>
                </a:lnTo>
                <a:lnTo>
                  <a:pt x="8527714" y="1657820"/>
                </a:lnTo>
                <a:lnTo>
                  <a:pt x="8501126" y="1663191"/>
                </a:lnTo>
                <a:lnTo>
                  <a:pt x="136651" y="1663191"/>
                </a:lnTo>
                <a:lnTo>
                  <a:pt x="136651" y="1731518"/>
                </a:lnTo>
                <a:lnTo>
                  <a:pt x="131282" y="1758106"/>
                </a:lnTo>
                <a:lnTo>
                  <a:pt x="116638" y="1779825"/>
                </a:lnTo>
                <a:lnTo>
                  <a:pt x="94919" y="1794472"/>
                </a:lnTo>
                <a:lnTo>
                  <a:pt x="68326" y="1799844"/>
                </a:lnTo>
                <a:lnTo>
                  <a:pt x="41733" y="1794472"/>
                </a:lnTo>
                <a:lnTo>
                  <a:pt x="20019" y="1779825"/>
                </a:lnTo>
                <a:lnTo>
                  <a:pt x="5380" y="1758106"/>
                </a:lnTo>
                <a:lnTo>
                  <a:pt x="12" y="1731518"/>
                </a:lnTo>
                <a:lnTo>
                  <a:pt x="0" y="204977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053068" y="3125470"/>
            <a:ext cx="162559" cy="94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268" y="3227958"/>
            <a:ext cx="162547" cy="1283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9873" y="3275076"/>
            <a:ext cx="0" cy="1458595"/>
          </a:xfrm>
          <a:custGeom>
            <a:avLst/>
            <a:gdLst/>
            <a:ahLst/>
            <a:cxnLst/>
            <a:rect l="l" t="t" r="r" b="b"/>
            <a:pathLst>
              <a:path h="1458595">
                <a:moveTo>
                  <a:pt x="0" y="0"/>
                </a:moveTo>
                <a:lnTo>
                  <a:pt x="0" y="1458214"/>
                </a:lnTo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2459" y="5300471"/>
            <a:ext cx="8569960" cy="649605"/>
          </a:xfrm>
          <a:custGeom>
            <a:avLst/>
            <a:gdLst/>
            <a:ahLst/>
            <a:cxnLst/>
            <a:rect l="l" t="t" r="r" b="b"/>
            <a:pathLst>
              <a:path w="8569960" h="649604">
                <a:moveTo>
                  <a:pt x="8461248" y="0"/>
                </a:moveTo>
                <a:lnTo>
                  <a:pt x="108204" y="0"/>
                </a:lnTo>
                <a:lnTo>
                  <a:pt x="66088" y="8495"/>
                </a:lnTo>
                <a:lnTo>
                  <a:pt x="31694" y="31670"/>
                </a:lnTo>
                <a:lnTo>
                  <a:pt x="8504" y="66061"/>
                </a:lnTo>
                <a:lnTo>
                  <a:pt x="0" y="108203"/>
                </a:lnTo>
                <a:lnTo>
                  <a:pt x="0" y="541019"/>
                </a:lnTo>
                <a:lnTo>
                  <a:pt x="8504" y="583135"/>
                </a:lnTo>
                <a:lnTo>
                  <a:pt x="31694" y="617529"/>
                </a:lnTo>
                <a:lnTo>
                  <a:pt x="66088" y="640719"/>
                </a:lnTo>
                <a:lnTo>
                  <a:pt x="108204" y="649223"/>
                </a:lnTo>
                <a:lnTo>
                  <a:pt x="8461248" y="649223"/>
                </a:lnTo>
                <a:lnTo>
                  <a:pt x="8503390" y="640719"/>
                </a:lnTo>
                <a:lnTo>
                  <a:pt x="8537781" y="617529"/>
                </a:lnTo>
                <a:lnTo>
                  <a:pt x="8560956" y="583135"/>
                </a:lnTo>
                <a:lnTo>
                  <a:pt x="8569452" y="541019"/>
                </a:lnTo>
                <a:lnTo>
                  <a:pt x="8569452" y="108203"/>
                </a:lnTo>
                <a:lnTo>
                  <a:pt x="8560956" y="66061"/>
                </a:lnTo>
                <a:lnTo>
                  <a:pt x="8537781" y="31670"/>
                </a:lnTo>
                <a:lnTo>
                  <a:pt x="8503390" y="8495"/>
                </a:lnTo>
                <a:lnTo>
                  <a:pt x="846124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2459" y="5300471"/>
            <a:ext cx="8569960" cy="649605"/>
          </a:xfrm>
          <a:custGeom>
            <a:avLst/>
            <a:gdLst/>
            <a:ahLst/>
            <a:cxnLst/>
            <a:rect l="l" t="t" r="r" b="b"/>
            <a:pathLst>
              <a:path w="8569960" h="649604">
                <a:moveTo>
                  <a:pt x="0" y="108203"/>
                </a:moveTo>
                <a:lnTo>
                  <a:pt x="8504" y="66061"/>
                </a:lnTo>
                <a:lnTo>
                  <a:pt x="31694" y="31670"/>
                </a:lnTo>
                <a:lnTo>
                  <a:pt x="66088" y="8495"/>
                </a:lnTo>
                <a:lnTo>
                  <a:pt x="108204" y="0"/>
                </a:lnTo>
                <a:lnTo>
                  <a:pt x="8461248" y="0"/>
                </a:lnTo>
                <a:lnTo>
                  <a:pt x="8503390" y="8495"/>
                </a:lnTo>
                <a:lnTo>
                  <a:pt x="8537781" y="31670"/>
                </a:lnTo>
                <a:lnTo>
                  <a:pt x="8560956" y="66061"/>
                </a:lnTo>
                <a:lnTo>
                  <a:pt x="8569452" y="108203"/>
                </a:lnTo>
                <a:lnTo>
                  <a:pt x="8569452" y="541019"/>
                </a:lnTo>
                <a:lnTo>
                  <a:pt x="8560956" y="583135"/>
                </a:lnTo>
                <a:lnTo>
                  <a:pt x="8537781" y="617529"/>
                </a:lnTo>
                <a:lnTo>
                  <a:pt x="8503390" y="640719"/>
                </a:lnTo>
                <a:lnTo>
                  <a:pt x="8461248" y="649223"/>
                </a:lnTo>
                <a:lnTo>
                  <a:pt x="108204" y="649223"/>
                </a:lnTo>
                <a:lnTo>
                  <a:pt x="66088" y="640719"/>
                </a:lnTo>
                <a:lnTo>
                  <a:pt x="31694" y="617529"/>
                </a:lnTo>
                <a:lnTo>
                  <a:pt x="8504" y="583135"/>
                </a:lnTo>
                <a:lnTo>
                  <a:pt x="0" y="541019"/>
                </a:lnTo>
                <a:lnTo>
                  <a:pt x="0" y="10820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04799" y="1354581"/>
            <a:ext cx="8352155" cy="4518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marR="177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最小项：</a:t>
            </a:r>
            <a:r>
              <a:rPr sz="2800" spc="-5" dirty="0">
                <a:solidFill>
                  <a:srgbClr val="333399"/>
                </a:solidFill>
                <a:latin typeface="Arial"/>
                <a:cs typeface="Arial"/>
              </a:rPr>
              <a:t>n</a:t>
            </a:r>
            <a:r>
              <a:rPr sz="2800" spc="-5" dirty="0">
                <a:solidFill>
                  <a:srgbClr val="333399"/>
                </a:solidFill>
                <a:latin typeface="微软雅黑"/>
                <a:cs typeface="微软雅黑"/>
              </a:rPr>
              <a:t>个变量的最小项是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n</a:t>
            </a:r>
            <a:r>
              <a:rPr sz="2800" spc="-5" dirty="0">
                <a:solidFill>
                  <a:srgbClr val="333399"/>
                </a:solidFill>
                <a:latin typeface="微软雅黑"/>
                <a:cs typeface="微软雅黑"/>
              </a:rPr>
              <a:t>个变</a:t>
            </a:r>
            <a:r>
              <a:rPr sz="2800" dirty="0">
                <a:solidFill>
                  <a:srgbClr val="333399"/>
                </a:solidFill>
                <a:latin typeface="微软雅黑"/>
                <a:cs typeface="微软雅黑"/>
              </a:rPr>
              <a:t>量的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积</a:t>
            </a:r>
            <a:r>
              <a:rPr sz="2800" dirty="0">
                <a:solidFill>
                  <a:srgbClr val="333399"/>
                </a:solidFill>
                <a:latin typeface="微软雅黑"/>
                <a:cs typeface="微软雅黑"/>
              </a:rPr>
              <a:t>，</a:t>
            </a:r>
            <a:r>
              <a:rPr sz="2800" spc="-5" dirty="0">
                <a:solidFill>
                  <a:srgbClr val="333399"/>
                </a:solidFill>
                <a:latin typeface="微软雅黑"/>
                <a:cs typeface="微软雅黑"/>
              </a:rPr>
              <a:t>其中每 </a:t>
            </a:r>
            <a:r>
              <a:rPr sz="2800" spc="-10" dirty="0">
                <a:solidFill>
                  <a:srgbClr val="333399"/>
                </a:solidFill>
                <a:latin typeface="微软雅黑"/>
                <a:cs typeface="微软雅黑"/>
              </a:rPr>
              <a:t>一个变量都以原变量或反变量的形</a:t>
            </a:r>
            <a:r>
              <a:rPr sz="2800" dirty="0">
                <a:solidFill>
                  <a:srgbClr val="333399"/>
                </a:solidFill>
                <a:latin typeface="微软雅黑"/>
                <a:cs typeface="微软雅黑"/>
              </a:rPr>
              <a:t>式</a:t>
            </a:r>
            <a:r>
              <a:rPr sz="2800" spc="-10" dirty="0">
                <a:solidFill>
                  <a:srgbClr val="333399"/>
                </a:solidFill>
                <a:latin typeface="微软雅黑"/>
                <a:cs typeface="微软雅黑"/>
              </a:rPr>
              <a:t>出现</a:t>
            </a:r>
            <a:r>
              <a:rPr sz="2800" dirty="0">
                <a:solidFill>
                  <a:srgbClr val="333399"/>
                </a:solidFill>
                <a:latin typeface="微软雅黑"/>
                <a:cs typeface="微软雅黑"/>
              </a:rPr>
              <a:t>一</a:t>
            </a:r>
            <a:r>
              <a:rPr sz="2800" spc="-10" dirty="0">
                <a:solidFill>
                  <a:srgbClr val="333399"/>
                </a:solidFill>
                <a:latin typeface="微软雅黑"/>
                <a:cs typeface="微软雅黑"/>
              </a:rPr>
              <a:t>次，</a:t>
            </a:r>
            <a:r>
              <a:rPr sz="2800" dirty="0">
                <a:solidFill>
                  <a:srgbClr val="333399"/>
                </a:solidFill>
                <a:latin typeface="微软雅黑"/>
                <a:cs typeface="微软雅黑"/>
              </a:rPr>
              <a:t>且</a:t>
            </a:r>
            <a:r>
              <a:rPr sz="2800" spc="-5" dirty="0">
                <a:solidFill>
                  <a:srgbClr val="333399"/>
                </a:solidFill>
                <a:latin typeface="微软雅黑"/>
                <a:cs typeface="微软雅黑"/>
              </a:rPr>
              <a:t>仅 出现一次。</a:t>
            </a:r>
            <a:endParaRPr sz="28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 dirty="0">
              <a:latin typeface="微软雅黑"/>
              <a:cs typeface="微软雅黑"/>
            </a:endParaRPr>
          </a:p>
          <a:p>
            <a:pPr marL="155575" marR="17780">
              <a:lnSpc>
                <a:spcPct val="100000"/>
              </a:lnSpc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最大项：</a:t>
            </a:r>
            <a:r>
              <a:rPr sz="2800" spc="-5" dirty="0">
                <a:solidFill>
                  <a:srgbClr val="333399"/>
                </a:solidFill>
                <a:latin typeface="Arial"/>
                <a:cs typeface="Arial"/>
              </a:rPr>
              <a:t>n</a:t>
            </a:r>
            <a:r>
              <a:rPr sz="2800" spc="-5" dirty="0">
                <a:solidFill>
                  <a:srgbClr val="333399"/>
                </a:solidFill>
                <a:latin typeface="微软雅黑"/>
                <a:cs typeface="微软雅黑"/>
              </a:rPr>
              <a:t>个变量的最大项是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n</a:t>
            </a:r>
            <a:r>
              <a:rPr sz="2800" spc="-5" dirty="0">
                <a:solidFill>
                  <a:srgbClr val="333399"/>
                </a:solidFill>
                <a:latin typeface="微软雅黑"/>
                <a:cs typeface="微软雅黑"/>
              </a:rPr>
              <a:t>个变</a:t>
            </a:r>
            <a:r>
              <a:rPr sz="2800" dirty="0">
                <a:solidFill>
                  <a:srgbClr val="333399"/>
                </a:solidFill>
                <a:latin typeface="微软雅黑"/>
                <a:cs typeface="微软雅黑"/>
              </a:rPr>
              <a:t>量的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和</a:t>
            </a:r>
            <a:r>
              <a:rPr sz="2800" dirty="0">
                <a:solidFill>
                  <a:srgbClr val="333399"/>
                </a:solidFill>
                <a:latin typeface="微软雅黑"/>
                <a:cs typeface="微软雅黑"/>
              </a:rPr>
              <a:t>，</a:t>
            </a:r>
            <a:r>
              <a:rPr sz="2800" spc="-5" dirty="0">
                <a:solidFill>
                  <a:srgbClr val="333399"/>
                </a:solidFill>
                <a:latin typeface="微软雅黑"/>
                <a:cs typeface="微软雅黑"/>
              </a:rPr>
              <a:t>其中每 一个变量都以原变量或反变量的形</a:t>
            </a:r>
            <a:r>
              <a:rPr sz="2800" dirty="0">
                <a:solidFill>
                  <a:srgbClr val="333399"/>
                </a:solidFill>
                <a:latin typeface="微软雅黑"/>
                <a:cs typeface="微软雅黑"/>
              </a:rPr>
              <a:t>式</a:t>
            </a:r>
            <a:r>
              <a:rPr sz="2800" spc="-5" dirty="0">
                <a:solidFill>
                  <a:srgbClr val="333399"/>
                </a:solidFill>
                <a:latin typeface="微软雅黑"/>
                <a:cs typeface="微软雅黑"/>
              </a:rPr>
              <a:t>出现</a:t>
            </a:r>
            <a:r>
              <a:rPr sz="2800" dirty="0">
                <a:solidFill>
                  <a:srgbClr val="333399"/>
                </a:solidFill>
                <a:latin typeface="微软雅黑"/>
                <a:cs typeface="微软雅黑"/>
              </a:rPr>
              <a:t>一</a:t>
            </a:r>
            <a:r>
              <a:rPr sz="2800" spc="-5" dirty="0">
                <a:solidFill>
                  <a:srgbClr val="333399"/>
                </a:solidFill>
                <a:latin typeface="微软雅黑"/>
                <a:cs typeface="微软雅黑"/>
              </a:rPr>
              <a:t>次，</a:t>
            </a:r>
            <a:r>
              <a:rPr sz="2800" dirty="0">
                <a:solidFill>
                  <a:srgbClr val="333399"/>
                </a:solidFill>
                <a:latin typeface="微软雅黑"/>
                <a:cs typeface="微软雅黑"/>
              </a:rPr>
              <a:t>且</a:t>
            </a:r>
            <a:r>
              <a:rPr sz="2800" spc="-5" dirty="0">
                <a:solidFill>
                  <a:srgbClr val="333399"/>
                </a:solidFill>
                <a:latin typeface="微软雅黑"/>
                <a:cs typeface="微软雅黑"/>
              </a:rPr>
              <a:t>仅 </a:t>
            </a:r>
            <a:r>
              <a:rPr sz="2800" spc="-10" dirty="0">
                <a:solidFill>
                  <a:srgbClr val="333399"/>
                </a:solidFill>
                <a:latin typeface="微软雅黑"/>
                <a:cs typeface="微软雅黑"/>
              </a:rPr>
              <a:t>出现一次。</a:t>
            </a:r>
            <a:endParaRPr sz="28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3600" dirty="0">
              <a:latin typeface="微软雅黑"/>
              <a:cs typeface="微软雅黑"/>
            </a:endParaRPr>
          </a:p>
          <a:p>
            <a:pPr marL="508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20" dirty="0">
                <a:solidFill>
                  <a:srgbClr val="FFFFFF"/>
                </a:solidFill>
                <a:latin typeface="Microsoft JhengHei"/>
                <a:cs typeface="Microsoft JhengHei"/>
              </a:rPr>
              <a:t>个变</a:t>
            </a:r>
            <a:r>
              <a:rPr sz="3200" b="1" spc="5" dirty="0">
                <a:solidFill>
                  <a:srgbClr val="FFFFFF"/>
                </a:solidFill>
                <a:latin typeface="Microsoft JhengHei"/>
                <a:cs typeface="Microsoft JhengHei"/>
              </a:rPr>
              <a:t>量则</a:t>
            </a:r>
            <a:r>
              <a:rPr sz="3200" b="1" spc="25" dirty="0">
                <a:solidFill>
                  <a:srgbClr val="FFFFFF"/>
                </a:solidFill>
                <a:latin typeface="Microsoft JhengHei"/>
                <a:cs typeface="Microsoft JhengHei"/>
              </a:rPr>
              <a:t>有</a:t>
            </a:r>
            <a:r>
              <a:rPr sz="3200" b="1" spc="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3150" b="1" spc="7" baseline="25132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5" dirty="0">
                <a:solidFill>
                  <a:srgbClr val="FFFFFF"/>
                </a:solidFill>
                <a:latin typeface="Microsoft JhengHei"/>
                <a:cs typeface="Microsoft JhengHei"/>
              </a:rPr>
              <a:t>个</a:t>
            </a:r>
            <a:r>
              <a:rPr sz="3200" b="1" spc="20" dirty="0">
                <a:solidFill>
                  <a:srgbClr val="FFFFFF"/>
                </a:solidFill>
                <a:latin typeface="Microsoft JhengHei"/>
                <a:cs typeface="Microsoft JhengHei"/>
              </a:rPr>
              <a:t>最</a:t>
            </a:r>
            <a:r>
              <a:rPr sz="3200" b="1" spc="5" dirty="0">
                <a:solidFill>
                  <a:srgbClr val="FFFFFF"/>
                </a:solidFill>
                <a:latin typeface="Microsoft JhengHei"/>
                <a:cs typeface="Microsoft JhengHei"/>
              </a:rPr>
              <a:t>小项</a:t>
            </a:r>
            <a:r>
              <a:rPr sz="3200" b="1" spc="25" dirty="0">
                <a:solidFill>
                  <a:srgbClr val="FFFFFF"/>
                </a:solidFill>
                <a:latin typeface="Microsoft JhengHei"/>
                <a:cs typeface="Microsoft JhengHei"/>
              </a:rPr>
              <a:t>和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3150" b="1" baseline="25132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0" b="1" spc="5" dirty="0">
                <a:solidFill>
                  <a:srgbClr val="FFFFFF"/>
                </a:solidFill>
                <a:latin typeface="Microsoft JhengHei"/>
                <a:cs typeface="Microsoft JhengHei"/>
              </a:rPr>
              <a:t>个</a:t>
            </a:r>
            <a:r>
              <a:rPr sz="3200" b="1" spc="20" dirty="0">
                <a:solidFill>
                  <a:srgbClr val="FFFFFF"/>
                </a:solidFill>
                <a:latin typeface="Microsoft JhengHei"/>
                <a:cs typeface="Microsoft JhengHei"/>
              </a:rPr>
              <a:t>最</a:t>
            </a:r>
            <a:r>
              <a:rPr sz="3200" b="1" spc="5" dirty="0">
                <a:solidFill>
                  <a:srgbClr val="FFFFFF"/>
                </a:solidFill>
                <a:latin typeface="Microsoft JhengHei"/>
                <a:cs typeface="Microsoft JhengHei"/>
              </a:rPr>
              <a:t>大项</a:t>
            </a:r>
            <a:endParaRPr sz="3200" dirty="0">
              <a:latin typeface="Microsoft JhengHei"/>
              <a:cs typeface="Microsoft JhengHe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6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062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三变量最小项真值表</a:t>
            </a:r>
          </a:p>
        </p:txBody>
      </p:sp>
      <p:sp>
        <p:nvSpPr>
          <p:cNvPr id="3" name="object 3"/>
          <p:cNvSpPr/>
          <p:nvPr/>
        </p:nvSpPr>
        <p:spPr>
          <a:xfrm>
            <a:off x="2303145" y="1628775"/>
            <a:ext cx="871855" cy="640080"/>
          </a:xfrm>
          <a:custGeom>
            <a:avLst/>
            <a:gdLst/>
            <a:ahLst/>
            <a:cxnLst/>
            <a:rect l="l" t="t" r="r" b="b"/>
            <a:pathLst>
              <a:path w="871855" h="640080">
                <a:moveTo>
                  <a:pt x="0" y="640079"/>
                </a:moveTo>
                <a:lnTo>
                  <a:pt x="871296" y="640079"/>
                </a:lnTo>
                <a:lnTo>
                  <a:pt x="871296" y="0"/>
                </a:lnTo>
                <a:lnTo>
                  <a:pt x="0" y="0"/>
                </a:lnTo>
                <a:lnTo>
                  <a:pt x="0" y="64007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45711" y="1628775"/>
            <a:ext cx="871855" cy="640080"/>
          </a:xfrm>
          <a:custGeom>
            <a:avLst/>
            <a:gdLst/>
            <a:ahLst/>
            <a:cxnLst/>
            <a:rect l="l" t="t" r="r" b="b"/>
            <a:pathLst>
              <a:path w="871854" h="640080">
                <a:moveTo>
                  <a:pt x="0" y="640079"/>
                </a:moveTo>
                <a:lnTo>
                  <a:pt x="871296" y="640079"/>
                </a:lnTo>
                <a:lnTo>
                  <a:pt x="871296" y="0"/>
                </a:lnTo>
                <a:lnTo>
                  <a:pt x="0" y="0"/>
                </a:lnTo>
                <a:lnTo>
                  <a:pt x="0" y="64007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7059" y="1628775"/>
            <a:ext cx="871855" cy="640080"/>
          </a:xfrm>
          <a:custGeom>
            <a:avLst/>
            <a:gdLst/>
            <a:ahLst/>
            <a:cxnLst/>
            <a:rect l="l" t="t" r="r" b="b"/>
            <a:pathLst>
              <a:path w="871854" h="640080">
                <a:moveTo>
                  <a:pt x="0" y="640079"/>
                </a:moveTo>
                <a:lnTo>
                  <a:pt x="871296" y="640079"/>
                </a:lnTo>
                <a:lnTo>
                  <a:pt x="871296" y="0"/>
                </a:lnTo>
                <a:lnTo>
                  <a:pt x="0" y="0"/>
                </a:lnTo>
                <a:lnTo>
                  <a:pt x="0" y="64007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88278" y="1628775"/>
            <a:ext cx="871855" cy="640080"/>
          </a:xfrm>
          <a:custGeom>
            <a:avLst/>
            <a:gdLst/>
            <a:ahLst/>
            <a:cxnLst/>
            <a:rect l="l" t="t" r="r" b="b"/>
            <a:pathLst>
              <a:path w="871854" h="640080">
                <a:moveTo>
                  <a:pt x="0" y="640079"/>
                </a:moveTo>
                <a:lnTo>
                  <a:pt x="871296" y="640079"/>
                </a:lnTo>
                <a:lnTo>
                  <a:pt x="871296" y="0"/>
                </a:lnTo>
                <a:lnTo>
                  <a:pt x="0" y="0"/>
                </a:lnTo>
                <a:lnTo>
                  <a:pt x="0" y="64007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59626" y="1628775"/>
            <a:ext cx="871855" cy="640080"/>
          </a:xfrm>
          <a:custGeom>
            <a:avLst/>
            <a:gdLst/>
            <a:ahLst/>
            <a:cxnLst/>
            <a:rect l="l" t="t" r="r" b="b"/>
            <a:pathLst>
              <a:path w="871854" h="640080">
                <a:moveTo>
                  <a:pt x="0" y="640079"/>
                </a:moveTo>
                <a:lnTo>
                  <a:pt x="871296" y="640079"/>
                </a:lnTo>
                <a:lnTo>
                  <a:pt x="871296" y="0"/>
                </a:lnTo>
                <a:lnTo>
                  <a:pt x="0" y="0"/>
                </a:lnTo>
                <a:lnTo>
                  <a:pt x="0" y="64007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30845" y="1628775"/>
            <a:ext cx="871855" cy="640080"/>
          </a:xfrm>
          <a:custGeom>
            <a:avLst/>
            <a:gdLst/>
            <a:ahLst/>
            <a:cxnLst/>
            <a:rect l="l" t="t" r="r" b="b"/>
            <a:pathLst>
              <a:path w="871854" h="640080">
                <a:moveTo>
                  <a:pt x="0" y="640079"/>
                </a:moveTo>
                <a:lnTo>
                  <a:pt x="871296" y="640079"/>
                </a:lnTo>
                <a:lnTo>
                  <a:pt x="871296" y="0"/>
                </a:lnTo>
                <a:lnTo>
                  <a:pt x="0" y="0"/>
                </a:lnTo>
                <a:lnTo>
                  <a:pt x="0" y="64007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54164" y="1622425"/>
          <a:ext cx="8712832" cy="3606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1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1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40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变量值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  <a:p>
                      <a:pPr marL="175260">
                        <a:lnSpc>
                          <a:spcPct val="100000"/>
                        </a:lnSpc>
                        <a:spcBef>
                          <a:spcPts val="15"/>
                        </a:spcBef>
                        <a:tabLst>
                          <a:tab pos="750570" algn="l"/>
                        </a:tabLst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800" b="1" spc="4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	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800" b="1" spc="-7" baseline="-20833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u="heavy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u="heavy" spc="-24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u="heavy" spc="-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  <a:cs typeface="Arial"/>
                        </a:rPr>
                        <a:t>m</a:t>
                      </a:r>
                      <a:r>
                        <a:rPr sz="1800" b="1" spc="-7" baseline="-20833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  <a:p>
                      <a:pPr marL="191135">
                        <a:lnSpc>
                          <a:spcPct val="100000"/>
                        </a:lnSpc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800" b="1" spc="-7" baseline="-20833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800" b="1" spc="-7" baseline="-20833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800" b="1" spc="-7" baseline="-20833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800" b="1" spc="-7" baseline="-20833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800" b="1" spc="-7" baseline="-20833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800" b="1" spc="-7" baseline="-20833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800" baseline="-20833">
                        <a:latin typeface="Arial"/>
                        <a:cs typeface="Arial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317500" algn="l"/>
                          <a:tab pos="63563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	0	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317500" algn="l"/>
                          <a:tab pos="63563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	0	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317500" algn="l"/>
                          <a:tab pos="63563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	1	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316865" algn="l"/>
                          <a:tab pos="63500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	1	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316865" algn="l"/>
                          <a:tab pos="63500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	0	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317500" algn="l"/>
                          <a:tab pos="63563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	0	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317500" algn="l"/>
                          <a:tab pos="63563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	1	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317500" algn="l"/>
                          <a:tab pos="63563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	1	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2301560" y="2234217"/>
            <a:ext cx="7212330" cy="3107690"/>
          </a:xfrm>
          <a:custGeom>
            <a:avLst/>
            <a:gdLst/>
            <a:ahLst/>
            <a:cxnLst/>
            <a:rect l="l" t="t" r="r" b="b"/>
            <a:pathLst>
              <a:path w="7212330" h="3107690">
                <a:moveTo>
                  <a:pt x="3511483" y="1775553"/>
                </a:moveTo>
                <a:lnTo>
                  <a:pt x="3437020" y="1743736"/>
                </a:lnTo>
                <a:lnTo>
                  <a:pt x="3362964" y="1711984"/>
                </a:lnTo>
                <a:lnTo>
                  <a:pt x="3289330" y="1680304"/>
                </a:lnTo>
                <a:lnTo>
                  <a:pt x="3216132" y="1648703"/>
                </a:lnTo>
                <a:lnTo>
                  <a:pt x="3143383" y="1617188"/>
                </a:lnTo>
                <a:lnTo>
                  <a:pt x="3071097" y="1585766"/>
                </a:lnTo>
                <a:lnTo>
                  <a:pt x="2999290" y="1554444"/>
                </a:lnTo>
                <a:lnTo>
                  <a:pt x="2927974" y="1523230"/>
                </a:lnTo>
                <a:lnTo>
                  <a:pt x="2857165" y="1492130"/>
                </a:lnTo>
                <a:lnTo>
                  <a:pt x="2786876" y="1461151"/>
                </a:lnTo>
                <a:lnTo>
                  <a:pt x="2717121" y="1430300"/>
                </a:lnTo>
                <a:lnTo>
                  <a:pt x="2647914" y="1399586"/>
                </a:lnTo>
                <a:lnTo>
                  <a:pt x="2579270" y="1369013"/>
                </a:lnTo>
                <a:lnTo>
                  <a:pt x="2511203" y="1338591"/>
                </a:lnTo>
                <a:lnTo>
                  <a:pt x="2443726" y="1308325"/>
                </a:lnTo>
                <a:lnTo>
                  <a:pt x="2376855" y="1278223"/>
                </a:lnTo>
                <a:lnTo>
                  <a:pt x="2310602" y="1248292"/>
                </a:lnTo>
                <a:lnTo>
                  <a:pt x="2244982" y="1218539"/>
                </a:lnTo>
                <a:lnTo>
                  <a:pt x="2180010" y="1188971"/>
                </a:lnTo>
                <a:lnTo>
                  <a:pt x="2115699" y="1159595"/>
                </a:lnTo>
                <a:lnTo>
                  <a:pt x="2052064" y="1130419"/>
                </a:lnTo>
                <a:lnTo>
                  <a:pt x="1989118" y="1101448"/>
                </a:lnTo>
                <a:lnTo>
                  <a:pt x="1926876" y="1072691"/>
                </a:lnTo>
                <a:lnTo>
                  <a:pt x="1865351" y="1044154"/>
                </a:lnTo>
                <a:lnTo>
                  <a:pt x="1804559" y="1015845"/>
                </a:lnTo>
                <a:lnTo>
                  <a:pt x="1744513" y="987770"/>
                </a:lnTo>
                <a:lnTo>
                  <a:pt x="1685226" y="959937"/>
                </a:lnTo>
                <a:lnTo>
                  <a:pt x="1626714" y="932353"/>
                </a:lnTo>
                <a:lnTo>
                  <a:pt x="1568991" y="905025"/>
                </a:lnTo>
                <a:lnTo>
                  <a:pt x="1512070" y="877959"/>
                </a:lnTo>
                <a:lnTo>
                  <a:pt x="1455966" y="851163"/>
                </a:lnTo>
                <a:lnTo>
                  <a:pt x="1400692" y="824644"/>
                </a:lnTo>
                <a:lnTo>
                  <a:pt x="1346263" y="798409"/>
                </a:lnTo>
                <a:lnTo>
                  <a:pt x="1292693" y="772466"/>
                </a:lnTo>
                <a:lnTo>
                  <a:pt x="1239997" y="746820"/>
                </a:lnTo>
                <a:lnTo>
                  <a:pt x="1188187" y="721480"/>
                </a:lnTo>
                <a:lnTo>
                  <a:pt x="1137279" y="696453"/>
                </a:lnTo>
                <a:lnTo>
                  <a:pt x="1087287" y="671744"/>
                </a:lnTo>
                <a:lnTo>
                  <a:pt x="1038224" y="647362"/>
                </a:lnTo>
                <a:lnTo>
                  <a:pt x="990104" y="623314"/>
                </a:lnTo>
                <a:lnTo>
                  <a:pt x="942943" y="599606"/>
                </a:lnTo>
                <a:lnTo>
                  <a:pt x="896753" y="576246"/>
                </a:lnTo>
                <a:lnTo>
                  <a:pt x="851549" y="553241"/>
                </a:lnTo>
                <a:lnTo>
                  <a:pt x="807346" y="530598"/>
                </a:lnTo>
                <a:lnTo>
                  <a:pt x="764156" y="508323"/>
                </a:lnTo>
                <a:lnTo>
                  <a:pt x="721996" y="486425"/>
                </a:lnTo>
                <a:lnTo>
                  <a:pt x="680877" y="464910"/>
                </a:lnTo>
                <a:lnTo>
                  <a:pt x="640815" y="443784"/>
                </a:lnTo>
                <a:lnTo>
                  <a:pt x="601824" y="423056"/>
                </a:lnTo>
                <a:lnTo>
                  <a:pt x="563918" y="402733"/>
                </a:lnTo>
                <a:lnTo>
                  <a:pt x="527111" y="382820"/>
                </a:lnTo>
                <a:lnTo>
                  <a:pt x="491417" y="363327"/>
                </a:lnTo>
                <a:lnTo>
                  <a:pt x="456850" y="344258"/>
                </a:lnTo>
                <a:lnTo>
                  <a:pt x="423424" y="325622"/>
                </a:lnTo>
                <a:lnTo>
                  <a:pt x="360053" y="289677"/>
                </a:lnTo>
                <a:lnTo>
                  <a:pt x="301417" y="255546"/>
                </a:lnTo>
                <a:lnTo>
                  <a:pt x="247628" y="223288"/>
                </a:lnTo>
                <a:lnTo>
                  <a:pt x="198800" y="192957"/>
                </a:lnTo>
                <a:lnTo>
                  <a:pt x="155045" y="164612"/>
                </a:lnTo>
                <a:lnTo>
                  <a:pt x="116477" y="138308"/>
                </a:lnTo>
                <a:lnTo>
                  <a:pt x="83208" y="114102"/>
                </a:lnTo>
                <a:lnTo>
                  <a:pt x="43488" y="81851"/>
                </a:lnTo>
                <a:lnTo>
                  <a:pt x="16326" y="54639"/>
                </a:lnTo>
                <a:lnTo>
                  <a:pt x="0" y="21002"/>
                </a:lnTo>
                <a:lnTo>
                  <a:pt x="1203" y="16095"/>
                </a:lnTo>
                <a:lnTo>
                  <a:pt x="39481" y="366"/>
                </a:lnTo>
                <a:lnTo>
                  <a:pt x="50899" y="0"/>
                </a:lnTo>
                <a:lnTo>
                  <a:pt x="63716" y="263"/>
                </a:lnTo>
                <a:lnTo>
                  <a:pt x="110419" y="4780"/>
                </a:lnTo>
                <a:lnTo>
                  <a:pt x="148279" y="10845"/>
                </a:lnTo>
                <a:lnTo>
                  <a:pt x="191382" y="19303"/>
                </a:lnTo>
                <a:lnTo>
                  <a:pt x="239607" y="30112"/>
                </a:lnTo>
                <a:lnTo>
                  <a:pt x="292836" y="43230"/>
                </a:lnTo>
                <a:lnTo>
                  <a:pt x="350951" y="58614"/>
                </a:lnTo>
                <a:lnTo>
                  <a:pt x="413831" y="76222"/>
                </a:lnTo>
                <a:lnTo>
                  <a:pt x="481358" y="96012"/>
                </a:lnTo>
                <a:lnTo>
                  <a:pt x="553412" y="117941"/>
                </a:lnTo>
                <a:lnTo>
                  <a:pt x="591101" y="129694"/>
                </a:lnTo>
                <a:lnTo>
                  <a:pt x="629876" y="141967"/>
                </a:lnTo>
                <a:lnTo>
                  <a:pt x="669724" y="154753"/>
                </a:lnTo>
                <a:lnTo>
                  <a:pt x="710629" y="168048"/>
                </a:lnTo>
                <a:lnTo>
                  <a:pt x="752577" y="181845"/>
                </a:lnTo>
                <a:lnTo>
                  <a:pt x="795553" y="196141"/>
                </a:lnTo>
                <a:lnTo>
                  <a:pt x="839542" y="210929"/>
                </a:lnTo>
                <a:lnTo>
                  <a:pt x="884529" y="226204"/>
                </a:lnTo>
                <a:lnTo>
                  <a:pt x="930499" y="241961"/>
                </a:lnTo>
                <a:lnTo>
                  <a:pt x="977438" y="258195"/>
                </a:lnTo>
                <a:lnTo>
                  <a:pt x="1025330" y="274900"/>
                </a:lnTo>
                <a:lnTo>
                  <a:pt x="1074160" y="292071"/>
                </a:lnTo>
                <a:lnTo>
                  <a:pt x="1123915" y="309703"/>
                </a:lnTo>
                <a:lnTo>
                  <a:pt x="1174577" y="327791"/>
                </a:lnTo>
                <a:lnTo>
                  <a:pt x="1226134" y="346328"/>
                </a:lnTo>
                <a:lnTo>
                  <a:pt x="1278570" y="365311"/>
                </a:lnTo>
                <a:lnTo>
                  <a:pt x="1331870" y="384733"/>
                </a:lnTo>
                <a:lnTo>
                  <a:pt x="1386020" y="404589"/>
                </a:lnTo>
                <a:lnTo>
                  <a:pt x="1441004" y="424875"/>
                </a:lnTo>
                <a:lnTo>
                  <a:pt x="1496807" y="445584"/>
                </a:lnTo>
                <a:lnTo>
                  <a:pt x="1553415" y="466712"/>
                </a:lnTo>
                <a:lnTo>
                  <a:pt x="1610813" y="488252"/>
                </a:lnTo>
                <a:lnTo>
                  <a:pt x="1668986" y="510201"/>
                </a:lnTo>
                <a:lnTo>
                  <a:pt x="1727918" y="532552"/>
                </a:lnTo>
                <a:lnTo>
                  <a:pt x="1787596" y="555300"/>
                </a:lnTo>
                <a:lnTo>
                  <a:pt x="1848005" y="578441"/>
                </a:lnTo>
                <a:lnTo>
                  <a:pt x="1909128" y="601968"/>
                </a:lnTo>
                <a:lnTo>
                  <a:pt x="1970952" y="625876"/>
                </a:lnTo>
                <a:lnTo>
                  <a:pt x="2033462" y="650161"/>
                </a:lnTo>
                <a:lnTo>
                  <a:pt x="2096643" y="674817"/>
                </a:lnTo>
                <a:lnTo>
                  <a:pt x="2160479" y="699838"/>
                </a:lnTo>
                <a:lnTo>
                  <a:pt x="2224957" y="725219"/>
                </a:lnTo>
                <a:lnTo>
                  <a:pt x="2290060" y="750955"/>
                </a:lnTo>
                <a:lnTo>
                  <a:pt x="2355775" y="777041"/>
                </a:lnTo>
                <a:lnTo>
                  <a:pt x="2422086" y="803471"/>
                </a:lnTo>
                <a:lnTo>
                  <a:pt x="2488979" y="830240"/>
                </a:lnTo>
                <a:lnTo>
                  <a:pt x="2556439" y="857343"/>
                </a:lnTo>
                <a:lnTo>
                  <a:pt x="2624450" y="884775"/>
                </a:lnTo>
                <a:lnTo>
                  <a:pt x="2692998" y="912529"/>
                </a:lnTo>
                <a:lnTo>
                  <a:pt x="2762068" y="940602"/>
                </a:lnTo>
                <a:lnTo>
                  <a:pt x="2831645" y="968987"/>
                </a:lnTo>
                <a:lnTo>
                  <a:pt x="2901715" y="997680"/>
                </a:lnTo>
                <a:lnTo>
                  <a:pt x="2972262" y="1026675"/>
                </a:lnTo>
                <a:lnTo>
                  <a:pt x="3043271" y="1055966"/>
                </a:lnTo>
                <a:lnTo>
                  <a:pt x="3114728" y="1085549"/>
                </a:lnTo>
                <a:lnTo>
                  <a:pt x="3186618" y="1115418"/>
                </a:lnTo>
                <a:lnTo>
                  <a:pt x="3258925" y="1145568"/>
                </a:lnTo>
                <a:lnTo>
                  <a:pt x="3331636" y="1175993"/>
                </a:lnTo>
                <a:lnTo>
                  <a:pt x="3404734" y="1206689"/>
                </a:lnTo>
                <a:lnTo>
                  <a:pt x="3478206" y="1237650"/>
                </a:lnTo>
                <a:lnTo>
                  <a:pt x="3552037" y="1268870"/>
                </a:lnTo>
                <a:lnTo>
                  <a:pt x="3626210" y="1300345"/>
                </a:lnTo>
                <a:lnTo>
                  <a:pt x="3700713" y="1332069"/>
                </a:lnTo>
                <a:lnTo>
                  <a:pt x="3775171" y="1363881"/>
                </a:lnTo>
                <a:lnTo>
                  <a:pt x="3849222" y="1395629"/>
                </a:lnTo>
                <a:lnTo>
                  <a:pt x="3922851" y="1427305"/>
                </a:lnTo>
                <a:lnTo>
                  <a:pt x="3996046" y="1458902"/>
                </a:lnTo>
                <a:lnTo>
                  <a:pt x="4068791" y="1490413"/>
                </a:lnTo>
                <a:lnTo>
                  <a:pt x="4141072" y="1521832"/>
                </a:lnTo>
                <a:lnTo>
                  <a:pt x="4212875" y="1553150"/>
                </a:lnTo>
                <a:lnTo>
                  <a:pt x="4284187" y="1584362"/>
                </a:lnTo>
                <a:lnTo>
                  <a:pt x="4354993" y="1615459"/>
                </a:lnTo>
                <a:lnTo>
                  <a:pt x="4425278" y="1646435"/>
                </a:lnTo>
                <a:lnTo>
                  <a:pt x="4495030" y="1677283"/>
                </a:lnTo>
                <a:lnTo>
                  <a:pt x="4564233" y="1707995"/>
                </a:lnTo>
                <a:lnTo>
                  <a:pt x="4632874" y="1738565"/>
                </a:lnTo>
                <a:lnTo>
                  <a:pt x="4700938" y="1768985"/>
                </a:lnTo>
                <a:lnTo>
                  <a:pt x="4768411" y="1799249"/>
                </a:lnTo>
                <a:lnTo>
                  <a:pt x="4835280" y="1829349"/>
                </a:lnTo>
                <a:lnTo>
                  <a:pt x="4901530" y="1859279"/>
                </a:lnTo>
                <a:lnTo>
                  <a:pt x="4967147" y="1889030"/>
                </a:lnTo>
                <a:lnTo>
                  <a:pt x="5032116" y="1918597"/>
                </a:lnTo>
                <a:lnTo>
                  <a:pt x="5096425" y="1947972"/>
                </a:lnTo>
                <a:lnTo>
                  <a:pt x="5160058" y="1977147"/>
                </a:lnTo>
                <a:lnTo>
                  <a:pt x="5223002" y="2006117"/>
                </a:lnTo>
                <a:lnTo>
                  <a:pt x="5285242" y="2034873"/>
                </a:lnTo>
                <a:lnTo>
                  <a:pt x="5346764" y="2063409"/>
                </a:lnTo>
                <a:lnTo>
                  <a:pt x="5407555" y="2091717"/>
                </a:lnTo>
                <a:lnTo>
                  <a:pt x="5467599" y="2119791"/>
                </a:lnTo>
                <a:lnTo>
                  <a:pt x="5526884" y="2147624"/>
                </a:lnTo>
                <a:lnTo>
                  <a:pt x="5585394" y="2175207"/>
                </a:lnTo>
                <a:lnTo>
                  <a:pt x="5643117" y="2202536"/>
                </a:lnTo>
                <a:lnTo>
                  <a:pt x="5700036" y="2229601"/>
                </a:lnTo>
                <a:lnTo>
                  <a:pt x="5756140" y="2256397"/>
                </a:lnTo>
                <a:lnTo>
                  <a:pt x="5811412" y="2282915"/>
                </a:lnTo>
                <a:lnTo>
                  <a:pt x="5865840" y="2309150"/>
                </a:lnTo>
                <a:lnTo>
                  <a:pt x="5919409" y="2335093"/>
                </a:lnTo>
                <a:lnTo>
                  <a:pt x="5972105" y="2360739"/>
                </a:lnTo>
                <a:lnTo>
                  <a:pt x="6023914" y="2386079"/>
                </a:lnTo>
                <a:lnTo>
                  <a:pt x="6074822" y="2411106"/>
                </a:lnTo>
                <a:lnTo>
                  <a:pt x="6124814" y="2435815"/>
                </a:lnTo>
                <a:lnTo>
                  <a:pt x="6173877" y="2460197"/>
                </a:lnTo>
                <a:lnTo>
                  <a:pt x="6221996" y="2484245"/>
                </a:lnTo>
                <a:lnTo>
                  <a:pt x="6269158" y="2507953"/>
                </a:lnTo>
                <a:lnTo>
                  <a:pt x="6315348" y="2531313"/>
                </a:lnTo>
                <a:lnTo>
                  <a:pt x="6360552" y="2554318"/>
                </a:lnTo>
                <a:lnTo>
                  <a:pt x="6404756" y="2576961"/>
                </a:lnTo>
                <a:lnTo>
                  <a:pt x="6447945" y="2599235"/>
                </a:lnTo>
                <a:lnTo>
                  <a:pt x="6490107" y="2621134"/>
                </a:lnTo>
                <a:lnTo>
                  <a:pt x="6531226" y="2642649"/>
                </a:lnTo>
                <a:lnTo>
                  <a:pt x="6571289" y="2663774"/>
                </a:lnTo>
                <a:lnTo>
                  <a:pt x="6610281" y="2684502"/>
                </a:lnTo>
                <a:lnTo>
                  <a:pt x="6648188" y="2704825"/>
                </a:lnTo>
                <a:lnTo>
                  <a:pt x="6684997" y="2724737"/>
                </a:lnTo>
                <a:lnTo>
                  <a:pt x="6720692" y="2744231"/>
                </a:lnTo>
                <a:lnTo>
                  <a:pt x="6755260" y="2763298"/>
                </a:lnTo>
                <a:lnTo>
                  <a:pt x="6788688" y="2781934"/>
                </a:lnTo>
                <a:lnTo>
                  <a:pt x="6852062" y="2817878"/>
                </a:lnTo>
                <a:lnTo>
                  <a:pt x="6910702" y="2852007"/>
                </a:lnTo>
                <a:lnTo>
                  <a:pt x="6964496" y="2884263"/>
                </a:lnTo>
                <a:lnTo>
                  <a:pt x="7013329" y="2914591"/>
                </a:lnTo>
                <a:lnTo>
                  <a:pt x="7057089" y="2942933"/>
                </a:lnTo>
                <a:lnTo>
                  <a:pt x="7095663" y="2969233"/>
                </a:lnTo>
                <a:lnTo>
                  <a:pt x="7128939" y="2993435"/>
                </a:lnTo>
                <a:lnTo>
                  <a:pt x="7168670" y="3025678"/>
                </a:lnTo>
                <a:lnTo>
                  <a:pt x="7195843" y="3052881"/>
                </a:lnTo>
                <a:lnTo>
                  <a:pt x="7212191" y="3086498"/>
                </a:lnTo>
                <a:lnTo>
                  <a:pt x="7210993" y="3091400"/>
                </a:lnTo>
                <a:lnTo>
                  <a:pt x="7172714" y="3107129"/>
                </a:lnTo>
                <a:lnTo>
                  <a:pt x="7161297" y="3107496"/>
                </a:lnTo>
                <a:lnTo>
                  <a:pt x="7148479" y="3107233"/>
                </a:lnTo>
                <a:lnTo>
                  <a:pt x="7101777" y="3102716"/>
                </a:lnTo>
                <a:lnTo>
                  <a:pt x="7063916" y="3096651"/>
                </a:lnTo>
                <a:lnTo>
                  <a:pt x="7020814" y="3088193"/>
                </a:lnTo>
                <a:lnTo>
                  <a:pt x="6972588" y="3077385"/>
                </a:lnTo>
                <a:lnTo>
                  <a:pt x="6919359" y="3064267"/>
                </a:lnTo>
                <a:lnTo>
                  <a:pt x="6861245" y="3048884"/>
                </a:lnTo>
                <a:lnTo>
                  <a:pt x="6798365" y="3031276"/>
                </a:lnTo>
                <a:lnTo>
                  <a:pt x="6730838" y="3011488"/>
                </a:lnTo>
                <a:lnTo>
                  <a:pt x="6658783" y="2989559"/>
                </a:lnTo>
                <a:lnTo>
                  <a:pt x="6621095" y="2977806"/>
                </a:lnTo>
                <a:lnTo>
                  <a:pt x="6582320" y="2965534"/>
                </a:lnTo>
                <a:lnTo>
                  <a:pt x="6542472" y="2952749"/>
                </a:lnTo>
                <a:lnTo>
                  <a:pt x="6501566" y="2939455"/>
                </a:lnTo>
                <a:lnTo>
                  <a:pt x="6459618" y="2925658"/>
                </a:lnTo>
                <a:lnTo>
                  <a:pt x="6416642" y="2911363"/>
                </a:lnTo>
                <a:lnTo>
                  <a:pt x="6372653" y="2896576"/>
                </a:lnTo>
                <a:lnTo>
                  <a:pt x="6327666" y="2881302"/>
                </a:lnTo>
                <a:lnTo>
                  <a:pt x="6281696" y="2865546"/>
                </a:lnTo>
                <a:lnTo>
                  <a:pt x="6234758" y="2849313"/>
                </a:lnTo>
                <a:lnTo>
                  <a:pt x="6186866" y="2832609"/>
                </a:lnTo>
                <a:lnTo>
                  <a:pt x="6138035" y="2815439"/>
                </a:lnTo>
                <a:lnTo>
                  <a:pt x="6088281" y="2797808"/>
                </a:lnTo>
                <a:lnTo>
                  <a:pt x="6037618" y="2779722"/>
                </a:lnTo>
                <a:lnTo>
                  <a:pt x="5986061" y="2761185"/>
                </a:lnTo>
                <a:lnTo>
                  <a:pt x="5933625" y="2742204"/>
                </a:lnTo>
                <a:lnTo>
                  <a:pt x="5880325" y="2722784"/>
                </a:lnTo>
                <a:lnTo>
                  <a:pt x="5826176" y="2702929"/>
                </a:lnTo>
                <a:lnTo>
                  <a:pt x="5771192" y="2682645"/>
                </a:lnTo>
                <a:lnTo>
                  <a:pt x="5715389" y="2661937"/>
                </a:lnTo>
                <a:lnTo>
                  <a:pt x="5658780" y="2640811"/>
                </a:lnTo>
                <a:lnTo>
                  <a:pt x="5601383" y="2619272"/>
                </a:lnTo>
                <a:lnTo>
                  <a:pt x="5543210" y="2597326"/>
                </a:lnTo>
                <a:lnTo>
                  <a:pt x="5484277" y="2574976"/>
                </a:lnTo>
                <a:lnTo>
                  <a:pt x="5424599" y="2552230"/>
                </a:lnTo>
                <a:lnTo>
                  <a:pt x="5364191" y="2529091"/>
                </a:lnTo>
                <a:lnTo>
                  <a:pt x="5303067" y="2505566"/>
                </a:lnTo>
                <a:lnTo>
                  <a:pt x="5241243" y="2481660"/>
                </a:lnTo>
                <a:lnTo>
                  <a:pt x="5178733" y="2457378"/>
                </a:lnTo>
                <a:lnTo>
                  <a:pt x="5115553" y="2432725"/>
                </a:lnTo>
                <a:lnTo>
                  <a:pt x="5051716" y="2407706"/>
                </a:lnTo>
                <a:lnTo>
                  <a:pt x="4987239" y="2382328"/>
                </a:lnTo>
                <a:lnTo>
                  <a:pt x="4922135" y="2356594"/>
                </a:lnTo>
                <a:lnTo>
                  <a:pt x="4856420" y="2330511"/>
                </a:lnTo>
                <a:lnTo>
                  <a:pt x="4790109" y="2304084"/>
                </a:lnTo>
                <a:lnTo>
                  <a:pt x="4723216" y="2277317"/>
                </a:lnTo>
                <a:lnTo>
                  <a:pt x="4655757" y="2250217"/>
                </a:lnTo>
                <a:lnTo>
                  <a:pt x="4587746" y="2222789"/>
                </a:lnTo>
                <a:lnTo>
                  <a:pt x="4519198" y="2195037"/>
                </a:lnTo>
                <a:lnTo>
                  <a:pt x="4450127" y="2166968"/>
                </a:lnTo>
                <a:lnTo>
                  <a:pt x="4380550" y="2138586"/>
                </a:lnTo>
                <a:lnTo>
                  <a:pt x="4310481" y="2109897"/>
                </a:lnTo>
                <a:lnTo>
                  <a:pt x="4239934" y="2080906"/>
                </a:lnTo>
                <a:lnTo>
                  <a:pt x="4168925" y="2051618"/>
                </a:lnTo>
                <a:lnTo>
                  <a:pt x="4097468" y="2022039"/>
                </a:lnTo>
                <a:lnTo>
                  <a:pt x="4025578" y="1992174"/>
                </a:lnTo>
                <a:lnTo>
                  <a:pt x="3953270" y="1962028"/>
                </a:lnTo>
                <a:lnTo>
                  <a:pt x="3880560" y="1931607"/>
                </a:lnTo>
                <a:lnTo>
                  <a:pt x="3807461" y="1900915"/>
                </a:lnTo>
                <a:lnTo>
                  <a:pt x="3733989" y="1869959"/>
                </a:lnTo>
                <a:lnTo>
                  <a:pt x="3660159" y="1838743"/>
                </a:lnTo>
                <a:lnTo>
                  <a:pt x="3585985" y="1807273"/>
                </a:lnTo>
                <a:lnTo>
                  <a:pt x="3511483" y="1775553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94026" y="1978914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52522" y="1978914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>
                <a:moveTo>
                  <a:pt x="0" y="0"/>
                </a:moveTo>
                <a:lnTo>
                  <a:pt x="144017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21685" y="1980438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43578" y="1980438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71238" y="1980438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7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19878" y="1978914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42482" y="1980438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7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11646" y="1980438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7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17257" y="1978914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055102" y="1981961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42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33832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最小项的性质</a:t>
            </a:r>
          </a:p>
        </p:txBody>
      </p:sp>
      <p:sp>
        <p:nvSpPr>
          <p:cNvPr id="3" name="object 3"/>
          <p:cNvSpPr/>
          <p:nvPr/>
        </p:nvSpPr>
        <p:spPr>
          <a:xfrm>
            <a:off x="460211" y="1123135"/>
            <a:ext cx="1316046" cy="18327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3820" y="1794128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93164" y="1098803"/>
            <a:ext cx="7628382" cy="12580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93138" y="1337309"/>
            <a:ext cx="707199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对于任意一个最小项，只有一组变量的取值使它的值 为</a:t>
            </a:r>
            <a:r>
              <a:rPr sz="2400" b="1" spc="-220" dirty="0">
                <a:solidFill>
                  <a:srgbClr val="0000FF"/>
                </a:solidFill>
                <a:latin typeface="Microsoft JhengHei"/>
                <a:cs typeface="Microsoft JhengHei"/>
              </a:rPr>
              <a:t>1</a:t>
            </a:r>
            <a:r>
              <a:rPr sz="24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，而当变量取其它各组值时该最小项的值都</a:t>
            </a:r>
            <a:r>
              <a:rPr sz="2400" b="1" spc="20" dirty="0">
                <a:solidFill>
                  <a:srgbClr val="0000FF"/>
                </a:solidFill>
                <a:latin typeface="Microsoft JhengHei"/>
                <a:cs typeface="Microsoft JhengHei"/>
              </a:rPr>
              <a:t>是</a:t>
            </a:r>
            <a:r>
              <a:rPr sz="2400" b="1" spc="-220" dirty="0">
                <a:solidFill>
                  <a:srgbClr val="0000FF"/>
                </a:solidFill>
                <a:latin typeface="Microsoft JhengHei"/>
                <a:cs typeface="Microsoft JhengHei"/>
              </a:rPr>
              <a:t>0</a:t>
            </a:r>
            <a:r>
              <a:rPr sz="2400" b="1" dirty="0">
                <a:solidFill>
                  <a:srgbClr val="0000FF"/>
                </a:solidFill>
                <a:latin typeface="Microsoft JhengHei"/>
                <a:cs typeface="Microsoft JhengHei"/>
              </a:rPr>
              <a:t>。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1104" y="2695955"/>
            <a:ext cx="1334262" cy="18691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93164" y="2689860"/>
            <a:ext cx="7628382" cy="12580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53820" y="3079241"/>
            <a:ext cx="7957820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1560">
              <a:lnSpc>
                <a:spcPts val="2645"/>
              </a:lnSpc>
              <a:spcBef>
                <a:spcPts val="100"/>
              </a:spcBef>
            </a:pPr>
            <a:r>
              <a:rPr sz="24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任意两个不同的最小项的乘积（相“与”）恒</a:t>
            </a:r>
            <a:r>
              <a:rPr sz="2400" b="1" spc="20" dirty="0">
                <a:solidFill>
                  <a:srgbClr val="0000FF"/>
                </a:solidFill>
                <a:latin typeface="Microsoft JhengHei"/>
                <a:cs typeface="Microsoft JhengHei"/>
              </a:rPr>
              <a:t>为</a:t>
            </a:r>
            <a:r>
              <a:rPr sz="2400" b="1" spc="-220" dirty="0">
                <a:solidFill>
                  <a:srgbClr val="0000FF"/>
                </a:solidFill>
                <a:latin typeface="Microsoft JhengHei"/>
                <a:cs typeface="Microsoft JhengHei"/>
              </a:rPr>
              <a:t>0</a:t>
            </a:r>
            <a:r>
              <a:rPr sz="2400" b="1" dirty="0">
                <a:solidFill>
                  <a:srgbClr val="0000FF"/>
                </a:solidFill>
                <a:latin typeface="Microsoft JhengHei"/>
                <a:cs typeface="Microsoft JhengHei"/>
              </a:rPr>
              <a:t>。</a:t>
            </a:r>
            <a:endParaRPr sz="2400">
              <a:latin typeface="Microsoft JhengHei"/>
              <a:cs typeface="Microsoft JhengHei"/>
            </a:endParaRPr>
          </a:p>
          <a:p>
            <a:pPr marL="12700">
              <a:lnSpc>
                <a:spcPts val="2645"/>
              </a:lnSpc>
            </a:pPr>
            <a:r>
              <a:rPr sz="2400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1104" y="4287011"/>
            <a:ext cx="1334262" cy="18691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93164" y="4280915"/>
            <a:ext cx="7628382" cy="12580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53820" y="4670552"/>
            <a:ext cx="6119495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1560">
              <a:lnSpc>
                <a:spcPts val="2645"/>
              </a:lnSpc>
              <a:spcBef>
                <a:spcPts val="100"/>
              </a:spcBef>
            </a:pPr>
            <a:r>
              <a:rPr sz="24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全体最小项之和（相“或”）恒</a:t>
            </a:r>
            <a:r>
              <a:rPr sz="2400" b="1" spc="15" dirty="0">
                <a:solidFill>
                  <a:srgbClr val="0000FF"/>
                </a:solidFill>
                <a:latin typeface="Microsoft JhengHei"/>
                <a:cs typeface="Microsoft JhengHei"/>
              </a:rPr>
              <a:t>为</a:t>
            </a:r>
            <a:r>
              <a:rPr sz="2400" b="1" spc="-220" dirty="0">
                <a:solidFill>
                  <a:srgbClr val="0000FF"/>
                </a:solidFill>
                <a:latin typeface="Microsoft JhengHei"/>
                <a:cs typeface="Microsoft JhengHei"/>
              </a:rPr>
              <a:t>1</a:t>
            </a:r>
            <a:r>
              <a:rPr sz="2400" b="1" dirty="0">
                <a:solidFill>
                  <a:srgbClr val="0000FF"/>
                </a:solidFill>
                <a:latin typeface="Microsoft JhengHei"/>
                <a:cs typeface="Microsoft JhengHei"/>
              </a:rPr>
              <a:t>。</a:t>
            </a:r>
            <a:endParaRPr sz="2400">
              <a:latin typeface="Microsoft JhengHei"/>
              <a:cs typeface="Microsoft JhengHei"/>
            </a:endParaRPr>
          </a:p>
          <a:p>
            <a:pPr marL="12700">
              <a:lnSpc>
                <a:spcPts val="2645"/>
              </a:lnSpc>
            </a:pPr>
            <a:r>
              <a:rPr sz="2400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8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062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三变量最大项真值表</a:t>
            </a:r>
          </a:p>
        </p:txBody>
      </p:sp>
      <p:sp>
        <p:nvSpPr>
          <p:cNvPr id="3" name="object 3"/>
          <p:cNvSpPr/>
          <p:nvPr/>
        </p:nvSpPr>
        <p:spPr>
          <a:xfrm>
            <a:off x="2303145" y="1730882"/>
            <a:ext cx="871855" cy="579120"/>
          </a:xfrm>
          <a:custGeom>
            <a:avLst/>
            <a:gdLst/>
            <a:ahLst/>
            <a:cxnLst/>
            <a:rect l="l" t="t" r="r" b="b"/>
            <a:pathLst>
              <a:path w="871855" h="579119">
                <a:moveTo>
                  <a:pt x="0" y="579120"/>
                </a:moveTo>
                <a:lnTo>
                  <a:pt x="871296" y="579120"/>
                </a:lnTo>
                <a:lnTo>
                  <a:pt x="871296" y="0"/>
                </a:lnTo>
                <a:lnTo>
                  <a:pt x="0" y="0"/>
                </a:lnTo>
                <a:lnTo>
                  <a:pt x="0" y="57912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74364" y="1730882"/>
            <a:ext cx="871855" cy="579120"/>
          </a:xfrm>
          <a:custGeom>
            <a:avLst/>
            <a:gdLst/>
            <a:ahLst/>
            <a:cxnLst/>
            <a:rect l="l" t="t" r="r" b="b"/>
            <a:pathLst>
              <a:path w="871854" h="579119">
                <a:moveTo>
                  <a:pt x="0" y="579120"/>
                </a:moveTo>
                <a:lnTo>
                  <a:pt x="871296" y="579120"/>
                </a:lnTo>
                <a:lnTo>
                  <a:pt x="871296" y="0"/>
                </a:lnTo>
                <a:lnTo>
                  <a:pt x="0" y="0"/>
                </a:lnTo>
                <a:lnTo>
                  <a:pt x="0" y="57912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45711" y="1730882"/>
            <a:ext cx="871855" cy="579120"/>
          </a:xfrm>
          <a:custGeom>
            <a:avLst/>
            <a:gdLst/>
            <a:ahLst/>
            <a:cxnLst/>
            <a:rect l="l" t="t" r="r" b="b"/>
            <a:pathLst>
              <a:path w="871854" h="579119">
                <a:moveTo>
                  <a:pt x="0" y="579120"/>
                </a:moveTo>
                <a:lnTo>
                  <a:pt x="871296" y="579120"/>
                </a:lnTo>
                <a:lnTo>
                  <a:pt x="871296" y="0"/>
                </a:lnTo>
                <a:lnTo>
                  <a:pt x="0" y="0"/>
                </a:lnTo>
                <a:lnTo>
                  <a:pt x="0" y="57912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7059" y="1730882"/>
            <a:ext cx="871855" cy="579120"/>
          </a:xfrm>
          <a:custGeom>
            <a:avLst/>
            <a:gdLst/>
            <a:ahLst/>
            <a:cxnLst/>
            <a:rect l="l" t="t" r="r" b="b"/>
            <a:pathLst>
              <a:path w="871854" h="579119">
                <a:moveTo>
                  <a:pt x="0" y="579120"/>
                </a:moveTo>
                <a:lnTo>
                  <a:pt x="871296" y="579120"/>
                </a:lnTo>
                <a:lnTo>
                  <a:pt x="871296" y="0"/>
                </a:lnTo>
                <a:lnTo>
                  <a:pt x="0" y="0"/>
                </a:lnTo>
                <a:lnTo>
                  <a:pt x="0" y="57912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88278" y="1730882"/>
            <a:ext cx="871855" cy="579120"/>
          </a:xfrm>
          <a:custGeom>
            <a:avLst/>
            <a:gdLst/>
            <a:ahLst/>
            <a:cxnLst/>
            <a:rect l="l" t="t" r="r" b="b"/>
            <a:pathLst>
              <a:path w="871854" h="579119">
                <a:moveTo>
                  <a:pt x="0" y="579120"/>
                </a:moveTo>
                <a:lnTo>
                  <a:pt x="871296" y="579120"/>
                </a:lnTo>
                <a:lnTo>
                  <a:pt x="871296" y="0"/>
                </a:lnTo>
                <a:lnTo>
                  <a:pt x="0" y="0"/>
                </a:lnTo>
                <a:lnTo>
                  <a:pt x="0" y="57912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59626" y="1730882"/>
            <a:ext cx="871855" cy="579120"/>
          </a:xfrm>
          <a:custGeom>
            <a:avLst/>
            <a:gdLst/>
            <a:ahLst/>
            <a:cxnLst/>
            <a:rect l="l" t="t" r="r" b="b"/>
            <a:pathLst>
              <a:path w="871854" h="579119">
                <a:moveTo>
                  <a:pt x="0" y="579120"/>
                </a:moveTo>
                <a:lnTo>
                  <a:pt x="871296" y="579120"/>
                </a:lnTo>
                <a:lnTo>
                  <a:pt x="871296" y="0"/>
                </a:lnTo>
                <a:lnTo>
                  <a:pt x="0" y="0"/>
                </a:lnTo>
                <a:lnTo>
                  <a:pt x="0" y="57912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30845" y="1730882"/>
            <a:ext cx="871855" cy="579120"/>
          </a:xfrm>
          <a:custGeom>
            <a:avLst/>
            <a:gdLst/>
            <a:ahLst/>
            <a:cxnLst/>
            <a:rect l="l" t="t" r="r" b="b"/>
            <a:pathLst>
              <a:path w="871854" h="579119">
                <a:moveTo>
                  <a:pt x="0" y="579120"/>
                </a:moveTo>
                <a:lnTo>
                  <a:pt x="871296" y="579120"/>
                </a:lnTo>
                <a:lnTo>
                  <a:pt x="871296" y="0"/>
                </a:lnTo>
                <a:lnTo>
                  <a:pt x="0" y="0"/>
                </a:lnTo>
                <a:lnTo>
                  <a:pt x="0" y="57912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54164" y="1724532"/>
          <a:ext cx="8712832" cy="35458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1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1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9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变量值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  <a:p>
                      <a:pPr marL="214629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  B</a:t>
                      </a:r>
                      <a:r>
                        <a:rPr sz="1600" b="1" spc="3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92710" indent="2133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575" b="1" baseline="-2116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7 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+B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92710" indent="2133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575" b="1" baseline="-2116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 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+B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92710" indent="2133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575" b="1" baseline="-2116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 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+B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92710" indent="2133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575" b="1" baseline="-2116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 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+B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marR="92710" indent="2133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575" b="1" baseline="-2116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 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+B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marR="92075" indent="2133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575" b="1" baseline="-2116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 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+B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marR="92075" indent="2133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575" b="1" baseline="-2116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 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+B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marR="92075" indent="2133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575" b="1" baseline="-2116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 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+B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317500" algn="l"/>
                          <a:tab pos="63563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	0	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317500" algn="l"/>
                          <a:tab pos="63563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	0	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316865" algn="l"/>
                          <a:tab pos="63500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	1	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316865" algn="l"/>
                          <a:tab pos="63500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	1	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316865" algn="l"/>
                          <a:tab pos="63500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	0	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317500" algn="l"/>
                          <a:tab pos="63563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	0	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317500" algn="l"/>
                          <a:tab pos="63563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	1	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317500" algn="l"/>
                          <a:tab pos="63563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	1	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322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6258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2408833" y="2305843"/>
            <a:ext cx="6865620" cy="2934970"/>
          </a:xfrm>
          <a:custGeom>
            <a:avLst/>
            <a:gdLst/>
            <a:ahLst/>
            <a:cxnLst/>
            <a:rect l="l" t="t" r="r" b="b"/>
            <a:pathLst>
              <a:path w="6865620" h="2934970">
                <a:moveTo>
                  <a:pt x="3526510" y="1689322"/>
                </a:moveTo>
                <a:lnTo>
                  <a:pt x="3451871" y="1720804"/>
                </a:lnTo>
                <a:lnTo>
                  <a:pt x="3377578" y="1752019"/>
                </a:lnTo>
                <a:lnTo>
                  <a:pt x="3303646" y="1782962"/>
                </a:lnTo>
                <a:lnTo>
                  <a:pt x="3230094" y="1813626"/>
                </a:lnTo>
                <a:lnTo>
                  <a:pt x="3156936" y="1844007"/>
                </a:lnTo>
                <a:lnTo>
                  <a:pt x="3084190" y="1874098"/>
                </a:lnTo>
                <a:lnTo>
                  <a:pt x="3011872" y="1903894"/>
                </a:lnTo>
                <a:lnTo>
                  <a:pt x="2939999" y="1933389"/>
                </a:lnTo>
                <a:lnTo>
                  <a:pt x="2868588" y="1962576"/>
                </a:lnTo>
                <a:lnTo>
                  <a:pt x="2797654" y="1991451"/>
                </a:lnTo>
                <a:lnTo>
                  <a:pt x="2727215" y="2020008"/>
                </a:lnTo>
                <a:lnTo>
                  <a:pt x="2657286" y="2048241"/>
                </a:lnTo>
                <a:lnTo>
                  <a:pt x="2587885" y="2076143"/>
                </a:lnTo>
                <a:lnTo>
                  <a:pt x="2519028" y="2103710"/>
                </a:lnTo>
                <a:lnTo>
                  <a:pt x="2450732" y="2130935"/>
                </a:lnTo>
                <a:lnTo>
                  <a:pt x="2383012" y="2157814"/>
                </a:lnTo>
                <a:lnTo>
                  <a:pt x="2315886" y="2184339"/>
                </a:lnTo>
                <a:lnTo>
                  <a:pt x="2249371" y="2210505"/>
                </a:lnTo>
                <a:lnTo>
                  <a:pt x="2183481" y="2236307"/>
                </a:lnTo>
                <a:lnTo>
                  <a:pt x="2118236" y="2261739"/>
                </a:lnTo>
                <a:lnTo>
                  <a:pt x="2053649" y="2286795"/>
                </a:lnTo>
                <a:lnTo>
                  <a:pt x="1989740" y="2311469"/>
                </a:lnTo>
                <a:lnTo>
                  <a:pt x="1926523" y="2335755"/>
                </a:lnTo>
                <a:lnTo>
                  <a:pt x="1864015" y="2359649"/>
                </a:lnTo>
                <a:lnTo>
                  <a:pt x="1802233" y="2383143"/>
                </a:lnTo>
                <a:lnTo>
                  <a:pt x="1741194" y="2406232"/>
                </a:lnTo>
                <a:lnTo>
                  <a:pt x="1680913" y="2428911"/>
                </a:lnTo>
                <a:lnTo>
                  <a:pt x="1621408" y="2451173"/>
                </a:lnTo>
                <a:lnTo>
                  <a:pt x="1562695" y="2473014"/>
                </a:lnTo>
                <a:lnTo>
                  <a:pt x="1504791" y="2494426"/>
                </a:lnTo>
                <a:lnTo>
                  <a:pt x="1447712" y="2515405"/>
                </a:lnTo>
                <a:lnTo>
                  <a:pt x="1391474" y="2535945"/>
                </a:lnTo>
                <a:lnTo>
                  <a:pt x="1336094" y="2556039"/>
                </a:lnTo>
                <a:lnTo>
                  <a:pt x="1281590" y="2575683"/>
                </a:lnTo>
                <a:lnTo>
                  <a:pt x="1227976" y="2594870"/>
                </a:lnTo>
                <a:lnTo>
                  <a:pt x="1175270" y="2613594"/>
                </a:lnTo>
                <a:lnTo>
                  <a:pt x="1123489" y="2631850"/>
                </a:lnTo>
                <a:lnTo>
                  <a:pt x="1072648" y="2649633"/>
                </a:lnTo>
                <a:lnTo>
                  <a:pt x="1022765" y="2666936"/>
                </a:lnTo>
                <a:lnTo>
                  <a:pt x="973856" y="2683753"/>
                </a:lnTo>
                <a:lnTo>
                  <a:pt x="925937" y="2700079"/>
                </a:lnTo>
                <a:lnTo>
                  <a:pt x="879025" y="2715908"/>
                </a:lnTo>
                <a:lnTo>
                  <a:pt x="833137" y="2731235"/>
                </a:lnTo>
                <a:lnTo>
                  <a:pt x="788288" y="2746053"/>
                </a:lnTo>
                <a:lnTo>
                  <a:pt x="744496" y="2760356"/>
                </a:lnTo>
                <a:lnTo>
                  <a:pt x="701778" y="2774140"/>
                </a:lnTo>
                <a:lnTo>
                  <a:pt x="660149" y="2787398"/>
                </a:lnTo>
                <a:lnTo>
                  <a:pt x="619626" y="2800124"/>
                </a:lnTo>
                <a:lnTo>
                  <a:pt x="580226" y="2812314"/>
                </a:lnTo>
                <a:lnTo>
                  <a:pt x="541966" y="2823960"/>
                </a:lnTo>
                <a:lnTo>
                  <a:pt x="504861" y="2835057"/>
                </a:lnTo>
                <a:lnTo>
                  <a:pt x="434185" y="2855582"/>
                </a:lnTo>
                <a:lnTo>
                  <a:pt x="368330" y="2873843"/>
                </a:lnTo>
                <a:lnTo>
                  <a:pt x="307430" y="2889794"/>
                </a:lnTo>
                <a:lnTo>
                  <a:pt x="251615" y="2903388"/>
                </a:lnTo>
                <a:lnTo>
                  <a:pt x="201019" y="2914580"/>
                </a:lnTo>
                <a:lnTo>
                  <a:pt x="155774" y="2923323"/>
                </a:lnTo>
                <a:lnTo>
                  <a:pt x="116013" y="2929571"/>
                </a:lnTo>
                <a:lnTo>
                  <a:pt x="66940" y="2934165"/>
                </a:lnTo>
                <a:lnTo>
                  <a:pt x="53467" y="2934399"/>
                </a:lnTo>
                <a:lnTo>
                  <a:pt x="41465" y="2933975"/>
                </a:lnTo>
                <a:lnTo>
                  <a:pt x="4080" y="2921780"/>
                </a:lnTo>
                <a:lnTo>
                  <a:pt x="0" y="2912124"/>
                </a:lnTo>
                <a:lnTo>
                  <a:pt x="345" y="2906320"/>
                </a:lnTo>
                <a:lnTo>
                  <a:pt x="25380" y="2867935"/>
                </a:lnTo>
                <a:lnTo>
                  <a:pt x="58485" y="2837696"/>
                </a:lnTo>
                <a:lnTo>
                  <a:pt x="104635" y="2802309"/>
                </a:lnTo>
                <a:lnTo>
                  <a:pt x="142440" y="2775962"/>
                </a:lnTo>
                <a:lnTo>
                  <a:pt x="185731" y="2747485"/>
                </a:lnTo>
                <a:lnTo>
                  <a:pt x="234381" y="2716939"/>
                </a:lnTo>
                <a:lnTo>
                  <a:pt x="288265" y="2684388"/>
                </a:lnTo>
                <a:lnTo>
                  <a:pt x="347260" y="2649893"/>
                </a:lnTo>
                <a:lnTo>
                  <a:pt x="411238" y="2613519"/>
                </a:lnTo>
                <a:lnTo>
                  <a:pt x="445057" y="2594647"/>
                </a:lnTo>
                <a:lnTo>
                  <a:pt x="480075" y="2575328"/>
                </a:lnTo>
                <a:lnTo>
                  <a:pt x="516276" y="2555570"/>
                </a:lnTo>
                <a:lnTo>
                  <a:pt x="553645" y="2535382"/>
                </a:lnTo>
                <a:lnTo>
                  <a:pt x="592166" y="2514770"/>
                </a:lnTo>
                <a:lnTo>
                  <a:pt x="631824" y="2493744"/>
                </a:lnTo>
                <a:lnTo>
                  <a:pt x="672603" y="2472310"/>
                </a:lnTo>
                <a:lnTo>
                  <a:pt x="714486" y="2450477"/>
                </a:lnTo>
                <a:lnTo>
                  <a:pt x="757459" y="2428252"/>
                </a:lnTo>
                <a:lnTo>
                  <a:pt x="801506" y="2405643"/>
                </a:lnTo>
                <a:lnTo>
                  <a:pt x="846611" y="2382659"/>
                </a:lnTo>
                <a:lnTo>
                  <a:pt x="892759" y="2359306"/>
                </a:lnTo>
                <a:lnTo>
                  <a:pt x="939933" y="2335594"/>
                </a:lnTo>
                <a:lnTo>
                  <a:pt x="988119" y="2311529"/>
                </a:lnTo>
                <a:lnTo>
                  <a:pt x="1037300" y="2287119"/>
                </a:lnTo>
                <a:lnTo>
                  <a:pt x="1087461" y="2262373"/>
                </a:lnTo>
                <a:lnTo>
                  <a:pt x="1138586" y="2237298"/>
                </a:lnTo>
                <a:lnTo>
                  <a:pt x="1190660" y="2211901"/>
                </a:lnTo>
                <a:lnTo>
                  <a:pt x="1243667" y="2186192"/>
                </a:lnTo>
                <a:lnTo>
                  <a:pt x="1297591" y="2160177"/>
                </a:lnTo>
                <a:lnTo>
                  <a:pt x="1352417" y="2133865"/>
                </a:lnTo>
                <a:lnTo>
                  <a:pt x="1408129" y="2107264"/>
                </a:lnTo>
                <a:lnTo>
                  <a:pt x="1464711" y="2080380"/>
                </a:lnTo>
                <a:lnTo>
                  <a:pt x="1522148" y="2053223"/>
                </a:lnTo>
                <a:lnTo>
                  <a:pt x="1580424" y="2025799"/>
                </a:lnTo>
                <a:lnTo>
                  <a:pt x="1639523" y="1998117"/>
                </a:lnTo>
                <a:lnTo>
                  <a:pt x="1699429" y="1970185"/>
                </a:lnTo>
                <a:lnTo>
                  <a:pt x="1760128" y="1942010"/>
                </a:lnTo>
                <a:lnTo>
                  <a:pt x="1821604" y="1913601"/>
                </a:lnTo>
                <a:lnTo>
                  <a:pt x="1883840" y="1884964"/>
                </a:lnTo>
                <a:lnTo>
                  <a:pt x="1946821" y="1856109"/>
                </a:lnTo>
                <a:lnTo>
                  <a:pt x="2010531" y="1827042"/>
                </a:lnTo>
                <a:lnTo>
                  <a:pt x="2074956" y="1797772"/>
                </a:lnTo>
                <a:lnTo>
                  <a:pt x="2140078" y="1768306"/>
                </a:lnTo>
                <a:lnTo>
                  <a:pt x="2205883" y="1738653"/>
                </a:lnTo>
                <a:lnTo>
                  <a:pt x="2272355" y="1708820"/>
                </a:lnTo>
                <a:lnTo>
                  <a:pt x="2339478" y="1678815"/>
                </a:lnTo>
                <a:lnTo>
                  <a:pt x="2407236" y="1648646"/>
                </a:lnTo>
                <a:lnTo>
                  <a:pt x="2475614" y="1618320"/>
                </a:lnTo>
                <a:lnTo>
                  <a:pt x="2544597" y="1587846"/>
                </a:lnTo>
                <a:lnTo>
                  <a:pt x="2614168" y="1557232"/>
                </a:lnTo>
                <a:lnTo>
                  <a:pt x="2684312" y="1526484"/>
                </a:lnTo>
                <a:lnTo>
                  <a:pt x="2755013" y="1495612"/>
                </a:lnTo>
                <a:lnTo>
                  <a:pt x="2826256" y="1464622"/>
                </a:lnTo>
                <a:lnTo>
                  <a:pt x="2898024" y="1433524"/>
                </a:lnTo>
                <a:lnTo>
                  <a:pt x="2970303" y="1402324"/>
                </a:lnTo>
                <a:lnTo>
                  <a:pt x="3043077" y="1371030"/>
                </a:lnTo>
                <a:lnTo>
                  <a:pt x="3116329" y="1339650"/>
                </a:lnTo>
                <a:lnTo>
                  <a:pt x="3190045" y="1308193"/>
                </a:lnTo>
                <a:lnTo>
                  <a:pt x="3264209" y="1276666"/>
                </a:lnTo>
                <a:lnTo>
                  <a:pt x="3338804" y="1245076"/>
                </a:lnTo>
                <a:lnTo>
                  <a:pt x="3413444" y="1213595"/>
                </a:lnTo>
                <a:lnTo>
                  <a:pt x="3487737" y="1182380"/>
                </a:lnTo>
                <a:lnTo>
                  <a:pt x="3561668" y="1151437"/>
                </a:lnTo>
                <a:lnTo>
                  <a:pt x="3635221" y="1120772"/>
                </a:lnTo>
                <a:lnTo>
                  <a:pt x="3708379" y="1090392"/>
                </a:lnTo>
                <a:lnTo>
                  <a:pt x="3781125" y="1060301"/>
                </a:lnTo>
                <a:lnTo>
                  <a:pt x="3853443" y="1030505"/>
                </a:lnTo>
                <a:lnTo>
                  <a:pt x="3925315" y="1001010"/>
                </a:lnTo>
                <a:lnTo>
                  <a:pt x="3996727" y="971822"/>
                </a:lnTo>
                <a:lnTo>
                  <a:pt x="4067661" y="942947"/>
                </a:lnTo>
                <a:lnTo>
                  <a:pt x="4138100" y="914391"/>
                </a:lnTo>
                <a:lnTo>
                  <a:pt x="4208029" y="886158"/>
                </a:lnTo>
                <a:lnTo>
                  <a:pt x="4277430" y="858256"/>
                </a:lnTo>
                <a:lnTo>
                  <a:pt x="4346287" y="830689"/>
                </a:lnTo>
                <a:lnTo>
                  <a:pt x="4414583" y="803463"/>
                </a:lnTo>
                <a:lnTo>
                  <a:pt x="4482303" y="776585"/>
                </a:lnTo>
                <a:lnTo>
                  <a:pt x="4549429" y="750060"/>
                </a:lnTo>
                <a:lnTo>
                  <a:pt x="4615944" y="723893"/>
                </a:lnTo>
                <a:lnTo>
                  <a:pt x="4681833" y="698091"/>
                </a:lnTo>
                <a:lnTo>
                  <a:pt x="4747079" y="672660"/>
                </a:lnTo>
                <a:lnTo>
                  <a:pt x="4811665" y="647604"/>
                </a:lnTo>
                <a:lnTo>
                  <a:pt x="4875575" y="622930"/>
                </a:lnTo>
                <a:lnTo>
                  <a:pt x="4938792" y="598643"/>
                </a:lnTo>
                <a:lnTo>
                  <a:pt x="5001300" y="574750"/>
                </a:lnTo>
                <a:lnTo>
                  <a:pt x="5063082" y="551256"/>
                </a:lnTo>
                <a:lnTo>
                  <a:pt x="5124121" y="528167"/>
                </a:lnTo>
                <a:lnTo>
                  <a:pt x="5184402" y="505488"/>
                </a:lnTo>
                <a:lnTo>
                  <a:pt x="5243907" y="483225"/>
                </a:lnTo>
                <a:lnTo>
                  <a:pt x="5302620" y="461385"/>
                </a:lnTo>
                <a:lnTo>
                  <a:pt x="5360524" y="439973"/>
                </a:lnTo>
                <a:lnTo>
                  <a:pt x="5417603" y="418994"/>
                </a:lnTo>
                <a:lnTo>
                  <a:pt x="5473841" y="398454"/>
                </a:lnTo>
                <a:lnTo>
                  <a:pt x="5529220" y="378360"/>
                </a:lnTo>
                <a:lnTo>
                  <a:pt x="5583725" y="358716"/>
                </a:lnTo>
                <a:lnTo>
                  <a:pt x="5637339" y="339529"/>
                </a:lnTo>
                <a:lnTo>
                  <a:pt x="5690045" y="320805"/>
                </a:lnTo>
                <a:lnTo>
                  <a:pt x="5741826" y="302548"/>
                </a:lnTo>
                <a:lnTo>
                  <a:pt x="5792667" y="284766"/>
                </a:lnTo>
                <a:lnTo>
                  <a:pt x="5842550" y="267463"/>
                </a:lnTo>
                <a:lnTo>
                  <a:pt x="5891459" y="250646"/>
                </a:lnTo>
                <a:lnTo>
                  <a:pt x="5939378" y="234320"/>
                </a:lnTo>
                <a:lnTo>
                  <a:pt x="5986290" y="218491"/>
                </a:lnTo>
                <a:lnTo>
                  <a:pt x="6032178" y="203164"/>
                </a:lnTo>
                <a:lnTo>
                  <a:pt x="6077027" y="188346"/>
                </a:lnTo>
                <a:lnTo>
                  <a:pt x="6120818" y="174042"/>
                </a:lnTo>
                <a:lnTo>
                  <a:pt x="6163537" y="160259"/>
                </a:lnTo>
                <a:lnTo>
                  <a:pt x="6205166" y="147001"/>
                </a:lnTo>
                <a:lnTo>
                  <a:pt x="6245689" y="134274"/>
                </a:lnTo>
                <a:lnTo>
                  <a:pt x="6285089" y="122085"/>
                </a:lnTo>
                <a:lnTo>
                  <a:pt x="6323349" y="110439"/>
                </a:lnTo>
                <a:lnTo>
                  <a:pt x="6360454" y="99342"/>
                </a:lnTo>
                <a:lnTo>
                  <a:pt x="6431130" y="78816"/>
                </a:lnTo>
                <a:lnTo>
                  <a:pt x="6496985" y="60556"/>
                </a:lnTo>
                <a:lnTo>
                  <a:pt x="6557885" y="44605"/>
                </a:lnTo>
                <a:lnTo>
                  <a:pt x="6613700" y="31011"/>
                </a:lnTo>
                <a:lnTo>
                  <a:pt x="6664295" y="19819"/>
                </a:lnTo>
                <a:lnTo>
                  <a:pt x="6709540" y="11076"/>
                </a:lnTo>
                <a:lnTo>
                  <a:pt x="6749302" y="4828"/>
                </a:lnTo>
                <a:lnTo>
                  <a:pt x="6798375" y="234"/>
                </a:lnTo>
                <a:lnTo>
                  <a:pt x="6811848" y="0"/>
                </a:lnTo>
                <a:lnTo>
                  <a:pt x="6823850" y="424"/>
                </a:lnTo>
                <a:lnTo>
                  <a:pt x="6861235" y="12619"/>
                </a:lnTo>
                <a:lnTo>
                  <a:pt x="6865315" y="22275"/>
                </a:lnTo>
                <a:lnTo>
                  <a:pt x="6864970" y="28079"/>
                </a:lnTo>
                <a:lnTo>
                  <a:pt x="6839935" y="66464"/>
                </a:lnTo>
                <a:lnTo>
                  <a:pt x="6806830" y="96703"/>
                </a:lnTo>
                <a:lnTo>
                  <a:pt x="6760680" y="132090"/>
                </a:lnTo>
                <a:lnTo>
                  <a:pt x="6722875" y="158436"/>
                </a:lnTo>
                <a:lnTo>
                  <a:pt x="6679584" y="186914"/>
                </a:lnTo>
                <a:lnTo>
                  <a:pt x="6630934" y="217460"/>
                </a:lnTo>
                <a:lnTo>
                  <a:pt x="6577049" y="250011"/>
                </a:lnTo>
                <a:lnTo>
                  <a:pt x="6518055" y="284505"/>
                </a:lnTo>
                <a:lnTo>
                  <a:pt x="6454077" y="320880"/>
                </a:lnTo>
                <a:lnTo>
                  <a:pt x="6420258" y="339752"/>
                </a:lnTo>
                <a:lnTo>
                  <a:pt x="6385240" y="359071"/>
                </a:lnTo>
                <a:lnTo>
                  <a:pt x="6349039" y="378829"/>
                </a:lnTo>
                <a:lnTo>
                  <a:pt x="6311670" y="399017"/>
                </a:lnTo>
                <a:lnTo>
                  <a:pt x="6273148" y="419629"/>
                </a:lnTo>
                <a:lnTo>
                  <a:pt x="6233491" y="440655"/>
                </a:lnTo>
                <a:lnTo>
                  <a:pt x="6192712" y="462089"/>
                </a:lnTo>
                <a:lnTo>
                  <a:pt x="6150829" y="483922"/>
                </a:lnTo>
                <a:lnTo>
                  <a:pt x="6107856" y="506147"/>
                </a:lnTo>
                <a:lnTo>
                  <a:pt x="6063809" y="528756"/>
                </a:lnTo>
                <a:lnTo>
                  <a:pt x="6018704" y="551740"/>
                </a:lnTo>
                <a:lnTo>
                  <a:pt x="5972556" y="575092"/>
                </a:lnTo>
                <a:lnTo>
                  <a:pt x="5925382" y="598805"/>
                </a:lnTo>
                <a:lnTo>
                  <a:pt x="5877196" y="622870"/>
                </a:lnTo>
                <a:lnTo>
                  <a:pt x="5828015" y="647280"/>
                </a:lnTo>
                <a:lnTo>
                  <a:pt x="5777854" y="672026"/>
                </a:lnTo>
                <a:lnTo>
                  <a:pt x="5726728" y="697101"/>
                </a:lnTo>
                <a:lnTo>
                  <a:pt x="5674654" y="722497"/>
                </a:lnTo>
                <a:lnTo>
                  <a:pt x="5621648" y="748207"/>
                </a:lnTo>
                <a:lnTo>
                  <a:pt x="5567723" y="774221"/>
                </a:lnTo>
                <a:lnTo>
                  <a:pt x="5512898" y="800533"/>
                </a:lnTo>
                <a:lnTo>
                  <a:pt x="5457186" y="827135"/>
                </a:lnTo>
                <a:lnTo>
                  <a:pt x="5400604" y="854019"/>
                </a:lnTo>
                <a:lnTo>
                  <a:pt x="5343167" y="881176"/>
                </a:lnTo>
                <a:lnTo>
                  <a:pt x="5284891" y="908600"/>
                </a:lnTo>
                <a:lnTo>
                  <a:pt x="5225792" y="936282"/>
                </a:lnTo>
                <a:lnTo>
                  <a:pt x="5165885" y="964214"/>
                </a:lnTo>
                <a:lnTo>
                  <a:pt x="5105187" y="992389"/>
                </a:lnTo>
                <a:lnTo>
                  <a:pt x="5043711" y="1020798"/>
                </a:lnTo>
                <a:lnTo>
                  <a:pt x="4981475" y="1049435"/>
                </a:lnTo>
                <a:lnTo>
                  <a:pt x="4918494" y="1078290"/>
                </a:lnTo>
                <a:lnTo>
                  <a:pt x="4854784" y="1107357"/>
                </a:lnTo>
                <a:lnTo>
                  <a:pt x="4790359" y="1136627"/>
                </a:lnTo>
                <a:lnTo>
                  <a:pt x="4725237" y="1166092"/>
                </a:lnTo>
                <a:lnTo>
                  <a:pt x="4659432" y="1195746"/>
                </a:lnTo>
                <a:lnTo>
                  <a:pt x="4592960" y="1225579"/>
                </a:lnTo>
                <a:lnTo>
                  <a:pt x="4525837" y="1255584"/>
                </a:lnTo>
                <a:lnTo>
                  <a:pt x="4458079" y="1285753"/>
                </a:lnTo>
                <a:lnTo>
                  <a:pt x="4389701" y="1316079"/>
                </a:lnTo>
                <a:lnTo>
                  <a:pt x="4320718" y="1346553"/>
                </a:lnTo>
                <a:lnTo>
                  <a:pt x="4251147" y="1377167"/>
                </a:lnTo>
                <a:lnTo>
                  <a:pt x="4181003" y="1407915"/>
                </a:lnTo>
                <a:lnTo>
                  <a:pt x="4110302" y="1438787"/>
                </a:lnTo>
                <a:lnTo>
                  <a:pt x="4039059" y="1469776"/>
                </a:lnTo>
                <a:lnTo>
                  <a:pt x="3967291" y="1500875"/>
                </a:lnTo>
                <a:lnTo>
                  <a:pt x="3895012" y="1532075"/>
                </a:lnTo>
                <a:lnTo>
                  <a:pt x="3822238" y="1563369"/>
                </a:lnTo>
                <a:lnTo>
                  <a:pt x="3748985" y="1594748"/>
                </a:lnTo>
                <a:lnTo>
                  <a:pt x="3675270" y="1626206"/>
                </a:lnTo>
                <a:lnTo>
                  <a:pt x="3601106" y="1657733"/>
                </a:lnTo>
                <a:lnTo>
                  <a:pt x="3526510" y="1689322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05633" y="2036826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66238" y="2036826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26842" y="2036826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80409" y="2036826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7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41014" y="2036826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50614" y="2036826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71821" y="2036826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7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25390" y="2036826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56197" y="2036826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7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16802" y="2036826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30973" y="2036826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161781" y="2036826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4018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44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33832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最大项的性质</a:t>
            </a:r>
          </a:p>
        </p:txBody>
      </p:sp>
      <p:sp>
        <p:nvSpPr>
          <p:cNvPr id="3" name="object 3"/>
          <p:cNvSpPr/>
          <p:nvPr/>
        </p:nvSpPr>
        <p:spPr>
          <a:xfrm>
            <a:off x="460211" y="1123135"/>
            <a:ext cx="1316046" cy="18327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3820" y="1794128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93164" y="1098803"/>
            <a:ext cx="7628382" cy="12580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93138" y="1337309"/>
            <a:ext cx="7071995" cy="7067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515"/>
              </a:spcBef>
            </a:pPr>
            <a:r>
              <a:rPr sz="24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对于任意一个最大项，只有一组变量的取值使它的值 为</a:t>
            </a:r>
            <a:r>
              <a:rPr sz="2400" b="1" spc="-220" dirty="0">
                <a:solidFill>
                  <a:srgbClr val="0000FF"/>
                </a:solidFill>
                <a:latin typeface="Microsoft JhengHei"/>
                <a:cs typeface="Microsoft JhengHei"/>
              </a:rPr>
              <a:t>0</a:t>
            </a:r>
            <a:r>
              <a:rPr sz="24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，而当变量取其它各组值时该最大项的值都</a:t>
            </a:r>
            <a:r>
              <a:rPr sz="2400" b="1" spc="20" dirty="0">
                <a:solidFill>
                  <a:srgbClr val="0000FF"/>
                </a:solidFill>
                <a:latin typeface="Microsoft JhengHei"/>
                <a:cs typeface="Microsoft JhengHei"/>
              </a:rPr>
              <a:t>是</a:t>
            </a:r>
            <a:r>
              <a:rPr sz="2400" b="1" spc="-220" dirty="0">
                <a:solidFill>
                  <a:srgbClr val="0000FF"/>
                </a:solidFill>
                <a:latin typeface="Microsoft JhengHei"/>
                <a:cs typeface="Microsoft JhengHei"/>
              </a:rPr>
              <a:t>1</a:t>
            </a:r>
            <a:r>
              <a:rPr sz="2400" b="1" dirty="0">
                <a:solidFill>
                  <a:srgbClr val="0000FF"/>
                </a:solidFill>
                <a:latin typeface="Microsoft JhengHei"/>
                <a:cs typeface="Microsoft JhengHei"/>
              </a:rPr>
              <a:t>。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1104" y="2695955"/>
            <a:ext cx="1334262" cy="18691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93164" y="2689860"/>
            <a:ext cx="7628382" cy="12580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53820" y="3079241"/>
            <a:ext cx="7651115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1560">
              <a:lnSpc>
                <a:spcPts val="2645"/>
              </a:lnSpc>
              <a:spcBef>
                <a:spcPts val="100"/>
              </a:spcBef>
            </a:pPr>
            <a:r>
              <a:rPr sz="24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任意两个不同的最大项的和（相“或”）恒</a:t>
            </a:r>
            <a:r>
              <a:rPr sz="2400" b="1" spc="20" dirty="0">
                <a:solidFill>
                  <a:srgbClr val="0000FF"/>
                </a:solidFill>
                <a:latin typeface="Microsoft JhengHei"/>
                <a:cs typeface="Microsoft JhengHei"/>
              </a:rPr>
              <a:t>为</a:t>
            </a:r>
            <a:r>
              <a:rPr sz="2400" b="1" spc="-220" dirty="0">
                <a:solidFill>
                  <a:srgbClr val="0000FF"/>
                </a:solidFill>
                <a:latin typeface="Microsoft JhengHei"/>
                <a:cs typeface="Microsoft JhengHei"/>
              </a:rPr>
              <a:t>1</a:t>
            </a:r>
            <a:r>
              <a:rPr sz="2400" b="1" dirty="0">
                <a:solidFill>
                  <a:srgbClr val="0000FF"/>
                </a:solidFill>
                <a:latin typeface="Microsoft JhengHei"/>
                <a:cs typeface="Microsoft JhengHei"/>
              </a:rPr>
              <a:t>。</a:t>
            </a:r>
            <a:endParaRPr sz="2400">
              <a:latin typeface="Microsoft JhengHei"/>
              <a:cs typeface="Microsoft JhengHei"/>
            </a:endParaRPr>
          </a:p>
          <a:p>
            <a:pPr marL="12700">
              <a:lnSpc>
                <a:spcPts val="2645"/>
              </a:lnSpc>
            </a:pPr>
            <a:r>
              <a:rPr sz="2400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1104" y="4287011"/>
            <a:ext cx="1334262" cy="18691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93164" y="4280915"/>
            <a:ext cx="7628382" cy="12580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53820" y="4670552"/>
            <a:ext cx="6119495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1560">
              <a:lnSpc>
                <a:spcPts val="2645"/>
              </a:lnSpc>
              <a:spcBef>
                <a:spcPts val="100"/>
              </a:spcBef>
            </a:pPr>
            <a:r>
              <a:rPr sz="24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全体最大项之积（相“与”）恒</a:t>
            </a:r>
            <a:r>
              <a:rPr sz="2400" b="1" spc="15" dirty="0">
                <a:solidFill>
                  <a:srgbClr val="0000FF"/>
                </a:solidFill>
                <a:latin typeface="Microsoft JhengHei"/>
                <a:cs typeface="Microsoft JhengHei"/>
              </a:rPr>
              <a:t>为</a:t>
            </a:r>
            <a:r>
              <a:rPr sz="2400" b="1" spc="-220" dirty="0">
                <a:solidFill>
                  <a:srgbClr val="0000FF"/>
                </a:solidFill>
                <a:latin typeface="Microsoft JhengHei"/>
                <a:cs typeface="Microsoft JhengHei"/>
              </a:rPr>
              <a:t>0</a:t>
            </a:r>
            <a:r>
              <a:rPr sz="2400" b="1" dirty="0">
                <a:solidFill>
                  <a:srgbClr val="0000FF"/>
                </a:solidFill>
                <a:latin typeface="Microsoft JhengHei"/>
                <a:cs typeface="Microsoft JhengHei"/>
              </a:rPr>
              <a:t>。</a:t>
            </a:r>
            <a:endParaRPr sz="2400">
              <a:latin typeface="Microsoft JhengHei"/>
              <a:cs typeface="Microsoft JhengHei"/>
            </a:endParaRPr>
          </a:p>
          <a:p>
            <a:pPr marL="12700">
              <a:lnSpc>
                <a:spcPts val="2645"/>
              </a:lnSpc>
            </a:pPr>
            <a:r>
              <a:rPr sz="2400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8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7334" y="239344"/>
            <a:ext cx="5618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最大项和最小项的关系</a:t>
            </a:r>
          </a:p>
        </p:txBody>
      </p:sp>
      <p:sp>
        <p:nvSpPr>
          <p:cNvPr id="3" name="object 3"/>
          <p:cNvSpPr/>
          <p:nvPr/>
        </p:nvSpPr>
        <p:spPr>
          <a:xfrm>
            <a:off x="602462" y="1629917"/>
            <a:ext cx="8600440" cy="450215"/>
          </a:xfrm>
          <a:custGeom>
            <a:avLst/>
            <a:gdLst/>
            <a:ahLst/>
            <a:cxnLst/>
            <a:rect l="l" t="t" r="r" b="b"/>
            <a:pathLst>
              <a:path w="8600440" h="450214">
                <a:moveTo>
                  <a:pt x="56235" y="281178"/>
                </a:moveTo>
                <a:lnTo>
                  <a:pt x="34343" y="285611"/>
                </a:lnTo>
                <a:lnTo>
                  <a:pt x="16468" y="297688"/>
                </a:lnTo>
                <a:lnTo>
                  <a:pt x="4418" y="315575"/>
                </a:lnTo>
                <a:lnTo>
                  <a:pt x="0" y="337439"/>
                </a:lnTo>
                <a:lnTo>
                  <a:pt x="0" y="449961"/>
                </a:lnTo>
                <a:lnTo>
                  <a:pt x="43786" y="441112"/>
                </a:lnTo>
                <a:lnTo>
                  <a:pt x="79540" y="416988"/>
                </a:lnTo>
                <a:lnTo>
                  <a:pt x="103645" y="381220"/>
                </a:lnTo>
                <a:lnTo>
                  <a:pt x="112483" y="337439"/>
                </a:lnTo>
                <a:lnTo>
                  <a:pt x="108063" y="315575"/>
                </a:lnTo>
                <a:lnTo>
                  <a:pt x="96008" y="297688"/>
                </a:lnTo>
                <a:lnTo>
                  <a:pt x="78129" y="285611"/>
                </a:lnTo>
                <a:lnTo>
                  <a:pt x="56235" y="281178"/>
                </a:lnTo>
                <a:close/>
              </a:path>
              <a:path w="8600440" h="450214">
                <a:moveTo>
                  <a:pt x="8600211" y="112522"/>
                </a:moveTo>
                <a:lnTo>
                  <a:pt x="8487689" y="112522"/>
                </a:lnTo>
                <a:lnTo>
                  <a:pt x="8487689" y="225044"/>
                </a:lnTo>
                <a:lnTo>
                  <a:pt x="8531470" y="216195"/>
                </a:lnTo>
                <a:lnTo>
                  <a:pt x="8567239" y="192071"/>
                </a:lnTo>
                <a:lnTo>
                  <a:pt x="8591363" y="156303"/>
                </a:lnTo>
                <a:lnTo>
                  <a:pt x="8600211" y="112522"/>
                </a:lnTo>
                <a:close/>
              </a:path>
              <a:path w="8600440" h="450214">
                <a:moveTo>
                  <a:pt x="8487689" y="0"/>
                </a:moveTo>
                <a:lnTo>
                  <a:pt x="8443908" y="8848"/>
                </a:lnTo>
                <a:lnTo>
                  <a:pt x="8408139" y="32972"/>
                </a:lnTo>
                <a:lnTo>
                  <a:pt x="8384015" y="68740"/>
                </a:lnTo>
                <a:lnTo>
                  <a:pt x="8375167" y="112522"/>
                </a:lnTo>
                <a:lnTo>
                  <a:pt x="8379600" y="134385"/>
                </a:lnTo>
                <a:lnTo>
                  <a:pt x="8391677" y="152273"/>
                </a:lnTo>
                <a:lnTo>
                  <a:pt x="8409564" y="164349"/>
                </a:lnTo>
                <a:lnTo>
                  <a:pt x="8431428" y="168783"/>
                </a:lnTo>
                <a:lnTo>
                  <a:pt x="8453345" y="164349"/>
                </a:lnTo>
                <a:lnTo>
                  <a:pt x="8471227" y="152273"/>
                </a:lnTo>
                <a:lnTo>
                  <a:pt x="8483274" y="134385"/>
                </a:lnTo>
                <a:lnTo>
                  <a:pt x="8487689" y="112522"/>
                </a:lnTo>
                <a:lnTo>
                  <a:pt x="8600211" y="112522"/>
                </a:lnTo>
                <a:lnTo>
                  <a:pt x="8591363" y="68740"/>
                </a:lnTo>
                <a:lnTo>
                  <a:pt x="8567239" y="32972"/>
                </a:lnTo>
                <a:lnTo>
                  <a:pt x="8531470" y="8848"/>
                </a:lnTo>
                <a:lnTo>
                  <a:pt x="848768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1629917"/>
            <a:ext cx="8712835" cy="1800225"/>
          </a:xfrm>
          <a:custGeom>
            <a:avLst/>
            <a:gdLst/>
            <a:ahLst/>
            <a:cxnLst/>
            <a:rect l="l" t="t" r="r" b="b"/>
            <a:pathLst>
              <a:path w="8712835" h="1800225">
                <a:moveTo>
                  <a:pt x="0" y="337439"/>
                </a:moveTo>
                <a:lnTo>
                  <a:pt x="8840" y="293657"/>
                </a:lnTo>
                <a:lnTo>
                  <a:pt x="32950" y="257889"/>
                </a:lnTo>
                <a:lnTo>
                  <a:pt x="68708" y="233765"/>
                </a:lnTo>
                <a:lnTo>
                  <a:pt x="112496" y="224917"/>
                </a:lnTo>
                <a:lnTo>
                  <a:pt x="8487664" y="225044"/>
                </a:lnTo>
                <a:lnTo>
                  <a:pt x="8487664" y="112522"/>
                </a:lnTo>
                <a:lnTo>
                  <a:pt x="8496512" y="68740"/>
                </a:lnTo>
                <a:lnTo>
                  <a:pt x="8520636" y="32972"/>
                </a:lnTo>
                <a:lnTo>
                  <a:pt x="8556404" y="8848"/>
                </a:lnTo>
                <a:lnTo>
                  <a:pt x="8600186" y="0"/>
                </a:lnTo>
                <a:lnTo>
                  <a:pt x="8643967" y="8848"/>
                </a:lnTo>
                <a:lnTo>
                  <a:pt x="8679735" y="32972"/>
                </a:lnTo>
                <a:lnTo>
                  <a:pt x="8703859" y="68740"/>
                </a:lnTo>
                <a:lnTo>
                  <a:pt x="8712708" y="112522"/>
                </a:lnTo>
                <a:lnTo>
                  <a:pt x="8712708" y="1462405"/>
                </a:lnTo>
                <a:lnTo>
                  <a:pt x="8703859" y="1506186"/>
                </a:lnTo>
                <a:lnTo>
                  <a:pt x="8679735" y="1541954"/>
                </a:lnTo>
                <a:lnTo>
                  <a:pt x="8643967" y="1566078"/>
                </a:lnTo>
                <a:lnTo>
                  <a:pt x="8600186" y="1574927"/>
                </a:lnTo>
                <a:lnTo>
                  <a:pt x="224980" y="1574800"/>
                </a:lnTo>
                <a:lnTo>
                  <a:pt x="224980" y="1687322"/>
                </a:lnTo>
                <a:lnTo>
                  <a:pt x="216141" y="1731103"/>
                </a:lnTo>
                <a:lnTo>
                  <a:pt x="192036" y="1766871"/>
                </a:lnTo>
                <a:lnTo>
                  <a:pt x="156282" y="1790995"/>
                </a:lnTo>
                <a:lnTo>
                  <a:pt x="112496" y="1799844"/>
                </a:lnTo>
                <a:lnTo>
                  <a:pt x="68708" y="1790995"/>
                </a:lnTo>
                <a:lnTo>
                  <a:pt x="32950" y="1766871"/>
                </a:lnTo>
                <a:lnTo>
                  <a:pt x="8840" y="1731103"/>
                </a:lnTo>
                <a:lnTo>
                  <a:pt x="0" y="1687322"/>
                </a:lnTo>
                <a:lnTo>
                  <a:pt x="0" y="337439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64676" y="1729485"/>
            <a:ext cx="250951" cy="1384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7012" y="1898142"/>
            <a:ext cx="250888" cy="1946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4946" y="1967357"/>
            <a:ext cx="0" cy="1237615"/>
          </a:xfrm>
          <a:custGeom>
            <a:avLst/>
            <a:gdLst/>
            <a:ahLst/>
            <a:cxnLst/>
            <a:rect l="l" t="t" r="r" b="b"/>
            <a:pathLst>
              <a:path h="1237614">
                <a:moveTo>
                  <a:pt x="0" y="0"/>
                </a:moveTo>
                <a:lnTo>
                  <a:pt x="0" y="1237360"/>
                </a:lnTo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49781" y="2006041"/>
            <a:ext cx="775208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微软雅黑"/>
                <a:cs typeface="微软雅黑"/>
              </a:rPr>
              <a:t>变量数相同，</a:t>
            </a:r>
            <a:r>
              <a:rPr sz="3200" b="1" dirty="0">
                <a:solidFill>
                  <a:srgbClr val="00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编号相同</a:t>
            </a:r>
            <a:r>
              <a:rPr sz="3200" b="1" spc="-15" dirty="0">
                <a:solidFill>
                  <a:srgbClr val="00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的</a:t>
            </a:r>
            <a:r>
              <a:rPr sz="3200" b="1" dirty="0">
                <a:solidFill>
                  <a:srgbClr val="00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最小</a:t>
            </a:r>
            <a:r>
              <a:rPr sz="3200" b="1" spc="-15" dirty="0">
                <a:solidFill>
                  <a:srgbClr val="00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项</a:t>
            </a:r>
            <a:r>
              <a:rPr sz="3200" b="1" dirty="0">
                <a:solidFill>
                  <a:srgbClr val="00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和最</a:t>
            </a:r>
            <a:r>
              <a:rPr sz="3200" b="1" spc="-15" dirty="0">
                <a:solidFill>
                  <a:srgbClr val="00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大</a:t>
            </a:r>
            <a:r>
              <a:rPr sz="3200" b="1" spc="-5" dirty="0">
                <a:solidFill>
                  <a:srgbClr val="00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项之 </a:t>
            </a:r>
            <a:r>
              <a:rPr sz="3200" b="1" dirty="0">
                <a:solidFill>
                  <a:srgbClr val="00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间存在互补关系。</a:t>
            </a:r>
            <a:endParaRPr sz="3200" dirty="0">
              <a:highlight>
                <a:srgbClr val="FFFF00"/>
              </a:highlight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7384" y="4189410"/>
            <a:ext cx="8884926" cy="12528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9966" y="4222241"/>
            <a:ext cx="8784590" cy="1152525"/>
          </a:xfrm>
          <a:custGeom>
            <a:avLst/>
            <a:gdLst/>
            <a:ahLst/>
            <a:cxnLst/>
            <a:rect l="l" t="t" r="r" b="b"/>
            <a:pathLst>
              <a:path w="8784590" h="1152525">
                <a:moveTo>
                  <a:pt x="8635491" y="0"/>
                </a:moveTo>
                <a:lnTo>
                  <a:pt x="148894" y="0"/>
                </a:lnTo>
                <a:lnTo>
                  <a:pt x="101832" y="7591"/>
                </a:lnTo>
                <a:lnTo>
                  <a:pt x="60959" y="28728"/>
                </a:lnTo>
                <a:lnTo>
                  <a:pt x="28728" y="60953"/>
                </a:lnTo>
                <a:lnTo>
                  <a:pt x="7590" y="101811"/>
                </a:lnTo>
                <a:lnTo>
                  <a:pt x="0" y="148843"/>
                </a:lnTo>
                <a:lnTo>
                  <a:pt x="0" y="1003299"/>
                </a:lnTo>
                <a:lnTo>
                  <a:pt x="7590" y="1050332"/>
                </a:lnTo>
                <a:lnTo>
                  <a:pt x="28728" y="1091190"/>
                </a:lnTo>
                <a:lnTo>
                  <a:pt x="60959" y="1123415"/>
                </a:lnTo>
                <a:lnTo>
                  <a:pt x="101832" y="1144552"/>
                </a:lnTo>
                <a:lnTo>
                  <a:pt x="148894" y="1152143"/>
                </a:lnTo>
                <a:lnTo>
                  <a:pt x="8635491" y="1152143"/>
                </a:lnTo>
                <a:lnTo>
                  <a:pt x="8682524" y="1144552"/>
                </a:lnTo>
                <a:lnTo>
                  <a:pt x="8723382" y="1123415"/>
                </a:lnTo>
                <a:lnTo>
                  <a:pt x="8755607" y="1091190"/>
                </a:lnTo>
                <a:lnTo>
                  <a:pt x="8776744" y="1050332"/>
                </a:lnTo>
                <a:lnTo>
                  <a:pt x="8784336" y="1003299"/>
                </a:lnTo>
                <a:lnTo>
                  <a:pt x="8784336" y="148843"/>
                </a:lnTo>
                <a:lnTo>
                  <a:pt x="8776744" y="101811"/>
                </a:lnTo>
                <a:lnTo>
                  <a:pt x="8755607" y="60953"/>
                </a:lnTo>
                <a:lnTo>
                  <a:pt x="8723382" y="28728"/>
                </a:lnTo>
                <a:lnTo>
                  <a:pt x="8682524" y="7591"/>
                </a:lnTo>
                <a:lnTo>
                  <a:pt x="8635491" y="0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9966" y="4222241"/>
            <a:ext cx="8784590" cy="1152525"/>
          </a:xfrm>
          <a:custGeom>
            <a:avLst/>
            <a:gdLst/>
            <a:ahLst/>
            <a:cxnLst/>
            <a:rect l="l" t="t" r="r" b="b"/>
            <a:pathLst>
              <a:path w="8784590" h="1152525">
                <a:moveTo>
                  <a:pt x="0" y="148843"/>
                </a:moveTo>
                <a:lnTo>
                  <a:pt x="7590" y="101811"/>
                </a:lnTo>
                <a:lnTo>
                  <a:pt x="28728" y="60953"/>
                </a:lnTo>
                <a:lnTo>
                  <a:pt x="60959" y="28728"/>
                </a:lnTo>
                <a:lnTo>
                  <a:pt x="101832" y="7591"/>
                </a:lnTo>
                <a:lnTo>
                  <a:pt x="148894" y="0"/>
                </a:lnTo>
                <a:lnTo>
                  <a:pt x="8635491" y="0"/>
                </a:lnTo>
                <a:lnTo>
                  <a:pt x="8682524" y="7591"/>
                </a:lnTo>
                <a:lnTo>
                  <a:pt x="8723382" y="28728"/>
                </a:lnTo>
                <a:lnTo>
                  <a:pt x="8755607" y="60953"/>
                </a:lnTo>
                <a:lnTo>
                  <a:pt x="8776744" y="101811"/>
                </a:lnTo>
                <a:lnTo>
                  <a:pt x="8784336" y="148843"/>
                </a:lnTo>
                <a:lnTo>
                  <a:pt x="8784336" y="1003299"/>
                </a:lnTo>
                <a:lnTo>
                  <a:pt x="8776744" y="1050332"/>
                </a:lnTo>
                <a:lnTo>
                  <a:pt x="8755607" y="1091190"/>
                </a:lnTo>
                <a:lnTo>
                  <a:pt x="8723382" y="1123415"/>
                </a:lnTo>
                <a:lnTo>
                  <a:pt x="8682524" y="1144552"/>
                </a:lnTo>
                <a:lnTo>
                  <a:pt x="8635491" y="1152143"/>
                </a:lnTo>
                <a:lnTo>
                  <a:pt x="148894" y="1152143"/>
                </a:lnTo>
                <a:lnTo>
                  <a:pt x="101832" y="1144552"/>
                </a:lnTo>
                <a:lnTo>
                  <a:pt x="60959" y="1123415"/>
                </a:lnTo>
                <a:lnTo>
                  <a:pt x="28728" y="1091190"/>
                </a:lnTo>
                <a:lnTo>
                  <a:pt x="7590" y="1050332"/>
                </a:lnTo>
                <a:lnTo>
                  <a:pt x="0" y="1003299"/>
                </a:lnTo>
                <a:lnTo>
                  <a:pt x="0" y="14884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18710" y="4391603"/>
            <a:ext cx="620395" cy="0"/>
          </a:xfrm>
          <a:custGeom>
            <a:avLst/>
            <a:gdLst/>
            <a:ahLst/>
            <a:cxnLst/>
            <a:rect l="l" t="t" r="r" b="b"/>
            <a:pathLst>
              <a:path w="620394">
                <a:moveTo>
                  <a:pt x="0" y="0"/>
                </a:moveTo>
                <a:lnTo>
                  <a:pt x="619835" y="0"/>
                </a:lnTo>
              </a:path>
            </a:pathLst>
          </a:custGeom>
          <a:ln w="192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82167" y="4398059"/>
            <a:ext cx="758825" cy="0"/>
          </a:xfrm>
          <a:custGeom>
            <a:avLst/>
            <a:gdLst/>
            <a:ahLst/>
            <a:cxnLst/>
            <a:rect l="l" t="t" r="r" b="b"/>
            <a:pathLst>
              <a:path w="758825">
                <a:moveTo>
                  <a:pt x="0" y="0"/>
                </a:moveTo>
                <a:lnTo>
                  <a:pt x="758477" y="0"/>
                </a:lnTo>
              </a:path>
            </a:pathLst>
          </a:custGeom>
          <a:ln w="192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94826" y="4394525"/>
            <a:ext cx="1735455" cy="85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6650" algn="l"/>
              </a:tabLst>
            </a:pPr>
            <a:r>
              <a:rPr sz="5450" i="1" spc="55" dirty="0">
                <a:latin typeface="Times New Roman"/>
                <a:cs typeface="Times New Roman"/>
              </a:rPr>
              <a:t>m	</a:t>
            </a:r>
            <a:r>
              <a:rPr sz="5450" i="1" spc="65" dirty="0">
                <a:latin typeface="Times New Roman"/>
                <a:cs typeface="Times New Roman"/>
              </a:rPr>
              <a:t>M</a:t>
            </a:r>
            <a:endParaRPr sz="54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5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46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70260" y="4393443"/>
            <a:ext cx="162560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i="1" spc="25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62167" y="4844599"/>
            <a:ext cx="101600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i="1" spc="10" dirty="0">
                <a:latin typeface="Times New Roman"/>
                <a:cs typeface="Times New Roman"/>
              </a:rPr>
              <a:t>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99327" y="4282635"/>
            <a:ext cx="170815" cy="9061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255">
              <a:lnSpc>
                <a:spcPct val="137500"/>
              </a:lnSpc>
              <a:spcBef>
                <a:spcPts val="95"/>
              </a:spcBef>
            </a:pPr>
            <a:r>
              <a:rPr sz="2100" i="1" spc="15" dirty="0">
                <a:latin typeface="Times New Roman"/>
                <a:cs typeface="Times New Roman"/>
              </a:rPr>
              <a:t>n </a:t>
            </a:r>
            <a:r>
              <a:rPr sz="2100" i="1" spc="10" dirty="0">
                <a:latin typeface="Times New Roman"/>
                <a:cs typeface="Times New Roman"/>
              </a:rPr>
              <a:t>  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99086" y="4393443"/>
            <a:ext cx="162560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i="1" spc="25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90684" y="4844598"/>
            <a:ext cx="101600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i="1" spc="10" dirty="0">
                <a:latin typeface="Times New Roman"/>
                <a:cs typeface="Times New Roman"/>
              </a:rPr>
              <a:t>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51274" y="4474943"/>
            <a:ext cx="28321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600" spc="50" dirty="0">
                <a:latin typeface="Symbol"/>
                <a:cs typeface="Symbol"/>
              </a:rPr>
              <a:t>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48867" y="4474943"/>
            <a:ext cx="28321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600" spc="50" dirty="0">
                <a:latin typeface="Symbol"/>
                <a:cs typeface="Symbol"/>
              </a:rPr>
              <a:t>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58290" y="4394525"/>
            <a:ext cx="1741170" cy="85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0470" algn="l"/>
              </a:tabLst>
            </a:pPr>
            <a:r>
              <a:rPr sz="5450" spc="70" dirty="0">
                <a:latin typeface="Times New Roman"/>
                <a:cs typeface="Times New Roman"/>
              </a:rPr>
              <a:t>M	</a:t>
            </a:r>
            <a:r>
              <a:rPr sz="5450" i="1" spc="55" dirty="0">
                <a:latin typeface="Times New Roman"/>
                <a:cs typeface="Times New Roman"/>
              </a:rPr>
              <a:t>m</a:t>
            </a:r>
            <a:endParaRPr sz="5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84574" y="4282636"/>
            <a:ext cx="170815" cy="9061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255">
              <a:lnSpc>
                <a:spcPct val="137500"/>
              </a:lnSpc>
              <a:spcBef>
                <a:spcPts val="95"/>
              </a:spcBef>
            </a:pPr>
            <a:r>
              <a:rPr sz="2100" spc="15" dirty="0">
                <a:latin typeface="Times New Roman"/>
                <a:cs typeface="Times New Roman"/>
              </a:rPr>
              <a:t>n   </a:t>
            </a:r>
            <a:r>
              <a:rPr sz="2100" spc="10" dirty="0">
                <a:latin typeface="Times New Roman"/>
                <a:cs typeface="Times New Roman"/>
              </a:rPr>
              <a:t>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41014" y="4474943"/>
            <a:ext cx="96901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600" spc="110" dirty="0">
                <a:latin typeface="宋体"/>
                <a:cs typeface="宋体"/>
              </a:rPr>
              <a:t>或者</a:t>
            </a:r>
            <a:endParaRPr sz="3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6181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逻辑函数的两种标准形式</a:t>
            </a:r>
          </a:p>
        </p:txBody>
      </p:sp>
      <p:sp>
        <p:nvSpPr>
          <p:cNvPr id="3" name="object 3"/>
          <p:cNvSpPr/>
          <p:nvPr/>
        </p:nvSpPr>
        <p:spPr>
          <a:xfrm>
            <a:off x="633222" y="1773173"/>
            <a:ext cx="8641080" cy="576580"/>
          </a:xfrm>
          <a:custGeom>
            <a:avLst/>
            <a:gdLst/>
            <a:ahLst/>
            <a:cxnLst/>
            <a:rect l="l" t="t" r="r" b="b"/>
            <a:pathLst>
              <a:path w="8641080" h="576580">
                <a:moveTo>
                  <a:pt x="0" y="96012"/>
                </a:moveTo>
                <a:lnTo>
                  <a:pt x="7545" y="58614"/>
                </a:lnTo>
                <a:lnTo>
                  <a:pt x="28122" y="28098"/>
                </a:lnTo>
                <a:lnTo>
                  <a:pt x="58641" y="7536"/>
                </a:lnTo>
                <a:lnTo>
                  <a:pt x="96012" y="0"/>
                </a:lnTo>
                <a:lnTo>
                  <a:pt x="8545068" y="0"/>
                </a:lnTo>
                <a:lnTo>
                  <a:pt x="8582465" y="7536"/>
                </a:lnTo>
                <a:lnTo>
                  <a:pt x="8612981" y="28098"/>
                </a:lnTo>
                <a:lnTo>
                  <a:pt x="8633543" y="58614"/>
                </a:lnTo>
                <a:lnTo>
                  <a:pt x="8641080" y="96012"/>
                </a:lnTo>
                <a:lnTo>
                  <a:pt x="8641080" y="480060"/>
                </a:lnTo>
                <a:lnTo>
                  <a:pt x="8633543" y="517457"/>
                </a:lnTo>
                <a:lnTo>
                  <a:pt x="8612981" y="547973"/>
                </a:lnTo>
                <a:lnTo>
                  <a:pt x="8582465" y="568535"/>
                </a:lnTo>
                <a:lnTo>
                  <a:pt x="8545068" y="576072"/>
                </a:lnTo>
                <a:lnTo>
                  <a:pt x="96012" y="576072"/>
                </a:lnTo>
                <a:lnTo>
                  <a:pt x="58641" y="568535"/>
                </a:lnTo>
                <a:lnTo>
                  <a:pt x="28122" y="547973"/>
                </a:lnTo>
                <a:lnTo>
                  <a:pt x="7545" y="517457"/>
                </a:lnTo>
                <a:lnTo>
                  <a:pt x="0" y="480060"/>
                </a:lnTo>
                <a:lnTo>
                  <a:pt x="0" y="96012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4040" y="1055623"/>
            <a:ext cx="8425180" cy="115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15" dirty="0">
                <a:solidFill>
                  <a:srgbClr val="0000FF"/>
                </a:solidFill>
                <a:latin typeface="Microsoft JhengHei"/>
                <a:cs typeface="Microsoft JhengHei"/>
              </a:rPr>
              <a:t>标</a:t>
            </a:r>
            <a:r>
              <a:rPr sz="28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准表达</a:t>
            </a:r>
            <a:r>
              <a:rPr sz="2800" b="1" spc="25" dirty="0">
                <a:solidFill>
                  <a:srgbClr val="0000FF"/>
                </a:solidFill>
                <a:latin typeface="Microsoft JhengHei"/>
                <a:cs typeface="Microsoft JhengHei"/>
              </a:rPr>
              <a:t>式</a:t>
            </a:r>
            <a:r>
              <a:rPr sz="2800" b="1" spc="-125" dirty="0">
                <a:solidFill>
                  <a:srgbClr val="0000FF"/>
                </a:solidFill>
                <a:latin typeface="Microsoft JhengHei"/>
                <a:cs typeface="Microsoft JhengHei"/>
              </a:rPr>
              <a:t>1：</a:t>
            </a:r>
            <a:r>
              <a:rPr sz="2800" b="1" dirty="0">
                <a:solidFill>
                  <a:srgbClr val="0000FF"/>
                </a:solidFill>
                <a:latin typeface="Microsoft JhengHei"/>
                <a:cs typeface="Microsoft JhengHei"/>
              </a:rPr>
              <a:t>最</a:t>
            </a:r>
            <a:r>
              <a:rPr sz="2800" b="1" spc="15" dirty="0">
                <a:solidFill>
                  <a:srgbClr val="0000FF"/>
                </a:solidFill>
                <a:latin typeface="Microsoft JhengHei"/>
                <a:cs typeface="Microsoft JhengHei"/>
              </a:rPr>
              <a:t>小</a:t>
            </a:r>
            <a:r>
              <a:rPr sz="2800" b="1" dirty="0">
                <a:solidFill>
                  <a:srgbClr val="0000FF"/>
                </a:solidFill>
                <a:latin typeface="Microsoft JhengHei"/>
                <a:cs typeface="Microsoft JhengHei"/>
              </a:rPr>
              <a:t>项之和</a:t>
            </a:r>
            <a:r>
              <a:rPr sz="2800" b="1" spc="-5" dirty="0">
                <a:solidFill>
                  <a:srgbClr val="0000FF"/>
                </a:solidFill>
                <a:latin typeface="Microsoft JhengHei"/>
                <a:cs typeface="Microsoft JhengHei"/>
              </a:rPr>
              <a:t>式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Microsoft JhengHei"/>
              <a:cs typeface="Microsoft JhengHei"/>
            </a:endParaRPr>
          </a:p>
          <a:p>
            <a:pPr marL="17780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由若干个最小项相</a:t>
            </a:r>
            <a:r>
              <a:rPr sz="2400" dirty="0">
                <a:latin typeface="Arial"/>
                <a:cs typeface="Arial"/>
              </a:rPr>
              <a:t>“</a:t>
            </a:r>
            <a:r>
              <a:rPr sz="2400" dirty="0">
                <a:latin typeface="微软雅黑"/>
                <a:cs typeface="微软雅黑"/>
              </a:rPr>
              <a:t>加</a:t>
            </a:r>
            <a:r>
              <a:rPr sz="2400" dirty="0">
                <a:latin typeface="Arial"/>
                <a:cs typeface="Arial"/>
              </a:rPr>
              <a:t>”</a:t>
            </a:r>
            <a:r>
              <a:rPr sz="2400" dirty="0">
                <a:latin typeface="微软雅黑"/>
                <a:cs typeface="微软雅黑"/>
              </a:rPr>
              <a:t>（相</a:t>
            </a:r>
            <a:r>
              <a:rPr sz="2400" dirty="0">
                <a:latin typeface="Arial"/>
                <a:cs typeface="Arial"/>
              </a:rPr>
              <a:t>“</a:t>
            </a:r>
            <a:r>
              <a:rPr sz="2400" dirty="0">
                <a:latin typeface="微软雅黑"/>
                <a:cs typeface="微软雅黑"/>
              </a:rPr>
              <a:t>或</a:t>
            </a:r>
            <a:r>
              <a:rPr sz="2400" dirty="0">
                <a:latin typeface="Arial"/>
                <a:cs typeface="Arial"/>
              </a:rPr>
              <a:t>”</a:t>
            </a:r>
            <a:r>
              <a:rPr sz="2400" dirty="0">
                <a:latin typeface="微软雅黑"/>
                <a:cs typeface="微软雅黑"/>
              </a:rPr>
              <a:t>）而构成，也叫标准</a:t>
            </a:r>
            <a:r>
              <a:rPr sz="2400" dirty="0">
                <a:latin typeface="Arial"/>
                <a:cs typeface="Arial"/>
              </a:rPr>
              <a:t>“</a:t>
            </a:r>
            <a:r>
              <a:rPr sz="2400" dirty="0">
                <a:latin typeface="微软雅黑"/>
                <a:cs typeface="微软雅黑"/>
              </a:rPr>
              <a:t>与或</a:t>
            </a:r>
            <a:r>
              <a:rPr sz="2400" spc="5" dirty="0">
                <a:latin typeface="Arial"/>
                <a:cs typeface="Arial"/>
              </a:rPr>
              <a:t>”</a:t>
            </a:r>
            <a:r>
              <a:rPr sz="2400" dirty="0">
                <a:latin typeface="微软雅黑"/>
                <a:cs typeface="微软雅黑"/>
              </a:rPr>
              <a:t>式。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504" y="2518917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例如：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13572" y="2696184"/>
            <a:ext cx="157480" cy="0"/>
          </a:xfrm>
          <a:custGeom>
            <a:avLst/>
            <a:gdLst/>
            <a:ahLst/>
            <a:cxnLst/>
            <a:rect l="l" t="t" r="r" b="b"/>
            <a:pathLst>
              <a:path w="157479">
                <a:moveTo>
                  <a:pt x="0" y="0"/>
                </a:moveTo>
                <a:lnTo>
                  <a:pt x="157011" y="0"/>
                </a:lnTo>
              </a:path>
            </a:pathLst>
          </a:custGeom>
          <a:ln w="106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29245" y="2696184"/>
            <a:ext cx="156845" cy="0"/>
          </a:xfrm>
          <a:custGeom>
            <a:avLst/>
            <a:gdLst/>
            <a:ahLst/>
            <a:cxnLst/>
            <a:rect l="l" t="t" r="r" b="b"/>
            <a:pathLst>
              <a:path w="156845">
                <a:moveTo>
                  <a:pt x="0" y="0"/>
                </a:moveTo>
                <a:lnTo>
                  <a:pt x="156541" y="0"/>
                </a:lnTo>
              </a:path>
            </a:pathLst>
          </a:custGeom>
          <a:ln w="106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40947" y="2696184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>
                <a:moveTo>
                  <a:pt x="0" y="0"/>
                </a:moveTo>
                <a:lnTo>
                  <a:pt x="164657" y="0"/>
                </a:lnTo>
              </a:path>
            </a:pathLst>
          </a:custGeom>
          <a:ln w="106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63684" y="2666805"/>
            <a:ext cx="33502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20" dirty="0">
                <a:latin typeface="Times New Roman"/>
                <a:cs typeface="Times New Roman"/>
              </a:rPr>
              <a:t>F</a:t>
            </a:r>
            <a:r>
              <a:rPr sz="2000" i="1" spc="-30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(</a:t>
            </a:r>
            <a:r>
              <a:rPr sz="2000" spc="-295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,</a:t>
            </a:r>
            <a:r>
              <a:rPr sz="2000" spc="-195" dirty="0">
                <a:latin typeface="Times New Roman"/>
                <a:cs typeface="Times New Roman"/>
              </a:rPr>
              <a:t> </a:t>
            </a:r>
            <a:r>
              <a:rPr sz="2000" i="1" spc="20" dirty="0">
                <a:latin typeface="Times New Roman"/>
                <a:cs typeface="Times New Roman"/>
              </a:rPr>
              <a:t>B</a:t>
            </a:r>
            <a:r>
              <a:rPr sz="2000" spc="20" dirty="0">
                <a:latin typeface="Times New Roman"/>
                <a:cs typeface="Times New Roman"/>
              </a:rPr>
              <a:t>,</a:t>
            </a:r>
            <a:r>
              <a:rPr sz="2000" spc="-315" dirty="0">
                <a:latin typeface="Times New Roman"/>
                <a:cs typeface="Times New Roman"/>
              </a:rPr>
              <a:t> </a:t>
            </a:r>
            <a:r>
              <a:rPr sz="2000" i="1" spc="80" dirty="0">
                <a:latin typeface="Times New Roman"/>
                <a:cs typeface="Times New Roman"/>
              </a:rPr>
              <a:t>C</a:t>
            </a:r>
            <a:r>
              <a:rPr sz="2000" spc="80" dirty="0">
                <a:latin typeface="Times New Roman"/>
                <a:cs typeface="Times New Roman"/>
              </a:rPr>
              <a:t>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Symbol"/>
                <a:cs typeface="Symbol"/>
              </a:rPr>
              <a:t>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i="1" spc="-30" dirty="0">
                <a:latin typeface="Times New Roman"/>
                <a:cs typeface="Times New Roman"/>
              </a:rPr>
              <a:t>ABC </a:t>
            </a:r>
            <a:r>
              <a:rPr sz="2000" spc="15" dirty="0">
                <a:latin typeface="Symbol"/>
                <a:cs typeface="Symbol"/>
              </a:rPr>
              <a:t>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ABC</a:t>
            </a:r>
            <a:r>
              <a:rPr sz="2000" i="1" spc="-65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Symbol"/>
                <a:cs typeface="Symbol"/>
              </a:rPr>
              <a:t>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i="1" spc="20" dirty="0">
                <a:latin typeface="Times New Roman"/>
                <a:cs typeface="Times New Roman"/>
              </a:rPr>
              <a:t>ABC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6104" y="3067558"/>
            <a:ext cx="6811645" cy="657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764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可以简写为：</a:t>
            </a:r>
            <a:endParaRPr sz="1800">
              <a:latin typeface="微软雅黑"/>
              <a:cs typeface="微软雅黑"/>
            </a:endParaRPr>
          </a:p>
          <a:p>
            <a:pPr marL="1290320">
              <a:lnSpc>
                <a:spcPts val="3204"/>
              </a:lnSpc>
            </a:pPr>
            <a:r>
              <a:rPr sz="2000" i="1" spc="20" dirty="0">
                <a:latin typeface="Times New Roman"/>
                <a:cs typeface="Times New Roman"/>
              </a:rPr>
              <a:t>F</a:t>
            </a:r>
            <a:r>
              <a:rPr sz="2000" i="1" spc="-29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(</a:t>
            </a:r>
            <a:r>
              <a:rPr sz="2000" spc="-295" dirty="0">
                <a:latin typeface="Times New Roman"/>
                <a:cs typeface="Times New Roman"/>
              </a:rPr>
              <a:t> </a:t>
            </a:r>
            <a:r>
              <a:rPr sz="2000" i="1" spc="-6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,</a:t>
            </a:r>
            <a:r>
              <a:rPr sz="2000" spc="-190" dirty="0">
                <a:latin typeface="Times New Roman"/>
                <a:cs typeface="Times New Roman"/>
              </a:rPr>
              <a:t> </a:t>
            </a:r>
            <a:r>
              <a:rPr sz="2000" i="1" spc="40" dirty="0">
                <a:latin typeface="Times New Roman"/>
                <a:cs typeface="Times New Roman"/>
              </a:rPr>
              <a:t>B</a:t>
            </a:r>
            <a:r>
              <a:rPr sz="2000" spc="10" dirty="0">
                <a:latin typeface="Times New Roman"/>
                <a:cs typeface="Times New Roman"/>
              </a:rPr>
              <a:t>,</a:t>
            </a:r>
            <a:r>
              <a:rPr sz="2000" spc="-315" dirty="0">
                <a:latin typeface="Times New Roman"/>
                <a:cs typeface="Times New Roman"/>
              </a:rPr>
              <a:t> </a:t>
            </a:r>
            <a:r>
              <a:rPr sz="2000" i="1" spc="150" dirty="0">
                <a:latin typeface="Times New Roman"/>
                <a:cs typeface="Times New Roman"/>
              </a:rPr>
              <a:t>C</a:t>
            </a:r>
            <a:r>
              <a:rPr sz="2000" spc="10" dirty="0">
                <a:latin typeface="Times New Roman"/>
                <a:cs typeface="Times New Roman"/>
              </a:rPr>
              <a:t>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Symbol"/>
                <a:cs typeface="Symbol"/>
              </a:rPr>
              <a:t>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4500" i="1" spc="-15" baseline="-12037" dirty="0">
                <a:latin typeface="Times New Roman"/>
                <a:cs typeface="Times New Roman"/>
              </a:rPr>
              <a:t>m</a:t>
            </a:r>
            <a:r>
              <a:rPr sz="1725" spc="22" baseline="-36231" dirty="0">
                <a:latin typeface="Times New Roman"/>
                <a:cs typeface="Times New Roman"/>
              </a:rPr>
              <a:t>3</a:t>
            </a:r>
            <a:r>
              <a:rPr sz="1725" spc="37" baseline="-36231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Symbol"/>
                <a:cs typeface="Symbol"/>
              </a:rPr>
              <a:t>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4500" i="1" spc="-15" baseline="-12037" dirty="0">
                <a:latin typeface="Times New Roman"/>
                <a:cs typeface="Times New Roman"/>
              </a:rPr>
              <a:t>m</a:t>
            </a:r>
            <a:r>
              <a:rPr sz="1725" spc="22" baseline="-36231" dirty="0">
                <a:latin typeface="Times New Roman"/>
                <a:cs typeface="Times New Roman"/>
              </a:rPr>
              <a:t>5</a:t>
            </a:r>
            <a:r>
              <a:rPr sz="1725" spc="67" baseline="-36231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Symbol"/>
                <a:cs typeface="Symbol"/>
              </a:rPr>
              <a:t>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4500" i="1" spc="15" baseline="-12037" dirty="0">
                <a:latin typeface="Times New Roman"/>
                <a:cs typeface="Times New Roman"/>
              </a:rPr>
              <a:t>m</a:t>
            </a:r>
            <a:r>
              <a:rPr sz="1725" spc="22" baseline="-36231" dirty="0">
                <a:latin typeface="Times New Roman"/>
                <a:cs typeface="Times New Roman"/>
              </a:rPr>
              <a:t>6</a:t>
            </a:r>
            <a:r>
              <a:rPr sz="1725" baseline="-36231" dirty="0">
                <a:latin typeface="Times New Roman"/>
                <a:cs typeface="Times New Roman"/>
              </a:rPr>
              <a:t> </a:t>
            </a:r>
            <a:r>
              <a:rPr sz="1725" spc="-157" baseline="-36231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Symbol"/>
                <a:cs typeface="Symbol"/>
              </a:rPr>
              <a:t>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4500" spc="434" baseline="-8333" dirty="0">
                <a:latin typeface="Symbol"/>
                <a:cs typeface="Symbol"/>
              </a:rPr>
              <a:t></a:t>
            </a:r>
            <a:r>
              <a:rPr sz="2000" i="1" spc="40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(</a:t>
            </a:r>
            <a:r>
              <a:rPr sz="2000" spc="-85" dirty="0">
                <a:latin typeface="Times New Roman"/>
                <a:cs typeface="Times New Roman"/>
              </a:rPr>
              <a:t>3</a:t>
            </a:r>
            <a:r>
              <a:rPr sz="2000" spc="-25" dirty="0">
                <a:latin typeface="Times New Roman"/>
                <a:cs typeface="Times New Roman"/>
              </a:rPr>
              <a:t>,</a:t>
            </a:r>
            <a:r>
              <a:rPr sz="2000" spc="-55" dirty="0">
                <a:latin typeface="Times New Roman"/>
                <a:cs typeface="Times New Roman"/>
              </a:rPr>
              <a:t>5</a:t>
            </a:r>
            <a:r>
              <a:rPr sz="2000" spc="5" dirty="0">
                <a:latin typeface="Times New Roman"/>
                <a:cs typeface="Times New Roman"/>
              </a:rPr>
              <a:t>,</a:t>
            </a:r>
            <a:r>
              <a:rPr sz="2000" spc="10" dirty="0">
                <a:latin typeface="Times New Roman"/>
                <a:cs typeface="Times New Roman"/>
              </a:rPr>
              <a:t>6)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Symbol"/>
                <a:cs typeface="Symbol"/>
              </a:rPr>
              <a:t>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4500" spc="397" baseline="-8333" dirty="0">
                <a:latin typeface="Symbol"/>
                <a:cs typeface="Symbol"/>
              </a:rPr>
              <a:t></a:t>
            </a:r>
            <a:r>
              <a:rPr sz="2000" spc="-10" dirty="0">
                <a:latin typeface="Times New Roman"/>
                <a:cs typeface="Times New Roman"/>
              </a:rPr>
              <a:t>(</a:t>
            </a:r>
            <a:r>
              <a:rPr sz="2000" spc="-85" dirty="0">
                <a:latin typeface="Times New Roman"/>
                <a:cs typeface="Times New Roman"/>
              </a:rPr>
              <a:t>3</a:t>
            </a:r>
            <a:r>
              <a:rPr sz="2000" spc="-25" dirty="0">
                <a:latin typeface="Times New Roman"/>
                <a:cs typeface="Times New Roman"/>
              </a:rPr>
              <a:t>,</a:t>
            </a:r>
            <a:r>
              <a:rPr sz="2000" spc="-55" dirty="0">
                <a:latin typeface="Times New Roman"/>
                <a:cs typeface="Times New Roman"/>
              </a:rPr>
              <a:t>5</a:t>
            </a:r>
            <a:r>
              <a:rPr sz="2000" spc="5" dirty="0">
                <a:latin typeface="Times New Roman"/>
                <a:cs typeface="Times New Roman"/>
              </a:rPr>
              <a:t>,</a:t>
            </a:r>
            <a:r>
              <a:rPr sz="2000" spc="10" dirty="0">
                <a:latin typeface="Times New Roman"/>
                <a:cs typeface="Times New Roman"/>
              </a:rPr>
              <a:t>6)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3592" y="3925793"/>
            <a:ext cx="5891053" cy="23675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89288" y="4057811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948" y="0"/>
                </a:lnTo>
              </a:path>
            </a:pathLst>
          </a:custGeom>
          <a:ln w="94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23570" y="4406126"/>
            <a:ext cx="130810" cy="0"/>
          </a:xfrm>
          <a:custGeom>
            <a:avLst/>
            <a:gdLst/>
            <a:ahLst/>
            <a:cxnLst/>
            <a:rect l="l" t="t" r="r" b="b"/>
            <a:pathLst>
              <a:path w="130810">
                <a:moveTo>
                  <a:pt x="0" y="0"/>
                </a:moveTo>
                <a:lnTo>
                  <a:pt x="130282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51067" y="4766164"/>
            <a:ext cx="137160" cy="0"/>
          </a:xfrm>
          <a:custGeom>
            <a:avLst/>
            <a:gdLst/>
            <a:ahLst/>
            <a:cxnLst/>
            <a:rect l="l" t="t" r="r" b="b"/>
            <a:pathLst>
              <a:path w="137160">
                <a:moveTo>
                  <a:pt x="0" y="0"/>
                </a:moveTo>
                <a:lnTo>
                  <a:pt x="136718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65489" y="4766164"/>
            <a:ext cx="130810" cy="0"/>
          </a:xfrm>
          <a:custGeom>
            <a:avLst/>
            <a:gdLst/>
            <a:ahLst/>
            <a:cxnLst/>
            <a:rect l="l" t="t" r="r" b="b"/>
            <a:pathLst>
              <a:path w="130810">
                <a:moveTo>
                  <a:pt x="0" y="0"/>
                </a:moveTo>
                <a:lnTo>
                  <a:pt x="130318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57259" y="4766164"/>
            <a:ext cx="130810" cy="0"/>
          </a:xfrm>
          <a:custGeom>
            <a:avLst/>
            <a:gdLst/>
            <a:ahLst/>
            <a:cxnLst/>
            <a:rect l="l" t="t" r="r" b="b"/>
            <a:pathLst>
              <a:path w="130810">
                <a:moveTo>
                  <a:pt x="0" y="0"/>
                </a:moveTo>
                <a:lnTo>
                  <a:pt x="130318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61211" y="5126221"/>
            <a:ext cx="137795" cy="0"/>
          </a:xfrm>
          <a:custGeom>
            <a:avLst/>
            <a:gdLst/>
            <a:ahLst/>
            <a:cxnLst/>
            <a:rect l="l" t="t" r="r" b="b"/>
            <a:pathLst>
              <a:path w="137795">
                <a:moveTo>
                  <a:pt x="0" y="0"/>
                </a:moveTo>
                <a:lnTo>
                  <a:pt x="137251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02741" y="5126221"/>
            <a:ext cx="130175" cy="0"/>
          </a:xfrm>
          <a:custGeom>
            <a:avLst/>
            <a:gdLst/>
            <a:ahLst/>
            <a:cxnLst/>
            <a:rect l="l" t="t" r="r" b="b"/>
            <a:pathLst>
              <a:path w="130175">
                <a:moveTo>
                  <a:pt x="0" y="0"/>
                </a:moveTo>
                <a:lnTo>
                  <a:pt x="130140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517529" y="5126221"/>
            <a:ext cx="130810" cy="0"/>
          </a:xfrm>
          <a:custGeom>
            <a:avLst/>
            <a:gdLst/>
            <a:ahLst/>
            <a:cxnLst/>
            <a:rect l="l" t="t" r="r" b="b"/>
            <a:pathLst>
              <a:path w="130810">
                <a:moveTo>
                  <a:pt x="0" y="0"/>
                </a:moveTo>
                <a:lnTo>
                  <a:pt x="130318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64559" y="5126221"/>
            <a:ext cx="130810" cy="0"/>
          </a:xfrm>
          <a:custGeom>
            <a:avLst/>
            <a:gdLst/>
            <a:ahLst/>
            <a:cxnLst/>
            <a:rect l="l" t="t" r="r" b="b"/>
            <a:pathLst>
              <a:path w="130810">
                <a:moveTo>
                  <a:pt x="0" y="0"/>
                </a:moveTo>
                <a:lnTo>
                  <a:pt x="130673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04672" y="3963592"/>
            <a:ext cx="5270500" cy="141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 marR="30480" indent="-254635">
              <a:lnSpc>
                <a:spcPct val="122900"/>
              </a:lnSpc>
              <a:spcBef>
                <a:spcPts val="100"/>
              </a:spcBef>
              <a:tabLst>
                <a:tab pos="1092835" algn="l"/>
              </a:tabLst>
            </a:pPr>
            <a:r>
              <a:rPr sz="2700" baseline="4629" dirty="0">
                <a:latin typeface="微软雅黑"/>
                <a:cs typeface="微软雅黑"/>
              </a:rPr>
              <a:t>例题：把	</a:t>
            </a:r>
            <a:r>
              <a:rPr sz="1750" i="1" spc="25" dirty="0">
                <a:latin typeface="Times New Roman"/>
                <a:cs typeface="Times New Roman"/>
              </a:rPr>
              <a:t>F</a:t>
            </a:r>
            <a:r>
              <a:rPr sz="1750" i="1" spc="-25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(</a:t>
            </a:r>
            <a:r>
              <a:rPr sz="1750" spc="-254" dirty="0">
                <a:latin typeface="Times New Roman"/>
                <a:cs typeface="Times New Roman"/>
              </a:rPr>
              <a:t> </a:t>
            </a:r>
            <a:r>
              <a:rPr sz="1750" i="1" spc="-15" dirty="0">
                <a:latin typeface="Times New Roman"/>
                <a:cs typeface="Times New Roman"/>
              </a:rPr>
              <a:t>A</a:t>
            </a:r>
            <a:r>
              <a:rPr sz="1750" spc="-15" dirty="0">
                <a:latin typeface="Times New Roman"/>
                <a:cs typeface="Times New Roman"/>
              </a:rPr>
              <a:t>,</a:t>
            </a:r>
            <a:r>
              <a:rPr sz="1750" spc="-165" dirty="0">
                <a:latin typeface="Times New Roman"/>
                <a:cs typeface="Times New Roman"/>
              </a:rPr>
              <a:t> </a:t>
            </a:r>
            <a:r>
              <a:rPr sz="1750" i="1" spc="30" dirty="0">
                <a:latin typeface="Times New Roman"/>
                <a:cs typeface="Times New Roman"/>
              </a:rPr>
              <a:t>B</a:t>
            </a:r>
            <a:r>
              <a:rPr sz="1750" spc="30" dirty="0">
                <a:latin typeface="Times New Roman"/>
                <a:cs typeface="Times New Roman"/>
              </a:rPr>
              <a:t>,</a:t>
            </a:r>
            <a:r>
              <a:rPr sz="1750" spc="-270" dirty="0">
                <a:latin typeface="Times New Roman"/>
                <a:cs typeface="Times New Roman"/>
              </a:rPr>
              <a:t> </a:t>
            </a:r>
            <a:r>
              <a:rPr sz="1750" i="1" spc="80" dirty="0">
                <a:latin typeface="Times New Roman"/>
                <a:cs typeface="Times New Roman"/>
              </a:rPr>
              <a:t>C</a:t>
            </a:r>
            <a:r>
              <a:rPr sz="1750" spc="80" dirty="0">
                <a:latin typeface="Times New Roman"/>
                <a:cs typeface="Times New Roman"/>
              </a:rPr>
              <a:t>)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20" dirty="0">
                <a:latin typeface="Symbol"/>
                <a:cs typeface="Symbol"/>
              </a:rPr>
              <a:t></a:t>
            </a:r>
            <a:r>
              <a:rPr sz="1750" spc="110" dirty="0">
                <a:latin typeface="Times New Roman"/>
                <a:cs typeface="Times New Roman"/>
              </a:rPr>
              <a:t> </a:t>
            </a:r>
            <a:r>
              <a:rPr sz="1750" i="1" spc="-30" dirty="0">
                <a:latin typeface="Times New Roman"/>
                <a:cs typeface="Times New Roman"/>
              </a:rPr>
              <a:t>AB</a:t>
            </a:r>
            <a:r>
              <a:rPr sz="1750" i="1" spc="-5" dirty="0">
                <a:latin typeface="Times New Roman"/>
                <a:cs typeface="Times New Roman"/>
              </a:rPr>
              <a:t> </a:t>
            </a:r>
            <a:r>
              <a:rPr sz="1750" spc="20" dirty="0">
                <a:latin typeface="Symbol"/>
                <a:cs typeface="Symbol"/>
              </a:rPr>
              <a:t></a:t>
            </a:r>
            <a:r>
              <a:rPr sz="1750" spc="25" dirty="0">
                <a:latin typeface="Times New Roman"/>
                <a:cs typeface="Times New Roman"/>
              </a:rPr>
              <a:t> </a:t>
            </a:r>
            <a:r>
              <a:rPr sz="1750" i="1" spc="-75" dirty="0">
                <a:latin typeface="Times New Roman"/>
                <a:cs typeface="Times New Roman"/>
              </a:rPr>
              <a:t>AC</a:t>
            </a:r>
            <a:r>
              <a:rPr sz="1750" i="1" spc="45" dirty="0">
                <a:latin typeface="Times New Roman"/>
                <a:cs typeface="Times New Roman"/>
              </a:rPr>
              <a:t> </a:t>
            </a:r>
            <a:r>
              <a:rPr sz="2700" baseline="4629" dirty="0">
                <a:latin typeface="微软雅黑"/>
                <a:cs typeface="微软雅黑"/>
              </a:rPr>
              <a:t>展开为最小项之和式 </a:t>
            </a:r>
            <a:r>
              <a:rPr sz="2700" baseline="20061" dirty="0">
                <a:latin typeface="微软雅黑"/>
                <a:cs typeface="微软雅黑"/>
              </a:rPr>
              <a:t>解</a:t>
            </a:r>
            <a:r>
              <a:rPr sz="2700" spc="-104" baseline="20061" dirty="0">
                <a:latin typeface="微软雅黑"/>
                <a:cs typeface="微软雅黑"/>
              </a:rPr>
              <a:t>：</a:t>
            </a:r>
            <a:r>
              <a:rPr sz="1650" i="1" spc="-70" dirty="0">
                <a:latin typeface="Times New Roman"/>
                <a:cs typeface="Times New Roman"/>
              </a:rPr>
              <a:t>F</a:t>
            </a:r>
            <a:r>
              <a:rPr sz="1650" i="1" spc="-235" dirty="0">
                <a:latin typeface="Times New Roman"/>
                <a:cs typeface="Times New Roman"/>
              </a:rPr>
              <a:t> </a:t>
            </a:r>
            <a:r>
              <a:rPr sz="1650" spc="5" dirty="0">
                <a:latin typeface="Times New Roman"/>
                <a:cs typeface="Times New Roman"/>
              </a:rPr>
              <a:t>(</a:t>
            </a:r>
            <a:r>
              <a:rPr sz="1650" spc="-235" dirty="0">
                <a:latin typeface="Times New Roman"/>
                <a:cs typeface="Times New Roman"/>
              </a:rPr>
              <a:t> </a:t>
            </a:r>
            <a:r>
              <a:rPr sz="1650" i="1" spc="-15" dirty="0">
                <a:latin typeface="Times New Roman"/>
                <a:cs typeface="Times New Roman"/>
              </a:rPr>
              <a:t>A</a:t>
            </a:r>
            <a:r>
              <a:rPr sz="1650" spc="-15" dirty="0">
                <a:latin typeface="Times New Roman"/>
                <a:cs typeface="Times New Roman"/>
              </a:rPr>
              <a:t>,</a:t>
            </a:r>
            <a:r>
              <a:rPr sz="1650" spc="-150" dirty="0">
                <a:latin typeface="Times New Roman"/>
                <a:cs typeface="Times New Roman"/>
              </a:rPr>
              <a:t> </a:t>
            </a:r>
            <a:r>
              <a:rPr sz="1650" i="1" spc="25" dirty="0">
                <a:latin typeface="Times New Roman"/>
                <a:cs typeface="Times New Roman"/>
              </a:rPr>
              <a:t>B</a:t>
            </a:r>
            <a:r>
              <a:rPr sz="1650" spc="25" dirty="0">
                <a:latin typeface="Times New Roman"/>
                <a:cs typeface="Times New Roman"/>
              </a:rPr>
              <a:t>,</a:t>
            </a:r>
            <a:r>
              <a:rPr sz="1650" spc="-254" dirty="0">
                <a:latin typeface="Times New Roman"/>
                <a:cs typeface="Times New Roman"/>
              </a:rPr>
              <a:t> </a:t>
            </a:r>
            <a:r>
              <a:rPr sz="1650" i="1" spc="70" dirty="0">
                <a:latin typeface="Times New Roman"/>
                <a:cs typeface="Times New Roman"/>
              </a:rPr>
              <a:t>C</a:t>
            </a:r>
            <a:r>
              <a:rPr sz="1650" spc="70" dirty="0">
                <a:latin typeface="Times New Roman"/>
                <a:cs typeface="Times New Roman"/>
              </a:rPr>
              <a:t>)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</a:t>
            </a:r>
            <a:r>
              <a:rPr sz="1650" spc="10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AB</a:t>
            </a:r>
            <a:r>
              <a:rPr sz="1650" i="1" spc="-70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i="1" spc="-75" dirty="0">
                <a:latin typeface="Times New Roman"/>
                <a:cs typeface="Times New Roman"/>
              </a:rPr>
              <a:t>AC</a:t>
            </a:r>
            <a:endParaRPr sz="1650">
              <a:latin typeface="Times New Roman"/>
              <a:cs typeface="Times New Roman"/>
            </a:endParaRPr>
          </a:p>
          <a:p>
            <a:pPr marL="1673225">
              <a:lnSpc>
                <a:spcPct val="100000"/>
              </a:lnSpc>
              <a:spcBef>
                <a:spcPts val="825"/>
              </a:spcBef>
            </a:pPr>
            <a:r>
              <a:rPr sz="1650" spc="15" dirty="0">
                <a:latin typeface="Symbol"/>
                <a:cs typeface="Symbol"/>
              </a:rPr>
              <a:t></a:t>
            </a:r>
            <a:r>
              <a:rPr sz="1650" spc="105" dirty="0">
                <a:latin typeface="Times New Roman"/>
                <a:cs typeface="Times New Roman"/>
              </a:rPr>
              <a:t> </a:t>
            </a:r>
            <a:r>
              <a:rPr sz="1650" i="1" spc="25" dirty="0">
                <a:latin typeface="Times New Roman"/>
                <a:cs typeface="Times New Roman"/>
              </a:rPr>
              <a:t>AB</a:t>
            </a:r>
            <a:r>
              <a:rPr sz="1650" spc="25" dirty="0">
                <a:latin typeface="Times New Roman"/>
                <a:cs typeface="Times New Roman"/>
              </a:rPr>
              <a:t>(</a:t>
            </a:r>
            <a:r>
              <a:rPr sz="1650" i="1" spc="25" dirty="0">
                <a:latin typeface="Times New Roman"/>
                <a:cs typeface="Times New Roman"/>
              </a:rPr>
              <a:t>C</a:t>
            </a:r>
            <a:r>
              <a:rPr sz="1650" i="1" spc="-35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155" dirty="0">
                <a:latin typeface="Times New Roman"/>
                <a:cs typeface="Times New Roman"/>
              </a:rPr>
              <a:t> </a:t>
            </a:r>
            <a:r>
              <a:rPr sz="1650" i="1" spc="70" dirty="0">
                <a:latin typeface="Times New Roman"/>
                <a:cs typeface="Times New Roman"/>
              </a:rPr>
              <a:t>C</a:t>
            </a:r>
            <a:r>
              <a:rPr sz="1650" spc="70" dirty="0">
                <a:latin typeface="Times New Roman"/>
                <a:cs typeface="Times New Roman"/>
              </a:rPr>
              <a:t>)</a:t>
            </a:r>
            <a:r>
              <a:rPr sz="1650" spc="-130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i="1" spc="20" dirty="0">
                <a:latin typeface="Times New Roman"/>
                <a:cs typeface="Times New Roman"/>
              </a:rPr>
              <a:t>AC</a:t>
            </a:r>
            <a:r>
              <a:rPr sz="1650" spc="20" dirty="0">
                <a:latin typeface="Times New Roman"/>
                <a:cs typeface="Times New Roman"/>
              </a:rPr>
              <a:t>(</a:t>
            </a:r>
            <a:r>
              <a:rPr sz="1650" i="1" spc="20" dirty="0">
                <a:latin typeface="Times New Roman"/>
                <a:cs typeface="Times New Roman"/>
              </a:rPr>
              <a:t>B</a:t>
            </a:r>
            <a:r>
              <a:rPr sz="1650" i="1" spc="-100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i="1" spc="35" dirty="0">
                <a:latin typeface="Times New Roman"/>
                <a:cs typeface="Times New Roman"/>
              </a:rPr>
              <a:t>B</a:t>
            </a:r>
            <a:r>
              <a:rPr sz="1650" spc="35" dirty="0"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  <a:p>
            <a:pPr marL="1673225">
              <a:lnSpc>
                <a:spcPct val="100000"/>
              </a:lnSpc>
              <a:spcBef>
                <a:spcPts val="855"/>
              </a:spcBef>
            </a:pPr>
            <a:r>
              <a:rPr sz="1650" spc="15" dirty="0">
                <a:latin typeface="Symbol"/>
                <a:cs typeface="Symbol"/>
              </a:rPr>
              <a:t>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i="1" spc="20" dirty="0">
                <a:latin typeface="Times New Roman"/>
                <a:cs typeface="Times New Roman"/>
              </a:rPr>
              <a:t>ABC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i="1" spc="25" dirty="0">
                <a:latin typeface="Times New Roman"/>
                <a:cs typeface="Times New Roman"/>
              </a:rPr>
              <a:t>ABC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1650" i="1" spc="5" dirty="0">
                <a:latin typeface="Times New Roman"/>
                <a:cs typeface="Times New Roman"/>
              </a:rPr>
              <a:t>ABC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7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ABC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40084" y="5328816"/>
            <a:ext cx="1974850" cy="784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ts val="2980"/>
              </a:lnSpc>
              <a:spcBef>
                <a:spcPts val="110"/>
              </a:spcBef>
            </a:pPr>
            <a:r>
              <a:rPr sz="1650" spc="15" dirty="0">
                <a:latin typeface="Symbol"/>
                <a:cs typeface="Symbol"/>
              </a:rPr>
              <a:t>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3750" i="1" spc="7" baseline="-12222" dirty="0">
                <a:latin typeface="Times New Roman"/>
                <a:cs typeface="Times New Roman"/>
              </a:rPr>
              <a:t>m</a:t>
            </a:r>
            <a:r>
              <a:rPr sz="1425" spc="15" baseline="-38011" dirty="0">
                <a:latin typeface="Times New Roman"/>
                <a:cs typeface="Times New Roman"/>
              </a:rPr>
              <a:t>7</a:t>
            </a:r>
            <a:r>
              <a:rPr sz="1425" spc="112" baseline="-38011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114" dirty="0">
                <a:latin typeface="Times New Roman"/>
                <a:cs typeface="Times New Roman"/>
              </a:rPr>
              <a:t> </a:t>
            </a:r>
            <a:r>
              <a:rPr sz="3750" i="1" spc="7" baseline="-12222" dirty="0">
                <a:latin typeface="Times New Roman"/>
                <a:cs typeface="Times New Roman"/>
              </a:rPr>
              <a:t>m</a:t>
            </a:r>
            <a:r>
              <a:rPr sz="1425" spc="15" baseline="-38011" dirty="0">
                <a:latin typeface="Times New Roman"/>
                <a:cs typeface="Times New Roman"/>
              </a:rPr>
              <a:t>6</a:t>
            </a:r>
            <a:r>
              <a:rPr sz="1425" spc="82" baseline="-38011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110" dirty="0">
                <a:latin typeface="Times New Roman"/>
                <a:cs typeface="Times New Roman"/>
              </a:rPr>
              <a:t> </a:t>
            </a:r>
            <a:r>
              <a:rPr sz="3750" i="1" spc="-15" baseline="-12222" dirty="0">
                <a:latin typeface="Times New Roman"/>
                <a:cs typeface="Times New Roman"/>
              </a:rPr>
              <a:t>m</a:t>
            </a:r>
            <a:r>
              <a:rPr sz="1425" spc="15" baseline="-38011" dirty="0">
                <a:latin typeface="Times New Roman"/>
                <a:cs typeface="Times New Roman"/>
              </a:rPr>
              <a:t>3</a:t>
            </a:r>
            <a:r>
              <a:rPr sz="1425" spc="37" baseline="-38011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110" dirty="0">
                <a:latin typeface="Times New Roman"/>
                <a:cs typeface="Times New Roman"/>
              </a:rPr>
              <a:t> </a:t>
            </a:r>
            <a:r>
              <a:rPr sz="3750" i="1" spc="-135" baseline="-12222" dirty="0">
                <a:latin typeface="Times New Roman"/>
                <a:cs typeface="Times New Roman"/>
              </a:rPr>
              <a:t>m</a:t>
            </a:r>
            <a:r>
              <a:rPr sz="1425" spc="15" baseline="-38011" dirty="0">
                <a:latin typeface="Times New Roman"/>
                <a:cs typeface="Times New Roman"/>
              </a:rPr>
              <a:t>1</a:t>
            </a:r>
            <a:endParaRPr sz="1425" baseline="-38011">
              <a:latin typeface="Times New Roman"/>
              <a:cs typeface="Times New Roman"/>
            </a:endParaRPr>
          </a:p>
          <a:p>
            <a:pPr marL="38100">
              <a:lnSpc>
                <a:spcPts val="2980"/>
              </a:lnSpc>
            </a:pPr>
            <a:r>
              <a:rPr sz="1650" spc="15" dirty="0">
                <a:latin typeface="Symbol"/>
                <a:cs typeface="Symbol"/>
              </a:rPr>
              <a:t></a:t>
            </a:r>
            <a:r>
              <a:rPr sz="1650" spc="15" dirty="0">
                <a:latin typeface="Times New Roman"/>
                <a:cs typeface="Times New Roman"/>
              </a:rPr>
              <a:t> </a:t>
            </a:r>
            <a:r>
              <a:rPr sz="3750" spc="15" baseline="-8888" dirty="0">
                <a:latin typeface="Symbol"/>
                <a:cs typeface="Symbol"/>
              </a:rPr>
              <a:t></a:t>
            </a:r>
            <a:r>
              <a:rPr sz="3750" spc="-682" baseline="-8888" dirty="0">
                <a:latin typeface="Times New Roman"/>
                <a:cs typeface="Times New Roman"/>
              </a:rPr>
              <a:t> </a:t>
            </a:r>
            <a:r>
              <a:rPr sz="1650" i="1" spc="-30" dirty="0">
                <a:latin typeface="Times New Roman"/>
                <a:cs typeface="Times New Roman"/>
              </a:rPr>
              <a:t>m</a:t>
            </a:r>
            <a:r>
              <a:rPr sz="1650" spc="-30" dirty="0">
                <a:latin typeface="Times New Roman"/>
                <a:cs typeface="Times New Roman"/>
              </a:rPr>
              <a:t>(1,3,6,7)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681978" y="3934205"/>
            <a:ext cx="2592705" cy="2304415"/>
          </a:xfrm>
          <a:custGeom>
            <a:avLst/>
            <a:gdLst/>
            <a:ahLst/>
            <a:cxnLst/>
            <a:rect l="l" t="t" r="r" b="b"/>
            <a:pathLst>
              <a:path w="2592704" h="2304415">
                <a:moveTo>
                  <a:pt x="0" y="158623"/>
                </a:moveTo>
                <a:lnTo>
                  <a:pt x="8084" y="108476"/>
                </a:lnTo>
                <a:lnTo>
                  <a:pt x="30597" y="64931"/>
                </a:lnTo>
                <a:lnTo>
                  <a:pt x="64931" y="30597"/>
                </a:lnTo>
                <a:lnTo>
                  <a:pt x="108476" y="8084"/>
                </a:lnTo>
                <a:lnTo>
                  <a:pt x="158623" y="0"/>
                </a:lnTo>
                <a:lnTo>
                  <a:pt x="2433701" y="0"/>
                </a:lnTo>
                <a:lnTo>
                  <a:pt x="2483847" y="8084"/>
                </a:lnTo>
                <a:lnTo>
                  <a:pt x="2527392" y="30597"/>
                </a:lnTo>
                <a:lnTo>
                  <a:pt x="2561726" y="64931"/>
                </a:lnTo>
                <a:lnTo>
                  <a:pt x="2584239" y="108476"/>
                </a:lnTo>
                <a:lnTo>
                  <a:pt x="2592324" y="158623"/>
                </a:lnTo>
                <a:lnTo>
                  <a:pt x="2592324" y="2145639"/>
                </a:lnTo>
                <a:lnTo>
                  <a:pt x="2584239" y="2195784"/>
                </a:lnTo>
                <a:lnTo>
                  <a:pt x="2561726" y="2239334"/>
                </a:lnTo>
                <a:lnTo>
                  <a:pt x="2527392" y="2273677"/>
                </a:lnTo>
                <a:lnTo>
                  <a:pt x="2483847" y="2296199"/>
                </a:lnTo>
                <a:lnTo>
                  <a:pt x="2433701" y="2304288"/>
                </a:lnTo>
                <a:lnTo>
                  <a:pt x="158623" y="2304288"/>
                </a:lnTo>
                <a:lnTo>
                  <a:pt x="108476" y="2296199"/>
                </a:lnTo>
                <a:lnTo>
                  <a:pt x="64931" y="2273677"/>
                </a:lnTo>
                <a:lnTo>
                  <a:pt x="30597" y="2239334"/>
                </a:lnTo>
                <a:lnTo>
                  <a:pt x="8084" y="2195784"/>
                </a:lnTo>
                <a:lnTo>
                  <a:pt x="0" y="2145639"/>
                </a:lnTo>
                <a:lnTo>
                  <a:pt x="0" y="158623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807454" y="3999433"/>
            <a:ext cx="2156460" cy="2160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  <a:latin typeface="微软雅黑"/>
                <a:cs typeface="微软雅黑"/>
              </a:rPr>
              <a:t>任何一个逻辑 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函数表达式都 可以被展开成 唯一的最小项 </a:t>
            </a:r>
            <a:r>
              <a:rPr sz="2800" spc="-10" dirty="0">
                <a:solidFill>
                  <a:srgbClr val="FF0000"/>
                </a:solidFill>
                <a:latin typeface="微软雅黑"/>
                <a:cs typeface="微软雅黑"/>
              </a:rPr>
              <a:t>之和式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3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47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6181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逻辑函数的两种标准形式</a:t>
            </a:r>
          </a:p>
        </p:txBody>
      </p:sp>
      <p:sp>
        <p:nvSpPr>
          <p:cNvPr id="3" name="object 3"/>
          <p:cNvSpPr/>
          <p:nvPr/>
        </p:nvSpPr>
        <p:spPr>
          <a:xfrm>
            <a:off x="633222" y="1773173"/>
            <a:ext cx="8641080" cy="576580"/>
          </a:xfrm>
          <a:custGeom>
            <a:avLst/>
            <a:gdLst/>
            <a:ahLst/>
            <a:cxnLst/>
            <a:rect l="l" t="t" r="r" b="b"/>
            <a:pathLst>
              <a:path w="8641080" h="576580">
                <a:moveTo>
                  <a:pt x="0" y="96012"/>
                </a:moveTo>
                <a:lnTo>
                  <a:pt x="7545" y="58614"/>
                </a:lnTo>
                <a:lnTo>
                  <a:pt x="28122" y="28098"/>
                </a:lnTo>
                <a:lnTo>
                  <a:pt x="58641" y="7536"/>
                </a:lnTo>
                <a:lnTo>
                  <a:pt x="96012" y="0"/>
                </a:lnTo>
                <a:lnTo>
                  <a:pt x="8545068" y="0"/>
                </a:lnTo>
                <a:lnTo>
                  <a:pt x="8582465" y="7536"/>
                </a:lnTo>
                <a:lnTo>
                  <a:pt x="8612981" y="28098"/>
                </a:lnTo>
                <a:lnTo>
                  <a:pt x="8633543" y="58614"/>
                </a:lnTo>
                <a:lnTo>
                  <a:pt x="8641080" y="96012"/>
                </a:lnTo>
                <a:lnTo>
                  <a:pt x="8641080" y="480060"/>
                </a:lnTo>
                <a:lnTo>
                  <a:pt x="8633543" y="517457"/>
                </a:lnTo>
                <a:lnTo>
                  <a:pt x="8612981" y="547973"/>
                </a:lnTo>
                <a:lnTo>
                  <a:pt x="8582465" y="568535"/>
                </a:lnTo>
                <a:lnTo>
                  <a:pt x="8545068" y="576072"/>
                </a:lnTo>
                <a:lnTo>
                  <a:pt x="96012" y="576072"/>
                </a:lnTo>
                <a:lnTo>
                  <a:pt x="58641" y="568535"/>
                </a:lnTo>
                <a:lnTo>
                  <a:pt x="28122" y="547973"/>
                </a:lnTo>
                <a:lnTo>
                  <a:pt x="7545" y="517457"/>
                </a:lnTo>
                <a:lnTo>
                  <a:pt x="0" y="480060"/>
                </a:lnTo>
                <a:lnTo>
                  <a:pt x="0" y="96012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61340" y="1055623"/>
            <a:ext cx="8450580" cy="2668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800" b="1" spc="15" dirty="0">
                <a:solidFill>
                  <a:srgbClr val="0000FF"/>
                </a:solidFill>
                <a:latin typeface="Microsoft JhengHei"/>
                <a:cs typeface="Microsoft JhengHei"/>
              </a:rPr>
              <a:t>标</a:t>
            </a:r>
            <a:r>
              <a:rPr sz="28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准表达</a:t>
            </a:r>
            <a:r>
              <a:rPr sz="2800" b="1" spc="25" dirty="0">
                <a:solidFill>
                  <a:srgbClr val="0000FF"/>
                </a:solidFill>
                <a:latin typeface="Microsoft JhengHei"/>
                <a:cs typeface="Microsoft JhengHei"/>
              </a:rPr>
              <a:t>式</a:t>
            </a:r>
            <a:r>
              <a:rPr sz="2800" b="1" spc="-125" dirty="0">
                <a:solidFill>
                  <a:srgbClr val="0000FF"/>
                </a:solidFill>
                <a:latin typeface="Microsoft JhengHei"/>
                <a:cs typeface="Microsoft JhengHei"/>
              </a:rPr>
              <a:t>2：</a:t>
            </a:r>
            <a:r>
              <a:rPr sz="2800" b="1" dirty="0">
                <a:solidFill>
                  <a:srgbClr val="0000FF"/>
                </a:solidFill>
                <a:latin typeface="Microsoft JhengHei"/>
                <a:cs typeface="Microsoft JhengHei"/>
              </a:rPr>
              <a:t>最</a:t>
            </a:r>
            <a:r>
              <a:rPr sz="2800" b="1" spc="15" dirty="0">
                <a:solidFill>
                  <a:srgbClr val="0000FF"/>
                </a:solidFill>
                <a:latin typeface="Microsoft JhengHei"/>
                <a:cs typeface="Microsoft JhengHei"/>
              </a:rPr>
              <a:t>大</a:t>
            </a:r>
            <a:r>
              <a:rPr sz="2800" b="1" dirty="0">
                <a:solidFill>
                  <a:srgbClr val="0000FF"/>
                </a:solidFill>
                <a:latin typeface="Microsoft JhengHei"/>
                <a:cs typeface="Microsoft JhengHei"/>
              </a:rPr>
              <a:t>项之积</a:t>
            </a:r>
            <a:r>
              <a:rPr sz="2800" b="1" spc="-5" dirty="0">
                <a:solidFill>
                  <a:srgbClr val="0000FF"/>
                </a:solidFill>
                <a:latin typeface="Microsoft JhengHei"/>
                <a:cs typeface="Microsoft JhengHei"/>
              </a:rPr>
              <a:t>式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Microsoft JhengHei"/>
              <a:cs typeface="Microsoft JhengHei"/>
            </a:endParaRPr>
          </a:p>
          <a:p>
            <a:pPr marL="190500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由若干个最大项相</a:t>
            </a:r>
            <a:r>
              <a:rPr sz="2400" dirty="0">
                <a:latin typeface="Arial"/>
                <a:cs typeface="Arial"/>
              </a:rPr>
              <a:t>“</a:t>
            </a:r>
            <a:r>
              <a:rPr sz="2400" dirty="0">
                <a:latin typeface="微软雅黑"/>
                <a:cs typeface="微软雅黑"/>
              </a:rPr>
              <a:t>乘</a:t>
            </a:r>
            <a:r>
              <a:rPr sz="2400" dirty="0">
                <a:latin typeface="Arial"/>
                <a:cs typeface="Arial"/>
              </a:rPr>
              <a:t>”</a:t>
            </a:r>
            <a:r>
              <a:rPr sz="2400" dirty="0">
                <a:latin typeface="微软雅黑"/>
                <a:cs typeface="微软雅黑"/>
              </a:rPr>
              <a:t>（相</a:t>
            </a:r>
            <a:r>
              <a:rPr sz="2400" dirty="0">
                <a:latin typeface="Arial"/>
                <a:cs typeface="Arial"/>
              </a:rPr>
              <a:t>“</a:t>
            </a:r>
            <a:r>
              <a:rPr sz="2400" dirty="0">
                <a:latin typeface="微软雅黑"/>
                <a:cs typeface="微软雅黑"/>
              </a:rPr>
              <a:t>与</a:t>
            </a:r>
            <a:r>
              <a:rPr sz="2400" dirty="0">
                <a:latin typeface="Arial"/>
                <a:cs typeface="Arial"/>
              </a:rPr>
              <a:t>”</a:t>
            </a:r>
            <a:r>
              <a:rPr sz="2400" dirty="0">
                <a:latin typeface="微软雅黑"/>
                <a:cs typeface="微软雅黑"/>
              </a:rPr>
              <a:t>）而构成，也叫标准</a:t>
            </a:r>
            <a:r>
              <a:rPr sz="2400" dirty="0">
                <a:latin typeface="Arial"/>
                <a:cs typeface="Arial"/>
              </a:rPr>
              <a:t>“</a:t>
            </a:r>
            <a:r>
              <a:rPr sz="2400" dirty="0">
                <a:latin typeface="微软雅黑"/>
                <a:cs typeface="微软雅黑"/>
              </a:rPr>
              <a:t>或与</a:t>
            </a:r>
            <a:r>
              <a:rPr sz="2400" spc="5" dirty="0">
                <a:latin typeface="Arial"/>
                <a:cs typeface="Arial"/>
              </a:rPr>
              <a:t>”</a:t>
            </a:r>
            <a:r>
              <a:rPr sz="2400" dirty="0">
                <a:latin typeface="微软雅黑"/>
                <a:cs typeface="微软雅黑"/>
              </a:rPr>
              <a:t>式。</a:t>
            </a:r>
            <a:endParaRPr sz="2400">
              <a:latin typeface="微软雅黑"/>
              <a:cs typeface="微软雅黑"/>
            </a:endParaRPr>
          </a:p>
          <a:p>
            <a:pPr marL="162560">
              <a:lnSpc>
                <a:spcPct val="100000"/>
              </a:lnSpc>
              <a:spcBef>
                <a:spcPts val="2595"/>
              </a:spcBef>
            </a:pPr>
            <a:r>
              <a:rPr sz="1800" dirty="0">
                <a:latin typeface="微软雅黑"/>
                <a:cs typeface="微软雅黑"/>
              </a:rPr>
              <a:t>例如：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微软雅黑"/>
              <a:cs typeface="微软雅黑"/>
            </a:endParaRPr>
          </a:p>
          <a:p>
            <a:pPr marL="162560">
              <a:lnSpc>
                <a:spcPts val="1764"/>
              </a:lnSpc>
            </a:pPr>
            <a:r>
              <a:rPr sz="1800" dirty="0">
                <a:latin typeface="微软雅黑"/>
                <a:cs typeface="微软雅黑"/>
              </a:rPr>
              <a:t>可以简写为：</a:t>
            </a:r>
            <a:endParaRPr sz="1800">
              <a:latin typeface="微软雅黑"/>
              <a:cs typeface="微软雅黑"/>
            </a:endParaRPr>
          </a:p>
          <a:p>
            <a:pPr marL="885190">
              <a:lnSpc>
                <a:spcPts val="3204"/>
              </a:lnSpc>
            </a:pPr>
            <a:r>
              <a:rPr sz="2000" i="1" spc="55" dirty="0">
                <a:latin typeface="Times New Roman"/>
                <a:cs typeface="Times New Roman"/>
              </a:rPr>
              <a:t>G</a:t>
            </a:r>
            <a:r>
              <a:rPr sz="2000" spc="55" dirty="0">
                <a:latin typeface="Times New Roman"/>
                <a:cs typeface="Times New Roman"/>
              </a:rPr>
              <a:t>(</a:t>
            </a:r>
            <a:r>
              <a:rPr sz="2000" spc="-295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,</a:t>
            </a:r>
            <a:r>
              <a:rPr sz="2000" spc="-190" dirty="0">
                <a:latin typeface="Times New Roman"/>
                <a:cs typeface="Times New Roman"/>
              </a:rPr>
              <a:t> </a:t>
            </a:r>
            <a:r>
              <a:rPr sz="2000" i="1" spc="25" dirty="0">
                <a:latin typeface="Times New Roman"/>
                <a:cs typeface="Times New Roman"/>
              </a:rPr>
              <a:t>B</a:t>
            </a:r>
            <a:r>
              <a:rPr sz="2000" spc="25" dirty="0">
                <a:latin typeface="Times New Roman"/>
                <a:cs typeface="Times New Roman"/>
              </a:rPr>
              <a:t>,</a:t>
            </a:r>
            <a:r>
              <a:rPr sz="2000" spc="-315" dirty="0">
                <a:latin typeface="Times New Roman"/>
                <a:cs typeface="Times New Roman"/>
              </a:rPr>
              <a:t> </a:t>
            </a:r>
            <a:r>
              <a:rPr sz="2000" i="1" spc="80" dirty="0">
                <a:latin typeface="Times New Roman"/>
                <a:cs typeface="Times New Roman"/>
              </a:rPr>
              <a:t>C</a:t>
            </a:r>
            <a:r>
              <a:rPr sz="2000" spc="80" dirty="0">
                <a:latin typeface="Times New Roman"/>
                <a:cs typeface="Times New Roman"/>
              </a:rPr>
              <a:t>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Symbol"/>
                <a:cs typeface="Symbol"/>
              </a:rPr>
              <a:t>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4500" i="1" spc="75" baseline="-12037" dirty="0">
                <a:latin typeface="Times New Roman"/>
                <a:cs typeface="Times New Roman"/>
              </a:rPr>
              <a:t>M</a:t>
            </a:r>
            <a:r>
              <a:rPr sz="4500" i="1" spc="-480" baseline="-12037" dirty="0">
                <a:latin typeface="Times New Roman"/>
                <a:cs typeface="Times New Roman"/>
              </a:rPr>
              <a:t> </a:t>
            </a:r>
            <a:r>
              <a:rPr sz="1725" spc="22" baseline="-36231" dirty="0">
                <a:latin typeface="Times New Roman"/>
                <a:cs typeface="Times New Roman"/>
              </a:rPr>
              <a:t>0</a:t>
            </a:r>
            <a:r>
              <a:rPr sz="1725" baseline="-36231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Symbol"/>
                <a:cs typeface="Symbol"/>
              </a:rPr>
              <a:t></a:t>
            </a:r>
            <a:r>
              <a:rPr sz="2000" spc="-180" dirty="0">
                <a:latin typeface="Times New Roman"/>
                <a:cs typeface="Times New Roman"/>
              </a:rPr>
              <a:t> </a:t>
            </a:r>
            <a:r>
              <a:rPr sz="4500" i="1" spc="75" baseline="-12037" dirty="0">
                <a:latin typeface="Times New Roman"/>
                <a:cs typeface="Times New Roman"/>
              </a:rPr>
              <a:t>M</a:t>
            </a:r>
            <a:r>
              <a:rPr sz="4500" i="1" spc="-494" baseline="-12037" dirty="0">
                <a:latin typeface="Times New Roman"/>
                <a:cs typeface="Times New Roman"/>
              </a:rPr>
              <a:t> </a:t>
            </a:r>
            <a:r>
              <a:rPr sz="1725" spc="22" baseline="-36231" dirty="0">
                <a:latin typeface="Times New Roman"/>
                <a:cs typeface="Times New Roman"/>
              </a:rPr>
              <a:t>3</a:t>
            </a:r>
            <a:r>
              <a:rPr sz="1725" spc="-60" baseline="-36231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Symbol"/>
                <a:cs typeface="Symbol"/>
              </a:rPr>
              <a:t></a:t>
            </a:r>
            <a:r>
              <a:rPr sz="2000" spc="-175" dirty="0">
                <a:latin typeface="Times New Roman"/>
                <a:cs typeface="Times New Roman"/>
              </a:rPr>
              <a:t> </a:t>
            </a:r>
            <a:r>
              <a:rPr sz="4500" i="1" spc="75" baseline="-12037" dirty="0">
                <a:latin typeface="Times New Roman"/>
                <a:cs typeface="Times New Roman"/>
              </a:rPr>
              <a:t>M</a:t>
            </a:r>
            <a:r>
              <a:rPr sz="4500" i="1" spc="-494" baseline="-12037" dirty="0">
                <a:latin typeface="Times New Roman"/>
                <a:cs typeface="Times New Roman"/>
              </a:rPr>
              <a:t> </a:t>
            </a:r>
            <a:r>
              <a:rPr sz="1725" spc="22" baseline="-36231" dirty="0">
                <a:latin typeface="Times New Roman"/>
                <a:cs typeface="Times New Roman"/>
              </a:rPr>
              <a:t>5</a:t>
            </a:r>
            <a:r>
              <a:rPr sz="1725" spc="-30" baseline="-36231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Symbol"/>
                <a:cs typeface="Symbol"/>
              </a:rPr>
              <a:t></a:t>
            </a:r>
            <a:r>
              <a:rPr sz="2000" spc="-175" dirty="0">
                <a:latin typeface="Times New Roman"/>
                <a:cs typeface="Times New Roman"/>
              </a:rPr>
              <a:t> </a:t>
            </a:r>
            <a:r>
              <a:rPr sz="4500" i="1" spc="75" baseline="-12037" dirty="0">
                <a:latin typeface="Times New Roman"/>
                <a:cs typeface="Times New Roman"/>
              </a:rPr>
              <a:t>M</a:t>
            </a:r>
            <a:r>
              <a:rPr sz="4500" i="1" spc="-472" baseline="-12037" dirty="0">
                <a:latin typeface="Times New Roman"/>
                <a:cs typeface="Times New Roman"/>
              </a:rPr>
              <a:t> </a:t>
            </a:r>
            <a:r>
              <a:rPr sz="1725" spc="22" baseline="-36231" dirty="0">
                <a:latin typeface="Times New Roman"/>
                <a:cs typeface="Times New Roman"/>
              </a:rPr>
              <a:t>6</a:t>
            </a:r>
            <a:r>
              <a:rPr sz="1725" spc="277" baseline="-36231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Symbol"/>
                <a:cs typeface="Symbol"/>
              </a:rPr>
              <a:t>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4500" spc="67" baseline="-9259" dirty="0">
                <a:latin typeface="Symbol"/>
                <a:cs typeface="Symbol"/>
              </a:rPr>
              <a:t></a:t>
            </a:r>
            <a:r>
              <a:rPr sz="4500" spc="-705" baseline="-9259" dirty="0">
                <a:latin typeface="Times New Roman"/>
                <a:cs typeface="Times New Roman"/>
              </a:rPr>
              <a:t> </a:t>
            </a:r>
            <a:r>
              <a:rPr sz="2000" i="1" spc="30" dirty="0">
                <a:latin typeface="Times New Roman"/>
                <a:cs typeface="Times New Roman"/>
              </a:rPr>
              <a:t>M</a:t>
            </a:r>
            <a:r>
              <a:rPr sz="2000" i="1" spc="-1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(0,3,5,6)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Symbol"/>
                <a:cs typeface="Symbol"/>
              </a:rPr>
              <a:t>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4500" spc="15" baseline="-9259" dirty="0">
                <a:latin typeface="Symbol"/>
                <a:cs typeface="Symbol"/>
              </a:rPr>
              <a:t></a:t>
            </a:r>
            <a:r>
              <a:rPr sz="2000" spc="10" dirty="0">
                <a:latin typeface="Times New Roman"/>
                <a:cs typeface="Times New Roman"/>
              </a:rPr>
              <a:t>(0,3,5,6)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1961" y="3925793"/>
            <a:ext cx="6035839" cy="23675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78217" y="4027331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98" y="0"/>
                </a:lnTo>
              </a:path>
            </a:pathLst>
          </a:custGeom>
          <a:ln w="94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45201" y="4334498"/>
            <a:ext cx="130810" cy="0"/>
          </a:xfrm>
          <a:custGeom>
            <a:avLst/>
            <a:gdLst/>
            <a:ahLst/>
            <a:cxnLst/>
            <a:rect l="l" t="t" r="r" b="b"/>
            <a:pathLst>
              <a:path w="130810">
                <a:moveTo>
                  <a:pt x="0" y="0"/>
                </a:moveTo>
                <a:lnTo>
                  <a:pt x="130393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42303" y="4694537"/>
            <a:ext cx="137160" cy="0"/>
          </a:xfrm>
          <a:custGeom>
            <a:avLst/>
            <a:gdLst/>
            <a:ahLst/>
            <a:cxnLst/>
            <a:rect l="l" t="t" r="r" b="b"/>
            <a:pathLst>
              <a:path w="137160">
                <a:moveTo>
                  <a:pt x="0" y="0"/>
                </a:moveTo>
                <a:lnTo>
                  <a:pt x="136797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39557" y="4694537"/>
            <a:ext cx="130175" cy="0"/>
          </a:xfrm>
          <a:custGeom>
            <a:avLst/>
            <a:gdLst/>
            <a:ahLst/>
            <a:cxnLst/>
            <a:rect l="l" t="t" r="r" b="b"/>
            <a:pathLst>
              <a:path w="130175">
                <a:moveTo>
                  <a:pt x="0" y="0"/>
                </a:moveTo>
                <a:lnTo>
                  <a:pt x="129859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60875" y="4694537"/>
            <a:ext cx="130810" cy="0"/>
          </a:xfrm>
          <a:custGeom>
            <a:avLst/>
            <a:gdLst/>
            <a:ahLst/>
            <a:cxnLst/>
            <a:rect l="l" t="t" r="r" b="b"/>
            <a:pathLst>
              <a:path w="130810">
                <a:moveTo>
                  <a:pt x="0" y="0"/>
                </a:moveTo>
                <a:lnTo>
                  <a:pt x="130215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53659" y="5054593"/>
            <a:ext cx="137160" cy="0"/>
          </a:xfrm>
          <a:custGeom>
            <a:avLst/>
            <a:gdLst/>
            <a:ahLst/>
            <a:cxnLst/>
            <a:rect l="l" t="t" r="r" b="b"/>
            <a:pathLst>
              <a:path w="137160">
                <a:moveTo>
                  <a:pt x="0" y="0"/>
                </a:moveTo>
                <a:lnTo>
                  <a:pt x="136797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50914" y="5054593"/>
            <a:ext cx="130175" cy="0"/>
          </a:xfrm>
          <a:custGeom>
            <a:avLst/>
            <a:gdLst/>
            <a:ahLst/>
            <a:cxnLst/>
            <a:rect l="l" t="t" r="r" b="b"/>
            <a:pathLst>
              <a:path w="130175">
                <a:moveTo>
                  <a:pt x="0" y="0"/>
                </a:moveTo>
                <a:lnTo>
                  <a:pt x="129859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15967" y="5054593"/>
            <a:ext cx="130175" cy="0"/>
          </a:xfrm>
          <a:custGeom>
            <a:avLst/>
            <a:gdLst/>
            <a:ahLst/>
            <a:cxnLst/>
            <a:rect l="l" t="t" r="r" b="b"/>
            <a:pathLst>
              <a:path w="130175">
                <a:moveTo>
                  <a:pt x="0" y="0"/>
                </a:moveTo>
                <a:lnTo>
                  <a:pt x="129859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49689" y="5054593"/>
            <a:ext cx="130175" cy="0"/>
          </a:xfrm>
          <a:custGeom>
            <a:avLst/>
            <a:gdLst/>
            <a:ahLst/>
            <a:cxnLst/>
            <a:rect l="l" t="t" r="r" b="b"/>
            <a:pathLst>
              <a:path w="130175">
                <a:moveTo>
                  <a:pt x="0" y="0"/>
                </a:moveTo>
                <a:lnTo>
                  <a:pt x="130037" y="0"/>
                </a:lnTo>
              </a:path>
            </a:pathLst>
          </a:custGeom>
          <a:ln w="90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32739" y="4006088"/>
            <a:ext cx="5807075" cy="203327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92100" marR="121920" indent="-254635">
              <a:lnSpc>
                <a:spcPct val="104299"/>
              </a:lnSpc>
              <a:spcBef>
                <a:spcPts val="5"/>
              </a:spcBef>
            </a:pPr>
            <a:r>
              <a:rPr sz="1800" dirty="0">
                <a:latin typeface="微软雅黑"/>
                <a:cs typeface="微软雅黑"/>
              </a:rPr>
              <a:t>例题：把</a:t>
            </a:r>
            <a:r>
              <a:rPr sz="1800" spc="-25" dirty="0">
                <a:latin typeface="微软雅黑"/>
                <a:cs typeface="微软雅黑"/>
              </a:rPr>
              <a:t> </a:t>
            </a:r>
            <a:r>
              <a:rPr sz="2625" i="1" spc="37" baseline="3174" dirty="0">
                <a:latin typeface="Times New Roman"/>
                <a:cs typeface="Times New Roman"/>
              </a:rPr>
              <a:t>F</a:t>
            </a:r>
            <a:r>
              <a:rPr sz="2625" i="1" spc="-375" baseline="3174" dirty="0">
                <a:latin typeface="Times New Roman"/>
                <a:cs typeface="Times New Roman"/>
              </a:rPr>
              <a:t> </a:t>
            </a:r>
            <a:r>
              <a:rPr sz="2625" spc="22" baseline="3174" dirty="0">
                <a:latin typeface="Times New Roman"/>
                <a:cs typeface="Times New Roman"/>
              </a:rPr>
              <a:t>(</a:t>
            </a:r>
            <a:r>
              <a:rPr sz="2625" spc="-390" baseline="3174" dirty="0">
                <a:latin typeface="Times New Roman"/>
                <a:cs typeface="Times New Roman"/>
              </a:rPr>
              <a:t> </a:t>
            </a:r>
            <a:r>
              <a:rPr sz="2625" i="1" spc="-22" baseline="3174" dirty="0">
                <a:latin typeface="Times New Roman"/>
                <a:cs typeface="Times New Roman"/>
              </a:rPr>
              <a:t>A</a:t>
            </a:r>
            <a:r>
              <a:rPr sz="2625" spc="-22" baseline="3174" dirty="0">
                <a:latin typeface="Times New Roman"/>
                <a:cs typeface="Times New Roman"/>
              </a:rPr>
              <a:t>,</a:t>
            </a:r>
            <a:r>
              <a:rPr sz="2625" spc="-240" baseline="3174" dirty="0">
                <a:latin typeface="Times New Roman"/>
                <a:cs typeface="Times New Roman"/>
              </a:rPr>
              <a:t> </a:t>
            </a:r>
            <a:r>
              <a:rPr sz="2625" i="1" spc="37" baseline="3174" dirty="0">
                <a:latin typeface="Times New Roman"/>
                <a:cs typeface="Times New Roman"/>
              </a:rPr>
              <a:t>B</a:t>
            </a:r>
            <a:r>
              <a:rPr sz="2625" spc="37" baseline="3174" dirty="0">
                <a:latin typeface="Times New Roman"/>
                <a:cs typeface="Times New Roman"/>
              </a:rPr>
              <a:t>,</a:t>
            </a:r>
            <a:r>
              <a:rPr sz="2625" spc="-419" baseline="3174" dirty="0">
                <a:latin typeface="Times New Roman"/>
                <a:cs typeface="Times New Roman"/>
              </a:rPr>
              <a:t> </a:t>
            </a:r>
            <a:r>
              <a:rPr sz="2625" i="1" spc="120" baseline="3174" dirty="0">
                <a:latin typeface="Times New Roman"/>
                <a:cs typeface="Times New Roman"/>
              </a:rPr>
              <a:t>C</a:t>
            </a:r>
            <a:r>
              <a:rPr sz="2625" spc="120" baseline="3174" dirty="0">
                <a:latin typeface="Times New Roman"/>
                <a:cs typeface="Times New Roman"/>
              </a:rPr>
              <a:t>)</a:t>
            </a:r>
            <a:r>
              <a:rPr sz="2625" spc="-44" baseline="3174" dirty="0">
                <a:latin typeface="Times New Roman"/>
                <a:cs typeface="Times New Roman"/>
              </a:rPr>
              <a:t> </a:t>
            </a:r>
            <a:r>
              <a:rPr sz="2625" spc="30" baseline="3174" dirty="0">
                <a:latin typeface="Symbol"/>
                <a:cs typeface="Symbol"/>
              </a:rPr>
              <a:t></a:t>
            </a:r>
            <a:r>
              <a:rPr sz="2625" spc="-89" baseline="3174" dirty="0">
                <a:latin typeface="Times New Roman"/>
                <a:cs typeface="Times New Roman"/>
              </a:rPr>
              <a:t> </a:t>
            </a:r>
            <a:r>
              <a:rPr sz="2625" spc="22" baseline="3174" dirty="0">
                <a:latin typeface="Times New Roman"/>
                <a:cs typeface="Times New Roman"/>
              </a:rPr>
              <a:t>(</a:t>
            </a:r>
            <a:r>
              <a:rPr sz="2625" spc="-382" baseline="3174" dirty="0">
                <a:latin typeface="Times New Roman"/>
                <a:cs typeface="Times New Roman"/>
              </a:rPr>
              <a:t> </a:t>
            </a:r>
            <a:r>
              <a:rPr sz="2625" i="1" spc="37" baseline="3174" dirty="0">
                <a:latin typeface="Times New Roman"/>
                <a:cs typeface="Times New Roman"/>
              </a:rPr>
              <a:t>A</a:t>
            </a:r>
            <a:r>
              <a:rPr sz="2625" i="1" spc="-292" baseline="3174" dirty="0">
                <a:latin typeface="Times New Roman"/>
                <a:cs typeface="Times New Roman"/>
              </a:rPr>
              <a:t> </a:t>
            </a:r>
            <a:r>
              <a:rPr sz="2625" spc="30" baseline="3174" dirty="0">
                <a:latin typeface="Symbol"/>
                <a:cs typeface="Symbol"/>
              </a:rPr>
              <a:t></a:t>
            </a:r>
            <a:r>
              <a:rPr sz="2625" spc="-89" baseline="3174" dirty="0">
                <a:latin typeface="Times New Roman"/>
                <a:cs typeface="Times New Roman"/>
              </a:rPr>
              <a:t> </a:t>
            </a:r>
            <a:r>
              <a:rPr sz="2625" i="1" spc="52" baseline="3174" dirty="0">
                <a:latin typeface="Times New Roman"/>
                <a:cs typeface="Times New Roman"/>
              </a:rPr>
              <a:t>B</a:t>
            </a:r>
            <a:r>
              <a:rPr sz="2625" spc="52" baseline="3174" dirty="0">
                <a:latin typeface="Times New Roman"/>
                <a:cs typeface="Times New Roman"/>
              </a:rPr>
              <a:t>)(</a:t>
            </a:r>
            <a:r>
              <a:rPr sz="2625" spc="-419" baseline="3174" dirty="0">
                <a:latin typeface="Times New Roman"/>
                <a:cs typeface="Times New Roman"/>
              </a:rPr>
              <a:t> </a:t>
            </a:r>
            <a:r>
              <a:rPr sz="2625" i="1" spc="37" baseline="3174" dirty="0">
                <a:latin typeface="Times New Roman"/>
                <a:cs typeface="Times New Roman"/>
              </a:rPr>
              <a:t>A</a:t>
            </a:r>
            <a:r>
              <a:rPr sz="2625" i="1" spc="-292" baseline="3174" dirty="0">
                <a:latin typeface="Times New Roman"/>
                <a:cs typeface="Times New Roman"/>
              </a:rPr>
              <a:t> </a:t>
            </a:r>
            <a:r>
              <a:rPr sz="2625" spc="30" baseline="3174" dirty="0">
                <a:latin typeface="Symbol"/>
                <a:cs typeface="Symbol"/>
              </a:rPr>
              <a:t></a:t>
            </a:r>
            <a:r>
              <a:rPr sz="2625" spc="-254" baseline="3174" dirty="0">
                <a:latin typeface="Times New Roman"/>
                <a:cs typeface="Times New Roman"/>
              </a:rPr>
              <a:t> </a:t>
            </a:r>
            <a:r>
              <a:rPr sz="2625" i="1" spc="120" baseline="3174" dirty="0">
                <a:latin typeface="Times New Roman"/>
                <a:cs typeface="Times New Roman"/>
              </a:rPr>
              <a:t>C</a:t>
            </a:r>
            <a:r>
              <a:rPr sz="2625" spc="120" baseline="3174" dirty="0">
                <a:latin typeface="Times New Roman"/>
                <a:cs typeface="Times New Roman"/>
              </a:rPr>
              <a:t>)</a:t>
            </a:r>
            <a:r>
              <a:rPr sz="2625" spc="345" baseline="317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微软雅黑"/>
                <a:cs typeface="微软雅黑"/>
              </a:rPr>
              <a:t>展开为最大项之积式 </a:t>
            </a:r>
            <a:r>
              <a:rPr sz="2700" baseline="3086" dirty="0">
                <a:latin typeface="微软雅黑"/>
                <a:cs typeface="微软雅黑"/>
              </a:rPr>
              <a:t>解：</a:t>
            </a:r>
            <a:r>
              <a:rPr sz="2700" spc="-179" baseline="3086" dirty="0">
                <a:latin typeface="微软雅黑"/>
                <a:cs typeface="微软雅黑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F</a:t>
            </a:r>
            <a:r>
              <a:rPr sz="1650" i="1" spc="-229" dirty="0">
                <a:latin typeface="Times New Roman"/>
                <a:cs typeface="Times New Roman"/>
              </a:rPr>
              <a:t> </a:t>
            </a:r>
            <a:r>
              <a:rPr sz="1650" spc="10" dirty="0">
                <a:latin typeface="Times New Roman"/>
                <a:cs typeface="Times New Roman"/>
              </a:rPr>
              <a:t>(</a:t>
            </a:r>
            <a:r>
              <a:rPr sz="1650" spc="-240" dirty="0">
                <a:latin typeface="Times New Roman"/>
                <a:cs typeface="Times New Roman"/>
              </a:rPr>
              <a:t> </a:t>
            </a:r>
            <a:r>
              <a:rPr sz="1650" i="1" spc="-15" dirty="0">
                <a:latin typeface="Times New Roman"/>
                <a:cs typeface="Times New Roman"/>
              </a:rPr>
              <a:t>A</a:t>
            </a:r>
            <a:r>
              <a:rPr sz="1650" spc="-15" dirty="0">
                <a:latin typeface="Times New Roman"/>
                <a:cs typeface="Times New Roman"/>
              </a:rPr>
              <a:t>,</a:t>
            </a:r>
            <a:r>
              <a:rPr sz="1650" spc="-150" dirty="0">
                <a:latin typeface="Times New Roman"/>
                <a:cs typeface="Times New Roman"/>
              </a:rPr>
              <a:t> </a:t>
            </a:r>
            <a:r>
              <a:rPr sz="1650" i="1" spc="20" dirty="0">
                <a:latin typeface="Times New Roman"/>
                <a:cs typeface="Times New Roman"/>
              </a:rPr>
              <a:t>B</a:t>
            </a:r>
            <a:r>
              <a:rPr sz="1650" spc="20" dirty="0">
                <a:latin typeface="Times New Roman"/>
                <a:cs typeface="Times New Roman"/>
              </a:rPr>
              <a:t>,</a:t>
            </a:r>
            <a:r>
              <a:rPr sz="1650" spc="-254" dirty="0">
                <a:latin typeface="Times New Roman"/>
                <a:cs typeface="Times New Roman"/>
              </a:rPr>
              <a:t> </a:t>
            </a:r>
            <a:r>
              <a:rPr sz="1650" i="1" spc="70" dirty="0">
                <a:latin typeface="Times New Roman"/>
                <a:cs typeface="Times New Roman"/>
              </a:rPr>
              <a:t>C</a:t>
            </a:r>
            <a:r>
              <a:rPr sz="1650" spc="70" dirty="0">
                <a:latin typeface="Times New Roman"/>
                <a:cs typeface="Times New Roman"/>
              </a:rPr>
              <a:t>)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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spc="10" dirty="0">
                <a:latin typeface="Times New Roman"/>
                <a:cs typeface="Times New Roman"/>
              </a:rPr>
              <a:t>(</a:t>
            </a:r>
            <a:r>
              <a:rPr sz="1650" spc="-235" dirty="0">
                <a:latin typeface="Times New Roman"/>
                <a:cs typeface="Times New Roman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A</a:t>
            </a:r>
            <a:r>
              <a:rPr sz="1650" i="1" spc="-180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i="1" spc="30" dirty="0">
                <a:latin typeface="Times New Roman"/>
                <a:cs typeface="Times New Roman"/>
              </a:rPr>
              <a:t>B</a:t>
            </a:r>
            <a:r>
              <a:rPr sz="1650" spc="30" dirty="0">
                <a:latin typeface="Times New Roman"/>
                <a:cs typeface="Times New Roman"/>
              </a:rPr>
              <a:t>)(</a:t>
            </a:r>
            <a:r>
              <a:rPr sz="1650" spc="-254" dirty="0">
                <a:latin typeface="Times New Roman"/>
                <a:cs typeface="Times New Roman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A</a:t>
            </a:r>
            <a:r>
              <a:rPr sz="1650" i="1" spc="-180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155" dirty="0">
                <a:latin typeface="Times New Roman"/>
                <a:cs typeface="Times New Roman"/>
              </a:rPr>
              <a:t> </a:t>
            </a:r>
            <a:r>
              <a:rPr sz="1650" i="1" spc="70" dirty="0">
                <a:latin typeface="Times New Roman"/>
                <a:cs typeface="Times New Roman"/>
              </a:rPr>
              <a:t>C</a:t>
            </a:r>
            <a:r>
              <a:rPr sz="1650" spc="70" dirty="0"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  <a:p>
            <a:pPr marL="1743710">
              <a:lnSpc>
                <a:spcPct val="100000"/>
              </a:lnSpc>
              <a:spcBef>
                <a:spcPts val="825"/>
              </a:spcBef>
            </a:pPr>
            <a:r>
              <a:rPr sz="1650" spc="15" dirty="0">
                <a:latin typeface="Symbol"/>
                <a:cs typeface="Symbol"/>
              </a:rPr>
              <a:t>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spc="10" dirty="0">
                <a:latin typeface="Times New Roman"/>
                <a:cs typeface="Times New Roman"/>
              </a:rPr>
              <a:t>(</a:t>
            </a:r>
            <a:r>
              <a:rPr sz="1650" spc="-235" dirty="0">
                <a:latin typeface="Times New Roman"/>
                <a:cs typeface="Times New Roman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A</a:t>
            </a:r>
            <a:r>
              <a:rPr sz="1650" i="1" spc="-180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B</a:t>
            </a:r>
            <a:r>
              <a:rPr sz="1650" i="1" spc="-105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150" dirty="0">
                <a:latin typeface="Times New Roman"/>
                <a:cs typeface="Times New Roman"/>
              </a:rPr>
              <a:t> </a:t>
            </a:r>
            <a:r>
              <a:rPr sz="1650" i="1" spc="65" dirty="0">
                <a:latin typeface="Times New Roman"/>
                <a:cs typeface="Times New Roman"/>
              </a:rPr>
              <a:t>CC</a:t>
            </a:r>
            <a:r>
              <a:rPr sz="1650" spc="65" dirty="0">
                <a:latin typeface="Times New Roman"/>
                <a:cs typeface="Times New Roman"/>
              </a:rPr>
              <a:t>)(</a:t>
            </a:r>
            <a:r>
              <a:rPr sz="1650" spc="-250" dirty="0">
                <a:latin typeface="Times New Roman"/>
                <a:cs typeface="Times New Roman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A</a:t>
            </a:r>
            <a:r>
              <a:rPr sz="1650" i="1" spc="-185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150" dirty="0">
                <a:latin typeface="Times New Roman"/>
                <a:cs typeface="Times New Roman"/>
              </a:rPr>
              <a:t> </a:t>
            </a:r>
            <a:r>
              <a:rPr sz="1650" i="1" spc="20" dirty="0">
                <a:latin typeface="Times New Roman"/>
                <a:cs typeface="Times New Roman"/>
              </a:rPr>
              <a:t>C</a:t>
            </a:r>
            <a:r>
              <a:rPr sz="1650" i="1" spc="-40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i="1" spc="75" dirty="0">
                <a:latin typeface="Times New Roman"/>
                <a:cs typeface="Times New Roman"/>
              </a:rPr>
              <a:t>BB</a:t>
            </a:r>
            <a:r>
              <a:rPr sz="1650" spc="75" dirty="0"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  <a:p>
            <a:pPr marL="1743710">
              <a:lnSpc>
                <a:spcPct val="100000"/>
              </a:lnSpc>
              <a:spcBef>
                <a:spcPts val="855"/>
              </a:spcBef>
            </a:pPr>
            <a:r>
              <a:rPr sz="1650" spc="15" dirty="0">
                <a:latin typeface="Symbol"/>
                <a:cs typeface="Symbol"/>
              </a:rPr>
              <a:t>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spc="10" dirty="0">
                <a:latin typeface="Times New Roman"/>
                <a:cs typeface="Times New Roman"/>
              </a:rPr>
              <a:t>(</a:t>
            </a:r>
            <a:r>
              <a:rPr sz="1650" spc="-235" dirty="0">
                <a:latin typeface="Times New Roman"/>
                <a:cs typeface="Times New Roman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A</a:t>
            </a:r>
            <a:r>
              <a:rPr sz="1650" i="1" spc="-180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B</a:t>
            </a:r>
            <a:r>
              <a:rPr sz="1650" i="1" spc="-105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155" dirty="0">
                <a:latin typeface="Times New Roman"/>
                <a:cs typeface="Times New Roman"/>
              </a:rPr>
              <a:t> </a:t>
            </a:r>
            <a:r>
              <a:rPr sz="1650" i="1" spc="50" dirty="0">
                <a:latin typeface="Times New Roman"/>
                <a:cs typeface="Times New Roman"/>
              </a:rPr>
              <a:t>C</a:t>
            </a:r>
            <a:r>
              <a:rPr sz="1650" spc="50" dirty="0">
                <a:latin typeface="Times New Roman"/>
                <a:cs typeface="Times New Roman"/>
              </a:rPr>
              <a:t>)(</a:t>
            </a:r>
            <a:r>
              <a:rPr sz="1650" spc="-254" dirty="0">
                <a:latin typeface="Times New Roman"/>
                <a:cs typeface="Times New Roman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A</a:t>
            </a:r>
            <a:r>
              <a:rPr sz="1650" i="1" spc="-180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B</a:t>
            </a:r>
            <a:r>
              <a:rPr sz="1650" i="1" spc="-110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150" dirty="0">
                <a:latin typeface="Times New Roman"/>
                <a:cs typeface="Times New Roman"/>
              </a:rPr>
              <a:t> </a:t>
            </a:r>
            <a:r>
              <a:rPr sz="1650" i="1" spc="50" dirty="0">
                <a:latin typeface="Times New Roman"/>
                <a:cs typeface="Times New Roman"/>
              </a:rPr>
              <a:t>C</a:t>
            </a:r>
            <a:r>
              <a:rPr sz="1650" spc="50" dirty="0">
                <a:latin typeface="Times New Roman"/>
                <a:cs typeface="Times New Roman"/>
              </a:rPr>
              <a:t>)(</a:t>
            </a:r>
            <a:r>
              <a:rPr sz="1650" spc="-254" dirty="0">
                <a:latin typeface="Times New Roman"/>
                <a:cs typeface="Times New Roman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A</a:t>
            </a:r>
            <a:r>
              <a:rPr sz="1650" i="1" spc="-185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B</a:t>
            </a:r>
            <a:r>
              <a:rPr sz="1650" i="1" spc="-100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155" dirty="0">
                <a:latin typeface="Times New Roman"/>
                <a:cs typeface="Times New Roman"/>
              </a:rPr>
              <a:t> </a:t>
            </a:r>
            <a:r>
              <a:rPr sz="1650" i="1" spc="50" dirty="0">
                <a:latin typeface="Times New Roman"/>
                <a:cs typeface="Times New Roman"/>
              </a:rPr>
              <a:t>C</a:t>
            </a:r>
            <a:r>
              <a:rPr sz="1650" spc="50" dirty="0">
                <a:latin typeface="Times New Roman"/>
                <a:cs typeface="Times New Roman"/>
              </a:rPr>
              <a:t>)(</a:t>
            </a:r>
            <a:r>
              <a:rPr sz="1650" spc="-250" dirty="0">
                <a:latin typeface="Times New Roman"/>
                <a:cs typeface="Times New Roman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A</a:t>
            </a:r>
            <a:r>
              <a:rPr sz="1650" i="1" spc="-180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B</a:t>
            </a:r>
            <a:r>
              <a:rPr sz="1650" i="1" spc="-100" dirty="0">
                <a:latin typeface="Times New Roman"/>
                <a:cs typeface="Times New Roman"/>
              </a:rPr>
              <a:t> </a:t>
            </a:r>
            <a:r>
              <a:rPr sz="1650" spc="15" dirty="0">
                <a:latin typeface="Symbol"/>
                <a:cs typeface="Symbol"/>
              </a:rPr>
              <a:t></a:t>
            </a:r>
            <a:r>
              <a:rPr sz="1650" spc="-155" dirty="0">
                <a:latin typeface="Times New Roman"/>
                <a:cs typeface="Times New Roman"/>
              </a:rPr>
              <a:t> </a:t>
            </a:r>
            <a:r>
              <a:rPr sz="1650" i="1" spc="70" dirty="0">
                <a:latin typeface="Times New Roman"/>
                <a:cs typeface="Times New Roman"/>
              </a:rPr>
              <a:t>C</a:t>
            </a:r>
            <a:r>
              <a:rPr sz="1650" spc="70" dirty="0"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  <a:p>
            <a:pPr marL="1743710">
              <a:lnSpc>
                <a:spcPts val="2670"/>
              </a:lnSpc>
              <a:spcBef>
                <a:spcPts val="415"/>
              </a:spcBef>
            </a:pPr>
            <a:r>
              <a:rPr sz="2475" spc="22" baseline="21885" dirty="0">
                <a:latin typeface="Symbol"/>
                <a:cs typeface="Symbol"/>
              </a:rPr>
              <a:t></a:t>
            </a:r>
            <a:r>
              <a:rPr sz="2475" spc="7" baseline="21885" dirty="0">
                <a:latin typeface="Times New Roman"/>
                <a:cs typeface="Times New Roman"/>
              </a:rPr>
              <a:t> </a:t>
            </a:r>
            <a:r>
              <a:rPr sz="3750" i="1" spc="15" baseline="2222" dirty="0">
                <a:latin typeface="Times New Roman"/>
                <a:cs typeface="Times New Roman"/>
              </a:rPr>
              <a:t>M</a:t>
            </a:r>
            <a:r>
              <a:rPr sz="3750" i="1" spc="-367" baseline="2222" dirty="0">
                <a:latin typeface="Times New Roman"/>
                <a:cs typeface="Times New Roman"/>
              </a:rPr>
              <a:t> </a:t>
            </a:r>
            <a:r>
              <a:rPr sz="950" spc="10" dirty="0">
                <a:latin typeface="Times New Roman"/>
                <a:cs typeface="Times New Roman"/>
              </a:rPr>
              <a:t>0</a:t>
            </a:r>
            <a:r>
              <a:rPr sz="950" spc="-90" dirty="0">
                <a:latin typeface="Times New Roman"/>
                <a:cs typeface="Times New Roman"/>
              </a:rPr>
              <a:t> </a:t>
            </a:r>
            <a:r>
              <a:rPr sz="3750" spc="120" baseline="2222" dirty="0">
                <a:latin typeface="Symbol"/>
                <a:cs typeface="Symbol"/>
              </a:rPr>
              <a:t></a:t>
            </a:r>
            <a:r>
              <a:rPr sz="3750" i="1" spc="15" baseline="2222" dirty="0">
                <a:latin typeface="Times New Roman"/>
                <a:cs typeface="Times New Roman"/>
              </a:rPr>
              <a:t>M</a:t>
            </a:r>
            <a:r>
              <a:rPr sz="3750" i="1" spc="-502" baseline="2222" dirty="0">
                <a:latin typeface="Times New Roman"/>
                <a:cs typeface="Times New Roman"/>
              </a:rPr>
              <a:t> </a:t>
            </a:r>
            <a:r>
              <a:rPr sz="950" spc="85" dirty="0">
                <a:latin typeface="Times New Roman"/>
                <a:cs typeface="Times New Roman"/>
              </a:rPr>
              <a:t>1</a:t>
            </a:r>
            <a:r>
              <a:rPr sz="3750" spc="120" baseline="2222" dirty="0">
                <a:latin typeface="Symbol"/>
                <a:cs typeface="Symbol"/>
              </a:rPr>
              <a:t></a:t>
            </a:r>
            <a:r>
              <a:rPr sz="3750" i="1" spc="15" baseline="2222" dirty="0">
                <a:latin typeface="Times New Roman"/>
                <a:cs typeface="Times New Roman"/>
              </a:rPr>
              <a:t>M</a:t>
            </a:r>
            <a:r>
              <a:rPr sz="3750" i="1" spc="-337" baseline="2222" dirty="0">
                <a:latin typeface="Times New Roman"/>
                <a:cs typeface="Times New Roman"/>
              </a:rPr>
              <a:t> </a:t>
            </a:r>
            <a:r>
              <a:rPr sz="950" spc="10" dirty="0">
                <a:latin typeface="Times New Roman"/>
                <a:cs typeface="Times New Roman"/>
              </a:rPr>
              <a:t>4</a:t>
            </a:r>
            <a:r>
              <a:rPr sz="950" spc="-90" dirty="0">
                <a:latin typeface="Times New Roman"/>
                <a:cs typeface="Times New Roman"/>
              </a:rPr>
              <a:t> </a:t>
            </a:r>
            <a:r>
              <a:rPr sz="3750" spc="120" baseline="2222" dirty="0">
                <a:latin typeface="Symbol"/>
                <a:cs typeface="Symbol"/>
              </a:rPr>
              <a:t></a:t>
            </a:r>
            <a:r>
              <a:rPr sz="3750" i="1" spc="15" baseline="2222" dirty="0">
                <a:latin typeface="Times New Roman"/>
                <a:cs typeface="Times New Roman"/>
              </a:rPr>
              <a:t>M</a:t>
            </a:r>
            <a:r>
              <a:rPr sz="3750" i="1" spc="-367" baseline="2222" dirty="0">
                <a:latin typeface="Times New Roman"/>
                <a:cs typeface="Times New Roman"/>
              </a:rPr>
              <a:t> </a:t>
            </a:r>
            <a:r>
              <a:rPr sz="950" spc="10" dirty="0">
                <a:latin typeface="Times New Roman"/>
                <a:cs typeface="Times New Roman"/>
              </a:rPr>
              <a:t>6</a:t>
            </a:r>
            <a:endParaRPr sz="950">
              <a:latin typeface="Times New Roman"/>
              <a:cs typeface="Times New Roman"/>
            </a:endParaRPr>
          </a:p>
          <a:p>
            <a:pPr marL="1743710">
              <a:lnSpc>
                <a:spcPts val="2670"/>
              </a:lnSpc>
            </a:pPr>
            <a:r>
              <a:rPr sz="1650" spc="15" dirty="0">
                <a:latin typeface="Symbol"/>
                <a:cs typeface="Symbol"/>
              </a:rPr>
              <a:t></a:t>
            </a:r>
            <a:r>
              <a:rPr sz="1650" spc="-80" dirty="0">
                <a:latin typeface="Times New Roman"/>
                <a:cs typeface="Times New Roman"/>
              </a:rPr>
              <a:t> </a:t>
            </a:r>
            <a:r>
              <a:rPr sz="3750" spc="15" baseline="-8888" dirty="0">
                <a:latin typeface="Symbol"/>
                <a:cs typeface="Symbol"/>
              </a:rPr>
              <a:t></a:t>
            </a:r>
            <a:r>
              <a:rPr sz="3750" spc="-555" baseline="-8888" dirty="0">
                <a:latin typeface="Times New Roman"/>
                <a:cs typeface="Times New Roman"/>
              </a:rPr>
              <a:t> </a:t>
            </a:r>
            <a:r>
              <a:rPr sz="1650" i="1" spc="25" dirty="0">
                <a:latin typeface="Times New Roman"/>
                <a:cs typeface="Times New Roman"/>
              </a:rPr>
              <a:t>M</a:t>
            </a:r>
            <a:r>
              <a:rPr sz="1650" i="1" spc="-135" dirty="0">
                <a:latin typeface="Times New Roman"/>
                <a:cs typeface="Times New Roman"/>
              </a:rPr>
              <a:t> </a:t>
            </a:r>
            <a:r>
              <a:rPr sz="1650" spc="-30" dirty="0">
                <a:latin typeface="Times New Roman"/>
                <a:cs typeface="Times New Roman"/>
              </a:rPr>
              <a:t>(0,1,4,6)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81978" y="3934205"/>
            <a:ext cx="2592705" cy="2304415"/>
          </a:xfrm>
          <a:custGeom>
            <a:avLst/>
            <a:gdLst/>
            <a:ahLst/>
            <a:cxnLst/>
            <a:rect l="l" t="t" r="r" b="b"/>
            <a:pathLst>
              <a:path w="2592704" h="2304415">
                <a:moveTo>
                  <a:pt x="0" y="158623"/>
                </a:moveTo>
                <a:lnTo>
                  <a:pt x="8084" y="108476"/>
                </a:lnTo>
                <a:lnTo>
                  <a:pt x="30597" y="64931"/>
                </a:lnTo>
                <a:lnTo>
                  <a:pt x="64931" y="30597"/>
                </a:lnTo>
                <a:lnTo>
                  <a:pt x="108476" y="8084"/>
                </a:lnTo>
                <a:lnTo>
                  <a:pt x="158623" y="0"/>
                </a:lnTo>
                <a:lnTo>
                  <a:pt x="2433701" y="0"/>
                </a:lnTo>
                <a:lnTo>
                  <a:pt x="2483847" y="8084"/>
                </a:lnTo>
                <a:lnTo>
                  <a:pt x="2527392" y="30597"/>
                </a:lnTo>
                <a:lnTo>
                  <a:pt x="2561726" y="64931"/>
                </a:lnTo>
                <a:lnTo>
                  <a:pt x="2584239" y="108476"/>
                </a:lnTo>
                <a:lnTo>
                  <a:pt x="2592324" y="158623"/>
                </a:lnTo>
                <a:lnTo>
                  <a:pt x="2592324" y="2145639"/>
                </a:lnTo>
                <a:lnTo>
                  <a:pt x="2584239" y="2195784"/>
                </a:lnTo>
                <a:lnTo>
                  <a:pt x="2561726" y="2239334"/>
                </a:lnTo>
                <a:lnTo>
                  <a:pt x="2527392" y="2273677"/>
                </a:lnTo>
                <a:lnTo>
                  <a:pt x="2483847" y="2296199"/>
                </a:lnTo>
                <a:lnTo>
                  <a:pt x="2433701" y="2304288"/>
                </a:lnTo>
                <a:lnTo>
                  <a:pt x="158623" y="2304288"/>
                </a:lnTo>
                <a:lnTo>
                  <a:pt x="108476" y="2296199"/>
                </a:lnTo>
                <a:lnTo>
                  <a:pt x="64931" y="2273677"/>
                </a:lnTo>
                <a:lnTo>
                  <a:pt x="30597" y="2239334"/>
                </a:lnTo>
                <a:lnTo>
                  <a:pt x="8084" y="2195784"/>
                </a:lnTo>
                <a:lnTo>
                  <a:pt x="0" y="2145639"/>
                </a:lnTo>
                <a:lnTo>
                  <a:pt x="0" y="158623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807454" y="3999433"/>
            <a:ext cx="2156460" cy="2160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  <a:latin typeface="微软雅黑"/>
                <a:cs typeface="微软雅黑"/>
              </a:rPr>
              <a:t>任何一个逻辑 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函数表达式都 可以被展开成 唯一的最大项 </a:t>
            </a:r>
            <a:r>
              <a:rPr sz="2800" spc="-10" dirty="0">
                <a:solidFill>
                  <a:srgbClr val="FF0000"/>
                </a:solidFill>
                <a:latin typeface="微软雅黑"/>
                <a:cs typeface="微软雅黑"/>
              </a:rPr>
              <a:t>之积式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3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48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6181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逻辑函数的两种标准形式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49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40" y="1049527"/>
            <a:ext cx="41027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由真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值</a:t>
            </a:r>
            <a:r>
              <a:rPr sz="32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表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写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逻</a:t>
            </a:r>
            <a:r>
              <a:rPr sz="32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辑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表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达式</a:t>
            </a:r>
            <a:endParaRPr sz="3200">
              <a:latin typeface="Microsoft JhengHei"/>
              <a:cs typeface="Microsoft JhengHe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29273" y="1752980"/>
          <a:ext cx="3158490" cy="3337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2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732790" algn="l"/>
                        </a:tabLst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800" b="1" spc="4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	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62915" algn="l"/>
                          <a:tab pos="78105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	0	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62915" algn="l"/>
                          <a:tab pos="78105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	0	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62915" algn="l"/>
                          <a:tab pos="78105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	1	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63550" algn="l"/>
                          <a:tab pos="78168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	1	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63550" algn="l"/>
                          <a:tab pos="78168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	0	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63550" algn="l"/>
                          <a:tab pos="78168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	0	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463550" algn="l"/>
                          <a:tab pos="78168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	1	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463550" algn="l"/>
                          <a:tab pos="781685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	1	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264655" y="1277569"/>
            <a:ext cx="2768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三人表决逻辑真值表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3788" y="1924673"/>
            <a:ext cx="5157470" cy="28568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sz="24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最小项之和式（找取值</a:t>
            </a:r>
            <a:r>
              <a:rPr sz="2400" b="1" spc="-10" dirty="0">
                <a:solidFill>
                  <a:srgbClr val="0000FF"/>
                </a:solidFill>
                <a:latin typeface="Microsoft JhengHei"/>
                <a:cs typeface="Microsoft JhengHei"/>
              </a:rPr>
              <a:t>为</a:t>
            </a:r>
            <a:r>
              <a:rPr sz="2400" b="1" spc="-220" dirty="0">
                <a:solidFill>
                  <a:srgbClr val="0000FF"/>
                </a:solidFill>
                <a:latin typeface="Microsoft JhengHei"/>
                <a:cs typeface="Microsoft JhengHei"/>
              </a:rPr>
              <a:t>1</a:t>
            </a:r>
            <a:r>
              <a:rPr sz="24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的最小项）</a:t>
            </a:r>
            <a:endParaRPr sz="2400">
              <a:latin typeface="Microsoft JhengHei"/>
              <a:cs typeface="Microsoft JhengHei"/>
            </a:endParaRPr>
          </a:p>
          <a:p>
            <a:pPr marL="499109">
              <a:lnSpc>
                <a:spcPct val="100000"/>
              </a:lnSpc>
              <a:spcBef>
                <a:spcPts val="944"/>
              </a:spcBef>
            </a:pPr>
            <a:r>
              <a:rPr sz="2700" i="1" spc="20" dirty="0">
                <a:latin typeface="Times New Roman"/>
                <a:cs typeface="Times New Roman"/>
              </a:rPr>
              <a:t>F</a:t>
            </a:r>
            <a:r>
              <a:rPr sz="2700" i="1" spc="-400" dirty="0">
                <a:latin typeface="Times New Roman"/>
                <a:cs typeface="Times New Roman"/>
              </a:rPr>
              <a:t> </a:t>
            </a:r>
            <a:r>
              <a:rPr sz="2700" spc="10" dirty="0">
                <a:latin typeface="Times New Roman"/>
                <a:cs typeface="Times New Roman"/>
              </a:rPr>
              <a:t>(</a:t>
            </a:r>
            <a:r>
              <a:rPr sz="2700" spc="-400" dirty="0">
                <a:latin typeface="Times New Roman"/>
                <a:cs typeface="Times New Roman"/>
              </a:rPr>
              <a:t> </a:t>
            </a:r>
            <a:r>
              <a:rPr sz="2700" i="1" spc="-35" dirty="0">
                <a:latin typeface="Times New Roman"/>
                <a:cs typeface="Times New Roman"/>
              </a:rPr>
              <a:t>A</a:t>
            </a:r>
            <a:r>
              <a:rPr sz="2700" spc="-35" dirty="0">
                <a:latin typeface="Times New Roman"/>
                <a:cs typeface="Times New Roman"/>
              </a:rPr>
              <a:t>,</a:t>
            </a:r>
            <a:r>
              <a:rPr sz="2700" spc="-260" dirty="0">
                <a:latin typeface="Times New Roman"/>
                <a:cs typeface="Times New Roman"/>
              </a:rPr>
              <a:t> </a:t>
            </a:r>
            <a:r>
              <a:rPr sz="2700" i="1" spc="25" dirty="0">
                <a:latin typeface="Times New Roman"/>
                <a:cs typeface="Times New Roman"/>
              </a:rPr>
              <a:t>B</a:t>
            </a:r>
            <a:r>
              <a:rPr sz="2700" spc="25" dirty="0">
                <a:latin typeface="Times New Roman"/>
                <a:cs typeface="Times New Roman"/>
              </a:rPr>
              <a:t>,</a:t>
            </a:r>
            <a:r>
              <a:rPr sz="2700" spc="-420" dirty="0">
                <a:latin typeface="Times New Roman"/>
                <a:cs typeface="Times New Roman"/>
              </a:rPr>
              <a:t> </a:t>
            </a:r>
            <a:r>
              <a:rPr sz="2700" i="1" spc="100" dirty="0">
                <a:latin typeface="Times New Roman"/>
                <a:cs typeface="Times New Roman"/>
              </a:rPr>
              <a:t>C</a:t>
            </a:r>
            <a:r>
              <a:rPr sz="2700" spc="100" dirty="0">
                <a:latin typeface="Times New Roman"/>
                <a:cs typeface="Times New Roman"/>
              </a:rPr>
              <a:t>)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spc="20" dirty="0">
                <a:latin typeface="Symbol"/>
                <a:cs typeface="Symbol"/>
              </a:rPr>
              <a:t>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6075" spc="30" baseline="-8916" dirty="0">
                <a:latin typeface="Symbol"/>
                <a:cs typeface="Symbol"/>
              </a:rPr>
              <a:t></a:t>
            </a:r>
            <a:r>
              <a:rPr sz="2700" i="1" spc="20" dirty="0">
                <a:latin typeface="Times New Roman"/>
                <a:cs typeface="Times New Roman"/>
              </a:rPr>
              <a:t>m</a:t>
            </a:r>
            <a:r>
              <a:rPr sz="2700" spc="20" dirty="0">
                <a:latin typeface="Times New Roman"/>
                <a:cs typeface="Times New Roman"/>
              </a:rPr>
              <a:t>(3,5,6,7)</a:t>
            </a: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0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4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最大项之积式（找取值</a:t>
            </a:r>
            <a:r>
              <a:rPr sz="2400" b="1" spc="-10" dirty="0">
                <a:solidFill>
                  <a:srgbClr val="0000FF"/>
                </a:solidFill>
                <a:latin typeface="Microsoft JhengHei"/>
                <a:cs typeface="Microsoft JhengHei"/>
              </a:rPr>
              <a:t>为</a:t>
            </a:r>
            <a:r>
              <a:rPr sz="2400" b="1" spc="-220" dirty="0">
                <a:solidFill>
                  <a:srgbClr val="0000FF"/>
                </a:solidFill>
                <a:latin typeface="Microsoft JhengHei"/>
                <a:cs typeface="Microsoft JhengHei"/>
              </a:rPr>
              <a:t>0</a:t>
            </a:r>
            <a:r>
              <a:rPr sz="24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的最大项）</a:t>
            </a:r>
            <a:endParaRPr sz="2400">
              <a:latin typeface="Microsoft JhengHei"/>
              <a:cs typeface="Microsoft JhengHei"/>
            </a:endParaRPr>
          </a:p>
          <a:p>
            <a:pPr marL="492759">
              <a:lnSpc>
                <a:spcPct val="100000"/>
              </a:lnSpc>
              <a:spcBef>
                <a:spcPts val="595"/>
              </a:spcBef>
            </a:pPr>
            <a:r>
              <a:rPr sz="2700" i="1" spc="70" dirty="0">
                <a:latin typeface="Times New Roman"/>
                <a:cs typeface="Times New Roman"/>
              </a:rPr>
              <a:t>G</a:t>
            </a:r>
            <a:r>
              <a:rPr sz="2700" spc="70" dirty="0">
                <a:latin typeface="Times New Roman"/>
                <a:cs typeface="Times New Roman"/>
              </a:rPr>
              <a:t>(</a:t>
            </a:r>
            <a:r>
              <a:rPr sz="2700" spc="-405" dirty="0">
                <a:latin typeface="Times New Roman"/>
                <a:cs typeface="Times New Roman"/>
              </a:rPr>
              <a:t> </a:t>
            </a:r>
            <a:r>
              <a:rPr sz="2700" i="1" spc="-35" dirty="0">
                <a:latin typeface="Times New Roman"/>
                <a:cs typeface="Times New Roman"/>
              </a:rPr>
              <a:t>A</a:t>
            </a:r>
            <a:r>
              <a:rPr sz="2700" spc="-35" dirty="0">
                <a:latin typeface="Times New Roman"/>
                <a:cs typeface="Times New Roman"/>
              </a:rPr>
              <a:t>,</a:t>
            </a:r>
            <a:r>
              <a:rPr sz="2700" spc="-254" dirty="0">
                <a:latin typeface="Times New Roman"/>
                <a:cs typeface="Times New Roman"/>
              </a:rPr>
              <a:t> </a:t>
            </a:r>
            <a:r>
              <a:rPr sz="2700" i="1" spc="30" dirty="0">
                <a:latin typeface="Times New Roman"/>
                <a:cs typeface="Times New Roman"/>
              </a:rPr>
              <a:t>B</a:t>
            </a:r>
            <a:r>
              <a:rPr sz="2700" spc="30" dirty="0">
                <a:latin typeface="Times New Roman"/>
                <a:cs typeface="Times New Roman"/>
              </a:rPr>
              <a:t>,</a:t>
            </a:r>
            <a:r>
              <a:rPr sz="2700" spc="-430" dirty="0">
                <a:latin typeface="Times New Roman"/>
                <a:cs typeface="Times New Roman"/>
              </a:rPr>
              <a:t> </a:t>
            </a:r>
            <a:r>
              <a:rPr sz="2700" i="1" spc="105" dirty="0">
                <a:latin typeface="Times New Roman"/>
                <a:cs typeface="Times New Roman"/>
              </a:rPr>
              <a:t>C</a:t>
            </a:r>
            <a:r>
              <a:rPr sz="2700" spc="105" dirty="0">
                <a:latin typeface="Times New Roman"/>
                <a:cs typeface="Times New Roman"/>
              </a:rPr>
              <a:t>)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spc="20" dirty="0">
                <a:latin typeface="Symbol"/>
                <a:cs typeface="Symbol"/>
              </a:rPr>
              <a:t></a:t>
            </a:r>
            <a:r>
              <a:rPr sz="2700" spc="-135" dirty="0">
                <a:latin typeface="Times New Roman"/>
                <a:cs typeface="Times New Roman"/>
              </a:rPr>
              <a:t> </a:t>
            </a:r>
            <a:r>
              <a:rPr sz="6075" spc="60" baseline="-8916" dirty="0">
                <a:latin typeface="Symbol"/>
                <a:cs typeface="Symbol"/>
              </a:rPr>
              <a:t></a:t>
            </a:r>
            <a:r>
              <a:rPr sz="6075" spc="-944" baseline="-8916" dirty="0">
                <a:latin typeface="Times New Roman"/>
                <a:cs typeface="Times New Roman"/>
              </a:rPr>
              <a:t> </a:t>
            </a:r>
            <a:r>
              <a:rPr sz="2700" i="1" spc="30" dirty="0">
                <a:latin typeface="Times New Roman"/>
                <a:cs typeface="Times New Roman"/>
              </a:rPr>
              <a:t>M</a:t>
            </a:r>
            <a:r>
              <a:rPr sz="2700" i="1" spc="-229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imes New Roman"/>
                <a:cs typeface="Times New Roman"/>
              </a:rPr>
              <a:t>(0,1,2,4)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67411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两种标准表达式之间的关系</a:t>
            </a:r>
          </a:p>
        </p:txBody>
      </p:sp>
      <p:sp>
        <p:nvSpPr>
          <p:cNvPr id="3" name="object 3"/>
          <p:cNvSpPr/>
          <p:nvPr/>
        </p:nvSpPr>
        <p:spPr>
          <a:xfrm>
            <a:off x="457196" y="1539196"/>
            <a:ext cx="8894070" cy="15835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8808" y="1508760"/>
            <a:ext cx="9034272" cy="16824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5300" y="1557527"/>
            <a:ext cx="8822436" cy="15118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5300" y="1557527"/>
            <a:ext cx="8822690" cy="1511935"/>
          </a:xfrm>
          <a:custGeom>
            <a:avLst/>
            <a:gdLst/>
            <a:ahLst/>
            <a:cxnLst/>
            <a:rect l="l" t="t" r="r" b="b"/>
            <a:pathLst>
              <a:path w="8822690" h="1511935">
                <a:moveTo>
                  <a:pt x="0" y="129159"/>
                </a:moveTo>
                <a:lnTo>
                  <a:pt x="10151" y="78867"/>
                </a:lnTo>
                <a:lnTo>
                  <a:pt x="37834" y="37814"/>
                </a:lnTo>
                <a:lnTo>
                  <a:pt x="78893" y="10144"/>
                </a:lnTo>
                <a:lnTo>
                  <a:pt x="129171" y="0"/>
                </a:lnTo>
                <a:lnTo>
                  <a:pt x="8693277" y="0"/>
                </a:lnTo>
                <a:lnTo>
                  <a:pt x="8743569" y="10144"/>
                </a:lnTo>
                <a:lnTo>
                  <a:pt x="8784621" y="37814"/>
                </a:lnTo>
                <a:lnTo>
                  <a:pt x="8812291" y="78866"/>
                </a:lnTo>
                <a:lnTo>
                  <a:pt x="8822436" y="129159"/>
                </a:lnTo>
                <a:lnTo>
                  <a:pt x="8822436" y="1382649"/>
                </a:lnTo>
                <a:lnTo>
                  <a:pt x="8812291" y="1432940"/>
                </a:lnTo>
                <a:lnTo>
                  <a:pt x="8784621" y="1473993"/>
                </a:lnTo>
                <a:lnTo>
                  <a:pt x="8743568" y="1501663"/>
                </a:lnTo>
                <a:lnTo>
                  <a:pt x="8693277" y="1511808"/>
                </a:lnTo>
                <a:lnTo>
                  <a:pt x="129171" y="1511808"/>
                </a:lnTo>
                <a:lnTo>
                  <a:pt x="78893" y="1501663"/>
                </a:lnTo>
                <a:lnTo>
                  <a:pt x="37834" y="1473993"/>
                </a:lnTo>
                <a:lnTo>
                  <a:pt x="10151" y="1432941"/>
                </a:lnTo>
                <a:lnTo>
                  <a:pt x="0" y="1382649"/>
                </a:lnTo>
                <a:lnTo>
                  <a:pt x="0" y="129159"/>
                </a:lnTo>
                <a:close/>
              </a:path>
            </a:pathLst>
          </a:custGeom>
          <a:ln w="9144">
            <a:solidFill>
              <a:srgbClr val="FF9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9135" y="1614297"/>
            <a:ext cx="8672830" cy="39039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 marR="106680" algn="just">
              <a:lnSpc>
                <a:spcPct val="100200"/>
              </a:lnSpc>
              <a:spcBef>
                <a:spcPts val="90"/>
              </a:spcBef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两种表达式所含的编号是互相补充</a:t>
            </a:r>
            <a:r>
              <a:rPr sz="2800" spc="5" dirty="0">
                <a:solidFill>
                  <a:srgbClr val="0000FF"/>
                </a:solidFill>
                <a:latin typeface="微软雅黑"/>
                <a:cs typeface="微软雅黑"/>
              </a:rPr>
              <a:t>的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，即</a:t>
            </a:r>
            <a:r>
              <a:rPr sz="2800" spc="5" dirty="0">
                <a:solidFill>
                  <a:srgbClr val="0000FF"/>
                </a:solidFill>
                <a:latin typeface="微软雅黑"/>
                <a:cs typeface="微软雅黑"/>
              </a:rPr>
              <a:t>最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大项</a:t>
            </a:r>
            <a:r>
              <a:rPr sz="2800" spc="5" dirty="0">
                <a:solidFill>
                  <a:srgbClr val="0000FF"/>
                </a:solidFill>
                <a:latin typeface="微软雅黑"/>
                <a:cs typeface="微软雅黑"/>
              </a:rPr>
              <a:t>之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积式 中的最大项编号正好是最小项之和</a:t>
            </a:r>
            <a:r>
              <a:rPr sz="2800" dirty="0">
                <a:solidFill>
                  <a:srgbClr val="0000FF"/>
                </a:solidFill>
                <a:latin typeface="微软雅黑"/>
                <a:cs typeface="微软雅黑"/>
              </a:rPr>
              <a:t>式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中未</a:t>
            </a:r>
            <a:r>
              <a:rPr sz="2800" dirty="0">
                <a:solidFill>
                  <a:srgbClr val="0000FF"/>
                </a:solidFill>
                <a:latin typeface="微软雅黑"/>
                <a:cs typeface="微软雅黑"/>
              </a:rPr>
              <a:t>包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含的</a:t>
            </a:r>
            <a:r>
              <a:rPr sz="2800" dirty="0">
                <a:solidFill>
                  <a:srgbClr val="0000FF"/>
                </a:solidFill>
                <a:latin typeface="微软雅黑"/>
                <a:cs typeface="微软雅黑"/>
              </a:rPr>
              <a:t>号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码， 反之亦然。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250">
              <a:latin typeface="微软雅黑"/>
              <a:cs typeface="微软雅黑"/>
            </a:endParaRPr>
          </a:p>
          <a:p>
            <a:pPr marL="285750">
              <a:lnSpc>
                <a:spcPts val="6295"/>
              </a:lnSpc>
            </a:pPr>
            <a:r>
              <a:rPr sz="3500" spc="55" dirty="0">
                <a:latin typeface="宋体"/>
                <a:cs typeface="宋体"/>
              </a:rPr>
              <a:t>若</a:t>
            </a:r>
            <a:r>
              <a:rPr sz="3500" i="1" spc="25" dirty="0">
                <a:latin typeface="Times New Roman"/>
                <a:cs typeface="Times New Roman"/>
              </a:rPr>
              <a:t>F</a:t>
            </a:r>
            <a:r>
              <a:rPr sz="3500" i="1" spc="-490" dirty="0">
                <a:latin typeface="Times New Roman"/>
                <a:cs typeface="Times New Roman"/>
              </a:rPr>
              <a:t> </a:t>
            </a:r>
            <a:r>
              <a:rPr sz="3500" spc="15" dirty="0">
                <a:latin typeface="Times New Roman"/>
                <a:cs typeface="Times New Roman"/>
              </a:rPr>
              <a:t>(</a:t>
            </a:r>
            <a:r>
              <a:rPr sz="3500" spc="-495" dirty="0">
                <a:latin typeface="Times New Roman"/>
                <a:cs typeface="Times New Roman"/>
              </a:rPr>
              <a:t> </a:t>
            </a:r>
            <a:r>
              <a:rPr sz="3500" i="1" spc="-40" dirty="0">
                <a:latin typeface="Times New Roman"/>
                <a:cs typeface="Times New Roman"/>
              </a:rPr>
              <a:t>A</a:t>
            </a:r>
            <a:r>
              <a:rPr sz="3500" spc="-40" dirty="0">
                <a:latin typeface="Times New Roman"/>
                <a:cs typeface="Times New Roman"/>
              </a:rPr>
              <a:t>,</a:t>
            </a:r>
            <a:r>
              <a:rPr sz="3500" spc="-315" dirty="0">
                <a:latin typeface="Times New Roman"/>
                <a:cs typeface="Times New Roman"/>
              </a:rPr>
              <a:t> </a:t>
            </a:r>
            <a:r>
              <a:rPr sz="3500" i="1" spc="50" dirty="0">
                <a:latin typeface="Times New Roman"/>
                <a:cs typeface="Times New Roman"/>
              </a:rPr>
              <a:t>B</a:t>
            </a:r>
            <a:r>
              <a:rPr sz="3500" spc="50" dirty="0">
                <a:latin typeface="Times New Roman"/>
                <a:cs typeface="Times New Roman"/>
              </a:rPr>
              <a:t>,</a:t>
            </a:r>
            <a:r>
              <a:rPr sz="3500" spc="-540" dirty="0">
                <a:latin typeface="Times New Roman"/>
                <a:cs typeface="Times New Roman"/>
              </a:rPr>
              <a:t> </a:t>
            </a:r>
            <a:r>
              <a:rPr sz="3500" i="1" spc="114" dirty="0">
                <a:latin typeface="Times New Roman"/>
                <a:cs typeface="Times New Roman"/>
              </a:rPr>
              <a:t>C</a:t>
            </a:r>
            <a:r>
              <a:rPr sz="3500" spc="114" dirty="0">
                <a:latin typeface="Times New Roman"/>
                <a:cs typeface="Times New Roman"/>
              </a:rPr>
              <a:t>,</a:t>
            </a:r>
            <a:r>
              <a:rPr sz="3500" spc="-320" dirty="0">
                <a:latin typeface="Times New Roman"/>
                <a:cs typeface="Times New Roman"/>
              </a:rPr>
              <a:t> </a:t>
            </a:r>
            <a:r>
              <a:rPr sz="3500" i="1" spc="75" dirty="0">
                <a:latin typeface="Times New Roman"/>
                <a:cs typeface="Times New Roman"/>
              </a:rPr>
              <a:t>D</a:t>
            </a:r>
            <a:r>
              <a:rPr sz="3500" spc="75" dirty="0">
                <a:latin typeface="Times New Roman"/>
                <a:cs typeface="Times New Roman"/>
              </a:rPr>
              <a:t>)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spc="25" dirty="0">
                <a:latin typeface="Symbol"/>
                <a:cs typeface="Symbol"/>
              </a:rPr>
              <a:t></a:t>
            </a:r>
            <a:r>
              <a:rPr sz="3500" spc="-70" dirty="0">
                <a:latin typeface="Times New Roman"/>
                <a:cs typeface="Times New Roman"/>
              </a:rPr>
              <a:t> </a:t>
            </a:r>
            <a:r>
              <a:rPr sz="7950" spc="22" baseline="-8385" dirty="0">
                <a:latin typeface="Symbol"/>
                <a:cs typeface="Symbol"/>
              </a:rPr>
              <a:t></a:t>
            </a:r>
            <a:r>
              <a:rPr sz="7950" spc="-1260" baseline="-8385" dirty="0">
                <a:latin typeface="Times New Roman"/>
                <a:cs typeface="Times New Roman"/>
              </a:rPr>
              <a:t> </a:t>
            </a:r>
            <a:r>
              <a:rPr sz="3500" i="1" spc="-25" dirty="0">
                <a:latin typeface="Times New Roman"/>
                <a:cs typeface="Times New Roman"/>
              </a:rPr>
              <a:t>m</a:t>
            </a:r>
            <a:r>
              <a:rPr sz="3500" spc="-25" dirty="0">
                <a:latin typeface="Times New Roman"/>
                <a:cs typeface="Times New Roman"/>
              </a:rPr>
              <a:t>(0,2,3,5,7,9,12)</a:t>
            </a:r>
            <a:endParaRPr sz="3500">
              <a:latin typeface="Times New Roman"/>
              <a:cs typeface="Times New Roman"/>
            </a:endParaRPr>
          </a:p>
          <a:p>
            <a:pPr marL="278765">
              <a:lnSpc>
                <a:spcPts val="6295"/>
              </a:lnSpc>
            </a:pPr>
            <a:r>
              <a:rPr sz="3500" spc="55" dirty="0">
                <a:latin typeface="宋体"/>
                <a:cs typeface="宋体"/>
              </a:rPr>
              <a:t>则</a:t>
            </a:r>
            <a:r>
              <a:rPr sz="3500" i="1" spc="25" dirty="0">
                <a:latin typeface="Times New Roman"/>
                <a:cs typeface="Times New Roman"/>
              </a:rPr>
              <a:t>F</a:t>
            </a:r>
            <a:r>
              <a:rPr sz="3500" i="1" spc="-480" dirty="0">
                <a:latin typeface="Times New Roman"/>
                <a:cs typeface="Times New Roman"/>
              </a:rPr>
              <a:t> </a:t>
            </a:r>
            <a:r>
              <a:rPr sz="3500" spc="15" dirty="0">
                <a:latin typeface="Times New Roman"/>
                <a:cs typeface="Times New Roman"/>
              </a:rPr>
              <a:t>(</a:t>
            </a:r>
            <a:r>
              <a:rPr sz="3500" spc="-505" dirty="0">
                <a:latin typeface="Times New Roman"/>
                <a:cs typeface="Times New Roman"/>
              </a:rPr>
              <a:t> </a:t>
            </a:r>
            <a:r>
              <a:rPr sz="3500" i="1" spc="-35" dirty="0">
                <a:latin typeface="Times New Roman"/>
                <a:cs typeface="Times New Roman"/>
              </a:rPr>
              <a:t>A</a:t>
            </a:r>
            <a:r>
              <a:rPr sz="3500" spc="-35" dirty="0">
                <a:latin typeface="Times New Roman"/>
                <a:cs typeface="Times New Roman"/>
              </a:rPr>
              <a:t>,</a:t>
            </a:r>
            <a:r>
              <a:rPr sz="3500" spc="-315" dirty="0">
                <a:latin typeface="Times New Roman"/>
                <a:cs typeface="Times New Roman"/>
              </a:rPr>
              <a:t> </a:t>
            </a:r>
            <a:r>
              <a:rPr sz="3500" i="1" spc="45" dirty="0">
                <a:latin typeface="Times New Roman"/>
                <a:cs typeface="Times New Roman"/>
              </a:rPr>
              <a:t>B</a:t>
            </a:r>
            <a:r>
              <a:rPr sz="3500" spc="45" dirty="0">
                <a:latin typeface="Times New Roman"/>
                <a:cs typeface="Times New Roman"/>
              </a:rPr>
              <a:t>,</a:t>
            </a:r>
            <a:r>
              <a:rPr sz="3500" spc="-540" dirty="0">
                <a:latin typeface="Times New Roman"/>
                <a:cs typeface="Times New Roman"/>
              </a:rPr>
              <a:t> </a:t>
            </a:r>
            <a:r>
              <a:rPr sz="3500" i="1" spc="114" dirty="0">
                <a:latin typeface="Times New Roman"/>
                <a:cs typeface="Times New Roman"/>
              </a:rPr>
              <a:t>C</a:t>
            </a:r>
            <a:r>
              <a:rPr sz="3500" spc="114" dirty="0">
                <a:latin typeface="Times New Roman"/>
                <a:cs typeface="Times New Roman"/>
              </a:rPr>
              <a:t>,</a:t>
            </a:r>
            <a:r>
              <a:rPr sz="3500" spc="-315" dirty="0">
                <a:latin typeface="Times New Roman"/>
                <a:cs typeface="Times New Roman"/>
              </a:rPr>
              <a:t> </a:t>
            </a:r>
            <a:r>
              <a:rPr sz="3500" i="1" spc="75" dirty="0">
                <a:latin typeface="Times New Roman"/>
                <a:cs typeface="Times New Roman"/>
              </a:rPr>
              <a:t>D</a:t>
            </a:r>
            <a:r>
              <a:rPr sz="3500" spc="75" dirty="0">
                <a:latin typeface="Times New Roman"/>
                <a:cs typeface="Times New Roman"/>
              </a:rPr>
              <a:t>)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spc="25" dirty="0">
                <a:latin typeface="Symbol"/>
                <a:cs typeface="Symbol"/>
              </a:rPr>
              <a:t></a:t>
            </a:r>
            <a:r>
              <a:rPr sz="3500" spc="-150" dirty="0">
                <a:latin typeface="Times New Roman"/>
                <a:cs typeface="Times New Roman"/>
              </a:rPr>
              <a:t> </a:t>
            </a:r>
            <a:r>
              <a:rPr sz="7950" spc="30" baseline="-8909" dirty="0">
                <a:latin typeface="Symbol"/>
                <a:cs typeface="Symbol"/>
              </a:rPr>
              <a:t></a:t>
            </a:r>
            <a:r>
              <a:rPr sz="7950" spc="-1170" baseline="-8909" dirty="0">
                <a:latin typeface="Times New Roman"/>
                <a:cs typeface="Times New Roman"/>
              </a:rPr>
              <a:t> </a:t>
            </a:r>
            <a:r>
              <a:rPr sz="3500" i="1" spc="35" dirty="0">
                <a:latin typeface="Times New Roman"/>
                <a:cs typeface="Times New Roman"/>
              </a:rPr>
              <a:t>M</a:t>
            </a:r>
            <a:r>
              <a:rPr sz="3500" i="1" spc="-265" dirty="0">
                <a:latin typeface="Times New Roman"/>
                <a:cs typeface="Times New Roman"/>
              </a:rPr>
              <a:t> </a:t>
            </a:r>
            <a:r>
              <a:rPr sz="3500" spc="-114" dirty="0">
                <a:latin typeface="Times New Roman"/>
                <a:cs typeface="Times New Roman"/>
              </a:rPr>
              <a:t>(1,4,6,8,10,11,13,14,15)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6062" y="3789426"/>
            <a:ext cx="8822690" cy="2304415"/>
          </a:xfrm>
          <a:custGeom>
            <a:avLst/>
            <a:gdLst/>
            <a:ahLst/>
            <a:cxnLst/>
            <a:rect l="l" t="t" r="r" b="b"/>
            <a:pathLst>
              <a:path w="8822690" h="2304415">
                <a:moveTo>
                  <a:pt x="0" y="138430"/>
                </a:moveTo>
                <a:lnTo>
                  <a:pt x="7055" y="94674"/>
                </a:lnTo>
                <a:lnTo>
                  <a:pt x="26702" y="56674"/>
                </a:lnTo>
                <a:lnTo>
                  <a:pt x="56660" y="26708"/>
                </a:lnTo>
                <a:lnTo>
                  <a:pt x="94650" y="7057"/>
                </a:lnTo>
                <a:lnTo>
                  <a:pt x="138391" y="0"/>
                </a:lnTo>
                <a:lnTo>
                  <a:pt x="8684006" y="0"/>
                </a:lnTo>
                <a:lnTo>
                  <a:pt x="8727761" y="7057"/>
                </a:lnTo>
                <a:lnTo>
                  <a:pt x="8765761" y="26708"/>
                </a:lnTo>
                <a:lnTo>
                  <a:pt x="8795727" y="56674"/>
                </a:lnTo>
                <a:lnTo>
                  <a:pt x="8815378" y="94674"/>
                </a:lnTo>
                <a:lnTo>
                  <a:pt x="8822436" y="138430"/>
                </a:lnTo>
                <a:lnTo>
                  <a:pt x="8822436" y="2165896"/>
                </a:lnTo>
                <a:lnTo>
                  <a:pt x="8815378" y="2209637"/>
                </a:lnTo>
                <a:lnTo>
                  <a:pt x="8795727" y="2247627"/>
                </a:lnTo>
                <a:lnTo>
                  <a:pt x="8765761" y="2277585"/>
                </a:lnTo>
                <a:lnTo>
                  <a:pt x="8727761" y="2297232"/>
                </a:lnTo>
                <a:lnTo>
                  <a:pt x="8684006" y="2304288"/>
                </a:lnTo>
                <a:lnTo>
                  <a:pt x="138391" y="2304288"/>
                </a:lnTo>
                <a:lnTo>
                  <a:pt x="94650" y="2297232"/>
                </a:lnTo>
                <a:lnTo>
                  <a:pt x="56660" y="2277585"/>
                </a:lnTo>
                <a:lnTo>
                  <a:pt x="26702" y="2247627"/>
                </a:lnTo>
                <a:lnTo>
                  <a:pt x="7055" y="2209637"/>
                </a:lnTo>
                <a:lnTo>
                  <a:pt x="0" y="2165896"/>
                </a:lnTo>
                <a:lnTo>
                  <a:pt x="0" y="13843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5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062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反函数的标准表达式</a:t>
            </a:r>
          </a:p>
        </p:txBody>
      </p:sp>
      <p:sp>
        <p:nvSpPr>
          <p:cNvPr id="3" name="object 3"/>
          <p:cNvSpPr/>
          <p:nvPr/>
        </p:nvSpPr>
        <p:spPr>
          <a:xfrm>
            <a:off x="5081778" y="2814066"/>
            <a:ext cx="216535" cy="0"/>
          </a:xfrm>
          <a:custGeom>
            <a:avLst/>
            <a:gdLst/>
            <a:ahLst/>
            <a:cxnLst/>
            <a:rect l="l" t="t" r="r" b="b"/>
            <a:pathLst>
              <a:path w="216535">
                <a:moveTo>
                  <a:pt x="0" y="0"/>
                </a:moveTo>
                <a:lnTo>
                  <a:pt x="216026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54829" y="4725161"/>
            <a:ext cx="1728470" cy="0"/>
          </a:xfrm>
          <a:custGeom>
            <a:avLst/>
            <a:gdLst/>
            <a:ahLst/>
            <a:cxnLst/>
            <a:rect l="l" t="t" r="r" b="b"/>
            <a:pathLst>
              <a:path w="1728470">
                <a:moveTo>
                  <a:pt x="0" y="0"/>
                </a:moveTo>
                <a:lnTo>
                  <a:pt x="1728216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38754" y="2968725"/>
            <a:ext cx="791108" cy="2115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82289" y="2998470"/>
            <a:ext cx="719455" cy="2014855"/>
          </a:xfrm>
          <a:custGeom>
            <a:avLst/>
            <a:gdLst/>
            <a:ahLst/>
            <a:cxnLst/>
            <a:rect l="l" t="t" r="r" b="b"/>
            <a:pathLst>
              <a:path w="719454" h="2014854">
                <a:moveTo>
                  <a:pt x="719327" y="2014727"/>
                </a:moveTo>
                <a:lnTo>
                  <a:pt x="654680" y="2011899"/>
                </a:lnTo>
                <a:lnTo>
                  <a:pt x="593833" y="2003743"/>
                </a:lnTo>
                <a:lnTo>
                  <a:pt x="537802" y="1990757"/>
                </a:lnTo>
                <a:lnTo>
                  <a:pt x="487604" y="1973438"/>
                </a:lnTo>
                <a:lnTo>
                  <a:pt x="444255" y="1952281"/>
                </a:lnTo>
                <a:lnTo>
                  <a:pt x="408770" y="1927784"/>
                </a:lnTo>
                <a:lnTo>
                  <a:pt x="382166" y="1900443"/>
                </a:lnTo>
                <a:lnTo>
                  <a:pt x="359663" y="1839213"/>
                </a:lnTo>
                <a:lnTo>
                  <a:pt x="359663" y="1217675"/>
                </a:lnTo>
                <a:lnTo>
                  <a:pt x="353869" y="1186097"/>
                </a:lnTo>
                <a:lnTo>
                  <a:pt x="310557" y="1129015"/>
                </a:lnTo>
                <a:lnTo>
                  <a:pt x="275072" y="1104502"/>
                </a:lnTo>
                <a:lnTo>
                  <a:pt x="231723" y="1083335"/>
                </a:lnTo>
                <a:lnTo>
                  <a:pt x="181525" y="1066009"/>
                </a:lnTo>
                <a:lnTo>
                  <a:pt x="125494" y="1053020"/>
                </a:lnTo>
                <a:lnTo>
                  <a:pt x="64647" y="1044864"/>
                </a:lnTo>
                <a:lnTo>
                  <a:pt x="0" y="1042034"/>
                </a:lnTo>
                <a:lnTo>
                  <a:pt x="64647" y="1039206"/>
                </a:lnTo>
                <a:lnTo>
                  <a:pt x="125494" y="1031050"/>
                </a:lnTo>
                <a:lnTo>
                  <a:pt x="181525" y="1018064"/>
                </a:lnTo>
                <a:lnTo>
                  <a:pt x="231723" y="1000745"/>
                </a:lnTo>
                <a:lnTo>
                  <a:pt x="275072" y="979588"/>
                </a:lnTo>
                <a:lnTo>
                  <a:pt x="310557" y="955091"/>
                </a:lnTo>
                <a:lnTo>
                  <a:pt x="337161" y="927750"/>
                </a:lnTo>
                <a:lnTo>
                  <a:pt x="359663" y="866520"/>
                </a:lnTo>
                <a:lnTo>
                  <a:pt x="359663" y="175513"/>
                </a:lnTo>
                <a:lnTo>
                  <a:pt x="365458" y="143973"/>
                </a:lnTo>
                <a:lnTo>
                  <a:pt x="408770" y="86943"/>
                </a:lnTo>
                <a:lnTo>
                  <a:pt x="444255" y="62446"/>
                </a:lnTo>
                <a:lnTo>
                  <a:pt x="487604" y="41289"/>
                </a:lnTo>
                <a:lnTo>
                  <a:pt x="537802" y="23970"/>
                </a:lnTo>
                <a:lnTo>
                  <a:pt x="593833" y="10984"/>
                </a:lnTo>
                <a:lnTo>
                  <a:pt x="654680" y="2828"/>
                </a:lnTo>
                <a:lnTo>
                  <a:pt x="719327" y="0"/>
                </a:lnTo>
              </a:path>
            </a:pathLst>
          </a:custGeom>
          <a:ln w="381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79514" y="2818638"/>
            <a:ext cx="216535" cy="0"/>
          </a:xfrm>
          <a:custGeom>
            <a:avLst/>
            <a:gdLst/>
            <a:ahLst/>
            <a:cxnLst/>
            <a:rect l="l" t="t" r="r" b="b"/>
            <a:pathLst>
              <a:path w="216534">
                <a:moveTo>
                  <a:pt x="0" y="0"/>
                </a:moveTo>
                <a:lnTo>
                  <a:pt x="216026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57065" y="4772405"/>
            <a:ext cx="216535" cy="0"/>
          </a:xfrm>
          <a:custGeom>
            <a:avLst/>
            <a:gdLst/>
            <a:ahLst/>
            <a:cxnLst/>
            <a:rect l="l" t="t" r="r" b="b"/>
            <a:pathLst>
              <a:path w="216535">
                <a:moveTo>
                  <a:pt x="0" y="0"/>
                </a:moveTo>
                <a:lnTo>
                  <a:pt x="216026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4040" y="1278128"/>
            <a:ext cx="8335645" cy="390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FF"/>
                </a:solidFill>
                <a:latin typeface="宋体"/>
                <a:cs typeface="宋体"/>
              </a:rPr>
              <a:t>给定Ｆ，可直接写出Ｆ的两种标准表达式</a:t>
            </a:r>
            <a:endParaRPr sz="36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600">
              <a:latin typeface="宋体"/>
              <a:cs typeface="宋体"/>
            </a:endParaRPr>
          </a:p>
          <a:p>
            <a:pPr marL="3394710">
              <a:lnSpc>
                <a:spcPct val="100000"/>
              </a:lnSpc>
              <a:spcBef>
                <a:spcPts val="2995"/>
              </a:spcBef>
            </a:pPr>
            <a:r>
              <a:rPr sz="2800" spc="-5" dirty="0">
                <a:latin typeface="微软雅黑"/>
                <a:cs typeface="微软雅黑"/>
              </a:rPr>
              <a:t>因为</a:t>
            </a:r>
            <a:r>
              <a:rPr sz="2800" spc="-5" dirty="0">
                <a:latin typeface="Arial"/>
                <a:cs typeface="Arial"/>
              </a:rPr>
              <a:t>F+</a:t>
            </a:r>
            <a:r>
              <a:rPr sz="2800" spc="-15" dirty="0">
                <a:latin typeface="Arial"/>
                <a:cs typeface="Arial"/>
              </a:rPr>
              <a:t>F</a:t>
            </a:r>
            <a:r>
              <a:rPr sz="2800" spc="-5" dirty="0">
                <a:latin typeface="Arial"/>
                <a:cs typeface="Arial"/>
              </a:rPr>
              <a:t>=</a:t>
            </a:r>
            <a:r>
              <a:rPr sz="2800" dirty="0">
                <a:latin typeface="Arial"/>
                <a:cs typeface="Arial"/>
              </a:rPr>
              <a:t>1</a:t>
            </a:r>
            <a:r>
              <a:rPr sz="2800" spc="-5" dirty="0">
                <a:latin typeface="宋体"/>
                <a:cs typeface="宋体"/>
              </a:rPr>
              <a:t>，所以</a:t>
            </a:r>
            <a:r>
              <a:rPr sz="2800" spc="-10" dirty="0">
                <a:latin typeface="Arial"/>
                <a:cs typeface="Arial"/>
              </a:rPr>
              <a:t>F</a:t>
            </a:r>
            <a:r>
              <a:rPr sz="2800" spc="5" dirty="0">
                <a:latin typeface="Arial"/>
                <a:cs typeface="Arial"/>
              </a:rPr>
              <a:t>=</a:t>
            </a:r>
            <a:r>
              <a:rPr sz="2800" spc="-5" dirty="0">
                <a:latin typeface="宋体"/>
                <a:cs typeface="宋体"/>
              </a:rPr>
              <a:t>∑</a:t>
            </a:r>
            <a:r>
              <a:rPr sz="2800" spc="-5" dirty="0">
                <a:latin typeface="Arial"/>
                <a:cs typeface="Arial"/>
              </a:rPr>
              <a:t>(</a:t>
            </a:r>
            <a:r>
              <a:rPr sz="2800" dirty="0">
                <a:latin typeface="Arial"/>
                <a:cs typeface="Arial"/>
              </a:rPr>
              <a:t>0</a:t>
            </a:r>
            <a:r>
              <a:rPr sz="2800" spc="-5" dirty="0">
                <a:latin typeface="Arial"/>
                <a:cs typeface="Arial"/>
              </a:rPr>
              <a:t>,2</a:t>
            </a:r>
            <a:r>
              <a:rPr sz="2800" dirty="0">
                <a:latin typeface="Arial"/>
                <a:cs typeface="Arial"/>
              </a:rPr>
              <a:t>,</a:t>
            </a:r>
            <a:r>
              <a:rPr sz="2800" spc="-5" dirty="0">
                <a:latin typeface="Arial"/>
                <a:cs typeface="Arial"/>
              </a:rPr>
              <a:t>4,</a:t>
            </a:r>
            <a:r>
              <a:rPr sz="2800" spc="5" dirty="0">
                <a:latin typeface="Arial"/>
                <a:cs typeface="Arial"/>
              </a:rPr>
              <a:t>5</a:t>
            </a:r>
            <a:r>
              <a:rPr sz="2800" spc="-5" dirty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287020">
              <a:lnSpc>
                <a:spcPct val="100000"/>
              </a:lnSpc>
              <a:spcBef>
                <a:spcPts val="880"/>
              </a:spcBef>
            </a:pPr>
            <a:r>
              <a:rPr sz="2800" spc="-5" dirty="0">
                <a:latin typeface="微软雅黑"/>
                <a:cs typeface="微软雅黑"/>
              </a:rPr>
              <a:t>例</a:t>
            </a:r>
            <a:endParaRPr sz="2800">
              <a:latin typeface="微软雅黑"/>
              <a:cs typeface="微软雅黑"/>
            </a:endParaRPr>
          </a:p>
          <a:p>
            <a:pPr marL="287020">
              <a:lnSpc>
                <a:spcPct val="100000"/>
              </a:lnSpc>
              <a:spcBef>
                <a:spcPts val="60"/>
              </a:spcBef>
            </a:pPr>
            <a:r>
              <a:rPr sz="2800" spc="-5" dirty="0">
                <a:latin typeface="Arial"/>
                <a:cs typeface="Arial"/>
              </a:rPr>
              <a:t>F=</a:t>
            </a:r>
            <a:r>
              <a:rPr sz="2800" spc="-5" dirty="0">
                <a:latin typeface="宋体"/>
                <a:cs typeface="宋体"/>
              </a:rPr>
              <a:t>∑</a:t>
            </a:r>
            <a:r>
              <a:rPr sz="2800" spc="-5" dirty="0">
                <a:latin typeface="Arial"/>
                <a:cs typeface="Arial"/>
              </a:rPr>
              <a:t>(1,3,6,7)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700">
              <a:latin typeface="Arial"/>
              <a:cs typeface="Arial"/>
            </a:endParaRPr>
          </a:p>
          <a:p>
            <a:pPr marL="3390265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Arial"/>
                <a:cs typeface="Arial"/>
              </a:rPr>
              <a:t>F=</a:t>
            </a:r>
            <a:r>
              <a:rPr sz="2800" spc="-5" dirty="0">
                <a:latin typeface="宋体"/>
                <a:cs typeface="宋体"/>
              </a:rPr>
              <a:t>∑</a:t>
            </a:r>
            <a:r>
              <a:rPr sz="2800" spc="-5" dirty="0">
                <a:latin typeface="Arial"/>
                <a:cs typeface="Arial"/>
              </a:rPr>
              <a:t>(1,3,6,7)=∏(1,3,6,7</a:t>
            </a:r>
            <a:r>
              <a:rPr sz="1800" spc="-5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10505" y="1341882"/>
            <a:ext cx="271780" cy="0"/>
          </a:xfrm>
          <a:custGeom>
            <a:avLst/>
            <a:gdLst/>
            <a:ahLst/>
            <a:cxnLst/>
            <a:rect l="l" t="t" r="r" b="b"/>
            <a:pathLst>
              <a:path w="271779">
                <a:moveTo>
                  <a:pt x="0" y="0"/>
                </a:moveTo>
                <a:lnTo>
                  <a:pt x="271399" y="0"/>
                </a:lnTo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3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3942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逻辑函数的化简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40" y="1076960"/>
            <a:ext cx="3703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Arial"/>
                <a:cs typeface="Arial"/>
              </a:rPr>
              <a:t>F=AB+AC+BC=AB+AC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696" y="4625162"/>
            <a:ext cx="3935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为什么要化简逻辑函数？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98498" y="1152905"/>
            <a:ext cx="216535" cy="0"/>
          </a:xfrm>
          <a:custGeom>
            <a:avLst/>
            <a:gdLst/>
            <a:ahLst/>
            <a:cxnLst/>
            <a:rect l="l" t="t" r="r" b="b"/>
            <a:pathLst>
              <a:path w="216535">
                <a:moveTo>
                  <a:pt x="0" y="0"/>
                </a:moveTo>
                <a:lnTo>
                  <a:pt x="21602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94510" y="1863089"/>
            <a:ext cx="466725" cy="425450"/>
          </a:xfrm>
          <a:custGeom>
            <a:avLst/>
            <a:gdLst/>
            <a:ahLst/>
            <a:cxnLst/>
            <a:rect l="l" t="t" r="r" b="b"/>
            <a:pathLst>
              <a:path w="466725" h="425450">
                <a:moveTo>
                  <a:pt x="0" y="0"/>
                </a:moveTo>
                <a:lnTo>
                  <a:pt x="233171" y="0"/>
                </a:lnTo>
                <a:lnTo>
                  <a:pt x="280164" y="4316"/>
                </a:lnTo>
                <a:lnTo>
                  <a:pt x="323933" y="16698"/>
                </a:lnTo>
                <a:lnTo>
                  <a:pt x="363540" y="36292"/>
                </a:lnTo>
                <a:lnTo>
                  <a:pt x="398049" y="62245"/>
                </a:lnTo>
                <a:lnTo>
                  <a:pt x="426522" y="93705"/>
                </a:lnTo>
                <a:lnTo>
                  <a:pt x="448020" y="129819"/>
                </a:lnTo>
                <a:lnTo>
                  <a:pt x="461606" y="169734"/>
                </a:lnTo>
                <a:lnTo>
                  <a:pt x="466344" y="212598"/>
                </a:lnTo>
                <a:lnTo>
                  <a:pt x="461606" y="255461"/>
                </a:lnTo>
                <a:lnTo>
                  <a:pt x="448020" y="295376"/>
                </a:lnTo>
                <a:lnTo>
                  <a:pt x="426522" y="331490"/>
                </a:lnTo>
                <a:lnTo>
                  <a:pt x="398049" y="362950"/>
                </a:lnTo>
                <a:lnTo>
                  <a:pt x="363540" y="388903"/>
                </a:lnTo>
                <a:lnTo>
                  <a:pt x="323933" y="408497"/>
                </a:lnTo>
                <a:lnTo>
                  <a:pt x="280164" y="420879"/>
                </a:lnTo>
                <a:lnTo>
                  <a:pt x="233171" y="425196"/>
                </a:lnTo>
                <a:lnTo>
                  <a:pt x="0" y="425196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85722" y="1956054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>
                <a:moveTo>
                  <a:pt x="0" y="0"/>
                </a:moveTo>
                <a:lnTo>
                  <a:pt x="20574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85722" y="2196845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>
                <a:moveTo>
                  <a:pt x="0" y="0"/>
                </a:moveTo>
                <a:lnTo>
                  <a:pt x="20574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9998" y="2059685"/>
            <a:ext cx="358140" cy="0"/>
          </a:xfrm>
          <a:custGeom>
            <a:avLst/>
            <a:gdLst/>
            <a:ahLst/>
            <a:cxnLst/>
            <a:rect l="l" t="t" r="r" b="b"/>
            <a:pathLst>
              <a:path w="358139">
                <a:moveTo>
                  <a:pt x="0" y="0"/>
                </a:moveTo>
                <a:lnTo>
                  <a:pt x="358139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28138" y="2853689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4">
                <a:moveTo>
                  <a:pt x="0" y="0"/>
                </a:moveTo>
                <a:lnTo>
                  <a:pt x="359663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78529" y="2737866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>
                <a:moveTo>
                  <a:pt x="0" y="0"/>
                </a:moveTo>
                <a:lnTo>
                  <a:pt x="207264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39083" y="2544266"/>
            <a:ext cx="212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08226" y="2497073"/>
            <a:ext cx="467995" cy="425450"/>
          </a:xfrm>
          <a:custGeom>
            <a:avLst/>
            <a:gdLst/>
            <a:ahLst/>
            <a:cxnLst/>
            <a:rect l="l" t="t" r="r" b="b"/>
            <a:pathLst>
              <a:path w="467994" h="425450">
                <a:moveTo>
                  <a:pt x="0" y="0"/>
                </a:moveTo>
                <a:lnTo>
                  <a:pt x="233934" y="0"/>
                </a:lnTo>
                <a:lnTo>
                  <a:pt x="281068" y="4316"/>
                </a:lnTo>
                <a:lnTo>
                  <a:pt x="324975" y="16698"/>
                </a:lnTo>
                <a:lnTo>
                  <a:pt x="364711" y="36292"/>
                </a:lnTo>
                <a:lnTo>
                  <a:pt x="399335" y="62245"/>
                </a:lnTo>
                <a:lnTo>
                  <a:pt x="427905" y="93705"/>
                </a:lnTo>
                <a:lnTo>
                  <a:pt x="449478" y="129819"/>
                </a:lnTo>
                <a:lnTo>
                  <a:pt x="463113" y="169734"/>
                </a:lnTo>
                <a:lnTo>
                  <a:pt x="467868" y="212598"/>
                </a:lnTo>
                <a:lnTo>
                  <a:pt x="463113" y="255461"/>
                </a:lnTo>
                <a:lnTo>
                  <a:pt x="449478" y="295376"/>
                </a:lnTo>
                <a:lnTo>
                  <a:pt x="427905" y="331490"/>
                </a:lnTo>
                <a:lnTo>
                  <a:pt x="399335" y="362950"/>
                </a:lnTo>
                <a:lnTo>
                  <a:pt x="364711" y="388903"/>
                </a:lnTo>
                <a:lnTo>
                  <a:pt x="324975" y="408497"/>
                </a:lnTo>
                <a:lnTo>
                  <a:pt x="281068" y="420879"/>
                </a:lnTo>
                <a:lnTo>
                  <a:pt x="233934" y="425196"/>
                </a:lnTo>
                <a:lnTo>
                  <a:pt x="0" y="425196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99438" y="2588514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>
                <a:moveTo>
                  <a:pt x="0" y="0"/>
                </a:moveTo>
                <a:lnTo>
                  <a:pt x="205739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99438" y="2830829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>
                <a:moveTo>
                  <a:pt x="0" y="0"/>
                </a:moveTo>
                <a:lnTo>
                  <a:pt x="205739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69998" y="2708910"/>
            <a:ext cx="789940" cy="0"/>
          </a:xfrm>
          <a:custGeom>
            <a:avLst/>
            <a:gdLst/>
            <a:ahLst/>
            <a:cxnLst/>
            <a:rect l="l" t="t" r="r" b="b"/>
            <a:pathLst>
              <a:path w="789939">
                <a:moveTo>
                  <a:pt x="0" y="0"/>
                </a:moveTo>
                <a:lnTo>
                  <a:pt x="789432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628138" y="2061210"/>
            <a:ext cx="0" cy="504825"/>
          </a:xfrm>
          <a:custGeom>
            <a:avLst/>
            <a:gdLst/>
            <a:ahLst/>
            <a:cxnLst/>
            <a:rect l="l" t="t" r="r" b="b"/>
            <a:pathLst>
              <a:path h="504825">
                <a:moveTo>
                  <a:pt x="0" y="0"/>
                </a:moveTo>
                <a:lnTo>
                  <a:pt x="0" y="504443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628138" y="2853689"/>
            <a:ext cx="0" cy="502920"/>
          </a:xfrm>
          <a:custGeom>
            <a:avLst/>
            <a:gdLst/>
            <a:ahLst/>
            <a:cxnLst/>
            <a:rect l="l" t="t" r="r" b="b"/>
            <a:pathLst>
              <a:path h="502920">
                <a:moveTo>
                  <a:pt x="0" y="0"/>
                </a:moveTo>
                <a:lnTo>
                  <a:pt x="0" y="50292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94510" y="3158489"/>
            <a:ext cx="466725" cy="425450"/>
          </a:xfrm>
          <a:custGeom>
            <a:avLst/>
            <a:gdLst/>
            <a:ahLst/>
            <a:cxnLst/>
            <a:rect l="l" t="t" r="r" b="b"/>
            <a:pathLst>
              <a:path w="466725" h="425450">
                <a:moveTo>
                  <a:pt x="0" y="0"/>
                </a:moveTo>
                <a:lnTo>
                  <a:pt x="233171" y="0"/>
                </a:lnTo>
                <a:lnTo>
                  <a:pt x="280164" y="4316"/>
                </a:lnTo>
                <a:lnTo>
                  <a:pt x="323933" y="16698"/>
                </a:lnTo>
                <a:lnTo>
                  <a:pt x="363540" y="36292"/>
                </a:lnTo>
                <a:lnTo>
                  <a:pt x="398049" y="62245"/>
                </a:lnTo>
                <a:lnTo>
                  <a:pt x="426522" y="93705"/>
                </a:lnTo>
                <a:lnTo>
                  <a:pt x="448020" y="129819"/>
                </a:lnTo>
                <a:lnTo>
                  <a:pt x="461606" y="169734"/>
                </a:lnTo>
                <a:lnTo>
                  <a:pt x="466344" y="212598"/>
                </a:lnTo>
                <a:lnTo>
                  <a:pt x="461606" y="255461"/>
                </a:lnTo>
                <a:lnTo>
                  <a:pt x="448020" y="295376"/>
                </a:lnTo>
                <a:lnTo>
                  <a:pt x="426522" y="331490"/>
                </a:lnTo>
                <a:lnTo>
                  <a:pt x="398049" y="362950"/>
                </a:lnTo>
                <a:lnTo>
                  <a:pt x="363540" y="388903"/>
                </a:lnTo>
                <a:lnTo>
                  <a:pt x="323933" y="408497"/>
                </a:lnTo>
                <a:lnTo>
                  <a:pt x="280164" y="420879"/>
                </a:lnTo>
                <a:lnTo>
                  <a:pt x="233171" y="425196"/>
                </a:lnTo>
                <a:lnTo>
                  <a:pt x="0" y="425196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85722" y="3251453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>
                <a:moveTo>
                  <a:pt x="0" y="0"/>
                </a:moveTo>
                <a:lnTo>
                  <a:pt x="20574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85722" y="3492246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>
                <a:moveTo>
                  <a:pt x="0" y="0"/>
                </a:moveTo>
                <a:lnTo>
                  <a:pt x="20574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69998" y="3356609"/>
            <a:ext cx="358140" cy="0"/>
          </a:xfrm>
          <a:custGeom>
            <a:avLst/>
            <a:gdLst/>
            <a:ahLst/>
            <a:cxnLst/>
            <a:rect l="l" t="t" r="r" b="b"/>
            <a:pathLst>
              <a:path w="358139">
                <a:moveTo>
                  <a:pt x="0" y="0"/>
                </a:moveTo>
                <a:lnTo>
                  <a:pt x="358139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319275" y="1678051"/>
            <a:ext cx="260350" cy="19761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 algn="just">
              <a:lnSpc>
                <a:spcPct val="86600"/>
              </a:lnSpc>
              <a:spcBef>
                <a:spcPts val="484"/>
              </a:spcBef>
            </a:pPr>
            <a:r>
              <a:rPr sz="2400" spc="-5" dirty="0">
                <a:latin typeface="Times New Roman"/>
                <a:cs typeface="Times New Roman"/>
              </a:rPr>
              <a:t>A 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 </a:t>
            </a:r>
            <a:r>
              <a:rPr sz="2400" spc="-5" dirty="0">
                <a:latin typeface="Times New Roman"/>
                <a:cs typeface="Times New Roman"/>
              </a:rPr>
              <a:t> A</a:t>
            </a:r>
            <a:endParaRPr sz="2400">
              <a:latin typeface="Times New Roman"/>
              <a:cs typeface="Times New Roman"/>
            </a:endParaRPr>
          </a:p>
          <a:p>
            <a:pPr marL="26670">
              <a:lnSpc>
                <a:spcPts val="2275"/>
              </a:lnSpc>
            </a:pP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80"/>
              </a:lnSpc>
              <a:spcBef>
                <a:spcPts val="55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80"/>
              </a:lnSpc>
            </a:pP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17698" y="2494026"/>
            <a:ext cx="556260" cy="486409"/>
          </a:xfrm>
          <a:custGeom>
            <a:avLst/>
            <a:gdLst/>
            <a:ahLst/>
            <a:cxnLst/>
            <a:rect l="l" t="t" r="r" b="b"/>
            <a:pathLst>
              <a:path w="556260" h="486410">
                <a:moveTo>
                  <a:pt x="0" y="486156"/>
                </a:moveTo>
                <a:lnTo>
                  <a:pt x="64871" y="484520"/>
                </a:lnTo>
                <a:lnTo>
                  <a:pt x="127545" y="479735"/>
                </a:lnTo>
                <a:lnTo>
                  <a:pt x="187603" y="471983"/>
                </a:lnTo>
                <a:lnTo>
                  <a:pt x="244628" y="461447"/>
                </a:lnTo>
                <a:lnTo>
                  <a:pt x="298204" y="448309"/>
                </a:lnTo>
                <a:lnTo>
                  <a:pt x="347911" y="432751"/>
                </a:lnTo>
                <a:lnTo>
                  <a:pt x="393334" y="414956"/>
                </a:lnTo>
                <a:lnTo>
                  <a:pt x="434055" y="395106"/>
                </a:lnTo>
                <a:lnTo>
                  <a:pt x="469656" y="373385"/>
                </a:lnTo>
                <a:lnTo>
                  <a:pt x="499720" y="349973"/>
                </a:lnTo>
                <a:lnTo>
                  <a:pt x="541568" y="298810"/>
                </a:lnTo>
                <a:lnTo>
                  <a:pt x="556260" y="243077"/>
                </a:lnTo>
                <a:lnTo>
                  <a:pt x="552517" y="214731"/>
                </a:lnTo>
                <a:lnTo>
                  <a:pt x="523830" y="161101"/>
                </a:lnTo>
                <a:lnTo>
                  <a:pt x="469656" y="112770"/>
                </a:lnTo>
                <a:lnTo>
                  <a:pt x="434055" y="91049"/>
                </a:lnTo>
                <a:lnTo>
                  <a:pt x="393334" y="71199"/>
                </a:lnTo>
                <a:lnTo>
                  <a:pt x="347911" y="53404"/>
                </a:lnTo>
                <a:lnTo>
                  <a:pt x="298204" y="37846"/>
                </a:lnTo>
                <a:lnTo>
                  <a:pt x="244628" y="24708"/>
                </a:lnTo>
                <a:lnTo>
                  <a:pt x="187603" y="14172"/>
                </a:lnTo>
                <a:lnTo>
                  <a:pt x="127545" y="6420"/>
                </a:lnTo>
                <a:lnTo>
                  <a:pt x="64871" y="1635"/>
                </a:lnTo>
                <a:lnTo>
                  <a:pt x="0" y="0"/>
                </a:lnTo>
                <a:lnTo>
                  <a:pt x="37576" y="35748"/>
                </a:lnTo>
                <a:lnTo>
                  <a:pt x="68891" y="72320"/>
                </a:lnTo>
                <a:lnTo>
                  <a:pt x="93942" y="109567"/>
                </a:lnTo>
                <a:lnTo>
                  <a:pt x="112730" y="147338"/>
                </a:lnTo>
                <a:lnTo>
                  <a:pt x="125256" y="185484"/>
                </a:lnTo>
                <a:lnTo>
                  <a:pt x="131519" y="223855"/>
                </a:lnTo>
                <a:lnTo>
                  <a:pt x="131519" y="262300"/>
                </a:lnTo>
                <a:lnTo>
                  <a:pt x="125256" y="300671"/>
                </a:lnTo>
                <a:lnTo>
                  <a:pt x="112730" y="338817"/>
                </a:lnTo>
                <a:lnTo>
                  <a:pt x="93942" y="376588"/>
                </a:lnTo>
                <a:lnTo>
                  <a:pt x="68891" y="413835"/>
                </a:lnTo>
                <a:lnTo>
                  <a:pt x="37576" y="450407"/>
                </a:lnTo>
                <a:lnTo>
                  <a:pt x="0" y="486156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28138" y="2565654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4">
                <a:moveTo>
                  <a:pt x="0" y="0"/>
                </a:moveTo>
                <a:lnTo>
                  <a:pt x="359663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395721" y="2007870"/>
            <a:ext cx="466725" cy="425450"/>
          </a:xfrm>
          <a:custGeom>
            <a:avLst/>
            <a:gdLst/>
            <a:ahLst/>
            <a:cxnLst/>
            <a:rect l="l" t="t" r="r" b="b"/>
            <a:pathLst>
              <a:path w="466725" h="425450">
                <a:moveTo>
                  <a:pt x="0" y="0"/>
                </a:moveTo>
                <a:lnTo>
                  <a:pt x="233172" y="0"/>
                </a:lnTo>
                <a:lnTo>
                  <a:pt x="280164" y="4316"/>
                </a:lnTo>
                <a:lnTo>
                  <a:pt x="323933" y="16698"/>
                </a:lnTo>
                <a:lnTo>
                  <a:pt x="363540" y="36292"/>
                </a:lnTo>
                <a:lnTo>
                  <a:pt x="398049" y="62245"/>
                </a:lnTo>
                <a:lnTo>
                  <a:pt x="426522" y="93705"/>
                </a:lnTo>
                <a:lnTo>
                  <a:pt x="448020" y="129819"/>
                </a:lnTo>
                <a:lnTo>
                  <a:pt x="461606" y="169734"/>
                </a:lnTo>
                <a:lnTo>
                  <a:pt x="466343" y="212597"/>
                </a:lnTo>
                <a:lnTo>
                  <a:pt x="461606" y="255461"/>
                </a:lnTo>
                <a:lnTo>
                  <a:pt x="448020" y="295376"/>
                </a:lnTo>
                <a:lnTo>
                  <a:pt x="426522" y="331490"/>
                </a:lnTo>
                <a:lnTo>
                  <a:pt x="398049" y="362950"/>
                </a:lnTo>
                <a:lnTo>
                  <a:pt x="363540" y="388903"/>
                </a:lnTo>
                <a:lnTo>
                  <a:pt x="323933" y="408497"/>
                </a:lnTo>
                <a:lnTo>
                  <a:pt x="280164" y="420879"/>
                </a:lnTo>
                <a:lnTo>
                  <a:pt x="233172" y="425195"/>
                </a:lnTo>
                <a:lnTo>
                  <a:pt x="0" y="425195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85409" y="2099310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>
                <a:moveTo>
                  <a:pt x="0" y="0"/>
                </a:moveTo>
                <a:lnTo>
                  <a:pt x="207263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85409" y="2341626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>
                <a:moveTo>
                  <a:pt x="0" y="0"/>
                </a:moveTo>
                <a:lnTo>
                  <a:pt x="207263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868161" y="2204466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0" y="0"/>
                </a:moveTo>
                <a:lnTo>
                  <a:pt x="359663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265926" y="2388870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>
                <a:moveTo>
                  <a:pt x="0" y="0"/>
                </a:moveTo>
                <a:lnTo>
                  <a:pt x="207263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265926" y="2629661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>
                <a:moveTo>
                  <a:pt x="0" y="0"/>
                </a:moveTo>
                <a:lnTo>
                  <a:pt x="207263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948678" y="2494026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>
                <a:moveTo>
                  <a:pt x="0" y="0"/>
                </a:moveTo>
                <a:lnTo>
                  <a:pt x="207264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297293" y="2255341"/>
            <a:ext cx="212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409438" y="2641854"/>
            <a:ext cx="466725" cy="425450"/>
          </a:xfrm>
          <a:custGeom>
            <a:avLst/>
            <a:gdLst/>
            <a:ahLst/>
            <a:cxnLst/>
            <a:rect l="l" t="t" r="r" b="b"/>
            <a:pathLst>
              <a:path w="466725" h="425450">
                <a:moveTo>
                  <a:pt x="0" y="0"/>
                </a:moveTo>
                <a:lnTo>
                  <a:pt x="233172" y="0"/>
                </a:lnTo>
                <a:lnTo>
                  <a:pt x="280164" y="4316"/>
                </a:lnTo>
                <a:lnTo>
                  <a:pt x="323933" y="16698"/>
                </a:lnTo>
                <a:lnTo>
                  <a:pt x="363540" y="36292"/>
                </a:lnTo>
                <a:lnTo>
                  <a:pt x="398049" y="62245"/>
                </a:lnTo>
                <a:lnTo>
                  <a:pt x="426522" y="93705"/>
                </a:lnTo>
                <a:lnTo>
                  <a:pt x="448020" y="129819"/>
                </a:lnTo>
                <a:lnTo>
                  <a:pt x="461606" y="169734"/>
                </a:lnTo>
                <a:lnTo>
                  <a:pt x="466344" y="212598"/>
                </a:lnTo>
                <a:lnTo>
                  <a:pt x="461606" y="255461"/>
                </a:lnTo>
                <a:lnTo>
                  <a:pt x="448020" y="295376"/>
                </a:lnTo>
                <a:lnTo>
                  <a:pt x="426522" y="331490"/>
                </a:lnTo>
                <a:lnTo>
                  <a:pt x="398049" y="362950"/>
                </a:lnTo>
                <a:lnTo>
                  <a:pt x="363540" y="388903"/>
                </a:lnTo>
                <a:lnTo>
                  <a:pt x="323933" y="408497"/>
                </a:lnTo>
                <a:lnTo>
                  <a:pt x="280164" y="420879"/>
                </a:lnTo>
                <a:lnTo>
                  <a:pt x="233172" y="425196"/>
                </a:lnTo>
                <a:lnTo>
                  <a:pt x="0" y="425196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199126" y="2733294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>
                <a:moveTo>
                  <a:pt x="0" y="0"/>
                </a:moveTo>
                <a:lnTo>
                  <a:pt x="207263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199126" y="2974085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>
                <a:moveTo>
                  <a:pt x="0" y="0"/>
                </a:moveTo>
                <a:lnTo>
                  <a:pt x="207263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68161" y="2852166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0" y="0"/>
                </a:moveTo>
                <a:lnTo>
                  <a:pt x="359663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920488" y="1893823"/>
            <a:ext cx="245745" cy="13138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algn="just">
              <a:lnSpc>
                <a:spcPct val="88500"/>
              </a:lnSpc>
              <a:spcBef>
                <a:spcPts val="430"/>
              </a:spcBef>
            </a:pPr>
            <a:r>
              <a:rPr sz="2400" spc="-5" dirty="0">
                <a:latin typeface="Times New Roman"/>
                <a:cs typeface="Times New Roman"/>
              </a:rPr>
              <a:t>A 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 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6670">
              <a:lnSpc>
                <a:spcPts val="2165"/>
              </a:lnSpc>
            </a:pP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230873" y="2204466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408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244590" y="2623566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408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372605" y="2276094"/>
            <a:ext cx="558165" cy="486409"/>
          </a:xfrm>
          <a:custGeom>
            <a:avLst/>
            <a:gdLst/>
            <a:ahLst/>
            <a:cxnLst/>
            <a:rect l="l" t="t" r="r" b="b"/>
            <a:pathLst>
              <a:path w="558165" h="486410">
                <a:moveTo>
                  <a:pt x="0" y="486155"/>
                </a:moveTo>
                <a:lnTo>
                  <a:pt x="65057" y="484520"/>
                </a:lnTo>
                <a:lnTo>
                  <a:pt x="127909" y="479735"/>
                </a:lnTo>
                <a:lnTo>
                  <a:pt x="188135" y="471983"/>
                </a:lnTo>
                <a:lnTo>
                  <a:pt x="245319" y="461447"/>
                </a:lnTo>
                <a:lnTo>
                  <a:pt x="299041" y="448309"/>
                </a:lnTo>
                <a:lnTo>
                  <a:pt x="348884" y="432751"/>
                </a:lnTo>
                <a:lnTo>
                  <a:pt x="394430" y="414956"/>
                </a:lnTo>
                <a:lnTo>
                  <a:pt x="435259" y="395106"/>
                </a:lnTo>
                <a:lnTo>
                  <a:pt x="470955" y="373385"/>
                </a:lnTo>
                <a:lnTo>
                  <a:pt x="501098" y="349973"/>
                </a:lnTo>
                <a:lnTo>
                  <a:pt x="543054" y="298810"/>
                </a:lnTo>
                <a:lnTo>
                  <a:pt x="557784" y="243077"/>
                </a:lnTo>
                <a:lnTo>
                  <a:pt x="554032" y="214731"/>
                </a:lnTo>
                <a:lnTo>
                  <a:pt x="525270" y="161101"/>
                </a:lnTo>
                <a:lnTo>
                  <a:pt x="470955" y="112770"/>
                </a:lnTo>
                <a:lnTo>
                  <a:pt x="435259" y="91049"/>
                </a:lnTo>
                <a:lnTo>
                  <a:pt x="394430" y="71199"/>
                </a:lnTo>
                <a:lnTo>
                  <a:pt x="348884" y="53404"/>
                </a:lnTo>
                <a:lnTo>
                  <a:pt x="299041" y="37846"/>
                </a:lnTo>
                <a:lnTo>
                  <a:pt x="245319" y="24708"/>
                </a:lnTo>
                <a:lnTo>
                  <a:pt x="188135" y="14172"/>
                </a:lnTo>
                <a:lnTo>
                  <a:pt x="127909" y="6420"/>
                </a:lnTo>
                <a:lnTo>
                  <a:pt x="65057" y="1635"/>
                </a:lnTo>
                <a:lnTo>
                  <a:pt x="0" y="0"/>
                </a:lnTo>
                <a:lnTo>
                  <a:pt x="37685" y="35748"/>
                </a:lnTo>
                <a:lnTo>
                  <a:pt x="69089" y="72320"/>
                </a:lnTo>
                <a:lnTo>
                  <a:pt x="94212" y="109567"/>
                </a:lnTo>
                <a:lnTo>
                  <a:pt x="113055" y="147338"/>
                </a:lnTo>
                <a:lnTo>
                  <a:pt x="125617" y="185484"/>
                </a:lnTo>
                <a:lnTo>
                  <a:pt x="131898" y="223855"/>
                </a:lnTo>
                <a:lnTo>
                  <a:pt x="131898" y="262300"/>
                </a:lnTo>
                <a:lnTo>
                  <a:pt x="125617" y="300671"/>
                </a:lnTo>
                <a:lnTo>
                  <a:pt x="113055" y="338817"/>
                </a:lnTo>
                <a:lnTo>
                  <a:pt x="94212" y="376588"/>
                </a:lnTo>
                <a:lnTo>
                  <a:pt x="69089" y="413835"/>
                </a:lnTo>
                <a:lnTo>
                  <a:pt x="37685" y="450407"/>
                </a:lnTo>
                <a:lnTo>
                  <a:pt x="0" y="486155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84853" y="1162050"/>
            <a:ext cx="216535" cy="0"/>
          </a:xfrm>
          <a:custGeom>
            <a:avLst/>
            <a:gdLst/>
            <a:ahLst/>
            <a:cxnLst/>
            <a:rect l="l" t="t" r="r" b="b"/>
            <a:pathLst>
              <a:path w="216535">
                <a:moveTo>
                  <a:pt x="0" y="0"/>
                </a:moveTo>
                <a:lnTo>
                  <a:pt x="216026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33450" y="5243321"/>
            <a:ext cx="2054860" cy="591820"/>
          </a:xfrm>
          <a:custGeom>
            <a:avLst/>
            <a:gdLst/>
            <a:ahLst/>
            <a:cxnLst/>
            <a:rect l="l" t="t" r="r" b="b"/>
            <a:pathLst>
              <a:path w="2054860" h="591820">
                <a:moveTo>
                  <a:pt x="0" y="98551"/>
                </a:moveTo>
                <a:lnTo>
                  <a:pt x="7744" y="60168"/>
                </a:lnTo>
                <a:lnTo>
                  <a:pt x="28863" y="28844"/>
                </a:lnTo>
                <a:lnTo>
                  <a:pt x="60189" y="7737"/>
                </a:lnTo>
                <a:lnTo>
                  <a:pt x="98552" y="0"/>
                </a:lnTo>
                <a:lnTo>
                  <a:pt x="1955800" y="0"/>
                </a:lnTo>
                <a:lnTo>
                  <a:pt x="1994183" y="7737"/>
                </a:lnTo>
                <a:lnTo>
                  <a:pt x="2025507" y="28844"/>
                </a:lnTo>
                <a:lnTo>
                  <a:pt x="2046614" y="60168"/>
                </a:lnTo>
                <a:lnTo>
                  <a:pt x="2054352" y="98551"/>
                </a:lnTo>
                <a:lnTo>
                  <a:pt x="2054352" y="492759"/>
                </a:lnTo>
                <a:lnTo>
                  <a:pt x="2046614" y="531122"/>
                </a:lnTo>
                <a:lnTo>
                  <a:pt x="2025507" y="562448"/>
                </a:lnTo>
                <a:lnTo>
                  <a:pt x="1994183" y="583567"/>
                </a:lnTo>
                <a:lnTo>
                  <a:pt x="1955800" y="591311"/>
                </a:lnTo>
                <a:lnTo>
                  <a:pt x="98552" y="591311"/>
                </a:lnTo>
                <a:lnTo>
                  <a:pt x="60189" y="583567"/>
                </a:lnTo>
                <a:lnTo>
                  <a:pt x="28863" y="562448"/>
                </a:lnTo>
                <a:lnTo>
                  <a:pt x="7744" y="531122"/>
                </a:lnTo>
                <a:lnTo>
                  <a:pt x="0" y="492759"/>
                </a:lnTo>
                <a:lnTo>
                  <a:pt x="0" y="98551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040688" y="5294172"/>
            <a:ext cx="180276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节省门电路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144773" y="5220461"/>
            <a:ext cx="2752725" cy="591820"/>
          </a:xfrm>
          <a:custGeom>
            <a:avLst/>
            <a:gdLst/>
            <a:ahLst/>
            <a:cxnLst/>
            <a:rect l="l" t="t" r="r" b="b"/>
            <a:pathLst>
              <a:path w="2752725" h="591820">
                <a:moveTo>
                  <a:pt x="0" y="98551"/>
                </a:moveTo>
                <a:lnTo>
                  <a:pt x="7737" y="60168"/>
                </a:lnTo>
                <a:lnTo>
                  <a:pt x="28844" y="28844"/>
                </a:lnTo>
                <a:lnTo>
                  <a:pt x="60168" y="7737"/>
                </a:lnTo>
                <a:lnTo>
                  <a:pt x="98551" y="0"/>
                </a:lnTo>
                <a:lnTo>
                  <a:pt x="2653791" y="0"/>
                </a:lnTo>
                <a:lnTo>
                  <a:pt x="2692175" y="7737"/>
                </a:lnTo>
                <a:lnTo>
                  <a:pt x="2723499" y="28844"/>
                </a:lnTo>
                <a:lnTo>
                  <a:pt x="2744606" y="60168"/>
                </a:lnTo>
                <a:lnTo>
                  <a:pt x="2752343" y="98551"/>
                </a:lnTo>
                <a:lnTo>
                  <a:pt x="2752343" y="492759"/>
                </a:lnTo>
                <a:lnTo>
                  <a:pt x="2744606" y="531122"/>
                </a:lnTo>
                <a:lnTo>
                  <a:pt x="2723499" y="562448"/>
                </a:lnTo>
                <a:lnTo>
                  <a:pt x="2692175" y="583567"/>
                </a:lnTo>
                <a:lnTo>
                  <a:pt x="2653791" y="591312"/>
                </a:lnTo>
                <a:lnTo>
                  <a:pt x="98551" y="591312"/>
                </a:lnTo>
                <a:lnTo>
                  <a:pt x="60168" y="583567"/>
                </a:lnTo>
                <a:lnTo>
                  <a:pt x="28844" y="562448"/>
                </a:lnTo>
                <a:lnTo>
                  <a:pt x="7737" y="531122"/>
                </a:lnTo>
                <a:lnTo>
                  <a:pt x="0" y="492759"/>
                </a:lnTo>
                <a:lnTo>
                  <a:pt x="0" y="98551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252596" y="5270398"/>
            <a:ext cx="2511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000FF"/>
                </a:solidFill>
                <a:latin typeface="微软雅黑"/>
                <a:cs typeface="微软雅黑"/>
              </a:rPr>
              <a:t>减少输入端数量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054090" y="5220461"/>
            <a:ext cx="2958465" cy="591820"/>
          </a:xfrm>
          <a:custGeom>
            <a:avLst/>
            <a:gdLst/>
            <a:ahLst/>
            <a:cxnLst/>
            <a:rect l="l" t="t" r="r" b="b"/>
            <a:pathLst>
              <a:path w="2958465" h="591820">
                <a:moveTo>
                  <a:pt x="0" y="98551"/>
                </a:moveTo>
                <a:lnTo>
                  <a:pt x="7737" y="60168"/>
                </a:lnTo>
                <a:lnTo>
                  <a:pt x="28844" y="28844"/>
                </a:lnTo>
                <a:lnTo>
                  <a:pt x="60168" y="7737"/>
                </a:lnTo>
                <a:lnTo>
                  <a:pt x="98551" y="0"/>
                </a:lnTo>
                <a:lnTo>
                  <a:pt x="2859532" y="0"/>
                </a:lnTo>
                <a:lnTo>
                  <a:pt x="2897915" y="7737"/>
                </a:lnTo>
                <a:lnTo>
                  <a:pt x="2929239" y="28844"/>
                </a:lnTo>
                <a:lnTo>
                  <a:pt x="2950346" y="60168"/>
                </a:lnTo>
                <a:lnTo>
                  <a:pt x="2958084" y="98551"/>
                </a:lnTo>
                <a:lnTo>
                  <a:pt x="2958084" y="492759"/>
                </a:lnTo>
                <a:lnTo>
                  <a:pt x="2950346" y="531122"/>
                </a:lnTo>
                <a:lnTo>
                  <a:pt x="2929239" y="562448"/>
                </a:lnTo>
                <a:lnTo>
                  <a:pt x="2897915" y="583567"/>
                </a:lnTo>
                <a:lnTo>
                  <a:pt x="2859532" y="591312"/>
                </a:lnTo>
                <a:lnTo>
                  <a:pt x="98551" y="591312"/>
                </a:lnTo>
                <a:lnTo>
                  <a:pt x="60168" y="583567"/>
                </a:lnTo>
                <a:lnTo>
                  <a:pt x="28844" y="562448"/>
                </a:lnTo>
                <a:lnTo>
                  <a:pt x="7737" y="531122"/>
                </a:lnTo>
                <a:lnTo>
                  <a:pt x="0" y="492759"/>
                </a:lnTo>
                <a:lnTo>
                  <a:pt x="0" y="98551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161659" y="5271008"/>
            <a:ext cx="2511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提高电路稳定性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7877" y="1860042"/>
            <a:ext cx="744220" cy="1062355"/>
          </a:xfrm>
          <a:custGeom>
            <a:avLst/>
            <a:gdLst/>
            <a:ahLst/>
            <a:cxnLst/>
            <a:rect l="l" t="t" r="r" b="b"/>
            <a:pathLst>
              <a:path w="744219" h="1062355">
                <a:moveTo>
                  <a:pt x="0" y="0"/>
                </a:moveTo>
                <a:lnTo>
                  <a:pt x="0" y="690372"/>
                </a:lnTo>
                <a:lnTo>
                  <a:pt x="371856" y="1062228"/>
                </a:lnTo>
                <a:lnTo>
                  <a:pt x="743712" y="690372"/>
                </a:lnTo>
                <a:lnTo>
                  <a:pt x="743712" y="371856"/>
                </a:lnTo>
                <a:lnTo>
                  <a:pt x="371856" y="371856"/>
                </a:lnTo>
                <a:lnTo>
                  <a:pt x="0" y="0"/>
                </a:lnTo>
                <a:close/>
              </a:path>
              <a:path w="744219" h="1062355">
                <a:moveTo>
                  <a:pt x="743712" y="0"/>
                </a:moveTo>
                <a:lnTo>
                  <a:pt x="371856" y="371856"/>
                </a:lnTo>
                <a:lnTo>
                  <a:pt x="743712" y="371856"/>
                </a:lnTo>
                <a:lnTo>
                  <a:pt x="74371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47877" y="1860042"/>
            <a:ext cx="744220" cy="1062355"/>
          </a:xfrm>
          <a:custGeom>
            <a:avLst/>
            <a:gdLst/>
            <a:ahLst/>
            <a:cxnLst/>
            <a:rect l="l" t="t" r="r" b="b"/>
            <a:pathLst>
              <a:path w="744219" h="1062355">
                <a:moveTo>
                  <a:pt x="743712" y="0"/>
                </a:moveTo>
                <a:lnTo>
                  <a:pt x="743712" y="690372"/>
                </a:lnTo>
                <a:lnTo>
                  <a:pt x="371856" y="1062228"/>
                </a:lnTo>
                <a:lnTo>
                  <a:pt x="0" y="690372"/>
                </a:lnTo>
                <a:lnTo>
                  <a:pt x="0" y="0"/>
                </a:lnTo>
                <a:lnTo>
                  <a:pt x="371856" y="371856"/>
                </a:lnTo>
                <a:lnTo>
                  <a:pt x="743712" y="0"/>
                </a:lnTo>
                <a:close/>
              </a:path>
            </a:pathLst>
          </a:custGeom>
          <a:ln w="25907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7880" y="2260473"/>
            <a:ext cx="2038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91589" y="1860042"/>
            <a:ext cx="7924800" cy="690880"/>
          </a:xfrm>
          <a:custGeom>
            <a:avLst/>
            <a:gdLst/>
            <a:ahLst/>
            <a:cxnLst/>
            <a:rect l="l" t="t" r="r" b="b"/>
            <a:pathLst>
              <a:path w="7924800" h="690880">
                <a:moveTo>
                  <a:pt x="7809737" y="0"/>
                </a:moveTo>
                <a:lnTo>
                  <a:pt x="0" y="0"/>
                </a:lnTo>
                <a:lnTo>
                  <a:pt x="0" y="690372"/>
                </a:lnTo>
                <a:lnTo>
                  <a:pt x="7809737" y="690372"/>
                </a:lnTo>
                <a:lnTo>
                  <a:pt x="7854505" y="681323"/>
                </a:lnTo>
                <a:lnTo>
                  <a:pt x="7891081" y="656653"/>
                </a:lnTo>
                <a:lnTo>
                  <a:pt x="7915751" y="620077"/>
                </a:lnTo>
                <a:lnTo>
                  <a:pt x="7924800" y="575310"/>
                </a:lnTo>
                <a:lnTo>
                  <a:pt x="7924800" y="115062"/>
                </a:lnTo>
                <a:lnTo>
                  <a:pt x="7915751" y="70294"/>
                </a:lnTo>
                <a:lnTo>
                  <a:pt x="7891081" y="33718"/>
                </a:lnTo>
                <a:lnTo>
                  <a:pt x="7854505" y="9048"/>
                </a:lnTo>
                <a:lnTo>
                  <a:pt x="7809737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91589" y="1860042"/>
            <a:ext cx="7924800" cy="690880"/>
          </a:xfrm>
          <a:custGeom>
            <a:avLst/>
            <a:gdLst/>
            <a:ahLst/>
            <a:cxnLst/>
            <a:rect l="l" t="t" r="r" b="b"/>
            <a:pathLst>
              <a:path w="7924800" h="690880">
                <a:moveTo>
                  <a:pt x="7924800" y="115062"/>
                </a:moveTo>
                <a:lnTo>
                  <a:pt x="7924800" y="575310"/>
                </a:lnTo>
                <a:lnTo>
                  <a:pt x="7915751" y="620077"/>
                </a:lnTo>
                <a:lnTo>
                  <a:pt x="7891081" y="656653"/>
                </a:lnTo>
                <a:lnTo>
                  <a:pt x="7854505" y="681323"/>
                </a:lnTo>
                <a:lnTo>
                  <a:pt x="7809737" y="690372"/>
                </a:lnTo>
                <a:lnTo>
                  <a:pt x="0" y="690372"/>
                </a:lnTo>
                <a:lnTo>
                  <a:pt x="0" y="0"/>
                </a:lnTo>
                <a:lnTo>
                  <a:pt x="7809737" y="0"/>
                </a:lnTo>
                <a:lnTo>
                  <a:pt x="7854505" y="9048"/>
                </a:lnTo>
                <a:lnTo>
                  <a:pt x="7891081" y="33718"/>
                </a:lnTo>
                <a:lnTo>
                  <a:pt x="7915751" y="70294"/>
                </a:lnTo>
                <a:lnTo>
                  <a:pt x="7924800" y="115062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7877" y="2804922"/>
            <a:ext cx="744220" cy="1064260"/>
          </a:xfrm>
          <a:custGeom>
            <a:avLst/>
            <a:gdLst/>
            <a:ahLst/>
            <a:cxnLst/>
            <a:rect l="l" t="t" r="r" b="b"/>
            <a:pathLst>
              <a:path w="744219" h="1064260">
                <a:moveTo>
                  <a:pt x="0" y="0"/>
                </a:moveTo>
                <a:lnTo>
                  <a:pt x="0" y="691895"/>
                </a:lnTo>
                <a:lnTo>
                  <a:pt x="371856" y="1063752"/>
                </a:lnTo>
                <a:lnTo>
                  <a:pt x="743712" y="691895"/>
                </a:lnTo>
                <a:lnTo>
                  <a:pt x="743712" y="371855"/>
                </a:lnTo>
                <a:lnTo>
                  <a:pt x="371856" y="371855"/>
                </a:lnTo>
                <a:lnTo>
                  <a:pt x="0" y="0"/>
                </a:lnTo>
                <a:close/>
              </a:path>
              <a:path w="744219" h="1064260">
                <a:moveTo>
                  <a:pt x="743712" y="0"/>
                </a:moveTo>
                <a:lnTo>
                  <a:pt x="371856" y="371855"/>
                </a:lnTo>
                <a:lnTo>
                  <a:pt x="743712" y="371855"/>
                </a:lnTo>
                <a:lnTo>
                  <a:pt x="74371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7877" y="2804922"/>
            <a:ext cx="744220" cy="1064260"/>
          </a:xfrm>
          <a:custGeom>
            <a:avLst/>
            <a:gdLst/>
            <a:ahLst/>
            <a:cxnLst/>
            <a:rect l="l" t="t" r="r" b="b"/>
            <a:pathLst>
              <a:path w="744219" h="1064260">
                <a:moveTo>
                  <a:pt x="743712" y="0"/>
                </a:moveTo>
                <a:lnTo>
                  <a:pt x="743712" y="691895"/>
                </a:lnTo>
                <a:lnTo>
                  <a:pt x="371856" y="1063752"/>
                </a:lnTo>
                <a:lnTo>
                  <a:pt x="0" y="691895"/>
                </a:lnTo>
                <a:lnTo>
                  <a:pt x="0" y="0"/>
                </a:lnTo>
                <a:lnTo>
                  <a:pt x="371856" y="371855"/>
                </a:lnTo>
                <a:lnTo>
                  <a:pt x="743712" y="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17880" y="3205988"/>
            <a:ext cx="2038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91589" y="2804922"/>
            <a:ext cx="7924800" cy="692150"/>
          </a:xfrm>
          <a:custGeom>
            <a:avLst/>
            <a:gdLst/>
            <a:ahLst/>
            <a:cxnLst/>
            <a:rect l="l" t="t" r="r" b="b"/>
            <a:pathLst>
              <a:path w="7924800" h="692150">
                <a:moveTo>
                  <a:pt x="7809483" y="0"/>
                </a:moveTo>
                <a:lnTo>
                  <a:pt x="0" y="0"/>
                </a:lnTo>
                <a:lnTo>
                  <a:pt x="0" y="691895"/>
                </a:lnTo>
                <a:lnTo>
                  <a:pt x="7809483" y="691895"/>
                </a:lnTo>
                <a:lnTo>
                  <a:pt x="7854344" y="682825"/>
                </a:lnTo>
                <a:lnTo>
                  <a:pt x="7891002" y="658098"/>
                </a:lnTo>
                <a:lnTo>
                  <a:pt x="7915729" y="621440"/>
                </a:lnTo>
                <a:lnTo>
                  <a:pt x="7924800" y="576579"/>
                </a:lnTo>
                <a:lnTo>
                  <a:pt x="7924800" y="115315"/>
                </a:lnTo>
                <a:lnTo>
                  <a:pt x="7915729" y="70455"/>
                </a:lnTo>
                <a:lnTo>
                  <a:pt x="7891002" y="33797"/>
                </a:lnTo>
                <a:lnTo>
                  <a:pt x="7854344" y="9070"/>
                </a:lnTo>
                <a:lnTo>
                  <a:pt x="7809483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91589" y="2804922"/>
            <a:ext cx="7924800" cy="692150"/>
          </a:xfrm>
          <a:custGeom>
            <a:avLst/>
            <a:gdLst/>
            <a:ahLst/>
            <a:cxnLst/>
            <a:rect l="l" t="t" r="r" b="b"/>
            <a:pathLst>
              <a:path w="7924800" h="692150">
                <a:moveTo>
                  <a:pt x="7924800" y="115315"/>
                </a:moveTo>
                <a:lnTo>
                  <a:pt x="7924800" y="576579"/>
                </a:lnTo>
                <a:lnTo>
                  <a:pt x="7915729" y="621440"/>
                </a:lnTo>
                <a:lnTo>
                  <a:pt x="7891002" y="658098"/>
                </a:lnTo>
                <a:lnTo>
                  <a:pt x="7854344" y="682825"/>
                </a:lnTo>
                <a:lnTo>
                  <a:pt x="7809483" y="691895"/>
                </a:lnTo>
                <a:lnTo>
                  <a:pt x="0" y="691895"/>
                </a:lnTo>
                <a:lnTo>
                  <a:pt x="0" y="0"/>
                </a:lnTo>
                <a:lnTo>
                  <a:pt x="7809483" y="0"/>
                </a:lnTo>
                <a:lnTo>
                  <a:pt x="7854344" y="9070"/>
                </a:lnTo>
                <a:lnTo>
                  <a:pt x="7891002" y="33797"/>
                </a:lnTo>
                <a:lnTo>
                  <a:pt x="7915729" y="70455"/>
                </a:lnTo>
                <a:lnTo>
                  <a:pt x="7924800" y="115315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85138" y="2891789"/>
            <a:ext cx="515747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  <a:tab pos="299720" algn="l"/>
              </a:tabLst>
            </a:pPr>
            <a:r>
              <a:rPr sz="29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900" dirty="0">
                <a:solidFill>
                  <a:srgbClr val="0000FF"/>
                </a:solidFill>
                <a:latin typeface="微软雅黑"/>
                <a:cs typeface="微软雅黑"/>
              </a:rPr>
              <a:t>或与</a:t>
            </a:r>
            <a:r>
              <a:rPr sz="29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900" dirty="0">
                <a:solidFill>
                  <a:srgbClr val="0000FF"/>
                </a:solidFill>
                <a:latin typeface="微软雅黑"/>
                <a:cs typeface="微软雅黑"/>
              </a:rPr>
              <a:t>表达式：</a:t>
            </a:r>
            <a:r>
              <a:rPr sz="2900" dirty="0">
                <a:solidFill>
                  <a:srgbClr val="0000FF"/>
                </a:solidFill>
                <a:latin typeface="Arial"/>
                <a:cs typeface="Arial"/>
              </a:rPr>
              <a:t>F=(A+B)(C+D)</a:t>
            </a:r>
            <a:endParaRPr sz="29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7877" y="3751326"/>
            <a:ext cx="744220" cy="1062355"/>
          </a:xfrm>
          <a:custGeom>
            <a:avLst/>
            <a:gdLst/>
            <a:ahLst/>
            <a:cxnLst/>
            <a:rect l="l" t="t" r="r" b="b"/>
            <a:pathLst>
              <a:path w="744219" h="1062354">
                <a:moveTo>
                  <a:pt x="0" y="0"/>
                </a:moveTo>
                <a:lnTo>
                  <a:pt x="0" y="690372"/>
                </a:lnTo>
                <a:lnTo>
                  <a:pt x="371856" y="1062228"/>
                </a:lnTo>
                <a:lnTo>
                  <a:pt x="743712" y="690372"/>
                </a:lnTo>
                <a:lnTo>
                  <a:pt x="743712" y="371856"/>
                </a:lnTo>
                <a:lnTo>
                  <a:pt x="371856" y="371856"/>
                </a:lnTo>
                <a:lnTo>
                  <a:pt x="0" y="0"/>
                </a:lnTo>
                <a:close/>
              </a:path>
              <a:path w="744219" h="1062354">
                <a:moveTo>
                  <a:pt x="743712" y="0"/>
                </a:moveTo>
                <a:lnTo>
                  <a:pt x="371856" y="371856"/>
                </a:lnTo>
                <a:lnTo>
                  <a:pt x="743712" y="371856"/>
                </a:lnTo>
                <a:lnTo>
                  <a:pt x="74371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7877" y="3751326"/>
            <a:ext cx="744220" cy="1062355"/>
          </a:xfrm>
          <a:custGeom>
            <a:avLst/>
            <a:gdLst/>
            <a:ahLst/>
            <a:cxnLst/>
            <a:rect l="l" t="t" r="r" b="b"/>
            <a:pathLst>
              <a:path w="744219" h="1062354">
                <a:moveTo>
                  <a:pt x="743712" y="0"/>
                </a:moveTo>
                <a:lnTo>
                  <a:pt x="743712" y="690372"/>
                </a:lnTo>
                <a:lnTo>
                  <a:pt x="371856" y="1062228"/>
                </a:lnTo>
                <a:lnTo>
                  <a:pt x="0" y="690372"/>
                </a:lnTo>
                <a:lnTo>
                  <a:pt x="0" y="0"/>
                </a:lnTo>
                <a:lnTo>
                  <a:pt x="371856" y="371856"/>
                </a:lnTo>
                <a:lnTo>
                  <a:pt x="743712" y="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7880" y="4151198"/>
            <a:ext cx="2044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91589" y="3751326"/>
            <a:ext cx="7924800" cy="690880"/>
          </a:xfrm>
          <a:custGeom>
            <a:avLst/>
            <a:gdLst/>
            <a:ahLst/>
            <a:cxnLst/>
            <a:rect l="l" t="t" r="r" b="b"/>
            <a:pathLst>
              <a:path w="7924800" h="690879">
                <a:moveTo>
                  <a:pt x="7809737" y="0"/>
                </a:moveTo>
                <a:lnTo>
                  <a:pt x="0" y="0"/>
                </a:lnTo>
                <a:lnTo>
                  <a:pt x="0" y="690372"/>
                </a:lnTo>
                <a:lnTo>
                  <a:pt x="7809737" y="690372"/>
                </a:lnTo>
                <a:lnTo>
                  <a:pt x="7854505" y="681323"/>
                </a:lnTo>
                <a:lnTo>
                  <a:pt x="7891081" y="656653"/>
                </a:lnTo>
                <a:lnTo>
                  <a:pt x="7915751" y="620077"/>
                </a:lnTo>
                <a:lnTo>
                  <a:pt x="7924800" y="575310"/>
                </a:lnTo>
                <a:lnTo>
                  <a:pt x="7924800" y="115062"/>
                </a:lnTo>
                <a:lnTo>
                  <a:pt x="7915751" y="70294"/>
                </a:lnTo>
                <a:lnTo>
                  <a:pt x="7891081" y="33718"/>
                </a:lnTo>
                <a:lnTo>
                  <a:pt x="7854505" y="9048"/>
                </a:lnTo>
                <a:lnTo>
                  <a:pt x="7809737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91589" y="3751326"/>
            <a:ext cx="7924800" cy="690880"/>
          </a:xfrm>
          <a:custGeom>
            <a:avLst/>
            <a:gdLst/>
            <a:ahLst/>
            <a:cxnLst/>
            <a:rect l="l" t="t" r="r" b="b"/>
            <a:pathLst>
              <a:path w="7924800" h="690879">
                <a:moveTo>
                  <a:pt x="7924800" y="115062"/>
                </a:moveTo>
                <a:lnTo>
                  <a:pt x="7924800" y="575310"/>
                </a:lnTo>
                <a:lnTo>
                  <a:pt x="7915751" y="620077"/>
                </a:lnTo>
                <a:lnTo>
                  <a:pt x="7891081" y="656653"/>
                </a:lnTo>
                <a:lnTo>
                  <a:pt x="7854505" y="681323"/>
                </a:lnTo>
                <a:lnTo>
                  <a:pt x="7809737" y="690372"/>
                </a:lnTo>
                <a:lnTo>
                  <a:pt x="0" y="690372"/>
                </a:lnTo>
                <a:lnTo>
                  <a:pt x="0" y="0"/>
                </a:lnTo>
                <a:lnTo>
                  <a:pt x="7809737" y="0"/>
                </a:lnTo>
                <a:lnTo>
                  <a:pt x="7854505" y="9048"/>
                </a:lnTo>
                <a:lnTo>
                  <a:pt x="7891081" y="33718"/>
                </a:lnTo>
                <a:lnTo>
                  <a:pt x="7915751" y="70294"/>
                </a:lnTo>
                <a:lnTo>
                  <a:pt x="7924800" y="115062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485138" y="3836873"/>
            <a:ext cx="519493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  <a:tab pos="299720" algn="l"/>
              </a:tabLst>
            </a:pPr>
            <a:r>
              <a:rPr sz="29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900" dirty="0">
                <a:solidFill>
                  <a:srgbClr val="0000FF"/>
                </a:solidFill>
                <a:latin typeface="微软雅黑"/>
                <a:cs typeface="微软雅黑"/>
              </a:rPr>
              <a:t>与非</a:t>
            </a:r>
            <a:r>
              <a:rPr sz="2900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2900" spc="5" dirty="0">
                <a:solidFill>
                  <a:srgbClr val="0000FF"/>
                </a:solidFill>
                <a:latin typeface="微软雅黑"/>
                <a:cs typeface="微软雅黑"/>
              </a:rPr>
              <a:t>与</a:t>
            </a:r>
            <a:r>
              <a:rPr sz="2900" dirty="0">
                <a:solidFill>
                  <a:srgbClr val="0000FF"/>
                </a:solidFill>
                <a:latin typeface="微软雅黑"/>
                <a:cs typeface="微软雅黑"/>
              </a:rPr>
              <a:t>非</a:t>
            </a:r>
            <a:r>
              <a:rPr sz="29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900" spc="5" dirty="0">
                <a:solidFill>
                  <a:srgbClr val="0000FF"/>
                </a:solidFill>
                <a:latin typeface="微软雅黑"/>
                <a:cs typeface="微软雅黑"/>
              </a:rPr>
              <a:t>表</a:t>
            </a:r>
            <a:r>
              <a:rPr sz="2900" spc="-15" dirty="0">
                <a:solidFill>
                  <a:srgbClr val="0000FF"/>
                </a:solidFill>
                <a:latin typeface="微软雅黑"/>
                <a:cs typeface="微软雅黑"/>
              </a:rPr>
              <a:t>达</a:t>
            </a:r>
            <a:r>
              <a:rPr sz="2900" spc="5" dirty="0">
                <a:solidFill>
                  <a:srgbClr val="0000FF"/>
                </a:solidFill>
                <a:latin typeface="微软雅黑"/>
                <a:cs typeface="微软雅黑"/>
              </a:rPr>
              <a:t>式</a:t>
            </a:r>
            <a:r>
              <a:rPr sz="2900" dirty="0">
                <a:solidFill>
                  <a:srgbClr val="0000FF"/>
                </a:solidFill>
                <a:latin typeface="微软雅黑"/>
                <a:cs typeface="微软雅黑"/>
              </a:rPr>
              <a:t>：</a:t>
            </a:r>
            <a:r>
              <a:rPr sz="2900" dirty="0">
                <a:solidFill>
                  <a:srgbClr val="0000FF"/>
                </a:solidFill>
                <a:latin typeface="Arial"/>
                <a:cs typeface="Arial"/>
              </a:rPr>
              <a:t>F=AB</a:t>
            </a:r>
            <a:r>
              <a:rPr sz="2900"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0000FF"/>
                </a:solidFill>
                <a:latin typeface="Arial"/>
                <a:cs typeface="Arial"/>
              </a:rPr>
              <a:t>CD</a:t>
            </a:r>
            <a:endParaRPr sz="29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47877" y="4696205"/>
            <a:ext cx="744220" cy="1064260"/>
          </a:xfrm>
          <a:custGeom>
            <a:avLst/>
            <a:gdLst/>
            <a:ahLst/>
            <a:cxnLst/>
            <a:rect l="l" t="t" r="r" b="b"/>
            <a:pathLst>
              <a:path w="744219" h="1064260">
                <a:moveTo>
                  <a:pt x="0" y="0"/>
                </a:moveTo>
                <a:lnTo>
                  <a:pt x="0" y="691896"/>
                </a:lnTo>
                <a:lnTo>
                  <a:pt x="371856" y="1063752"/>
                </a:lnTo>
                <a:lnTo>
                  <a:pt x="743712" y="691896"/>
                </a:lnTo>
                <a:lnTo>
                  <a:pt x="743712" y="371856"/>
                </a:lnTo>
                <a:lnTo>
                  <a:pt x="371856" y="371856"/>
                </a:lnTo>
                <a:lnTo>
                  <a:pt x="0" y="0"/>
                </a:lnTo>
                <a:close/>
              </a:path>
              <a:path w="744219" h="1064260">
                <a:moveTo>
                  <a:pt x="743712" y="0"/>
                </a:moveTo>
                <a:lnTo>
                  <a:pt x="371856" y="371856"/>
                </a:lnTo>
                <a:lnTo>
                  <a:pt x="743712" y="371856"/>
                </a:lnTo>
                <a:lnTo>
                  <a:pt x="74371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47877" y="4696205"/>
            <a:ext cx="744220" cy="1064260"/>
          </a:xfrm>
          <a:custGeom>
            <a:avLst/>
            <a:gdLst/>
            <a:ahLst/>
            <a:cxnLst/>
            <a:rect l="l" t="t" r="r" b="b"/>
            <a:pathLst>
              <a:path w="744219" h="1064260">
                <a:moveTo>
                  <a:pt x="743712" y="0"/>
                </a:moveTo>
                <a:lnTo>
                  <a:pt x="743712" y="691896"/>
                </a:lnTo>
                <a:lnTo>
                  <a:pt x="371856" y="1063752"/>
                </a:lnTo>
                <a:lnTo>
                  <a:pt x="0" y="691896"/>
                </a:lnTo>
                <a:lnTo>
                  <a:pt x="0" y="0"/>
                </a:lnTo>
                <a:lnTo>
                  <a:pt x="371856" y="371856"/>
                </a:lnTo>
                <a:lnTo>
                  <a:pt x="743712" y="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17880" y="5097272"/>
            <a:ext cx="2038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91589" y="4696205"/>
            <a:ext cx="7924800" cy="690880"/>
          </a:xfrm>
          <a:custGeom>
            <a:avLst/>
            <a:gdLst/>
            <a:ahLst/>
            <a:cxnLst/>
            <a:rect l="l" t="t" r="r" b="b"/>
            <a:pathLst>
              <a:path w="7924800" h="690879">
                <a:moveTo>
                  <a:pt x="7809737" y="0"/>
                </a:moveTo>
                <a:lnTo>
                  <a:pt x="0" y="0"/>
                </a:lnTo>
                <a:lnTo>
                  <a:pt x="0" y="690372"/>
                </a:lnTo>
                <a:lnTo>
                  <a:pt x="7809737" y="690372"/>
                </a:lnTo>
                <a:lnTo>
                  <a:pt x="7854505" y="681323"/>
                </a:lnTo>
                <a:lnTo>
                  <a:pt x="7891081" y="656653"/>
                </a:lnTo>
                <a:lnTo>
                  <a:pt x="7915751" y="620077"/>
                </a:lnTo>
                <a:lnTo>
                  <a:pt x="7924800" y="575310"/>
                </a:lnTo>
                <a:lnTo>
                  <a:pt x="7924800" y="115062"/>
                </a:lnTo>
                <a:lnTo>
                  <a:pt x="7915751" y="70294"/>
                </a:lnTo>
                <a:lnTo>
                  <a:pt x="7891081" y="33718"/>
                </a:lnTo>
                <a:lnTo>
                  <a:pt x="7854505" y="9048"/>
                </a:lnTo>
                <a:lnTo>
                  <a:pt x="7809737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91589" y="4696205"/>
            <a:ext cx="7924800" cy="690880"/>
          </a:xfrm>
          <a:custGeom>
            <a:avLst/>
            <a:gdLst/>
            <a:ahLst/>
            <a:cxnLst/>
            <a:rect l="l" t="t" r="r" b="b"/>
            <a:pathLst>
              <a:path w="7924800" h="690879">
                <a:moveTo>
                  <a:pt x="7924800" y="115062"/>
                </a:moveTo>
                <a:lnTo>
                  <a:pt x="7924800" y="575310"/>
                </a:lnTo>
                <a:lnTo>
                  <a:pt x="7915751" y="620077"/>
                </a:lnTo>
                <a:lnTo>
                  <a:pt x="7891081" y="656653"/>
                </a:lnTo>
                <a:lnTo>
                  <a:pt x="7854505" y="681323"/>
                </a:lnTo>
                <a:lnTo>
                  <a:pt x="7809737" y="690372"/>
                </a:lnTo>
                <a:lnTo>
                  <a:pt x="0" y="690372"/>
                </a:lnTo>
                <a:lnTo>
                  <a:pt x="0" y="0"/>
                </a:lnTo>
                <a:lnTo>
                  <a:pt x="7809737" y="0"/>
                </a:lnTo>
                <a:lnTo>
                  <a:pt x="7854505" y="9048"/>
                </a:lnTo>
                <a:lnTo>
                  <a:pt x="7891081" y="33718"/>
                </a:lnTo>
                <a:lnTo>
                  <a:pt x="7915751" y="70294"/>
                </a:lnTo>
                <a:lnTo>
                  <a:pt x="7924800" y="115062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485138" y="4783073"/>
            <a:ext cx="574230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29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900" dirty="0">
                <a:solidFill>
                  <a:srgbClr val="0000FF"/>
                </a:solidFill>
                <a:latin typeface="微软雅黑"/>
                <a:cs typeface="微软雅黑"/>
              </a:rPr>
              <a:t>或非</a:t>
            </a:r>
            <a:r>
              <a:rPr sz="2900" spc="5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2900" dirty="0">
                <a:solidFill>
                  <a:srgbClr val="0000FF"/>
                </a:solidFill>
                <a:latin typeface="微软雅黑"/>
                <a:cs typeface="微软雅黑"/>
              </a:rPr>
              <a:t>或</a:t>
            </a:r>
            <a:r>
              <a:rPr sz="2900" spc="-5" dirty="0">
                <a:solidFill>
                  <a:srgbClr val="0000FF"/>
                </a:solidFill>
                <a:latin typeface="微软雅黑"/>
                <a:cs typeface="微软雅黑"/>
              </a:rPr>
              <a:t>非</a:t>
            </a:r>
            <a:r>
              <a:rPr sz="29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900" dirty="0">
                <a:solidFill>
                  <a:srgbClr val="0000FF"/>
                </a:solidFill>
                <a:latin typeface="微软雅黑"/>
                <a:cs typeface="微软雅黑"/>
              </a:rPr>
              <a:t>表</a:t>
            </a:r>
            <a:r>
              <a:rPr sz="2900" spc="-15" dirty="0">
                <a:solidFill>
                  <a:srgbClr val="0000FF"/>
                </a:solidFill>
                <a:latin typeface="微软雅黑"/>
                <a:cs typeface="微软雅黑"/>
              </a:rPr>
              <a:t>达</a:t>
            </a:r>
            <a:r>
              <a:rPr sz="2900" dirty="0">
                <a:solidFill>
                  <a:srgbClr val="0000FF"/>
                </a:solidFill>
                <a:latin typeface="微软雅黑"/>
                <a:cs typeface="微软雅黑"/>
              </a:rPr>
              <a:t>式：</a:t>
            </a:r>
            <a:r>
              <a:rPr sz="2900" dirty="0">
                <a:solidFill>
                  <a:srgbClr val="0000FF"/>
                </a:solidFill>
                <a:latin typeface="Arial"/>
                <a:cs typeface="Arial"/>
              </a:rPr>
              <a:t>F=A+B+C+D</a:t>
            </a:r>
            <a:endParaRPr sz="2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47877" y="5641085"/>
            <a:ext cx="744220" cy="1064260"/>
          </a:xfrm>
          <a:custGeom>
            <a:avLst/>
            <a:gdLst/>
            <a:ahLst/>
            <a:cxnLst/>
            <a:rect l="l" t="t" r="r" b="b"/>
            <a:pathLst>
              <a:path w="744219" h="1064259">
                <a:moveTo>
                  <a:pt x="0" y="0"/>
                </a:moveTo>
                <a:lnTo>
                  <a:pt x="0" y="691895"/>
                </a:lnTo>
                <a:lnTo>
                  <a:pt x="371856" y="1063752"/>
                </a:lnTo>
                <a:lnTo>
                  <a:pt x="743712" y="691895"/>
                </a:lnTo>
                <a:lnTo>
                  <a:pt x="743712" y="371855"/>
                </a:lnTo>
                <a:lnTo>
                  <a:pt x="371856" y="371855"/>
                </a:lnTo>
                <a:lnTo>
                  <a:pt x="0" y="0"/>
                </a:lnTo>
                <a:close/>
              </a:path>
              <a:path w="744219" h="1064259">
                <a:moveTo>
                  <a:pt x="743712" y="0"/>
                </a:moveTo>
                <a:lnTo>
                  <a:pt x="371856" y="371855"/>
                </a:lnTo>
                <a:lnTo>
                  <a:pt x="743712" y="371855"/>
                </a:lnTo>
                <a:lnTo>
                  <a:pt x="74371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7877" y="5641085"/>
            <a:ext cx="744220" cy="1064260"/>
          </a:xfrm>
          <a:custGeom>
            <a:avLst/>
            <a:gdLst/>
            <a:ahLst/>
            <a:cxnLst/>
            <a:rect l="l" t="t" r="r" b="b"/>
            <a:pathLst>
              <a:path w="744219" h="1064259">
                <a:moveTo>
                  <a:pt x="743712" y="0"/>
                </a:moveTo>
                <a:lnTo>
                  <a:pt x="743712" y="691895"/>
                </a:lnTo>
                <a:lnTo>
                  <a:pt x="371856" y="1063752"/>
                </a:lnTo>
                <a:lnTo>
                  <a:pt x="0" y="691895"/>
                </a:lnTo>
                <a:lnTo>
                  <a:pt x="0" y="0"/>
                </a:lnTo>
                <a:lnTo>
                  <a:pt x="371856" y="371855"/>
                </a:lnTo>
                <a:lnTo>
                  <a:pt x="743712" y="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17880" y="6042761"/>
            <a:ext cx="2038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291589" y="5641085"/>
            <a:ext cx="7924800" cy="692150"/>
          </a:xfrm>
          <a:custGeom>
            <a:avLst/>
            <a:gdLst/>
            <a:ahLst/>
            <a:cxnLst/>
            <a:rect l="l" t="t" r="r" b="b"/>
            <a:pathLst>
              <a:path w="7924800" h="692150">
                <a:moveTo>
                  <a:pt x="7809483" y="0"/>
                </a:moveTo>
                <a:lnTo>
                  <a:pt x="0" y="0"/>
                </a:lnTo>
                <a:lnTo>
                  <a:pt x="0" y="691895"/>
                </a:lnTo>
                <a:lnTo>
                  <a:pt x="7809483" y="691895"/>
                </a:lnTo>
                <a:lnTo>
                  <a:pt x="7854344" y="682834"/>
                </a:lnTo>
                <a:lnTo>
                  <a:pt x="7891002" y="658121"/>
                </a:lnTo>
                <a:lnTo>
                  <a:pt x="7915729" y="621467"/>
                </a:lnTo>
                <a:lnTo>
                  <a:pt x="7924800" y="576579"/>
                </a:lnTo>
                <a:lnTo>
                  <a:pt x="7924800" y="115315"/>
                </a:lnTo>
                <a:lnTo>
                  <a:pt x="7915729" y="70428"/>
                </a:lnTo>
                <a:lnTo>
                  <a:pt x="7891002" y="33774"/>
                </a:lnTo>
                <a:lnTo>
                  <a:pt x="7854344" y="9061"/>
                </a:lnTo>
                <a:lnTo>
                  <a:pt x="7809483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291589" y="5641085"/>
            <a:ext cx="7924800" cy="692150"/>
          </a:xfrm>
          <a:custGeom>
            <a:avLst/>
            <a:gdLst/>
            <a:ahLst/>
            <a:cxnLst/>
            <a:rect l="l" t="t" r="r" b="b"/>
            <a:pathLst>
              <a:path w="7924800" h="692150">
                <a:moveTo>
                  <a:pt x="7924800" y="115315"/>
                </a:moveTo>
                <a:lnTo>
                  <a:pt x="7924800" y="576579"/>
                </a:lnTo>
                <a:lnTo>
                  <a:pt x="7915729" y="621467"/>
                </a:lnTo>
                <a:lnTo>
                  <a:pt x="7891002" y="658121"/>
                </a:lnTo>
                <a:lnTo>
                  <a:pt x="7854344" y="682834"/>
                </a:lnTo>
                <a:lnTo>
                  <a:pt x="7809483" y="691895"/>
                </a:lnTo>
                <a:lnTo>
                  <a:pt x="0" y="691895"/>
                </a:lnTo>
                <a:lnTo>
                  <a:pt x="0" y="0"/>
                </a:lnTo>
                <a:lnTo>
                  <a:pt x="7809483" y="0"/>
                </a:lnTo>
                <a:lnTo>
                  <a:pt x="7854344" y="9061"/>
                </a:lnTo>
                <a:lnTo>
                  <a:pt x="7891002" y="33774"/>
                </a:lnTo>
                <a:lnTo>
                  <a:pt x="7915729" y="70428"/>
                </a:lnTo>
                <a:lnTo>
                  <a:pt x="7924800" y="115315"/>
                </a:lnTo>
                <a:close/>
              </a:path>
            </a:pathLst>
          </a:custGeom>
          <a:ln w="25907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485138" y="5728512"/>
            <a:ext cx="481774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29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900" dirty="0">
                <a:solidFill>
                  <a:srgbClr val="0000FF"/>
                </a:solidFill>
                <a:latin typeface="微软雅黑"/>
                <a:cs typeface="微软雅黑"/>
              </a:rPr>
              <a:t>与或非</a:t>
            </a:r>
            <a:r>
              <a:rPr sz="2900" spc="5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900" dirty="0">
                <a:solidFill>
                  <a:srgbClr val="0000FF"/>
                </a:solidFill>
                <a:latin typeface="微软雅黑"/>
                <a:cs typeface="微软雅黑"/>
              </a:rPr>
              <a:t>表达式</a:t>
            </a:r>
            <a:r>
              <a:rPr sz="2900" spc="-5" dirty="0">
                <a:solidFill>
                  <a:srgbClr val="0000FF"/>
                </a:solidFill>
                <a:latin typeface="微软雅黑"/>
                <a:cs typeface="微软雅黑"/>
              </a:rPr>
              <a:t>：</a:t>
            </a:r>
            <a:r>
              <a:rPr sz="2900" spc="-5" dirty="0">
                <a:solidFill>
                  <a:srgbClr val="0000FF"/>
                </a:solidFill>
                <a:latin typeface="Arial"/>
                <a:cs typeface="Arial"/>
              </a:rPr>
              <a:t>F=AB+CD</a:t>
            </a:r>
            <a:endParaRPr sz="29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39535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5" dirty="0">
                <a:latin typeface="宋体"/>
                <a:cs typeface="宋体"/>
              </a:rPr>
              <a:t>逻辑函数的化简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74040" y="1202893"/>
            <a:ext cx="5342255" cy="121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五种常用最简形式</a:t>
            </a:r>
            <a:endParaRPr sz="2800">
              <a:latin typeface="微软雅黑"/>
              <a:cs typeface="微软雅黑"/>
            </a:endParaRPr>
          </a:p>
          <a:p>
            <a:pPr marL="1210310" indent="-287020">
              <a:lnSpc>
                <a:spcPct val="100000"/>
              </a:lnSpc>
              <a:spcBef>
                <a:spcPts val="2500"/>
              </a:spcBef>
              <a:buChar char="•"/>
              <a:tabLst>
                <a:tab pos="1209675" algn="l"/>
                <a:tab pos="1210310" algn="l"/>
              </a:tabLst>
            </a:pPr>
            <a:r>
              <a:rPr sz="29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900" dirty="0">
                <a:solidFill>
                  <a:srgbClr val="0000FF"/>
                </a:solidFill>
                <a:latin typeface="微软雅黑"/>
                <a:cs typeface="微软雅黑"/>
              </a:rPr>
              <a:t>与或</a:t>
            </a:r>
            <a:r>
              <a:rPr sz="29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900" spc="5" dirty="0">
                <a:solidFill>
                  <a:srgbClr val="0000FF"/>
                </a:solidFill>
                <a:latin typeface="微软雅黑"/>
                <a:cs typeface="微软雅黑"/>
              </a:rPr>
              <a:t>表达式</a:t>
            </a:r>
            <a:r>
              <a:rPr sz="2900" spc="-5" dirty="0">
                <a:solidFill>
                  <a:srgbClr val="0000FF"/>
                </a:solidFill>
                <a:latin typeface="微软雅黑"/>
                <a:cs typeface="微软雅黑"/>
              </a:rPr>
              <a:t>：</a:t>
            </a:r>
            <a:r>
              <a:rPr sz="2900" spc="-5" dirty="0">
                <a:solidFill>
                  <a:srgbClr val="0000FF"/>
                </a:solidFill>
                <a:latin typeface="Arial"/>
                <a:cs typeface="Arial"/>
              </a:rPr>
              <a:t>F=AB+AD</a:t>
            </a:r>
            <a:endParaRPr sz="29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601461" y="3899153"/>
            <a:ext cx="432434" cy="0"/>
          </a:xfrm>
          <a:custGeom>
            <a:avLst/>
            <a:gdLst/>
            <a:ahLst/>
            <a:cxnLst/>
            <a:rect l="l" t="t" r="r" b="b"/>
            <a:pathLst>
              <a:path w="432435">
                <a:moveTo>
                  <a:pt x="0" y="0"/>
                </a:moveTo>
                <a:lnTo>
                  <a:pt x="432053" y="0"/>
                </a:lnTo>
              </a:path>
            </a:pathLst>
          </a:custGeom>
          <a:ln w="1981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201917" y="3899153"/>
            <a:ext cx="432434" cy="0"/>
          </a:xfrm>
          <a:custGeom>
            <a:avLst/>
            <a:gdLst/>
            <a:ahLst/>
            <a:cxnLst/>
            <a:rect l="l" t="t" r="r" b="b"/>
            <a:pathLst>
              <a:path w="432434">
                <a:moveTo>
                  <a:pt x="0" y="0"/>
                </a:moveTo>
                <a:lnTo>
                  <a:pt x="432054" y="0"/>
                </a:lnTo>
              </a:path>
            </a:pathLst>
          </a:custGeom>
          <a:ln w="1981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610605" y="3827526"/>
            <a:ext cx="1024255" cy="0"/>
          </a:xfrm>
          <a:custGeom>
            <a:avLst/>
            <a:gdLst/>
            <a:ahLst/>
            <a:cxnLst/>
            <a:rect l="l" t="t" r="r" b="b"/>
            <a:pathLst>
              <a:path w="1024254">
                <a:moveTo>
                  <a:pt x="0" y="0"/>
                </a:moveTo>
                <a:lnTo>
                  <a:pt x="1023874" y="0"/>
                </a:lnTo>
              </a:path>
            </a:pathLst>
          </a:custGeom>
          <a:ln w="1981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529834" y="4869941"/>
            <a:ext cx="648335" cy="0"/>
          </a:xfrm>
          <a:custGeom>
            <a:avLst/>
            <a:gdLst/>
            <a:ahLst/>
            <a:cxnLst/>
            <a:rect l="l" t="t" r="r" b="b"/>
            <a:pathLst>
              <a:path w="648335">
                <a:moveTo>
                  <a:pt x="0" y="0"/>
                </a:moveTo>
                <a:lnTo>
                  <a:pt x="648080" y="0"/>
                </a:lnTo>
              </a:path>
            </a:pathLst>
          </a:custGeom>
          <a:ln w="1981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65570" y="4869941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>
                <a:moveTo>
                  <a:pt x="0" y="0"/>
                </a:moveTo>
                <a:lnTo>
                  <a:pt x="720089" y="0"/>
                </a:lnTo>
              </a:path>
            </a:pathLst>
          </a:custGeom>
          <a:ln w="1981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29834" y="4798314"/>
            <a:ext cx="1728470" cy="0"/>
          </a:xfrm>
          <a:custGeom>
            <a:avLst/>
            <a:gdLst/>
            <a:ahLst/>
            <a:cxnLst/>
            <a:rect l="l" t="t" r="r" b="b"/>
            <a:pathLst>
              <a:path w="1728470">
                <a:moveTo>
                  <a:pt x="0" y="0"/>
                </a:moveTo>
                <a:lnTo>
                  <a:pt x="1728215" y="0"/>
                </a:lnTo>
              </a:path>
            </a:pathLst>
          </a:custGeom>
          <a:ln w="1981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097017" y="5734050"/>
            <a:ext cx="1104900" cy="0"/>
          </a:xfrm>
          <a:custGeom>
            <a:avLst/>
            <a:gdLst/>
            <a:ahLst/>
            <a:cxnLst/>
            <a:rect l="l" t="t" r="r" b="b"/>
            <a:pathLst>
              <a:path w="1104900">
                <a:moveTo>
                  <a:pt x="0" y="0"/>
                </a:moveTo>
                <a:lnTo>
                  <a:pt x="1104773" y="0"/>
                </a:lnTo>
              </a:path>
            </a:pathLst>
          </a:custGeom>
          <a:ln w="1981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39535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5" dirty="0">
                <a:latin typeface="宋体"/>
                <a:cs typeface="宋体"/>
              </a:rPr>
              <a:t>逻辑函数的化简</a:t>
            </a:r>
          </a:p>
        </p:txBody>
      </p:sp>
      <p:sp>
        <p:nvSpPr>
          <p:cNvPr id="3" name="object 3"/>
          <p:cNvSpPr/>
          <p:nvPr/>
        </p:nvSpPr>
        <p:spPr>
          <a:xfrm>
            <a:off x="496062" y="1428750"/>
            <a:ext cx="8707120" cy="2834640"/>
          </a:xfrm>
          <a:custGeom>
            <a:avLst/>
            <a:gdLst/>
            <a:ahLst/>
            <a:cxnLst/>
            <a:rect l="l" t="t" r="r" b="b"/>
            <a:pathLst>
              <a:path w="8707120" h="2834640">
                <a:moveTo>
                  <a:pt x="0" y="2834640"/>
                </a:moveTo>
                <a:lnTo>
                  <a:pt x="8706612" y="2834640"/>
                </a:lnTo>
                <a:lnTo>
                  <a:pt x="8706612" y="0"/>
                </a:lnTo>
                <a:lnTo>
                  <a:pt x="0" y="0"/>
                </a:lnTo>
                <a:lnTo>
                  <a:pt x="0" y="283464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1925" y="1059941"/>
            <a:ext cx="6094730" cy="737870"/>
          </a:xfrm>
          <a:custGeom>
            <a:avLst/>
            <a:gdLst/>
            <a:ahLst/>
            <a:cxnLst/>
            <a:rect l="l" t="t" r="r" b="b"/>
            <a:pathLst>
              <a:path w="6094730" h="737869">
                <a:moveTo>
                  <a:pt x="5971540" y="0"/>
                </a:moveTo>
                <a:lnTo>
                  <a:pt x="122936" y="0"/>
                </a:lnTo>
                <a:lnTo>
                  <a:pt x="75084" y="9653"/>
                </a:lnTo>
                <a:lnTo>
                  <a:pt x="36007" y="35988"/>
                </a:lnTo>
                <a:lnTo>
                  <a:pt x="9661" y="75062"/>
                </a:lnTo>
                <a:lnTo>
                  <a:pt x="0" y="122936"/>
                </a:lnTo>
                <a:lnTo>
                  <a:pt x="0" y="614680"/>
                </a:lnTo>
                <a:lnTo>
                  <a:pt x="9661" y="662553"/>
                </a:lnTo>
                <a:lnTo>
                  <a:pt x="36007" y="701627"/>
                </a:lnTo>
                <a:lnTo>
                  <a:pt x="75084" y="727962"/>
                </a:lnTo>
                <a:lnTo>
                  <a:pt x="122936" y="737616"/>
                </a:lnTo>
                <a:lnTo>
                  <a:pt x="5971540" y="737616"/>
                </a:lnTo>
                <a:lnTo>
                  <a:pt x="6019413" y="727962"/>
                </a:lnTo>
                <a:lnTo>
                  <a:pt x="6058487" y="701627"/>
                </a:lnTo>
                <a:lnTo>
                  <a:pt x="6084822" y="662553"/>
                </a:lnTo>
                <a:lnTo>
                  <a:pt x="6094476" y="614680"/>
                </a:lnTo>
                <a:lnTo>
                  <a:pt x="6094476" y="122936"/>
                </a:lnTo>
                <a:lnTo>
                  <a:pt x="6084822" y="75062"/>
                </a:lnTo>
                <a:lnTo>
                  <a:pt x="6058487" y="35988"/>
                </a:lnTo>
                <a:lnTo>
                  <a:pt x="6019413" y="9653"/>
                </a:lnTo>
                <a:lnTo>
                  <a:pt x="597154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1925" y="1059941"/>
            <a:ext cx="6094730" cy="737870"/>
          </a:xfrm>
          <a:custGeom>
            <a:avLst/>
            <a:gdLst/>
            <a:ahLst/>
            <a:cxnLst/>
            <a:rect l="l" t="t" r="r" b="b"/>
            <a:pathLst>
              <a:path w="6094730" h="737869">
                <a:moveTo>
                  <a:pt x="0" y="122936"/>
                </a:moveTo>
                <a:lnTo>
                  <a:pt x="9661" y="75062"/>
                </a:lnTo>
                <a:lnTo>
                  <a:pt x="36007" y="35988"/>
                </a:lnTo>
                <a:lnTo>
                  <a:pt x="75084" y="9653"/>
                </a:lnTo>
                <a:lnTo>
                  <a:pt x="122936" y="0"/>
                </a:lnTo>
                <a:lnTo>
                  <a:pt x="5971540" y="0"/>
                </a:lnTo>
                <a:lnTo>
                  <a:pt x="6019413" y="9653"/>
                </a:lnTo>
                <a:lnTo>
                  <a:pt x="6058487" y="35988"/>
                </a:lnTo>
                <a:lnTo>
                  <a:pt x="6084822" y="75062"/>
                </a:lnTo>
                <a:lnTo>
                  <a:pt x="6094476" y="122936"/>
                </a:lnTo>
                <a:lnTo>
                  <a:pt x="6094476" y="614680"/>
                </a:lnTo>
                <a:lnTo>
                  <a:pt x="6084822" y="662553"/>
                </a:lnTo>
                <a:lnTo>
                  <a:pt x="6058487" y="701627"/>
                </a:lnTo>
                <a:lnTo>
                  <a:pt x="6019413" y="727962"/>
                </a:lnTo>
                <a:lnTo>
                  <a:pt x="5971540" y="737616"/>
                </a:lnTo>
                <a:lnTo>
                  <a:pt x="122936" y="737616"/>
                </a:lnTo>
                <a:lnTo>
                  <a:pt x="75084" y="727962"/>
                </a:lnTo>
                <a:lnTo>
                  <a:pt x="36007" y="701627"/>
                </a:lnTo>
                <a:lnTo>
                  <a:pt x="9661" y="662553"/>
                </a:lnTo>
                <a:lnTo>
                  <a:pt x="0" y="614680"/>
                </a:lnTo>
                <a:lnTo>
                  <a:pt x="0" y="122936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8341" y="1246377"/>
            <a:ext cx="7372350" cy="2753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本节主要介</a:t>
            </a:r>
            <a:r>
              <a:rPr sz="2000" spc="-5" dirty="0">
                <a:solidFill>
                  <a:srgbClr val="FFFFFF"/>
                </a:solidFill>
                <a:latin typeface="微软雅黑"/>
                <a:cs typeface="微软雅黑"/>
              </a:rPr>
              <a:t>绍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与或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表达</a:t>
            </a:r>
            <a:r>
              <a:rPr sz="2000" spc="-15" dirty="0">
                <a:solidFill>
                  <a:srgbClr val="FFFFFF"/>
                </a:solidFill>
                <a:latin typeface="微软雅黑"/>
                <a:cs typeface="微软雅黑"/>
              </a:rPr>
              <a:t>式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的化简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750">
              <a:latin typeface="微软雅黑"/>
              <a:cs typeface="微软雅黑"/>
            </a:endParaRPr>
          </a:p>
          <a:p>
            <a:pPr marL="241300" indent="-229235">
              <a:lnSpc>
                <a:spcPct val="100000"/>
              </a:lnSpc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任何一个逻辑函数表达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式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都能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展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开成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一</a:t>
            </a:r>
            <a:r>
              <a:rPr sz="2000" spc="5" dirty="0">
                <a:solidFill>
                  <a:srgbClr val="0000FF"/>
                </a:solidFill>
                <a:latin typeface="微软雅黑"/>
                <a:cs typeface="微软雅黑"/>
              </a:rPr>
              <a:t>个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与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或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表达式</a:t>
            </a:r>
            <a:endParaRPr sz="2000">
              <a:latin typeface="微软雅黑"/>
              <a:cs typeface="微软雅黑"/>
            </a:endParaRPr>
          </a:p>
          <a:p>
            <a:pPr marL="241300" marR="173990" indent="-229235">
              <a:lnSpc>
                <a:spcPct val="129000"/>
              </a:lnSpc>
              <a:spcBef>
                <a:spcPts val="505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从一个最简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与或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000" spc="-10" dirty="0">
                <a:solidFill>
                  <a:srgbClr val="0000FF"/>
                </a:solidFill>
                <a:latin typeface="微软雅黑"/>
                <a:cs typeface="微软雅黑"/>
              </a:rPr>
              <a:t>表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达式，很容</a:t>
            </a:r>
            <a:r>
              <a:rPr sz="2000" spc="-10" dirty="0">
                <a:solidFill>
                  <a:srgbClr val="0000FF"/>
                </a:solidFill>
                <a:latin typeface="微软雅黑"/>
                <a:cs typeface="微软雅黑"/>
              </a:rPr>
              <a:t>易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得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到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与非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与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非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、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与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或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非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等 其他形式的表达式</a:t>
            </a:r>
            <a:endParaRPr sz="2000">
              <a:latin typeface="微软雅黑"/>
              <a:cs typeface="微软雅黑"/>
            </a:endParaRPr>
          </a:p>
          <a:p>
            <a:pPr marL="241300" marR="5080" indent="-229235">
              <a:lnSpc>
                <a:spcPct val="128499"/>
              </a:lnSpc>
              <a:spcBef>
                <a:spcPts val="52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只要掌握了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与或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000" spc="-10" dirty="0">
                <a:solidFill>
                  <a:srgbClr val="0000FF"/>
                </a:solidFill>
                <a:latin typeface="微软雅黑"/>
                <a:cs typeface="微软雅黑"/>
              </a:rPr>
              <a:t>表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达式的化简</a:t>
            </a:r>
            <a:r>
              <a:rPr sz="2000" spc="-10" dirty="0">
                <a:solidFill>
                  <a:srgbClr val="0000FF"/>
                </a:solidFill>
                <a:latin typeface="微软雅黑"/>
                <a:cs typeface="微软雅黑"/>
              </a:rPr>
              <a:t>方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法，利用对</a:t>
            </a:r>
            <a:r>
              <a:rPr sz="2000" spc="-10" dirty="0">
                <a:solidFill>
                  <a:srgbClr val="0000FF"/>
                </a:solidFill>
                <a:latin typeface="微软雅黑"/>
                <a:cs typeface="微软雅黑"/>
              </a:rPr>
              <a:t>偶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式，不难化</a:t>
            </a:r>
            <a:r>
              <a:rPr sz="2000" spc="-50" dirty="0">
                <a:solidFill>
                  <a:srgbClr val="0000FF"/>
                </a:solidFill>
                <a:latin typeface="微软雅黑"/>
                <a:cs typeface="微软雅黑"/>
              </a:rPr>
              <a:t>简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或 与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表达式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6062" y="4767834"/>
            <a:ext cx="8707120" cy="1536700"/>
          </a:xfrm>
          <a:custGeom>
            <a:avLst/>
            <a:gdLst/>
            <a:ahLst/>
            <a:cxnLst/>
            <a:rect l="l" t="t" r="r" b="b"/>
            <a:pathLst>
              <a:path w="8707120" h="1536700">
                <a:moveTo>
                  <a:pt x="0" y="1536191"/>
                </a:moveTo>
                <a:lnTo>
                  <a:pt x="8706612" y="1536191"/>
                </a:lnTo>
                <a:lnTo>
                  <a:pt x="8706612" y="0"/>
                </a:lnTo>
                <a:lnTo>
                  <a:pt x="0" y="0"/>
                </a:lnTo>
                <a:lnTo>
                  <a:pt x="0" y="1536191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31925" y="4399026"/>
            <a:ext cx="6094730" cy="737870"/>
          </a:xfrm>
          <a:custGeom>
            <a:avLst/>
            <a:gdLst/>
            <a:ahLst/>
            <a:cxnLst/>
            <a:rect l="l" t="t" r="r" b="b"/>
            <a:pathLst>
              <a:path w="6094730" h="737870">
                <a:moveTo>
                  <a:pt x="5971540" y="0"/>
                </a:moveTo>
                <a:lnTo>
                  <a:pt x="122936" y="0"/>
                </a:lnTo>
                <a:lnTo>
                  <a:pt x="75084" y="9653"/>
                </a:lnTo>
                <a:lnTo>
                  <a:pt x="36007" y="35988"/>
                </a:lnTo>
                <a:lnTo>
                  <a:pt x="9661" y="75062"/>
                </a:lnTo>
                <a:lnTo>
                  <a:pt x="0" y="122936"/>
                </a:lnTo>
                <a:lnTo>
                  <a:pt x="0" y="614680"/>
                </a:lnTo>
                <a:lnTo>
                  <a:pt x="9661" y="662553"/>
                </a:lnTo>
                <a:lnTo>
                  <a:pt x="36007" y="701627"/>
                </a:lnTo>
                <a:lnTo>
                  <a:pt x="75084" y="727962"/>
                </a:lnTo>
                <a:lnTo>
                  <a:pt x="122936" y="737616"/>
                </a:lnTo>
                <a:lnTo>
                  <a:pt x="5971540" y="737616"/>
                </a:lnTo>
                <a:lnTo>
                  <a:pt x="6019413" y="727962"/>
                </a:lnTo>
                <a:lnTo>
                  <a:pt x="6058487" y="701627"/>
                </a:lnTo>
                <a:lnTo>
                  <a:pt x="6084822" y="662553"/>
                </a:lnTo>
                <a:lnTo>
                  <a:pt x="6094476" y="614680"/>
                </a:lnTo>
                <a:lnTo>
                  <a:pt x="6094476" y="122936"/>
                </a:lnTo>
                <a:lnTo>
                  <a:pt x="6084822" y="75062"/>
                </a:lnTo>
                <a:lnTo>
                  <a:pt x="6058487" y="35988"/>
                </a:lnTo>
                <a:lnTo>
                  <a:pt x="6019413" y="9653"/>
                </a:lnTo>
                <a:lnTo>
                  <a:pt x="597154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31925" y="4399026"/>
            <a:ext cx="6094730" cy="737870"/>
          </a:xfrm>
          <a:custGeom>
            <a:avLst/>
            <a:gdLst/>
            <a:ahLst/>
            <a:cxnLst/>
            <a:rect l="l" t="t" r="r" b="b"/>
            <a:pathLst>
              <a:path w="6094730" h="737870">
                <a:moveTo>
                  <a:pt x="0" y="122936"/>
                </a:moveTo>
                <a:lnTo>
                  <a:pt x="9661" y="75062"/>
                </a:lnTo>
                <a:lnTo>
                  <a:pt x="36007" y="35988"/>
                </a:lnTo>
                <a:lnTo>
                  <a:pt x="75084" y="9653"/>
                </a:lnTo>
                <a:lnTo>
                  <a:pt x="122936" y="0"/>
                </a:lnTo>
                <a:lnTo>
                  <a:pt x="5971540" y="0"/>
                </a:lnTo>
                <a:lnTo>
                  <a:pt x="6019413" y="9653"/>
                </a:lnTo>
                <a:lnTo>
                  <a:pt x="6058487" y="35988"/>
                </a:lnTo>
                <a:lnTo>
                  <a:pt x="6084822" y="75062"/>
                </a:lnTo>
                <a:lnTo>
                  <a:pt x="6094476" y="122936"/>
                </a:lnTo>
                <a:lnTo>
                  <a:pt x="6094476" y="614680"/>
                </a:lnTo>
                <a:lnTo>
                  <a:pt x="6084822" y="662553"/>
                </a:lnTo>
                <a:lnTo>
                  <a:pt x="6058487" y="701627"/>
                </a:lnTo>
                <a:lnTo>
                  <a:pt x="6019413" y="727962"/>
                </a:lnTo>
                <a:lnTo>
                  <a:pt x="5971540" y="737616"/>
                </a:lnTo>
                <a:lnTo>
                  <a:pt x="122936" y="737616"/>
                </a:lnTo>
                <a:lnTo>
                  <a:pt x="75084" y="727962"/>
                </a:lnTo>
                <a:lnTo>
                  <a:pt x="36007" y="701627"/>
                </a:lnTo>
                <a:lnTo>
                  <a:pt x="9661" y="662553"/>
                </a:lnTo>
                <a:lnTo>
                  <a:pt x="0" y="614680"/>
                </a:lnTo>
                <a:lnTo>
                  <a:pt x="0" y="122936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8341" y="4586096"/>
            <a:ext cx="4544695" cy="1510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最</a:t>
            </a:r>
            <a:r>
              <a:rPr sz="2000" spc="-5" dirty="0">
                <a:solidFill>
                  <a:srgbClr val="FFFFFF"/>
                </a:solidFill>
                <a:latin typeface="微软雅黑"/>
                <a:cs typeface="微软雅黑"/>
              </a:rPr>
              <a:t>简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与或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表达式</a:t>
            </a:r>
            <a:r>
              <a:rPr sz="2000" spc="-15" dirty="0">
                <a:solidFill>
                  <a:srgbClr val="FFFFFF"/>
                </a:solidFill>
                <a:latin typeface="微软雅黑"/>
                <a:cs typeface="微软雅黑"/>
              </a:rPr>
              <a:t>应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该满</a:t>
            </a:r>
            <a:r>
              <a:rPr sz="2000" spc="-15" dirty="0">
                <a:solidFill>
                  <a:srgbClr val="FFFFFF"/>
                </a:solidFill>
                <a:latin typeface="微软雅黑"/>
                <a:cs typeface="微软雅黑"/>
              </a:rPr>
              <a:t>足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如下</a:t>
            </a:r>
            <a:r>
              <a:rPr sz="2000" spc="-15" dirty="0">
                <a:solidFill>
                  <a:srgbClr val="FFFFFF"/>
                </a:solidFill>
                <a:latin typeface="微软雅黑"/>
                <a:cs typeface="微软雅黑"/>
              </a:rPr>
              <a:t>两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个条件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750">
              <a:latin typeface="微软雅黑"/>
              <a:cs typeface="微软雅黑"/>
            </a:endParaRPr>
          </a:p>
          <a:p>
            <a:pPr marL="241300" indent="-229235">
              <a:lnSpc>
                <a:spcPct val="100000"/>
              </a:lnSpc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表达式中乘积项的个数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应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该是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最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少的</a:t>
            </a:r>
            <a:endParaRPr sz="2000">
              <a:latin typeface="微软雅黑"/>
              <a:cs typeface="微软雅黑"/>
            </a:endParaRPr>
          </a:p>
          <a:p>
            <a:pPr marL="241300" indent="-22923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每一个乘积项中所含的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变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量个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数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最少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39535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5" dirty="0">
                <a:latin typeface="宋体"/>
                <a:cs typeface="宋体"/>
              </a:rPr>
              <a:t>逻辑函数的化简</a:t>
            </a:r>
          </a:p>
        </p:txBody>
      </p:sp>
      <p:sp>
        <p:nvSpPr>
          <p:cNvPr id="3" name="object 3"/>
          <p:cNvSpPr/>
          <p:nvPr/>
        </p:nvSpPr>
        <p:spPr>
          <a:xfrm>
            <a:off x="463283" y="3060163"/>
            <a:ext cx="2775990" cy="1695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3716" y="3512642"/>
            <a:ext cx="218186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0" dirty="0">
                <a:solidFill>
                  <a:srgbClr val="0000FF"/>
                </a:solidFill>
                <a:latin typeface="微软雅黑"/>
                <a:cs typeface="微软雅黑"/>
              </a:rPr>
              <a:t>代数化简法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29264" y="2319427"/>
            <a:ext cx="511666" cy="5297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56419" y="2317975"/>
            <a:ext cx="2775990" cy="16955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77436" y="2622731"/>
            <a:ext cx="2181860" cy="1360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8800"/>
              </a:lnSpc>
              <a:spcBef>
                <a:spcPts val="95"/>
              </a:spcBef>
            </a:pPr>
            <a:r>
              <a:rPr sz="3400" spc="-5" dirty="0">
                <a:solidFill>
                  <a:srgbClr val="0000FF"/>
                </a:solidFill>
                <a:latin typeface="微软雅黑"/>
                <a:cs typeface="微软雅黑"/>
              </a:rPr>
              <a:t>卡诺图化简 法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22399" y="1578763"/>
            <a:ext cx="511666" cy="5297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49540" y="1577311"/>
            <a:ext cx="2776020" cy="16955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871461" y="1880895"/>
            <a:ext cx="2181860" cy="136144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3400" spc="-5" dirty="0">
                <a:solidFill>
                  <a:srgbClr val="0000FF"/>
                </a:solidFill>
                <a:latin typeface="微软雅黑"/>
                <a:cs typeface="微软雅黑"/>
              </a:rPr>
              <a:t>系统化简法</a:t>
            </a:r>
            <a:endParaRPr sz="3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3400" spc="-5" dirty="0">
                <a:solidFill>
                  <a:srgbClr val="0000FF"/>
                </a:solidFill>
                <a:latin typeface="微软雅黑"/>
                <a:cs typeface="微软雅黑"/>
              </a:rPr>
              <a:t>（</a:t>
            </a:r>
            <a:r>
              <a:rPr sz="3400" spc="-10" dirty="0">
                <a:solidFill>
                  <a:srgbClr val="0000FF"/>
                </a:solidFill>
                <a:latin typeface="Arial"/>
                <a:cs typeface="Arial"/>
              </a:rPr>
              <a:t>Q-</a:t>
            </a:r>
            <a:r>
              <a:rPr sz="3400" spc="-5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3400" spc="-5" dirty="0">
                <a:solidFill>
                  <a:srgbClr val="0000FF"/>
                </a:solidFill>
                <a:latin typeface="微软雅黑"/>
                <a:cs typeface="微软雅黑"/>
              </a:rPr>
              <a:t>法）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48881" y="1145793"/>
            <a:ext cx="1447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自学内容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05144" y="3764279"/>
            <a:ext cx="2343911" cy="24246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400288" y="4123944"/>
            <a:ext cx="848105" cy="56769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400288" y="4428744"/>
            <a:ext cx="848105" cy="56769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400288" y="4733544"/>
            <a:ext cx="848105" cy="56769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400288" y="5038344"/>
            <a:ext cx="848105" cy="56769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400288" y="5344667"/>
            <a:ext cx="848105" cy="56769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559165" y="4185030"/>
            <a:ext cx="534670" cy="1551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9900"/>
                </a:solidFill>
                <a:latin typeface="微软雅黑"/>
                <a:cs typeface="微软雅黑"/>
              </a:rPr>
              <a:t>自学</a:t>
            </a:r>
            <a:endParaRPr sz="2000">
              <a:latin typeface="微软雅黑"/>
              <a:cs typeface="微软雅黑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solidFill>
                  <a:srgbClr val="FF9900"/>
                </a:solidFill>
                <a:latin typeface="微软雅黑"/>
                <a:cs typeface="微软雅黑"/>
              </a:rPr>
              <a:t>，也 就是 说不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solidFill>
                  <a:srgbClr val="FF9900"/>
                </a:solidFill>
                <a:latin typeface="微软雅黑"/>
                <a:cs typeface="微软雅黑"/>
              </a:rPr>
              <a:t>考喽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13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621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逻辑函数的代数化简法</a:t>
            </a:r>
          </a:p>
        </p:txBody>
      </p:sp>
      <p:sp>
        <p:nvSpPr>
          <p:cNvPr id="3" name="object 3"/>
          <p:cNvSpPr/>
          <p:nvPr/>
        </p:nvSpPr>
        <p:spPr>
          <a:xfrm>
            <a:off x="3171444" y="3285744"/>
            <a:ext cx="3744595" cy="3572510"/>
          </a:xfrm>
          <a:custGeom>
            <a:avLst/>
            <a:gdLst/>
            <a:ahLst/>
            <a:cxnLst/>
            <a:rect l="l" t="t" r="r" b="b"/>
            <a:pathLst>
              <a:path w="3744595" h="3572509">
                <a:moveTo>
                  <a:pt x="1872233" y="0"/>
                </a:moveTo>
                <a:lnTo>
                  <a:pt x="0" y="1871471"/>
                </a:lnTo>
                <a:lnTo>
                  <a:pt x="1701473" y="3572252"/>
                </a:lnTo>
                <a:lnTo>
                  <a:pt x="2042994" y="3572252"/>
                </a:lnTo>
                <a:lnTo>
                  <a:pt x="3744467" y="1871471"/>
                </a:lnTo>
                <a:lnTo>
                  <a:pt x="1872233" y="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27297" y="3641597"/>
            <a:ext cx="1460500" cy="1460500"/>
          </a:xfrm>
          <a:custGeom>
            <a:avLst/>
            <a:gdLst/>
            <a:ahLst/>
            <a:cxnLst/>
            <a:rect l="l" t="t" r="r" b="b"/>
            <a:pathLst>
              <a:path w="1460500" h="1460500">
                <a:moveTo>
                  <a:pt x="1216660" y="0"/>
                </a:moveTo>
                <a:lnTo>
                  <a:pt x="243331" y="0"/>
                </a:lnTo>
                <a:lnTo>
                  <a:pt x="194298" y="4944"/>
                </a:lnTo>
                <a:lnTo>
                  <a:pt x="148625" y="19125"/>
                </a:lnTo>
                <a:lnTo>
                  <a:pt x="107292" y="41563"/>
                </a:lnTo>
                <a:lnTo>
                  <a:pt x="71278" y="71278"/>
                </a:lnTo>
                <a:lnTo>
                  <a:pt x="41563" y="107292"/>
                </a:lnTo>
                <a:lnTo>
                  <a:pt x="19125" y="148625"/>
                </a:lnTo>
                <a:lnTo>
                  <a:pt x="4944" y="194298"/>
                </a:lnTo>
                <a:lnTo>
                  <a:pt x="0" y="243331"/>
                </a:lnTo>
                <a:lnTo>
                  <a:pt x="0" y="1216659"/>
                </a:lnTo>
                <a:lnTo>
                  <a:pt x="4944" y="1265693"/>
                </a:lnTo>
                <a:lnTo>
                  <a:pt x="19125" y="1311366"/>
                </a:lnTo>
                <a:lnTo>
                  <a:pt x="41563" y="1352699"/>
                </a:lnTo>
                <a:lnTo>
                  <a:pt x="71278" y="1388713"/>
                </a:lnTo>
                <a:lnTo>
                  <a:pt x="107292" y="1418428"/>
                </a:lnTo>
                <a:lnTo>
                  <a:pt x="148625" y="1440866"/>
                </a:lnTo>
                <a:lnTo>
                  <a:pt x="194298" y="1455047"/>
                </a:lnTo>
                <a:lnTo>
                  <a:pt x="243331" y="1459991"/>
                </a:lnTo>
                <a:lnTo>
                  <a:pt x="1216660" y="1459991"/>
                </a:lnTo>
                <a:lnTo>
                  <a:pt x="1265693" y="1455047"/>
                </a:lnTo>
                <a:lnTo>
                  <a:pt x="1311366" y="1440866"/>
                </a:lnTo>
                <a:lnTo>
                  <a:pt x="1352699" y="1418428"/>
                </a:lnTo>
                <a:lnTo>
                  <a:pt x="1388713" y="1388713"/>
                </a:lnTo>
                <a:lnTo>
                  <a:pt x="1418428" y="1352699"/>
                </a:lnTo>
                <a:lnTo>
                  <a:pt x="1440866" y="1311366"/>
                </a:lnTo>
                <a:lnTo>
                  <a:pt x="1455047" y="1265693"/>
                </a:lnTo>
                <a:lnTo>
                  <a:pt x="1459991" y="1216659"/>
                </a:lnTo>
                <a:lnTo>
                  <a:pt x="1459991" y="243331"/>
                </a:lnTo>
                <a:lnTo>
                  <a:pt x="1455047" y="194298"/>
                </a:lnTo>
                <a:lnTo>
                  <a:pt x="1440866" y="148625"/>
                </a:lnTo>
                <a:lnTo>
                  <a:pt x="1418428" y="107292"/>
                </a:lnTo>
                <a:lnTo>
                  <a:pt x="1388713" y="71278"/>
                </a:lnTo>
                <a:lnTo>
                  <a:pt x="1352699" y="41563"/>
                </a:lnTo>
                <a:lnTo>
                  <a:pt x="1311366" y="19125"/>
                </a:lnTo>
                <a:lnTo>
                  <a:pt x="1265693" y="4944"/>
                </a:lnTo>
                <a:lnTo>
                  <a:pt x="121666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27297" y="3641597"/>
            <a:ext cx="1460500" cy="1460500"/>
          </a:xfrm>
          <a:custGeom>
            <a:avLst/>
            <a:gdLst/>
            <a:ahLst/>
            <a:cxnLst/>
            <a:rect l="l" t="t" r="r" b="b"/>
            <a:pathLst>
              <a:path w="1460500" h="1460500">
                <a:moveTo>
                  <a:pt x="0" y="243331"/>
                </a:moveTo>
                <a:lnTo>
                  <a:pt x="4944" y="194298"/>
                </a:lnTo>
                <a:lnTo>
                  <a:pt x="19125" y="148625"/>
                </a:lnTo>
                <a:lnTo>
                  <a:pt x="41563" y="107292"/>
                </a:lnTo>
                <a:lnTo>
                  <a:pt x="71278" y="71278"/>
                </a:lnTo>
                <a:lnTo>
                  <a:pt x="107292" y="41563"/>
                </a:lnTo>
                <a:lnTo>
                  <a:pt x="148625" y="19125"/>
                </a:lnTo>
                <a:lnTo>
                  <a:pt x="194298" y="4944"/>
                </a:lnTo>
                <a:lnTo>
                  <a:pt x="243331" y="0"/>
                </a:lnTo>
                <a:lnTo>
                  <a:pt x="1216660" y="0"/>
                </a:lnTo>
                <a:lnTo>
                  <a:pt x="1265693" y="4944"/>
                </a:lnTo>
                <a:lnTo>
                  <a:pt x="1311366" y="19125"/>
                </a:lnTo>
                <a:lnTo>
                  <a:pt x="1352699" y="41563"/>
                </a:lnTo>
                <a:lnTo>
                  <a:pt x="1388713" y="71278"/>
                </a:lnTo>
                <a:lnTo>
                  <a:pt x="1418428" y="107292"/>
                </a:lnTo>
                <a:lnTo>
                  <a:pt x="1440866" y="148625"/>
                </a:lnTo>
                <a:lnTo>
                  <a:pt x="1455047" y="194298"/>
                </a:lnTo>
                <a:lnTo>
                  <a:pt x="1459991" y="243331"/>
                </a:lnTo>
                <a:lnTo>
                  <a:pt x="1459991" y="1216659"/>
                </a:lnTo>
                <a:lnTo>
                  <a:pt x="1455047" y="1265693"/>
                </a:lnTo>
                <a:lnTo>
                  <a:pt x="1440866" y="1311366"/>
                </a:lnTo>
                <a:lnTo>
                  <a:pt x="1418428" y="1352699"/>
                </a:lnTo>
                <a:lnTo>
                  <a:pt x="1388713" y="1388713"/>
                </a:lnTo>
                <a:lnTo>
                  <a:pt x="1352699" y="1418428"/>
                </a:lnTo>
                <a:lnTo>
                  <a:pt x="1311366" y="1440866"/>
                </a:lnTo>
                <a:lnTo>
                  <a:pt x="1265693" y="1455047"/>
                </a:lnTo>
                <a:lnTo>
                  <a:pt x="1216660" y="1459991"/>
                </a:lnTo>
                <a:lnTo>
                  <a:pt x="243331" y="1459991"/>
                </a:lnTo>
                <a:lnTo>
                  <a:pt x="194298" y="1455047"/>
                </a:lnTo>
                <a:lnTo>
                  <a:pt x="148625" y="1440866"/>
                </a:lnTo>
                <a:lnTo>
                  <a:pt x="107292" y="1418428"/>
                </a:lnTo>
                <a:lnTo>
                  <a:pt x="71278" y="1388713"/>
                </a:lnTo>
                <a:lnTo>
                  <a:pt x="41563" y="1352699"/>
                </a:lnTo>
                <a:lnTo>
                  <a:pt x="19125" y="1311366"/>
                </a:lnTo>
                <a:lnTo>
                  <a:pt x="4944" y="1265693"/>
                </a:lnTo>
                <a:lnTo>
                  <a:pt x="0" y="1216659"/>
                </a:lnTo>
                <a:lnTo>
                  <a:pt x="0" y="243331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00065" y="3641597"/>
            <a:ext cx="1460500" cy="1460500"/>
          </a:xfrm>
          <a:custGeom>
            <a:avLst/>
            <a:gdLst/>
            <a:ahLst/>
            <a:cxnLst/>
            <a:rect l="l" t="t" r="r" b="b"/>
            <a:pathLst>
              <a:path w="1460500" h="1460500">
                <a:moveTo>
                  <a:pt x="1216660" y="0"/>
                </a:moveTo>
                <a:lnTo>
                  <a:pt x="243332" y="0"/>
                </a:lnTo>
                <a:lnTo>
                  <a:pt x="194298" y="4944"/>
                </a:lnTo>
                <a:lnTo>
                  <a:pt x="148625" y="19125"/>
                </a:lnTo>
                <a:lnTo>
                  <a:pt x="107292" y="41563"/>
                </a:lnTo>
                <a:lnTo>
                  <a:pt x="71278" y="71278"/>
                </a:lnTo>
                <a:lnTo>
                  <a:pt x="41563" y="107292"/>
                </a:lnTo>
                <a:lnTo>
                  <a:pt x="19125" y="148625"/>
                </a:lnTo>
                <a:lnTo>
                  <a:pt x="4944" y="194298"/>
                </a:lnTo>
                <a:lnTo>
                  <a:pt x="0" y="243331"/>
                </a:lnTo>
                <a:lnTo>
                  <a:pt x="0" y="1216659"/>
                </a:lnTo>
                <a:lnTo>
                  <a:pt x="4944" y="1265693"/>
                </a:lnTo>
                <a:lnTo>
                  <a:pt x="19125" y="1311366"/>
                </a:lnTo>
                <a:lnTo>
                  <a:pt x="41563" y="1352699"/>
                </a:lnTo>
                <a:lnTo>
                  <a:pt x="71278" y="1388713"/>
                </a:lnTo>
                <a:lnTo>
                  <a:pt x="107292" y="1418428"/>
                </a:lnTo>
                <a:lnTo>
                  <a:pt x="148625" y="1440866"/>
                </a:lnTo>
                <a:lnTo>
                  <a:pt x="194298" y="1455047"/>
                </a:lnTo>
                <a:lnTo>
                  <a:pt x="243332" y="1459991"/>
                </a:lnTo>
                <a:lnTo>
                  <a:pt x="1216660" y="1459991"/>
                </a:lnTo>
                <a:lnTo>
                  <a:pt x="1265693" y="1455047"/>
                </a:lnTo>
                <a:lnTo>
                  <a:pt x="1311366" y="1440866"/>
                </a:lnTo>
                <a:lnTo>
                  <a:pt x="1352699" y="1418428"/>
                </a:lnTo>
                <a:lnTo>
                  <a:pt x="1388713" y="1388713"/>
                </a:lnTo>
                <a:lnTo>
                  <a:pt x="1418428" y="1352699"/>
                </a:lnTo>
                <a:lnTo>
                  <a:pt x="1440866" y="1311366"/>
                </a:lnTo>
                <a:lnTo>
                  <a:pt x="1455047" y="1265693"/>
                </a:lnTo>
                <a:lnTo>
                  <a:pt x="1459991" y="1216659"/>
                </a:lnTo>
                <a:lnTo>
                  <a:pt x="1459991" y="243331"/>
                </a:lnTo>
                <a:lnTo>
                  <a:pt x="1455047" y="194298"/>
                </a:lnTo>
                <a:lnTo>
                  <a:pt x="1440866" y="148625"/>
                </a:lnTo>
                <a:lnTo>
                  <a:pt x="1418428" y="107292"/>
                </a:lnTo>
                <a:lnTo>
                  <a:pt x="1388713" y="71278"/>
                </a:lnTo>
                <a:lnTo>
                  <a:pt x="1352699" y="41563"/>
                </a:lnTo>
                <a:lnTo>
                  <a:pt x="1311366" y="19125"/>
                </a:lnTo>
                <a:lnTo>
                  <a:pt x="1265693" y="4944"/>
                </a:lnTo>
                <a:lnTo>
                  <a:pt x="121666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00065" y="3641597"/>
            <a:ext cx="1460500" cy="1460500"/>
          </a:xfrm>
          <a:custGeom>
            <a:avLst/>
            <a:gdLst/>
            <a:ahLst/>
            <a:cxnLst/>
            <a:rect l="l" t="t" r="r" b="b"/>
            <a:pathLst>
              <a:path w="1460500" h="1460500">
                <a:moveTo>
                  <a:pt x="0" y="243331"/>
                </a:moveTo>
                <a:lnTo>
                  <a:pt x="4944" y="194298"/>
                </a:lnTo>
                <a:lnTo>
                  <a:pt x="19125" y="148625"/>
                </a:lnTo>
                <a:lnTo>
                  <a:pt x="41563" y="107292"/>
                </a:lnTo>
                <a:lnTo>
                  <a:pt x="71278" y="71278"/>
                </a:lnTo>
                <a:lnTo>
                  <a:pt x="107292" y="41563"/>
                </a:lnTo>
                <a:lnTo>
                  <a:pt x="148625" y="19125"/>
                </a:lnTo>
                <a:lnTo>
                  <a:pt x="194298" y="4944"/>
                </a:lnTo>
                <a:lnTo>
                  <a:pt x="243332" y="0"/>
                </a:lnTo>
                <a:lnTo>
                  <a:pt x="1216660" y="0"/>
                </a:lnTo>
                <a:lnTo>
                  <a:pt x="1265693" y="4944"/>
                </a:lnTo>
                <a:lnTo>
                  <a:pt x="1311366" y="19125"/>
                </a:lnTo>
                <a:lnTo>
                  <a:pt x="1352699" y="41563"/>
                </a:lnTo>
                <a:lnTo>
                  <a:pt x="1388713" y="71278"/>
                </a:lnTo>
                <a:lnTo>
                  <a:pt x="1418428" y="107292"/>
                </a:lnTo>
                <a:lnTo>
                  <a:pt x="1440866" y="148625"/>
                </a:lnTo>
                <a:lnTo>
                  <a:pt x="1455047" y="194298"/>
                </a:lnTo>
                <a:lnTo>
                  <a:pt x="1459991" y="243331"/>
                </a:lnTo>
                <a:lnTo>
                  <a:pt x="1459991" y="1216659"/>
                </a:lnTo>
                <a:lnTo>
                  <a:pt x="1455047" y="1265693"/>
                </a:lnTo>
                <a:lnTo>
                  <a:pt x="1440866" y="1311366"/>
                </a:lnTo>
                <a:lnTo>
                  <a:pt x="1418428" y="1352699"/>
                </a:lnTo>
                <a:lnTo>
                  <a:pt x="1388713" y="1388713"/>
                </a:lnTo>
                <a:lnTo>
                  <a:pt x="1352699" y="1418428"/>
                </a:lnTo>
                <a:lnTo>
                  <a:pt x="1311366" y="1440866"/>
                </a:lnTo>
                <a:lnTo>
                  <a:pt x="1265693" y="1455047"/>
                </a:lnTo>
                <a:lnTo>
                  <a:pt x="1216660" y="1459991"/>
                </a:lnTo>
                <a:lnTo>
                  <a:pt x="243332" y="1459991"/>
                </a:lnTo>
                <a:lnTo>
                  <a:pt x="194298" y="1455047"/>
                </a:lnTo>
                <a:lnTo>
                  <a:pt x="148625" y="1440866"/>
                </a:lnTo>
                <a:lnTo>
                  <a:pt x="107292" y="1418428"/>
                </a:lnTo>
                <a:lnTo>
                  <a:pt x="71278" y="1388713"/>
                </a:lnTo>
                <a:lnTo>
                  <a:pt x="41563" y="1352699"/>
                </a:lnTo>
                <a:lnTo>
                  <a:pt x="19125" y="1311366"/>
                </a:lnTo>
                <a:lnTo>
                  <a:pt x="4944" y="1265693"/>
                </a:lnTo>
                <a:lnTo>
                  <a:pt x="0" y="1216659"/>
                </a:lnTo>
                <a:lnTo>
                  <a:pt x="0" y="243331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12209" y="4122242"/>
            <a:ext cx="2663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84960" algn="l"/>
              </a:tabLst>
            </a:pPr>
            <a:r>
              <a:rPr sz="2800" spc="-10" dirty="0">
                <a:solidFill>
                  <a:srgbClr val="FFFFFF"/>
                </a:solidFill>
                <a:latin typeface="微软雅黑"/>
                <a:cs typeface="微软雅黑"/>
              </a:rPr>
              <a:t>并项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法</a:t>
            </a:r>
            <a:r>
              <a:rPr sz="2800" dirty="0">
                <a:solidFill>
                  <a:srgbClr val="FFFFFF"/>
                </a:solidFill>
                <a:latin typeface="微软雅黑"/>
                <a:cs typeface="微软雅黑"/>
              </a:rPr>
              <a:t>	</a:t>
            </a:r>
            <a:r>
              <a:rPr sz="2800" spc="-10" dirty="0">
                <a:solidFill>
                  <a:srgbClr val="FFFFFF"/>
                </a:solidFill>
                <a:latin typeface="微软雅黑"/>
                <a:cs typeface="微软雅黑"/>
              </a:rPr>
              <a:t>消项法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27297" y="5214365"/>
            <a:ext cx="1460500" cy="1460500"/>
          </a:xfrm>
          <a:custGeom>
            <a:avLst/>
            <a:gdLst/>
            <a:ahLst/>
            <a:cxnLst/>
            <a:rect l="l" t="t" r="r" b="b"/>
            <a:pathLst>
              <a:path w="1460500" h="1460500">
                <a:moveTo>
                  <a:pt x="1216660" y="0"/>
                </a:moveTo>
                <a:lnTo>
                  <a:pt x="243331" y="0"/>
                </a:lnTo>
                <a:lnTo>
                  <a:pt x="194298" y="4944"/>
                </a:lnTo>
                <a:lnTo>
                  <a:pt x="148625" y="19125"/>
                </a:lnTo>
                <a:lnTo>
                  <a:pt x="107292" y="41563"/>
                </a:lnTo>
                <a:lnTo>
                  <a:pt x="71278" y="71278"/>
                </a:lnTo>
                <a:lnTo>
                  <a:pt x="41563" y="107292"/>
                </a:lnTo>
                <a:lnTo>
                  <a:pt x="19125" y="148625"/>
                </a:lnTo>
                <a:lnTo>
                  <a:pt x="4944" y="194298"/>
                </a:lnTo>
                <a:lnTo>
                  <a:pt x="0" y="243331"/>
                </a:lnTo>
                <a:lnTo>
                  <a:pt x="0" y="1216659"/>
                </a:lnTo>
                <a:lnTo>
                  <a:pt x="4944" y="1265700"/>
                </a:lnTo>
                <a:lnTo>
                  <a:pt x="19125" y="1311376"/>
                </a:lnTo>
                <a:lnTo>
                  <a:pt x="41563" y="1352710"/>
                </a:lnTo>
                <a:lnTo>
                  <a:pt x="71278" y="1388722"/>
                </a:lnTo>
                <a:lnTo>
                  <a:pt x="107292" y="1418435"/>
                </a:lnTo>
                <a:lnTo>
                  <a:pt x="148625" y="1440870"/>
                </a:lnTo>
                <a:lnTo>
                  <a:pt x="194298" y="1455048"/>
                </a:lnTo>
                <a:lnTo>
                  <a:pt x="243331" y="1459991"/>
                </a:lnTo>
                <a:lnTo>
                  <a:pt x="1216660" y="1459991"/>
                </a:lnTo>
                <a:lnTo>
                  <a:pt x="1265693" y="1455048"/>
                </a:lnTo>
                <a:lnTo>
                  <a:pt x="1311366" y="1440870"/>
                </a:lnTo>
                <a:lnTo>
                  <a:pt x="1352699" y="1418435"/>
                </a:lnTo>
                <a:lnTo>
                  <a:pt x="1388713" y="1388722"/>
                </a:lnTo>
                <a:lnTo>
                  <a:pt x="1418428" y="1352710"/>
                </a:lnTo>
                <a:lnTo>
                  <a:pt x="1440866" y="1311376"/>
                </a:lnTo>
                <a:lnTo>
                  <a:pt x="1455047" y="1265700"/>
                </a:lnTo>
                <a:lnTo>
                  <a:pt x="1459991" y="1216659"/>
                </a:lnTo>
                <a:lnTo>
                  <a:pt x="1459991" y="243331"/>
                </a:lnTo>
                <a:lnTo>
                  <a:pt x="1455047" y="194298"/>
                </a:lnTo>
                <a:lnTo>
                  <a:pt x="1440866" y="148625"/>
                </a:lnTo>
                <a:lnTo>
                  <a:pt x="1418428" y="107292"/>
                </a:lnTo>
                <a:lnTo>
                  <a:pt x="1388713" y="71278"/>
                </a:lnTo>
                <a:lnTo>
                  <a:pt x="1352699" y="41563"/>
                </a:lnTo>
                <a:lnTo>
                  <a:pt x="1311366" y="19125"/>
                </a:lnTo>
                <a:lnTo>
                  <a:pt x="1265693" y="4944"/>
                </a:lnTo>
                <a:lnTo>
                  <a:pt x="121666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27297" y="5214365"/>
            <a:ext cx="1460500" cy="1460500"/>
          </a:xfrm>
          <a:custGeom>
            <a:avLst/>
            <a:gdLst/>
            <a:ahLst/>
            <a:cxnLst/>
            <a:rect l="l" t="t" r="r" b="b"/>
            <a:pathLst>
              <a:path w="1460500" h="1460500">
                <a:moveTo>
                  <a:pt x="0" y="243331"/>
                </a:moveTo>
                <a:lnTo>
                  <a:pt x="4944" y="194298"/>
                </a:lnTo>
                <a:lnTo>
                  <a:pt x="19125" y="148625"/>
                </a:lnTo>
                <a:lnTo>
                  <a:pt x="41563" y="107292"/>
                </a:lnTo>
                <a:lnTo>
                  <a:pt x="71278" y="71278"/>
                </a:lnTo>
                <a:lnTo>
                  <a:pt x="107292" y="41563"/>
                </a:lnTo>
                <a:lnTo>
                  <a:pt x="148625" y="19125"/>
                </a:lnTo>
                <a:lnTo>
                  <a:pt x="194298" y="4944"/>
                </a:lnTo>
                <a:lnTo>
                  <a:pt x="243331" y="0"/>
                </a:lnTo>
                <a:lnTo>
                  <a:pt x="1216660" y="0"/>
                </a:lnTo>
                <a:lnTo>
                  <a:pt x="1265693" y="4944"/>
                </a:lnTo>
                <a:lnTo>
                  <a:pt x="1311366" y="19125"/>
                </a:lnTo>
                <a:lnTo>
                  <a:pt x="1352699" y="41563"/>
                </a:lnTo>
                <a:lnTo>
                  <a:pt x="1388713" y="71278"/>
                </a:lnTo>
                <a:lnTo>
                  <a:pt x="1418428" y="107292"/>
                </a:lnTo>
                <a:lnTo>
                  <a:pt x="1440866" y="148625"/>
                </a:lnTo>
                <a:lnTo>
                  <a:pt x="1455047" y="194298"/>
                </a:lnTo>
                <a:lnTo>
                  <a:pt x="1459991" y="243331"/>
                </a:lnTo>
                <a:lnTo>
                  <a:pt x="1459991" y="1216659"/>
                </a:lnTo>
                <a:lnTo>
                  <a:pt x="1455047" y="1265700"/>
                </a:lnTo>
                <a:lnTo>
                  <a:pt x="1440866" y="1311376"/>
                </a:lnTo>
                <a:lnTo>
                  <a:pt x="1418428" y="1352710"/>
                </a:lnTo>
                <a:lnTo>
                  <a:pt x="1388713" y="1388722"/>
                </a:lnTo>
                <a:lnTo>
                  <a:pt x="1352699" y="1418435"/>
                </a:lnTo>
                <a:lnTo>
                  <a:pt x="1311366" y="1440870"/>
                </a:lnTo>
                <a:lnTo>
                  <a:pt x="1265693" y="1455048"/>
                </a:lnTo>
                <a:lnTo>
                  <a:pt x="1216660" y="1459991"/>
                </a:lnTo>
                <a:lnTo>
                  <a:pt x="243331" y="1459991"/>
                </a:lnTo>
                <a:lnTo>
                  <a:pt x="194298" y="1455048"/>
                </a:lnTo>
                <a:lnTo>
                  <a:pt x="148625" y="1440870"/>
                </a:lnTo>
                <a:lnTo>
                  <a:pt x="107292" y="1418435"/>
                </a:lnTo>
                <a:lnTo>
                  <a:pt x="71278" y="1388722"/>
                </a:lnTo>
                <a:lnTo>
                  <a:pt x="41563" y="1352710"/>
                </a:lnTo>
                <a:lnTo>
                  <a:pt x="19125" y="1311376"/>
                </a:lnTo>
                <a:lnTo>
                  <a:pt x="4944" y="1265700"/>
                </a:lnTo>
                <a:lnTo>
                  <a:pt x="0" y="1216659"/>
                </a:lnTo>
                <a:lnTo>
                  <a:pt x="0" y="243331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00065" y="5214365"/>
            <a:ext cx="1460500" cy="1460500"/>
          </a:xfrm>
          <a:custGeom>
            <a:avLst/>
            <a:gdLst/>
            <a:ahLst/>
            <a:cxnLst/>
            <a:rect l="l" t="t" r="r" b="b"/>
            <a:pathLst>
              <a:path w="1460500" h="1460500">
                <a:moveTo>
                  <a:pt x="1216660" y="0"/>
                </a:moveTo>
                <a:lnTo>
                  <a:pt x="243332" y="0"/>
                </a:lnTo>
                <a:lnTo>
                  <a:pt x="194298" y="4944"/>
                </a:lnTo>
                <a:lnTo>
                  <a:pt x="148625" y="19125"/>
                </a:lnTo>
                <a:lnTo>
                  <a:pt x="107292" y="41563"/>
                </a:lnTo>
                <a:lnTo>
                  <a:pt x="71278" y="71278"/>
                </a:lnTo>
                <a:lnTo>
                  <a:pt x="41563" y="107292"/>
                </a:lnTo>
                <a:lnTo>
                  <a:pt x="19125" y="148625"/>
                </a:lnTo>
                <a:lnTo>
                  <a:pt x="4944" y="194298"/>
                </a:lnTo>
                <a:lnTo>
                  <a:pt x="0" y="243331"/>
                </a:lnTo>
                <a:lnTo>
                  <a:pt x="0" y="1216659"/>
                </a:lnTo>
                <a:lnTo>
                  <a:pt x="4944" y="1265700"/>
                </a:lnTo>
                <a:lnTo>
                  <a:pt x="19125" y="1311376"/>
                </a:lnTo>
                <a:lnTo>
                  <a:pt x="41563" y="1352710"/>
                </a:lnTo>
                <a:lnTo>
                  <a:pt x="71278" y="1388722"/>
                </a:lnTo>
                <a:lnTo>
                  <a:pt x="107292" y="1418435"/>
                </a:lnTo>
                <a:lnTo>
                  <a:pt x="148625" y="1440870"/>
                </a:lnTo>
                <a:lnTo>
                  <a:pt x="194298" y="1455048"/>
                </a:lnTo>
                <a:lnTo>
                  <a:pt x="243332" y="1459991"/>
                </a:lnTo>
                <a:lnTo>
                  <a:pt x="1216660" y="1459991"/>
                </a:lnTo>
                <a:lnTo>
                  <a:pt x="1265693" y="1455048"/>
                </a:lnTo>
                <a:lnTo>
                  <a:pt x="1311366" y="1440870"/>
                </a:lnTo>
                <a:lnTo>
                  <a:pt x="1352699" y="1418435"/>
                </a:lnTo>
                <a:lnTo>
                  <a:pt x="1388713" y="1388722"/>
                </a:lnTo>
                <a:lnTo>
                  <a:pt x="1418428" y="1352710"/>
                </a:lnTo>
                <a:lnTo>
                  <a:pt x="1440866" y="1311376"/>
                </a:lnTo>
                <a:lnTo>
                  <a:pt x="1455047" y="1265700"/>
                </a:lnTo>
                <a:lnTo>
                  <a:pt x="1459991" y="1216659"/>
                </a:lnTo>
                <a:lnTo>
                  <a:pt x="1459991" y="243331"/>
                </a:lnTo>
                <a:lnTo>
                  <a:pt x="1455047" y="194298"/>
                </a:lnTo>
                <a:lnTo>
                  <a:pt x="1440866" y="148625"/>
                </a:lnTo>
                <a:lnTo>
                  <a:pt x="1418428" y="107292"/>
                </a:lnTo>
                <a:lnTo>
                  <a:pt x="1388713" y="71278"/>
                </a:lnTo>
                <a:lnTo>
                  <a:pt x="1352699" y="41563"/>
                </a:lnTo>
                <a:lnTo>
                  <a:pt x="1311366" y="19125"/>
                </a:lnTo>
                <a:lnTo>
                  <a:pt x="1265693" y="4944"/>
                </a:lnTo>
                <a:lnTo>
                  <a:pt x="121666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00065" y="5214365"/>
            <a:ext cx="1460500" cy="1460500"/>
          </a:xfrm>
          <a:custGeom>
            <a:avLst/>
            <a:gdLst/>
            <a:ahLst/>
            <a:cxnLst/>
            <a:rect l="l" t="t" r="r" b="b"/>
            <a:pathLst>
              <a:path w="1460500" h="1460500">
                <a:moveTo>
                  <a:pt x="0" y="243331"/>
                </a:moveTo>
                <a:lnTo>
                  <a:pt x="4944" y="194298"/>
                </a:lnTo>
                <a:lnTo>
                  <a:pt x="19125" y="148625"/>
                </a:lnTo>
                <a:lnTo>
                  <a:pt x="41563" y="107292"/>
                </a:lnTo>
                <a:lnTo>
                  <a:pt x="71278" y="71278"/>
                </a:lnTo>
                <a:lnTo>
                  <a:pt x="107292" y="41563"/>
                </a:lnTo>
                <a:lnTo>
                  <a:pt x="148625" y="19125"/>
                </a:lnTo>
                <a:lnTo>
                  <a:pt x="194298" y="4944"/>
                </a:lnTo>
                <a:lnTo>
                  <a:pt x="243332" y="0"/>
                </a:lnTo>
                <a:lnTo>
                  <a:pt x="1216660" y="0"/>
                </a:lnTo>
                <a:lnTo>
                  <a:pt x="1265693" y="4944"/>
                </a:lnTo>
                <a:lnTo>
                  <a:pt x="1311366" y="19125"/>
                </a:lnTo>
                <a:lnTo>
                  <a:pt x="1352699" y="41563"/>
                </a:lnTo>
                <a:lnTo>
                  <a:pt x="1388713" y="71278"/>
                </a:lnTo>
                <a:lnTo>
                  <a:pt x="1418428" y="107292"/>
                </a:lnTo>
                <a:lnTo>
                  <a:pt x="1440866" y="148625"/>
                </a:lnTo>
                <a:lnTo>
                  <a:pt x="1455047" y="194298"/>
                </a:lnTo>
                <a:lnTo>
                  <a:pt x="1459991" y="243331"/>
                </a:lnTo>
                <a:lnTo>
                  <a:pt x="1459991" y="1216659"/>
                </a:lnTo>
                <a:lnTo>
                  <a:pt x="1455047" y="1265700"/>
                </a:lnTo>
                <a:lnTo>
                  <a:pt x="1440866" y="1311376"/>
                </a:lnTo>
                <a:lnTo>
                  <a:pt x="1418428" y="1352710"/>
                </a:lnTo>
                <a:lnTo>
                  <a:pt x="1388713" y="1388722"/>
                </a:lnTo>
                <a:lnTo>
                  <a:pt x="1352699" y="1418435"/>
                </a:lnTo>
                <a:lnTo>
                  <a:pt x="1311366" y="1440870"/>
                </a:lnTo>
                <a:lnTo>
                  <a:pt x="1265693" y="1455048"/>
                </a:lnTo>
                <a:lnTo>
                  <a:pt x="1216660" y="1459991"/>
                </a:lnTo>
                <a:lnTo>
                  <a:pt x="243332" y="1459991"/>
                </a:lnTo>
                <a:lnTo>
                  <a:pt x="194298" y="1455048"/>
                </a:lnTo>
                <a:lnTo>
                  <a:pt x="148625" y="1440870"/>
                </a:lnTo>
                <a:lnTo>
                  <a:pt x="107292" y="1418435"/>
                </a:lnTo>
                <a:lnTo>
                  <a:pt x="71278" y="1388722"/>
                </a:lnTo>
                <a:lnTo>
                  <a:pt x="41563" y="1352710"/>
                </a:lnTo>
                <a:lnTo>
                  <a:pt x="19125" y="1311376"/>
                </a:lnTo>
                <a:lnTo>
                  <a:pt x="4944" y="1265700"/>
                </a:lnTo>
                <a:lnTo>
                  <a:pt x="0" y="1216659"/>
                </a:lnTo>
                <a:lnTo>
                  <a:pt x="0" y="243331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12209" y="5695594"/>
            <a:ext cx="2663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84960" algn="l"/>
              </a:tabLst>
            </a:pP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消元法	配项法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8055" y="1540763"/>
            <a:ext cx="8868156" cy="1810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0016" y="2042160"/>
            <a:ext cx="7911083" cy="1353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5300" y="1565147"/>
            <a:ext cx="8778240" cy="1720850"/>
          </a:xfrm>
          <a:custGeom>
            <a:avLst/>
            <a:gdLst/>
            <a:ahLst/>
            <a:cxnLst/>
            <a:rect l="l" t="t" r="r" b="b"/>
            <a:pathLst>
              <a:path w="8778240" h="1720850">
                <a:moveTo>
                  <a:pt x="0" y="1720596"/>
                </a:moveTo>
                <a:lnTo>
                  <a:pt x="8778240" y="1720596"/>
                </a:lnTo>
                <a:lnTo>
                  <a:pt x="8778240" y="0"/>
                </a:lnTo>
                <a:lnTo>
                  <a:pt x="0" y="0"/>
                </a:lnTo>
                <a:lnTo>
                  <a:pt x="0" y="1720596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5300" y="1565147"/>
            <a:ext cx="8778240" cy="1720850"/>
          </a:xfrm>
          <a:custGeom>
            <a:avLst/>
            <a:gdLst/>
            <a:ahLst/>
            <a:cxnLst/>
            <a:rect l="l" t="t" r="r" b="b"/>
            <a:pathLst>
              <a:path w="8778240" h="1720850">
                <a:moveTo>
                  <a:pt x="0" y="1720596"/>
                </a:moveTo>
                <a:lnTo>
                  <a:pt x="8778240" y="1720596"/>
                </a:lnTo>
                <a:lnTo>
                  <a:pt x="8778240" y="0"/>
                </a:lnTo>
                <a:lnTo>
                  <a:pt x="0" y="0"/>
                </a:lnTo>
                <a:lnTo>
                  <a:pt x="0" y="1720596"/>
                </a:lnTo>
                <a:close/>
              </a:path>
            </a:pathLst>
          </a:custGeom>
          <a:ln w="9144">
            <a:solidFill>
              <a:srgbClr val="FF9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90016" y="1107947"/>
            <a:ext cx="6230874" cy="9654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64132" y="1276045"/>
            <a:ext cx="7364730" cy="1839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05"/>
              </a:spcBef>
            </a:pPr>
            <a:r>
              <a:rPr sz="3200" b="1" spc="5" dirty="0">
                <a:solidFill>
                  <a:srgbClr val="FFFFFF"/>
                </a:solidFill>
                <a:latin typeface="Microsoft JhengHei"/>
                <a:cs typeface="Microsoft JhengHei"/>
              </a:rPr>
              <a:t>代</a:t>
            </a:r>
            <a:r>
              <a:rPr sz="3200" b="1" spc="20" dirty="0">
                <a:solidFill>
                  <a:srgbClr val="FFFFFF"/>
                </a:solidFill>
                <a:latin typeface="Microsoft JhengHei"/>
                <a:cs typeface="Microsoft JhengHei"/>
              </a:rPr>
              <a:t>数</a:t>
            </a:r>
            <a:r>
              <a:rPr sz="3200" b="1" spc="5" dirty="0">
                <a:solidFill>
                  <a:srgbClr val="FFFFFF"/>
                </a:solidFill>
                <a:latin typeface="Microsoft JhengHei"/>
                <a:cs typeface="Microsoft JhengHei"/>
              </a:rPr>
              <a:t>化简法</a:t>
            </a:r>
            <a:endParaRPr sz="32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050">
              <a:latin typeface="Microsoft JhengHei"/>
              <a:cs typeface="Microsoft JhengHei"/>
            </a:endParaRPr>
          </a:p>
          <a:p>
            <a:pPr marL="12700" marR="5080">
              <a:lnSpc>
                <a:spcPts val="3300"/>
              </a:lnSpc>
            </a:pP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反复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运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用基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本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公式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和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常用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公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式消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去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多余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项 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和多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余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因子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，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以便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求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得最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简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表达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式。</a:t>
            </a:r>
            <a:endParaRPr sz="3200">
              <a:latin typeface="Microsoft JhengHei"/>
              <a:cs typeface="Microsoft JhengHe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5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621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逻辑函数的代数化简法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919" y="1169873"/>
            <a:ext cx="43072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49120" algn="l"/>
              </a:tabLst>
            </a:pPr>
            <a:r>
              <a:rPr sz="3200" b="1" spc="10" dirty="0">
                <a:solidFill>
                  <a:srgbClr val="FF0000"/>
                </a:solidFill>
                <a:latin typeface="Microsoft JhengHei"/>
                <a:cs typeface="Microsoft JhengHei"/>
              </a:rPr>
              <a:t>并项</a:t>
            </a:r>
            <a:r>
              <a:rPr sz="3200" b="1" spc="5" dirty="0">
                <a:solidFill>
                  <a:srgbClr val="FF0000"/>
                </a:solidFill>
                <a:latin typeface="Microsoft JhengHei"/>
                <a:cs typeface="Microsoft JhengHei"/>
              </a:rPr>
              <a:t>法：</a:t>
            </a:r>
            <a:r>
              <a:rPr sz="3200" b="1" dirty="0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利用</a:t>
            </a:r>
            <a:r>
              <a:rPr sz="3200" b="1" spc="15" dirty="0">
                <a:solidFill>
                  <a:srgbClr val="0000FF"/>
                </a:solidFill>
                <a:latin typeface="Microsoft JhengHei"/>
                <a:cs typeface="Microsoft JhengHei"/>
              </a:rPr>
              <a:t>合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并定理</a:t>
            </a:r>
            <a:endParaRPr sz="3200" dirty="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69522" y="1225014"/>
            <a:ext cx="263525" cy="0"/>
          </a:xfrm>
          <a:custGeom>
            <a:avLst/>
            <a:gdLst/>
            <a:ahLst/>
            <a:cxnLst/>
            <a:rect l="l" t="t" r="r" b="b"/>
            <a:pathLst>
              <a:path w="263525">
                <a:moveTo>
                  <a:pt x="0" y="0"/>
                </a:moveTo>
                <a:lnTo>
                  <a:pt x="263270" y="0"/>
                </a:lnTo>
              </a:path>
            </a:pathLst>
          </a:custGeom>
          <a:ln w="17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27604" y="1184259"/>
            <a:ext cx="3627754" cy="53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i="1" spc="-80" dirty="0">
                <a:latin typeface="Times New Roman"/>
                <a:cs typeface="Times New Roman"/>
              </a:rPr>
              <a:t>AB</a:t>
            </a:r>
            <a:r>
              <a:rPr sz="3350" i="1" spc="-5" dirty="0">
                <a:latin typeface="Times New Roman"/>
                <a:cs typeface="Times New Roman"/>
              </a:rPr>
              <a:t> </a:t>
            </a:r>
            <a:r>
              <a:rPr sz="3350" spc="15" dirty="0">
                <a:latin typeface="Symbol"/>
                <a:cs typeface="Symbol"/>
              </a:rPr>
              <a:t></a:t>
            </a:r>
            <a:r>
              <a:rPr sz="3350" spc="55" dirty="0">
                <a:latin typeface="Times New Roman"/>
                <a:cs typeface="Times New Roman"/>
              </a:rPr>
              <a:t> </a:t>
            </a:r>
            <a:r>
              <a:rPr sz="3350" i="1" spc="75" dirty="0">
                <a:latin typeface="Times New Roman"/>
                <a:cs typeface="Times New Roman"/>
              </a:rPr>
              <a:t>AB</a:t>
            </a:r>
            <a:r>
              <a:rPr sz="3350" i="1" dirty="0">
                <a:latin typeface="Times New Roman"/>
                <a:cs typeface="Times New Roman"/>
              </a:rPr>
              <a:t> </a:t>
            </a:r>
            <a:r>
              <a:rPr sz="3350" spc="15" dirty="0">
                <a:latin typeface="Symbol"/>
                <a:cs typeface="Symbol"/>
              </a:rPr>
              <a:t></a:t>
            </a:r>
            <a:r>
              <a:rPr sz="3350" spc="210" dirty="0">
                <a:latin typeface="Times New Roman"/>
                <a:cs typeface="Times New Roman"/>
              </a:rPr>
              <a:t> </a:t>
            </a:r>
            <a:r>
              <a:rPr sz="3350" i="1" spc="20" dirty="0">
                <a:latin typeface="Times New Roman"/>
                <a:cs typeface="Times New Roman"/>
              </a:rPr>
              <a:t>A</a:t>
            </a:r>
            <a:r>
              <a:rPr sz="3350" i="1" spc="210" dirty="0">
                <a:latin typeface="Times New Roman"/>
                <a:cs typeface="Times New Roman"/>
              </a:rPr>
              <a:t> </a:t>
            </a:r>
            <a:r>
              <a:rPr sz="4800" b="1" spc="15" baseline="4340" dirty="0">
                <a:solidFill>
                  <a:srgbClr val="0000FF"/>
                </a:solidFill>
                <a:latin typeface="Microsoft JhengHei"/>
                <a:cs typeface="Microsoft JhengHei"/>
              </a:rPr>
              <a:t>和互补</a:t>
            </a:r>
            <a:endParaRPr sz="4800" baseline="4340">
              <a:latin typeface="Microsoft JhengHei"/>
              <a:cs typeface="Microsoft JhengHe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6919" y="1639333"/>
            <a:ext cx="8394065" cy="1867178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3840"/>
              </a:lnSpc>
              <a:spcBef>
                <a:spcPts val="380"/>
              </a:spcBef>
              <a:tabLst>
                <a:tab pos="622300" algn="l"/>
              </a:tabLst>
            </a:pP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律	</a:t>
            </a:r>
            <a:r>
              <a:rPr sz="5025" i="1" spc="7" baseline="3316" dirty="0">
                <a:latin typeface="Times New Roman"/>
                <a:cs typeface="Times New Roman"/>
              </a:rPr>
              <a:t>A</a:t>
            </a:r>
            <a:r>
              <a:rPr sz="5025" i="1" spc="-502" baseline="3316" dirty="0">
                <a:latin typeface="Times New Roman"/>
                <a:cs typeface="Times New Roman"/>
              </a:rPr>
              <a:t> </a:t>
            </a:r>
            <a:r>
              <a:rPr sz="5025" spc="7" baseline="3316" dirty="0">
                <a:latin typeface="Symbol"/>
                <a:cs typeface="Symbol"/>
              </a:rPr>
              <a:t></a:t>
            </a:r>
            <a:r>
              <a:rPr sz="5025" spc="127" baseline="3316" dirty="0">
                <a:latin typeface="Times New Roman"/>
                <a:cs typeface="Times New Roman"/>
              </a:rPr>
              <a:t> </a:t>
            </a:r>
            <a:r>
              <a:rPr sz="5025" i="1" spc="7" baseline="3316" dirty="0">
                <a:latin typeface="Times New Roman"/>
                <a:cs typeface="Times New Roman"/>
              </a:rPr>
              <a:t>A</a:t>
            </a:r>
            <a:r>
              <a:rPr sz="5025" i="1" spc="-187" baseline="3316" dirty="0">
                <a:latin typeface="Times New Roman"/>
                <a:cs typeface="Times New Roman"/>
              </a:rPr>
              <a:t> </a:t>
            </a:r>
            <a:r>
              <a:rPr sz="5025" spc="7" baseline="3316" dirty="0">
                <a:latin typeface="Symbol"/>
                <a:cs typeface="Symbol"/>
              </a:rPr>
              <a:t></a:t>
            </a:r>
            <a:r>
              <a:rPr sz="5025" spc="-585" baseline="3316" dirty="0">
                <a:latin typeface="Times New Roman"/>
                <a:cs typeface="Times New Roman"/>
              </a:rPr>
              <a:t> </a:t>
            </a:r>
            <a:r>
              <a:rPr sz="5025" spc="7" baseline="3316" dirty="0">
                <a:latin typeface="Times New Roman"/>
                <a:cs typeface="Times New Roman"/>
              </a:rPr>
              <a:t>1</a:t>
            </a:r>
            <a:r>
              <a:rPr sz="5025" spc="-44" baseline="3316" dirty="0">
                <a:latin typeface="Times New Roman"/>
                <a:cs typeface="Times New Roman"/>
              </a:rPr>
              <a:t> 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将两项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合</a:t>
            </a:r>
            <a:r>
              <a:rPr sz="32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并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成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一</a:t>
            </a:r>
            <a:r>
              <a:rPr sz="32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项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，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同</a:t>
            </a:r>
            <a:r>
              <a:rPr sz="32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时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消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去</a:t>
            </a:r>
            <a:r>
              <a:rPr sz="32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一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个 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“因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子</a:t>
            </a:r>
            <a:r>
              <a:rPr sz="32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”（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变</a:t>
            </a:r>
            <a:r>
              <a:rPr sz="32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量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）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。</a:t>
            </a:r>
            <a:endParaRPr sz="3200" dirty="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50" dirty="0">
              <a:latin typeface="Microsoft JhengHei"/>
              <a:cs typeface="Microsoft JhengHei"/>
            </a:endParaRPr>
          </a:p>
          <a:p>
            <a:pPr marR="2758440" algn="r">
              <a:lnSpc>
                <a:spcPct val="100000"/>
              </a:lnSpc>
            </a:pPr>
            <a:endParaRPr sz="335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33222" y="2853689"/>
            <a:ext cx="8712835" cy="3240405"/>
          </a:xfrm>
          <a:custGeom>
            <a:avLst/>
            <a:gdLst/>
            <a:ahLst/>
            <a:cxnLst/>
            <a:rect l="l" t="t" r="r" b="b"/>
            <a:pathLst>
              <a:path w="8712835" h="3240404">
                <a:moveTo>
                  <a:pt x="0" y="239775"/>
                </a:moveTo>
                <a:lnTo>
                  <a:pt x="4871" y="191442"/>
                </a:lnTo>
                <a:lnTo>
                  <a:pt x="18843" y="146429"/>
                </a:lnTo>
                <a:lnTo>
                  <a:pt x="40951" y="105698"/>
                </a:lnTo>
                <a:lnTo>
                  <a:pt x="70231" y="70215"/>
                </a:lnTo>
                <a:lnTo>
                  <a:pt x="105718" y="40940"/>
                </a:lnTo>
                <a:lnTo>
                  <a:pt x="146450" y="18837"/>
                </a:lnTo>
                <a:lnTo>
                  <a:pt x="191461" y="4869"/>
                </a:lnTo>
                <a:lnTo>
                  <a:pt x="239788" y="0"/>
                </a:lnTo>
                <a:lnTo>
                  <a:pt x="8472932" y="0"/>
                </a:lnTo>
                <a:lnTo>
                  <a:pt x="8521265" y="4869"/>
                </a:lnTo>
                <a:lnTo>
                  <a:pt x="8566278" y="18837"/>
                </a:lnTo>
                <a:lnTo>
                  <a:pt x="8607009" y="40940"/>
                </a:lnTo>
                <a:lnTo>
                  <a:pt x="8642492" y="70215"/>
                </a:lnTo>
                <a:lnTo>
                  <a:pt x="8671767" y="105698"/>
                </a:lnTo>
                <a:lnTo>
                  <a:pt x="8693870" y="146429"/>
                </a:lnTo>
                <a:lnTo>
                  <a:pt x="8707838" y="191442"/>
                </a:lnTo>
                <a:lnTo>
                  <a:pt x="8712708" y="239775"/>
                </a:lnTo>
                <a:lnTo>
                  <a:pt x="8712708" y="3000235"/>
                </a:lnTo>
                <a:lnTo>
                  <a:pt x="8707838" y="3048562"/>
                </a:lnTo>
                <a:lnTo>
                  <a:pt x="8693870" y="3093573"/>
                </a:lnTo>
                <a:lnTo>
                  <a:pt x="8671767" y="3134305"/>
                </a:lnTo>
                <a:lnTo>
                  <a:pt x="8642492" y="3169793"/>
                </a:lnTo>
                <a:lnTo>
                  <a:pt x="8607009" y="3199072"/>
                </a:lnTo>
                <a:lnTo>
                  <a:pt x="8566278" y="3221180"/>
                </a:lnTo>
                <a:lnTo>
                  <a:pt x="8521265" y="3235152"/>
                </a:lnTo>
                <a:lnTo>
                  <a:pt x="8472932" y="3240024"/>
                </a:lnTo>
                <a:lnTo>
                  <a:pt x="239788" y="3240024"/>
                </a:lnTo>
                <a:lnTo>
                  <a:pt x="191461" y="3235152"/>
                </a:lnTo>
                <a:lnTo>
                  <a:pt x="146450" y="3221180"/>
                </a:lnTo>
                <a:lnTo>
                  <a:pt x="105718" y="3199072"/>
                </a:lnTo>
                <a:lnTo>
                  <a:pt x="70230" y="3169793"/>
                </a:lnTo>
                <a:lnTo>
                  <a:pt x="40951" y="3134305"/>
                </a:lnTo>
                <a:lnTo>
                  <a:pt x="18843" y="3093573"/>
                </a:lnTo>
                <a:lnTo>
                  <a:pt x="4871" y="3048562"/>
                </a:lnTo>
                <a:lnTo>
                  <a:pt x="0" y="3000235"/>
                </a:lnTo>
                <a:lnTo>
                  <a:pt x="0" y="239775"/>
                </a:lnTo>
                <a:close/>
              </a:path>
            </a:pathLst>
          </a:custGeom>
          <a:ln w="25907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98436" y="3948676"/>
            <a:ext cx="912136" cy="936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64080" y="4293489"/>
            <a:ext cx="122427" cy="1584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5573" y="4034790"/>
            <a:ext cx="100330" cy="599440"/>
          </a:xfrm>
          <a:custGeom>
            <a:avLst/>
            <a:gdLst/>
            <a:ahLst/>
            <a:cxnLst/>
            <a:rect l="l" t="t" r="r" b="b"/>
            <a:pathLst>
              <a:path w="100330" h="599439">
                <a:moveTo>
                  <a:pt x="0" y="0"/>
                </a:moveTo>
                <a:lnTo>
                  <a:pt x="99949" y="0"/>
                </a:lnTo>
                <a:lnTo>
                  <a:pt x="99949" y="599186"/>
                </a:lnTo>
                <a:lnTo>
                  <a:pt x="0" y="599186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FFA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35302" y="3998086"/>
            <a:ext cx="359410" cy="835025"/>
          </a:xfrm>
          <a:custGeom>
            <a:avLst/>
            <a:gdLst/>
            <a:ahLst/>
            <a:cxnLst/>
            <a:rect l="l" t="t" r="r" b="b"/>
            <a:pathLst>
              <a:path w="359410" h="835025">
                <a:moveTo>
                  <a:pt x="46481" y="0"/>
                </a:moveTo>
                <a:lnTo>
                  <a:pt x="359028" y="0"/>
                </a:lnTo>
                <a:lnTo>
                  <a:pt x="359028" y="108965"/>
                </a:lnTo>
                <a:lnTo>
                  <a:pt x="208534" y="108965"/>
                </a:lnTo>
                <a:lnTo>
                  <a:pt x="205200" y="131371"/>
                </a:lnTo>
                <a:lnTo>
                  <a:pt x="201485" y="153431"/>
                </a:lnTo>
                <a:lnTo>
                  <a:pt x="197389" y="175134"/>
                </a:lnTo>
                <a:lnTo>
                  <a:pt x="192913" y="196469"/>
                </a:lnTo>
                <a:lnTo>
                  <a:pt x="353695" y="196469"/>
                </a:lnTo>
                <a:lnTo>
                  <a:pt x="352546" y="256534"/>
                </a:lnTo>
                <a:lnTo>
                  <a:pt x="349102" y="314101"/>
                </a:lnTo>
                <a:lnTo>
                  <a:pt x="343363" y="369168"/>
                </a:lnTo>
                <a:lnTo>
                  <a:pt x="335328" y="421736"/>
                </a:lnTo>
                <a:lnTo>
                  <a:pt x="324997" y="471804"/>
                </a:lnTo>
                <a:lnTo>
                  <a:pt x="312372" y="519374"/>
                </a:lnTo>
                <a:lnTo>
                  <a:pt x="297451" y="564443"/>
                </a:lnTo>
                <a:lnTo>
                  <a:pt x="280237" y="607014"/>
                </a:lnTo>
                <a:lnTo>
                  <a:pt x="260727" y="647085"/>
                </a:lnTo>
                <a:lnTo>
                  <a:pt x="238924" y="684657"/>
                </a:lnTo>
                <a:lnTo>
                  <a:pt x="214827" y="719729"/>
                </a:lnTo>
                <a:lnTo>
                  <a:pt x="188436" y="752302"/>
                </a:lnTo>
                <a:lnTo>
                  <a:pt x="159752" y="782375"/>
                </a:lnTo>
                <a:lnTo>
                  <a:pt x="128774" y="809950"/>
                </a:lnTo>
                <a:lnTo>
                  <a:pt x="95503" y="835025"/>
                </a:lnTo>
                <a:lnTo>
                  <a:pt x="77027" y="814018"/>
                </a:lnTo>
                <a:lnTo>
                  <a:pt x="56276" y="792130"/>
                </a:lnTo>
                <a:lnTo>
                  <a:pt x="33264" y="769338"/>
                </a:lnTo>
                <a:lnTo>
                  <a:pt x="8000" y="745617"/>
                </a:lnTo>
                <a:lnTo>
                  <a:pt x="50247" y="713643"/>
                </a:lnTo>
                <a:lnTo>
                  <a:pt x="88293" y="678682"/>
                </a:lnTo>
                <a:lnTo>
                  <a:pt x="122145" y="640735"/>
                </a:lnTo>
                <a:lnTo>
                  <a:pt x="151809" y="599800"/>
                </a:lnTo>
                <a:lnTo>
                  <a:pt x="177291" y="555879"/>
                </a:lnTo>
                <a:lnTo>
                  <a:pt x="157027" y="535350"/>
                </a:lnTo>
                <a:lnTo>
                  <a:pt x="136048" y="515286"/>
                </a:lnTo>
                <a:lnTo>
                  <a:pt x="114355" y="495675"/>
                </a:lnTo>
                <a:lnTo>
                  <a:pt x="91947" y="476504"/>
                </a:lnTo>
                <a:lnTo>
                  <a:pt x="83567" y="491458"/>
                </a:lnTo>
                <a:lnTo>
                  <a:pt x="74818" y="506031"/>
                </a:lnTo>
                <a:lnTo>
                  <a:pt x="65712" y="520223"/>
                </a:lnTo>
                <a:lnTo>
                  <a:pt x="56260" y="534035"/>
                </a:lnTo>
                <a:lnTo>
                  <a:pt x="44380" y="508694"/>
                </a:lnTo>
                <a:lnTo>
                  <a:pt x="31035" y="481806"/>
                </a:lnTo>
                <a:lnTo>
                  <a:pt x="16238" y="453346"/>
                </a:lnTo>
                <a:lnTo>
                  <a:pt x="0" y="423290"/>
                </a:lnTo>
                <a:lnTo>
                  <a:pt x="21056" y="383845"/>
                </a:lnTo>
                <a:lnTo>
                  <a:pt x="39813" y="342581"/>
                </a:lnTo>
                <a:lnTo>
                  <a:pt x="56273" y="299497"/>
                </a:lnTo>
                <a:lnTo>
                  <a:pt x="70438" y="254593"/>
                </a:lnTo>
                <a:lnTo>
                  <a:pt x="82311" y="207870"/>
                </a:lnTo>
                <a:lnTo>
                  <a:pt x="91893" y="159327"/>
                </a:lnTo>
                <a:lnTo>
                  <a:pt x="99186" y="108965"/>
                </a:lnTo>
                <a:lnTo>
                  <a:pt x="46481" y="108965"/>
                </a:lnTo>
                <a:lnTo>
                  <a:pt x="46481" y="0"/>
                </a:lnTo>
                <a:close/>
              </a:path>
            </a:pathLst>
          </a:custGeom>
          <a:ln w="18288">
            <a:solidFill>
              <a:srgbClr val="FFA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30019" y="3967734"/>
            <a:ext cx="261620" cy="855344"/>
          </a:xfrm>
          <a:custGeom>
            <a:avLst/>
            <a:gdLst/>
            <a:ahLst/>
            <a:cxnLst/>
            <a:rect l="l" t="t" r="r" b="b"/>
            <a:pathLst>
              <a:path w="261619" h="855345">
                <a:moveTo>
                  <a:pt x="149987" y="0"/>
                </a:moveTo>
                <a:lnTo>
                  <a:pt x="261619" y="0"/>
                </a:lnTo>
                <a:lnTo>
                  <a:pt x="261619" y="721614"/>
                </a:lnTo>
                <a:lnTo>
                  <a:pt x="254936" y="775620"/>
                </a:lnTo>
                <a:lnTo>
                  <a:pt x="234823" y="815340"/>
                </a:lnTo>
                <a:lnTo>
                  <a:pt x="202660" y="840882"/>
                </a:lnTo>
                <a:lnTo>
                  <a:pt x="159638" y="852424"/>
                </a:lnTo>
                <a:lnTo>
                  <a:pt x="101092" y="855170"/>
                </a:lnTo>
                <a:lnTo>
                  <a:pt x="64234" y="855299"/>
                </a:lnTo>
                <a:lnTo>
                  <a:pt x="22351" y="854583"/>
                </a:lnTo>
                <a:lnTo>
                  <a:pt x="18591" y="827815"/>
                </a:lnTo>
                <a:lnTo>
                  <a:pt x="13604" y="798369"/>
                </a:lnTo>
                <a:lnTo>
                  <a:pt x="7403" y="766232"/>
                </a:lnTo>
                <a:lnTo>
                  <a:pt x="0" y="731393"/>
                </a:lnTo>
                <a:lnTo>
                  <a:pt x="32365" y="733319"/>
                </a:lnTo>
                <a:lnTo>
                  <a:pt x="60706" y="734710"/>
                </a:lnTo>
                <a:lnTo>
                  <a:pt x="85046" y="735554"/>
                </a:lnTo>
                <a:lnTo>
                  <a:pt x="105410" y="735838"/>
                </a:lnTo>
                <a:lnTo>
                  <a:pt x="124912" y="732266"/>
                </a:lnTo>
                <a:lnTo>
                  <a:pt x="138842" y="721550"/>
                </a:lnTo>
                <a:lnTo>
                  <a:pt x="147200" y="703691"/>
                </a:lnTo>
                <a:lnTo>
                  <a:pt x="149987" y="678688"/>
                </a:lnTo>
                <a:lnTo>
                  <a:pt x="149987" y="0"/>
                </a:lnTo>
                <a:close/>
              </a:path>
            </a:pathLst>
          </a:custGeom>
          <a:ln w="18288">
            <a:solidFill>
              <a:srgbClr val="FFA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40611" y="3957954"/>
            <a:ext cx="236854" cy="872490"/>
          </a:xfrm>
          <a:custGeom>
            <a:avLst/>
            <a:gdLst/>
            <a:ahLst/>
            <a:cxnLst/>
            <a:rect l="l" t="t" r="r" b="b"/>
            <a:pathLst>
              <a:path w="236855" h="872489">
                <a:moveTo>
                  <a:pt x="132206" y="0"/>
                </a:moveTo>
                <a:lnTo>
                  <a:pt x="236728" y="20574"/>
                </a:lnTo>
                <a:lnTo>
                  <a:pt x="226411" y="64313"/>
                </a:lnTo>
                <a:lnTo>
                  <a:pt x="215249" y="107696"/>
                </a:lnTo>
                <a:lnTo>
                  <a:pt x="203205" y="150697"/>
                </a:lnTo>
                <a:lnTo>
                  <a:pt x="190246" y="193294"/>
                </a:lnTo>
                <a:lnTo>
                  <a:pt x="190246" y="872363"/>
                </a:lnTo>
                <a:lnTo>
                  <a:pt x="85725" y="872363"/>
                </a:lnTo>
                <a:lnTo>
                  <a:pt x="85725" y="457200"/>
                </a:lnTo>
                <a:lnTo>
                  <a:pt x="72151" y="484991"/>
                </a:lnTo>
                <a:lnTo>
                  <a:pt x="58102" y="512556"/>
                </a:lnTo>
                <a:lnTo>
                  <a:pt x="43576" y="539906"/>
                </a:lnTo>
                <a:lnTo>
                  <a:pt x="28575" y="567055"/>
                </a:lnTo>
                <a:lnTo>
                  <a:pt x="24145" y="535884"/>
                </a:lnTo>
                <a:lnTo>
                  <a:pt x="17906" y="497808"/>
                </a:lnTo>
                <a:lnTo>
                  <a:pt x="9858" y="452826"/>
                </a:lnTo>
                <a:lnTo>
                  <a:pt x="0" y="400939"/>
                </a:lnTo>
                <a:lnTo>
                  <a:pt x="21818" y="352290"/>
                </a:lnTo>
                <a:lnTo>
                  <a:pt x="42124" y="303216"/>
                </a:lnTo>
                <a:lnTo>
                  <a:pt x="60918" y="253719"/>
                </a:lnTo>
                <a:lnTo>
                  <a:pt x="78200" y="203803"/>
                </a:lnTo>
                <a:lnTo>
                  <a:pt x="93970" y="153470"/>
                </a:lnTo>
                <a:lnTo>
                  <a:pt x="108227" y="102723"/>
                </a:lnTo>
                <a:lnTo>
                  <a:pt x="120973" y="51565"/>
                </a:lnTo>
                <a:lnTo>
                  <a:pt x="132206" y="0"/>
                </a:lnTo>
                <a:close/>
              </a:path>
            </a:pathLst>
          </a:custGeom>
          <a:ln w="18288">
            <a:solidFill>
              <a:srgbClr val="FFA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4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58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30B05DA1-A990-47DB-F4D5-95F4F078D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4989" y="2975610"/>
            <a:ext cx="4086795" cy="24673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3C37EFF2-F7A7-3277-8CB5-E9C56B90379A}"/>
                  </a:ext>
                </a:extLst>
              </p14:cNvPr>
              <p14:cNvContentPartPr/>
              <p14:nvPr/>
            </p14:nvContentPartPr>
            <p14:xfrm>
              <a:off x="3489536" y="1383533"/>
              <a:ext cx="4119480" cy="50760"/>
            </p14:xfrm>
          </p:contentPart>
        </mc:Choice>
        <mc:Fallback xmlns=""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3C37EFF2-F7A7-3277-8CB5-E9C56B9037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35536" y="1275533"/>
                <a:ext cx="4227120" cy="266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621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逻辑函数的代数化简法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919" y="1098295"/>
            <a:ext cx="43072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49120" algn="l"/>
              </a:tabLst>
            </a:pPr>
            <a:r>
              <a:rPr sz="3200" b="1" spc="5" dirty="0">
                <a:solidFill>
                  <a:srgbClr val="FF0000"/>
                </a:solidFill>
                <a:latin typeface="Microsoft JhengHei"/>
                <a:cs typeface="Microsoft JhengHei"/>
              </a:rPr>
              <a:t>消项</a:t>
            </a:r>
            <a:r>
              <a:rPr sz="3200" b="1" dirty="0">
                <a:solidFill>
                  <a:srgbClr val="FF0000"/>
                </a:solidFill>
                <a:latin typeface="Microsoft JhengHei"/>
                <a:cs typeface="Microsoft JhengHei"/>
              </a:rPr>
              <a:t>法：	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利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用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吸收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定理</a:t>
            </a:r>
            <a:endParaRPr sz="32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919" y="1585671"/>
            <a:ext cx="1656714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项定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理律 </a:t>
            </a:r>
            <a:r>
              <a:rPr sz="32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项。</a:t>
            </a:r>
            <a:endParaRPr sz="32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25087" y="1082990"/>
            <a:ext cx="3430270" cy="532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192020" algn="l"/>
              </a:tabLst>
            </a:pPr>
            <a:r>
              <a:rPr sz="3300" i="1" spc="40" dirty="0">
                <a:latin typeface="Times New Roman"/>
                <a:cs typeface="Times New Roman"/>
              </a:rPr>
              <a:t>A</a:t>
            </a:r>
            <a:r>
              <a:rPr sz="3300" i="1" spc="-330" dirty="0">
                <a:latin typeface="Times New Roman"/>
                <a:cs typeface="Times New Roman"/>
              </a:rPr>
              <a:t> </a:t>
            </a:r>
            <a:r>
              <a:rPr sz="3300" spc="35" dirty="0">
                <a:latin typeface="Symbol"/>
                <a:cs typeface="Symbol"/>
              </a:rPr>
              <a:t></a:t>
            </a:r>
            <a:r>
              <a:rPr sz="3300" spc="85" dirty="0">
                <a:latin typeface="Times New Roman"/>
                <a:cs typeface="Times New Roman"/>
              </a:rPr>
              <a:t> </a:t>
            </a:r>
            <a:r>
              <a:rPr sz="3300" i="1" spc="-140" dirty="0">
                <a:latin typeface="Times New Roman"/>
                <a:cs typeface="Times New Roman"/>
              </a:rPr>
              <a:t>A</a:t>
            </a:r>
            <a:r>
              <a:rPr sz="3300" i="1" spc="40" dirty="0">
                <a:latin typeface="Times New Roman"/>
                <a:cs typeface="Times New Roman"/>
              </a:rPr>
              <a:t>B</a:t>
            </a:r>
            <a:r>
              <a:rPr sz="3300" i="1" spc="229" dirty="0">
                <a:latin typeface="Times New Roman"/>
                <a:cs typeface="Times New Roman"/>
              </a:rPr>
              <a:t> </a:t>
            </a:r>
            <a:r>
              <a:rPr sz="3300" spc="35" dirty="0">
                <a:latin typeface="Symbol"/>
                <a:cs typeface="Symbol"/>
              </a:rPr>
              <a:t></a:t>
            </a:r>
            <a:r>
              <a:rPr sz="3300" spc="250" dirty="0">
                <a:latin typeface="Times New Roman"/>
                <a:cs typeface="Times New Roman"/>
              </a:rPr>
              <a:t> </a:t>
            </a:r>
            <a:r>
              <a:rPr sz="3300" i="1" spc="40" dirty="0">
                <a:latin typeface="Times New Roman"/>
                <a:cs typeface="Times New Roman"/>
              </a:rPr>
              <a:t>A</a:t>
            </a:r>
            <a:r>
              <a:rPr sz="3300" i="1" dirty="0">
                <a:latin typeface="Times New Roman"/>
                <a:cs typeface="Times New Roman"/>
              </a:rPr>
              <a:t>	</a:t>
            </a:r>
            <a:r>
              <a:rPr sz="32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和添加</a:t>
            </a:r>
            <a:endParaRPr sz="32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25233" y="1660861"/>
            <a:ext cx="242570" cy="0"/>
          </a:xfrm>
          <a:custGeom>
            <a:avLst/>
            <a:gdLst/>
            <a:ahLst/>
            <a:cxnLst/>
            <a:rect l="l" t="t" r="r" b="b"/>
            <a:pathLst>
              <a:path w="242570">
                <a:moveTo>
                  <a:pt x="0" y="0"/>
                </a:moveTo>
                <a:lnTo>
                  <a:pt x="242405" y="0"/>
                </a:lnTo>
              </a:path>
            </a:pathLst>
          </a:custGeom>
          <a:ln w="16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34929" y="1660861"/>
            <a:ext cx="242570" cy="0"/>
          </a:xfrm>
          <a:custGeom>
            <a:avLst/>
            <a:gdLst/>
            <a:ahLst/>
            <a:cxnLst/>
            <a:rect l="l" t="t" r="r" b="b"/>
            <a:pathLst>
              <a:path w="242570">
                <a:moveTo>
                  <a:pt x="0" y="0"/>
                </a:moveTo>
                <a:lnTo>
                  <a:pt x="242471" y="0"/>
                </a:lnTo>
              </a:path>
            </a:pathLst>
          </a:custGeom>
          <a:ln w="16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52535" y="1609159"/>
            <a:ext cx="63131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256405" algn="l"/>
              </a:tabLst>
            </a:pPr>
            <a:r>
              <a:rPr sz="3100" i="1" spc="-170" dirty="0">
                <a:latin typeface="Times New Roman"/>
                <a:cs typeface="Times New Roman"/>
              </a:rPr>
              <a:t>A</a:t>
            </a:r>
            <a:r>
              <a:rPr sz="3100" i="1" spc="25" dirty="0">
                <a:latin typeface="Times New Roman"/>
                <a:cs typeface="Times New Roman"/>
              </a:rPr>
              <a:t>B</a:t>
            </a:r>
            <a:r>
              <a:rPr sz="3100" i="1" spc="-10" dirty="0">
                <a:latin typeface="Times New Roman"/>
                <a:cs typeface="Times New Roman"/>
              </a:rPr>
              <a:t> </a:t>
            </a:r>
            <a:r>
              <a:rPr sz="3100" spc="20" dirty="0">
                <a:latin typeface="Symbol"/>
                <a:cs typeface="Symbol"/>
              </a:rPr>
              <a:t></a:t>
            </a:r>
            <a:r>
              <a:rPr sz="3100" spc="50" dirty="0">
                <a:latin typeface="Times New Roman"/>
                <a:cs typeface="Times New Roman"/>
              </a:rPr>
              <a:t> </a:t>
            </a:r>
            <a:r>
              <a:rPr sz="3100" i="1" spc="-330" dirty="0">
                <a:latin typeface="Times New Roman"/>
                <a:cs typeface="Times New Roman"/>
              </a:rPr>
              <a:t>A</a:t>
            </a:r>
            <a:r>
              <a:rPr sz="3100" i="1" spc="25" dirty="0">
                <a:latin typeface="Times New Roman"/>
                <a:cs typeface="Times New Roman"/>
              </a:rPr>
              <a:t>C</a:t>
            </a:r>
            <a:r>
              <a:rPr sz="3100" i="1" spc="-75" dirty="0">
                <a:latin typeface="Times New Roman"/>
                <a:cs typeface="Times New Roman"/>
              </a:rPr>
              <a:t> </a:t>
            </a:r>
            <a:r>
              <a:rPr sz="3100" spc="20" dirty="0">
                <a:latin typeface="Symbol"/>
                <a:cs typeface="Symbol"/>
              </a:rPr>
              <a:t></a:t>
            </a:r>
            <a:r>
              <a:rPr sz="3100" spc="-105" dirty="0">
                <a:latin typeface="Times New Roman"/>
                <a:cs typeface="Times New Roman"/>
              </a:rPr>
              <a:t> </a:t>
            </a:r>
            <a:r>
              <a:rPr sz="3100" i="1" spc="-35" dirty="0">
                <a:latin typeface="Times New Roman"/>
                <a:cs typeface="Times New Roman"/>
              </a:rPr>
              <a:t>B</a:t>
            </a:r>
            <a:r>
              <a:rPr sz="3100" i="1" spc="25" dirty="0">
                <a:latin typeface="Times New Roman"/>
                <a:cs typeface="Times New Roman"/>
              </a:rPr>
              <a:t>C</a:t>
            </a:r>
            <a:r>
              <a:rPr sz="3100" i="1" spc="170" dirty="0">
                <a:latin typeface="Times New Roman"/>
                <a:cs typeface="Times New Roman"/>
              </a:rPr>
              <a:t> </a:t>
            </a:r>
            <a:r>
              <a:rPr sz="3100" spc="20" dirty="0">
                <a:latin typeface="Symbol"/>
                <a:cs typeface="Symbol"/>
              </a:rPr>
              <a:t></a:t>
            </a:r>
            <a:r>
              <a:rPr sz="3100" spc="195" dirty="0">
                <a:latin typeface="Times New Roman"/>
                <a:cs typeface="Times New Roman"/>
              </a:rPr>
              <a:t> </a:t>
            </a:r>
            <a:r>
              <a:rPr sz="3100" i="1" spc="-170" dirty="0">
                <a:latin typeface="Times New Roman"/>
                <a:cs typeface="Times New Roman"/>
              </a:rPr>
              <a:t>A</a:t>
            </a:r>
            <a:r>
              <a:rPr sz="3100" i="1" spc="25" dirty="0">
                <a:latin typeface="Times New Roman"/>
                <a:cs typeface="Times New Roman"/>
              </a:rPr>
              <a:t>B</a:t>
            </a:r>
            <a:r>
              <a:rPr sz="3100" i="1" spc="-10" dirty="0">
                <a:latin typeface="Times New Roman"/>
                <a:cs typeface="Times New Roman"/>
              </a:rPr>
              <a:t> </a:t>
            </a:r>
            <a:r>
              <a:rPr sz="3100" spc="20" dirty="0">
                <a:latin typeface="Symbol"/>
                <a:cs typeface="Symbol"/>
              </a:rPr>
              <a:t></a:t>
            </a:r>
            <a:r>
              <a:rPr sz="3100" spc="50" dirty="0">
                <a:latin typeface="Times New Roman"/>
                <a:cs typeface="Times New Roman"/>
              </a:rPr>
              <a:t> </a:t>
            </a:r>
            <a:r>
              <a:rPr sz="3100" i="1" spc="-330" dirty="0">
                <a:latin typeface="Times New Roman"/>
                <a:cs typeface="Times New Roman"/>
              </a:rPr>
              <a:t>A</a:t>
            </a:r>
            <a:r>
              <a:rPr sz="3100" i="1" spc="25" dirty="0">
                <a:latin typeface="Times New Roman"/>
                <a:cs typeface="Times New Roman"/>
              </a:rPr>
              <a:t>C</a:t>
            </a:r>
            <a:r>
              <a:rPr sz="3100" i="1" dirty="0">
                <a:latin typeface="Times New Roman"/>
                <a:cs typeface="Times New Roman"/>
              </a:rPr>
              <a:t>	</a:t>
            </a:r>
            <a:r>
              <a:rPr sz="4800" b="1" spc="22" baseline="3472" dirty="0">
                <a:solidFill>
                  <a:srgbClr val="0000FF"/>
                </a:solidFill>
                <a:latin typeface="Microsoft JhengHei"/>
                <a:cs typeface="Microsoft JhengHei"/>
              </a:rPr>
              <a:t>消去多余的</a:t>
            </a:r>
            <a:endParaRPr sz="4800" baseline="3472">
              <a:latin typeface="Microsoft JhengHei"/>
              <a:cs typeface="Microsoft JhengHe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3222" y="2998470"/>
            <a:ext cx="8712835" cy="3240405"/>
          </a:xfrm>
          <a:custGeom>
            <a:avLst/>
            <a:gdLst/>
            <a:ahLst/>
            <a:cxnLst/>
            <a:rect l="l" t="t" r="r" b="b"/>
            <a:pathLst>
              <a:path w="8712835" h="3240404">
                <a:moveTo>
                  <a:pt x="0" y="239775"/>
                </a:moveTo>
                <a:lnTo>
                  <a:pt x="4871" y="191442"/>
                </a:lnTo>
                <a:lnTo>
                  <a:pt x="18843" y="146429"/>
                </a:lnTo>
                <a:lnTo>
                  <a:pt x="40951" y="105698"/>
                </a:lnTo>
                <a:lnTo>
                  <a:pt x="70231" y="70215"/>
                </a:lnTo>
                <a:lnTo>
                  <a:pt x="105718" y="40940"/>
                </a:lnTo>
                <a:lnTo>
                  <a:pt x="146450" y="18837"/>
                </a:lnTo>
                <a:lnTo>
                  <a:pt x="191461" y="4869"/>
                </a:lnTo>
                <a:lnTo>
                  <a:pt x="239788" y="0"/>
                </a:lnTo>
                <a:lnTo>
                  <a:pt x="8472932" y="0"/>
                </a:lnTo>
                <a:lnTo>
                  <a:pt x="8521265" y="4869"/>
                </a:lnTo>
                <a:lnTo>
                  <a:pt x="8566278" y="18837"/>
                </a:lnTo>
                <a:lnTo>
                  <a:pt x="8607009" y="40940"/>
                </a:lnTo>
                <a:lnTo>
                  <a:pt x="8642492" y="70215"/>
                </a:lnTo>
                <a:lnTo>
                  <a:pt x="8671767" y="105698"/>
                </a:lnTo>
                <a:lnTo>
                  <a:pt x="8693870" y="146429"/>
                </a:lnTo>
                <a:lnTo>
                  <a:pt x="8707838" y="191442"/>
                </a:lnTo>
                <a:lnTo>
                  <a:pt x="8712708" y="239775"/>
                </a:lnTo>
                <a:lnTo>
                  <a:pt x="8712708" y="3000235"/>
                </a:lnTo>
                <a:lnTo>
                  <a:pt x="8707838" y="3048562"/>
                </a:lnTo>
                <a:lnTo>
                  <a:pt x="8693870" y="3093573"/>
                </a:lnTo>
                <a:lnTo>
                  <a:pt x="8671767" y="3134305"/>
                </a:lnTo>
                <a:lnTo>
                  <a:pt x="8642492" y="3169792"/>
                </a:lnTo>
                <a:lnTo>
                  <a:pt x="8607009" y="3199072"/>
                </a:lnTo>
                <a:lnTo>
                  <a:pt x="8566278" y="3221180"/>
                </a:lnTo>
                <a:lnTo>
                  <a:pt x="8521265" y="3235152"/>
                </a:lnTo>
                <a:lnTo>
                  <a:pt x="8472932" y="3240023"/>
                </a:lnTo>
                <a:lnTo>
                  <a:pt x="239788" y="3240023"/>
                </a:lnTo>
                <a:lnTo>
                  <a:pt x="191461" y="3235152"/>
                </a:lnTo>
                <a:lnTo>
                  <a:pt x="146450" y="3221180"/>
                </a:lnTo>
                <a:lnTo>
                  <a:pt x="105718" y="3199072"/>
                </a:lnTo>
                <a:lnTo>
                  <a:pt x="70230" y="3169792"/>
                </a:lnTo>
                <a:lnTo>
                  <a:pt x="40951" y="3134305"/>
                </a:lnTo>
                <a:lnTo>
                  <a:pt x="18843" y="3093573"/>
                </a:lnTo>
                <a:lnTo>
                  <a:pt x="4871" y="3048562"/>
                </a:lnTo>
                <a:lnTo>
                  <a:pt x="0" y="3000235"/>
                </a:lnTo>
                <a:lnTo>
                  <a:pt x="0" y="239775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98436" y="4088888"/>
            <a:ext cx="912136" cy="936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64080" y="4437507"/>
            <a:ext cx="122427" cy="1584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25573" y="4178808"/>
            <a:ext cx="100330" cy="599440"/>
          </a:xfrm>
          <a:custGeom>
            <a:avLst/>
            <a:gdLst/>
            <a:ahLst/>
            <a:cxnLst/>
            <a:rect l="l" t="t" r="r" b="b"/>
            <a:pathLst>
              <a:path w="100330" h="599439">
                <a:moveTo>
                  <a:pt x="0" y="0"/>
                </a:moveTo>
                <a:lnTo>
                  <a:pt x="99949" y="0"/>
                </a:lnTo>
                <a:lnTo>
                  <a:pt x="99949" y="599186"/>
                </a:lnTo>
                <a:lnTo>
                  <a:pt x="0" y="599186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FFA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35302" y="4142104"/>
            <a:ext cx="359410" cy="835025"/>
          </a:xfrm>
          <a:custGeom>
            <a:avLst/>
            <a:gdLst/>
            <a:ahLst/>
            <a:cxnLst/>
            <a:rect l="l" t="t" r="r" b="b"/>
            <a:pathLst>
              <a:path w="359410" h="835025">
                <a:moveTo>
                  <a:pt x="46481" y="0"/>
                </a:moveTo>
                <a:lnTo>
                  <a:pt x="359028" y="0"/>
                </a:lnTo>
                <a:lnTo>
                  <a:pt x="359028" y="108966"/>
                </a:lnTo>
                <a:lnTo>
                  <a:pt x="208534" y="108966"/>
                </a:lnTo>
                <a:lnTo>
                  <a:pt x="205200" y="131371"/>
                </a:lnTo>
                <a:lnTo>
                  <a:pt x="201485" y="153431"/>
                </a:lnTo>
                <a:lnTo>
                  <a:pt x="197389" y="175134"/>
                </a:lnTo>
                <a:lnTo>
                  <a:pt x="192913" y="196469"/>
                </a:lnTo>
                <a:lnTo>
                  <a:pt x="353695" y="196469"/>
                </a:lnTo>
                <a:lnTo>
                  <a:pt x="352546" y="256534"/>
                </a:lnTo>
                <a:lnTo>
                  <a:pt x="349102" y="314101"/>
                </a:lnTo>
                <a:lnTo>
                  <a:pt x="343363" y="369168"/>
                </a:lnTo>
                <a:lnTo>
                  <a:pt x="335328" y="421736"/>
                </a:lnTo>
                <a:lnTo>
                  <a:pt x="324997" y="471805"/>
                </a:lnTo>
                <a:lnTo>
                  <a:pt x="312372" y="519374"/>
                </a:lnTo>
                <a:lnTo>
                  <a:pt x="297451" y="564443"/>
                </a:lnTo>
                <a:lnTo>
                  <a:pt x="280237" y="607014"/>
                </a:lnTo>
                <a:lnTo>
                  <a:pt x="260727" y="647085"/>
                </a:lnTo>
                <a:lnTo>
                  <a:pt x="238924" y="684657"/>
                </a:lnTo>
                <a:lnTo>
                  <a:pt x="214827" y="719729"/>
                </a:lnTo>
                <a:lnTo>
                  <a:pt x="188436" y="752302"/>
                </a:lnTo>
                <a:lnTo>
                  <a:pt x="159752" y="782375"/>
                </a:lnTo>
                <a:lnTo>
                  <a:pt x="128774" y="809950"/>
                </a:lnTo>
                <a:lnTo>
                  <a:pt x="95503" y="835025"/>
                </a:lnTo>
                <a:lnTo>
                  <a:pt x="77027" y="814018"/>
                </a:lnTo>
                <a:lnTo>
                  <a:pt x="56276" y="792130"/>
                </a:lnTo>
                <a:lnTo>
                  <a:pt x="33264" y="769338"/>
                </a:lnTo>
                <a:lnTo>
                  <a:pt x="8000" y="745617"/>
                </a:lnTo>
                <a:lnTo>
                  <a:pt x="50247" y="713643"/>
                </a:lnTo>
                <a:lnTo>
                  <a:pt x="88293" y="678682"/>
                </a:lnTo>
                <a:lnTo>
                  <a:pt x="122145" y="640735"/>
                </a:lnTo>
                <a:lnTo>
                  <a:pt x="151809" y="599800"/>
                </a:lnTo>
                <a:lnTo>
                  <a:pt x="177291" y="555879"/>
                </a:lnTo>
                <a:lnTo>
                  <a:pt x="157027" y="535350"/>
                </a:lnTo>
                <a:lnTo>
                  <a:pt x="136048" y="515286"/>
                </a:lnTo>
                <a:lnTo>
                  <a:pt x="114355" y="495675"/>
                </a:lnTo>
                <a:lnTo>
                  <a:pt x="91947" y="476504"/>
                </a:lnTo>
                <a:lnTo>
                  <a:pt x="83567" y="491458"/>
                </a:lnTo>
                <a:lnTo>
                  <a:pt x="74818" y="506031"/>
                </a:lnTo>
                <a:lnTo>
                  <a:pt x="65712" y="520223"/>
                </a:lnTo>
                <a:lnTo>
                  <a:pt x="56260" y="534035"/>
                </a:lnTo>
                <a:lnTo>
                  <a:pt x="44380" y="508694"/>
                </a:lnTo>
                <a:lnTo>
                  <a:pt x="31035" y="481806"/>
                </a:lnTo>
                <a:lnTo>
                  <a:pt x="16238" y="453346"/>
                </a:lnTo>
                <a:lnTo>
                  <a:pt x="0" y="423291"/>
                </a:lnTo>
                <a:lnTo>
                  <a:pt x="21056" y="383845"/>
                </a:lnTo>
                <a:lnTo>
                  <a:pt x="39813" y="342581"/>
                </a:lnTo>
                <a:lnTo>
                  <a:pt x="56273" y="299497"/>
                </a:lnTo>
                <a:lnTo>
                  <a:pt x="70438" y="254593"/>
                </a:lnTo>
                <a:lnTo>
                  <a:pt x="82311" y="207870"/>
                </a:lnTo>
                <a:lnTo>
                  <a:pt x="91893" y="159327"/>
                </a:lnTo>
                <a:lnTo>
                  <a:pt x="99186" y="108966"/>
                </a:lnTo>
                <a:lnTo>
                  <a:pt x="46481" y="108966"/>
                </a:lnTo>
                <a:lnTo>
                  <a:pt x="46481" y="0"/>
                </a:lnTo>
                <a:close/>
              </a:path>
            </a:pathLst>
          </a:custGeom>
          <a:ln w="18288">
            <a:solidFill>
              <a:srgbClr val="FFA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30019" y="4111752"/>
            <a:ext cx="261620" cy="855344"/>
          </a:xfrm>
          <a:custGeom>
            <a:avLst/>
            <a:gdLst/>
            <a:ahLst/>
            <a:cxnLst/>
            <a:rect l="l" t="t" r="r" b="b"/>
            <a:pathLst>
              <a:path w="261619" h="855345">
                <a:moveTo>
                  <a:pt x="149987" y="0"/>
                </a:moveTo>
                <a:lnTo>
                  <a:pt x="261619" y="0"/>
                </a:lnTo>
                <a:lnTo>
                  <a:pt x="261619" y="721614"/>
                </a:lnTo>
                <a:lnTo>
                  <a:pt x="254936" y="775620"/>
                </a:lnTo>
                <a:lnTo>
                  <a:pt x="234823" y="815340"/>
                </a:lnTo>
                <a:lnTo>
                  <a:pt x="202660" y="840882"/>
                </a:lnTo>
                <a:lnTo>
                  <a:pt x="159638" y="852424"/>
                </a:lnTo>
                <a:lnTo>
                  <a:pt x="101092" y="855170"/>
                </a:lnTo>
                <a:lnTo>
                  <a:pt x="64234" y="855299"/>
                </a:lnTo>
                <a:lnTo>
                  <a:pt x="22351" y="854583"/>
                </a:lnTo>
                <a:lnTo>
                  <a:pt x="18591" y="827815"/>
                </a:lnTo>
                <a:lnTo>
                  <a:pt x="13604" y="798369"/>
                </a:lnTo>
                <a:lnTo>
                  <a:pt x="7403" y="766232"/>
                </a:lnTo>
                <a:lnTo>
                  <a:pt x="0" y="731393"/>
                </a:lnTo>
                <a:lnTo>
                  <a:pt x="32365" y="733319"/>
                </a:lnTo>
                <a:lnTo>
                  <a:pt x="60706" y="734710"/>
                </a:lnTo>
                <a:lnTo>
                  <a:pt x="85046" y="735554"/>
                </a:lnTo>
                <a:lnTo>
                  <a:pt x="105410" y="735838"/>
                </a:lnTo>
                <a:lnTo>
                  <a:pt x="124912" y="732266"/>
                </a:lnTo>
                <a:lnTo>
                  <a:pt x="138842" y="721550"/>
                </a:lnTo>
                <a:lnTo>
                  <a:pt x="147200" y="703691"/>
                </a:lnTo>
                <a:lnTo>
                  <a:pt x="149987" y="678688"/>
                </a:lnTo>
                <a:lnTo>
                  <a:pt x="149987" y="0"/>
                </a:lnTo>
                <a:close/>
              </a:path>
            </a:pathLst>
          </a:custGeom>
          <a:ln w="18288">
            <a:solidFill>
              <a:srgbClr val="FFA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40611" y="4101972"/>
            <a:ext cx="236854" cy="872490"/>
          </a:xfrm>
          <a:custGeom>
            <a:avLst/>
            <a:gdLst/>
            <a:ahLst/>
            <a:cxnLst/>
            <a:rect l="l" t="t" r="r" b="b"/>
            <a:pathLst>
              <a:path w="236855" h="872489">
                <a:moveTo>
                  <a:pt x="132206" y="0"/>
                </a:moveTo>
                <a:lnTo>
                  <a:pt x="236728" y="20574"/>
                </a:lnTo>
                <a:lnTo>
                  <a:pt x="226411" y="64313"/>
                </a:lnTo>
                <a:lnTo>
                  <a:pt x="215249" y="107695"/>
                </a:lnTo>
                <a:lnTo>
                  <a:pt x="203205" y="150697"/>
                </a:lnTo>
                <a:lnTo>
                  <a:pt x="190246" y="193294"/>
                </a:lnTo>
                <a:lnTo>
                  <a:pt x="190246" y="872363"/>
                </a:lnTo>
                <a:lnTo>
                  <a:pt x="85725" y="872363"/>
                </a:lnTo>
                <a:lnTo>
                  <a:pt x="85725" y="457200"/>
                </a:lnTo>
                <a:lnTo>
                  <a:pt x="72151" y="484991"/>
                </a:lnTo>
                <a:lnTo>
                  <a:pt x="58102" y="512556"/>
                </a:lnTo>
                <a:lnTo>
                  <a:pt x="43576" y="539906"/>
                </a:lnTo>
                <a:lnTo>
                  <a:pt x="28575" y="567054"/>
                </a:lnTo>
                <a:lnTo>
                  <a:pt x="24145" y="535884"/>
                </a:lnTo>
                <a:lnTo>
                  <a:pt x="17906" y="497808"/>
                </a:lnTo>
                <a:lnTo>
                  <a:pt x="9858" y="452826"/>
                </a:lnTo>
                <a:lnTo>
                  <a:pt x="0" y="400938"/>
                </a:lnTo>
                <a:lnTo>
                  <a:pt x="21818" y="352290"/>
                </a:lnTo>
                <a:lnTo>
                  <a:pt x="42124" y="303216"/>
                </a:lnTo>
                <a:lnTo>
                  <a:pt x="60918" y="253719"/>
                </a:lnTo>
                <a:lnTo>
                  <a:pt x="78200" y="203803"/>
                </a:lnTo>
                <a:lnTo>
                  <a:pt x="93970" y="153470"/>
                </a:lnTo>
                <a:lnTo>
                  <a:pt x="108227" y="102723"/>
                </a:lnTo>
                <a:lnTo>
                  <a:pt x="120973" y="51565"/>
                </a:lnTo>
                <a:lnTo>
                  <a:pt x="132206" y="0"/>
                </a:lnTo>
                <a:close/>
              </a:path>
            </a:pathLst>
          </a:custGeom>
          <a:ln w="18288">
            <a:solidFill>
              <a:srgbClr val="FFA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4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59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D1E486B5-E28C-5D27-4DB5-71569C471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786" y="3305184"/>
            <a:ext cx="4229690" cy="25816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842B8D9B-F1DA-9019-376C-C598506F9E58}"/>
                  </a:ext>
                </a:extLst>
              </p14:cNvPr>
              <p14:cNvContentPartPr/>
              <p14:nvPr/>
            </p14:nvContentPartPr>
            <p14:xfrm>
              <a:off x="3472976" y="1197413"/>
              <a:ext cx="3891240" cy="237240"/>
            </p14:xfrm>
          </p:contentPart>
        </mc:Choice>
        <mc:Fallback xmlns=""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842B8D9B-F1DA-9019-376C-C598506F9E5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18976" y="1089773"/>
                <a:ext cx="399888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1CA3992C-9ADC-0335-7969-C47A8A7FE537}"/>
                  </a:ext>
                </a:extLst>
              </p14:cNvPr>
              <p14:cNvContentPartPr/>
              <p14:nvPr/>
            </p14:nvContentPartPr>
            <p14:xfrm>
              <a:off x="6186656" y="1109933"/>
              <a:ext cx="2736720" cy="375480"/>
            </p14:xfrm>
          </p:contentPart>
        </mc:Choice>
        <mc:Fallback xmlns=""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1CA3992C-9ADC-0335-7969-C47A8A7FE53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33016" y="1001933"/>
                <a:ext cx="2844360" cy="59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B6305330-4B9C-F8A1-2C47-DDDC6AAB2AFD}"/>
                  </a:ext>
                </a:extLst>
              </p14:cNvPr>
              <p14:cNvContentPartPr/>
              <p14:nvPr/>
            </p14:nvContentPartPr>
            <p14:xfrm>
              <a:off x="498656" y="1571093"/>
              <a:ext cx="6153840" cy="478800"/>
            </p14:xfrm>
          </p:contentPart>
        </mc:Choice>
        <mc:Fallback xmlns=""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B6305330-4B9C-F8A1-2C47-DDDC6AAB2AF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4656" y="1463453"/>
                <a:ext cx="6261480" cy="694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621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逻辑函数的代数化简法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1093" y="1098295"/>
            <a:ext cx="12477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消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去多</a:t>
            </a:r>
            <a:endParaRPr sz="32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54220" y="1153386"/>
            <a:ext cx="264160" cy="0"/>
          </a:xfrm>
          <a:custGeom>
            <a:avLst/>
            <a:gdLst/>
            <a:ahLst/>
            <a:cxnLst/>
            <a:rect l="l" t="t" r="r" b="b"/>
            <a:pathLst>
              <a:path w="264160">
                <a:moveTo>
                  <a:pt x="0" y="0"/>
                </a:moveTo>
                <a:lnTo>
                  <a:pt x="264036" y="0"/>
                </a:lnTo>
              </a:path>
            </a:pathLst>
          </a:custGeom>
          <a:ln w="17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37691" y="1079390"/>
            <a:ext cx="8687309" cy="10130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04"/>
              </a:lnSpc>
              <a:spcBef>
                <a:spcPts val="100"/>
              </a:spcBef>
              <a:tabLst>
                <a:tab pos="1849120" algn="l"/>
                <a:tab pos="4465320" algn="l"/>
              </a:tabLst>
            </a:pPr>
            <a:r>
              <a:rPr sz="3200" b="1" spc="5" dirty="0">
                <a:solidFill>
                  <a:srgbClr val="FF0000"/>
                </a:solidFill>
                <a:latin typeface="Microsoft JhengHei"/>
                <a:cs typeface="Microsoft JhengHei"/>
              </a:rPr>
              <a:t>消元</a:t>
            </a:r>
            <a:r>
              <a:rPr sz="3200" b="1" dirty="0">
                <a:solidFill>
                  <a:srgbClr val="FF0000"/>
                </a:solidFill>
                <a:latin typeface="Microsoft JhengHei"/>
                <a:cs typeface="Microsoft JhengHei"/>
              </a:rPr>
              <a:t>法：	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利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用</a:t>
            </a:r>
            <a:r>
              <a:rPr sz="32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吸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收</a:t>
            </a:r>
            <a:r>
              <a:rPr sz="3200" b="1" dirty="0">
                <a:solidFill>
                  <a:srgbClr val="0000FF"/>
                </a:solidFill>
                <a:latin typeface="Microsoft JhengHei"/>
                <a:cs typeface="Microsoft JhengHei"/>
              </a:rPr>
              <a:t>定理	</a:t>
            </a:r>
            <a:r>
              <a:rPr sz="5025" i="1" spc="30" baseline="-4145" dirty="0">
                <a:latin typeface="Times New Roman"/>
                <a:cs typeface="Times New Roman"/>
              </a:rPr>
              <a:t>A </a:t>
            </a:r>
            <a:r>
              <a:rPr sz="5025" spc="22" baseline="-4145" dirty="0">
                <a:latin typeface="Symbol"/>
                <a:cs typeface="Symbol"/>
              </a:rPr>
              <a:t></a:t>
            </a:r>
            <a:r>
              <a:rPr sz="5025" spc="-562" baseline="-4145" dirty="0">
                <a:latin typeface="Times New Roman"/>
                <a:cs typeface="Times New Roman"/>
              </a:rPr>
              <a:t> </a:t>
            </a:r>
            <a:r>
              <a:rPr sz="5025" i="1" spc="-89" baseline="-4145" dirty="0">
                <a:latin typeface="Times New Roman"/>
                <a:cs typeface="Times New Roman"/>
              </a:rPr>
              <a:t>AB</a:t>
            </a:r>
            <a:r>
              <a:rPr lang="en-US" sz="5025" i="1" spc="-89" baseline="-4145" dirty="0">
                <a:latin typeface="Times New Roman"/>
                <a:cs typeface="Times New Roman"/>
              </a:rPr>
              <a:t>=A+B</a:t>
            </a:r>
            <a:endParaRPr sz="5025" baseline="-4145" dirty="0">
              <a:latin typeface="Times New Roman"/>
              <a:cs typeface="Times New Roman"/>
            </a:endParaRPr>
          </a:p>
          <a:p>
            <a:pPr marL="12700">
              <a:lnSpc>
                <a:spcPts val="3825"/>
              </a:lnSpc>
            </a:pPr>
            <a:r>
              <a:rPr sz="3200" b="1" spc="10" dirty="0">
                <a:solidFill>
                  <a:srgbClr val="0000FF"/>
                </a:solidFill>
                <a:latin typeface="Microsoft JhengHei"/>
                <a:cs typeface="Microsoft JhengHei"/>
              </a:rPr>
              <a:t>余的</a:t>
            </a:r>
            <a:r>
              <a:rPr sz="3200" b="1" spc="5" dirty="0">
                <a:solidFill>
                  <a:srgbClr val="0000FF"/>
                </a:solidFill>
                <a:latin typeface="Microsoft JhengHei"/>
                <a:cs typeface="Microsoft JhengHei"/>
              </a:rPr>
              <a:t>项。</a:t>
            </a:r>
            <a:endParaRPr sz="3200" dirty="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40423" y="2887124"/>
            <a:ext cx="298450" cy="0"/>
          </a:xfrm>
          <a:custGeom>
            <a:avLst/>
            <a:gdLst/>
            <a:ahLst/>
            <a:cxnLst/>
            <a:rect l="l" t="t" r="r" b="b"/>
            <a:pathLst>
              <a:path w="298450">
                <a:moveTo>
                  <a:pt x="0" y="0"/>
                </a:moveTo>
                <a:lnTo>
                  <a:pt x="298298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33349" y="2887124"/>
            <a:ext cx="265430" cy="0"/>
          </a:xfrm>
          <a:custGeom>
            <a:avLst/>
            <a:gdLst/>
            <a:ahLst/>
            <a:cxnLst/>
            <a:rect l="l" t="t" r="r" b="b"/>
            <a:pathLst>
              <a:path w="265429">
                <a:moveTo>
                  <a:pt x="0" y="0"/>
                </a:moveTo>
                <a:lnTo>
                  <a:pt x="265043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16722" y="2887124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0" y="0"/>
                </a:moveTo>
                <a:lnTo>
                  <a:pt x="252847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54367" y="2887124"/>
            <a:ext cx="265430" cy="0"/>
          </a:xfrm>
          <a:custGeom>
            <a:avLst/>
            <a:gdLst/>
            <a:ahLst/>
            <a:cxnLst/>
            <a:rect l="l" t="t" r="r" b="b"/>
            <a:pathLst>
              <a:path w="265429">
                <a:moveTo>
                  <a:pt x="0" y="0"/>
                </a:moveTo>
                <a:lnTo>
                  <a:pt x="265215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40423" y="3583735"/>
            <a:ext cx="298450" cy="0"/>
          </a:xfrm>
          <a:custGeom>
            <a:avLst/>
            <a:gdLst/>
            <a:ahLst/>
            <a:cxnLst/>
            <a:rect l="l" t="t" r="r" b="b"/>
            <a:pathLst>
              <a:path w="298450">
                <a:moveTo>
                  <a:pt x="0" y="0"/>
                </a:moveTo>
                <a:lnTo>
                  <a:pt x="298298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5439" y="3583735"/>
            <a:ext cx="266065" cy="0"/>
          </a:xfrm>
          <a:custGeom>
            <a:avLst/>
            <a:gdLst/>
            <a:ahLst/>
            <a:cxnLst/>
            <a:rect l="l" t="t" r="r" b="b"/>
            <a:pathLst>
              <a:path w="266064">
                <a:moveTo>
                  <a:pt x="0" y="0"/>
                </a:moveTo>
                <a:lnTo>
                  <a:pt x="265868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69284" y="3583735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5">
                <a:moveTo>
                  <a:pt x="0" y="0"/>
                </a:moveTo>
                <a:lnTo>
                  <a:pt x="251817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905899" y="3583735"/>
            <a:ext cx="266065" cy="0"/>
          </a:xfrm>
          <a:custGeom>
            <a:avLst/>
            <a:gdLst/>
            <a:ahLst/>
            <a:cxnLst/>
            <a:rect l="l" t="t" r="r" b="b"/>
            <a:pathLst>
              <a:path w="266065">
                <a:moveTo>
                  <a:pt x="0" y="0"/>
                </a:moveTo>
                <a:lnTo>
                  <a:pt x="265902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40423" y="4357877"/>
            <a:ext cx="298450" cy="0"/>
          </a:xfrm>
          <a:custGeom>
            <a:avLst/>
            <a:gdLst/>
            <a:ahLst/>
            <a:cxnLst/>
            <a:rect l="l" t="t" r="r" b="b"/>
            <a:pathLst>
              <a:path w="298450">
                <a:moveTo>
                  <a:pt x="0" y="0"/>
                </a:moveTo>
                <a:lnTo>
                  <a:pt x="298298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30789" y="4357877"/>
            <a:ext cx="298450" cy="0"/>
          </a:xfrm>
          <a:custGeom>
            <a:avLst/>
            <a:gdLst/>
            <a:ahLst/>
            <a:cxnLst/>
            <a:rect l="l" t="t" r="r" b="b"/>
            <a:pathLst>
              <a:path w="298450">
                <a:moveTo>
                  <a:pt x="0" y="0"/>
                </a:moveTo>
                <a:lnTo>
                  <a:pt x="298298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33349" y="4280380"/>
            <a:ext cx="596265" cy="0"/>
          </a:xfrm>
          <a:custGeom>
            <a:avLst/>
            <a:gdLst/>
            <a:ahLst/>
            <a:cxnLst/>
            <a:rect l="l" t="t" r="r" b="b"/>
            <a:pathLst>
              <a:path w="596264">
                <a:moveTo>
                  <a:pt x="0" y="0"/>
                </a:moveTo>
                <a:lnTo>
                  <a:pt x="595738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88760" y="4357877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572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26370" y="4357877"/>
            <a:ext cx="266065" cy="0"/>
          </a:xfrm>
          <a:custGeom>
            <a:avLst/>
            <a:gdLst/>
            <a:ahLst/>
            <a:cxnLst/>
            <a:rect l="l" t="t" r="r" b="b"/>
            <a:pathLst>
              <a:path w="266064">
                <a:moveTo>
                  <a:pt x="0" y="0"/>
                </a:moveTo>
                <a:lnTo>
                  <a:pt x="265902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40423" y="5054487"/>
            <a:ext cx="298450" cy="0"/>
          </a:xfrm>
          <a:custGeom>
            <a:avLst/>
            <a:gdLst/>
            <a:ahLst/>
            <a:cxnLst/>
            <a:rect l="l" t="t" r="r" b="b"/>
            <a:pathLst>
              <a:path w="298450">
                <a:moveTo>
                  <a:pt x="0" y="0"/>
                </a:moveTo>
                <a:lnTo>
                  <a:pt x="298298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93880" y="5054487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5">
                <a:moveTo>
                  <a:pt x="0" y="0"/>
                </a:moveTo>
                <a:lnTo>
                  <a:pt x="251748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30598" y="5054487"/>
            <a:ext cx="266065" cy="0"/>
          </a:xfrm>
          <a:custGeom>
            <a:avLst/>
            <a:gdLst/>
            <a:ahLst/>
            <a:cxnLst/>
            <a:rect l="l" t="t" r="r" b="b"/>
            <a:pathLst>
              <a:path w="266064">
                <a:moveTo>
                  <a:pt x="0" y="0"/>
                </a:moveTo>
                <a:lnTo>
                  <a:pt x="265868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40423" y="5751098"/>
            <a:ext cx="298450" cy="0"/>
          </a:xfrm>
          <a:custGeom>
            <a:avLst/>
            <a:gdLst/>
            <a:ahLst/>
            <a:cxnLst/>
            <a:rect l="l" t="t" r="r" b="b"/>
            <a:pathLst>
              <a:path w="298450">
                <a:moveTo>
                  <a:pt x="0" y="0"/>
                </a:moveTo>
                <a:lnTo>
                  <a:pt x="298298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093880" y="5751098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5">
                <a:moveTo>
                  <a:pt x="0" y="0"/>
                </a:moveTo>
                <a:lnTo>
                  <a:pt x="251748" y="0"/>
                </a:lnTo>
              </a:path>
            </a:pathLst>
          </a:custGeom>
          <a:ln w="17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711618" y="2645240"/>
            <a:ext cx="4465320" cy="3586479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R="55880" algn="r">
              <a:lnSpc>
                <a:spcPct val="100000"/>
              </a:lnSpc>
              <a:spcBef>
                <a:spcPts val="1685"/>
              </a:spcBef>
            </a:pPr>
            <a:r>
              <a:rPr sz="3250" i="1" spc="-5" dirty="0">
                <a:latin typeface="Times New Roman"/>
                <a:cs typeface="Times New Roman"/>
              </a:rPr>
              <a:t>F</a:t>
            </a:r>
            <a:r>
              <a:rPr sz="3250" i="1" spc="245" dirty="0">
                <a:latin typeface="Times New Roman"/>
                <a:cs typeface="Times New Roman"/>
              </a:rPr>
              <a:t> </a:t>
            </a:r>
            <a:r>
              <a:rPr sz="3250" spc="-5" dirty="0">
                <a:latin typeface="Symbol"/>
                <a:cs typeface="Symbol"/>
              </a:rPr>
              <a:t></a:t>
            </a:r>
            <a:r>
              <a:rPr sz="3250" spc="-160" dirty="0">
                <a:latin typeface="Times New Roman"/>
                <a:cs typeface="Times New Roman"/>
              </a:rPr>
              <a:t> </a:t>
            </a:r>
            <a:r>
              <a:rPr sz="3250" i="1" spc="185" dirty="0">
                <a:latin typeface="Times New Roman"/>
                <a:cs typeface="Times New Roman"/>
              </a:rPr>
              <a:t>CD</a:t>
            </a:r>
            <a:r>
              <a:rPr sz="3250" i="1" spc="-204" dirty="0">
                <a:latin typeface="Times New Roman"/>
                <a:cs typeface="Times New Roman"/>
              </a:rPr>
              <a:t> </a:t>
            </a:r>
            <a:r>
              <a:rPr sz="3250" spc="-5" dirty="0">
                <a:latin typeface="Symbol"/>
                <a:cs typeface="Symbol"/>
              </a:rPr>
              <a:t></a:t>
            </a:r>
            <a:r>
              <a:rPr sz="3250" spc="-310" dirty="0">
                <a:latin typeface="Times New Roman"/>
                <a:cs typeface="Times New Roman"/>
              </a:rPr>
              <a:t> </a:t>
            </a:r>
            <a:r>
              <a:rPr sz="3250" i="1" spc="60" dirty="0">
                <a:latin typeface="Times New Roman"/>
                <a:cs typeface="Times New Roman"/>
              </a:rPr>
              <a:t>CE</a:t>
            </a:r>
            <a:r>
              <a:rPr sz="3250" i="1" spc="-105" dirty="0">
                <a:latin typeface="Times New Roman"/>
                <a:cs typeface="Times New Roman"/>
              </a:rPr>
              <a:t> </a:t>
            </a:r>
            <a:r>
              <a:rPr sz="3250" spc="-5" dirty="0">
                <a:latin typeface="Symbol"/>
                <a:cs typeface="Symbol"/>
              </a:rPr>
              <a:t></a:t>
            </a:r>
            <a:r>
              <a:rPr sz="3250" spc="-105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DE</a:t>
            </a:r>
            <a:r>
              <a:rPr sz="3250" i="1" spc="-100" dirty="0">
                <a:latin typeface="Times New Roman"/>
                <a:cs typeface="Times New Roman"/>
              </a:rPr>
              <a:t> </a:t>
            </a:r>
            <a:r>
              <a:rPr sz="3250" spc="-5" dirty="0">
                <a:latin typeface="Symbol"/>
                <a:cs typeface="Symbol"/>
              </a:rPr>
              <a:t></a:t>
            </a:r>
            <a:r>
              <a:rPr sz="3250" spc="45" dirty="0">
                <a:latin typeface="Times New Roman"/>
                <a:cs typeface="Times New Roman"/>
              </a:rPr>
              <a:t> </a:t>
            </a:r>
            <a:r>
              <a:rPr sz="3250" i="1" spc="35" dirty="0">
                <a:latin typeface="Times New Roman"/>
                <a:cs typeface="Times New Roman"/>
              </a:rPr>
              <a:t>ABE</a:t>
            </a:r>
            <a:endParaRPr sz="32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585"/>
              </a:spcBef>
            </a:pPr>
            <a:r>
              <a:rPr sz="3250" spc="-5" dirty="0">
                <a:latin typeface="Symbol"/>
                <a:cs typeface="Symbol"/>
              </a:rPr>
              <a:t></a:t>
            </a:r>
            <a:r>
              <a:rPr sz="3250" spc="-160" dirty="0">
                <a:latin typeface="Times New Roman"/>
                <a:cs typeface="Times New Roman"/>
              </a:rPr>
              <a:t> </a:t>
            </a:r>
            <a:r>
              <a:rPr sz="3250" i="1" spc="185" dirty="0">
                <a:latin typeface="Times New Roman"/>
                <a:cs typeface="Times New Roman"/>
              </a:rPr>
              <a:t>CD</a:t>
            </a:r>
            <a:r>
              <a:rPr sz="3250" i="1" spc="-210" dirty="0">
                <a:latin typeface="Times New Roman"/>
                <a:cs typeface="Times New Roman"/>
              </a:rPr>
              <a:t> </a:t>
            </a:r>
            <a:r>
              <a:rPr sz="3250" spc="-5" dirty="0">
                <a:latin typeface="Symbol"/>
                <a:cs typeface="Symbol"/>
              </a:rPr>
              <a:t></a:t>
            </a:r>
            <a:r>
              <a:rPr sz="3250" spc="-265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(</a:t>
            </a:r>
            <a:r>
              <a:rPr sz="3250" i="1" spc="-10" dirty="0">
                <a:latin typeface="Times New Roman"/>
                <a:cs typeface="Times New Roman"/>
              </a:rPr>
              <a:t>C</a:t>
            </a:r>
            <a:r>
              <a:rPr sz="3250" i="1" spc="-85" dirty="0">
                <a:latin typeface="Times New Roman"/>
                <a:cs typeface="Times New Roman"/>
              </a:rPr>
              <a:t> </a:t>
            </a:r>
            <a:r>
              <a:rPr sz="3250" spc="-5" dirty="0">
                <a:latin typeface="Symbol"/>
                <a:cs typeface="Symbol"/>
              </a:rPr>
              <a:t></a:t>
            </a:r>
            <a:r>
              <a:rPr sz="3250" spc="-105" dirty="0">
                <a:latin typeface="Times New Roman"/>
                <a:cs typeface="Times New Roman"/>
              </a:rPr>
              <a:t> </a:t>
            </a:r>
            <a:r>
              <a:rPr sz="3250" i="1" spc="95" dirty="0">
                <a:latin typeface="Times New Roman"/>
                <a:cs typeface="Times New Roman"/>
              </a:rPr>
              <a:t>D</a:t>
            </a:r>
            <a:r>
              <a:rPr sz="3250" spc="95" dirty="0">
                <a:latin typeface="Times New Roman"/>
                <a:cs typeface="Times New Roman"/>
              </a:rPr>
              <a:t>)</a:t>
            </a:r>
            <a:r>
              <a:rPr sz="3250" i="1" spc="95" dirty="0">
                <a:latin typeface="Times New Roman"/>
                <a:cs typeface="Times New Roman"/>
              </a:rPr>
              <a:t>E</a:t>
            </a:r>
            <a:r>
              <a:rPr sz="3250" i="1" spc="-105" dirty="0">
                <a:latin typeface="Times New Roman"/>
                <a:cs typeface="Times New Roman"/>
              </a:rPr>
              <a:t> </a:t>
            </a:r>
            <a:r>
              <a:rPr sz="3250" spc="-5" dirty="0">
                <a:latin typeface="Symbol"/>
                <a:cs typeface="Symbol"/>
              </a:rPr>
              <a:t></a:t>
            </a:r>
            <a:r>
              <a:rPr sz="3250" spc="40" dirty="0">
                <a:latin typeface="Times New Roman"/>
                <a:cs typeface="Times New Roman"/>
              </a:rPr>
              <a:t> </a:t>
            </a:r>
            <a:r>
              <a:rPr sz="3250" i="1" spc="30" dirty="0">
                <a:latin typeface="Times New Roman"/>
                <a:cs typeface="Times New Roman"/>
              </a:rPr>
              <a:t>ABE</a:t>
            </a:r>
            <a:endParaRPr sz="3250">
              <a:latin typeface="Times New Roman"/>
              <a:cs typeface="Times New Roman"/>
            </a:endParaRPr>
          </a:p>
          <a:p>
            <a:pPr marL="400685">
              <a:lnSpc>
                <a:spcPct val="100000"/>
              </a:lnSpc>
              <a:spcBef>
                <a:spcPts val="2195"/>
              </a:spcBef>
            </a:pPr>
            <a:r>
              <a:rPr sz="3250" spc="-5" dirty="0">
                <a:latin typeface="Symbol"/>
                <a:cs typeface="Symbol"/>
              </a:rPr>
              <a:t></a:t>
            </a:r>
            <a:r>
              <a:rPr sz="3250" spc="-160" dirty="0">
                <a:latin typeface="Times New Roman"/>
                <a:cs typeface="Times New Roman"/>
              </a:rPr>
              <a:t> </a:t>
            </a:r>
            <a:r>
              <a:rPr sz="3250" i="1" spc="185" dirty="0">
                <a:latin typeface="Times New Roman"/>
                <a:cs typeface="Times New Roman"/>
              </a:rPr>
              <a:t>CD</a:t>
            </a:r>
            <a:r>
              <a:rPr sz="3250" i="1" spc="-204" dirty="0">
                <a:latin typeface="Times New Roman"/>
                <a:cs typeface="Times New Roman"/>
              </a:rPr>
              <a:t> </a:t>
            </a:r>
            <a:r>
              <a:rPr sz="3250" spc="-5" dirty="0">
                <a:latin typeface="Symbol"/>
                <a:cs typeface="Symbol"/>
              </a:rPr>
              <a:t></a:t>
            </a:r>
            <a:r>
              <a:rPr sz="3250" spc="-305" dirty="0">
                <a:latin typeface="Times New Roman"/>
                <a:cs typeface="Times New Roman"/>
              </a:rPr>
              <a:t> </a:t>
            </a:r>
            <a:r>
              <a:rPr sz="3250" i="1" spc="120" dirty="0">
                <a:latin typeface="Times New Roman"/>
                <a:cs typeface="Times New Roman"/>
              </a:rPr>
              <a:t>CDE</a:t>
            </a:r>
            <a:r>
              <a:rPr sz="3250" i="1" spc="-100" dirty="0">
                <a:latin typeface="Times New Roman"/>
                <a:cs typeface="Times New Roman"/>
              </a:rPr>
              <a:t> </a:t>
            </a:r>
            <a:r>
              <a:rPr sz="3250" spc="-5" dirty="0">
                <a:latin typeface="Symbol"/>
                <a:cs typeface="Symbol"/>
              </a:rPr>
              <a:t></a:t>
            </a:r>
            <a:r>
              <a:rPr sz="3250" spc="50" dirty="0">
                <a:latin typeface="Times New Roman"/>
                <a:cs typeface="Times New Roman"/>
              </a:rPr>
              <a:t> </a:t>
            </a:r>
            <a:r>
              <a:rPr sz="3250" i="1" spc="30" dirty="0">
                <a:latin typeface="Times New Roman"/>
                <a:cs typeface="Times New Roman"/>
              </a:rPr>
              <a:t>ABE</a:t>
            </a:r>
            <a:endParaRPr sz="3250">
              <a:latin typeface="Times New Roman"/>
              <a:cs typeface="Times New Roman"/>
            </a:endParaRPr>
          </a:p>
          <a:p>
            <a:pPr marL="400685">
              <a:lnSpc>
                <a:spcPct val="100000"/>
              </a:lnSpc>
              <a:spcBef>
                <a:spcPts val="1585"/>
              </a:spcBef>
            </a:pPr>
            <a:r>
              <a:rPr sz="3250" spc="-5" dirty="0">
                <a:latin typeface="Symbol"/>
                <a:cs typeface="Symbol"/>
              </a:rPr>
              <a:t></a:t>
            </a:r>
            <a:r>
              <a:rPr sz="3250" spc="-5" dirty="0">
                <a:latin typeface="Times New Roman"/>
                <a:cs typeface="Times New Roman"/>
              </a:rPr>
              <a:t> </a:t>
            </a:r>
            <a:r>
              <a:rPr sz="3250" i="1" spc="185" dirty="0">
                <a:latin typeface="Times New Roman"/>
                <a:cs typeface="Times New Roman"/>
              </a:rPr>
              <a:t>CD</a:t>
            </a:r>
            <a:r>
              <a:rPr sz="3250" i="1" spc="-490" dirty="0">
                <a:latin typeface="Times New Roman"/>
                <a:cs typeface="Times New Roman"/>
              </a:rPr>
              <a:t> </a:t>
            </a:r>
            <a:r>
              <a:rPr sz="3250" spc="-5" dirty="0">
                <a:latin typeface="Symbol"/>
                <a:cs typeface="Symbol"/>
              </a:rPr>
              <a:t></a:t>
            </a:r>
            <a:r>
              <a:rPr sz="3250" spc="-5" dirty="0">
                <a:latin typeface="Times New Roman"/>
                <a:cs typeface="Times New Roman"/>
              </a:rPr>
              <a:t> </a:t>
            </a:r>
            <a:r>
              <a:rPr sz="3250" i="1" spc="-5" dirty="0">
                <a:latin typeface="Times New Roman"/>
                <a:cs typeface="Times New Roman"/>
              </a:rPr>
              <a:t>E </a:t>
            </a:r>
            <a:r>
              <a:rPr sz="3250" spc="-5" dirty="0">
                <a:latin typeface="Symbol"/>
                <a:cs typeface="Symbol"/>
              </a:rPr>
              <a:t></a:t>
            </a:r>
            <a:r>
              <a:rPr sz="3250" spc="-5" dirty="0">
                <a:latin typeface="Times New Roman"/>
                <a:cs typeface="Times New Roman"/>
              </a:rPr>
              <a:t> </a:t>
            </a:r>
            <a:r>
              <a:rPr sz="3250" i="1" spc="30" dirty="0">
                <a:latin typeface="Times New Roman"/>
                <a:cs typeface="Times New Roman"/>
              </a:rPr>
              <a:t>ABE</a:t>
            </a:r>
            <a:endParaRPr sz="3250">
              <a:latin typeface="Times New Roman"/>
              <a:cs typeface="Times New Roman"/>
            </a:endParaRPr>
          </a:p>
          <a:p>
            <a:pPr marL="400685">
              <a:lnSpc>
                <a:spcPct val="100000"/>
              </a:lnSpc>
              <a:spcBef>
                <a:spcPts val="1585"/>
              </a:spcBef>
            </a:pPr>
            <a:r>
              <a:rPr sz="3250" spc="-5" dirty="0">
                <a:latin typeface="Symbol"/>
                <a:cs typeface="Symbol"/>
              </a:rPr>
              <a:t></a:t>
            </a:r>
            <a:r>
              <a:rPr sz="3250" spc="-5" dirty="0">
                <a:latin typeface="Times New Roman"/>
                <a:cs typeface="Times New Roman"/>
              </a:rPr>
              <a:t> </a:t>
            </a:r>
            <a:r>
              <a:rPr sz="3250" i="1" spc="185" dirty="0">
                <a:latin typeface="Times New Roman"/>
                <a:cs typeface="Times New Roman"/>
              </a:rPr>
              <a:t>CD</a:t>
            </a:r>
            <a:r>
              <a:rPr sz="3250" i="1" spc="-484" dirty="0">
                <a:latin typeface="Times New Roman"/>
                <a:cs typeface="Times New Roman"/>
              </a:rPr>
              <a:t> </a:t>
            </a:r>
            <a:r>
              <a:rPr sz="3250" spc="-5" dirty="0">
                <a:latin typeface="Symbol"/>
                <a:cs typeface="Symbol"/>
              </a:rPr>
              <a:t></a:t>
            </a:r>
            <a:r>
              <a:rPr sz="3250" spc="-5" dirty="0">
                <a:latin typeface="Times New Roman"/>
                <a:cs typeface="Times New Roman"/>
              </a:rPr>
              <a:t> </a:t>
            </a:r>
            <a:r>
              <a:rPr sz="3250" i="1" spc="-5" dirty="0">
                <a:latin typeface="Times New Roman"/>
                <a:cs typeface="Times New Roman"/>
              </a:rPr>
              <a:t>E </a:t>
            </a:r>
            <a:r>
              <a:rPr sz="3250" spc="-5" dirty="0">
                <a:latin typeface="Symbol"/>
                <a:cs typeface="Symbol"/>
              </a:rPr>
              <a:t></a:t>
            </a:r>
            <a:r>
              <a:rPr sz="3250" spc="-5" dirty="0">
                <a:latin typeface="Times New Roman"/>
                <a:cs typeface="Times New Roman"/>
              </a:rPr>
              <a:t> </a:t>
            </a:r>
            <a:r>
              <a:rPr sz="3250" i="1" spc="-85" dirty="0">
                <a:latin typeface="Times New Roman"/>
                <a:cs typeface="Times New Roman"/>
              </a:rPr>
              <a:t>AB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3222" y="2710433"/>
            <a:ext cx="8712835" cy="3671570"/>
          </a:xfrm>
          <a:custGeom>
            <a:avLst/>
            <a:gdLst/>
            <a:ahLst/>
            <a:cxnLst/>
            <a:rect l="l" t="t" r="r" b="b"/>
            <a:pathLst>
              <a:path w="8712835" h="3671570">
                <a:moveTo>
                  <a:pt x="0" y="271652"/>
                </a:moveTo>
                <a:lnTo>
                  <a:pt x="4377" y="222834"/>
                </a:lnTo>
                <a:lnTo>
                  <a:pt x="16999" y="176881"/>
                </a:lnTo>
                <a:lnTo>
                  <a:pt x="37097" y="134563"/>
                </a:lnTo>
                <a:lnTo>
                  <a:pt x="63903" y="96648"/>
                </a:lnTo>
                <a:lnTo>
                  <a:pt x="96651" y="63903"/>
                </a:lnTo>
                <a:lnTo>
                  <a:pt x="134572" y="37098"/>
                </a:lnTo>
                <a:lnTo>
                  <a:pt x="176900" y="17000"/>
                </a:lnTo>
                <a:lnTo>
                  <a:pt x="222866" y="4378"/>
                </a:lnTo>
                <a:lnTo>
                  <a:pt x="271703" y="0"/>
                </a:lnTo>
                <a:lnTo>
                  <a:pt x="8441055" y="0"/>
                </a:lnTo>
                <a:lnTo>
                  <a:pt x="8489873" y="4378"/>
                </a:lnTo>
                <a:lnTo>
                  <a:pt x="8535826" y="17000"/>
                </a:lnTo>
                <a:lnTo>
                  <a:pt x="8578144" y="37098"/>
                </a:lnTo>
                <a:lnTo>
                  <a:pt x="8616059" y="63903"/>
                </a:lnTo>
                <a:lnTo>
                  <a:pt x="8648804" y="96648"/>
                </a:lnTo>
                <a:lnTo>
                  <a:pt x="8675609" y="134563"/>
                </a:lnTo>
                <a:lnTo>
                  <a:pt x="8695707" y="176881"/>
                </a:lnTo>
                <a:lnTo>
                  <a:pt x="8708329" y="222834"/>
                </a:lnTo>
                <a:lnTo>
                  <a:pt x="8712708" y="271652"/>
                </a:lnTo>
                <a:lnTo>
                  <a:pt x="8712708" y="3399599"/>
                </a:lnTo>
                <a:lnTo>
                  <a:pt x="8708329" y="3448440"/>
                </a:lnTo>
                <a:lnTo>
                  <a:pt x="8695707" y="3494409"/>
                </a:lnTo>
                <a:lnTo>
                  <a:pt x="8675609" y="3536739"/>
                </a:lnTo>
                <a:lnTo>
                  <a:pt x="8648804" y="3574662"/>
                </a:lnTo>
                <a:lnTo>
                  <a:pt x="8616059" y="3607411"/>
                </a:lnTo>
                <a:lnTo>
                  <a:pt x="8578144" y="3634218"/>
                </a:lnTo>
                <a:lnTo>
                  <a:pt x="8535826" y="3654316"/>
                </a:lnTo>
                <a:lnTo>
                  <a:pt x="8489873" y="3666938"/>
                </a:lnTo>
                <a:lnTo>
                  <a:pt x="8441055" y="3671316"/>
                </a:lnTo>
                <a:lnTo>
                  <a:pt x="271703" y="3671316"/>
                </a:lnTo>
                <a:lnTo>
                  <a:pt x="222866" y="3666938"/>
                </a:lnTo>
                <a:lnTo>
                  <a:pt x="176900" y="3654316"/>
                </a:lnTo>
                <a:lnTo>
                  <a:pt x="134572" y="3634218"/>
                </a:lnTo>
                <a:lnTo>
                  <a:pt x="96651" y="3607411"/>
                </a:lnTo>
                <a:lnTo>
                  <a:pt x="63903" y="3574662"/>
                </a:lnTo>
                <a:lnTo>
                  <a:pt x="37097" y="3536739"/>
                </a:lnTo>
                <a:lnTo>
                  <a:pt x="16999" y="3494409"/>
                </a:lnTo>
                <a:lnTo>
                  <a:pt x="4377" y="3448440"/>
                </a:lnTo>
                <a:lnTo>
                  <a:pt x="0" y="3399599"/>
                </a:lnTo>
                <a:lnTo>
                  <a:pt x="0" y="271652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98436" y="4236712"/>
            <a:ext cx="912136" cy="936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64080" y="4581525"/>
            <a:ext cx="122427" cy="1584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25573" y="4322826"/>
            <a:ext cx="100330" cy="599440"/>
          </a:xfrm>
          <a:custGeom>
            <a:avLst/>
            <a:gdLst/>
            <a:ahLst/>
            <a:cxnLst/>
            <a:rect l="l" t="t" r="r" b="b"/>
            <a:pathLst>
              <a:path w="100330" h="599439">
                <a:moveTo>
                  <a:pt x="0" y="0"/>
                </a:moveTo>
                <a:lnTo>
                  <a:pt x="99949" y="0"/>
                </a:lnTo>
                <a:lnTo>
                  <a:pt x="99949" y="599186"/>
                </a:lnTo>
                <a:lnTo>
                  <a:pt x="0" y="599186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FFA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535302" y="4286122"/>
            <a:ext cx="359410" cy="835025"/>
          </a:xfrm>
          <a:custGeom>
            <a:avLst/>
            <a:gdLst/>
            <a:ahLst/>
            <a:cxnLst/>
            <a:rect l="l" t="t" r="r" b="b"/>
            <a:pathLst>
              <a:path w="359410" h="835025">
                <a:moveTo>
                  <a:pt x="46481" y="0"/>
                </a:moveTo>
                <a:lnTo>
                  <a:pt x="359028" y="0"/>
                </a:lnTo>
                <a:lnTo>
                  <a:pt x="359028" y="108965"/>
                </a:lnTo>
                <a:lnTo>
                  <a:pt x="208534" y="108965"/>
                </a:lnTo>
                <a:lnTo>
                  <a:pt x="205200" y="131371"/>
                </a:lnTo>
                <a:lnTo>
                  <a:pt x="201485" y="153431"/>
                </a:lnTo>
                <a:lnTo>
                  <a:pt x="197389" y="175134"/>
                </a:lnTo>
                <a:lnTo>
                  <a:pt x="192913" y="196469"/>
                </a:lnTo>
                <a:lnTo>
                  <a:pt x="353695" y="196469"/>
                </a:lnTo>
                <a:lnTo>
                  <a:pt x="352546" y="256534"/>
                </a:lnTo>
                <a:lnTo>
                  <a:pt x="349102" y="314101"/>
                </a:lnTo>
                <a:lnTo>
                  <a:pt x="343363" y="369168"/>
                </a:lnTo>
                <a:lnTo>
                  <a:pt x="335328" y="421736"/>
                </a:lnTo>
                <a:lnTo>
                  <a:pt x="324997" y="471804"/>
                </a:lnTo>
                <a:lnTo>
                  <a:pt x="312372" y="519374"/>
                </a:lnTo>
                <a:lnTo>
                  <a:pt x="297451" y="564443"/>
                </a:lnTo>
                <a:lnTo>
                  <a:pt x="280237" y="607014"/>
                </a:lnTo>
                <a:lnTo>
                  <a:pt x="260727" y="647085"/>
                </a:lnTo>
                <a:lnTo>
                  <a:pt x="238924" y="684657"/>
                </a:lnTo>
                <a:lnTo>
                  <a:pt x="214827" y="719729"/>
                </a:lnTo>
                <a:lnTo>
                  <a:pt x="188436" y="752302"/>
                </a:lnTo>
                <a:lnTo>
                  <a:pt x="159752" y="782375"/>
                </a:lnTo>
                <a:lnTo>
                  <a:pt x="128774" y="809950"/>
                </a:lnTo>
                <a:lnTo>
                  <a:pt x="95503" y="835025"/>
                </a:lnTo>
                <a:lnTo>
                  <a:pt x="77027" y="814018"/>
                </a:lnTo>
                <a:lnTo>
                  <a:pt x="56276" y="792130"/>
                </a:lnTo>
                <a:lnTo>
                  <a:pt x="33264" y="769338"/>
                </a:lnTo>
                <a:lnTo>
                  <a:pt x="8000" y="745616"/>
                </a:lnTo>
                <a:lnTo>
                  <a:pt x="50247" y="713643"/>
                </a:lnTo>
                <a:lnTo>
                  <a:pt x="88293" y="678682"/>
                </a:lnTo>
                <a:lnTo>
                  <a:pt x="122145" y="640735"/>
                </a:lnTo>
                <a:lnTo>
                  <a:pt x="151809" y="599800"/>
                </a:lnTo>
                <a:lnTo>
                  <a:pt x="177291" y="555878"/>
                </a:lnTo>
                <a:lnTo>
                  <a:pt x="157027" y="535348"/>
                </a:lnTo>
                <a:lnTo>
                  <a:pt x="136048" y="515270"/>
                </a:lnTo>
                <a:lnTo>
                  <a:pt x="114355" y="495621"/>
                </a:lnTo>
                <a:lnTo>
                  <a:pt x="91947" y="476376"/>
                </a:lnTo>
                <a:lnTo>
                  <a:pt x="83567" y="491404"/>
                </a:lnTo>
                <a:lnTo>
                  <a:pt x="74818" y="506015"/>
                </a:lnTo>
                <a:lnTo>
                  <a:pt x="65712" y="520221"/>
                </a:lnTo>
                <a:lnTo>
                  <a:pt x="56260" y="534034"/>
                </a:lnTo>
                <a:lnTo>
                  <a:pt x="44380" y="508694"/>
                </a:lnTo>
                <a:lnTo>
                  <a:pt x="31035" y="481806"/>
                </a:lnTo>
                <a:lnTo>
                  <a:pt x="16238" y="453346"/>
                </a:lnTo>
                <a:lnTo>
                  <a:pt x="0" y="423290"/>
                </a:lnTo>
                <a:lnTo>
                  <a:pt x="21056" y="383845"/>
                </a:lnTo>
                <a:lnTo>
                  <a:pt x="39813" y="342581"/>
                </a:lnTo>
                <a:lnTo>
                  <a:pt x="56273" y="299497"/>
                </a:lnTo>
                <a:lnTo>
                  <a:pt x="70438" y="254593"/>
                </a:lnTo>
                <a:lnTo>
                  <a:pt x="82311" y="207870"/>
                </a:lnTo>
                <a:lnTo>
                  <a:pt x="91893" y="159327"/>
                </a:lnTo>
                <a:lnTo>
                  <a:pt x="99186" y="108965"/>
                </a:lnTo>
                <a:lnTo>
                  <a:pt x="46481" y="108965"/>
                </a:lnTo>
                <a:lnTo>
                  <a:pt x="46481" y="0"/>
                </a:lnTo>
                <a:close/>
              </a:path>
            </a:pathLst>
          </a:custGeom>
          <a:ln w="18288">
            <a:solidFill>
              <a:srgbClr val="FFA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30019" y="4255770"/>
            <a:ext cx="261620" cy="855344"/>
          </a:xfrm>
          <a:custGeom>
            <a:avLst/>
            <a:gdLst/>
            <a:ahLst/>
            <a:cxnLst/>
            <a:rect l="l" t="t" r="r" b="b"/>
            <a:pathLst>
              <a:path w="261619" h="855345">
                <a:moveTo>
                  <a:pt x="149987" y="0"/>
                </a:moveTo>
                <a:lnTo>
                  <a:pt x="261619" y="0"/>
                </a:lnTo>
                <a:lnTo>
                  <a:pt x="261619" y="721613"/>
                </a:lnTo>
                <a:lnTo>
                  <a:pt x="254936" y="775620"/>
                </a:lnTo>
                <a:lnTo>
                  <a:pt x="234823" y="815339"/>
                </a:lnTo>
                <a:lnTo>
                  <a:pt x="202660" y="840882"/>
                </a:lnTo>
                <a:lnTo>
                  <a:pt x="159638" y="852423"/>
                </a:lnTo>
                <a:lnTo>
                  <a:pt x="101092" y="855170"/>
                </a:lnTo>
                <a:lnTo>
                  <a:pt x="64234" y="855299"/>
                </a:lnTo>
                <a:lnTo>
                  <a:pt x="22351" y="854582"/>
                </a:lnTo>
                <a:lnTo>
                  <a:pt x="18591" y="827815"/>
                </a:lnTo>
                <a:lnTo>
                  <a:pt x="13604" y="798369"/>
                </a:lnTo>
                <a:lnTo>
                  <a:pt x="7403" y="766232"/>
                </a:lnTo>
                <a:lnTo>
                  <a:pt x="0" y="731392"/>
                </a:lnTo>
                <a:lnTo>
                  <a:pt x="32365" y="733319"/>
                </a:lnTo>
                <a:lnTo>
                  <a:pt x="60706" y="734710"/>
                </a:lnTo>
                <a:lnTo>
                  <a:pt x="85046" y="735554"/>
                </a:lnTo>
                <a:lnTo>
                  <a:pt x="105410" y="735837"/>
                </a:lnTo>
                <a:lnTo>
                  <a:pt x="124912" y="732266"/>
                </a:lnTo>
                <a:lnTo>
                  <a:pt x="138842" y="721550"/>
                </a:lnTo>
                <a:lnTo>
                  <a:pt x="147200" y="703691"/>
                </a:lnTo>
                <a:lnTo>
                  <a:pt x="149987" y="678687"/>
                </a:lnTo>
                <a:lnTo>
                  <a:pt x="149987" y="0"/>
                </a:lnTo>
                <a:close/>
              </a:path>
            </a:pathLst>
          </a:custGeom>
          <a:ln w="18288">
            <a:solidFill>
              <a:srgbClr val="FFA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340611" y="4245990"/>
            <a:ext cx="236854" cy="872490"/>
          </a:xfrm>
          <a:custGeom>
            <a:avLst/>
            <a:gdLst/>
            <a:ahLst/>
            <a:cxnLst/>
            <a:rect l="l" t="t" r="r" b="b"/>
            <a:pathLst>
              <a:path w="236855" h="872489">
                <a:moveTo>
                  <a:pt x="132206" y="0"/>
                </a:moveTo>
                <a:lnTo>
                  <a:pt x="236728" y="20573"/>
                </a:lnTo>
                <a:lnTo>
                  <a:pt x="226411" y="64313"/>
                </a:lnTo>
                <a:lnTo>
                  <a:pt x="215249" y="107695"/>
                </a:lnTo>
                <a:lnTo>
                  <a:pt x="203205" y="150697"/>
                </a:lnTo>
                <a:lnTo>
                  <a:pt x="190246" y="193293"/>
                </a:lnTo>
                <a:lnTo>
                  <a:pt x="190246" y="872362"/>
                </a:lnTo>
                <a:lnTo>
                  <a:pt x="85725" y="872362"/>
                </a:lnTo>
                <a:lnTo>
                  <a:pt x="85725" y="457199"/>
                </a:lnTo>
                <a:lnTo>
                  <a:pt x="72151" y="484991"/>
                </a:lnTo>
                <a:lnTo>
                  <a:pt x="58102" y="512556"/>
                </a:lnTo>
                <a:lnTo>
                  <a:pt x="43576" y="539906"/>
                </a:lnTo>
                <a:lnTo>
                  <a:pt x="28575" y="567054"/>
                </a:lnTo>
                <a:lnTo>
                  <a:pt x="24145" y="535884"/>
                </a:lnTo>
                <a:lnTo>
                  <a:pt x="17906" y="497808"/>
                </a:lnTo>
                <a:lnTo>
                  <a:pt x="9858" y="452826"/>
                </a:lnTo>
                <a:lnTo>
                  <a:pt x="0" y="400938"/>
                </a:lnTo>
                <a:lnTo>
                  <a:pt x="21818" y="352290"/>
                </a:lnTo>
                <a:lnTo>
                  <a:pt x="42124" y="303216"/>
                </a:lnTo>
                <a:lnTo>
                  <a:pt x="60918" y="253719"/>
                </a:lnTo>
                <a:lnTo>
                  <a:pt x="78200" y="203803"/>
                </a:lnTo>
                <a:lnTo>
                  <a:pt x="93970" y="153470"/>
                </a:lnTo>
                <a:lnTo>
                  <a:pt x="108227" y="102723"/>
                </a:lnTo>
                <a:lnTo>
                  <a:pt x="120973" y="51565"/>
                </a:lnTo>
                <a:lnTo>
                  <a:pt x="132206" y="0"/>
                </a:lnTo>
                <a:close/>
              </a:path>
            </a:pathLst>
          </a:custGeom>
          <a:ln w="18288">
            <a:solidFill>
              <a:srgbClr val="FFA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4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60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0B304FCB-1456-F190-2CE0-6BE4A386502C}"/>
                  </a:ext>
                </a:extLst>
              </p14:cNvPr>
              <p14:cNvContentPartPr/>
              <p14:nvPr/>
            </p14:nvContentPartPr>
            <p14:xfrm>
              <a:off x="3615536" y="1066733"/>
              <a:ext cx="3883680" cy="329400"/>
            </p14:xfrm>
          </p:contentPart>
        </mc:Choice>
        <mc:Fallback xmlns=""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0B304FCB-1456-F190-2CE0-6BE4A38650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61896" y="958733"/>
                <a:ext cx="3991320" cy="54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621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逻辑函数的代数化简法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61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9E49040D-ACA4-E118-A2DF-2B5C0ACAA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23628"/>
            <a:ext cx="7754432" cy="46107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470014AF-D4DE-63D8-8DE5-3EED256A8FE2}"/>
                  </a:ext>
                </a:extLst>
              </p14:cNvPr>
              <p14:cNvContentPartPr/>
              <p14:nvPr/>
            </p14:nvContentPartPr>
            <p14:xfrm>
              <a:off x="1367336" y="1828133"/>
              <a:ext cx="5147280" cy="43560"/>
            </p14:xfrm>
          </p:contentPart>
        </mc:Choice>
        <mc:Fallback xmlns=""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470014AF-D4DE-63D8-8DE5-3EED256A8F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3696" y="1720493"/>
                <a:ext cx="5254920" cy="25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621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逻辑函数的代数化简法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62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6D3B6C75-32FC-0B1D-5F5F-A44297458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4" y="1143000"/>
            <a:ext cx="8669729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7266" y="239344"/>
            <a:ext cx="8775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61730" algn="l"/>
              </a:tabLst>
            </a:pPr>
            <a:r>
              <a:rPr u="heavy" spc="-340" dirty="0"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 </a:t>
            </a:r>
            <a:r>
              <a:rPr u="heavy" dirty="0"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“</a:t>
            </a:r>
            <a:r>
              <a:rPr u="heavy" spc="5" dirty="0">
                <a:uFill>
                  <a:solidFill>
                    <a:srgbClr val="666699"/>
                  </a:solidFill>
                </a:uFill>
              </a:rPr>
              <a:t>或</a:t>
            </a:r>
            <a:r>
              <a:rPr u="heavy" dirty="0">
                <a:uFill>
                  <a:solidFill>
                    <a:srgbClr val="666699"/>
                  </a:solidFill>
                </a:uFill>
              </a:rPr>
              <a:t>与</a:t>
            </a:r>
            <a:r>
              <a:rPr u="heavy" dirty="0"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”</a:t>
            </a:r>
            <a:r>
              <a:rPr u="heavy" dirty="0">
                <a:uFill>
                  <a:solidFill>
                    <a:srgbClr val="666699"/>
                  </a:solidFill>
                </a:uFill>
              </a:rPr>
              <a:t>表达式的化</a:t>
            </a:r>
            <a:r>
              <a:rPr u="heavy" spc="5" dirty="0">
                <a:uFill>
                  <a:solidFill>
                    <a:srgbClr val="666699"/>
                  </a:solidFill>
                </a:uFill>
              </a:rPr>
              <a:t>简</a:t>
            </a:r>
            <a:r>
              <a:rPr u="heavy" dirty="0">
                <a:uFill>
                  <a:solidFill>
                    <a:srgbClr val="666699"/>
                  </a:solidFill>
                </a:uFill>
              </a:rPr>
              <a:t>	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46631" y="4898375"/>
            <a:ext cx="1971039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35" dirty="0">
                <a:latin typeface="宋体"/>
                <a:cs typeface="宋体"/>
              </a:rPr>
              <a:t>F(“</a:t>
            </a:r>
            <a:r>
              <a:rPr sz="2400" spc="-50" dirty="0">
                <a:latin typeface="宋体"/>
                <a:cs typeface="宋体"/>
              </a:rPr>
              <a:t>或与</a:t>
            </a:r>
            <a:r>
              <a:rPr sz="2400" spc="-45" dirty="0">
                <a:latin typeface="宋体"/>
                <a:cs typeface="宋体"/>
              </a:rPr>
              <a:t>”</a:t>
            </a:r>
            <a:r>
              <a:rPr sz="2400" spc="-50" dirty="0">
                <a:latin typeface="宋体"/>
                <a:cs typeface="宋体"/>
              </a:rPr>
              <a:t>式</a:t>
            </a:r>
            <a:r>
              <a:rPr sz="2400" spc="-20" dirty="0">
                <a:latin typeface="宋体"/>
                <a:cs typeface="宋体"/>
              </a:rPr>
              <a:t>)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36127" y="5087282"/>
            <a:ext cx="1284605" cy="0"/>
          </a:xfrm>
          <a:custGeom>
            <a:avLst/>
            <a:gdLst/>
            <a:ahLst/>
            <a:cxnLst/>
            <a:rect l="l" t="t" r="r" b="b"/>
            <a:pathLst>
              <a:path w="1284604">
                <a:moveTo>
                  <a:pt x="0" y="0"/>
                </a:moveTo>
                <a:lnTo>
                  <a:pt x="1284453" y="0"/>
                </a:lnTo>
              </a:path>
            </a:pathLst>
          </a:custGeom>
          <a:ln w="152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9001" y="5040124"/>
            <a:ext cx="139065" cy="94615"/>
          </a:xfrm>
          <a:custGeom>
            <a:avLst/>
            <a:gdLst/>
            <a:ahLst/>
            <a:cxnLst/>
            <a:rect l="l" t="t" r="r" b="b"/>
            <a:pathLst>
              <a:path w="139064" h="94614">
                <a:moveTo>
                  <a:pt x="0" y="0"/>
                </a:moveTo>
                <a:lnTo>
                  <a:pt x="0" y="94315"/>
                </a:lnTo>
                <a:lnTo>
                  <a:pt x="138954" y="4715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30862" y="4734844"/>
            <a:ext cx="92329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40" dirty="0">
                <a:latin typeface="宋体"/>
                <a:cs typeface="宋体"/>
              </a:rPr>
              <a:t>求对偶式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8927" y="4862246"/>
            <a:ext cx="226949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40" dirty="0">
                <a:latin typeface="宋体"/>
                <a:cs typeface="宋体"/>
              </a:rPr>
              <a:t>F’(“</a:t>
            </a:r>
            <a:r>
              <a:rPr sz="2400" spc="-50" dirty="0">
                <a:latin typeface="宋体"/>
                <a:cs typeface="宋体"/>
              </a:rPr>
              <a:t>与或”式</a:t>
            </a:r>
            <a:r>
              <a:rPr sz="2400" spc="-20" dirty="0">
                <a:latin typeface="宋体"/>
                <a:cs typeface="宋体"/>
              </a:rPr>
              <a:t>)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24387" y="5302864"/>
            <a:ext cx="0" cy="548005"/>
          </a:xfrm>
          <a:custGeom>
            <a:avLst/>
            <a:gdLst/>
            <a:ahLst/>
            <a:cxnLst/>
            <a:rect l="l" t="t" r="r" b="b"/>
            <a:pathLst>
              <a:path h="548004">
                <a:moveTo>
                  <a:pt x="0" y="0"/>
                </a:moveTo>
                <a:lnTo>
                  <a:pt x="0" y="547929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78069" y="5839004"/>
            <a:ext cx="92710" cy="141605"/>
          </a:xfrm>
          <a:custGeom>
            <a:avLst/>
            <a:gdLst/>
            <a:ahLst/>
            <a:cxnLst/>
            <a:rect l="l" t="t" r="r" b="b"/>
            <a:pathLst>
              <a:path w="92710" h="141604">
                <a:moveTo>
                  <a:pt x="92636" y="0"/>
                </a:moveTo>
                <a:lnTo>
                  <a:pt x="0" y="0"/>
                </a:lnTo>
                <a:lnTo>
                  <a:pt x="46318" y="141473"/>
                </a:lnTo>
                <a:lnTo>
                  <a:pt x="926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57685" y="6160158"/>
            <a:ext cx="826135" cy="0"/>
          </a:xfrm>
          <a:custGeom>
            <a:avLst/>
            <a:gdLst/>
            <a:ahLst/>
            <a:cxnLst/>
            <a:rect l="l" t="t" r="r" b="b"/>
            <a:pathLst>
              <a:path w="826135">
                <a:moveTo>
                  <a:pt x="825506" y="0"/>
                </a:moveTo>
                <a:lnTo>
                  <a:pt x="0" y="0"/>
                </a:lnTo>
              </a:path>
            </a:pathLst>
          </a:custGeom>
          <a:ln w="152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30311" y="6113000"/>
            <a:ext cx="139065" cy="94615"/>
          </a:xfrm>
          <a:custGeom>
            <a:avLst/>
            <a:gdLst/>
            <a:ahLst/>
            <a:cxnLst/>
            <a:rect l="l" t="t" r="r" b="b"/>
            <a:pathLst>
              <a:path w="139064" h="94614">
                <a:moveTo>
                  <a:pt x="138954" y="0"/>
                </a:moveTo>
                <a:lnTo>
                  <a:pt x="0" y="47157"/>
                </a:lnTo>
                <a:lnTo>
                  <a:pt x="138954" y="94315"/>
                </a:lnTo>
                <a:lnTo>
                  <a:pt x="138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50714" y="5366022"/>
            <a:ext cx="6593205" cy="100266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545590" algn="ctr">
              <a:lnSpc>
                <a:spcPct val="100000"/>
              </a:lnSpc>
              <a:spcBef>
                <a:spcPts val="780"/>
              </a:spcBef>
            </a:pPr>
            <a:r>
              <a:rPr sz="1800" spc="-40" dirty="0">
                <a:latin typeface="宋体"/>
                <a:cs typeface="宋体"/>
              </a:rPr>
              <a:t>化简</a:t>
            </a:r>
            <a:endParaRPr sz="1800">
              <a:latin typeface="宋体"/>
              <a:cs typeface="宋体"/>
            </a:endParaRPr>
          </a:p>
          <a:p>
            <a:pPr marR="336550" algn="ctr">
              <a:lnSpc>
                <a:spcPts val="1725"/>
              </a:lnSpc>
              <a:spcBef>
                <a:spcPts val="680"/>
              </a:spcBef>
            </a:pPr>
            <a:r>
              <a:rPr sz="1800" spc="-35" dirty="0">
                <a:latin typeface="宋体"/>
                <a:cs typeface="宋体"/>
              </a:rPr>
              <a:t>求对偶式</a:t>
            </a:r>
            <a:endParaRPr sz="1800">
              <a:latin typeface="宋体"/>
              <a:cs typeface="宋体"/>
            </a:endParaRPr>
          </a:p>
          <a:p>
            <a:pPr marL="50800">
              <a:lnSpc>
                <a:spcPts val="2445"/>
              </a:lnSpc>
              <a:tabLst>
                <a:tab pos="3699510" algn="l"/>
              </a:tabLst>
            </a:pPr>
            <a:r>
              <a:rPr sz="3600" spc="-37" baseline="6944" dirty="0">
                <a:latin typeface="宋体"/>
                <a:cs typeface="宋体"/>
              </a:rPr>
              <a:t>F(</a:t>
            </a:r>
            <a:r>
              <a:rPr sz="3600" spc="-75" baseline="6944" dirty="0">
                <a:latin typeface="宋体"/>
                <a:cs typeface="宋体"/>
              </a:rPr>
              <a:t>最简“或</a:t>
            </a:r>
            <a:r>
              <a:rPr sz="3600" spc="-67" baseline="6944" dirty="0">
                <a:latin typeface="宋体"/>
                <a:cs typeface="宋体"/>
              </a:rPr>
              <a:t>与</a:t>
            </a:r>
            <a:r>
              <a:rPr sz="3600" spc="-75" baseline="6944" dirty="0">
                <a:latin typeface="宋体"/>
                <a:cs typeface="宋体"/>
              </a:rPr>
              <a:t>”式</a:t>
            </a:r>
            <a:r>
              <a:rPr sz="3600" spc="-30" baseline="6944" dirty="0">
                <a:latin typeface="宋体"/>
                <a:cs typeface="宋体"/>
              </a:rPr>
              <a:t>)	</a:t>
            </a:r>
            <a:r>
              <a:rPr sz="2400" spc="-35" dirty="0">
                <a:latin typeface="宋体"/>
                <a:cs typeface="宋体"/>
              </a:rPr>
              <a:t>F’(</a:t>
            </a:r>
            <a:r>
              <a:rPr sz="2400" spc="-50" dirty="0">
                <a:latin typeface="宋体"/>
                <a:cs typeface="宋体"/>
              </a:rPr>
              <a:t>最简“与或”式</a:t>
            </a:r>
            <a:r>
              <a:rPr sz="2400" spc="-20" dirty="0">
                <a:latin typeface="宋体"/>
                <a:cs typeface="宋体"/>
              </a:rPr>
              <a:t>)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96062" y="1306830"/>
            <a:ext cx="8707120" cy="1361440"/>
          </a:xfrm>
          <a:custGeom>
            <a:avLst/>
            <a:gdLst/>
            <a:ahLst/>
            <a:cxnLst/>
            <a:rect l="l" t="t" r="r" b="b"/>
            <a:pathLst>
              <a:path w="8707120" h="1361439">
                <a:moveTo>
                  <a:pt x="0" y="1360932"/>
                </a:moveTo>
                <a:lnTo>
                  <a:pt x="8706612" y="1360932"/>
                </a:lnTo>
                <a:lnTo>
                  <a:pt x="8706612" y="0"/>
                </a:lnTo>
                <a:lnTo>
                  <a:pt x="0" y="0"/>
                </a:lnTo>
                <a:lnTo>
                  <a:pt x="0" y="1360932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31925" y="1070610"/>
            <a:ext cx="6094730" cy="472440"/>
          </a:xfrm>
          <a:custGeom>
            <a:avLst/>
            <a:gdLst/>
            <a:ahLst/>
            <a:cxnLst/>
            <a:rect l="l" t="t" r="r" b="b"/>
            <a:pathLst>
              <a:path w="6094730" h="472440">
                <a:moveTo>
                  <a:pt x="6015735" y="0"/>
                </a:moveTo>
                <a:lnTo>
                  <a:pt x="78740" y="0"/>
                </a:lnTo>
                <a:lnTo>
                  <a:pt x="48091" y="6195"/>
                </a:lnTo>
                <a:lnTo>
                  <a:pt x="23063" y="23082"/>
                </a:lnTo>
                <a:lnTo>
                  <a:pt x="6188" y="48113"/>
                </a:lnTo>
                <a:lnTo>
                  <a:pt x="0" y="78739"/>
                </a:lnTo>
                <a:lnTo>
                  <a:pt x="0" y="393700"/>
                </a:lnTo>
                <a:lnTo>
                  <a:pt x="6188" y="424326"/>
                </a:lnTo>
                <a:lnTo>
                  <a:pt x="23063" y="449357"/>
                </a:lnTo>
                <a:lnTo>
                  <a:pt x="48091" y="466244"/>
                </a:lnTo>
                <a:lnTo>
                  <a:pt x="78740" y="472439"/>
                </a:lnTo>
                <a:lnTo>
                  <a:pt x="6015735" y="472439"/>
                </a:lnTo>
                <a:lnTo>
                  <a:pt x="6046362" y="466244"/>
                </a:lnTo>
                <a:lnTo>
                  <a:pt x="6071393" y="449357"/>
                </a:lnTo>
                <a:lnTo>
                  <a:pt x="6088280" y="424326"/>
                </a:lnTo>
                <a:lnTo>
                  <a:pt x="6094476" y="393700"/>
                </a:lnTo>
                <a:lnTo>
                  <a:pt x="6094476" y="78739"/>
                </a:lnTo>
                <a:lnTo>
                  <a:pt x="6088280" y="48113"/>
                </a:lnTo>
                <a:lnTo>
                  <a:pt x="6071393" y="23082"/>
                </a:lnTo>
                <a:lnTo>
                  <a:pt x="6046362" y="6195"/>
                </a:lnTo>
                <a:lnTo>
                  <a:pt x="601573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31925" y="1070610"/>
            <a:ext cx="6094730" cy="472440"/>
          </a:xfrm>
          <a:custGeom>
            <a:avLst/>
            <a:gdLst/>
            <a:ahLst/>
            <a:cxnLst/>
            <a:rect l="l" t="t" r="r" b="b"/>
            <a:pathLst>
              <a:path w="6094730" h="472440">
                <a:moveTo>
                  <a:pt x="0" y="78739"/>
                </a:moveTo>
                <a:lnTo>
                  <a:pt x="6188" y="48113"/>
                </a:lnTo>
                <a:lnTo>
                  <a:pt x="23063" y="23082"/>
                </a:lnTo>
                <a:lnTo>
                  <a:pt x="48091" y="6195"/>
                </a:lnTo>
                <a:lnTo>
                  <a:pt x="78740" y="0"/>
                </a:lnTo>
                <a:lnTo>
                  <a:pt x="6015735" y="0"/>
                </a:lnTo>
                <a:lnTo>
                  <a:pt x="6046362" y="6195"/>
                </a:lnTo>
                <a:lnTo>
                  <a:pt x="6071393" y="23082"/>
                </a:lnTo>
                <a:lnTo>
                  <a:pt x="6088280" y="48113"/>
                </a:lnTo>
                <a:lnTo>
                  <a:pt x="6094476" y="78739"/>
                </a:lnTo>
                <a:lnTo>
                  <a:pt x="6094476" y="393700"/>
                </a:lnTo>
                <a:lnTo>
                  <a:pt x="6088280" y="424326"/>
                </a:lnTo>
                <a:lnTo>
                  <a:pt x="6071393" y="449357"/>
                </a:lnTo>
                <a:lnTo>
                  <a:pt x="6046362" y="466244"/>
                </a:lnTo>
                <a:lnTo>
                  <a:pt x="6015735" y="472439"/>
                </a:lnTo>
                <a:lnTo>
                  <a:pt x="78740" y="472439"/>
                </a:lnTo>
                <a:lnTo>
                  <a:pt x="48091" y="466244"/>
                </a:lnTo>
                <a:lnTo>
                  <a:pt x="23063" y="449357"/>
                </a:lnTo>
                <a:lnTo>
                  <a:pt x="6188" y="424326"/>
                </a:lnTo>
                <a:lnTo>
                  <a:pt x="0" y="393700"/>
                </a:lnTo>
                <a:lnTo>
                  <a:pt x="0" y="78739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8341" y="1124152"/>
            <a:ext cx="3730625" cy="1323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化简标准</a:t>
            </a:r>
            <a:endParaRPr sz="2000">
              <a:latin typeface="微软雅黑"/>
              <a:cs typeface="微软雅黑"/>
            </a:endParaRPr>
          </a:p>
          <a:p>
            <a:pPr marL="241300" indent="-229235">
              <a:lnSpc>
                <a:spcPct val="100000"/>
              </a:lnSpc>
              <a:spcBef>
                <a:spcPts val="1810"/>
              </a:spcBef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或项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（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和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000" spc="-10" dirty="0">
                <a:solidFill>
                  <a:srgbClr val="0000FF"/>
                </a:solidFill>
                <a:latin typeface="微软雅黑"/>
                <a:cs typeface="微软雅黑"/>
              </a:rPr>
              <a:t>项</a:t>
            </a:r>
            <a:r>
              <a:rPr sz="2000" spc="5" dirty="0">
                <a:solidFill>
                  <a:srgbClr val="0000FF"/>
                </a:solidFill>
                <a:latin typeface="微软雅黑"/>
                <a:cs typeface="微软雅黑"/>
              </a:rPr>
              <a:t>）最少</a:t>
            </a:r>
            <a:endParaRPr sz="2000">
              <a:latin typeface="微软雅黑"/>
              <a:cs typeface="微软雅黑"/>
            </a:endParaRPr>
          </a:p>
          <a:p>
            <a:pPr marL="241300" indent="-229235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每个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或项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所含的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变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量个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数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最少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6062" y="2990850"/>
            <a:ext cx="8707120" cy="1763395"/>
          </a:xfrm>
          <a:custGeom>
            <a:avLst/>
            <a:gdLst/>
            <a:ahLst/>
            <a:cxnLst/>
            <a:rect l="l" t="t" r="r" b="b"/>
            <a:pathLst>
              <a:path w="8707120" h="1763395">
                <a:moveTo>
                  <a:pt x="0" y="1763268"/>
                </a:moveTo>
                <a:lnTo>
                  <a:pt x="8706612" y="1763268"/>
                </a:lnTo>
                <a:lnTo>
                  <a:pt x="8706612" y="0"/>
                </a:lnTo>
                <a:lnTo>
                  <a:pt x="0" y="0"/>
                </a:lnTo>
                <a:lnTo>
                  <a:pt x="0" y="1763268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31925" y="2754629"/>
            <a:ext cx="6094730" cy="472440"/>
          </a:xfrm>
          <a:custGeom>
            <a:avLst/>
            <a:gdLst/>
            <a:ahLst/>
            <a:cxnLst/>
            <a:rect l="l" t="t" r="r" b="b"/>
            <a:pathLst>
              <a:path w="6094730" h="472439">
                <a:moveTo>
                  <a:pt x="6015735" y="0"/>
                </a:moveTo>
                <a:lnTo>
                  <a:pt x="78740" y="0"/>
                </a:lnTo>
                <a:lnTo>
                  <a:pt x="48091" y="6195"/>
                </a:lnTo>
                <a:lnTo>
                  <a:pt x="23063" y="23082"/>
                </a:lnTo>
                <a:lnTo>
                  <a:pt x="6188" y="48113"/>
                </a:lnTo>
                <a:lnTo>
                  <a:pt x="0" y="78740"/>
                </a:lnTo>
                <a:lnTo>
                  <a:pt x="0" y="393700"/>
                </a:lnTo>
                <a:lnTo>
                  <a:pt x="6188" y="424326"/>
                </a:lnTo>
                <a:lnTo>
                  <a:pt x="23063" y="449357"/>
                </a:lnTo>
                <a:lnTo>
                  <a:pt x="48091" y="466244"/>
                </a:lnTo>
                <a:lnTo>
                  <a:pt x="78740" y="472440"/>
                </a:lnTo>
                <a:lnTo>
                  <a:pt x="6015735" y="472440"/>
                </a:lnTo>
                <a:lnTo>
                  <a:pt x="6046362" y="466244"/>
                </a:lnTo>
                <a:lnTo>
                  <a:pt x="6071393" y="449357"/>
                </a:lnTo>
                <a:lnTo>
                  <a:pt x="6088280" y="424326"/>
                </a:lnTo>
                <a:lnTo>
                  <a:pt x="6094476" y="393700"/>
                </a:lnTo>
                <a:lnTo>
                  <a:pt x="6094476" y="78740"/>
                </a:lnTo>
                <a:lnTo>
                  <a:pt x="6088280" y="48113"/>
                </a:lnTo>
                <a:lnTo>
                  <a:pt x="6071393" y="23082"/>
                </a:lnTo>
                <a:lnTo>
                  <a:pt x="6046362" y="6195"/>
                </a:lnTo>
                <a:lnTo>
                  <a:pt x="6015735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31925" y="2754629"/>
            <a:ext cx="6094730" cy="472440"/>
          </a:xfrm>
          <a:custGeom>
            <a:avLst/>
            <a:gdLst/>
            <a:ahLst/>
            <a:cxnLst/>
            <a:rect l="l" t="t" r="r" b="b"/>
            <a:pathLst>
              <a:path w="6094730" h="472439">
                <a:moveTo>
                  <a:pt x="0" y="78740"/>
                </a:moveTo>
                <a:lnTo>
                  <a:pt x="6188" y="48113"/>
                </a:lnTo>
                <a:lnTo>
                  <a:pt x="23063" y="23082"/>
                </a:lnTo>
                <a:lnTo>
                  <a:pt x="48091" y="6195"/>
                </a:lnTo>
                <a:lnTo>
                  <a:pt x="78740" y="0"/>
                </a:lnTo>
                <a:lnTo>
                  <a:pt x="6015735" y="0"/>
                </a:lnTo>
                <a:lnTo>
                  <a:pt x="6046362" y="6195"/>
                </a:lnTo>
                <a:lnTo>
                  <a:pt x="6071393" y="23082"/>
                </a:lnTo>
                <a:lnTo>
                  <a:pt x="6088280" y="48113"/>
                </a:lnTo>
                <a:lnTo>
                  <a:pt x="6094476" y="78740"/>
                </a:lnTo>
                <a:lnTo>
                  <a:pt x="6094476" y="393700"/>
                </a:lnTo>
                <a:lnTo>
                  <a:pt x="6088280" y="424326"/>
                </a:lnTo>
                <a:lnTo>
                  <a:pt x="6071393" y="449357"/>
                </a:lnTo>
                <a:lnTo>
                  <a:pt x="6046362" y="466244"/>
                </a:lnTo>
                <a:lnTo>
                  <a:pt x="6015735" y="472440"/>
                </a:lnTo>
                <a:lnTo>
                  <a:pt x="78740" y="472440"/>
                </a:lnTo>
                <a:lnTo>
                  <a:pt x="48091" y="466244"/>
                </a:lnTo>
                <a:lnTo>
                  <a:pt x="23063" y="449357"/>
                </a:lnTo>
                <a:lnTo>
                  <a:pt x="6188" y="424326"/>
                </a:lnTo>
                <a:lnTo>
                  <a:pt x="0" y="393700"/>
                </a:lnTo>
                <a:lnTo>
                  <a:pt x="0" y="78740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58341" y="2807919"/>
            <a:ext cx="7203440" cy="17170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化简方法</a:t>
            </a:r>
            <a:endParaRPr sz="2000">
              <a:latin typeface="微软雅黑"/>
              <a:cs typeface="微软雅黑"/>
            </a:endParaRPr>
          </a:p>
          <a:p>
            <a:pPr marL="241300" indent="-229235">
              <a:lnSpc>
                <a:spcPct val="100000"/>
              </a:lnSpc>
              <a:spcBef>
                <a:spcPts val="1810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利用逻辑代数基本定律</a:t>
            </a:r>
            <a:r>
              <a:rPr sz="2000" spc="-10" dirty="0">
                <a:solidFill>
                  <a:srgbClr val="0000FF"/>
                </a:solidFill>
                <a:latin typeface="微软雅黑"/>
                <a:cs typeface="微软雅黑"/>
              </a:rPr>
              <a:t>和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基本</a:t>
            </a:r>
            <a:r>
              <a:rPr sz="2000" spc="-10" dirty="0">
                <a:solidFill>
                  <a:srgbClr val="0000FF"/>
                </a:solidFill>
                <a:latin typeface="微软雅黑"/>
                <a:cs typeface="微软雅黑"/>
              </a:rPr>
              <a:t>定</a:t>
            </a:r>
            <a:r>
              <a:rPr sz="2000" spc="5" dirty="0">
                <a:solidFill>
                  <a:srgbClr val="0000FF"/>
                </a:solidFill>
                <a:latin typeface="微软雅黑"/>
                <a:cs typeface="微软雅黑"/>
              </a:rPr>
              <a:t>理</a:t>
            </a:r>
            <a:endParaRPr sz="2000">
              <a:latin typeface="微软雅黑"/>
              <a:cs typeface="微软雅黑"/>
            </a:endParaRPr>
          </a:p>
          <a:p>
            <a:pPr marL="241300" marR="5080" indent="-229235">
              <a:lnSpc>
                <a:spcPct val="129000"/>
              </a:lnSpc>
              <a:spcBef>
                <a:spcPts val="509"/>
              </a:spcBef>
              <a:buFont typeface="Arial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利用对偶式，先将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或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与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表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达式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转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换成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与或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表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达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式，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化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简后再 转换成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或与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表达式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63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667C5A24-184C-9255-285E-0943F3A84213}"/>
                  </a:ext>
                </a:extLst>
              </p14:cNvPr>
              <p14:cNvContentPartPr/>
              <p14:nvPr/>
            </p14:nvContentPartPr>
            <p14:xfrm>
              <a:off x="5670776" y="6174413"/>
              <a:ext cx="2145240" cy="10836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667C5A24-184C-9255-285E-0943F3A842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16776" y="6066413"/>
                <a:ext cx="225288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741DE49C-AD30-547A-7256-EFD23495709A}"/>
                  </a:ext>
                </a:extLst>
              </p14:cNvPr>
              <p14:cNvContentPartPr/>
              <p14:nvPr/>
            </p14:nvContentPartPr>
            <p14:xfrm>
              <a:off x="7818536" y="6207533"/>
              <a:ext cx="360" cy="36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741DE49C-AD30-547A-7256-EFD2349570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64536" y="6099893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 46">
            <a:extLst>
              <a:ext uri="{FF2B5EF4-FFF2-40B4-BE49-F238E27FC236}">
                <a16:creationId xmlns:a16="http://schemas.microsoft.com/office/drawing/2014/main" id="{60D2C190-AFB9-FC18-965F-3D09C892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5741A4A7-16AA-9229-BA27-CB14C6EEA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52400"/>
            <a:ext cx="9527409" cy="646625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6783" y="222631"/>
            <a:ext cx="5742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最简</a:t>
            </a:r>
            <a:r>
              <a:rPr dirty="0">
                <a:latin typeface="Times New Roman"/>
                <a:cs typeface="Times New Roman"/>
              </a:rPr>
              <a:t>“</a:t>
            </a:r>
            <a:r>
              <a:rPr dirty="0"/>
              <a:t>与非</a:t>
            </a:r>
            <a:r>
              <a:rPr spc="-5" dirty="0">
                <a:latin typeface="Times New Roman"/>
                <a:cs typeface="Times New Roman"/>
              </a:rPr>
              <a:t>-</a:t>
            </a:r>
            <a:r>
              <a:rPr dirty="0"/>
              <a:t>与</a:t>
            </a:r>
            <a:r>
              <a:rPr spc="-5" dirty="0"/>
              <a:t>非</a:t>
            </a:r>
            <a:r>
              <a:rPr dirty="0">
                <a:latin typeface="Times New Roman"/>
                <a:cs typeface="Times New Roman"/>
              </a:rPr>
              <a:t>”</a:t>
            </a:r>
            <a:r>
              <a:rPr dirty="0"/>
              <a:t>表达式</a:t>
            </a:r>
          </a:p>
        </p:txBody>
      </p:sp>
      <p:sp>
        <p:nvSpPr>
          <p:cNvPr id="3" name="object 3"/>
          <p:cNvSpPr/>
          <p:nvPr/>
        </p:nvSpPr>
        <p:spPr>
          <a:xfrm>
            <a:off x="496062" y="1706117"/>
            <a:ext cx="8707120" cy="1663064"/>
          </a:xfrm>
          <a:custGeom>
            <a:avLst/>
            <a:gdLst/>
            <a:ahLst/>
            <a:cxnLst/>
            <a:rect l="l" t="t" r="r" b="b"/>
            <a:pathLst>
              <a:path w="8707120" h="1663064">
                <a:moveTo>
                  <a:pt x="0" y="1662683"/>
                </a:moveTo>
                <a:lnTo>
                  <a:pt x="8706612" y="1662683"/>
                </a:lnTo>
                <a:lnTo>
                  <a:pt x="8706612" y="0"/>
                </a:lnTo>
                <a:lnTo>
                  <a:pt x="0" y="0"/>
                </a:lnTo>
                <a:lnTo>
                  <a:pt x="0" y="1662683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1925" y="1381505"/>
            <a:ext cx="2638425" cy="649605"/>
          </a:xfrm>
          <a:custGeom>
            <a:avLst/>
            <a:gdLst/>
            <a:ahLst/>
            <a:cxnLst/>
            <a:rect l="l" t="t" r="r" b="b"/>
            <a:pathLst>
              <a:path w="2638425" h="649605">
                <a:moveTo>
                  <a:pt x="2529840" y="0"/>
                </a:moveTo>
                <a:lnTo>
                  <a:pt x="108204" y="0"/>
                </a:lnTo>
                <a:lnTo>
                  <a:pt x="66088" y="8495"/>
                </a:lnTo>
                <a:lnTo>
                  <a:pt x="31694" y="31670"/>
                </a:lnTo>
                <a:lnTo>
                  <a:pt x="8504" y="66061"/>
                </a:lnTo>
                <a:lnTo>
                  <a:pt x="0" y="108204"/>
                </a:lnTo>
                <a:lnTo>
                  <a:pt x="0" y="541020"/>
                </a:lnTo>
                <a:lnTo>
                  <a:pt x="8504" y="583162"/>
                </a:lnTo>
                <a:lnTo>
                  <a:pt x="31694" y="617553"/>
                </a:lnTo>
                <a:lnTo>
                  <a:pt x="66088" y="640728"/>
                </a:lnTo>
                <a:lnTo>
                  <a:pt x="108204" y="649224"/>
                </a:lnTo>
                <a:lnTo>
                  <a:pt x="2529840" y="649224"/>
                </a:lnTo>
                <a:lnTo>
                  <a:pt x="2571982" y="640728"/>
                </a:lnTo>
                <a:lnTo>
                  <a:pt x="2606373" y="617553"/>
                </a:lnTo>
                <a:lnTo>
                  <a:pt x="2629548" y="583162"/>
                </a:lnTo>
                <a:lnTo>
                  <a:pt x="2638044" y="541020"/>
                </a:lnTo>
                <a:lnTo>
                  <a:pt x="2638044" y="108204"/>
                </a:lnTo>
                <a:lnTo>
                  <a:pt x="2629548" y="66061"/>
                </a:lnTo>
                <a:lnTo>
                  <a:pt x="2606373" y="31670"/>
                </a:lnTo>
                <a:lnTo>
                  <a:pt x="2571982" y="8495"/>
                </a:lnTo>
                <a:lnTo>
                  <a:pt x="252984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1925" y="1381505"/>
            <a:ext cx="2638425" cy="649605"/>
          </a:xfrm>
          <a:custGeom>
            <a:avLst/>
            <a:gdLst/>
            <a:ahLst/>
            <a:cxnLst/>
            <a:rect l="l" t="t" r="r" b="b"/>
            <a:pathLst>
              <a:path w="2638425" h="649605">
                <a:moveTo>
                  <a:pt x="0" y="108204"/>
                </a:moveTo>
                <a:lnTo>
                  <a:pt x="8504" y="66061"/>
                </a:lnTo>
                <a:lnTo>
                  <a:pt x="31694" y="31670"/>
                </a:lnTo>
                <a:lnTo>
                  <a:pt x="66088" y="8495"/>
                </a:lnTo>
                <a:lnTo>
                  <a:pt x="108204" y="0"/>
                </a:lnTo>
                <a:lnTo>
                  <a:pt x="2529840" y="0"/>
                </a:lnTo>
                <a:lnTo>
                  <a:pt x="2571982" y="8495"/>
                </a:lnTo>
                <a:lnTo>
                  <a:pt x="2606373" y="31670"/>
                </a:lnTo>
                <a:lnTo>
                  <a:pt x="2629548" y="66061"/>
                </a:lnTo>
                <a:lnTo>
                  <a:pt x="2638044" y="108204"/>
                </a:lnTo>
                <a:lnTo>
                  <a:pt x="2638044" y="541020"/>
                </a:lnTo>
                <a:lnTo>
                  <a:pt x="2629548" y="583162"/>
                </a:lnTo>
                <a:lnTo>
                  <a:pt x="2606373" y="617553"/>
                </a:lnTo>
                <a:lnTo>
                  <a:pt x="2571982" y="640728"/>
                </a:lnTo>
                <a:lnTo>
                  <a:pt x="2529840" y="649224"/>
                </a:lnTo>
                <a:lnTo>
                  <a:pt x="108204" y="649224"/>
                </a:lnTo>
                <a:lnTo>
                  <a:pt x="66088" y="640728"/>
                </a:lnTo>
                <a:lnTo>
                  <a:pt x="31694" y="617553"/>
                </a:lnTo>
                <a:lnTo>
                  <a:pt x="8504" y="583162"/>
                </a:lnTo>
                <a:lnTo>
                  <a:pt x="0" y="541020"/>
                </a:lnTo>
                <a:lnTo>
                  <a:pt x="0" y="108204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6062" y="3812285"/>
            <a:ext cx="8707120" cy="1594485"/>
          </a:xfrm>
          <a:custGeom>
            <a:avLst/>
            <a:gdLst/>
            <a:ahLst/>
            <a:cxnLst/>
            <a:rect l="l" t="t" r="r" b="b"/>
            <a:pathLst>
              <a:path w="8707120" h="1594485">
                <a:moveTo>
                  <a:pt x="0" y="1594104"/>
                </a:moveTo>
                <a:lnTo>
                  <a:pt x="8706612" y="1594104"/>
                </a:lnTo>
                <a:lnTo>
                  <a:pt x="8706612" y="0"/>
                </a:lnTo>
                <a:lnTo>
                  <a:pt x="0" y="0"/>
                </a:lnTo>
                <a:lnTo>
                  <a:pt x="0" y="1594104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31925" y="3487673"/>
            <a:ext cx="2670175" cy="649605"/>
          </a:xfrm>
          <a:custGeom>
            <a:avLst/>
            <a:gdLst/>
            <a:ahLst/>
            <a:cxnLst/>
            <a:rect l="l" t="t" r="r" b="b"/>
            <a:pathLst>
              <a:path w="2670175" h="649604">
                <a:moveTo>
                  <a:pt x="2561844" y="0"/>
                </a:moveTo>
                <a:lnTo>
                  <a:pt x="108204" y="0"/>
                </a:lnTo>
                <a:lnTo>
                  <a:pt x="66088" y="8495"/>
                </a:lnTo>
                <a:lnTo>
                  <a:pt x="31694" y="31670"/>
                </a:lnTo>
                <a:lnTo>
                  <a:pt x="8504" y="66061"/>
                </a:lnTo>
                <a:lnTo>
                  <a:pt x="0" y="108203"/>
                </a:lnTo>
                <a:lnTo>
                  <a:pt x="0" y="541019"/>
                </a:lnTo>
                <a:lnTo>
                  <a:pt x="8504" y="583162"/>
                </a:lnTo>
                <a:lnTo>
                  <a:pt x="31694" y="617553"/>
                </a:lnTo>
                <a:lnTo>
                  <a:pt x="66088" y="640728"/>
                </a:lnTo>
                <a:lnTo>
                  <a:pt x="108204" y="649224"/>
                </a:lnTo>
                <a:lnTo>
                  <a:pt x="2561844" y="649224"/>
                </a:lnTo>
                <a:lnTo>
                  <a:pt x="2603986" y="640728"/>
                </a:lnTo>
                <a:lnTo>
                  <a:pt x="2638377" y="617553"/>
                </a:lnTo>
                <a:lnTo>
                  <a:pt x="2661552" y="583162"/>
                </a:lnTo>
                <a:lnTo>
                  <a:pt x="2670048" y="541019"/>
                </a:lnTo>
                <a:lnTo>
                  <a:pt x="2670048" y="108203"/>
                </a:lnTo>
                <a:lnTo>
                  <a:pt x="2661552" y="66061"/>
                </a:lnTo>
                <a:lnTo>
                  <a:pt x="2638377" y="31670"/>
                </a:lnTo>
                <a:lnTo>
                  <a:pt x="2603986" y="8495"/>
                </a:lnTo>
                <a:lnTo>
                  <a:pt x="256184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31925" y="3487673"/>
            <a:ext cx="2670175" cy="649605"/>
          </a:xfrm>
          <a:custGeom>
            <a:avLst/>
            <a:gdLst/>
            <a:ahLst/>
            <a:cxnLst/>
            <a:rect l="l" t="t" r="r" b="b"/>
            <a:pathLst>
              <a:path w="2670175" h="649604">
                <a:moveTo>
                  <a:pt x="0" y="108203"/>
                </a:moveTo>
                <a:lnTo>
                  <a:pt x="8504" y="66061"/>
                </a:lnTo>
                <a:lnTo>
                  <a:pt x="31694" y="31670"/>
                </a:lnTo>
                <a:lnTo>
                  <a:pt x="66088" y="8495"/>
                </a:lnTo>
                <a:lnTo>
                  <a:pt x="108204" y="0"/>
                </a:lnTo>
                <a:lnTo>
                  <a:pt x="2561844" y="0"/>
                </a:lnTo>
                <a:lnTo>
                  <a:pt x="2603986" y="8495"/>
                </a:lnTo>
                <a:lnTo>
                  <a:pt x="2638377" y="31670"/>
                </a:lnTo>
                <a:lnTo>
                  <a:pt x="2661552" y="66061"/>
                </a:lnTo>
                <a:lnTo>
                  <a:pt x="2670048" y="108203"/>
                </a:lnTo>
                <a:lnTo>
                  <a:pt x="2670048" y="541019"/>
                </a:lnTo>
                <a:lnTo>
                  <a:pt x="2661552" y="583162"/>
                </a:lnTo>
                <a:lnTo>
                  <a:pt x="2638377" y="617553"/>
                </a:lnTo>
                <a:lnTo>
                  <a:pt x="2603986" y="640728"/>
                </a:lnTo>
                <a:lnTo>
                  <a:pt x="2561844" y="649224"/>
                </a:lnTo>
                <a:lnTo>
                  <a:pt x="108204" y="649224"/>
                </a:lnTo>
                <a:lnTo>
                  <a:pt x="66088" y="640728"/>
                </a:lnTo>
                <a:lnTo>
                  <a:pt x="31694" y="617553"/>
                </a:lnTo>
                <a:lnTo>
                  <a:pt x="8504" y="583162"/>
                </a:lnTo>
                <a:lnTo>
                  <a:pt x="0" y="541019"/>
                </a:lnTo>
                <a:lnTo>
                  <a:pt x="0" y="108203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1455877"/>
            <a:ext cx="7369175" cy="3703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微软雅黑"/>
                <a:cs typeface="微软雅黑"/>
              </a:rPr>
              <a:t>化简标准</a:t>
            </a:r>
            <a:endParaRPr sz="2800" dirty="0">
              <a:latin typeface="微软雅黑"/>
              <a:cs typeface="微软雅黑"/>
            </a:endParaRPr>
          </a:p>
          <a:p>
            <a:pPr marL="241300" indent="-229235">
              <a:lnSpc>
                <a:spcPct val="100000"/>
              </a:lnSpc>
              <a:spcBef>
                <a:spcPts val="2420"/>
              </a:spcBef>
              <a:buFont typeface="Arial"/>
              <a:buChar char="•"/>
              <a:tabLst>
                <a:tab pos="241935" algn="l"/>
              </a:tabLst>
            </a:pP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表达式的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号最少（不包含单个变量上</a:t>
            </a:r>
            <a:r>
              <a:rPr sz="2400" spc="-25" dirty="0">
                <a:solidFill>
                  <a:srgbClr val="0000FF"/>
                </a:solidFill>
                <a:latin typeface="微软雅黑"/>
                <a:cs typeface="微软雅黑"/>
              </a:rPr>
              <a:t>的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非</a:t>
            </a:r>
            <a:r>
              <a:rPr sz="2400" spc="5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号）</a:t>
            </a:r>
            <a:endParaRPr sz="2400" dirty="0">
              <a:latin typeface="微软雅黑"/>
              <a:cs typeface="微软雅黑"/>
            </a:endParaRPr>
          </a:p>
          <a:p>
            <a:pPr marL="241300" indent="-229235">
              <a:lnSpc>
                <a:spcPct val="100000"/>
              </a:lnSpc>
              <a:spcBef>
                <a:spcPts val="1450"/>
              </a:spcBef>
              <a:buFont typeface="Arial"/>
              <a:buChar char="•"/>
              <a:tabLst>
                <a:tab pos="241935" algn="l"/>
              </a:tabLst>
            </a:pP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每个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号下的变量个数最少</a:t>
            </a:r>
            <a:endParaRPr sz="24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00FF"/>
              </a:buClr>
              <a:buFont typeface="Arial"/>
              <a:buChar char="•"/>
            </a:pPr>
            <a:endParaRPr sz="1800" dirty="0">
              <a:latin typeface="微软雅黑"/>
              <a:cs typeface="微软雅黑"/>
            </a:endParaRPr>
          </a:p>
          <a:p>
            <a:pPr marL="3429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微软雅黑"/>
                <a:cs typeface="微软雅黑"/>
              </a:rPr>
              <a:t>化简方法</a:t>
            </a:r>
            <a:endParaRPr sz="3200" dirty="0">
              <a:latin typeface="微软雅黑"/>
              <a:cs typeface="微软雅黑"/>
            </a:endParaRPr>
          </a:p>
          <a:p>
            <a:pPr marL="241300" indent="-229235">
              <a:lnSpc>
                <a:spcPct val="100000"/>
              </a:lnSpc>
              <a:spcBef>
                <a:spcPts val="2195"/>
              </a:spcBef>
              <a:buFont typeface="Arial"/>
              <a:buChar char="•"/>
              <a:tabLst>
                <a:tab pos="241935" algn="l"/>
              </a:tabLst>
            </a:pP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用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求反加非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和反演律将已化简</a:t>
            </a:r>
            <a:r>
              <a:rPr sz="2400" spc="-20" dirty="0">
                <a:solidFill>
                  <a:srgbClr val="0000FF"/>
                </a:solidFill>
                <a:latin typeface="微软雅黑"/>
                <a:cs typeface="微软雅黑"/>
              </a:rPr>
              <a:t>的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与或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式变换为最简</a:t>
            </a:r>
            <a:endParaRPr sz="2400" dirty="0">
              <a:latin typeface="微软雅黑"/>
              <a:cs typeface="微软雅黑"/>
            </a:endParaRPr>
          </a:p>
          <a:p>
            <a:pPr marL="241300">
              <a:lnSpc>
                <a:spcPct val="100000"/>
              </a:lnSpc>
              <a:spcBef>
                <a:spcPts val="830"/>
              </a:spcBef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与非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与非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表达式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65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7435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最</a:t>
            </a:r>
            <a:r>
              <a:rPr dirty="0"/>
              <a:t>简</a:t>
            </a:r>
            <a:r>
              <a:rPr dirty="0">
                <a:latin typeface="Times New Roman"/>
                <a:cs typeface="Times New Roman"/>
              </a:rPr>
              <a:t>“</a:t>
            </a:r>
            <a:r>
              <a:rPr dirty="0"/>
              <a:t>与</a:t>
            </a:r>
            <a:r>
              <a:rPr spc="5" dirty="0"/>
              <a:t>非</a:t>
            </a:r>
            <a:r>
              <a:rPr spc="-5" dirty="0">
                <a:latin typeface="Times New Roman"/>
                <a:cs typeface="Times New Roman"/>
              </a:rPr>
              <a:t>-</a:t>
            </a:r>
            <a:r>
              <a:rPr dirty="0"/>
              <a:t>与非</a:t>
            </a:r>
            <a:r>
              <a:rPr dirty="0">
                <a:latin typeface="Times New Roman"/>
                <a:cs typeface="Times New Roman"/>
              </a:rPr>
              <a:t>”</a:t>
            </a:r>
            <a:r>
              <a:rPr spc="5" dirty="0"/>
              <a:t>表达式</a:t>
            </a:r>
          </a:p>
        </p:txBody>
      </p:sp>
      <p:sp>
        <p:nvSpPr>
          <p:cNvPr id="3" name="object 3"/>
          <p:cNvSpPr/>
          <p:nvPr/>
        </p:nvSpPr>
        <p:spPr>
          <a:xfrm>
            <a:off x="5710881" y="1081758"/>
            <a:ext cx="264795" cy="0"/>
          </a:xfrm>
          <a:custGeom>
            <a:avLst/>
            <a:gdLst/>
            <a:ahLst/>
            <a:cxnLst/>
            <a:rect l="l" t="t" r="r" b="b"/>
            <a:pathLst>
              <a:path w="264795">
                <a:moveTo>
                  <a:pt x="0" y="0"/>
                </a:moveTo>
                <a:lnTo>
                  <a:pt x="264664" y="0"/>
                </a:lnTo>
              </a:path>
            </a:pathLst>
          </a:custGeom>
          <a:ln w="17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09308" y="1081758"/>
            <a:ext cx="264160" cy="0"/>
          </a:xfrm>
          <a:custGeom>
            <a:avLst/>
            <a:gdLst/>
            <a:ahLst/>
            <a:cxnLst/>
            <a:rect l="l" t="t" r="r" b="b"/>
            <a:pathLst>
              <a:path w="264160">
                <a:moveTo>
                  <a:pt x="0" y="0"/>
                </a:moveTo>
                <a:lnTo>
                  <a:pt x="263806" y="0"/>
                </a:lnTo>
              </a:path>
            </a:pathLst>
          </a:custGeom>
          <a:ln w="17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85705" y="1081758"/>
            <a:ext cx="264160" cy="0"/>
          </a:xfrm>
          <a:custGeom>
            <a:avLst/>
            <a:gdLst/>
            <a:ahLst/>
            <a:cxnLst/>
            <a:rect l="l" t="t" r="r" b="b"/>
            <a:pathLst>
              <a:path w="264159">
                <a:moveTo>
                  <a:pt x="0" y="0"/>
                </a:moveTo>
                <a:lnTo>
                  <a:pt x="263806" y="0"/>
                </a:lnTo>
              </a:path>
            </a:pathLst>
          </a:custGeom>
          <a:ln w="17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15105" y="1741144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28419" y="1741144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84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13221" y="1741144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23447" y="1741144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84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36730" y="1741144"/>
            <a:ext cx="223520" cy="0"/>
          </a:xfrm>
          <a:custGeom>
            <a:avLst/>
            <a:gdLst/>
            <a:ahLst/>
            <a:cxnLst/>
            <a:rect l="l" t="t" r="r" b="b"/>
            <a:pathLst>
              <a:path w="223520">
                <a:moveTo>
                  <a:pt x="0" y="0"/>
                </a:moveTo>
                <a:lnTo>
                  <a:pt x="223010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15105" y="2264698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35069" y="2264698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47662" y="2264698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460992" y="2264698"/>
            <a:ext cx="223520" cy="0"/>
          </a:xfrm>
          <a:custGeom>
            <a:avLst/>
            <a:gdLst/>
            <a:ahLst/>
            <a:cxnLst/>
            <a:rect l="l" t="t" r="r" b="b"/>
            <a:pathLst>
              <a:path w="223520">
                <a:moveTo>
                  <a:pt x="0" y="0"/>
                </a:moveTo>
                <a:lnTo>
                  <a:pt x="222994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15105" y="2788298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35069" y="2788298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058593" y="2788298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71908" y="2788298"/>
            <a:ext cx="223520" cy="0"/>
          </a:xfrm>
          <a:custGeom>
            <a:avLst/>
            <a:gdLst/>
            <a:ahLst/>
            <a:cxnLst/>
            <a:rect l="l" t="t" r="r" b="b"/>
            <a:pathLst>
              <a:path w="223520">
                <a:moveTo>
                  <a:pt x="0" y="0"/>
                </a:moveTo>
                <a:lnTo>
                  <a:pt x="223010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15105" y="3311852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28420" y="3311852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84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13221" y="3311852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34379" y="3311852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47662" y="3311852"/>
            <a:ext cx="223520" cy="0"/>
          </a:xfrm>
          <a:custGeom>
            <a:avLst/>
            <a:gdLst/>
            <a:ahLst/>
            <a:cxnLst/>
            <a:rect l="l" t="t" r="r" b="b"/>
            <a:pathLst>
              <a:path w="223520">
                <a:moveTo>
                  <a:pt x="0" y="0"/>
                </a:moveTo>
                <a:lnTo>
                  <a:pt x="223010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15105" y="3835437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35069" y="3835437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433185" y="3835437"/>
            <a:ext cx="223520" cy="0"/>
          </a:xfrm>
          <a:custGeom>
            <a:avLst/>
            <a:gdLst/>
            <a:ahLst/>
            <a:cxnLst/>
            <a:rect l="l" t="t" r="r" b="b"/>
            <a:pathLst>
              <a:path w="223520">
                <a:moveTo>
                  <a:pt x="0" y="0"/>
                </a:moveTo>
                <a:lnTo>
                  <a:pt x="223041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58593" y="3835437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15105" y="4358990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28420" y="4358990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84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13221" y="4358991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821048" y="4358991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034379" y="4358991"/>
            <a:ext cx="223520" cy="0"/>
          </a:xfrm>
          <a:custGeom>
            <a:avLst/>
            <a:gdLst/>
            <a:ahLst/>
            <a:cxnLst/>
            <a:rect l="l" t="t" r="r" b="b"/>
            <a:pathLst>
              <a:path w="223520">
                <a:moveTo>
                  <a:pt x="0" y="0"/>
                </a:moveTo>
                <a:lnTo>
                  <a:pt x="222994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415105" y="4882576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22932" y="4882576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9068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336215" y="4882576"/>
            <a:ext cx="223520" cy="0"/>
          </a:xfrm>
          <a:custGeom>
            <a:avLst/>
            <a:gdLst/>
            <a:ahLst/>
            <a:cxnLst/>
            <a:rect l="l" t="t" r="r" b="b"/>
            <a:pathLst>
              <a:path w="223520">
                <a:moveTo>
                  <a:pt x="0" y="0"/>
                </a:moveTo>
                <a:lnTo>
                  <a:pt x="223041" y="0"/>
                </a:lnTo>
              </a:path>
            </a:pathLst>
          </a:custGeom>
          <a:ln w="153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270316" y="6061831"/>
            <a:ext cx="252729" cy="0"/>
          </a:xfrm>
          <a:custGeom>
            <a:avLst/>
            <a:gdLst/>
            <a:ahLst/>
            <a:cxnLst/>
            <a:rect l="l" t="t" r="r" b="b"/>
            <a:pathLst>
              <a:path w="252730">
                <a:moveTo>
                  <a:pt x="0" y="0"/>
                </a:moveTo>
                <a:lnTo>
                  <a:pt x="252530" y="0"/>
                </a:lnTo>
              </a:path>
            </a:pathLst>
          </a:custGeom>
          <a:ln w="152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270316" y="5993420"/>
            <a:ext cx="252729" cy="0"/>
          </a:xfrm>
          <a:custGeom>
            <a:avLst/>
            <a:gdLst/>
            <a:ahLst/>
            <a:cxnLst/>
            <a:rect l="l" t="t" r="r" b="b"/>
            <a:pathLst>
              <a:path w="252730">
                <a:moveTo>
                  <a:pt x="0" y="0"/>
                </a:moveTo>
                <a:lnTo>
                  <a:pt x="252530" y="0"/>
                </a:lnTo>
              </a:path>
            </a:pathLst>
          </a:custGeom>
          <a:ln w="152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11930" y="6061831"/>
            <a:ext cx="223520" cy="0"/>
          </a:xfrm>
          <a:custGeom>
            <a:avLst/>
            <a:gdLst/>
            <a:ahLst/>
            <a:cxnLst/>
            <a:rect l="l" t="t" r="r" b="b"/>
            <a:pathLst>
              <a:path w="223519">
                <a:moveTo>
                  <a:pt x="0" y="0"/>
                </a:moveTo>
                <a:lnTo>
                  <a:pt x="222948" y="0"/>
                </a:lnTo>
              </a:path>
            </a:pathLst>
          </a:custGeom>
          <a:ln w="152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747703" y="6061831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4">
                <a:moveTo>
                  <a:pt x="0" y="0"/>
                </a:moveTo>
                <a:lnTo>
                  <a:pt x="223680" y="0"/>
                </a:lnTo>
              </a:path>
            </a:pathLst>
          </a:custGeom>
          <a:ln w="152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999440" y="6061831"/>
            <a:ext cx="264160" cy="0"/>
          </a:xfrm>
          <a:custGeom>
            <a:avLst/>
            <a:gdLst/>
            <a:ahLst/>
            <a:cxnLst/>
            <a:rect l="l" t="t" r="r" b="b"/>
            <a:pathLst>
              <a:path w="264160">
                <a:moveTo>
                  <a:pt x="0" y="0"/>
                </a:moveTo>
                <a:lnTo>
                  <a:pt x="263581" y="0"/>
                </a:lnTo>
              </a:path>
            </a:pathLst>
          </a:custGeom>
          <a:ln w="152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911930" y="5993420"/>
            <a:ext cx="1351280" cy="0"/>
          </a:xfrm>
          <a:custGeom>
            <a:avLst/>
            <a:gdLst/>
            <a:ahLst/>
            <a:cxnLst/>
            <a:rect l="l" t="t" r="r" b="b"/>
            <a:pathLst>
              <a:path w="1351279">
                <a:moveTo>
                  <a:pt x="0" y="0"/>
                </a:moveTo>
                <a:lnTo>
                  <a:pt x="1351091" y="0"/>
                </a:lnTo>
              </a:path>
            </a:pathLst>
          </a:custGeom>
          <a:ln w="152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911930" y="5925758"/>
            <a:ext cx="1351280" cy="0"/>
          </a:xfrm>
          <a:custGeom>
            <a:avLst/>
            <a:gdLst/>
            <a:ahLst/>
            <a:cxnLst/>
            <a:rect l="l" t="t" r="r" b="b"/>
            <a:pathLst>
              <a:path w="1351279">
                <a:moveTo>
                  <a:pt x="0" y="0"/>
                </a:moveTo>
                <a:lnTo>
                  <a:pt x="1351091" y="0"/>
                </a:lnTo>
              </a:path>
            </a:pathLst>
          </a:custGeom>
          <a:ln w="152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652166" y="6061831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4">
                <a:moveTo>
                  <a:pt x="0" y="0"/>
                </a:moveTo>
                <a:lnTo>
                  <a:pt x="223772" y="0"/>
                </a:lnTo>
              </a:path>
            </a:pathLst>
          </a:custGeom>
          <a:ln w="152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652166" y="5993420"/>
            <a:ext cx="487680" cy="0"/>
          </a:xfrm>
          <a:custGeom>
            <a:avLst/>
            <a:gdLst/>
            <a:ahLst/>
            <a:cxnLst/>
            <a:rect l="l" t="t" r="r" b="b"/>
            <a:pathLst>
              <a:path w="487679">
                <a:moveTo>
                  <a:pt x="0" y="0"/>
                </a:moveTo>
                <a:lnTo>
                  <a:pt x="487231" y="0"/>
                </a:lnTo>
              </a:path>
            </a:pathLst>
          </a:custGeom>
          <a:ln w="152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430943" y="6061831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4">
                <a:moveTo>
                  <a:pt x="0" y="0"/>
                </a:moveTo>
                <a:lnTo>
                  <a:pt x="223772" y="0"/>
                </a:lnTo>
              </a:path>
            </a:pathLst>
          </a:custGeom>
          <a:ln w="152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682801" y="6061831"/>
            <a:ext cx="263525" cy="0"/>
          </a:xfrm>
          <a:custGeom>
            <a:avLst/>
            <a:gdLst/>
            <a:ahLst/>
            <a:cxnLst/>
            <a:rect l="l" t="t" r="r" b="b"/>
            <a:pathLst>
              <a:path w="263525">
                <a:moveTo>
                  <a:pt x="0" y="0"/>
                </a:moveTo>
                <a:lnTo>
                  <a:pt x="263459" y="0"/>
                </a:lnTo>
              </a:path>
            </a:pathLst>
          </a:custGeom>
          <a:ln w="152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430943" y="5993420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>
                <a:moveTo>
                  <a:pt x="0" y="0"/>
                </a:moveTo>
                <a:lnTo>
                  <a:pt x="515317" y="0"/>
                </a:lnTo>
              </a:path>
            </a:pathLst>
          </a:custGeom>
          <a:ln w="152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652166" y="5925758"/>
            <a:ext cx="1294130" cy="0"/>
          </a:xfrm>
          <a:custGeom>
            <a:avLst/>
            <a:gdLst/>
            <a:ahLst/>
            <a:cxnLst/>
            <a:rect l="l" t="t" r="r" b="b"/>
            <a:pathLst>
              <a:path w="1294129">
                <a:moveTo>
                  <a:pt x="0" y="0"/>
                </a:moveTo>
                <a:lnTo>
                  <a:pt x="1294095" y="0"/>
                </a:lnTo>
              </a:path>
            </a:pathLst>
          </a:custGeom>
          <a:ln w="152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574040" y="822568"/>
            <a:ext cx="7232650" cy="5664835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5"/>
              </a:spcBef>
              <a:tabLst>
                <a:tab pos="4385945" algn="l"/>
              </a:tabLst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例：用最少</a:t>
            </a:r>
            <a:r>
              <a:rPr sz="2800" spc="-15" dirty="0">
                <a:solidFill>
                  <a:srgbClr val="0000FF"/>
                </a:solidFill>
                <a:latin typeface="微软雅黑"/>
                <a:cs typeface="微软雅黑"/>
              </a:rPr>
              <a:t>的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与非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门实现	</a:t>
            </a:r>
            <a:r>
              <a:rPr sz="5025" i="1" spc="37" baseline="-4975" dirty="0">
                <a:latin typeface="Times New Roman"/>
                <a:cs typeface="Times New Roman"/>
              </a:rPr>
              <a:t>F </a:t>
            </a:r>
            <a:r>
              <a:rPr sz="5025" spc="30" baseline="-4975" dirty="0">
                <a:latin typeface="Symbol"/>
                <a:cs typeface="Symbol"/>
              </a:rPr>
              <a:t></a:t>
            </a:r>
            <a:r>
              <a:rPr sz="5025" spc="30" baseline="-4975" dirty="0">
                <a:latin typeface="Times New Roman"/>
                <a:cs typeface="Times New Roman"/>
              </a:rPr>
              <a:t> </a:t>
            </a:r>
            <a:r>
              <a:rPr sz="5025" i="1" spc="112" baseline="-4975" dirty="0">
                <a:latin typeface="Times New Roman"/>
                <a:cs typeface="Times New Roman"/>
              </a:rPr>
              <a:t>AB</a:t>
            </a:r>
            <a:r>
              <a:rPr sz="5025" i="1" spc="382" baseline="-4975" dirty="0">
                <a:latin typeface="Times New Roman"/>
                <a:cs typeface="Times New Roman"/>
              </a:rPr>
              <a:t> </a:t>
            </a:r>
            <a:r>
              <a:rPr sz="5025" spc="30" baseline="-4975" dirty="0">
                <a:latin typeface="Symbol"/>
                <a:cs typeface="Symbol"/>
              </a:rPr>
              <a:t></a:t>
            </a:r>
            <a:endParaRPr sz="5025" baseline="-4975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解：先</a:t>
            </a:r>
            <a:r>
              <a:rPr sz="2800" spc="-15" dirty="0">
                <a:solidFill>
                  <a:srgbClr val="0000FF"/>
                </a:solidFill>
                <a:latin typeface="微软雅黑"/>
                <a:cs typeface="微软雅黑"/>
              </a:rPr>
              <a:t>求</a:t>
            </a:r>
            <a:r>
              <a:rPr sz="2800" spc="-15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2800" spc="-10" dirty="0">
                <a:solidFill>
                  <a:srgbClr val="0000FF"/>
                </a:solidFill>
                <a:latin typeface="微软雅黑"/>
                <a:cs typeface="微软雅黑"/>
              </a:rPr>
              <a:t>的最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简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800" spc="-10" dirty="0">
                <a:solidFill>
                  <a:srgbClr val="0000FF"/>
                </a:solidFill>
                <a:latin typeface="微软雅黑"/>
                <a:cs typeface="微软雅黑"/>
              </a:rPr>
              <a:t>与或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800" spc="-10" dirty="0">
                <a:solidFill>
                  <a:srgbClr val="0000FF"/>
                </a:solidFill>
                <a:latin typeface="微软雅黑"/>
                <a:cs typeface="微软雅黑"/>
              </a:rPr>
              <a:t>式</a:t>
            </a:r>
            <a:r>
              <a:rPr sz="2800" spc="-270" dirty="0">
                <a:solidFill>
                  <a:srgbClr val="0000FF"/>
                </a:solidFill>
                <a:latin typeface="微软雅黑"/>
                <a:cs typeface="微软雅黑"/>
              </a:rPr>
              <a:t>：</a:t>
            </a:r>
            <a:r>
              <a:rPr sz="3600" i="1" spc="-405" baseline="1157" dirty="0">
                <a:latin typeface="Times New Roman"/>
                <a:cs typeface="Times New Roman"/>
              </a:rPr>
              <a:t>F</a:t>
            </a:r>
            <a:r>
              <a:rPr sz="3600" i="1" spc="-209" baseline="1157" dirty="0">
                <a:latin typeface="Times New Roman"/>
                <a:cs typeface="Times New Roman"/>
              </a:rPr>
              <a:t> </a:t>
            </a:r>
            <a:r>
              <a:rPr sz="3600" spc="30" baseline="1157" dirty="0">
                <a:latin typeface="Symbol"/>
                <a:cs typeface="Symbol"/>
              </a:rPr>
              <a:t></a:t>
            </a:r>
            <a:r>
              <a:rPr sz="3600" spc="232" baseline="1157" dirty="0">
                <a:latin typeface="Times New Roman"/>
                <a:cs typeface="Times New Roman"/>
              </a:rPr>
              <a:t> </a:t>
            </a:r>
            <a:r>
              <a:rPr sz="3600" i="1" spc="82" baseline="1157" dirty="0">
                <a:latin typeface="Times New Roman"/>
                <a:cs typeface="Times New Roman"/>
              </a:rPr>
              <a:t>AB</a:t>
            </a:r>
            <a:r>
              <a:rPr sz="3600" i="1" spc="-209" baseline="1157" dirty="0">
                <a:latin typeface="Times New Roman"/>
                <a:cs typeface="Times New Roman"/>
              </a:rPr>
              <a:t> </a:t>
            </a:r>
            <a:r>
              <a:rPr sz="3600" spc="30" baseline="1157" dirty="0">
                <a:latin typeface="Symbol"/>
                <a:cs typeface="Symbol"/>
              </a:rPr>
              <a:t></a:t>
            </a:r>
            <a:r>
              <a:rPr sz="3600" spc="52" baseline="1157" dirty="0">
                <a:latin typeface="Times New Roman"/>
                <a:cs typeface="Times New Roman"/>
              </a:rPr>
              <a:t> </a:t>
            </a:r>
            <a:r>
              <a:rPr sz="3600" i="1" spc="-22" baseline="1157" dirty="0">
                <a:latin typeface="Times New Roman"/>
                <a:cs typeface="Times New Roman"/>
              </a:rPr>
              <a:t>ABD</a:t>
            </a:r>
            <a:r>
              <a:rPr sz="3600" i="1" spc="-225" baseline="1157" dirty="0">
                <a:latin typeface="Times New Roman"/>
                <a:cs typeface="Times New Roman"/>
              </a:rPr>
              <a:t> </a:t>
            </a:r>
            <a:r>
              <a:rPr sz="3600" spc="30" baseline="1157" dirty="0">
                <a:latin typeface="Symbol"/>
                <a:cs typeface="Symbol"/>
              </a:rPr>
              <a:t></a:t>
            </a:r>
            <a:r>
              <a:rPr sz="3600" spc="52" baseline="1157" dirty="0">
                <a:latin typeface="Times New Roman"/>
                <a:cs typeface="Times New Roman"/>
              </a:rPr>
              <a:t> </a:t>
            </a:r>
            <a:r>
              <a:rPr sz="3600" i="1" spc="157" baseline="1157" dirty="0">
                <a:latin typeface="Times New Roman"/>
                <a:cs typeface="Times New Roman"/>
              </a:rPr>
              <a:t>ABD</a:t>
            </a:r>
            <a:endParaRPr sz="3600" baseline="1157">
              <a:latin typeface="Times New Roman"/>
              <a:cs typeface="Times New Roman"/>
            </a:endParaRPr>
          </a:p>
          <a:p>
            <a:pPr marL="4593590">
              <a:lnSpc>
                <a:spcPct val="100000"/>
              </a:lnSpc>
              <a:spcBef>
                <a:spcPts val="1135"/>
              </a:spcBef>
            </a:pPr>
            <a:r>
              <a:rPr sz="2400" spc="20" dirty="0">
                <a:latin typeface="Symbol"/>
                <a:cs typeface="Symbol"/>
              </a:rPr>
              <a:t>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i="1" spc="50" dirty="0">
                <a:latin typeface="Times New Roman"/>
                <a:cs typeface="Times New Roman"/>
              </a:rPr>
              <a:t>A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50" dirty="0">
                <a:latin typeface="Times New Roman"/>
                <a:cs typeface="Times New Roman"/>
              </a:rPr>
              <a:t>B </a:t>
            </a:r>
            <a:r>
              <a:rPr sz="2400" spc="20" dirty="0">
                <a:latin typeface="Symbol"/>
                <a:cs typeface="Symbol"/>
              </a:rPr>
              <a:t>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i="1" spc="45" dirty="0">
                <a:latin typeface="Times New Roman"/>
                <a:cs typeface="Times New Roman"/>
              </a:rPr>
              <a:t>BD</a:t>
            </a:r>
            <a:r>
              <a:rPr sz="2400" spc="45" dirty="0">
                <a:latin typeface="Times New Roman"/>
                <a:cs typeface="Times New Roman"/>
              </a:rPr>
              <a:t>) </a:t>
            </a:r>
            <a:r>
              <a:rPr sz="2400" spc="20" dirty="0">
                <a:latin typeface="Symbol"/>
                <a:cs typeface="Symbol"/>
              </a:rPr>
              <a:t></a:t>
            </a:r>
            <a:r>
              <a:rPr sz="2400" spc="-405" dirty="0">
                <a:latin typeface="Times New Roman"/>
                <a:cs typeface="Times New Roman"/>
              </a:rPr>
              <a:t> </a:t>
            </a:r>
            <a:r>
              <a:rPr sz="2400" i="1" spc="105" dirty="0">
                <a:latin typeface="Times New Roman"/>
                <a:cs typeface="Times New Roman"/>
              </a:rPr>
              <a:t>ABD</a:t>
            </a:r>
            <a:endParaRPr sz="2400">
              <a:latin typeface="Times New Roman"/>
              <a:cs typeface="Times New Roman"/>
            </a:endParaRPr>
          </a:p>
          <a:p>
            <a:pPr marL="4593590">
              <a:lnSpc>
                <a:spcPct val="100000"/>
              </a:lnSpc>
              <a:spcBef>
                <a:spcPts val="1245"/>
              </a:spcBef>
            </a:pPr>
            <a:r>
              <a:rPr sz="2400" spc="20" dirty="0">
                <a:latin typeface="Symbol"/>
                <a:cs typeface="Symbol"/>
              </a:rPr>
              <a:t>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i="1" spc="50" dirty="0">
                <a:latin typeface="Times New Roman"/>
                <a:cs typeface="Times New Roman"/>
              </a:rPr>
              <a:t>A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i="1" spc="50" dirty="0">
                <a:latin typeface="Times New Roman"/>
                <a:cs typeface="Times New Roman"/>
              </a:rPr>
              <a:t>B </a:t>
            </a:r>
            <a:r>
              <a:rPr sz="2400" spc="20" dirty="0">
                <a:latin typeface="Symbol"/>
                <a:cs typeface="Symbol"/>
              </a:rPr>
              <a:t>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i="1" spc="55" dirty="0">
                <a:latin typeface="Times New Roman"/>
                <a:cs typeface="Times New Roman"/>
              </a:rPr>
              <a:t>D</a:t>
            </a:r>
            <a:r>
              <a:rPr sz="2400" spc="55" dirty="0">
                <a:latin typeface="Times New Roman"/>
                <a:cs typeface="Times New Roman"/>
              </a:rPr>
              <a:t>)</a:t>
            </a:r>
            <a:r>
              <a:rPr sz="2400" spc="-395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Symbol"/>
                <a:cs typeface="Symbol"/>
              </a:rPr>
              <a:t>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i="1" spc="105" dirty="0">
                <a:latin typeface="Times New Roman"/>
                <a:cs typeface="Times New Roman"/>
              </a:rPr>
              <a:t>ABD</a:t>
            </a:r>
            <a:endParaRPr sz="2400">
              <a:latin typeface="Times New Roman"/>
              <a:cs typeface="Times New Roman"/>
            </a:endParaRPr>
          </a:p>
          <a:p>
            <a:pPr marL="4593590">
              <a:lnSpc>
                <a:spcPct val="100000"/>
              </a:lnSpc>
              <a:spcBef>
                <a:spcPts val="1240"/>
              </a:spcBef>
            </a:pPr>
            <a:r>
              <a:rPr sz="2400" spc="20" dirty="0">
                <a:latin typeface="Symbol"/>
                <a:cs typeface="Symbol"/>
              </a:rPr>
              <a:t>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i="1" spc="55" dirty="0">
                <a:latin typeface="Times New Roman"/>
                <a:cs typeface="Times New Roman"/>
              </a:rPr>
              <a:t>AB </a:t>
            </a:r>
            <a:r>
              <a:rPr sz="2400" spc="20" dirty="0">
                <a:latin typeface="Symbol"/>
                <a:cs typeface="Symbol"/>
              </a:rPr>
              <a:t>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i="1" spc="-35" dirty="0">
                <a:latin typeface="Times New Roman"/>
                <a:cs typeface="Times New Roman"/>
              </a:rPr>
              <a:t>AD </a:t>
            </a:r>
            <a:r>
              <a:rPr sz="2400" spc="20" dirty="0">
                <a:latin typeface="Symbol"/>
                <a:cs typeface="Symbol"/>
              </a:rPr>
              <a:t>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i="1" spc="105" dirty="0">
                <a:latin typeface="Times New Roman"/>
                <a:cs typeface="Times New Roman"/>
              </a:rPr>
              <a:t>ABD</a:t>
            </a:r>
            <a:endParaRPr sz="2400">
              <a:latin typeface="Times New Roman"/>
              <a:cs typeface="Times New Roman"/>
            </a:endParaRPr>
          </a:p>
          <a:p>
            <a:pPr marL="4593590">
              <a:lnSpc>
                <a:spcPct val="100000"/>
              </a:lnSpc>
              <a:spcBef>
                <a:spcPts val="1245"/>
              </a:spcBef>
            </a:pPr>
            <a:r>
              <a:rPr sz="2400" spc="20" dirty="0">
                <a:latin typeface="Symbol"/>
                <a:cs typeface="Symbol"/>
              </a:rPr>
              <a:t>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i="1" spc="50" dirty="0">
                <a:latin typeface="Times New Roman"/>
                <a:cs typeface="Times New Roman"/>
              </a:rPr>
              <a:t>B</a:t>
            </a:r>
            <a:r>
              <a:rPr sz="2400" spc="50" dirty="0">
                <a:latin typeface="Times New Roman"/>
                <a:cs typeface="Times New Roman"/>
              </a:rPr>
              <a:t>(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400" i="1" spc="20" dirty="0">
                <a:latin typeface="Times New Roman"/>
                <a:cs typeface="Times New Roman"/>
              </a:rPr>
              <a:t>A</a:t>
            </a:r>
            <a:r>
              <a:rPr sz="2400" i="1" spc="-27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Symbol"/>
                <a:cs typeface="Symbol"/>
              </a:rPr>
              <a:t>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i="1" spc="70" dirty="0">
                <a:latin typeface="Times New Roman"/>
                <a:cs typeface="Times New Roman"/>
              </a:rPr>
              <a:t>AD</a:t>
            </a:r>
            <a:r>
              <a:rPr sz="2400" spc="70" dirty="0">
                <a:latin typeface="Times New Roman"/>
                <a:cs typeface="Times New Roman"/>
              </a:rPr>
              <a:t>)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Symbol"/>
                <a:cs typeface="Symbol"/>
              </a:rPr>
              <a:t>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i="1" spc="-35" dirty="0">
                <a:latin typeface="Times New Roman"/>
                <a:cs typeface="Times New Roman"/>
              </a:rPr>
              <a:t>AD</a:t>
            </a:r>
            <a:endParaRPr sz="2400">
              <a:latin typeface="Times New Roman"/>
              <a:cs typeface="Times New Roman"/>
            </a:endParaRPr>
          </a:p>
          <a:p>
            <a:pPr marL="4593590">
              <a:lnSpc>
                <a:spcPct val="100000"/>
              </a:lnSpc>
              <a:spcBef>
                <a:spcPts val="1240"/>
              </a:spcBef>
            </a:pPr>
            <a:r>
              <a:rPr sz="2400" spc="20" dirty="0">
                <a:latin typeface="Symbol"/>
                <a:cs typeface="Symbol"/>
              </a:rPr>
              <a:t>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i="1" spc="55" dirty="0">
                <a:latin typeface="Times New Roman"/>
                <a:cs typeface="Times New Roman"/>
              </a:rPr>
              <a:t>AB </a:t>
            </a:r>
            <a:r>
              <a:rPr sz="2400" spc="20" dirty="0">
                <a:latin typeface="Symbol"/>
                <a:cs typeface="Symbol"/>
              </a:rPr>
              <a:t>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i="1" spc="-35" dirty="0">
                <a:latin typeface="Times New Roman"/>
                <a:cs typeface="Times New Roman"/>
              </a:rPr>
              <a:t>AD </a:t>
            </a:r>
            <a:r>
              <a:rPr sz="2400" spc="20" dirty="0">
                <a:latin typeface="Symbol"/>
                <a:cs typeface="Symbol"/>
              </a:rPr>
              <a:t></a:t>
            </a:r>
            <a:r>
              <a:rPr sz="2400" spc="-260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BD</a:t>
            </a:r>
            <a:endParaRPr sz="2400">
              <a:latin typeface="Times New Roman"/>
              <a:cs typeface="Times New Roman"/>
            </a:endParaRPr>
          </a:p>
          <a:p>
            <a:pPr marL="4593590">
              <a:lnSpc>
                <a:spcPct val="100000"/>
              </a:lnSpc>
              <a:spcBef>
                <a:spcPts val="1245"/>
              </a:spcBef>
            </a:pPr>
            <a:r>
              <a:rPr sz="2400" spc="20" dirty="0">
                <a:latin typeface="Symbol"/>
                <a:cs typeface="Symbol"/>
              </a:rPr>
              <a:t>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i="1" spc="-35" dirty="0">
                <a:latin typeface="Times New Roman"/>
                <a:cs typeface="Times New Roman"/>
              </a:rPr>
              <a:t>AD </a:t>
            </a:r>
            <a:r>
              <a:rPr sz="2400" spc="20" dirty="0">
                <a:latin typeface="Symbol"/>
                <a:cs typeface="Symbol"/>
              </a:rPr>
              <a:t>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i="1" spc="114" dirty="0">
                <a:latin typeface="Times New Roman"/>
                <a:cs typeface="Times New Roman"/>
              </a:rPr>
              <a:t>BD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用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取反加</a:t>
            </a:r>
            <a:r>
              <a:rPr sz="2800" spc="-10" dirty="0">
                <a:solidFill>
                  <a:srgbClr val="0000FF"/>
                </a:solidFill>
                <a:latin typeface="微软雅黑"/>
                <a:cs typeface="微软雅黑"/>
              </a:rPr>
              <a:t>非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的方式将</a:t>
            </a:r>
            <a:r>
              <a:rPr sz="2800" spc="-1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变成最简</a:t>
            </a:r>
            <a:r>
              <a:rPr sz="2800" spc="1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与非</a:t>
            </a:r>
            <a:r>
              <a:rPr sz="2800" spc="10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与非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式</a:t>
            </a:r>
            <a:endParaRPr sz="2800">
              <a:latin typeface="微软雅黑"/>
              <a:cs typeface="微软雅黑"/>
            </a:endParaRPr>
          </a:p>
          <a:p>
            <a:pPr marR="781050" algn="ctr">
              <a:lnSpc>
                <a:spcPct val="100000"/>
              </a:lnSpc>
              <a:spcBef>
                <a:spcPts val="1595"/>
              </a:spcBef>
            </a:pPr>
            <a:r>
              <a:rPr sz="2850" i="1" spc="35" dirty="0">
                <a:latin typeface="Times New Roman"/>
                <a:cs typeface="Times New Roman"/>
              </a:rPr>
              <a:t>F </a:t>
            </a:r>
            <a:r>
              <a:rPr sz="2850" spc="30" dirty="0">
                <a:latin typeface="Symbol"/>
                <a:cs typeface="Symbol"/>
              </a:rPr>
              <a:t></a:t>
            </a:r>
            <a:r>
              <a:rPr sz="2850" spc="30" dirty="0">
                <a:latin typeface="Times New Roman"/>
                <a:cs typeface="Times New Roman"/>
              </a:rPr>
              <a:t> </a:t>
            </a:r>
            <a:r>
              <a:rPr sz="2850" i="1" spc="35" dirty="0">
                <a:latin typeface="Times New Roman"/>
                <a:cs typeface="Times New Roman"/>
              </a:rPr>
              <a:t>F </a:t>
            </a:r>
            <a:r>
              <a:rPr sz="2850" spc="30" dirty="0">
                <a:latin typeface="Symbol"/>
                <a:cs typeface="Symbol"/>
              </a:rPr>
              <a:t></a:t>
            </a:r>
            <a:r>
              <a:rPr sz="2850" spc="30" dirty="0">
                <a:latin typeface="Times New Roman"/>
                <a:cs typeface="Times New Roman"/>
              </a:rPr>
              <a:t> </a:t>
            </a:r>
            <a:r>
              <a:rPr sz="2850" i="1" spc="-40" dirty="0">
                <a:latin typeface="Times New Roman"/>
                <a:cs typeface="Times New Roman"/>
              </a:rPr>
              <a:t>AD </a:t>
            </a:r>
            <a:r>
              <a:rPr sz="2850" spc="30" dirty="0">
                <a:latin typeface="Symbol"/>
                <a:cs typeface="Symbol"/>
              </a:rPr>
              <a:t></a:t>
            </a:r>
            <a:r>
              <a:rPr sz="2850" spc="30" dirty="0">
                <a:latin typeface="Times New Roman"/>
                <a:cs typeface="Times New Roman"/>
              </a:rPr>
              <a:t> </a:t>
            </a:r>
            <a:r>
              <a:rPr sz="2850" i="1" spc="140" dirty="0">
                <a:latin typeface="Times New Roman"/>
                <a:cs typeface="Times New Roman"/>
              </a:rPr>
              <a:t>BD </a:t>
            </a:r>
            <a:r>
              <a:rPr sz="2850" spc="30" dirty="0">
                <a:latin typeface="Symbol"/>
                <a:cs typeface="Symbol"/>
              </a:rPr>
              <a:t></a:t>
            </a:r>
            <a:r>
              <a:rPr sz="2850" spc="30" dirty="0">
                <a:latin typeface="Times New Roman"/>
                <a:cs typeface="Times New Roman"/>
              </a:rPr>
              <a:t> </a:t>
            </a:r>
            <a:r>
              <a:rPr sz="2850" i="1" spc="-40" dirty="0">
                <a:latin typeface="Times New Roman"/>
                <a:cs typeface="Times New Roman"/>
              </a:rPr>
              <a:t>AD </a:t>
            </a:r>
            <a:r>
              <a:rPr sz="2850" spc="25" dirty="0">
                <a:latin typeface="Symbol"/>
                <a:cs typeface="Symbol"/>
              </a:rPr>
              <a:t></a:t>
            </a:r>
            <a:r>
              <a:rPr sz="2850" spc="-315" dirty="0">
                <a:latin typeface="Times New Roman"/>
                <a:cs typeface="Times New Roman"/>
              </a:rPr>
              <a:t> </a:t>
            </a:r>
            <a:r>
              <a:rPr sz="2850" i="1" spc="140" dirty="0">
                <a:latin typeface="Times New Roman"/>
                <a:cs typeface="Times New Roman"/>
              </a:rPr>
              <a:t>BD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66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02591FA8-418F-04F3-4495-149722147722}"/>
                  </a:ext>
                </a:extLst>
              </p14:cNvPr>
              <p14:cNvContentPartPr/>
              <p14:nvPr/>
            </p14:nvContentPartPr>
            <p14:xfrm>
              <a:off x="2692856" y="1929293"/>
              <a:ext cx="1833120" cy="136080"/>
            </p14:xfrm>
          </p:contentPart>
        </mc:Choice>
        <mc:Fallback xmlns=""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02591FA8-418F-04F3-4495-1497221477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39216" y="1821293"/>
                <a:ext cx="1940760" cy="351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86779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64575" algn="l"/>
              </a:tabLst>
            </a:pPr>
            <a:r>
              <a:rPr u="heavy" spc="5" dirty="0">
                <a:uFill>
                  <a:solidFill>
                    <a:srgbClr val="666699"/>
                  </a:solidFill>
                </a:uFill>
              </a:rPr>
              <a:t>最</a:t>
            </a:r>
            <a:r>
              <a:rPr u="heavy" dirty="0">
                <a:uFill>
                  <a:solidFill>
                    <a:srgbClr val="666699"/>
                  </a:solidFill>
                </a:uFill>
              </a:rPr>
              <a:t>简</a:t>
            </a:r>
            <a:r>
              <a:rPr u="heavy" dirty="0"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“</a:t>
            </a:r>
            <a:r>
              <a:rPr u="heavy" dirty="0">
                <a:uFill>
                  <a:solidFill>
                    <a:srgbClr val="666699"/>
                  </a:solidFill>
                </a:uFill>
              </a:rPr>
              <a:t>或</a:t>
            </a:r>
            <a:r>
              <a:rPr u="heavy" spc="5" dirty="0">
                <a:uFill>
                  <a:solidFill>
                    <a:srgbClr val="666699"/>
                  </a:solidFill>
                </a:uFill>
              </a:rPr>
              <a:t>非</a:t>
            </a:r>
            <a:r>
              <a:rPr u="heavy" spc="-5" dirty="0"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-</a:t>
            </a:r>
            <a:r>
              <a:rPr u="heavy" dirty="0">
                <a:uFill>
                  <a:solidFill>
                    <a:srgbClr val="666699"/>
                  </a:solidFill>
                </a:uFill>
              </a:rPr>
              <a:t>或非</a:t>
            </a:r>
            <a:r>
              <a:rPr u="heavy" dirty="0"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”</a:t>
            </a:r>
            <a:r>
              <a:rPr u="heavy" spc="5" dirty="0">
                <a:uFill>
                  <a:solidFill>
                    <a:srgbClr val="666699"/>
                  </a:solidFill>
                </a:uFill>
              </a:rPr>
              <a:t>表达式</a:t>
            </a:r>
            <a:r>
              <a:rPr u="heavy" dirty="0">
                <a:uFill>
                  <a:solidFill>
                    <a:srgbClr val="666699"/>
                  </a:solidFill>
                </a:uFill>
              </a:rPr>
              <a:t>	</a:t>
            </a:r>
          </a:p>
        </p:txBody>
      </p:sp>
      <p:sp>
        <p:nvSpPr>
          <p:cNvPr id="6" name="object 6"/>
          <p:cNvSpPr/>
          <p:nvPr/>
        </p:nvSpPr>
        <p:spPr>
          <a:xfrm>
            <a:off x="494537" y="1706117"/>
            <a:ext cx="8707120" cy="1663064"/>
          </a:xfrm>
          <a:custGeom>
            <a:avLst/>
            <a:gdLst/>
            <a:ahLst/>
            <a:cxnLst/>
            <a:rect l="l" t="t" r="r" b="b"/>
            <a:pathLst>
              <a:path w="8707120" h="1663064">
                <a:moveTo>
                  <a:pt x="0" y="1662683"/>
                </a:moveTo>
                <a:lnTo>
                  <a:pt x="8706612" y="1662683"/>
                </a:lnTo>
                <a:lnTo>
                  <a:pt x="8706612" y="0"/>
                </a:lnTo>
                <a:lnTo>
                  <a:pt x="0" y="0"/>
                </a:lnTo>
                <a:lnTo>
                  <a:pt x="0" y="1662683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30402" y="1381505"/>
            <a:ext cx="2638425" cy="649605"/>
          </a:xfrm>
          <a:custGeom>
            <a:avLst/>
            <a:gdLst/>
            <a:ahLst/>
            <a:cxnLst/>
            <a:rect l="l" t="t" r="r" b="b"/>
            <a:pathLst>
              <a:path w="2638425" h="649605">
                <a:moveTo>
                  <a:pt x="2529840" y="0"/>
                </a:moveTo>
                <a:lnTo>
                  <a:pt x="108203" y="0"/>
                </a:lnTo>
                <a:lnTo>
                  <a:pt x="66088" y="8495"/>
                </a:lnTo>
                <a:lnTo>
                  <a:pt x="31694" y="31670"/>
                </a:lnTo>
                <a:lnTo>
                  <a:pt x="8504" y="66061"/>
                </a:lnTo>
                <a:lnTo>
                  <a:pt x="0" y="108204"/>
                </a:lnTo>
                <a:lnTo>
                  <a:pt x="0" y="541020"/>
                </a:lnTo>
                <a:lnTo>
                  <a:pt x="8504" y="583162"/>
                </a:lnTo>
                <a:lnTo>
                  <a:pt x="31694" y="617553"/>
                </a:lnTo>
                <a:lnTo>
                  <a:pt x="66088" y="640728"/>
                </a:lnTo>
                <a:lnTo>
                  <a:pt x="108203" y="649224"/>
                </a:lnTo>
                <a:lnTo>
                  <a:pt x="2529840" y="649224"/>
                </a:lnTo>
                <a:lnTo>
                  <a:pt x="2571982" y="640728"/>
                </a:lnTo>
                <a:lnTo>
                  <a:pt x="2606373" y="617553"/>
                </a:lnTo>
                <a:lnTo>
                  <a:pt x="2629548" y="583162"/>
                </a:lnTo>
                <a:lnTo>
                  <a:pt x="2638044" y="541020"/>
                </a:lnTo>
                <a:lnTo>
                  <a:pt x="2638044" y="108204"/>
                </a:lnTo>
                <a:lnTo>
                  <a:pt x="2629548" y="66061"/>
                </a:lnTo>
                <a:lnTo>
                  <a:pt x="2606373" y="31670"/>
                </a:lnTo>
                <a:lnTo>
                  <a:pt x="2571982" y="8495"/>
                </a:lnTo>
                <a:lnTo>
                  <a:pt x="252984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30402" y="1381505"/>
            <a:ext cx="2638425" cy="649605"/>
          </a:xfrm>
          <a:custGeom>
            <a:avLst/>
            <a:gdLst/>
            <a:ahLst/>
            <a:cxnLst/>
            <a:rect l="l" t="t" r="r" b="b"/>
            <a:pathLst>
              <a:path w="2638425" h="649605">
                <a:moveTo>
                  <a:pt x="0" y="108204"/>
                </a:moveTo>
                <a:lnTo>
                  <a:pt x="8504" y="66061"/>
                </a:lnTo>
                <a:lnTo>
                  <a:pt x="31694" y="31670"/>
                </a:lnTo>
                <a:lnTo>
                  <a:pt x="66088" y="8495"/>
                </a:lnTo>
                <a:lnTo>
                  <a:pt x="108203" y="0"/>
                </a:lnTo>
                <a:lnTo>
                  <a:pt x="2529840" y="0"/>
                </a:lnTo>
                <a:lnTo>
                  <a:pt x="2571982" y="8495"/>
                </a:lnTo>
                <a:lnTo>
                  <a:pt x="2606373" y="31670"/>
                </a:lnTo>
                <a:lnTo>
                  <a:pt x="2629548" y="66061"/>
                </a:lnTo>
                <a:lnTo>
                  <a:pt x="2638044" y="108204"/>
                </a:lnTo>
                <a:lnTo>
                  <a:pt x="2638044" y="541020"/>
                </a:lnTo>
                <a:lnTo>
                  <a:pt x="2629548" y="583162"/>
                </a:lnTo>
                <a:lnTo>
                  <a:pt x="2606373" y="617553"/>
                </a:lnTo>
                <a:lnTo>
                  <a:pt x="2571982" y="640728"/>
                </a:lnTo>
                <a:lnTo>
                  <a:pt x="2529840" y="649224"/>
                </a:lnTo>
                <a:lnTo>
                  <a:pt x="108203" y="649224"/>
                </a:lnTo>
                <a:lnTo>
                  <a:pt x="66088" y="640728"/>
                </a:lnTo>
                <a:lnTo>
                  <a:pt x="31694" y="617553"/>
                </a:lnTo>
                <a:lnTo>
                  <a:pt x="8504" y="583162"/>
                </a:lnTo>
                <a:lnTo>
                  <a:pt x="0" y="541020"/>
                </a:lnTo>
                <a:lnTo>
                  <a:pt x="0" y="108204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4537" y="3812285"/>
            <a:ext cx="8707120" cy="1594485"/>
          </a:xfrm>
          <a:custGeom>
            <a:avLst/>
            <a:gdLst/>
            <a:ahLst/>
            <a:cxnLst/>
            <a:rect l="l" t="t" r="r" b="b"/>
            <a:pathLst>
              <a:path w="8707120" h="1594485">
                <a:moveTo>
                  <a:pt x="0" y="1594104"/>
                </a:moveTo>
                <a:lnTo>
                  <a:pt x="8706612" y="1594104"/>
                </a:lnTo>
                <a:lnTo>
                  <a:pt x="8706612" y="0"/>
                </a:lnTo>
                <a:lnTo>
                  <a:pt x="0" y="0"/>
                </a:lnTo>
                <a:lnTo>
                  <a:pt x="0" y="1594104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30402" y="3487673"/>
            <a:ext cx="2670175" cy="649605"/>
          </a:xfrm>
          <a:custGeom>
            <a:avLst/>
            <a:gdLst/>
            <a:ahLst/>
            <a:cxnLst/>
            <a:rect l="l" t="t" r="r" b="b"/>
            <a:pathLst>
              <a:path w="2670175" h="649604">
                <a:moveTo>
                  <a:pt x="2561844" y="0"/>
                </a:moveTo>
                <a:lnTo>
                  <a:pt x="108203" y="0"/>
                </a:lnTo>
                <a:lnTo>
                  <a:pt x="66088" y="8495"/>
                </a:lnTo>
                <a:lnTo>
                  <a:pt x="31694" y="31670"/>
                </a:lnTo>
                <a:lnTo>
                  <a:pt x="8504" y="66061"/>
                </a:lnTo>
                <a:lnTo>
                  <a:pt x="0" y="108203"/>
                </a:lnTo>
                <a:lnTo>
                  <a:pt x="0" y="541019"/>
                </a:lnTo>
                <a:lnTo>
                  <a:pt x="8504" y="583162"/>
                </a:lnTo>
                <a:lnTo>
                  <a:pt x="31694" y="617553"/>
                </a:lnTo>
                <a:lnTo>
                  <a:pt x="66088" y="640728"/>
                </a:lnTo>
                <a:lnTo>
                  <a:pt x="108203" y="649224"/>
                </a:lnTo>
                <a:lnTo>
                  <a:pt x="2561844" y="649224"/>
                </a:lnTo>
                <a:lnTo>
                  <a:pt x="2603986" y="640728"/>
                </a:lnTo>
                <a:lnTo>
                  <a:pt x="2638377" y="617553"/>
                </a:lnTo>
                <a:lnTo>
                  <a:pt x="2661552" y="583162"/>
                </a:lnTo>
                <a:lnTo>
                  <a:pt x="2670048" y="541019"/>
                </a:lnTo>
                <a:lnTo>
                  <a:pt x="2670048" y="108203"/>
                </a:lnTo>
                <a:lnTo>
                  <a:pt x="2661552" y="66061"/>
                </a:lnTo>
                <a:lnTo>
                  <a:pt x="2638377" y="31670"/>
                </a:lnTo>
                <a:lnTo>
                  <a:pt x="2603986" y="8495"/>
                </a:lnTo>
                <a:lnTo>
                  <a:pt x="256184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30402" y="3487673"/>
            <a:ext cx="2670175" cy="649605"/>
          </a:xfrm>
          <a:custGeom>
            <a:avLst/>
            <a:gdLst/>
            <a:ahLst/>
            <a:cxnLst/>
            <a:rect l="l" t="t" r="r" b="b"/>
            <a:pathLst>
              <a:path w="2670175" h="649604">
                <a:moveTo>
                  <a:pt x="0" y="108203"/>
                </a:moveTo>
                <a:lnTo>
                  <a:pt x="8504" y="66061"/>
                </a:lnTo>
                <a:lnTo>
                  <a:pt x="31694" y="31670"/>
                </a:lnTo>
                <a:lnTo>
                  <a:pt x="66088" y="8495"/>
                </a:lnTo>
                <a:lnTo>
                  <a:pt x="108203" y="0"/>
                </a:lnTo>
                <a:lnTo>
                  <a:pt x="2561844" y="0"/>
                </a:lnTo>
                <a:lnTo>
                  <a:pt x="2603986" y="8495"/>
                </a:lnTo>
                <a:lnTo>
                  <a:pt x="2638377" y="31670"/>
                </a:lnTo>
                <a:lnTo>
                  <a:pt x="2661552" y="66061"/>
                </a:lnTo>
                <a:lnTo>
                  <a:pt x="2670048" y="108203"/>
                </a:lnTo>
                <a:lnTo>
                  <a:pt x="2670048" y="541019"/>
                </a:lnTo>
                <a:lnTo>
                  <a:pt x="2661552" y="583162"/>
                </a:lnTo>
                <a:lnTo>
                  <a:pt x="2638377" y="617553"/>
                </a:lnTo>
                <a:lnTo>
                  <a:pt x="2603986" y="640728"/>
                </a:lnTo>
                <a:lnTo>
                  <a:pt x="2561844" y="649224"/>
                </a:lnTo>
                <a:lnTo>
                  <a:pt x="108203" y="649224"/>
                </a:lnTo>
                <a:lnTo>
                  <a:pt x="66088" y="640728"/>
                </a:lnTo>
                <a:lnTo>
                  <a:pt x="31694" y="617553"/>
                </a:lnTo>
                <a:lnTo>
                  <a:pt x="8504" y="583162"/>
                </a:lnTo>
                <a:lnTo>
                  <a:pt x="0" y="541019"/>
                </a:lnTo>
                <a:lnTo>
                  <a:pt x="0" y="108203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57732" y="1455877"/>
            <a:ext cx="7369175" cy="3703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微软雅黑"/>
                <a:cs typeface="微软雅黑"/>
              </a:rPr>
              <a:t>化简标准</a:t>
            </a:r>
            <a:endParaRPr sz="2800">
              <a:latin typeface="微软雅黑"/>
              <a:cs typeface="微软雅黑"/>
            </a:endParaRPr>
          </a:p>
          <a:p>
            <a:pPr marL="241300" indent="-228600">
              <a:lnSpc>
                <a:spcPct val="100000"/>
              </a:lnSpc>
              <a:spcBef>
                <a:spcPts val="24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表达式的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号最少（不包含单个变量上的</a:t>
            </a:r>
            <a:r>
              <a:rPr sz="2400" spc="5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号）</a:t>
            </a:r>
            <a:endParaRPr sz="2400">
              <a:latin typeface="微软雅黑"/>
              <a:cs typeface="微软雅黑"/>
            </a:endParaRPr>
          </a:p>
          <a:p>
            <a:pPr marL="241300" indent="-228600">
              <a:lnSpc>
                <a:spcPct val="100000"/>
              </a:lnSpc>
              <a:spcBef>
                <a:spcPts val="145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每个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号下的变量个数最少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00FF"/>
              </a:buClr>
              <a:buFont typeface="Arial"/>
              <a:buChar char="•"/>
            </a:pPr>
            <a:endParaRPr sz="1800">
              <a:latin typeface="微软雅黑"/>
              <a:cs typeface="微软雅黑"/>
            </a:endParaRPr>
          </a:p>
          <a:p>
            <a:pPr marL="3429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微软雅黑"/>
                <a:cs typeface="微软雅黑"/>
              </a:rPr>
              <a:t>化简方法</a:t>
            </a:r>
            <a:endParaRPr sz="3200">
              <a:latin typeface="微软雅黑"/>
              <a:cs typeface="微软雅黑"/>
            </a:endParaRPr>
          </a:p>
          <a:p>
            <a:pPr marL="241300" indent="-228600">
              <a:lnSpc>
                <a:spcPct val="100000"/>
              </a:lnSpc>
              <a:spcBef>
                <a:spcPts val="219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用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求反加非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和反演律将已化简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的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或与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式变换为最简</a:t>
            </a:r>
            <a:endParaRPr sz="2400">
              <a:latin typeface="微软雅黑"/>
              <a:cs typeface="微软雅黑"/>
            </a:endParaRPr>
          </a:p>
          <a:p>
            <a:pPr marL="241300">
              <a:lnSpc>
                <a:spcPct val="100000"/>
              </a:lnSpc>
              <a:spcBef>
                <a:spcPts val="830"/>
              </a:spcBef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或非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或非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表达式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67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7435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最</a:t>
            </a:r>
            <a:r>
              <a:rPr dirty="0"/>
              <a:t>简</a:t>
            </a:r>
            <a:r>
              <a:rPr dirty="0">
                <a:latin typeface="Times New Roman"/>
                <a:cs typeface="Times New Roman"/>
              </a:rPr>
              <a:t>“</a:t>
            </a:r>
            <a:r>
              <a:rPr dirty="0"/>
              <a:t>或</a:t>
            </a:r>
            <a:r>
              <a:rPr spc="5" dirty="0"/>
              <a:t>非</a:t>
            </a:r>
            <a:r>
              <a:rPr spc="-5" dirty="0">
                <a:latin typeface="Times New Roman"/>
                <a:cs typeface="Times New Roman"/>
              </a:rPr>
              <a:t>-</a:t>
            </a:r>
            <a:r>
              <a:rPr dirty="0"/>
              <a:t>或非</a:t>
            </a:r>
            <a:r>
              <a:rPr dirty="0">
                <a:latin typeface="Times New Roman"/>
                <a:cs typeface="Times New Roman"/>
              </a:rPr>
              <a:t>”</a:t>
            </a:r>
            <a:r>
              <a:rPr spc="5" dirty="0"/>
              <a:t>表达式</a:t>
            </a:r>
          </a:p>
        </p:txBody>
      </p:sp>
      <p:sp>
        <p:nvSpPr>
          <p:cNvPr id="3" name="object 3"/>
          <p:cNvSpPr/>
          <p:nvPr/>
        </p:nvSpPr>
        <p:spPr>
          <a:xfrm>
            <a:off x="2783806" y="2516609"/>
            <a:ext cx="250825" cy="0"/>
          </a:xfrm>
          <a:custGeom>
            <a:avLst/>
            <a:gdLst/>
            <a:ahLst/>
            <a:cxnLst/>
            <a:rect l="l" t="t" r="r" b="b"/>
            <a:pathLst>
              <a:path w="250825">
                <a:moveTo>
                  <a:pt x="0" y="0"/>
                </a:moveTo>
                <a:lnTo>
                  <a:pt x="250202" y="0"/>
                </a:lnTo>
              </a:path>
            </a:pathLst>
          </a:custGeom>
          <a:ln w="17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24968" y="2516609"/>
            <a:ext cx="295275" cy="0"/>
          </a:xfrm>
          <a:custGeom>
            <a:avLst/>
            <a:gdLst/>
            <a:ahLst/>
            <a:cxnLst/>
            <a:rect l="l" t="t" r="r" b="b"/>
            <a:pathLst>
              <a:path w="295275">
                <a:moveTo>
                  <a:pt x="0" y="0"/>
                </a:moveTo>
                <a:lnTo>
                  <a:pt x="294648" y="0"/>
                </a:lnTo>
              </a:path>
            </a:pathLst>
          </a:custGeom>
          <a:ln w="17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27435" y="2516609"/>
            <a:ext cx="250825" cy="0"/>
          </a:xfrm>
          <a:custGeom>
            <a:avLst/>
            <a:gdLst/>
            <a:ahLst/>
            <a:cxnLst/>
            <a:rect l="l" t="t" r="r" b="b"/>
            <a:pathLst>
              <a:path w="250825">
                <a:moveTo>
                  <a:pt x="0" y="0"/>
                </a:moveTo>
                <a:lnTo>
                  <a:pt x="250202" y="0"/>
                </a:lnTo>
              </a:path>
            </a:pathLst>
          </a:custGeom>
          <a:ln w="170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10881" y="1081758"/>
            <a:ext cx="264795" cy="0"/>
          </a:xfrm>
          <a:custGeom>
            <a:avLst/>
            <a:gdLst/>
            <a:ahLst/>
            <a:cxnLst/>
            <a:rect l="l" t="t" r="r" b="b"/>
            <a:pathLst>
              <a:path w="264795">
                <a:moveTo>
                  <a:pt x="0" y="0"/>
                </a:moveTo>
                <a:lnTo>
                  <a:pt x="264664" y="0"/>
                </a:lnTo>
              </a:path>
            </a:pathLst>
          </a:custGeom>
          <a:ln w="17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09308" y="1081758"/>
            <a:ext cx="264160" cy="0"/>
          </a:xfrm>
          <a:custGeom>
            <a:avLst/>
            <a:gdLst/>
            <a:ahLst/>
            <a:cxnLst/>
            <a:rect l="l" t="t" r="r" b="b"/>
            <a:pathLst>
              <a:path w="264160">
                <a:moveTo>
                  <a:pt x="0" y="0"/>
                </a:moveTo>
                <a:lnTo>
                  <a:pt x="263806" y="0"/>
                </a:lnTo>
              </a:path>
            </a:pathLst>
          </a:custGeom>
          <a:ln w="17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685705" y="1081758"/>
            <a:ext cx="264160" cy="0"/>
          </a:xfrm>
          <a:custGeom>
            <a:avLst/>
            <a:gdLst/>
            <a:ahLst/>
            <a:cxnLst/>
            <a:rect l="l" t="t" r="r" b="b"/>
            <a:pathLst>
              <a:path w="264159">
                <a:moveTo>
                  <a:pt x="0" y="0"/>
                </a:moveTo>
                <a:lnTo>
                  <a:pt x="263806" y="0"/>
                </a:lnTo>
              </a:path>
            </a:pathLst>
          </a:custGeom>
          <a:ln w="17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74040" y="822568"/>
            <a:ext cx="7232650" cy="3506729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5"/>
              </a:spcBef>
              <a:tabLst>
                <a:tab pos="4385945" algn="l"/>
              </a:tabLst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例：用最少</a:t>
            </a:r>
            <a:r>
              <a:rPr sz="2800" spc="-15" dirty="0">
                <a:solidFill>
                  <a:srgbClr val="0000FF"/>
                </a:solidFill>
                <a:latin typeface="微软雅黑"/>
                <a:cs typeface="微软雅黑"/>
              </a:rPr>
              <a:t>的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或非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门实现	</a:t>
            </a:r>
            <a:r>
              <a:rPr sz="5025" i="1" spc="37" baseline="-4975" dirty="0">
                <a:latin typeface="Times New Roman"/>
                <a:cs typeface="Times New Roman"/>
              </a:rPr>
              <a:t>F </a:t>
            </a:r>
            <a:r>
              <a:rPr sz="5025" spc="30" baseline="-4975" dirty="0">
                <a:latin typeface="Symbol"/>
                <a:cs typeface="Symbol"/>
              </a:rPr>
              <a:t></a:t>
            </a:r>
            <a:r>
              <a:rPr sz="5025" spc="30" baseline="-4975" dirty="0">
                <a:latin typeface="Times New Roman"/>
                <a:cs typeface="Times New Roman"/>
              </a:rPr>
              <a:t> </a:t>
            </a:r>
            <a:r>
              <a:rPr sz="5025" i="1" spc="112" baseline="-4975" dirty="0">
                <a:latin typeface="Times New Roman"/>
                <a:cs typeface="Times New Roman"/>
              </a:rPr>
              <a:t>AB</a:t>
            </a:r>
            <a:r>
              <a:rPr sz="5025" i="1" spc="382" baseline="-4975" dirty="0">
                <a:latin typeface="Times New Roman"/>
                <a:cs typeface="Times New Roman"/>
              </a:rPr>
              <a:t> </a:t>
            </a:r>
            <a:r>
              <a:rPr sz="5025" spc="30" baseline="-4975" dirty="0">
                <a:latin typeface="Symbol"/>
                <a:cs typeface="Symbol"/>
              </a:rPr>
              <a:t></a:t>
            </a:r>
            <a:endParaRPr sz="5025" baseline="-4975" dirty="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解：先</a:t>
            </a:r>
            <a:r>
              <a:rPr sz="2800" spc="-15" dirty="0">
                <a:solidFill>
                  <a:srgbClr val="0000FF"/>
                </a:solidFill>
                <a:latin typeface="微软雅黑"/>
                <a:cs typeface="微软雅黑"/>
              </a:rPr>
              <a:t>求</a:t>
            </a:r>
            <a:r>
              <a:rPr sz="2800" spc="-15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2800" spc="-10" dirty="0">
                <a:solidFill>
                  <a:srgbClr val="0000FF"/>
                </a:solidFill>
                <a:latin typeface="微软雅黑"/>
                <a:cs typeface="微软雅黑"/>
              </a:rPr>
              <a:t>的最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简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800" spc="-10" dirty="0">
                <a:solidFill>
                  <a:srgbClr val="0000FF"/>
                </a:solidFill>
                <a:latin typeface="微软雅黑"/>
                <a:cs typeface="微软雅黑"/>
              </a:rPr>
              <a:t>或与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式</a:t>
            </a:r>
            <a:endParaRPr sz="2800" dirty="0">
              <a:latin typeface="微软雅黑"/>
              <a:cs typeface="微软雅黑"/>
            </a:endParaRPr>
          </a:p>
          <a:p>
            <a:pPr marL="1356995">
              <a:lnSpc>
                <a:spcPct val="100000"/>
              </a:lnSpc>
              <a:spcBef>
                <a:spcPts val="3075"/>
              </a:spcBef>
              <a:tabLst>
                <a:tab pos="5170805" algn="l"/>
              </a:tabLst>
            </a:pPr>
            <a:r>
              <a:rPr sz="3150" i="1" spc="55" dirty="0">
                <a:latin typeface="Times New Roman"/>
                <a:cs typeface="Times New Roman"/>
              </a:rPr>
              <a:t>F</a:t>
            </a:r>
            <a:r>
              <a:rPr sz="3150" i="1" spc="254" dirty="0">
                <a:latin typeface="Times New Roman"/>
                <a:cs typeface="Times New Roman"/>
              </a:rPr>
              <a:t> </a:t>
            </a:r>
            <a:r>
              <a:rPr sz="3150" spc="45" dirty="0">
                <a:latin typeface="Symbol"/>
                <a:cs typeface="Symbol"/>
              </a:rPr>
              <a:t></a:t>
            </a:r>
            <a:r>
              <a:rPr sz="3150" spc="-90" dirty="0">
                <a:latin typeface="Times New Roman"/>
                <a:cs typeface="Times New Roman"/>
              </a:rPr>
              <a:t> </a:t>
            </a:r>
            <a:r>
              <a:rPr sz="3150" spc="30" dirty="0">
                <a:latin typeface="Times New Roman"/>
                <a:cs typeface="Times New Roman"/>
              </a:rPr>
              <a:t>(</a:t>
            </a:r>
            <a:r>
              <a:rPr sz="3150" spc="-455" dirty="0">
                <a:latin typeface="Times New Roman"/>
                <a:cs typeface="Times New Roman"/>
              </a:rPr>
              <a:t> </a:t>
            </a:r>
            <a:r>
              <a:rPr sz="3150" i="1" spc="55" dirty="0">
                <a:latin typeface="Times New Roman"/>
                <a:cs typeface="Times New Roman"/>
              </a:rPr>
              <a:t>A</a:t>
            </a:r>
            <a:r>
              <a:rPr sz="3150" i="1" spc="-345" dirty="0">
                <a:latin typeface="Times New Roman"/>
                <a:cs typeface="Times New Roman"/>
              </a:rPr>
              <a:t> </a:t>
            </a:r>
            <a:r>
              <a:rPr sz="3150" spc="45" dirty="0">
                <a:latin typeface="Symbol"/>
                <a:cs typeface="Symbol"/>
              </a:rPr>
              <a:t></a:t>
            </a:r>
            <a:r>
              <a:rPr sz="3150" spc="-95" dirty="0">
                <a:latin typeface="Times New Roman"/>
                <a:cs typeface="Times New Roman"/>
              </a:rPr>
              <a:t> </a:t>
            </a:r>
            <a:r>
              <a:rPr sz="3150" i="1" spc="105" dirty="0">
                <a:latin typeface="Times New Roman"/>
                <a:cs typeface="Times New Roman"/>
              </a:rPr>
              <a:t>D</a:t>
            </a:r>
            <a:r>
              <a:rPr sz="3150" spc="105" dirty="0">
                <a:latin typeface="Times New Roman"/>
                <a:cs typeface="Times New Roman"/>
              </a:rPr>
              <a:t>)(</a:t>
            </a:r>
            <a:r>
              <a:rPr sz="3150" i="1" spc="105" dirty="0">
                <a:latin typeface="Times New Roman"/>
                <a:cs typeface="Times New Roman"/>
              </a:rPr>
              <a:t>B</a:t>
            </a:r>
            <a:r>
              <a:rPr sz="3150" i="1" spc="-195" dirty="0">
                <a:latin typeface="Times New Roman"/>
                <a:cs typeface="Times New Roman"/>
              </a:rPr>
              <a:t> </a:t>
            </a:r>
            <a:r>
              <a:rPr sz="3150" spc="45" dirty="0">
                <a:latin typeface="Symbol"/>
                <a:cs typeface="Symbol"/>
              </a:rPr>
              <a:t></a:t>
            </a:r>
            <a:r>
              <a:rPr sz="3150" spc="-95" dirty="0">
                <a:latin typeface="Times New Roman"/>
                <a:cs typeface="Times New Roman"/>
              </a:rPr>
              <a:t> </a:t>
            </a:r>
            <a:r>
              <a:rPr sz="3150" i="1" spc="85" dirty="0">
                <a:latin typeface="Times New Roman"/>
                <a:cs typeface="Times New Roman"/>
              </a:rPr>
              <a:t>D</a:t>
            </a:r>
            <a:r>
              <a:rPr sz="3150" spc="85" dirty="0">
                <a:latin typeface="Times New Roman"/>
                <a:cs typeface="Times New Roman"/>
              </a:rPr>
              <a:t>)	</a:t>
            </a:r>
            <a:r>
              <a:rPr sz="3150" spc="-5" dirty="0">
                <a:latin typeface="宋体"/>
                <a:cs typeface="宋体"/>
              </a:rPr>
              <a:t>（过</a:t>
            </a:r>
            <a:r>
              <a:rPr sz="3150" spc="-15" dirty="0">
                <a:latin typeface="宋体"/>
                <a:cs typeface="宋体"/>
              </a:rPr>
              <a:t>程</a:t>
            </a:r>
            <a:r>
              <a:rPr sz="3150" spc="-5" dirty="0">
                <a:latin typeface="宋体"/>
                <a:cs typeface="宋体"/>
              </a:rPr>
              <a:t>略</a:t>
            </a:r>
            <a:r>
              <a:rPr sz="3150" spc="90" dirty="0">
                <a:latin typeface="宋体"/>
                <a:cs typeface="宋体"/>
              </a:rPr>
              <a:t>）</a:t>
            </a:r>
            <a:endParaRPr sz="315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9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用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取反加</a:t>
            </a:r>
            <a:r>
              <a:rPr sz="2800" spc="-10" dirty="0">
                <a:solidFill>
                  <a:srgbClr val="0000FF"/>
                </a:solidFill>
                <a:latin typeface="微软雅黑"/>
                <a:cs typeface="微软雅黑"/>
              </a:rPr>
              <a:t>非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的方式将</a:t>
            </a:r>
            <a:r>
              <a:rPr sz="2800" spc="-1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变成最简</a:t>
            </a:r>
            <a:r>
              <a:rPr sz="2800" spc="1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或非</a:t>
            </a:r>
            <a:r>
              <a:rPr sz="2800" spc="10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或非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式</a:t>
            </a:r>
            <a:endParaRPr sz="28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50" dirty="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68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B932DCFE-75BF-E0B3-E75C-7F7BE6F00502}"/>
                  </a:ext>
                </a:extLst>
              </p14:cNvPr>
              <p14:cNvContentPartPr/>
              <p14:nvPr/>
            </p14:nvContentPartPr>
            <p14:xfrm>
              <a:off x="2569736" y="1645253"/>
              <a:ext cx="1553040" cy="46548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B932DCFE-75BF-E0B3-E75C-7F7BE6F00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5736" y="1537253"/>
                <a:ext cx="1660680" cy="681120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图片 24">
            <a:extLst>
              <a:ext uri="{FF2B5EF4-FFF2-40B4-BE49-F238E27FC236}">
                <a16:creationId xmlns:a16="http://schemas.microsoft.com/office/drawing/2014/main" id="{B5310DA7-08C7-2D6B-C48D-D20001B4F2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9336" y="4096645"/>
            <a:ext cx="3334215" cy="147658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6062" y="1706117"/>
            <a:ext cx="8707120" cy="1663064"/>
          </a:xfrm>
          <a:custGeom>
            <a:avLst/>
            <a:gdLst/>
            <a:ahLst/>
            <a:cxnLst/>
            <a:rect l="l" t="t" r="r" b="b"/>
            <a:pathLst>
              <a:path w="8707120" h="1663064">
                <a:moveTo>
                  <a:pt x="0" y="1662683"/>
                </a:moveTo>
                <a:lnTo>
                  <a:pt x="8706612" y="1662683"/>
                </a:lnTo>
                <a:lnTo>
                  <a:pt x="8706612" y="0"/>
                </a:lnTo>
                <a:lnTo>
                  <a:pt x="0" y="0"/>
                </a:lnTo>
                <a:lnTo>
                  <a:pt x="0" y="1662683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31925" y="1381505"/>
            <a:ext cx="2638425" cy="649605"/>
          </a:xfrm>
          <a:custGeom>
            <a:avLst/>
            <a:gdLst/>
            <a:ahLst/>
            <a:cxnLst/>
            <a:rect l="l" t="t" r="r" b="b"/>
            <a:pathLst>
              <a:path w="2638425" h="649605">
                <a:moveTo>
                  <a:pt x="2529840" y="0"/>
                </a:moveTo>
                <a:lnTo>
                  <a:pt x="108204" y="0"/>
                </a:lnTo>
                <a:lnTo>
                  <a:pt x="66088" y="8495"/>
                </a:lnTo>
                <a:lnTo>
                  <a:pt x="31694" y="31670"/>
                </a:lnTo>
                <a:lnTo>
                  <a:pt x="8504" y="66061"/>
                </a:lnTo>
                <a:lnTo>
                  <a:pt x="0" y="108204"/>
                </a:lnTo>
                <a:lnTo>
                  <a:pt x="0" y="541020"/>
                </a:lnTo>
                <a:lnTo>
                  <a:pt x="8504" y="583162"/>
                </a:lnTo>
                <a:lnTo>
                  <a:pt x="31694" y="617553"/>
                </a:lnTo>
                <a:lnTo>
                  <a:pt x="66088" y="640728"/>
                </a:lnTo>
                <a:lnTo>
                  <a:pt x="108204" y="649224"/>
                </a:lnTo>
                <a:lnTo>
                  <a:pt x="2529840" y="649224"/>
                </a:lnTo>
                <a:lnTo>
                  <a:pt x="2571982" y="640728"/>
                </a:lnTo>
                <a:lnTo>
                  <a:pt x="2606373" y="617553"/>
                </a:lnTo>
                <a:lnTo>
                  <a:pt x="2629548" y="583162"/>
                </a:lnTo>
                <a:lnTo>
                  <a:pt x="2638044" y="541020"/>
                </a:lnTo>
                <a:lnTo>
                  <a:pt x="2638044" y="108204"/>
                </a:lnTo>
                <a:lnTo>
                  <a:pt x="2629548" y="66061"/>
                </a:lnTo>
                <a:lnTo>
                  <a:pt x="2606373" y="31670"/>
                </a:lnTo>
                <a:lnTo>
                  <a:pt x="2571982" y="8495"/>
                </a:lnTo>
                <a:lnTo>
                  <a:pt x="252984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31925" y="1381505"/>
            <a:ext cx="2638425" cy="649605"/>
          </a:xfrm>
          <a:custGeom>
            <a:avLst/>
            <a:gdLst/>
            <a:ahLst/>
            <a:cxnLst/>
            <a:rect l="l" t="t" r="r" b="b"/>
            <a:pathLst>
              <a:path w="2638425" h="649605">
                <a:moveTo>
                  <a:pt x="0" y="108204"/>
                </a:moveTo>
                <a:lnTo>
                  <a:pt x="8504" y="66061"/>
                </a:lnTo>
                <a:lnTo>
                  <a:pt x="31694" y="31670"/>
                </a:lnTo>
                <a:lnTo>
                  <a:pt x="66088" y="8495"/>
                </a:lnTo>
                <a:lnTo>
                  <a:pt x="108204" y="0"/>
                </a:lnTo>
                <a:lnTo>
                  <a:pt x="2529840" y="0"/>
                </a:lnTo>
                <a:lnTo>
                  <a:pt x="2571982" y="8495"/>
                </a:lnTo>
                <a:lnTo>
                  <a:pt x="2606373" y="31670"/>
                </a:lnTo>
                <a:lnTo>
                  <a:pt x="2629548" y="66061"/>
                </a:lnTo>
                <a:lnTo>
                  <a:pt x="2638044" y="108204"/>
                </a:lnTo>
                <a:lnTo>
                  <a:pt x="2638044" y="541020"/>
                </a:lnTo>
                <a:lnTo>
                  <a:pt x="2629548" y="583162"/>
                </a:lnTo>
                <a:lnTo>
                  <a:pt x="2606373" y="617553"/>
                </a:lnTo>
                <a:lnTo>
                  <a:pt x="2571982" y="640728"/>
                </a:lnTo>
                <a:lnTo>
                  <a:pt x="2529840" y="649224"/>
                </a:lnTo>
                <a:lnTo>
                  <a:pt x="108204" y="649224"/>
                </a:lnTo>
                <a:lnTo>
                  <a:pt x="66088" y="640728"/>
                </a:lnTo>
                <a:lnTo>
                  <a:pt x="31694" y="617553"/>
                </a:lnTo>
                <a:lnTo>
                  <a:pt x="8504" y="583162"/>
                </a:lnTo>
                <a:lnTo>
                  <a:pt x="0" y="541020"/>
                </a:lnTo>
                <a:lnTo>
                  <a:pt x="0" y="108204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6062" y="3812285"/>
            <a:ext cx="8707120" cy="1594485"/>
          </a:xfrm>
          <a:custGeom>
            <a:avLst/>
            <a:gdLst/>
            <a:ahLst/>
            <a:cxnLst/>
            <a:rect l="l" t="t" r="r" b="b"/>
            <a:pathLst>
              <a:path w="8707120" h="1594485">
                <a:moveTo>
                  <a:pt x="0" y="1594104"/>
                </a:moveTo>
                <a:lnTo>
                  <a:pt x="8706612" y="1594104"/>
                </a:lnTo>
                <a:lnTo>
                  <a:pt x="8706612" y="0"/>
                </a:lnTo>
                <a:lnTo>
                  <a:pt x="0" y="0"/>
                </a:lnTo>
                <a:lnTo>
                  <a:pt x="0" y="1594104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31925" y="3487673"/>
            <a:ext cx="2670175" cy="649605"/>
          </a:xfrm>
          <a:custGeom>
            <a:avLst/>
            <a:gdLst/>
            <a:ahLst/>
            <a:cxnLst/>
            <a:rect l="l" t="t" r="r" b="b"/>
            <a:pathLst>
              <a:path w="2670175" h="649604">
                <a:moveTo>
                  <a:pt x="2561844" y="0"/>
                </a:moveTo>
                <a:lnTo>
                  <a:pt x="108204" y="0"/>
                </a:lnTo>
                <a:lnTo>
                  <a:pt x="66088" y="8495"/>
                </a:lnTo>
                <a:lnTo>
                  <a:pt x="31694" y="31670"/>
                </a:lnTo>
                <a:lnTo>
                  <a:pt x="8504" y="66061"/>
                </a:lnTo>
                <a:lnTo>
                  <a:pt x="0" y="108203"/>
                </a:lnTo>
                <a:lnTo>
                  <a:pt x="0" y="541019"/>
                </a:lnTo>
                <a:lnTo>
                  <a:pt x="8504" y="583162"/>
                </a:lnTo>
                <a:lnTo>
                  <a:pt x="31694" y="617553"/>
                </a:lnTo>
                <a:lnTo>
                  <a:pt x="66088" y="640728"/>
                </a:lnTo>
                <a:lnTo>
                  <a:pt x="108204" y="649224"/>
                </a:lnTo>
                <a:lnTo>
                  <a:pt x="2561844" y="649224"/>
                </a:lnTo>
                <a:lnTo>
                  <a:pt x="2603986" y="640728"/>
                </a:lnTo>
                <a:lnTo>
                  <a:pt x="2638377" y="617553"/>
                </a:lnTo>
                <a:lnTo>
                  <a:pt x="2661552" y="583162"/>
                </a:lnTo>
                <a:lnTo>
                  <a:pt x="2670048" y="541019"/>
                </a:lnTo>
                <a:lnTo>
                  <a:pt x="2670048" y="108203"/>
                </a:lnTo>
                <a:lnTo>
                  <a:pt x="2661552" y="66061"/>
                </a:lnTo>
                <a:lnTo>
                  <a:pt x="2638377" y="31670"/>
                </a:lnTo>
                <a:lnTo>
                  <a:pt x="2603986" y="8495"/>
                </a:lnTo>
                <a:lnTo>
                  <a:pt x="256184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31925" y="3487673"/>
            <a:ext cx="2670175" cy="649605"/>
          </a:xfrm>
          <a:custGeom>
            <a:avLst/>
            <a:gdLst/>
            <a:ahLst/>
            <a:cxnLst/>
            <a:rect l="l" t="t" r="r" b="b"/>
            <a:pathLst>
              <a:path w="2670175" h="649604">
                <a:moveTo>
                  <a:pt x="0" y="108203"/>
                </a:moveTo>
                <a:lnTo>
                  <a:pt x="8504" y="66061"/>
                </a:lnTo>
                <a:lnTo>
                  <a:pt x="31694" y="31670"/>
                </a:lnTo>
                <a:lnTo>
                  <a:pt x="66088" y="8495"/>
                </a:lnTo>
                <a:lnTo>
                  <a:pt x="108204" y="0"/>
                </a:lnTo>
                <a:lnTo>
                  <a:pt x="2561844" y="0"/>
                </a:lnTo>
                <a:lnTo>
                  <a:pt x="2603986" y="8495"/>
                </a:lnTo>
                <a:lnTo>
                  <a:pt x="2638377" y="31670"/>
                </a:lnTo>
                <a:lnTo>
                  <a:pt x="2661552" y="66061"/>
                </a:lnTo>
                <a:lnTo>
                  <a:pt x="2670048" y="108203"/>
                </a:lnTo>
                <a:lnTo>
                  <a:pt x="2670048" y="541019"/>
                </a:lnTo>
                <a:lnTo>
                  <a:pt x="2661552" y="583162"/>
                </a:lnTo>
                <a:lnTo>
                  <a:pt x="2638377" y="617553"/>
                </a:lnTo>
                <a:lnTo>
                  <a:pt x="2603986" y="640728"/>
                </a:lnTo>
                <a:lnTo>
                  <a:pt x="2561844" y="649224"/>
                </a:lnTo>
                <a:lnTo>
                  <a:pt x="108204" y="649224"/>
                </a:lnTo>
                <a:lnTo>
                  <a:pt x="66088" y="640728"/>
                </a:lnTo>
                <a:lnTo>
                  <a:pt x="31694" y="617553"/>
                </a:lnTo>
                <a:lnTo>
                  <a:pt x="8504" y="583162"/>
                </a:lnTo>
                <a:lnTo>
                  <a:pt x="0" y="541019"/>
                </a:lnTo>
                <a:lnTo>
                  <a:pt x="0" y="108203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86779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64575" algn="l"/>
              </a:tabLst>
            </a:pPr>
            <a:r>
              <a:rPr u="heavy" spc="5" dirty="0">
                <a:uFill>
                  <a:solidFill>
                    <a:srgbClr val="666699"/>
                  </a:solidFill>
                </a:uFill>
              </a:rPr>
              <a:t>最</a:t>
            </a:r>
            <a:r>
              <a:rPr u="heavy" dirty="0">
                <a:uFill>
                  <a:solidFill>
                    <a:srgbClr val="666699"/>
                  </a:solidFill>
                </a:uFill>
              </a:rPr>
              <a:t>简</a:t>
            </a:r>
            <a:r>
              <a:rPr u="heavy" dirty="0"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“</a:t>
            </a:r>
            <a:r>
              <a:rPr u="heavy" dirty="0">
                <a:uFill>
                  <a:solidFill>
                    <a:srgbClr val="666699"/>
                  </a:solidFill>
                </a:uFill>
              </a:rPr>
              <a:t>与或</a:t>
            </a:r>
            <a:r>
              <a:rPr u="heavy" spc="5" dirty="0">
                <a:uFill>
                  <a:solidFill>
                    <a:srgbClr val="666699"/>
                  </a:solidFill>
                </a:uFill>
              </a:rPr>
              <a:t>非</a:t>
            </a:r>
            <a:r>
              <a:rPr u="heavy" dirty="0"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”</a:t>
            </a:r>
            <a:r>
              <a:rPr u="heavy" dirty="0">
                <a:uFill>
                  <a:solidFill>
                    <a:srgbClr val="666699"/>
                  </a:solidFill>
                </a:uFill>
              </a:rPr>
              <a:t>表达</a:t>
            </a:r>
            <a:r>
              <a:rPr u="heavy" spc="5" dirty="0">
                <a:uFill>
                  <a:solidFill>
                    <a:srgbClr val="666699"/>
                  </a:solidFill>
                </a:uFill>
              </a:rPr>
              <a:t>式</a:t>
            </a:r>
            <a:r>
              <a:rPr u="heavy" dirty="0">
                <a:uFill>
                  <a:solidFill>
                    <a:srgbClr val="666699"/>
                  </a:solidFill>
                </a:uFill>
              </a:rPr>
              <a:t>	</a:t>
            </a:r>
          </a:p>
        </p:txBody>
      </p:sp>
      <p:sp>
        <p:nvSpPr>
          <p:cNvPr id="12" name="object 12"/>
          <p:cNvSpPr/>
          <p:nvPr/>
        </p:nvSpPr>
        <p:spPr>
          <a:xfrm>
            <a:off x="1841057" y="4298696"/>
            <a:ext cx="232410" cy="0"/>
          </a:xfrm>
          <a:custGeom>
            <a:avLst/>
            <a:gdLst/>
            <a:ahLst/>
            <a:cxnLst/>
            <a:rect l="l" t="t" r="r" b="b"/>
            <a:pathLst>
              <a:path w="232410">
                <a:moveTo>
                  <a:pt x="0" y="0"/>
                </a:moveTo>
                <a:lnTo>
                  <a:pt x="232162" y="0"/>
                </a:lnTo>
              </a:path>
            </a:pathLst>
          </a:custGeom>
          <a:ln w="144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41" y="1455877"/>
            <a:ext cx="7352030" cy="3703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微软雅黑"/>
                <a:cs typeface="微软雅黑"/>
              </a:rPr>
              <a:t>化简标准</a:t>
            </a:r>
            <a:endParaRPr sz="2800">
              <a:latin typeface="微软雅黑"/>
              <a:cs typeface="微软雅黑"/>
            </a:endParaRPr>
          </a:p>
          <a:p>
            <a:pPr marL="241300" indent="-229235">
              <a:lnSpc>
                <a:spcPct val="100000"/>
              </a:lnSpc>
              <a:spcBef>
                <a:spcPts val="2420"/>
              </a:spcBef>
              <a:buChar char="•"/>
              <a:tabLst>
                <a:tab pos="241935" algn="l"/>
              </a:tabLst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与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项的个数最少</a:t>
            </a:r>
            <a:endParaRPr sz="2400">
              <a:latin typeface="微软雅黑"/>
              <a:cs typeface="微软雅黑"/>
            </a:endParaRPr>
          </a:p>
          <a:p>
            <a:pPr marL="241300" indent="-229235">
              <a:lnSpc>
                <a:spcPct val="100000"/>
              </a:lnSpc>
              <a:spcBef>
                <a:spcPts val="1450"/>
              </a:spcBef>
              <a:buFont typeface="Arial"/>
              <a:buChar char="•"/>
              <a:tabLst>
                <a:tab pos="241935" algn="l"/>
              </a:tabLst>
            </a:pP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每个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与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项所含的变量个数最少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00FF"/>
              </a:buClr>
              <a:buFont typeface="Arial"/>
              <a:buChar char="•"/>
            </a:pPr>
            <a:endParaRPr sz="1800">
              <a:latin typeface="微软雅黑"/>
              <a:cs typeface="微软雅黑"/>
            </a:endParaRPr>
          </a:p>
          <a:p>
            <a:pPr marL="3429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微软雅黑"/>
                <a:cs typeface="微软雅黑"/>
              </a:rPr>
              <a:t>化简方法</a:t>
            </a:r>
            <a:endParaRPr sz="3200">
              <a:latin typeface="微软雅黑"/>
              <a:cs typeface="微软雅黑"/>
            </a:endParaRPr>
          </a:p>
          <a:p>
            <a:pPr marL="241300" indent="-229235">
              <a:lnSpc>
                <a:spcPct val="100000"/>
              </a:lnSpc>
              <a:spcBef>
                <a:spcPts val="2045"/>
              </a:spcBef>
              <a:buFont typeface="Arial"/>
              <a:buChar char="•"/>
              <a:tabLst>
                <a:tab pos="241935" algn="l"/>
                <a:tab pos="687705" algn="l"/>
                <a:tab pos="1053465" algn="l"/>
              </a:tabLst>
            </a:pP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对	</a:t>
            </a:r>
            <a:r>
              <a:rPr sz="3825" i="1" spc="-60" baseline="1089" dirty="0">
                <a:latin typeface="Times New Roman"/>
                <a:cs typeface="Times New Roman"/>
              </a:rPr>
              <a:t>F	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的最简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与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或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式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求反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，就得到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的最简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与或</a:t>
            </a:r>
            <a:r>
              <a:rPr sz="2400" spc="-10" dirty="0">
                <a:solidFill>
                  <a:srgbClr val="0000FF"/>
                </a:solidFill>
                <a:latin typeface="微软雅黑"/>
                <a:cs typeface="微软雅黑"/>
              </a:rPr>
              <a:t>非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endParaRPr sz="24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800"/>
              </a:spcBef>
            </a:pP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式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69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49974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最</a:t>
            </a:r>
            <a:r>
              <a:rPr dirty="0"/>
              <a:t>简</a:t>
            </a:r>
            <a:r>
              <a:rPr dirty="0">
                <a:latin typeface="Times New Roman"/>
                <a:cs typeface="Times New Roman"/>
              </a:rPr>
              <a:t>“</a:t>
            </a:r>
            <a:r>
              <a:rPr dirty="0"/>
              <a:t>与或</a:t>
            </a:r>
            <a:r>
              <a:rPr spc="5" dirty="0"/>
              <a:t>非</a:t>
            </a:r>
            <a:r>
              <a:rPr dirty="0">
                <a:latin typeface="Times New Roman"/>
                <a:cs typeface="Times New Roman"/>
              </a:rPr>
              <a:t>”</a:t>
            </a:r>
            <a:r>
              <a:rPr dirty="0"/>
              <a:t>表达式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CD05635-464F-D470-76E1-45C10B3EE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19" y="1304628"/>
            <a:ext cx="9211961" cy="42487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C594EA2A-653B-E6B4-7112-D5AE8ED2EA74}"/>
                  </a:ext>
                </a:extLst>
              </p14:cNvPr>
              <p14:cNvContentPartPr/>
              <p14:nvPr/>
            </p14:nvContentPartPr>
            <p14:xfrm>
              <a:off x="4333132" y="2991256"/>
              <a:ext cx="360" cy="36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C594EA2A-653B-E6B4-7112-D5AE8ED2EA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79492" y="288325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1D8F98CC-BA16-870B-9E71-A8FC9C284E52}"/>
                  </a:ext>
                </a:extLst>
              </p14:cNvPr>
              <p14:cNvContentPartPr/>
              <p14:nvPr/>
            </p14:nvContentPartPr>
            <p14:xfrm>
              <a:off x="2672811" y="1816371"/>
              <a:ext cx="3079800" cy="71964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1D8F98CC-BA16-870B-9E71-A8FC9C284E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18811" y="1708731"/>
                <a:ext cx="3187440" cy="9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EEAA5453-B1FA-59E2-D144-2165C0480109}"/>
                  </a:ext>
                </a:extLst>
              </p14:cNvPr>
              <p14:cNvContentPartPr/>
              <p14:nvPr/>
            </p14:nvContentPartPr>
            <p14:xfrm>
              <a:off x="4315491" y="2125971"/>
              <a:ext cx="1057680" cy="28044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EEAA5453-B1FA-59E2-D144-2165C048010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61491" y="2018331"/>
                <a:ext cx="1165320" cy="49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33832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常用变换方法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51372" y="909156"/>
            <a:ext cx="3558540" cy="2983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7975" marR="5080" indent="-177165">
              <a:lnSpc>
                <a:spcPct val="138600"/>
              </a:lnSpc>
              <a:spcBef>
                <a:spcPts val="95"/>
              </a:spcBef>
            </a:pPr>
            <a:r>
              <a:rPr sz="2800" spc="-10" dirty="0">
                <a:latin typeface="Arial"/>
                <a:cs typeface="Arial"/>
              </a:rPr>
              <a:t>F</a:t>
            </a:r>
            <a:r>
              <a:rPr sz="2800" spc="-5" dirty="0">
                <a:latin typeface="微软雅黑"/>
                <a:cs typeface="微软雅黑"/>
              </a:rPr>
              <a:t>的最简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微软雅黑"/>
                <a:cs typeface="微软雅黑"/>
              </a:rPr>
              <a:t>与非</a:t>
            </a:r>
            <a:r>
              <a:rPr sz="2800" spc="-5" dirty="0">
                <a:latin typeface="Arial"/>
                <a:cs typeface="Arial"/>
              </a:rPr>
              <a:t>-</a:t>
            </a:r>
            <a:r>
              <a:rPr sz="2800" spc="-5" dirty="0">
                <a:latin typeface="微软雅黑"/>
                <a:cs typeface="微软雅黑"/>
              </a:rPr>
              <a:t>与非</a:t>
            </a:r>
            <a:r>
              <a:rPr sz="2800" spc="-5" dirty="0">
                <a:latin typeface="Arial"/>
                <a:cs typeface="Arial"/>
              </a:rPr>
              <a:t>”</a:t>
            </a:r>
            <a:r>
              <a:rPr sz="2800" spc="-5" dirty="0">
                <a:latin typeface="微软雅黑"/>
                <a:cs typeface="微软雅黑"/>
              </a:rPr>
              <a:t>式  </a:t>
            </a:r>
            <a:r>
              <a:rPr sz="2800" spc="-15" dirty="0">
                <a:latin typeface="Arial"/>
                <a:cs typeface="Arial"/>
              </a:rPr>
              <a:t>F</a:t>
            </a:r>
            <a:r>
              <a:rPr sz="2800" spc="-10" dirty="0">
                <a:latin typeface="微软雅黑"/>
                <a:cs typeface="微软雅黑"/>
              </a:rPr>
              <a:t>的最</a:t>
            </a:r>
            <a:r>
              <a:rPr sz="2800" spc="-5" dirty="0">
                <a:latin typeface="微软雅黑"/>
                <a:cs typeface="微软雅黑"/>
              </a:rPr>
              <a:t>简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10" dirty="0">
                <a:latin typeface="微软雅黑"/>
                <a:cs typeface="微软雅黑"/>
              </a:rPr>
              <a:t>或与</a:t>
            </a:r>
            <a:r>
              <a:rPr sz="2800" spc="-5" dirty="0">
                <a:latin typeface="Arial"/>
                <a:cs typeface="Arial"/>
              </a:rPr>
              <a:t>”</a:t>
            </a:r>
            <a:r>
              <a:rPr sz="2800" spc="-5" dirty="0">
                <a:latin typeface="微软雅黑"/>
                <a:cs typeface="微软雅黑"/>
              </a:rPr>
              <a:t>式</a:t>
            </a:r>
            <a:endParaRPr sz="2800">
              <a:latin typeface="微软雅黑"/>
              <a:cs typeface="微软雅黑"/>
            </a:endParaRPr>
          </a:p>
          <a:p>
            <a:pPr marL="12700" marR="5080" indent="118745">
              <a:lnSpc>
                <a:spcPct val="138600"/>
              </a:lnSpc>
              <a:spcBef>
                <a:spcPts val="15"/>
              </a:spcBef>
            </a:pPr>
            <a:r>
              <a:rPr sz="2800" spc="-10" dirty="0">
                <a:latin typeface="Arial"/>
                <a:cs typeface="Arial"/>
              </a:rPr>
              <a:t>F</a:t>
            </a:r>
            <a:r>
              <a:rPr sz="2800" spc="-5" dirty="0">
                <a:latin typeface="微软雅黑"/>
                <a:cs typeface="微软雅黑"/>
              </a:rPr>
              <a:t>的最简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微软雅黑"/>
                <a:cs typeface="微软雅黑"/>
              </a:rPr>
              <a:t>或非</a:t>
            </a:r>
            <a:r>
              <a:rPr sz="2800" spc="-5" dirty="0">
                <a:latin typeface="Arial"/>
                <a:cs typeface="Arial"/>
              </a:rPr>
              <a:t>-</a:t>
            </a:r>
            <a:r>
              <a:rPr sz="2800" spc="-5" dirty="0">
                <a:latin typeface="微软雅黑"/>
                <a:cs typeface="微软雅黑"/>
              </a:rPr>
              <a:t>或非</a:t>
            </a:r>
            <a:r>
              <a:rPr sz="2800" spc="-5" dirty="0">
                <a:latin typeface="Arial"/>
                <a:cs typeface="Arial"/>
              </a:rPr>
              <a:t>”</a:t>
            </a:r>
            <a:r>
              <a:rPr sz="2800" spc="-5" dirty="0">
                <a:latin typeface="微软雅黑"/>
                <a:cs typeface="微软雅黑"/>
              </a:rPr>
              <a:t>式  </a:t>
            </a:r>
            <a:r>
              <a:rPr sz="2800" spc="-10" dirty="0">
                <a:latin typeface="Arial"/>
                <a:cs typeface="Arial"/>
              </a:rPr>
              <a:t>F</a:t>
            </a:r>
            <a:r>
              <a:rPr sz="2800" spc="-5" dirty="0">
                <a:latin typeface="微软雅黑"/>
                <a:cs typeface="微软雅黑"/>
              </a:rPr>
              <a:t>的最简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微软雅黑"/>
                <a:cs typeface="微软雅黑"/>
              </a:rPr>
              <a:t>与或</a:t>
            </a:r>
            <a:r>
              <a:rPr sz="2800" spc="-5" dirty="0">
                <a:latin typeface="Arial"/>
                <a:cs typeface="Arial"/>
              </a:rPr>
              <a:t>”</a:t>
            </a:r>
            <a:r>
              <a:rPr sz="2800" spc="-5" dirty="0">
                <a:latin typeface="微软雅黑"/>
                <a:cs typeface="微软雅黑"/>
              </a:rPr>
              <a:t>式</a:t>
            </a:r>
            <a:endParaRPr sz="2800">
              <a:latin typeface="微软雅黑"/>
              <a:cs typeface="微软雅黑"/>
            </a:endParaRPr>
          </a:p>
          <a:p>
            <a:pPr marL="111760">
              <a:lnSpc>
                <a:spcPct val="100000"/>
              </a:lnSpc>
              <a:spcBef>
                <a:spcPts val="1295"/>
              </a:spcBef>
            </a:pPr>
            <a:r>
              <a:rPr sz="2800" spc="-10" dirty="0">
                <a:latin typeface="Arial"/>
                <a:cs typeface="Arial"/>
              </a:rPr>
              <a:t>F</a:t>
            </a:r>
            <a:r>
              <a:rPr sz="2800" spc="-5" dirty="0">
                <a:latin typeface="微软雅黑"/>
                <a:cs typeface="微软雅黑"/>
              </a:rPr>
              <a:t>的最简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微软雅黑"/>
                <a:cs typeface="微软雅黑"/>
              </a:rPr>
              <a:t>与或</a:t>
            </a:r>
            <a:r>
              <a:rPr sz="2800" spc="-10" dirty="0">
                <a:latin typeface="微软雅黑"/>
                <a:cs typeface="微软雅黑"/>
              </a:rPr>
              <a:t>非</a:t>
            </a:r>
            <a:r>
              <a:rPr sz="2800" spc="-5" dirty="0">
                <a:latin typeface="Arial"/>
                <a:cs typeface="Arial"/>
              </a:rPr>
              <a:t>”</a:t>
            </a:r>
            <a:r>
              <a:rPr sz="2800" spc="-5" dirty="0">
                <a:latin typeface="微软雅黑"/>
                <a:cs typeface="微软雅黑"/>
              </a:rPr>
              <a:t>式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57600" y="1289430"/>
            <a:ext cx="2016760" cy="103505"/>
          </a:xfrm>
          <a:custGeom>
            <a:avLst/>
            <a:gdLst/>
            <a:ahLst/>
            <a:cxnLst/>
            <a:rect l="l" t="t" r="r" b="b"/>
            <a:pathLst>
              <a:path w="2016760" h="103505">
                <a:moveTo>
                  <a:pt x="1991142" y="51689"/>
                </a:moveTo>
                <a:lnTo>
                  <a:pt x="1921255" y="92456"/>
                </a:lnTo>
                <a:lnTo>
                  <a:pt x="1920239" y="96266"/>
                </a:lnTo>
                <a:lnTo>
                  <a:pt x="1922017" y="99314"/>
                </a:lnTo>
                <a:lnTo>
                  <a:pt x="1923669" y="102362"/>
                </a:lnTo>
                <a:lnTo>
                  <a:pt x="1927605" y="103378"/>
                </a:lnTo>
                <a:lnTo>
                  <a:pt x="2005361" y="58039"/>
                </a:lnTo>
                <a:lnTo>
                  <a:pt x="2003678" y="58039"/>
                </a:lnTo>
                <a:lnTo>
                  <a:pt x="2003678" y="57150"/>
                </a:lnTo>
                <a:lnTo>
                  <a:pt x="2000503" y="57150"/>
                </a:lnTo>
                <a:lnTo>
                  <a:pt x="1991142" y="51689"/>
                </a:lnTo>
                <a:close/>
              </a:path>
              <a:path w="2016760" h="103505">
                <a:moveTo>
                  <a:pt x="1980256" y="45339"/>
                </a:moveTo>
                <a:lnTo>
                  <a:pt x="0" y="45339"/>
                </a:lnTo>
                <a:lnTo>
                  <a:pt x="0" y="58039"/>
                </a:lnTo>
                <a:lnTo>
                  <a:pt x="1980256" y="58039"/>
                </a:lnTo>
                <a:lnTo>
                  <a:pt x="1991142" y="51689"/>
                </a:lnTo>
                <a:lnTo>
                  <a:pt x="1980256" y="45339"/>
                </a:lnTo>
                <a:close/>
              </a:path>
              <a:path w="2016760" h="103505">
                <a:moveTo>
                  <a:pt x="2005361" y="45339"/>
                </a:moveTo>
                <a:lnTo>
                  <a:pt x="2003678" y="45339"/>
                </a:lnTo>
                <a:lnTo>
                  <a:pt x="2003678" y="58039"/>
                </a:lnTo>
                <a:lnTo>
                  <a:pt x="2005361" y="58039"/>
                </a:lnTo>
                <a:lnTo>
                  <a:pt x="2016252" y="51689"/>
                </a:lnTo>
                <a:lnTo>
                  <a:pt x="2005361" y="45339"/>
                </a:lnTo>
                <a:close/>
              </a:path>
              <a:path w="2016760" h="103505">
                <a:moveTo>
                  <a:pt x="2000503" y="46228"/>
                </a:moveTo>
                <a:lnTo>
                  <a:pt x="1991142" y="51689"/>
                </a:lnTo>
                <a:lnTo>
                  <a:pt x="2000503" y="57150"/>
                </a:lnTo>
                <a:lnTo>
                  <a:pt x="2000503" y="46228"/>
                </a:lnTo>
                <a:close/>
              </a:path>
              <a:path w="2016760" h="103505">
                <a:moveTo>
                  <a:pt x="2003678" y="46228"/>
                </a:moveTo>
                <a:lnTo>
                  <a:pt x="2000503" y="46228"/>
                </a:lnTo>
                <a:lnTo>
                  <a:pt x="2000503" y="57150"/>
                </a:lnTo>
                <a:lnTo>
                  <a:pt x="2003678" y="57150"/>
                </a:lnTo>
                <a:lnTo>
                  <a:pt x="2003678" y="46228"/>
                </a:lnTo>
                <a:close/>
              </a:path>
              <a:path w="2016760" h="103505">
                <a:moveTo>
                  <a:pt x="1927605" y="0"/>
                </a:moveTo>
                <a:lnTo>
                  <a:pt x="1923669" y="1016"/>
                </a:lnTo>
                <a:lnTo>
                  <a:pt x="1922017" y="4064"/>
                </a:lnTo>
                <a:lnTo>
                  <a:pt x="1920239" y="7112"/>
                </a:lnTo>
                <a:lnTo>
                  <a:pt x="1921255" y="10922"/>
                </a:lnTo>
                <a:lnTo>
                  <a:pt x="1991142" y="51689"/>
                </a:lnTo>
                <a:lnTo>
                  <a:pt x="2000503" y="46228"/>
                </a:lnTo>
                <a:lnTo>
                  <a:pt x="2003678" y="46228"/>
                </a:lnTo>
                <a:lnTo>
                  <a:pt x="2003678" y="45339"/>
                </a:lnTo>
                <a:lnTo>
                  <a:pt x="2005361" y="45339"/>
                </a:lnTo>
                <a:lnTo>
                  <a:pt x="19276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07840" y="1078484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求反加非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57600" y="1937130"/>
            <a:ext cx="2016760" cy="103505"/>
          </a:xfrm>
          <a:custGeom>
            <a:avLst/>
            <a:gdLst/>
            <a:ahLst/>
            <a:cxnLst/>
            <a:rect l="l" t="t" r="r" b="b"/>
            <a:pathLst>
              <a:path w="2016760" h="103505">
                <a:moveTo>
                  <a:pt x="1991142" y="51689"/>
                </a:moveTo>
                <a:lnTo>
                  <a:pt x="1921255" y="92456"/>
                </a:lnTo>
                <a:lnTo>
                  <a:pt x="1920239" y="96266"/>
                </a:lnTo>
                <a:lnTo>
                  <a:pt x="1922017" y="99314"/>
                </a:lnTo>
                <a:lnTo>
                  <a:pt x="1923669" y="102362"/>
                </a:lnTo>
                <a:lnTo>
                  <a:pt x="1927605" y="103378"/>
                </a:lnTo>
                <a:lnTo>
                  <a:pt x="2005361" y="58039"/>
                </a:lnTo>
                <a:lnTo>
                  <a:pt x="2003678" y="58039"/>
                </a:lnTo>
                <a:lnTo>
                  <a:pt x="2003678" y="57150"/>
                </a:lnTo>
                <a:lnTo>
                  <a:pt x="2000503" y="57150"/>
                </a:lnTo>
                <a:lnTo>
                  <a:pt x="1991142" y="51689"/>
                </a:lnTo>
                <a:close/>
              </a:path>
              <a:path w="2016760" h="103505">
                <a:moveTo>
                  <a:pt x="1980256" y="45339"/>
                </a:moveTo>
                <a:lnTo>
                  <a:pt x="0" y="45339"/>
                </a:lnTo>
                <a:lnTo>
                  <a:pt x="0" y="58039"/>
                </a:lnTo>
                <a:lnTo>
                  <a:pt x="1980256" y="58039"/>
                </a:lnTo>
                <a:lnTo>
                  <a:pt x="1991142" y="51689"/>
                </a:lnTo>
                <a:lnTo>
                  <a:pt x="1980256" y="45339"/>
                </a:lnTo>
                <a:close/>
              </a:path>
              <a:path w="2016760" h="103505">
                <a:moveTo>
                  <a:pt x="2005361" y="45339"/>
                </a:moveTo>
                <a:lnTo>
                  <a:pt x="2003678" y="45339"/>
                </a:lnTo>
                <a:lnTo>
                  <a:pt x="2003678" y="58039"/>
                </a:lnTo>
                <a:lnTo>
                  <a:pt x="2005361" y="58039"/>
                </a:lnTo>
                <a:lnTo>
                  <a:pt x="2016252" y="51689"/>
                </a:lnTo>
                <a:lnTo>
                  <a:pt x="2005361" y="45339"/>
                </a:lnTo>
                <a:close/>
              </a:path>
              <a:path w="2016760" h="103505">
                <a:moveTo>
                  <a:pt x="2000503" y="46228"/>
                </a:moveTo>
                <a:lnTo>
                  <a:pt x="1991142" y="51689"/>
                </a:lnTo>
                <a:lnTo>
                  <a:pt x="2000503" y="57150"/>
                </a:lnTo>
                <a:lnTo>
                  <a:pt x="2000503" y="46228"/>
                </a:lnTo>
                <a:close/>
              </a:path>
              <a:path w="2016760" h="103505">
                <a:moveTo>
                  <a:pt x="2003678" y="46228"/>
                </a:moveTo>
                <a:lnTo>
                  <a:pt x="2000503" y="46228"/>
                </a:lnTo>
                <a:lnTo>
                  <a:pt x="2000503" y="57150"/>
                </a:lnTo>
                <a:lnTo>
                  <a:pt x="2003678" y="57150"/>
                </a:lnTo>
                <a:lnTo>
                  <a:pt x="2003678" y="46228"/>
                </a:lnTo>
                <a:close/>
              </a:path>
              <a:path w="2016760" h="103505">
                <a:moveTo>
                  <a:pt x="1927605" y="0"/>
                </a:moveTo>
                <a:lnTo>
                  <a:pt x="1923669" y="1016"/>
                </a:lnTo>
                <a:lnTo>
                  <a:pt x="1922017" y="4064"/>
                </a:lnTo>
                <a:lnTo>
                  <a:pt x="1920239" y="7112"/>
                </a:lnTo>
                <a:lnTo>
                  <a:pt x="1921255" y="10922"/>
                </a:lnTo>
                <a:lnTo>
                  <a:pt x="1991142" y="51689"/>
                </a:lnTo>
                <a:lnTo>
                  <a:pt x="2000503" y="46228"/>
                </a:lnTo>
                <a:lnTo>
                  <a:pt x="2003678" y="46228"/>
                </a:lnTo>
                <a:lnTo>
                  <a:pt x="2003678" y="45339"/>
                </a:lnTo>
                <a:lnTo>
                  <a:pt x="2005361" y="45339"/>
                </a:lnTo>
                <a:lnTo>
                  <a:pt x="19276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07840" y="1726133"/>
            <a:ext cx="482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微软雅黑"/>
                <a:cs typeface="微软雅黑"/>
              </a:rPr>
              <a:t>反演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66744" y="2571114"/>
            <a:ext cx="2016760" cy="103505"/>
          </a:xfrm>
          <a:custGeom>
            <a:avLst/>
            <a:gdLst/>
            <a:ahLst/>
            <a:cxnLst/>
            <a:rect l="l" t="t" r="r" b="b"/>
            <a:pathLst>
              <a:path w="2016760" h="103505">
                <a:moveTo>
                  <a:pt x="1991142" y="51688"/>
                </a:moveTo>
                <a:lnTo>
                  <a:pt x="1921255" y="92456"/>
                </a:lnTo>
                <a:lnTo>
                  <a:pt x="1920239" y="96265"/>
                </a:lnTo>
                <a:lnTo>
                  <a:pt x="1922017" y="99313"/>
                </a:lnTo>
                <a:lnTo>
                  <a:pt x="1923668" y="102362"/>
                </a:lnTo>
                <a:lnTo>
                  <a:pt x="1927605" y="103377"/>
                </a:lnTo>
                <a:lnTo>
                  <a:pt x="2005361" y="58038"/>
                </a:lnTo>
                <a:lnTo>
                  <a:pt x="2003678" y="58038"/>
                </a:lnTo>
                <a:lnTo>
                  <a:pt x="2003678" y="57150"/>
                </a:lnTo>
                <a:lnTo>
                  <a:pt x="2000503" y="57150"/>
                </a:lnTo>
                <a:lnTo>
                  <a:pt x="1991142" y="51688"/>
                </a:lnTo>
                <a:close/>
              </a:path>
              <a:path w="2016760" h="103505">
                <a:moveTo>
                  <a:pt x="1980256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1980256" y="58038"/>
                </a:lnTo>
                <a:lnTo>
                  <a:pt x="1991142" y="51688"/>
                </a:lnTo>
                <a:lnTo>
                  <a:pt x="1980256" y="45338"/>
                </a:lnTo>
                <a:close/>
              </a:path>
              <a:path w="2016760" h="103505">
                <a:moveTo>
                  <a:pt x="2005361" y="45338"/>
                </a:moveTo>
                <a:lnTo>
                  <a:pt x="2003678" y="45338"/>
                </a:lnTo>
                <a:lnTo>
                  <a:pt x="2003678" y="58038"/>
                </a:lnTo>
                <a:lnTo>
                  <a:pt x="2005361" y="58038"/>
                </a:lnTo>
                <a:lnTo>
                  <a:pt x="2016252" y="51688"/>
                </a:lnTo>
                <a:lnTo>
                  <a:pt x="2005361" y="45338"/>
                </a:lnTo>
                <a:close/>
              </a:path>
              <a:path w="2016760" h="103505">
                <a:moveTo>
                  <a:pt x="2000503" y="46227"/>
                </a:moveTo>
                <a:lnTo>
                  <a:pt x="1991142" y="51688"/>
                </a:lnTo>
                <a:lnTo>
                  <a:pt x="2000503" y="57150"/>
                </a:lnTo>
                <a:lnTo>
                  <a:pt x="2000503" y="46227"/>
                </a:lnTo>
                <a:close/>
              </a:path>
              <a:path w="2016760" h="103505">
                <a:moveTo>
                  <a:pt x="2003678" y="46227"/>
                </a:moveTo>
                <a:lnTo>
                  <a:pt x="2000503" y="46227"/>
                </a:lnTo>
                <a:lnTo>
                  <a:pt x="2000503" y="57150"/>
                </a:lnTo>
                <a:lnTo>
                  <a:pt x="2003678" y="57150"/>
                </a:lnTo>
                <a:lnTo>
                  <a:pt x="2003678" y="46227"/>
                </a:lnTo>
                <a:close/>
              </a:path>
              <a:path w="2016760" h="103505">
                <a:moveTo>
                  <a:pt x="1927605" y="0"/>
                </a:moveTo>
                <a:lnTo>
                  <a:pt x="1923668" y="1015"/>
                </a:lnTo>
                <a:lnTo>
                  <a:pt x="1922017" y="4063"/>
                </a:lnTo>
                <a:lnTo>
                  <a:pt x="1920239" y="7112"/>
                </a:lnTo>
                <a:lnTo>
                  <a:pt x="1921255" y="10922"/>
                </a:lnTo>
                <a:lnTo>
                  <a:pt x="1991142" y="51688"/>
                </a:lnTo>
                <a:lnTo>
                  <a:pt x="2000503" y="46227"/>
                </a:lnTo>
                <a:lnTo>
                  <a:pt x="2003678" y="46227"/>
                </a:lnTo>
                <a:lnTo>
                  <a:pt x="2003678" y="45338"/>
                </a:lnTo>
                <a:lnTo>
                  <a:pt x="2005361" y="45338"/>
                </a:lnTo>
                <a:lnTo>
                  <a:pt x="19276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18253" y="2334259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求反加非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76828" y="3124326"/>
            <a:ext cx="2016760" cy="103505"/>
          </a:xfrm>
          <a:custGeom>
            <a:avLst/>
            <a:gdLst/>
            <a:ahLst/>
            <a:cxnLst/>
            <a:rect l="l" t="t" r="r" b="b"/>
            <a:pathLst>
              <a:path w="2016760" h="103505">
                <a:moveTo>
                  <a:pt x="1991142" y="51688"/>
                </a:moveTo>
                <a:lnTo>
                  <a:pt x="1921256" y="92456"/>
                </a:lnTo>
                <a:lnTo>
                  <a:pt x="1920239" y="96265"/>
                </a:lnTo>
                <a:lnTo>
                  <a:pt x="1922018" y="99313"/>
                </a:lnTo>
                <a:lnTo>
                  <a:pt x="1923669" y="102362"/>
                </a:lnTo>
                <a:lnTo>
                  <a:pt x="1927606" y="103377"/>
                </a:lnTo>
                <a:lnTo>
                  <a:pt x="2005361" y="58038"/>
                </a:lnTo>
                <a:lnTo>
                  <a:pt x="2003679" y="58038"/>
                </a:lnTo>
                <a:lnTo>
                  <a:pt x="2003679" y="57150"/>
                </a:lnTo>
                <a:lnTo>
                  <a:pt x="2000504" y="57150"/>
                </a:lnTo>
                <a:lnTo>
                  <a:pt x="1991142" y="51688"/>
                </a:lnTo>
                <a:close/>
              </a:path>
              <a:path w="2016760" h="103505">
                <a:moveTo>
                  <a:pt x="1980256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1980256" y="58038"/>
                </a:lnTo>
                <a:lnTo>
                  <a:pt x="1991142" y="51688"/>
                </a:lnTo>
                <a:lnTo>
                  <a:pt x="1980256" y="45338"/>
                </a:lnTo>
                <a:close/>
              </a:path>
              <a:path w="2016760" h="103505">
                <a:moveTo>
                  <a:pt x="2005361" y="45338"/>
                </a:moveTo>
                <a:lnTo>
                  <a:pt x="2003679" y="45338"/>
                </a:lnTo>
                <a:lnTo>
                  <a:pt x="2003679" y="58038"/>
                </a:lnTo>
                <a:lnTo>
                  <a:pt x="2005361" y="58038"/>
                </a:lnTo>
                <a:lnTo>
                  <a:pt x="2016252" y="51688"/>
                </a:lnTo>
                <a:lnTo>
                  <a:pt x="2005361" y="45338"/>
                </a:lnTo>
                <a:close/>
              </a:path>
              <a:path w="2016760" h="103505">
                <a:moveTo>
                  <a:pt x="2000504" y="46227"/>
                </a:moveTo>
                <a:lnTo>
                  <a:pt x="1991142" y="51688"/>
                </a:lnTo>
                <a:lnTo>
                  <a:pt x="2000504" y="57150"/>
                </a:lnTo>
                <a:lnTo>
                  <a:pt x="2000504" y="46227"/>
                </a:lnTo>
                <a:close/>
              </a:path>
              <a:path w="2016760" h="103505">
                <a:moveTo>
                  <a:pt x="2003679" y="46227"/>
                </a:moveTo>
                <a:lnTo>
                  <a:pt x="2000504" y="46227"/>
                </a:lnTo>
                <a:lnTo>
                  <a:pt x="2000504" y="57150"/>
                </a:lnTo>
                <a:lnTo>
                  <a:pt x="2003679" y="57150"/>
                </a:lnTo>
                <a:lnTo>
                  <a:pt x="2003679" y="46227"/>
                </a:lnTo>
                <a:close/>
              </a:path>
              <a:path w="2016760" h="103505">
                <a:moveTo>
                  <a:pt x="1927606" y="0"/>
                </a:moveTo>
                <a:lnTo>
                  <a:pt x="1923669" y="1015"/>
                </a:lnTo>
                <a:lnTo>
                  <a:pt x="1922018" y="4063"/>
                </a:lnTo>
                <a:lnTo>
                  <a:pt x="1920239" y="7112"/>
                </a:lnTo>
                <a:lnTo>
                  <a:pt x="1921256" y="10922"/>
                </a:lnTo>
                <a:lnTo>
                  <a:pt x="1991142" y="51688"/>
                </a:lnTo>
                <a:lnTo>
                  <a:pt x="2000504" y="46227"/>
                </a:lnTo>
                <a:lnTo>
                  <a:pt x="2003679" y="46227"/>
                </a:lnTo>
                <a:lnTo>
                  <a:pt x="2003679" y="45338"/>
                </a:lnTo>
                <a:lnTo>
                  <a:pt x="2005361" y="45338"/>
                </a:lnTo>
                <a:lnTo>
                  <a:pt x="19276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228338" y="2914650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反演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66744" y="3761359"/>
            <a:ext cx="2016760" cy="103505"/>
          </a:xfrm>
          <a:custGeom>
            <a:avLst/>
            <a:gdLst/>
            <a:ahLst/>
            <a:cxnLst/>
            <a:rect l="l" t="t" r="r" b="b"/>
            <a:pathLst>
              <a:path w="2016760" h="103504">
                <a:moveTo>
                  <a:pt x="1991142" y="51689"/>
                </a:moveTo>
                <a:lnTo>
                  <a:pt x="1921255" y="92456"/>
                </a:lnTo>
                <a:lnTo>
                  <a:pt x="1920239" y="96266"/>
                </a:lnTo>
                <a:lnTo>
                  <a:pt x="1922017" y="99314"/>
                </a:lnTo>
                <a:lnTo>
                  <a:pt x="1923668" y="102362"/>
                </a:lnTo>
                <a:lnTo>
                  <a:pt x="1927605" y="103378"/>
                </a:lnTo>
                <a:lnTo>
                  <a:pt x="2005361" y="58039"/>
                </a:lnTo>
                <a:lnTo>
                  <a:pt x="2003678" y="58039"/>
                </a:lnTo>
                <a:lnTo>
                  <a:pt x="2003678" y="57150"/>
                </a:lnTo>
                <a:lnTo>
                  <a:pt x="2000503" y="57150"/>
                </a:lnTo>
                <a:lnTo>
                  <a:pt x="1991142" y="51689"/>
                </a:lnTo>
                <a:close/>
              </a:path>
              <a:path w="2016760" h="103504">
                <a:moveTo>
                  <a:pt x="1980256" y="45339"/>
                </a:moveTo>
                <a:lnTo>
                  <a:pt x="0" y="45339"/>
                </a:lnTo>
                <a:lnTo>
                  <a:pt x="0" y="58039"/>
                </a:lnTo>
                <a:lnTo>
                  <a:pt x="1980256" y="58039"/>
                </a:lnTo>
                <a:lnTo>
                  <a:pt x="1991142" y="51689"/>
                </a:lnTo>
                <a:lnTo>
                  <a:pt x="1980256" y="45339"/>
                </a:lnTo>
                <a:close/>
              </a:path>
              <a:path w="2016760" h="103504">
                <a:moveTo>
                  <a:pt x="2005361" y="45339"/>
                </a:moveTo>
                <a:lnTo>
                  <a:pt x="2003678" y="45339"/>
                </a:lnTo>
                <a:lnTo>
                  <a:pt x="2003678" y="58039"/>
                </a:lnTo>
                <a:lnTo>
                  <a:pt x="2005361" y="58039"/>
                </a:lnTo>
                <a:lnTo>
                  <a:pt x="2016252" y="51689"/>
                </a:lnTo>
                <a:lnTo>
                  <a:pt x="2005361" y="45339"/>
                </a:lnTo>
                <a:close/>
              </a:path>
              <a:path w="2016760" h="103504">
                <a:moveTo>
                  <a:pt x="2000503" y="46228"/>
                </a:moveTo>
                <a:lnTo>
                  <a:pt x="1991142" y="51689"/>
                </a:lnTo>
                <a:lnTo>
                  <a:pt x="2000503" y="57150"/>
                </a:lnTo>
                <a:lnTo>
                  <a:pt x="2000503" y="46228"/>
                </a:lnTo>
                <a:close/>
              </a:path>
              <a:path w="2016760" h="103504">
                <a:moveTo>
                  <a:pt x="2003678" y="46228"/>
                </a:moveTo>
                <a:lnTo>
                  <a:pt x="2000503" y="46228"/>
                </a:lnTo>
                <a:lnTo>
                  <a:pt x="2000503" y="57150"/>
                </a:lnTo>
                <a:lnTo>
                  <a:pt x="2003678" y="57150"/>
                </a:lnTo>
                <a:lnTo>
                  <a:pt x="2003678" y="46228"/>
                </a:lnTo>
                <a:close/>
              </a:path>
              <a:path w="2016760" h="103504">
                <a:moveTo>
                  <a:pt x="1927605" y="0"/>
                </a:moveTo>
                <a:lnTo>
                  <a:pt x="1923668" y="1016"/>
                </a:lnTo>
                <a:lnTo>
                  <a:pt x="1922017" y="4064"/>
                </a:lnTo>
                <a:lnTo>
                  <a:pt x="1920239" y="7112"/>
                </a:lnTo>
                <a:lnTo>
                  <a:pt x="1921255" y="10922"/>
                </a:lnTo>
                <a:lnTo>
                  <a:pt x="1991142" y="51689"/>
                </a:lnTo>
                <a:lnTo>
                  <a:pt x="2000503" y="46228"/>
                </a:lnTo>
                <a:lnTo>
                  <a:pt x="2003678" y="46228"/>
                </a:lnTo>
                <a:lnTo>
                  <a:pt x="2003678" y="45339"/>
                </a:lnTo>
                <a:lnTo>
                  <a:pt x="2005361" y="45339"/>
                </a:lnTo>
                <a:lnTo>
                  <a:pt x="19276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307840" y="3486657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加一非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05321" y="1778000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2162" y="0"/>
                </a:lnTo>
              </a:path>
            </a:pathLst>
          </a:custGeom>
          <a:ln w="144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76949" y="2892044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2162" y="0"/>
                </a:lnTo>
              </a:path>
            </a:pathLst>
          </a:custGeom>
          <a:ln w="144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76949" y="3501644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2162" y="0"/>
                </a:lnTo>
              </a:path>
            </a:pathLst>
          </a:custGeom>
          <a:ln w="144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48640" y="909156"/>
            <a:ext cx="3181350" cy="298386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390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81000" algn="l"/>
              </a:tabLst>
            </a:pPr>
            <a:r>
              <a:rPr sz="2800" spc="-10" dirty="0">
                <a:latin typeface="Arial"/>
                <a:cs typeface="Arial"/>
              </a:rPr>
              <a:t>F</a:t>
            </a:r>
            <a:r>
              <a:rPr sz="2800" spc="-5" dirty="0">
                <a:latin typeface="微软雅黑"/>
                <a:cs typeface="微软雅黑"/>
              </a:rPr>
              <a:t>的最</a:t>
            </a:r>
            <a:r>
              <a:rPr sz="2800" spc="-10" dirty="0">
                <a:latin typeface="微软雅黑"/>
                <a:cs typeface="微软雅黑"/>
              </a:rPr>
              <a:t>简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微软雅黑"/>
                <a:cs typeface="微软雅黑"/>
              </a:rPr>
              <a:t>与或</a:t>
            </a:r>
            <a:r>
              <a:rPr sz="2800" dirty="0">
                <a:latin typeface="Arial"/>
                <a:cs typeface="Arial"/>
              </a:rPr>
              <a:t>”</a:t>
            </a:r>
            <a:r>
              <a:rPr sz="2800" spc="-5" dirty="0">
                <a:latin typeface="微软雅黑"/>
                <a:cs typeface="微软雅黑"/>
              </a:rPr>
              <a:t>式</a:t>
            </a:r>
            <a:endParaRPr sz="2800">
              <a:latin typeface="微软雅黑"/>
              <a:cs typeface="微软雅黑"/>
            </a:endParaRPr>
          </a:p>
          <a:p>
            <a:pPr marL="361315" indent="-323850">
              <a:lnSpc>
                <a:spcPct val="100000"/>
              </a:lnSpc>
              <a:spcBef>
                <a:spcPts val="1300"/>
              </a:spcBef>
              <a:buClr>
                <a:srgbClr val="FF6600"/>
              </a:buClr>
              <a:buSzPct val="82352"/>
              <a:buFont typeface="Wingdings"/>
              <a:buChar char=""/>
              <a:tabLst>
                <a:tab pos="361950" algn="l"/>
              </a:tabLst>
            </a:pPr>
            <a:r>
              <a:rPr sz="3825" i="1" spc="-60" baseline="-8714" dirty="0">
                <a:latin typeface="Times New Roman"/>
                <a:cs typeface="Times New Roman"/>
              </a:rPr>
              <a:t>F</a:t>
            </a:r>
            <a:r>
              <a:rPr sz="3825" i="1" spc="375" baseline="-87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微软雅黑"/>
                <a:cs typeface="微软雅黑"/>
              </a:rPr>
              <a:t>的最简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10" dirty="0">
                <a:latin typeface="微软雅黑"/>
                <a:cs typeface="微软雅黑"/>
              </a:rPr>
              <a:t>与</a:t>
            </a:r>
            <a:r>
              <a:rPr sz="2800" spc="-5" dirty="0">
                <a:latin typeface="微软雅黑"/>
                <a:cs typeface="微软雅黑"/>
              </a:rPr>
              <a:t>或</a:t>
            </a:r>
            <a:r>
              <a:rPr sz="2800" spc="-5" dirty="0">
                <a:latin typeface="Arial"/>
                <a:cs typeface="Arial"/>
              </a:rPr>
              <a:t>”</a:t>
            </a:r>
            <a:r>
              <a:rPr sz="2800" spc="-5" dirty="0">
                <a:latin typeface="微软雅黑"/>
                <a:cs typeface="微软雅黑"/>
              </a:rPr>
              <a:t>式</a:t>
            </a:r>
            <a:endParaRPr sz="2800">
              <a:latin typeface="微软雅黑"/>
              <a:cs typeface="微软雅黑"/>
            </a:endParaRPr>
          </a:p>
          <a:p>
            <a:pPr marL="381000" indent="-342900">
              <a:lnSpc>
                <a:spcPct val="100000"/>
              </a:lnSpc>
              <a:spcBef>
                <a:spcPts val="1310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81000" algn="l"/>
              </a:tabLst>
            </a:pPr>
            <a:r>
              <a:rPr sz="2800" spc="-10" dirty="0">
                <a:latin typeface="Arial"/>
                <a:cs typeface="Arial"/>
              </a:rPr>
              <a:t>F</a:t>
            </a:r>
            <a:r>
              <a:rPr sz="2800" spc="-5" dirty="0">
                <a:latin typeface="微软雅黑"/>
                <a:cs typeface="微软雅黑"/>
              </a:rPr>
              <a:t>的最</a:t>
            </a:r>
            <a:r>
              <a:rPr sz="2800" spc="-10" dirty="0">
                <a:latin typeface="微软雅黑"/>
                <a:cs typeface="微软雅黑"/>
              </a:rPr>
              <a:t>简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微软雅黑"/>
                <a:cs typeface="微软雅黑"/>
              </a:rPr>
              <a:t>或与</a:t>
            </a:r>
            <a:r>
              <a:rPr sz="2800" dirty="0">
                <a:latin typeface="Arial"/>
                <a:cs typeface="Arial"/>
              </a:rPr>
              <a:t>”</a:t>
            </a:r>
            <a:r>
              <a:rPr sz="2800" spc="-5" dirty="0">
                <a:latin typeface="微软雅黑"/>
                <a:cs typeface="微软雅黑"/>
              </a:rPr>
              <a:t>式</a:t>
            </a:r>
            <a:endParaRPr sz="2800">
              <a:latin typeface="微软雅黑"/>
              <a:cs typeface="微软雅黑"/>
            </a:endParaRPr>
          </a:p>
          <a:p>
            <a:pPr marL="433070" indent="-395605">
              <a:lnSpc>
                <a:spcPct val="100000"/>
              </a:lnSpc>
              <a:spcBef>
                <a:spcPts val="1295"/>
              </a:spcBef>
              <a:buClr>
                <a:srgbClr val="FF6600"/>
              </a:buClr>
              <a:buSzPct val="82352"/>
              <a:buFont typeface="Wingdings"/>
              <a:buChar char=""/>
              <a:tabLst>
                <a:tab pos="433070" algn="l"/>
                <a:tab pos="433705" algn="l"/>
                <a:tab pos="774065" algn="l"/>
              </a:tabLst>
            </a:pPr>
            <a:r>
              <a:rPr sz="3825" i="1" spc="-60" baseline="3267" dirty="0">
                <a:latin typeface="Times New Roman"/>
                <a:cs typeface="Times New Roman"/>
              </a:rPr>
              <a:t>F	</a:t>
            </a:r>
            <a:r>
              <a:rPr sz="2800" spc="-5" dirty="0">
                <a:latin typeface="微软雅黑"/>
                <a:cs typeface="微软雅黑"/>
              </a:rPr>
              <a:t>的最简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微软雅黑"/>
                <a:cs typeface="微软雅黑"/>
              </a:rPr>
              <a:t>或与</a:t>
            </a:r>
            <a:r>
              <a:rPr sz="2800" spc="-5" dirty="0">
                <a:latin typeface="Arial"/>
                <a:cs typeface="Arial"/>
              </a:rPr>
              <a:t>”</a:t>
            </a:r>
            <a:r>
              <a:rPr sz="2800" spc="-5" dirty="0">
                <a:latin typeface="微软雅黑"/>
                <a:cs typeface="微软雅黑"/>
              </a:rPr>
              <a:t>式</a:t>
            </a:r>
            <a:endParaRPr sz="2800">
              <a:latin typeface="微软雅黑"/>
              <a:cs typeface="微软雅黑"/>
            </a:endParaRPr>
          </a:p>
          <a:p>
            <a:pPr marL="433070" indent="-395605">
              <a:lnSpc>
                <a:spcPct val="100000"/>
              </a:lnSpc>
              <a:spcBef>
                <a:spcPts val="1300"/>
              </a:spcBef>
              <a:buClr>
                <a:srgbClr val="FF6600"/>
              </a:buClr>
              <a:buSzPct val="82352"/>
              <a:buFont typeface="Wingdings"/>
              <a:buChar char=""/>
              <a:tabLst>
                <a:tab pos="433070" algn="l"/>
                <a:tab pos="433705" algn="l"/>
                <a:tab pos="774065" algn="l"/>
              </a:tabLst>
            </a:pPr>
            <a:r>
              <a:rPr sz="2550" i="1" spc="-40" dirty="0">
                <a:latin typeface="Times New Roman"/>
                <a:cs typeface="Times New Roman"/>
              </a:rPr>
              <a:t>F	</a:t>
            </a:r>
            <a:r>
              <a:rPr sz="2800" spc="-5" dirty="0">
                <a:latin typeface="微软雅黑"/>
                <a:cs typeface="微软雅黑"/>
              </a:rPr>
              <a:t>的最简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微软雅黑"/>
                <a:cs typeface="微软雅黑"/>
              </a:rPr>
              <a:t>与或</a:t>
            </a:r>
            <a:r>
              <a:rPr sz="2800" spc="-5" dirty="0">
                <a:latin typeface="Arial"/>
                <a:cs typeface="Arial"/>
              </a:rPr>
              <a:t>”</a:t>
            </a:r>
            <a:r>
              <a:rPr sz="2800" spc="-5" dirty="0">
                <a:latin typeface="微软雅黑"/>
                <a:cs typeface="微软雅黑"/>
              </a:rPr>
              <a:t>式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71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6181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逻辑函数的卡诺图化简法</a:t>
            </a:r>
          </a:p>
        </p:txBody>
      </p:sp>
      <p:sp>
        <p:nvSpPr>
          <p:cNvPr id="3" name="object 3"/>
          <p:cNvSpPr/>
          <p:nvPr/>
        </p:nvSpPr>
        <p:spPr>
          <a:xfrm>
            <a:off x="921258" y="1485264"/>
            <a:ext cx="8353425" cy="1801495"/>
          </a:xfrm>
          <a:custGeom>
            <a:avLst/>
            <a:gdLst/>
            <a:ahLst/>
            <a:cxnLst/>
            <a:rect l="l" t="t" r="r" b="b"/>
            <a:pathLst>
              <a:path w="8353425" h="1801495">
                <a:moveTo>
                  <a:pt x="0" y="144652"/>
                </a:moveTo>
                <a:lnTo>
                  <a:pt x="1392173" y="144652"/>
                </a:lnTo>
                <a:lnTo>
                  <a:pt x="1000886" y="0"/>
                </a:lnTo>
                <a:lnTo>
                  <a:pt x="3480434" y="144652"/>
                </a:lnTo>
                <a:lnTo>
                  <a:pt x="8353044" y="144652"/>
                </a:lnTo>
                <a:lnTo>
                  <a:pt x="8353044" y="420750"/>
                </a:lnTo>
                <a:lnTo>
                  <a:pt x="8353044" y="834898"/>
                </a:lnTo>
                <a:lnTo>
                  <a:pt x="8353044" y="1801240"/>
                </a:lnTo>
                <a:lnTo>
                  <a:pt x="3480434" y="1801240"/>
                </a:lnTo>
                <a:lnTo>
                  <a:pt x="1392173" y="1801240"/>
                </a:lnTo>
                <a:lnTo>
                  <a:pt x="0" y="1801240"/>
                </a:lnTo>
                <a:lnTo>
                  <a:pt x="0" y="834898"/>
                </a:lnTo>
                <a:lnTo>
                  <a:pt x="0" y="420750"/>
                </a:lnTo>
                <a:lnTo>
                  <a:pt x="0" y="144652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1258" y="3501390"/>
            <a:ext cx="2952115" cy="433070"/>
          </a:xfrm>
          <a:custGeom>
            <a:avLst/>
            <a:gdLst/>
            <a:ahLst/>
            <a:cxnLst/>
            <a:rect l="l" t="t" r="r" b="b"/>
            <a:pathLst>
              <a:path w="2952115" h="433070">
                <a:moveTo>
                  <a:pt x="0" y="72136"/>
                </a:moveTo>
                <a:lnTo>
                  <a:pt x="5668" y="44041"/>
                </a:lnTo>
                <a:lnTo>
                  <a:pt x="21128" y="21113"/>
                </a:lnTo>
                <a:lnTo>
                  <a:pt x="44057" y="5663"/>
                </a:lnTo>
                <a:lnTo>
                  <a:pt x="72135" y="0"/>
                </a:lnTo>
                <a:lnTo>
                  <a:pt x="2879852" y="0"/>
                </a:lnTo>
                <a:lnTo>
                  <a:pt x="2907946" y="5663"/>
                </a:lnTo>
                <a:lnTo>
                  <a:pt x="2930874" y="21113"/>
                </a:lnTo>
                <a:lnTo>
                  <a:pt x="2946324" y="44041"/>
                </a:lnTo>
                <a:lnTo>
                  <a:pt x="2951988" y="72136"/>
                </a:lnTo>
                <a:lnTo>
                  <a:pt x="2951988" y="360680"/>
                </a:lnTo>
                <a:lnTo>
                  <a:pt x="2946324" y="388774"/>
                </a:lnTo>
                <a:lnTo>
                  <a:pt x="2930874" y="411702"/>
                </a:lnTo>
                <a:lnTo>
                  <a:pt x="2907946" y="427152"/>
                </a:lnTo>
                <a:lnTo>
                  <a:pt x="2879852" y="432816"/>
                </a:lnTo>
                <a:lnTo>
                  <a:pt x="72135" y="432816"/>
                </a:lnTo>
                <a:lnTo>
                  <a:pt x="44057" y="427152"/>
                </a:lnTo>
                <a:lnTo>
                  <a:pt x="21128" y="411702"/>
                </a:lnTo>
                <a:lnTo>
                  <a:pt x="5668" y="388774"/>
                </a:lnTo>
                <a:lnTo>
                  <a:pt x="0" y="360680"/>
                </a:lnTo>
                <a:lnTo>
                  <a:pt x="0" y="72136"/>
                </a:lnTo>
                <a:close/>
              </a:path>
            </a:pathLst>
          </a:custGeom>
          <a:ln w="25908">
            <a:solidFill>
              <a:srgbClr val="E78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30172" y="3564093"/>
            <a:ext cx="166370" cy="0"/>
          </a:xfrm>
          <a:custGeom>
            <a:avLst/>
            <a:gdLst/>
            <a:ahLst/>
            <a:cxnLst/>
            <a:rect l="l" t="t" r="r" b="b"/>
            <a:pathLst>
              <a:path w="166369">
                <a:moveTo>
                  <a:pt x="0" y="0"/>
                </a:moveTo>
                <a:lnTo>
                  <a:pt x="165916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25390" y="3501390"/>
            <a:ext cx="2952115" cy="433070"/>
          </a:xfrm>
          <a:custGeom>
            <a:avLst/>
            <a:gdLst/>
            <a:ahLst/>
            <a:cxnLst/>
            <a:rect l="l" t="t" r="r" b="b"/>
            <a:pathLst>
              <a:path w="2952115" h="433070">
                <a:moveTo>
                  <a:pt x="0" y="72136"/>
                </a:moveTo>
                <a:lnTo>
                  <a:pt x="5663" y="44041"/>
                </a:lnTo>
                <a:lnTo>
                  <a:pt x="21113" y="21113"/>
                </a:lnTo>
                <a:lnTo>
                  <a:pt x="44041" y="5663"/>
                </a:lnTo>
                <a:lnTo>
                  <a:pt x="72136" y="0"/>
                </a:lnTo>
                <a:lnTo>
                  <a:pt x="2879852" y="0"/>
                </a:lnTo>
                <a:lnTo>
                  <a:pt x="2907946" y="5663"/>
                </a:lnTo>
                <a:lnTo>
                  <a:pt x="2930874" y="21113"/>
                </a:lnTo>
                <a:lnTo>
                  <a:pt x="2946324" y="44041"/>
                </a:lnTo>
                <a:lnTo>
                  <a:pt x="2951988" y="72136"/>
                </a:lnTo>
                <a:lnTo>
                  <a:pt x="2951988" y="360680"/>
                </a:lnTo>
                <a:lnTo>
                  <a:pt x="2946324" y="388774"/>
                </a:lnTo>
                <a:lnTo>
                  <a:pt x="2930874" y="411702"/>
                </a:lnTo>
                <a:lnTo>
                  <a:pt x="2907946" y="427152"/>
                </a:lnTo>
                <a:lnTo>
                  <a:pt x="2879852" y="432816"/>
                </a:lnTo>
                <a:lnTo>
                  <a:pt x="72136" y="432816"/>
                </a:lnTo>
                <a:lnTo>
                  <a:pt x="44041" y="427152"/>
                </a:lnTo>
                <a:lnTo>
                  <a:pt x="21113" y="411702"/>
                </a:lnTo>
                <a:lnTo>
                  <a:pt x="5663" y="388774"/>
                </a:lnTo>
                <a:lnTo>
                  <a:pt x="0" y="360680"/>
                </a:lnTo>
                <a:lnTo>
                  <a:pt x="0" y="72136"/>
                </a:lnTo>
                <a:close/>
              </a:path>
            </a:pathLst>
          </a:custGeom>
          <a:ln w="25908">
            <a:solidFill>
              <a:srgbClr val="E78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56130" y="3564093"/>
            <a:ext cx="165735" cy="0"/>
          </a:xfrm>
          <a:custGeom>
            <a:avLst/>
            <a:gdLst/>
            <a:ahLst/>
            <a:cxnLst/>
            <a:rect l="l" t="t" r="r" b="b"/>
            <a:pathLst>
              <a:path w="165735">
                <a:moveTo>
                  <a:pt x="0" y="0"/>
                </a:moveTo>
                <a:lnTo>
                  <a:pt x="165662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43181" y="3564093"/>
            <a:ext cx="173990" cy="0"/>
          </a:xfrm>
          <a:custGeom>
            <a:avLst/>
            <a:gdLst/>
            <a:ahLst/>
            <a:cxnLst/>
            <a:rect l="l" t="t" r="r" b="b"/>
            <a:pathLst>
              <a:path w="173989">
                <a:moveTo>
                  <a:pt x="0" y="0"/>
                </a:moveTo>
                <a:lnTo>
                  <a:pt x="173895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86642" y="3564093"/>
            <a:ext cx="165735" cy="0"/>
          </a:xfrm>
          <a:custGeom>
            <a:avLst/>
            <a:gdLst/>
            <a:ahLst/>
            <a:cxnLst/>
            <a:rect l="l" t="t" r="r" b="b"/>
            <a:pathLst>
              <a:path w="165734">
                <a:moveTo>
                  <a:pt x="0" y="0"/>
                </a:moveTo>
                <a:lnTo>
                  <a:pt x="165662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1258" y="4149090"/>
            <a:ext cx="2952115" cy="433070"/>
          </a:xfrm>
          <a:custGeom>
            <a:avLst/>
            <a:gdLst/>
            <a:ahLst/>
            <a:cxnLst/>
            <a:rect l="l" t="t" r="r" b="b"/>
            <a:pathLst>
              <a:path w="2952115" h="433070">
                <a:moveTo>
                  <a:pt x="0" y="72136"/>
                </a:moveTo>
                <a:lnTo>
                  <a:pt x="5668" y="44041"/>
                </a:lnTo>
                <a:lnTo>
                  <a:pt x="21128" y="21113"/>
                </a:lnTo>
                <a:lnTo>
                  <a:pt x="44057" y="5663"/>
                </a:lnTo>
                <a:lnTo>
                  <a:pt x="72135" y="0"/>
                </a:lnTo>
                <a:lnTo>
                  <a:pt x="2879852" y="0"/>
                </a:lnTo>
                <a:lnTo>
                  <a:pt x="2907946" y="5663"/>
                </a:lnTo>
                <a:lnTo>
                  <a:pt x="2930874" y="21113"/>
                </a:lnTo>
                <a:lnTo>
                  <a:pt x="2946324" y="44041"/>
                </a:lnTo>
                <a:lnTo>
                  <a:pt x="2951988" y="72136"/>
                </a:lnTo>
                <a:lnTo>
                  <a:pt x="2951988" y="360680"/>
                </a:lnTo>
                <a:lnTo>
                  <a:pt x="2946324" y="388774"/>
                </a:lnTo>
                <a:lnTo>
                  <a:pt x="2930874" y="411702"/>
                </a:lnTo>
                <a:lnTo>
                  <a:pt x="2907946" y="427152"/>
                </a:lnTo>
                <a:lnTo>
                  <a:pt x="2879852" y="432816"/>
                </a:lnTo>
                <a:lnTo>
                  <a:pt x="72135" y="432816"/>
                </a:lnTo>
                <a:lnTo>
                  <a:pt x="44057" y="427152"/>
                </a:lnTo>
                <a:lnTo>
                  <a:pt x="21128" y="411702"/>
                </a:lnTo>
                <a:lnTo>
                  <a:pt x="5668" y="388774"/>
                </a:lnTo>
                <a:lnTo>
                  <a:pt x="0" y="360680"/>
                </a:lnTo>
                <a:lnTo>
                  <a:pt x="0" y="72136"/>
                </a:lnTo>
                <a:close/>
              </a:path>
            </a:pathLst>
          </a:custGeom>
          <a:ln w="25908">
            <a:solidFill>
              <a:srgbClr val="E78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81546" y="4213088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544" y="0"/>
                </a:lnTo>
              </a:path>
            </a:pathLst>
          </a:custGeom>
          <a:ln w="11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66958" y="4213088"/>
            <a:ext cx="166370" cy="0"/>
          </a:xfrm>
          <a:custGeom>
            <a:avLst/>
            <a:gdLst/>
            <a:ahLst/>
            <a:cxnLst/>
            <a:rect l="l" t="t" r="r" b="b"/>
            <a:pathLst>
              <a:path w="166369">
                <a:moveTo>
                  <a:pt x="0" y="0"/>
                </a:moveTo>
                <a:lnTo>
                  <a:pt x="165788" y="0"/>
                </a:lnTo>
              </a:path>
            </a:pathLst>
          </a:custGeom>
          <a:ln w="11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54081" y="4213088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544" y="0"/>
                </a:lnTo>
              </a:path>
            </a:pathLst>
          </a:custGeom>
          <a:ln w="11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25390" y="4149090"/>
            <a:ext cx="2952115" cy="433070"/>
          </a:xfrm>
          <a:custGeom>
            <a:avLst/>
            <a:gdLst/>
            <a:ahLst/>
            <a:cxnLst/>
            <a:rect l="l" t="t" r="r" b="b"/>
            <a:pathLst>
              <a:path w="2952115" h="433070">
                <a:moveTo>
                  <a:pt x="0" y="72136"/>
                </a:moveTo>
                <a:lnTo>
                  <a:pt x="5663" y="44041"/>
                </a:lnTo>
                <a:lnTo>
                  <a:pt x="21113" y="21113"/>
                </a:lnTo>
                <a:lnTo>
                  <a:pt x="44041" y="5663"/>
                </a:lnTo>
                <a:lnTo>
                  <a:pt x="72136" y="0"/>
                </a:lnTo>
                <a:lnTo>
                  <a:pt x="2879852" y="0"/>
                </a:lnTo>
                <a:lnTo>
                  <a:pt x="2907946" y="5663"/>
                </a:lnTo>
                <a:lnTo>
                  <a:pt x="2930874" y="21113"/>
                </a:lnTo>
                <a:lnTo>
                  <a:pt x="2946324" y="44041"/>
                </a:lnTo>
                <a:lnTo>
                  <a:pt x="2951988" y="72136"/>
                </a:lnTo>
                <a:lnTo>
                  <a:pt x="2951988" y="360680"/>
                </a:lnTo>
                <a:lnTo>
                  <a:pt x="2946324" y="388774"/>
                </a:lnTo>
                <a:lnTo>
                  <a:pt x="2930874" y="411702"/>
                </a:lnTo>
                <a:lnTo>
                  <a:pt x="2907946" y="427152"/>
                </a:lnTo>
                <a:lnTo>
                  <a:pt x="2879852" y="432816"/>
                </a:lnTo>
                <a:lnTo>
                  <a:pt x="72136" y="432816"/>
                </a:lnTo>
                <a:lnTo>
                  <a:pt x="44041" y="427152"/>
                </a:lnTo>
                <a:lnTo>
                  <a:pt x="21113" y="411702"/>
                </a:lnTo>
                <a:lnTo>
                  <a:pt x="5663" y="388774"/>
                </a:lnTo>
                <a:lnTo>
                  <a:pt x="0" y="360680"/>
                </a:lnTo>
                <a:lnTo>
                  <a:pt x="0" y="72136"/>
                </a:lnTo>
                <a:close/>
              </a:path>
            </a:pathLst>
          </a:custGeom>
          <a:ln w="25908">
            <a:solidFill>
              <a:srgbClr val="E78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48227" y="4213088"/>
            <a:ext cx="165735" cy="0"/>
          </a:xfrm>
          <a:custGeom>
            <a:avLst/>
            <a:gdLst/>
            <a:ahLst/>
            <a:cxnLst/>
            <a:rect l="l" t="t" r="r" b="b"/>
            <a:pathLst>
              <a:path w="165735">
                <a:moveTo>
                  <a:pt x="0" y="0"/>
                </a:moveTo>
                <a:lnTo>
                  <a:pt x="165607" y="0"/>
                </a:lnTo>
              </a:path>
            </a:pathLst>
          </a:custGeom>
          <a:ln w="11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35171" y="4213088"/>
            <a:ext cx="175260" cy="0"/>
          </a:xfrm>
          <a:custGeom>
            <a:avLst/>
            <a:gdLst/>
            <a:ahLst/>
            <a:cxnLst/>
            <a:rect l="l" t="t" r="r" b="b"/>
            <a:pathLst>
              <a:path w="175260">
                <a:moveTo>
                  <a:pt x="0" y="0"/>
                </a:moveTo>
                <a:lnTo>
                  <a:pt x="174919" y="0"/>
                </a:lnTo>
              </a:path>
            </a:pathLst>
          </a:custGeom>
          <a:ln w="11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89036" y="4213088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>
                <a:moveTo>
                  <a:pt x="0" y="0"/>
                </a:moveTo>
                <a:lnTo>
                  <a:pt x="166172" y="0"/>
                </a:lnTo>
              </a:path>
            </a:pathLst>
          </a:custGeom>
          <a:ln w="11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76523" y="4213088"/>
            <a:ext cx="165735" cy="0"/>
          </a:xfrm>
          <a:custGeom>
            <a:avLst/>
            <a:gdLst/>
            <a:ahLst/>
            <a:cxnLst/>
            <a:rect l="l" t="t" r="r" b="b"/>
            <a:pathLst>
              <a:path w="165734">
                <a:moveTo>
                  <a:pt x="0" y="0"/>
                </a:moveTo>
                <a:lnTo>
                  <a:pt x="165630" y="0"/>
                </a:lnTo>
              </a:path>
            </a:pathLst>
          </a:custGeom>
          <a:ln w="11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22675" y="3303904"/>
            <a:ext cx="387350" cy="724535"/>
          </a:xfrm>
          <a:custGeom>
            <a:avLst/>
            <a:gdLst/>
            <a:ahLst/>
            <a:cxnLst/>
            <a:rect l="l" t="t" r="r" b="b"/>
            <a:pathLst>
              <a:path w="387350" h="724535">
                <a:moveTo>
                  <a:pt x="134691" y="344551"/>
                </a:moveTo>
                <a:lnTo>
                  <a:pt x="86360" y="344551"/>
                </a:lnTo>
                <a:lnTo>
                  <a:pt x="270890" y="724535"/>
                </a:lnTo>
                <a:lnTo>
                  <a:pt x="290098" y="604647"/>
                </a:lnTo>
                <a:lnTo>
                  <a:pt x="262636" y="604647"/>
                </a:lnTo>
                <a:lnTo>
                  <a:pt x="134691" y="344551"/>
                </a:lnTo>
                <a:close/>
              </a:path>
              <a:path w="387350" h="724535">
                <a:moveTo>
                  <a:pt x="386969" y="0"/>
                </a:moveTo>
                <a:lnTo>
                  <a:pt x="359410" y="0"/>
                </a:lnTo>
                <a:lnTo>
                  <a:pt x="262636" y="604647"/>
                </a:lnTo>
                <a:lnTo>
                  <a:pt x="290098" y="604647"/>
                </a:lnTo>
                <a:lnTo>
                  <a:pt x="386969" y="0"/>
                </a:lnTo>
                <a:close/>
              </a:path>
              <a:path w="387350" h="724535">
                <a:moveTo>
                  <a:pt x="112013" y="298450"/>
                </a:moveTo>
                <a:lnTo>
                  <a:pt x="0" y="354584"/>
                </a:lnTo>
                <a:lnTo>
                  <a:pt x="12700" y="378460"/>
                </a:lnTo>
                <a:lnTo>
                  <a:pt x="86360" y="344551"/>
                </a:lnTo>
                <a:lnTo>
                  <a:pt x="134691" y="344551"/>
                </a:lnTo>
                <a:lnTo>
                  <a:pt x="112013" y="2984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22675" y="3303904"/>
            <a:ext cx="387350" cy="724535"/>
          </a:xfrm>
          <a:custGeom>
            <a:avLst/>
            <a:gdLst/>
            <a:ahLst/>
            <a:cxnLst/>
            <a:rect l="l" t="t" r="r" b="b"/>
            <a:pathLst>
              <a:path w="387350" h="724535">
                <a:moveTo>
                  <a:pt x="359410" y="0"/>
                </a:moveTo>
                <a:lnTo>
                  <a:pt x="386969" y="0"/>
                </a:lnTo>
                <a:lnTo>
                  <a:pt x="270890" y="724535"/>
                </a:lnTo>
                <a:lnTo>
                  <a:pt x="86360" y="344551"/>
                </a:lnTo>
                <a:lnTo>
                  <a:pt x="12700" y="378460"/>
                </a:lnTo>
                <a:lnTo>
                  <a:pt x="0" y="354584"/>
                </a:lnTo>
                <a:lnTo>
                  <a:pt x="112013" y="298450"/>
                </a:lnTo>
                <a:lnTo>
                  <a:pt x="262636" y="604647"/>
                </a:lnTo>
                <a:lnTo>
                  <a:pt x="359410" y="0"/>
                </a:lnTo>
                <a:close/>
              </a:path>
            </a:pathLst>
          </a:custGeom>
          <a:ln w="10668">
            <a:solidFill>
              <a:srgbClr val="FC9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22675" y="3951985"/>
            <a:ext cx="387350" cy="724535"/>
          </a:xfrm>
          <a:custGeom>
            <a:avLst/>
            <a:gdLst/>
            <a:ahLst/>
            <a:cxnLst/>
            <a:rect l="l" t="t" r="r" b="b"/>
            <a:pathLst>
              <a:path w="387350" h="724535">
                <a:moveTo>
                  <a:pt x="134691" y="344550"/>
                </a:moveTo>
                <a:lnTo>
                  <a:pt x="86360" y="344550"/>
                </a:lnTo>
                <a:lnTo>
                  <a:pt x="270890" y="724407"/>
                </a:lnTo>
                <a:lnTo>
                  <a:pt x="290081" y="604646"/>
                </a:lnTo>
                <a:lnTo>
                  <a:pt x="262636" y="604646"/>
                </a:lnTo>
                <a:lnTo>
                  <a:pt x="134691" y="344550"/>
                </a:lnTo>
                <a:close/>
              </a:path>
              <a:path w="387350" h="724535">
                <a:moveTo>
                  <a:pt x="386969" y="0"/>
                </a:moveTo>
                <a:lnTo>
                  <a:pt x="359410" y="0"/>
                </a:lnTo>
                <a:lnTo>
                  <a:pt x="262636" y="604646"/>
                </a:lnTo>
                <a:lnTo>
                  <a:pt x="290081" y="604646"/>
                </a:lnTo>
                <a:lnTo>
                  <a:pt x="386969" y="0"/>
                </a:lnTo>
                <a:close/>
              </a:path>
              <a:path w="387350" h="724535">
                <a:moveTo>
                  <a:pt x="112013" y="298450"/>
                </a:moveTo>
                <a:lnTo>
                  <a:pt x="0" y="354583"/>
                </a:lnTo>
                <a:lnTo>
                  <a:pt x="12700" y="378459"/>
                </a:lnTo>
                <a:lnTo>
                  <a:pt x="86360" y="344550"/>
                </a:lnTo>
                <a:lnTo>
                  <a:pt x="134691" y="344550"/>
                </a:lnTo>
                <a:lnTo>
                  <a:pt x="112013" y="2984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622675" y="3951985"/>
            <a:ext cx="387350" cy="724535"/>
          </a:xfrm>
          <a:custGeom>
            <a:avLst/>
            <a:gdLst/>
            <a:ahLst/>
            <a:cxnLst/>
            <a:rect l="l" t="t" r="r" b="b"/>
            <a:pathLst>
              <a:path w="387350" h="724535">
                <a:moveTo>
                  <a:pt x="359410" y="0"/>
                </a:moveTo>
                <a:lnTo>
                  <a:pt x="386969" y="0"/>
                </a:lnTo>
                <a:lnTo>
                  <a:pt x="270890" y="724407"/>
                </a:lnTo>
                <a:lnTo>
                  <a:pt x="86360" y="344550"/>
                </a:lnTo>
                <a:lnTo>
                  <a:pt x="12700" y="378459"/>
                </a:lnTo>
                <a:lnTo>
                  <a:pt x="0" y="354583"/>
                </a:lnTo>
                <a:lnTo>
                  <a:pt x="112013" y="298450"/>
                </a:lnTo>
                <a:lnTo>
                  <a:pt x="262636" y="604646"/>
                </a:lnTo>
                <a:lnTo>
                  <a:pt x="359410" y="0"/>
                </a:lnTo>
                <a:close/>
              </a:path>
            </a:pathLst>
          </a:custGeom>
          <a:ln w="10667">
            <a:solidFill>
              <a:srgbClr val="FC9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727188" y="3303904"/>
            <a:ext cx="387350" cy="724535"/>
          </a:xfrm>
          <a:custGeom>
            <a:avLst/>
            <a:gdLst/>
            <a:ahLst/>
            <a:cxnLst/>
            <a:rect l="l" t="t" r="r" b="b"/>
            <a:pathLst>
              <a:path w="387350" h="724535">
                <a:moveTo>
                  <a:pt x="134583" y="344551"/>
                </a:moveTo>
                <a:lnTo>
                  <a:pt x="86232" y="344551"/>
                </a:lnTo>
                <a:lnTo>
                  <a:pt x="270763" y="724535"/>
                </a:lnTo>
                <a:lnTo>
                  <a:pt x="289971" y="604647"/>
                </a:lnTo>
                <a:lnTo>
                  <a:pt x="262635" y="604647"/>
                </a:lnTo>
                <a:lnTo>
                  <a:pt x="134583" y="344551"/>
                </a:lnTo>
                <a:close/>
              </a:path>
              <a:path w="387350" h="724535">
                <a:moveTo>
                  <a:pt x="386841" y="0"/>
                </a:moveTo>
                <a:lnTo>
                  <a:pt x="359409" y="0"/>
                </a:lnTo>
                <a:lnTo>
                  <a:pt x="262635" y="604647"/>
                </a:lnTo>
                <a:lnTo>
                  <a:pt x="289971" y="604647"/>
                </a:lnTo>
                <a:lnTo>
                  <a:pt x="386841" y="0"/>
                </a:lnTo>
                <a:close/>
              </a:path>
              <a:path w="387350" h="724535">
                <a:moveTo>
                  <a:pt x="111886" y="298450"/>
                </a:moveTo>
                <a:lnTo>
                  <a:pt x="0" y="354584"/>
                </a:lnTo>
                <a:lnTo>
                  <a:pt x="12572" y="378460"/>
                </a:lnTo>
                <a:lnTo>
                  <a:pt x="86232" y="344551"/>
                </a:lnTo>
                <a:lnTo>
                  <a:pt x="134583" y="344551"/>
                </a:lnTo>
                <a:lnTo>
                  <a:pt x="111886" y="2984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27188" y="3303904"/>
            <a:ext cx="387350" cy="724535"/>
          </a:xfrm>
          <a:custGeom>
            <a:avLst/>
            <a:gdLst/>
            <a:ahLst/>
            <a:cxnLst/>
            <a:rect l="l" t="t" r="r" b="b"/>
            <a:pathLst>
              <a:path w="387350" h="724535">
                <a:moveTo>
                  <a:pt x="359409" y="0"/>
                </a:moveTo>
                <a:lnTo>
                  <a:pt x="386841" y="0"/>
                </a:lnTo>
                <a:lnTo>
                  <a:pt x="270763" y="724535"/>
                </a:lnTo>
                <a:lnTo>
                  <a:pt x="86232" y="344551"/>
                </a:lnTo>
                <a:lnTo>
                  <a:pt x="12572" y="378460"/>
                </a:lnTo>
                <a:lnTo>
                  <a:pt x="0" y="354584"/>
                </a:lnTo>
                <a:lnTo>
                  <a:pt x="111886" y="298450"/>
                </a:lnTo>
                <a:lnTo>
                  <a:pt x="262635" y="604647"/>
                </a:lnTo>
                <a:lnTo>
                  <a:pt x="359409" y="0"/>
                </a:lnTo>
                <a:close/>
              </a:path>
            </a:pathLst>
          </a:custGeom>
          <a:ln w="10668">
            <a:solidFill>
              <a:srgbClr val="FC9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710043" y="4116832"/>
            <a:ext cx="532765" cy="532765"/>
          </a:xfrm>
          <a:custGeom>
            <a:avLst/>
            <a:gdLst/>
            <a:ahLst/>
            <a:cxnLst/>
            <a:rect l="l" t="t" r="r" b="b"/>
            <a:pathLst>
              <a:path w="532765" h="532764">
                <a:moveTo>
                  <a:pt x="467359" y="366014"/>
                </a:moveTo>
                <a:lnTo>
                  <a:pt x="264540" y="366014"/>
                </a:lnTo>
                <a:lnTo>
                  <a:pt x="430910" y="532384"/>
                </a:lnTo>
                <a:lnTo>
                  <a:pt x="532256" y="430911"/>
                </a:lnTo>
                <a:lnTo>
                  <a:pt x="467359" y="366014"/>
                </a:lnTo>
                <a:close/>
              </a:path>
              <a:path w="532765" h="532764">
                <a:moveTo>
                  <a:pt x="101346" y="0"/>
                </a:moveTo>
                <a:lnTo>
                  <a:pt x="0" y="101473"/>
                </a:lnTo>
                <a:lnTo>
                  <a:pt x="165734" y="266700"/>
                </a:lnTo>
                <a:lnTo>
                  <a:pt x="1015" y="431419"/>
                </a:lnTo>
                <a:lnTo>
                  <a:pt x="99822" y="530733"/>
                </a:lnTo>
                <a:lnTo>
                  <a:pt x="264540" y="366014"/>
                </a:lnTo>
                <a:lnTo>
                  <a:pt x="467359" y="366014"/>
                </a:lnTo>
                <a:lnTo>
                  <a:pt x="365886" y="264541"/>
                </a:lnTo>
                <a:lnTo>
                  <a:pt x="465277" y="165227"/>
                </a:lnTo>
                <a:lnTo>
                  <a:pt x="267207" y="165227"/>
                </a:lnTo>
                <a:lnTo>
                  <a:pt x="101346" y="0"/>
                </a:lnTo>
                <a:close/>
              </a:path>
              <a:path w="532765" h="532764">
                <a:moveTo>
                  <a:pt x="431926" y="508"/>
                </a:moveTo>
                <a:lnTo>
                  <a:pt x="267207" y="165227"/>
                </a:lnTo>
                <a:lnTo>
                  <a:pt x="465277" y="165227"/>
                </a:lnTo>
                <a:lnTo>
                  <a:pt x="530732" y="99822"/>
                </a:lnTo>
                <a:lnTo>
                  <a:pt x="431926" y="50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10043" y="4116832"/>
            <a:ext cx="532765" cy="532765"/>
          </a:xfrm>
          <a:custGeom>
            <a:avLst/>
            <a:gdLst/>
            <a:ahLst/>
            <a:cxnLst/>
            <a:rect l="l" t="t" r="r" b="b"/>
            <a:pathLst>
              <a:path w="532765" h="532764">
                <a:moveTo>
                  <a:pt x="101346" y="0"/>
                </a:moveTo>
                <a:lnTo>
                  <a:pt x="267207" y="165227"/>
                </a:lnTo>
                <a:lnTo>
                  <a:pt x="431926" y="508"/>
                </a:lnTo>
                <a:lnTo>
                  <a:pt x="530732" y="99822"/>
                </a:lnTo>
                <a:lnTo>
                  <a:pt x="365886" y="264541"/>
                </a:lnTo>
                <a:lnTo>
                  <a:pt x="532256" y="430911"/>
                </a:lnTo>
                <a:lnTo>
                  <a:pt x="430910" y="532384"/>
                </a:lnTo>
                <a:lnTo>
                  <a:pt x="264540" y="366014"/>
                </a:lnTo>
                <a:lnTo>
                  <a:pt x="99822" y="530733"/>
                </a:lnTo>
                <a:lnTo>
                  <a:pt x="1015" y="431419"/>
                </a:lnTo>
                <a:lnTo>
                  <a:pt x="165734" y="266700"/>
                </a:lnTo>
                <a:lnTo>
                  <a:pt x="0" y="101473"/>
                </a:lnTo>
                <a:lnTo>
                  <a:pt x="101346" y="0"/>
                </a:lnTo>
                <a:close/>
              </a:path>
            </a:pathLst>
          </a:custGeom>
          <a:ln w="10668">
            <a:solidFill>
              <a:srgbClr val="FC9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82387" y="4850870"/>
            <a:ext cx="8496316" cy="12954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76300" y="4873752"/>
            <a:ext cx="8346948" cy="922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20496" y="4869179"/>
            <a:ext cx="8424672" cy="12237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20496" y="4869179"/>
            <a:ext cx="8425180" cy="1224280"/>
          </a:xfrm>
          <a:custGeom>
            <a:avLst/>
            <a:gdLst/>
            <a:ahLst/>
            <a:cxnLst/>
            <a:rect l="l" t="t" r="r" b="b"/>
            <a:pathLst>
              <a:path w="8425180" h="1224279">
                <a:moveTo>
                  <a:pt x="0" y="203962"/>
                </a:moveTo>
                <a:lnTo>
                  <a:pt x="5386" y="157194"/>
                </a:lnTo>
                <a:lnTo>
                  <a:pt x="20730" y="114262"/>
                </a:lnTo>
                <a:lnTo>
                  <a:pt x="44806" y="76392"/>
                </a:lnTo>
                <a:lnTo>
                  <a:pt x="76392" y="44806"/>
                </a:lnTo>
                <a:lnTo>
                  <a:pt x="114262" y="20730"/>
                </a:lnTo>
                <a:lnTo>
                  <a:pt x="157194" y="5386"/>
                </a:lnTo>
                <a:lnTo>
                  <a:pt x="203962" y="0"/>
                </a:lnTo>
                <a:lnTo>
                  <a:pt x="8220709" y="0"/>
                </a:lnTo>
                <a:lnTo>
                  <a:pt x="8267477" y="5386"/>
                </a:lnTo>
                <a:lnTo>
                  <a:pt x="8310409" y="20730"/>
                </a:lnTo>
                <a:lnTo>
                  <a:pt x="8348279" y="44806"/>
                </a:lnTo>
                <a:lnTo>
                  <a:pt x="8379865" y="76392"/>
                </a:lnTo>
                <a:lnTo>
                  <a:pt x="8403941" y="114262"/>
                </a:lnTo>
                <a:lnTo>
                  <a:pt x="8419285" y="157194"/>
                </a:lnTo>
                <a:lnTo>
                  <a:pt x="8424672" y="203962"/>
                </a:lnTo>
                <a:lnTo>
                  <a:pt x="8424672" y="1019810"/>
                </a:lnTo>
                <a:lnTo>
                  <a:pt x="8419285" y="1066577"/>
                </a:lnTo>
                <a:lnTo>
                  <a:pt x="8403941" y="1109509"/>
                </a:lnTo>
                <a:lnTo>
                  <a:pt x="8379865" y="1147379"/>
                </a:lnTo>
                <a:lnTo>
                  <a:pt x="8348279" y="1178965"/>
                </a:lnTo>
                <a:lnTo>
                  <a:pt x="8310409" y="1203041"/>
                </a:lnTo>
                <a:lnTo>
                  <a:pt x="8267477" y="1218385"/>
                </a:lnTo>
                <a:lnTo>
                  <a:pt x="8220709" y="1223772"/>
                </a:lnTo>
                <a:lnTo>
                  <a:pt x="203962" y="1223772"/>
                </a:lnTo>
                <a:lnTo>
                  <a:pt x="157194" y="1218385"/>
                </a:lnTo>
                <a:lnTo>
                  <a:pt x="114262" y="1203041"/>
                </a:lnTo>
                <a:lnTo>
                  <a:pt x="76392" y="1178965"/>
                </a:lnTo>
                <a:lnTo>
                  <a:pt x="44806" y="1147379"/>
                </a:lnTo>
                <a:lnTo>
                  <a:pt x="20730" y="1109509"/>
                </a:lnTo>
                <a:lnTo>
                  <a:pt x="5386" y="1066577"/>
                </a:lnTo>
                <a:lnTo>
                  <a:pt x="0" y="1019810"/>
                </a:lnTo>
                <a:lnTo>
                  <a:pt x="0" y="203962"/>
                </a:lnTo>
                <a:close/>
              </a:path>
            </a:pathLst>
          </a:custGeom>
          <a:ln w="9144">
            <a:solidFill>
              <a:srgbClr val="FF9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615554" y="5655442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533" y="0"/>
                </a:lnTo>
              </a:path>
            </a:pathLst>
          </a:custGeom>
          <a:ln w="119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813602" y="5655442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200" y="0"/>
                </a:lnTo>
              </a:path>
            </a:pathLst>
          </a:custGeom>
          <a:ln w="119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72062" y="5655442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533" y="0"/>
                </a:lnTo>
              </a:path>
            </a:pathLst>
          </a:custGeom>
          <a:ln w="119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70134" y="5655442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533" y="0"/>
                </a:lnTo>
              </a:path>
            </a:pathLst>
          </a:custGeom>
          <a:ln w="119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668183" y="5655442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200" y="0"/>
                </a:lnTo>
              </a:path>
            </a:pathLst>
          </a:custGeom>
          <a:ln w="119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158421" y="5655442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533" y="0"/>
                </a:lnTo>
              </a:path>
            </a:pathLst>
          </a:custGeom>
          <a:ln w="119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55897" y="5655442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773" y="0"/>
                </a:lnTo>
              </a:path>
            </a:pathLst>
          </a:custGeom>
          <a:ln w="119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74040" y="859612"/>
            <a:ext cx="8473440" cy="5132070"/>
          </a:xfrm>
          <a:prstGeom prst="rect">
            <a:avLst/>
          </a:prstGeom>
        </p:spPr>
        <p:txBody>
          <a:bodyPr vert="horz" wrap="square" lIns="0" tIns="208280" rIns="0" bIns="0" rtlCol="0">
            <a:spAutoFit/>
          </a:bodyPr>
          <a:lstStyle/>
          <a:p>
            <a:pPr marL="300355" indent="-288290">
              <a:lnSpc>
                <a:spcPct val="100000"/>
              </a:lnSpc>
              <a:spcBef>
                <a:spcPts val="1640"/>
              </a:spcBef>
              <a:buClr>
                <a:srgbClr val="FF9900"/>
              </a:buClr>
              <a:buSzPct val="75000"/>
              <a:buFont typeface="Wingdings"/>
              <a:buChar char=""/>
              <a:tabLst>
                <a:tab pos="300990" algn="l"/>
              </a:tabLst>
            </a:pP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逻</a:t>
            </a:r>
            <a:r>
              <a:rPr sz="2800" b="1" spc="5" dirty="0">
                <a:solidFill>
                  <a:srgbClr val="12046E"/>
                </a:solidFill>
                <a:latin typeface="Microsoft JhengHei"/>
                <a:cs typeface="Microsoft JhengHei"/>
              </a:rPr>
              <a:t>辑相邻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最</a:t>
            </a:r>
            <a:r>
              <a:rPr sz="2800" b="1" spc="5" dirty="0">
                <a:solidFill>
                  <a:srgbClr val="12046E"/>
                </a:solidFill>
                <a:latin typeface="Microsoft JhengHei"/>
                <a:cs typeface="Microsoft JhengHei"/>
              </a:rPr>
              <a:t>小项</a:t>
            </a:r>
            <a:r>
              <a:rPr sz="2800" b="1" spc="10" dirty="0">
                <a:solidFill>
                  <a:srgbClr val="12046E"/>
                </a:solidFill>
                <a:latin typeface="Microsoft JhengHei"/>
                <a:cs typeface="Microsoft JhengHei"/>
              </a:rPr>
              <a:t>（“</a:t>
            </a:r>
            <a:r>
              <a:rPr sz="2800" b="1" spc="5" dirty="0">
                <a:solidFill>
                  <a:srgbClr val="12046E"/>
                </a:solidFill>
                <a:latin typeface="Microsoft JhengHei"/>
                <a:cs typeface="Microsoft JhengHei"/>
              </a:rPr>
              <a:t>逻辑相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邻</a:t>
            </a:r>
            <a:r>
              <a:rPr sz="2800" b="1" spc="5" dirty="0">
                <a:solidFill>
                  <a:srgbClr val="12046E"/>
                </a:solidFill>
                <a:latin typeface="Microsoft JhengHei"/>
                <a:cs typeface="Microsoft JhengHei"/>
              </a:rPr>
              <a:t>项”或</a:t>
            </a:r>
            <a:r>
              <a:rPr sz="2800" b="1" spc="15" dirty="0">
                <a:solidFill>
                  <a:srgbClr val="12046E"/>
                </a:solidFill>
                <a:latin typeface="Microsoft JhengHei"/>
                <a:cs typeface="Microsoft JhengHei"/>
              </a:rPr>
              <a:t>“</a:t>
            </a:r>
            <a:r>
              <a:rPr sz="2800" b="1" spc="5" dirty="0">
                <a:solidFill>
                  <a:srgbClr val="12046E"/>
                </a:solidFill>
                <a:latin typeface="Microsoft JhengHei"/>
                <a:cs typeface="Microsoft JhengHei"/>
              </a:rPr>
              <a:t>相邻项”）</a:t>
            </a:r>
            <a:endParaRPr sz="2800">
              <a:latin typeface="Microsoft JhengHei"/>
              <a:cs typeface="Microsoft JhengHei"/>
            </a:endParaRPr>
          </a:p>
          <a:p>
            <a:pPr marL="438150">
              <a:lnSpc>
                <a:spcPct val="100000"/>
              </a:lnSpc>
              <a:spcBef>
                <a:spcPts val="1320"/>
              </a:spcBef>
            </a:pPr>
            <a:r>
              <a:rPr sz="2400" dirty="0">
                <a:solidFill>
                  <a:srgbClr val="001F5F"/>
                </a:solidFill>
                <a:latin typeface="微软雅黑"/>
                <a:cs typeface="微软雅黑"/>
              </a:rPr>
              <a:t>任意两个变量个数相同的最小项，如果组成它们的各个变量</a:t>
            </a:r>
            <a:endParaRPr sz="2400">
              <a:latin typeface="微软雅黑"/>
              <a:cs typeface="微软雅黑"/>
            </a:endParaRPr>
          </a:p>
          <a:p>
            <a:pPr marL="438150" marR="10223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1F5F"/>
                </a:solidFill>
                <a:latin typeface="微软雅黑"/>
                <a:cs typeface="微软雅黑"/>
              </a:rPr>
              <a:t>（原变量或反变量）中，只有一个变量互补（互反）而其余 变量均相同（同为原变量或反变量）时，就称这两个最小项</a:t>
            </a:r>
            <a:endParaRPr sz="2400">
              <a:latin typeface="微软雅黑"/>
              <a:cs typeface="微软雅黑"/>
            </a:endParaRPr>
          </a:p>
          <a:p>
            <a:pPr marL="438150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1F5F"/>
                </a:solidFill>
                <a:latin typeface="微软雅黑"/>
                <a:cs typeface="微软雅黑"/>
              </a:rPr>
              <a:t>是逻辑相邻的最小项，简称</a:t>
            </a:r>
            <a:r>
              <a:rPr sz="2400" spc="5" dirty="0">
                <a:solidFill>
                  <a:srgbClr val="001F5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1F5F"/>
                </a:solidFill>
                <a:latin typeface="微软雅黑"/>
                <a:cs typeface="微软雅黑"/>
              </a:rPr>
              <a:t>逻辑相邻项</a:t>
            </a:r>
            <a:r>
              <a:rPr sz="2400" dirty="0">
                <a:solidFill>
                  <a:srgbClr val="001F5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1F5F"/>
                </a:solidFill>
                <a:latin typeface="微软雅黑"/>
                <a:cs typeface="微软雅黑"/>
              </a:rPr>
              <a:t>或</a:t>
            </a:r>
            <a:r>
              <a:rPr sz="2400" dirty="0">
                <a:solidFill>
                  <a:srgbClr val="001F5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1F5F"/>
                </a:solidFill>
                <a:latin typeface="微软雅黑"/>
                <a:cs typeface="微软雅黑"/>
              </a:rPr>
              <a:t>相邻</a:t>
            </a:r>
            <a:r>
              <a:rPr sz="2400" spc="-5" dirty="0">
                <a:solidFill>
                  <a:srgbClr val="001F5F"/>
                </a:solidFill>
                <a:latin typeface="微软雅黑"/>
                <a:cs typeface="微软雅黑"/>
              </a:rPr>
              <a:t>项</a:t>
            </a:r>
            <a:r>
              <a:rPr sz="2400" dirty="0">
                <a:solidFill>
                  <a:srgbClr val="001F5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1F5F"/>
                </a:solidFill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微软雅黑"/>
              <a:cs typeface="微软雅黑"/>
            </a:endParaRPr>
          </a:p>
          <a:p>
            <a:pPr marR="659130" algn="ctr">
              <a:lnSpc>
                <a:spcPct val="100000"/>
              </a:lnSpc>
              <a:tabLst>
                <a:tab pos="927735" algn="l"/>
                <a:tab pos="4054475" algn="l"/>
                <a:tab pos="5185410" algn="l"/>
              </a:tabLst>
            </a:pPr>
            <a:r>
              <a:rPr sz="2100" i="1" spc="-40" dirty="0">
                <a:latin typeface="Times New Roman"/>
                <a:cs typeface="Times New Roman"/>
              </a:rPr>
              <a:t>AB	</a:t>
            </a:r>
            <a:r>
              <a:rPr sz="2100" i="1" spc="60" dirty="0">
                <a:latin typeface="Times New Roman"/>
                <a:cs typeface="Times New Roman"/>
              </a:rPr>
              <a:t>AB	ABC	</a:t>
            </a:r>
            <a:r>
              <a:rPr sz="2100" i="1" spc="5" dirty="0">
                <a:latin typeface="Times New Roman"/>
                <a:cs typeface="Times New Roman"/>
              </a:rPr>
              <a:t>ABC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00">
              <a:latin typeface="Times New Roman"/>
              <a:cs typeface="Times New Roman"/>
            </a:endParaRPr>
          </a:p>
          <a:p>
            <a:pPr marR="718820" algn="ctr">
              <a:lnSpc>
                <a:spcPct val="100000"/>
              </a:lnSpc>
              <a:tabLst>
                <a:tab pos="1193800" algn="l"/>
                <a:tab pos="4274185" algn="l"/>
                <a:tab pos="5602605" algn="l"/>
              </a:tabLst>
            </a:pPr>
            <a:r>
              <a:rPr sz="2100" i="1" spc="-35" dirty="0">
                <a:latin typeface="Times New Roman"/>
                <a:cs typeface="Times New Roman"/>
              </a:rPr>
              <a:t>AB</a:t>
            </a:r>
            <a:r>
              <a:rPr sz="2100" i="1" spc="-145" dirty="0">
                <a:latin typeface="Times New Roman"/>
                <a:cs typeface="Times New Roman"/>
              </a:rPr>
              <a:t> </a:t>
            </a:r>
            <a:r>
              <a:rPr sz="2100" i="1" spc="70" dirty="0">
                <a:latin typeface="Times New Roman"/>
                <a:cs typeface="Times New Roman"/>
              </a:rPr>
              <a:t>CD	ABCD	ABCD	</a:t>
            </a:r>
            <a:r>
              <a:rPr sz="2100" i="1" spc="-25" dirty="0">
                <a:latin typeface="Times New Roman"/>
                <a:cs typeface="Times New Roman"/>
              </a:rPr>
              <a:t>ABCD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50">
              <a:latin typeface="Times New Roman"/>
              <a:cs typeface="Times New Roman"/>
            </a:endParaRPr>
          </a:p>
          <a:p>
            <a:pPr marL="497840" marR="5080">
              <a:lnSpc>
                <a:spcPct val="100000"/>
              </a:lnSpc>
            </a:pP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两个逻辑相邻的最小项</a:t>
            </a:r>
            <a:r>
              <a:rPr sz="2000" spc="-10" dirty="0">
                <a:solidFill>
                  <a:srgbClr val="001F5F"/>
                </a:solidFill>
                <a:latin typeface="微软雅黑"/>
                <a:cs typeface="微软雅黑"/>
              </a:rPr>
              <a:t>相</a:t>
            </a:r>
            <a:r>
              <a:rPr sz="2000" dirty="0">
                <a:solidFill>
                  <a:srgbClr val="001F5F"/>
                </a:solidFill>
                <a:latin typeface="Arial"/>
                <a:cs typeface="Arial"/>
              </a:rPr>
              <a:t>“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或</a:t>
            </a:r>
            <a:r>
              <a:rPr sz="2000" spc="-5" dirty="0">
                <a:solidFill>
                  <a:srgbClr val="001F5F"/>
                </a:solidFill>
                <a:latin typeface="Arial"/>
                <a:cs typeface="Arial"/>
              </a:rPr>
              <a:t>”</a:t>
            </a:r>
            <a:r>
              <a:rPr sz="2000" spc="-5" dirty="0">
                <a:solidFill>
                  <a:srgbClr val="001F5F"/>
                </a:solidFill>
                <a:latin typeface="微软雅黑"/>
                <a:cs typeface="微软雅黑"/>
              </a:rPr>
              <a:t>，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结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果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将产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生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一个</a:t>
            </a:r>
            <a:r>
              <a:rPr sz="2000" spc="-10" dirty="0">
                <a:solidFill>
                  <a:srgbClr val="001F5F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与</a:t>
            </a:r>
            <a:r>
              <a:rPr sz="2000" spc="-10" dirty="0">
                <a:solidFill>
                  <a:srgbClr val="001F5F"/>
                </a:solidFill>
                <a:latin typeface="Arial"/>
                <a:cs typeface="Arial"/>
              </a:rPr>
              <a:t>”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项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并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同时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消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掉一</a:t>
            </a:r>
            <a:r>
              <a:rPr sz="2000" spc="-15" dirty="0">
                <a:solidFill>
                  <a:srgbClr val="001F5F"/>
                </a:solidFill>
                <a:latin typeface="微软雅黑"/>
                <a:cs typeface="微软雅黑"/>
              </a:rPr>
              <a:t>个</a:t>
            </a:r>
            <a:r>
              <a:rPr sz="2000" dirty="0">
                <a:solidFill>
                  <a:srgbClr val="001F5F"/>
                </a:solidFill>
                <a:latin typeface="微软雅黑"/>
                <a:cs typeface="微软雅黑"/>
              </a:rPr>
              <a:t>变 量。如：</a:t>
            </a:r>
            <a:endParaRPr sz="2000">
              <a:latin typeface="微软雅黑"/>
              <a:cs typeface="微软雅黑"/>
            </a:endParaRPr>
          </a:p>
          <a:p>
            <a:pPr marR="642620" algn="ctr">
              <a:lnSpc>
                <a:spcPct val="100000"/>
              </a:lnSpc>
              <a:spcBef>
                <a:spcPts val="465"/>
              </a:spcBef>
            </a:pPr>
            <a:r>
              <a:rPr sz="2250" i="1" spc="40" dirty="0">
                <a:latin typeface="Times New Roman"/>
                <a:cs typeface="Times New Roman"/>
              </a:rPr>
              <a:t>ABC </a:t>
            </a:r>
            <a:r>
              <a:rPr sz="2250" spc="10" dirty="0">
                <a:latin typeface="Symbol"/>
                <a:cs typeface="Symbol"/>
              </a:rPr>
              <a:t></a:t>
            </a:r>
            <a:r>
              <a:rPr sz="2250" spc="10" dirty="0">
                <a:latin typeface="Times New Roman"/>
                <a:cs typeface="Times New Roman"/>
              </a:rPr>
              <a:t> </a:t>
            </a:r>
            <a:r>
              <a:rPr sz="2250" i="1" spc="40" dirty="0">
                <a:latin typeface="Times New Roman"/>
                <a:cs typeface="Times New Roman"/>
              </a:rPr>
              <a:t>ABC </a:t>
            </a:r>
            <a:r>
              <a:rPr sz="2250" spc="10" dirty="0">
                <a:latin typeface="Symbol"/>
                <a:cs typeface="Symbol"/>
              </a:rPr>
              <a:t>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i="1" spc="20" dirty="0">
                <a:latin typeface="Times New Roman"/>
                <a:cs typeface="Times New Roman"/>
              </a:rPr>
              <a:t>BC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5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72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E1DB4E2A-7AEC-94A8-45D4-B78F255289D1}"/>
                  </a:ext>
                </a:extLst>
              </p14:cNvPr>
              <p14:cNvContentPartPr/>
              <p14:nvPr/>
            </p14:nvContentPartPr>
            <p14:xfrm>
              <a:off x="3108411" y="442971"/>
              <a:ext cx="2296440" cy="460800"/>
            </p14:xfrm>
          </p:contentPart>
        </mc:Choice>
        <mc:Fallback xmlns=""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E1DB4E2A-7AEC-94A8-45D4-B78F255289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54411" y="334971"/>
                <a:ext cx="2404080" cy="67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33832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卡诺图的构成</a:t>
            </a:r>
          </a:p>
        </p:txBody>
      </p:sp>
      <p:sp>
        <p:nvSpPr>
          <p:cNvPr id="3" name="object 3"/>
          <p:cNvSpPr/>
          <p:nvPr/>
        </p:nvSpPr>
        <p:spPr>
          <a:xfrm>
            <a:off x="1284732" y="1380744"/>
            <a:ext cx="466725" cy="381000"/>
          </a:xfrm>
          <a:custGeom>
            <a:avLst/>
            <a:gdLst/>
            <a:ahLst/>
            <a:cxnLst/>
            <a:rect l="l" t="t" r="r" b="b"/>
            <a:pathLst>
              <a:path w="466725" h="381000">
                <a:moveTo>
                  <a:pt x="0" y="0"/>
                </a:moveTo>
                <a:lnTo>
                  <a:pt x="466344" y="38100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74826" y="1530553"/>
            <a:ext cx="1911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9946" y="1226058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0452" y="1297685"/>
            <a:ext cx="913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3430" algn="l"/>
              </a:tabLst>
            </a:pPr>
            <a:r>
              <a:rPr sz="1800" b="1" spc="-5" dirty="0">
                <a:latin typeface="Arial"/>
                <a:cs typeface="Arial"/>
              </a:rPr>
              <a:t>0	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0794" y="1988057"/>
            <a:ext cx="281305" cy="1530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0794" y="2560929"/>
            <a:ext cx="281305" cy="1530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9750" y="3086862"/>
            <a:ext cx="15576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FF0000"/>
                </a:solidFill>
                <a:latin typeface="幼圆"/>
                <a:cs typeface="幼圆"/>
              </a:rPr>
              <a:t>二变量卡</a:t>
            </a:r>
            <a:r>
              <a:rPr sz="2000" b="1" spc="-5" dirty="0">
                <a:solidFill>
                  <a:srgbClr val="FF0000"/>
                </a:solidFill>
                <a:latin typeface="幼圆"/>
                <a:cs typeface="幼圆"/>
              </a:rPr>
              <a:t>诺图</a:t>
            </a:r>
            <a:endParaRPr sz="2000">
              <a:latin typeface="幼圆"/>
              <a:cs typeface="幼圆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5216" y="3852671"/>
            <a:ext cx="658495" cy="688975"/>
          </a:xfrm>
          <a:custGeom>
            <a:avLst/>
            <a:gdLst/>
            <a:ahLst/>
            <a:cxnLst/>
            <a:rect l="l" t="t" r="r" b="b"/>
            <a:pathLst>
              <a:path w="658494" h="688975">
                <a:moveTo>
                  <a:pt x="0" y="0"/>
                </a:moveTo>
                <a:lnTo>
                  <a:pt x="658368" y="688847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1880" y="4201414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1194" y="3915536"/>
            <a:ext cx="354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BC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26286" y="4128007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87752" y="4128007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01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49676" y="4128007"/>
            <a:ext cx="26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latin typeface="Arial"/>
                <a:cs typeface="Arial"/>
              </a:rPr>
              <a:t>1</a:t>
            </a:r>
            <a:r>
              <a:rPr sz="1800" b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99484" y="4128007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8943" y="4834890"/>
            <a:ext cx="281305" cy="1530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8943" y="5469940"/>
            <a:ext cx="281305" cy="1530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00452" y="6059220"/>
            <a:ext cx="1557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FF0000"/>
                </a:solidFill>
                <a:latin typeface="幼圆"/>
                <a:cs typeface="幼圆"/>
              </a:rPr>
              <a:t>三变量卡</a:t>
            </a:r>
            <a:r>
              <a:rPr sz="2000" b="1" spc="-5" dirty="0">
                <a:solidFill>
                  <a:srgbClr val="FF0000"/>
                </a:solidFill>
                <a:latin typeface="幼圆"/>
                <a:cs typeface="幼圆"/>
              </a:rPr>
              <a:t>诺图</a:t>
            </a:r>
            <a:endParaRPr sz="2000">
              <a:latin typeface="幼圆"/>
              <a:cs typeface="幼圆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355079" y="2607564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61176" y="2607564"/>
            <a:ext cx="996950" cy="0"/>
          </a:xfrm>
          <a:custGeom>
            <a:avLst/>
            <a:gdLst/>
            <a:ahLst/>
            <a:cxnLst/>
            <a:rect l="l" t="t" r="r" b="b"/>
            <a:pathLst>
              <a:path w="996950">
                <a:moveTo>
                  <a:pt x="0" y="0"/>
                </a:moveTo>
                <a:lnTo>
                  <a:pt x="996696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51776" y="2607564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355079" y="2607564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364479" y="3906011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1"/>
                </a:moveTo>
                <a:lnTo>
                  <a:pt x="996696" y="12191"/>
                </a:lnTo>
                <a:lnTo>
                  <a:pt x="996696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351776" y="3259835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1"/>
                </a:moveTo>
                <a:lnTo>
                  <a:pt x="12192" y="652271"/>
                </a:lnTo>
                <a:lnTo>
                  <a:pt x="12192" y="0"/>
                </a:lnTo>
                <a:lnTo>
                  <a:pt x="0" y="0"/>
                </a:lnTo>
                <a:lnTo>
                  <a:pt x="0" y="6522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357871" y="2607564"/>
            <a:ext cx="996950" cy="0"/>
          </a:xfrm>
          <a:custGeom>
            <a:avLst/>
            <a:gdLst/>
            <a:ahLst/>
            <a:cxnLst/>
            <a:rect l="l" t="t" r="r" b="b"/>
            <a:pathLst>
              <a:path w="996950">
                <a:moveTo>
                  <a:pt x="0" y="0"/>
                </a:moveTo>
                <a:lnTo>
                  <a:pt x="996696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348471" y="2607564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351776" y="2607564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357871" y="3253740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2"/>
                </a:moveTo>
                <a:lnTo>
                  <a:pt x="996696" y="12192"/>
                </a:lnTo>
                <a:lnTo>
                  <a:pt x="996696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354568" y="2607564"/>
            <a:ext cx="996950" cy="0"/>
          </a:xfrm>
          <a:custGeom>
            <a:avLst/>
            <a:gdLst/>
            <a:ahLst/>
            <a:cxnLst/>
            <a:rect l="l" t="t" r="r" b="b"/>
            <a:pathLst>
              <a:path w="996950">
                <a:moveTo>
                  <a:pt x="0" y="0"/>
                </a:moveTo>
                <a:lnTo>
                  <a:pt x="996696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351264" y="2607564"/>
            <a:ext cx="0" cy="652780"/>
          </a:xfrm>
          <a:custGeom>
            <a:avLst/>
            <a:gdLst/>
            <a:ahLst/>
            <a:cxnLst/>
            <a:rect l="l" t="t" r="r" b="b"/>
            <a:pathLst>
              <a:path h="652779">
                <a:moveTo>
                  <a:pt x="0" y="0"/>
                </a:moveTo>
                <a:lnTo>
                  <a:pt x="0" y="65227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348471" y="2607564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354568" y="3253740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2"/>
                </a:moveTo>
                <a:lnTo>
                  <a:pt x="996696" y="12192"/>
                </a:lnTo>
                <a:lnTo>
                  <a:pt x="996696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357871" y="3253740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2"/>
                </a:moveTo>
                <a:lnTo>
                  <a:pt x="996696" y="12192"/>
                </a:lnTo>
                <a:lnTo>
                  <a:pt x="996696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348471" y="3259835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1"/>
                </a:moveTo>
                <a:lnTo>
                  <a:pt x="12192" y="652271"/>
                </a:lnTo>
                <a:lnTo>
                  <a:pt x="12192" y="0"/>
                </a:lnTo>
                <a:lnTo>
                  <a:pt x="0" y="0"/>
                </a:lnTo>
                <a:lnTo>
                  <a:pt x="0" y="6522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351776" y="3259835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1"/>
                </a:moveTo>
                <a:lnTo>
                  <a:pt x="12192" y="652271"/>
                </a:lnTo>
                <a:lnTo>
                  <a:pt x="12192" y="0"/>
                </a:lnTo>
                <a:lnTo>
                  <a:pt x="0" y="0"/>
                </a:lnTo>
                <a:lnTo>
                  <a:pt x="0" y="6522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357871" y="3906011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1"/>
                </a:moveTo>
                <a:lnTo>
                  <a:pt x="996696" y="12191"/>
                </a:lnTo>
                <a:lnTo>
                  <a:pt x="996696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354568" y="3253740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2"/>
                </a:moveTo>
                <a:lnTo>
                  <a:pt x="996696" y="12192"/>
                </a:lnTo>
                <a:lnTo>
                  <a:pt x="996696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51264" y="3259835"/>
            <a:ext cx="0" cy="652780"/>
          </a:xfrm>
          <a:custGeom>
            <a:avLst/>
            <a:gdLst/>
            <a:ahLst/>
            <a:cxnLst/>
            <a:rect l="l" t="t" r="r" b="b"/>
            <a:pathLst>
              <a:path h="652779">
                <a:moveTo>
                  <a:pt x="0" y="0"/>
                </a:moveTo>
                <a:lnTo>
                  <a:pt x="0" y="652271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348471" y="3259835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1"/>
                </a:moveTo>
                <a:lnTo>
                  <a:pt x="12192" y="652271"/>
                </a:lnTo>
                <a:lnTo>
                  <a:pt x="12192" y="0"/>
                </a:lnTo>
                <a:lnTo>
                  <a:pt x="0" y="0"/>
                </a:lnTo>
                <a:lnTo>
                  <a:pt x="0" y="6522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354568" y="3906011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1"/>
                </a:moveTo>
                <a:lnTo>
                  <a:pt x="996696" y="12191"/>
                </a:lnTo>
                <a:lnTo>
                  <a:pt x="996696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364479" y="3906011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1"/>
                </a:moveTo>
                <a:lnTo>
                  <a:pt x="996696" y="12191"/>
                </a:lnTo>
                <a:lnTo>
                  <a:pt x="996696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364479" y="3912108"/>
            <a:ext cx="0" cy="652780"/>
          </a:xfrm>
          <a:custGeom>
            <a:avLst/>
            <a:gdLst/>
            <a:ahLst/>
            <a:cxnLst/>
            <a:rect l="l" t="t" r="r" b="b"/>
            <a:pathLst>
              <a:path h="652779">
                <a:moveTo>
                  <a:pt x="0" y="0"/>
                </a:moveTo>
                <a:lnTo>
                  <a:pt x="0" y="65227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364479" y="4558284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1"/>
                </a:moveTo>
                <a:lnTo>
                  <a:pt x="996696" y="12191"/>
                </a:lnTo>
                <a:lnTo>
                  <a:pt x="996696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51776" y="3912108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361176" y="4558284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1"/>
                </a:moveTo>
                <a:lnTo>
                  <a:pt x="996696" y="12191"/>
                </a:lnTo>
                <a:lnTo>
                  <a:pt x="996696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364479" y="4558284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1"/>
                </a:moveTo>
                <a:lnTo>
                  <a:pt x="996696" y="12191"/>
                </a:lnTo>
                <a:lnTo>
                  <a:pt x="996696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355079" y="4564379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364479" y="4564379"/>
            <a:ext cx="0" cy="652780"/>
          </a:xfrm>
          <a:custGeom>
            <a:avLst/>
            <a:gdLst/>
            <a:ahLst/>
            <a:cxnLst/>
            <a:rect l="l" t="t" r="r" b="b"/>
            <a:pathLst>
              <a:path h="652779">
                <a:moveTo>
                  <a:pt x="0" y="0"/>
                </a:moveTo>
                <a:lnTo>
                  <a:pt x="0" y="65227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364479" y="5216652"/>
            <a:ext cx="996950" cy="0"/>
          </a:xfrm>
          <a:custGeom>
            <a:avLst/>
            <a:gdLst/>
            <a:ahLst/>
            <a:cxnLst/>
            <a:rect l="l" t="t" r="r" b="b"/>
            <a:pathLst>
              <a:path w="996950">
                <a:moveTo>
                  <a:pt x="0" y="0"/>
                </a:moveTo>
                <a:lnTo>
                  <a:pt x="996696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361176" y="4558284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1"/>
                </a:moveTo>
                <a:lnTo>
                  <a:pt x="996696" y="12191"/>
                </a:lnTo>
                <a:lnTo>
                  <a:pt x="996696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351776" y="4564379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355079" y="4564379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361176" y="5216652"/>
            <a:ext cx="996950" cy="0"/>
          </a:xfrm>
          <a:custGeom>
            <a:avLst/>
            <a:gdLst/>
            <a:ahLst/>
            <a:cxnLst/>
            <a:rect l="l" t="t" r="r" b="b"/>
            <a:pathLst>
              <a:path w="996950">
                <a:moveTo>
                  <a:pt x="0" y="0"/>
                </a:moveTo>
                <a:lnTo>
                  <a:pt x="996696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357871" y="3906011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1"/>
                </a:moveTo>
                <a:lnTo>
                  <a:pt x="996696" y="12191"/>
                </a:lnTo>
                <a:lnTo>
                  <a:pt x="996696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348471" y="3912108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351776" y="3912108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357871" y="4558284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1"/>
                </a:moveTo>
                <a:lnTo>
                  <a:pt x="996696" y="12191"/>
                </a:lnTo>
                <a:lnTo>
                  <a:pt x="996696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354568" y="3906011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1"/>
                </a:moveTo>
                <a:lnTo>
                  <a:pt x="996696" y="12191"/>
                </a:lnTo>
                <a:lnTo>
                  <a:pt x="996696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351264" y="3912108"/>
            <a:ext cx="0" cy="652780"/>
          </a:xfrm>
          <a:custGeom>
            <a:avLst/>
            <a:gdLst/>
            <a:ahLst/>
            <a:cxnLst/>
            <a:rect l="l" t="t" r="r" b="b"/>
            <a:pathLst>
              <a:path h="652779">
                <a:moveTo>
                  <a:pt x="0" y="0"/>
                </a:moveTo>
                <a:lnTo>
                  <a:pt x="0" y="65227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348471" y="3912108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354568" y="4558284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1"/>
                </a:moveTo>
                <a:lnTo>
                  <a:pt x="996696" y="12191"/>
                </a:lnTo>
                <a:lnTo>
                  <a:pt x="996696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357871" y="4558284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1"/>
                </a:moveTo>
                <a:lnTo>
                  <a:pt x="996696" y="12191"/>
                </a:lnTo>
                <a:lnTo>
                  <a:pt x="996696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348471" y="4564379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351776" y="4564379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357871" y="5216652"/>
            <a:ext cx="996950" cy="0"/>
          </a:xfrm>
          <a:custGeom>
            <a:avLst/>
            <a:gdLst/>
            <a:ahLst/>
            <a:cxnLst/>
            <a:rect l="l" t="t" r="r" b="b"/>
            <a:pathLst>
              <a:path w="996950">
                <a:moveTo>
                  <a:pt x="0" y="0"/>
                </a:moveTo>
                <a:lnTo>
                  <a:pt x="996696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354568" y="4558284"/>
            <a:ext cx="996950" cy="12700"/>
          </a:xfrm>
          <a:custGeom>
            <a:avLst/>
            <a:gdLst/>
            <a:ahLst/>
            <a:cxnLst/>
            <a:rect l="l" t="t" r="r" b="b"/>
            <a:pathLst>
              <a:path w="996950" h="12700">
                <a:moveTo>
                  <a:pt x="0" y="12191"/>
                </a:moveTo>
                <a:lnTo>
                  <a:pt x="996696" y="12191"/>
                </a:lnTo>
                <a:lnTo>
                  <a:pt x="996696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351264" y="4564379"/>
            <a:ext cx="0" cy="652780"/>
          </a:xfrm>
          <a:custGeom>
            <a:avLst/>
            <a:gdLst/>
            <a:ahLst/>
            <a:cxnLst/>
            <a:rect l="l" t="t" r="r" b="b"/>
            <a:pathLst>
              <a:path h="652779">
                <a:moveTo>
                  <a:pt x="0" y="0"/>
                </a:moveTo>
                <a:lnTo>
                  <a:pt x="0" y="65227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348471" y="4564379"/>
            <a:ext cx="12700" cy="652780"/>
          </a:xfrm>
          <a:custGeom>
            <a:avLst/>
            <a:gdLst/>
            <a:ahLst/>
            <a:cxnLst/>
            <a:rect l="l" t="t" r="r" b="b"/>
            <a:pathLst>
              <a:path w="12700" h="652779">
                <a:moveTo>
                  <a:pt x="0" y="652272"/>
                </a:moveTo>
                <a:lnTo>
                  <a:pt x="12192" y="652272"/>
                </a:lnTo>
                <a:lnTo>
                  <a:pt x="12192" y="0"/>
                </a:lnTo>
                <a:lnTo>
                  <a:pt x="0" y="0"/>
                </a:lnTo>
                <a:lnTo>
                  <a:pt x="0" y="65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354568" y="5216652"/>
            <a:ext cx="996950" cy="0"/>
          </a:xfrm>
          <a:custGeom>
            <a:avLst/>
            <a:gdLst/>
            <a:ahLst/>
            <a:cxnLst/>
            <a:rect l="l" t="t" r="r" b="b"/>
            <a:pathLst>
              <a:path w="996950">
                <a:moveTo>
                  <a:pt x="0" y="0"/>
                </a:moveTo>
                <a:lnTo>
                  <a:pt x="996696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7312713" y="3626561"/>
            <a:ext cx="125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224168" y="3626561"/>
            <a:ext cx="125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192057" y="3626561"/>
            <a:ext cx="125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063741" y="4278629"/>
            <a:ext cx="2381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12</a:t>
            </a:r>
            <a:endParaRPr sz="16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112552" y="4278629"/>
            <a:ext cx="2381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079190" y="4278629"/>
            <a:ext cx="2381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14</a:t>
            </a:r>
            <a:endParaRPr sz="16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128892" y="4930902"/>
            <a:ext cx="125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096747" y="4930902"/>
            <a:ext cx="125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122368" y="4930902"/>
            <a:ext cx="227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90" dirty="0">
                <a:latin typeface="Arial"/>
                <a:cs typeface="Arial"/>
              </a:rPr>
              <a:t>1</a:t>
            </a: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9078264" y="4930902"/>
            <a:ext cx="2381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10</a:t>
            </a:r>
            <a:endParaRPr sz="16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511040" y="1955292"/>
            <a:ext cx="853440" cy="652780"/>
          </a:xfrm>
          <a:custGeom>
            <a:avLst/>
            <a:gdLst/>
            <a:ahLst/>
            <a:cxnLst/>
            <a:rect l="l" t="t" r="r" b="b"/>
            <a:pathLst>
              <a:path w="853439" h="652780">
                <a:moveTo>
                  <a:pt x="0" y="0"/>
                </a:moveTo>
                <a:lnTo>
                  <a:pt x="853439" y="65227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552950" y="2319604"/>
            <a:ext cx="3429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5" dirty="0">
                <a:latin typeface="Arial"/>
                <a:cs typeface="Arial"/>
              </a:rPr>
              <a:t>AB</a:t>
            </a:r>
            <a:endParaRPr sz="18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053965" y="2031238"/>
            <a:ext cx="354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CD</a:t>
            </a:r>
            <a:endParaRPr sz="18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887592" y="2289428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903491" y="2289428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01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854924" y="2289428"/>
            <a:ext cx="26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0" dirty="0">
                <a:latin typeface="Arial"/>
                <a:cs typeface="Arial"/>
              </a:rPr>
              <a:t>1</a:t>
            </a:r>
            <a:r>
              <a:rPr sz="1800" b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792870" y="2289428"/>
            <a:ext cx="28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881378" y="2837179"/>
            <a:ext cx="281305" cy="2794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10" dirty="0">
                <a:latin typeface="Arial"/>
                <a:cs typeface="Arial"/>
              </a:rPr>
              <a:t>0</a:t>
            </a:r>
            <a:r>
              <a:rPr sz="1800" b="1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881377" y="3408297"/>
            <a:ext cx="281305" cy="2800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latin typeface="Arial"/>
                <a:cs typeface="Arial"/>
              </a:rPr>
              <a:t>01</a:t>
            </a:r>
            <a:endParaRPr sz="18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881377" y="4043737"/>
            <a:ext cx="281305" cy="2673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105" dirty="0">
                <a:latin typeface="Arial"/>
                <a:cs typeface="Arial"/>
              </a:rPr>
              <a:t>1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881377" y="4664985"/>
            <a:ext cx="281305" cy="2800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466713" y="5422798"/>
            <a:ext cx="1557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FF0000"/>
                </a:solidFill>
                <a:latin typeface="幼圆"/>
                <a:cs typeface="幼圆"/>
              </a:rPr>
              <a:t>四变量卡</a:t>
            </a:r>
            <a:r>
              <a:rPr sz="2000" b="1" spc="-5" dirty="0">
                <a:solidFill>
                  <a:srgbClr val="FF0000"/>
                </a:solidFill>
                <a:latin typeface="幼圆"/>
                <a:cs typeface="幼圆"/>
              </a:rPr>
              <a:t>诺图</a:t>
            </a:r>
            <a:endParaRPr sz="2000">
              <a:latin typeface="幼圆"/>
              <a:cs typeface="幼圆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7329678" y="1197102"/>
            <a:ext cx="1795780" cy="1783080"/>
          </a:xfrm>
          <a:custGeom>
            <a:avLst/>
            <a:gdLst/>
            <a:ahLst/>
            <a:cxnLst/>
            <a:rect l="l" t="t" r="r" b="b"/>
            <a:pathLst>
              <a:path w="1795779" h="1783080">
                <a:moveTo>
                  <a:pt x="748029" y="591312"/>
                </a:moveTo>
                <a:lnTo>
                  <a:pt x="299212" y="591312"/>
                </a:lnTo>
                <a:lnTo>
                  <a:pt x="32130" y="1783080"/>
                </a:lnTo>
                <a:lnTo>
                  <a:pt x="748029" y="591312"/>
                </a:lnTo>
                <a:close/>
              </a:path>
              <a:path w="1795779" h="1783080">
                <a:moveTo>
                  <a:pt x="1696720" y="0"/>
                </a:moveTo>
                <a:lnTo>
                  <a:pt x="98551" y="0"/>
                </a:lnTo>
                <a:lnTo>
                  <a:pt x="60168" y="7737"/>
                </a:lnTo>
                <a:lnTo>
                  <a:pt x="28844" y="28844"/>
                </a:lnTo>
                <a:lnTo>
                  <a:pt x="7737" y="60168"/>
                </a:lnTo>
                <a:lnTo>
                  <a:pt x="0" y="98551"/>
                </a:lnTo>
                <a:lnTo>
                  <a:pt x="0" y="492760"/>
                </a:lnTo>
                <a:lnTo>
                  <a:pt x="7737" y="531143"/>
                </a:lnTo>
                <a:lnTo>
                  <a:pt x="28844" y="562467"/>
                </a:lnTo>
                <a:lnTo>
                  <a:pt x="60168" y="583574"/>
                </a:lnTo>
                <a:lnTo>
                  <a:pt x="98551" y="591312"/>
                </a:lnTo>
                <a:lnTo>
                  <a:pt x="1696720" y="591312"/>
                </a:lnTo>
                <a:lnTo>
                  <a:pt x="1735103" y="583574"/>
                </a:lnTo>
                <a:lnTo>
                  <a:pt x="1766427" y="562467"/>
                </a:lnTo>
                <a:lnTo>
                  <a:pt x="1787534" y="531143"/>
                </a:lnTo>
                <a:lnTo>
                  <a:pt x="1795272" y="492760"/>
                </a:lnTo>
                <a:lnTo>
                  <a:pt x="1795272" y="98551"/>
                </a:lnTo>
                <a:lnTo>
                  <a:pt x="1787534" y="60168"/>
                </a:lnTo>
                <a:lnTo>
                  <a:pt x="1766427" y="28844"/>
                </a:lnTo>
                <a:lnTo>
                  <a:pt x="1735103" y="7737"/>
                </a:lnTo>
                <a:lnTo>
                  <a:pt x="1696720" y="0"/>
                </a:lnTo>
                <a:close/>
              </a:path>
            </a:pathLst>
          </a:custGeom>
          <a:solidFill>
            <a:srgbClr val="99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329678" y="1197102"/>
            <a:ext cx="1795780" cy="1783080"/>
          </a:xfrm>
          <a:custGeom>
            <a:avLst/>
            <a:gdLst/>
            <a:ahLst/>
            <a:cxnLst/>
            <a:rect l="l" t="t" r="r" b="b"/>
            <a:pathLst>
              <a:path w="1795779" h="1783080">
                <a:moveTo>
                  <a:pt x="0" y="98551"/>
                </a:moveTo>
                <a:lnTo>
                  <a:pt x="7737" y="60168"/>
                </a:lnTo>
                <a:lnTo>
                  <a:pt x="28844" y="28844"/>
                </a:lnTo>
                <a:lnTo>
                  <a:pt x="60168" y="7737"/>
                </a:lnTo>
                <a:lnTo>
                  <a:pt x="98551" y="0"/>
                </a:lnTo>
                <a:lnTo>
                  <a:pt x="299212" y="0"/>
                </a:lnTo>
                <a:lnTo>
                  <a:pt x="748029" y="0"/>
                </a:lnTo>
                <a:lnTo>
                  <a:pt x="1696720" y="0"/>
                </a:lnTo>
                <a:lnTo>
                  <a:pt x="1735103" y="7737"/>
                </a:lnTo>
                <a:lnTo>
                  <a:pt x="1766427" y="28844"/>
                </a:lnTo>
                <a:lnTo>
                  <a:pt x="1787534" y="60168"/>
                </a:lnTo>
                <a:lnTo>
                  <a:pt x="1795272" y="98551"/>
                </a:lnTo>
                <a:lnTo>
                  <a:pt x="1795272" y="344932"/>
                </a:lnTo>
                <a:lnTo>
                  <a:pt x="1795272" y="492760"/>
                </a:lnTo>
                <a:lnTo>
                  <a:pt x="1787534" y="531143"/>
                </a:lnTo>
                <a:lnTo>
                  <a:pt x="1766427" y="562467"/>
                </a:lnTo>
                <a:lnTo>
                  <a:pt x="1735103" y="583574"/>
                </a:lnTo>
                <a:lnTo>
                  <a:pt x="1696720" y="591312"/>
                </a:lnTo>
                <a:lnTo>
                  <a:pt x="748029" y="591312"/>
                </a:lnTo>
                <a:lnTo>
                  <a:pt x="32130" y="1783080"/>
                </a:lnTo>
                <a:lnTo>
                  <a:pt x="299212" y="591312"/>
                </a:lnTo>
                <a:lnTo>
                  <a:pt x="98551" y="591312"/>
                </a:lnTo>
                <a:lnTo>
                  <a:pt x="60168" y="583574"/>
                </a:lnTo>
                <a:lnTo>
                  <a:pt x="28844" y="562467"/>
                </a:lnTo>
                <a:lnTo>
                  <a:pt x="7737" y="531143"/>
                </a:lnTo>
                <a:lnTo>
                  <a:pt x="0" y="492760"/>
                </a:lnTo>
                <a:lnTo>
                  <a:pt x="0" y="344932"/>
                </a:lnTo>
                <a:lnTo>
                  <a:pt x="0" y="98551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7639557" y="1337817"/>
            <a:ext cx="1176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D50092"/>
                </a:solidFill>
                <a:latin typeface="幼圆"/>
                <a:cs typeface="幼圆"/>
              </a:rPr>
              <a:t>最小项编号</a:t>
            </a:r>
            <a:endParaRPr sz="1800">
              <a:latin typeface="幼圆"/>
              <a:cs typeface="幼圆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1946115" y="1847774"/>
            <a:ext cx="196215" cy="0"/>
          </a:xfrm>
          <a:custGeom>
            <a:avLst/>
            <a:gdLst/>
            <a:ahLst/>
            <a:cxnLst/>
            <a:rect l="l" t="t" r="r" b="b"/>
            <a:pathLst>
              <a:path w="196214">
                <a:moveTo>
                  <a:pt x="0" y="0"/>
                </a:moveTo>
                <a:lnTo>
                  <a:pt x="195890" y="0"/>
                </a:lnTo>
              </a:path>
            </a:pathLst>
          </a:custGeom>
          <a:ln w="134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167058" y="1847774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>
                <a:moveTo>
                  <a:pt x="0" y="0"/>
                </a:moveTo>
                <a:lnTo>
                  <a:pt x="179719" y="0"/>
                </a:lnTo>
              </a:path>
            </a:pathLst>
          </a:custGeom>
          <a:ln w="134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787314" y="1849027"/>
            <a:ext cx="196215" cy="0"/>
          </a:xfrm>
          <a:custGeom>
            <a:avLst/>
            <a:gdLst/>
            <a:ahLst/>
            <a:cxnLst/>
            <a:rect l="l" t="t" r="r" b="b"/>
            <a:pathLst>
              <a:path w="196214">
                <a:moveTo>
                  <a:pt x="0" y="0"/>
                </a:moveTo>
                <a:lnTo>
                  <a:pt x="195713" y="0"/>
                </a:lnTo>
              </a:path>
            </a:pathLst>
          </a:custGeom>
          <a:ln w="134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130482" y="2423846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>
                <a:moveTo>
                  <a:pt x="0" y="0"/>
                </a:moveTo>
                <a:lnTo>
                  <a:pt x="179719" y="0"/>
                </a:lnTo>
              </a:path>
            </a:pathLst>
          </a:custGeom>
          <a:ln w="134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0" name="object 100"/>
          <p:cNvGraphicFramePr>
            <a:graphicFrameLocks noGrp="1"/>
          </p:cNvGraphicFramePr>
          <p:nvPr/>
        </p:nvGraphicFramePr>
        <p:xfrm>
          <a:off x="1744979" y="1755648"/>
          <a:ext cx="163576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215265">
                        <a:lnSpc>
                          <a:spcPts val="2595"/>
                        </a:lnSpc>
                        <a:spcBef>
                          <a:spcPts val="535"/>
                        </a:spcBef>
                      </a:pPr>
                      <a:r>
                        <a:rPr sz="25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R="131445" algn="r">
                        <a:lnSpc>
                          <a:spcPts val="151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660"/>
                        </a:lnSpc>
                        <a:spcBef>
                          <a:spcPts val="530"/>
                        </a:spcBef>
                      </a:pPr>
                      <a:r>
                        <a:rPr sz="2500" i="1" spc="-55" dirty="0">
                          <a:latin typeface="Times New Roman"/>
                          <a:cs typeface="Times New Roman"/>
                        </a:rPr>
                        <a:t>AB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R="143510" algn="r">
                        <a:lnSpc>
                          <a:spcPts val="150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178435">
                        <a:lnSpc>
                          <a:spcPts val="2795"/>
                        </a:lnSpc>
                        <a:spcBef>
                          <a:spcPts val="270"/>
                        </a:spcBef>
                      </a:pPr>
                      <a:r>
                        <a:rPr sz="25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R="144145" algn="r">
                        <a:lnSpc>
                          <a:spcPts val="163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ts val="2895"/>
                        </a:lnSpc>
                      </a:pPr>
                      <a:r>
                        <a:rPr sz="2500" i="1" spc="-130" dirty="0">
                          <a:latin typeface="Times New Roman"/>
                          <a:cs typeface="Times New Roman"/>
                        </a:rPr>
                        <a:t>AB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R="143510" algn="r">
                        <a:lnSpc>
                          <a:spcPts val="180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1" name="object 101"/>
          <p:cNvSpPr/>
          <p:nvPr/>
        </p:nvSpPr>
        <p:spPr>
          <a:xfrm>
            <a:off x="1331030" y="4651824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5">
                <a:moveTo>
                  <a:pt x="0" y="0"/>
                </a:moveTo>
                <a:lnTo>
                  <a:pt x="185920" y="0"/>
                </a:lnTo>
              </a:path>
            </a:pathLst>
          </a:custGeom>
          <a:ln w="12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540562" y="4651824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5">
                <a:moveTo>
                  <a:pt x="0" y="0"/>
                </a:moveTo>
                <a:lnTo>
                  <a:pt x="185930" y="0"/>
                </a:lnTo>
              </a:path>
            </a:pathLst>
          </a:custGeom>
          <a:ln w="12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750107" y="4651824"/>
            <a:ext cx="158115" cy="0"/>
          </a:xfrm>
          <a:custGeom>
            <a:avLst/>
            <a:gdLst/>
            <a:ahLst/>
            <a:cxnLst/>
            <a:rect l="l" t="t" r="r" b="b"/>
            <a:pathLst>
              <a:path w="158114">
                <a:moveTo>
                  <a:pt x="0" y="0"/>
                </a:moveTo>
                <a:lnTo>
                  <a:pt x="157611" y="0"/>
                </a:lnTo>
              </a:path>
            </a:pathLst>
          </a:custGeom>
          <a:ln w="12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118904" y="4652079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5">
                <a:moveTo>
                  <a:pt x="0" y="0"/>
                </a:moveTo>
                <a:lnTo>
                  <a:pt x="185795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328295" y="4652079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5">
                <a:moveTo>
                  <a:pt x="0" y="0"/>
                </a:moveTo>
                <a:lnTo>
                  <a:pt x="185805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857936" y="4652079"/>
            <a:ext cx="185420" cy="0"/>
          </a:xfrm>
          <a:custGeom>
            <a:avLst/>
            <a:gdLst/>
            <a:ahLst/>
            <a:cxnLst/>
            <a:rect l="l" t="t" r="r" b="b"/>
            <a:pathLst>
              <a:path w="185419">
                <a:moveTo>
                  <a:pt x="0" y="0"/>
                </a:moveTo>
                <a:lnTo>
                  <a:pt x="185399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632236" y="4652079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4">
                <a:moveTo>
                  <a:pt x="0" y="0"/>
                </a:moveTo>
                <a:lnTo>
                  <a:pt x="185795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027433" y="465207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0" y="0"/>
                </a:moveTo>
                <a:lnTo>
                  <a:pt x="159482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540562" y="5299779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5">
                <a:moveTo>
                  <a:pt x="0" y="0"/>
                </a:moveTo>
                <a:lnTo>
                  <a:pt x="185930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750107" y="5299779"/>
            <a:ext cx="158115" cy="0"/>
          </a:xfrm>
          <a:custGeom>
            <a:avLst/>
            <a:gdLst/>
            <a:ahLst/>
            <a:cxnLst/>
            <a:rect l="l" t="t" r="r" b="b"/>
            <a:pathLst>
              <a:path w="158114">
                <a:moveTo>
                  <a:pt x="0" y="0"/>
                </a:moveTo>
                <a:lnTo>
                  <a:pt x="157611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328295" y="5299779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5">
                <a:moveTo>
                  <a:pt x="0" y="0"/>
                </a:moveTo>
                <a:lnTo>
                  <a:pt x="185805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041947" y="5299779"/>
            <a:ext cx="145415" cy="0"/>
          </a:xfrm>
          <a:custGeom>
            <a:avLst/>
            <a:gdLst/>
            <a:ahLst/>
            <a:cxnLst/>
            <a:rect l="l" t="t" r="r" b="b"/>
            <a:pathLst>
              <a:path w="145414">
                <a:moveTo>
                  <a:pt x="0" y="0"/>
                </a:moveTo>
                <a:lnTo>
                  <a:pt x="144968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3" name="object 113"/>
          <p:cNvGraphicFramePr>
            <a:graphicFrameLocks noGrp="1"/>
          </p:cNvGraphicFramePr>
          <p:nvPr/>
        </p:nvGraphicFramePr>
        <p:xfrm>
          <a:off x="1237488" y="4535423"/>
          <a:ext cx="3077208" cy="13761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9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7324">
                <a:tc>
                  <a:txBody>
                    <a:bodyPr/>
                    <a:lstStyle/>
                    <a:p>
                      <a:pPr marL="106045">
                        <a:lnSpc>
                          <a:spcPts val="2645"/>
                        </a:lnSpc>
                        <a:spcBef>
                          <a:spcPts val="730"/>
                        </a:spcBef>
                      </a:pPr>
                      <a:r>
                        <a:rPr sz="2350" i="1" spc="60" dirty="0">
                          <a:latin typeface="Times New Roman"/>
                          <a:cs typeface="Times New Roman"/>
                        </a:rPr>
                        <a:t>AB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454659">
                        <a:lnSpc>
                          <a:spcPts val="174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2645"/>
                        </a:lnSpc>
                        <a:spcBef>
                          <a:spcPts val="740"/>
                        </a:spcBef>
                      </a:pPr>
                      <a:r>
                        <a:rPr sz="2350" i="1" spc="55" dirty="0">
                          <a:latin typeface="Times New Roman"/>
                          <a:cs typeface="Times New Roman"/>
                        </a:rPr>
                        <a:t>AB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79375" algn="ctr">
                        <a:lnSpc>
                          <a:spcPts val="174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2645"/>
                        </a:lnSpc>
                        <a:spcBef>
                          <a:spcPts val="740"/>
                        </a:spcBef>
                      </a:pPr>
                      <a:r>
                        <a:rPr sz="2350" i="1" spc="-55" dirty="0">
                          <a:latin typeface="Times New Roman"/>
                          <a:cs typeface="Times New Roman"/>
                        </a:rPr>
                        <a:t>AB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20955" algn="ctr">
                        <a:lnSpc>
                          <a:spcPts val="174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104" algn="ctr">
                        <a:lnSpc>
                          <a:spcPts val="2645"/>
                        </a:lnSpc>
                        <a:spcBef>
                          <a:spcPts val="740"/>
                        </a:spcBef>
                      </a:pPr>
                      <a:r>
                        <a:rPr sz="2350" i="1" spc="-35" dirty="0">
                          <a:latin typeface="Times New Roman"/>
                          <a:cs typeface="Times New Roman"/>
                        </a:rPr>
                        <a:t>AB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R="141605" algn="ctr">
                        <a:lnSpc>
                          <a:spcPts val="174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847">
                <a:tc>
                  <a:txBody>
                    <a:bodyPr/>
                    <a:lstStyle/>
                    <a:p>
                      <a:pPr marL="106045">
                        <a:lnSpc>
                          <a:spcPts val="2805"/>
                        </a:lnSpc>
                        <a:spcBef>
                          <a:spcPts val="425"/>
                        </a:spcBef>
                      </a:pPr>
                      <a:r>
                        <a:rPr sz="2350" i="1" spc="60" dirty="0">
                          <a:latin typeface="Times New Roman"/>
                          <a:cs typeface="Times New Roman"/>
                        </a:rPr>
                        <a:t>AB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484505">
                        <a:lnSpc>
                          <a:spcPts val="190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2805"/>
                        </a:lnSpc>
                        <a:spcBef>
                          <a:spcPts val="425"/>
                        </a:spcBef>
                      </a:pPr>
                      <a:r>
                        <a:rPr sz="2350" i="1" spc="55" dirty="0">
                          <a:latin typeface="Times New Roman"/>
                          <a:cs typeface="Times New Roman"/>
                        </a:rPr>
                        <a:t>AB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26034" algn="ctr">
                        <a:lnSpc>
                          <a:spcPts val="190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350" i="1" spc="-60" dirty="0">
                          <a:latin typeface="Times New Roman"/>
                          <a:cs typeface="Times New Roman"/>
                        </a:rPr>
                        <a:t>AB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2552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2805"/>
                        </a:lnSpc>
                        <a:spcBef>
                          <a:spcPts val="425"/>
                        </a:spcBef>
                      </a:pPr>
                      <a:r>
                        <a:rPr sz="2350" i="1" spc="-114" dirty="0">
                          <a:latin typeface="Times New Roman"/>
                          <a:cs typeface="Times New Roman"/>
                        </a:rPr>
                        <a:t>AB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170180">
                        <a:lnSpc>
                          <a:spcPts val="190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4" name="object 114"/>
          <p:cNvSpPr/>
          <p:nvPr/>
        </p:nvSpPr>
        <p:spPr>
          <a:xfrm>
            <a:off x="5406192" y="2707455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>
                <a:moveTo>
                  <a:pt x="0" y="0"/>
                </a:moveTo>
                <a:lnTo>
                  <a:pt x="187077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616889" y="2707455"/>
            <a:ext cx="186690" cy="0"/>
          </a:xfrm>
          <a:custGeom>
            <a:avLst/>
            <a:gdLst/>
            <a:ahLst/>
            <a:cxnLst/>
            <a:rect l="l" t="t" r="r" b="b"/>
            <a:pathLst>
              <a:path w="186689">
                <a:moveTo>
                  <a:pt x="0" y="0"/>
                </a:moveTo>
                <a:lnTo>
                  <a:pt x="186477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827574" y="2707456"/>
            <a:ext cx="196215" cy="0"/>
          </a:xfrm>
          <a:custGeom>
            <a:avLst/>
            <a:gdLst/>
            <a:ahLst/>
            <a:cxnLst/>
            <a:rect l="l" t="t" r="r" b="b"/>
            <a:pathLst>
              <a:path w="196214">
                <a:moveTo>
                  <a:pt x="0" y="0"/>
                </a:moveTo>
                <a:lnTo>
                  <a:pt x="196165" y="0"/>
                </a:lnTo>
              </a:path>
            </a:pathLst>
          </a:custGeom>
          <a:ln w="126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047345" y="2707456"/>
            <a:ext cx="130175" cy="0"/>
          </a:xfrm>
          <a:custGeom>
            <a:avLst/>
            <a:gdLst/>
            <a:ahLst/>
            <a:cxnLst/>
            <a:rect l="l" t="t" r="r" b="b"/>
            <a:pathLst>
              <a:path w="130175">
                <a:moveTo>
                  <a:pt x="0" y="0"/>
                </a:moveTo>
                <a:lnTo>
                  <a:pt x="130040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5364479" y="2607564"/>
            <a:ext cx="996950" cy="65278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60960">
              <a:lnSpc>
                <a:spcPts val="2570"/>
              </a:lnSpc>
              <a:spcBef>
                <a:spcPts val="655"/>
              </a:spcBef>
            </a:pPr>
            <a:r>
              <a:rPr sz="2350" i="1" spc="60" dirty="0">
                <a:latin typeface="Times New Roman"/>
                <a:cs typeface="Times New Roman"/>
              </a:rPr>
              <a:t>AB</a:t>
            </a:r>
            <a:endParaRPr sz="2350">
              <a:latin typeface="Times New Roman"/>
              <a:cs typeface="Times New Roman"/>
            </a:endParaRPr>
          </a:p>
          <a:p>
            <a:pPr marL="59690">
              <a:lnSpc>
                <a:spcPts val="1670"/>
              </a:lnSpc>
              <a:tabLst>
                <a:tab pos="299085" algn="l"/>
                <a:tab pos="456565" algn="l"/>
                <a:tab pos="796290" algn="l"/>
              </a:tabLst>
            </a:pP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600" b="1" spc="-5" dirty="0">
                <a:latin typeface="Arial"/>
                <a:cs typeface="Arial"/>
              </a:rPr>
              <a:t>	</a:t>
            </a: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0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6456197" y="2707455"/>
            <a:ext cx="186690" cy="0"/>
          </a:xfrm>
          <a:custGeom>
            <a:avLst/>
            <a:gdLst/>
            <a:ahLst/>
            <a:cxnLst/>
            <a:rect l="l" t="t" r="r" b="b"/>
            <a:pathLst>
              <a:path w="186690">
                <a:moveTo>
                  <a:pt x="0" y="0"/>
                </a:moveTo>
                <a:lnTo>
                  <a:pt x="186363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666772" y="2707455"/>
            <a:ext cx="186690" cy="0"/>
          </a:xfrm>
          <a:custGeom>
            <a:avLst/>
            <a:gdLst/>
            <a:ahLst/>
            <a:cxnLst/>
            <a:rect l="l" t="t" r="r" b="b"/>
            <a:pathLst>
              <a:path w="186690">
                <a:moveTo>
                  <a:pt x="0" y="0"/>
                </a:moveTo>
                <a:lnTo>
                  <a:pt x="186368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876733" y="2707456"/>
            <a:ext cx="196215" cy="0"/>
          </a:xfrm>
          <a:custGeom>
            <a:avLst/>
            <a:gdLst/>
            <a:ahLst/>
            <a:cxnLst/>
            <a:rect l="l" t="t" r="r" b="b"/>
            <a:pathLst>
              <a:path w="196215">
                <a:moveTo>
                  <a:pt x="0" y="0"/>
                </a:moveTo>
                <a:lnTo>
                  <a:pt x="196025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6361176" y="2607564"/>
            <a:ext cx="996950" cy="65278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114300">
              <a:lnSpc>
                <a:spcPts val="2570"/>
              </a:lnSpc>
              <a:spcBef>
                <a:spcPts val="655"/>
              </a:spcBef>
            </a:pPr>
            <a:r>
              <a:rPr sz="2350" i="1" spc="75" dirty="0">
                <a:latin typeface="Times New Roman"/>
                <a:cs typeface="Times New Roman"/>
              </a:rPr>
              <a:t>ABCD</a:t>
            </a:r>
            <a:endParaRPr sz="2350">
              <a:latin typeface="Times New Roman"/>
              <a:cs typeface="Times New Roman"/>
            </a:endParaRPr>
          </a:p>
          <a:p>
            <a:pPr marL="113030">
              <a:lnSpc>
                <a:spcPts val="1670"/>
              </a:lnSpc>
              <a:tabLst>
                <a:tab pos="351790" algn="l"/>
                <a:tab pos="509270" algn="l"/>
                <a:tab pos="758190" algn="l"/>
              </a:tabLst>
            </a:pP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600" b="1" spc="-5" dirty="0">
                <a:latin typeface="Arial"/>
                <a:cs typeface="Arial"/>
              </a:rPr>
              <a:t>	</a:t>
            </a: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600" b="1" spc="8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7443723" y="2707455"/>
            <a:ext cx="186690" cy="0"/>
          </a:xfrm>
          <a:custGeom>
            <a:avLst/>
            <a:gdLst/>
            <a:ahLst/>
            <a:cxnLst/>
            <a:rect l="l" t="t" r="r" b="b"/>
            <a:pathLst>
              <a:path w="186690">
                <a:moveTo>
                  <a:pt x="0" y="0"/>
                </a:moveTo>
                <a:lnTo>
                  <a:pt x="186266" y="0"/>
                </a:lnTo>
              </a:path>
            </a:pathLst>
          </a:custGeom>
          <a:ln w="126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654189" y="2707455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4">
                <a:moveTo>
                  <a:pt x="0" y="0"/>
                </a:moveTo>
                <a:lnTo>
                  <a:pt x="185646" y="0"/>
                </a:lnTo>
              </a:path>
            </a:pathLst>
          </a:custGeom>
          <a:ln w="126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 txBox="1"/>
          <p:nvPr/>
        </p:nvSpPr>
        <p:spPr>
          <a:xfrm>
            <a:off x="7448296" y="2674915"/>
            <a:ext cx="407670" cy="567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604">
              <a:lnSpc>
                <a:spcPts val="2570"/>
              </a:lnSpc>
              <a:spcBef>
                <a:spcPts val="125"/>
              </a:spcBef>
            </a:pPr>
            <a:r>
              <a:rPr sz="2350" i="1" spc="100" dirty="0">
                <a:latin typeface="Times New Roman"/>
                <a:cs typeface="Times New Roman"/>
              </a:rPr>
              <a:t>A</a:t>
            </a:r>
            <a:r>
              <a:rPr sz="2350" i="1" spc="15" dirty="0">
                <a:latin typeface="Times New Roman"/>
                <a:cs typeface="Times New Roman"/>
              </a:rPr>
              <a:t>B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ts val="1670"/>
              </a:lnSpc>
              <a:tabLst>
                <a:tab pos="238760" algn="l"/>
              </a:tabLst>
            </a:pP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8467877" y="2707455"/>
            <a:ext cx="186690" cy="0"/>
          </a:xfrm>
          <a:custGeom>
            <a:avLst/>
            <a:gdLst/>
            <a:ahLst/>
            <a:cxnLst/>
            <a:rect l="l" t="t" r="r" b="b"/>
            <a:pathLst>
              <a:path w="186690">
                <a:moveTo>
                  <a:pt x="0" y="0"/>
                </a:moveTo>
                <a:lnTo>
                  <a:pt x="186363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8678452" y="2707455"/>
            <a:ext cx="186690" cy="0"/>
          </a:xfrm>
          <a:custGeom>
            <a:avLst/>
            <a:gdLst/>
            <a:ahLst/>
            <a:cxnLst/>
            <a:rect l="l" t="t" r="r" b="b"/>
            <a:pathLst>
              <a:path w="186690">
                <a:moveTo>
                  <a:pt x="0" y="0"/>
                </a:moveTo>
                <a:lnTo>
                  <a:pt x="186368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9084439" y="2707456"/>
            <a:ext cx="220345" cy="0"/>
          </a:xfrm>
          <a:custGeom>
            <a:avLst/>
            <a:gdLst/>
            <a:ahLst/>
            <a:cxnLst/>
            <a:rect l="l" t="t" r="r" b="b"/>
            <a:pathLst>
              <a:path w="220345">
                <a:moveTo>
                  <a:pt x="0" y="0"/>
                </a:moveTo>
                <a:lnTo>
                  <a:pt x="220269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8154325" y="2674915"/>
            <a:ext cx="1165860" cy="567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2740">
              <a:lnSpc>
                <a:spcPts val="2570"/>
              </a:lnSpc>
              <a:spcBef>
                <a:spcPts val="125"/>
              </a:spcBef>
            </a:pPr>
            <a:r>
              <a:rPr sz="2350" i="1" dirty="0">
                <a:latin typeface="Times New Roman"/>
                <a:cs typeface="Times New Roman"/>
              </a:rPr>
              <a:t>ABC</a:t>
            </a:r>
            <a:r>
              <a:rPr sz="2350" i="1" spc="-365" dirty="0">
                <a:latin typeface="Times New Roman"/>
                <a:cs typeface="Times New Roman"/>
              </a:rPr>
              <a:t> </a:t>
            </a:r>
            <a:r>
              <a:rPr sz="2350" i="1" spc="15" dirty="0">
                <a:latin typeface="Times New Roman"/>
                <a:cs typeface="Times New Roman"/>
              </a:rPr>
              <a:t>D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ts val="1670"/>
              </a:lnSpc>
              <a:tabLst>
                <a:tab pos="317500" algn="l"/>
                <a:tab pos="556895" algn="l"/>
                <a:tab pos="911225" algn="l"/>
              </a:tabLst>
            </a:pPr>
            <a:r>
              <a:rPr sz="1600" b="1" spc="-5" dirty="0">
                <a:latin typeface="Arial"/>
                <a:cs typeface="Arial"/>
              </a:rPr>
              <a:t>3	</a:t>
            </a: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600" b="1" spc="-5" dirty="0">
                <a:latin typeface="Arial"/>
                <a:cs typeface="Arial"/>
              </a:rPr>
              <a:t>	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5364479" y="3259835"/>
            <a:ext cx="996950" cy="65278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78740">
              <a:lnSpc>
                <a:spcPts val="2595"/>
              </a:lnSpc>
              <a:spcBef>
                <a:spcPts val="620"/>
              </a:spcBef>
            </a:pPr>
            <a:r>
              <a:rPr sz="2350" i="1" spc="75" dirty="0">
                <a:latin typeface="Times New Roman"/>
                <a:cs typeface="Times New Roman"/>
              </a:rPr>
              <a:t>ABCD</a:t>
            </a:r>
            <a:endParaRPr sz="2350">
              <a:latin typeface="Times New Roman"/>
              <a:cs typeface="Times New Roman"/>
            </a:endParaRPr>
          </a:p>
          <a:p>
            <a:pPr marR="67310" algn="r">
              <a:lnSpc>
                <a:spcPts val="1695"/>
              </a:lnSpc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6361176" y="3259835"/>
            <a:ext cx="996950" cy="65278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620"/>
              </a:spcBef>
            </a:pPr>
            <a:r>
              <a:rPr sz="2350" i="1" spc="-35" dirty="0">
                <a:latin typeface="Times New Roman"/>
                <a:cs typeface="Times New Roman"/>
              </a:rPr>
              <a:t>AB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7467648" y="3323954"/>
            <a:ext cx="368935" cy="386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350" i="1" spc="-85" dirty="0">
                <a:latin typeface="Times New Roman"/>
                <a:cs typeface="Times New Roman"/>
              </a:rPr>
              <a:t>A</a:t>
            </a:r>
            <a:r>
              <a:rPr sz="2350" i="1" spc="15" dirty="0">
                <a:latin typeface="Times New Roman"/>
                <a:cs typeface="Times New Roman"/>
              </a:rPr>
              <a:t>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9083151" y="3356425"/>
            <a:ext cx="137795" cy="0"/>
          </a:xfrm>
          <a:custGeom>
            <a:avLst/>
            <a:gdLst/>
            <a:ahLst/>
            <a:cxnLst/>
            <a:rect l="l" t="t" r="r" b="b"/>
            <a:pathLst>
              <a:path w="137795">
                <a:moveTo>
                  <a:pt x="0" y="0"/>
                </a:moveTo>
                <a:lnTo>
                  <a:pt x="137184" y="0"/>
                </a:lnTo>
              </a:path>
            </a:pathLst>
          </a:custGeom>
          <a:ln w="12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 txBox="1"/>
          <p:nvPr/>
        </p:nvSpPr>
        <p:spPr>
          <a:xfrm>
            <a:off x="8491703" y="3323954"/>
            <a:ext cx="365125" cy="386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350" i="1" spc="-90" dirty="0">
                <a:latin typeface="Times New Roman"/>
                <a:cs typeface="Times New Roman"/>
              </a:rPr>
              <a:t>A</a:t>
            </a:r>
            <a:r>
              <a:rPr sz="2350" i="1" spc="-20" dirty="0">
                <a:latin typeface="Times New Roman"/>
                <a:cs typeface="Times New Roman"/>
              </a:rPr>
              <a:t>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5823237" y="4004379"/>
            <a:ext cx="196215" cy="0"/>
          </a:xfrm>
          <a:custGeom>
            <a:avLst/>
            <a:gdLst/>
            <a:ahLst/>
            <a:cxnLst/>
            <a:rect l="l" t="t" r="r" b="b"/>
            <a:pathLst>
              <a:path w="196214">
                <a:moveTo>
                  <a:pt x="0" y="0"/>
                </a:moveTo>
                <a:lnTo>
                  <a:pt x="195849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043255" y="4004379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929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 txBox="1"/>
          <p:nvPr/>
        </p:nvSpPr>
        <p:spPr>
          <a:xfrm>
            <a:off x="5431548" y="3971839"/>
            <a:ext cx="35242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350" i="1" spc="-114" dirty="0">
                <a:latin typeface="Times New Roman"/>
                <a:cs typeface="Times New Roman"/>
              </a:rPr>
              <a:t>AB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6872223" y="4004379"/>
            <a:ext cx="195580" cy="0"/>
          </a:xfrm>
          <a:custGeom>
            <a:avLst/>
            <a:gdLst/>
            <a:ahLst/>
            <a:cxnLst/>
            <a:rect l="l" t="t" r="r" b="b"/>
            <a:pathLst>
              <a:path w="195579">
                <a:moveTo>
                  <a:pt x="0" y="0"/>
                </a:moveTo>
                <a:lnTo>
                  <a:pt x="195450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 txBox="1"/>
          <p:nvPr/>
        </p:nvSpPr>
        <p:spPr>
          <a:xfrm>
            <a:off x="6361176" y="3912108"/>
            <a:ext cx="996950" cy="65278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118745">
              <a:lnSpc>
                <a:spcPts val="2605"/>
              </a:lnSpc>
              <a:spcBef>
                <a:spcPts val="595"/>
              </a:spcBef>
            </a:pPr>
            <a:r>
              <a:rPr sz="2350" i="1" spc="60" dirty="0">
                <a:latin typeface="Times New Roman"/>
                <a:cs typeface="Times New Roman"/>
              </a:rPr>
              <a:t>ABCD</a:t>
            </a:r>
            <a:endParaRPr sz="2350">
              <a:latin typeface="Times New Roman"/>
              <a:cs typeface="Times New Roman"/>
            </a:endParaRPr>
          </a:p>
          <a:p>
            <a:pPr marR="36195" algn="r">
              <a:lnSpc>
                <a:spcPts val="1705"/>
              </a:lnSpc>
            </a:pPr>
            <a:r>
              <a:rPr sz="1600" b="1" spc="-5" dirty="0">
                <a:latin typeface="Arial"/>
                <a:cs typeface="Arial"/>
              </a:rPr>
              <a:t>13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7467648" y="3934740"/>
            <a:ext cx="561975" cy="386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350" i="1" spc="-120" dirty="0">
                <a:latin typeface="Times New Roman"/>
                <a:cs typeface="Times New Roman"/>
              </a:rPr>
              <a:t>A</a:t>
            </a:r>
            <a:r>
              <a:rPr sz="2350" i="1" spc="-15" dirty="0">
                <a:latin typeface="Times New Roman"/>
                <a:cs typeface="Times New Roman"/>
              </a:rPr>
              <a:t>B</a:t>
            </a:r>
            <a:r>
              <a:rPr sz="2350" i="1" spc="5" dirty="0">
                <a:latin typeface="Times New Roman"/>
                <a:cs typeface="Times New Roman"/>
              </a:rPr>
              <a:t>C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9086432" y="4004379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>
                <a:moveTo>
                  <a:pt x="0" y="0"/>
                </a:moveTo>
                <a:lnTo>
                  <a:pt x="143753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 txBox="1"/>
          <p:nvPr/>
        </p:nvSpPr>
        <p:spPr>
          <a:xfrm>
            <a:off x="8479548" y="3971839"/>
            <a:ext cx="36512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350" i="1" spc="-114" dirty="0">
                <a:latin typeface="Times New Roman"/>
                <a:cs typeface="Times New Roman"/>
              </a:rPr>
              <a:t>A</a:t>
            </a:r>
            <a:r>
              <a:rPr sz="2350" i="1" spc="15" dirty="0">
                <a:latin typeface="Times New Roman"/>
                <a:cs typeface="Times New Roman"/>
              </a:rPr>
              <a:t>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5606221" y="4651824"/>
            <a:ext cx="186690" cy="0"/>
          </a:xfrm>
          <a:custGeom>
            <a:avLst/>
            <a:gdLst/>
            <a:ahLst/>
            <a:cxnLst/>
            <a:rect l="l" t="t" r="r" b="b"/>
            <a:pathLst>
              <a:path w="186689">
                <a:moveTo>
                  <a:pt x="0" y="0"/>
                </a:moveTo>
                <a:lnTo>
                  <a:pt x="186477" y="0"/>
                </a:lnTo>
              </a:path>
            </a:pathLst>
          </a:custGeom>
          <a:ln w="12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5816905" y="4651824"/>
            <a:ext cx="196215" cy="0"/>
          </a:xfrm>
          <a:custGeom>
            <a:avLst/>
            <a:gdLst/>
            <a:ahLst/>
            <a:cxnLst/>
            <a:rect l="l" t="t" r="r" b="b"/>
            <a:pathLst>
              <a:path w="196214">
                <a:moveTo>
                  <a:pt x="0" y="0"/>
                </a:moveTo>
                <a:lnTo>
                  <a:pt x="196165" y="0"/>
                </a:lnTo>
              </a:path>
            </a:pathLst>
          </a:custGeom>
          <a:ln w="12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6036678" y="4651824"/>
            <a:ext cx="130175" cy="0"/>
          </a:xfrm>
          <a:custGeom>
            <a:avLst/>
            <a:gdLst/>
            <a:ahLst/>
            <a:cxnLst/>
            <a:rect l="l" t="t" r="r" b="b"/>
            <a:pathLst>
              <a:path w="130175">
                <a:moveTo>
                  <a:pt x="0" y="0"/>
                </a:moveTo>
                <a:lnTo>
                  <a:pt x="130039" y="0"/>
                </a:lnTo>
              </a:path>
            </a:pathLst>
          </a:custGeom>
          <a:ln w="12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 txBox="1"/>
          <p:nvPr/>
        </p:nvSpPr>
        <p:spPr>
          <a:xfrm>
            <a:off x="5414897" y="4619354"/>
            <a:ext cx="393700" cy="386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350" i="1" spc="105" dirty="0">
                <a:latin typeface="Times New Roman"/>
                <a:cs typeface="Times New Roman"/>
              </a:rPr>
              <a:t>A</a:t>
            </a:r>
            <a:r>
              <a:rPr sz="2350" i="1" spc="15" dirty="0">
                <a:latin typeface="Times New Roman"/>
                <a:cs typeface="Times New Roman"/>
              </a:rPr>
              <a:t>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47" name="object 147"/>
          <p:cNvSpPr/>
          <p:nvPr/>
        </p:nvSpPr>
        <p:spPr>
          <a:xfrm>
            <a:off x="6655697" y="4651824"/>
            <a:ext cx="186690" cy="0"/>
          </a:xfrm>
          <a:custGeom>
            <a:avLst/>
            <a:gdLst/>
            <a:ahLst/>
            <a:cxnLst/>
            <a:rect l="l" t="t" r="r" b="b"/>
            <a:pathLst>
              <a:path w="186690">
                <a:moveTo>
                  <a:pt x="0" y="0"/>
                </a:moveTo>
                <a:lnTo>
                  <a:pt x="186078" y="0"/>
                </a:lnTo>
              </a:path>
            </a:pathLst>
          </a:custGeom>
          <a:ln w="12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865332" y="4651824"/>
            <a:ext cx="196215" cy="0"/>
          </a:xfrm>
          <a:custGeom>
            <a:avLst/>
            <a:gdLst/>
            <a:ahLst/>
            <a:cxnLst/>
            <a:rect l="l" t="t" r="r" b="b"/>
            <a:pathLst>
              <a:path w="196215">
                <a:moveTo>
                  <a:pt x="0" y="0"/>
                </a:moveTo>
                <a:lnTo>
                  <a:pt x="195720" y="0"/>
                </a:lnTo>
              </a:path>
            </a:pathLst>
          </a:custGeom>
          <a:ln w="12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7643521" y="4651824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4">
                <a:moveTo>
                  <a:pt x="0" y="0"/>
                </a:moveTo>
                <a:lnTo>
                  <a:pt x="185646" y="0"/>
                </a:lnTo>
              </a:path>
            </a:pathLst>
          </a:custGeom>
          <a:ln w="12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 txBox="1"/>
          <p:nvPr/>
        </p:nvSpPr>
        <p:spPr>
          <a:xfrm>
            <a:off x="6464783" y="4619354"/>
            <a:ext cx="1380490" cy="386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987425" algn="l"/>
              </a:tabLst>
            </a:pPr>
            <a:r>
              <a:rPr sz="2350" i="1" spc="100" dirty="0">
                <a:latin typeface="Times New Roman"/>
                <a:cs typeface="Times New Roman"/>
              </a:rPr>
              <a:t>A</a:t>
            </a:r>
            <a:r>
              <a:rPr sz="2350" i="1" spc="10" dirty="0">
                <a:latin typeface="Times New Roman"/>
                <a:cs typeface="Times New Roman"/>
              </a:rPr>
              <a:t>B</a:t>
            </a:r>
            <a:r>
              <a:rPr sz="2350" i="1" dirty="0">
                <a:latin typeface="Times New Roman"/>
                <a:cs typeface="Times New Roman"/>
              </a:rPr>
              <a:t>	</a:t>
            </a:r>
            <a:r>
              <a:rPr sz="2350" i="1" spc="100" dirty="0">
                <a:latin typeface="Times New Roman"/>
                <a:cs typeface="Times New Roman"/>
              </a:rPr>
              <a:t>A</a:t>
            </a:r>
            <a:r>
              <a:rPr sz="2350" i="1" spc="15" dirty="0">
                <a:latin typeface="Times New Roman"/>
                <a:cs typeface="Times New Roman"/>
              </a:rPr>
              <a:t>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51" name="object 151"/>
          <p:cNvSpPr/>
          <p:nvPr/>
        </p:nvSpPr>
        <p:spPr>
          <a:xfrm>
            <a:off x="8667377" y="4651824"/>
            <a:ext cx="186690" cy="0"/>
          </a:xfrm>
          <a:custGeom>
            <a:avLst/>
            <a:gdLst/>
            <a:ahLst/>
            <a:cxnLst/>
            <a:rect l="l" t="t" r="r" b="b"/>
            <a:pathLst>
              <a:path w="186690">
                <a:moveTo>
                  <a:pt x="0" y="0"/>
                </a:moveTo>
                <a:lnTo>
                  <a:pt x="186078" y="0"/>
                </a:lnTo>
              </a:path>
            </a:pathLst>
          </a:custGeom>
          <a:ln w="12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9072732" y="4651824"/>
            <a:ext cx="132715" cy="0"/>
          </a:xfrm>
          <a:custGeom>
            <a:avLst/>
            <a:gdLst/>
            <a:ahLst/>
            <a:cxnLst/>
            <a:rect l="l" t="t" r="r" b="b"/>
            <a:pathLst>
              <a:path w="132715">
                <a:moveTo>
                  <a:pt x="0" y="0"/>
                </a:moveTo>
                <a:lnTo>
                  <a:pt x="132362" y="0"/>
                </a:lnTo>
              </a:path>
            </a:pathLst>
          </a:custGeom>
          <a:ln w="12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 txBox="1"/>
          <p:nvPr/>
        </p:nvSpPr>
        <p:spPr>
          <a:xfrm>
            <a:off x="8476463" y="4619354"/>
            <a:ext cx="393065" cy="386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350" i="1" spc="100" dirty="0">
                <a:latin typeface="Times New Roman"/>
                <a:cs typeface="Times New Roman"/>
              </a:rPr>
              <a:t>A</a:t>
            </a:r>
            <a:r>
              <a:rPr sz="2350" i="1" spc="10" dirty="0">
                <a:latin typeface="Times New Roman"/>
                <a:cs typeface="Times New Roman"/>
              </a:rPr>
              <a:t>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5" name="object 1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73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6" name="墨迹 155">
                <a:extLst>
                  <a:ext uri="{FF2B5EF4-FFF2-40B4-BE49-F238E27FC236}">
                    <a16:creationId xmlns:a16="http://schemas.microsoft.com/office/drawing/2014/main" id="{5C6A1DD9-275E-A68B-256E-8DA71AB716CE}"/>
                  </a:ext>
                </a:extLst>
              </p14:cNvPr>
              <p14:cNvContentPartPr/>
              <p14:nvPr/>
            </p14:nvContentPartPr>
            <p14:xfrm>
              <a:off x="230931" y="-433629"/>
              <a:ext cx="360" cy="360"/>
            </p14:xfrm>
          </p:contentPart>
        </mc:Choice>
        <mc:Fallback xmlns="">
          <p:pic>
            <p:nvPicPr>
              <p:cNvPr id="156" name="墨迹 155">
                <a:extLst>
                  <a:ext uri="{FF2B5EF4-FFF2-40B4-BE49-F238E27FC236}">
                    <a16:creationId xmlns:a16="http://schemas.microsoft.com/office/drawing/2014/main" id="{5C6A1DD9-275E-A68B-256E-8DA71AB716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291" y="-54126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7" name="墨迹 156">
                <a:extLst>
                  <a:ext uri="{FF2B5EF4-FFF2-40B4-BE49-F238E27FC236}">
                    <a16:creationId xmlns:a16="http://schemas.microsoft.com/office/drawing/2014/main" id="{F8A985AC-0D83-2C59-1673-90BE1AE4520C}"/>
                  </a:ext>
                </a:extLst>
              </p14:cNvPr>
              <p14:cNvContentPartPr/>
              <p14:nvPr/>
            </p14:nvContentPartPr>
            <p14:xfrm>
              <a:off x="5630571" y="2435211"/>
              <a:ext cx="3557520" cy="126000"/>
            </p14:xfrm>
          </p:contentPart>
        </mc:Choice>
        <mc:Fallback xmlns="">
          <p:pic>
            <p:nvPicPr>
              <p:cNvPr id="157" name="墨迹 156">
                <a:extLst>
                  <a:ext uri="{FF2B5EF4-FFF2-40B4-BE49-F238E27FC236}">
                    <a16:creationId xmlns:a16="http://schemas.microsoft.com/office/drawing/2014/main" id="{F8A985AC-0D83-2C59-1673-90BE1AE452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76931" y="2327211"/>
                <a:ext cx="366516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8" name="墨迹 157">
                <a:extLst>
                  <a:ext uri="{FF2B5EF4-FFF2-40B4-BE49-F238E27FC236}">
                    <a16:creationId xmlns:a16="http://schemas.microsoft.com/office/drawing/2014/main" id="{A8C24638-DF00-AA29-7480-01CF7E328C8E}"/>
                  </a:ext>
                </a:extLst>
              </p14:cNvPr>
              <p14:cNvContentPartPr/>
              <p14:nvPr/>
            </p14:nvContentPartPr>
            <p14:xfrm>
              <a:off x="4858731" y="2703411"/>
              <a:ext cx="279000" cy="2148840"/>
            </p14:xfrm>
          </p:contentPart>
        </mc:Choice>
        <mc:Fallback xmlns="">
          <p:pic>
            <p:nvPicPr>
              <p:cNvPr id="158" name="墨迹 157">
                <a:extLst>
                  <a:ext uri="{FF2B5EF4-FFF2-40B4-BE49-F238E27FC236}">
                    <a16:creationId xmlns:a16="http://schemas.microsoft.com/office/drawing/2014/main" id="{A8C24638-DF00-AA29-7480-01CF7E328C8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04731" y="2595411"/>
                <a:ext cx="386640" cy="2364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7860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代数法化简非完全描述逻辑函数</a:t>
            </a:r>
          </a:p>
        </p:txBody>
      </p:sp>
      <p:sp>
        <p:nvSpPr>
          <p:cNvPr id="3" name="object 3"/>
          <p:cNvSpPr/>
          <p:nvPr/>
        </p:nvSpPr>
        <p:spPr>
          <a:xfrm>
            <a:off x="489966" y="1125474"/>
            <a:ext cx="8784590" cy="1297305"/>
          </a:xfrm>
          <a:custGeom>
            <a:avLst/>
            <a:gdLst/>
            <a:ahLst/>
            <a:cxnLst/>
            <a:rect l="l" t="t" r="r" b="b"/>
            <a:pathLst>
              <a:path w="8784590" h="1297305">
                <a:moveTo>
                  <a:pt x="0" y="216153"/>
                </a:moveTo>
                <a:lnTo>
                  <a:pt x="5708" y="166591"/>
                </a:lnTo>
                <a:lnTo>
                  <a:pt x="21969" y="121094"/>
                </a:lnTo>
                <a:lnTo>
                  <a:pt x="47486" y="80960"/>
                </a:lnTo>
                <a:lnTo>
                  <a:pt x="80960" y="47486"/>
                </a:lnTo>
                <a:lnTo>
                  <a:pt x="121094" y="21969"/>
                </a:lnTo>
                <a:lnTo>
                  <a:pt x="166591" y="5708"/>
                </a:lnTo>
                <a:lnTo>
                  <a:pt x="216154" y="0"/>
                </a:lnTo>
                <a:lnTo>
                  <a:pt x="8568182" y="0"/>
                </a:lnTo>
                <a:lnTo>
                  <a:pt x="8617744" y="5708"/>
                </a:lnTo>
                <a:lnTo>
                  <a:pt x="8663241" y="21969"/>
                </a:lnTo>
                <a:lnTo>
                  <a:pt x="8703375" y="47486"/>
                </a:lnTo>
                <a:lnTo>
                  <a:pt x="8736849" y="80960"/>
                </a:lnTo>
                <a:lnTo>
                  <a:pt x="8762366" y="121094"/>
                </a:lnTo>
                <a:lnTo>
                  <a:pt x="8778627" y="166591"/>
                </a:lnTo>
                <a:lnTo>
                  <a:pt x="8784336" y="216153"/>
                </a:lnTo>
                <a:lnTo>
                  <a:pt x="8784336" y="1080770"/>
                </a:lnTo>
                <a:lnTo>
                  <a:pt x="8778627" y="1130332"/>
                </a:lnTo>
                <a:lnTo>
                  <a:pt x="8762366" y="1175829"/>
                </a:lnTo>
                <a:lnTo>
                  <a:pt x="8736849" y="1215963"/>
                </a:lnTo>
                <a:lnTo>
                  <a:pt x="8703375" y="1249437"/>
                </a:lnTo>
                <a:lnTo>
                  <a:pt x="8663241" y="1274954"/>
                </a:lnTo>
                <a:lnTo>
                  <a:pt x="8617744" y="1291215"/>
                </a:lnTo>
                <a:lnTo>
                  <a:pt x="8568182" y="1296924"/>
                </a:lnTo>
                <a:lnTo>
                  <a:pt x="216154" y="1296924"/>
                </a:lnTo>
                <a:lnTo>
                  <a:pt x="166591" y="1291215"/>
                </a:lnTo>
                <a:lnTo>
                  <a:pt x="121094" y="1274954"/>
                </a:lnTo>
                <a:lnTo>
                  <a:pt x="80960" y="1249437"/>
                </a:lnTo>
                <a:lnTo>
                  <a:pt x="47486" y="1215963"/>
                </a:lnTo>
                <a:lnTo>
                  <a:pt x="21969" y="1175829"/>
                </a:lnTo>
                <a:lnTo>
                  <a:pt x="5708" y="1130332"/>
                </a:lnTo>
                <a:lnTo>
                  <a:pt x="0" y="1080770"/>
                </a:lnTo>
                <a:lnTo>
                  <a:pt x="0" y="216153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92115" y="4858318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0" y="0"/>
                </a:moveTo>
                <a:lnTo>
                  <a:pt x="246825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65022" y="4858318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4">
                <a:moveTo>
                  <a:pt x="0" y="0"/>
                </a:moveTo>
                <a:lnTo>
                  <a:pt x="258220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72060" y="4858318"/>
            <a:ext cx="255270" cy="0"/>
          </a:xfrm>
          <a:custGeom>
            <a:avLst/>
            <a:gdLst/>
            <a:ahLst/>
            <a:cxnLst/>
            <a:rect l="l" t="t" r="r" b="b"/>
            <a:pathLst>
              <a:path w="255269">
                <a:moveTo>
                  <a:pt x="0" y="0"/>
                </a:moveTo>
                <a:lnTo>
                  <a:pt x="254874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44649" y="4858318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0" y="0"/>
                </a:moveTo>
                <a:lnTo>
                  <a:pt x="246825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17557" y="4858318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5">
                <a:moveTo>
                  <a:pt x="0" y="0"/>
                </a:moveTo>
                <a:lnTo>
                  <a:pt x="258220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71239" y="4858318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0" y="0"/>
                </a:moveTo>
                <a:lnTo>
                  <a:pt x="246714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02838" y="4858318"/>
            <a:ext cx="222250" cy="0"/>
          </a:xfrm>
          <a:custGeom>
            <a:avLst/>
            <a:gdLst/>
            <a:ahLst/>
            <a:cxnLst/>
            <a:rect l="l" t="t" r="r" b="b"/>
            <a:pathLst>
              <a:path w="222250">
                <a:moveTo>
                  <a:pt x="0" y="0"/>
                </a:moveTo>
                <a:lnTo>
                  <a:pt x="222098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97470" y="4858318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0" y="0"/>
                </a:moveTo>
                <a:lnTo>
                  <a:pt x="246991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92115" y="540523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0" y="0"/>
                </a:moveTo>
                <a:lnTo>
                  <a:pt x="246825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65022" y="5405234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4">
                <a:moveTo>
                  <a:pt x="0" y="0"/>
                </a:moveTo>
                <a:lnTo>
                  <a:pt x="258220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86456" y="5405234"/>
            <a:ext cx="255904" cy="0"/>
          </a:xfrm>
          <a:custGeom>
            <a:avLst/>
            <a:gdLst/>
            <a:ahLst/>
            <a:cxnLst/>
            <a:rect l="l" t="t" r="r" b="b"/>
            <a:pathLst>
              <a:path w="255905">
                <a:moveTo>
                  <a:pt x="0" y="0"/>
                </a:moveTo>
                <a:lnTo>
                  <a:pt x="255510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46555" y="5405234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0" y="0"/>
                </a:moveTo>
                <a:lnTo>
                  <a:pt x="246991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48503" y="5405234"/>
            <a:ext cx="222250" cy="0"/>
          </a:xfrm>
          <a:custGeom>
            <a:avLst/>
            <a:gdLst/>
            <a:ahLst/>
            <a:cxnLst/>
            <a:rect l="l" t="t" r="r" b="b"/>
            <a:pathLst>
              <a:path w="222250">
                <a:moveTo>
                  <a:pt x="0" y="0"/>
                </a:moveTo>
                <a:lnTo>
                  <a:pt x="221822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92115" y="5951515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0" y="0"/>
                </a:moveTo>
                <a:lnTo>
                  <a:pt x="246825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265022" y="5951515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4">
                <a:moveTo>
                  <a:pt x="0" y="0"/>
                </a:moveTo>
                <a:lnTo>
                  <a:pt x="258220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63720" y="5951515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6161" y="0"/>
                </a:lnTo>
              </a:path>
            </a:pathLst>
          </a:custGeom>
          <a:ln w="13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92632" y="1210817"/>
            <a:ext cx="8397875" cy="511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 indent="67310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根据需要加进或者舍弃某</a:t>
            </a:r>
            <a:r>
              <a:rPr sz="2400" spc="5" dirty="0">
                <a:solidFill>
                  <a:srgbClr val="0000FF"/>
                </a:solidFill>
                <a:latin typeface="微软雅黑"/>
                <a:cs typeface="微软雅黑"/>
              </a:rPr>
              <a:t>些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无关最小项</a:t>
            </a:r>
            <a:r>
              <a:rPr sz="2400" spc="5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，加进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无关最小 项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的原则是使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逻辑相邻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的最小项个数最大化，以使得原逻辑 </a:t>
            </a:r>
            <a:r>
              <a:rPr sz="2400" spc="-5" dirty="0">
                <a:solidFill>
                  <a:srgbClr val="0000FF"/>
                </a:solidFill>
                <a:latin typeface="微软雅黑"/>
                <a:cs typeface="微软雅黑"/>
              </a:rPr>
              <a:t>表达式得到进一步的简化。</a:t>
            </a:r>
            <a:endParaRPr sz="2400">
              <a:latin typeface="微软雅黑"/>
              <a:cs typeface="微软雅黑"/>
            </a:endParaRPr>
          </a:p>
          <a:p>
            <a:pPr marL="59055">
              <a:lnSpc>
                <a:spcPct val="100000"/>
              </a:lnSpc>
              <a:spcBef>
                <a:spcPts val="1620"/>
              </a:spcBef>
            </a:pPr>
            <a:r>
              <a:rPr sz="2800" spc="-5" dirty="0">
                <a:latin typeface="微软雅黑"/>
                <a:cs typeface="微软雅黑"/>
              </a:rPr>
              <a:t>例：化简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微软雅黑"/>
                <a:cs typeface="微软雅黑"/>
              </a:rPr>
              <a:t>一位十进制数质数探测</a:t>
            </a:r>
            <a:r>
              <a:rPr sz="2800" dirty="0">
                <a:latin typeface="微软雅黑"/>
                <a:cs typeface="微软雅黑"/>
              </a:rPr>
              <a:t>器</a:t>
            </a:r>
            <a:r>
              <a:rPr sz="2800" spc="10" dirty="0">
                <a:latin typeface="Arial"/>
                <a:cs typeface="Arial"/>
              </a:rPr>
              <a:t>”</a:t>
            </a:r>
            <a:r>
              <a:rPr sz="2800" spc="-5" dirty="0">
                <a:latin typeface="微软雅黑"/>
                <a:cs typeface="微软雅黑"/>
              </a:rPr>
              <a:t>逻辑</a:t>
            </a:r>
            <a:r>
              <a:rPr sz="2800" dirty="0">
                <a:latin typeface="微软雅黑"/>
                <a:cs typeface="微软雅黑"/>
              </a:rPr>
              <a:t>函</a:t>
            </a:r>
            <a:r>
              <a:rPr sz="2800" spc="-5" dirty="0">
                <a:latin typeface="微软雅黑"/>
                <a:cs typeface="微软雅黑"/>
              </a:rPr>
              <a:t>数</a:t>
            </a:r>
            <a:endParaRPr sz="2800">
              <a:latin typeface="微软雅黑"/>
              <a:cs typeface="微软雅黑"/>
            </a:endParaRPr>
          </a:p>
          <a:p>
            <a:pPr marL="885825">
              <a:lnSpc>
                <a:spcPct val="100000"/>
              </a:lnSpc>
              <a:spcBef>
                <a:spcPts val="114"/>
              </a:spcBef>
            </a:pPr>
            <a:r>
              <a:rPr sz="2250" i="1" spc="45" dirty="0">
                <a:latin typeface="Times New Roman"/>
                <a:cs typeface="Times New Roman"/>
              </a:rPr>
              <a:t>F</a:t>
            </a:r>
            <a:r>
              <a:rPr sz="2250" i="1" spc="180" dirty="0">
                <a:latin typeface="Times New Roman"/>
                <a:cs typeface="Times New Roman"/>
              </a:rPr>
              <a:t> </a:t>
            </a:r>
            <a:r>
              <a:rPr sz="2250" spc="40" dirty="0">
                <a:latin typeface="Symbol"/>
                <a:cs typeface="Symbol"/>
              </a:rPr>
              <a:t></a:t>
            </a:r>
            <a:r>
              <a:rPr sz="2250" spc="-55" dirty="0">
                <a:latin typeface="Times New Roman"/>
                <a:cs typeface="Times New Roman"/>
              </a:rPr>
              <a:t> </a:t>
            </a:r>
            <a:r>
              <a:rPr sz="5100" spc="52" baseline="-8986" dirty="0">
                <a:latin typeface="Symbol"/>
                <a:cs typeface="Symbol"/>
              </a:rPr>
              <a:t></a:t>
            </a:r>
            <a:r>
              <a:rPr sz="2250" i="1" spc="35" dirty="0">
                <a:latin typeface="Times New Roman"/>
                <a:cs typeface="Times New Roman"/>
              </a:rPr>
              <a:t>m</a:t>
            </a:r>
            <a:r>
              <a:rPr sz="2250" spc="35" dirty="0">
                <a:latin typeface="Times New Roman"/>
                <a:cs typeface="Times New Roman"/>
              </a:rPr>
              <a:t>(2,3,5,7)</a:t>
            </a:r>
            <a:r>
              <a:rPr sz="2250" spc="-190" dirty="0">
                <a:latin typeface="Times New Roman"/>
                <a:cs typeface="Times New Roman"/>
              </a:rPr>
              <a:t> </a:t>
            </a:r>
            <a:r>
              <a:rPr sz="2250" spc="40" dirty="0">
                <a:latin typeface="Symbol"/>
                <a:cs typeface="Symbol"/>
              </a:rPr>
              <a:t></a:t>
            </a:r>
            <a:r>
              <a:rPr sz="2250" spc="-145" dirty="0">
                <a:latin typeface="Times New Roman"/>
                <a:cs typeface="Times New Roman"/>
              </a:rPr>
              <a:t> </a:t>
            </a:r>
            <a:r>
              <a:rPr sz="2250" i="1" spc="35" dirty="0">
                <a:latin typeface="Times New Roman"/>
                <a:cs typeface="Times New Roman"/>
              </a:rPr>
              <a:t>d</a:t>
            </a:r>
            <a:r>
              <a:rPr sz="2250" i="1" spc="-320" dirty="0">
                <a:latin typeface="Times New Roman"/>
                <a:cs typeface="Times New Roman"/>
              </a:rPr>
              <a:t> </a:t>
            </a:r>
            <a:r>
              <a:rPr sz="2250" spc="-75" dirty="0">
                <a:latin typeface="Times New Roman"/>
                <a:cs typeface="Times New Roman"/>
              </a:rPr>
              <a:t>(10,11,12,13,14,15)</a:t>
            </a:r>
            <a:endParaRPr sz="2250">
              <a:latin typeface="Times New Roman"/>
              <a:cs typeface="Times New Roman"/>
            </a:endParaRPr>
          </a:p>
          <a:p>
            <a:pPr marL="59055">
              <a:lnSpc>
                <a:spcPts val="3195"/>
              </a:lnSpc>
              <a:spcBef>
                <a:spcPts val="1770"/>
              </a:spcBef>
            </a:pPr>
            <a:r>
              <a:rPr sz="2800" spc="-5" dirty="0">
                <a:latin typeface="Arial"/>
                <a:cs typeface="Arial"/>
              </a:rPr>
              <a:t>1</a:t>
            </a:r>
            <a:r>
              <a:rPr sz="2800" spc="-5" dirty="0">
                <a:latin typeface="微软雅黑"/>
                <a:cs typeface="微软雅黑"/>
              </a:rPr>
              <a:t>）先不考</a:t>
            </a:r>
            <a:r>
              <a:rPr sz="2800" spc="-15" dirty="0">
                <a:latin typeface="微软雅黑"/>
                <a:cs typeface="微软雅黑"/>
              </a:rPr>
              <a:t>虑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微软雅黑"/>
                <a:cs typeface="微软雅黑"/>
              </a:rPr>
              <a:t>无关最小项</a:t>
            </a:r>
            <a:r>
              <a:rPr sz="2800" spc="-5" dirty="0"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  <a:p>
            <a:pPr marL="821055">
              <a:lnSpc>
                <a:spcPts val="4335"/>
              </a:lnSpc>
            </a:pPr>
            <a:r>
              <a:rPr sz="2500" i="1" spc="75" dirty="0">
                <a:latin typeface="Times New Roman"/>
                <a:cs typeface="Times New Roman"/>
              </a:rPr>
              <a:t>F </a:t>
            </a:r>
            <a:r>
              <a:rPr sz="2500" spc="65" dirty="0">
                <a:latin typeface="Symbol"/>
                <a:cs typeface="Symbol"/>
              </a:rPr>
              <a:t>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5625" spc="195" baseline="-8888" dirty="0">
                <a:latin typeface="Symbol"/>
                <a:cs typeface="Symbol"/>
              </a:rPr>
              <a:t></a:t>
            </a:r>
            <a:r>
              <a:rPr sz="5625" spc="-810" baseline="-8888" dirty="0">
                <a:latin typeface="Times New Roman"/>
                <a:cs typeface="Times New Roman"/>
              </a:rPr>
              <a:t> </a:t>
            </a:r>
            <a:r>
              <a:rPr sz="2500" i="1" spc="30" dirty="0">
                <a:latin typeface="Times New Roman"/>
                <a:cs typeface="Times New Roman"/>
              </a:rPr>
              <a:t>m</a:t>
            </a:r>
            <a:r>
              <a:rPr sz="2500" spc="30" dirty="0">
                <a:latin typeface="Times New Roman"/>
                <a:cs typeface="Times New Roman"/>
              </a:rPr>
              <a:t>(2,3,5,7)</a:t>
            </a:r>
            <a:endParaRPr sz="2500">
              <a:latin typeface="Times New Roman"/>
              <a:cs typeface="Times New Roman"/>
            </a:endParaRPr>
          </a:p>
          <a:p>
            <a:pPr marL="1133475">
              <a:lnSpc>
                <a:spcPct val="100000"/>
              </a:lnSpc>
              <a:spcBef>
                <a:spcPts val="1345"/>
              </a:spcBef>
            </a:pPr>
            <a:r>
              <a:rPr sz="2500" spc="65" dirty="0">
                <a:latin typeface="Symbol"/>
                <a:cs typeface="Symbol"/>
              </a:rPr>
              <a:t>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i="1" spc="-20" dirty="0">
                <a:latin typeface="Times New Roman"/>
                <a:cs typeface="Times New Roman"/>
              </a:rPr>
              <a:t>b</a:t>
            </a:r>
            <a:r>
              <a:rPr sz="2175" spc="-30" baseline="-24904" dirty="0">
                <a:latin typeface="Times New Roman"/>
                <a:cs typeface="Times New Roman"/>
              </a:rPr>
              <a:t>3</a:t>
            </a:r>
            <a:r>
              <a:rPr sz="2175" spc="-240" baseline="-24904" dirty="0">
                <a:latin typeface="Times New Roman"/>
                <a:cs typeface="Times New Roman"/>
              </a:rPr>
              <a:t> </a:t>
            </a:r>
            <a:r>
              <a:rPr sz="2500" i="1" spc="-25" dirty="0">
                <a:latin typeface="Times New Roman"/>
                <a:cs typeface="Times New Roman"/>
              </a:rPr>
              <a:t>b</a:t>
            </a:r>
            <a:r>
              <a:rPr sz="2175" spc="-37" baseline="-24904" dirty="0">
                <a:latin typeface="Times New Roman"/>
                <a:cs typeface="Times New Roman"/>
              </a:rPr>
              <a:t>2</a:t>
            </a:r>
            <a:r>
              <a:rPr sz="2500" i="1" spc="-25" dirty="0">
                <a:latin typeface="Times New Roman"/>
                <a:cs typeface="Times New Roman"/>
              </a:rPr>
              <a:t>b</a:t>
            </a:r>
            <a:r>
              <a:rPr sz="2175" spc="-37" baseline="-24904" dirty="0">
                <a:latin typeface="Times New Roman"/>
                <a:cs typeface="Times New Roman"/>
              </a:rPr>
              <a:t>1</a:t>
            </a:r>
            <a:r>
              <a:rPr sz="2175" spc="-345" baseline="-24904" dirty="0">
                <a:latin typeface="Times New Roman"/>
                <a:cs typeface="Times New Roman"/>
              </a:rPr>
              <a:t> </a:t>
            </a:r>
            <a:r>
              <a:rPr sz="2500" i="1" spc="-10" dirty="0">
                <a:latin typeface="Times New Roman"/>
                <a:cs typeface="Times New Roman"/>
              </a:rPr>
              <a:t>b</a:t>
            </a:r>
            <a:r>
              <a:rPr sz="2175" spc="-15" baseline="-24904" dirty="0">
                <a:latin typeface="Times New Roman"/>
                <a:cs typeface="Times New Roman"/>
              </a:rPr>
              <a:t>0  </a:t>
            </a:r>
            <a:r>
              <a:rPr sz="2500" spc="65" dirty="0">
                <a:latin typeface="Symbol"/>
                <a:cs typeface="Symbol"/>
              </a:rPr>
              <a:t></a:t>
            </a:r>
            <a:r>
              <a:rPr sz="2500" spc="-220" dirty="0">
                <a:latin typeface="Times New Roman"/>
                <a:cs typeface="Times New Roman"/>
              </a:rPr>
              <a:t> </a:t>
            </a:r>
            <a:r>
              <a:rPr sz="2500" i="1" spc="-20" dirty="0">
                <a:latin typeface="Times New Roman"/>
                <a:cs typeface="Times New Roman"/>
              </a:rPr>
              <a:t>b</a:t>
            </a:r>
            <a:r>
              <a:rPr sz="2175" spc="-30" baseline="-24904" dirty="0">
                <a:latin typeface="Times New Roman"/>
                <a:cs typeface="Times New Roman"/>
              </a:rPr>
              <a:t>3</a:t>
            </a:r>
            <a:r>
              <a:rPr sz="2175" spc="-240" baseline="-24904" dirty="0">
                <a:latin typeface="Times New Roman"/>
                <a:cs typeface="Times New Roman"/>
              </a:rPr>
              <a:t> </a:t>
            </a:r>
            <a:r>
              <a:rPr sz="2500" i="1" spc="-35" dirty="0">
                <a:latin typeface="Times New Roman"/>
                <a:cs typeface="Times New Roman"/>
              </a:rPr>
              <a:t>b</a:t>
            </a:r>
            <a:r>
              <a:rPr sz="2175" spc="-52" baseline="-24904" dirty="0">
                <a:latin typeface="Times New Roman"/>
                <a:cs typeface="Times New Roman"/>
              </a:rPr>
              <a:t>2</a:t>
            </a:r>
            <a:r>
              <a:rPr sz="2500" i="1" spc="-35" dirty="0">
                <a:latin typeface="Times New Roman"/>
                <a:cs typeface="Times New Roman"/>
              </a:rPr>
              <a:t>b</a:t>
            </a:r>
            <a:r>
              <a:rPr sz="2175" spc="-52" baseline="-24904" dirty="0">
                <a:latin typeface="Times New Roman"/>
                <a:cs typeface="Times New Roman"/>
              </a:rPr>
              <a:t>1</a:t>
            </a:r>
            <a:r>
              <a:rPr sz="2500" i="1" spc="-35" dirty="0">
                <a:latin typeface="Times New Roman"/>
                <a:cs typeface="Times New Roman"/>
              </a:rPr>
              <a:t>b</a:t>
            </a:r>
            <a:r>
              <a:rPr sz="2175" spc="-52" baseline="-24904" dirty="0">
                <a:latin typeface="Times New Roman"/>
                <a:cs typeface="Times New Roman"/>
              </a:rPr>
              <a:t>0</a:t>
            </a:r>
            <a:r>
              <a:rPr sz="2175" spc="22" baseline="-24904" dirty="0">
                <a:latin typeface="Times New Roman"/>
                <a:cs typeface="Times New Roman"/>
              </a:rPr>
              <a:t> </a:t>
            </a:r>
            <a:r>
              <a:rPr sz="2500" spc="65" dirty="0">
                <a:latin typeface="Symbol"/>
                <a:cs typeface="Symbol"/>
              </a:rPr>
              <a:t></a:t>
            </a:r>
            <a:r>
              <a:rPr sz="2500" spc="-220" dirty="0">
                <a:latin typeface="Times New Roman"/>
                <a:cs typeface="Times New Roman"/>
              </a:rPr>
              <a:t> </a:t>
            </a:r>
            <a:r>
              <a:rPr sz="2500" i="1" spc="-10" dirty="0">
                <a:latin typeface="Times New Roman"/>
                <a:cs typeface="Times New Roman"/>
              </a:rPr>
              <a:t>b</a:t>
            </a:r>
            <a:r>
              <a:rPr sz="2175" spc="-15" baseline="-24904" dirty="0">
                <a:latin typeface="Times New Roman"/>
                <a:cs typeface="Times New Roman"/>
              </a:rPr>
              <a:t>3</a:t>
            </a:r>
            <a:r>
              <a:rPr sz="2500" i="1" spc="-10" dirty="0">
                <a:latin typeface="Times New Roman"/>
                <a:cs typeface="Times New Roman"/>
              </a:rPr>
              <a:t>b</a:t>
            </a:r>
            <a:r>
              <a:rPr sz="2175" spc="-15" baseline="-24904" dirty="0">
                <a:latin typeface="Times New Roman"/>
                <a:cs typeface="Times New Roman"/>
              </a:rPr>
              <a:t>2</a:t>
            </a:r>
            <a:r>
              <a:rPr sz="2175" spc="-165" baseline="-24904" dirty="0">
                <a:latin typeface="Times New Roman"/>
                <a:cs typeface="Times New Roman"/>
              </a:rPr>
              <a:t> </a:t>
            </a:r>
            <a:r>
              <a:rPr sz="2500" i="1" spc="-65" dirty="0">
                <a:latin typeface="Times New Roman"/>
                <a:cs typeface="Times New Roman"/>
              </a:rPr>
              <a:t>b</a:t>
            </a:r>
            <a:r>
              <a:rPr sz="2175" spc="-97" baseline="-24904" dirty="0">
                <a:latin typeface="Times New Roman"/>
                <a:cs typeface="Times New Roman"/>
              </a:rPr>
              <a:t>1</a:t>
            </a:r>
            <a:r>
              <a:rPr sz="2500" i="1" spc="-65" dirty="0">
                <a:latin typeface="Times New Roman"/>
                <a:cs typeface="Times New Roman"/>
              </a:rPr>
              <a:t>b</a:t>
            </a:r>
            <a:r>
              <a:rPr sz="2175" spc="-97" baseline="-24904" dirty="0">
                <a:latin typeface="Times New Roman"/>
                <a:cs typeface="Times New Roman"/>
              </a:rPr>
              <a:t>0</a:t>
            </a:r>
            <a:r>
              <a:rPr sz="2175" spc="60" baseline="-24904" dirty="0">
                <a:latin typeface="Times New Roman"/>
                <a:cs typeface="Times New Roman"/>
              </a:rPr>
              <a:t> </a:t>
            </a:r>
            <a:r>
              <a:rPr sz="2500" spc="65" dirty="0">
                <a:latin typeface="Symbol"/>
                <a:cs typeface="Symbol"/>
              </a:rPr>
              <a:t></a:t>
            </a:r>
            <a:r>
              <a:rPr sz="2500" spc="-220" dirty="0">
                <a:latin typeface="Times New Roman"/>
                <a:cs typeface="Times New Roman"/>
              </a:rPr>
              <a:t> </a:t>
            </a:r>
            <a:r>
              <a:rPr sz="2500" i="1" spc="-30" dirty="0">
                <a:latin typeface="Times New Roman"/>
                <a:cs typeface="Times New Roman"/>
              </a:rPr>
              <a:t>b</a:t>
            </a:r>
            <a:r>
              <a:rPr sz="2175" spc="-44" baseline="-24904" dirty="0">
                <a:latin typeface="Times New Roman"/>
                <a:cs typeface="Times New Roman"/>
              </a:rPr>
              <a:t>3</a:t>
            </a:r>
            <a:r>
              <a:rPr sz="2500" i="1" spc="-30" dirty="0">
                <a:latin typeface="Times New Roman"/>
                <a:cs typeface="Times New Roman"/>
              </a:rPr>
              <a:t>b</a:t>
            </a:r>
            <a:r>
              <a:rPr sz="2175" spc="-44" baseline="-24904" dirty="0">
                <a:latin typeface="Times New Roman"/>
                <a:cs typeface="Times New Roman"/>
              </a:rPr>
              <a:t>2</a:t>
            </a:r>
            <a:r>
              <a:rPr sz="2500" i="1" spc="-30" dirty="0">
                <a:latin typeface="Times New Roman"/>
                <a:cs typeface="Times New Roman"/>
              </a:rPr>
              <a:t>b</a:t>
            </a:r>
            <a:r>
              <a:rPr sz="2175" spc="-44" baseline="-24904" dirty="0">
                <a:latin typeface="Times New Roman"/>
                <a:cs typeface="Times New Roman"/>
              </a:rPr>
              <a:t>1</a:t>
            </a:r>
            <a:r>
              <a:rPr sz="2500" i="1" spc="-30" dirty="0">
                <a:latin typeface="Times New Roman"/>
                <a:cs typeface="Times New Roman"/>
              </a:rPr>
              <a:t>b</a:t>
            </a:r>
            <a:r>
              <a:rPr sz="2175" spc="-44" baseline="-24904" dirty="0">
                <a:latin typeface="Times New Roman"/>
                <a:cs typeface="Times New Roman"/>
              </a:rPr>
              <a:t>0</a:t>
            </a:r>
            <a:endParaRPr sz="2175" baseline="-24904">
              <a:latin typeface="Times New Roman"/>
              <a:cs typeface="Times New Roman"/>
            </a:endParaRPr>
          </a:p>
          <a:p>
            <a:pPr marL="1133475">
              <a:lnSpc>
                <a:spcPct val="100000"/>
              </a:lnSpc>
              <a:spcBef>
                <a:spcPts val="1305"/>
              </a:spcBef>
            </a:pPr>
            <a:r>
              <a:rPr sz="2500" spc="65" dirty="0">
                <a:latin typeface="Symbol"/>
                <a:cs typeface="Symbol"/>
              </a:rPr>
              <a:t>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i="1" spc="-20" dirty="0">
                <a:latin typeface="Times New Roman"/>
                <a:cs typeface="Times New Roman"/>
              </a:rPr>
              <a:t>b</a:t>
            </a:r>
            <a:r>
              <a:rPr sz="2175" spc="-30" baseline="-24904" dirty="0">
                <a:latin typeface="Times New Roman"/>
                <a:cs typeface="Times New Roman"/>
              </a:rPr>
              <a:t>3</a:t>
            </a:r>
            <a:r>
              <a:rPr sz="2175" spc="-240" baseline="-24904" dirty="0">
                <a:latin typeface="Times New Roman"/>
                <a:cs typeface="Times New Roman"/>
              </a:rPr>
              <a:t> </a:t>
            </a:r>
            <a:r>
              <a:rPr sz="2500" i="1" spc="-25" dirty="0">
                <a:latin typeface="Times New Roman"/>
                <a:cs typeface="Times New Roman"/>
              </a:rPr>
              <a:t>b</a:t>
            </a:r>
            <a:r>
              <a:rPr sz="2175" spc="-37" baseline="-24904" dirty="0">
                <a:latin typeface="Times New Roman"/>
                <a:cs typeface="Times New Roman"/>
              </a:rPr>
              <a:t>2</a:t>
            </a:r>
            <a:r>
              <a:rPr sz="2500" i="1" spc="-25" dirty="0">
                <a:latin typeface="Times New Roman"/>
                <a:cs typeface="Times New Roman"/>
              </a:rPr>
              <a:t>b</a:t>
            </a:r>
            <a:r>
              <a:rPr sz="2175" spc="-37" baseline="-24904" dirty="0">
                <a:latin typeface="Times New Roman"/>
                <a:cs typeface="Times New Roman"/>
              </a:rPr>
              <a:t>1</a:t>
            </a:r>
            <a:r>
              <a:rPr sz="2175" spc="-277" baseline="-2490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(</a:t>
            </a:r>
            <a:r>
              <a:rPr sz="2500" i="1" dirty="0">
                <a:latin typeface="Times New Roman"/>
                <a:cs typeface="Times New Roman"/>
              </a:rPr>
              <a:t>b</a:t>
            </a:r>
            <a:r>
              <a:rPr sz="2175" baseline="-24904" dirty="0">
                <a:latin typeface="Times New Roman"/>
                <a:cs typeface="Times New Roman"/>
              </a:rPr>
              <a:t>0</a:t>
            </a:r>
            <a:r>
              <a:rPr sz="2175" spc="509" baseline="-24904" dirty="0">
                <a:latin typeface="Times New Roman"/>
                <a:cs typeface="Times New Roman"/>
              </a:rPr>
              <a:t> </a:t>
            </a:r>
            <a:r>
              <a:rPr sz="2500" spc="65" dirty="0">
                <a:latin typeface="Symbol"/>
                <a:cs typeface="Symbol"/>
              </a:rPr>
              <a:t></a:t>
            </a:r>
            <a:r>
              <a:rPr sz="2500" spc="-225" dirty="0">
                <a:latin typeface="Times New Roman"/>
                <a:cs typeface="Times New Roman"/>
              </a:rPr>
              <a:t> </a:t>
            </a:r>
            <a:r>
              <a:rPr sz="2500" i="1" spc="-10" dirty="0">
                <a:latin typeface="Times New Roman"/>
                <a:cs typeface="Times New Roman"/>
              </a:rPr>
              <a:t>b</a:t>
            </a:r>
            <a:r>
              <a:rPr sz="2175" spc="-15" baseline="-24904" dirty="0">
                <a:latin typeface="Times New Roman"/>
                <a:cs typeface="Times New Roman"/>
              </a:rPr>
              <a:t>0</a:t>
            </a:r>
            <a:r>
              <a:rPr sz="2175" spc="-104" baseline="-24904" dirty="0">
                <a:latin typeface="Times New Roman"/>
                <a:cs typeface="Times New Roman"/>
              </a:rPr>
              <a:t> </a:t>
            </a:r>
            <a:r>
              <a:rPr sz="2500" spc="40" dirty="0">
                <a:latin typeface="Times New Roman"/>
                <a:cs typeface="Times New Roman"/>
              </a:rPr>
              <a:t>)</a:t>
            </a:r>
            <a:r>
              <a:rPr sz="2500" spc="-185" dirty="0">
                <a:latin typeface="Times New Roman"/>
                <a:cs typeface="Times New Roman"/>
              </a:rPr>
              <a:t> </a:t>
            </a:r>
            <a:r>
              <a:rPr sz="2500" spc="65" dirty="0">
                <a:latin typeface="Symbol"/>
                <a:cs typeface="Symbol"/>
              </a:rPr>
              <a:t></a:t>
            </a:r>
            <a:r>
              <a:rPr sz="2500" spc="-225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b</a:t>
            </a:r>
            <a:r>
              <a:rPr sz="2175" baseline="-24904" dirty="0">
                <a:latin typeface="Times New Roman"/>
                <a:cs typeface="Times New Roman"/>
              </a:rPr>
              <a:t>3</a:t>
            </a:r>
            <a:r>
              <a:rPr sz="2500" i="1" dirty="0">
                <a:latin typeface="Times New Roman"/>
                <a:cs typeface="Times New Roman"/>
              </a:rPr>
              <a:t>b</a:t>
            </a:r>
            <a:r>
              <a:rPr sz="2175" baseline="-24904" dirty="0">
                <a:latin typeface="Times New Roman"/>
                <a:cs typeface="Times New Roman"/>
              </a:rPr>
              <a:t>2</a:t>
            </a:r>
            <a:r>
              <a:rPr sz="2500" i="1" dirty="0">
                <a:latin typeface="Times New Roman"/>
                <a:cs typeface="Times New Roman"/>
              </a:rPr>
              <a:t>b</a:t>
            </a:r>
            <a:r>
              <a:rPr sz="2175" baseline="-24904" dirty="0">
                <a:latin typeface="Times New Roman"/>
                <a:cs typeface="Times New Roman"/>
              </a:rPr>
              <a:t>0</a:t>
            </a:r>
            <a:r>
              <a:rPr sz="2175" spc="-104" baseline="-24904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(</a:t>
            </a:r>
            <a:r>
              <a:rPr sz="2500" i="1" spc="-50" dirty="0">
                <a:latin typeface="Times New Roman"/>
                <a:cs typeface="Times New Roman"/>
              </a:rPr>
              <a:t>b</a:t>
            </a:r>
            <a:r>
              <a:rPr sz="2175" spc="-75" baseline="-24904" dirty="0">
                <a:latin typeface="Times New Roman"/>
                <a:cs typeface="Times New Roman"/>
              </a:rPr>
              <a:t>1</a:t>
            </a:r>
            <a:r>
              <a:rPr sz="2175" spc="345" baseline="-24904" dirty="0">
                <a:latin typeface="Times New Roman"/>
                <a:cs typeface="Times New Roman"/>
              </a:rPr>
              <a:t> </a:t>
            </a:r>
            <a:r>
              <a:rPr sz="2500" spc="65" dirty="0">
                <a:latin typeface="Symbol"/>
                <a:cs typeface="Symbol"/>
              </a:rPr>
              <a:t></a:t>
            </a:r>
            <a:r>
              <a:rPr sz="2500" spc="-225" dirty="0">
                <a:latin typeface="Times New Roman"/>
                <a:cs typeface="Times New Roman"/>
              </a:rPr>
              <a:t> </a:t>
            </a:r>
            <a:r>
              <a:rPr sz="2500" i="1" spc="-80" dirty="0">
                <a:latin typeface="Times New Roman"/>
                <a:cs typeface="Times New Roman"/>
              </a:rPr>
              <a:t>b</a:t>
            </a:r>
            <a:r>
              <a:rPr sz="2175" spc="-120" baseline="-24904" dirty="0">
                <a:latin typeface="Times New Roman"/>
                <a:cs typeface="Times New Roman"/>
              </a:rPr>
              <a:t>1</a:t>
            </a:r>
            <a:r>
              <a:rPr sz="2175" spc="-284" baseline="-24904" dirty="0">
                <a:latin typeface="Times New Roman"/>
                <a:cs typeface="Times New Roman"/>
              </a:rPr>
              <a:t> </a:t>
            </a:r>
            <a:r>
              <a:rPr sz="2500" spc="40" dirty="0"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  <a:p>
            <a:pPr marL="1133475">
              <a:lnSpc>
                <a:spcPct val="100000"/>
              </a:lnSpc>
              <a:spcBef>
                <a:spcPts val="1310"/>
              </a:spcBef>
            </a:pPr>
            <a:r>
              <a:rPr sz="2500" spc="65" dirty="0">
                <a:latin typeface="Symbol"/>
                <a:cs typeface="Symbol"/>
              </a:rPr>
              <a:t>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i="1" spc="-20" dirty="0">
                <a:latin typeface="Times New Roman"/>
                <a:cs typeface="Times New Roman"/>
              </a:rPr>
              <a:t>b</a:t>
            </a:r>
            <a:r>
              <a:rPr sz="2175" spc="-30" baseline="-24904" dirty="0">
                <a:latin typeface="Times New Roman"/>
                <a:cs typeface="Times New Roman"/>
              </a:rPr>
              <a:t>3 </a:t>
            </a:r>
            <a:r>
              <a:rPr sz="2500" i="1" spc="-25" dirty="0">
                <a:latin typeface="Times New Roman"/>
                <a:cs typeface="Times New Roman"/>
              </a:rPr>
              <a:t>b</a:t>
            </a:r>
            <a:r>
              <a:rPr sz="2175" spc="-37" baseline="-24904" dirty="0">
                <a:latin typeface="Times New Roman"/>
                <a:cs typeface="Times New Roman"/>
              </a:rPr>
              <a:t>2</a:t>
            </a:r>
            <a:r>
              <a:rPr sz="2500" i="1" spc="-25" dirty="0">
                <a:latin typeface="Times New Roman"/>
                <a:cs typeface="Times New Roman"/>
              </a:rPr>
              <a:t>b</a:t>
            </a:r>
            <a:r>
              <a:rPr sz="2175" spc="-37" baseline="-24904" dirty="0">
                <a:latin typeface="Times New Roman"/>
                <a:cs typeface="Times New Roman"/>
              </a:rPr>
              <a:t>1 </a:t>
            </a:r>
            <a:r>
              <a:rPr sz="2500" spc="65" dirty="0">
                <a:latin typeface="Symbol"/>
                <a:cs typeface="Symbol"/>
              </a:rPr>
              <a:t></a:t>
            </a:r>
            <a:r>
              <a:rPr sz="2500" spc="-28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b</a:t>
            </a:r>
            <a:r>
              <a:rPr sz="2175" baseline="-24904" dirty="0">
                <a:latin typeface="Times New Roman"/>
                <a:cs typeface="Times New Roman"/>
              </a:rPr>
              <a:t>3</a:t>
            </a:r>
            <a:r>
              <a:rPr sz="2500" i="1" dirty="0">
                <a:latin typeface="Times New Roman"/>
                <a:cs typeface="Times New Roman"/>
              </a:rPr>
              <a:t>b</a:t>
            </a:r>
            <a:r>
              <a:rPr sz="2175" baseline="-24904" dirty="0">
                <a:latin typeface="Times New Roman"/>
                <a:cs typeface="Times New Roman"/>
              </a:rPr>
              <a:t>2</a:t>
            </a:r>
            <a:r>
              <a:rPr sz="2500" i="1" dirty="0">
                <a:latin typeface="Times New Roman"/>
                <a:cs typeface="Times New Roman"/>
              </a:rPr>
              <a:t>b</a:t>
            </a:r>
            <a:r>
              <a:rPr sz="2175" baseline="-24904" dirty="0">
                <a:latin typeface="Times New Roman"/>
                <a:cs typeface="Times New Roman"/>
              </a:rPr>
              <a:t>0</a:t>
            </a:r>
            <a:endParaRPr sz="2175" baseline="-24904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113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7860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代数法化简非完全描述逻辑函数</a:t>
            </a:r>
          </a:p>
        </p:txBody>
      </p:sp>
      <p:sp>
        <p:nvSpPr>
          <p:cNvPr id="3" name="object 3"/>
          <p:cNvSpPr/>
          <p:nvPr/>
        </p:nvSpPr>
        <p:spPr>
          <a:xfrm>
            <a:off x="1577210" y="2580464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4">
                <a:moveTo>
                  <a:pt x="0" y="0"/>
                </a:moveTo>
                <a:lnTo>
                  <a:pt x="238839" y="0"/>
                </a:lnTo>
              </a:path>
            </a:pathLst>
          </a:custGeom>
          <a:ln w="13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42121" y="2580464"/>
            <a:ext cx="241935" cy="0"/>
          </a:xfrm>
          <a:custGeom>
            <a:avLst/>
            <a:gdLst/>
            <a:ahLst/>
            <a:cxnLst/>
            <a:rect l="l" t="t" r="r" b="b"/>
            <a:pathLst>
              <a:path w="241935">
                <a:moveTo>
                  <a:pt x="0" y="0"/>
                </a:moveTo>
                <a:lnTo>
                  <a:pt x="241475" y="0"/>
                </a:lnTo>
              </a:path>
            </a:pathLst>
          </a:custGeom>
          <a:ln w="13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74981" y="2580464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4">
                <a:moveTo>
                  <a:pt x="0" y="0"/>
                </a:moveTo>
                <a:lnTo>
                  <a:pt x="238839" y="0"/>
                </a:lnTo>
              </a:path>
            </a:pathLst>
          </a:custGeom>
          <a:ln w="13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33309" y="2580464"/>
            <a:ext cx="241935" cy="0"/>
          </a:xfrm>
          <a:custGeom>
            <a:avLst/>
            <a:gdLst/>
            <a:ahLst/>
            <a:cxnLst/>
            <a:rect l="l" t="t" r="r" b="b"/>
            <a:pathLst>
              <a:path w="241935">
                <a:moveTo>
                  <a:pt x="0" y="0"/>
                </a:moveTo>
                <a:lnTo>
                  <a:pt x="241458" y="0"/>
                </a:lnTo>
              </a:path>
            </a:pathLst>
          </a:custGeom>
          <a:ln w="13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22297" y="2580464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3193" y="0"/>
                </a:lnTo>
              </a:path>
            </a:pathLst>
          </a:custGeom>
          <a:ln w="13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00309" y="2580464"/>
            <a:ext cx="241935" cy="0"/>
          </a:xfrm>
          <a:custGeom>
            <a:avLst/>
            <a:gdLst/>
            <a:ahLst/>
            <a:cxnLst/>
            <a:rect l="l" t="t" r="r" b="b"/>
            <a:pathLst>
              <a:path w="241935">
                <a:moveTo>
                  <a:pt x="0" y="0"/>
                </a:moveTo>
                <a:lnTo>
                  <a:pt x="241475" y="0"/>
                </a:lnTo>
              </a:path>
            </a:pathLst>
          </a:custGeom>
          <a:ln w="13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77210" y="3178422"/>
            <a:ext cx="241935" cy="0"/>
          </a:xfrm>
          <a:custGeom>
            <a:avLst/>
            <a:gdLst/>
            <a:ahLst/>
            <a:cxnLst/>
            <a:rect l="l" t="t" r="r" b="b"/>
            <a:pathLst>
              <a:path w="241935">
                <a:moveTo>
                  <a:pt x="0" y="0"/>
                </a:moveTo>
                <a:lnTo>
                  <a:pt x="241475" y="0"/>
                </a:lnTo>
              </a:path>
            </a:pathLst>
          </a:custGeom>
          <a:ln w="13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71282" y="3178422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4">
                <a:moveTo>
                  <a:pt x="0" y="0"/>
                </a:moveTo>
                <a:lnTo>
                  <a:pt x="238873" y="0"/>
                </a:lnTo>
              </a:path>
            </a:pathLst>
          </a:custGeom>
          <a:ln w="13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44975" y="3178422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3193" y="0"/>
                </a:lnTo>
              </a:path>
            </a:pathLst>
          </a:custGeom>
          <a:ln w="13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77210" y="3776364"/>
            <a:ext cx="241935" cy="0"/>
          </a:xfrm>
          <a:custGeom>
            <a:avLst/>
            <a:gdLst/>
            <a:ahLst/>
            <a:cxnLst/>
            <a:rect l="l" t="t" r="r" b="b"/>
            <a:pathLst>
              <a:path w="241935">
                <a:moveTo>
                  <a:pt x="0" y="0"/>
                </a:moveTo>
                <a:lnTo>
                  <a:pt x="241475" y="0"/>
                </a:lnTo>
              </a:path>
            </a:pathLst>
          </a:custGeom>
          <a:ln w="139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80665" y="2380437"/>
            <a:ext cx="2962275" cy="12217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438784" indent="-278765">
              <a:lnSpc>
                <a:spcPct val="100000"/>
              </a:lnSpc>
              <a:spcBef>
                <a:spcPts val="1505"/>
              </a:spcBef>
              <a:buSzPct val="94545"/>
              <a:buFont typeface="Symbol"/>
              <a:buChar char=""/>
              <a:tabLst>
                <a:tab pos="439420" algn="l"/>
                <a:tab pos="1627505" algn="l"/>
              </a:tabLst>
            </a:pPr>
            <a:r>
              <a:rPr sz="2750" i="1" spc="-490" dirty="0">
                <a:latin typeface="宋体"/>
                <a:cs typeface="宋体"/>
              </a:rPr>
              <a:t>b</a:t>
            </a:r>
            <a:r>
              <a:rPr sz="2250" spc="-735" baseline="-24074" dirty="0">
                <a:latin typeface="宋体"/>
                <a:cs typeface="宋体"/>
              </a:rPr>
              <a:t>3</a:t>
            </a:r>
            <a:r>
              <a:rPr sz="2750" i="1" spc="-490" dirty="0">
                <a:latin typeface="宋体"/>
                <a:cs typeface="宋体"/>
              </a:rPr>
              <a:t>b</a:t>
            </a:r>
            <a:r>
              <a:rPr sz="2250" spc="-735" baseline="-24074" dirty="0">
                <a:latin typeface="宋体"/>
                <a:cs typeface="宋体"/>
              </a:rPr>
              <a:t>2</a:t>
            </a:r>
            <a:r>
              <a:rPr sz="2750" i="1" spc="-490" dirty="0">
                <a:latin typeface="宋体"/>
                <a:cs typeface="宋体"/>
              </a:rPr>
              <a:t>b</a:t>
            </a:r>
            <a:r>
              <a:rPr sz="2250" spc="-735" baseline="-24074" dirty="0">
                <a:latin typeface="宋体"/>
                <a:cs typeface="宋体"/>
              </a:rPr>
              <a:t>1</a:t>
            </a:r>
            <a:r>
              <a:rPr sz="2750" i="1" spc="-490" dirty="0">
                <a:latin typeface="宋体"/>
                <a:cs typeface="宋体"/>
              </a:rPr>
              <a:t>b</a:t>
            </a:r>
            <a:r>
              <a:rPr sz="2250" spc="-735" baseline="-24074" dirty="0">
                <a:latin typeface="宋体"/>
                <a:cs typeface="宋体"/>
              </a:rPr>
              <a:t>0	</a:t>
            </a:r>
            <a:r>
              <a:rPr sz="2600" spc="10" dirty="0">
                <a:latin typeface="Symbol"/>
                <a:cs typeface="Symbol"/>
              </a:rPr>
              <a:t>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750" i="1" spc="-480" dirty="0">
                <a:latin typeface="宋体"/>
                <a:cs typeface="宋体"/>
              </a:rPr>
              <a:t>bbbb</a:t>
            </a:r>
            <a:r>
              <a:rPr sz="2250" spc="-719" baseline="-24074" dirty="0">
                <a:latin typeface="宋体"/>
                <a:cs typeface="宋体"/>
              </a:rPr>
              <a:t>3</a:t>
            </a:r>
            <a:endParaRPr sz="2250" baseline="-24074">
              <a:latin typeface="宋体"/>
              <a:cs typeface="宋体"/>
            </a:endParaRPr>
          </a:p>
          <a:p>
            <a:pPr marL="328295" indent="-278130">
              <a:lnSpc>
                <a:spcPct val="100000"/>
              </a:lnSpc>
              <a:spcBef>
                <a:spcPts val="1405"/>
              </a:spcBef>
              <a:buSzPct val="94545"/>
              <a:buFont typeface="Symbol"/>
              <a:buChar char=""/>
              <a:tabLst>
                <a:tab pos="328930" algn="l"/>
              </a:tabLst>
            </a:pPr>
            <a:r>
              <a:rPr sz="2750" i="1" spc="-65" dirty="0">
                <a:latin typeface="宋体"/>
                <a:cs typeface="宋体"/>
              </a:rPr>
              <a:t>b</a:t>
            </a:r>
            <a:endParaRPr sz="275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55841" y="2380437"/>
            <a:ext cx="2379345" cy="181927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505"/>
              </a:spcBef>
              <a:tabLst>
                <a:tab pos="1292225" algn="l"/>
              </a:tabLst>
            </a:pPr>
            <a:r>
              <a:rPr sz="2600" spc="10" dirty="0">
                <a:latin typeface="Symbol"/>
                <a:cs typeface="Symbol"/>
              </a:rPr>
              <a:t></a:t>
            </a:r>
            <a:r>
              <a:rPr sz="2600" spc="350" dirty="0">
                <a:latin typeface="Times New Roman"/>
                <a:cs typeface="Times New Roman"/>
              </a:rPr>
              <a:t> </a:t>
            </a:r>
            <a:r>
              <a:rPr sz="2750" i="1" spc="-495" dirty="0">
                <a:latin typeface="宋体"/>
                <a:cs typeface="宋体"/>
              </a:rPr>
              <a:t>b</a:t>
            </a:r>
            <a:r>
              <a:rPr sz="2250" spc="-742" baseline="-24074" dirty="0">
                <a:latin typeface="宋体"/>
                <a:cs typeface="宋体"/>
              </a:rPr>
              <a:t>3</a:t>
            </a:r>
            <a:r>
              <a:rPr sz="2750" i="1" spc="-495" dirty="0">
                <a:latin typeface="宋体"/>
                <a:cs typeface="宋体"/>
              </a:rPr>
              <a:t>b</a:t>
            </a:r>
            <a:r>
              <a:rPr sz="2250" spc="-742" baseline="-24074" dirty="0">
                <a:latin typeface="宋体"/>
                <a:cs typeface="宋体"/>
              </a:rPr>
              <a:t>2</a:t>
            </a:r>
            <a:r>
              <a:rPr sz="2750" i="1" spc="-495" dirty="0">
                <a:latin typeface="宋体"/>
                <a:cs typeface="宋体"/>
              </a:rPr>
              <a:t>b</a:t>
            </a:r>
            <a:r>
              <a:rPr sz="2250" spc="-742" baseline="-24074" dirty="0">
                <a:latin typeface="宋体"/>
                <a:cs typeface="宋体"/>
              </a:rPr>
              <a:t>1	</a:t>
            </a:r>
            <a:r>
              <a:rPr sz="2600" spc="10" dirty="0">
                <a:latin typeface="Symbol"/>
                <a:cs typeface="Symbol"/>
              </a:rPr>
              <a:t>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750" i="1" spc="-509" dirty="0">
                <a:latin typeface="宋体"/>
                <a:cs typeface="宋体"/>
              </a:rPr>
              <a:t>b</a:t>
            </a:r>
            <a:r>
              <a:rPr sz="2250" spc="-765" baseline="-24074" dirty="0">
                <a:latin typeface="宋体"/>
                <a:cs typeface="宋体"/>
              </a:rPr>
              <a:t>3</a:t>
            </a:r>
            <a:r>
              <a:rPr sz="2750" i="1" spc="-509" dirty="0">
                <a:latin typeface="宋体"/>
                <a:cs typeface="宋体"/>
              </a:rPr>
              <a:t>b</a:t>
            </a:r>
            <a:r>
              <a:rPr sz="2250" spc="-765" baseline="-24074" dirty="0">
                <a:latin typeface="宋体"/>
                <a:cs typeface="宋体"/>
              </a:rPr>
              <a:t>2</a:t>
            </a:r>
            <a:r>
              <a:rPr sz="2750" i="1" spc="-509" dirty="0">
                <a:latin typeface="宋体"/>
                <a:cs typeface="宋体"/>
              </a:rPr>
              <a:t>b</a:t>
            </a:r>
            <a:r>
              <a:rPr sz="2250" spc="-765" baseline="-24074" dirty="0">
                <a:latin typeface="宋体"/>
                <a:cs typeface="宋体"/>
              </a:rPr>
              <a:t>0</a:t>
            </a:r>
            <a:endParaRPr sz="2250" baseline="-24074">
              <a:latin typeface="宋体"/>
              <a:cs typeface="宋体"/>
            </a:endParaRPr>
          </a:p>
          <a:p>
            <a:pPr marL="63500">
              <a:lnSpc>
                <a:spcPct val="100000"/>
              </a:lnSpc>
              <a:spcBef>
                <a:spcPts val="1405"/>
              </a:spcBef>
              <a:tabLst>
                <a:tab pos="1397000" algn="l"/>
              </a:tabLst>
            </a:pPr>
            <a:r>
              <a:rPr sz="2600" spc="10" dirty="0">
                <a:latin typeface="Symbol"/>
                <a:cs typeface="Symbol"/>
              </a:rPr>
              <a:t></a:t>
            </a:r>
            <a:r>
              <a:rPr sz="2600" spc="350" dirty="0">
                <a:latin typeface="Times New Roman"/>
                <a:cs typeface="Times New Roman"/>
              </a:rPr>
              <a:t> </a:t>
            </a:r>
            <a:r>
              <a:rPr sz="2750" i="1" spc="-500" dirty="0">
                <a:latin typeface="宋体"/>
                <a:cs typeface="宋体"/>
              </a:rPr>
              <a:t>bb</a:t>
            </a:r>
            <a:r>
              <a:rPr sz="2600" spc="-500" dirty="0">
                <a:latin typeface="宋体"/>
                <a:cs typeface="宋体"/>
              </a:rPr>
              <a:t>(</a:t>
            </a:r>
            <a:r>
              <a:rPr sz="2750" i="1" spc="-500" dirty="0">
                <a:latin typeface="宋体"/>
                <a:cs typeface="宋体"/>
              </a:rPr>
              <a:t>b</a:t>
            </a:r>
            <a:r>
              <a:rPr sz="2250" spc="-750" baseline="-24074" dirty="0">
                <a:latin typeface="宋体"/>
                <a:cs typeface="宋体"/>
              </a:rPr>
              <a:t>312	</a:t>
            </a:r>
            <a:r>
              <a:rPr sz="2600" spc="10" dirty="0">
                <a:latin typeface="Symbol"/>
                <a:cs typeface="Symbol"/>
              </a:rPr>
              <a:t>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750" i="1" spc="-440" dirty="0">
                <a:latin typeface="宋体"/>
                <a:cs typeface="宋体"/>
              </a:rPr>
              <a:t>b</a:t>
            </a:r>
            <a:r>
              <a:rPr sz="2250" spc="-660" baseline="-24074" dirty="0">
                <a:latin typeface="宋体"/>
                <a:cs typeface="宋体"/>
              </a:rPr>
              <a:t>3</a:t>
            </a:r>
            <a:r>
              <a:rPr sz="2750" i="1" spc="-440" dirty="0">
                <a:latin typeface="宋体"/>
                <a:cs typeface="宋体"/>
              </a:rPr>
              <a:t>b</a:t>
            </a:r>
            <a:r>
              <a:rPr sz="2250" spc="-660" baseline="-24074" dirty="0">
                <a:latin typeface="宋体"/>
                <a:cs typeface="宋体"/>
              </a:rPr>
              <a:t>0</a:t>
            </a:r>
            <a:endParaRPr sz="2250" baseline="-24074">
              <a:latin typeface="宋体"/>
              <a:cs typeface="宋体"/>
            </a:endParaRPr>
          </a:p>
          <a:p>
            <a:pPr marL="63500">
              <a:lnSpc>
                <a:spcPct val="100000"/>
              </a:lnSpc>
              <a:spcBef>
                <a:spcPts val="1410"/>
              </a:spcBef>
            </a:pPr>
            <a:r>
              <a:rPr sz="2600" spc="10" dirty="0">
                <a:latin typeface="Symbol"/>
                <a:cs typeface="Symbol"/>
              </a:rPr>
              <a:t></a:t>
            </a:r>
            <a:r>
              <a:rPr sz="2600" spc="335" dirty="0">
                <a:latin typeface="Times New Roman"/>
                <a:cs typeface="Times New Roman"/>
              </a:rPr>
              <a:t> </a:t>
            </a:r>
            <a:r>
              <a:rPr sz="2750" i="1" spc="-65" dirty="0">
                <a:latin typeface="宋体"/>
                <a:cs typeface="宋体"/>
              </a:rPr>
              <a:t>b</a:t>
            </a:r>
            <a:endParaRPr sz="275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8640" y="884003"/>
            <a:ext cx="8758555" cy="1509395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90"/>
              </a:spcBef>
            </a:pPr>
            <a:r>
              <a:rPr sz="2800" spc="-5" dirty="0">
                <a:latin typeface="Arial"/>
                <a:cs typeface="Arial"/>
              </a:rPr>
              <a:t>2</a:t>
            </a:r>
            <a:r>
              <a:rPr sz="2800" spc="-5" dirty="0">
                <a:latin typeface="微软雅黑"/>
                <a:cs typeface="微软雅黑"/>
              </a:rPr>
              <a:t>）再考虑</a:t>
            </a:r>
            <a:r>
              <a:rPr sz="2800" spc="-15" dirty="0">
                <a:latin typeface="微软雅黑"/>
                <a:cs typeface="微软雅黑"/>
              </a:rPr>
              <a:t>将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微软雅黑"/>
                <a:cs typeface="微软雅黑"/>
              </a:rPr>
              <a:t>无关最小</a:t>
            </a:r>
            <a:r>
              <a:rPr sz="2800" spc="-15" dirty="0">
                <a:latin typeface="微软雅黑"/>
                <a:cs typeface="微软雅黑"/>
              </a:rPr>
              <a:t>项</a:t>
            </a:r>
            <a:r>
              <a:rPr sz="2800" spc="-5" dirty="0">
                <a:latin typeface="Arial"/>
                <a:cs typeface="Arial"/>
              </a:rPr>
              <a:t>”</a:t>
            </a:r>
            <a:r>
              <a:rPr sz="2800" spc="-5" dirty="0">
                <a:latin typeface="微软雅黑"/>
                <a:cs typeface="微软雅黑"/>
              </a:rPr>
              <a:t>的</a:t>
            </a:r>
            <a:r>
              <a:rPr sz="2800" spc="10" dirty="0">
                <a:latin typeface="Arial"/>
                <a:cs typeface="Arial"/>
              </a:rPr>
              <a:t>d</a:t>
            </a:r>
            <a:r>
              <a:rPr sz="2775" spc="15" baseline="-21021" dirty="0">
                <a:latin typeface="Arial"/>
                <a:cs typeface="Arial"/>
              </a:rPr>
              <a:t>10</a:t>
            </a:r>
            <a:r>
              <a:rPr sz="2800" spc="-5" dirty="0">
                <a:latin typeface="微软雅黑"/>
                <a:cs typeface="微软雅黑"/>
              </a:rPr>
              <a:t>、</a:t>
            </a:r>
            <a:r>
              <a:rPr sz="2800" spc="5" dirty="0">
                <a:latin typeface="Arial"/>
                <a:cs typeface="Arial"/>
              </a:rPr>
              <a:t>d</a:t>
            </a:r>
            <a:r>
              <a:rPr sz="2775" spc="7" baseline="-21021" dirty="0">
                <a:latin typeface="Arial"/>
                <a:cs typeface="Arial"/>
              </a:rPr>
              <a:t>11</a:t>
            </a:r>
            <a:r>
              <a:rPr sz="2800" spc="-5" dirty="0">
                <a:latin typeface="微软雅黑"/>
                <a:cs typeface="微软雅黑"/>
              </a:rPr>
              <a:t>、</a:t>
            </a:r>
            <a:r>
              <a:rPr sz="2800" spc="5" dirty="0">
                <a:latin typeface="Arial"/>
                <a:cs typeface="Arial"/>
              </a:rPr>
              <a:t>d</a:t>
            </a:r>
            <a:r>
              <a:rPr sz="2775" spc="7" baseline="-21021" dirty="0">
                <a:latin typeface="Arial"/>
                <a:cs typeface="Arial"/>
              </a:rPr>
              <a:t>13</a:t>
            </a:r>
            <a:r>
              <a:rPr sz="2800" spc="-5" dirty="0">
                <a:latin typeface="微软雅黑"/>
                <a:cs typeface="微软雅黑"/>
              </a:rPr>
              <a:t>、</a:t>
            </a:r>
            <a:r>
              <a:rPr sz="2800" spc="5" dirty="0">
                <a:latin typeface="Arial"/>
                <a:cs typeface="Arial"/>
              </a:rPr>
              <a:t>d</a:t>
            </a:r>
            <a:r>
              <a:rPr sz="2775" spc="7" baseline="-21021" dirty="0">
                <a:latin typeface="Arial"/>
                <a:cs typeface="Arial"/>
              </a:rPr>
              <a:t>15</a:t>
            </a:r>
            <a:r>
              <a:rPr sz="2800" spc="-5" dirty="0">
                <a:latin typeface="微软雅黑"/>
                <a:cs typeface="微软雅黑"/>
              </a:rPr>
              <a:t>加入上式</a:t>
            </a:r>
            <a:endParaRPr sz="2800">
              <a:latin typeface="微软雅黑"/>
              <a:cs typeface="微软雅黑"/>
            </a:endParaRPr>
          </a:p>
          <a:p>
            <a:pPr marL="251460">
              <a:lnSpc>
                <a:spcPct val="100000"/>
              </a:lnSpc>
              <a:spcBef>
                <a:spcPts val="2140"/>
              </a:spcBef>
              <a:tabLst>
                <a:tab pos="1022350" algn="l"/>
                <a:tab pos="3155950" algn="l"/>
              </a:tabLst>
            </a:pPr>
            <a:r>
              <a:rPr sz="2750" i="1" spc="-65" dirty="0">
                <a:latin typeface="宋体"/>
                <a:cs typeface="宋体"/>
              </a:rPr>
              <a:t>F</a:t>
            </a:r>
            <a:r>
              <a:rPr sz="2750" i="1" spc="-265" dirty="0">
                <a:latin typeface="宋体"/>
                <a:cs typeface="宋体"/>
              </a:rPr>
              <a:t> </a:t>
            </a:r>
            <a:r>
              <a:rPr sz="2600" spc="10" dirty="0">
                <a:latin typeface="Symbol"/>
                <a:cs typeface="Symbol"/>
              </a:rPr>
              <a:t></a:t>
            </a:r>
            <a:r>
              <a:rPr sz="2600" spc="10" dirty="0">
                <a:latin typeface="Times New Roman"/>
                <a:cs typeface="Times New Roman"/>
              </a:rPr>
              <a:t>	</a:t>
            </a:r>
            <a:r>
              <a:rPr sz="5850" spc="30" baseline="-8547" dirty="0">
                <a:latin typeface="Symbol"/>
                <a:cs typeface="Symbol"/>
              </a:rPr>
              <a:t></a:t>
            </a:r>
            <a:r>
              <a:rPr sz="5850" spc="-622" baseline="-8547" dirty="0">
                <a:latin typeface="Times New Roman"/>
                <a:cs typeface="Times New Roman"/>
              </a:rPr>
              <a:t> </a:t>
            </a:r>
            <a:r>
              <a:rPr sz="2750" i="1" spc="-365" dirty="0">
                <a:latin typeface="宋体"/>
                <a:cs typeface="宋体"/>
              </a:rPr>
              <a:t>m</a:t>
            </a:r>
            <a:r>
              <a:rPr sz="2600" spc="-365" dirty="0">
                <a:latin typeface="宋体"/>
                <a:cs typeface="宋体"/>
              </a:rPr>
              <a:t>(2,3,5,7)</a:t>
            </a:r>
            <a:r>
              <a:rPr sz="2600" spc="-750" dirty="0">
                <a:latin typeface="宋体"/>
                <a:cs typeface="宋体"/>
              </a:rPr>
              <a:t> </a:t>
            </a:r>
            <a:r>
              <a:rPr sz="2600" spc="10" dirty="0">
                <a:latin typeface="Symbol"/>
                <a:cs typeface="Symbol"/>
              </a:rPr>
              <a:t></a:t>
            </a:r>
            <a:r>
              <a:rPr sz="2600" spc="10" dirty="0">
                <a:latin typeface="Times New Roman"/>
                <a:cs typeface="Times New Roman"/>
              </a:rPr>
              <a:t>	</a:t>
            </a:r>
            <a:r>
              <a:rPr sz="5850" spc="-375" baseline="-8547" dirty="0">
                <a:latin typeface="Symbol"/>
                <a:cs typeface="Symbol"/>
              </a:rPr>
              <a:t></a:t>
            </a:r>
            <a:r>
              <a:rPr sz="2750" i="1" spc="-250" dirty="0">
                <a:latin typeface="宋体"/>
                <a:cs typeface="宋体"/>
              </a:rPr>
              <a:t>d</a:t>
            </a:r>
            <a:r>
              <a:rPr sz="2600" spc="-250" dirty="0">
                <a:latin typeface="宋体"/>
                <a:cs typeface="宋体"/>
              </a:rPr>
              <a:t>(10,11,13,15)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3222" y="4581905"/>
            <a:ext cx="8569960" cy="1369060"/>
          </a:xfrm>
          <a:custGeom>
            <a:avLst/>
            <a:gdLst/>
            <a:ahLst/>
            <a:cxnLst/>
            <a:rect l="l" t="t" r="r" b="b"/>
            <a:pathLst>
              <a:path w="8569960" h="1369060">
                <a:moveTo>
                  <a:pt x="0" y="228092"/>
                </a:moveTo>
                <a:lnTo>
                  <a:pt x="4634" y="182119"/>
                </a:lnTo>
                <a:lnTo>
                  <a:pt x="17924" y="139303"/>
                </a:lnTo>
                <a:lnTo>
                  <a:pt x="38954" y="100558"/>
                </a:lnTo>
                <a:lnTo>
                  <a:pt x="66806" y="66802"/>
                </a:lnTo>
                <a:lnTo>
                  <a:pt x="100563" y="38951"/>
                </a:lnTo>
                <a:lnTo>
                  <a:pt x="139308" y="17922"/>
                </a:lnTo>
                <a:lnTo>
                  <a:pt x="182123" y="4633"/>
                </a:lnTo>
                <a:lnTo>
                  <a:pt x="228091" y="0"/>
                </a:lnTo>
                <a:lnTo>
                  <a:pt x="8341359" y="0"/>
                </a:lnTo>
                <a:lnTo>
                  <a:pt x="8387332" y="4633"/>
                </a:lnTo>
                <a:lnTo>
                  <a:pt x="8430148" y="17922"/>
                </a:lnTo>
                <a:lnTo>
                  <a:pt x="8468893" y="38951"/>
                </a:lnTo>
                <a:lnTo>
                  <a:pt x="8502650" y="66802"/>
                </a:lnTo>
                <a:lnTo>
                  <a:pt x="8530500" y="100558"/>
                </a:lnTo>
                <a:lnTo>
                  <a:pt x="8551529" y="139303"/>
                </a:lnTo>
                <a:lnTo>
                  <a:pt x="8564818" y="182119"/>
                </a:lnTo>
                <a:lnTo>
                  <a:pt x="8569452" y="228092"/>
                </a:lnTo>
                <a:lnTo>
                  <a:pt x="8569452" y="1140447"/>
                </a:lnTo>
                <a:lnTo>
                  <a:pt x="8564818" y="1186419"/>
                </a:lnTo>
                <a:lnTo>
                  <a:pt x="8551529" y="1229238"/>
                </a:lnTo>
                <a:lnTo>
                  <a:pt x="8530500" y="1267985"/>
                </a:lnTo>
                <a:lnTo>
                  <a:pt x="8502650" y="1301743"/>
                </a:lnTo>
                <a:lnTo>
                  <a:pt x="8468893" y="1329596"/>
                </a:lnTo>
                <a:lnTo>
                  <a:pt x="8430148" y="1350627"/>
                </a:lnTo>
                <a:lnTo>
                  <a:pt x="8387332" y="1363917"/>
                </a:lnTo>
                <a:lnTo>
                  <a:pt x="8341359" y="1368552"/>
                </a:lnTo>
                <a:lnTo>
                  <a:pt x="228091" y="1368552"/>
                </a:lnTo>
                <a:lnTo>
                  <a:pt x="182123" y="1363917"/>
                </a:lnTo>
                <a:lnTo>
                  <a:pt x="139308" y="1350627"/>
                </a:lnTo>
                <a:lnTo>
                  <a:pt x="100563" y="1329596"/>
                </a:lnTo>
                <a:lnTo>
                  <a:pt x="66806" y="1301743"/>
                </a:lnTo>
                <a:lnTo>
                  <a:pt x="38954" y="1267985"/>
                </a:lnTo>
                <a:lnTo>
                  <a:pt x="17924" y="1229238"/>
                </a:lnTo>
                <a:lnTo>
                  <a:pt x="4634" y="1186419"/>
                </a:lnTo>
                <a:lnTo>
                  <a:pt x="0" y="1140447"/>
                </a:lnTo>
                <a:lnTo>
                  <a:pt x="0" y="228092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78255" y="4671441"/>
            <a:ext cx="822388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所有加进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与或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表达式的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无关最小项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，相当于确认他们对应 的逻辑函数为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；舍弃的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无关最小</a:t>
            </a:r>
            <a:r>
              <a:rPr sz="2400" spc="-10" dirty="0">
                <a:solidFill>
                  <a:srgbClr val="0000FF"/>
                </a:solidFill>
                <a:latin typeface="微软雅黑"/>
                <a:cs typeface="微软雅黑"/>
              </a:rPr>
              <a:t>项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，相当于确认它们对应 的逻辑函数值为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“0”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114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8416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用卡诺图化简非完全描述逻辑</a:t>
            </a:r>
            <a:r>
              <a:rPr spc="-20" dirty="0"/>
              <a:t>函</a:t>
            </a:r>
            <a:r>
              <a:rPr spc="5" dirty="0"/>
              <a:t>数</a:t>
            </a:r>
          </a:p>
        </p:txBody>
      </p:sp>
      <p:sp>
        <p:nvSpPr>
          <p:cNvPr id="3" name="object 3"/>
          <p:cNvSpPr/>
          <p:nvPr/>
        </p:nvSpPr>
        <p:spPr>
          <a:xfrm>
            <a:off x="1065275" y="2781300"/>
            <a:ext cx="504190" cy="432434"/>
          </a:xfrm>
          <a:custGeom>
            <a:avLst/>
            <a:gdLst/>
            <a:ahLst/>
            <a:cxnLst/>
            <a:rect l="l" t="t" r="r" b="b"/>
            <a:pathLst>
              <a:path w="504190" h="432435">
                <a:moveTo>
                  <a:pt x="0" y="0"/>
                </a:moveTo>
                <a:lnTo>
                  <a:pt x="504063" y="43205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62227" y="3212973"/>
          <a:ext cx="2664459" cy="20162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552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987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425">
                <a:tc>
                  <a:txBody>
                    <a:bodyPr/>
                    <a:lstStyle/>
                    <a:p>
                      <a:pPr marL="8826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104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1770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53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0820" algn="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9710" algn="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719">
                <a:tc>
                  <a:txBody>
                    <a:bodyPr/>
                    <a:lstStyle/>
                    <a:p>
                      <a:pPr marL="10160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9390" algn="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48640" y="1073911"/>
            <a:ext cx="7064375" cy="1881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3260"/>
              </a:lnSpc>
              <a:spcBef>
                <a:spcPts val="95"/>
              </a:spcBef>
            </a:pPr>
            <a:r>
              <a:rPr sz="2800" spc="-5" dirty="0">
                <a:latin typeface="微软雅黑"/>
                <a:cs typeface="微软雅黑"/>
              </a:rPr>
              <a:t>例：化</a:t>
            </a:r>
            <a:r>
              <a:rPr sz="2800" spc="-15" dirty="0">
                <a:latin typeface="微软雅黑"/>
                <a:cs typeface="微软雅黑"/>
              </a:rPr>
              <a:t>简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微软雅黑"/>
                <a:cs typeface="微软雅黑"/>
              </a:rPr>
              <a:t>一位十进制数质数探测</a:t>
            </a:r>
            <a:r>
              <a:rPr sz="2800" dirty="0">
                <a:latin typeface="微软雅黑"/>
                <a:cs typeface="微软雅黑"/>
              </a:rPr>
              <a:t>器</a:t>
            </a:r>
            <a:r>
              <a:rPr sz="2800" spc="10" dirty="0">
                <a:latin typeface="Arial"/>
                <a:cs typeface="Arial"/>
              </a:rPr>
              <a:t>”</a:t>
            </a:r>
            <a:r>
              <a:rPr sz="2800" spc="-5" dirty="0">
                <a:latin typeface="微软雅黑"/>
                <a:cs typeface="微软雅黑"/>
              </a:rPr>
              <a:t>逻辑</a:t>
            </a:r>
            <a:r>
              <a:rPr sz="2800" dirty="0">
                <a:latin typeface="微软雅黑"/>
                <a:cs typeface="微软雅黑"/>
              </a:rPr>
              <a:t>函</a:t>
            </a:r>
            <a:r>
              <a:rPr sz="2800" spc="-5" dirty="0">
                <a:latin typeface="微软雅黑"/>
                <a:cs typeface="微软雅黑"/>
              </a:rPr>
              <a:t>数</a:t>
            </a:r>
            <a:endParaRPr sz="2800">
              <a:latin typeface="微软雅黑"/>
              <a:cs typeface="微软雅黑"/>
            </a:endParaRPr>
          </a:p>
          <a:p>
            <a:pPr marL="941705" algn="ctr">
              <a:lnSpc>
                <a:spcPts val="4760"/>
              </a:lnSpc>
            </a:pPr>
            <a:r>
              <a:rPr sz="2700" i="1" spc="20" dirty="0">
                <a:latin typeface="Times New Roman"/>
                <a:cs typeface="Times New Roman"/>
              </a:rPr>
              <a:t>F</a:t>
            </a:r>
            <a:r>
              <a:rPr sz="2700" i="1" spc="195" dirty="0">
                <a:latin typeface="Times New Roman"/>
                <a:cs typeface="Times New Roman"/>
              </a:rPr>
              <a:t> </a:t>
            </a:r>
            <a:r>
              <a:rPr sz="2700" spc="20" dirty="0">
                <a:latin typeface="Symbol"/>
                <a:cs typeface="Symbol"/>
              </a:rPr>
              <a:t>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6075" spc="30" baseline="-8916" dirty="0">
                <a:latin typeface="Symbol"/>
                <a:cs typeface="Symbol"/>
              </a:rPr>
              <a:t></a:t>
            </a:r>
            <a:r>
              <a:rPr sz="2700" i="1" spc="20" dirty="0">
                <a:latin typeface="Times New Roman"/>
                <a:cs typeface="Times New Roman"/>
              </a:rPr>
              <a:t>m</a:t>
            </a:r>
            <a:r>
              <a:rPr sz="2700" spc="20" dirty="0">
                <a:latin typeface="Times New Roman"/>
                <a:cs typeface="Times New Roman"/>
              </a:rPr>
              <a:t>(2,3,5,7)</a:t>
            </a:r>
            <a:r>
              <a:rPr sz="2700" spc="-235" dirty="0">
                <a:latin typeface="Times New Roman"/>
                <a:cs typeface="Times New Roman"/>
              </a:rPr>
              <a:t> </a:t>
            </a:r>
            <a:r>
              <a:rPr sz="2700" spc="20" dirty="0">
                <a:latin typeface="Symbol"/>
                <a:cs typeface="Symbol"/>
              </a:rPr>
              <a:t></a:t>
            </a:r>
            <a:r>
              <a:rPr sz="2700" spc="-180" dirty="0">
                <a:latin typeface="Times New Roman"/>
                <a:cs typeface="Times New Roman"/>
              </a:rPr>
              <a:t> </a:t>
            </a:r>
            <a:r>
              <a:rPr sz="2700" i="1" spc="15" dirty="0">
                <a:latin typeface="Times New Roman"/>
                <a:cs typeface="Times New Roman"/>
              </a:rPr>
              <a:t>d</a:t>
            </a:r>
            <a:r>
              <a:rPr sz="2700" i="1" spc="-390" dirty="0">
                <a:latin typeface="Times New Roman"/>
                <a:cs typeface="Times New Roman"/>
              </a:rPr>
              <a:t> </a:t>
            </a:r>
            <a:r>
              <a:rPr sz="2700" spc="-105" dirty="0">
                <a:latin typeface="Times New Roman"/>
                <a:cs typeface="Times New Roman"/>
              </a:rPr>
              <a:t>(10,11,12,13,14,15)</a:t>
            </a: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850">
              <a:latin typeface="Times New Roman"/>
              <a:cs typeface="Times New Roman"/>
            </a:endParaRPr>
          </a:p>
          <a:p>
            <a:pPr marL="67945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b</a:t>
            </a:r>
            <a:r>
              <a:rPr sz="1800" spc="-7" baseline="-20833" dirty="0"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b</a:t>
            </a:r>
            <a:r>
              <a:rPr sz="1800" spc="-7" baseline="-20833" dirty="0">
                <a:latin typeface="Arial"/>
                <a:cs typeface="Arial"/>
              </a:rPr>
              <a:t>0</a:t>
            </a:r>
            <a:endParaRPr sz="1800" baseline="-20833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7750" y="2880486"/>
            <a:ext cx="3181350" cy="2137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938530" algn="l"/>
                <a:tab pos="1637664" algn="l"/>
                <a:tab pos="2270760" algn="l"/>
                <a:tab pos="2888615" algn="l"/>
              </a:tabLst>
            </a:pPr>
            <a:r>
              <a:rPr sz="1800" spc="-5" dirty="0">
                <a:latin typeface="Arial"/>
                <a:cs typeface="Arial"/>
              </a:rPr>
              <a:t>b</a:t>
            </a:r>
            <a:r>
              <a:rPr sz="1800" spc="-7" baseline="-20833" dirty="0">
                <a:latin typeface="Arial"/>
                <a:cs typeface="Arial"/>
              </a:rPr>
              <a:t>3</a:t>
            </a:r>
            <a:r>
              <a:rPr sz="1800" spc="-5" dirty="0">
                <a:latin typeface="Arial"/>
                <a:cs typeface="Arial"/>
              </a:rPr>
              <a:t>b</a:t>
            </a:r>
            <a:r>
              <a:rPr sz="1800" spc="-7" baseline="-20833" dirty="0">
                <a:latin typeface="Arial"/>
                <a:cs typeface="Arial"/>
              </a:rPr>
              <a:t>2	</a:t>
            </a:r>
            <a:r>
              <a:rPr sz="1800" spc="-5" dirty="0">
                <a:latin typeface="Arial"/>
                <a:cs typeface="Arial"/>
              </a:rPr>
              <a:t>00	01	</a:t>
            </a:r>
            <a:r>
              <a:rPr sz="1800" spc="-75" dirty="0">
                <a:latin typeface="Arial"/>
                <a:cs typeface="Arial"/>
              </a:rPr>
              <a:t>11	</a:t>
            </a:r>
            <a:r>
              <a:rPr sz="1800" spc="-5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  <a:p>
            <a:pPr marL="380365">
              <a:lnSpc>
                <a:spcPct val="100000"/>
              </a:lnSpc>
              <a:spcBef>
                <a:spcPts val="1285"/>
              </a:spcBef>
            </a:pPr>
            <a:r>
              <a:rPr sz="1800" spc="-10" dirty="0">
                <a:latin typeface="Arial"/>
                <a:cs typeface="Arial"/>
              </a:rPr>
              <a:t>00</a:t>
            </a:r>
            <a:endParaRPr sz="1800">
              <a:latin typeface="Arial"/>
              <a:cs typeface="Arial"/>
            </a:endParaRPr>
          </a:p>
          <a:p>
            <a:pPr marL="380365">
              <a:lnSpc>
                <a:spcPct val="100000"/>
              </a:lnSpc>
              <a:spcBef>
                <a:spcPts val="1515"/>
              </a:spcBef>
            </a:pPr>
            <a:r>
              <a:rPr sz="1800" spc="-10" dirty="0">
                <a:latin typeface="Arial"/>
                <a:cs typeface="Arial"/>
              </a:rPr>
              <a:t>01</a:t>
            </a:r>
            <a:endParaRPr sz="1800">
              <a:latin typeface="Arial"/>
              <a:cs typeface="Arial"/>
            </a:endParaRPr>
          </a:p>
          <a:p>
            <a:pPr marL="380365">
              <a:lnSpc>
                <a:spcPct val="100000"/>
              </a:lnSpc>
              <a:spcBef>
                <a:spcPts val="1510"/>
              </a:spcBef>
            </a:pPr>
            <a:r>
              <a:rPr sz="1800" spc="-145" dirty="0">
                <a:latin typeface="Arial"/>
                <a:cs typeface="Arial"/>
              </a:rPr>
              <a:t>11</a:t>
            </a:r>
            <a:endParaRPr sz="1800">
              <a:latin typeface="Arial"/>
              <a:cs typeface="Arial"/>
            </a:endParaRPr>
          </a:p>
          <a:p>
            <a:pPr marL="380365">
              <a:lnSpc>
                <a:spcPct val="100000"/>
              </a:lnSpc>
              <a:spcBef>
                <a:spcPts val="1515"/>
              </a:spcBef>
            </a:pPr>
            <a:r>
              <a:rPr sz="1800" spc="-10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5642" y="5295087"/>
            <a:ext cx="1430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F</a:t>
            </a:r>
            <a:r>
              <a:rPr sz="2400" dirty="0">
                <a:latin typeface="微软雅黑"/>
                <a:cs typeface="微软雅黑"/>
              </a:rPr>
              <a:t>的卡诺图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89810" y="3774185"/>
            <a:ext cx="1152525" cy="864235"/>
          </a:xfrm>
          <a:custGeom>
            <a:avLst/>
            <a:gdLst/>
            <a:ahLst/>
            <a:cxnLst/>
            <a:rect l="l" t="t" r="r" b="b"/>
            <a:pathLst>
              <a:path w="1152525" h="864235">
                <a:moveTo>
                  <a:pt x="0" y="144018"/>
                </a:moveTo>
                <a:lnTo>
                  <a:pt x="7345" y="98511"/>
                </a:lnTo>
                <a:lnTo>
                  <a:pt x="27797" y="58978"/>
                </a:lnTo>
                <a:lnTo>
                  <a:pt x="58978" y="27797"/>
                </a:lnTo>
                <a:lnTo>
                  <a:pt x="98511" y="7345"/>
                </a:lnTo>
                <a:lnTo>
                  <a:pt x="144017" y="0"/>
                </a:lnTo>
                <a:lnTo>
                  <a:pt x="1008126" y="0"/>
                </a:lnTo>
                <a:lnTo>
                  <a:pt x="1053632" y="7345"/>
                </a:lnTo>
                <a:lnTo>
                  <a:pt x="1093165" y="27797"/>
                </a:lnTo>
                <a:lnTo>
                  <a:pt x="1124346" y="58978"/>
                </a:lnTo>
                <a:lnTo>
                  <a:pt x="1144798" y="98511"/>
                </a:lnTo>
                <a:lnTo>
                  <a:pt x="1152143" y="144018"/>
                </a:lnTo>
                <a:lnTo>
                  <a:pt x="1152143" y="720089"/>
                </a:lnTo>
                <a:lnTo>
                  <a:pt x="1144798" y="765596"/>
                </a:lnTo>
                <a:lnTo>
                  <a:pt x="1124346" y="805129"/>
                </a:lnTo>
                <a:lnTo>
                  <a:pt x="1093165" y="836310"/>
                </a:lnTo>
                <a:lnTo>
                  <a:pt x="1053632" y="856762"/>
                </a:lnTo>
                <a:lnTo>
                  <a:pt x="1008126" y="864107"/>
                </a:lnTo>
                <a:lnTo>
                  <a:pt x="144017" y="864107"/>
                </a:lnTo>
                <a:lnTo>
                  <a:pt x="98511" y="856762"/>
                </a:lnTo>
                <a:lnTo>
                  <a:pt x="58978" y="836310"/>
                </a:lnTo>
                <a:lnTo>
                  <a:pt x="27797" y="805129"/>
                </a:lnTo>
                <a:lnTo>
                  <a:pt x="7345" y="765596"/>
                </a:lnTo>
                <a:lnTo>
                  <a:pt x="0" y="720089"/>
                </a:lnTo>
                <a:lnTo>
                  <a:pt x="0" y="144018"/>
                </a:lnTo>
                <a:close/>
              </a:path>
            </a:pathLst>
          </a:custGeom>
          <a:ln w="2895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38006" y="3206369"/>
            <a:ext cx="1223010" cy="455295"/>
          </a:xfrm>
          <a:custGeom>
            <a:avLst/>
            <a:gdLst/>
            <a:ahLst/>
            <a:cxnLst/>
            <a:rect l="l" t="t" r="r" b="b"/>
            <a:pathLst>
              <a:path w="1223010" h="455295">
                <a:moveTo>
                  <a:pt x="1222513" y="44450"/>
                </a:moveTo>
                <a:lnTo>
                  <a:pt x="1217252" y="83647"/>
                </a:lnTo>
                <a:lnTo>
                  <a:pt x="1207209" y="121684"/>
                </a:lnTo>
                <a:lnTo>
                  <a:pt x="1192608" y="158417"/>
                </a:lnTo>
                <a:lnTo>
                  <a:pt x="1173678" y="193699"/>
                </a:lnTo>
                <a:lnTo>
                  <a:pt x="1150645" y="227388"/>
                </a:lnTo>
                <a:lnTo>
                  <a:pt x="1123736" y="259338"/>
                </a:lnTo>
                <a:lnTo>
                  <a:pt x="1093176" y="289405"/>
                </a:lnTo>
                <a:lnTo>
                  <a:pt x="1059192" y="317445"/>
                </a:lnTo>
                <a:lnTo>
                  <a:pt x="1022012" y="343312"/>
                </a:lnTo>
                <a:lnTo>
                  <a:pt x="981861" y="366863"/>
                </a:lnTo>
                <a:lnTo>
                  <a:pt x="938967" y="387953"/>
                </a:lnTo>
                <a:lnTo>
                  <a:pt x="893555" y="406437"/>
                </a:lnTo>
                <a:lnTo>
                  <a:pt x="845853" y="422171"/>
                </a:lnTo>
                <a:lnTo>
                  <a:pt x="796086" y="435011"/>
                </a:lnTo>
                <a:lnTo>
                  <a:pt x="744482" y="444811"/>
                </a:lnTo>
                <a:lnTo>
                  <a:pt x="691267" y="451428"/>
                </a:lnTo>
                <a:lnTo>
                  <a:pt x="636667" y="454717"/>
                </a:lnTo>
                <a:lnTo>
                  <a:pt x="580909" y="454532"/>
                </a:lnTo>
                <a:lnTo>
                  <a:pt x="525421" y="450802"/>
                </a:lnTo>
                <a:lnTo>
                  <a:pt x="471572" y="443697"/>
                </a:lnTo>
                <a:lnTo>
                  <a:pt x="419568" y="433376"/>
                </a:lnTo>
                <a:lnTo>
                  <a:pt x="369614" y="420001"/>
                </a:lnTo>
                <a:lnTo>
                  <a:pt x="321914" y="403731"/>
                </a:lnTo>
                <a:lnTo>
                  <a:pt x="276674" y="384725"/>
                </a:lnTo>
                <a:lnTo>
                  <a:pt x="234098" y="363144"/>
                </a:lnTo>
                <a:lnTo>
                  <a:pt x="194392" y="339148"/>
                </a:lnTo>
                <a:lnTo>
                  <a:pt x="157761" y="312896"/>
                </a:lnTo>
                <a:lnTo>
                  <a:pt x="124410" y="284548"/>
                </a:lnTo>
                <a:lnTo>
                  <a:pt x="94543" y="254266"/>
                </a:lnTo>
                <a:lnTo>
                  <a:pt x="68366" y="222207"/>
                </a:lnTo>
                <a:lnTo>
                  <a:pt x="46083" y="188533"/>
                </a:lnTo>
                <a:lnTo>
                  <a:pt x="27900" y="153403"/>
                </a:lnTo>
                <a:lnTo>
                  <a:pt x="14022" y="116977"/>
                </a:lnTo>
                <a:lnTo>
                  <a:pt x="4653" y="79415"/>
                </a:lnTo>
                <a:lnTo>
                  <a:pt x="0" y="40877"/>
                </a:lnTo>
                <a:lnTo>
                  <a:pt x="265" y="1523"/>
                </a:lnTo>
                <a:lnTo>
                  <a:pt x="265" y="1015"/>
                </a:lnTo>
                <a:lnTo>
                  <a:pt x="392" y="507"/>
                </a:lnTo>
                <a:lnTo>
                  <a:pt x="392" y="0"/>
                </a:lnTo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38272" y="4710245"/>
            <a:ext cx="1223010" cy="455295"/>
          </a:xfrm>
          <a:custGeom>
            <a:avLst/>
            <a:gdLst/>
            <a:ahLst/>
            <a:cxnLst/>
            <a:rect l="l" t="t" r="r" b="b"/>
            <a:pathLst>
              <a:path w="1223010" h="455295">
                <a:moveTo>
                  <a:pt x="0" y="410267"/>
                </a:moveTo>
                <a:lnTo>
                  <a:pt x="5260" y="371069"/>
                </a:lnTo>
                <a:lnTo>
                  <a:pt x="15304" y="333032"/>
                </a:lnTo>
                <a:lnTo>
                  <a:pt x="29904" y="296299"/>
                </a:lnTo>
                <a:lnTo>
                  <a:pt x="48834" y="261017"/>
                </a:lnTo>
                <a:lnTo>
                  <a:pt x="71868" y="227328"/>
                </a:lnTo>
                <a:lnTo>
                  <a:pt x="98777" y="195378"/>
                </a:lnTo>
                <a:lnTo>
                  <a:pt x="129337" y="165311"/>
                </a:lnTo>
                <a:lnTo>
                  <a:pt x="163320" y="137271"/>
                </a:lnTo>
                <a:lnTo>
                  <a:pt x="200501" y="111404"/>
                </a:lnTo>
                <a:lnTo>
                  <a:pt x="240651" y="87853"/>
                </a:lnTo>
                <a:lnTo>
                  <a:pt x="283546" y="66763"/>
                </a:lnTo>
                <a:lnTo>
                  <a:pt x="328958" y="48279"/>
                </a:lnTo>
                <a:lnTo>
                  <a:pt x="376660" y="32545"/>
                </a:lnTo>
                <a:lnTo>
                  <a:pt x="426427" y="19705"/>
                </a:lnTo>
                <a:lnTo>
                  <a:pt x="478031" y="9905"/>
                </a:lnTo>
                <a:lnTo>
                  <a:pt x="531246" y="3288"/>
                </a:lnTo>
                <a:lnTo>
                  <a:pt x="585846" y="0"/>
                </a:lnTo>
                <a:lnTo>
                  <a:pt x="641603" y="184"/>
                </a:lnTo>
                <a:lnTo>
                  <a:pt x="697092" y="3914"/>
                </a:lnTo>
                <a:lnTo>
                  <a:pt x="750941" y="11019"/>
                </a:lnTo>
                <a:lnTo>
                  <a:pt x="802945" y="21340"/>
                </a:lnTo>
                <a:lnTo>
                  <a:pt x="852899" y="34715"/>
                </a:lnTo>
                <a:lnTo>
                  <a:pt x="900599" y="50985"/>
                </a:lnTo>
                <a:lnTo>
                  <a:pt x="945839" y="69991"/>
                </a:lnTo>
                <a:lnTo>
                  <a:pt x="988415" y="91572"/>
                </a:lnTo>
                <a:lnTo>
                  <a:pt x="1028120" y="115568"/>
                </a:lnTo>
                <a:lnTo>
                  <a:pt x="1064752" y="141820"/>
                </a:lnTo>
                <a:lnTo>
                  <a:pt x="1098103" y="170168"/>
                </a:lnTo>
                <a:lnTo>
                  <a:pt x="1127970" y="200450"/>
                </a:lnTo>
                <a:lnTo>
                  <a:pt x="1154147" y="232509"/>
                </a:lnTo>
                <a:lnTo>
                  <a:pt x="1176430" y="266183"/>
                </a:lnTo>
                <a:lnTo>
                  <a:pt x="1194613" y="301313"/>
                </a:lnTo>
                <a:lnTo>
                  <a:pt x="1208491" y="337739"/>
                </a:lnTo>
                <a:lnTo>
                  <a:pt x="1217859" y="375301"/>
                </a:lnTo>
                <a:lnTo>
                  <a:pt x="1222513" y="413839"/>
                </a:lnTo>
                <a:lnTo>
                  <a:pt x="1222248" y="453193"/>
                </a:lnTo>
                <a:lnTo>
                  <a:pt x="1222248" y="453701"/>
                </a:lnTo>
                <a:lnTo>
                  <a:pt x="1222120" y="454209"/>
                </a:lnTo>
                <a:lnTo>
                  <a:pt x="1222120" y="454717"/>
                </a:lnTo>
              </a:path>
            </a:pathLst>
          </a:custGeom>
          <a:ln w="28955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39641" y="3817201"/>
            <a:ext cx="335280" cy="0"/>
          </a:xfrm>
          <a:custGeom>
            <a:avLst/>
            <a:gdLst/>
            <a:ahLst/>
            <a:cxnLst/>
            <a:rect l="l" t="t" r="r" b="b"/>
            <a:pathLst>
              <a:path w="335279">
                <a:moveTo>
                  <a:pt x="0" y="0"/>
                </a:moveTo>
                <a:lnTo>
                  <a:pt x="335218" y="0"/>
                </a:lnTo>
              </a:path>
            </a:pathLst>
          </a:custGeom>
          <a:ln w="179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107912" y="4062924"/>
            <a:ext cx="458470" cy="3251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18770" algn="l"/>
              </a:tabLst>
            </a:pPr>
            <a:r>
              <a:rPr sz="1950" spc="15" dirty="0">
                <a:latin typeface="Times New Roman"/>
                <a:cs typeface="Times New Roman"/>
              </a:rPr>
              <a:t>2	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29891" y="4062924"/>
            <a:ext cx="482600" cy="3251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43535" algn="l"/>
              </a:tabLst>
            </a:pPr>
            <a:r>
              <a:rPr sz="1950" spc="15" dirty="0">
                <a:latin typeface="Times New Roman"/>
                <a:cs typeface="Times New Roman"/>
              </a:rPr>
              <a:t>2	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99232" y="3776522"/>
            <a:ext cx="2383790" cy="5391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515745" algn="l"/>
              </a:tabLst>
            </a:pPr>
            <a:r>
              <a:rPr sz="3350" i="1" spc="30" dirty="0">
                <a:latin typeface="Times New Roman"/>
                <a:cs typeface="Times New Roman"/>
              </a:rPr>
              <a:t>F </a:t>
            </a:r>
            <a:r>
              <a:rPr sz="3350" spc="25" dirty="0">
                <a:latin typeface="Symbol"/>
                <a:cs typeface="Symbol"/>
              </a:rPr>
              <a:t></a:t>
            </a:r>
            <a:r>
              <a:rPr sz="3350" spc="90" dirty="0">
                <a:latin typeface="Times New Roman"/>
                <a:cs typeface="Times New Roman"/>
              </a:rPr>
              <a:t> </a:t>
            </a:r>
            <a:r>
              <a:rPr sz="3350" i="1" spc="20" dirty="0">
                <a:latin typeface="Times New Roman"/>
                <a:cs typeface="Times New Roman"/>
              </a:rPr>
              <a:t>b</a:t>
            </a:r>
            <a:r>
              <a:rPr sz="3350" i="1" spc="105" dirty="0">
                <a:latin typeface="Times New Roman"/>
                <a:cs typeface="Times New Roman"/>
              </a:rPr>
              <a:t> </a:t>
            </a:r>
            <a:r>
              <a:rPr sz="3350" i="1" spc="20" dirty="0">
                <a:latin typeface="Times New Roman"/>
                <a:cs typeface="Times New Roman"/>
              </a:rPr>
              <a:t>b	</a:t>
            </a:r>
            <a:r>
              <a:rPr sz="3350" spc="25" dirty="0">
                <a:latin typeface="Symbol"/>
                <a:cs typeface="Symbol"/>
              </a:rPr>
              <a:t></a:t>
            </a:r>
            <a:r>
              <a:rPr sz="3350" spc="25" dirty="0">
                <a:latin typeface="Times New Roman"/>
                <a:cs typeface="Times New Roman"/>
              </a:rPr>
              <a:t> </a:t>
            </a:r>
            <a:r>
              <a:rPr sz="3350" i="1" spc="20" dirty="0">
                <a:latin typeface="Times New Roman"/>
                <a:cs typeface="Times New Roman"/>
              </a:rPr>
              <a:t>b</a:t>
            </a:r>
            <a:r>
              <a:rPr sz="3350" i="1" spc="-325" dirty="0">
                <a:latin typeface="Times New Roman"/>
                <a:cs typeface="Times New Roman"/>
              </a:rPr>
              <a:t> </a:t>
            </a:r>
            <a:r>
              <a:rPr sz="3350" i="1" spc="20" dirty="0">
                <a:latin typeface="Times New Roman"/>
                <a:cs typeface="Times New Roman"/>
              </a:rPr>
              <a:t>b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93335" y="3357371"/>
            <a:ext cx="935990" cy="1728470"/>
          </a:xfrm>
          <a:custGeom>
            <a:avLst/>
            <a:gdLst/>
            <a:ahLst/>
            <a:cxnLst/>
            <a:rect l="l" t="t" r="r" b="b"/>
            <a:pathLst>
              <a:path w="935989" h="1728470">
                <a:moveTo>
                  <a:pt x="29210" y="432053"/>
                </a:moveTo>
                <a:lnTo>
                  <a:pt x="0" y="432053"/>
                </a:lnTo>
                <a:lnTo>
                  <a:pt x="0" y="1296161"/>
                </a:lnTo>
                <a:lnTo>
                  <a:pt x="29210" y="1296161"/>
                </a:lnTo>
                <a:lnTo>
                  <a:pt x="29210" y="432053"/>
                </a:lnTo>
                <a:close/>
              </a:path>
              <a:path w="935989" h="1728470">
                <a:moveTo>
                  <a:pt x="116966" y="432053"/>
                </a:moveTo>
                <a:lnTo>
                  <a:pt x="58547" y="432053"/>
                </a:lnTo>
                <a:lnTo>
                  <a:pt x="58547" y="1296161"/>
                </a:lnTo>
                <a:lnTo>
                  <a:pt x="116966" y="1296161"/>
                </a:lnTo>
                <a:lnTo>
                  <a:pt x="116966" y="432053"/>
                </a:lnTo>
                <a:close/>
              </a:path>
              <a:path w="935989" h="1728470">
                <a:moveTo>
                  <a:pt x="467867" y="0"/>
                </a:moveTo>
                <a:lnTo>
                  <a:pt x="467867" y="432053"/>
                </a:lnTo>
                <a:lnTo>
                  <a:pt x="146176" y="432053"/>
                </a:lnTo>
                <a:lnTo>
                  <a:pt x="146176" y="1296161"/>
                </a:lnTo>
                <a:lnTo>
                  <a:pt x="467867" y="1296161"/>
                </a:lnTo>
                <a:lnTo>
                  <a:pt x="467867" y="1728215"/>
                </a:lnTo>
                <a:lnTo>
                  <a:pt x="935736" y="864107"/>
                </a:lnTo>
                <a:lnTo>
                  <a:pt x="46786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93335" y="3789426"/>
            <a:ext cx="29209" cy="864235"/>
          </a:xfrm>
          <a:custGeom>
            <a:avLst/>
            <a:gdLst/>
            <a:ahLst/>
            <a:cxnLst/>
            <a:rect l="l" t="t" r="r" b="b"/>
            <a:pathLst>
              <a:path w="29210" h="864235">
                <a:moveTo>
                  <a:pt x="0" y="0"/>
                </a:moveTo>
                <a:lnTo>
                  <a:pt x="29210" y="0"/>
                </a:lnTo>
                <a:lnTo>
                  <a:pt x="29210" y="864107"/>
                </a:lnTo>
                <a:lnTo>
                  <a:pt x="0" y="864107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51883" y="3789426"/>
            <a:ext cx="58419" cy="864235"/>
          </a:xfrm>
          <a:custGeom>
            <a:avLst/>
            <a:gdLst/>
            <a:ahLst/>
            <a:cxnLst/>
            <a:rect l="l" t="t" r="r" b="b"/>
            <a:pathLst>
              <a:path w="58420" h="864235">
                <a:moveTo>
                  <a:pt x="0" y="0"/>
                </a:moveTo>
                <a:lnTo>
                  <a:pt x="58419" y="0"/>
                </a:lnTo>
                <a:lnTo>
                  <a:pt x="58419" y="864107"/>
                </a:lnTo>
                <a:lnTo>
                  <a:pt x="0" y="864107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39513" y="3357371"/>
            <a:ext cx="789940" cy="1728470"/>
          </a:xfrm>
          <a:custGeom>
            <a:avLst/>
            <a:gdLst/>
            <a:ahLst/>
            <a:cxnLst/>
            <a:rect l="l" t="t" r="r" b="b"/>
            <a:pathLst>
              <a:path w="789939" h="1728470">
                <a:moveTo>
                  <a:pt x="0" y="432053"/>
                </a:moveTo>
                <a:lnTo>
                  <a:pt x="321690" y="432053"/>
                </a:lnTo>
                <a:lnTo>
                  <a:pt x="321690" y="0"/>
                </a:lnTo>
                <a:lnTo>
                  <a:pt x="789559" y="864107"/>
                </a:lnTo>
                <a:lnTo>
                  <a:pt x="321690" y="1728215"/>
                </a:lnTo>
                <a:lnTo>
                  <a:pt x="321690" y="1296161"/>
                </a:lnTo>
                <a:lnTo>
                  <a:pt x="0" y="1296161"/>
                </a:lnTo>
                <a:lnTo>
                  <a:pt x="0" y="43205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115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8416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用卡诺图化简非完全描述逻辑</a:t>
            </a:r>
            <a:r>
              <a:rPr spc="-20" dirty="0"/>
              <a:t>函</a:t>
            </a:r>
            <a:r>
              <a:rPr spc="5" dirty="0"/>
              <a:t>数</a:t>
            </a:r>
          </a:p>
        </p:txBody>
      </p:sp>
      <p:sp>
        <p:nvSpPr>
          <p:cNvPr id="3" name="object 3"/>
          <p:cNvSpPr/>
          <p:nvPr/>
        </p:nvSpPr>
        <p:spPr>
          <a:xfrm>
            <a:off x="8841485" y="1125474"/>
            <a:ext cx="216535" cy="0"/>
          </a:xfrm>
          <a:custGeom>
            <a:avLst/>
            <a:gdLst/>
            <a:ahLst/>
            <a:cxnLst/>
            <a:rect l="l" t="t" r="r" b="b"/>
            <a:pathLst>
              <a:path w="216534">
                <a:moveTo>
                  <a:pt x="0" y="0"/>
                </a:moveTo>
                <a:lnTo>
                  <a:pt x="216027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65275" y="2286000"/>
            <a:ext cx="504190" cy="432434"/>
          </a:xfrm>
          <a:custGeom>
            <a:avLst/>
            <a:gdLst/>
            <a:ahLst/>
            <a:cxnLst/>
            <a:rect l="l" t="t" r="r" b="b"/>
            <a:pathLst>
              <a:path w="504190" h="432435">
                <a:moveTo>
                  <a:pt x="0" y="0"/>
                </a:moveTo>
                <a:lnTo>
                  <a:pt x="504063" y="43205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562227" y="2718180"/>
          <a:ext cx="2664459" cy="20162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553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987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425">
                <a:tc>
                  <a:txBody>
                    <a:bodyPr/>
                    <a:lstStyle/>
                    <a:p>
                      <a:pPr marL="8826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104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1770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52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0820" algn="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9710" algn="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719">
                <a:tc>
                  <a:txBody>
                    <a:bodyPr/>
                    <a:lstStyle/>
                    <a:p>
                      <a:pPr marL="10160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9390" algn="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48640" y="1073911"/>
            <a:ext cx="8566785" cy="138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微软雅黑"/>
                <a:cs typeface="微软雅黑"/>
              </a:rPr>
              <a:t>例：</a:t>
            </a:r>
            <a:r>
              <a:rPr sz="2800" spc="-10" dirty="0">
                <a:latin typeface="微软雅黑"/>
                <a:cs typeface="微软雅黑"/>
              </a:rPr>
              <a:t>求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微软雅黑"/>
                <a:cs typeface="微软雅黑"/>
              </a:rPr>
              <a:t>一位十进制数质数探测</a:t>
            </a:r>
            <a:r>
              <a:rPr sz="2800" dirty="0">
                <a:latin typeface="微软雅黑"/>
                <a:cs typeface="微软雅黑"/>
              </a:rPr>
              <a:t>器</a:t>
            </a:r>
            <a:r>
              <a:rPr sz="2800" spc="-5" dirty="0">
                <a:latin typeface="Arial"/>
                <a:cs typeface="Arial"/>
              </a:rPr>
              <a:t>”</a:t>
            </a:r>
            <a:r>
              <a:rPr sz="2800" dirty="0">
                <a:latin typeface="微软雅黑"/>
                <a:cs typeface="微软雅黑"/>
              </a:rPr>
              <a:t>逻</a:t>
            </a:r>
            <a:r>
              <a:rPr sz="2800" spc="-5" dirty="0">
                <a:latin typeface="微软雅黑"/>
                <a:cs typeface="微软雅黑"/>
              </a:rPr>
              <a:t>辑函</a:t>
            </a:r>
            <a:r>
              <a:rPr sz="2800" spc="10" dirty="0">
                <a:latin typeface="微软雅黑"/>
                <a:cs typeface="微软雅黑"/>
              </a:rPr>
              <a:t>数</a:t>
            </a:r>
            <a:r>
              <a:rPr sz="2800" spc="-10" dirty="0">
                <a:latin typeface="Arial"/>
                <a:cs typeface="Arial"/>
              </a:rPr>
              <a:t>F</a:t>
            </a:r>
            <a:r>
              <a:rPr sz="2800" dirty="0">
                <a:latin typeface="微软雅黑"/>
                <a:cs typeface="微软雅黑"/>
              </a:rPr>
              <a:t>的</a:t>
            </a:r>
            <a:r>
              <a:rPr sz="2800" spc="-5" dirty="0">
                <a:latin typeface="微软雅黑"/>
                <a:cs typeface="微软雅黑"/>
              </a:rPr>
              <a:t>补函</a:t>
            </a:r>
            <a:r>
              <a:rPr sz="2800" spc="10" dirty="0">
                <a:latin typeface="微软雅黑"/>
                <a:cs typeface="微软雅黑"/>
              </a:rPr>
              <a:t>数</a:t>
            </a:r>
            <a:r>
              <a:rPr sz="2800" spc="-5" dirty="0">
                <a:latin typeface="Arial"/>
                <a:cs typeface="Arial"/>
              </a:rPr>
              <a:t>F </a:t>
            </a:r>
            <a:r>
              <a:rPr sz="2800" spc="-5" dirty="0">
                <a:latin typeface="微软雅黑"/>
                <a:cs typeface="微软雅黑"/>
              </a:rPr>
              <a:t>的最</a:t>
            </a:r>
            <a:r>
              <a:rPr sz="2800" spc="-10" dirty="0">
                <a:latin typeface="微软雅黑"/>
                <a:cs typeface="微软雅黑"/>
              </a:rPr>
              <a:t>简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微软雅黑"/>
                <a:cs typeface="微软雅黑"/>
              </a:rPr>
              <a:t>与或</a:t>
            </a:r>
            <a:r>
              <a:rPr sz="2800" spc="-5" dirty="0">
                <a:latin typeface="Arial"/>
                <a:cs typeface="Arial"/>
              </a:rPr>
              <a:t>”</a:t>
            </a:r>
            <a:r>
              <a:rPr sz="2800" spc="-5" dirty="0">
                <a:latin typeface="微软雅黑"/>
                <a:cs typeface="微软雅黑"/>
              </a:rPr>
              <a:t>式。</a:t>
            </a:r>
            <a:endParaRPr sz="2800">
              <a:latin typeface="微软雅黑"/>
              <a:cs typeface="微软雅黑"/>
            </a:endParaRPr>
          </a:p>
          <a:p>
            <a:pPr marL="679450">
              <a:lnSpc>
                <a:spcPct val="100000"/>
              </a:lnSpc>
              <a:spcBef>
                <a:spcPts val="1840"/>
              </a:spcBef>
            </a:pPr>
            <a:r>
              <a:rPr sz="1800" spc="-5" dirty="0">
                <a:latin typeface="Arial"/>
                <a:cs typeface="Arial"/>
              </a:rPr>
              <a:t>b</a:t>
            </a:r>
            <a:r>
              <a:rPr sz="1800" spc="-7" baseline="-20833" dirty="0"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b</a:t>
            </a:r>
            <a:r>
              <a:rPr sz="1800" spc="-7" baseline="-20833" dirty="0">
                <a:latin typeface="Arial"/>
                <a:cs typeface="Arial"/>
              </a:rPr>
              <a:t>0</a:t>
            </a:r>
            <a:endParaRPr sz="1800" baseline="-2083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7750" y="2385821"/>
            <a:ext cx="3181350" cy="213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938530" algn="l"/>
                <a:tab pos="1637664" algn="l"/>
                <a:tab pos="2270760" algn="l"/>
                <a:tab pos="2888615" algn="l"/>
              </a:tabLst>
            </a:pPr>
            <a:r>
              <a:rPr sz="1800" spc="-5" dirty="0">
                <a:latin typeface="Arial"/>
                <a:cs typeface="Arial"/>
              </a:rPr>
              <a:t>b</a:t>
            </a:r>
            <a:r>
              <a:rPr sz="1800" spc="-7" baseline="-20833" dirty="0">
                <a:latin typeface="Arial"/>
                <a:cs typeface="Arial"/>
              </a:rPr>
              <a:t>3</a:t>
            </a:r>
            <a:r>
              <a:rPr sz="1800" spc="-5" dirty="0">
                <a:latin typeface="Arial"/>
                <a:cs typeface="Arial"/>
              </a:rPr>
              <a:t>b</a:t>
            </a:r>
            <a:r>
              <a:rPr sz="1800" spc="-7" baseline="-20833" dirty="0">
                <a:latin typeface="Arial"/>
                <a:cs typeface="Arial"/>
              </a:rPr>
              <a:t>2	</a:t>
            </a:r>
            <a:r>
              <a:rPr sz="1800" spc="-5" dirty="0">
                <a:latin typeface="Arial"/>
                <a:cs typeface="Arial"/>
              </a:rPr>
              <a:t>00	01	</a:t>
            </a:r>
            <a:r>
              <a:rPr sz="1800" spc="-75" dirty="0">
                <a:latin typeface="Arial"/>
                <a:cs typeface="Arial"/>
              </a:rPr>
              <a:t>11	</a:t>
            </a:r>
            <a:r>
              <a:rPr sz="1800" spc="-5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  <a:p>
            <a:pPr marL="380365">
              <a:lnSpc>
                <a:spcPct val="100000"/>
              </a:lnSpc>
              <a:spcBef>
                <a:spcPts val="1285"/>
              </a:spcBef>
            </a:pPr>
            <a:r>
              <a:rPr sz="1800" spc="-10" dirty="0">
                <a:latin typeface="Arial"/>
                <a:cs typeface="Arial"/>
              </a:rPr>
              <a:t>00</a:t>
            </a:r>
            <a:endParaRPr sz="1800">
              <a:latin typeface="Arial"/>
              <a:cs typeface="Arial"/>
            </a:endParaRPr>
          </a:p>
          <a:p>
            <a:pPr marL="380365">
              <a:lnSpc>
                <a:spcPct val="100000"/>
              </a:lnSpc>
              <a:spcBef>
                <a:spcPts val="1510"/>
              </a:spcBef>
            </a:pPr>
            <a:r>
              <a:rPr sz="1800" spc="-10" dirty="0">
                <a:latin typeface="Arial"/>
                <a:cs typeface="Arial"/>
              </a:rPr>
              <a:t>01</a:t>
            </a:r>
            <a:endParaRPr sz="1800">
              <a:latin typeface="Arial"/>
              <a:cs typeface="Arial"/>
            </a:endParaRPr>
          </a:p>
          <a:p>
            <a:pPr marL="380365">
              <a:lnSpc>
                <a:spcPct val="100000"/>
              </a:lnSpc>
              <a:spcBef>
                <a:spcPts val="1515"/>
              </a:spcBef>
            </a:pPr>
            <a:r>
              <a:rPr sz="1800" spc="-140" dirty="0">
                <a:latin typeface="Arial"/>
                <a:cs typeface="Arial"/>
              </a:rPr>
              <a:t>11</a:t>
            </a:r>
            <a:endParaRPr sz="1800">
              <a:latin typeface="Arial"/>
              <a:cs typeface="Arial"/>
            </a:endParaRPr>
          </a:p>
          <a:p>
            <a:pPr marL="380365">
              <a:lnSpc>
                <a:spcPct val="100000"/>
              </a:lnSpc>
              <a:spcBef>
                <a:spcPts val="1515"/>
              </a:spcBef>
            </a:pPr>
            <a:r>
              <a:rPr sz="1800" spc="-10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5642" y="4800345"/>
            <a:ext cx="1430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F</a:t>
            </a:r>
            <a:r>
              <a:rPr sz="2400" dirty="0">
                <a:latin typeface="微软雅黑"/>
                <a:cs typeface="微软雅黑"/>
              </a:rPr>
              <a:t>的卡诺图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42606" y="2695829"/>
            <a:ext cx="1223010" cy="455295"/>
          </a:xfrm>
          <a:custGeom>
            <a:avLst/>
            <a:gdLst/>
            <a:ahLst/>
            <a:cxnLst/>
            <a:rect l="l" t="t" r="r" b="b"/>
            <a:pathLst>
              <a:path w="1223010" h="455294">
                <a:moveTo>
                  <a:pt x="1222513" y="44450"/>
                </a:moveTo>
                <a:lnTo>
                  <a:pt x="1217252" y="83647"/>
                </a:lnTo>
                <a:lnTo>
                  <a:pt x="1207209" y="121684"/>
                </a:lnTo>
                <a:lnTo>
                  <a:pt x="1192608" y="158417"/>
                </a:lnTo>
                <a:lnTo>
                  <a:pt x="1173678" y="193699"/>
                </a:lnTo>
                <a:lnTo>
                  <a:pt x="1150645" y="227388"/>
                </a:lnTo>
                <a:lnTo>
                  <a:pt x="1123736" y="259338"/>
                </a:lnTo>
                <a:lnTo>
                  <a:pt x="1093176" y="289405"/>
                </a:lnTo>
                <a:lnTo>
                  <a:pt x="1059192" y="317445"/>
                </a:lnTo>
                <a:lnTo>
                  <a:pt x="1022012" y="343312"/>
                </a:lnTo>
                <a:lnTo>
                  <a:pt x="981861" y="366863"/>
                </a:lnTo>
                <a:lnTo>
                  <a:pt x="938967" y="387953"/>
                </a:lnTo>
                <a:lnTo>
                  <a:pt x="893555" y="406437"/>
                </a:lnTo>
                <a:lnTo>
                  <a:pt x="845853" y="422171"/>
                </a:lnTo>
                <a:lnTo>
                  <a:pt x="796086" y="435011"/>
                </a:lnTo>
                <a:lnTo>
                  <a:pt x="744482" y="444811"/>
                </a:lnTo>
                <a:lnTo>
                  <a:pt x="691267" y="451428"/>
                </a:lnTo>
                <a:lnTo>
                  <a:pt x="636667" y="454717"/>
                </a:lnTo>
                <a:lnTo>
                  <a:pt x="580909" y="454533"/>
                </a:lnTo>
                <a:lnTo>
                  <a:pt x="525421" y="450802"/>
                </a:lnTo>
                <a:lnTo>
                  <a:pt x="471572" y="443697"/>
                </a:lnTo>
                <a:lnTo>
                  <a:pt x="419568" y="433376"/>
                </a:lnTo>
                <a:lnTo>
                  <a:pt x="369614" y="420001"/>
                </a:lnTo>
                <a:lnTo>
                  <a:pt x="321914" y="403731"/>
                </a:lnTo>
                <a:lnTo>
                  <a:pt x="276674" y="384725"/>
                </a:lnTo>
                <a:lnTo>
                  <a:pt x="234098" y="363144"/>
                </a:lnTo>
                <a:lnTo>
                  <a:pt x="194392" y="339148"/>
                </a:lnTo>
                <a:lnTo>
                  <a:pt x="157761" y="312896"/>
                </a:lnTo>
                <a:lnTo>
                  <a:pt x="124410" y="284548"/>
                </a:lnTo>
                <a:lnTo>
                  <a:pt x="94543" y="254266"/>
                </a:lnTo>
                <a:lnTo>
                  <a:pt x="68366" y="222207"/>
                </a:lnTo>
                <a:lnTo>
                  <a:pt x="46083" y="188533"/>
                </a:lnTo>
                <a:lnTo>
                  <a:pt x="27900" y="153403"/>
                </a:lnTo>
                <a:lnTo>
                  <a:pt x="14022" y="116977"/>
                </a:lnTo>
                <a:lnTo>
                  <a:pt x="4653" y="79415"/>
                </a:lnTo>
                <a:lnTo>
                  <a:pt x="0" y="40877"/>
                </a:lnTo>
                <a:lnTo>
                  <a:pt x="265" y="1524"/>
                </a:lnTo>
                <a:lnTo>
                  <a:pt x="265" y="1016"/>
                </a:lnTo>
                <a:lnTo>
                  <a:pt x="392" y="508"/>
                </a:lnTo>
                <a:lnTo>
                  <a:pt x="392" y="0"/>
                </a:lnTo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42872" y="4231709"/>
            <a:ext cx="1223010" cy="455295"/>
          </a:xfrm>
          <a:custGeom>
            <a:avLst/>
            <a:gdLst/>
            <a:ahLst/>
            <a:cxnLst/>
            <a:rect l="l" t="t" r="r" b="b"/>
            <a:pathLst>
              <a:path w="1223010" h="455295">
                <a:moveTo>
                  <a:pt x="0" y="410267"/>
                </a:moveTo>
                <a:lnTo>
                  <a:pt x="5260" y="371069"/>
                </a:lnTo>
                <a:lnTo>
                  <a:pt x="15304" y="333032"/>
                </a:lnTo>
                <a:lnTo>
                  <a:pt x="29904" y="296299"/>
                </a:lnTo>
                <a:lnTo>
                  <a:pt x="48834" y="261017"/>
                </a:lnTo>
                <a:lnTo>
                  <a:pt x="71868" y="227328"/>
                </a:lnTo>
                <a:lnTo>
                  <a:pt x="98777" y="195378"/>
                </a:lnTo>
                <a:lnTo>
                  <a:pt x="129337" y="165311"/>
                </a:lnTo>
                <a:lnTo>
                  <a:pt x="163320" y="137271"/>
                </a:lnTo>
                <a:lnTo>
                  <a:pt x="200501" y="111404"/>
                </a:lnTo>
                <a:lnTo>
                  <a:pt x="240651" y="87853"/>
                </a:lnTo>
                <a:lnTo>
                  <a:pt x="283546" y="66763"/>
                </a:lnTo>
                <a:lnTo>
                  <a:pt x="328958" y="48279"/>
                </a:lnTo>
                <a:lnTo>
                  <a:pt x="376660" y="32545"/>
                </a:lnTo>
                <a:lnTo>
                  <a:pt x="426427" y="19705"/>
                </a:lnTo>
                <a:lnTo>
                  <a:pt x="478031" y="9905"/>
                </a:lnTo>
                <a:lnTo>
                  <a:pt x="531246" y="3288"/>
                </a:lnTo>
                <a:lnTo>
                  <a:pt x="585846" y="0"/>
                </a:lnTo>
                <a:lnTo>
                  <a:pt x="641603" y="184"/>
                </a:lnTo>
                <a:lnTo>
                  <a:pt x="697092" y="3914"/>
                </a:lnTo>
                <a:lnTo>
                  <a:pt x="750941" y="11019"/>
                </a:lnTo>
                <a:lnTo>
                  <a:pt x="802945" y="21340"/>
                </a:lnTo>
                <a:lnTo>
                  <a:pt x="852899" y="34715"/>
                </a:lnTo>
                <a:lnTo>
                  <a:pt x="900599" y="50985"/>
                </a:lnTo>
                <a:lnTo>
                  <a:pt x="945839" y="69991"/>
                </a:lnTo>
                <a:lnTo>
                  <a:pt x="988415" y="91572"/>
                </a:lnTo>
                <a:lnTo>
                  <a:pt x="1028120" y="115568"/>
                </a:lnTo>
                <a:lnTo>
                  <a:pt x="1064752" y="141820"/>
                </a:lnTo>
                <a:lnTo>
                  <a:pt x="1098103" y="170168"/>
                </a:lnTo>
                <a:lnTo>
                  <a:pt x="1127970" y="200450"/>
                </a:lnTo>
                <a:lnTo>
                  <a:pt x="1154147" y="232509"/>
                </a:lnTo>
                <a:lnTo>
                  <a:pt x="1176430" y="266183"/>
                </a:lnTo>
                <a:lnTo>
                  <a:pt x="1194613" y="301313"/>
                </a:lnTo>
                <a:lnTo>
                  <a:pt x="1208491" y="337739"/>
                </a:lnTo>
                <a:lnTo>
                  <a:pt x="1217859" y="375301"/>
                </a:lnTo>
                <a:lnTo>
                  <a:pt x="1222513" y="413839"/>
                </a:lnTo>
                <a:lnTo>
                  <a:pt x="1222247" y="453193"/>
                </a:lnTo>
                <a:lnTo>
                  <a:pt x="1222247" y="453701"/>
                </a:lnTo>
                <a:lnTo>
                  <a:pt x="1222120" y="454209"/>
                </a:lnTo>
                <a:lnTo>
                  <a:pt x="1222120" y="454717"/>
                </a:lnTo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86611" y="3222751"/>
            <a:ext cx="558165" cy="1008380"/>
          </a:xfrm>
          <a:custGeom>
            <a:avLst/>
            <a:gdLst/>
            <a:ahLst/>
            <a:cxnLst/>
            <a:rect l="l" t="t" r="r" b="b"/>
            <a:pathLst>
              <a:path w="558164" h="1008379">
                <a:moveTo>
                  <a:pt x="36702" y="0"/>
                </a:moveTo>
                <a:lnTo>
                  <a:pt x="85693" y="3567"/>
                </a:lnTo>
                <a:lnTo>
                  <a:pt x="133311" y="11100"/>
                </a:lnTo>
                <a:lnTo>
                  <a:pt x="179372" y="22413"/>
                </a:lnTo>
                <a:lnTo>
                  <a:pt x="223693" y="37323"/>
                </a:lnTo>
                <a:lnTo>
                  <a:pt x="266089" y="55645"/>
                </a:lnTo>
                <a:lnTo>
                  <a:pt x="306375" y="77197"/>
                </a:lnTo>
                <a:lnTo>
                  <a:pt x="344368" y="101793"/>
                </a:lnTo>
                <a:lnTo>
                  <a:pt x="379882" y="129250"/>
                </a:lnTo>
                <a:lnTo>
                  <a:pt x="412734" y="159385"/>
                </a:lnTo>
                <a:lnTo>
                  <a:pt x="442738" y="192012"/>
                </a:lnTo>
                <a:lnTo>
                  <a:pt x="469712" y="226948"/>
                </a:lnTo>
                <a:lnTo>
                  <a:pt x="493470" y="264009"/>
                </a:lnTo>
                <a:lnTo>
                  <a:pt x="513828" y="303011"/>
                </a:lnTo>
                <a:lnTo>
                  <a:pt x="530601" y="343771"/>
                </a:lnTo>
                <a:lnTo>
                  <a:pt x="543606" y="386103"/>
                </a:lnTo>
                <a:lnTo>
                  <a:pt x="552658" y="429825"/>
                </a:lnTo>
                <a:lnTo>
                  <a:pt x="557572" y="474751"/>
                </a:lnTo>
                <a:lnTo>
                  <a:pt x="558164" y="520700"/>
                </a:lnTo>
                <a:lnTo>
                  <a:pt x="554348" y="566532"/>
                </a:lnTo>
                <a:lnTo>
                  <a:pt x="546291" y="611078"/>
                </a:lnTo>
                <a:lnTo>
                  <a:pt x="534190" y="654164"/>
                </a:lnTo>
                <a:lnTo>
                  <a:pt x="518241" y="695620"/>
                </a:lnTo>
                <a:lnTo>
                  <a:pt x="498640" y="735272"/>
                </a:lnTo>
                <a:lnTo>
                  <a:pt x="475586" y="772950"/>
                </a:lnTo>
                <a:lnTo>
                  <a:pt x="449275" y="808480"/>
                </a:lnTo>
                <a:lnTo>
                  <a:pt x="419903" y="841691"/>
                </a:lnTo>
                <a:lnTo>
                  <a:pt x="387667" y="872410"/>
                </a:lnTo>
                <a:lnTo>
                  <a:pt x="352764" y="900466"/>
                </a:lnTo>
                <a:lnTo>
                  <a:pt x="315391" y="925686"/>
                </a:lnTo>
                <a:lnTo>
                  <a:pt x="275745" y="947899"/>
                </a:lnTo>
                <a:lnTo>
                  <a:pt x="234022" y="966932"/>
                </a:lnTo>
                <a:lnTo>
                  <a:pt x="190418" y="982614"/>
                </a:lnTo>
                <a:lnTo>
                  <a:pt x="145132" y="994771"/>
                </a:lnTo>
                <a:lnTo>
                  <a:pt x="98360" y="1003233"/>
                </a:lnTo>
                <a:lnTo>
                  <a:pt x="50298" y="1007826"/>
                </a:lnTo>
                <a:lnTo>
                  <a:pt x="1142" y="1008380"/>
                </a:lnTo>
                <a:lnTo>
                  <a:pt x="761" y="1008380"/>
                </a:lnTo>
                <a:lnTo>
                  <a:pt x="380" y="1008380"/>
                </a:lnTo>
                <a:lnTo>
                  <a:pt x="0" y="1008380"/>
                </a:lnTo>
              </a:path>
            </a:pathLst>
          </a:custGeom>
          <a:ln w="28956">
            <a:solidFill>
              <a:srgbClr val="FF87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89096" y="3222751"/>
            <a:ext cx="559435" cy="1008380"/>
          </a:xfrm>
          <a:custGeom>
            <a:avLst/>
            <a:gdLst/>
            <a:ahLst/>
            <a:cxnLst/>
            <a:rect l="l" t="t" r="r" b="b"/>
            <a:pathLst>
              <a:path w="559435" h="1008379">
                <a:moveTo>
                  <a:pt x="522224" y="1008380"/>
                </a:moveTo>
                <a:lnTo>
                  <a:pt x="473151" y="1004812"/>
                </a:lnTo>
                <a:lnTo>
                  <a:pt x="425455" y="997279"/>
                </a:lnTo>
                <a:lnTo>
                  <a:pt x="379321" y="985966"/>
                </a:lnTo>
                <a:lnTo>
                  <a:pt x="334932" y="971056"/>
                </a:lnTo>
                <a:lnTo>
                  <a:pt x="292473" y="952734"/>
                </a:lnTo>
                <a:lnTo>
                  <a:pt x="252127" y="931182"/>
                </a:lnTo>
                <a:lnTo>
                  <a:pt x="214081" y="906586"/>
                </a:lnTo>
                <a:lnTo>
                  <a:pt x="178517" y="879129"/>
                </a:lnTo>
                <a:lnTo>
                  <a:pt x="145621" y="848994"/>
                </a:lnTo>
                <a:lnTo>
                  <a:pt x="115576" y="816367"/>
                </a:lnTo>
                <a:lnTo>
                  <a:pt x="88567" y="781431"/>
                </a:lnTo>
                <a:lnTo>
                  <a:pt x="64779" y="744370"/>
                </a:lnTo>
                <a:lnTo>
                  <a:pt x="44395" y="705368"/>
                </a:lnTo>
                <a:lnTo>
                  <a:pt x="27600" y="664608"/>
                </a:lnTo>
                <a:lnTo>
                  <a:pt x="14579" y="622276"/>
                </a:lnTo>
                <a:lnTo>
                  <a:pt x="5516" y="578554"/>
                </a:lnTo>
                <a:lnTo>
                  <a:pt x="594" y="533628"/>
                </a:lnTo>
                <a:lnTo>
                  <a:pt x="0" y="487680"/>
                </a:lnTo>
                <a:lnTo>
                  <a:pt x="3818" y="441847"/>
                </a:lnTo>
                <a:lnTo>
                  <a:pt x="11882" y="397301"/>
                </a:lnTo>
                <a:lnTo>
                  <a:pt x="23995" y="354215"/>
                </a:lnTo>
                <a:lnTo>
                  <a:pt x="39961" y="312759"/>
                </a:lnTo>
                <a:lnTo>
                  <a:pt x="59582" y="273107"/>
                </a:lnTo>
                <a:lnTo>
                  <a:pt x="82662" y="235429"/>
                </a:lnTo>
                <a:lnTo>
                  <a:pt x="109004" y="199899"/>
                </a:lnTo>
                <a:lnTo>
                  <a:pt x="138412" y="166688"/>
                </a:lnTo>
                <a:lnTo>
                  <a:pt x="170688" y="135969"/>
                </a:lnTo>
                <a:lnTo>
                  <a:pt x="205635" y="107913"/>
                </a:lnTo>
                <a:lnTo>
                  <a:pt x="243057" y="82693"/>
                </a:lnTo>
                <a:lnTo>
                  <a:pt x="282758" y="60480"/>
                </a:lnTo>
                <a:lnTo>
                  <a:pt x="324540" y="41447"/>
                </a:lnTo>
                <a:lnTo>
                  <a:pt x="368206" y="25765"/>
                </a:lnTo>
                <a:lnTo>
                  <a:pt x="413561" y="13608"/>
                </a:lnTo>
                <a:lnTo>
                  <a:pt x="460406" y="5146"/>
                </a:lnTo>
                <a:lnTo>
                  <a:pt x="508546" y="553"/>
                </a:lnTo>
                <a:lnTo>
                  <a:pt x="557783" y="0"/>
                </a:lnTo>
                <a:lnTo>
                  <a:pt x="558164" y="0"/>
                </a:lnTo>
                <a:lnTo>
                  <a:pt x="558545" y="0"/>
                </a:lnTo>
                <a:lnTo>
                  <a:pt x="558926" y="0"/>
                </a:lnTo>
              </a:path>
            </a:pathLst>
          </a:custGeom>
          <a:ln w="28956">
            <a:solidFill>
              <a:srgbClr val="FF87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95847" y="2953093"/>
            <a:ext cx="297815" cy="0"/>
          </a:xfrm>
          <a:custGeom>
            <a:avLst/>
            <a:gdLst/>
            <a:ahLst/>
            <a:cxnLst/>
            <a:rect l="l" t="t" r="r" b="b"/>
            <a:pathLst>
              <a:path w="297814">
                <a:moveTo>
                  <a:pt x="0" y="0"/>
                </a:moveTo>
                <a:lnTo>
                  <a:pt x="297416" y="0"/>
                </a:lnTo>
              </a:path>
            </a:pathLst>
          </a:custGeom>
          <a:ln w="179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22613" y="2953093"/>
            <a:ext cx="332105" cy="0"/>
          </a:xfrm>
          <a:custGeom>
            <a:avLst/>
            <a:gdLst/>
            <a:ahLst/>
            <a:cxnLst/>
            <a:rect l="l" t="t" r="r" b="b"/>
            <a:pathLst>
              <a:path w="332104">
                <a:moveTo>
                  <a:pt x="0" y="0"/>
                </a:moveTo>
                <a:lnTo>
                  <a:pt x="331904" y="0"/>
                </a:lnTo>
              </a:path>
            </a:pathLst>
          </a:custGeom>
          <a:ln w="179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066590" y="2953093"/>
            <a:ext cx="336550" cy="0"/>
          </a:xfrm>
          <a:custGeom>
            <a:avLst/>
            <a:gdLst/>
            <a:ahLst/>
            <a:cxnLst/>
            <a:rect l="l" t="t" r="r" b="b"/>
            <a:pathLst>
              <a:path w="336550">
                <a:moveTo>
                  <a:pt x="0" y="0"/>
                </a:moveTo>
                <a:lnTo>
                  <a:pt x="336217" y="0"/>
                </a:lnTo>
              </a:path>
            </a:pathLst>
          </a:custGeom>
          <a:ln w="179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436422" y="2953093"/>
            <a:ext cx="288925" cy="0"/>
          </a:xfrm>
          <a:custGeom>
            <a:avLst/>
            <a:gdLst/>
            <a:ahLst/>
            <a:cxnLst/>
            <a:rect l="l" t="t" r="r" b="b"/>
            <a:pathLst>
              <a:path w="288925">
                <a:moveTo>
                  <a:pt x="0" y="0"/>
                </a:moveTo>
                <a:lnTo>
                  <a:pt x="288807" y="0"/>
                </a:lnTo>
              </a:path>
            </a:pathLst>
          </a:custGeom>
          <a:ln w="179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164644" y="2912414"/>
            <a:ext cx="2589530" cy="5391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350" i="1" spc="30" dirty="0">
                <a:latin typeface="Times New Roman"/>
                <a:cs typeface="Times New Roman"/>
              </a:rPr>
              <a:t>F </a:t>
            </a:r>
            <a:r>
              <a:rPr sz="3350" spc="25" dirty="0">
                <a:latin typeface="Symbol"/>
                <a:cs typeface="Symbol"/>
              </a:rPr>
              <a:t></a:t>
            </a:r>
            <a:r>
              <a:rPr sz="3350" spc="25" dirty="0">
                <a:latin typeface="Times New Roman"/>
                <a:cs typeface="Times New Roman"/>
              </a:rPr>
              <a:t> </a:t>
            </a:r>
            <a:r>
              <a:rPr sz="3350" i="1" spc="-40" dirty="0">
                <a:latin typeface="Times New Roman"/>
                <a:cs typeface="Times New Roman"/>
              </a:rPr>
              <a:t>b</a:t>
            </a:r>
            <a:r>
              <a:rPr sz="2925" spc="-60" baseline="-24216" dirty="0">
                <a:latin typeface="Times New Roman"/>
                <a:cs typeface="Times New Roman"/>
              </a:rPr>
              <a:t>2 </a:t>
            </a:r>
            <a:r>
              <a:rPr sz="3350" i="1" spc="-55" dirty="0">
                <a:latin typeface="Times New Roman"/>
                <a:cs typeface="Times New Roman"/>
              </a:rPr>
              <a:t>b</a:t>
            </a:r>
            <a:r>
              <a:rPr sz="2925" spc="-82" baseline="-24216" dirty="0">
                <a:latin typeface="Times New Roman"/>
                <a:cs typeface="Times New Roman"/>
              </a:rPr>
              <a:t>0 </a:t>
            </a:r>
            <a:r>
              <a:rPr sz="3350" spc="25" dirty="0">
                <a:latin typeface="Symbol"/>
                <a:cs typeface="Symbol"/>
              </a:rPr>
              <a:t></a:t>
            </a:r>
            <a:r>
              <a:rPr sz="3350" spc="-490" dirty="0">
                <a:latin typeface="Times New Roman"/>
                <a:cs typeface="Times New Roman"/>
              </a:rPr>
              <a:t> </a:t>
            </a:r>
            <a:r>
              <a:rPr sz="3350" i="1" spc="-40" dirty="0">
                <a:latin typeface="Times New Roman"/>
                <a:cs typeface="Times New Roman"/>
              </a:rPr>
              <a:t>b</a:t>
            </a:r>
            <a:r>
              <a:rPr sz="2925" spc="-60" baseline="-24216" dirty="0">
                <a:latin typeface="Times New Roman"/>
                <a:cs typeface="Times New Roman"/>
              </a:rPr>
              <a:t>2 </a:t>
            </a:r>
            <a:r>
              <a:rPr sz="3350" i="1" spc="-150" dirty="0">
                <a:latin typeface="Times New Roman"/>
                <a:cs typeface="Times New Roman"/>
              </a:rPr>
              <a:t>b</a:t>
            </a:r>
            <a:r>
              <a:rPr sz="2925" spc="-225" baseline="-24216" dirty="0">
                <a:latin typeface="Times New Roman"/>
                <a:cs typeface="Times New Roman"/>
              </a:rPr>
              <a:t>1</a:t>
            </a:r>
            <a:endParaRPr sz="2925" baseline="-24216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736591" y="2348483"/>
            <a:ext cx="935990" cy="1728470"/>
          </a:xfrm>
          <a:custGeom>
            <a:avLst/>
            <a:gdLst/>
            <a:ahLst/>
            <a:cxnLst/>
            <a:rect l="l" t="t" r="r" b="b"/>
            <a:pathLst>
              <a:path w="935989" h="1728470">
                <a:moveTo>
                  <a:pt x="29210" y="432053"/>
                </a:moveTo>
                <a:lnTo>
                  <a:pt x="0" y="432053"/>
                </a:lnTo>
                <a:lnTo>
                  <a:pt x="0" y="1296161"/>
                </a:lnTo>
                <a:lnTo>
                  <a:pt x="29210" y="1296161"/>
                </a:lnTo>
                <a:lnTo>
                  <a:pt x="29210" y="432053"/>
                </a:lnTo>
                <a:close/>
              </a:path>
              <a:path w="935989" h="1728470">
                <a:moveTo>
                  <a:pt x="116967" y="432053"/>
                </a:moveTo>
                <a:lnTo>
                  <a:pt x="58547" y="432053"/>
                </a:lnTo>
                <a:lnTo>
                  <a:pt x="58547" y="1296161"/>
                </a:lnTo>
                <a:lnTo>
                  <a:pt x="116967" y="1296161"/>
                </a:lnTo>
                <a:lnTo>
                  <a:pt x="116967" y="432053"/>
                </a:lnTo>
                <a:close/>
              </a:path>
              <a:path w="935989" h="1728470">
                <a:moveTo>
                  <a:pt x="467868" y="0"/>
                </a:moveTo>
                <a:lnTo>
                  <a:pt x="467868" y="432053"/>
                </a:lnTo>
                <a:lnTo>
                  <a:pt x="146177" y="432053"/>
                </a:lnTo>
                <a:lnTo>
                  <a:pt x="146177" y="1296161"/>
                </a:lnTo>
                <a:lnTo>
                  <a:pt x="467868" y="1296161"/>
                </a:lnTo>
                <a:lnTo>
                  <a:pt x="467868" y="1728215"/>
                </a:lnTo>
                <a:lnTo>
                  <a:pt x="935736" y="864107"/>
                </a:lnTo>
                <a:lnTo>
                  <a:pt x="46786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36591" y="2780538"/>
            <a:ext cx="29209" cy="864235"/>
          </a:xfrm>
          <a:custGeom>
            <a:avLst/>
            <a:gdLst/>
            <a:ahLst/>
            <a:cxnLst/>
            <a:rect l="l" t="t" r="r" b="b"/>
            <a:pathLst>
              <a:path w="29210" h="864235">
                <a:moveTo>
                  <a:pt x="0" y="0"/>
                </a:moveTo>
                <a:lnTo>
                  <a:pt x="29210" y="0"/>
                </a:lnTo>
                <a:lnTo>
                  <a:pt x="29210" y="864107"/>
                </a:lnTo>
                <a:lnTo>
                  <a:pt x="0" y="864107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95139" y="2780538"/>
            <a:ext cx="58419" cy="864235"/>
          </a:xfrm>
          <a:custGeom>
            <a:avLst/>
            <a:gdLst/>
            <a:ahLst/>
            <a:cxnLst/>
            <a:rect l="l" t="t" r="r" b="b"/>
            <a:pathLst>
              <a:path w="58420" h="864235">
                <a:moveTo>
                  <a:pt x="0" y="0"/>
                </a:moveTo>
                <a:lnTo>
                  <a:pt x="58420" y="0"/>
                </a:lnTo>
                <a:lnTo>
                  <a:pt x="58420" y="864107"/>
                </a:lnTo>
                <a:lnTo>
                  <a:pt x="0" y="864107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82769" y="2348483"/>
            <a:ext cx="789940" cy="1728470"/>
          </a:xfrm>
          <a:custGeom>
            <a:avLst/>
            <a:gdLst/>
            <a:ahLst/>
            <a:cxnLst/>
            <a:rect l="l" t="t" r="r" b="b"/>
            <a:pathLst>
              <a:path w="789939" h="1728470">
                <a:moveTo>
                  <a:pt x="0" y="432053"/>
                </a:moveTo>
                <a:lnTo>
                  <a:pt x="321690" y="432053"/>
                </a:lnTo>
                <a:lnTo>
                  <a:pt x="321690" y="0"/>
                </a:lnTo>
                <a:lnTo>
                  <a:pt x="789558" y="864107"/>
                </a:lnTo>
                <a:lnTo>
                  <a:pt x="321690" y="1728215"/>
                </a:lnTo>
                <a:lnTo>
                  <a:pt x="321690" y="1296161"/>
                </a:lnTo>
                <a:lnTo>
                  <a:pt x="0" y="1296161"/>
                </a:lnTo>
                <a:lnTo>
                  <a:pt x="0" y="43205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94097" y="4293870"/>
            <a:ext cx="4752340" cy="1945005"/>
          </a:xfrm>
          <a:custGeom>
            <a:avLst/>
            <a:gdLst/>
            <a:ahLst/>
            <a:cxnLst/>
            <a:rect l="l" t="t" r="r" b="b"/>
            <a:pathLst>
              <a:path w="4752340" h="1945004">
                <a:moveTo>
                  <a:pt x="0" y="324103"/>
                </a:moveTo>
                <a:lnTo>
                  <a:pt x="3515" y="276222"/>
                </a:lnTo>
                <a:lnTo>
                  <a:pt x="13726" y="230518"/>
                </a:lnTo>
                <a:lnTo>
                  <a:pt x="30131" y="187493"/>
                </a:lnTo>
                <a:lnTo>
                  <a:pt x="52228" y="147650"/>
                </a:lnTo>
                <a:lnTo>
                  <a:pt x="79515" y="111490"/>
                </a:lnTo>
                <a:lnTo>
                  <a:pt x="111490" y="79515"/>
                </a:lnTo>
                <a:lnTo>
                  <a:pt x="147650" y="52228"/>
                </a:lnTo>
                <a:lnTo>
                  <a:pt x="187493" y="30131"/>
                </a:lnTo>
                <a:lnTo>
                  <a:pt x="230518" y="13726"/>
                </a:lnTo>
                <a:lnTo>
                  <a:pt x="276222" y="3515"/>
                </a:lnTo>
                <a:lnTo>
                  <a:pt x="324103" y="0"/>
                </a:lnTo>
                <a:lnTo>
                  <a:pt x="4427728" y="0"/>
                </a:lnTo>
                <a:lnTo>
                  <a:pt x="4475609" y="3515"/>
                </a:lnTo>
                <a:lnTo>
                  <a:pt x="4521313" y="13726"/>
                </a:lnTo>
                <a:lnTo>
                  <a:pt x="4564338" y="30131"/>
                </a:lnTo>
                <a:lnTo>
                  <a:pt x="4604181" y="52228"/>
                </a:lnTo>
                <a:lnTo>
                  <a:pt x="4640341" y="79515"/>
                </a:lnTo>
                <a:lnTo>
                  <a:pt x="4672316" y="111490"/>
                </a:lnTo>
                <a:lnTo>
                  <a:pt x="4699603" y="147650"/>
                </a:lnTo>
                <a:lnTo>
                  <a:pt x="4721700" y="187493"/>
                </a:lnTo>
                <a:lnTo>
                  <a:pt x="4738105" y="230518"/>
                </a:lnTo>
                <a:lnTo>
                  <a:pt x="4748316" y="276222"/>
                </a:lnTo>
                <a:lnTo>
                  <a:pt x="4751832" y="324103"/>
                </a:lnTo>
                <a:lnTo>
                  <a:pt x="4751832" y="1620507"/>
                </a:lnTo>
                <a:lnTo>
                  <a:pt x="4748316" y="1668403"/>
                </a:lnTo>
                <a:lnTo>
                  <a:pt x="4738105" y="1714117"/>
                </a:lnTo>
                <a:lnTo>
                  <a:pt x="4721700" y="1757147"/>
                </a:lnTo>
                <a:lnTo>
                  <a:pt x="4699603" y="1796993"/>
                </a:lnTo>
                <a:lnTo>
                  <a:pt x="4672316" y="1833152"/>
                </a:lnTo>
                <a:lnTo>
                  <a:pt x="4640341" y="1865124"/>
                </a:lnTo>
                <a:lnTo>
                  <a:pt x="4604181" y="1892407"/>
                </a:lnTo>
                <a:lnTo>
                  <a:pt x="4564338" y="1914500"/>
                </a:lnTo>
                <a:lnTo>
                  <a:pt x="4521313" y="1930901"/>
                </a:lnTo>
                <a:lnTo>
                  <a:pt x="4475609" y="1941109"/>
                </a:lnTo>
                <a:lnTo>
                  <a:pt x="4427728" y="1944623"/>
                </a:lnTo>
                <a:lnTo>
                  <a:pt x="324103" y="1944623"/>
                </a:lnTo>
                <a:lnTo>
                  <a:pt x="276222" y="1941109"/>
                </a:lnTo>
                <a:lnTo>
                  <a:pt x="230518" y="1930901"/>
                </a:lnTo>
                <a:lnTo>
                  <a:pt x="187493" y="1914500"/>
                </a:lnTo>
                <a:lnTo>
                  <a:pt x="147650" y="1892407"/>
                </a:lnTo>
                <a:lnTo>
                  <a:pt x="111490" y="1865124"/>
                </a:lnTo>
                <a:lnTo>
                  <a:pt x="79515" y="1833152"/>
                </a:lnTo>
                <a:lnTo>
                  <a:pt x="52228" y="1796993"/>
                </a:lnTo>
                <a:lnTo>
                  <a:pt x="30131" y="1757147"/>
                </a:lnTo>
                <a:lnTo>
                  <a:pt x="13726" y="1714117"/>
                </a:lnTo>
                <a:lnTo>
                  <a:pt x="3515" y="1668403"/>
                </a:lnTo>
                <a:lnTo>
                  <a:pt x="0" y="1620507"/>
                </a:lnTo>
                <a:lnTo>
                  <a:pt x="0" y="324103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767198" y="4408423"/>
            <a:ext cx="4365625" cy="1733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90"/>
              </a:spcBef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利用约束项化简非完全描</a:t>
            </a:r>
            <a:r>
              <a:rPr sz="28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微软雅黑"/>
                <a:cs typeface="微软雅黑"/>
              </a:rPr>
              <a:t>述 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逻辑函数时，所得到</a:t>
            </a:r>
            <a:r>
              <a:rPr sz="2800" spc="-25" dirty="0">
                <a:solidFill>
                  <a:srgbClr val="0000FF"/>
                </a:solidFill>
                <a:latin typeface="微软雅黑"/>
                <a:cs typeface="微软雅黑"/>
              </a:rPr>
              <a:t>的</a:t>
            </a:r>
            <a:r>
              <a:rPr sz="2800" spc="-1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和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F 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的最</a:t>
            </a:r>
            <a:r>
              <a:rPr sz="2800" spc="-15" dirty="0">
                <a:solidFill>
                  <a:srgbClr val="0000FF"/>
                </a:solidFill>
                <a:latin typeface="微软雅黑"/>
                <a:cs typeface="微软雅黑"/>
              </a:rPr>
              <a:t>简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sz="2800" spc="-10" dirty="0">
                <a:solidFill>
                  <a:srgbClr val="0000FF"/>
                </a:solidFill>
                <a:latin typeface="微软雅黑"/>
                <a:cs typeface="微软雅黑"/>
              </a:rPr>
              <a:t>与或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”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式一定是互补 函数吗？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116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8416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用卡诺图化简非完全描述逻辑</a:t>
            </a:r>
            <a:r>
              <a:rPr spc="-20" dirty="0"/>
              <a:t>函</a:t>
            </a:r>
            <a:r>
              <a:rPr spc="5" dirty="0"/>
              <a:t>数</a:t>
            </a:r>
          </a:p>
        </p:txBody>
      </p:sp>
      <p:sp>
        <p:nvSpPr>
          <p:cNvPr id="3" name="object 3"/>
          <p:cNvSpPr/>
          <p:nvPr/>
        </p:nvSpPr>
        <p:spPr>
          <a:xfrm>
            <a:off x="1562227" y="3595370"/>
            <a:ext cx="2677160" cy="0"/>
          </a:xfrm>
          <a:custGeom>
            <a:avLst/>
            <a:gdLst/>
            <a:ahLst/>
            <a:cxnLst/>
            <a:rect l="l" t="t" r="r" b="b"/>
            <a:pathLst>
              <a:path w="2677160">
                <a:moveTo>
                  <a:pt x="0" y="0"/>
                </a:moveTo>
                <a:lnTo>
                  <a:pt x="267703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65275" y="1700783"/>
            <a:ext cx="504190" cy="432434"/>
          </a:xfrm>
          <a:custGeom>
            <a:avLst/>
            <a:gdLst/>
            <a:ahLst/>
            <a:cxnLst/>
            <a:rect l="l" t="t" r="r" b="b"/>
            <a:pathLst>
              <a:path w="504190" h="432435">
                <a:moveTo>
                  <a:pt x="0" y="0"/>
                </a:moveTo>
                <a:lnTo>
                  <a:pt x="504063" y="43205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42606" y="2255392"/>
            <a:ext cx="1223010" cy="455295"/>
          </a:xfrm>
          <a:custGeom>
            <a:avLst/>
            <a:gdLst/>
            <a:ahLst/>
            <a:cxnLst/>
            <a:rect l="l" t="t" r="r" b="b"/>
            <a:pathLst>
              <a:path w="1223010" h="455294">
                <a:moveTo>
                  <a:pt x="1222513" y="44450"/>
                </a:moveTo>
                <a:lnTo>
                  <a:pt x="1217252" y="83647"/>
                </a:lnTo>
                <a:lnTo>
                  <a:pt x="1207209" y="121684"/>
                </a:lnTo>
                <a:lnTo>
                  <a:pt x="1192608" y="158417"/>
                </a:lnTo>
                <a:lnTo>
                  <a:pt x="1173678" y="193699"/>
                </a:lnTo>
                <a:lnTo>
                  <a:pt x="1150645" y="227388"/>
                </a:lnTo>
                <a:lnTo>
                  <a:pt x="1123736" y="259338"/>
                </a:lnTo>
                <a:lnTo>
                  <a:pt x="1093176" y="289405"/>
                </a:lnTo>
                <a:lnTo>
                  <a:pt x="1059192" y="317445"/>
                </a:lnTo>
                <a:lnTo>
                  <a:pt x="1022012" y="343312"/>
                </a:lnTo>
                <a:lnTo>
                  <a:pt x="981861" y="366863"/>
                </a:lnTo>
                <a:lnTo>
                  <a:pt x="938967" y="387953"/>
                </a:lnTo>
                <a:lnTo>
                  <a:pt x="893555" y="406437"/>
                </a:lnTo>
                <a:lnTo>
                  <a:pt x="845853" y="422171"/>
                </a:lnTo>
                <a:lnTo>
                  <a:pt x="796086" y="435011"/>
                </a:lnTo>
                <a:lnTo>
                  <a:pt x="744482" y="444811"/>
                </a:lnTo>
                <a:lnTo>
                  <a:pt x="691267" y="451428"/>
                </a:lnTo>
                <a:lnTo>
                  <a:pt x="636667" y="454717"/>
                </a:lnTo>
                <a:lnTo>
                  <a:pt x="580909" y="454533"/>
                </a:lnTo>
                <a:lnTo>
                  <a:pt x="525421" y="450802"/>
                </a:lnTo>
                <a:lnTo>
                  <a:pt x="471572" y="443697"/>
                </a:lnTo>
                <a:lnTo>
                  <a:pt x="419568" y="433376"/>
                </a:lnTo>
                <a:lnTo>
                  <a:pt x="369614" y="420001"/>
                </a:lnTo>
                <a:lnTo>
                  <a:pt x="321914" y="403731"/>
                </a:lnTo>
                <a:lnTo>
                  <a:pt x="276674" y="384725"/>
                </a:lnTo>
                <a:lnTo>
                  <a:pt x="234098" y="363144"/>
                </a:lnTo>
                <a:lnTo>
                  <a:pt x="194392" y="339148"/>
                </a:lnTo>
                <a:lnTo>
                  <a:pt x="157761" y="312896"/>
                </a:lnTo>
                <a:lnTo>
                  <a:pt x="124410" y="284548"/>
                </a:lnTo>
                <a:lnTo>
                  <a:pt x="94543" y="254266"/>
                </a:lnTo>
                <a:lnTo>
                  <a:pt x="68366" y="222207"/>
                </a:lnTo>
                <a:lnTo>
                  <a:pt x="46083" y="188533"/>
                </a:lnTo>
                <a:lnTo>
                  <a:pt x="27900" y="153403"/>
                </a:lnTo>
                <a:lnTo>
                  <a:pt x="14022" y="116977"/>
                </a:lnTo>
                <a:lnTo>
                  <a:pt x="4653" y="79415"/>
                </a:lnTo>
                <a:lnTo>
                  <a:pt x="0" y="40877"/>
                </a:lnTo>
                <a:lnTo>
                  <a:pt x="265" y="1524"/>
                </a:lnTo>
                <a:lnTo>
                  <a:pt x="265" y="1016"/>
                </a:lnTo>
                <a:lnTo>
                  <a:pt x="392" y="508"/>
                </a:lnTo>
                <a:lnTo>
                  <a:pt x="392" y="0"/>
                </a:lnTo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42872" y="3573341"/>
            <a:ext cx="1223010" cy="455295"/>
          </a:xfrm>
          <a:custGeom>
            <a:avLst/>
            <a:gdLst/>
            <a:ahLst/>
            <a:cxnLst/>
            <a:rect l="l" t="t" r="r" b="b"/>
            <a:pathLst>
              <a:path w="1223010" h="455295">
                <a:moveTo>
                  <a:pt x="0" y="410267"/>
                </a:moveTo>
                <a:lnTo>
                  <a:pt x="5260" y="371069"/>
                </a:lnTo>
                <a:lnTo>
                  <a:pt x="15304" y="333032"/>
                </a:lnTo>
                <a:lnTo>
                  <a:pt x="29904" y="296299"/>
                </a:lnTo>
                <a:lnTo>
                  <a:pt x="48834" y="261017"/>
                </a:lnTo>
                <a:lnTo>
                  <a:pt x="71868" y="227328"/>
                </a:lnTo>
                <a:lnTo>
                  <a:pt x="98777" y="195378"/>
                </a:lnTo>
                <a:lnTo>
                  <a:pt x="129337" y="165311"/>
                </a:lnTo>
                <a:lnTo>
                  <a:pt x="163320" y="137271"/>
                </a:lnTo>
                <a:lnTo>
                  <a:pt x="200501" y="111404"/>
                </a:lnTo>
                <a:lnTo>
                  <a:pt x="240651" y="87853"/>
                </a:lnTo>
                <a:lnTo>
                  <a:pt x="283546" y="66763"/>
                </a:lnTo>
                <a:lnTo>
                  <a:pt x="328958" y="48279"/>
                </a:lnTo>
                <a:lnTo>
                  <a:pt x="376660" y="32545"/>
                </a:lnTo>
                <a:lnTo>
                  <a:pt x="426427" y="19705"/>
                </a:lnTo>
                <a:lnTo>
                  <a:pt x="478031" y="9905"/>
                </a:lnTo>
                <a:lnTo>
                  <a:pt x="531246" y="3288"/>
                </a:lnTo>
                <a:lnTo>
                  <a:pt x="585846" y="0"/>
                </a:lnTo>
                <a:lnTo>
                  <a:pt x="641603" y="184"/>
                </a:lnTo>
                <a:lnTo>
                  <a:pt x="697092" y="3914"/>
                </a:lnTo>
                <a:lnTo>
                  <a:pt x="750941" y="11019"/>
                </a:lnTo>
                <a:lnTo>
                  <a:pt x="802945" y="21340"/>
                </a:lnTo>
                <a:lnTo>
                  <a:pt x="852899" y="34715"/>
                </a:lnTo>
                <a:lnTo>
                  <a:pt x="900599" y="50985"/>
                </a:lnTo>
                <a:lnTo>
                  <a:pt x="945839" y="69991"/>
                </a:lnTo>
                <a:lnTo>
                  <a:pt x="988415" y="91572"/>
                </a:lnTo>
                <a:lnTo>
                  <a:pt x="1028120" y="115568"/>
                </a:lnTo>
                <a:lnTo>
                  <a:pt x="1064752" y="141820"/>
                </a:lnTo>
                <a:lnTo>
                  <a:pt x="1098103" y="170168"/>
                </a:lnTo>
                <a:lnTo>
                  <a:pt x="1127970" y="200450"/>
                </a:lnTo>
                <a:lnTo>
                  <a:pt x="1154147" y="232509"/>
                </a:lnTo>
                <a:lnTo>
                  <a:pt x="1176430" y="266183"/>
                </a:lnTo>
                <a:lnTo>
                  <a:pt x="1194613" y="301313"/>
                </a:lnTo>
                <a:lnTo>
                  <a:pt x="1208491" y="337739"/>
                </a:lnTo>
                <a:lnTo>
                  <a:pt x="1217859" y="375301"/>
                </a:lnTo>
                <a:lnTo>
                  <a:pt x="1222513" y="413839"/>
                </a:lnTo>
                <a:lnTo>
                  <a:pt x="1222247" y="453193"/>
                </a:lnTo>
                <a:lnTo>
                  <a:pt x="1222247" y="453701"/>
                </a:lnTo>
                <a:lnTo>
                  <a:pt x="1222120" y="454209"/>
                </a:lnTo>
                <a:lnTo>
                  <a:pt x="1222120" y="454717"/>
                </a:lnTo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42110" y="2205989"/>
            <a:ext cx="1152525" cy="864235"/>
          </a:xfrm>
          <a:custGeom>
            <a:avLst/>
            <a:gdLst/>
            <a:ahLst/>
            <a:cxnLst/>
            <a:rect l="l" t="t" r="r" b="b"/>
            <a:pathLst>
              <a:path w="1152525" h="864235">
                <a:moveTo>
                  <a:pt x="0" y="144018"/>
                </a:moveTo>
                <a:lnTo>
                  <a:pt x="7345" y="98511"/>
                </a:lnTo>
                <a:lnTo>
                  <a:pt x="27797" y="58978"/>
                </a:lnTo>
                <a:lnTo>
                  <a:pt x="58978" y="27797"/>
                </a:lnTo>
                <a:lnTo>
                  <a:pt x="98511" y="7345"/>
                </a:lnTo>
                <a:lnTo>
                  <a:pt x="144017" y="0"/>
                </a:lnTo>
                <a:lnTo>
                  <a:pt x="1008126" y="0"/>
                </a:lnTo>
                <a:lnTo>
                  <a:pt x="1053632" y="7345"/>
                </a:lnTo>
                <a:lnTo>
                  <a:pt x="1093165" y="27797"/>
                </a:lnTo>
                <a:lnTo>
                  <a:pt x="1124346" y="58978"/>
                </a:lnTo>
                <a:lnTo>
                  <a:pt x="1144798" y="98511"/>
                </a:lnTo>
                <a:lnTo>
                  <a:pt x="1152144" y="144018"/>
                </a:lnTo>
                <a:lnTo>
                  <a:pt x="1152144" y="720089"/>
                </a:lnTo>
                <a:lnTo>
                  <a:pt x="1144798" y="765596"/>
                </a:lnTo>
                <a:lnTo>
                  <a:pt x="1124346" y="805129"/>
                </a:lnTo>
                <a:lnTo>
                  <a:pt x="1093165" y="836310"/>
                </a:lnTo>
                <a:lnTo>
                  <a:pt x="1053632" y="856762"/>
                </a:lnTo>
                <a:lnTo>
                  <a:pt x="1008126" y="864108"/>
                </a:lnTo>
                <a:lnTo>
                  <a:pt x="144017" y="864108"/>
                </a:lnTo>
                <a:lnTo>
                  <a:pt x="98511" y="856762"/>
                </a:lnTo>
                <a:lnTo>
                  <a:pt x="58978" y="836310"/>
                </a:lnTo>
                <a:lnTo>
                  <a:pt x="27797" y="805129"/>
                </a:lnTo>
                <a:lnTo>
                  <a:pt x="7345" y="765596"/>
                </a:lnTo>
                <a:lnTo>
                  <a:pt x="0" y="720089"/>
                </a:lnTo>
                <a:lnTo>
                  <a:pt x="0" y="144018"/>
                </a:lnTo>
                <a:close/>
              </a:path>
            </a:pathLst>
          </a:custGeom>
          <a:ln w="28956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36386" y="3590925"/>
            <a:ext cx="2677160" cy="0"/>
          </a:xfrm>
          <a:custGeom>
            <a:avLst/>
            <a:gdLst/>
            <a:ahLst/>
            <a:cxnLst/>
            <a:rect l="l" t="t" r="r" b="b"/>
            <a:pathLst>
              <a:path w="2677159">
                <a:moveTo>
                  <a:pt x="0" y="0"/>
                </a:moveTo>
                <a:lnTo>
                  <a:pt x="267703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38928" y="1696211"/>
            <a:ext cx="504190" cy="432434"/>
          </a:xfrm>
          <a:custGeom>
            <a:avLst/>
            <a:gdLst/>
            <a:ahLst/>
            <a:cxnLst/>
            <a:rect l="l" t="t" r="r" b="b"/>
            <a:pathLst>
              <a:path w="504189" h="432435">
                <a:moveTo>
                  <a:pt x="0" y="0"/>
                </a:moveTo>
                <a:lnTo>
                  <a:pt x="504063" y="43205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5940" y="813213"/>
            <a:ext cx="9192260" cy="106172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535"/>
              </a:spcBef>
            </a:pPr>
            <a:r>
              <a:rPr sz="4200" spc="-7" baseline="-5952" dirty="0">
                <a:latin typeface="微软雅黑"/>
                <a:cs typeface="微软雅黑"/>
              </a:rPr>
              <a:t>例：求逻辑函</a:t>
            </a:r>
            <a:r>
              <a:rPr sz="4200" spc="-217" baseline="-5952" dirty="0">
                <a:latin typeface="微软雅黑"/>
                <a:cs typeface="微软雅黑"/>
              </a:rPr>
              <a:t>数</a:t>
            </a:r>
            <a:r>
              <a:rPr sz="2050" i="1" spc="25" dirty="0">
                <a:latin typeface="Times New Roman"/>
                <a:cs typeface="Times New Roman"/>
              </a:rPr>
              <a:t>F</a:t>
            </a:r>
            <a:r>
              <a:rPr sz="2050" i="1" spc="145" dirty="0">
                <a:latin typeface="Times New Roman"/>
                <a:cs typeface="Times New Roman"/>
              </a:rPr>
              <a:t> </a:t>
            </a:r>
            <a:r>
              <a:rPr sz="2050" spc="20" dirty="0">
                <a:latin typeface="Symbol"/>
                <a:cs typeface="Symbol"/>
              </a:rPr>
              <a:t></a:t>
            </a:r>
            <a:r>
              <a:rPr sz="2050" spc="-110" dirty="0">
                <a:latin typeface="Times New Roman"/>
                <a:cs typeface="Times New Roman"/>
              </a:rPr>
              <a:t> </a:t>
            </a:r>
            <a:r>
              <a:rPr sz="4650" spc="44" baseline="-8960" dirty="0">
                <a:latin typeface="Symbol"/>
                <a:cs typeface="Symbol"/>
              </a:rPr>
              <a:t></a:t>
            </a:r>
            <a:r>
              <a:rPr sz="4650" spc="-735" baseline="-8960" dirty="0">
                <a:latin typeface="Times New Roman"/>
                <a:cs typeface="Times New Roman"/>
              </a:rPr>
              <a:t> </a:t>
            </a:r>
            <a:r>
              <a:rPr sz="2050" i="1" spc="35" dirty="0">
                <a:latin typeface="Times New Roman"/>
                <a:cs typeface="Times New Roman"/>
              </a:rPr>
              <a:t>M</a:t>
            </a:r>
            <a:r>
              <a:rPr sz="2050" i="1" spc="-180" dirty="0">
                <a:latin typeface="Times New Roman"/>
                <a:cs typeface="Times New Roman"/>
              </a:rPr>
              <a:t> </a:t>
            </a:r>
            <a:r>
              <a:rPr sz="2050" spc="-35" dirty="0">
                <a:latin typeface="Times New Roman"/>
                <a:cs typeface="Times New Roman"/>
              </a:rPr>
              <a:t>(3,6,7,10,12)</a:t>
            </a:r>
            <a:r>
              <a:rPr sz="2050" spc="-2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Symbol"/>
                <a:cs typeface="Symbol"/>
              </a:rPr>
              <a:t></a:t>
            </a:r>
            <a:r>
              <a:rPr sz="4650" baseline="-8960" dirty="0">
                <a:latin typeface="Symbol"/>
                <a:cs typeface="Symbol"/>
              </a:rPr>
              <a:t></a:t>
            </a:r>
            <a:r>
              <a:rPr sz="2150" i="1" dirty="0">
                <a:latin typeface="Symbol"/>
                <a:cs typeface="Symbol"/>
              </a:rPr>
              <a:t></a:t>
            </a:r>
            <a:r>
              <a:rPr sz="2050" dirty="0">
                <a:latin typeface="Times New Roman"/>
                <a:cs typeface="Times New Roman"/>
              </a:rPr>
              <a:t>(2,4,11,13)</a:t>
            </a:r>
            <a:r>
              <a:rPr sz="2050" spc="310" dirty="0">
                <a:latin typeface="Times New Roman"/>
                <a:cs typeface="Times New Roman"/>
              </a:rPr>
              <a:t> </a:t>
            </a:r>
            <a:r>
              <a:rPr sz="4200" spc="-7" baseline="-5952" dirty="0">
                <a:latin typeface="微软雅黑"/>
                <a:cs typeface="微软雅黑"/>
              </a:rPr>
              <a:t>的最简</a:t>
            </a:r>
            <a:r>
              <a:rPr sz="4200" spc="-7" baseline="-5952" dirty="0">
                <a:latin typeface="Arial"/>
                <a:cs typeface="Arial"/>
              </a:rPr>
              <a:t>“</a:t>
            </a:r>
            <a:r>
              <a:rPr sz="4200" spc="-7" baseline="-5952" dirty="0">
                <a:latin typeface="微软雅黑"/>
                <a:cs typeface="微软雅黑"/>
              </a:rPr>
              <a:t>与或</a:t>
            </a:r>
            <a:r>
              <a:rPr sz="4200" baseline="-5952" dirty="0">
                <a:latin typeface="Arial"/>
                <a:cs typeface="Arial"/>
              </a:rPr>
              <a:t>”</a:t>
            </a:r>
            <a:r>
              <a:rPr sz="4200" spc="-7" baseline="-5952" dirty="0">
                <a:latin typeface="微软雅黑"/>
                <a:cs typeface="微软雅黑"/>
              </a:rPr>
              <a:t>式</a:t>
            </a:r>
            <a:endParaRPr sz="4200" baseline="-5952">
              <a:latin typeface="微软雅黑"/>
              <a:cs typeface="微软雅黑"/>
            </a:endParaRPr>
          </a:p>
          <a:p>
            <a:pPr marL="692150">
              <a:lnSpc>
                <a:spcPct val="100000"/>
              </a:lnSpc>
              <a:spcBef>
                <a:spcPts val="840"/>
              </a:spcBef>
              <a:tabLst>
                <a:tab pos="4766310" algn="l"/>
              </a:tabLst>
            </a:pPr>
            <a:r>
              <a:rPr sz="1800" spc="-5" dirty="0">
                <a:latin typeface="Arial"/>
                <a:cs typeface="Arial"/>
              </a:rPr>
              <a:t>CD	</a:t>
            </a:r>
            <a:r>
              <a:rPr sz="2700" spc="-15" baseline="1543" dirty="0">
                <a:latin typeface="Arial"/>
                <a:cs typeface="Arial"/>
              </a:rPr>
              <a:t>CD</a:t>
            </a:r>
            <a:endParaRPr sz="2700" baseline="1543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66800" y="1830388"/>
          <a:ext cx="7447279" cy="23143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79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30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98131">
                <a:tc>
                  <a:txBody>
                    <a:bodyPr/>
                    <a:lstStyle/>
                    <a:p>
                      <a:pPr marL="31750">
                        <a:lnSpc>
                          <a:spcPts val="202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202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3035" algn="r">
                        <a:lnSpc>
                          <a:spcPts val="202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020"/>
                        </a:lnSpc>
                      </a:pPr>
                      <a:r>
                        <a:rPr sz="1800" spc="-75" dirty="0">
                          <a:latin typeface="Arial"/>
                          <a:cs typeface="Arial"/>
                        </a:rPr>
                        <a:t>11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315" algn="r">
                        <a:lnSpc>
                          <a:spcPts val="202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ts val="1989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ts val="1989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algn="ctr">
                        <a:lnSpc>
                          <a:spcPts val="1989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989"/>
                        </a:lnSpc>
                      </a:pPr>
                      <a:r>
                        <a:rPr sz="1800" spc="-14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1989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192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0979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0504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747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987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01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096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1770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01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273">
                <a:tc gridSpan="2"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45" dirty="0">
                          <a:latin typeface="Arial"/>
                          <a:cs typeface="Arial"/>
                        </a:rPr>
                        <a:t>11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361315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607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13055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26390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17500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R="112395" algn="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40" dirty="0">
                          <a:latin typeface="Arial"/>
                          <a:cs typeface="Arial"/>
                        </a:rPr>
                        <a:t>11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R="78740" algn="r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13690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27025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18135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x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32105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3009138" y="3070098"/>
            <a:ext cx="1152525" cy="502920"/>
          </a:xfrm>
          <a:custGeom>
            <a:avLst/>
            <a:gdLst/>
            <a:ahLst/>
            <a:cxnLst/>
            <a:rect l="l" t="t" r="r" b="b"/>
            <a:pathLst>
              <a:path w="1152525" h="502920">
                <a:moveTo>
                  <a:pt x="576072" y="502919"/>
                </a:moveTo>
                <a:lnTo>
                  <a:pt x="513306" y="501445"/>
                </a:lnTo>
                <a:lnTo>
                  <a:pt x="452497" y="497122"/>
                </a:lnTo>
                <a:lnTo>
                  <a:pt x="393996" y="490106"/>
                </a:lnTo>
                <a:lnTo>
                  <a:pt x="338155" y="480548"/>
                </a:lnTo>
                <a:lnTo>
                  <a:pt x="285326" y="468601"/>
                </a:lnTo>
                <a:lnTo>
                  <a:pt x="235860" y="454420"/>
                </a:lnTo>
                <a:lnTo>
                  <a:pt x="190108" y="438156"/>
                </a:lnTo>
                <a:lnTo>
                  <a:pt x="148422" y="419963"/>
                </a:lnTo>
                <a:lnTo>
                  <a:pt x="111154" y="399995"/>
                </a:lnTo>
                <a:lnTo>
                  <a:pt x="78655" y="378403"/>
                </a:lnTo>
                <a:lnTo>
                  <a:pt x="29370" y="330964"/>
                </a:lnTo>
                <a:lnTo>
                  <a:pt x="3380" y="278869"/>
                </a:lnTo>
                <a:lnTo>
                  <a:pt x="0" y="251460"/>
                </a:lnTo>
                <a:lnTo>
                  <a:pt x="3380" y="224050"/>
                </a:lnTo>
                <a:lnTo>
                  <a:pt x="29370" y="171955"/>
                </a:lnTo>
                <a:lnTo>
                  <a:pt x="78655" y="124516"/>
                </a:lnTo>
                <a:lnTo>
                  <a:pt x="111154" y="102924"/>
                </a:lnTo>
                <a:lnTo>
                  <a:pt x="148422" y="82956"/>
                </a:lnTo>
                <a:lnTo>
                  <a:pt x="190108" y="64763"/>
                </a:lnTo>
                <a:lnTo>
                  <a:pt x="235860" y="48499"/>
                </a:lnTo>
                <a:lnTo>
                  <a:pt x="285326" y="34318"/>
                </a:lnTo>
                <a:lnTo>
                  <a:pt x="338155" y="22371"/>
                </a:lnTo>
                <a:lnTo>
                  <a:pt x="393996" y="12813"/>
                </a:lnTo>
                <a:lnTo>
                  <a:pt x="452497" y="5797"/>
                </a:lnTo>
                <a:lnTo>
                  <a:pt x="513306" y="1474"/>
                </a:lnTo>
                <a:lnTo>
                  <a:pt x="576072" y="0"/>
                </a:lnTo>
                <a:lnTo>
                  <a:pt x="638837" y="1474"/>
                </a:lnTo>
                <a:lnTo>
                  <a:pt x="699646" y="5797"/>
                </a:lnTo>
                <a:lnTo>
                  <a:pt x="758147" y="12813"/>
                </a:lnTo>
                <a:lnTo>
                  <a:pt x="813988" y="22371"/>
                </a:lnTo>
                <a:lnTo>
                  <a:pt x="866817" y="34318"/>
                </a:lnTo>
                <a:lnTo>
                  <a:pt x="916283" y="48499"/>
                </a:lnTo>
                <a:lnTo>
                  <a:pt x="962035" y="64763"/>
                </a:lnTo>
                <a:lnTo>
                  <a:pt x="1003721" y="82956"/>
                </a:lnTo>
                <a:lnTo>
                  <a:pt x="1040989" y="102924"/>
                </a:lnTo>
                <a:lnTo>
                  <a:pt x="1073488" y="124516"/>
                </a:lnTo>
                <a:lnTo>
                  <a:pt x="1122773" y="171955"/>
                </a:lnTo>
                <a:lnTo>
                  <a:pt x="1148763" y="224050"/>
                </a:lnTo>
                <a:lnTo>
                  <a:pt x="1152144" y="251460"/>
                </a:lnTo>
                <a:lnTo>
                  <a:pt x="1148763" y="278869"/>
                </a:lnTo>
                <a:lnTo>
                  <a:pt x="1122773" y="330964"/>
                </a:lnTo>
                <a:lnTo>
                  <a:pt x="1073488" y="378403"/>
                </a:lnTo>
                <a:lnTo>
                  <a:pt x="1040989" y="399995"/>
                </a:lnTo>
                <a:lnTo>
                  <a:pt x="1003721" y="419963"/>
                </a:lnTo>
                <a:lnTo>
                  <a:pt x="962035" y="438156"/>
                </a:lnTo>
                <a:lnTo>
                  <a:pt x="916283" y="454420"/>
                </a:lnTo>
                <a:lnTo>
                  <a:pt x="866817" y="468601"/>
                </a:lnTo>
                <a:lnTo>
                  <a:pt x="813988" y="480548"/>
                </a:lnTo>
                <a:lnTo>
                  <a:pt x="758147" y="490106"/>
                </a:lnTo>
                <a:lnTo>
                  <a:pt x="699646" y="497122"/>
                </a:lnTo>
                <a:lnTo>
                  <a:pt x="638837" y="501445"/>
                </a:lnTo>
                <a:lnTo>
                  <a:pt x="576072" y="502919"/>
                </a:lnTo>
                <a:close/>
              </a:path>
            </a:pathLst>
          </a:custGeom>
          <a:ln w="2895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13269" y="3070098"/>
            <a:ext cx="1152525" cy="502920"/>
          </a:xfrm>
          <a:custGeom>
            <a:avLst/>
            <a:gdLst/>
            <a:ahLst/>
            <a:cxnLst/>
            <a:rect l="l" t="t" r="r" b="b"/>
            <a:pathLst>
              <a:path w="1152525" h="502920">
                <a:moveTo>
                  <a:pt x="576072" y="502919"/>
                </a:moveTo>
                <a:lnTo>
                  <a:pt x="513306" y="501445"/>
                </a:lnTo>
                <a:lnTo>
                  <a:pt x="452497" y="497122"/>
                </a:lnTo>
                <a:lnTo>
                  <a:pt x="393996" y="490106"/>
                </a:lnTo>
                <a:lnTo>
                  <a:pt x="338155" y="480548"/>
                </a:lnTo>
                <a:lnTo>
                  <a:pt x="285326" y="468601"/>
                </a:lnTo>
                <a:lnTo>
                  <a:pt x="235860" y="454420"/>
                </a:lnTo>
                <a:lnTo>
                  <a:pt x="190108" y="438156"/>
                </a:lnTo>
                <a:lnTo>
                  <a:pt x="148422" y="419963"/>
                </a:lnTo>
                <a:lnTo>
                  <a:pt x="111154" y="399995"/>
                </a:lnTo>
                <a:lnTo>
                  <a:pt x="78655" y="378403"/>
                </a:lnTo>
                <a:lnTo>
                  <a:pt x="29370" y="330964"/>
                </a:lnTo>
                <a:lnTo>
                  <a:pt x="3380" y="278869"/>
                </a:lnTo>
                <a:lnTo>
                  <a:pt x="0" y="251460"/>
                </a:lnTo>
                <a:lnTo>
                  <a:pt x="3380" y="224050"/>
                </a:lnTo>
                <a:lnTo>
                  <a:pt x="29370" y="171955"/>
                </a:lnTo>
                <a:lnTo>
                  <a:pt x="78655" y="124516"/>
                </a:lnTo>
                <a:lnTo>
                  <a:pt x="111154" y="102924"/>
                </a:lnTo>
                <a:lnTo>
                  <a:pt x="148422" y="82956"/>
                </a:lnTo>
                <a:lnTo>
                  <a:pt x="190108" y="64763"/>
                </a:lnTo>
                <a:lnTo>
                  <a:pt x="235860" y="48499"/>
                </a:lnTo>
                <a:lnTo>
                  <a:pt x="285326" y="34318"/>
                </a:lnTo>
                <a:lnTo>
                  <a:pt x="338155" y="22371"/>
                </a:lnTo>
                <a:lnTo>
                  <a:pt x="393996" y="12813"/>
                </a:lnTo>
                <a:lnTo>
                  <a:pt x="452497" y="5797"/>
                </a:lnTo>
                <a:lnTo>
                  <a:pt x="513306" y="1474"/>
                </a:lnTo>
                <a:lnTo>
                  <a:pt x="576072" y="0"/>
                </a:lnTo>
                <a:lnTo>
                  <a:pt x="638837" y="1474"/>
                </a:lnTo>
                <a:lnTo>
                  <a:pt x="699646" y="5797"/>
                </a:lnTo>
                <a:lnTo>
                  <a:pt x="758147" y="12813"/>
                </a:lnTo>
                <a:lnTo>
                  <a:pt x="813988" y="22371"/>
                </a:lnTo>
                <a:lnTo>
                  <a:pt x="866817" y="34318"/>
                </a:lnTo>
                <a:lnTo>
                  <a:pt x="916283" y="48499"/>
                </a:lnTo>
                <a:lnTo>
                  <a:pt x="962035" y="64763"/>
                </a:lnTo>
                <a:lnTo>
                  <a:pt x="1003721" y="82956"/>
                </a:lnTo>
                <a:lnTo>
                  <a:pt x="1040989" y="102924"/>
                </a:lnTo>
                <a:lnTo>
                  <a:pt x="1073488" y="124516"/>
                </a:lnTo>
                <a:lnTo>
                  <a:pt x="1122773" y="171955"/>
                </a:lnTo>
                <a:lnTo>
                  <a:pt x="1148763" y="224050"/>
                </a:lnTo>
                <a:lnTo>
                  <a:pt x="1152144" y="251460"/>
                </a:lnTo>
                <a:lnTo>
                  <a:pt x="1148763" y="278869"/>
                </a:lnTo>
                <a:lnTo>
                  <a:pt x="1122773" y="330964"/>
                </a:lnTo>
                <a:lnTo>
                  <a:pt x="1073488" y="378403"/>
                </a:lnTo>
                <a:lnTo>
                  <a:pt x="1040989" y="399995"/>
                </a:lnTo>
                <a:lnTo>
                  <a:pt x="1003721" y="419963"/>
                </a:lnTo>
                <a:lnTo>
                  <a:pt x="962035" y="438156"/>
                </a:lnTo>
                <a:lnTo>
                  <a:pt x="916283" y="454420"/>
                </a:lnTo>
                <a:lnTo>
                  <a:pt x="866817" y="468601"/>
                </a:lnTo>
                <a:lnTo>
                  <a:pt x="813988" y="480548"/>
                </a:lnTo>
                <a:lnTo>
                  <a:pt x="758147" y="490106"/>
                </a:lnTo>
                <a:lnTo>
                  <a:pt x="699646" y="497122"/>
                </a:lnTo>
                <a:lnTo>
                  <a:pt x="638837" y="501445"/>
                </a:lnTo>
                <a:lnTo>
                  <a:pt x="576072" y="502919"/>
                </a:lnTo>
                <a:close/>
              </a:path>
            </a:pathLst>
          </a:custGeom>
          <a:ln w="2895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46737" y="2255392"/>
            <a:ext cx="1223010" cy="455295"/>
          </a:xfrm>
          <a:custGeom>
            <a:avLst/>
            <a:gdLst/>
            <a:ahLst/>
            <a:cxnLst/>
            <a:rect l="l" t="t" r="r" b="b"/>
            <a:pathLst>
              <a:path w="1223009" h="455294">
                <a:moveTo>
                  <a:pt x="1222513" y="44450"/>
                </a:moveTo>
                <a:lnTo>
                  <a:pt x="1217252" y="83647"/>
                </a:lnTo>
                <a:lnTo>
                  <a:pt x="1207209" y="121684"/>
                </a:lnTo>
                <a:lnTo>
                  <a:pt x="1192608" y="158417"/>
                </a:lnTo>
                <a:lnTo>
                  <a:pt x="1173678" y="193699"/>
                </a:lnTo>
                <a:lnTo>
                  <a:pt x="1150645" y="227388"/>
                </a:lnTo>
                <a:lnTo>
                  <a:pt x="1123736" y="259338"/>
                </a:lnTo>
                <a:lnTo>
                  <a:pt x="1093176" y="289405"/>
                </a:lnTo>
                <a:lnTo>
                  <a:pt x="1059192" y="317445"/>
                </a:lnTo>
                <a:lnTo>
                  <a:pt x="1022012" y="343312"/>
                </a:lnTo>
                <a:lnTo>
                  <a:pt x="981861" y="366863"/>
                </a:lnTo>
                <a:lnTo>
                  <a:pt x="938967" y="387953"/>
                </a:lnTo>
                <a:lnTo>
                  <a:pt x="893555" y="406437"/>
                </a:lnTo>
                <a:lnTo>
                  <a:pt x="845853" y="422171"/>
                </a:lnTo>
                <a:lnTo>
                  <a:pt x="796086" y="435011"/>
                </a:lnTo>
                <a:lnTo>
                  <a:pt x="744482" y="444811"/>
                </a:lnTo>
                <a:lnTo>
                  <a:pt x="691267" y="451428"/>
                </a:lnTo>
                <a:lnTo>
                  <a:pt x="636667" y="454717"/>
                </a:lnTo>
                <a:lnTo>
                  <a:pt x="580909" y="454533"/>
                </a:lnTo>
                <a:lnTo>
                  <a:pt x="525421" y="450802"/>
                </a:lnTo>
                <a:lnTo>
                  <a:pt x="471572" y="443697"/>
                </a:lnTo>
                <a:lnTo>
                  <a:pt x="419568" y="433376"/>
                </a:lnTo>
                <a:lnTo>
                  <a:pt x="369614" y="420001"/>
                </a:lnTo>
                <a:lnTo>
                  <a:pt x="321914" y="403731"/>
                </a:lnTo>
                <a:lnTo>
                  <a:pt x="276674" y="384725"/>
                </a:lnTo>
                <a:lnTo>
                  <a:pt x="234098" y="363144"/>
                </a:lnTo>
                <a:lnTo>
                  <a:pt x="194392" y="339148"/>
                </a:lnTo>
                <a:lnTo>
                  <a:pt x="157761" y="312896"/>
                </a:lnTo>
                <a:lnTo>
                  <a:pt x="124410" y="284548"/>
                </a:lnTo>
                <a:lnTo>
                  <a:pt x="94543" y="254266"/>
                </a:lnTo>
                <a:lnTo>
                  <a:pt x="68366" y="222207"/>
                </a:lnTo>
                <a:lnTo>
                  <a:pt x="46083" y="188533"/>
                </a:lnTo>
                <a:lnTo>
                  <a:pt x="27900" y="153403"/>
                </a:lnTo>
                <a:lnTo>
                  <a:pt x="14022" y="116977"/>
                </a:lnTo>
                <a:lnTo>
                  <a:pt x="4653" y="79415"/>
                </a:lnTo>
                <a:lnTo>
                  <a:pt x="0" y="40877"/>
                </a:lnTo>
                <a:lnTo>
                  <a:pt x="265" y="1524"/>
                </a:lnTo>
                <a:lnTo>
                  <a:pt x="265" y="1016"/>
                </a:lnTo>
                <a:lnTo>
                  <a:pt x="392" y="508"/>
                </a:lnTo>
                <a:lnTo>
                  <a:pt x="392" y="0"/>
                </a:lnTo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47003" y="3573341"/>
            <a:ext cx="1223010" cy="455295"/>
          </a:xfrm>
          <a:custGeom>
            <a:avLst/>
            <a:gdLst/>
            <a:ahLst/>
            <a:cxnLst/>
            <a:rect l="l" t="t" r="r" b="b"/>
            <a:pathLst>
              <a:path w="1223009" h="455295">
                <a:moveTo>
                  <a:pt x="0" y="410267"/>
                </a:moveTo>
                <a:lnTo>
                  <a:pt x="5260" y="371069"/>
                </a:lnTo>
                <a:lnTo>
                  <a:pt x="15304" y="333032"/>
                </a:lnTo>
                <a:lnTo>
                  <a:pt x="29904" y="296299"/>
                </a:lnTo>
                <a:lnTo>
                  <a:pt x="48834" y="261017"/>
                </a:lnTo>
                <a:lnTo>
                  <a:pt x="71868" y="227328"/>
                </a:lnTo>
                <a:lnTo>
                  <a:pt x="98777" y="195378"/>
                </a:lnTo>
                <a:lnTo>
                  <a:pt x="129337" y="165311"/>
                </a:lnTo>
                <a:lnTo>
                  <a:pt x="163320" y="137271"/>
                </a:lnTo>
                <a:lnTo>
                  <a:pt x="200501" y="111404"/>
                </a:lnTo>
                <a:lnTo>
                  <a:pt x="240651" y="87853"/>
                </a:lnTo>
                <a:lnTo>
                  <a:pt x="283546" y="66763"/>
                </a:lnTo>
                <a:lnTo>
                  <a:pt x="328958" y="48279"/>
                </a:lnTo>
                <a:lnTo>
                  <a:pt x="376660" y="32545"/>
                </a:lnTo>
                <a:lnTo>
                  <a:pt x="426427" y="19705"/>
                </a:lnTo>
                <a:lnTo>
                  <a:pt x="478031" y="9905"/>
                </a:lnTo>
                <a:lnTo>
                  <a:pt x="531246" y="3288"/>
                </a:lnTo>
                <a:lnTo>
                  <a:pt x="585846" y="0"/>
                </a:lnTo>
                <a:lnTo>
                  <a:pt x="641604" y="184"/>
                </a:lnTo>
                <a:lnTo>
                  <a:pt x="697092" y="3914"/>
                </a:lnTo>
                <a:lnTo>
                  <a:pt x="750941" y="11019"/>
                </a:lnTo>
                <a:lnTo>
                  <a:pt x="802945" y="21340"/>
                </a:lnTo>
                <a:lnTo>
                  <a:pt x="852899" y="34715"/>
                </a:lnTo>
                <a:lnTo>
                  <a:pt x="900599" y="50985"/>
                </a:lnTo>
                <a:lnTo>
                  <a:pt x="945839" y="69991"/>
                </a:lnTo>
                <a:lnTo>
                  <a:pt x="988415" y="91572"/>
                </a:lnTo>
                <a:lnTo>
                  <a:pt x="1028120" y="115568"/>
                </a:lnTo>
                <a:lnTo>
                  <a:pt x="1064752" y="141820"/>
                </a:lnTo>
                <a:lnTo>
                  <a:pt x="1098103" y="170168"/>
                </a:lnTo>
                <a:lnTo>
                  <a:pt x="1127970" y="200450"/>
                </a:lnTo>
                <a:lnTo>
                  <a:pt x="1154147" y="232509"/>
                </a:lnTo>
                <a:lnTo>
                  <a:pt x="1176430" y="266183"/>
                </a:lnTo>
                <a:lnTo>
                  <a:pt x="1194613" y="301313"/>
                </a:lnTo>
                <a:lnTo>
                  <a:pt x="1208491" y="337739"/>
                </a:lnTo>
                <a:lnTo>
                  <a:pt x="1217859" y="375301"/>
                </a:lnTo>
                <a:lnTo>
                  <a:pt x="1222513" y="413839"/>
                </a:lnTo>
                <a:lnTo>
                  <a:pt x="1222248" y="453193"/>
                </a:lnTo>
                <a:lnTo>
                  <a:pt x="1222248" y="453701"/>
                </a:lnTo>
                <a:lnTo>
                  <a:pt x="1222121" y="454209"/>
                </a:lnTo>
                <a:lnTo>
                  <a:pt x="1222121" y="454717"/>
                </a:lnTo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21373" y="1989582"/>
            <a:ext cx="504825" cy="2304415"/>
          </a:xfrm>
          <a:custGeom>
            <a:avLst/>
            <a:gdLst/>
            <a:ahLst/>
            <a:cxnLst/>
            <a:rect l="l" t="t" r="r" b="b"/>
            <a:pathLst>
              <a:path w="504825" h="2304415">
                <a:moveTo>
                  <a:pt x="0" y="1152143"/>
                </a:moveTo>
                <a:lnTo>
                  <a:pt x="496" y="1079285"/>
                </a:lnTo>
                <a:lnTo>
                  <a:pt x="1964" y="1007629"/>
                </a:lnTo>
                <a:lnTo>
                  <a:pt x="4376" y="937312"/>
                </a:lnTo>
                <a:lnTo>
                  <a:pt x="7701" y="868469"/>
                </a:lnTo>
                <a:lnTo>
                  <a:pt x="11911" y="801235"/>
                </a:lnTo>
                <a:lnTo>
                  <a:pt x="16974" y="735744"/>
                </a:lnTo>
                <a:lnTo>
                  <a:pt x="22863" y="672132"/>
                </a:lnTo>
                <a:lnTo>
                  <a:pt x="29547" y="610533"/>
                </a:lnTo>
                <a:lnTo>
                  <a:pt x="36997" y="551083"/>
                </a:lnTo>
                <a:lnTo>
                  <a:pt x="45184" y="493917"/>
                </a:lnTo>
                <a:lnTo>
                  <a:pt x="54077" y="439169"/>
                </a:lnTo>
                <a:lnTo>
                  <a:pt x="63647" y="386975"/>
                </a:lnTo>
                <a:lnTo>
                  <a:pt x="73866" y="337470"/>
                </a:lnTo>
                <a:lnTo>
                  <a:pt x="84703" y="290789"/>
                </a:lnTo>
                <a:lnTo>
                  <a:pt x="96128" y="247066"/>
                </a:lnTo>
                <a:lnTo>
                  <a:pt x="108113" y="206437"/>
                </a:lnTo>
                <a:lnTo>
                  <a:pt x="120627" y="169036"/>
                </a:lnTo>
                <a:lnTo>
                  <a:pt x="147127" y="104461"/>
                </a:lnTo>
                <a:lnTo>
                  <a:pt x="175391" y="54421"/>
                </a:lnTo>
                <a:lnTo>
                  <a:pt x="205184" y="19996"/>
                </a:lnTo>
                <a:lnTo>
                  <a:pt x="252222" y="0"/>
                </a:lnTo>
                <a:lnTo>
                  <a:pt x="268175" y="2266"/>
                </a:lnTo>
                <a:lnTo>
                  <a:pt x="314332" y="35190"/>
                </a:lnTo>
                <a:lnTo>
                  <a:pt x="343390" y="77557"/>
                </a:lnTo>
                <a:lnTo>
                  <a:pt x="370801" y="134999"/>
                </a:lnTo>
                <a:lnTo>
                  <a:pt x="396330" y="206437"/>
                </a:lnTo>
                <a:lnTo>
                  <a:pt x="408315" y="247066"/>
                </a:lnTo>
                <a:lnTo>
                  <a:pt x="419740" y="290789"/>
                </a:lnTo>
                <a:lnTo>
                  <a:pt x="430577" y="337470"/>
                </a:lnTo>
                <a:lnTo>
                  <a:pt x="440796" y="386975"/>
                </a:lnTo>
                <a:lnTo>
                  <a:pt x="450366" y="439169"/>
                </a:lnTo>
                <a:lnTo>
                  <a:pt x="459259" y="493917"/>
                </a:lnTo>
                <a:lnTo>
                  <a:pt x="467446" y="551083"/>
                </a:lnTo>
                <a:lnTo>
                  <a:pt x="474896" y="610533"/>
                </a:lnTo>
                <a:lnTo>
                  <a:pt x="481580" y="672132"/>
                </a:lnTo>
                <a:lnTo>
                  <a:pt x="487469" y="735744"/>
                </a:lnTo>
                <a:lnTo>
                  <a:pt x="492532" y="801235"/>
                </a:lnTo>
                <a:lnTo>
                  <a:pt x="496742" y="868469"/>
                </a:lnTo>
                <a:lnTo>
                  <a:pt x="500067" y="937312"/>
                </a:lnTo>
                <a:lnTo>
                  <a:pt x="502479" y="1007629"/>
                </a:lnTo>
                <a:lnTo>
                  <a:pt x="503947" y="1079285"/>
                </a:lnTo>
                <a:lnTo>
                  <a:pt x="504444" y="1152143"/>
                </a:lnTo>
                <a:lnTo>
                  <a:pt x="503947" y="1225002"/>
                </a:lnTo>
                <a:lnTo>
                  <a:pt x="502479" y="1296658"/>
                </a:lnTo>
                <a:lnTo>
                  <a:pt x="500067" y="1366975"/>
                </a:lnTo>
                <a:lnTo>
                  <a:pt x="496742" y="1435818"/>
                </a:lnTo>
                <a:lnTo>
                  <a:pt x="492532" y="1503052"/>
                </a:lnTo>
                <a:lnTo>
                  <a:pt x="487469" y="1568543"/>
                </a:lnTo>
                <a:lnTo>
                  <a:pt x="481580" y="1632155"/>
                </a:lnTo>
                <a:lnTo>
                  <a:pt x="474896" y="1693754"/>
                </a:lnTo>
                <a:lnTo>
                  <a:pt x="467446" y="1753204"/>
                </a:lnTo>
                <a:lnTo>
                  <a:pt x="459259" y="1810370"/>
                </a:lnTo>
                <a:lnTo>
                  <a:pt x="450366" y="1865118"/>
                </a:lnTo>
                <a:lnTo>
                  <a:pt x="440796" y="1917312"/>
                </a:lnTo>
                <a:lnTo>
                  <a:pt x="430577" y="1966817"/>
                </a:lnTo>
                <a:lnTo>
                  <a:pt x="419740" y="2013498"/>
                </a:lnTo>
                <a:lnTo>
                  <a:pt x="408315" y="2057221"/>
                </a:lnTo>
                <a:lnTo>
                  <a:pt x="396330" y="2097850"/>
                </a:lnTo>
                <a:lnTo>
                  <a:pt x="383816" y="2135251"/>
                </a:lnTo>
                <a:lnTo>
                  <a:pt x="357316" y="2199826"/>
                </a:lnTo>
                <a:lnTo>
                  <a:pt x="329052" y="2249866"/>
                </a:lnTo>
                <a:lnTo>
                  <a:pt x="299259" y="2284291"/>
                </a:lnTo>
                <a:lnTo>
                  <a:pt x="252222" y="2304287"/>
                </a:lnTo>
                <a:lnTo>
                  <a:pt x="236268" y="2302021"/>
                </a:lnTo>
                <a:lnTo>
                  <a:pt x="190111" y="2269097"/>
                </a:lnTo>
                <a:lnTo>
                  <a:pt x="161053" y="2226730"/>
                </a:lnTo>
                <a:lnTo>
                  <a:pt x="133642" y="2169288"/>
                </a:lnTo>
                <a:lnTo>
                  <a:pt x="108113" y="2097850"/>
                </a:lnTo>
                <a:lnTo>
                  <a:pt x="96128" y="2057221"/>
                </a:lnTo>
                <a:lnTo>
                  <a:pt x="84703" y="2013498"/>
                </a:lnTo>
                <a:lnTo>
                  <a:pt x="73866" y="1966817"/>
                </a:lnTo>
                <a:lnTo>
                  <a:pt x="63647" y="1917312"/>
                </a:lnTo>
                <a:lnTo>
                  <a:pt x="54077" y="1865118"/>
                </a:lnTo>
                <a:lnTo>
                  <a:pt x="45184" y="1810370"/>
                </a:lnTo>
                <a:lnTo>
                  <a:pt x="36997" y="1753204"/>
                </a:lnTo>
                <a:lnTo>
                  <a:pt x="29547" y="1693754"/>
                </a:lnTo>
                <a:lnTo>
                  <a:pt x="22863" y="1632155"/>
                </a:lnTo>
                <a:lnTo>
                  <a:pt x="16974" y="1568543"/>
                </a:lnTo>
                <a:lnTo>
                  <a:pt x="11911" y="1503052"/>
                </a:lnTo>
                <a:lnTo>
                  <a:pt x="7701" y="1435818"/>
                </a:lnTo>
                <a:lnTo>
                  <a:pt x="4376" y="1366975"/>
                </a:lnTo>
                <a:lnTo>
                  <a:pt x="1964" y="1296658"/>
                </a:lnTo>
                <a:lnTo>
                  <a:pt x="496" y="1225002"/>
                </a:lnTo>
                <a:lnTo>
                  <a:pt x="0" y="1152143"/>
                </a:lnTo>
                <a:close/>
              </a:path>
            </a:pathLst>
          </a:custGeom>
          <a:ln w="2895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3326" y="4886717"/>
            <a:ext cx="234950" cy="0"/>
          </a:xfrm>
          <a:custGeom>
            <a:avLst/>
            <a:gdLst/>
            <a:ahLst/>
            <a:cxnLst/>
            <a:rect l="l" t="t" r="r" b="b"/>
            <a:pathLst>
              <a:path w="234950">
                <a:moveTo>
                  <a:pt x="0" y="0"/>
                </a:moveTo>
                <a:lnTo>
                  <a:pt x="234444" y="0"/>
                </a:lnTo>
              </a:path>
            </a:pathLst>
          </a:custGeom>
          <a:ln w="159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37743" y="4886717"/>
            <a:ext cx="246379" cy="0"/>
          </a:xfrm>
          <a:custGeom>
            <a:avLst/>
            <a:gdLst/>
            <a:ahLst/>
            <a:cxnLst/>
            <a:rect l="l" t="t" r="r" b="b"/>
            <a:pathLst>
              <a:path w="246380">
                <a:moveTo>
                  <a:pt x="0" y="0"/>
                </a:moveTo>
                <a:lnTo>
                  <a:pt x="245982" y="0"/>
                </a:lnTo>
              </a:path>
            </a:pathLst>
          </a:custGeom>
          <a:ln w="159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50396" y="4886718"/>
            <a:ext cx="233679" cy="0"/>
          </a:xfrm>
          <a:custGeom>
            <a:avLst/>
            <a:gdLst/>
            <a:ahLst/>
            <a:cxnLst/>
            <a:rect l="l" t="t" r="r" b="b"/>
            <a:pathLst>
              <a:path w="233680">
                <a:moveTo>
                  <a:pt x="0" y="0"/>
                </a:moveTo>
                <a:lnTo>
                  <a:pt x="233681" y="0"/>
                </a:lnTo>
              </a:path>
            </a:pathLst>
          </a:custGeom>
          <a:ln w="159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14845" y="4886718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5982" y="0"/>
                </a:lnTo>
              </a:path>
            </a:pathLst>
          </a:custGeom>
          <a:ln w="159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194155" y="3999136"/>
            <a:ext cx="3164840" cy="1330960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1033780">
              <a:lnSpc>
                <a:spcPct val="100000"/>
              </a:lnSpc>
              <a:spcBef>
                <a:spcPts val="1795"/>
              </a:spcBef>
            </a:pPr>
            <a:r>
              <a:rPr sz="2400" spc="-5" dirty="0">
                <a:latin typeface="Arial"/>
                <a:cs typeface="Arial"/>
              </a:rPr>
              <a:t>F</a:t>
            </a:r>
            <a:r>
              <a:rPr sz="2400" dirty="0">
                <a:latin typeface="微软雅黑"/>
                <a:cs typeface="微软雅黑"/>
              </a:rPr>
              <a:t>的卡诺图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sz="2950" i="1" spc="40" dirty="0">
                <a:latin typeface="Times New Roman"/>
                <a:cs typeface="Times New Roman"/>
              </a:rPr>
              <a:t>F </a:t>
            </a:r>
            <a:r>
              <a:rPr sz="2950" spc="35" dirty="0">
                <a:latin typeface="Symbol"/>
                <a:cs typeface="Symbol"/>
              </a:rPr>
              <a:t></a:t>
            </a:r>
            <a:r>
              <a:rPr sz="2950" spc="35" dirty="0">
                <a:latin typeface="Times New Roman"/>
                <a:cs typeface="Times New Roman"/>
              </a:rPr>
              <a:t> </a:t>
            </a:r>
            <a:r>
              <a:rPr sz="2950" i="1" spc="-10" dirty="0">
                <a:latin typeface="Times New Roman"/>
                <a:cs typeface="Times New Roman"/>
              </a:rPr>
              <a:t>AC </a:t>
            </a:r>
            <a:r>
              <a:rPr sz="2950" spc="35" dirty="0">
                <a:latin typeface="Symbol"/>
                <a:cs typeface="Symbol"/>
              </a:rPr>
              <a:t></a:t>
            </a:r>
            <a:r>
              <a:rPr sz="2950" spc="35" dirty="0">
                <a:latin typeface="Times New Roman"/>
                <a:cs typeface="Times New Roman"/>
              </a:rPr>
              <a:t> </a:t>
            </a:r>
            <a:r>
              <a:rPr sz="2950" i="1" spc="60" dirty="0">
                <a:latin typeface="Times New Roman"/>
                <a:cs typeface="Times New Roman"/>
              </a:rPr>
              <a:t>BC </a:t>
            </a:r>
            <a:r>
              <a:rPr sz="2950" spc="35" dirty="0">
                <a:latin typeface="Symbol"/>
                <a:cs typeface="Symbol"/>
              </a:rPr>
              <a:t></a:t>
            </a:r>
            <a:r>
              <a:rPr sz="2950" spc="110" dirty="0">
                <a:latin typeface="Times New Roman"/>
                <a:cs typeface="Times New Roman"/>
              </a:rPr>
              <a:t> </a:t>
            </a:r>
            <a:r>
              <a:rPr sz="2950" i="1" spc="-40" dirty="0">
                <a:latin typeface="Times New Roman"/>
                <a:cs typeface="Times New Roman"/>
              </a:rPr>
              <a:t>ABC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65493" y="4813813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5">
                <a:moveTo>
                  <a:pt x="0" y="0"/>
                </a:moveTo>
                <a:lnTo>
                  <a:pt x="246745" y="0"/>
                </a:lnTo>
              </a:path>
            </a:pathLst>
          </a:custGeom>
          <a:ln w="16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54102" y="4813813"/>
            <a:ext cx="234950" cy="0"/>
          </a:xfrm>
          <a:custGeom>
            <a:avLst/>
            <a:gdLst/>
            <a:ahLst/>
            <a:cxnLst/>
            <a:rect l="l" t="t" r="r" b="b"/>
            <a:pathLst>
              <a:path w="234950">
                <a:moveTo>
                  <a:pt x="0" y="0"/>
                </a:moveTo>
                <a:lnTo>
                  <a:pt x="234444" y="0"/>
                </a:lnTo>
              </a:path>
            </a:pathLst>
          </a:custGeom>
          <a:ln w="16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418519" y="4813813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5982" y="0"/>
                </a:lnTo>
              </a:path>
            </a:pathLst>
          </a:custGeom>
          <a:ln w="160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586323" y="4049571"/>
            <a:ext cx="3176270" cy="1208405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716915">
              <a:lnSpc>
                <a:spcPct val="100000"/>
              </a:lnSpc>
              <a:spcBef>
                <a:spcPts val="1365"/>
              </a:spcBef>
            </a:pPr>
            <a:r>
              <a:rPr sz="2400" spc="-5" dirty="0">
                <a:latin typeface="Arial"/>
                <a:cs typeface="Arial"/>
              </a:rPr>
              <a:t>F</a:t>
            </a:r>
            <a:r>
              <a:rPr sz="2400" spc="-5" dirty="0">
                <a:latin typeface="微软雅黑"/>
                <a:cs typeface="微软雅黑"/>
              </a:rPr>
              <a:t>的卡诺图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3000" i="1" spc="10" dirty="0">
                <a:latin typeface="Times New Roman"/>
                <a:cs typeface="Times New Roman"/>
              </a:rPr>
              <a:t>F </a:t>
            </a:r>
            <a:r>
              <a:rPr sz="3000" spc="10" dirty="0">
                <a:latin typeface="Symbol"/>
                <a:cs typeface="Symbol"/>
              </a:rPr>
              <a:t>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i="1" spc="65" dirty="0">
                <a:latin typeface="Times New Roman"/>
                <a:cs typeface="Times New Roman"/>
              </a:rPr>
              <a:t>CD </a:t>
            </a:r>
            <a:r>
              <a:rPr sz="3000" spc="10" dirty="0">
                <a:latin typeface="Symbol"/>
                <a:cs typeface="Symbol"/>
              </a:rPr>
              <a:t>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i="1" spc="35" dirty="0">
                <a:latin typeface="Times New Roman"/>
                <a:cs typeface="Times New Roman"/>
              </a:rPr>
              <a:t>BC </a:t>
            </a:r>
            <a:r>
              <a:rPr sz="3000" spc="10" dirty="0">
                <a:latin typeface="Symbol"/>
                <a:cs typeface="Symbol"/>
              </a:rPr>
              <a:t></a:t>
            </a:r>
            <a:r>
              <a:rPr sz="3000" spc="-415" dirty="0">
                <a:latin typeface="Times New Roman"/>
                <a:cs typeface="Times New Roman"/>
              </a:rPr>
              <a:t> </a:t>
            </a:r>
            <a:r>
              <a:rPr sz="3000" i="1" spc="-70" dirty="0">
                <a:latin typeface="Times New Roman"/>
                <a:cs typeface="Times New Roman"/>
              </a:rPr>
              <a:t>ABC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710497" y="4773115"/>
            <a:ext cx="469028" cy="6363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27172" y="5570200"/>
            <a:ext cx="8135118" cy="720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31163" y="5533644"/>
            <a:ext cx="8205216" cy="8305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65275" y="5588508"/>
            <a:ext cx="8063483" cy="6492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65275" y="5588508"/>
            <a:ext cx="8063865" cy="649605"/>
          </a:xfrm>
          <a:custGeom>
            <a:avLst/>
            <a:gdLst/>
            <a:ahLst/>
            <a:cxnLst/>
            <a:rect l="l" t="t" r="r" b="b"/>
            <a:pathLst>
              <a:path w="8063865" h="649604">
                <a:moveTo>
                  <a:pt x="0" y="108203"/>
                </a:moveTo>
                <a:lnTo>
                  <a:pt x="8504" y="66088"/>
                </a:lnTo>
                <a:lnTo>
                  <a:pt x="31694" y="31694"/>
                </a:lnTo>
                <a:lnTo>
                  <a:pt x="66088" y="8504"/>
                </a:lnTo>
                <a:lnTo>
                  <a:pt x="108204" y="0"/>
                </a:lnTo>
                <a:lnTo>
                  <a:pt x="7955280" y="0"/>
                </a:lnTo>
                <a:lnTo>
                  <a:pt x="7997422" y="8504"/>
                </a:lnTo>
                <a:lnTo>
                  <a:pt x="8031813" y="31694"/>
                </a:lnTo>
                <a:lnTo>
                  <a:pt x="8054988" y="66088"/>
                </a:lnTo>
                <a:lnTo>
                  <a:pt x="8063483" y="108203"/>
                </a:lnTo>
                <a:lnTo>
                  <a:pt x="8063483" y="541019"/>
                </a:lnTo>
                <a:lnTo>
                  <a:pt x="8054988" y="583135"/>
                </a:lnTo>
                <a:lnTo>
                  <a:pt x="8031813" y="617529"/>
                </a:lnTo>
                <a:lnTo>
                  <a:pt x="7997422" y="640719"/>
                </a:lnTo>
                <a:lnTo>
                  <a:pt x="7955280" y="649223"/>
                </a:lnTo>
                <a:lnTo>
                  <a:pt x="108204" y="649223"/>
                </a:lnTo>
                <a:lnTo>
                  <a:pt x="66088" y="640719"/>
                </a:lnTo>
                <a:lnTo>
                  <a:pt x="31694" y="617529"/>
                </a:lnTo>
                <a:lnTo>
                  <a:pt x="8504" y="583135"/>
                </a:lnTo>
                <a:lnTo>
                  <a:pt x="0" y="541019"/>
                </a:lnTo>
                <a:lnTo>
                  <a:pt x="0" y="108203"/>
                </a:lnTo>
                <a:close/>
              </a:path>
            </a:pathLst>
          </a:custGeom>
          <a:ln w="9144">
            <a:solidFill>
              <a:srgbClr val="FF9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175105" y="5642559"/>
            <a:ext cx="77247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10" dirty="0">
                <a:latin typeface="微软雅黑"/>
                <a:cs typeface="微软雅黑"/>
              </a:rPr>
              <a:t>非完全描述逻辑函</a:t>
            </a:r>
            <a:r>
              <a:rPr sz="2800" spc="-5" dirty="0">
                <a:latin typeface="微软雅黑"/>
                <a:cs typeface="微软雅黑"/>
              </a:rPr>
              <a:t>数</a:t>
            </a:r>
            <a:r>
              <a:rPr sz="2800" spc="-5" dirty="0">
                <a:latin typeface="Arial"/>
                <a:cs typeface="Arial"/>
              </a:rPr>
              <a:t>”</a:t>
            </a:r>
            <a:r>
              <a:rPr sz="2800" spc="-5" dirty="0">
                <a:latin typeface="微软雅黑"/>
                <a:cs typeface="微软雅黑"/>
              </a:rPr>
              <a:t>可能有</a:t>
            </a:r>
            <a:r>
              <a:rPr sz="2800" spc="-15" dirty="0">
                <a:latin typeface="微软雅黑"/>
                <a:cs typeface="微软雅黑"/>
              </a:rPr>
              <a:t>多</a:t>
            </a:r>
            <a:r>
              <a:rPr sz="2800" spc="-5" dirty="0">
                <a:latin typeface="微软雅黑"/>
                <a:cs typeface="微软雅黑"/>
              </a:rPr>
              <a:t>种不同的</a:t>
            </a:r>
            <a:r>
              <a:rPr sz="2800" dirty="0">
                <a:latin typeface="微软雅黑"/>
                <a:cs typeface="微软雅黑"/>
              </a:rPr>
              <a:t>最</a:t>
            </a:r>
            <a:r>
              <a:rPr sz="2800" spc="-5" dirty="0">
                <a:latin typeface="微软雅黑"/>
                <a:cs typeface="微软雅黑"/>
              </a:rPr>
              <a:t>简形式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6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117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2637282"/>
            <a:ext cx="8928100" cy="3816350"/>
          </a:xfrm>
          <a:custGeom>
            <a:avLst/>
            <a:gdLst/>
            <a:ahLst/>
            <a:cxnLst/>
            <a:rect l="l" t="t" r="r" b="b"/>
            <a:pathLst>
              <a:path w="8928100" h="3816350">
                <a:moveTo>
                  <a:pt x="0" y="363092"/>
                </a:moveTo>
                <a:lnTo>
                  <a:pt x="3314" y="313822"/>
                </a:lnTo>
                <a:lnTo>
                  <a:pt x="12969" y="266567"/>
                </a:lnTo>
                <a:lnTo>
                  <a:pt x="28533" y="221759"/>
                </a:lnTo>
                <a:lnTo>
                  <a:pt x="49572" y="179831"/>
                </a:lnTo>
                <a:lnTo>
                  <a:pt x="75654" y="141216"/>
                </a:lnTo>
                <a:lnTo>
                  <a:pt x="106346" y="106346"/>
                </a:lnTo>
                <a:lnTo>
                  <a:pt x="141216" y="75654"/>
                </a:lnTo>
                <a:lnTo>
                  <a:pt x="179832" y="49572"/>
                </a:lnTo>
                <a:lnTo>
                  <a:pt x="221759" y="28533"/>
                </a:lnTo>
                <a:lnTo>
                  <a:pt x="266567" y="12969"/>
                </a:lnTo>
                <a:lnTo>
                  <a:pt x="313822" y="3314"/>
                </a:lnTo>
                <a:lnTo>
                  <a:pt x="363093" y="0"/>
                </a:lnTo>
                <a:lnTo>
                  <a:pt x="8564499" y="0"/>
                </a:lnTo>
                <a:lnTo>
                  <a:pt x="8613769" y="3314"/>
                </a:lnTo>
                <a:lnTo>
                  <a:pt x="8661024" y="12969"/>
                </a:lnTo>
                <a:lnTo>
                  <a:pt x="8705832" y="28533"/>
                </a:lnTo>
                <a:lnTo>
                  <a:pt x="8747760" y="49572"/>
                </a:lnTo>
                <a:lnTo>
                  <a:pt x="8786375" y="75654"/>
                </a:lnTo>
                <a:lnTo>
                  <a:pt x="8821245" y="106346"/>
                </a:lnTo>
                <a:lnTo>
                  <a:pt x="8851937" y="141216"/>
                </a:lnTo>
                <a:lnTo>
                  <a:pt x="8878019" y="179831"/>
                </a:lnTo>
                <a:lnTo>
                  <a:pt x="8899058" y="221759"/>
                </a:lnTo>
                <a:lnTo>
                  <a:pt x="8914622" y="266567"/>
                </a:lnTo>
                <a:lnTo>
                  <a:pt x="8924277" y="313822"/>
                </a:lnTo>
                <a:lnTo>
                  <a:pt x="8927591" y="363092"/>
                </a:lnTo>
                <a:lnTo>
                  <a:pt x="8927591" y="3452990"/>
                </a:lnTo>
                <a:lnTo>
                  <a:pt x="8924277" y="3502263"/>
                </a:lnTo>
                <a:lnTo>
                  <a:pt x="8914622" y="3549520"/>
                </a:lnTo>
                <a:lnTo>
                  <a:pt x="8899058" y="3594330"/>
                </a:lnTo>
                <a:lnTo>
                  <a:pt x="8878019" y="3636260"/>
                </a:lnTo>
                <a:lnTo>
                  <a:pt x="8851937" y="3674876"/>
                </a:lnTo>
                <a:lnTo>
                  <a:pt x="8821245" y="3709747"/>
                </a:lnTo>
                <a:lnTo>
                  <a:pt x="8786375" y="3740440"/>
                </a:lnTo>
                <a:lnTo>
                  <a:pt x="8747760" y="3766523"/>
                </a:lnTo>
                <a:lnTo>
                  <a:pt x="8705832" y="3787562"/>
                </a:lnTo>
                <a:lnTo>
                  <a:pt x="8661024" y="3803126"/>
                </a:lnTo>
                <a:lnTo>
                  <a:pt x="8613769" y="3812781"/>
                </a:lnTo>
                <a:lnTo>
                  <a:pt x="8564499" y="3816095"/>
                </a:lnTo>
                <a:lnTo>
                  <a:pt x="363093" y="3816095"/>
                </a:lnTo>
                <a:lnTo>
                  <a:pt x="313822" y="3812781"/>
                </a:lnTo>
                <a:lnTo>
                  <a:pt x="266567" y="3803126"/>
                </a:lnTo>
                <a:lnTo>
                  <a:pt x="221759" y="3787562"/>
                </a:lnTo>
                <a:lnTo>
                  <a:pt x="179832" y="3766523"/>
                </a:lnTo>
                <a:lnTo>
                  <a:pt x="141216" y="3740440"/>
                </a:lnTo>
                <a:lnTo>
                  <a:pt x="106346" y="3709747"/>
                </a:lnTo>
                <a:lnTo>
                  <a:pt x="75654" y="3674876"/>
                </a:lnTo>
                <a:lnTo>
                  <a:pt x="49572" y="3636260"/>
                </a:lnTo>
                <a:lnTo>
                  <a:pt x="28533" y="3594330"/>
                </a:lnTo>
                <a:lnTo>
                  <a:pt x="12969" y="3549520"/>
                </a:lnTo>
                <a:lnTo>
                  <a:pt x="3314" y="3502263"/>
                </a:lnTo>
                <a:lnTo>
                  <a:pt x="0" y="3452990"/>
                </a:lnTo>
                <a:lnTo>
                  <a:pt x="0" y="363092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3942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逻辑函数的描述</a:t>
            </a:r>
          </a:p>
        </p:txBody>
      </p:sp>
      <p:sp>
        <p:nvSpPr>
          <p:cNvPr id="4" name="object 4"/>
          <p:cNvSpPr/>
          <p:nvPr/>
        </p:nvSpPr>
        <p:spPr>
          <a:xfrm>
            <a:off x="443474" y="1021053"/>
            <a:ext cx="9016002" cy="15408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0708" y="966216"/>
            <a:ext cx="9054084" cy="16840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6062" y="1053846"/>
            <a:ext cx="8915400" cy="1440180"/>
          </a:xfrm>
          <a:custGeom>
            <a:avLst/>
            <a:gdLst/>
            <a:ahLst/>
            <a:cxnLst/>
            <a:rect l="l" t="t" r="r" b="b"/>
            <a:pathLst>
              <a:path w="8915400" h="1440180">
                <a:moveTo>
                  <a:pt x="0" y="1440179"/>
                </a:moveTo>
                <a:lnTo>
                  <a:pt x="8915400" y="1440179"/>
                </a:lnTo>
                <a:lnTo>
                  <a:pt x="8915400" y="0"/>
                </a:lnTo>
                <a:lnTo>
                  <a:pt x="0" y="0"/>
                </a:lnTo>
                <a:lnTo>
                  <a:pt x="0" y="144017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6062" y="1053846"/>
            <a:ext cx="8915400" cy="1440180"/>
          </a:xfrm>
          <a:custGeom>
            <a:avLst/>
            <a:gdLst/>
            <a:ahLst/>
            <a:cxnLst/>
            <a:rect l="l" t="t" r="r" b="b"/>
            <a:pathLst>
              <a:path w="8915400" h="1440180">
                <a:moveTo>
                  <a:pt x="0" y="1440179"/>
                </a:moveTo>
                <a:lnTo>
                  <a:pt x="8915400" y="1440179"/>
                </a:lnTo>
                <a:lnTo>
                  <a:pt x="8915400" y="0"/>
                </a:lnTo>
                <a:lnTo>
                  <a:pt x="0" y="0"/>
                </a:lnTo>
                <a:lnTo>
                  <a:pt x="0" y="144017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730622" y="3638677"/>
          <a:ext cx="4025264" cy="2656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dirty="0">
                          <a:latin typeface="微软雅黑"/>
                          <a:cs typeface="微软雅黑"/>
                        </a:rPr>
                        <a:t>序号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28575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942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848994" algn="l"/>
                          <a:tab pos="1268730" algn="l"/>
                        </a:tabLst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A	B	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28575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28575">
                      <a:solidFill>
                        <a:srgbClr val="FFC9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28575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29259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873125" algn="l"/>
                          <a:tab pos="131699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	0	0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29259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873760" algn="l"/>
                          <a:tab pos="1316990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	0	1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29259">
                        <a:lnSpc>
                          <a:spcPct val="100000"/>
                        </a:lnSpc>
                        <a:tabLst>
                          <a:tab pos="873760" algn="l"/>
                          <a:tab pos="1316990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	1	0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29259">
                        <a:lnSpc>
                          <a:spcPct val="100000"/>
                        </a:lnSpc>
                        <a:tabLst>
                          <a:tab pos="873760" algn="l"/>
                          <a:tab pos="1316990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	1	1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29259">
                        <a:lnSpc>
                          <a:spcPct val="100000"/>
                        </a:lnSpc>
                        <a:tabLst>
                          <a:tab pos="873760" algn="l"/>
                          <a:tab pos="1316990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	0	0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29259">
                        <a:lnSpc>
                          <a:spcPct val="100000"/>
                        </a:lnSpc>
                        <a:tabLst>
                          <a:tab pos="873125" algn="l"/>
                          <a:tab pos="1317625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	0	1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29259">
                        <a:lnSpc>
                          <a:spcPct val="100000"/>
                        </a:lnSpc>
                        <a:tabLst>
                          <a:tab pos="873760" algn="l"/>
                          <a:tab pos="1316990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	1	0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29259">
                        <a:lnSpc>
                          <a:spcPct val="100000"/>
                        </a:lnSpc>
                        <a:tabLst>
                          <a:tab pos="873760" algn="l"/>
                          <a:tab pos="1316990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	1	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28575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28575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4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118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6062" y="1073911"/>
            <a:ext cx="8915400" cy="4065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170" marR="271145" algn="just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例：有三个</a:t>
            </a:r>
            <a:r>
              <a:rPr sz="2800" spc="-15" dirty="0">
                <a:solidFill>
                  <a:srgbClr val="FFFFFF"/>
                </a:solidFill>
                <a:latin typeface="微软雅黑"/>
                <a:cs typeface="微软雅黑"/>
              </a:rPr>
              <a:t>人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、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、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对一项</a:t>
            </a:r>
            <a:r>
              <a:rPr sz="2800" dirty="0">
                <a:solidFill>
                  <a:srgbClr val="FFFFFF"/>
                </a:solidFill>
                <a:latin typeface="微软雅黑"/>
                <a:cs typeface="微软雅黑"/>
              </a:rPr>
              <a:t>提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案进</a:t>
            </a:r>
            <a:r>
              <a:rPr sz="2800" dirty="0">
                <a:solidFill>
                  <a:srgbClr val="FFFFFF"/>
                </a:solidFill>
                <a:latin typeface="微软雅黑"/>
                <a:cs typeface="微软雅黑"/>
              </a:rPr>
              <a:t>行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表决</a:t>
            </a:r>
            <a:r>
              <a:rPr sz="2800" dirty="0">
                <a:solidFill>
                  <a:srgbClr val="FFFFFF"/>
                </a:solidFill>
                <a:latin typeface="微软雅黑"/>
                <a:cs typeface="微软雅黑"/>
              </a:rPr>
              <a:t>。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如果</a:t>
            </a:r>
            <a:r>
              <a:rPr sz="2800" dirty="0">
                <a:solidFill>
                  <a:srgbClr val="FFFFFF"/>
                </a:solidFill>
                <a:latin typeface="微软雅黑"/>
                <a:cs typeface="微软雅黑"/>
              </a:rPr>
              <a:t>有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两 个或两个以上的人同意，则提案通</a:t>
            </a:r>
            <a:r>
              <a:rPr sz="2800" spc="5" dirty="0">
                <a:solidFill>
                  <a:srgbClr val="FFFFFF"/>
                </a:solidFill>
                <a:latin typeface="微软雅黑"/>
                <a:cs typeface="微软雅黑"/>
              </a:rPr>
              <a:t>过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；否</a:t>
            </a:r>
            <a:r>
              <a:rPr sz="2800" spc="5" dirty="0">
                <a:solidFill>
                  <a:srgbClr val="FFFFFF"/>
                </a:solidFill>
                <a:latin typeface="微软雅黑"/>
                <a:cs typeface="微软雅黑"/>
              </a:rPr>
              <a:t>则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，提</a:t>
            </a:r>
            <a:r>
              <a:rPr sz="2800" spc="5" dirty="0">
                <a:solidFill>
                  <a:srgbClr val="FFFFFF"/>
                </a:solidFill>
                <a:latin typeface="微软雅黑"/>
                <a:cs typeface="微软雅黑"/>
              </a:rPr>
              <a:t>案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通不 过。试用逻辑函数表示提案通过的</a:t>
            </a:r>
            <a:r>
              <a:rPr sz="2800" spc="5" dirty="0">
                <a:solidFill>
                  <a:srgbClr val="FFFFFF"/>
                </a:solidFill>
                <a:latin typeface="微软雅黑"/>
                <a:cs typeface="微软雅黑"/>
              </a:rPr>
              <a:t>条</a:t>
            </a: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件。</a:t>
            </a:r>
            <a:endParaRPr sz="2800">
              <a:latin typeface="微软雅黑"/>
              <a:cs typeface="微软雅黑"/>
            </a:endParaRPr>
          </a:p>
          <a:p>
            <a:pPr marL="189865" marR="400050" algn="just">
              <a:lnSpc>
                <a:spcPct val="100000"/>
              </a:lnSpc>
              <a:spcBef>
                <a:spcPts val="3245"/>
              </a:spcBef>
            </a:pPr>
            <a:r>
              <a:rPr sz="2400" spc="-5" dirty="0">
                <a:latin typeface="微软雅黑"/>
                <a:cs typeface="微软雅黑"/>
              </a:rPr>
              <a:t>以逻辑变量</a:t>
            </a:r>
            <a:r>
              <a:rPr sz="2400" spc="-10" dirty="0">
                <a:latin typeface="Arial"/>
                <a:cs typeface="Arial"/>
              </a:rPr>
              <a:t>A</a:t>
            </a:r>
            <a:r>
              <a:rPr sz="2400" spc="-5" dirty="0">
                <a:latin typeface="微软雅黑"/>
                <a:cs typeface="微软雅黑"/>
              </a:rPr>
              <a:t>、</a:t>
            </a:r>
            <a:r>
              <a:rPr sz="2400" spc="-10" dirty="0">
                <a:latin typeface="Arial"/>
                <a:cs typeface="Arial"/>
              </a:rPr>
              <a:t>B</a:t>
            </a:r>
            <a:r>
              <a:rPr sz="2400" spc="-5" dirty="0">
                <a:latin typeface="微软雅黑"/>
                <a:cs typeface="微软雅黑"/>
              </a:rPr>
              <a:t>、</a:t>
            </a:r>
            <a:r>
              <a:rPr sz="2400" spc="-10" dirty="0">
                <a:latin typeface="Arial"/>
                <a:cs typeface="Arial"/>
              </a:rPr>
              <a:t>C</a:t>
            </a:r>
            <a:r>
              <a:rPr sz="2400" spc="-5" dirty="0">
                <a:latin typeface="微软雅黑"/>
                <a:cs typeface="微软雅黑"/>
              </a:rPr>
              <a:t>代表三个人。如果某人同意提案，则相应 </a:t>
            </a:r>
            <a:r>
              <a:rPr sz="2400" dirty="0">
                <a:latin typeface="微软雅黑"/>
                <a:cs typeface="微软雅黑"/>
              </a:rPr>
              <a:t>的变量取</a:t>
            </a:r>
            <a:r>
              <a:rPr sz="2400" dirty="0">
                <a:latin typeface="Arial"/>
                <a:cs typeface="Arial"/>
              </a:rPr>
              <a:t>“</a:t>
            </a:r>
            <a:r>
              <a:rPr sz="2400" spc="-10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”</a:t>
            </a:r>
            <a:r>
              <a:rPr sz="2400" dirty="0">
                <a:latin typeface="微软雅黑"/>
                <a:cs typeface="微软雅黑"/>
              </a:rPr>
              <a:t>；否则取</a:t>
            </a:r>
            <a:r>
              <a:rPr sz="2400" dirty="0">
                <a:latin typeface="Arial"/>
                <a:cs typeface="Arial"/>
              </a:rPr>
              <a:t>“</a:t>
            </a:r>
            <a:r>
              <a:rPr sz="2400" spc="-10" dirty="0">
                <a:latin typeface="Arial"/>
                <a:cs typeface="Arial"/>
              </a:rPr>
              <a:t>0</a:t>
            </a:r>
            <a:r>
              <a:rPr sz="2400" spc="5" dirty="0">
                <a:latin typeface="Arial"/>
                <a:cs typeface="Arial"/>
              </a:rPr>
              <a:t>”</a:t>
            </a:r>
            <a:r>
              <a:rPr sz="2400" dirty="0">
                <a:latin typeface="微软雅黑"/>
                <a:cs typeface="微软雅黑"/>
              </a:rPr>
              <a:t>。用逻辑变量</a:t>
            </a:r>
            <a:r>
              <a:rPr sz="2400" spc="-5" dirty="0">
                <a:latin typeface="Arial"/>
                <a:cs typeface="Arial"/>
              </a:rPr>
              <a:t>F</a:t>
            </a:r>
            <a:r>
              <a:rPr sz="2400" dirty="0">
                <a:latin typeface="微软雅黑"/>
                <a:cs typeface="微软雅黑"/>
              </a:rPr>
              <a:t>代表提案是否通过，</a:t>
            </a:r>
            <a:r>
              <a:rPr sz="2400" dirty="0">
                <a:latin typeface="Arial"/>
                <a:cs typeface="Arial"/>
              </a:rPr>
              <a:t>“</a:t>
            </a:r>
            <a:r>
              <a:rPr sz="2400" spc="-10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” </a:t>
            </a:r>
            <a:r>
              <a:rPr sz="2400" dirty="0">
                <a:latin typeface="微软雅黑"/>
                <a:cs typeface="微软雅黑"/>
              </a:rPr>
              <a:t>代表通过</a:t>
            </a:r>
            <a:r>
              <a:rPr sz="2400" spc="-5" dirty="0">
                <a:latin typeface="微软雅黑"/>
                <a:cs typeface="微软雅黑"/>
              </a:rPr>
              <a:t>；</a:t>
            </a:r>
            <a:r>
              <a:rPr sz="2400" spc="-5" dirty="0">
                <a:latin typeface="Arial"/>
                <a:cs typeface="Arial"/>
              </a:rPr>
              <a:t>“0”</a:t>
            </a:r>
            <a:r>
              <a:rPr sz="2400" dirty="0">
                <a:latin typeface="微软雅黑"/>
                <a:cs typeface="微软雅黑"/>
              </a:rPr>
              <a:t>代表不通过。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750">
              <a:latin typeface="微软雅黑"/>
              <a:cs typeface="微软雅黑"/>
            </a:endParaRPr>
          </a:p>
          <a:p>
            <a:pPr marL="137985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微软雅黑"/>
                <a:cs typeface="微软雅黑"/>
              </a:rPr>
              <a:t>描述方法一：真值表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3942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逻辑函数的描述</a:t>
            </a:r>
          </a:p>
        </p:txBody>
      </p:sp>
      <p:sp>
        <p:nvSpPr>
          <p:cNvPr id="3" name="object 3"/>
          <p:cNvSpPr/>
          <p:nvPr/>
        </p:nvSpPr>
        <p:spPr>
          <a:xfrm>
            <a:off x="561594" y="1053846"/>
            <a:ext cx="4032885" cy="2232660"/>
          </a:xfrm>
          <a:custGeom>
            <a:avLst/>
            <a:gdLst/>
            <a:ahLst/>
            <a:cxnLst/>
            <a:rect l="l" t="t" r="r" b="b"/>
            <a:pathLst>
              <a:path w="4032885" h="2232660">
                <a:moveTo>
                  <a:pt x="0" y="182752"/>
                </a:moveTo>
                <a:lnTo>
                  <a:pt x="6530" y="134158"/>
                </a:lnTo>
                <a:lnTo>
                  <a:pt x="24960" y="90499"/>
                </a:lnTo>
                <a:lnTo>
                  <a:pt x="53546" y="53514"/>
                </a:lnTo>
                <a:lnTo>
                  <a:pt x="90546" y="24943"/>
                </a:lnTo>
                <a:lnTo>
                  <a:pt x="134217" y="6525"/>
                </a:lnTo>
                <a:lnTo>
                  <a:pt x="182816" y="0"/>
                </a:lnTo>
                <a:lnTo>
                  <a:pt x="3849751" y="0"/>
                </a:lnTo>
                <a:lnTo>
                  <a:pt x="3898345" y="6525"/>
                </a:lnTo>
                <a:lnTo>
                  <a:pt x="3942004" y="24943"/>
                </a:lnTo>
                <a:lnTo>
                  <a:pt x="3978989" y="53514"/>
                </a:lnTo>
                <a:lnTo>
                  <a:pt x="4007560" y="90499"/>
                </a:lnTo>
                <a:lnTo>
                  <a:pt x="4025978" y="134158"/>
                </a:lnTo>
                <a:lnTo>
                  <a:pt x="4032504" y="182752"/>
                </a:lnTo>
                <a:lnTo>
                  <a:pt x="4032504" y="2049906"/>
                </a:lnTo>
                <a:lnTo>
                  <a:pt x="4025978" y="2098501"/>
                </a:lnTo>
                <a:lnTo>
                  <a:pt x="4007560" y="2142160"/>
                </a:lnTo>
                <a:lnTo>
                  <a:pt x="3978989" y="2179145"/>
                </a:lnTo>
                <a:lnTo>
                  <a:pt x="3942004" y="2207716"/>
                </a:lnTo>
                <a:lnTo>
                  <a:pt x="3898345" y="2226134"/>
                </a:lnTo>
                <a:lnTo>
                  <a:pt x="3849751" y="2232659"/>
                </a:lnTo>
                <a:lnTo>
                  <a:pt x="182816" y="2232659"/>
                </a:lnTo>
                <a:lnTo>
                  <a:pt x="134217" y="2226134"/>
                </a:lnTo>
                <a:lnTo>
                  <a:pt x="90546" y="2207716"/>
                </a:lnTo>
                <a:lnTo>
                  <a:pt x="53546" y="2179145"/>
                </a:lnTo>
                <a:lnTo>
                  <a:pt x="24960" y="2142160"/>
                </a:lnTo>
                <a:lnTo>
                  <a:pt x="6530" y="2098501"/>
                </a:lnTo>
                <a:lnTo>
                  <a:pt x="0" y="2049906"/>
                </a:lnTo>
                <a:lnTo>
                  <a:pt x="0" y="182752"/>
                </a:lnTo>
                <a:close/>
              </a:path>
            </a:pathLst>
          </a:custGeom>
          <a:ln w="25907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62227" y="2198497"/>
          <a:ext cx="2323465" cy="754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065275" y="1772411"/>
            <a:ext cx="504190" cy="432434"/>
          </a:xfrm>
          <a:custGeom>
            <a:avLst/>
            <a:gdLst/>
            <a:ahLst/>
            <a:cxnLst/>
            <a:rect l="l" t="t" r="r" b="b"/>
            <a:pathLst>
              <a:path w="504190" h="432435">
                <a:moveTo>
                  <a:pt x="0" y="0"/>
                </a:moveTo>
                <a:lnTo>
                  <a:pt x="504063" y="43205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9540" y="1872234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1869" y="926168"/>
            <a:ext cx="2768600" cy="1245870"/>
          </a:xfrm>
          <a:prstGeom prst="rect">
            <a:avLst/>
          </a:prstGeom>
        </p:spPr>
        <p:txBody>
          <a:bodyPr vert="horz" wrap="square" lIns="0" tIns="215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2400" dirty="0">
                <a:latin typeface="微软雅黑"/>
                <a:cs typeface="微软雅黑"/>
              </a:rPr>
              <a:t>描述方法二：卡诺图</a:t>
            </a:r>
            <a:endParaRPr sz="2400">
              <a:latin typeface="微软雅黑"/>
              <a:cs typeface="微软雅黑"/>
            </a:endParaRPr>
          </a:p>
          <a:p>
            <a:pPr marL="36195">
              <a:lnSpc>
                <a:spcPts val="1964"/>
              </a:lnSpc>
              <a:spcBef>
                <a:spcPts val="1200"/>
              </a:spcBef>
            </a:pPr>
            <a:r>
              <a:rPr sz="1800" spc="-10" dirty="0">
                <a:latin typeface="Arial"/>
                <a:cs typeface="Arial"/>
              </a:rPr>
              <a:t>BC</a:t>
            </a:r>
            <a:endParaRPr sz="1800">
              <a:latin typeface="Arial"/>
              <a:cs typeface="Arial"/>
            </a:endParaRPr>
          </a:p>
          <a:p>
            <a:pPr marL="594360">
              <a:lnSpc>
                <a:spcPts val="1964"/>
              </a:lnSpc>
              <a:tabLst>
                <a:tab pos="1102995" algn="l"/>
                <a:tab pos="1674495" algn="l"/>
                <a:tab pos="2228850" algn="l"/>
              </a:tabLst>
            </a:pPr>
            <a:r>
              <a:rPr sz="1800" spc="-5" dirty="0">
                <a:latin typeface="Arial"/>
                <a:cs typeface="Arial"/>
              </a:rPr>
              <a:t>00	01	</a:t>
            </a:r>
            <a:r>
              <a:rPr sz="1800" spc="-75" dirty="0">
                <a:latin typeface="Arial"/>
                <a:cs typeface="Arial"/>
              </a:rPr>
              <a:t>11	</a:t>
            </a:r>
            <a:r>
              <a:rPr sz="1800" spc="-5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7525" y="2274570"/>
            <a:ext cx="2165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1594" y="3429761"/>
            <a:ext cx="6049010" cy="3240405"/>
          </a:xfrm>
          <a:custGeom>
            <a:avLst/>
            <a:gdLst/>
            <a:ahLst/>
            <a:cxnLst/>
            <a:rect l="l" t="t" r="r" b="b"/>
            <a:pathLst>
              <a:path w="6049009" h="3240404">
                <a:moveTo>
                  <a:pt x="0" y="265302"/>
                </a:moveTo>
                <a:lnTo>
                  <a:pt x="4274" y="217605"/>
                </a:lnTo>
                <a:lnTo>
                  <a:pt x="16596" y="172715"/>
                </a:lnTo>
                <a:lnTo>
                  <a:pt x="36218" y="131383"/>
                </a:lnTo>
                <a:lnTo>
                  <a:pt x="62391" y="94357"/>
                </a:lnTo>
                <a:lnTo>
                  <a:pt x="94365" y="62384"/>
                </a:lnTo>
                <a:lnTo>
                  <a:pt x="131391" y="36213"/>
                </a:lnTo>
                <a:lnTo>
                  <a:pt x="172720" y="16593"/>
                </a:lnTo>
                <a:lnTo>
                  <a:pt x="217602" y="4273"/>
                </a:lnTo>
                <a:lnTo>
                  <a:pt x="265290" y="0"/>
                </a:lnTo>
                <a:lnTo>
                  <a:pt x="5783453" y="0"/>
                </a:lnTo>
                <a:lnTo>
                  <a:pt x="5831150" y="4273"/>
                </a:lnTo>
                <a:lnTo>
                  <a:pt x="5876040" y="16593"/>
                </a:lnTo>
                <a:lnTo>
                  <a:pt x="5917372" y="36213"/>
                </a:lnTo>
                <a:lnTo>
                  <a:pt x="5954398" y="62384"/>
                </a:lnTo>
                <a:lnTo>
                  <a:pt x="5986371" y="94357"/>
                </a:lnTo>
                <a:lnTo>
                  <a:pt x="6012542" y="131383"/>
                </a:lnTo>
                <a:lnTo>
                  <a:pt x="6032162" y="172715"/>
                </a:lnTo>
                <a:lnTo>
                  <a:pt x="6044482" y="217605"/>
                </a:lnTo>
                <a:lnTo>
                  <a:pt x="6048756" y="265302"/>
                </a:lnTo>
                <a:lnTo>
                  <a:pt x="6048756" y="2974733"/>
                </a:lnTo>
                <a:lnTo>
                  <a:pt x="6044482" y="3022417"/>
                </a:lnTo>
                <a:lnTo>
                  <a:pt x="6032162" y="3067298"/>
                </a:lnTo>
                <a:lnTo>
                  <a:pt x="6012542" y="3108626"/>
                </a:lnTo>
                <a:lnTo>
                  <a:pt x="5986371" y="3145653"/>
                </a:lnTo>
                <a:lnTo>
                  <a:pt x="5954398" y="3177628"/>
                </a:lnTo>
                <a:lnTo>
                  <a:pt x="5917372" y="3203802"/>
                </a:lnTo>
                <a:lnTo>
                  <a:pt x="5876040" y="3223425"/>
                </a:lnTo>
                <a:lnTo>
                  <a:pt x="5831150" y="3235749"/>
                </a:lnTo>
                <a:lnTo>
                  <a:pt x="5783453" y="3240024"/>
                </a:lnTo>
                <a:lnTo>
                  <a:pt x="265290" y="3240024"/>
                </a:lnTo>
                <a:lnTo>
                  <a:pt x="217602" y="3235749"/>
                </a:lnTo>
                <a:lnTo>
                  <a:pt x="172720" y="3223425"/>
                </a:lnTo>
                <a:lnTo>
                  <a:pt x="131391" y="3203802"/>
                </a:lnTo>
                <a:lnTo>
                  <a:pt x="94365" y="3177628"/>
                </a:lnTo>
                <a:lnTo>
                  <a:pt x="62391" y="3145653"/>
                </a:lnTo>
                <a:lnTo>
                  <a:pt x="36218" y="3108626"/>
                </a:lnTo>
                <a:lnTo>
                  <a:pt x="16596" y="3067298"/>
                </a:lnTo>
                <a:lnTo>
                  <a:pt x="4274" y="3022417"/>
                </a:lnTo>
                <a:lnTo>
                  <a:pt x="0" y="2974733"/>
                </a:lnTo>
                <a:lnTo>
                  <a:pt x="0" y="265302"/>
                </a:lnTo>
                <a:close/>
              </a:path>
            </a:pathLst>
          </a:custGeom>
          <a:ln w="25907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95348" y="3529965"/>
            <a:ext cx="337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描述方法三：逻辑表达式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80001" y="5917548"/>
            <a:ext cx="332105" cy="0"/>
          </a:xfrm>
          <a:custGeom>
            <a:avLst/>
            <a:gdLst/>
            <a:ahLst/>
            <a:cxnLst/>
            <a:rect l="l" t="t" r="r" b="b"/>
            <a:pathLst>
              <a:path w="332105">
                <a:moveTo>
                  <a:pt x="0" y="0"/>
                </a:moveTo>
                <a:lnTo>
                  <a:pt x="332007" y="0"/>
                </a:lnTo>
              </a:path>
            </a:pathLst>
          </a:custGeom>
          <a:ln w="110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0701" y="5917548"/>
            <a:ext cx="356870" cy="0"/>
          </a:xfrm>
          <a:custGeom>
            <a:avLst/>
            <a:gdLst/>
            <a:ahLst/>
            <a:cxnLst/>
            <a:rect l="l" t="t" r="r" b="b"/>
            <a:pathLst>
              <a:path w="356869">
                <a:moveTo>
                  <a:pt x="0" y="0"/>
                </a:moveTo>
                <a:lnTo>
                  <a:pt x="356783" y="0"/>
                </a:lnTo>
              </a:path>
            </a:pathLst>
          </a:custGeom>
          <a:ln w="110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86178" y="5917548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5">
                <a:moveTo>
                  <a:pt x="0" y="0"/>
                </a:moveTo>
                <a:lnTo>
                  <a:pt x="344668" y="0"/>
                </a:lnTo>
              </a:path>
            </a:pathLst>
          </a:custGeom>
          <a:ln w="110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80001" y="5868534"/>
            <a:ext cx="1450975" cy="0"/>
          </a:xfrm>
          <a:custGeom>
            <a:avLst/>
            <a:gdLst/>
            <a:ahLst/>
            <a:cxnLst/>
            <a:rect l="l" t="t" r="r" b="b"/>
            <a:pathLst>
              <a:path w="1450975">
                <a:moveTo>
                  <a:pt x="0" y="0"/>
                </a:moveTo>
                <a:lnTo>
                  <a:pt x="1450844" y="0"/>
                </a:lnTo>
              </a:path>
            </a:pathLst>
          </a:custGeom>
          <a:ln w="110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47094" y="3938592"/>
            <a:ext cx="2739390" cy="2289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 marR="909955" indent="59055">
              <a:lnSpc>
                <a:spcPct val="147300"/>
              </a:lnSpc>
              <a:spcBef>
                <a:spcPts val="95"/>
              </a:spcBef>
            </a:pPr>
            <a:r>
              <a:rPr sz="2050" spc="-10" dirty="0">
                <a:latin typeface="Times New Roman"/>
                <a:cs typeface="Times New Roman"/>
              </a:rPr>
              <a:t>(</a:t>
            </a:r>
            <a:r>
              <a:rPr sz="2050" spc="40" dirty="0">
                <a:latin typeface="宋体"/>
                <a:cs typeface="宋体"/>
              </a:rPr>
              <a:t>最小项</a:t>
            </a:r>
            <a:r>
              <a:rPr sz="2050" spc="35" dirty="0">
                <a:latin typeface="宋体"/>
                <a:cs typeface="宋体"/>
              </a:rPr>
              <a:t>之</a:t>
            </a:r>
            <a:r>
              <a:rPr sz="2050" spc="40" dirty="0">
                <a:latin typeface="宋体"/>
                <a:cs typeface="宋体"/>
              </a:rPr>
              <a:t>和</a:t>
            </a:r>
            <a:r>
              <a:rPr sz="2050" spc="-125" dirty="0">
                <a:latin typeface="宋体"/>
                <a:cs typeface="宋体"/>
              </a:rPr>
              <a:t>式</a:t>
            </a:r>
            <a:r>
              <a:rPr sz="2050" dirty="0">
                <a:latin typeface="Times New Roman"/>
                <a:cs typeface="Times New Roman"/>
              </a:rPr>
              <a:t>)  </a:t>
            </a:r>
            <a:r>
              <a:rPr sz="2050" spc="5" dirty="0">
                <a:latin typeface="Times New Roman"/>
                <a:cs typeface="Times New Roman"/>
              </a:rPr>
              <a:t>(</a:t>
            </a:r>
            <a:r>
              <a:rPr sz="2050" spc="-340" dirty="0">
                <a:latin typeface="Times New Roman"/>
                <a:cs typeface="Times New Roman"/>
              </a:rPr>
              <a:t> </a:t>
            </a:r>
            <a:r>
              <a:rPr sz="2050" spc="40" dirty="0">
                <a:latin typeface="宋体"/>
                <a:cs typeface="宋体"/>
              </a:rPr>
              <a:t>最大项</a:t>
            </a:r>
            <a:r>
              <a:rPr sz="2050" spc="35" dirty="0">
                <a:latin typeface="宋体"/>
                <a:cs typeface="宋体"/>
              </a:rPr>
              <a:t>之</a:t>
            </a:r>
            <a:r>
              <a:rPr sz="2050" spc="40" dirty="0">
                <a:latin typeface="宋体"/>
                <a:cs typeface="宋体"/>
              </a:rPr>
              <a:t>积</a:t>
            </a:r>
            <a:r>
              <a:rPr sz="2050" spc="-125" dirty="0">
                <a:latin typeface="宋体"/>
                <a:cs typeface="宋体"/>
              </a:rPr>
              <a:t>式</a:t>
            </a:r>
            <a:r>
              <a:rPr sz="2050" spc="5" dirty="0">
                <a:latin typeface="Times New Roman"/>
                <a:cs typeface="Times New Roman"/>
              </a:rPr>
              <a:t>)</a:t>
            </a:r>
            <a:endParaRPr sz="2050">
              <a:latin typeface="Times New Roman"/>
              <a:cs typeface="Times New Roman"/>
            </a:endParaRPr>
          </a:p>
          <a:p>
            <a:pPr marL="93980">
              <a:lnSpc>
                <a:spcPct val="100000"/>
              </a:lnSpc>
              <a:spcBef>
                <a:spcPts val="1045"/>
              </a:spcBef>
            </a:pPr>
            <a:r>
              <a:rPr sz="2050" spc="-5" dirty="0">
                <a:latin typeface="Times New Roman"/>
                <a:cs typeface="Times New Roman"/>
              </a:rPr>
              <a:t>(</a:t>
            </a:r>
            <a:r>
              <a:rPr sz="2050" spc="40" dirty="0">
                <a:latin typeface="宋体"/>
                <a:cs typeface="宋体"/>
              </a:rPr>
              <a:t>最简“与或”</a:t>
            </a:r>
            <a:r>
              <a:rPr sz="2050" spc="-175" dirty="0">
                <a:latin typeface="宋体"/>
                <a:cs typeface="宋体"/>
              </a:rPr>
              <a:t>式</a:t>
            </a:r>
            <a:r>
              <a:rPr sz="2050" spc="5" dirty="0">
                <a:latin typeface="Times New Roman"/>
                <a:cs typeface="Times New Roman"/>
              </a:rPr>
              <a:t>)</a:t>
            </a:r>
            <a:endParaRPr sz="2050">
              <a:latin typeface="Times New Roman"/>
              <a:cs typeface="Times New Roman"/>
            </a:endParaRPr>
          </a:p>
          <a:p>
            <a:pPr marL="135255">
              <a:lnSpc>
                <a:spcPct val="100000"/>
              </a:lnSpc>
              <a:spcBef>
                <a:spcPts val="740"/>
              </a:spcBef>
            </a:pPr>
            <a:r>
              <a:rPr sz="2050" spc="-10" dirty="0">
                <a:latin typeface="Times New Roman"/>
                <a:cs typeface="Times New Roman"/>
              </a:rPr>
              <a:t>(</a:t>
            </a:r>
            <a:r>
              <a:rPr sz="2050" spc="40" dirty="0">
                <a:latin typeface="宋体"/>
                <a:cs typeface="宋体"/>
              </a:rPr>
              <a:t>最简“或与”</a:t>
            </a:r>
            <a:r>
              <a:rPr sz="2050" spc="-170" dirty="0">
                <a:latin typeface="宋体"/>
                <a:cs typeface="宋体"/>
              </a:rPr>
              <a:t>式</a:t>
            </a:r>
            <a:r>
              <a:rPr sz="2050" spc="5" dirty="0">
                <a:latin typeface="Times New Roman"/>
                <a:cs typeface="Times New Roman"/>
              </a:rPr>
              <a:t>)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050" spc="5" dirty="0">
                <a:latin typeface="Times New Roman"/>
                <a:cs typeface="Times New Roman"/>
              </a:rPr>
              <a:t>(</a:t>
            </a:r>
            <a:r>
              <a:rPr sz="2050" spc="-335" dirty="0">
                <a:latin typeface="Times New Roman"/>
                <a:cs typeface="Times New Roman"/>
              </a:rPr>
              <a:t> </a:t>
            </a:r>
            <a:r>
              <a:rPr sz="2050" spc="40" dirty="0">
                <a:latin typeface="宋体"/>
                <a:cs typeface="宋体"/>
              </a:rPr>
              <a:t>最简“与</a:t>
            </a:r>
            <a:r>
              <a:rPr sz="2050" spc="180" dirty="0">
                <a:latin typeface="宋体"/>
                <a:cs typeface="宋体"/>
              </a:rPr>
              <a:t>非</a:t>
            </a:r>
            <a:r>
              <a:rPr sz="2050" spc="5" dirty="0">
                <a:latin typeface="Times New Roman"/>
                <a:cs typeface="Times New Roman"/>
              </a:rPr>
              <a:t>-</a:t>
            </a:r>
            <a:r>
              <a:rPr sz="2050" spc="-330" dirty="0">
                <a:latin typeface="Times New Roman"/>
                <a:cs typeface="Times New Roman"/>
              </a:rPr>
              <a:t> </a:t>
            </a:r>
            <a:r>
              <a:rPr sz="2050" spc="40" dirty="0">
                <a:latin typeface="宋体"/>
                <a:cs typeface="宋体"/>
              </a:rPr>
              <a:t>与非”</a:t>
            </a:r>
            <a:r>
              <a:rPr sz="2050" spc="-80" dirty="0">
                <a:latin typeface="宋体"/>
                <a:cs typeface="宋体"/>
              </a:rPr>
              <a:t>式</a:t>
            </a:r>
            <a:r>
              <a:rPr sz="2050" spc="5" dirty="0">
                <a:latin typeface="Times New Roman"/>
                <a:cs typeface="Times New Roman"/>
              </a:rPr>
              <a:t>)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8086" y="5808075"/>
            <a:ext cx="1692910" cy="81280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050" spc="5" dirty="0">
                <a:latin typeface="Symbol"/>
                <a:cs typeface="Symbol"/>
              </a:rPr>
              <a:t>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i="1" spc="-15" dirty="0">
                <a:latin typeface="Times New Roman"/>
                <a:cs typeface="Times New Roman"/>
              </a:rPr>
              <a:t>AB </a:t>
            </a:r>
            <a:r>
              <a:rPr sz="2050" spc="5" dirty="0">
                <a:latin typeface="Symbol"/>
                <a:cs typeface="Symbol"/>
              </a:rPr>
              <a:t>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i="1" spc="-15" dirty="0">
                <a:latin typeface="Times New Roman"/>
                <a:cs typeface="Times New Roman"/>
              </a:rPr>
              <a:t>AC </a:t>
            </a:r>
            <a:r>
              <a:rPr sz="2050" spc="5" dirty="0">
                <a:latin typeface="Symbol"/>
                <a:cs typeface="Symbol"/>
              </a:rPr>
              <a:t></a:t>
            </a:r>
            <a:r>
              <a:rPr sz="2050" spc="-355" dirty="0">
                <a:latin typeface="Times New Roman"/>
                <a:cs typeface="Times New Roman"/>
              </a:rPr>
              <a:t> </a:t>
            </a:r>
            <a:r>
              <a:rPr sz="2050" i="1" spc="55" dirty="0">
                <a:latin typeface="Times New Roman"/>
                <a:cs typeface="Times New Roman"/>
              </a:rPr>
              <a:t>BC</a:t>
            </a:r>
            <a:endParaRPr sz="2050">
              <a:latin typeface="Times New Roman"/>
              <a:cs typeface="Times New Roman"/>
            </a:endParaRPr>
          </a:p>
          <a:p>
            <a:pPr marL="62230">
              <a:lnSpc>
                <a:spcPct val="100000"/>
              </a:lnSpc>
              <a:spcBef>
                <a:spcPts val="640"/>
              </a:spcBef>
            </a:pPr>
            <a:r>
              <a:rPr sz="2050" spc="5" dirty="0">
                <a:latin typeface="Times New Roman"/>
                <a:cs typeface="Times New Roman"/>
              </a:rPr>
              <a:t>......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7097" y="3953703"/>
            <a:ext cx="2840355" cy="17818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66469" algn="r">
              <a:lnSpc>
                <a:spcPts val="3670"/>
              </a:lnSpc>
              <a:spcBef>
                <a:spcPts val="90"/>
              </a:spcBef>
            </a:pPr>
            <a:r>
              <a:rPr sz="2050" i="1" spc="10" dirty="0">
                <a:latin typeface="Times New Roman"/>
                <a:cs typeface="Times New Roman"/>
              </a:rPr>
              <a:t>F </a:t>
            </a:r>
            <a:r>
              <a:rPr sz="2050" spc="5" dirty="0">
                <a:latin typeface="Symbol"/>
                <a:cs typeface="Symbol"/>
              </a:rPr>
              <a:t>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4650" baseline="-8960" dirty="0">
                <a:latin typeface="Symbol"/>
                <a:cs typeface="Symbol"/>
              </a:rPr>
              <a:t></a:t>
            </a:r>
            <a:r>
              <a:rPr sz="4650" spc="-742" baseline="-8960" dirty="0">
                <a:latin typeface="Times New Roman"/>
                <a:cs typeface="Times New Roman"/>
              </a:rPr>
              <a:t> </a:t>
            </a:r>
            <a:r>
              <a:rPr sz="2050" i="1" spc="-15" dirty="0">
                <a:latin typeface="Times New Roman"/>
                <a:cs typeface="Times New Roman"/>
              </a:rPr>
              <a:t>m</a:t>
            </a:r>
            <a:r>
              <a:rPr sz="2050" spc="-15" dirty="0">
                <a:latin typeface="Times New Roman"/>
                <a:cs typeface="Times New Roman"/>
              </a:rPr>
              <a:t>(3,5,6,7)</a:t>
            </a:r>
            <a:endParaRPr sz="2050">
              <a:latin typeface="Times New Roman"/>
              <a:cs typeface="Times New Roman"/>
            </a:endParaRPr>
          </a:p>
          <a:p>
            <a:pPr marR="876300" algn="r">
              <a:lnSpc>
                <a:spcPts val="3670"/>
              </a:lnSpc>
            </a:pPr>
            <a:r>
              <a:rPr sz="2050" spc="5" dirty="0">
                <a:latin typeface="Symbol"/>
                <a:cs typeface="Symbol"/>
              </a:rPr>
              <a:t></a:t>
            </a:r>
            <a:r>
              <a:rPr sz="2050" spc="-120" dirty="0">
                <a:latin typeface="Times New Roman"/>
                <a:cs typeface="Times New Roman"/>
              </a:rPr>
              <a:t> </a:t>
            </a:r>
            <a:r>
              <a:rPr sz="4650" baseline="-8960" dirty="0">
                <a:latin typeface="Symbol"/>
                <a:cs typeface="Symbol"/>
              </a:rPr>
              <a:t></a:t>
            </a:r>
            <a:r>
              <a:rPr sz="4650" spc="-735" baseline="-8960" dirty="0">
                <a:latin typeface="Times New Roman"/>
                <a:cs typeface="Times New Roman"/>
              </a:rPr>
              <a:t> </a:t>
            </a:r>
            <a:r>
              <a:rPr sz="2050" i="1" spc="10" dirty="0">
                <a:latin typeface="Times New Roman"/>
                <a:cs typeface="Times New Roman"/>
              </a:rPr>
              <a:t>M</a:t>
            </a:r>
            <a:r>
              <a:rPr sz="2050" i="1" spc="-195" dirty="0">
                <a:latin typeface="Times New Roman"/>
                <a:cs typeface="Times New Roman"/>
              </a:rPr>
              <a:t> </a:t>
            </a:r>
            <a:r>
              <a:rPr sz="2050" spc="-40" dirty="0">
                <a:latin typeface="Times New Roman"/>
                <a:cs typeface="Times New Roman"/>
              </a:rPr>
              <a:t>(0,1,2,4)</a:t>
            </a:r>
            <a:endParaRPr sz="2050">
              <a:latin typeface="Times New Roman"/>
              <a:cs typeface="Times New Roman"/>
            </a:endParaRPr>
          </a:p>
          <a:p>
            <a:pPr marL="283210">
              <a:lnSpc>
                <a:spcPct val="100000"/>
              </a:lnSpc>
              <a:spcBef>
                <a:spcPts val="835"/>
              </a:spcBef>
            </a:pPr>
            <a:r>
              <a:rPr sz="2050" spc="5" dirty="0">
                <a:latin typeface="Symbol"/>
                <a:cs typeface="Symbol"/>
              </a:rPr>
              <a:t>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i="1" spc="-15" dirty="0">
                <a:latin typeface="Times New Roman"/>
                <a:cs typeface="Times New Roman"/>
              </a:rPr>
              <a:t>AB </a:t>
            </a:r>
            <a:r>
              <a:rPr sz="2050" spc="5" dirty="0">
                <a:latin typeface="Symbol"/>
                <a:cs typeface="Symbol"/>
              </a:rPr>
              <a:t>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i="1" spc="-15" dirty="0">
                <a:latin typeface="Times New Roman"/>
                <a:cs typeface="Times New Roman"/>
              </a:rPr>
              <a:t>AC </a:t>
            </a:r>
            <a:r>
              <a:rPr sz="2050" spc="5" dirty="0">
                <a:latin typeface="Symbol"/>
                <a:cs typeface="Symbol"/>
              </a:rPr>
              <a:t></a:t>
            </a:r>
            <a:r>
              <a:rPr sz="2050" spc="-30" dirty="0">
                <a:latin typeface="Times New Roman"/>
                <a:cs typeface="Times New Roman"/>
              </a:rPr>
              <a:t> </a:t>
            </a:r>
            <a:r>
              <a:rPr sz="2050" i="1" spc="55" dirty="0">
                <a:latin typeface="Times New Roman"/>
                <a:cs typeface="Times New Roman"/>
              </a:rPr>
              <a:t>BC</a:t>
            </a:r>
            <a:endParaRPr sz="2050">
              <a:latin typeface="Times New Roman"/>
              <a:cs typeface="Times New Roman"/>
            </a:endParaRPr>
          </a:p>
          <a:p>
            <a:pPr marL="283210">
              <a:lnSpc>
                <a:spcPct val="100000"/>
              </a:lnSpc>
              <a:spcBef>
                <a:spcPts val="735"/>
              </a:spcBef>
            </a:pPr>
            <a:r>
              <a:rPr sz="2050" spc="5" dirty="0">
                <a:latin typeface="Symbol"/>
                <a:cs typeface="Symbol"/>
              </a:rPr>
              <a:t>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(</a:t>
            </a:r>
            <a:r>
              <a:rPr sz="2050" spc="-305" dirty="0">
                <a:latin typeface="Times New Roman"/>
                <a:cs typeface="Times New Roman"/>
              </a:rPr>
              <a:t> </a:t>
            </a:r>
            <a:r>
              <a:rPr sz="2050" i="1" spc="10" dirty="0">
                <a:latin typeface="Times New Roman"/>
                <a:cs typeface="Times New Roman"/>
              </a:rPr>
              <a:t>A</a:t>
            </a:r>
            <a:r>
              <a:rPr sz="2050" i="1" spc="-235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Symbol"/>
                <a:cs typeface="Symbol"/>
              </a:rPr>
              <a:t>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i="1" spc="30" dirty="0">
                <a:latin typeface="Times New Roman"/>
                <a:cs typeface="Times New Roman"/>
              </a:rPr>
              <a:t>B</a:t>
            </a:r>
            <a:r>
              <a:rPr sz="2050" spc="30" dirty="0">
                <a:latin typeface="Times New Roman"/>
                <a:cs typeface="Times New Roman"/>
              </a:rPr>
              <a:t>)(</a:t>
            </a:r>
            <a:r>
              <a:rPr sz="2050" spc="-330" dirty="0">
                <a:latin typeface="Times New Roman"/>
                <a:cs typeface="Times New Roman"/>
              </a:rPr>
              <a:t> </a:t>
            </a:r>
            <a:r>
              <a:rPr sz="2050" i="1" spc="10" dirty="0">
                <a:latin typeface="Times New Roman"/>
                <a:cs typeface="Times New Roman"/>
              </a:rPr>
              <a:t>A</a:t>
            </a:r>
            <a:r>
              <a:rPr sz="2050" i="1" spc="-235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Symbol"/>
                <a:cs typeface="Symbol"/>
              </a:rPr>
              <a:t></a:t>
            </a:r>
            <a:r>
              <a:rPr sz="2050" spc="-200" dirty="0">
                <a:latin typeface="Times New Roman"/>
                <a:cs typeface="Times New Roman"/>
              </a:rPr>
              <a:t> </a:t>
            </a:r>
            <a:r>
              <a:rPr sz="2050" i="1" spc="65" dirty="0">
                <a:latin typeface="Times New Roman"/>
                <a:cs typeface="Times New Roman"/>
              </a:rPr>
              <a:t>C</a:t>
            </a:r>
            <a:r>
              <a:rPr sz="2050" spc="65" dirty="0">
                <a:latin typeface="Times New Roman"/>
                <a:cs typeface="Times New Roman"/>
              </a:rPr>
              <a:t>)(</a:t>
            </a:r>
            <a:r>
              <a:rPr sz="2050" i="1" spc="65" dirty="0">
                <a:latin typeface="Times New Roman"/>
                <a:cs typeface="Times New Roman"/>
              </a:rPr>
              <a:t>B</a:t>
            </a:r>
            <a:r>
              <a:rPr sz="2050" i="1" spc="-145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Symbol"/>
                <a:cs typeface="Symbol"/>
              </a:rPr>
              <a:t></a:t>
            </a:r>
            <a:r>
              <a:rPr sz="2050" spc="-200" dirty="0">
                <a:latin typeface="Times New Roman"/>
                <a:cs typeface="Times New Roman"/>
              </a:rPr>
              <a:t> </a:t>
            </a:r>
            <a:r>
              <a:rPr sz="2050" i="1" spc="75" dirty="0">
                <a:latin typeface="Times New Roman"/>
                <a:cs typeface="Times New Roman"/>
              </a:rPr>
              <a:t>C</a:t>
            </a:r>
            <a:r>
              <a:rPr sz="2050" spc="75" dirty="0">
                <a:latin typeface="Times New Roman"/>
                <a:cs typeface="Times New Roman"/>
              </a:rPr>
              <a:t>)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681978" y="3429761"/>
            <a:ext cx="3081655" cy="3168650"/>
          </a:xfrm>
          <a:custGeom>
            <a:avLst/>
            <a:gdLst/>
            <a:ahLst/>
            <a:cxnLst/>
            <a:rect l="l" t="t" r="r" b="b"/>
            <a:pathLst>
              <a:path w="3081654" h="3168650">
                <a:moveTo>
                  <a:pt x="0" y="252349"/>
                </a:moveTo>
                <a:lnTo>
                  <a:pt x="4063" y="206968"/>
                </a:lnTo>
                <a:lnTo>
                  <a:pt x="15778" y="164265"/>
                </a:lnTo>
                <a:lnTo>
                  <a:pt x="34435" y="124949"/>
                </a:lnTo>
                <a:lnTo>
                  <a:pt x="59323" y="89731"/>
                </a:lnTo>
                <a:lnTo>
                  <a:pt x="89731" y="59323"/>
                </a:lnTo>
                <a:lnTo>
                  <a:pt x="124949" y="34435"/>
                </a:lnTo>
                <a:lnTo>
                  <a:pt x="164265" y="15778"/>
                </a:lnTo>
                <a:lnTo>
                  <a:pt x="206968" y="4063"/>
                </a:lnTo>
                <a:lnTo>
                  <a:pt x="252349" y="0"/>
                </a:lnTo>
                <a:lnTo>
                  <a:pt x="2829179" y="0"/>
                </a:lnTo>
                <a:lnTo>
                  <a:pt x="2874559" y="4063"/>
                </a:lnTo>
                <a:lnTo>
                  <a:pt x="2917262" y="15778"/>
                </a:lnTo>
                <a:lnTo>
                  <a:pt x="2956578" y="34435"/>
                </a:lnTo>
                <a:lnTo>
                  <a:pt x="2991796" y="59323"/>
                </a:lnTo>
                <a:lnTo>
                  <a:pt x="3022204" y="89731"/>
                </a:lnTo>
                <a:lnTo>
                  <a:pt x="3047092" y="124949"/>
                </a:lnTo>
                <a:lnTo>
                  <a:pt x="3065749" y="164265"/>
                </a:lnTo>
                <a:lnTo>
                  <a:pt x="3077464" y="206968"/>
                </a:lnTo>
                <a:lnTo>
                  <a:pt x="3081528" y="252349"/>
                </a:lnTo>
                <a:lnTo>
                  <a:pt x="3081528" y="2916085"/>
                </a:lnTo>
                <a:lnTo>
                  <a:pt x="3077464" y="2961437"/>
                </a:lnTo>
                <a:lnTo>
                  <a:pt x="3065749" y="3004123"/>
                </a:lnTo>
                <a:lnTo>
                  <a:pt x="3047092" y="3043429"/>
                </a:lnTo>
                <a:lnTo>
                  <a:pt x="3022204" y="3078644"/>
                </a:lnTo>
                <a:lnTo>
                  <a:pt x="2991796" y="3109054"/>
                </a:lnTo>
                <a:lnTo>
                  <a:pt x="2956578" y="3133947"/>
                </a:lnTo>
                <a:lnTo>
                  <a:pt x="2917262" y="3152610"/>
                </a:lnTo>
                <a:lnTo>
                  <a:pt x="2874559" y="3164330"/>
                </a:lnTo>
                <a:lnTo>
                  <a:pt x="2829179" y="3168396"/>
                </a:lnTo>
                <a:lnTo>
                  <a:pt x="252349" y="3168396"/>
                </a:lnTo>
                <a:lnTo>
                  <a:pt x="206968" y="3164330"/>
                </a:lnTo>
                <a:lnTo>
                  <a:pt x="164265" y="3152610"/>
                </a:lnTo>
                <a:lnTo>
                  <a:pt x="124949" y="3133947"/>
                </a:lnTo>
                <a:lnTo>
                  <a:pt x="89731" y="3109054"/>
                </a:lnTo>
                <a:lnTo>
                  <a:pt x="59323" y="3078644"/>
                </a:lnTo>
                <a:lnTo>
                  <a:pt x="34435" y="3043429"/>
                </a:lnTo>
                <a:lnTo>
                  <a:pt x="15778" y="3004123"/>
                </a:lnTo>
                <a:lnTo>
                  <a:pt x="4063" y="2961437"/>
                </a:lnTo>
                <a:lnTo>
                  <a:pt x="0" y="2916085"/>
                </a:lnTo>
                <a:lnTo>
                  <a:pt x="0" y="252349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838315" y="3526028"/>
            <a:ext cx="2768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描述方法四：逻辑图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260794" y="4396132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147" y="0"/>
                </a:lnTo>
              </a:path>
            </a:pathLst>
          </a:custGeom>
          <a:ln w="17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260794" y="4669980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147" y="0"/>
                </a:lnTo>
              </a:path>
            </a:pathLst>
          </a:custGeom>
          <a:ln w="17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725942" y="4533057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465147" y="0"/>
                </a:moveTo>
                <a:lnTo>
                  <a:pt x="0" y="0"/>
                </a:lnTo>
              </a:path>
            </a:pathLst>
          </a:custGeom>
          <a:ln w="17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423597" y="4259289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181406" y="0"/>
                </a:moveTo>
                <a:lnTo>
                  <a:pt x="0" y="0"/>
                </a:lnTo>
                <a:lnTo>
                  <a:pt x="25740" y="43918"/>
                </a:lnTo>
                <a:lnTo>
                  <a:pt x="46801" y="88772"/>
                </a:lnTo>
                <a:lnTo>
                  <a:pt x="63181" y="134375"/>
                </a:lnTo>
                <a:lnTo>
                  <a:pt x="74882" y="180541"/>
                </a:lnTo>
                <a:lnTo>
                  <a:pt x="81902" y="227080"/>
                </a:lnTo>
                <a:lnTo>
                  <a:pt x="84240" y="273848"/>
                </a:lnTo>
                <a:lnTo>
                  <a:pt x="81902" y="320534"/>
                </a:lnTo>
                <a:lnTo>
                  <a:pt x="74882" y="367074"/>
                </a:lnTo>
                <a:lnTo>
                  <a:pt x="63181" y="413239"/>
                </a:lnTo>
                <a:lnTo>
                  <a:pt x="46801" y="458843"/>
                </a:lnTo>
                <a:lnTo>
                  <a:pt x="25740" y="503697"/>
                </a:lnTo>
                <a:lnTo>
                  <a:pt x="0" y="547615"/>
                </a:lnTo>
                <a:lnTo>
                  <a:pt x="181407" y="547615"/>
                </a:lnTo>
                <a:lnTo>
                  <a:pt x="233294" y="535896"/>
                </a:lnTo>
                <a:lnTo>
                  <a:pt x="283158" y="521117"/>
                </a:lnTo>
                <a:lnTo>
                  <a:pt x="330780" y="503421"/>
                </a:lnTo>
                <a:lnTo>
                  <a:pt x="375941" y="482949"/>
                </a:lnTo>
                <a:lnTo>
                  <a:pt x="418420" y="459843"/>
                </a:lnTo>
                <a:lnTo>
                  <a:pt x="457998" y="434246"/>
                </a:lnTo>
                <a:lnTo>
                  <a:pt x="494456" y="406299"/>
                </a:lnTo>
                <a:lnTo>
                  <a:pt x="527575" y="376143"/>
                </a:lnTo>
                <a:lnTo>
                  <a:pt x="557134" y="343922"/>
                </a:lnTo>
                <a:lnTo>
                  <a:pt x="582914" y="309776"/>
                </a:lnTo>
                <a:lnTo>
                  <a:pt x="604696" y="273848"/>
                </a:lnTo>
                <a:lnTo>
                  <a:pt x="583207" y="237751"/>
                </a:lnTo>
                <a:lnTo>
                  <a:pt x="557638" y="203453"/>
                </a:lnTo>
                <a:lnTo>
                  <a:pt x="528218" y="171102"/>
                </a:lnTo>
                <a:lnTo>
                  <a:pt x="495172" y="140844"/>
                </a:lnTo>
                <a:lnTo>
                  <a:pt x="458729" y="112827"/>
                </a:lnTo>
                <a:lnTo>
                  <a:pt x="419113" y="87197"/>
                </a:lnTo>
                <a:lnTo>
                  <a:pt x="376553" y="64101"/>
                </a:lnTo>
                <a:lnTo>
                  <a:pt x="331276" y="43686"/>
                </a:lnTo>
                <a:lnTo>
                  <a:pt x="283508" y="26100"/>
                </a:lnTo>
                <a:lnTo>
                  <a:pt x="233476" y="11489"/>
                </a:lnTo>
                <a:lnTo>
                  <a:pt x="1814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423597" y="4259289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604696" y="273848"/>
                </a:moveTo>
                <a:lnTo>
                  <a:pt x="582914" y="309776"/>
                </a:lnTo>
                <a:lnTo>
                  <a:pt x="557134" y="343922"/>
                </a:lnTo>
                <a:lnTo>
                  <a:pt x="527575" y="376143"/>
                </a:lnTo>
                <a:lnTo>
                  <a:pt x="494456" y="406299"/>
                </a:lnTo>
                <a:lnTo>
                  <a:pt x="457998" y="434246"/>
                </a:lnTo>
                <a:lnTo>
                  <a:pt x="418420" y="459843"/>
                </a:lnTo>
                <a:lnTo>
                  <a:pt x="375941" y="482949"/>
                </a:lnTo>
                <a:lnTo>
                  <a:pt x="330780" y="503421"/>
                </a:lnTo>
                <a:lnTo>
                  <a:pt x="283158" y="521117"/>
                </a:lnTo>
                <a:lnTo>
                  <a:pt x="233294" y="535896"/>
                </a:lnTo>
                <a:lnTo>
                  <a:pt x="181407" y="547615"/>
                </a:lnTo>
                <a:lnTo>
                  <a:pt x="0" y="547615"/>
                </a:lnTo>
                <a:lnTo>
                  <a:pt x="25740" y="503697"/>
                </a:lnTo>
                <a:lnTo>
                  <a:pt x="46801" y="458843"/>
                </a:lnTo>
                <a:lnTo>
                  <a:pt x="63181" y="413239"/>
                </a:lnTo>
                <a:lnTo>
                  <a:pt x="74882" y="367074"/>
                </a:lnTo>
                <a:lnTo>
                  <a:pt x="81902" y="320534"/>
                </a:lnTo>
                <a:lnTo>
                  <a:pt x="84242" y="273807"/>
                </a:lnTo>
                <a:lnTo>
                  <a:pt x="81902" y="227080"/>
                </a:lnTo>
                <a:lnTo>
                  <a:pt x="74882" y="180541"/>
                </a:lnTo>
                <a:lnTo>
                  <a:pt x="63181" y="134375"/>
                </a:lnTo>
                <a:lnTo>
                  <a:pt x="46801" y="88772"/>
                </a:lnTo>
                <a:lnTo>
                  <a:pt x="25740" y="43918"/>
                </a:lnTo>
                <a:lnTo>
                  <a:pt x="0" y="0"/>
                </a:lnTo>
                <a:lnTo>
                  <a:pt x="181406" y="0"/>
                </a:lnTo>
                <a:lnTo>
                  <a:pt x="233476" y="11489"/>
                </a:lnTo>
                <a:lnTo>
                  <a:pt x="283508" y="26100"/>
                </a:lnTo>
                <a:lnTo>
                  <a:pt x="331276" y="43686"/>
                </a:lnTo>
                <a:lnTo>
                  <a:pt x="376553" y="64101"/>
                </a:lnTo>
                <a:lnTo>
                  <a:pt x="419113" y="87197"/>
                </a:lnTo>
                <a:lnTo>
                  <a:pt x="458729" y="112827"/>
                </a:lnTo>
                <a:lnTo>
                  <a:pt x="495172" y="140844"/>
                </a:lnTo>
                <a:lnTo>
                  <a:pt x="528218" y="171102"/>
                </a:lnTo>
                <a:lnTo>
                  <a:pt x="557638" y="203453"/>
                </a:lnTo>
                <a:lnTo>
                  <a:pt x="583207" y="237751"/>
                </a:lnTo>
                <a:lnTo>
                  <a:pt x="604696" y="273848"/>
                </a:lnTo>
                <a:close/>
              </a:path>
            </a:pathLst>
          </a:custGeom>
          <a:ln w="16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018478" y="4484046"/>
            <a:ext cx="85680" cy="981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23597" y="4259289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372119" y="0"/>
                </a:moveTo>
                <a:lnTo>
                  <a:pt x="0" y="0"/>
                </a:lnTo>
                <a:lnTo>
                  <a:pt x="0" y="547615"/>
                </a:lnTo>
                <a:lnTo>
                  <a:pt x="372119" y="547615"/>
                </a:lnTo>
                <a:lnTo>
                  <a:pt x="413924" y="543204"/>
                </a:lnTo>
                <a:lnTo>
                  <a:pt x="453271" y="530484"/>
                </a:lnTo>
                <a:lnTo>
                  <a:pt x="489504" y="510229"/>
                </a:lnTo>
                <a:lnTo>
                  <a:pt x="521964" y="483213"/>
                </a:lnTo>
                <a:lnTo>
                  <a:pt x="549996" y="450208"/>
                </a:lnTo>
                <a:lnTo>
                  <a:pt x="572942" y="411988"/>
                </a:lnTo>
                <a:lnTo>
                  <a:pt x="590145" y="369326"/>
                </a:lnTo>
                <a:lnTo>
                  <a:pt x="600949" y="322994"/>
                </a:lnTo>
                <a:lnTo>
                  <a:pt x="604696" y="273767"/>
                </a:lnTo>
                <a:lnTo>
                  <a:pt x="600949" y="224564"/>
                </a:lnTo>
                <a:lnTo>
                  <a:pt x="590145" y="178251"/>
                </a:lnTo>
                <a:lnTo>
                  <a:pt x="572942" y="135603"/>
                </a:lnTo>
                <a:lnTo>
                  <a:pt x="549996" y="97393"/>
                </a:lnTo>
                <a:lnTo>
                  <a:pt x="521964" y="64395"/>
                </a:lnTo>
                <a:lnTo>
                  <a:pt x="489504" y="37383"/>
                </a:lnTo>
                <a:lnTo>
                  <a:pt x="453271" y="17130"/>
                </a:lnTo>
                <a:lnTo>
                  <a:pt x="413924" y="4411"/>
                </a:lnTo>
                <a:lnTo>
                  <a:pt x="3721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423597" y="4259289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372119" y="547615"/>
                </a:moveTo>
                <a:lnTo>
                  <a:pt x="0" y="547615"/>
                </a:lnTo>
                <a:lnTo>
                  <a:pt x="0" y="0"/>
                </a:lnTo>
                <a:lnTo>
                  <a:pt x="372119" y="0"/>
                </a:lnTo>
                <a:lnTo>
                  <a:pt x="413924" y="4411"/>
                </a:lnTo>
                <a:lnTo>
                  <a:pt x="453271" y="17130"/>
                </a:lnTo>
                <a:lnTo>
                  <a:pt x="489504" y="37383"/>
                </a:lnTo>
                <a:lnTo>
                  <a:pt x="521964" y="64395"/>
                </a:lnTo>
                <a:lnTo>
                  <a:pt x="549996" y="97393"/>
                </a:lnTo>
                <a:lnTo>
                  <a:pt x="572942" y="135603"/>
                </a:lnTo>
                <a:lnTo>
                  <a:pt x="590145" y="178251"/>
                </a:lnTo>
                <a:lnTo>
                  <a:pt x="600949" y="224564"/>
                </a:lnTo>
                <a:lnTo>
                  <a:pt x="604696" y="273767"/>
                </a:lnTo>
                <a:lnTo>
                  <a:pt x="600949" y="322994"/>
                </a:lnTo>
                <a:lnTo>
                  <a:pt x="590145" y="369326"/>
                </a:lnTo>
                <a:lnTo>
                  <a:pt x="572942" y="411988"/>
                </a:lnTo>
                <a:lnTo>
                  <a:pt x="549996" y="450208"/>
                </a:lnTo>
                <a:lnTo>
                  <a:pt x="521964" y="483213"/>
                </a:lnTo>
                <a:lnTo>
                  <a:pt x="489504" y="510229"/>
                </a:lnTo>
                <a:lnTo>
                  <a:pt x="453271" y="530484"/>
                </a:lnTo>
                <a:lnTo>
                  <a:pt x="413924" y="543204"/>
                </a:lnTo>
                <a:lnTo>
                  <a:pt x="372119" y="547615"/>
                </a:lnTo>
                <a:close/>
              </a:path>
            </a:pathLst>
          </a:custGeom>
          <a:ln w="16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260794" y="5217596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147" y="0"/>
                </a:lnTo>
              </a:path>
            </a:pathLst>
          </a:custGeom>
          <a:ln w="17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260794" y="5491445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147" y="0"/>
                </a:lnTo>
              </a:path>
            </a:pathLst>
          </a:custGeom>
          <a:ln w="17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25942" y="5354520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465147" y="0"/>
                </a:moveTo>
                <a:lnTo>
                  <a:pt x="0" y="0"/>
                </a:lnTo>
              </a:path>
            </a:pathLst>
          </a:custGeom>
          <a:ln w="17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423597" y="5080672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181406" y="0"/>
                </a:moveTo>
                <a:lnTo>
                  <a:pt x="0" y="0"/>
                </a:lnTo>
                <a:lnTo>
                  <a:pt x="25740" y="43918"/>
                </a:lnTo>
                <a:lnTo>
                  <a:pt x="46801" y="88772"/>
                </a:lnTo>
                <a:lnTo>
                  <a:pt x="63181" y="134375"/>
                </a:lnTo>
                <a:lnTo>
                  <a:pt x="74882" y="180541"/>
                </a:lnTo>
                <a:lnTo>
                  <a:pt x="81902" y="227080"/>
                </a:lnTo>
                <a:lnTo>
                  <a:pt x="84240" y="273848"/>
                </a:lnTo>
                <a:lnTo>
                  <a:pt x="81902" y="320534"/>
                </a:lnTo>
                <a:lnTo>
                  <a:pt x="74882" y="367074"/>
                </a:lnTo>
                <a:lnTo>
                  <a:pt x="63181" y="413239"/>
                </a:lnTo>
                <a:lnTo>
                  <a:pt x="46801" y="458843"/>
                </a:lnTo>
                <a:lnTo>
                  <a:pt x="25740" y="503697"/>
                </a:lnTo>
                <a:lnTo>
                  <a:pt x="0" y="547615"/>
                </a:lnTo>
                <a:lnTo>
                  <a:pt x="181407" y="547615"/>
                </a:lnTo>
                <a:lnTo>
                  <a:pt x="233294" y="535916"/>
                </a:lnTo>
                <a:lnTo>
                  <a:pt x="283158" y="521153"/>
                </a:lnTo>
                <a:lnTo>
                  <a:pt x="330780" y="503469"/>
                </a:lnTo>
                <a:lnTo>
                  <a:pt x="375941" y="483005"/>
                </a:lnTo>
                <a:lnTo>
                  <a:pt x="418420" y="459903"/>
                </a:lnTo>
                <a:lnTo>
                  <a:pt x="457998" y="434306"/>
                </a:lnTo>
                <a:lnTo>
                  <a:pt x="494456" y="406354"/>
                </a:lnTo>
                <a:lnTo>
                  <a:pt x="527575" y="376191"/>
                </a:lnTo>
                <a:lnTo>
                  <a:pt x="557134" y="343958"/>
                </a:lnTo>
                <a:lnTo>
                  <a:pt x="582914" y="309796"/>
                </a:lnTo>
                <a:lnTo>
                  <a:pt x="604696" y="273848"/>
                </a:lnTo>
                <a:lnTo>
                  <a:pt x="583207" y="237752"/>
                </a:lnTo>
                <a:lnTo>
                  <a:pt x="557638" y="203460"/>
                </a:lnTo>
                <a:lnTo>
                  <a:pt x="528218" y="171115"/>
                </a:lnTo>
                <a:lnTo>
                  <a:pt x="495172" y="140865"/>
                </a:lnTo>
                <a:lnTo>
                  <a:pt x="458729" y="112854"/>
                </a:lnTo>
                <a:lnTo>
                  <a:pt x="419113" y="87229"/>
                </a:lnTo>
                <a:lnTo>
                  <a:pt x="376553" y="64136"/>
                </a:lnTo>
                <a:lnTo>
                  <a:pt x="331276" y="43721"/>
                </a:lnTo>
                <a:lnTo>
                  <a:pt x="283508" y="26129"/>
                </a:lnTo>
                <a:lnTo>
                  <a:pt x="233476" y="11507"/>
                </a:lnTo>
                <a:lnTo>
                  <a:pt x="1814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423597" y="5080672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604696" y="273848"/>
                </a:moveTo>
                <a:lnTo>
                  <a:pt x="582914" y="309796"/>
                </a:lnTo>
                <a:lnTo>
                  <a:pt x="557134" y="343958"/>
                </a:lnTo>
                <a:lnTo>
                  <a:pt x="527575" y="376191"/>
                </a:lnTo>
                <a:lnTo>
                  <a:pt x="494456" y="406354"/>
                </a:lnTo>
                <a:lnTo>
                  <a:pt x="457998" y="434306"/>
                </a:lnTo>
                <a:lnTo>
                  <a:pt x="418420" y="459903"/>
                </a:lnTo>
                <a:lnTo>
                  <a:pt x="375941" y="483005"/>
                </a:lnTo>
                <a:lnTo>
                  <a:pt x="330780" y="503469"/>
                </a:lnTo>
                <a:lnTo>
                  <a:pt x="283158" y="521153"/>
                </a:lnTo>
                <a:lnTo>
                  <a:pt x="233294" y="535916"/>
                </a:lnTo>
                <a:lnTo>
                  <a:pt x="181407" y="547615"/>
                </a:lnTo>
                <a:lnTo>
                  <a:pt x="0" y="547615"/>
                </a:lnTo>
                <a:lnTo>
                  <a:pt x="25740" y="503697"/>
                </a:lnTo>
                <a:lnTo>
                  <a:pt x="46801" y="458843"/>
                </a:lnTo>
                <a:lnTo>
                  <a:pt x="63181" y="413239"/>
                </a:lnTo>
                <a:lnTo>
                  <a:pt x="74882" y="367074"/>
                </a:lnTo>
                <a:lnTo>
                  <a:pt x="81902" y="320534"/>
                </a:lnTo>
                <a:lnTo>
                  <a:pt x="84242" y="273807"/>
                </a:lnTo>
                <a:lnTo>
                  <a:pt x="81902" y="227080"/>
                </a:lnTo>
                <a:lnTo>
                  <a:pt x="74882" y="180541"/>
                </a:lnTo>
                <a:lnTo>
                  <a:pt x="63181" y="134375"/>
                </a:lnTo>
                <a:lnTo>
                  <a:pt x="46801" y="88772"/>
                </a:lnTo>
                <a:lnTo>
                  <a:pt x="25740" y="43918"/>
                </a:lnTo>
                <a:lnTo>
                  <a:pt x="0" y="0"/>
                </a:lnTo>
                <a:lnTo>
                  <a:pt x="181406" y="0"/>
                </a:lnTo>
                <a:lnTo>
                  <a:pt x="233476" y="11507"/>
                </a:lnTo>
                <a:lnTo>
                  <a:pt x="283508" y="26129"/>
                </a:lnTo>
                <a:lnTo>
                  <a:pt x="331276" y="43721"/>
                </a:lnTo>
                <a:lnTo>
                  <a:pt x="376553" y="64136"/>
                </a:lnTo>
                <a:lnTo>
                  <a:pt x="419113" y="87229"/>
                </a:lnTo>
                <a:lnTo>
                  <a:pt x="458729" y="112854"/>
                </a:lnTo>
                <a:lnTo>
                  <a:pt x="495172" y="140865"/>
                </a:lnTo>
                <a:lnTo>
                  <a:pt x="528218" y="171115"/>
                </a:lnTo>
                <a:lnTo>
                  <a:pt x="557638" y="203460"/>
                </a:lnTo>
                <a:lnTo>
                  <a:pt x="583207" y="237752"/>
                </a:lnTo>
                <a:lnTo>
                  <a:pt x="604696" y="273848"/>
                </a:lnTo>
                <a:close/>
              </a:path>
            </a:pathLst>
          </a:custGeom>
          <a:ln w="16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18478" y="5305509"/>
            <a:ext cx="85681" cy="980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423597" y="5080672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372119" y="0"/>
                </a:moveTo>
                <a:lnTo>
                  <a:pt x="0" y="0"/>
                </a:lnTo>
                <a:lnTo>
                  <a:pt x="0" y="547615"/>
                </a:lnTo>
                <a:lnTo>
                  <a:pt x="372119" y="547615"/>
                </a:lnTo>
                <a:lnTo>
                  <a:pt x="413924" y="543206"/>
                </a:lnTo>
                <a:lnTo>
                  <a:pt x="453271" y="530494"/>
                </a:lnTo>
                <a:lnTo>
                  <a:pt x="489504" y="510250"/>
                </a:lnTo>
                <a:lnTo>
                  <a:pt x="521964" y="483247"/>
                </a:lnTo>
                <a:lnTo>
                  <a:pt x="549996" y="450255"/>
                </a:lnTo>
                <a:lnTo>
                  <a:pt x="572942" y="412048"/>
                </a:lnTo>
                <a:lnTo>
                  <a:pt x="590145" y="369396"/>
                </a:lnTo>
                <a:lnTo>
                  <a:pt x="600949" y="323072"/>
                </a:lnTo>
                <a:lnTo>
                  <a:pt x="604696" y="273848"/>
                </a:lnTo>
                <a:lnTo>
                  <a:pt x="600949" y="224620"/>
                </a:lnTo>
                <a:lnTo>
                  <a:pt x="590145" y="178289"/>
                </a:lnTo>
                <a:lnTo>
                  <a:pt x="572942" y="135627"/>
                </a:lnTo>
                <a:lnTo>
                  <a:pt x="549996" y="97407"/>
                </a:lnTo>
                <a:lnTo>
                  <a:pt x="521964" y="64402"/>
                </a:lnTo>
                <a:lnTo>
                  <a:pt x="489504" y="37386"/>
                </a:lnTo>
                <a:lnTo>
                  <a:pt x="453271" y="17131"/>
                </a:lnTo>
                <a:lnTo>
                  <a:pt x="413924" y="4411"/>
                </a:lnTo>
                <a:lnTo>
                  <a:pt x="3721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423597" y="5080672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372119" y="547615"/>
                </a:moveTo>
                <a:lnTo>
                  <a:pt x="0" y="547615"/>
                </a:lnTo>
                <a:lnTo>
                  <a:pt x="0" y="0"/>
                </a:lnTo>
                <a:lnTo>
                  <a:pt x="372119" y="0"/>
                </a:lnTo>
                <a:lnTo>
                  <a:pt x="413924" y="4411"/>
                </a:lnTo>
                <a:lnTo>
                  <a:pt x="453271" y="17131"/>
                </a:lnTo>
                <a:lnTo>
                  <a:pt x="489504" y="37386"/>
                </a:lnTo>
                <a:lnTo>
                  <a:pt x="521964" y="64402"/>
                </a:lnTo>
                <a:lnTo>
                  <a:pt x="549996" y="97407"/>
                </a:lnTo>
                <a:lnTo>
                  <a:pt x="572942" y="135627"/>
                </a:lnTo>
                <a:lnTo>
                  <a:pt x="590145" y="178289"/>
                </a:lnTo>
                <a:lnTo>
                  <a:pt x="600949" y="224620"/>
                </a:lnTo>
                <a:lnTo>
                  <a:pt x="604696" y="273848"/>
                </a:lnTo>
                <a:lnTo>
                  <a:pt x="600949" y="323072"/>
                </a:lnTo>
                <a:lnTo>
                  <a:pt x="590145" y="369396"/>
                </a:lnTo>
                <a:lnTo>
                  <a:pt x="572942" y="412048"/>
                </a:lnTo>
                <a:lnTo>
                  <a:pt x="549996" y="450255"/>
                </a:lnTo>
                <a:lnTo>
                  <a:pt x="521964" y="483247"/>
                </a:lnTo>
                <a:lnTo>
                  <a:pt x="489504" y="510250"/>
                </a:lnTo>
                <a:lnTo>
                  <a:pt x="453271" y="530494"/>
                </a:lnTo>
                <a:lnTo>
                  <a:pt x="413924" y="543206"/>
                </a:lnTo>
                <a:lnTo>
                  <a:pt x="372119" y="547615"/>
                </a:lnTo>
                <a:close/>
              </a:path>
            </a:pathLst>
          </a:custGeom>
          <a:ln w="16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260794" y="6016232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147" y="0"/>
                </a:lnTo>
              </a:path>
            </a:pathLst>
          </a:custGeom>
          <a:ln w="17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260794" y="6290047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147" y="0"/>
                </a:lnTo>
              </a:path>
            </a:pathLst>
          </a:custGeom>
          <a:ln w="17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725942" y="6153139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465147" y="0"/>
                </a:moveTo>
                <a:lnTo>
                  <a:pt x="0" y="0"/>
                </a:lnTo>
              </a:path>
            </a:pathLst>
          </a:custGeom>
          <a:ln w="17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423598" y="5879324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181406" y="0"/>
                </a:moveTo>
                <a:lnTo>
                  <a:pt x="0" y="0"/>
                </a:lnTo>
                <a:lnTo>
                  <a:pt x="25740" y="43918"/>
                </a:lnTo>
                <a:lnTo>
                  <a:pt x="46801" y="88773"/>
                </a:lnTo>
                <a:lnTo>
                  <a:pt x="63181" y="134377"/>
                </a:lnTo>
                <a:lnTo>
                  <a:pt x="74882" y="180543"/>
                </a:lnTo>
                <a:lnTo>
                  <a:pt x="81902" y="227083"/>
                </a:lnTo>
                <a:lnTo>
                  <a:pt x="84240" y="273840"/>
                </a:lnTo>
                <a:lnTo>
                  <a:pt x="81902" y="320539"/>
                </a:lnTo>
                <a:lnTo>
                  <a:pt x="74882" y="367080"/>
                </a:lnTo>
                <a:lnTo>
                  <a:pt x="63181" y="413246"/>
                </a:lnTo>
                <a:lnTo>
                  <a:pt x="46801" y="458850"/>
                </a:lnTo>
                <a:lnTo>
                  <a:pt x="25740" y="503705"/>
                </a:lnTo>
                <a:lnTo>
                  <a:pt x="0" y="547623"/>
                </a:lnTo>
                <a:lnTo>
                  <a:pt x="181407" y="547623"/>
                </a:lnTo>
                <a:lnTo>
                  <a:pt x="233294" y="535913"/>
                </a:lnTo>
                <a:lnTo>
                  <a:pt x="283158" y="521140"/>
                </a:lnTo>
                <a:lnTo>
                  <a:pt x="330780" y="503447"/>
                </a:lnTo>
                <a:lnTo>
                  <a:pt x="375941" y="482976"/>
                </a:lnTo>
                <a:lnTo>
                  <a:pt x="418420" y="459869"/>
                </a:lnTo>
                <a:lnTo>
                  <a:pt x="457998" y="434268"/>
                </a:lnTo>
                <a:lnTo>
                  <a:pt x="494456" y="406316"/>
                </a:lnTo>
                <a:lnTo>
                  <a:pt x="527575" y="376155"/>
                </a:lnTo>
                <a:lnTo>
                  <a:pt x="557134" y="343927"/>
                </a:lnTo>
                <a:lnTo>
                  <a:pt x="582914" y="309775"/>
                </a:lnTo>
                <a:lnTo>
                  <a:pt x="604696" y="273840"/>
                </a:lnTo>
                <a:lnTo>
                  <a:pt x="583207" y="237747"/>
                </a:lnTo>
                <a:lnTo>
                  <a:pt x="557638" y="203454"/>
                </a:lnTo>
                <a:lnTo>
                  <a:pt x="528218" y="171108"/>
                </a:lnTo>
                <a:lnTo>
                  <a:pt x="495172" y="140854"/>
                </a:lnTo>
                <a:lnTo>
                  <a:pt x="458729" y="112840"/>
                </a:lnTo>
                <a:lnTo>
                  <a:pt x="419113" y="87212"/>
                </a:lnTo>
                <a:lnTo>
                  <a:pt x="376553" y="64117"/>
                </a:lnTo>
                <a:lnTo>
                  <a:pt x="331276" y="43701"/>
                </a:lnTo>
                <a:lnTo>
                  <a:pt x="283508" y="26112"/>
                </a:lnTo>
                <a:lnTo>
                  <a:pt x="233476" y="11496"/>
                </a:lnTo>
                <a:lnTo>
                  <a:pt x="1814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423598" y="5879324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604696" y="273840"/>
                </a:moveTo>
                <a:lnTo>
                  <a:pt x="582914" y="309775"/>
                </a:lnTo>
                <a:lnTo>
                  <a:pt x="557134" y="343927"/>
                </a:lnTo>
                <a:lnTo>
                  <a:pt x="527575" y="376155"/>
                </a:lnTo>
                <a:lnTo>
                  <a:pt x="494456" y="406316"/>
                </a:lnTo>
                <a:lnTo>
                  <a:pt x="457998" y="434268"/>
                </a:lnTo>
                <a:lnTo>
                  <a:pt x="418420" y="459869"/>
                </a:lnTo>
                <a:lnTo>
                  <a:pt x="375941" y="482976"/>
                </a:lnTo>
                <a:lnTo>
                  <a:pt x="330780" y="503447"/>
                </a:lnTo>
                <a:lnTo>
                  <a:pt x="283158" y="521140"/>
                </a:lnTo>
                <a:lnTo>
                  <a:pt x="233294" y="535913"/>
                </a:lnTo>
                <a:lnTo>
                  <a:pt x="181407" y="547623"/>
                </a:lnTo>
                <a:lnTo>
                  <a:pt x="0" y="547623"/>
                </a:lnTo>
                <a:lnTo>
                  <a:pt x="25740" y="503705"/>
                </a:lnTo>
                <a:lnTo>
                  <a:pt x="46801" y="458850"/>
                </a:lnTo>
                <a:lnTo>
                  <a:pt x="63181" y="413246"/>
                </a:lnTo>
                <a:lnTo>
                  <a:pt x="74882" y="367080"/>
                </a:lnTo>
                <a:lnTo>
                  <a:pt x="81902" y="320539"/>
                </a:lnTo>
                <a:lnTo>
                  <a:pt x="84242" y="273811"/>
                </a:lnTo>
                <a:lnTo>
                  <a:pt x="81902" y="227083"/>
                </a:lnTo>
                <a:lnTo>
                  <a:pt x="74882" y="180543"/>
                </a:lnTo>
                <a:lnTo>
                  <a:pt x="63181" y="134377"/>
                </a:lnTo>
                <a:lnTo>
                  <a:pt x="46801" y="88773"/>
                </a:lnTo>
                <a:lnTo>
                  <a:pt x="25740" y="43918"/>
                </a:lnTo>
                <a:lnTo>
                  <a:pt x="0" y="0"/>
                </a:lnTo>
                <a:lnTo>
                  <a:pt x="181406" y="0"/>
                </a:lnTo>
                <a:lnTo>
                  <a:pt x="233476" y="11496"/>
                </a:lnTo>
                <a:lnTo>
                  <a:pt x="283508" y="26112"/>
                </a:lnTo>
                <a:lnTo>
                  <a:pt x="331276" y="43701"/>
                </a:lnTo>
                <a:lnTo>
                  <a:pt x="376553" y="64117"/>
                </a:lnTo>
                <a:lnTo>
                  <a:pt x="419113" y="87212"/>
                </a:lnTo>
                <a:lnTo>
                  <a:pt x="458729" y="112840"/>
                </a:lnTo>
                <a:lnTo>
                  <a:pt x="495172" y="140854"/>
                </a:lnTo>
                <a:lnTo>
                  <a:pt x="528218" y="171108"/>
                </a:lnTo>
                <a:lnTo>
                  <a:pt x="557638" y="203454"/>
                </a:lnTo>
                <a:lnTo>
                  <a:pt x="583207" y="237747"/>
                </a:lnTo>
                <a:lnTo>
                  <a:pt x="604696" y="273840"/>
                </a:lnTo>
                <a:close/>
              </a:path>
            </a:pathLst>
          </a:custGeom>
          <a:ln w="16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018478" y="6104096"/>
            <a:ext cx="85680" cy="980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423598" y="5879324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372119" y="0"/>
                </a:moveTo>
                <a:lnTo>
                  <a:pt x="0" y="0"/>
                </a:lnTo>
                <a:lnTo>
                  <a:pt x="0" y="547623"/>
                </a:lnTo>
                <a:lnTo>
                  <a:pt x="372119" y="547623"/>
                </a:lnTo>
                <a:lnTo>
                  <a:pt x="413924" y="543212"/>
                </a:lnTo>
                <a:lnTo>
                  <a:pt x="453271" y="530493"/>
                </a:lnTo>
                <a:lnTo>
                  <a:pt x="489504" y="510241"/>
                </a:lnTo>
                <a:lnTo>
                  <a:pt x="521964" y="483227"/>
                </a:lnTo>
                <a:lnTo>
                  <a:pt x="549996" y="450227"/>
                </a:lnTo>
                <a:lnTo>
                  <a:pt x="572942" y="412012"/>
                </a:lnTo>
                <a:lnTo>
                  <a:pt x="590145" y="369356"/>
                </a:lnTo>
                <a:lnTo>
                  <a:pt x="600949" y="323033"/>
                </a:lnTo>
                <a:lnTo>
                  <a:pt x="604696" y="273815"/>
                </a:lnTo>
                <a:lnTo>
                  <a:pt x="600949" y="224596"/>
                </a:lnTo>
                <a:lnTo>
                  <a:pt x="590145" y="178271"/>
                </a:lnTo>
                <a:lnTo>
                  <a:pt x="572942" y="135614"/>
                </a:lnTo>
                <a:lnTo>
                  <a:pt x="549996" y="97398"/>
                </a:lnTo>
                <a:lnTo>
                  <a:pt x="521964" y="64396"/>
                </a:lnTo>
                <a:lnTo>
                  <a:pt x="489504" y="37383"/>
                </a:lnTo>
                <a:lnTo>
                  <a:pt x="453271" y="17130"/>
                </a:lnTo>
                <a:lnTo>
                  <a:pt x="413924" y="4411"/>
                </a:lnTo>
                <a:lnTo>
                  <a:pt x="3721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423598" y="5879324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372119" y="547623"/>
                </a:moveTo>
                <a:lnTo>
                  <a:pt x="0" y="547623"/>
                </a:lnTo>
                <a:lnTo>
                  <a:pt x="0" y="0"/>
                </a:lnTo>
                <a:lnTo>
                  <a:pt x="372119" y="0"/>
                </a:lnTo>
                <a:lnTo>
                  <a:pt x="413924" y="4411"/>
                </a:lnTo>
                <a:lnTo>
                  <a:pt x="453271" y="17130"/>
                </a:lnTo>
                <a:lnTo>
                  <a:pt x="489504" y="37383"/>
                </a:lnTo>
                <a:lnTo>
                  <a:pt x="521964" y="64396"/>
                </a:lnTo>
                <a:lnTo>
                  <a:pt x="549996" y="97398"/>
                </a:lnTo>
                <a:lnTo>
                  <a:pt x="572942" y="135614"/>
                </a:lnTo>
                <a:lnTo>
                  <a:pt x="590145" y="178271"/>
                </a:lnTo>
                <a:lnTo>
                  <a:pt x="600949" y="224596"/>
                </a:lnTo>
                <a:lnTo>
                  <a:pt x="604696" y="273815"/>
                </a:lnTo>
                <a:lnTo>
                  <a:pt x="600949" y="323033"/>
                </a:lnTo>
                <a:lnTo>
                  <a:pt x="590145" y="369356"/>
                </a:lnTo>
                <a:lnTo>
                  <a:pt x="572942" y="412012"/>
                </a:lnTo>
                <a:lnTo>
                  <a:pt x="549996" y="450227"/>
                </a:lnTo>
                <a:lnTo>
                  <a:pt x="521964" y="483227"/>
                </a:lnTo>
                <a:lnTo>
                  <a:pt x="489504" y="510241"/>
                </a:lnTo>
                <a:lnTo>
                  <a:pt x="453271" y="530493"/>
                </a:lnTo>
                <a:lnTo>
                  <a:pt x="413924" y="543212"/>
                </a:lnTo>
                <a:lnTo>
                  <a:pt x="372119" y="547623"/>
                </a:lnTo>
                <a:close/>
              </a:path>
            </a:pathLst>
          </a:custGeom>
          <a:ln w="16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481811" y="5217596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140" y="0"/>
                </a:lnTo>
              </a:path>
            </a:pathLst>
          </a:custGeom>
          <a:ln w="17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481811" y="5354520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140" y="0"/>
                </a:lnTo>
              </a:path>
            </a:pathLst>
          </a:custGeom>
          <a:ln w="17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481811" y="5491445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140" y="0"/>
                </a:lnTo>
              </a:path>
            </a:pathLst>
          </a:custGeom>
          <a:ln w="17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946952" y="5354520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465140" y="0"/>
                </a:moveTo>
                <a:lnTo>
                  <a:pt x="0" y="0"/>
                </a:lnTo>
              </a:path>
            </a:pathLst>
          </a:custGeom>
          <a:ln w="17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644607" y="5080672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181393" y="0"/>
                </a:moveTo>
                <a:lnTo>
                  <a:pt x="0" y="0"/>
                </a:lnTo>
                <a:lnTo>
                  <a:pt x="25743" y="43918"/>
                </a:lnTo>
                <a:lnTo>
                  <a:pt x="46806" y="88772"/>
                </a:lnTo>
                <a:lnTo>
                  <a:pt x="63189" y="134375"/>
                </a:lnTo>
                <a:lnTo>
                  <a:pt x="74891" y="180541"/>
                </a:lnTo>
                <a:lnTo>
                  <a:pt x="81912" y="227080"/>
                </a:lnTo>
                <a:lnTo>
                  <a:pt x="84250" y="273848"/>
                </a:lnTo>
                <a:lnTo>
                  <a:pt x="81912" y="320534"/>
                </a:lnTo>
                <a:lnTo>
                  <a:pt x="74891" y="367074"/>
                </a:lnTo>
                <a:lnTo>
                  <a:pt x="63189" y="413239"/>
                </a:lnTo>
                <a:lnTo>
                  <a:pt x="46807" y="458843"/>
                </a:lnTo>
                <a:lnTo>
                  <a:pt x="25743" y="503697"/>
                </a:lnTo>
                <a:lnTo>
                  <a:pt x="0" y="547615"/>
                </a:lnTo>
                <a:lnTo>
                  <a:pt x="181393" y="547615"/>
                </a:lnTo>
                <a:lnTo>
                  <a:pt x="233283" y="535916"/>
                </a:lnTo>
                <a:lnTo>
                  <a:pt x="283153" y="521153"/>
                </a:lnTo>
                <a:lnTo>
                  <a:pt x="330782" y="503469"/>
                </a:lnTo>
                <a:lnTo>
                  <a:pt x="375949" y="483005"/>
                </a:lnTo>
                <a:lnTo>
                  <a:pt x="418435" y="459903"/>
                </a:lnTo>
                <a:lnTo>
                  <a:pt x="458018" y="434306"/>
                </a:lnTo>
                <a:lnTo>
                  <a:pt x="494479" y="406354"/>
                </a:lnTo>
                <a:lnTo>
                  <a:pt x="527597" y="376191"/>
                </a:lnTo>
                <a:lnTo>
                  <a:pt x="557152" y="343958"/>
                </a:lnTo>
                <a:lnTo>
                  <a:pt x="582923" y="309796"/>
                </a:lnTo>
                <a:lnTo>
                  <a:pt x="604690" y="273848"/>
                </a:lnTo>
                <a:lnTo>
                  <a:pt x="583202" y="237752"/>
                </a:lnTo>
                <a:lnTo>
                  <a:pt x="557637" y="203460"/>
                </a:lnTo>
                <a:lnTo>
                  <a:pt x="528222" y="171115"/>
                </a:lnTo>
                <a:lnTo>
                  <a:pt x="495183" y="140865"/>
                </a:lnTo>
                <a:lnTo>
                  <a:pt x="458744" y="112854"/>
                </a:lnTo>
                <a:lnTo>
                  <a:pt x="419133" y="87229"/>
                </a:lnTo>
                <a:lnTo>
                  <a:pt x="376575" y="64136"/>
                </a:lnTo>
                <a:lnTo>
                  <a:pt x="331296" y="43721"/>
                </a:lnTo>
                <a:lnTo>
                  <a:pt x="283522" y="26129"/>
                </a:lnTo>
                <a:lnTo>
                  <a:pt x="233479" y="11507"/>
                </a:lnTo>
                <a:lnTo>
                  <a:pt x="1813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644607" y="5080672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604690" y="273848"/>
                </a:moveTo>
                <a:lnTo>
                  <a:pt x="582923" y="309796"/>
                </a:lnTo>
                <a:lnTo>
                  <a:pt x="557152" y="343958"/>
                </a:lnTo>
                <a:lnTo>
                  <a:pt x="527597" y="376191"/>
                </a:lnTo>
                <a:lnTo>
                  <a:pt x="494479" y="406354"/>
                </a:lnTo>
                <a:lnTo>
                  <a:pt x="458018" y="434306"/>
                </a:lnTo>
                <a:lnTo>
                  <a:pt x="418435" y="459903"/>
                </a:lnTo>
                <a:lnTo>
                  <a:pt x="375949" y="483005"/>
                </a:lnTo>
                <a:lnTo>
                  <a:pt x="330782" y="503469"/>
                </a:lnTo>
                <a:lnTo>
                  <a:pt x="283153" y="521153"/>
                </a:lnTo>
                <a:lnTo>
                  <a:pt x="233283" y="535916"/>
                </a:lnTo>
                <a:lnTo>
                  <a:pt x="181393" y="547615"/>
                </a:lnTo>
                <a:lnTo>
                  <a:pt x="0" y="547615"/>
                </a:lnTo>
                <a:lnTo>
                  <a:pt x="25743" y="503697"/>
                </a:lnTo>
                <a:lnTo>
                  <a:pt x="46807" y="458843"/>
                </a:lnTo>
                <a:lnTo>
                  <a:pt x="63189" y="413239"/>
                </a:lnTo>
                <a:lnTo>
                  <a:pt x="74891" y="367074"/>
                </a:lnTo>
                <a:lnTo>
                  <a:pt x="81912" y="320534"/>
                </a:lnTo>
                <a:lnTo>
                  <a:pt x="84252" y="273807"/>
                </a:lnTo>
                <a:lnTo>
                  <a:pt x="81912" y="227080"/>
                </a:lnTo>
                <a:lnTo>
                  <a:pt x="74891" y="180541"/>
                </a:lnTo>
                <a:lnTo>
                  <a:pt x="63189" y="134375"/>
                </a:lnTo>
                <a:lnTo>
                  <a:pt x="46806" y="88772"/>
                </a:lnTo>
                <a:lnTo>
                  <a:pt x="25743" y="43918"/>
                </a:lnTo>
                <a:lnTo>
                  <a:pt x="0" y="0"/>
                </a:lnTo>
                <a:lnTo>
                  <a:pt x="181393" y="0"/>
                </a:lnTo>
                <a:lnTo>
                  <a:pt x="233479" y="11507"/>
                </a:lnTo>
                <a:lnTo>
                  <a:pt x="283522" y="26129"/>
                </a:lnTo>
                <a:lnTo>
                  <a:pt x="331296" y="43721"/>
                </a:lnTo>
                <a:lnTo>
                  <a:pt x="376575" y="64136"/>
                </a:lnTo>
                <a:lnTo>
                  <a:pt x="419133" y="87229"/>
                </a:lnTo>
                <a:lnTo>
                  <a:pt x="458744" y="112854"/>
                </a:lnTo>
                <a:lnTo>
                  <a:pt x="495182" y="140865"/>
                </a:lnTo>
                <a:lnTo>
                  <a:pt x="528222" y="171115"/>
                </a:lnTo>
                <a:lnTo>
                  <a:pt x="557637" y="203460"/>
                </a:lnTo>
                <a:lnTo>
                  <a:pt x="583202" y="237752"/>
                </a:lnTo>
                <a:lnTo>
                  <a:pt x="604690" y="273848"/>
                </a:lnTo>
                <a:close/>
              </a:path>
            </a:pathLst>
          </a:custGeom>
          <a:ln w="16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239480" y="5305508"/>
            <a:ext cx="85751" cy="980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644607" y="5080672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372153" y="0"/>
                </a:moveTo>
                <a:lnTo>
                  <a:pt x="0" y="0"/>
                </a:lnTo>
                <a:lnTo>
                  <a:pt x="0" y="547615"/>
                </a:lnTo>
                <a:lnTo>
                  <a:pt x="372153" y="547615"/>
                </a:lnTo>
                <a:lnTo>
                  <a:pt x="413946" y="543206"/>
                </a:lnTo>
                <a:lnTo>
                  <a:pt x="453284" y="530494"/>
                </a:lnTo>
                <a:lnTo>
                  <a:pt x="489509" y="510250"/>
                </a:lnTo>
                <a:lnTo>
                  <a:pt x="521964" y="483247"/>
                </a:lnTo>
                <a:lnTo>
                  <a:pt x="549993" y="450255"/>
                </a:lnTo>
                <a:lnTo>
                  <a:pt x="572937" y="412048"/>
                </a:lnTo>
                <a:lnTo>
                  <a:pt x="590139" y="369396"/>
                </a:lnTo>
                <a:lnTo>
                  <a:pt x="600942" y="323072"/>
                </a:lnTo>
                <a:lnTo>
                  <a:pt x="604690" y="273848"/>
                </a:lnTo>
                <a:lnTo>
                  <a:pt x="600942" y="224620"/>
                </a:lnTo>
                <a:lnTo>
                  <a:pt x="590139" y="178289"/>
                </a:lnTo>
                <a:lnTo>
                  <a:pt x="572937" y="135627"/>
                </a:lnTo>
                <a:lnTo>
                  <a:pt x="549993" y="97407"/>
                </a:lnTo>
                <a:lnTo>
                  <a:pt x="521964" y="64402"/>
                </a:lnTo>
                <a:lnTo>
                  <a:pt x="489509" y="37386"/>
                </a:lnTo>
                <a:lnTo>
                  <a:pt x="453284" y="17131"/>
                </a:lnTo>
                <a:lnTo>
                  <a:pt x="413946" y="4411"/>
                </a:lnTo>
                <a:lnTo>
                  <a:pt x="3721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644607" y="5080672"/>
            <a:ext cx="605155" cy="548005"/>
          </a:xfrm>
          <a:custGeom>
            <a:avLst/>
            <a:gdLst/>
            <a:ahLst/>
            <a:cxnLst/>
            <a:rect l="l" t="t" r="r" b="b"/>
            <a:pathLst>
              <a:path w="605154" h="548004">
                <a:moveTo>
                  <a:pt x="372153" y="547615"/>
                </a:moveTo>
                <a:lnTo>
                  <a:pt x="0" y="547615"/>
                </a:lnTo>
                <a:lnTo>
                  <a:pt x="0" y="0"/>
                </a:lnTo>
                <a:lnTo>
                  <a:pt x="372153" y="0"/>
                </a:lnTo>
                <a:lnTo>
                  <a:pt x="413946" y="4411"/>
                </a:lnTo>
                <a:lnTo>
                  <a:pt x="453284" y="17131"/>
                </a:lnTo>
                <a:lnTo>
                  <a:pt x="489509" y="37386"/>
                </a:lnTo>
                <a:lnTo>
                  <a:pt x="521964" y="64402"/>
                </a:lnTo>
                <a:lnTo>
                  <a:pt x="549993" y="97407"/>
                </a:lnTo>
                <a:lnTo>
                  <a:pt x="572937" y="135627"/>
                </a:lnTo>
                <a:lnTo>
                  <a:pt x="590139" y="178289"/>
                </a:lnTo>
                <a:lnTo>
                  <a:pt x="600942" y="224620"/>
                </a:lnTo>
                <a:lnTo>
                  <a:pt x="604690" y="273848"/>
                </a:lnTo>
                <a:lnTo>
                  <a:pt x="600942" y="323072"/>
                </a:lnTo>
                <a:lnTo>
                  <a:pt x="590139" y="369396"/>
                </a:lnTo>
                <a:lnTo>
                  <a:pt x="572937" y="412048"/>
                </a:lnTo>
                <a:lnTo>
                  <a:pt x="549993" y="450255"/>
                </a:lnTo>
                <a:lnTo>
                  <a:pt x="521964" y="483247"/>
                </a:lnTo>
                <a:lnTo>
                  <a:pt x="489509" y="510250"/>
                </a:lnTo>
                <a:lnTo>
                  <a:pt x="453284" y="530494"/>
                </a:lnTo>
                <a:lnTo>
                  <a:pt x="413946" y="543206"/>
                </a:lnTo>
                <a:lnTo>
                  <a:pt x="372153" y="547615"/>
                </a:lnTo>
                <a:close/>
              </a:path>
            </a:pathLst>
          </a:custGeom>
          <a:ln w="16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191089" y="4533057"/>
            <a:ext cx="290830" cy="685165"/>
          </a:xfrm>
          <a:custGeom>
            <a:avLst/>
            <a:gdLst/>
            <a:ahLst/>
            <a:cxnLst/>
            <a:rect l="l" t="t" r="r" b="b"/>
            <a:pathLst>
              <a:path w="290829" h="685164">
                <a:moveTo>
                  <a:pt x="0" y="0"/>
                </a:moveTo>
                <a:lnTo>
                  <a:pt x="72680" y="0"/>
                </a:lnTo>
                <a:lnTo>
                  <a:pt x="72680" y="684539"/>
                </a:lnTo>
                <a:lnTo>
                  <a:pt x="290721" y="684539"/>
                </a:lnTo>
              </a:path>
            </a:pathLst>
          </a:custGeom>
          <a:ln w="151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191089" y="5354520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21" y="0"/>
                </a:lnTo>
              </a:path>
            </a:pathLst>
          </a:custGeom>
          <a:ln w="17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191090" y="5491445"/>
            <a:ext cx="290830" cy="662305"/>
          </a:xfrm>
          <a:custGeom>
            <a:avLst/>
            <a:gdLst/>
            <a:ahLst/>
            <a:cxnLst/>
            <a:rect l="l" t="t" r="r" b="b"/>
            <a:pathLst>
              <a:path w="290829" h="662304">
                <a:moveTo>
                  <a:pt x="0" y="661695"/>
                </a:moveTo>
                <a:lnTo>
                  <a:pt x="72680" y="661695"/>
                </a:lnTo>
                <a:lnTo>
                  <a:pt x="72680" y="0"/>
                </a:lnTo>
                <a:lnTo>
                  <a:pt x="290721" y="0"/>
                </a:lnTo>
              </a:path>
            </a:pathLst>
          </a:custGeom>
          <a:ln w="15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7139771" y="4160538"/>
            <a:ext cx="10795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4800"/>
              </a:lnSpc>
              <a:spcBef>
                <a:spcPts val="95"/>
              </a:spcBef>
            </a:pPr>
            <a:r>
              <a:rPr sz="1500" spc="-105" dirty="0">
                <a:latin typeface="宋体"/>
                <a:cs typeface="宋体"/>
              </a:rPr>
              <a:t>A  B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139771" y="5016293"/>
            <a:ext cx="10795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4800"/>
              </a:lnSpc>
              <a:spcBef>
                <a:spcPts val="95"/>
              </a:spcBef>
            </a:pPr>
            <a:r>
              <a:rPr sz="1500" spc="-105" dirty="0">
                <a:latin typeface="宋体"/>
                <a:cs typeface="宋体"/>
              </a:rPr>
              <a:t>A  C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139772" y="5780677"/>
            <a:ext cx="10795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4800"/>
              </a:lnSpc>
              <a:spcBef>
                <a:spcPts val="95"/>
              </a:spcBef>
            </a:pPr>
            <a:r>
              <a:rPr sz="1500" spc="-105" dirty="0">
                <a:latin typeface="宋体"/>
                <a:cs typeface="宋体"/>
              </a:rPr>
              <a:t>B  C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300799" y="5092525"/>
            <a:ext cx="107950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-105" dirty="0">
                <a:latin typeface="宋体"/>
                <a:cs typeface="宋体"/>
              </a:rPr>
              <a:t>F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737353" y="1053846"/>
            <a:ext cx="4968240" cy="2304415"/>
          </a:xfrm>
          <a:custGeom>
            <a:avLst/>
            <a:gdLst/>
            <a:ahLst/>
            <a:cxnLst/>
            <a:rect l="l" t="t" r="r" b="b"/>
            <a:pathLst>
              <a:path w="4968240" h="2304415">
                <a:moveTo>
                  <a:pt x="0" y="188721"/>
                </a:moveTo>
                <a:lnTo>
                  <a:pt x="6738" y="138538"/>
                </a:lnTo>
                <a:lnTo>
                  <a:pt x="25757" y="93453"/>
                </a:lnTo>
                <a:lnTo>
                  <a:pt x="55260" y="55260"/>
                </a:lnTo>
                <a:lnTo>
                  <a:pt x="93453" y="25757"/>
                </a:lnTo>
                <a:lnTo>
                  <a:pt x="138538" y="6738"/>
                </a:lnTo>
                <a:lnTo>
                  <a:pt x="188722" y="0"/>
                </a:lnTo>
                <a:lnTo>
                  <a:pt x="4779518" y="0"/>
                </a:lnTo>
                <a:lnTo>
                  <a:pt x="4829701" y="6738"/>
                </a:lnTo>
                <a:lnTo>
                  <a:pt x="4874786" y="25757"/>
                </a:lnTo>
                <a:lnTo>
                  <a:pt x="4912979" y="55260"/>
                </a:lnTo>
                <a:lnTo>
                  <a:pt x="4942482" y="93453"/>
                </a:lnTo>
                <a:lnTo>
                  <a:pt x="4961501" y="138538"/>
                </a:lnTo>
                <a:lnTo>
                  <a:pt x="4968240" y="188721"/>
                </a:lnTo>
                <a:lnTo>
                  <a:pt x="4968240" y="2115566"/>
                </a:lnTo>
                <a:lnTo>
                  <a:pt x="4961501" y="2165749"/>
                </a:lnTo>
                <a:lnTo>
                  <a:pt x="4942482" y="2210834"/>
                </a:lnTo>
                <a:lnTo>
                  <a:pt x="4912979" y="2249027"/>
                </a:lnTo>
                <a:lnTo>
                  <a:pt x="4874786" y="2278530"/>
                </a:lnTo>
                <a:lnTo>
                  <a:pt x="4829701" y="2297549"/>
                </a:lnTo>
                <a:lnTo>
                  <a:pt x="4779518" y="2304288"/>
                </a:lnTo>
                <a:lnTo>
                  <a:pt x="188722" y="2304288"/>
                </a:lnTo>
                <a:lnTo>
                  <a:pt x="138538" y="2297549"/>
                </a:lnTo>
                <a:lnTo>
                  <a:pt x="93453" y="2278530"/>
                </a:lnTo>
                <a:lnTo>
                  <a:pt x="55260" y="2249027"/>
                </a:lnTo>
                <a:lnTo>
                  <a:pt x="25757" y="2210834"/>
                </a:lnTo>
                <a:lnTo>
                  <a:pt x="6738" y="2165749"/>
                </a:lnTo>
                <a:lnTo>
                  <a:pt x="0" y="2115566"/>
                </a:lnTo>
                <a:lnTo>
                  <a:pt x="0" y="188721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466814" y="1679488"/>
            <a:ext cx="3562985" cy="288290"/>
          </a:xfrm>
          <a:custGeom>
            <a:avLst/>
            <a:gdLst/>
            <a:ahLst/>
            <a:cxnLst/>
            <a:rect l="l" t="t" r="r" b="b"/>
            <a:pathLst>
              <a:path w="3562984" h="288289">
                <a:moveTo>
                  <a:pt x="0" y="287817"/>
                </a:moveTo>
                <a:lnTo>
                  <a:pt x="1583272" y="287817"/>
                </a:lnTo>
                <a:lnTo>
                  <a:pt x="1583272" y="0"/>
                </a:lnTo>
                <a:lnTo>
                  <a:pt x="3166657" y="0"/>
                </a:lnTo>
                <a:lnTo>
                  <a:pt x="3166657" y="287817"/>
                </a:lnTo>
                <a:lnTo>
                  <a:pt x="3562538" y="28781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466814" y="2543104"/>
            <a:ext cx="3562985" cy="288290"/>
          </a:xfrm>
          <a:custGeom>
            <a:avLst/>
            <a:gdLst/>
            <a:ahLst/>
            <a:cxnLst/>
            <a:rect l="l" t="t" r="r" b="b"/>
            <a:pathLst>
              <a:path w="3562984" h="288289">
                <a:moveTo>
                  <a:pt x="0" y="287878"/>
                </a:moveTo>
                <a:lnTo>
                  <a:pt x="395839" y="287878"/>
                </a:lnTo>
                <a:lnTo>
                  <a:pt x="395839" y="0"/>
                </a:lnTo>
                <a:lnTo>
                  <a:pt x="791664" y="0"/>
                </a:lnTo>
                <a:lnTo>
                  <a:pt x="791664" y="287878"/>
                </a:lnTo>
                <a:lnTo>
                  <a:pt x="1187531" y="287878"/>
                </a:lnTo>
                <a:lnTo>
                  <a:pt x="1187531" y="0"/>
                </a:lnTo>
                <a:lnTo>
                  <a:pt x="1583272" y="0"/>
                </a:lnTo>
                <a:lnTo>
                  <a:pt x="1583272" y="287878"/>
                </a:lnTo>
                <a:lnTo>
                  <a:pt x="1979153" y="287878"/>
                </a:lnTo>
                <a:lnTo>
                  <a:pt x="1979153" y="0"/>
                </a:lnTo>
                <a:lnTo>
                  <a:pt x="2375034" y="0"/>
                </a:lnTo>
                <a:lnTo>
                  <a:pt x="2375034" y="287878"/>
                </a:lnTo>
                <a:lnTo>
                  <a:pt x="2770776" y="287878"/>
                </a:lnTo>
                <a:lnTo>
                  <a:pt x="2770776" y="0"/>
                </a:lnTo>
                <a:lnTo>
                  <a:pt x="3166657" y="0"/>
                </a:lnTo>
                <a:lnTo>
                  <a:pt x="3166657" y="287879"/>
                </a:lnTo>
                <a:lnTo>
                  <a:pt x="3562538" y="28787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466814" y="2974922"/>
            <a:ext cx="3562985" cy="288290"/>
          </a:xfrm>
          <a:custGeom>
            <a:avLst/>
            <a:gdLst/>
            <a:ahLst/>
            <a:cxnLst/>
            <a:rect l="l" t="t" r="r" b="b"/>
            <a:pathLst>
              <a:path w="3562984" h="288289">
                <a:moveTo>
                  <a:pt x="0" y="287887"/>
                </a:moveTo>
                <a:lnTo>
                  <a:pt x="1187531" y="287887"/>
                </a:lnTo>
                <a:lnTo>
                  <a:pt x="1187531" y="0"/>
                </a:lnTo>
                <a:lnTo>
                  <a:pt x="1583272" y="0"/>
                </a:lnTo>
                <a:lnTo>
                  <a:pt x="1583272" y="287887"/>
                </a:lnTo>
                <a:lnTo>
                  <a:pt x="1979153" y="287887"/>
                </a:lnTo>
                <a:lnTo>
                  <a:pt x="1979153" y="0"/>
                </a:lnTo>
                <a:lnTo>
                  <a:pt x="3166657" y="0"/>
                </a:lnTo>
                <a:lnTo>
                  <a:pt x="3166657" y="287888"/>
                </a:lnTo>
                <a:lnTo>
                  <a:pt x="3562538" y="28788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4" name="object 64"/>
          <p:cNvGraphicFramePr>
            <a:graphicFrameLocks noGrp="1"/>
          </p:cNvGraphicFramePr>
          <p:nvPr/>
        </p:nvGraphicFramePr>
        <p:xfrm>
          <a:off x="5465590" y="2110092"/>
          <a:ext cx="3564254" cy="290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3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59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7848">
                <a:tc>
                  <a:txBody>
                    <a:bodyPr/>
                    <a:lstStyle/>
                    <a:p>
                      <a:pPr marL="126364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0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0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1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1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0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0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1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1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" name="object 65"/>
          <p:cNvGraphicFramePr>
            <a:graphicFrameLocks noGrp="1"/>
          </p:cNvGraphicFramePr>
          <p:nvPr/>
        </p:nvGraphicFramePr>
        <p:xfrm>
          <a:off x="5153367" y="2543104"/>
          <a:ext cx="3481704" cy="722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6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6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62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7878">
                <a:tc>
                  <a:txBody>
                    <a:bodyPr/>
                    <a:lstStyle/>
                    <a:p>
                      <a:pPr marL="31750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C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0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06045" algn="r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1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0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1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0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1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0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1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887">
                <a:tc>
                  <a:txBody>
                    <a:bodyPr/>
                    <a:lstStyle/>
                    <a:p>
                      <a:pPr marL="31750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F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0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6045" algn="r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0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0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1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0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1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1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2090"/>
                        </a:lnSpc>
                      </a:pPr>
                      <a:r>
                        <a:rPr sz="1900" dirty="0">
                          <a:latin typeface="宋体"/>
                          <a:cs typeface="宋体"/>
                        </a:rPr>
                        <a:t>1</a:t>
                      </a:r>
                      <a:endParaRPr sz="19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6" name="object 66"/>
          <p:cNvSpPr txBox="1"/>
          <p:nvPr/>
        </p:nvSpPr>
        <p:spPr>
          <a:xfrm>
            <a:off x="5075301" y="950770"/>
            <a:ext cx="4292600" cy="1439545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400" dirty="0">
                <a:latin typeface="微软雅黑"/>
                <a:cs typeface="微软雅黑"/>
              </a:rPr>
              <a:t>描述方法五：时序图（波形图）</a:t>
            </a:r>
            <a:endParaRPr sz="2400">
              <a:latin typeface="微软雅黑"/>
              <a:cs typeface="微软雅黑"/>
            </a:endParaRPr>
          </a:p>
          <a:p>
            <a:pPr marL="109220" marR="865505">
              <a:lnSpc>
                <a:spcPct val="149100"/>
              </a:lnSpc>
              <a:spcBef>
                <a:spcPts val="30"/>
              </a:spcBef>
              <a:tabLst>
                <a:tab pos="505459" algn="l"/>
                <a:tab pos="901065" algn="l"/>
                <a:tab pos="1296670" algn="l"/>
                <a:tab pos="1692910" algn="l"/>
                <a:tab pos="2127885" algn="l"/>
                <a:tab pos="2524125" algn="l"/>
                <a:tab pos="2919730" algn="l"/>
              </a:tabLst>
            </a:pPr>
            <a:r>
              <a:rPr sz="1900" spc="365" dirty="0">
                <a:latin typeface="宋体"/>
                <a:cs typeface="宋体"/>
              </a:rPr>
              <a:t>A	0	0	0	0	1	1	1</a:t>
            </a:r>
            <a:r>
              <a:rPr sz="1900" spc="250" dirty="0">
                <a:latin typeface="宋体"/>
                <a:cs typeface="宋体"/>
              </a:rPr>
              <a:t> </a:t>
            </a:r>
            <a:r>
              <a:rPr sz="1900" spc="365" dirty="0">
                <a:latin typeface="宋体"/>
                <a:cs typeface="宋体"/>
              </a:rPr>
              <a:t>1  </a:t>
            </a:r>
            <a:r>
              <a:rPr sz="1900" dirty="0">
                <a:latin typeface="宋体"/>
                <a:cs typeface="宋体"/>
              </a:rPr>
              <a:t> </a:t>
            </a:r>
            <a:r>
              <a:rPr sz="1900" spc="365" dirty="0">
                <a:latin typeface="宋体"/>
                <a:cs typeface="宋体"/>
              </a:rPr>
              <a:t>B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244721" y="6460947"/>
            <a:ext cx="1416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  <a:hlinkClick r:id="rId6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096502" y="6460947"/>
            <a:ext cx="2362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119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73005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逻辑函数描述方法之间的转换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4290" y="1125474"/>
            <a:ext cx="1762125" cy="558165"/>
          </a:xfrm>
          <a:prstGeom prst="rect">
            <a:avLst/>
          </a:prstGeom>
          <a:solidFill>
            <a:srgbClr val="FF9900"/>
          </a:solidFill>
          <a:ln w="38100">
            <a:solidFill>
              <a:srgbClr val="000000"/>
            </a:solidFill>
          </a:ln>
        </p:spPr>
        <p:txBody>
          <a:bodyPr vert="horz" wrap="square" lIns="0" tIns="65404" rIns="0" bIns="0" rtlCol="0">
            <a:spAutoFit/>
          </a:bodyPr>
          <a:lstStyle/>
          <a:p>
            <a:pPr marL="344170">
              <a:lnSpc>
                <a:spcPct val="100000"/>
              </a:lnSpc>
              <a:spcBef>
                <a:spcPts val="515"/>
              </a:spcBef>
            </a:pPr>
            <a:r>
              <a:rPr sz="2400" b="1" spc="-10" dirty="0">
                <a:latin typeface="宋体"/>
                <a:cs typeface="宋体"/>
              </a:rPr>
              <a:t>真</a:t>
            </a:r>
            <a:r>
              <a:rPr sz="2400" b="1" spc="-615" dirty="0">
                <a:latin typeface="宋体"/>
                <a:cs typeface="宋体"/>
              </a:rPr>
              <a:t> </a:t>
            </a:r>
            <a:r>
              <a:rPr sz="2400" b="1" spc="-10" dirty="0">
                <a:latin typeface="宋体"/>
                <a:cs typeface="宋体"/>
              </a:rPr>
              <a:t>值</a:t>
            </a:r>
            <a:r>
              <a:rPr sz="2400" b="1" spc="-615" dirty="0">
                <a:latin typeface="宋体"/>
                <a:cs typeface="宋体"/>
              </a:rPr>
              <a:t> </a:t>
            </a:r>
            <a:r>
              <a:rPr sz="2400" b="1" spc="-10" dirty="0">
                <a:latin typeface="宋体"/>
                <a:cs typeface="宋体"/>
              </a:rPr>
              <a:t>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0617" y="2379726"/>
            <a:ext cx="2670175" cy="856615"/>
          </a:xfrm>
          <a:prstGeom prst="rect">
            <a:avLst/>
          </a:prstGeom>
          <a:solidFill>
            <a:srgbClr val="FF9900"/>
          </a:solidFill>
          <a:ln w="38100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1600" b="1" spc="-5" dirty="0">
                <a:latin typeface="宋体"/>
                <a:cs typeface="宋体"/>
              </a:rPr>
              <a:t>最小项之和与</a:t>
            </a:r>
            <a:endParaRPr sz="1600">
              <a:latin typeface="宋体"/>
              <a:cs typeface="宋体"/>
            </a:endParaRPr>
          </a:p>
          <a:p>
            <a:pPr marL="1905" algn="ctr">
              <a:lnSpc>
                <a:spcPct val="100000"/>
              </a:lnSpc>
              <a:spcBef>
                <a:spcPts val="10"/>
              </a:spcBef>
            </a:pPr>
            <a:r>
              <a:rPr sz="1600" b="1" spc="-5" dirty="0">
                <a:latin typeface="宋体"/>
                <a:cs typeface="宋体"/>
              </a:rPr>
              <a:t>最大项之积（标准表达式）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0617" y="4088129"/>
            <a:ext cx="2670175" cy="856615"/>
          </a:xfrm>
          <a:prstGeom prst="rect">
            <a:avLst/>
          </a:prstGeom>
          <a:solidFill>
            <a:srgbClr val="FF9900"/>
          </a:solidFill>
          <a:ln w="38100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sz="1800" b="1" dirty="0">
                <a:latin typeface="宋体"/>
                <a:cs typeface="宋体"/>
              </a:rPr>
              <a:t>一般逻辑表达式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</a:pPr>
            <a:r>
              <a:rPr sz="1800" b="1" spc="5" dirty="0">
                <a:latin typeface="宋体"/>
                <a:cs typeface="宋体"/>
              </a:rPr>
              <a:t>（一</a:t>
            </a:r>
            <a:r>
              <a:rPr sz="1800" b="1" dirty="0">
                <a:latin typeface="宋体"/>
                <a:cs typeface="宋体"/>
              </a:rPr>
              <a:t>般</a:t>
            </a:r>
            <a:r>
              <a:rPr sz="1800" b="1" spc="-5" dirty="0">
                <a:latin typeface="Times New Roman"/>
                <a:cs typeface="Times New Roman"/>
              </a:rPr>
              <a:t>“</a:t>
            </a:r>
            <a:r>
              <a:rPr sz="1800" b="1" dirty="0">
                <a:latin typeface="宋体"/>
                <a:cs typeface="宋体"/>
              </a:rPr>
              <a:t>与或</a:t>
            </a:r>
            <a:r>
              <a:rPr sz="1800" b="1" spc="-5" dirty="0">
                <a:latin typeface="Times New Roman"/>
                <a:cs typeface="Times New Roman"/>
              </a:rPr>
              <a:t>”</a:t>
            </a:r>
            <a:r>
              <a:rPr sz="1800" b="1" dirty="0">
                <a:latin typeface="宋体"/>
                <a:cs typeface="宋体"/>
              </a:rPr>
              <a:t>式</a:t>
            </a:r>
            <a:r>
              <a:rPr sz="1800" b="1" spc="-5" dirty="0">
                <a:latin typeface="宋体"/>
                <a:cs typeface="宋体"/>
              </a:rPr>
              <a:t>，</a:t>
            </a:r>
            <a:r>
              <a:rPr sz="1800" b="1" spc="-5" dirty="0">
                <a:latin typeface="Times New Roman"/>
                <a:cs typeface="Times New Roman"/>
              </a:rPr>
              <a:t>……</a:t>
            </a:r>
            <a:r>
              <a:rPr sz="1800" b="1" spc="-5" dirty="0"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56353" y="5663946"/>
            <a:ext cx="1763395" cy="558165"/>
          </a:xfrm>
          <a:prstGeom prst="rect">
            <a:avLst/>
          </a:prstGeom>
          <a:solidFill>
            <a:srgbClr val="FF9900"/>
          </a:solidFill>
          <a:ln w="38100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525"/>
              </a:spcBef>
            </a:pPr>
            <a:r>
              <a:rPr sz="2400" b="1" spc="-10" dirty="0">
                <a:latin typeface="宋体"/>
                <a:cs typeface="宋体"/>
              </a:rPr>
              <a:t>逻</a:t>
            </a:r>
            <a:r>
              <a:rPr sz="2400" b="1" spc="-620" dirty="0">
                <a:latin typeface="宋体"/>
                <a:cs typeface="宋体"/>
              </a:rPr>
              <a:t> </a:t>
            </a:r>
            <a:r>
              <a:rPr sz="2400" b="1" spc="-10" dirty="0">
                <a:latin typeface="宋体"/>
                <a:cs typeface="宋体"/>
              </a:rPr>
              <a:t>辑</a:t>
            </a:r>
            <a:r>
              <a:rPr sz="2400" b="1" spc="-615" dirty="0">
                <a:latin typeface="宋体"/>
                <a:cs typeface="宋体"/>
              </a:rPr>
              <a:t> </a:t>
            </a:r>
            <a:r>
              <a:rPr sz="2400" b="1" spc="-10" dirty="0">
                <a:latin typeface="宋体"/>
                <a:cs typeface="宋体"/>
              </a:rPr>
              <a:t>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6558" y="1779270"/>
            <a:ext cx="547370" cy="2161540"/>
          </a:xfrm>
          <a:prstGeom prst="rect">
            <a:avLst/>
          </a:prstGeom>
          <a:solidFill>
            <a:srgbClr val="FF9900"/>
          </a:solidFill>
          <a:ln w="38100">
            <a:solidFill>
              <a:srgbClr val="000000"/>
            </a:solidFill>
          </a:ln>
        </p:spPr>
        <p:txBody>
          <a:bodyPr vert="horz" wrap="square" lIns="0" tIns="217170" rIns="0" bIns="0" rtlCol="0">
            <a:spAutoFit/>
          </a:bodyPr>
          <a:lstStyle/>
          <a:p>
            <a:pPr marL="187325" marR="96520">
              <a:lnSpc>
                <a:spcPts val="1980"/>
              </a:lnSpc>
              <a:spcBef>
                <a:spcPts val="1710"/>
              </a:spcBef>
            </a:pPr>
            <a:r>
              <a:rPr sz="2000" b="1" spc="-5" dirty="0">
                <a:latin typeface="宋体"/>
                <a:cs typeface="宋体"/>
              </a:rPr>
              <a:t>时 序</a:t>
            </a:r>
            <a:endParaRPr sz="2000">
              <a:latin typeface="宋体"/>
              <a:cs typeface="宋体"/>
            </a:endParaRPr>
          </a:p>
          <a:p>
            <a:pPr marL="187325" marR="96520" algn="just">
              <a:lnSpc>
                <a:spcPts val="1980"/>
              </a:lnSpc>
            </a:pPr>
            <a:r>
              <a:rPr sz="2000" b="1" spc="-5" dirty="0">
                <a:latin typeface="宋体"/>
                <a:cs typeface="宋体"/>
              </a:rPr>
              <a:t>（ 波 形</a:t>
            </a:r>
            <a:endParaRPr sz="2000">
              <a:latin typeface="宋体"/>
              <a:cs typeface="宋体"/>
            </a:endParaRPr>
          </a:p>
          <a:p>
            <a:pPr marL="187325" marR="96520">
              <a:lnSpc>
                <a:spcPts val="1980"/>
              </a:lnSpc>
            </a:pPr>
            <a:r>
              <a:rPr sz="2000" b="1" spc="-5" dirty="0">
                <a:latin typeface="宋体"/>
                <a:cs typeface="宋体"/>
              </a:rPr>
              <a:t>） 图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41754" y="4543805"/>
            <a:ext cx="1579245" cy="1905"/>
          </a:xfrm>
          <a:custGeom>
            <a:avLst/>
            <a:gdLst/>
            <a:ahLst/>
            <a:cxnLst/>
            <a:rect l="l" t="t" r="r" b="b"/>
            <a:pathLst>
              <a:path w="1579245" h="1904">
                <a:moveTo>
                  <a:pt x="1578863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90665" y="4341114"/>
            <a:ext cx="1152525" cy="1905"/>
          </a:xfrm>
          <a:custGeom>
            <a:avLst/>
            <a:gdLst/>
            <a:ahLst/>
            <a:cxnLst/>
            <a:rect l="l" t="t" r="r" b="b"/>
            <a:pathLst>
              <a:path w="1152525" h="1904">
                <a:moveTo>
                  <a:pt x="1152143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84672" y="3236214"/>
            <a:ext cx="76200" cy="855344"/>
          </a:xfrm>
          <a:custGeom>
            <a:avLst/>
            <a:gdLst/>
            <a:ahLst/>
            <a:cxnLst/>
            <a:rect l="l" t="t" r="r" b="b"/>
            <a:pathLst>
              <a:path w="76200" h="855345">
                <a:moveTo>
                  <a:pt x="19141" y="190436"/>
                </a:moveTo>
                <a:lnTo>
                  <a:pt x="17906" y="854963"/>
                </a:lnTo>
                <a:lnTo>
                  <a:pt x="56006" y="854963"/>
                </a:lnTo>
                <a:lnTo>
                  <a:pt x="57241" y="190563"/>
                </a:lnTo>
                <a:lnTo>
                  <a:pt x="19141" y="190436"/>
                </a:lnTo>
                <a:close/>
              </a:path>
              <a:path w="76200" h="855345">
                <a:moveTo>
                  <a:pt x="72405" y="171450"/>
                </a:moveTo>
                <a:lnTo>
                  <a:pt x="57276" y="171450"/>
                </a:lnTo>
                <a:lnTo>
                  <a:pt x="57241" y="190563"/>
                </a:lnTo>
                <a:lnTo>
                  <a:pt x="76200" y="190626"/>
                </a:lnTo>
                <a:lnTo>
                  <a:pt x="72405" y="171450"/>
                </a:lnTo>
                <a:close/>
              </a:path>
              <a:path w="76200" h="855345">
                <a:moveTo>
                  <a:pt x="57276" y="171450"/>
                </a:moveTo>
                <a:lnTo>
                  <a:pt x="19176" y="171450"/>
                </a:lnTo>
                <a:lnTo>
                  <a:pt x="19141" y="190436"/>
                </a:lnTo>
                <a:lnTo>
                  <a:pt x="57241" y="190563"/>
                </a:lnTo>
                <a:lnTo>
                  <a:pt x="57276" y="171450"/>
                </a:lnTo>
                <a:close/>
              </a:path>
              <a:path w="76200" h="855345">
                <a:moveTo>
                  <a:pt x="38480" y="0"/>
                </a:moveTo>
                <a:lnTo>
                  <a:pt x="0" y="190373"/>
                </a:lnTo>
                <a:lnTo>
                  <a:pt x="19141" y="190436"/>
                </a:lnTo>
                <a:lnTo>
                  <a:pt x="19176" y="171450"/>
                </a:lnTo>
                <a:lnTo>
                  <a:pt x="72405" y="171450"/>
                </a:lnTo>
                <a:lnTo>
                  <a:pt x="384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92652" y="3262502"/>
            <a:ext cx="203835" cy="76835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algn="just">
              <a:lnSpc>
                <a:spcPct val="82600"/>
              </a:lnSpc>
              <a:spcBef>
                <a:spcPts val="395"/>
              </a:spcBef>
            </a:pPr>
            <a:r>
              <a:rPr sz="1400" b="1" spc="-5" dirty="0">
                <a:latin typeface="宋体"/>
                <a:cs typeface="宋体"/>
              </a:rPr>
              <a:t>简 化 变 换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96814" y="3343402"/>
            <a:ext cx="254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宋体"/>
                <a:cs typeface="宋体"/>
              </a:rPr>
              <a:t>展 开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60414" y="3919854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宋体"/>
                <a:cs typeface="宋体"/>
              </a:rPr>
              <a:t>填图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4800" y="4999177"/>
            <a:ext cx="254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宋体"/>
                <a:cs typeface="宋体"/>
              </a:rPr>
              <a:t>测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宋体"/>
                <a:cs typeface="宋体"/>
              </a:rPr>
              <a:t>试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05344" y="3990594"/>
            <a:ext cx="76200" cy="351155"/>
          </a:xfrm>
          <a:custGeom>
            <a:avLst/>
            <a:gdLst/>
            <a:ahLst/>
            <a:cxnLst/>
            <a:rect l="l" t="t" r="r" b="b"/>
            <a:pathLst>
              <a:path w="76200" h="351154">
                <a:moveTo>
                  <a:pt x="19095" y="190436"/>
                </a:moveTo>
                <a:lnTo>
                  <a:pt x="18414" y="350392"/>
                </a:lnTo>
                <a:lnTo>
                  <a:pt x="56514" y="350646"/>
                </a:lnTo>
                <a:lnTo>
                  <a:pt x="57196" y="190563"/>
                </a:lnTo>
                <a:lnTo>
                  <a:pt x="19095" y="190436"/>
                </a:lnTo>
                <a:close/>
              </a:path>
              <a:path w="76200" h="351154">
                <a:moveTo>
                  <a:pt x="72431" y="171322"/>
                </a:moveTo>
                <a:lnTo>
                  <a:pt x="19176" y="171322"/>
                </a:lnTo>
                <a:lnTo>
                  <a:pt x="57276" y="171576"/>
                </a:lnTo>
                <a:lnTo>
                  <a:pt x="57196" y="190563"/>
                </a:lnTo>
                <a:lnTo>
                  <a:pt x="76200" y="190626"/>
                </a:lnTo>
                <a:lnTo>
                  <a:pt x="72431" y="171322"/>
                </a:lnTo>
                <a:close/>
              </a:path>
              <a:path w="76200" h="351154">
                <a:moveTo>
                  <a:pt x="19176" y="171322"/>
                </a:moveTo>
                <a:lnTo>
                  <a:pt x="19095" y="190436"/>
                </a:lnTo>
                <a:lnTo>
                  <a:pt x="57196" y="190563"/>
                </a:lnTo>
                <a:lnTo>
                  <a:pt x="57276" y="171576"/>
                </a:lnTo>
                <a:lnTo>
                  <a:pt x="19176" y="171322"/>
                </a:lnTo>
                <a:close/>
              </a:path>
              <a:path w="76200" h="351154">
                <a:moveTo>
                  <a:pt x="38988" y="0"/>
                </a:moveTo>
                <a:lnTo>
                  <a:pt x="0" y="190372"/>
                </a:lnTo>
                <a:lnTo>
                  <a:pt x="19095" y="190436"/>
                </a:lnTo>
                <a:lnTo>
                  <a:pt x="19176" y="171322"/>
                </a:lnTo>
                <a:lnTo>
                  <a:pt x="72431" y="171322"/>
                </a:lnTo>
                <a:lnTo>
                  <a:pt x="389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90665" y="4657852"/>
            <a:ext cx="1457325" cy="76200"/>
          </a:xfrm>
          <a:custGeom>
            <a:avLst/>
            <a:gdLst/>
            <a:ahLst/>
            <a:cxnLst/>
            <a:rect l="l" t="t" r="r" b="b"/>
            <a:pathLst>
              <a:path w="1457325" h="76200">
                <a:moveTo>
                  <a:pt x="190500" y="0"/>
                </a:moveTo>
                <a:lnTo>
                  <a:pt x="0" y="38354"/>
                </a:lnTo>
                <a:lnTo>
                  <a:pt x="190500" y="76200"/>
                </a:lnTo>
                <a:lnTo>
                  <a:pt x="190500" y="57277"/>
                </a:lnTo>
                <a:lnTo>
                  <a:pt x="171450" y="57277"/>
                </a:lnTo>
                <a:lnTo>
                  <a:pt x="171450" y="19177"/>
                </a:lnTo>
                <a:lnTo>
                  <a:pt x="190500" y="19156"/>
                </a:lnTo>
                <a:lnTo>
                  <a:pt x="190500" y="0"/>
                </a:lnTo>
                <a:close/>
              </a:path>
              <a:path w="1457325" h="76200">
                <a:moveTo>
                  <a:pt x="190500" y="19156"/>
                </a:moveTo>
                <a:lnTo>
                  <a:pt x="171450" y="19177"/>
                </a:lnTo>
                <a:lnTo>
                  <a:pt x="171450" y="57277"/>
                </a:lnTo>
                <a:lnTo>
                  <a:pt x="190500" y="57256"/>
                </a:lnTo>
                <a:lnTo>
                  <a:pt x="190500" y="19156"/>
                </a:lnTo>
                <a:close/>
              </a:path>
              <a:path w="1457325" h="76200">
                <a:moveTo>
                  <a:pt x="190500" y="57256"/>
                </a:moveTo>
                <a:lnTo>
                  <a:pt x="171450" y="57277"/>
                </a:lnTo>
                <a:lnTo>
                  <a:pt x="190500" y="57277"/>
                </a:lnTo>
                <a:close/>
              </a:path>
              <a:path w="1457325" h="76200">
                <a:moveTo>
                  <a:pt x="1456943" y="17780"/>
                </a:moveTo>
                <a:lnTo>
                  <a:pt x="190500" y="19156"/>
                </a:lnTo>
                <a:lnTo>
                  <a:pt x="190500" y="57256"/>
                </a:lnTo>
                <a:lnTo>
                  <a:pt x="1456943" y="55880"/>
                </a:lnTo>
                <a:lnTo>
                  <a:pt x="1456943" y="17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48371" y="3990594"/>
            <a:ext cx="0" cy="723265"/>
          </a:xfrm>
          <a:custGeom>
            <a:avLst/>
            <a:gdLst/>
            <a:ahLst/>
            <a:cxnLst/>
            <a:rect l="l" t="t" r="r" b="b"/>
            <a:pathLst>
              <a:path h="723264">
                <a:moveTo>
                  <a:pt x="0" y="0"/>
                </a:moveTo>
                <a:lnTo>
                  <a:pt x="0" y="723137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63673" y="2772664"/>
            <a:ext cx="1457325" cy="76200"/>
          </a:xfrm>
          <a:custGeom>
            <a:avLst/>
            <a:gdLst/>
            <a:ahLst/>
            <a:cxnLst/>
            <a:rect l="l" t="t" r="r" b="b"/>
            <a:pathLst>
              <a:path w="1457325" h="76200">
                <a:moveTo>
                  <a:pt x="190500" y="0"/>
                </a:moveTo>
                <a:lnTo>
                  <a:pt x="0" y="38353"/>
                </a:lnTo>
                <a:lnTo>
                  <a:pt x="190500" y="76200"/>
                </a:lnTo>
                <a:lnTo>
                  <a:pt x="190500" y="57276"/>
                </a:lnTo>
                <a:lnTo>
                  <a:pt x="171450" y="57276"/>
                </a:lnTo>
                <a:lnTo>
                  <a:pt x="171450" y="19176"/>
                </a:lnTo>
                <a:lnTo>
                  <a:pt x="190500" y="19156"/>
                </a:lnTo>
                <a:lnTo>
                  <a:pt x="190500" y="0"/>
                </a:lnTo>
                <a:close/>
              </a:path>
              <a:path w="1457325" h="76200">
                <a:moveTo>
                  <a:pt x="190500" y="19156"/>
                </a:moveTo>
                <a:lnTo>
                  <a:pt x="171450" y="19176"/>
                </a:lnTo>
                <a:lnTo>
                  <a:pt x="171450" y="57276"/>
                </a:lnTo>
                <a:lnTo>
                  <a:pt x="190500" y="57256"/>
                </a:lnTo>
                <a:lnTo>
                  <a:pt x="190500" y="19156"/>
                </a:lnTo>
                <a:close/>
              </a:path>
              <a:path w="1457325" h="76200">
                <a:moveTo>
                  <a:pt x="190500" y="57256"/>
                </a:moveTo>
                <a:lnTo>
                  <a:pt x="171450" y="57276"/>
                </a:lnTo>
                <a:lnTo>
                  <a:pt x="190500" y="57276"/>
                </a:lnTo>
                <a:close/>
              </a:path>
              <a:path w="1457325" h="76200">
                <a:moveTo>
                  <a:pt x="1456943" y="17780"/>
                </a:moveTo>
                <a:lnTo>
                  <a:pt x="190500" y="19156"/>
                </a:lnTo>
                <a:lnTo>
                  <a:pt x="190500" y="57256"/>
                </a:lnTo>
                <a:lnTo>
                  <a:pt x="1456943" y="55880"/>
                </a:lnTo>
                <a:lnTo>
                  <a:pt x="1456943" y="17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89354" y="1364614"/>
            <a:ext cx="2155190" cy="76200"/>
          </a:xfrm>
          <a:custGeom>
            <a:avLst/>
            <a:gdLst/>
            <a:ahLst/>
            <a:cxnLst/>
            <a:rect l="l" t="t" r="r" b="b"/>
            <a:pathLst>
              <a:path w="2155190" h="76200">
                <a:moveTo>
                  <a:pt x="1964435" y="57136"/>
                </a:moveTo>
                <a:lnTo>
                  <a:pt x="1964435" y="76200"/>
                </a:lnTo>
                <a:lnTo>
                  <a:pt x="2060004" y="57150"/>
                </a:lnTo>
                <a:lnTo>
                  <a:pt x="1964435" y="57136"/>
                </a:lnTo>
                <a:close/>
              </a:path>
              <a:path w="2155190" h="76200">
                <a:moveTo>
                  <a:pt x="1964435" y="19036"/>
                </a:moveTo>
                <a:lnTo>
                  <a:pt x="1964435" y="57136"/>
                </a:lnTo>
                <a:lnTo>
                  <a:pt x="1983485" y="57150"/>
                </a:lnTo>
                <a:lnTo>
                  <a:pt x="1983485" y="19050"/>
                </a:lnTo>
                <a:lnTo>
                  <a:pt x="1964435" y="19036"/>
                </a:lnTo>
                <a:close/>
              </a:path>
              <a:path w="2155190" h="76200">
                <a:moveTo>
                  <a:pt x="1964435" y="0"/>
                </a:moveTo>
                <a:lnTo>
                  <a:pt x="1964435" y="19036"/>
                </a:lnTo>
                <a:lnTo>
                  <a:pt x="1983485" y="19050"/>
                </a:lnTo>
                <a:lnTo>
                  <a:pt x="1983485" y="57150"/>
                </a:lnTo>
                <a:lnTo>
                  <a:pt x="2060004" y="57150"/>
                </a:lnTo>
                <a:lnTo>
                  <a:pt x="2154935" y="38226"/>
                </a:lnTo>
                <a:lnTo>
                  <a:pt x="1964435" y="0"/>
                </a:lnTo>
                <a:close/>
              </a:path>
              <a:path w="2155190" h="76200">
                <a:moveTo>
                  <a:pt x="0" y="17652"/>
                </a:moveTo>
                <a:lnTo>
                  <a:pt x="0" y="55752"/>
                </a:lnTo>
                <a:lnTo>
                  <a:pt x="1964435" y="57136"/>
                </a:lnTo>
                <a:lnTo>
                  <a:pt x="1964435" y="19036"/>
                </a:lnTo>
                <a:lnTo>
                  <a:pt x="0" y="17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52016" y="1401191"/>
            <a:ext cx="76200" cy="378460"/>
          </a:xfrm>
          <a:custGeom>
            <a:avLst/>
            <a:gdLst/>
            <a:ahLst/>
            <a:cxnLst/>
            <a:rect l="l" t="t" r="r" b="b"/>
            <a:pathLst>
              <a:path w="76200" h="378460">
                <a:moveTo>
                  <a:pt x="19094" y="187642"/>
                </a:moveTo>
                <a:lnTo>
                  <a:pt x="0" y="187706"/>
                </a:lnTo>
                <a:lnTo>
                  <a:pt x="38861" y="378079"/>
                </a:lnTo>
                <a:lnTo>
                  <a:pt x="72418" y="206756"/>
                </a:lnTo>
                <a:lnTo>
                  <a:pt x="19176" y="206756"/>
                </a:lnTo>
                <a:lnTo>
                  <a:pt x="19094" y="187642"/>
                </a:lnTo>
                <a:close/>
              </a:path>
              <a:path w="76200" h="378460">
                <a:moveTo>
                  <a:pt x="57195" y="187515"/>
                </a:moveTo>
                <a:lnTo>
                  <a:pt x="19094" y="187642"/>
                </a:lnTo>
                <a:lnTo>
                  <a:pt x="19176" y="206756"/>
                </a:lnTo>
                <a:lnTo>
                  <a:pt x="57276" y="206501"/>
                </a:lnTo>
                <a:lnTo>
                  <a:pt x="57195" y="187515"/>
                </a:lnTo>
                <a:close/>
              </a:path>
              <a:path w="76200" h="378460">
                <a:moveTo>
                  <a:pt x="76200" y="187451"/>
                </a:moveTo>
                <a:lnTo>
                  <a:pt x="57195" y="187515"/>
                </a:lnTo>
                <a:lnTo>
                  <a:pt x="57276" y="206501"/>
                </a:lnTo>
                <a:lnTo>
                  <a:pt x="19176" y="206756"/>
                </a:lnTo>
                <a:lnTo>
                  <a:pt x="72418" y="206756"/>
                </a:lnTo>
                <a:lnTo>
                  <a:pt x="76200" y="187451"/>
                </a:lnTo>
                <a:close/>
              </a:path>
              <a:path w="76200" h="378460">
                <a:moveTo>
                  <a:pt x="56387" y="0"/>
                </a:moveTo>
                <a:lnTo>
                  <a:pt x="18287" y="254"/>
                </a:lnTo>
                <a:lnTo>
                  <a:pt x="19094" y="187642"/>
                </a:lnTo>
                <a:lnTo>
                  <a:pt x="57195" y="187515"/>
                </a:lnTo>
                <a:lnTo>
                  <a:pt x="56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49146" y="5953505"/>
            <a:ext cx="502920" cy="0"/>
          </a:xfrm>
          <a:custGeom>
            <a:avLst/>
            <a:gdLst/>
            <a:ahLst/>
            <a:cxnLst/>
            <a:rect l="l" t="t" r="r" b="b"/>
            <a:pathLst>
              <a:path w="502919">
                <a:moveTo>
                  <a:pt x="50292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01394" y="3940302"/>
            <a:ext cx="76200" cy="2013585"/>
          </a:xfrm>
          <a:custGeom>
            <a:avLst/>
            <a:gdLst/>
            <a:ahLst/>
            <a:cxnLst/>
            <a:rect l="l" t="t" r="r" b="b"/>
            <a:pathLst>
              <a:path w="76200" h="2013585">
                <a:moveTo>
                  <a:pt x="57124" y="190373"/>
                </a:moveTo>
                <a:lnTo>
                  <a:pt x="19024" y="190627"/>
                </a:lnTo>
                <a:lnTo>
                  <a:pt x="28702" y="2013305"/>
                </a:lnTo>
                <a:lnTo>
                  <a:pt x="66802" y="2013102"/>
                </a:lnTo>
                <a:lnTo>
                  <a:pt x="57124" y="190373"/>
                </a:lnTo>
                <a:close/>
              </a:path>
              <a:path w="76200" h="2013585">
                <a:moveTo>
                  <a:pt x="37084" y="0"/>
                </a:moveTo>
                <a:lnTo>
                  <a:pt x="0" y="190754"/>
                </a:lnTo>
                <a:lnTo>
                  <a:pt x="19024" y="190627"/>
                </a:lnTo>
                <a:lnTo>
                  <a:pt x="18922" y="171577"/>
                </a:lnTo>
                <a:lnTo>
                  <a:pt x="72309" y="171323"/>
                </a:lnTo>
                <a:lnTo>
                  <a:pt x="37084" y="0"/>
                </a:lnTo>
                <a:close/>
              </a:path>
              <a:path w="76200" h="2013585">
                <a:moveTo>
                  <a:pt x="57022" y="171323"/>
                </a:moveTo>
                <a:lnTo>
                  <a:pt x="18922" y="171577"/>
                </a:lnTo>
                <a:lnTo>
                  <a:pt x="19024" y="190627"/>
                </a:lnTo>
                <a:lnTo>
                  <a:pt x="57124" y="190373"/>
                </a:lnTo>
                <a:lnTo>
                  <a:pt x="57022" y="171323"/>
                </a:lnTo>
                <a:close/>
              </a:path>
              <a:path w="76200" h="2013585">
                <a:moveTo>
                  <a:pt x="72309" y="171323"/>
                </a:moveTo>
                <a:lnTo>
                  <a:pt x="57022" y="171323"/>
                </a:lnTo>
                <a:lnTo>
                  <a:pt x="57124" y="190373"/>
                </a:lnTo>
                <a:lnTo>
                  <a:pt x="76200" y="190246"/>
                </a:lnTo>
                <a:lnTo>
                  <a:pt x="72309" y="1713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182742" y="4944617"/>
            <a:ext cx="77470" cy="685800"/>
          </a:xfrm>
          <a:custGeom>
            <a:avLst/>
            <a:gdLst/>
            <a:ahLst/>
            <a:cxnLst/>
            <a:rect l="l" t="t" r="r" b="b"/>
            <a:pathLst>
              <a:path w="77470" h="685800">
                <a:moveTo>
                  <a:pt x="19769" y="495363"/>
                </a:moveTo>
                <a:lnTo>
                  <a:pt x="762" y="495426"/>
                </a:lnTo>
                <a:lnTo>
                  <a:pt x="39243" y="685799"/>
                </a:lnTo>
                <a:lnTo>
                  <a:pt x="73167" y="514349"/>
                </a:lnTo>
                <a:lnTo>
                  <a:pt x="19812" y="514349"/>
                </a:lnTo>
                <a:lnTo>
                  <a:pt x="19769" y="495363"/>
                </a:lnTo>
                <a:close/>
              </a:path>
              <a:path w="77470" h="685800">
                <a:moveTo>
                  <a:pt x="57869" y="495236"/>
                </a:moveTo>
                <a:lnTo>
                  <a:pt x="19769" y="495363"/>
                </a:lnTo>
                <a:lnTo>
                  <a:pt x="19812" y="514349"/>
                </a:lnTo>
                <a:lnTo>
                  <a:pt x="57912" y="514349"/>
                </a:lnTo>
                <a:lnTo>
                  <a:pt x="57869" y="495236"/>
                </a:lnTo>
                <a:close/>
              </a:path>
              <a:path w="77470" h="685800">
                <a:moveTo>
                  <a:pt x="76962" y="495172"/>
                </a:moveTo>
                <a:lnTo>
                  <a:pt x="57869" y="495236"/>
                </a:lnTo>
                <a:lnTo>
                  <a:pt x="57912" y="514349"/>
                </a:lnTo>
                <a:lnTo>
                  <a:pt x="73167" y="514349"/>
                </a:lnTo>
                <a:lnTo>
                  <a:pt x="76962" y="495172"/>
                </a:lnTo>
                <a:close/>
              </a:path>
              <a:path w="77470" h="685800">
                <a:moveTo>
                  <a:pt x="57192" y="190436"/>
                </a:moveTo>
                <a:lnTo>
                  <a:pt x="19092" y="190563"/>
                </a:lnTo>
                <a:lnTo>
                  <a:pt x="19769" y="495363"/>
                </a:lnTo>
                <a:lnTo>
                  <a:pt x="57869" y="495236"/>
                </a:lnTo>
                <a:lnTo>
                  <a:pt x="57192" y="190436"/>
                </a:lnTo>
                <a:close/>
              </a:path>
              <a:path w="77470" h="685800">
                <a:moveTo>
                  <a:pt x="37719" y="0"/>
                </a:moveTo>
                <a:lnTo>
                  <a:pt x="0" y="190626"/>
                </a:lnTo>
                <a:lnTo>
                  <a:pt x="19092" y="190563"/>
                </a:lnTo>
                <a:lnTo>
                  <a:pt x="19050" y="171449"/>
                </a:lnTo>
                <a:lnTo>
                  <a:pt x="72375" y="171449"/>
                </a:lnTo>
                <a:lnTo>
                  <a:pt x="37719" y="0"/>
                </a:lnTo>
                <a:close/>
              </a:path>
              <a:path w="77470" h="685800">
                <a:moveTo>
                  <a:pt x="57150" y="171449"/>
                </a:moveTo>
                <a:lnTo>
                  <a:pt x="19050" y="171449"/>
                </a:lnTo>
                <a:lnTo>
                  <a:pt x="19092" y="190563"/>
                </a:lnTo>
                <a:lnTo>
                  <a:pt x="57192" y="190436"/>
                </a:lnTo>
                <a:lnTo>
                  <a:pt x="57150" y="171449"/>
                </a:lnTo>
                <a:close/>
              </a:path>
              <a:path w="77470" h="685800">
                <a:moveTo>
                  <a:pt x="72375" y="171449"/>
                </a:moveTo>
                <a:lnTo>
                  <a:pt x="57150" y="171449"/>
                </a:lnTo>
                <a:lnTo>
                  <a:pt x="57192" y="190436"/>
                </a:lnTo>
                <a:lnTo>
                  <a:pt x="76200" y="190372"/>
                </a:lnTo>
                <a:lnTo>
                  <a:pt x="72375" y="1714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04509" y="1366138"/>
            <a:ext cx="1790700" cy="76200"/>
          </a:xfrm>
          <a:custGeom>
            <a:avLst/>
            <a:gdLst/>
            <a:ahLst/>
            <a:cxnLst/>
            <a:rect l="l" t="t" r="r" b="b"/>
            <a:pathLst>
              <a:path w="1790700" h="76200">
                <a:moveTo>
                  <a:pt x="190500" y="0"/>
                </a:moveTo>
                <a:lnTo>
                  <a:pt x="0" y="38226"/>
                </a:lnTo>
                <a:lnTo>
                  <a:pt x="190500" y="76200"/>
                </a:lnTo>
                <a:lnTo>
                  <a:pt x="190500" y="57150"/>
                </a:lnTo>
                <a:lnTo>
                  <a:pt x="171450" y="57150"/>
                </a:lnTo>
                <a:lnTo>
                  <a:pt x="171450" y="19050"/>
                </a:lnTo>
                <a:lnTo>
                  <a:pt x="190500" y="19033"/>
                </a:lnTo>
                <a:lnTo>
                  <a:pt x="190500" y="0"/>
                </a:lnTo>
                <a:close/>
              </a:path>
              <a:path w="1790700" h="76200">
                <a:moveTo>
                  <a:pt x="190500" y="19033"/>
                </a:moveTo>
                <a:lnTo>
                  <a:pt x="171450" y="19050"/>
                </a:lnTo>
                <a:lnTo>
                  <a:pt x="171450" y="57150"/>
                </a:lnTo>
                <a:lnTo>
                  <a:pt x="190500" y="57133"/>
                </a:lnTo>
                <a:lnTo>
                  <a:pt x="190500" y="19033"/>
                </a:lnTo>
                <a:close/>
              </a:path>
              <a:path w="1790700" h="76200">
                <a:moveTo>
                  <a:pt x="190500" y="57133"/>
                </a:moveTo>
                <a:lnTo>
                  <a:pt x="171450" y="57150"/>
                </a:lnTo>
                <a:lnTo>
                  <a:pt x="190500" y="57150"/>
                </a:lnTo>
                <a:close/>
              </a:path>
              <a:path w="1790700" h="76200">
                <a:moveTo>
                  <a:pt x="1790699" y="17652"/>
                </a:moveTo>
                <a:lnTo>
                  <a:pt x="190500" y="19033"/>
                </a:lnTo>
                <a:lnTo>
                  <a:pt x="190500" y="57133"/>
                </a:lnTo>
                <a:lnTo>
                  <a:pt x="1790699" y="55752"/>
                </a:lnTo>
                <a:lnTo>
                  <a:pt x="1790699" y="17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357998" y="1402714"/>
            <a:ext cx="76200" cy="425450"/>
          </a:xfrm>
          <a:custGeom>
            <a:avLst/>
            <a:gdLst/>
            <a:ahLst/>
            <a:cxnLst/>
            <a:rect l="l" t="t" r="r" b="b"/>
            <a:pathLst>
              <a:path w="76200" h="425450">
                <a:moveTo>
                  <a:pt x="18983" y="234886"/>
                </a:moveTo>
                <a:lnTo>
                  <a:pt x="0" y="234950"/>
                </a:lnTo>
                <a:lnTo>
                  <a:pt x="38734" y="425323"/>
                </a:lnTo>
                <a:lnTo>
                  <a:pt x="72406" y="254000"/>
                </a:lnTo>
                <a:lnTo>
                  <a:pt x="19050" y="254000"/>
                </a:lnTo>
                <a:lnTo>
                  <a:pt x="18983" y="234886"/>
                </a:lnTo>
                <a:close/>
              </a:path>
              <a:path w="76200" h="425450">
                <a:moveTo>
                  <a:pt x="57083" y="234759"/>
                </a:moveTo>
                <a:lnTo>
                  <a:pt x="18983" y="234886"/>
                </a:lnTo>
                <a:lnTo>
                  <a:pt x="19050" y="254000"/>
                </a:lnTo>
                <a:lnTo>
                  <a:pt x="57150" y="253746"/>
                </a:lnTo>
                <a:lnTo>
                  <a:pt x="57083" y="234759"/>
                </a:lnTo>
                <a:close/>
              </a:path>
              <a:path w="76200" h="425450">
                <a:moveTo>
                  <a:pt x="76200" y="234696"/>
                </a:moveTo>
                <a:lnTo>
                  <a:pt x="57083" y="234759"/>
                </a:lnTo>
                <a:lnTo>
                  <a:pt x="57150" y="253746"/>
                </a:lnTo>
                <a:lnTo>
                  <a:pt x="19050" y="254000"/>
                </a:lnTo>
                <a:lnTo>
                  <a:pt x="72406" y="254000"/>
                </a:lnTo>
                <a:lnTo>
                  <a:pt x="76200" y="234696"/>
                </a:lnTo>
                <a:close/>
              </a:path>
              <a:path w="76200" h="425450">
                <a:moveTo>
                  <a:pt x="56260" y="0"/>
                </a:moveTo>
                <a:lnTo>
                  <a:pt x="18160" y="254"/>
                </a:lnTo>
                <a:lnTo>
                  <a:pt x="18983" y="234886"/>
                </a:lnTo>
                <a:lnTo>
                  <a:pt x="57083" y="234759"/>
                </a:lnTo>
                <a:lnTo>
                  <a:pt x="562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90665" y="2771648"/>
            <a:ext cx="1031875" cy="77470"/>
          </a:xfrm>
          <a:custGeom>
            <a:avLst/>
            <a:gdLst/>
            <a:ahLst/>
            <a:cxnLst/>
            <a:rect l="l" t="t" r="r" b="b"/>
            <a:pathLst>
              <a:path w="1031875" h="77469">
                <a:moveTo>
                  <a:pt x="190500" y="1015"/>
                </a:moveTo>
                <a:lnTo>
                  <a:pt x="0" y="39369"/>
                </a:lnTo>
                <a:lnTo>
                  <a:pt x="190500" y="77215"/>
                </a:lnTo>
                <a:lnTo>
                  <a:pt x="190500" y="58165"/>
                </a:lnTo>
                <a:lnTo>
                  <a:pt x="171450" y="58165"/>
                </a:lnTo>
                <a:lnTo>
                  <a:pt x="171450" y="20065"/>
                </a:lnTo>
                <a:lnTo>
                  <a:pt x="190500" y="20037"/>
                </a:lnTo>
                <a:lnTo>
                  <a:pt x="190500" y="1015"/>
                </a:lnTo>
                <a:close/>
              </a:path>
              <a:path w="1031875" h="77469">
                <a:moveTo>
                  <a:pt x="937137" y="19050"/>
                </a:moveTo>
                <a:lnTo>
                  <a:pt x="860298" y="19050"/>
                </a:lnTo>
                <a:lnTo>
                  <a:pt x="860298" y="57150"/>
                </a:lnTo>
                <a:lnTo>
                  <a:pt x="841248" y="57178"/>
                </a:lnTo>
                <a:lnTo>
                  <a:pt x="841248" y="76200"/>
                </a:lnTo>
                <a:lnTo>
                  <a:pt x="1031748" y="37846"/>
                </a:lnTo>
                <a:lnTo>
                  <a:pt x="937137" y="19050"/>
                </a:lnTo>
                <a:close/>
              </a:path>
              <a:path w="1031875" h="77469">
                <a:moveTo>
                  <a:pt x="190500" y="20037"/>
                </a:moveTo>
                <a:lnTo>
                  <a:pt x="171450" y="20065"/>
                </a:lnTo>
                <a:lnTo>
                  <a:pt x="171450" y="58165"/>
                </a:lnTo>
                <a:lnTo>
                  <a:pt x="190500" y="58137"/>
                </a:lnTo>
                <a:lnTo>
                  <a:pt x="190500" y="20037"/>
                </a:lnTo>
                <a:close/>
              </a:path>
              <a:path w="1031875" h="77469">
                <a:moveTo>
                  <a:pt x="190500" y="58137"/>
                </a:moveTo>
                <a:lnTo>
                  <a:pt x="171450" y="58165"/>
                </a:lnTo>
                <a:lnTo>
                  <a:pt x="190500" y="58165"/>
                </a:lnTo>
                <a:close/>
              </a:path>
              <a:path w="1031875" h="77469">
                <a:moveTo>
                  <a:pt x="841248" y="19078"/>
                </a:moveTo>
                <a:lnTo>
                  <a:pt x="190500" y="20037"/>
                </a:lnTo>
                <a:lnTo>
                  <a:pt x="190500" y="58137"/>
                </a:lnTo>
                <a:lnTo>
                  <a:pt x="841248" y="57178"/>
                </a:lnTo>
                <a:lnTo>
                  <a:pt x="841248" y="19078"/>
                </a:lnTo>
                <a:close/>
              </a:path>
              <a:path w="1031875" h="77469">
                <a:moveTo>
                  <a:pt x="860298" y="19050"/>
                </a:moveTo>
                <a:lnTo>
                  <a:pt x="841248" y="19078"/>
                </a:lnTo>
                <a:lnTo>
                  <a:pt x="841248" y="57178"/>
                </a:lnTo>
                <a:lnTo>
                  <a:pt x="860298" y="57150"/>
                </a:lnTo>
                <a:lnTo>
                  <a:pt x="860298" y="19050"/>
                </a:lnTo>
                <a:close/>
              </a:path>
              <a:path w="1031875" h="77469">
                <a:moveTo>
                  <a:pt x="841248" y="0"/>
                </a:moveTo>
                <a:lnTo>
                  <a:pt x="841248" y="19078"/>
                </a:lnTo>
                <a:lnTo>
                  <a:pt x="937137" y="19050"/>
                </a:lnTo>
                <a:lnTo>
                  <a:pt x="8412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122414" y="1828038"/>
            <a:ext cx="546100" cy="2162810"/>
          </a:xfrm>
          <a:prstGeom prst="rect">
            <a:avLst/>
          </a:prstGeom>
          <a:solidFill>
            <a:srgbClr val="FF9900"/>
          </a:solidFill>
          <a:ln w="38100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350">
              <a:latin typeface="Times New Roman"/>
              <a:cs typeface="Times New Roman"/>
            </a:endParaRPr>
          </a:p>
          <a:p>
            <a:pPr marL="132080" marR="99695" algn="just">
              <a:lnSpc>
                <a:spcPct val="123800"/>
              </a:lnSpc>
            </a:pPr>
            <a:r>
              <a:rPr sz="2400" b="1" spc="-10" dirty="0">
                <a:latin typeface="宋体"/>
                <a:cs typeface="宋体"/>
              </a:rPr>
              <a:t>卡 诺 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707509" y="1678685"/>
            <a:ext cx="82550" cy="701040"/>
          </a:xfrm>
          <a:custGeom>
            <a:avLst/>
            <a:gdLst/>
            <a:ahLst/>
            <a:cxnLst/>
            <a:rect l="l" t="t" r="r" b="b"/>
            <a:pathLst>
              <a:path w="82550" h="701039">
                <a:moveTo>
                  <a:pt x="0" y="509777"/>
                </a:moveTo>
                <a:lnTo>
                  <a:pt x="34416" y="701039"/>
                </a:lnTo>
                <a:lnTo>
                  <a:pt x="72088" y="529971"/>
                </a:lnTo>
                <a:lnTo>
                  <a:pt x="56768" y="529971"/>
                </a:lnTo>
                <a:lnTo>
                  <a:pt x="18668" y="529209"/>
                </a:lnTo>
                <a:lnTo>
                  <a:pt x="19047" y="510158"/>
                </a:lnTo>
                <a:lnTo>
                  <a:pt x="0" y="509777"/>
                </a:lnTo>
                <a:close/>
              </a:path>
              <a:path w="82550" h="701039">
                <a:moveTo>
                  <a:pt x="19047" y="510158"/>
                </a:moveTo>
                <a:lnTo>
                  <a:pt x="18668" y="529209"/>
                </a:lnTo>
                <a:lnTo>
                  <a:pt x="56768" y="529971"/>
                </a:lnTo>
                <a:lnTo>
                  <a:pt x="57147" y="510920"/>
                </a:lnTo>
                <a:lnTo>
                  <a:pt x="19047" y="510158"/>
                </a:lnTo>
                <a:close/>
              </a:path>
              <a:path w="82550" h="701039">
                <a:moveTo>
                  <a:pt x="57147" y="510920"/>
                </a:moveTo>
                <a:lnTo>
                  <a:pt x="56768" y="529971"/>
                </a:lnTo>
                <a:lnTo>
                  <a:pt x="72088" y="529971"/>
                </a:lnTo>
                <a:lnTo>
                  <a:pt x="76200" y="511301"/>
                </a:lnTo>
                <a:lnTo>
                  <a:pt x="57147" y="510920"/>
                </a:lnTo>
                <a:close/>
              </a:path>
              <a:path w="82550" h="701039">
                <a:moveTo>
                  <a:pt x="25402" y="190119"/>
                </a:moveTo>
                <a:lnTo>
                  <a:pt x="19047" y="510158"/>
                </a:lnTo>
                <a:lnTo>
                  <a:pt x="57147" y="510920"/>
                </a:lnTo>
                <a:lnTo>
                  <a:pt x="63502" y="190881"/>
                </a:lnTo>
                <a:lnTo>
                  <a:pt x="25402" y="190119"/>
                </a:lnTo>
                <a:close/>
              </a:path>
              <a:path w="82550" h="701039">
                <a:moveTo>
                  <a:pt x="78916" y="171068"/>
                </a:moveTo>
                <a:lnTo>
                  <a:pt x="25780" y="171068"/>
                </a:lnTo>
                <a:lnTo>
                  <a:pt x="63880" y="171830"/>
                </a:lnTo>
                <a:lnTo>
                  <a:pt x="63502" y="190881"/>
                </a:lnTo>
                <a:lnTo>
                  <a:pt x="82550" y="191262"/>
                </a:lnTo>
                <a:lnTo>
                  <a:pt x="78916" y="171068"/>
                </a:lnTo>
                <a:close/>
              </a:path>
              <a:path w="82550" h="701039">
                <a:moveTo>
                  <a:pt x="25780" y="171068"/>
                </a:moveTo>
                <a:lnTo>
                  <a:pt x="25402" y="190119"/>
                </a:lnTo>
                <a:lnTo>
                  <a:pt x="63502" y="190881"/>
                </a:lnTo>
                <a:lnTo>
                  <a:pt x="63880" y="171830"/>
                </a:lnTo>
                <a:lnTo>
                  <a:pt x="25780" y="171068"/>
                </a:lnTo>
                <a:close/>
              </a:path>
              <a:path w="82550" h="701039">
                <a:moveTo>
                  <a:pt x="48132" y="0"/>
                </a:moveTo>
                <a:lnTo>
                  <a:pt x="6350" y="189737"/>
                </a:lnTo>
                <a:lnTo>
                  <a:pt x="25402" y="190119"/>
                </a:lnTo>
                <a:lnTo>
                  <a:pt x="25780" y="171068"/>
                </a:lnTo>
                <a:lnTo>
                  <a:pt x="78916" y="171068"/>
                </a:lnTo>
                <a:lnTo>
                  <a:pt x="481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990213" y="3236214"/>
            <a:ext cx="76200" cy="855344"/>
          </a:xfrm>
          <a:custGeom>
            <a:avLst/>
            <a:gdLst/>
            <a:ahLst/>
            <a:cxnLst/>
            <a:rect l="l" t="t" r="r" b="b"/>
            <a:pathLst>
              <a:path w="76200" h="855345">
                <a:moveTo>
                  <a:pt x="19141" y="664527"/>
                </a:moveTo>
                <a:lnTo>
                  <a:pt x="0" y="664591"/>
                </a:lnTo>
                <a:lnTo>
                  <a:pt x="38481" y="854963"/>
                </a:lnTo>
                <a:lnTo>
                  <a:pt x="72405" y="683513"/>
                </a:lnTo>
                <a:lnTo>
                  <a:pt x="19176" y="683513"/>
                </a:lnTo>
                <a:lnTo>
                  <a:pt x="19141" y="664527"/>
                </a:lnTo>
                <a:close/>
              </a:path>
              <a:path w="76200" h="855345">
                <a:moveTo>
                  <a:pt x="76200" y="664337"/>
                </a:moveTo>
                <a:lnTo>
                  <a:pt x="19141" y="664527"/>
                </a:lnTo>
                <a:lnTo>
                  <a:pt x="19176" y="683513"/>
                </a:lnTo>
                <a:lnTo>
                  <a:pt x="57276" y="683513"/>
                </a:lnTo>
                <a:lnTo>
                  <a:pt x="57241" y="664400"/>
                </a:lnTo>
                <a:lnTo>
                  <a:pt x="76187" y="664400"/>
                </a:lnTo>
                <a:close/>
              </a:path>
              <a:path w="76200" h="855345">
                <a:moveTo>
                  <a:pt x="76187" y="664400"/>
                </a:moveTo>
                <a:lnTo>
                  <a:pt x="57241" y="664400"/>
                </a:lnTo>
                <a:lnTo>
                  <a:pt x="57276" y="683513"/>
                </a:lnTo>
                <a:lnTo>
                  <a:pt x="72405" y="683513"/>
                </a:lnTo>
                <a:lnTo>
                  <a:pt x="76187" y="664400"/>
                </a:lnTo>
                <a:close/>
              </a:path>
              <a:path w="76200" h="855345">
                <a:moveTo>
                  <a:pt x="56007" y="0"/>
                </a:moveTo>
                <a:lnTo>
                  <a:pt x="17907" y="0"/>
                </a:lnTo>
                <a:lnTo>
                  <a:pt x="19141" y="664527"/>
                </a:lnTo>
                <a:lnTo>
                  <a:pt x="57241" y="664400"/>
                </a:lnTo>
                <a:lnTo>
                  <a:pt x="560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04670" y="3940302"/>
            <a:ext cx="76200" cy="603885"/>
          </a:xfrm>
          <a:custGeom>
            <a:avLst/>
            <a:gdLst/>
            <a:ahLst/>
            <a:cxnLst/>
            <a:rect l="l" t="t" r="r" b="b"/>
            <a:pathLst>
              <a:path w="76200" h="603885">
                <a:moveTo>
                  <a:pt x="19126" y="190436"/>
                </a:moveTo>
                <a:lnTo>
                  <a:pt x="18034" y="603504"/>
                </a:lnTo>
                <a:lnTo>
                  <a:pt x="56134" y="603504"/>
                </a:lnTo>
                <a:lnTo>
                  <a:pt x="57226" y="190563"/>
                </a:lnTo>
                <a:lnTo>
                  <a:pt x="19126" y="190436"/>
                </a:lnTo>
                <a:close/>
              </a:path>
              <a:path w="76200" h="603885">
                <a:moveTo>
                  <a:pt x="72418" y="171450"/>
                </a:moveTo>
                <a:lnTo>
                  <a:pt x="57277" y="171450"/>
                </a:lnTo>
                <a:lnTo>
                  <a:pt x="57226" y="190563"/>
                </a:lnTo>
                <a:lnTo>
                  <a:pt x="76200" y="190627"/>
                </a:lnTo>
                <a:lnTo>
                  <a:pt x="72418" y="171450"/>
                </a:lnTo>
                <a:close/>
              </a:path>
              <a:path w="76200" h="603885">
                <a:moveTo>
                  <a:pt x="57277" y="171450"/>
                </a:moveTo>
                <a:lnTo>
                  <a:pt x="19177" y="171450"/>
                </a:lnTo>
                <a:lnTo>
                  <a:pt x="19126" y="190436"/>
                </a:lnTo>
                <a:lnTo>
                  <a:pt x="57226" y="190563"/>
                </a:lnTo>
                <a:lnTo>
                  <a:pt x="57277" y="171450"/>
                </a:lnTo>
                <a:close/>
              </a:path>
              <a:path w="76200" h="603885">
                <a:moveTo>
                  <a:pt x="38607" y="0"/>
                </a:moveTo>
                <a:lnTo>
                  <a:pt x="0" y="190373"/>
                </a:lnTo>
                <a:lnTo>
                  <a:pt x="19126" y="190436"/>
                </a:lnTo>
                <a:lnTo>
                  <a:pt x="19177" y="171450"/>
                </a:lnTo>
                <a:lnTo>
                  <a:pt x="72418" y="171450"/>
                </a:lnTo>
                <a:lnTo>
                  <a:pt x="386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576441" y="4712334"/>
            <a:ext cx="946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简化变换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052066" y="5663946"/>
            <a:ext cx="1762125" cy="558165"/>
          </a:xfrm>
          <a:custGeom>
            <a:avLst/>
            <a:gdLst/>
            <a:ahLst/>
            <a:cxnLst/>
            <a:rect l="l" t="t" r="r" b="b"/>
            <a:pathLst>
              <a:path w="1762125" h="558164">
                <a:moveTo>
                  <a:pt x="0" y="557783"/>
                </a:moveTo>
                <a:lnTo>
                  <a:pt x="1761744" y="557783"/>
                </a:lnTo>
                <a:lnTo>
                  <a:pt x="1761744" y="0"/>
                </a:lnTo>
                <a:lnTo>
                  <a:pt x="0" y="0"/>
                </a:lnTo>
                <a:lnTo>
                  <a:pt x="0" y="557783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052066" y="5663946"/>
            <a:ext cx="1762125" cy="55816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535"/>
              </a:spcBef>
            </a:pPr>
            <a:r>
              <a:rPr sz="2400" b="1" dirty="0">
                <a:latin typeface="宋体"/>
                <a:cs typeface="宋体"/>
              </a:rPr>
              <a:t>实际电路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780282" y="5843778"/>
            <a:ext cx="576580" cy="76200"/>
          </a:xfrm>
          <a:custGeom>
            <a:avLst/>
            <a:gdLst/>
            <a:ahLst/>
            <a:cxnLst/>
            <a:rect l="l" t="t" r="r" b="b"/>
            <a:pathLst>
              <a:path w="576579" h="76200">
                <a:moveTo>
                  <a:pt x="190500" y="0"/>
                </a:moveTo>
                <a:lnTo>
                  <a:pt x="0" y="38100"/>
                </a:lnTo>
                <a:lnTo>
                  <a:pt x="190500" y="76200"/>
                </a:lnTo>
                <a:lnTo>
                  <a:pt x="190500" y="57150"/>
                </a:lnTo>
                <a:lnTo>
                  <a:pt x="171450" y="57150"/>
                </a:lnTo>
                <a:lnTo>
                  <a:pt x="171450" y="19050"/>
                </a:lnTo>
                <a:lnTo>
                  <a:pt x="190500" y="19050"/>
                </a:lnTo>
                <a:lnTo>
                  <a:pt x="190500" y="0"/>
                </a:lnTo>
                <a:close/>
              </a:path>
              <a:path w="576579" h="76200">
                <a:moveTo>
                  <a:pt x="190500" y="19050"/>
                </a:moveTo>
                <a:lnTo>
                  <a:pt x="171450" y="19050"/>
                </a:lnTo>
                <a:lnTo>
                  <a:pt x="171450" y="57150"/>
                </a:lnTo>
                <a:lnTo>
                  <a:pt x="190500" y="57150"/>
                </a:lnTo>
                <a:lnTo>
                  <a:pt x="190500" y="19050"/>
                </a:lnTo>
                <a:close/>
              </a:path>
              <a:path w="576579" h="76200">
                <a:moveTo>
                  <a:pt x="576071" y="19050"/>
                </a:moveTo>
                <a:lnTo>
                  <a:pt x="190500" y="19050"/>
                </a:lnTo>
                <a:lnTo>
                  <a:pt x="190500" y="57150"/>
                </a:lnTo>
                <a:lnTo>
                  <a:pt x="576071" y="57150"/>
                </a:lnTo>
                <a:lnTo>
                  <a:pt x="576071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780282" y="6060185"/>
            <a:ext cx="576580" cy="76200"/>
          </a:xfrm>
          <a:custGeom>
            <a:avLst/>
            <a:gdLst/>
            <a:ahLst/>
            <a:cxnLst/>
            <a:rect l="l" t="t" r="r" b="b"/>
            <a:pathLst>
              <a:path w="576579" h="76200">
                <a:moveTo>
                  <a:pt x="461771" y="0"/>
                </a:moveTo>
                <a:lnTo>
                  <a:pt x="461771" y="76199"/>
                </a:lnTo>
                <a:lnTo>
                  <a:pt x="518921" y="57149"/>
                </a:lnTo>
                <a:lnTo>
                  <a:pt x="480821" y="57149"/>
                </a:lnTo>
                <a:lnTo>
                  <a:pt x="480821" y="19049"/>
                </a:lnTo>
                <a:lnTo>
                  <a:pt x="518921" y="19049"/>
                </a:lnTo>
                <a:lnTo>
                  <a:pt x="461771" y="0"/>
                </a:lnTo>
                <a:close/>
              </a:path>
              <a:path w="576579" h="76200">
                <a:moveTo>
                  <a:pt x="461771" y="19049"/>
                </a:moveTo>
                <a:lnTo>
                  <a:pt x="0" y="19049"/>
                </a:lnTo>
                <a:lnTo>
                  <a:pt x="0" y="57149"/>
                </a:lnTo>
                <a:lnTo>
                  <a:pt x="461771" y="57149"/>
                </a:lnTo>
                <a:lnTo>
                  <a:pt x="461771" y="19049"/>
                </a:lnTo>
                <a:close/>
              </a:path>
              <a:path w="576579" h="76200">
                <a:moveTo>
                  <a:pt x="518921" y="19049"/>
                </a:moveTo>
                <a:lnTo>
                  <a:pt x="480821" y="19049"/>
                </a:lnTo>
                <a:lnTo>
                  <a:pt x="480821" y="57149"/>
                </a:lnTo>
                <a:lnTo>
                  <a:pt x="518921" y="57149"/>
                </a:lnTo>
                <a:lnTo>
                  <a:pt x="576071" y="38099"/>
                </a:lnTo>
                <a:lnTo>
                  <a:pt x="518921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120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86779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64575" algn="l"/>
              </a:tabLst>
            </a:pPr>
            <a:r>
              <a:rPr u="heavy" spc="5" dirty="0">
                <a:uFill>
                  <a:solidFill>
                    <a:srgbClr val="666699"/>
                  </a:solidFill>
                </a:uFill>
              </a:rPr>
              <a:t>第</a:t>
            </a:r>
            <a:r>
              <a:rPr u="heavy" dirty="0"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3</a:t>
            </a:r>
            <a:r>
              <a:rPr u="heavy" dirty="0">
                <a:uFill>
                  <a:solidFill>
                    <a:srgbClr val="666699"/>
                  </a:solidFill>
                </a:uFill>
              </a:rPr>
              <a:t>章小</a:t>
            </a:r>
            <a:r>
              <a:rPr u="heavy" spc="5" dirty="0">
                <a:uFill>
                  <a:solidFill>
                    <a:srgbClr val="666699"/>
                  </a:solidFill>
                </a:uFill>
              </a:rPr>
              <a:t>结</a:t>
            </a:r>
            <a:r>
              <a:rPr u="heavy" dirty="0">
                <a:uFill>
                  <a:solidFill>
                    <a:srgbClr val="666699"/>
                  </a:solidFill>
                </a:uFill>
              </a:rPr>
              <a:t>	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121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040" y="933540"/>
            <a:ext cx="4277995" cy="460756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90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逻辑函数的概念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基本运算：与、或、非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95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公理、定理、公式、性质</a:t>
            </a:r>
            <a:endParaRPr sz="280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570"/>
              </a:spcBef>
              <a:buClr>
                <a:srgbClr val="FF6600"/>
              </a:buClr>
              <a:buSzPct val="75000"/>
              <a:buFont typeface="Wingdings"/>
              <a:buChar char=""/>
              <a:tabLst>
                <a:tab pos="756920" algn="l"/>
              </a:tabLst>
            </a:pPr>
            <a:r>
              <a:rPr sz="2400" dirty="0">
                <a:latin typeface="宋体"/>
                <a:cs typeface="宋体"/>
              </a:rPr>
              <a:t>三个基本定律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15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化简：代数法、卡诺图法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将函数化简为任意形式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95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非完全描述函数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10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各种描述方法之间的关系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4452</Words>
  <Application>Microsoft Office PowerPoint</Application>
  <PresentationFormat>A4 纸张(210x297 毫米)</PresentationFormat>
  <Paragraphs>1095</Paragraphs>
  <Slides>59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70" baseType="lpstr">
      <vt:lpstr>Microsoft JhengHei</vt:lpstr>
      <vt:lpstr>宋体</vt:lpstr>
      <vt:lpstr>微软雅黑</vt:lpstr>
      <vt:lpstr>幼圆</vt:lpstr>
      <vt:lpstr>Arial</vt:lpstr>
      <vt:lpstr>Calibri</vt:lpstr>
      <vt:lpstr>Symbol</vt:lpstr>
      <vt:lpstr>Times New Roman</vt:lpstr>
      <vt:lpstr>Wingdings</vt:lpstr>
      <vt:lpstr>Wingdings 2</vt:lpstr>
      <vt:lpstr>Office Theme</vt:lpstr>
      <vt:lpstr>逻辑代数基本定律</vt:lpstr>
      <vt:lpstr>用代数方法证明基本定律</vt:lpstr>
      <vt:lpstr>逻辑代数运算的三个重要规则</vt:lpstr>
      <vt:lpstr>逻辑代数运算的三个重要规则</vt:lpstr>
      <vt:lpstr>PowerPoint 演示文稿</vt:lpstr>
      <vt:lpstr>逻辑代数运算的三个重要规则</vt:lpstr>
      <vt:lpstr>逻辑代数运算的三个重要规则</vt:lpstr>
      <vt:lpstr>PowerPoint 演示文稿</vt:lpstr>
      <vt:lpstr>逻辑代数基本定理</vt:lpstr>
      <vt:lpstr>逻辑代数基本定理</vt:lpstr>
      <vt:lpstr>逻辑代数基本定理</vt:lpstr>
      <vt:lpstr>复合运算和复合逻辑门</vt:lpstr>
      <vt:lpstr>PowerPoint 演示文稿</vt:lpstr>
      <vt:lpstr>复合运算</vt:lpstr>
      <vt:lpstr>PowerPoint 演示文稿</vt:lpstr>
      <vt:lpstr>复合运算</vt:lpstr>
      <vt:lpstr>逻辑运算符号的完备性</vt:lpstr>
      <vt:lpstr>逻辑函数的标准形式</vt:lpstr>
      <vt:lpstr>最大项和最小项</vt:lpstr>
      <vt:lpstr>三变量最小项真值表</vt:lpstr>
      <vt:lpstr>最小项的性质</vt:lpstr>
      <vt:lpstr>三变量最大项真值表</vt:lpstr>
      <vt:lpstr>最大项的性质</vt:lpstr>
      <vt:lpstr>最大项和最小项的关系</vt:lpstr>
      <vt:lpstr>逻辑函数的两种标准形式</vt:lpstr>
      <vt:lpstr>逻辑函数的两种标准形式</vt:lpstr>
      <vt:lpstr>逻辑函数的两种标准形式</vt:lpstr>
      <vt:lpstr>两种标准表达式之间的关系</vt:lpstr>
      <vt:lpstr>反函数的标准表达式</vt:lpstr>
      <vt:lpstr>逻辑函数的化简</vt:lpstr>
      <vt:lpstr>逻辑函数的化简</vt:lpstr>
      <vt:lpstr>逻辑函数的化简</vt:lpstr>
      <vt:lpstr>逻辑函数的化简</vt:lpstr>
      <vt:lpstr>逻辑函数的代数化简法</vt:lpstr>
      <vt:lpstr>逻辑函数的代数化简法</vt:lpstr>
      <vt:lpstr>逻辑函数的代数化简法</vt:lpstr>
      <vt:lpstr>逻辑函数的代数化简法</vt:lpstr>
      <vt:lpstr>逻辑函数的代数化简法</vt:lpstr>
      <vt:lpstr>逻辑函数的代数化简法</vt:lpstr>
      <vt:lpstr> “或与”表达式的化简 </vt:lpstr>
      <vt:lpstr>PowerPoint 演示文稿</vt:lpstr>
      <vt:lpstr>最简“与非-与非”表达式</vt:lpstr>
      <vt:lpstr>最简“与非-与非”表达式</vt:lpstr>
      <vt:lpstr>最简“或非-或非”表达式 </vt:lpstr>
      <vt:lpstr>最简“或非-或非”表达式</vt:lpstr>
      <vt:lpstr>最简“与或非”表达式 </vt:lpstr>
      <vt:lpstr>最简“与或非”表达式</vt:lpstr>
      <vt:lpstr>常用变换方法</vt:lpstr>
      <vt:lpstr>逻辑函数的卡诺图化简法</vt:lpstr>
      <vt:lpstr>卡诺图的构成</vt:lpstr>
      <vt:lpstr>代数法化简非完全描述逻辑函数</vt:lpstr>
      <vt:lpstr>代数法化简非完全描述逻辑函数</vt:lpstr>
      <vt:lpstr>用卡诺图化简非完全描述逻辑函数</vt:lpstr>
      <vt:lpstr>用卡诺图化简非完全描述逻辑函数</vt:lpstr>
      <vt:lpstr>用卡诺图化简非完全描述逻辑函数</vt:lpstr>
      <vt:lpstr>逻辑函数的描述</vt:lpstr>
      <vt:lpstr>逻辑函数的描述</vt:lpstr>
      <vt:lpstr>逻辑函数描述方法之间的转换</vt:lpstr>
      <vt:lpstr>第3章小结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now</dc:creator>
  <cp:lastModifiedBy>- Vel</cp:lastModifiedBy>
  <cp:revision>4</cp:revision>
  <dcterms:created xsi:type="dcterms:W3CDTF">2024-05-07T02:29:36Z</dcterms:created>
  <dcterms:modified xsi:type="dcterms:W3CDTF">2024-05-11T07:18:10Z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2024-03-14T00:00:00Z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2024-05-07T00:00:00Z</vt:filetime>
  </property>
</Properties>
</file>
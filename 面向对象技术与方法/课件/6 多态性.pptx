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68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349" y="188137"/>
            <a:ext cx="8685301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 u="heavy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93435" y="132587"/>
            <a:ext cx="3750564" cy="6536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1484375"/>
            <a:ext cx="2197735" cy="4364990"/>
          </a:xfrm>
          <a:custGeom>
            <a:avLst/>
            <a:gdLst/>
            <a:ahLst/>
            <a:cxnLst/>
            <a:rect l="l" t="t" r="r" b="b"/>
            <a:pathLst>
              <a:path w="2197735" h="4364990">
                <a:moveTo>
                  <a:pt x="0" y="0"/>
                </a:moveTo>
                <a:lnTo>
                  <a:pt x="2197608" y="0"/>
                </a:lnTo>
                <a:lnTo>
                  <a:pt x="2197608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644128" y="1484375"/>
            <a:ext cx="500380" cy="4364990"/>
          </a:xfrm>
          <a:custGeom>
            <a:avLst/>
            <a:gdLst/>
            <a:ahLst/>
            <a:cxnLst/>
            <a:rect l="l" t="t" r="r" b="b"/>
            <a:pathLst>
              <a:path w="500379" h="4364990">
                <a:moveTo>
                  <a:pt x="0" y="0"/>
                </a:moveTo>
                <a:lnTo>
                  <a:pt x="499872" y="0"/>
                </a:lnTo>
                <a:lnTo>
                  <a:pt x="499872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196083" y="1484375"/>
            <a:ext cx="283845" cy="4364990"/>
          </a:xfrm>
          <a:custGeom>
            <a:avLst/>
            <a:gdLst/>
            <a:ahLst/>
            <a:cxnLst/>
            <a:rect l="l" t="t" r="r" b="b"/>
            <a:pathLst>
              <a:path w="283844" h="4364990">
                <a:moveTo>
                  <a:pt x="0" y="0"/>
                </a:moveTo>
                <a:lnTo>
                  <a:pt x="283463" y="0"/>
                </a:lnTo>
                <a:lnTo>
                  <a:pt x="283463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340852" y="1484375"/>
            <a:ext cx="303530" cy="4364990"/>
          </a:xfrm>
          <a:custGeom>
            <a:avLst/>
            <a:gdLst/>
            <a:ahLst/>
            <a:cxnLst/>
            <a:rect l="l" t="t" r="r" b="b"/>
            <a:pathLst>
              <a:path w="303529" h="4364990">
                <a:moveTo>
                  <a:pt x="0" y="0"/>
                </a:moveTo>
                <a:lnTo>
                  <a:pt x="303275" y="0"/>
                </a:lnTo>
                <a:lnTo>
                  <a:pt x="303275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9349" y="148450"/>
            <a:ext cx="868530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 u="heavy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389" y="1362075"/>
            <a:ext cx="6451600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03602" y="6401152"/>
            <a:ext cx="25527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5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0.png"/><Relationship Id="rId5" Type="http://schemas.openxmlformats.org/officeDocument/2006/relationships/image" Target="../media/image4.pn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3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37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46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50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4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48.jpg"/><Relationship Id="rId5" Type="http://schemas.openxmlformats.org/officeDocument/2006/relationships/image" Target="../media/image4.png"/><Relationship Id="rId10" Type="http://schemas.openxmlformats.org/officeDocument/2006/relationships/image" Target="../media/image47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5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5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57.png"/><Relationship Id="rId5" Type="http://schemas.openxmlformats.org/officeDocument/2006/relationships/image" Target="../media/image4.png"/><Relationship Id="rId15" Type="http://schemas.openxmlformats.org/officeDocument/2006/relationships/image" Target="../media/image61.png"/><Relationship Id="rId10" Type="http://schemas.openxmlformats.org/officeDocument/2006/relationships/image" Target="../media/image56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6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13589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微软雅黑"/>
                <a:cs typeface="微软雅黑"/>
              </a:rPr>
              <a:t>本章知识点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07034" y="1443989"/>
            <a:ext cx="7449184" cy="3082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ts val="5275"/>
              </a:lnSpc>
              <a:spcBef>
                <a:spcPts val="105"/>
              </a:spcBef>
              <a:buSzPct val="97727"/>
              <a:buFont typeface="Arial"/>
              <a:buChar char="•"/>
              <a:tabLst>
                <a:tab pos="209550" algn="l"/>
              </a:tabLst>
            </a:pPr>
            <a:r>
              <a:rPr sz="4400" dirty="0">
                <a:latin typeface="微软雅黑"/>
                <a:cs typeface="微软雅黑"/>
              </a:rPr>
              <a:t>多态</a:t>
            </a:r>
            <a:r>
              <a:rPr sz="4400" spc="5" dirty="0">
                <a:latin typeface="微软雅黑"/>
                <a:cs typeface="微软雅黑"/>
              </a:rPr>
              <a:t>性</a:t>
            </a:r>
            <a:endParaRPr sz="4400" dirty="0">
              <a:latin typeface="微软雅黑"/>
              <a:cs typeface="微软雅黑"/>
            </a:endParaRPr>
          </a:p>
          <a:p>
            <a:pPr marL="527050" marR="5080" lvl="1" indent="-171450">
              <a:lnSpc>
                <a:spcPts val="3450"/>
              </a:lnSpc>
              <a:spcBef>
                <a:spcPts val="434"/>
              </a:spcBef>
              <a:buFont typeface="Arial"/>
              <a:buChar char="•"/>
              <a:tabLst>
                <a:tab pos="527050" algn="l"/>
              </a:tabLst>
            </a:pPr>
            <a:r>
              <a:rPr sz="3200" dirty="0">
                <a:latin typeface="微软雅黑"/>
                <a:cs typeface="微软雅黑"/>
              </a:rPr>
              <a:t>继承层次结构中子类对象和父类对象间 的关</a:t>
            </a:r>
            <a:r>
              <a:rPr sz="3200" spc="5" dirty="0">
                <a:latin typeface="微软雅黑"/>
                <a:cs typeface="微软雅黑"/>
              </a:rPr>
              <a:t>系</a:t>
            </a:r>
            <a:endParaRPr sz="3200" dirty="0">
              <a:latin typeface="微软雅黑"/>
              <a:cs typeface="微软雅黑"/>
            </a:endParaRPr>
          </a:p>
          <a:p>
            <a:pPr marL="527050" lvl="1" indent="-171450">
              <a:lnSpc>
                <a:spcPts val="3779"/>
              </a:lnSpc>
              <a:buFont typeface="Arial"/>
              <a:buChar char="•"/>
              <a:tabLst>
                <a:tab pos="527050" algn="l"/>
              </a:tabLst>
            </a:pPr>
            <a:r>
              <a:rPr sz="3200" dirty="0">
                <a:latin typeface="微软雅黑"/>
                <a:cs typeface="微软雅黑"/>
              </a:rPr>
              <a:t>抽象类和抽象方法的声明和使</a:t>
            </a:r>
            <a:r>
              <a:rPr sz="3200" spc="5" dirty="0">
                <a:latin typeface="微软雅黑"/>
                <a:cs typeface="微软雅黑"/>
              </a:rPr>
              <a:t>用</a:t>
            </a:r>
            <a:endParaRPr sz="3200" dirty="0">
              <a:latin typeface="微软雅黑"/>
              <a:cs typeface="微软雅黑"/>
            </a:endParaRPr>
          </a:p>
          <a:p>
            <a:pPr marL="527050" lvl="1" indent="-171450">
              <a:lnSpc>
                <a:spcPts val="3829"/>
              </a:lnSpc>
              <a:buFont typeface="Arial"/>
              <a:buChar char="•"/>
              <a:tabLst>
                <a:tab pos="527050" algn="l"/>
              </a:tabLst>
            </a:pPr>
            <a:r>
              <a:rPr sz="3200" dirty="0">
                <a:latin typeface="微软雅黑"/>
                <a:cs typeface="微软雅黑"/>
              </a:rPr>
              <a:t>接口的声明和实</a:t>
            </a:r>
            <a:r>
              <a:rPr sz="3200" spc="5" dirty="0">
                <a:latin typeface="微软雅黑"/>
                <a:cs typeface="微软雅黑"/>
              </a:rPr>
              <a:t>现</a:t>
            </a:r>
            <a:endParaRPr sz="3200" dirty="0">
              <a:latin typeface="微软雅黑"/>
              <a:cs typeface="微软雅黑"/>
            </a:endParaRPr>
          </a:p>
          <a:p>
            <a:pPr marL="527050" lvl="1" indent="-171450">
              <a:lnSpc>
                <a:spcPts val="3835"/>
              </a:lnSpc>
              <a:buFont typeface="Arial"/>
              <a:buChar char="•"/>
              <a:tabLst>
                <a:tab pos="527050" algn="l"/>
              </a:tabLst>
            </a:pPr>
            <a:r>
              <a:rPr sz="3200" dirty="0">
                <a:latin typeface="微软雅黑"/>
                <a:cs typeface="微软雅黑"/>
              </a:rPr>
              <a:t>实现多态性的编程技</a:t>
            </a:r>
            <a:r>
              <a:rPr sz="3200" spc="5" dirty="0">
                <a:latin typeface="微软雅黑"/>
                <a:cs typeface="微软雅黑"/>
              </a:rPr>
              <a:t>术</a:t>
            </a:r>
            <a:endParaRPr sz="32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830" y="370357"/>
            <a:ext cx="8263890" cy="450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8205" algn="just">
              <a:lnSpc>
                <a:spcPct val="100000"/>
              </a:lnSpc>
              <a:spcBef>
                <a:spcPts val="100"/>
              </a:spcBef>
            </a:pPr>
            <a:r>
              <a:rPr sz="2100" b="1" spc="-5" dirty="0">
                <a:latin typeface="微软雅黑"/>
                <a:cs typeface="微软雅黑"/>
              </a:rPr>
              <a:t>6.1</a:t>
            </a:r>
            <a:r>
              <a:rPr sz="2100" b="1" spc="-10" dirty="0">
                <a:latin typeface="微软雅黑"/>
                <a:cs typeface="微软雅黑"/>
              </a:rPr>
              <a:t> </a:t>
            </a:r>
            <a:r>
              <a:rPr sz="2100" b="1" dirty="0">
                <a:latin typeface="微软雅黑"/>
                <a:cs typeface="微软雅黑"/>
              </a:rPr>
              <a:t>多态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微软雅黑"/>
              <a:cs typeface="微软雅黑"/>
            </a:endParaRPr>
          </a:p>
          <a:p>
            <a:pPr marL="262890" indent="-250190">
              <a:lnSpc>
                <a:spcPct val="100000"/>
              </a:lnSpc>
              <a:buSzPct val="75000"/>
              <a:buFont typeface="Arial"/>
              <a:buChar char="•"/>
              <a:tabLst>
                <a:tab pos="262255" algn="l"/>
                <a:tab pos="262890" algn="l"/>
              </a:tabLst>
            </a:pPr>
            <a:r>
              <a:rPr sz="2800" dirty="0">
                <a:latin typeface="微软雅黑"/>
                <a:cs typeface="微软雅黑"/>
              </a:rPr>
              <a:t>多态性</a:t>
            </a:r>
            <a:r>
              <a:rPr sz="2800" spc="-10" dirty="0">
                <a:latin typeface="微软雅黑"/>
                <a:cs typeface="微软雅黑"/>
              </a:rPr>
              <a:t>(Polymorphism)</a:t>
            </a:r>
            <a:endParaRPr sz="2800">
              <a:latin typeface="微软雅黑"/>
              <a:cs typeface="微软雅黑"/>
            </a:endParaRPr>
          </a:p>
          <a:p>
            <a:pPr marL="855980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latin typeface="微软雅黑"/>
                <a:cs typeface="微软雅黑"/>
              </a:rPr>
              <a:t>多态是同一个行为具有多个不同表现形式或形态的能力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微软雅黑"/>
              <a:cs typeface="微软雅黑"/>
            </a:endParaRPr>
          </a:p>
          <a:p>
            <a:pPr marL="920750" marR="327660" lvl="1" indent="-171450" algn="just">
              <a:lnSpc>
                <a:spcPct val="90500"/>
              </a:lnSpc>
              <a:buFont typeface="Arial"/>
              <a:buChar char="•"/>
              <a:tabLst>
                <a:tab pos="9207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This ability allows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many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types (derived 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from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 same  base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type)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 be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treated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as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if they 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were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one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type,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 a 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single piece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code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work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on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all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those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types.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920750" marR="5080" lvl="1" indent="-171450">
              <a:lnSpc>
                <a:spcPts val="2590"/>
              </a:lnSpc>
              <a:buFont typeface="Arial"/>
              <a:buChar char="•"/>
              <a:tabLst>
                <a:tab pos="920750" algn="l"/>
              </a:tabLst>
            </a:pPr>
            <a:r>
              <a:rPr sz="2400" spc="-5" dirty="0">
                <a:latin typeface="Times New Roman"/>
                <a:cs typeface="Times New Roman"/>
              </a:rPr>
              <a:t>allows the treatment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an object as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its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own type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its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base  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490" y="1640204"/>
            <a:ext cx="6121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有利于提高程序的组织性、可读性和可扩展性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490" y="3698875"/>
            <a:ext cx="501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10433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u="none" spc="-5" dirty="0"/>
              <a:t>6.1</a:t>
            </a:r>
            <a:r>
              <a:rPr sz="2100" u="none" spc="-85" dirty="0"/>
              <a:t> </a:t>
            </a:r>
            <a:r>
              <a:rPr sz="2100" u="none" dirty="0"/>
              <a:t>多态</a:t>
            </a:r>
            <a:endParaRPr sz="2100"/>
          </a:p>
        </p:txBody>
      </p:sp>
      <p:sp>
        <p:nvSpPr>
          <p:cNvPr id="5" name="object 5"/>
          <p:cNvSpPr/>
          <p:nvPr/>
        </p:nvSpPr>
        <p:spPr>
          <a:xfrm>
            <a:off x="1475232" y="2205227"/>
            <a:ext cx="4419600" cy="3537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5420"/>
            <a:ext cx="7931150" cy="60134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84150" marR="5080" indent="-171450">
              <a:lnSpc>
                <a:spcPct val="80000"/>
              </a:lnSpc>
              <a:spcBef>
                <a:spcPts val="605"/>
              </a:spcBef>
              <a:buFont typeface="Arial"/>
              <a:buChar char="•"/>
              <a:tabLst>
                <a:tab pos="184150" algn="l"/>
              </a:tabLst>
            </a:pPr>
            <a:r>
              <a:rPr sz="2100" b="1" dirty="0">
                <a:solidFill>
                  <a:srgbClr val="FF0000"/>
                </a:solidFill>
                <a:latin typeface="微软雅黑"/>
                <a:cs typeface="微软雅黑"/>
              </a:rPr>
              <a:t>向上转型</a:t>
            </a:r>
            <a:r>
              <a:rPr sz="2100" dirty="0">
                <a:latin typeface="微软雅黑"/>
                <a:cs typeface="微软雅黑"/>
              </a:rPr>
              <a:t>：将子类对象直接赋值给父类引用的过程，不需要强制类 型转换，由系统自动完成。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3083560"/>
            <a:ext cx="5354955" cy="88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050" indent="-2603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73050" algn="l"/>
              </a:tabLst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</a:t>
            </a:r>
            <a:r>
              <a:rPr sz="2800" spc="-2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sz="2800" spc="-15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music2.java(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无向上转型</a:t>
            </a: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                Music.java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16300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1</a:t>
            </a:r>
            <a:r>
              <a:rPr sz="2100" u="none" dirty="0"/>
              <a:t>.1	多态性</a:t>
            </a:r>
            <a:endParaRPr sz="2100"/>
          </a:p>
        </p:txBody>
      </p:sp>
      <p:sp>
        <p:nvSpPr>
          <p:cNvPr id="5" name="object 5"/>
          <p:cNvSpPr/>
          <p:nvPr/>
        </p:nvSpPr>
        <p:spPr>
          <a:xfrm>
            <a:off x="273684" y="4465320"/>
            <a:ext cx="8192770" cy="1186180"/>
          </a:xfrm>
          <a:custGeom>
            <a:avLst/>
            <a:gdLst/>
            <a:ahLst/>
            <a:cxnLst/>
            <a:rect l="l" t="t" r="r" b="b"/>
            <a:pathLst>
              <a:path w="8192770" h="1186179">
                <a:moveTo>
                  <a:pt x="8192770" y="1186179"/>
                </a:moveTo>
                <a:lnTo>
                  <a:pt x="0" y="1186179"/>
                </a:lnTo>
                <a:lnTo>
                  <a:pt x="0" y="0"/>
                </a:lnTo>
                <a:lnTo>
                  <a:pt x="8192770" y="0"/>
                </a:lnTo>
                <a:lnTo>
                  <a:pt x="819277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173479"/>
                </a:lnTo>
                <a:lnTo>
                  <a:pt x="6350" y="1173479"/>
                </a:lnTo>
                <a:lnTo>
                  <a:pt x="12700" y="1179829"/>
                </a:lnTo>
                <a:lnTo>
                  <a:pt x="8192770" y="1179829"/>
                </a:lnTo>
                <a:lnTo>
                  <a:pt x="8192770" y="1186179"/>
                </a:lnTo>
                <a:close/>
              </a:path>
              <a:path w="8192770" h="11861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192770" h="1186179">
                <a:moveTo>
                  <a:pt x="818007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8180070" y="6350"/>
                </a:lnTo>
                <a:lnTo>
                  <a:pt x="8180070" y="12700"/>
                </a:lnTo>
                <a:close/>
              </a:path>
              <a:path w="8192770" h="1186179">
                <a:moveTo>
                  <a:pt x="8180070" y="1179829"/>
                </a:moveTo>
                <a:lnTo>
                  <a:pt x="8180070" y="6350"/>
                </a:lnTo>
                <a:lnTo>
                  <a:pt x="8186420" y="12700"/>
                </a:lnTo>
                <a:lnTo>
                  <a:pt x="8192770" y="12700"/>
                </a:lnTo>
                <a:lnTo>
                  <a:pt x="8192770" y="1173479"/>
                </a:lnTo>
                <a:lnTo>
                  <a:pt x="8186420" y="1173479"/>
                </a:lnTo>
                <a:lnTo>
                  <a:pt x="8180070" y="1179829"/>
                </a:lnTo>
                <a:close/>
              </a:path>
              <a:path w="8192770" h="1186179">
                <a:moveTo>
                  <a:pt x="8192770" y="12700"/>
                </a:moveTo>
                <a:lnTo>
                  <a:pt x="8186420" y="12700"/>
                </a:lnTo>
                <a:lnTo>
                  <a:pt x="8180070" y="6350"/>
                </a:lnTo>
                <a:lnTo>
                  <a:pt x="8192770" y="6350"/>
                </a:lnTo>
                <a:lnTo>
                  <a:pt x="8192770" y="12700"/>
                </a:lnTo>
                <a:close/>
              </a:path>
              <a:path w="8192770" h="1186179">
                <a:moveTo>
                  <a:pt x="12700" y="1179829"/>
                </a:moveTo>
                <a:lnTo>
                  <a:pt x="6350" y="1173479"/>
                </a:lnTo>
                <a:lnTo>
                  <a:pt x="12700" y="1173479"/>
                </a:lnTo>
                <a:lnTo>
                  <a:pt x="12700" y="1179829"/>
                </a:lnTo>
                <a:close/>
              </a:path>
              <a:path w="8192770" h="1186179">
                <a:moveTo>
                  <a:pt x="8180070" y="1179829"/>
                </a:moveTo>
                <a:lnTo>
                  <a:pt x="12700" y="1179829"/>
                </a:lnTo>
                <a:lnTo>
                  <a:pt x="12700" y="1173479"/>
                </a:lnTo>
                <a:lnTo>
                  <a:pt x="8180070" y="1173479"/>
                </a:lnTo>
                <a:lnTo>
                  <a:pt x="8180070" y="1179829"/>
                </a:lnTo>
                <a:close/>
              </a:path>
              <a:path w="8192770" h="1186179">
                <a:moveTo>
                  <a:pt x="8192770" y="1179829"/>
                </a:moveTo>
                <a:lnTo>
                  <a:pt x="8180070" y="1179829"/>
                </a:lnTo>
                <a:lnTo>
                  <a:pt x="8186420" y="1173479"/>
                </a:lnTo>
                <a:lnTo>
                  <a:pt x="8192770" y="1173479"/>
                </a:lnTo>
                <a:lnTo>
                  <a:pt x="8192770" y="11798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8630" y="4728209"/>
            <a:ext cx="78320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微软雅黑"/>
                <a:cs typeface="微软雅黑"/>
              </a:rPr>
              <a:t>Java</a:t>
            </a:r>
            <a:r>
              <a:rPr sz="1800" dirty="0">
                <a:latin typeface="微软雅黑"/>
                <a:cs typeface="微软雅黑"/>
              </a:rPr>
              <a:t>语言中</a:t>
            </a:r>
            <a:r>
              <a:rPr sz="1800" spc="-5" dirty="0">
                <a:latin typeface="微软雅黑"/>
                <a:cs typeface="微软雅黑"/>
              </a:rPr>
              <a:t>Object</a:t>
            </a:r>
            <a:r>
              <a:rPr sz="1800" dirty="0">
                <a:latin typeface="微软雅黑"/>
                <a:cs typeface="微软雅黑"/>
              </a:rPr>
              <a:t>是所有类的直接或间接父类，也就是说，任何类型的对象都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微软雅黑"/>
                <a:cs typeface="微软雅黑"/>
              </a:rPr>
              <a:t>可以赋值给</a:t>
            </a:r>
            <a:r>
              <a:rPr sz="1800" spc="-5" dirty="0">
                <a:latin typeface="微软雅黑"/>
                <a:cs typeface="微软雅黑"/>
              </a:rPr>
              <a:t>Object</a:t>
            </a:r>
            <a:r>
              <a:rPr sz="1800" dirty="0">
                <a:latin typeface="微软雅黑"/>
                <a:cs typeface="微软雅黑"/>
              </a:rPr>
              <a:t>引用。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6300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1</a:t>
            </a:r>
            <a:r>
              <a:rPr sz="2100" u="none" dirty="0"/>
              <a:t>.1	多态性</a:t>
            </a:r>
            <a:endParaRPr sz="2100"/>
          </a:p>
        </p:txBody>
      </p:sp>
      <p:sp>
        <p:nvSpPr>
          <p:cNvPr id="3" name="object 3"/>
          <p:cNvSpPr/>
          <p:nvPr/>
        </p:nvSpPr>
        <p:spPr>
          <a:xfrm>
            <a:off x="382524" y="1557527"/>
            <a:ext cx="1292352" cy="1417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1484" y="5033771"/>
            <a:ext cx="5329555" cy="1059180"/>
          </a:xfrm>
          <a:custGeom>
            <a:avLst/>
            <a:gdLst/>
            <a:ahLst/>
            <a:cxnLst/>
            <a:rect l="l" t="t" r="r" b="b"/>
            <a:pathLst>
              <a:path w="5329555" h="1059179">
                <a:moveTo>
                  <a:pt x="0" y="0"/>
                </a:moveTo>
                <a:lnTo>
                  <a:pt x="5329427" y="0"/>
                </a:lnTo>
                <a:lnTo>
                  <a:pt x="5329427" y="1059179"/>
                </a:lnTo>
                <a:lnTo>
                  <a:pt x="0" y="1059179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85515" y="5027929"/>
            <a:ext cx="5340985" cy="1071880"/>
          </a:xfrm>
          <a:custGeom>
            <a:avLst/>
            <a:gdLst/>
            <a:ahLst/>
            <a:cxnLst/>
            <a:rect l="l" t="t" r="r" b="b"/>
            <a:pathLst>
              <a:path w="5340984" h="1071879">
                <a:moveTo>
                  <a:pt x="5340985" y="1071880"/>
                </a:moveTo>
                <a:lnTo>
                  <a:pt x="0" y="1071880"/>
                </a:lnTo>
                <a:lnTo>
                  <a:pt x="0" y="0"/>
                </a:lnTo>
                <a:lnTo>
                  <a:pt x="5340985" y="0"/>
                </a:lnTo>
                <a:lnTo>
                  <a:pt x="534098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059180"/>
                </a:lnTo>
                <a:lnTo>
                  <a:pt x="6350" y="1059180"/>
                </a:lnTo>
                <a:lnTo>
                  <a:pt x="12700" y="1065530"/>
                </a:lnTo>
                <a:lnTo>
                  <a:pt x="5340985" y="1065530"/>
                </a:lnTo>
                <a:lnTo>
                  <a:pt x="5340985" y="1071880"/>
                </a:lnTo>
                <a:close/>
              </a:path>
              <a:path w="5340984" h="10718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5340984" h="1071879">
                <a:moveTo>
                  <a:pt x="532828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5328285" y="6350"/>
                </a:lnTo>
                <a:lnTo>
                  <a:pt x="5328285" y="12700"/>
                </a:lnTo>
                <a:close/>
              </a:path>
              <a:path w="5340984" h="1071879">
                <a:moveTo>
                  <a:pt x="5328285" y="1065530"/>
                </a:moveTo>
                <a:lnTo>
                  <a:pt x="5328285" y="6350"/>
                </a:lnTo>
                <a:lnTo>
                  <a:pt x="5334635" y="12700"/>
                </a:lnTo>
                <a:lnTo>
                  <a:pt x="5340985" y="12700"/>
                </a:lnTo>
                <a:lnTo>
                  <a:pt x="5340985" y="1059180"/>
                </a:lnTo>
                <a:lnTo>
                  <a:pt x="5334635" y="1059180"/>
                </a:lnTo>
                <a:lnTo>
                  <a:pt x="5328285" y="1065530"/>
                </a:lnTo>
                <a:close/>
              </a:path>
              <a:path w="5340984" h="1071879">
                <a:moveTo>
                  <a:pt x="5340985" y="12700"/>
                </a:moveTo>
                <a:lnTo>
                  <a:pt x="5334635" y="12700"/>
                </a:lnTo>
                <a:lnTo>
                  <a:pt x="5328285" y="6350"/>
                </a:lnTo>
                <a:lnTo>
                  <a:pt x="5340985" y="6350"/>
                </a:lnTo>
                <a:lnTo>
                  <a:pt x="5340985" y="12700"/>
                </a:lnTo>
                <a:close/>
              </a:path>
              <a:path w="5340984" h="1071879">
                <a:moveTo>
                  <a:pt x="12700" y="1065530"/>
                </a:moveTo>
                <a:lnTo>
                  <a:pt x="6350" y="1059180"/>
                </a:lnTo>
                <a:lnTo>
                  <a:pt x="12700" y="1059180"/>
                </a:lnTo>
                <a:lnTo>
                  <a:pt x="12700" y="1065530"/>
                </a:lnTo>
                <a:close/>
              </a:path>
              <a:path w="5340984" h="1071879">
                <a:moveTo>
                  <a:pt x="5328285" y="1065530"/>
                </a:moveTo>
                <a:lnTo>
                  <a:pt x="12700" y="1065530"/>
                </a:lnTo>
                <a:lnTo>
                  <a:pt x="12700" y="1059180"/>
                </a:lnTo>
                <a:lnTo>
                  <a:pt x="5328285" y="1059180"/>
                </a:lnTo>
                <a:lnTo>
                  <a:pt x="5328285" y="1065530"/>
                </a:lnTo>
                <a:close/>
              </a:path>
              <a:path w="5340984" h="1071879">
                <a:moveTo>
                  <a:pt x="5340985" y="1065530"/>
                </a:moveTo>
                <a:lnTo>
                  <a:pt x="5328285" y="1065530"/>
                </a:lnTo>
                <a:lnTo>
                  <a:pt x="5334635" y="1059180"/>
                </a:lnTo>
                <a:lnTo>
                  <a:pt x="5340985" y="1059180"/>
                </a:lnTo>
                <a:lnTo>
                  <a:pt x="5340985" y="1065530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91484" y="5262245"/>
            <a:ext cx="5329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Animal 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a = 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new</a:t>
            </a:r>
            <a:r>
              <a:rPr sz="1800" b="1" spc="-2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Bird();</a:t>
            </a:r>
            <a:endParaRPr sz="1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引用变量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a.move()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调用的是父类的方法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76165" y="2268766"/>
            <a:ext cx="1968500" cy="960755"/>
          </a:xfrm>
          <a:custGeom>
            <a:avLst/>
            <a:gdLst/>
            <a:ahLst/>
            <a:cxnLst/>
            <a:rect l="l" t="t" r="r" b="b"/>
            <a:pathLst>
              <a:path w="1968500" h="960755">
                <a:moveTo>
                  <a:pt x="1968500" y="960437"/>
                </a:moveTo>
                <a:lnTo>
                  <a:pt x="0" y="960437"/>
                </a:lnTo>
                <a:lnTo>
                  <a:pt x="0" y="0"/>
                </a:lnTo>
                <a:lnTo>
                  <a:pt x="1968500" y="0"/>
                </a:lnTo>
                <a:lnTo>
                  <a:pt x="1968500" y="12699"/>
                </a:lnTo>
                <a:lnTo>
                  <a:pt x="25400" y="12699"/>
                </a:lnTo>
                <a:lnTo>
                  <a:pt x="12700" y="25399"/>
                </a:lnTo>
                <a:lnTo>
                  <a:pt x="25400" y="25399"/>
                </a:lnTo>
                <a:lnTo>
                  <a:pt x="25400" y="935037"/>
                </a:lnTo>
                <a:lnTo>
                  <a:pt x="12700" y="935037"/>
                </a:lnTo>
                <a:lnTo>
                  <a:pt x="25400" y="947737"/>
                </a:lnTo>
                <a:lnTo>
                  <a:pt x="1968500" y="947737"/>
                </a:lnTo>
                <a:lnTo>
                  <a:pt x="1968500" y="960437"/>
                </a:lnTo>
                <a:close/>
              </a:path>
              <a:path w="1968500" h="960755">
                <a:moveTo>
                  <a:pt x="25400" y="25399"/>
                </a:moveTo>
                <a:lnTo>
                  <a:pt x="12700" y="25399"/>
                </a:lnTo>
                <a:lnTo>
                  <a:pt x="25400" y="12699"/>
                </a:lnTo>
                <a:lnTo>
                  <a:pt x="25400" y="25399"/>
                </a:lnTo>
                <a:close/>
              </a:path>
              <a:path w="1968500" h="960755">
                <a:moveTo>
                  <a:pt x="1943100" y="25399"/>
                </a:moveTo>
                <a:lnTo>
                  <a:pt x="25400" y="25399"/>
                </a:lnTo>
                <a:lnTo>
                  <a:pt x="25400" y="12699"/>
                </a:lnTo>
                <a:lnTo>
                  <a:pt x="1943100" y="12699"/>
                </a:lnTo>
                <a:lnTo>
                  <a:pt x="1943100" y="25399"/>
                </a:lnTo>
                <a:close/>
              </a:path>
              <a:path w="1968500" h="960755">
                <a:moveTo>
                  <a:pt x="1943100" y="947737"/>
                </a:moveTo>
                <a:lnTo>
                  <a:pt x="1943100" y="12699"/>
                </a:lnTo>
                <a:lnTo>
                  <a:pt x="1955800" y="25399"/>
                </a:lnTo>
                <a:lnTo>
                  <a:pt x="1968500" y="25399"/>
                </a:lnTo>
                <a:lnTo>
                  <a:pt x="1968500" y="935037"/>
                </a:lnTo>
                <a:lnTo>
                  <a:pt x="1955800" y="935037"/>
                </a:lnTo>
                <a:lnTo>
                  <a:pt x="1943100" y="947737"/>
                </a:lnTo>
                <a:close/>
              </a:path>
              <a:path w="1968500" h="960755">
                <a:moveTo>
                  <a:pt x="1968500" y="25399"/>
                </a:moveTo>
                <a:lnTo>
                  <a:pt x="1955800" y="25399"/>
                </a:lnTo>
                <a:lnTo>
                  <a:pt x="1943100" y="12699"/>
                </a:lnTo>
                <a:lnTo>
                  <a:pt x="1968500" y="12699"/>
                </a:lnTo>
                <a:lnTo>
                  <a:pt x="1968500" y="25399"/>
                </a:lnTo>
                <a:close/>
              </a:path>
              <a:path w="1968500" h="960755">
                <a:moveTo>
                  <a:pt x="25400" y="947737"/>
                </a:moveTo>
                <a:lnTo>
                  <a:pt x="12700" y="935037"/>
                </a:lnTo>
                <a:lnTo>
                  <a:pt x="25400" y="935037"/>
                </a:lnTo>
                <a:lnTo>
                  <a:pt x="25400" y="947737"/>
                </a:lnTo>
                <a:close/>
              </a:path>
              <a:path w="1968500" h="960755">
                <a:moveTo>
                  <a:pt x="1943100" y="947737"/>
                </a:moveTo>
                <a:lnTo>
                  <a:pt x="25400" y="947737"/>
                </a:lnTo>
                <a:lnTo>
                  <a:pt x="25400" y="935037"/>
                </a:lnTo>
                <a:lnTo>
                  <a:pt x="1943100" y="935037"/>
                </a:lnTo>
                <a:lnTo>
                  <a:pt x="1943100" y="947737"/>
                </a:lnTo>
                <a:close/>
              </a:path>
              <a:path w="1968500" h="960755">
                <a:moveTo>
                  <a:pt x="1968500" y="947737"/>
                </a:moveTo>
                <a:lnTo>
                  <a:pt x="1943100" y="947737"/>
                </a:lnTo>
                <a:lnTo>
                  <a:pt x="1955800" y="935037"/>
                </a:lnTo>
                <a:lnTo>
                  <a:pt x="1968500" y="935037"/>
                </a:lnTo>
                <a:lnTo>
                  <a:pt x="1968500" y="947737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88852" y="2620397"/>
            <a:ext cx="1941830" cy="0"/>
          </a:xfrm>
          <a:custGeom>
            <a:avLst/>
            <a:gdLst/>
            <a:ahLst/>
            <a:cxnLst/>
            <a:rect l="l" t="t" r="r" b="b"/>
            <a:pathLst>
              <a:path w="1941829">
                <a:moveTo>
                  <a:pt x="0" y="0"/>
                </a:moveTo>
                <a:lnTo>
                  <a:pt x="19415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6444" y="3708628"/>
            <a:ext cx="1968500" cy="889000"/>
          </a:xfrm>
          <a:custGeom>
            <a:avLst/>
            <a:gdLst/>
            <a:ahLst/>
            <a:cxnLst/>
            <a:rect l="l" t="t" r="r" b="b"/>
            <a:pathLst>
              <a:path w="1968500" h="889000">
                <a:moveTo>
                  <a:pt x="1968499" y="889000"/>
                </a:moveTo>
                <a:lnTo>
                  <a:pt x="0" y="889000"/>
                </a:lnTo>
                <a:lnTo>
                  <a:pt x="0" y="0"/>
                </a:lnTo>
                <a:lnTo>
                  <a:pt x="1968499" y="0"/>
                </a:lnTo>
                <a:lnTo>
                  <a:pt x="1968499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863600"/>
                </a:lnTo>
                <a:lnTo>
                  <a:pt x="12700" y="863600"/>
                </a:lnTo>
                <a:lnTo>
                  <a:pt x="25400" y="876300"/>
                </a:lnTo>
                <a:lnTo>
                  <a:pt x="1968499" y="876300"/>
                </a:lnTo>
                <a:lnTo>
                  <a:pt x="1968499" y="889000"/>
                </a:lnTo>
                <a:close/>
              </a:path>
              <a:path w="1968500" h="8890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889000">
                <a:moveTo>
                  <a:pt x="1943099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099" y="12700"/>
                </a:lnTo>
                <a:lnTo>
                  <a:pt x="1943099" y="25400"/>
                </a:lnTo>
                <a:close/>
              </a:path>
              <a:path w="1968500" h="889000">
                <a:moveTo>
                  <a:pt x="1943099" y="876300"/>
                </a:moveTo>
                <a:lnTo>
                  <a:pt x="1943099" y="12700"/>
                </a:lnTo>
                <a:lnTo>
                  <a:pt x="1955799" y="25400"/>
                </a:lnTo>
                <a:lnTo>
                  <a:pt x="1968499" y="25400"/>
                </a:lnTo>
                <a:lnTo>
                  <a:pt x="1968499" y="863600"/>
                </a:lnTo>
                <a:lnTo>
                  <a:pt x="1955799" y="863600"/>
                </a:lnTo>
                <a:lnTo>
                  <a:pt x="1943099" y="876300"/>
                </a:lnTo>
                <a:close/>
              </a:path>
              <a:path w="1968500" h="889000">
                <a:moveTo>
                  <a:pt x="1968499" y="25400"/>
                </a:moveTo>
                <a:lnTo>
                  <a:pt x="1955799" y="25400"/>
                </a:lnTo>
                <a:lnTo>
                  <a:pt x="1943099" y="12700"/>
                </a:lnTo>
                <a:lnTo>
                  <a:pt x="1968499" y="12700"/>
                </a:lnTo>
                <a:lnTo>
                  <a:pt x="1968499" y="25400"/>
                </a:lnTo>
                <a:close/>
              </a:path>
              <a:path w="1968500" h="889000">
                <a:moveTo>
                  <a:pt x="25400" y="876300"/>
                </a:moveTo>
                <a:lnTo>
                  <a:pt x="12700" y="863600"/>
                </a:lnTo>
                <a:lnTo>
                  <a:pt x="25400" y="863600"/>
                </a:lnTo>
                <a:lnTo>
                  <a:pt x="25400" y="876300"/>
                </a:lnTo>
                <a:close/>
              </a:path>
              <a:path w="1968500" h="889000">
                <a:moveTo>
                  <a:pt x="1943099" y="876300"/>
                </a:moveTo>
                <a:lnTo>
                  <a:pt x="25400" y="876300"/>
                </a:lnTo>
                <a:lnTo>
                  <a:pt x="25400" y="863600"/>
                </a:lnTo>
                <a:lnTo>
                  <a:pt x="1943099" y="863600"/>
                </a:lnTo>
                <a:lnTo>
                  <a:pt x="1943099" y="876300"/>
                </a:lnTo>
                <a:close/>
              </a:path>
              <a:path w="1968500" h="889000">
                <a:moveTo>
                  <a:pt x="1968499" y="876300"/>
                </a:moveTo>
                <a:lnTo>
                  <a:pt x="1943099" y="876300"/>
                </a:lnTo>
                <a:lnTo>
                  <a:pt x="1955799" y="863600"/>
                </a:lnTo>
                <a:lnTo>
                  <a:pt x="1968499" y="863600"/>
                </a:lnTo>
                <a:lnTo>
                  <a:pt x="1968499" y="876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1119" y="3737838"/>
            <a:ext cx="818515" cy="5200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53035" marR="5080" indent="-140335">
              <a:lnSpc>
                <a:spcPct val="103099"/>
              </a:lnSpc>
              <a:spcBef>
                <a:spcPts val="35"/>
              </a:spcBef>
            </a:pPr>
            <a:r>
              <a:rPr sz="1600" dirty="0">
                <a:latin typeface="宋体"/>
                <a:cs typeface="宋体"/>
              </a:rPr>
              <a:t>鸟类</a:t>
            </a:r>
            <a:r>
              <a:rPr sz="1600" spc="-5" dirty="0">
                <a:latin typeface="Book Antiqua"/>
                <a:cs typeface="Book Antiqua"/>
              </a:rPr>
              <a:t>Bi</a:t>
            </a:r>
            <a:r>
              <a:rPr sz="1600" spc="-10" dirty="0">
                <a:latin typeface="Book Antiqua"/>
                <a:cs typeface="Book Antiqua"/>
              </a:rPr>
              <a:t>r</a:t>
            </a:r>
            <a:r>
              <a:rPr sz="1600" spc="-5" dirty="0">
                <a:latin typeface="Book Antiqua"/>
                <a:cs typeface="Book Antiqua"/>
              </a:rPr>
              <a:t>d  sing()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89131" y="4009459"/>
            <a:ext cx="1943735" cy="0"/>
          </a:xfrm>
          <a:custGeom>
            <a:avLst/>
            <a:gdLst/>
            <a:ahLst/>
            <a:cxnLst/>
            <a:rect l="l" t="t" r="r" b="b"/>
            <a:pathLst>
              <a:path w="1943734">
                <a:moveTo>
                  <a:pt x="0" y="0"/>
                </a:moveTo>
                <a:lnTo>
                  <a:pt x="1943112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86031" y="3216490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2540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25400" y="57150"/>
                </a:lnTo>
                <a:lnTo>
                  <a:pt x="25400" y="76200"/>
                </a:lnTo>
                <a:close/>
              </a:path>
              <a:path w="76200" h="504825">
                <a:moveTo>
                  <a:pt x="50800" y="504825"/>
                </a:moveTo>
                <a:lnTo>
                  <a:pt x="25400" y="504825"/>
                </a:lnTo>
                <a:lnTo>
                  <a:pt x="25400" y="57150"/>
                </a:lnTo>
                <a:lnTo>
                  <a:pt x="50800" y="57150"/>
                </a:lnTo>
                <a:lnTo>
                  <a:pt x="50800" y="504825"/>
                </a:lnTo>
                <a:close/>
              </a:path>
              <a:path w="76200" h="504825">
                <a:moveTo>
                  <a:pt x="76200" y="76200"/>
                </a:moveTo>
                <a:lnTo>
                  <a:pt x="50800" y="76200"/>
                </a:lnTo>
                <a:lnTo>
                  <a:pt x="5080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5909" y="1455420"/>
            <a:ext cx="8763000" cy="203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0125">
              <a:lnSpc>
                <a:spcPts val="2265"/>
              </a:lnSpc>
              <a:spcBef>
                <a:spcPts val="100"/>
              </a:spcBef>
            </a:pPr>
            <a:r>
              <a:rPr sz="2100" b="1" dirty="0">
                <a:latin typeface="微软雅黑"/>
                <a:cs typeface="微软雅黑"/>
              </a:rPr>
              <a:t>【说明</a:t>
            </a:r>
            <a:r>
              <a:rPr sz="2100" b="1" spc="-95" dirty="0">
                <a:latin typeface="微软雅黑"/>
                <a:cs typeface="微软雅黑"/>
              </a:rPr>
              <a:t> </a:t>
            </a:r>
            <a:r>
              <a:rPr sz="2100" b="1" dirty="0">
                <a:latin typeface="微软雅黑"/>
                <a:cs typeface="微软雅黑"/>
              </a:rPr>
              <a:t>】如果把子类对象赋给父类引用（将子类对象当</a:t>
            </a:r>
            <a:endParaRPr sz="2100">
              <a:latin typeface="微软雅黑"/>
              <a:cs typeface="微软雅黑"/>
            </a:endParaRPr>
          </a:p>
          <a:p>
            <a:pPr marL="2270125">
              <a:lnSpc>
                <a:spcPts val="2014"/>
              </a:lnSpc>
            </a:pPr>
            <a:r>
              <a:rPr sz="2100" b="1" dirty="0">
                <a:latin typeface="微软雅黑"/>
                <a:cs typeface="微软雅黑"/>
              </a:rPr>
              <a:t>作父类对象看待），那么就只能调用父类中已有的方法</a:t>
            </a:r>
            <a:endParaRPr sz="2100">
              <a:latin typeface="微软雅黑"/>
              <a:cs typeface="微软雅黑"/>
            </a:endParaRPr>
          </a:p>
          <a:p>
            <a:pPr marL="2270125">
              <a:lnSpc>
                <a:spcPts val="2265"/>
              </a:lnSpc>
            </a:pPr>
            <a:r>
              <a:rPr sz="2100" b="1" dirty="0"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  <a:p>
            <a:pPr marL="2165350" algn="ctr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latin typeface="宋体"/>
                <a:cs typeface="宋体"/>
              </a:rPr>
              <a:t>动物类</a:t>
            </a:r>
            <a:r>
              <a:rPr sz="1600" spc="-5" dirty="0">
                <a:latin typeface="Book Antiqua"/>
                <a:cs typeface="Book Antiqua"/>
              </a:rPr>
              <a:t>Animal</a:t>
            </a:r>
            <a:endParaRPr sz="1600">
              <a:latin typeface="Book Antiqua"/>
              <a:cs typeface="Book Antiqua"/>
            </a:endParaRPr>
          </a:p>
          <a:p>
            <a:pPr marL="2114550" algn="ctr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Book Antiqua"/>
                <a:cs typeface="Book Antiqua"/>
              </a:rPr>
              <a:t>move()</a:t>
            </a:r>
            <a:endParaRPr sz="1600">
              <a:latin typeface="Book Antiqua"/>
              <a:cs typeface="Book Antiqua"/>
            </a:endParaRPr>
          </a:p>
          <a:p>
            <a:pPr marL="2164715" algn="ctr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Book Antiqua"/>
                <a:cs typeface="Book Antiqua"/>
              </a:rPr>
              <a:t>eat()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b="1" dirty="0">
                <a:latin typeface="微软雅黑"/>
                <a:cs typeface="微软雅黑"/>
              </a:rPr>
              <a:t>多态的三要素：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295909" y="3734434"/>
            <a:ext cx="231140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继承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重写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向上转型：父类引用指 向子类对象</a:t>
            </a:r>
            <a:r>
              <a:rPr sz="1800" spc="-20" dirty="0">
                <a:solidFill>
                  <a:srgbClr val="FF0000"/>
                </a:solidFill>
                <a:latin typeface="微软雅黑"/>
                <a:cs typeface="微软雅黑"/>
              </a:rPr>
              <a:t>：Parent</a:t>
            </a:r>
            <a:r>
              <a:rPr sz="1800" spc="-6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p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= </a:t>
            </a: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new</a:t>
            </a:r>
            <a:r>
              <a:rPr sz="1800" spc="-1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Child();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1625" y="1481454"/>
            <a:ext cx="6159500" cy="9207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380"/>
              </a:spcBef>
            </a:pPr>
            <a:r>
              <a:rPr sz="2100" b="1" dirty="0">
                <a:latin typeface="微软雅黑"/>
                <a:cs typeface="微软雅黑"/>
              </a:rPr>
              <a:t>【说明</a:t>
            </a:r>
            <a:r>
              <a:rPr sz="2100" b="1" spc="-35" dirty="0">
                <a:latin typeface="微软雅黑"/>
                <a:cs typeface="微软雅黑"/>
              </a:rPr>
              <a:t> </a:t>
            </a:r>
            <a:r>
              <a:rPr sz="2100" b="1" dirty="0">
                <a:latin typeface="微软雅黑"/>
                <a:cs typeface="微软雅黑"/>
              </a:rPr>
              <a:t>】如果子类把父类方法覆盖了，再把子类对 象赋给父类引用，通过父类引用调用该方法时，调用 的是子类重写之后的方法。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6300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1</a:t>
            </a:r>
            <a:r>
              <a:rPr sz="2100" u="none" dirty="0"/>
              <a:t>.1	多态性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382524" y="1557527"/>
            <a:ext cx="1292352" cy="1417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6891" y="3417087"/>
            <a:ext cx="1968500" cy="960755"/>
          </a:xfrm>
          <a:custGeom>
            <a:avLst/>
            <a:gdLst/>
            <a:ahLst/>
            <a:cxnLst/>
            <a:rect l="l" t="t" r="r" b="b"/>
            <a:pathLst>
              <a:path w="1968500" h="960754">
                <a:moveTo>
                  <a:pt x="1968500" y="960437"/>
                </a:moveTo>
                <a:lnTo>
                  <a:pt x="0" y="960437"/>
                </a:lnTo>
                <a:lnTo>
                  <a:pt x="0" y="0"/>
                </a:lnTo>
                <a:lnTo>
                  <a:pt x="1968500" y="0"/>
                </a:lnTo>
                <a:lnTo>
                  <a:pt x="19685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935037"/>
                </a:lnTo>
                <a:lnTo>
                  <a:pt x="12700" y="935037"/>
                </a:lnTo>
                <a:lnTo>
                  <a:pt x="25400" y="947737"/>
                </a:lnTo>
                <a:lnTo>
                  <a:pt x="1968500" y="947737"/>
                </a:lnTo>
                <a:lnTo>
                  <a:pt x="1968500" y="960437"/>
                </a:lnTo>
                <a:close/>
              </a:path>
              <a:path w="1968500" h="960754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960754">
                <a:moveTo>
                  <a:pt x="19431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100" y="12700"/>
                </a:lnTo>
                <a:lnTo>
                  <a:pt x="1943100" y="25400"/>
                </a:lnTo>
                <a:close/>
              </a:path>
              <a:path w="1968500" h="960754">
                <a:moveTo>
                  <a:pt x="1943100" y="947737"/>
                </a:moveTo>
                <a:lnTo>
                  <a:pt x="1943100" y="12700"/>
                </a:lnTo>
                <a:lnTo>
                  <a:pt x="1955800" y="25400"/>
                </a:lnTo>
                <a:lnTo>
                  <a:pt x="1968500" y="25400"/>
                </a:lnTo>
                <a:lnTo>
                  <a:pt x="1968500" y="935037"/>
                </a:lnTo>
                <a:lnTo>
                  <a:pt x="1955800" y="935037"/>
                </a:lnTo>
                <a:lnTo>
                  <a:pt x="1943100" y="947737"/>
                </a:lnTo>
                <a:close/>
              </a:path>
              <a:path w="1968500" h="960754">
                <a:moveTo>
                  <a:pt x="1968500" y="25400"/>
                </a:moveTo>
                <a:lnTo>
                  <a:pt x="1955800" y="25400"/>
                </a:lnTo>
                <a:lnTo>
                  <a:pt x="1943100" y="12700"/>
                </a:lnTo>
                <a:lnTo>
                  <a:pt x="1968500" y="12700"/>
                </a:lnTo>
                <a:lnTo>
                  <a:pt x="1968500" y="25400"/>
                </a:lnTo>
                <a:close/>
              </a:path>
              <a:path w="1968500" h="960754">
                <a:moveTo>
                  <a:pt x="25400" y="947737"/>
                </a:moveTo>
                <a:lnTo>
                  <a:pt x="12700" y="935037"/>
                </a:lnTo>
                <a:lnTo>
                  <a:pt x="25400" y="935037"/>
                </a:lnTo>
                <a:lnTo>
                  <a:pt x="25400" y="947737"/>
                </a:lnTo>
                <a:close/>
              </a:path>
              <a:path w="1968500" h="960754">
                <a:moveTo>
                  <a:pt x="1943100" y="947737"/>
                </a:moveTo>
                <a:lnTo>
                  <a:pt x="25400" y="947737"/>
                </a:lnTo>
                <a:lnTo>
                  <a:pt x="25400" y="935037"/>
                </a:lnTo>
                <a:lnTo>
                  <a:pt x="1943100" y="935037"/>
                </a:lnTo>
                <a:lnTo>
                  <a:pt x="1943100" y="947737"/>
                </a:lnTo>
                <a:close/>
              </a:path>
              <a:path w="1968500" h="960754">
                <a:moveTo>
                  <a:pt x="1968500" y="947737"/>
                </a:moveTo>
                <a:lnTo>
                  <a:pt x="1943100" y="947737"/>
                </a:lnTo>
                <a:lnTo>
                  <a:pt x="1955800" y="935037"/>
                </a:lnTo>
                <a:lnTo>
                  <a:pt x="1968500" y="935037"/>
                </a:lnTo>
                <a:lnTo>
                  <a:pt x="1968500" y="947737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15821" y="3451377"/>
            <a:ext cx="13106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宋体"/>
                <a:cs typeface="宋体"/>
              </a:rPr>
              <a:t>动物类</a:t>
            </a:r>
            <a:r>
              <a:rPr sz="1600" spc="-5" dirty="0">
                <a:latin typeface="Book Antiqua"/>
                <a:cs typeface="Book Antiqua"/>
              </a:rPr>
              <a:t>Ani</a:t>
            </a:r>
            <a:r>
              <a:rPr sz="1600" dirty="0">
                <a:latin typeface="Book Antiqua"/>
                <a:cs typeface="Book Antiqua"/>
              </a:rPr>
              <a:t>m</a:t>
            </a:r>
            <a:r>
              <a:rPr sz="1600" spc="-5" dirty="0">
                <a:latin typeface="Book Antiqua"/>
                <a:cs typeface="Book Antiqua"/>
              </a:rPr>
              <a:t>al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3636" y="3694455"/>
            <a:ext cx="664210" cy="6096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latin typeface="Book Antiqua"/>
                <a:cs typeface="Book Antiqua"/>
              </a:rPr>
              <a:t>m</a:t>
            </a:r>
            <a:r>
              <a:rPr sz="1600" spc="-5" dirty="0">
                <a:latin typeface="Book Antiqua"/>
                <a:cs typeface="Book Antiqua"/>
              </a:rPr>
              <a:t>ove()</a:t>
            </a:r>
            <a:endParaRPr sz="1600">
              <a:latin typeface="Book Antiqua"/>
              <a:cs typeface="Book Antiqua"/>
            </a:endParaRPr>
          </a:p>
          <a:p>
            <a:pPr marL="49530" algn="ctr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Book Antiqua"/>
                <a:cs typeface="Book Antiqua"/>
              </a:rPr>
              <a:t>eat()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9579" y="3768718"/>
            <a:ext cx="1941830" cy="0"/>
          </a:xfrm>
          <a:custGeom>
            <a:avLst/>
            <a:gdLst/>
            <a:ahLst/>
            <a:cxnLst/>
            <a:rect l="l" t="t" r="r" b="b"/>
            <a:pathLst>
              <a:path w="1941830">
                <a:moveTo>
                  <a:pt x="0" y="0"/>
                </a:moveTo>
                <a:lnTo>
                  <a:pt x="19415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7171" y="4856950"/>
            <a:ext cx="1968500" cy="889000"/>
          </a:xfrm>
          <a:custGeom>
            <a:avLst/>
            <a:gdLst/>
            <a:ahLst/>
            <a:cxnLst/>
            <a:rect l="l" t="t" r="r" b="b"/>
            <a:pathLst>
              <a:path w="1968500" h="889000">
                <a:moveTo>
                  <a:pt x="1968487" y="889000"/>
                </a:moveTo>
                <a:lnTo>
                  <a:pt x="0" y="889000"/>
                </a:lnTo>
                <a:lnTo>
                  <a:pt x="0" y="0"/>
                </a:lnTo>
                <a:lnTo>
                  <a:pt x="1968487" y="0"/>
                </a:lnTo>
                <a:lnTo>
                  <a:pt x="1968487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863600"/>
                </a:lnTo>
                <a:lnTo>
                  <a:pt x="12700" y="863600"/>
                </a:lnTo>
                <a:lnTo>
                  <a:pt x="25400" y="876300"/>
                </a:lnTo>
                <a:lnTo>
                  <a:pt x="1968487" y="876300"/>
                </a:lnTo>
                <a:lnTo>
                  <a:pt x="1968487" y="889000"/>
                </a:lnTo>
                <a:close/>
              </a:path>
              <a:path w="1968500" h="8890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889000">
                <a:moveTo>
                  <a:pt x="1943087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087" y="12700"/>
                </a:lnTo>
                <a:lnTo>
                  <a:pt x="1943087" y="25400"/>
                </a:lnTo>
                <a:close/>
              </a:path>
              <a:path w="1968500" h="889000">
                <a:moveTo>
                  <a:pt x="1943087" y="876300"/>
                </a:moveTo>
                <a:lnTo>
                  <a:pt x="1943087" y="12700"/>
                </a:lnTo>
                <a:lnTo>
                  <a:pt x="1955787" y="25400"/>
                </a:lnTo>
                <a:lnTo>
                  <a:pt x="1968487" y="25400"/>
                </a:lnTo>
                <a:lnTo>
                  <a:pt x="1968487" y="863600"/>
                </a:lnTo>
                <a:lnTo>
                  <a:pt x="1955787" y="863600"/>
                </a:lnTo>
                <a:lnTo>
                  <a:pt x="1943087" y="876300"/>
                </a:lnTo>
                <a:close/>
              </a:path>
              <a:path w="1968500" h="889000">
                <a:moveTo>
                  <a:pt x="1968487" y="25400"/>
                </a:moveTo>
                <a:lnTo>
                  <a:pt x="1955787" y="25400"/>
                </a:lnTo>
                <a:lnTo>
                  <a:pt x="1943087" y="12700"/>
                </a:lnTo>
                <a:lnTo>
                  <a:pt x="1968487" y="12700"/>
                </a:lnTo>
                <a:lnTo>
                  <a:pt x="1968487" y="25400"/>
                </a:lnTo>
                <a:close/>
              </a:path>
              <a:path w="1968500" h="889000">
                <a:moveTo>
                  <a:pt x="25400" y="876300"/>
                </a:moveTo>
                <a:lnTo>
                  <a:pt x="12700" y="863600"/>
                </a:lnTo>
                <a:lnTo>
                  <a:pt x="25400" y="863600"/>
                </a:lnTo>
                <a:lnTo>
                  <a:pt x="25400" y="876300"/>
                </a:lnTo>
                <a:close/>
              </a:path>
              <a:path w="1968500" h="889000">
                <a:moveTo>
                  <a:pt x="1943087" y="876300"/>
                </a:moveTo>
                <a:lnTo>
                  <a:pt x="25400" y="876300"/>
                </a:lnTo>
                <a:lnTo>
                  <a:pt x="25400" y="863600"/>
                </a:lnTo>
                <a:lnTo>
                  <a:pt x="1943087" y="863600"/>
                </a:lnTo>
                <a:lnTo>
                  <a:pt x="1943087" y="876300"/>
                </a:lnTo>
                <a:close/>
              </a:path>
              <a:path w="1968500" h="889000">
                <a:moveTo>
                  <a:pt x="1968487" y="876300"/>
                </a:moveTo>
                <a:lnTo>
                  <a:pt x="1943087" y="876300"/>
                </a:lnTo>
                <a:lnTo>
                  <a:pt x="1955787" y="863600"/>
                </a:lnTo>
                <a:lnTo>
                  <a:pt x="1968487" y="863600"/>
                </a:lnTo>
                <a:lnTo>
                  <a:pt x="1968487" y="876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61846" y="4886159"/>
            <a:ext cx="818515" cy="5200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4769" marR="5080" indent="-52069">
              <a:lnSpc>
                <a:spcPct val="103099"/>
              </a:lnSpc>
              <a:spcBef>
                <a:spcPts val="35"/>
              </a:spcBef>
            </a:pPr>
            <a:r>
              <a:rPr sz="1600" dirty="0">
                <a:latin typeface="宋体"/>
                <a:cs typeface="宋体"/>
              </a:rPr>
              <a:t>鸟类</a:t>
            </a:r>
            <a:r>
              <a:rPr sz="1600" spc="-5" dirty="0">
                <a:latin typeface="Book Antiqua"/>
                <a:cs typeface="Book Antiqua"/>
              </a:rPr>
              <a:t>Bi</a:t>
            </a:r>
            <a:r>
              <a:rPr sz="1600" spc="-10" dirty="0">
                <a:latin typeface="Book Antiqua"/>
                <a:cs typeface="Book Antiqua"/>
              </a:rPr>
              <a:t>r</a:t>
            </a:r>
            <a:r>
              <a:rPr sz="1600" spc="-5" dirty="0">
                <a:latin typeface="Book Antiqua"/>
                <a:cs typeface="Book Antiqua"/>
              </a:rPr>
              <a:t>d  move()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181" y="5381459"/>
            <a:ext cx="5378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Book Antiqua"/>
                <a:cs typeface="Book Antiqua"/>
              </a:rPr>
              <a:t>sing()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9858" y="5157781"/>
            <a:ext cx="1943735" cy="0"/>
          </a:xfrm>
          <a:custGeom>
            <a:avLst/>
            <a:gdLst/>
            <a:ahLst/>
            <a:cxnLst/>
            <a:rect l="l" t="t" r="r" b="b"/>
            <a:pathLst>
              <a:path w="1943735">
                <a:moveTo>
                  <a:pt x="0" y="0"/>
                </a:moveTo>
                <a:lnTo>
                  <a:pt x="1943112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757" y="43648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2540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25400" y="57150"/>
                </a:lnTo>
                <a:lnTo>
                  <a:pt x="25400" y="76200"/>
                </a:lnTo>
                <a:close/>
              </a:path>
              <a:path w="76200" h="504825">
                <a:moveTo>
                  <a:pt x="50800" y="504825"/>
                </a:moveTo>
                <a:lnTo>
                  <a:pt x="25400" y="504825"/>
                </a:lnTo>
                <a:lnTo>
                  <a:pt x="25400" y="57150"/>
                </a:lnTo>
                <a:lnTo>
                  <a:pt x="50800" y="57150"/>
                </a:lnTo>
                <a:lnTo>
                  <a:pt x="50800" y="504825"/>
                </a:lnTo>
                <a:close/>
              </a:path>
              <a:path w="76200" h="504825">
                <a:moveTo>
                  <a:pt x="76200" y="76200"/>
                </a:moveTo>
                <a:lnTo>
                  <a:pt x="50800" y="76200"/>
                </a:lnTo>
                <a:lnTo>
                  <a:pt x="5080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52671" y="2852927"/>
            <a:ext cx="4608830" cy="2087880"/>
          </a:xfrm>
          <a:prstGeom prst="rect">
            <a:avLst/>
          </a:prstGeom>
          <a:solidFill>
            <a:srgbClr val="00800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800" b="1" dirty="0">
                <a:solidFill>
                  <a:srgbClr val="FFFFFF"/>
                </a:solidFill>
                <a:latin typeface="Book Antiqua"/>
                <a:cs typeface="Book Antiqua"/>
              </a:rPr>
              <a:t>public class </a:t>
            </a:r>
            <a:r>
              <a:rPr sz="1800" spc="-5" dirty="0">
                <a:solidFill>
                  <a:srgbClr val="FFFFFF"/>
                </a:solidFill>
                <a:latin typeface="Book Antiqua"/>
                <a:cs typeface="Book Antiqua"/>
              </a:rPr>
              <a:t>Test</a:t>
            </a:r>
            <a:r>
              <a:rPr sz="1800" spc="-1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800" dirty="0">
                <a:solidFill>
                  <a:srgbClr val="FFFFFF"/>
                </a:solidFill>
                <a:latin typeface="Book Antiqua"/>
                <a:cs typeface="Book Antiqua"/>
              </a:rPr>
              <a:t>{</a:t>
            </a:r>
            <a:endParaRPr sz="1800">
              <a:latin typeface="Book Antiqua"/>
              <a:cs typeface="Book Antiqua"/>
            </a:endParaRPr>
          </a:p>
          <a:p>
            <a:pPr marL="433705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Book Antiqua"/>
                <a:cs typeface="Book Antiqua"/>
              </a:rPr>
              <a:t>public static </a:t>
            </a:r>
            <a:r>
              <a:rPr sz="1800" b="1" spc="-5" dirty="0">
                <a:solidFill>
                  <a:srgbClr val="FFFFFF"/>
                </a:solidFill>
                <a:latin typeface="Book Antiqua"/>
                <a:cs typeface="Book Antiqua"/>
              </a:rPr>
              <a:t>void </a:t>
            </a:r>
            <a:r>
              <a:rPr sz="1800" spc="-5" dirty="0">
                <a:solidFill>
                  <a:srgbClr val="FFFFFF"/>
                </a:solidFill>
                <a:latin typeface="Book Antiqua"/>
                <a:cs typeface="Book Antiqua"/>
              </a:rPr>
              <a:t>main(String[] args) </a:t>
            </a:r>
            <a:r>
              <a:rPr sz="1800" dirty="0">
                <a:solidFill>
                  <a:srgbClr val="FFFFFF"/>
                </a:solidFill>
                <a:latin typeface="Book Antiqua"/>
                <a:cs typeface="Book Antiqua"/>
              </a:rPr>
              <a:t>{</a:t>
            </a:r>
            <a:endParaRPr sz="1800">
              <a:latin typeface="Book Antiqua"/>
              <a:cs typeface="Book Antiqua"/>
            </a:endParaRPr>
          </a:p>
          <a:p>
            <a:pPr marL="1005205" marR="975360" indent="57150">
              <a:lnSpc>
                <a:spcPct val="993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Book Antiqua"/>
                <a:cs typeface="Book Antiqua"/>
              </a:rPr>
              <a:t>//</a:t>
            </a:r>
            <a:r>
              <a:rPr sz="1800" dirty="0">
                <a:solidFill>
                  <a:srgbClr val="FFFFFF"/>
                </a:solidFill>
                <a:latin typeface="宋体"/>
                <a:cs typeface="宋体"/>
              </a:rPr>
              <a:t>子类对象送给父类引用  </a:t>
            </a:r>
            <a:r>
              <a:rPr sz="1800" b="1" spc="-5" dirty="0">
                <a:solidFill>
                  <a:srgbClr val="FFFFFF"/>
                </a:solidFill>
                <a:latin typeface="Book Antiqua"/>
                <a:cs typeface="Book Antiqua"/>
              </a:rPr>
              <a:t>Animal </a:t>
            </a:r>
            <a:r>
              <a:rPr sz="1800" b="1" dirty="0">
                <a:solidFill>
                  <a:srgbClr val="FFFFFF"/>
                </a:solidFill>
                <a:latin typeface="Book Antiqua"/>
                <a:cs typeface="Book Antiqua"/>
              </a:rPr>
              <a:t>a = new </a:t>
            </a:r>
            <a:r>
              <a:rPr sz="1800" b="1" spc="-5" dirty="0">
                <a:solidFill>
                  <a:srgbClr val="FFFFFF"/>
                </a:solidFill>
                <a:latin typeface="Book Antiqua"/>
                <a:cs typeface="Book Antiqua"/>
              </a:rPr>
              <a:t>Bird();  </a:t>
            </a:r>
            <a:r>
              <a:rPr sz="2000" b="1" spc="-5" dirty="0">
                <a:solidFill>
                  <a:srgbClr val="FFC000"/>
                </a:solidFill>
                <a:latin typeface="Book Antiqua"/>
                <a:cs typeface="Book Antiqua"/>
              </a:rPr>
              <a:t>a.move();</a:t>
            </a:r>
            <a:endParaRPr sz="2000">
              <a:latin typeface="Book Antiqua"/>
              <a:cs typeface="Book Antiqua"/>
            </a:endParaRPr>
          </a:p>
          <a:p>
            <a:pPr marL="433705">
              <a:lnSpc>
                <a:spcPct val="100000"/>
              </a:lnSpc>
              <a:spcBef>
                <a:spcPts val="30"/>
              </a:spcBef>
            </a:pPr>
            <a:r>
              <a:rPr sz="1800" dirty="0">
                <a:solidFill>
                  <a:srgbClr val="FFFFFF"/>
                </a:solidFill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93008" y="5158740"/>
            <a:ext cx="5328285" cy="647700"/>
          </a:xfrm>
          <a:custGeom>
            <a:avLst/>
            <a:gdLst/>
            <a:ahLst/>
            <a:cxnLst/>
            <a:rect l="l" t="t" r="r" b="b"/>
            <a:pathLst>
              <a:path w="5328284" h="647700">
                <a:moveTo>
                  <a:pt x="0" y="0"/>
                </a:moveTo>
                <a:lnTo>
                  <a:pt x="5327903" y="0"/>
                </a:lnTo>
                <a:lnTo>
                  <a:pt x="532790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86137" y="5152097"/>
            <a:ext cx="5341620" cy="661035"/>
          </a:xfrm>
          <a:custGeom>
            <a:avLst/>
            <a:gdLst/>
            <a:ahLst/>
            <a:cxnLst/>
            <a:rect l="l" t="t" r="r" b="b"/>
            <a:pathLst>
              <a:path w="5341620" h="661035">
                <a:moveTo>
                  <a:pt x="5341289" y="660780"/>
                </a:moveTo>
                <a:lnTo>
                  <a:pt x="0" y="660780"/>
                </a:lnTo>
                <a:lnTo>
                  <a:pt x="0" y="0"/>
                </a:lnTo>
                <a:lnTo>
                  <a:pt x="5341289" y="0"/>
                </a:lnTo>
                <a:lnTo>
                  <a:pt x="5341289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48080"/>
                </a:lnTo>
                <a:lnTo>
                  <a:pt x="6350" y="648080"/>
                </a:lnTo>
                <a:lnTo>
                  <a:pt x="12700" y="654430"/>
                </a:lnTo>
                <a:lnTo>
                  <a:pt x="5341289" y="654430"/>
                </a:lnTo>
                <a:lnTo>
                  <a:pt x="5341289" y="660780"/>
                </a:lnTo>
                <a:close/>
              </a:path>
              <a:path w="5341620" h="66103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5341620" h="661035">
                <a:moveTo>
                  <a:pt x="5328589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5328589" y="6350"/>
                </a:lnTo>
                <a:lnTo>
                  <a:pt x="5328589" y="12700"/>
                </a:lnTo>
                <a:close/>
              </a:path>
              <a:path w="5341620" h="661035">
                <a:moveTo>
                  <a:pt x="5328589" y="654430"/>
                </a:moveTo>
                <a:lnTo>
                  <a:pt x="5328589" y="6350"/>
                </a:lnTo>
                <a:lnTo>
                  <a:pt x="5334939" y="12700"/>
                </a:lnTo>
                <a:lnTo>
                  <a:pt x="5341289" y="12700"/>
                </a:lnTo>
                <a:lnTo>
                  <a:pt x="5341289" y="648080"/>
                </a:lnTo>
                <a:lnTo>
                  <a:pt x="5334939" y="648080"/>
                </a:lnTo>
                <a:lnTo>
                  <a:pt x="5328589" y="654430"/>
                </a:lnTo>
                <a:close/>
              </a:path>
              <a:path w="5341620" h="661035">
                <a:moveTo>
                  <a:pt x="5341289" y="12700"/>
                </a:moveTo>
                <a:lnTo>
                  <a:pt x="5334939" y="12700"/>
                </a:lnTo>
                <a:lnTo>
                  <a:pt x="5328589" y="6350"/>
                </a:lnTo>
                <a:lnTo>
                  <a:pt x="5341289" y="6350"/>
                </a:lnTo>
                <a:lnTo>
                  <a:pt x="5341289" y="12700"/>
                </a:lnTo>
                <a:close/>
              </a:path>
              <a:path w="5341620" h="661035">
                <a:moveTo>
                  <a:pt x="12700" y="654430"/>
                </a:moveTo>
                <a:lnTo>
                  <a:pt x="6350" y="648080"/>
                </a:lnTo>
                <a:lnTo>
                  <a:pt x="12700" y="648080"/>
                </a:lnTo>
                <a:lnTo>
                  <a:pt x="12700" y="654430"/>
                </a:lnTo>
                <a:close/>
              </a:path>
              <a:path w="5341620" h="661035">
                <a:moveTo>
                  <a:pt x="5328589" y="654430"/>
                </a:moveTo>
                <a:lnTo>
                  <a:pt x="12700" y="654430"/>
                </a:lnTo>
                <a:lnTo>
                  <a:pt x="12700" y="648080"/>
                </a:lnTo>
                <a:lnTo>
                  <a:pt x="5328589" y="648080"/>
                </a:lnTo>
                <a:lnTo>
                  <a:pt x="5328589" y="654430"/>
                </a:lnTo>
                <a:close/>
              </a:path>
              <a:path w="5341620" h="661035">
                <a:moveTo>
                  <a:pt x="5341289" y="654430"/>
                </a:moveTo>
                <a:lnTo>
                  <a:pt x="5328589" y="654430"/>
                </a:lnTo>
                <a:lnTo>
                  <a:pt x="5334939" y="648080"/>
                </a:lnTo>
                <a:lnTo>
                  <a:pt x="5341289" y="648080"/>
                </a:lnTo>
                <a:lnTo>
                  <a:pt x="5341289" y="654430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93008" y="5181307"/>
            <a:ext cx="5328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0725" marR="713740" indent="65214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Animal 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a = 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new Bird();  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a.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o</a:t>
            </a:r>
            <a:r>
              <a:rPr sz="1800" b="1" spc="-20" dirty="0">
                <a:solidFill>
                  <a:srgbClr val="FFFFFF"/>
                </a:solidFill>
                <a:latin typeface="微软雅黑"/>
                <a:cs typeface="微软雅黑"/>
              </a:rPr>
              <a:t>v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e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()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执行的是谁的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o</a:t>
            </a:r>
            <a:r>
              <a:rPr sz="1800" b="1" spc="-20" dirty="0">
                <a:solidFill>
                  <a:srgbClr val="FFFFFF"/>
                </a:solidFill>
                <a:latin typeface="微软雅黑"/>
                <a:cs typeface="微软雅黑"/>
              </a:rPr>
              <a:t>v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e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()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方法？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3335" y="1481454"/>
            <a:ext cx="11715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微软雅黑"/>
                <a:cs typeface="微软雅黑"/>
              </a:rPr>
              <a:t>【小结</a:t>
            </a:r>
            <a:r>
              <a:rPr sz="2100" b="1" spc="-95" dirty="0">
                <a:latin typeface="微软雅黑"/>
                <a:cs typeface="微软雅黑"/>
              </a:rPr>
              <a:t> </a:t>
            </a:r>
            <a:r>
              <a:rPr sz="2100" b="1" dirty="0">
                <a:latin typeface="微软雅黑"/>
                <a:cs typeface="微软雅黑"/>
              </a:rPr>
              <a:t>】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3335" y="2236469"/>
            <a:ext cx="571436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75"/>
              </a:spcBef>
            </a:pPr>
            <a:r>
              <a:rPr sz="2800" u="none" dirty="0"/>
              <a:t>在继承层次中，把子类对象赋给父</a:t>
            </a:r>
            <a:r>
              <a:rPr sz="2800" u="none" spc="-5" dirty="0"/>
              <a:t>类 </a:t>
            </a:r>
            <a:r>
              <a:rPr sz="2800" u="none" dirty="0"/>
              <a:t>引用后</a:t>
            </a:r>
            <a:r>
              <a:rPr sz="2800" u="none" spc="-5" dirty="0"/>
              <a:t>：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553335" y="3046095"/>
            <a:ext cx="5816600" cy="12979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b="1" dirty="0">
                <a:latin typeface="微软雅黑"/>
                <a:cs typeface="微软雅黑"/>
              </a:rPr>
              <a:t>父类中没有的方法不能调用；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15999"/>
              </a:lnSpc>
            </a:pPr>
            <a:r>
              <a:rPr sz="2400" b="1" dirty="0">
                <a:latin typeface="微软雅黑"/>
                <a:cs typeface="微软雅黑"/>
              </a:rPr>
              <a:t>子类没有重写的方法，执行父类方法行为； 子类重写的方法，执行子类的方法行为。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3652" y="370700"/>
            <a:ext cx="16300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1</a:t>
            </a:r>
            <a:r>
              <a:rPr sz="2100" b="1" dirty="0">
                <a:latin typeface="微软雅黑"/>
                <a:cs typeface="微软雅黑"/>
              </a:rPr>
              <a:t>.1	多态性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4276" y="1629155"/>
            <a:ext cx="1223772" cy="1467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6300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1</a:t>
            </a:r>
            <a:r>
              <a:rPr sz="2100" u="none" dirty="0"/>
              <a:t>.1	多态性</a:t>
            </a:r>
            <a:endParaRPr sz="2100"/>
          </a:p>
        </p:txBody>
      </p:sp>
      <p:sp>
        <p:nvSpPr>
          <p:cNvPr id="3" name="object 3"/>
          <p:cNvSpPr txBox="1"/>
          <p:nvPr/>
        </p:nvSpPr>
        <p:spPr>
          <a:xfrm>
            <a:off x="4175759" y="2711195"/>
            <a:ext cx="4572000" cy="1310640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170" marR="1787525">
              <a:lnSpc>
                <a:spcPct val="110000"/>
              </a:lnSpc>
              <a:spcBef>
                <a:spcPts val="225"/>
              </a:spcBef>
            </a:pPr>
            <a:r>
              <a:rPr sz="1800" spc="-10" dirty="0">
                <a:latin typeface="Calibri"/>
                <a:cs typeface="Calibri"/>
              </a:rPr>
              <a:t>Bird </a:t>
            </a:r>
            <a:r>
              <a:rPr sz="1800" dirty="0">
                <a:latin typeface="Calibri"/>
                <a:cs typeface="Calibri"/>
              </a:rPr>
              <a:t>b = </a:t>
            </a:r>
            <a:r>
              <a:rPr sz="1800" b="1" spc="-10" dirty="0">
                <a:latin typeface="Calibri"/>
                <a:cs typeface="Calibri"/>
              </a:rPr>
              <a:t>new </a:t>
            </a:r>
            <a:r>
              <a:rPr sz="1800" spc="-10" dirty="0">
                <a:latin typeface="Calibri"/>
                <a:cs typeface="Calibri"/>
              </a:rPr>
              <a:t>Bird("bird1", </a:t>
            </a:r>
            <a:r>
              <a:rPr sz="1800" spc="-5" dirty="0">
                <a:latin typeface="Calibri"/>
                <a:cs typeface="Calibri"/>
              </a:rPr>
              <a:t>4);  </a:t>
            </a:r>
            <a:r>
              <a:rPr sz="1800" spc="-10" dirty="0">
                <a:latin typeface="Calibri"/>
                <a:cs typeface="Calibri"/>
              </a:rPr>
              <a:t>b.move();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latin typeface="Calibri"/>
                <a:cs typeface="Calibri"/>
              </a:rPr>
              <a:t>b.sing();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215"/>
              </a:spcBef>
            </a:pPr>
            <a:r>
              <a:rPr sz="1800" spc="-10" dirty="0">
                <a:latin typeface="Calibri"/>
                <a:cs typeface="Calibri"/>
              </a:rPr>
              <a:t>b.eat();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5759" y="1440180"/>
            <a:ext cx="4607560" cy="1080770"/>
          </a:xfrm>
          <a:prstGeom prst="rect">
            <a:avLst/>
          </a:prstGeom>
          <a:solidFill>
            <a:srgbClr val="00800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Animal a1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Animal("animal1",20);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a1.move();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a1.eat();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75759" y="4369308"/>
            <a:ext cx="4572000" cy="1529080"/>
          </a:xfrm>
          <a:custGeom>
            <a:avLst/>
            <a:gdLst/>
            <a:ahLst/>
            <a:cxnLst/>
            <a:rect l="l" t="t" r="r" b="b"/>
            <a:pathLst>
              <a:path w="4572000" h="1529079">
                <a:moveTo>
                  <a:pt x="0" y="0"/>
                </a:moveTo>
                <a:lnTo>
                  <a:pt x="4571999" y="0"/>
                </a:lnTo>
                <a:lnTo>
                  <a:pt x="4571999" y="1528572"/>
                </a:lnTo>
                <a:lnTo>
                  <a:pt x="0" y="1528572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53865" y="4457065"/>
            <a:ext cx="2937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Animal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a2=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Bird("bird2",4);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3865" y="4731384"/>
            <a:ext cx="1024890" cy="10941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a2.sing();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a2.eat();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a2.move();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4387" y="1475105"/>
            <a:ext cx="1968500" cy="960755"/>
          </a:xfrm>
          <a:custGeom>
            <a:avLst/>
            <a:gdLst/>
            <a:ahLst/>
            <a:cxnLst/>
            <a:rect l="l" t="t" r="r" b="b"/>
            <a:pathLst>
              <a:path w="1968500" h="960755">
                <a:moveTo>
                  <a:pt x="1968500" y="960437"/>
                </a:moveTo>
                <a:lnTo>
                  <a:pt x="0" y="960437"/>
                </a:lnTo>
                <a:lnTo>
                  <a:pt x="0" y="0"/>
                </a:lnTo>
                <a:lnTo>
                  <a:pt x="1968500" y="0"/>
                </a:lnTo>
                <a:lnTo>
                  <a:pt x="19685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935037"/>
                </a:lnTo>
                <a:lnTo>
                  <a:pt x="12700" y="935037"/>
                </a:lnTo>
                <a:lnTo>
                  <a:pt x="25400" y="947737"/>
                </a:lnTo>
                <a:lnTo>
                  <a:pt x="1968500" y="947737"/>
                </a:lnTo>
                <a:lnTo>
                  <a:pt x="1968500" y="960437"/>
                </a:lnTo>
                <a:close/>
              </a:path>
              <a:path w="1968500" h="96075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960755">
                <a:moveTo>
                  <a:pt x="19431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100" y="12700"/>
                </a:lnTo>
                <a:lnTo>
                  <a:pt x="1943100" y="25400"/>
                </a:lnTo>
                <a:close/>
              </a:path>
              <a:path w="1968500" h="960755">
                <a:moveTo>
                  <a:pt x="1943100" y="947737"/>
                </a:moveTo>
                <a:lnTo>
                  <a:pt x="1943100" y="12700"/>
                </a:lnTo>
                <a:lnTo>
                  <a:pt x="1955800" y="25400"/>
                </a:lnTo>
                <a:lnTo>
                  <a:pt x="1968500" y="25400"/>
                </a:lnTo>
                <a:lnTo>
                  <a:pt x="1968500" y="935037"/>
                </a:lnTo>
                <a:lnTo>
                  <a:pt x="1955800" y="935037"/>
                </a:lnTo>
                <a:lnTo>
                  <a:pt x="1943100" y="947737"/>
                </a:lnTo>
                <a:close/>
              </a:path>
              <a:path w="1968500" h="960755">
                <a:moveTo>
                  <a:pt x="1968500" y="25400"/>
                </a:moveTo>
                <a:lnTo>
                  <a:pt x="1955800" y="25400"/>
                </a:lnTo>
                <a:lnTo>
                  <a:pt x="1943100" y="12700"/>
                </a:lnTo>
                <a:lnTo>
                  <a:pt x="1968500" y="12700"/>
                </a:lnTo>
                <a:lnTo>
                  <a:pt x="1968500" y="25400"/>
                </a:lnTo>
                <a:close/>
              </a:path>
              <a:path w="1968500" h="960755">
                <a:moveTo>
                  <a:pt x="25400" y="947737"/>
                </a:moveTo>
                <a:lnTo>
                  <a:pt x="12700" y="935037"/>
                </a:lnTo>
                <a:lnTo>
                  <a:pt x="25400" y="935037"/>
                </a:lnTo>
                <a:lnTo>
                  <a:pt x="25400" y="947737"/>
                </a:lnTo>
                <a:close/>
              </a:path>
              <a:path w="1968500" h="960755">
                <a:moveTo>
                  <a:pt x="1943100" y="947737"/>
                </a:moveTo>
                <a:lnTo>
                  <a:pt x="25400" y="947737"/>
                </a:lnTo>
                <a:lnTo>
                  <a:pt x="25400" y="935037"/>
                </a:lnTo>
                <a:lnTo>
                  <a:pt x="1943100" y="935037"/>
                </a:lnTo>
                <a:lnTo>
                  <a:pt x="1943100" y="947737"/>
                </a:lnTo>
                <a:close/>
              </a:path>
              <a:path w="1968500" h="960755">
                <a:moveTo>
                  <a:pt x="1968500" y="947737"/>
                </a:moveTo>
                <a:lnTo>
                  <a:pt x="1943100" y="947737"/>
                </a:lnTo>
                <a:lnTo>
                  <a:pt x="1955800" y="935037"/>
                </a:lnTo>
                <a:lnTo>
                  <a:pt x="1968500" y="935037"/>
                </a:lnTo>
                <a:lnTo>
                  <a:pt x="1968500" y="947737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34389" y="980440"/>
            <a:ext cx="1570355" cy="798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举例</a:t>
            </a:r>
            <a:endParaRPr sz="2100">
              <a:latin typeface="微软雅黑"/>
              <a:cs typeface="微软雅黑"/>
            </a:endParaRPr>
          </a:p>
          <a:p>
            <a:pPr marL="370840">
              <a:lnSpc>
                <a:spcPct val="100000"/>
              </a:lnSpc>
              <a:spcBef>
                <a:spcPts val="1645"/>
              </a:spcBef>
            </a:pPr>
            <a:r>
              <a:rPr sz="1600" dirty="0">
                <a:latin typeface="宋体"/>
                <a:cs typeface="宋体"/>
              </a:rPr>
              <a:t>动物类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-10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m</a:t>
            </a:r>
            <a:r>
              <a:rPr sz="1600" spc="-5" dirty="0">
                <a:latin typeface="Calibri"/>
                <a:cs typeface="Calibri"/>
              </a:rPr>
              <a:t>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1612" y="1753108"/>
            <a:ext cx="607695" cy="6096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latin typeface="Calibri"/>
                <a:cs typeface="Calibri"/>
              </a:rPr>
              <a:t>m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spc="-25" dirty="0">
                <a:latin typeface="Calibri"/>
                <a:cs typeface="Calibri"/>
              </a:rPr>
              <a:t>v</a:t>
            </a:r>
            <a:r>
              <a:rPr sz="1600" spc="-5" dirty="0">
                <a:latin typeface="Calibri"/>
                <a:cs typeface="Calibri"/>
              </a:rPr>
              <a:t>e()</a:t>
            </a:r>
            <a:endParaRPr sz="1600">
              <a:latin typeface="Calibri"/>
              <a:cs typeface="Calibri"/>
            </a:endParaRPr>
          </a:p>
          <a:p>
            <a:pPr marL="45720" algn="ctr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Calibri"/>
                <a:cs typeface="Calibri"/>
              </a:rPr>
              <a:t>eat()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7074" y="1826736"/>
            <a:ext cx="1941830" cy="0"/>
          </a:xfrm>
          <a:custGeom>
            <a:avLst/>
            <a:gdLst/>
            <a:ahLst/>
            <a:cxnLst/>
            <a:rect l="l" t="t" r="r" b="b"/>
            <a:pathLst>
              <a:path w="1941830">
                <a:moveTo>
                  <a:pt x="0" y="0"/>
                </a:moveTo>
                <a:lnTo>
                  <a:pt x="19415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387" y="2914967"/>
            <a:ext cx="1968500" cy="889000"/>
          </a:xfrm>
          <a:custGeom>
            <a:avLst/>
            <a:gdLst/>
            <a:ahLst/>
            <a:cxnLst/>
            <a:rect l="l" t="t" r="r" b="b"/>
            <a:pathLst>
              <a:path w="1968500" h="889000">
                <a:moveTo>
                  <a:pt x="1968500" y="889000"/>
                </a:moveTo>
                <a:lnTo>
                  <a:pt x="0" y="889000"/>
                </a:lnTo>
                <a:lnTo>
                  <a:pt x="0" y="0"/>
                </a:lnTo>
                <a:lnTo>
                  <a:pt x="1968500" y="0"/>
                </a:lnTo>
                <a:lnTo>
                  <a:pt x="19685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863600"/>
                </a:lnTo>
                <a:lnTo>
                  <a:pt x="12700" y="863600"/>
                </a:lnTo>
                <a:lnTo>
                  <a:pt x="25400" y="876300"/>
                </a:lnTo>
                <a:lnTo>
                  <a:pt x="1968500" y="876300"/>
                </a:lnTo>
                <a:lnTo>
                  <a:pt x="1968500" y="889000"/>
                </a:lnTo>
                <a:close/>
              </a:path>
              <a:path w="1968500" h="8890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889000">
                <a:moveTo>
                  <a:pt x="19431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100" y="12700"/>
                </a:lnTo>
                <a:lnTo>
                  <a:pt x="1943100" y="25400"/>
                </a:lnTo>
                <a:close/>
              </a:path>
              <a:path w="1968500" h="889000">
                <a:moveTo>
                  <a:pt x="1943100" y="876300"/>
                </a:moveTo>
                <a:lnTo>
                  <a:pt x="1943100" y="12700"/>
                </a:lnTo>
                <a:lnTo>
                  <a:pt x="1955800" y="25400"/>
                </a:lnTo>
                <a:lnTo>
                  <a:pt x="1968500" y="25400"/>
                </a:lnTo>
                <a:lnTo>
                  <a:pt x="1968500" y="863600"/>
                </a:lnTo>
                <a:lnTo>
                  <a:pt x="1955800" y="863600"/>
                </a:lnTo>
                <a:lnTo>
                  <a:pt x="1943100" y="876300"/>
                </a:lnTo>
                <a:close/>
              </a:path>
              <a:path w="1968500" h="889000">
                <a:moveTo>
                  <a:pt x="1968500" y="25400"/>
                </a:moveTo>
                <a:lnTo>
                  <a:pt x="1955800" y="25400"/>
                </a:lnTo>
                <a:lnTo>
                  <a:pt x="1943100" y="12700"/>
                </a:lnTo>
                <a:lnTo>
                  <a:pt x="1968500" y="12700"/>
                </a:lnTo>
                <a:lnTo>
                  <a:pt x="1968500" y="25400"/>
                </a:lnTo>
                <a:close/>
              </a:path>
              <a:path w="1968500" h="889000">
                <a:moveTo>
                  <a:pt x="25400" y="876300"/>
                </a:moveTo>
                <a:lnTo>
                  <a:pt x="12700" y="863600"/>
                </a:lnTo>
                <a:lnTo>
                  <a:pt x="25400" y="863600"/>
                </a:lnTo>
                <a:lnTo>
                  <a:pt x="25400" y="876300"/>
                </a:lnTo>
                <a:close/>
              </a:path>
              <a:path w="1968500" h="889000">
                <a:moveTo>
                  <a:pt x="1943100" y="876300"/>
                </a:moveTo>
                <a:lnTo>
                  <a:pt x="25400" y="876300"/>
                </a:lnTo>
                <a:lnTo>
                  <a:pt x="25400" y="863600"/>
                </a:lnTo>
                <a:lnTo>
                  <a:pt x="1943100" y="863600"/>
                </a:lnTo>
                <a:lnTo>
                  <a:pt x="1943100" y="876300"/>
                </a:lnTo>
                <a:close/>
              </a:path>
              <a:path w="1968500" h="889000">
                <a:moveTo>
                  <a:pt x="1968500" y="876300"/>
                </a:moveTo>
                <a:lnTo>
                  <a:pt x="1943100" y="876300"/>
                </a:lnTo>
                <a:lnTo>
                  <a:pt x="1955800" y="863600"/>
                </a:lnTo>
                <a:lnTo>
                  <a:pt x="1968500" y="863600"/>
                </a:lnTo>
                <a:lnTo>
                  <a:pt x="1968500" y="876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17002" y="2944812"/>
            <a:ext cx="7632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宋体"/>
                <a:cs typeface="宋体"/>
              </a:rPr>
              <a:t>鸟类</a:t>
            </a:r>
            <a:r>
              <a:rPr sz="1600" spc="-5" dirty="0">
                <a:latin typeface="Calibri"/>
                <a:cs typeface="Calibri"/>
              </a:rPr>
              <a:t>B</a:t>
            </a:r>
            <a:r>
              <a:rPr sz="1600" spc="-10" dirty="0">
                <a:latin typeface="Calibri"/>
                <a:cs typeface="Calibri"/>
              </a:rPr>
              <a:t>i</a:t>
            </a:r>
            <a:r>
              <a:rPr sz="1600" spc="-30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71612" y="3196272"/>
            <a:ext cx="60769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m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spc="-25" dirty="0">
                <a:latin typeface="Calibri"/>
                <a:cs typeface="Calibri"/>
              </a:rPr>
              <a:t>v</a:t>
            </a:r>
            <a:r>
              <a:rPr sz="1600" spc="-5" dirty="0">
                <a:latin typeface="Calibri"/>
                <a:cs typeface="Calibri"/>
              </a:rPr>
              <a:t>e()</a:t>
            </a:r>
            <a:endParaRPr sz="16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sing()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7074" y="3215798"/>
            <a:ext cx="1943735" cy="0"/>
          </a:xfrm>
          <a:custGeom>
            <a:avLst/>
            <a:gdLst/>
            <a:ahLst/>
            <a:cxnLst/>
            <a:rect l="l" t="t" r="r" b="b"/>
            <a:pathLst>
              <a:path w="1943735">
                <a:moveTo>
                  <a:pt x="0" y="0"/>
                </a:moveTo>
                <a:lnTo>
                  <a:pt x="1943125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24025" y="2422842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2540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25400" y="57150"/>
                </a:lnTo>
                <a:lnTo>
                  <a:pt x="25400" y="76200"/>
                </a:lnTo>
                <a:close/>
              </a:path>
              <a:path w="76200" h="504825">
                <a:moveTo>
                  <a:pt x="50800" y="504825"/>
                </a:moveTo>
                <a:lnTo>
                  <a:pt x="25400" y="504825"/>
                </a:lnTo>
                <a:lnTo>
                  <a:pt x="25400" y="57150"/>
                </a:lnTo>
                <a:lnTo>
                  <a:pt x="50800" y="57150"/>
                </a:lnTo>
                <a:lnTo>
                  <a:pt x="50800" y="504825"/>
                </a:lnTo>
                <a:close/>
              </a:path>
              <a:path w="76200" h="504825">
                <a:moveTo>
                  <a:pt x="76200" y="76200"/>
                </a:moveTo>
                <a:lnTo>
                  <a:pt x="50800" y="76200"/>
                </a:lnTo>
                <a:lnTo>
                  <a:pt x="5080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687567" y="4800600"/>
            <a:ext cx="2954020" cy="33718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r>
              <a:rPr sz="1600" dirty="0">
                <a:solidFill>
                  <a:srgbClr val="FFFFFF"/>
                </a:solidFill>
                <a:latin typeface="宋体"/>
                <a:cs typeface="宋体"/>
              </a:rPr>
              <a:t>出错，父类中没有该方</a:t>
            </a:r>
            <a:r>
              <a:rPr sz="1600" spc="-5" dirty="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5687567" y="5519928"/>
            <a:ext cx="2954020" cy="337185"/>
          </a:xfrm>
          <a:prstGeom prst="rect">
            <a:avLst/>
          </a:prstGeom>
          <a:solidFill>
            <a:srgbClr val="00CCFF"/>
          </a:solidFill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1600" spc="-5" dirty="0">
                <a:solidFill>
                  <a:srgbClr val="006C39"/>
                </a:solidFill>
                <a:latin typeface="Calibri"/>
                <a:cs typeface="Calibri"/>
              </a:rPr>
              <a:t>//</a:t>
            </a:r>
            <a:r>
              <a:rPr sz="1600" dirty="0">
                <a:solidFill>
                  <a:srgbClr val="006C39"/>
                </a:solidFill>
                <a:latin typeface="宋体"/>
                <a:cs typeface="宋体"/>
              </a:rPr>
              <a:t>执行子类</a:t>
            </a:r>
            <a:r>
              <a:rPr sz="1600" spc="-10" dirty="0">
                <a:solidFill>
                  <a:srgbClr val="006C39"/>
                </a:solidFill>
                <a:latin typeface="Calibri"/>
                <a:cs typeface="Calibri"/>
              </a:rPr>
              <a:t>move</a:t>
            </a:r>
            <a:r>
              <a:rPr sz="1600" dirty="0">
                <a:solidFill>
                  <a:srgbClr val="006C39"/>
                </a:solidFill>
                <a:latin typeface="宋体"/>
                <a:cs typeface="宋体"/>
              </a:rPr>
              <a:t>方</a:t>
            </a:r>
            <a:r>
              <a:rPr sz="1600" spc="-5" dirty="0">
                <a:solidFill>
                  <a:srgbClr val="006C39"/>
                </a:solidFill>
                <a:latin typeface="宋体"/>
                <a:cs typeface="宋体"/>
              </a:rPr>
              <a:t>法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87567" y="5160264"/>
            <a:ext cx="2954020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1600" spc="-5" dirty="0">
                <a:latin typeface="Calibri"/>
                <a:cs typeface="Calibri"/>
              </a:rPr>
              <a:t>//</a:t>
            </a:r>
            <a:r>
              <a:rPr sz="1600" dirty="0">
                <a:latin typeface="宋体"/>
                <a:cs typeface="宋体"/>
              </a:rPr>
              <a:t>执行父类</a:t>
            </a:r>
            <a:r>
              <a:rPr sz="1600" spc="-10" dirty="0">
                <a:latin typeface="Calibri"/>
                <a:cs typeface="Calibri"/>
              </a:rPr>
              <a:t>eat</a:t>
            </a:r>
            <a:r>
              <a:rPr sz="1600" dirty="0">
                <a:latin typeface="宋体"/>
                <a:cs typeface="宋体"/>
              </a:rPr>
              <a:t>方</a:t>
            </a:r>
            <a:r>
              <a:rPr sz="1600" spc="-5" dirty="0">
                <a:latin typeface="宋体"/>
                <a:cs typeface="宋体"/>
              </a:rPr>
              <a:t>法</a:t>
            </a:r>
            <a:endParaRPr sz="1600">
              <a:latin typeface="宋体"/>
              <a:cs typeface="宋体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52043" y="4030979"/>
          <a:ext cx="3529329" cy="2303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9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804">
                <a:tc>
                  <a:txBody>
                    <a:bodyPr/>
                    <a:lstStyle/>
                    <a:p>
                      <a:pPr marL="238125" indent="-147320">
                        <a:lnSpc>
                          <a:spcPct val="100000"/>
                        </a:lnSpc>
                        <a:spcBef>
                          <a:spcPts val="270"/>
                        </a:spcBef>
                        <a:buFont typeface="Calibri"/>
                        <a:buChar char="•"/>
                        <a:tabLst>
                          <a:tab pos="238760" algn="l"/>
                        </a:tabLst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子类对象赋给父类引用后的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个层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次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548">
                <a:tc>
                  <a:txBody>
                    <a:bodyPr/>
                    <a:lstStyle/>
                    <a:p>
                      <a:pPr marL="91440" marR="1911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(1)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父类中没有的方法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如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ng()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方法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不 能调用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。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1">
                <a:tc>
                  <a:txBody>
                    <a:bodyPr/>
                    <a:lstStyle/>
                    <a:p>
                      <a:pPr marL="91440" marR="2978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solidFill>
                            <a:srgbClr val="006C39"/>
                          </a:solidFill>
                          <a:latin typeface="Calibri"/>
                          <a:cs typeface="Calibri"/>
                        </a:rPr>
                        <a:t>(2)</a:t>
                      </a:r>
                      <a:r>
                        <a:rPr sz="1600" spc="5" dirty="0">
                          <a:solidFill>
                            <a:srgbClr val="006C39"/>
                          </a:solidFill>
                          <a:latin typeface="宋体"/>
                          <a:cs typeface="宋体"/>
                        </a:rPr>
                        <a:t>如果子类没有覆盖父类的方法</a:t>
                      </a:r>
                      <a:r>
                        <a:rPr sz="1600" dirty="0">
                          <a:solidFill>
                            <a:srgbClr val="006C39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600" dirty="0">
                          <a:solidFill>
                            <a:srgbClr val="006C39"/>
                          </a:solidFill>
                          <a:latin typeface="宋体"/>
                          <a:cs typeface="宋体"/>
                        </a:rPr>
                        <a:t>如  </a:t>
                      </a:r>
                      <a:r>
                        <a:rPr sz="1600" spc="-5" dirty="0">
                          <a:solidFill>
                            <a:srgbClr val="006C39"/>
                          </a:solidFill>
                          <a:latin typeface="Calibri"/>
                          <a:cs typeface="Calibri"/>
                        </a:rPr>
                        <a:t>eat()</a:t>
                      </a:r>
                      <a:r>
                        <a:rPr sz="1600" dirty="0">
                          <a:solidFill>
                            <a:srgbClr val="006C39"/>
                          </a:solidFill>
                          <a:latin typeface="宋体"/>
                          <a:cs typeface="宋体"/>
                        </a:rPr>
                        <a:t>方法</a:t>
                      </a:r>
                      <a:r>
                        <a:rPr sz="1600" spc="-5" dirty="0">
                          <a:solidFill>
                            <a:srgbClr val="006C39"/>
                          </a:solidFill>
                          <a:latin typeface="Calibri"/>
                          <a:cs typeface="Calibri"/>
                        </a:rPr>
                        <a:t>)</a:t>
                      </a:r>
                      <a:r>
                        <a:rPr sz="1600" spc="-5" dirty="0">
                          <a:solidFill>
                            <a:srgbClr val="006C39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sz="1600" dirty="0">
                          <a:solidFill>
                            <a:srgbClr val="006C39"/>
                          </a:solidFill>
                          <a:latin typeface="宋体"/>
                          <a:cs typeface="宋体"/>
                        </a:rPr>
                        <a:t>则调用父类的方法</a:t>
                      </a:r>
                      <a:r>
                        <a:rPr sz="1600" spc="-5" dirty="0">
                          <a:solidFill>
                            <a:srgbClr val="006C39"/>
                          </a:solidFill>
                          <a:latin typeface="宋体"/>
                          <a:cs typeface="宋体"/>
                        </a:rPr>
                        <a:t>。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3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(3)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如果子类覆盖父类的方法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如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move()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方法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1600" spc="-5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则调用子类的方法</a:t>
                      </a:r>
                      <a:r>
                        <a:rPr sz="1600" spc="-5" dirty="0">
                          <a:latin typeface="宋体"/>
                          <a:cs typeface="宋体"/>
                        </a:rPr>
                        <a:t>。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4290" marB="0">
                    <a:lnB w="85344">
                      <a:solidFill>
                        <a:srgbClr val="FFFFFF"/>
                      </a:solidFill>
                      <a:prstDash val="solid"/>
                    </a:lnB>
                    <a:solidFill>
                      <a:srgbClr val="00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800" y="907414"/>
            <a:ext cx="114300" cy="2446655"/>
          </a:xfrm>
          <a:custGeom>
            <a:avLst/>
            <a:gdLst/>
            <a:ahLst/>
            <a:cxnLst/>
            <a:rect l="l" t="t" r="r" b="b"/>
            <a:pathLst>
              <a:path w="114300" h="2446654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2446654">
                <a:moveTo>
                  <a:pt x="76200" y="2446655"/>
                </a:moveTo>
                <a:lnTo>
                  <a:pt x="38100" y="2446655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2446655"/>
                </a:lnTo>
                <a:close/>
              </a:path>
              <a:path w="114300" h="2446654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79590" y="1444866"/>
            <a:ext cx="3302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微软雅黑"/>
                <a:cs typeface="微软雅黑"/>
              </a:rPr>
              <a:t>向 上 转 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5935" y="880033"/>
            <a:ext cx="1968500" cy="960755"/>
          </a:xfrm>
          <a:custGeom>
            <a:avLst/>
            <a:gdLst/>
            <a:ahLst/>
            <a:cxnLst/>
            <a:rect l="l" t="t" r="r" b="b"/>
            <a:pathLst>
              <a:path w="1968500" h="960755">
                <a:moveTo>
                  <a:pt x="1968499" y="960437"/>
                </a:moveTo>
                <a:lnTo>
                  <a:pt x="0" y="960437"/>
                </a:lnTo>
                <a:lnTo>
                  <a:pt x="0" y="0"/>
                </a:lnTo>
                <a:lnTo>
                  <a:pt x="1968499" y="0"/>
                </a:lnTo>
                <a:lnTo>
                  <a:pt x="1968499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935037"/>
                </a:lnTo>
                <a:lnTo>
                  <a:pt x="12700" y="935037"/>
                </a:lnTo>
                <a:lnTo>
                  <a:pt x="25400" y="947737"/>
                </a:lnTo>
                <a:lnTo>
                  <a:pt x="1968499" y="947737"/>
                </a:lnTo>
                <a:lnTo>
                  <a:pt x="1968499" y="960437"/>
                </a:lnTo>
                <a:close/>
              </a:path>
              <a:path w="1968500" h="96075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960755">
                <a:moveTo>
                  <a:pt x="1943099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099" y="12700"/>
                </a:lnTo>
                <a:lnTo>
                  <a:pt x="1943099" y="25400"/>
                </a:lnTo>
                <a:close/>
              </a:path>
              <a:path w="1968500" h="960755">
                <a:moveTo>
                  <a:pt x="1943099" y="947737"/>
                </a:moveTo>
                <a:lnTo>
                  <a:pt x="1943099" y="12700"/>
                </a:lnTo>
                <a:lnTo>
                  <a:pt x="1955799" y="25400"/>
                </a:lnTo>
                <a:lnTo>
                  <a:pt x="1968499" y="25400"/>
                </a:lnTo>
                <a:lnTo>
                  <a:pt x="1968499" y="935037"/>
                </a:lnTo>
                <a:lnTo>
                  <a:pt x="1955799" y="935037"/>
                </a:lnTo>
                <a:lnTo>
                  <a:pt x="1943099" y="947737"/>
                </a:lnTo>
                <a:close/>
              </a:path>
              <a:path w="1968500" h="960755">
                <a:moveTo>
                  <a:pt x="1968499" y="25400"/>
                </a:moveTo>
                <a:lnTo>
                  <a:pt x="1955799" y="25400"/>
                </a:lnTo>
                <a:lnTo>
                  <a:pt x="1943099" y="12700"/>
                </a:lnTo>
                <a:lnTo>
                  <a:pt x="1968499" y="12700"/>
                </a:lnTo>
                <a:lnTo>
                  <a:pt x="1968499" y="25400"/>
                </a:lnTo>
                <a:close/>
              </a:path>
              <a:path w="1968500" h="960755">
                <a:moveTo>
                  <a:pt x="25400" y="947737"/>
                </a:moveTo>
                <a:lnTo>
                  <a:pt x="12700" y="935037"/>
                </a:lnTo>
                <a:lnTo>
                  <a:pt x="25400" y="935037"/>
                </a:lnTo>
                <a:lnTo>
                  <a:pt x="25400" y="947737"/>
                </a:lnTo>
                <a:close/>
              </a:path>
              <a:path w="1968500" h="960755">
                <a:moveTo>
                  <a:pt x="1943099" y="947737"/>
                </a:moveTo>
                <a:lnTo>
                  <a:pt x="25400" y="947737"/>
                </a:lnTo>
                <a:lnTo>
                  <a:pt x="25400" y="935037"/>
                </a:lnTo>
                <a:lnTo>
                  <a:pt x="1943099" y="935037"/>
                </a:lnTo>
                <a:lnTo>
                  <a:pt x="1943099" y="947737"/>
                </a:lnTo>
                <a:close/>
              </a:path>
              <a:path w="1968500" h="960755">
                <a:moveTo>
                  <a:pt x="1968499" y="947737"/>
                </a:moveTo>
                <a:lnTo>
                  <a:pt x="1943099" y="947737"/>
                </a:lnTo>
                <a:lnTo>
                  <a:pt x="1955799" y="935037"/>
                </a:lnTo>
                <a:lnTo>
                  <a:pt x="1968499" y="935037"/>
                </a:lnTo>
                <a:lnTo>
                  <a:pt x="1968499" y="947737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83652" y="370700"/>
            <a:ext cx="3204845" cy="81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6.1.1	</a:t>
            </a:r>
            <a:r>
              <a:rPr sz="2100" b="1" dirty="0">
                <a:latin typeface="微软雅黑"/>
                <a:cs typeface="微软雅黑"/>
              </a:rPr>
              <a:t>多态性</a:t>
            </a:r>
            <a:endParaRPr sz="2100">
              <a:latin typeface="微软雅黑"/>
              <a:cs typeface="微软雅黑"/>
            </a:endParaRPr>
          </a:p>
          <a:p>
            <a:pPr marL="1980564">
              <a:lnSpc>
                <a:spcPct val="100000"/>
              </a:lnSpc>
              <a:spcBef>
                <a:spcPts val="1760"/>
              </a:spcBef>
            </a:pPr>
            <a:r>
              <a:rPr sz="1600" b="1" dirty="0">
                <a:latin typeface="宋体"/>
                <a:cs typeface="宋体"/>
              </a:rPr>
              <a:t>动物类</a:t>
            </a:r>
            <a:r>
              <a:rPr sz="1600" b="1" spc="-5" dirty="0">
                <a:latin typeface="Calibri"/>
                <a:cs typeface="Calibri"/>
              </a:rPr>
              <a:t>Animal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6175" y="1158036"/>
            <a:ext cx="622300" cy="6096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Calibri"/>
                <a:cs typeface="Calibri"/>
              </a:rPr>
              <a:t>m</a:t>
            </a:r>
            <a:r>
              <a:rPr sz="1600" b="1" spc="-10" dirty="0">
                <a:latin typeface="Calibri"/>
                <a:cs typeface="Calibri"/>
              </a:rPr>
              <a:t>o</a:t>
            </a:r>
            <a:r>
              <a:rPr sz="1600" b="1" spc="-20" dirty="0">
                <a:latin typeface="Calibri"/>
                <a:cs typeface="Calibri"/>
              </a:rPr>
              <a:t>v</a:t>
            </a:r>
            <a:r>
              <a:rPr sz="1600" b="1" spc="-5" dirty="0">
                <a:latin typeface="Calibri"/>
                <a:cs typeface="Calibri"/>
              </a:rPr>
              <a:t>e()</a:t>
            </a:r>
            <a:endParaRPr sz="1600">
              <a:latin typeface="Calibri"/>
              <a:cs typeface="Calibri"/>
            </a:endParaRPr>
          </a:p>
          <a:p>
            <a:pPr marL="44450" algn="ctr">
              <a:lnSpc>
                <a:spcPct val="100000"/>
              </a:lnSpc>
              <a:spcBef>
                <a:spcPts val="380"/>
              </a:spcBef>
            </a:pPr>
            <a:r>
              <a:rPr sz="1600" b="1" spc="-5" dirty="0">
                <a:latin typeface="Calibri"/>
                <a:cs typeface="Calibri"/>
              </a:rPr>
              <a:t>eat()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98622" y="1231665"/>
            <a:ext cx="1941830" cy="0"/>
          </a:xfrm>
          <a:custGeom>
            <a:avLst/>
            <a:gdLst/>
            <a:ahLst/>
            <a:cxnLst/>
            <a:rect l="l" t="t" r="r" b="b"/>
            <a:pathLst>
              <a:path w="1941829">
                <a:moveTo>
                  <a:pt x="0" y="0"/>
                </a:moveTo>
                <a:lnTo>
                  <a:pt x="19415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88947" y="2319896"/>
            <a:ext cx="1968500" cy="889000"/>
          </a:xfrm>
          <a:custGeom>
            <a:avLst/>
            <a:gdLst/>
            <a:ahLst/>
            <a:cxnLst/>
            <a:rect l="l" t="t" r="r" b="b"/>
            <a:pathLst>
              <a:path w="1968500" h="889000">
                <a:moveTo>
                  <a:pt x="1968499" y="889000"/>
                </a:moveTo>
                <a:lnTo>
                  <a:pt x="0" y="889000"/>
                </a:lnTo>
                <a:lnTo>
                  <a:pt x="0" y="0"/>
                </a:lnTo>
                <a:lnTo>
                  <a:pt x="1968499" y="0"/>
                </a:lnTo>
                <a:lnTo>
                  <a:pt x="1968499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863600"/>
                </a:lnTo>
                <a:lnTo>
                  <a:pt x="12700" y="863600"/>
                </a:lnTo>
                <a:lnTo>
                  <a:pt x="25400" y="876300"/>
                </a:lnTo>
                <a:lnTo>
                  <a:pt x="1968499" y="876300"/>
                </a:lnTo>
                <a:lnTo>
                  <a:pt x="1968499" y="889000"/>
                </a:lnTo>
                <a:close/>
              </a:path>
              <a:path w="1968500" h="8890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889000">
                <a:moveTo>
                  <a:pt x="1943099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099" y="12700"/>
                </a:lnTo>
                <a:lnTo>
                  <a:pt x="1943099" y="25400"/>
                </a:lnTo>
                <a:close/>
              </a:path>
              <a:path w="1968500" h="889000">
                <a:moveTo>
                  <a:pt x="1943099" y="876300"/>
                </a:moveTo>
                <a:lnTo>
                  <a:pt x="1943099" y="12700"/>
                </a:lnTo>
                <a:lnTo>
                  <a:pt x="1955799" y="25400"/>
                </a:lnTo>
                <a:lnTo>
                  <a:pt x="1968499" y="25400"/>
                </a:lnTo>
                <a:lnTo>
                  <a:pt x="1968499" y="863600"/>
                </a:lnTo>
                <a:lnTo>
                  <a:pt x="1955799" y="863600"/>
                </a:lnTo>
                <a:lnTo>
                  <a:pt x="1943099" y="876300"/>
                </a:lnTo>
                <a:close/>
              </a:path>
              <a:path w="1968500" h="889000">
                <a:moveTo>
                  <a:pt x="1968499" y="25400"/>
                </a:moveTo>
                <a:lnTo>
                  <a:pt x="1955799" y="25400"/>
                </a:lnTo>
                <a:lnTo>
                  <a:pt x="1943099" y="12700"/>
                </a:lnTo>
                <a:lnTo>
                  <a:pt x="1968499" y="12700"/>
                </a:lnTo>
                <a:lnTo>
                  <a:pt x="1968499" y="25400"/>
                </a:lnTo>
                <a:close/>
              </a:path>
              <a:path w="1968500" h="889000">
                <a:moveTo>
                  <a:pt x="25400" y="876300"/>
                </a:moveTo>
                <a:lnTo>
                  <a:pt x="12700" y="863600"/>
                </a:lnTo>
                <a:lnTo>
                  <a:pt x="25400" y="863600"/>
                </a:lnTo>
                <a:lnTo>
                  <a:pt x="25400" y="876300"/>
                </a:lnTo>
                <a:close/>
              </a:path>
              <a:path w="1968500" h="889000">
                <a:moveTo>
                  <a:pt x="1943099" y="876300"/>
                </a:moveTo>
                <a:lnTo>
                  <a:pt x="25400" y="876300"/>
                </a:lnTo>
                <a:lnTo>
                  <a:pt x="25400" y="863600"/>
                </a:lnTo>
                <a:lnTo>
                  <a:pt x="1943099" y="863600"/>
                </a:lnTo>
                <a:lnTo>
                  <a:pt x="1943099" y="876300"/>
                </a:lnTo>
                <a:close/>
              </a:path>
              <a:path w="1968500" h="889000">
                <a:moveTo>
                  <a:pt x="1968499" y="876300"/>
                </a:moveTo>
                <a:lnTo>
                  <a:pt x="1943099" y="876300"/>
                </a:lnTo>
                <a:lnTo>
                  <a:pt x="1955799" y="863600"/>
                </a:lnTo>
                <a:lnTo>
                  <a:pt x="1968499" y="863600"/>
                </a:lnTo>
                <a:lnTo>
                  <a:pt x="1968499" y="876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84577" y="2349741"/>
            <a:ext cx="7772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宋体"/>
                <a:cs typeface="宋体"/>
              </a:rPr>
              <a:t>鸟类</a:t>
            </a:r>
            <a:r>
              <a:rPr sz="1600" b="1" spc="-5" dirty="0">
                <a:latin typeface="Calibri"/>
                <a:cs typeface="Calibri"/>
              </a:rPr>
              <a:t>Bi</a:t>
            </a:r>
            <a:r>
              <a:rPr sz="1600" b="1" spc="-25" dirty="0">
                <a:latin typeface="Calibri"/>
                <a:cs typeface="Calibri"/>
              </a:rPr>
              <a:t>r</a:t>
            </a:r>
            <a:r>
              <a:rPr sz="1600" b="1" spc="-5" dirty="0">
                <a:latin typeface="Calibri"/>
                <a:cs typeface="Calibri"/>
              </a:rPr>
              <a:t>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9187" y="2601201"/>
            <a:ext cx="6223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move()</a:t>
            </a:r>
            <a:endParaRPr sz="16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sing()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01635" y="2620727"/>
            <a:ext cx="1943735" cy="0"/>
          </a:xfrm>
          <a:custGeom>
            <a:avLst/>
            <a:gdLst/>
            <a:ahLst/>
            <a:cxnLst/>
            <a:rect l="l" t="t" r="r" b="b"/>
            <a:pathLst>
              <a:path w="1943735">
                <a:moveTo>
                  <a:pt x="0" y="0"/>
                </a:moveTo>
                <a:lnTo>
                  <a:pt x="1943125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31465" y="1829358"/>
            <a:ext cx="799465" cy="514350"/>
          </a:xfrm>
          <a:custGeom>
            <a:avLst/>
            <a:gdLst/>
            <a:ahLst/>
            <a:cxnLst/>
            <a:rect l="l" t="t" r="r" b="b"/>
            <a:pathLst>
              <a:path w="799464" h="514350">
                <a:moveTo>
                  <a:pt x="727843" y="30144"/>
                </a:moveTo>
                <a:lnTo>
                  <a:pt x="714222" y="8699"/>
                </a:lnTo>
                <a:lnTo>
                  <a:pt x="798969" y="0"/>
                </a:lnTo>
                <a:lnTo>
                  <a:pt x="786993" y="19926"/>
                </a:lnTo>
                <a:lnTo>
                  <a:pt x="743927" y="19926"/>
                </a:lnTo>
                <a:lnTo>
                  <a:pt x="727843" y="30144"/>
                </a:lnTo>
                <a:close/>
              </a:path>
              <a:path w="799464" h="514350">
                <a:moveTo>
                  <a:pt x="741458" y="51581"/>
                </a:moveTo>
                <a:lnTo>
                  <a:pt x="727843" y="30144"/>
                </a:lnTo>
                <a:lnTo>
                  <a:pt x="743927" y="19926"/>
                </a:lnTo>
                <a:lnTo>
                  <a:pt x="757542" y="41363"/>
                </a:lnTo>
                <a:lnTo>
                  <a:pt x="741458" y="51581"/>
                </a:lnTo>
                <a:close/>
              </a:path>
              <a:path w="799464" h="514350">
                <a:moveTo>
                  <a:pt x="755078" y="73025"/>
                </a:moveTo>
                <a:lnTo>
                  <a:pt x="741458" y="51581"/>
                </a:lnTo>
                <a:lnTo>
                  <a:pt x="757542" y="41363"/>
                </a:lnTo>
                <a:lnTo>
                  <a:pt x="743927" y="19926"/>
                </a:lnTo>
                <a:lnTo>
                  <a:pt x="786993" y="19926"/>
                </a:lnTo>
                <a:lnTo>
                  <a:pt x="755078" y="73025"/>
                </a:lnTo>
                <a:close/>
              </a:path>
              <a:path w="799464" h="514350">
                <a:moveTo>
                  <a:pt x="13614" y="513956"/>
                </a:moveTo>
                <a:lnTo>
                  <a:pt x="0" y="492518"/>
                </a:lnTo>
                <a:lnTo>
                  <a:pt x="727843" y="30144"/>
                </a:lnTo>
                <a:lnTo>
                  <a:pt x="741458" y="51581"/>
                </a:lnTo>
                <a:lnTo>
                  <a:pt x="13614" y="513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38460" y="2319896"/>
            <a:ext cx="1968500" cy="889000"/>
          </a:xfrm>
          <a:custGeom>
            <a:avLst/>
            <a:gdLst/>
            <a:ahLst/>
            <a:cxnLst/>
            <a:rect l="l" t="t" r="r" b="b"/>
            <a:pathLst>
              <a:path w="1968500" h="889000">
                <a:moveTo>
                  <a:pt x="1968500" y="889000"/>
                </a:moveTo>
                <a:lnTo>
                  <a:pt x="0" y="889000"/>
                </a:lnTo>
                <a:lnTo>
                  <a:pt x="0" y="0"/>
                </a:lnTo>
                <a:lnTo>
                  <a:pt x="1968500" y="0"/>
                </a:lnTo>
                <a:lnTo>
                  <a:pt x="19685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863600"/>
                </a:lnTo>
                <a:lnTo>
                  <a:pt x="12700" y="863600"/>
                </a:lnTo>
                <a:lnTo>
                  <a:pt x="25400" y="876300"/>
                </a:lnTo>
                <a:lnTo>
                  <a:pt x="1968500" y="876300"/>
                </a:lnTo>
                <a:lnTo>
                  <a:pt x="1968500" y="889000"/>
                </a:lnTo>
                <a:close/>
              </a:path>
              <a:path w="1968500" h="8890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889000">
                <a:moveTo>
                  <a:pt x="19431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100" y="12700"/>
                </a:lnTo>
                <a:lnTo>
                  <a:pt x="1943100" y="25400"/>
                </a:lnTo>
                <a:close/>
              </a:path>
              <a:path w="1968500" h="889000">
                <a:moveTo>
                  <a:pt x="1943100" y="876300"/>
                </a:moveTo>
                <a:lnTo>
                  <a:pt x="1943100" y="12700"/>
                </a:lnTo>
                <a:lnTo>
                  <a:pt x="1955800" y="25400"/>
                </a:lnTo>
                <a:lnTo>
                  <a:pt x="1968500" y="25400"/>
                </a:lnTo>
                <a:lnTo>
                  <a:pt x="1968500" y="863600"/>
                </a:lnTo>
                <a:lnTo>
                  <a:pt x="1955800" y="863600"/>
                </a:lnTo>
                <a:lnTo>
                  <a:pt x="1943100" y="876300"/>
                </a:lnTo>
                <a:close/>
              </a:path>
              <a:path w="1968500" h="889000">
                <a:moveTo>
                  <a:pt x="1968500" y="25400"/>
                </a:moveTo>
                <a:lnTo>
                  <a:pt x="1955800" y="25400"/>
                </a:lnTo>
                <a:lnTo>
                  <a:pt x="1943100" y="12700"/>
                </a:lnTo>
                <a:lnTo>
                  <a:pt x="1968500" y="12700"/>
                </a:lnTo>
                <a:lnTo>
                  <a:pt x="1968500" y="25400"/>
                </a:lnTo>
                <a:close/>
              </a:path>
              <a:path w="1968500" h="889000">
                <a:moveTo>
                  <a:pt x="25400" y="876300"/>
                </a:moveTo>
                <a:lnTo>
                  <a:pt x="12700" y="863600"/>
                </a:lnTo>
                <a:lnTo>
                  <a:pt x="25400" y="863600"/>
                </a:lnTo>
                <a:lnTo>
                  <a:pt x="25400" y="876300"/>
                </a:lnTo>
                <a:close/>
              </a:path>
              <a:path w="1968500" h="889000">
                <a:moveTo>
                  <a:pt x="1943100" y="876300"/>
                </a:moveTo>
                <a:lnTo>
                  <a:pt x="25400" y="876300"/>
                </a:lnTo>
                <a:lnTo>
                  <a:pt x="25400" y="863600"/>
                </a:lnTo>
                <a:lnTo>
                  <a:pt x="1943100" y="863600"/>
                </a:lnTo>
                <a:lnTo>
                  <a:pt x="1943100" y="876300"/>
                </a:lnTo>
                <a:close/>
              </a:path>
              <a:path w="1968500" h="889000">
                <a:moveTo>
                  <a:pt x="1968500" y="876300"/>
                </a:moveTo>
                <a:lnTo>
                  <a:pt x="1943100" y="876300"/>
                </a:lnTo>
                <a:lnTo>
                  <a:pt x="1955800" y="863600"/>
                </a:lnTo>
                <a:lnTo>
                  <a:pt x="1968500" y="863600"/>
                </a:lnTo>
                <a:lnTo>
                  <a:pt x="1968500" y="876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15675" y="2369426"/>
            <a:ext cx="814069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宋体"/>
                <a:cs typeface="宋体"/>
              </a:rPr>
              <a:t>鱼</a:t>
            </a:r>
            <a:r>
              <a:rPr sz="1600" b="1" spc="-15" dirty="0">
                <a:latin typeface="宋体"/>
                <a:cs typeface="宋体"/>
              </a:rPr>
              <a:t>类</a:t>
            </a:r>
            <a:r>
              <a:rPr sz="1600" b="1" spc="-500" dirty="0">
                <a:latin typeface="宋体"/>
                <a:cs typeface="宋体"/>
              </a:rPr>
              <a:t> </a:t>
            </a:r>
            <a:r>
              <a:rPr sz="1600" b="1" spc="-5" dirty="0">
                <a:latin typeface="Calibri"/>
                <a:cs typeface="Calibri"/>
              </a:rPr>
              <a:t>Fish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11560" y="2686291"/>
            <a:ext cx="6223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move()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51147" y="2690577"/>
            <a:ext cx="1943735" cy="0"/>
          </a:xfrm>
          <a:custGeom>
            <a:avLst/>
            <a:gdLst/>
            <a:ahLst/>
            <a:cxnLst/>
            <a:rect l="l" t="t" r="r" b="b"/>
            <a:pathLst>
              <a:path w="1943735">
                <a:moveTo>
                  <a:pt x="0" y="0"/>
                </a:moveTo>
                <a:lnTo>
                  <a:pt x="1943125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94035" y="1829358"/>
            <a:ext cx="799465" cy="514350"/>
          </a:xfrm>
          <a:custGeom>
            <a:avLst/>
            <a:gdLst/>
            <a:ahLst/>
            <a:cxnLst/>
            <a:rect l="l" t="t" r="r" b="b"/>
            <a:pathLst>
              <a:path w="799464" h="514350">
                <a:moveTo>
                  <a:pt x="43891" y="73025"/>
                </a:moveTo>
                <a:lnTo>
                  <a:pt x="0" y="0"/>
                </a:lnTo>
                <a:lnTo>
                  <a:pt x="84747" y="8699"/>
                </a:lnTo>
                <a:lnTo>
                  <a:pt x="77616" y="19926"/>
                </a:lnTo>
                <a:lnTo>
                  <a:pt x="55054" y="19926"/>
                </a:lnTo>
                <a:lnTo>
                  <a:pt x="41427" y="41363"/>
                </a:lnTo>
                <a:lnTo>
                  <a:pt x="57511" y="51581"/>
                </a:lnTo>
                <a:lnTo>
                  <a:pt x="43891" y="73025"/>
                </a:lnTo>
                <a:close/>
              </a:path>
              <a:path w="799464" h="514350">
                <a:moveTo>
                  <a:pt x="57511" y="51581"/>
                </a:moveTo>
                <a:lnTo>
                  <a:pt x="41427" y="41363"/>
                </a:lnTo>
                <a:lnTo>
                  <a:pt x="55054" y="19926"/>
                </a:lnTo>
                <a:lnTo>
                  <a:pt x="71130" y="30138"/>
                </a:lnTo>
                <a:lnTo>
                  <a:pt x="57511" y="51581"/>
                </a:lnTo>
                <a:close/>
              </a:path>
              <a:path w="799464" h="514350">
                <a:moveTo>
                  <a:pt x="71130" y="30138"/>
                </a:moveTo>
                <a:lnTo>
                  <a:pt x="55054" y="19926"/>
                </a:lnTo>
                <a:lnTo>
                  <a:pt x="77616" y="19926"/>
                </a:lnTo>
                <a:lnTo>
                  <a:pt x="71130" y="30138"/>
                </a:lnTo>
                <a:close/>
              </a:path>
              <a:path w="799464" h="514350">
                <a:moveTo>
                  <a:pt x="785355" y="513956"/>
                </a:moveTo>
                <a:lnTo>
                  <a:pt x="57511" y="51581"/>
                </a:lnTo>
                <a:lnTo>
                  <a:pt x="71130" y="30138"/>
                </a:lnTo>
                <a:lnTo>
                  <a:pt x="798969" y="492518"/>
                </a:lnTo>
                <a:lnTo>
                  <a:pt x="785355" y="513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12335" y="3429000"/>
            <a:ext cx="4076700" cy="2418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08145" y="3425190"/>
            <a:ext cx="4084320" cy="2426335"/>
          </a:xfrm>
          <a:custGeom>
            <a:avLst/>
            <a:gdLst/>
            <a:ahLst/>
            <a:cxnLst/>
            <a:rect l="l" t="t" r="r" b="b"/>
            <a:pathLst>
              <a:path w="4084320" h="2426335">
                <a:moveTo>
                  <a:pt x="4084320" y="2426335"/>
                </a:moveTo>
                <a:lnTo>
                  <a:pt x="0" y="2426335"/>
                </a:lnTo>
                <a:lnTo>
                  <a:pt x="0" y="0"/>
                </a:lnTo>
                <a:lnTo>
                  <a:pt x="4084320" y="0"/>
                </a:lnTo>
                <a:lnTo>
                  <a:pt x="408432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418715"/>
                </a:lnTo>
                <a:lnTo>
                  <a:pt x="3809" y="2418715"/>
                </a:lnTo>
                <a:lnTo>
                  <a:pt x="7619" y="2422525"/>
                </a:lnTo>
                <a:lnTo>
                  <a:pt x="4084320" y="2422525"/>
                </a:lnTo>
                <a:lnTo>
                  <a:pt x="4084320" y="2426335"/>
                </a:lnTo>
                <a:close/>
              </a:path>
              <a:path w="4084320" h="242633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4084320" h="2426335">
                <a:moveTo>
                  <a:pt x="407670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4076700" y="3810"/>
                </a:lnTo>
                <a:lnTo>
                  <a:pt x="4076700" y="7620"/>
                </a:lnTo>
                <a:close/>
              </a:path>
              <a:path w="4084320" h="2426335">
                <a:moveTo>
                  <a:pt x="4076700" y="2422525"/>
                </a:moveTo>
                <a:lnTo>
                  <a:pt x="4076700" y="3810"/>
                </a:lnTo>
                <a:lnTo>
                  <a:pt x="4080509" y="7620"/>
                </a:lnTo>
                <a:lnTo>
                  <a:pt x="4084320" y="7620"/>
                </a:lnTo>
                <a:lnTo>
                  <a:pt x="4084320" y="2418715"/>
                </a:lnTo>
                <a:lnTo>
                  <a:pt x="4080509" y="2418715"/>
                </a:lnTo>
                <a:lnTo>
                  <a:pt x="4076700" y="2422525"/>
                </a:lnTo>
                <a:close/>
              </a:path>
              <a:path w="4084320" h="2426335">
                <a:moveTo>
                  <a:pt x="4084320" y="7620"/>
                </a:moveTo>
                <a:lnTo>
                  <a:pt x="4080509" y="7620"/>
                </a:lnTo>
                <a:lnTo>
                  <a:pt x="4076700" y="3810"/>
                </a:lnTo>
                <a:lnTo>
                  <a:pt x="4084320" y="3810"/>
                </a:lnTo>
                <a:lnTo>
                  <a:pt x="4084320" y="7620"/>
                </a:lnTo>
                <a:close/>
              </a:path>
              <a:path w="4084320" h="2426335">
                <a:moveTo>
                  <a:pt x="7619" y="2422525"/>
                </a:moveTo>
                <a:lnTo>
                  <a:pt x="3809" y="2418715"/>
                </a:lnTo>
                <a:lnTo>
                  <a:pt x="7619" y="2418715"/>
                </a:lnTo>
                <a:lnTo>
                  <a:pt x="7619" y="2422525"/>
                </a:lnTo>
                <a:close/>
              </a:path>
              <a:path w="4084320" h="2426335">
                <a:moveTo>
                  <a:pt x="4076700" y="2422525"/>
                </a:moveTo>
                <a:lnTo>
                  <a:pt x="7619" y="2422525"/>
                </a:lnTo>
                <a:lnTo>
                  <a:pt x="7619" y="2418715"/>
                </a:lnTo>
                <a:lnTo>
                  <a:pt x="4076700" y="2418715"/>
                </a:lnTo>
                <a:lnTo>
                  <a:pt x="4076700" y="2422525"/>
                </a:lnTo>
                <a:close/>
              </a:path>
              <a:path w="4084320" h="2426335">
                <a:moveTo>
                  <a:pt x="4084320" y="2422525"/>
                </a:moveTo>
                <a:lnTo>
                  <a:pt x="4076700" y="2422525"/>
                </a:lnTo>
                <a:lnTo>
                  <a:pt x="4080509" y="2418715"/>
                </a:lnTo>
                <a:lnTo>
                  <a:pt x="4084320" y="2418715"/>
                </a:lnTo>
                <a:lnTo>
                  <a:pt x="4084320" y="24225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212335" y="3426459"/>
            <a:ext cx="4076700" cy="240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805" marR="520065">
              <a:lnSpc>
                <a:spcPct val="129900"/>
              </a:lnSpc>
              <a:spcBef>
                <a:spcPts val="95"/>
              </a:spcBef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Animal[]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 =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Animal[2];  a[0]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Bird("bird",4);</a:t>
            </a:r>
            <a:endParaRPr sz="2400">
              <a:latin typeface="Calibri"/>
              <a:cs typeface="Calibri"/>
            </a:endParaRPr>
          </a:p>
          <a:p>
            <a:pPr marL="90805" marR="666750">
              <a:lnSpc>
                <a:spcPts val="3740"/>
              </a:lnSpc>
              <a:spcBef>
                <a:spcPts val="270"/>
              </a:spcBef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a[1]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=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Fish("fish",1); 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for(int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i=0;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i&lt;a.length;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i++){</a:t>
            </a:r>
            <a:endParaRPr sz="24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590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a[i].move();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431165" y="1246505"/>
            <a:ext cx="180340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</a:t>
            </a:r>
            <a:r>
              <a:rPr sz="2800" spc="-15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Music3.jav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165" y="2101214"/>
            <a:ext cx="3810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a 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1400" y="2764154"/>
            <a:ext cx="2057400" cy="76200"/>
          </a:xfrm>
          <a:custGeom>
            <a:avLst/>
            <a:gdLst/>
            <a:ahLst/>
            <a:cxnLst/>
            <a:rect l="l" t="t" r="r" b="b"/>
            <a:pathLst>
              <a:path w="20574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2057400" h="76200">
                <a:moveTo>
                  <a:pt x="1981200" y="76200"/>
                </a:moveTo>
                <a:lnTo>
                  <a:pt x="1981200" y="0"/>
                </a:lnTo>
                <a:lnTo>
                  <a:pt x="2047875" y="33337"/>
                </a:lnTo>
                <a:lnTo>
                  <a:pt x="2000250" y="33337"/>
                </a:lnTo>
                <a:lnTo>
                  <a:pt x="2000250" y="42862"/>
                </a:lnTo>
                <a:lnTo>
                  <a:pt x="2047875" y="42862"/>
                </a:lnTo>
                <a:lnTo>
                  <a:pt x="1981200" y="76200"/>
                </a:lnTo>
                <a:close/>
              </a:path>
              <a:path w="20574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2057400" h="76200">
                <a:moveTo>
                  <a:pt x="19812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981200" y="33337"/>
                </a:lnTo>
                <a:lnTo>
                  <a:pt x="1981200" y="42862"/>
                </a:lnTo>
                <a:close/>
              </a:path>
              <a:path w="2057400" h="76200">
                <a:moveTo>
                  <a:pt x="2047875" y="42862"/>
                </a:moveTo>
                <a:lnTo>
                  <a:pt x="2000250" y="42862"/>
                </a:lnTo>
                <a:lnTo>
                  <a:pt x="2000250" y="33337"/>
                </a:lnTo>
                <a:lnTo>
                  <a:pt x="2047875" y="33337"/>
                </a:lnTo>
                <a:lnTo>
                  <a:pt x="2057400" y="38100"/>
                </a:lnTo>
                <a:lnTo>
                  <a:pt x="20478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71700" y="3030854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1600" y="3640835"/>
            <a:ext cx="167640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66837" y="3635692"/>
            <a:ext cx="1685925" cy="695325"/>
          </a:xfrm>
          <a:custGeom>
            <a:avLst/>
            <a:gdLst/>
            <a:ahLst/>
            <a:cxnLst/>
            <a:rect l="l" t="t" r="r" b="b"/>
            <a:pathLst>
              <a:path w="1685925" h="695325">
                <a:moveTo>
                  <a:pt x="1685925" y="695325"/>
                </a:moveTo>
                <a:lnTo>
                  <a:pt x="0" y="695325"/>
                </a:lnTo>
                <a:lnTo>
                  <a:pt x="0" y="0"/>
                </a:lnTo>
                <a:lnTo>
                  <a:pt x="1685925" y="0"/>
                </a:lnTo>
                <a:lnTo>
                  <a:pt x="1685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685925" y="690562"/>
                </a:lnTo>
                <a:lnTo>
                  <a:pt x="1685925" y="695325"/>
                </a:lnTo>
                <a:close/>
              </a:path>
              <a:path w="1685925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85925" h="695325">
                <a:moveTo>
                  <a:pt x="1676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76400" y="4762"/>
                </a:lnTo>
                <a:lnTo>
                  <a:pt x="1676400" y="9525"/>
                </a:lnTo>
                <a:close/>
              </a:path>
              <a:path w="1685925" h="695325">
                <a:moveTo>
                  <a:pt x="1676400" y="690562"/>
                </a:moveTo>
                <a:lnTo>
                  <a:pt x="1676400" y="4762"/>
                </a:lnTo>
                <a:lnTo>
                  <a:pt x="1681162" y="9525"/>
                </a:lnTo>
                <a:lnTo>
                  <a:pt x="1685925" y="9525"/>
                </a:lnTo>
                <a:lnTo>
                  <a:pt x="1685925" y="685800"/>
                </a:lnTo>
                <a:lnTo>
                  <a:pt x="1681162" y="685800"/>
                </a:lnTo>
                <a:lnTo>
                  <a:pt x="1676400" y="690562"/>
                </a:lnTo>
                <a:close/>
              </a:path>
              <a:path w="1685925" h="695325">
                <a:moveTo>
                  <a:pt x="1685925" y="9525"/>
                </a:moveTo>
                <a:lnTo>
                  <a:pt x="1681162" y="9525"/>
                </a:lnTo>
                <a:lnTo>
                  <a:pt x="1676400" y="4762"/>
                </a:lnTo>
                <a:lnTo>
                  <a:pt x="1685925" y="4762"/>
                </a:lnTo>
                <a:lnTo>
                  <a:pt x="1685925" y="9525"/>
                </a:lnTo>
                <a:close/>
              </a:path>
              <a:path w="1685925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685925" h="695325">
                <a:moveTo>
                  <a:pt x="1676400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676400" y="685800"/>
                </a:lnTo>
                <a:lnTo>
                  <a:pt x="1676400" y="690562"/>
                </a:lnTo>
                <a:close/>
              </a:path>
              <a:path w="1685925" h="695325">
                <a:moveTo>
                  <a:pt x="1685925" y="690562"/>
                </a:moveTo>
                <a:lnTo>
                  <a:pt x="1676400" y="690562"/>
                </a:lnTo>
                <a:lnTo>
                  <a:pt x="1681162" y="685800"/>
                </a:lnTo>
                <a:lnTo>
                  <a:pt x="1685925" y="685800"/>
                </a:lnTo>
                <a:lnTo>
                  <a:pt x="1685925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19800" y="3640835"/>
            <a:ext cx="167640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15037" y="3635692"/>
            <a:ext cx="1685925" cy="695325"/>
          </a:xfrm>
          <a:custGeom>
            <a:avLst/>
            <a:gdLst/>
            <a:ahLst/>
            <a:cxnLst/>
            <a:rect l="l" t="t" r="r" b="b"/>
            <a:pathLst>
              <a:path w="1685925" h="695325">
                <a:moveTo>
                  <a:pt x="1685925" y="695325"/>
                </a:moveTo>
                <a:lnTo>
                  <a:pt x="0" y="695325"/>
                </a:lnTo>
                <a:lnTo>
                  <a:pt x="0" y="0"/>
                </a:lnTo>
                <a:lnTo>
                  <a:pt x="1685925" y="0"/>
                </a:lnTo>
                <a:lnTo>
                  <a:pt x="1685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685925" y="690562"/>
                </a:lnTo>
                <a:lnTo>
                  <a:pt x="1685925" y="695325"/>
                </a:lnTo>
                <a:close/>
              </a:path>
              <a:path w="1685925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85925" h="695325">
                <a:moveTo>
                  <a:pt x="1676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76400" y="4762"/>
                </a:lnTo>
                <a:lnTo>
                  <a:pt x="1676400" y="9525"/>
                </a:lnTo>
                <a:close/>
              </a:path>
              <a:path w="1685925" h="695325">
                <a:moveTo>
                  <a:pt x="1676400" y="690562"/>
                </a:moveTo>
                <a:lnTo>
                  <a:pt x="1676400" y="4762"/>
                </a:lnTo>
                <a:lnTo>
                  <a:pt x="1681162" y="9525"/>
                </a:lnTo>
                <a:lnTo>
                  <a:pt x="1685925" y="9525"/>
                </a:lnTo>
                <a:lnTo>
                  <a:pt x="1685925" y="685800"/>
                </a:lnTo>
                <a:lnTo>
                  <a:pt x="1681162" y="685800"/>
                </a:lnTo>
                <a:lnTo>
                  <a:pt x="1676400" y="690562"/>
                </a:lnTo>
                <a:close/>
              </a:path>
              <a:path w="1685925" h="695325">
                <a:moveTo>
                  <a:pt x="1685925" y="9525"/>
                </a:moveTo>
                <a:lnTo>
                  <a:pt x="1681162" y="9525"/>
                </a:lnTo>
                <a:lnTo>
                  <a:pt x="1676400" y="4762"/>
                </a:lnTo>
                <a:lnTo>
                  <a:pt x="1685925" y="4762"/>
                </a:lnTo>
                <a:lnTo>
                  <a:pt x="1685925" y="9525"/>
                </a:lnTo>
                <a:close/>
              </a:path>
              <a:path w="1685925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685925" h="695325">
                <a:moveTo>
                  <a:pt x="1676400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676400" y="685800"/>
                </a:lnTo>
                <a:lnTo>
                  <a:pt x="1676400" y="690562"/>
                </a:lnTo>
                <a:close/>
              </a:path>
              <a:path w="1685925" h="695325">
                <a:moveTo>
                  <a:pt x="1685925" y="690562"/>
                </a:moveTo>
                <a:lnTo>
                  <a:pt x="1676400" y="690562"/>
                </a:lnTo>
                <a:lnTo>
                  <a:pt x="1681162" y="685800"/>
                </a:lnTo>
                <a:lnTo>
                  <a:pt x="1685925" y="685800"/>
                </a:lnTo>
                <a:lnTo>
                  <a:pt x="1685925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43700" y="3030854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9419" y="370357"/>
            <a:ext cx="7411720" cy="544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6615">
              <a:lnSpc>
                <a:spcPct val="100000"/>
              </a:lnSpc>
              <a:spcBef>
                <a:spcPts val="100"/>
              </a:spcBef>
              <a:tabLst>
                <a:tab pos="1661160" algn="l"/>
              </a:tabLst>
            </a:pPr>
            <a:r>
              <a:rPr sz="2100" b="1" spc="-5" dirty="0">
                <a:latin typeface="微软雅黑"/>
                <a:cs typeface="微软雅黑"/>
              </a:rPr>
              <a:t>6.1.2	</a:t>
            </a:r>
            <a:r>
              <a:rPr sz="2100" b="1" dirty="0">
                <a:latin typeface="微软雅黑"/>
                <a:cs typeface="微软雅黑"/>
              </a:rPr>
              <a:t>静态绑定和动态绑定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动态绑定技术</a:t>
            </a:r>
            <a:r>
              <a:rPr sz="2800" spc="-5" dirty="0">
                <a:latin typeface="微软雅黑"/>
                <a:cs typeface="微软雅黑"/>
              </a:rPr>
              <a:t>：</a:t>
            </a:r>
            <a:r>
              <a:rPr sz="2800" spc="-80" dirty="0">
                <a:latin typeface="微软雅黑"/>
                <a:cs typeface="微软雅黑"/>
              </a:rPr>
              <a:t> </a:t>
            </a:r>
            <a:r>
              <a:rPr sz="2800" spc="-25" dirty="0">
                <a:latin typeface="微软雅黑"/>
                <a:cs typeface="微软雅黑"/>
              </a:rPr>
              <a:t>Java</a:t>
            </a:r>
            <a:r>
              <a:rPr sz="2800" dirty="0">
                <a:latin typeface="微软雅黑"/>
                <a:cs typeface="微软雅黑"/>
              </a:rPr>
              <a:t>虚拟机实现，多态的基</a:t>
            </a:r>
            <a:r>
              <a:rPr sz="2800" spc="-5" dirty="0">
                <a:latin typeface="微软雅黑"/>
                <a:cs typeface="微软雅黑"/>
              </a:rPr>
              <a:t>础</a:t>
            </a:r>
            <a:endParaRPr sz="2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静态绑定技术：编译</a:t>
            </a:r>
            <a:r>
              <a:rPr sz="2800" spc="-5" dirty="0">
                <a:latin typeface="微软雅黑"/>
                <a:cs typeface="微软雅黑"/>
              </a:rPr>
              <a:t>器</a:t>
            </a:r>
            <a:endParaRPr sz="2800">
              <a:latin typeface="微软雅黑"/>
              <a:cs typeface="微软雅黑"/>
            </a:endParaRPr>
          </a:p>
          <a:p>
            <a:pPr marL="947419">
              <a:lnSpc>
                <a:spcPct val="100000"/>
              </a:lnSpc>
              <a:spcBef>
                <a:spcPts val="1675"/>
              </a:spcBef>
              <a:tabLst>
                <a:tab pos="5594985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early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binding	late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binding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50">
              <a:latin typeface="Times New Roman"/>
              <a:cs typeface="Times New Roman"/>
            </a:endParaRPr>
          </a:p>
          <a:p>
            <a:pPr marL="970280">
              <a:lnSpc>
                <a:spcPct val="100000"/>
              </a:lnSpc>
              <a:spcBef>
                <a:spcPts val="5"/>
              </a:spcBef>
              <a:tabLst>
                <a:tab pos="5906135" algn="l"/>
              </a:tabLst>
            </a:pPr>
            <a:r>
              <a:rPr sz="2400" spc="-5" dirty="0">
                <a:solidFill>
                  <a:srgbClr val="ED7A07"/>
                </a:solidFill>
                <a:latin typeface="Times New Roman"/>
                <a:cs typeface="Times New Roman"/>
              </a:rPr>
              <a:t>compile</a:t>
            </a:r>
            <a:r>
              <a:rPr sz="2400" dirty="0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ED7A07"/>
                </a:solidFill>
                <a:latin typeface="Times New Roman"/>
                <a:cs typeface="Times New Roman"/>
              </a:rPr>
              <a:t>time	</a:t>
            </a:r>
            <a:r>
              <a:rPr sz="2400" dirty="0">
                <a:solidFill>
                  <a:srgbClr val="ED7A07"/>
                </a:solidFill>
                <a:latin typeface="Times New Roman"/>
                <a:cs typeface="Times New Roman"/>
              </a:rPr>
              <a:t>run</a:t>
            </a:r>
            <a:r>
              <a:rPr sz="2400" spc="-15" dirty="0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ED7A07"/>
                </a:solidFill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50">
              <a:latin typeface="Times New Roman"/>
              <a:cs typeface="Times New Roman"/>
            </a:endParaRPr>
          </a:p>
          <a:p>
            <a:pPr marL="624205" marR="222885" algn="just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mechanism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determine the type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object</a:t>
            </a:r>
            <a:r>
              <a:rPr sz="2400" spc="-5" dirty="0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决定 对象的类型）</a:t>
            </a:r>
            <a:r>
              <a:rPr sz="2400" spc="-60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at run-time and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call the appropriate  method.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70700"/>
            <a:ext cx="8041640" cy="5031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  <a:tabLst>
                <a:tab pos="2021839" algn="l"/>
              </a:tabLst>
            </a:pPr>
            <a:r>
              <a:rPr sz="2100" b="1" spc="-5" dirty="0">
                <a:latin typeface="微软雅黑"/>
                <a:cs typeface="微软雅黑"/>
              </a:rPr>
              <a:t>6.1.2	</a:t>
            </a:r>
            <a:r>
              <a:rPr sz="2100" b="1" dirty="0">
                <a:latin typeface="微软雅黑"/>
                <a:cs typeface="微软雅黑"/>
              </a:rPr>
              <a:t>静态绑定和动态绑定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微软雅黑"/>
              <a:cs typeface="微软雅黑"/>
            </a:endParaRPr>
          </a:p>
          <a:p>
            <a:pPr marL="622300" indent="-609600">
              <a:lnSpc>
                <a:spcPct val="100000"/>
              </a:lnSpc>
              <a:buFont typeface="Arial"/>
              <a:buChar char="•"/>
              <a:tabLst>
                <a:tab pos="621665" algn="l"/>
                <a:tab pos="622300" algn="l"/>
              </a:tabLst>
            </a:pPr>
            <a:r>
              <a:rPr sz="2800" spc="-5" dirty="0">
                <a:latin typeface="微软雅黑"/>
                <a:cs typeface="微软雅黑"/>
              </a:rPr>
              <a:t>JVM</a:t>
            </a:r>
            <a:r>
              <a:rPr sz="2800" dirty="0">
                <a:latin typeface="微软雅黑"/>
                <a:cs typeface="微软雅黑"/>
              </a:rPr>
              <a:t>调用方法的过</a:t>
            </a:r>
            <a:r>
              <a:rPr sz="2800" spc="-5" dirty="0">
                <a:latin typeface="微软雅黑"/>
                <a:cs typeface="微软雅黑"/>
              </a:rPr>
              <a:t>程</a:t>
            </a:r>
            <a:endParaRPr sz="2800">
              <a:latin typeface="微软雅黑"/>
              <a:cs typeface="微软雅黑"/>
            </a:endParaRPr>
          </a:p>
          <a:p>
            <a:pPr marL="1003300" marR="20955" lvl="1" indent="-533400">
              <a:lnSpc>
                <a:spcPts val="2590"/>
              </a:lnSpc>
              <a:spcBef>
                <a:spcPts val="415"/>
              </a:spcBef>
              <a:buAutoNum type="arabicPeriod"/>
              <a:tabLst>
                <a:tab pos="1002665" algn="l"/>
                <a:tab pos="1003300" algn="l"/>
              </a:tabLst>
            </a:pPr>
            <a:r>
              <a:rPr sz="2400" dirty="0">
                <a:latin typeface="微软雅黑"/>
                <a:cs typeface="微软雅黑"/>
              </a:rPr>
              <a:t>编译器查看对象的声明类型和方法名，找出所有可能 被调用的候选方法。</a:t>
            </a:r>
            <a:endParaRPr sz="2400">
              <a:latin typeface="微软雅黑"/>
              <a:cs typeface="微软雅黑"/>
            </a:endParaRPr>
          </a:p>
          <a:p>
            <a:pPr marL="1003300" marR="20955" lvl="1" indent="-533400">
              <a:lnSpc>
                <a:spcPts val="2590"/>
              </a:lnSpc>
              <a:spcBef>
                <a:spcPts val="375"/>
              </a:spcBef>
              <a:buAutoNum type="arabicPeriod"/>
              <a:tabLst>
                <a:tab pos="1002665" algn="l"/>
                <a:tab pos="1003300" algn="l"/>
              </a:tabLst>
            </a:pPr>
            <a:r>
              <a:rPr sz="2400" dirty="0">
                <a:latin typeface="微软雅黑"/>
                <a:cs typeface="微软雅黑"/>
              </a:rPr>
              <a:t>编译器查看调用方法时提供的参数类型，如果存在一 个参数类型和个数完全匹配的方法，则调用该方法--</a:t>
            </a:r>
            <a:endParaRPr sz="2400">
              <a:latin typeface="微软雅黑"/>
              <a:cs typeface="微软雅黑"/>
            </a:endParaRPr>
          </a:p>
          <a:p>
            <a:pPr marL="1003300">
              <a:lnSpc>
                <a:spcPts val="2550"/>
              </a:lnSpc>
            </a:pPr>
            <a:r>
              <a:rPr sz="2400" dirty="0">
                <a:latin typeface="微软雅黑"/>
                <a:cs typeface="微软雅黑"/>
              </a:rPr>
              <a:t>-</a:t>
            </a: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重载解析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003300" marR="60960" lvl="1" indent="-533400">
              <a:lnSpc>
                <a:spcPts val="2590"/>
              </a:lnSpc>
              <a:spcBef>
                <a:spcPts val="414"/>
              </a:spcBef>
              <a:buAutoNum type="arabicPeriod" startAt="3"/>
              <a:tabLst>
                <a:tab pos="1002665" algn="l"/>
                <a:tab pos="1003300" algn="l"/>
              </a:tabLst>
            </a:pPr>
            <a:r>
              <a:rPr sz="2400" dirty="0">
                <a:latin typeface="微软雅黑"/>
                <a:cs typeface="微软雅黑"/>
              </a:rPr>
              <a:t>如果方法是</a:t>
            </a:r>
            <a:r>
              <a:rPr sz="2400" spc="-15" dirty="0">
                <a:latin typeface="微软雅黑"/>
                <a:cs typeface="微软雅黑"/>
              </a:rPr>
              <a:t>private</a:t>
            </a:r>
            <a:r>
              <a:rPr sz="2400" dirty="0">
                <a:latin typeface="微软雅黑"/>
                <a:cs typeface="微软雅黑"/>
              </a:rPr>
              <a:t>、</a:t>
            </a:r>
            <a:r>
              <a:rPr sz="2400" spc="-5" dirty="0">
                <a:latin typeface="微软雅黑"/>
                <a:cs typeface="微软雅黑"/>
              </a:rPr>
              <a:t>static</a:t>
            </a:r>
            <a:r>
              <a:rPr sz="2400" dirty="0">
                <a:latin typeface="微软雅黑"/>
                <a:cs typeface="微软雅黑"/>
              </a:rPr>
              <a:t>、</a:t>
            </a:r>
            <a:r>
              <a:rPr sz="2400" spc="-5" dirty="0">
                <a:latin typeface="微软雅黑"/>
                <a:cs typeface="微软雅黑"/>
              </a:rPr>
              <a:t>final</a:t>
            </a:r>
            <a:r>
              <a:rPr sz="2400" dirty="0">
                <a:latin typeface="微软雅黑"/>
                <a:cs typeface="微软雅黑"/>
              </a:rPr>
              <a:t>、构造方法，则编 译器可以准确地获悉应该调用哪个方法并进行调用--</a:t>
            </a:r>
            <a:endParaRPr sz="2400">
              <a:latin typeface="微软雅黑"/>
              <a:cs typeface="微软雅黑"/>
            </a:endParaRPr>
          </a:p>
          <a:p>
            <a:pPr marL="1003300">
              <a:lnSpc>
                <a:spcPts val="2550"/>
              </a:lnSpc>
            </a:pPr>
            <a:r>
              <a:rPr sz="2400" dirty="0">
                <a:latin typeface="微软雅黑"/>
                <a:cs typeface="微软雅黑"/>
              </a:rPr>
              <a:t>-</a:t>
            </a: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静态绑定</a:t>
            </a:r>
            <a:r>
              <a:rPr sz="2400" dirty="0">
                <a:latin typeface="微软雅黑"/>
                <a:cs typeface="微软雅黑"/>
              </a:rPr>
              <a:t>。否则，将进行</a:t>
            </a: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动态绑定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003300" marR="5080" lvl="1" indent="-533400">
              <a:lnSpc>
                <a:spcPts val="2590"/>
              </a:lnSpc>
              <a:spcBef>
                <a:spcPts val="409"/>
              </a:spcBef>
              <a:buAutoNum type="arabicPeriod" startAt="4"/>
              <a:tabLst>
                <a:tab pos="1002665" algn="l"/>
                <a:tab pos="1003300" algn="l"/>
              </a:tabLst>
            </a:pPr>
            <a:r>
              <a:rPr sz="2400" dirty="0">
                <a:latin typeface="微软雅黑"/>
                <a:cs typeface="微软雅黑"/>
              </a:rPr>
              <a:t>当程序运行、并采用动态绑定调用方法时，</a:t>
            </a:r>
            <a:r>
              <a:rPr sz="2400" spc="-5" dirty="0">
                <a:latin typeface="微软雅黑"/>
                <a:cs typeface="微软雅黑"/>
              </a:rPr>
              <a:t>J</a:t>
            </a:r>
            <a:r>
              <a:rPr sz="2400" dirty="0">
                <a:latin typeface="微软雅黑"/>
                <a:cs typeface="微软雅黑"/>
              </a:rPr>
              <a:t>VM一定 调用</a:t>
            </a:r>
            <a:r>
              <a:rPr sz="2400" dirty="0">
                <a:solidFill>
                  <a:srgbClr val="990000"/>
                </a:solidFill>
                <a:latin typeface="微软雅黑"/>
                <a:cs typeface="微软雅黑"/>
              </a:rPr>
              <a:t>与当前对象的实际类型最合适</a:t>
            </a:r>
            <a:r>
              <a:rPr sz="2400" dirty="0">
                <a:latin typeface="微软雅黑"/>
                <a:cs typeface="微软雅黑"/>
              </a:rPr>
              <a:t>的那个类的方法。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2302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1</a:t>
            </a:r>
            <a:r>
              <a:rPr sz="2100" u="none" dirty="0"/>
              <a:t>.2	静态绑定和动态绑定</a:t>
            </a:r>
            <a:endParaRPr sz="2100"/>
          </a:p>
        </p:txBody>
      </p:sp>
      <p:sp>
        <p:nvSpPr>
          <p:cNvPr id="3" name="object 3"/>
          <p:cNvSpPr txBox="1"/>
          <p:nvPr/>
        </p:nvSpPr>
        <p:spPr>
          <a:xfrm>
            <a:off x="1085214" y="1513205"/>
            <a:ext cx="766381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动态绑定的作用：无需对现存的代码进行修改</a:t>
            </a:r>
            <a:r>
              <a:rPr sz="2800" spc="-5" dirty="0">
                <a:latin typeface="微软雅黑"/>
                <a:cs typeface="微软雅黑"/>
              </a:rPr>
              <a:t>， </a:t>
            </a:r>
            <a:r>
              <a:rPr sz="2800" dirty="0">
                <a:latin typeface="微软雅黑"/>
                <a:cs typeface="微软雅黑"/>
              </a:rPr>
              <a:t>就可以对程序进行扩展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54846" y="2584834"/>
            <a:ext cx="4862945" cy="2563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86914" y="5241290"/>
            <a:ext cx="35032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sz="2800" spc="-2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Shapes.java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70700"/>
            <a:ext cx="8017509" cy="2688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  <a:tabLst>
                <a:tab pos="2021839" algn="l"/>
              </a:tabLst>
            </a:pPr>
            <a:r>
              <a:rPr sz="2100" b="1" spc="-5" dirty="0">
                <a:latin typeface="微软雅黑"/>
                <a:cs typeface="微软雅黑"/>
              </a:rPr>
              <a:t>6.1.3	</a:t>
            </a:r>
            <a:r>
              <a:rPr sz="2100" b="1" spc="-10" dirty="0">
                <a:latin typeface="微软雅黑"/>
                <a:cs typeface="微软雅黑"/>
              </a:rPr>
              <a:t>instanceof</a:t>
            </a:r>
            <a:r>
              <a:rPr sz="2100" b="1" dirty="0">
                <a:latin typeface="微软雅黑"/>
                <a:cs typeface="微软雅黑"/>
              </a:rPr>
              <a:t>运算符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3500">
              <a:latin typeface="微软雅黑"/>
              <a:cs typeface="微软雅黑"/>
            </a:endParaRPr>
          </a:p>
          <a:p>
            <a:pPr marL="184150" marR="5080" indent="-171450">
              <a:lnSpc>
                <a:spcPts val="3020"/>
              </a:lnSpc>
              <a:buFont typeface="Arial"/>
              <a:buChar char="•"/>
              <a:tabLst>
                <a:tab pos="184150" algn="l"/>
              </a:tabLst>
            </a:pPr>
            <a:r>
              <a:rPr sz="2800" spc="-45" dirty="0">
                <a:latin typeface="微软雅黑"/>
                <a:cs typeface="微软雅黑"/>
              </a:rPr>
              <a:t>J</a:t>
            </a:r>
            <a:r>
              <a:rPr sz="2800" dirty="0">
                <a:latin typeface="微软雅黑"/>
                <a:cs typeface="微软雅黑"/>
              </a:rPr>
              <a:t>a</a:t>
            </a:r>
            <a:r>
              <a:rPr sz="2800" spc="-60" dirty="0">
                <a:latin typeface="微软雅黑"/>
                <a:cs typeface="微软雅黑"/>
              </a:rPr>
              <a:t>v</a:t>
            </a:r>
            <a:r>
              <a:rPr sz="2800" dirty="0">
                <a:latin typeface="微软雅黑"/>
                <a:cs typeface="微软雅黑"/>
              </a:rPr>
              <a:t>a编译器允许在具有直接或间接继承关系的类</a:t>
            </a:r>
            <a:r>
              <a:rPr sz="2800" spc="-5" dirty="0">
                <a:latin typeface="微软雅黑"/>
                <a:cs typeface="微软雅黑"/>
              </a:rPr>
              <a:t>之 </a:t>
            </a:r>
            <a:r>
              <a:rPr sz="2800" dirty="0">
                <a:latin typeface="微软雅黑"/>
                <a:cs typeface="微软雅黑"/>
              </a:rPr>
              <a:t>间进行类型转换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子类对象-</a:t>
            </a:r>
            <a:r>
              <a:rPr sz="2400" spc="-5" dirty="0">
                <a:latin typeface="微软雅黑"/>
                <a:cs typeface="微软雅黑"/>
              </a:rPr>
              <a:t>&gt;</a:t>
            </a:r>
            <a:r>
              <a:rPr sz="2400" dirty="0">
                <a:latin typeface="微软雅黑"/>
                <a:cs typeface="微软雅黑"/>
              </a:rPr>
              <a:t>父类引用</a:t>
            </a:r>
            <a:r>
              <a:rPr sz="2400" spc="-5" dirty="0">
                <a:latin typeface="微软雅黑"/>
                <a:cs typeface="微软雅黑"/>
              </a:rPr>
              <a:t>(</a:t>
            </a:r>
            <a:r>
              <a:rPr sz="2400" dirty="0">
                <a:solidFill>
                  <a:srgbClr val="CC0000"/>
                </a:solidFill>
                <a:latin typeface="微软雅黑"/>
                <a:cs typeface="微软雅黑"/>
              </a:rPr>
              <a:t>向上转型</a:t>
            </a:r>
            <a:r>
              <a:rPr sz="2400" dirty="0">
                <a:latin typeface="微软雅黑"/>
                <a:cs typeface="微软雅黑"/>
              </a:rPr>
              <a:t>)</a:t>
            </a:r>
            <a:endParaRPr sz="24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父类引用-</a:t>
            </a:r>
            <a:r>
              <a:rPr sz="2400" spc="-5" dirty="0">
                <a:latin typeface="微软雅黑"/>
                <a:cs typeface="微软雅黑"/>
              </a:rPr>
              <a:t>&gt;</a:t>
            </a:r>
            <a:r>
              <a:rPr sz="2400" dirty="0">
                <a:latin typeface="微软雅黑"/>
                <a:cs typeface="微软雅黑"/>
              </a:rPr>
              <a:t>子类引用</a:t>
            </a:r>
            <a:r>
              <a:rPr sz="2400" spc="-5" dirty="0">
                <a:latin typeface="微软雅黑"/>
                <a:cs typeface="微软雅黑"/>
              </a:rPr>
              <a:t>(</a:t>
            </a:r>
            <a:r>
              <a:rPr sz="2400" dirty="0">
                <a:solidFill>
                  <a:srgbClr val="CC0000"/>
                </a:solidFill>
                <a:latin typeface="微软雅黑"/>
                <a:cs typeface="微软雅黑"/>
              </a:rPr>
              <a:t>向下转型</a:t>
            </a:r>
            <a:r>
              <a:rPr sz="2400" dirty="0">
                <a:latin typeface="微软雅黑"/>
                <a:cs typeface="微软雅黑"/>
              </a:rPr>
              <a:t>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90875" y="3560762"/>
            <a:ext cx="1968500" cy="960755"/>
          </a:xfrm>
          <a:custGeom>
            <a:avLst/>
            <a:gdLst/>
            <a:ahLst/>
            <a:cxnLst/>
            <a:rect l="l" t="t" r="r" b="b"/>
            <a:pathLst>
              <a:path w="1968500" h="960754">
                <a:moveTo>
                  <a:pt x="1968500" y="960437"/>
                </a:moveTo>
                <a:lnTo>
                  <a:pt x="0" y="960437"/>
                </a:lnTo>
                <a:lnTo>
                  <a:pt x="0" y="0"/>
                </a:lnTo>
                <a:lnTo>
                  <a:pt x="1968500" y="0"/>
                </a:lnTo>
                <a:lnTo>
                  <a:pt x="19685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935037"/>
                </a:lnTo>
                <a:lnTo>
                  <a:pt x="12700" y="935037"/>
                </a:lnTo>
                <a:lnTo>
                  <a:pt x="25400" y="947737"/>
                </a:lnTo>
                <a:lnTo>
                  <a:pt x="1968500" y="947737"/>
                </a:lnTo>
                <a:lnTo>
                  <a:pt x="1968500" y="960437"/>
                </a:lnTo>
                <a:close/>
              </a:path>
              <a:path w="1968500" h="960754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960754">
                <a:moveTo>
                  <a:pt x="19431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100" y="12700"/>
                </a:lnTo>
                <a:lnTo>
                  <a:pt x="1943100" y="25400"/>
                </a:lnTo>
                <a:close/>
              </a:path>
              <a:path w="1968500" h="960754">
                <a:moveTo>
                  <a:pt x="1943100" y="947737"/>
                </a:moveTo>
                <a:lnTo>
                  <a:pt x="1943100" y="12700"/>
                </a:lnTo>
                <a:lnTo>
                  <a:pt x="1955800" y="25400"/>
                </a:lnTo>
                <a:lnTo>
                  <a:pt x="1968500" y="25400"/>
                </a:lnTo>
                <a:lnTo>
                  <a:pt x="1968500" y="935037"/>
                </a:lnTo>
                <a:lnTo>
                  <a:pt x="1955800" y="935037"/>
                </a:lnTo>
                <a:lnTo>
                  <a:pt x="1943100" y="947737"/>
                </a:lnTo>
                <a:close/>
              </a:path>
              <a:path w="1968500" h="960754">
                <a:moveTo>
                  <a:pt x="1968500" y="25400"/>
                </a:moveTo>
                <a:lnTo>
                  <a:pt x="1955800" y="25400"/>
                </a:lnTo>
                <a:lnTo>
                  <a:pt x="1943100" y="12700"/>
                </a:lnTo>
                <a:lnTo>
                  <a:pt x="1968500" y="12700"/>
                </a:lnTo>
                <a:lnTo>
                  <a:pt x="1968500" y="25400"/>
                </a:lnTo>
                <a:close/>
              </a:path>
              <a:path w="1968500" h="960754">
                <a:moveTo>
                  <a:pt x="25400" y="947737"/>
                </a:moveTo>
                <a:lnTo>
                  <a:pt x="12700" y="935037"/>
                </a:lnTo>
                <a:lnTo>
                  <a:pt x="25400" y="935037"/>
                </a:lnTo>
                <a:lnTo>
                  <a:pt x="25400" y="947737"/>
                </a:lnTo>
                <a:close/>
              </a:path>
              <a:path w="1968500" h="960754">
                <a:moveTo>
                  <a:pt x="1943100" y="947737"/>
                </a:moveTo>
                <a:lnTo>
                  <a:pt x="25400" y="947737"/>
                </a:lnTo>
                <a:lnTo>
                  <a:pt x="25400" y="935037"/>
                </a:lnTo>
                <a:lnTo>
                  <a:pt x="1943100" y="935037"/>
                </a:lnTo>
                <a:lnTo>
                  <a:pt x="1943100" y="947737"/>
                </a:lnTo>
                <a:close/>
              </a:path>
              <a:path w="1968500" h="960754">
                <a:moveTo>
                  <a:pt x="1968500" y="947737"/>
                </a:moveTo>
                <a:lnTo>
                  <a:pt x="1943100" y="947737"/>
                </a:lnTo>
                <a:lnTo>
                  <a:pt x="1955800" y="935037"/>
                </a:lnTo>
                <a:lnTo>
                  <a:pt x="1968500" y="935037"/>
                </a:lnTo>
                <a:lnTo>
                  <a:pt x="1968500" y="947737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9804" y="3595052"/>
            <a:ext cx="13106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宋体"/>
                <a:cs typeface="宋体"/>
              </a:rPr>
              <a:t>动物类</a:t>
            </a:r>
            <a:r>
              <a:rPr sz="1600" spc="-5" dirty="0">
                <a:latin typeface="Book Antiqua"/>
                <a:cs typeface="Book Antiqua"/>
              </a:rPr>
              <a:t>Ani</a:t>
            </a:r>
            <a:r>
              <a:rPr sz="1600" dirty="0">
                <a:latin typeface="Book Antiqua"/>
                <a:cs typeface="Book Antiqua"/>
              </a:rPr>
              <a:t>m</a:t>
            </a:r>
            <a:r>
              <a:rPr sz="1600" spc="-5" dirty="0">
                <a:latin typeface="Book Antiqua"/>
                <a:cs typeface="Book Antiqua"/>
              </a:rPr>
              <a:t>al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7620" y="3838130"/>
            <a:ext cx="664210" cy="6096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latin typeface="Book Antiqua"/>
                <a:cs typeface="Book Antiqua"/>
              </a:rPr>
              <a:t>m</a:t>
            </a:r>
            <a:r>
              <a:rPr sz="1600" spc="-5" dirty="0">
                <a:latin typeface="Book Antiqua"/>
                <a:cs typeface="Book Antiqua"/>
              </a:rPr>
              <a:t>ove()</a:t>
            </a:r>
            <a:endParaRPr sz="1600">
              <a:latin typeface="Book Antiqua"/>
              <a:cs typeface="Book Antiqua"/>
            </a:endParaRPr>
          </a:p>
          <a:p>
            <a:pPr marL="49530" algn="ctr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Book Antiqua"/>
                <a:cs typeface="Book Antiqua"/>
              </a:rPr>
              <a:t>eat()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3562" y="3912393"/>
            <a:ext cx="1941830" cy="0"/>
          </a:xfrm>
          <a:custGeom>
            <a:avLst/>
            <a:gdLst/>
            <a:ahLst/>
            <a:cxnLst/>
            <a:rect l="l" t="t" r="r" b="b"/>
            <a:pathLst>
              <a:path w="1941829">
                <a:moveTo>
                  <a:pt x="0" y="0"/>
                </a:moveTo>
                <a:lnTo>
                  <a:pt x="19415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90875" y="5000625"/>
            <a:ext cx="1968500" cy="889000"/>
          </a:xfrm>
          <a:custGeom>
            <a:avLst/>
            <a:gdLst/>
            <a:ahLst/>
            <a:cxnLst/>
            <a:rect l="l" t="t" r="r" b="b"/>
            <a:pathLst>
              <a:path w="1968500" h="889000">
                <a:moveTo>
                  <a:pt x="1968500" y="889000"/>
                </a:moveTo>
                <a:lnTo>
                  <a:pt x="0" y="889000"/>
                </a:lnTo>
                <a:lnTo>
                  <a:pt x="0" y="0"/>
                </a:lnTo>
                <a:lnTo>
                  <a:pt x="1968500" y="0"/>
                </a:lnTo>
                <a:lnTo>
                  <a:pt x="19685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863600"/>
                </a:lnTo>
                <a:lnTo>
                  <a:pt x="12700" y="863600"/>
                </a:lnTo>
                <a:lnTo>
                  <a:pt x="25400" y="876300"/>
                </a:lnTo>
                <a:lnTo>
                  <a:pt x="1968500" y="876300"/>
                </a:lnTo>
                <a:lnTo>
                  <a:pt x="1968500" y="889000"/>
                </a:lnTo>
                <a:close/>
              </a:path>
              <a:path w="1968500" h="8890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968500" h="889000">
                <a:moveTo>
                  <a:pt x="19431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943100" y="12700"/>
                </a:lnTo>
                <a:lnTo>
                  <a:pt x="1943100" y="25400"/>
                </a:lnTo>
                <a:close/>
              </a:path>
              <a:path w="1968500" h="889000">
                <a:moveTo>
                  <a:pt x="1943100" y="876300"/>
                </a:moveTo>
                <a:lnTo>
                  <a:pt x="1943100" y="12700"/>
                </a:lnTo>
                <a:lnTo>
                  <a:pt x="1955800" y="25400"/>
                </a:lnTo>
                <a:lnTo>
                  <a:pt x="1968500" y="25400"/>
                </a:lnTo>
                <a:lnTo>
                  <a:pt x="1968500" y="863600"/>
                </a:lnTo>
                <a:lnTo>
                  <a:pt x="1955800" y="863600"/>
                </a:lnTo>
                <a:lnTo>
                  <a:pt x="1943100" y="876300"/>
                </a:lnTo>
                <a:close/>
              </a:path>
              <a:path w="1968500" h="889000">
                <a:moveTo>
                  <a:pt x="1968500" y="25400"/>
                </a:moveTo>
                <a:lnTo>
                  <a:pt x="1955800" y="25400"/>
                </a:lnTo>
                <a:lnTo>
                  <a:pt x="1943100" y="12700"/>
                </a:lnTo>
                <a:lnTo>
                  <a:pt x="1968500" y="12700"/>
                </a:lnTo>
                <a:lnTo>
                  <a:pt x="1968500" y="25400"/>
                </a:lnTo>
                <a:close/>
              </a:path>
              <a:path w="1968500" h="889000">
                <a:moveTo>
                  <a:pt x="25400" y="876300"/>
                </a:moveTo>
                <a:lnTo>
                  <a:pt x="12700" y="863600"/>
                </a:lnTo>
                <a:lnTo>
                  <a:pt x="25400" y="863600"/>
                </a:lnTo>
                <a:lnTo>
                  <a:pt x="25400" y="876300"/>
                </a:lnTo>
                <a:close/>
              </a:path>
              <a:path w="1968500" h="889000">
                <a:moveTo>
                  <a:pt x="1943100" y="876300"/>
                </a:moveTo>
                <a:lnTo>
                  <a:pt x="25400" y="876300"/>
                </a:lnTo>
                <a:lnTo>
                  <a:pt x="25400" y="863600"/>
                </a:lnTo>
                <a:lnTo>
                  <a:pt x="1943100" y="863600"/>
                </a:lnTo>
                <a:lnTo>
                  <a:pt x="1943100" y="876300"/>
                </a:lnTo>
                <a:close/>
              </a:path>
              <a:path w="1968500" h="889000">
                <a:moveTo>
                  <a:pt x="1968500" y="876300"/>
                </a:moveTo>
                <a:lnTo>
                  <a:pt x="1943100" y="876300"/>
                </a:lnTo>
                <a:lnTo>
                  <a:pt x="1955800" y="863600"/>
                </a:lnTo>
                <a:lnTo>
                  <a:pt x="1968500" y="863600"/>
                </a:lnTo>
                <a:lnTo>
                  <a:pt x="1968500" y="876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65550" y="5029834"/>
            <a:ext cx="818515" cy="5200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4769" marR="5080" indent="-52069">
              <a:lnSpc>
                <a:spcPct val="103099"/>
              </a:lnSpc>
              <a:spcBef>
                <a:spcPts val="35"/>
              </a:spcBef>
            </a:pPr>
            <a:r>
              <a:rPr sz="1600" dirty="0">
                <a:latin typeface="宋体"/>
                <a:cs typeface="宋体"/>
              </a:rPr>
              <a:t>鸟类</a:t>
            </a:r>
            <a:r>
              <a:rPr sz="1600" spc="-5" dirty="0">
                <a:latin typeface="Book Antiqua"/>
                <a:cs typeface="Book Antiqua"/>
              </a:rPr>
              <a:t>Bi</a:t>
            </a:r>
            <a:r>
              <a:rPr sz="1600" spc="-10" dirty="0">
                <a:latin typeface="Book Antiqua"/>
                <a:cs typeface="Book Antiqua"/>
              </a:rPr>
              <a:t>r</a:t>
            </a:r>
            <a:r>
              <a:rPr sz="1600" spc="-5" dirty="0">
                <a:latin typeface="Book Antiqua"/>
                <a:cs typeface="Book Antiqua"/>
              </a:rPr>
              <a:t>d  move()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5884" y="5525134"/>
            <a:ext cx="5378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Book Antiqua"/>
                <a:cs typeface="Book Antiqua"/>
              </a:rPr>
              <a:t>sing()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03562" y="5301456"/>
            <a:ext cx="1943735" cy="0"/>
          </a:xfrm>
          <a:custGeom>
            <a:avLst/>
            <a:gdLst/>
            <a:ahLst/>
            <a:cxnLst/>
            <a:rect l="l" t="t" r="r" b="b"/>
            <a:pathLst>
              <a:path w="1943735">
                <a:moveTo>
                  <a:pt x="0" y="0"/>
                </a:moveTo>
                <a:lnTo>
                  <a:pt x="1943125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00512" y="4508500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2540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25400" y="57150"/>
                </a:lnTo>
                <a:lnTo>
                  <a:pt x="25400" y="76200"/>
                </a:lnTo>
                <a:close/>
              </a:path>
              <a:path w="76200" h="504825">
                <a:moveTo>
                  <a:pt x="50800" y="504825"/>
                </a:moveTo>
                <a:lnTo>
                  <a:pt x="25400" y="504825"/>
                </a:lnTo>
                <a:lnTo>
                  <a:pt x="25400" y="57150"/>
                </a:lnTo>
                <a:lnTo>
                  <a:pt x="50800" y="57150"/>
                </a:lnTo>
                <a:lnTo>
                  <a:pt x="50800" y="504825"/>
                </a:lnTo>
                <a:close/>
              </a:path>
              <a:path w="76200" h="504825">
                <a:moveTo>
                  <a:pt x="76200" y="76200"/>
                </a:moveTo>
                <a:lnTo>
                  <a:pt x="50800" y="76200"/>
                </a:lnTo>
                <a:lnTo>
                  <a:pt x="5080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60975" y="3457575"/>
            <a:ext cx="114300" cy="2700655"/>
          </a:xfrm>
          <a:custGeom>
            <a:avLst/>
            <a:gdLst/>
            <a:ahLst/>
            <a:cxnLst/>
            <a:rect l="l" t="t" r="r" b="b"/>
            <a:pathLst>
              <a:path w="114300" h="2700654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2700654">
                <a:moveTo>
                  <a:pt x="76200" y="2700337"/>
                </a:moveTo>
                <a:lnTo>
                  <a:pt x="38100" y="2700337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2700337"/>
                </a:lnTo>
                <a:close/>
              </a:path>
              <a:path w="114300" h="2700654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55590" y="3721100"/>
            <a:ext cx="3302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967A2C"/>
                </a:solidFill>
                <a:latin typeface="宋体"/>
                <a:cs typeface="宋体"/>
              </a:rPr>
              <a:t>向 上 转 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84500" y="3411537"/>
            <a:ext cx="114300" cy="2745105"/>
          </a:xfrm>
          <a:custGeom>
            <a:avLst/>
            <a:gdLst/>
            <a:ahLst/>
            <a:cxnLst/>
            <a:rect l="l" t="t" r="r" b="b"/>
            <a:pathLst>
              <a:path w="114300" h="2745104">
                <a:moveTo>
                  <a:pt x="57150" y="2744787"/>
                </a:moveTo>
                <a:lnTo>
                  <a:pt x="0" y="2630487"/>
                </a:lnTo>
                <a:lnTo>
                  <a:pt x="114300" y="2630487"/>
                </a:lnTo>
                <a:lnTo>
                  <a:pt x="57150" y="2744787"/>
                </a:lnTo>
                <a:close/>
              </a:path>
              <a:path w="114300" h="2745104">
                <a:moveTo>
                  <a:pt x="76200" y="38100"/>
                </a:moveTo>
                <a:lnTo>
                  <a:pt x="38100" y="38100"/>
                </a:lnTo>
                <a:lnTo>
                  <a:pt x="38100" y="0"/>
                </a:lnTo>
                <a:lnTo>
                  <a:pt x="76200" y="0"/>
                </a:lnTo>
                <a:lnTo>
                  <a:pt x="76200" y="38100"/>
                </a:lnTo>
                <a:close/>
              </a:path>
              <a:path w="114300" h="2745104">
                <a:moveTo>
                  <a:pt x="76200" y="114300"/>
                </a:moveTo>
                <a:lnTo>
                  <a:pt x="38100" y="1143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114300"/>
                </a:lnTo>
                <a:close/>
              </a:path>
              <a:path w="114300" h="2745104">
                <a:moveTo>
                  <a:pt x="76200" y="190500"/>
                </a:moveTo>
                <a:lnTo>
                  <a:pt x="38100" y="19050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190500"/>
                </a:lnTo>
                <a:close/>
              </a:path>
              <a:path w="114300" h="2745104">
                <a:moveTo>
                  <a:pt x="76200" y="266700"/>
                </a:moveTo>
                <a:lnTo>
                  <a:pt x="38100" y="266700"/>
                </a:lnTo>
                <a:lnTo>
                  <a:pt x="38100" y="228600"/>
                </a:lnTo>
                <a:lnTo>
                  <a:pt x="76200" y="228600"/>
                </a:lnTo>
                <a:lnTo>
                  <a:pt x="76200" y="266700"/>
                </a:lnTo>
                <a:close/>
              </a:path>
              <a:path w="114300" h="2745104">
                <a:moveTo>
                  <a:pt x="76200" y="342900"/>
                </a:moveTo>
                <a:lnTo>
                  <a:pt x="38100" y="342900"/>
                </a:lnTo>
                <a:lnTo>
                  <a:pt x="38100" y="304800"/>
                </a:lnTo>
                <a:lnTo>
                  <a:pt x="76200" y="304800"/>
                </a:lnTo>
                <a:lnTo>
                  <a:pt x="76200" y="342900"/>
                </a:lnTo>
                <a:close/>
              </a:path>
              <a:path w="114300" h="2745104">
                <a:moveTo>
                  <a:pt x="76200" y="419100"/>
                </a:moveTo>
                <a:lnTo>
                  <a:pt x="38100" y="419100"/>
                </a:lnTo>
                <a:lnTo>
                  <a:pt x="38100" y="381000"/>
                </a:lnTo>
                <a:lnTo>
                  <a:pt x="76200" y="381000"/>
                </a:lnTo>
                <a:lnTo>
                  <a:pt x="76200" y="419100"/>
                </a:lnTo>
                <a:close/>
              </a:path>
              <a:path w="114300" h="2745104">
                <a:moveTo>
                  <a:pt x="76200" y="495300"/>
                </a:moveTo>
                <a:lnTo>
                  <a:pt x="38100" y="495300"/>
                </a:lnTo>
                <a:lnTo>
                  <a:pt x="38100" y="457200"/>
                </a:lnTo>
                <a:lnTo>
                  <a:pt x="76200" y="457200"/>
                </a:lnTo>
                <a:lnTo>
                  <a:pt x="76200" y="495300"/>
                </a:lnTo>
                <a:close/>
              </a:path>
              <a:path w="114300" h="2745104">
                <a:moveTo>
                  <a:pt x="76200" y="571500"/>
                </a:moveTo>
                <a:lnTo>
                  <a:pt x="38100" y="571500"/>
                </a:lnTo>
                <a:lnTo>
                  <a:pt x="38100" y="533400"/>
                </a:lnTo>
                <a:lnTo>
                  <a:pt x="76200" y="533400"/>
                </a:lnTo>
                <a:lnTo>
                  <a:pt x="76200" y="571500"/>
                </a:lnTo>
                <a:close/>
              </a:path>
              <a:path w="114300" h="2745104">
                <a:moveTo>
                  <a:pt x="76200" y="647700"/>
                </a:moveTo>
                <a:lnTo>
                  <a:pt x="38100" y="647700"/>
                </a:lnTo>
                <a:lnTo>
                  <a:pt x="38100" y="609600"/>
                </a:lnTo>
                <a:lnTo>
                  <a:pt x="76200" y="609600"/>
                </a:lnTo>
                <a:lnTo>
                  <a:pt x="76200" y="647700"/>
                </a:lnTo>
                <a:close/>
              </a:path>
              <a:path w="114300" h="2745104">
                <a:moveTo>
                  <a:pt x="76200" y="723900"/>
                </a:moveTo>
                <a:lnTo>
                  <a:pt x="38100" y="7239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723900"/>
                </a:lnTo>
                <a:close/>
              </a:path>
              <a:path w="114300" h="2745104">
                <a:moveTo>
                  <a:pt x="76200" y="800100"/>
                </a:moveTo>
                <a:lnTo>
                  <a:pt x="38100" y="800100"/>
                </a:lnTo>
                <a:lnTo>
                  <a:pt x="38100" y="762000"/>
                </a:lnTo>
                <a:lnTo>
                  <a:pt x="76200" y="762000"/>
                </a:lnTo>
                <a:lnTo>
                  <a:pt x="76200" y="800100"/>
                </a:lnTo>
                <a:close/>
              </a:path>
              <a:path w="114300" h="2745104">
                <a:moveTo>
                  <a:pt x="76200" y="876300"/>
                </a:moveTo>
                <a:lnTo>
                  <a:pt x="38100" y="876300"/>
                </a:lnTo>
                <a:lnTo>
                  <a:pt x="38100" y="838200"/>
                </a:lnTo>
                <a:lnTo>
                  <a:pt x="76200" y="838200"/>
                </a:lnTo>
                <a:lnTo>
                  <a:pt x="76200" y="876300"/>
                </a:lnTo>
                <a:close/>
              </a:path>
              <a:path w="114300" h="2745104">
                <a:moveTo>
                  <a:pt x="76200" y="952500"/>
                </a:moveTo>
                <a:lnTo>
                  <a:pt x="38100" y="952500"/>
                </a:lnTo>
                <a:lnTo>
                  <a:pt x="38100" y="914400"/>
                </a:lnTo>
                <a:lnTo>
                  <a:pt x="76200" y="914400"/>
                </a:lnTo>
                <a:lnTo>
                  <a:pt x="76200" y="952500"/>
                </a:lnTo>
                <a:close/>
              </a:path>
              <a:path w="114300" h="2745104">
                <a:moveTo>
                  <a:pt x="76200" y="1028700"/>
                </a:moveTo>
                <a:lnTo>
                  <a:pt x="38100" y="1028700"/>
                </a:lnTo>
                <a:lnTo>
                  <a:pt x="38100" y="990600"/>
                </a:lnTo>
                <a:lnTo>
                  <a:pt x="76200" y="990600"/>
                </a:lnTo>
                <a:lnTo>
                  <a:pt x="76200" y="1028700"/>
                </a:lnTo>
                <a:close/>
              </a:path>
              <a:path w="114300" h="2745104">
                <a:moveTo>
                  <a:pt x="76200" y="1104900"/>
                </a:moveTo>
                <a:lnTo>
                  <a:pt x="38100" y="1104900"/>
                </a:lnTo>
                <a:lnTo>
                  <a:pt x="38100" y="1066800"/>
                </a:lnTo>
                <a:lnTo>
                  <a:pt x="76200" y="1066800"/>
                </a:lnTo>
                <a:lnTo>
                  <a:pt x="76200" y="1104900"/>
                </a:lnTo>
                <a:close/>
              </a:path>
              <a:path w="114300" h="2745104">
                <a:moveTo>
                  <a:pt x="76200" y="1181100"/>
                </a:moveTo>
                <a:lnTo>
                  <a:pt x="38100" y="1181100"/>
                </a:lnTo>
                <a:lnTo>
                  <a:pt x="38100" y="1143000"/>
                </a:lnTo>
                <a:lnTo>
                  <a:pt x="76200" y="1143000"/>
                </a:lnTo>
                <a:lnTo>
                  <a:pt x="76200" y="1181100"/>
                </a:lnTo>
                <a:close/>
              </a:path>
              <a:path w="114300" h="2745104">
                <a:moveTo>
                  <a:pt x="76200" y="1257300"/>
                </a:moveTo>
                <a:lnTo>
                  <a:pt x="38100" y="1257300"/>
                </a:lnTo>
                <a:lnTo>
                  <a:pt x="38100" y="1219200"/>
                </a:lnTo>
                <a:lnTo>
                  <a:pt x="76200" y="1219200"/>
                </a:lnTo>
                <a:lnTo>
                  <a:pt x="76200" y="1257300"/>
                </a:lnTo>
                <a:close/>
              </a:path>
              <a:path w="114300" h="2745104">
                <a:moveTo>
                  <a:pt x="76200" y="1333500"/>
                </a:moveTo>
                <a:lnTo>
                  <a:pt x="38100" y="1333500"/>
                </a:lnTo>
                <a:lnTo>
                  <a:pt x="38100" y="1295400"/>
                </a:lnTo>
                <a:lnTo>
                  <a:pt x="76200" y="1295400"/>
                </a:lnTo>
                <a:lnTo>
                  <a:pt x="76200" y="1333500"/>
                </a:lnTo>
                <a:close/>
              </a:path>
              <a:path w="114300" h="2745104">
                <a:moveTo>
                  <a:pt x="76200" y="1409700"/>
                </a:moveTo>
                <a:lnTo>
                  <a:pt x="38100" y="1409700"/>
                </a:lnTo>
                <a:lnTo>
                  <a:pt x="38100" y="1371600"/>
                </a:lnTo>
                <a:lnTo>
                  <a:pt x="76200" y="1371600"/>
                </a:lnTo>
                <a:lnTo>
                  <a:pt x="76200" y="1409700"/>
                </a:lnTo>
                <a:close/>
              </a:path>
              <a:path w="114300" h="2745104">
                <a:moveTo>
                  <a:pt x="76200" y="1485900"/>
                </a:moveTo>
                <a:lnTo>
                  <a:pt x="38100" y="1485900"/>
                </a:lnTo>
                <a:lnTo>
                  <a:pt x="38100" y="1447800"/>
                </a:lnTo>
                <a:lnTo>
                  <a:pt x="76200" y="1447800"/>
                </a:lnTo>
                <a:lnTo>
                  <a:pt x="76200" y="1485900"/>
                </a:lnTo>
                <a:close/>
              </a:path>
              <a:path w="114300" h="2745104">
                <a:moveTo>
                  <a:pt x="76200" y="1562100"/>
                </a:moveTo>
                <a:lnTo>
                  <a:pt x="38100" y="1562100"/>
                </a:lnTo>
                <a:lnTo>
                  <a:pt x="38100" y="1524000"/>
                </a:lnTo>
                <a:lnTo>
                  <a:pt x="76200" y="1524000"/>
                </a:lnTo>
                <a:lnTo>
                  <a:pt x="76200" y="1562100"/>
                </a:lnTo>
                <a:close/>
              </a:path>
              <a:path w="114300" h="2745104">
                <a:moveTo>
                  <a:pt x="76200" y="1638300"/>
                </a:moveTo>
                <a:lnTo>
                  <a:pt x="38100" y="1638300"/>
                </a:lnTo>
                <a:lnTo>
                  <a:pt x="38100" y="1600200"/>
                </a:lnTo>
                <a:lnTo>
                  <a:pt x="76200" y="1600200"/>
                </a:lnTo>
                <a:lnTo>
                  <a:pt x="76200" y="1638300"/>
                </a:lnTo>
                <a:close/>
              </a:path>
              <a:path w="114300" h="2745104">
                <a:moveTo>
                  <a:pt x="76200" y="1714500"/>
                </a:moveTo>
                <a:lnTo>
                  <a:pt x="38100" y="1714500"/>
                </a:lnTo>
                <a:lnTo>
                  <a:pt x="38100" y="1676400"/>
                </a:lnTo>
                <a:lnTo>
                  <a:pt x="76200" y="1676400"/>
                </a:lnTo>
                <a:lnTo>
                  <a:pt x="76200" y="1714500"/>
                </a:lnTo>
                <a:close/>
              </a:path>
              <a:path w="114300" h="2745104">
                <a:moveTo>
                  <a:pt x="76200" y="1790700"/>
                </a:moveTo>
                <a:lnTo>
                  <a:pt x="38100" y="1790700"/>
                </a:lnTo>
                <a:lnTo>
                  <a:pt x="38100" y="1752600"/>
                </a:lnTo>
                <a:lnTo>
                  <a:pt x="76200" y="1752600"/>
                </a:lnTo>
                <a:lnTo>
                  <a:pt x="76200" y="1790700"/>
                </a:lnTo>
                <a:close/>
              </a:path>
              <a:path w="114300" h="2745104">
                <a:moveTo>
                  <a:pt x="76200" y="1866900"/>
                </a:moveTo>
                <a:lnTo>
                  <a:pt x="38100" y="1866900"/>
                </a:lnTo>
                <a:lnTo>
                  <a:pt x="38100" y="1828800"/>
                </a:lnTo>
                <a:lnTo>
                  <a:pt x="76200" y="1828800"/>
                </a:lnTo>
                <a:lnTo>
                  <a:pt x="76200" y="1866900"/>
                </a:lnTo>
                <a:close/>
              </a:path>
              <a:path w="114300" h="2745104">
                <a:moveTo>
                  <a:pt x="76200" y="1943100"/>
                </a:moveTo>
                <a:lnTo>
                  <a:pt x="38100" y="1943100"/>
                </a:lnTo>
                <a:lnTo>
                  <a:pt x="38100" y="1905000"/>
                </a:lnTo>
                <a:lnTo>
                  <a:pt x="76200" y="1905000"/>
                </a:lnTo>
                <a:lnTo>
                  <a:pt x="76200" y="1943100"/>
                </a:lnTo>
                <a:close/>
              </a:path>
              <a:path w="114300" h="2745104">
                <a:moveTo>
                  <a:pt x="76200" y="2019300"/>
                </a:moveTo>
                <a:lnTo>
                  <a:pt x="38100" y="2019300"/>
                </a:lnTo>
                <a:lnTo>
                  <a:pt x="38100" y="1981200"/>
                </a:lnTo>
                <a:lnTo>
                  <a:pt x="76200" y="1981200"/>
                </a:lnTo>
                <a:lnTo>
                  <a:pt x="76200" y="2019300"/>
                </a:lnTo>
                <a:close/>
              </a:path>
              <a:path w="114300" h="2745104">
                <a:moveTo>
                  <a:pt x="76200" y="2095500"/>
                </a:moveTo>
                <a:lnTo>
                  <a:pt x="38100" y="2095500"/>
                </a:lnTo>
                <a:lnTo>
                  <a:pt x="38100" y="2057400"/>
                </a:lnTo>
                <a:lnTo>
                  <a:pt x="76200" y="2057400"/>
                </a:lnTo>
                <a:lnTo>
                  <a:pt x="76200" y="2095500"/>
                </a:lnTo>
                <a:close/>
              </a:path>
              <a:path w="114300" h="2745104">
                <a:moveTo>
                  <a:pt x="76200" y="2171700"/>
                </a:moveTo>
                <a:lnTo>
                  <a:pt x="38100" y="2171700"/>
                </a:lnTo>
                <a:lnTo>
                  <a:pt x="38100" y="2133600"/>
                </a:lnTo>
                <a:lnTo>
                  <a:pt x="76200" y="2133600"/>
                </a:lnTo>
                <a:lnTo>
                  <a:pt x="76200" y="2171700"/>
                </a:lnTo>
                <a:close/>
              </a:path>
              <a:path w="114300" h="2745104">
                <a:moveTo>
                  <a:pt x="76200" y="2247900"/>
                </a:moveTo>
                <a:lnTo>
                  <a:pt x="38100" y="2247900"/>
                </a:lnTo>
                <a:lnTo>
                  <a:pt x="38100" y="2209800"/>
                </a:lnTo>
                <a:lnTo>
                  <a:pt x="76200" y="2209800"/>
                </a:lnTo>
                <a:lnTo>
                  <a:pt x="76200" y="2247900"/>
                </a:lnTo>
                <a:close/>
              </a:path>
              <a:path w="114300" h="2745104">
                <a:moveTo>
                  <a:pt x="76200" y="2324100"/>
                </a:moveTo>
                <a:lnTo>
                  <a:pt x="38100" y="2324100"/>
                </a:lnTo>
                <a:lnTo>
                  <a:pt x="38100" y="2286000"/>
                </a:lnTo>
                <a:lnTo>
                  <a:pt x="76200" y="2286000"/>
                </a:lnTo>
                <a:lnTo>
                  <a:pt x="76200" y="2324100"/>
                </a:lnTo>
                <a:close/>
              </a:path>
              <a:path w="114300" h="2745104">
                <a:moveTo>
                  <a:pt x="76200" y="2400300"/>
                </a:moveTo>
                <a:lnTo>
                  <a:pt x="38100" y="2400300"/>
                </a:lnTo>
                <a:lnTo>
                  <a:pt x="38100" y="2362200"/>
                </a:lnTo>
                <a:lnTo>
                  <a:pt x="76200" y="2362200"/>
                </a:lnTo>
                <a:lnTo>
                  <a:pt x="76200" y="2400300"/>
                </a:lnTo>
                <a:close/>
              </a:path>
              <a:path w="114300" h="2745104">
                <a:moveTo>
                  <a:pt x="76200" y="2476500"/>
                </a:moveTo>
                <a:lnTo>
                  <a:pt x="38100" y="2476500"/>
                </a:lnTo>
                <a:lnTo>
                  <a:pt x="38100" y="2438400"/>
                </a:lnTo>
                <a:lnTo>
                  <a:pt x="76200" y="2438400"/>
                </a:lnTo>
                <a:lnTo>
                  <a:pt x="76200" y="2476500"/>
                </a:lnTo>
                <a:close/>
              </a:path>
              <a:path w="114300" h="2745104">
                <a:moveTo>
                  <a:pt x="76200" y="2552700"/>
                </a:moveTo>
                <a:lnTo>
                  <a:pt x="38100" y="2552700"/>
                </a:lnTo>
                <a:lnTo>
                  <a:pt x="38100" y="2514600"/>
                </a:lnTo>
                <a:lnTo>
                  <a:pt x="76200" y="2514600"/>
                </a:lnTo>
                <a:lnTo>
                  <a:pt x="76200" y="2552700"/>
                </a:lnTo>
                <a:close/>
              </a:path>
              <a:path w="114300" h="2745104">
                <a:moveTo>
                  <a:pt x="76200" y="2628900"/>
                </a:moveTo>
                <a:lnTo>
                  <a:pt x="38100" y="2628900"/>
                </a:lnTo>
                <a:lnTo>
                  <a:pt x="38100" y="2590800"/>
                </a:lnTo>
                <a:lnTo>
                  <a:pt x="76200" y="2590800"/>
                </a:lnTo>
                <a:lnTo>
                  <a:pt x="76200" y="262890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34614" y="3876675"/>
            <a:ext cx="3302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宋体"/>
                <a:cs typeface="宋体"/>
              </a:rPr>
              <a:t>向 下 转 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3267" y="4867655"/>
            <a:ext cx="5573267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59877" y="4863947"/>
            <a:ext cx="5581015" cy="837565"/>
          </a:xfrm>
          <a:custGeom>
            <a:avLst/>
            <a:gdLst/>
            <a:ahLst/>
            <a:cxnLst/>
            <a:rect l="l" t="t" r="r" b="b"/>
            <a:pathLst>
              <a:path w="5581015" h="837564">
                <a:moveTo>
                  <a:pt x="5580481" y="837564"/>
                </a:moveTo>
                <a:lnTo>
                  <a:pt x="0" y="837564"/>
                </a:lnTo>
                <a:lnTo>
                  <a:pt x="0" y="0"/>
                </a:lnTo>
                <a:lnTo>
                  <a:pt x="5580481" y="0"/>
                </a:lnTo>
                <a:lnTo>
                  <a:pt x="5580481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829945"/>
                </a:lnTo>
                <a:lnTo>
                  <a:pt x="3809" y="829945"/>
                </a:lnTo>
                <a:lnTo>
                  <a:pt x="7619" y="833754"/>
                </a:lnTo>
                <a:lnTo>
                  <a:pt x="5580481" y="833754"/>
                </a:lnTo>
                <a:lnTo>
                  <a:pt x="5580481" y="837564"/>
                </a:lnTo>
                <a:close/>
              </a:path>
              <a:path w="5581015" h="837564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5581015" h="837564">
                <a:moveTo>
                  <a:pt x="5572861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5572861" y="3810"/>
                </a:lnTo>
                <a:lnTo>
                  <a:pt x="5572861" y="7620"/>
                </a:lnTo>
                <a:close/>
              </a:path>
              <a:path w="5581015" h="837564">
                <a:moveTo>
                  <a:pt x="5572861" y="833754"/>
                </a:moveTo>
                <a:lnTo>
                  <a:pt x="5572861" y="3810"/>
                </a:lnTo>
                <a:lnTo>
                  <a:pt x="5576671" y="7620"/>
                </a:lnTo>
                <a:lnTo>
                  <a:pt x="5580481" y="7620"/>
                </a:lnTo>
                <a:lnTo>
                  <a:pt x="5580481" y="829945"/>
                </a:lnTo>
                <a:lnTo>
                  <a:pt x="5576671" y="829945"/>
                </a:lnTo>
                <a:lnTo>
                  <a:pt x="5572861" y="833754"/>
                </a:lnTo>
                <a:close/>
              </a:path>
              <a:path w="5581015" h="837564">
                <a:moveTo>
                  <a:pt x="5580481" y="7620"/>
                </a:moveTo>
                <a:lnTo>
                  <a:pt x="5576671" y="7620"/>
                </a:lnTo>
                <a:lnTo>
                  <a:pt x="5572861" y="3810"/>
                </a:lnTo>
                <a:lnTo>
                  <a:pt x="5580481" y="3810"/>
                </a:lnTo>
                <a:lnTo>
                  <a:pt x="5580481" y="7620"/>
                </a:lnTo>
                <a:close/>
              </a:path>
              <a:path w="5581015" h="837564">
                <a:moveTo>
                  <a:pt x="7619" y="833754"/>
                </a:moveTo>
                <a:lnTo>
                  <a:pt x="3809" y="829945"/>
                </a:lnTo>
                <a:lnTo>
                  <a:pt x="7619" y="829945"/>
                </a:lnTo>
                <a:lnTo>
                  <a:pt x="7619" y="833754"/>
                </a:lnTo>
                <a:close/>
              </a:path>
              <a:path w="5581015" h="837564">
                <a:moveTo>
                  <a:pt x="5572861" y="833754"/>
                </a:moveTo>
                <a:lnTo>
                  <a:pt x="7619" y="833754"/>
                </a:lnTo>
                <a:lnTo>
                  <a:pt x="7619" y="829945"/>
                </a:lnTo>
                <a:lnTo>
                  <a:pt x="5572861" y="829945"/>
                </a:lnTo>
                <a:lnTo>
                  <a:pt x="5572861" y="833754"/>
                </a:lnTo>
                <a:close/>
              </a:path>
              <a:path w="5581015" h="837564">
                <a:moveTo>
                  <a:pt x="5580481" y="833754"/>
                </a:moveTo>
                <a:lnTo>
                  <a:pt x="5572861" y="833754"/>
                </a:lnTo>
                <a:lnTo>
                  <a:pt x="5576671" y="829945"/>
                </a:lnTo>
                <a:lnTo>
                  <a:pt x="5580481" y="829945"/>
                </a:lnTo>
                <a:lnTo>
                  <a:pt x="5580481" y="833754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72511" y="3645408"/>
            <a:ext cx="3797808" cy="460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8320" y="3641216"/>
            <a:ext cx="3805554" cy="467995"/>
          </a:xfrm>
          <a:custGeom>
            <a:avLst/>
            <a:gdLst/>
            <a:ahLst/>
            <a:cxnLst/>
            <a:rect l="l" t="t" r="r" b="b"/>
            <a:pathLst>
              <a:path w="3805554" h="467995">
                <a:moveTo>
                  <a:pt x="3805554" y="467995"/>
                </a:moveTo>
                <a:lnTo>
                  <a:pt x="0" y="467995"/>
                </a:lnTo>
                <a:lnTo>
                  <a:pt x="0" y="0"/>
                </a:lnTo>
                <a:lnTo>
                  <a:pt x="3805554" y="0"/>
                </a:lnTo>
                <a:lnTo>
                  <a:pt x="380555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60375"/>
                </a:lnTo>
                <a:lnTo>
                  <a:pt x="3810" y="460375"/>
                </a:lnTo>
                <a:lnTo>
                  <a:pt x="7620" y="464185"/>
                </a:lnTo>
                <a:lnTo>
                  <a:pt x="3805554" y="464185"/>
                </a:lnTo>
                <a:lnTo>
                  <a:pt x="3805554" y="467995"/>
                </a:lnTo>
                <a:close/>
              </a:path>
              <a:path w="3805554" h="46799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3805554" h="467995">
                <a:moveTo>
                  <a:pt x="379793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3797934" y="3810"/>
                </a:lnTo>
                <a:lnTo>
                  <a:pt x="3797934" y="7620"/>
                </a:lnTo>
                <a:close/>
              </a:path>
              <a:path w="3805554" h="467995">
                <a:moveTo>
                  <a:pt x="3797934" y="464185"/>
                </a:moveTo>
                <a:lnTo>
                  <a:pt x="3797934" y="3810"/>
                </a:lnTo>
                <a:lnTo>
                  <a:pt x="3801745" y="7620"/>
                </a:lnTo>
                <a:lnTo>
                  <a:pt x="3805554" y="7620"/>
                </a:lnTo>
                <a:lnTo>
                  <a:pt x="3805554" y="460375"/>
                </a:lnTo>
                <a:lnTo>
                  <a:pt x="3801745" y="460375"/>
                </a:lnTo>
                <a:lnTo>
                  <a:pt x="3797934" y="464185"/>
                </a:lnTo>
                <a:close/>
              </a:path>
              <a:path w="3805554" h="467995">
                <a:moveTo>
                  <a:pt x="3805554" y="7620"/>
                </a:moveTo>
                <a:lnTo>
                  <a:pt x="3801745" y="7620"/>
                </a:lnTo>
                <a:lnTo>
                  <a:pt x="3797934" y="3810"/>
                </a:lnTo>
                <a:lnTo>
                  <a:pt x="3805554" y="3810"/>
                </a:lnTo>
                <a:lnTo>
                  <a:pt x="3805554" y="7620"/>
                </a:lnTo>
                <a:close/>
              </a:path>
              <a:path w="3805554" h="467995">
                <a:moveTo>
                  <a:pt x="7620" y="464185"/>
                </a:moveTo>
                <a:lnTo>
                  <a:pt x="3810" y="460375"/>
                </a:lnTo>
                <a:lnTo>
                  <a:pt x="7620" y="460375"/>
                </a:lnTo>
                <a:lnTo>
                  <a:pt x="7620" y="464185"/>
                </a:lnTo>
                <a:close/>
              </a:path>
              <a:path w="3805554" h="467995">
                <a:moveTo>
                  <a:pt x="3797934" y="464185"/>
                </a:moveTo>
                <a:lnTo>
                  <a:pt x="7620" y="464185"/>
                </a:lnTo>
                <a:lnTo>
                  <a:pt x="7620" y="460375"/>
                </a:lnTo>
                <a:lnTo>
                  <a:pt x="3797934" y="460375"/>
                </a:lnTo>
                <a:lnTo>
                  <a:pt x="3797934" y="464185"/>
                </a:lnTo>
                <a:close/>
              </a:path>
              <a:path w="3805554" h="467995">
                <a:moveTo>
                  <a:pt x="3805554" y="464185"/>
                </a:moveTo>
                <a:lnTo>
                  <a:pt x="3797934" y="464185"/>
                </a:lnTo>
                <a:lnTo>
                  <a:pt x="3801745" y="460375"/>
                </a:lnTo>
                <a:lnTo>
                  <a:pt x="3805554" y="460375"/>
                </a:lnTo>
                <a:lnTo>
                  <a:pt x="3805554" y="46418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39" y="370357"/>
            <a:ext cx="7854950" cy="5280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  <a:tabLst>
                <a:tab pos="2021839" algn="l"/>
              </a:tabLst>
            </a:pPr>
            <a:r>
              <a:rPr sz="2100" b="1" spc="-5" dirty="0">
                <a:latin typeface="微软雅黑"/>
                <a:cs typeface="微软雅黑"/>
              </a:rPr>
              <a:t>6.1.3	</a:t>
            </a:r>
            <a:r>
              <a:rPr sz="2100" b="1" spc="-10" dirty="0">
                <a:latin typeface="微软雅黑"/>
                <a:cs typeface="微软雅黑"/>
              </a:rPr>
              <a:t>instanceof</a:t>
            </a:r>
            <a:r>
              <a:rPr sz="2100" b="1" dirty="0">
                <a:latin typeface="微软雅黑"/>
                <a:cs typeface="微软雅黑"/>
              </a:rPr>
              <a:t>运算符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向下转</a:t>
            </a:r>
            <a:r>
              <a:rPr sz="2800" spc="-5" dirty="0">
                <a:latin typeface="微软雅黑"/>
                <a:cs typeface="微软雅黑"/>
              </a:rPr>
              <a:t>型</a:t>
            </a:r>
            <a:endParaRPr sz="28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必须使用强制类型转换</a:t>
            </a:r>
            <a:endParaRPr sz="24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必须在有意义的情况下进行，即强转必须是合理的</a:t>
            </a:r>
            <a:endParaRPr sz="2400">
              <a:latin typeface="微软雅黑"/>
              <a:cs typeface="微软雅黑"/>
            </a:endParaRPr>
          </a:p>
          <a:p>
            <a:pPr marL="527050" marR="5080" lvl="1" indent="-171450">
              <a:lnSpc>
                <a:spcPts val="2590"/>
              </a:lnSpc>
              <a:spcBef>
                <a:spcPts val="414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编译器对于强制类型转换采取的是一律放行的原则（只 检查语义）</a:t>
            </a:r>
            <a:endParaRPr sz="2400">
              <a:latin typeface="微软雅黑"/>
              <a:cs typeface="微软雅黑"/>
            </a:endParaRPr>
          </a:p>
          <a:p>
            <a:pPr marL="3041650">
              <a:lnSpc>
                <a:spcPct val="100000"/>
              </a:lnSpc>
              <a:spcBef>
                <a:spcPts val="2440"/>
              </a:spcBef>
            </a:pPr>
            <a:r>
              <a:rPr sz="2400" spc="-15" dirty="0">
                <a:solidFill>
                  <a:srgbClr val="FFFFFF"/>
                </a:solidFill>
                <a:latin typeface="微软雅黑"/>
                <a:cs typeface="微软雅黑"/>
              </a:rPr>
              <a:t>Bird </a:t>
            </a:r>
            <a:r>
              <a:rPr sz="2400" spc="-10" dirty="0">
                <a:solidFill>
                  <a:srgbClr val="FFFFFF"/>
                </a:solidFill>
                <a:latin typeface="微软雅黑"/>
                <a:cs typeface="微软雅黑"/>
              </a:rPr>
              <a:t>bird </a:t>
            </a: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= </a:t>
            </a:r>
            <a:r>
              <a:rPr sz="2400" spc="-10" dirty="0">
                <a:solidFill>
                  <a:srgbClr val="FFFFFF"/>
                </a:solidFill>
                <a:latin typeface="微软雅黑"/>
                <a:cs typeface="微软雅黑"/>
              </a:rPr>
              <a:t>(Bird) </a:t>
            </a:r>
            <a:r>
              <a:rPr sz="2400" spc="-5" dirty="0">
                <a:solidFill>
                  <a:srgbClr val="FFFFFF"/>
                </a:solidFill>
                <a:latin typeface="微软雅黑"/>
                <a:cs typeface="微软雅黑"/>
              </a:rPr>
              <a:t>xxx;</a:t>
            </a:r>
            <a:endParaRPr sz="2400">
              <a:latin typeface="微软雅黑"/>
              <a:cs typeface="微软雅黑"/>
            </a:endParaRPr>
          </a:p>
          <a:p>
            <a:pPr marL="2233295" marR="617220" indent="-648335">
              <a:lnSpc>
                <a:spcPct val="157100"/>
              </a:lnSpc>
              <a:spcBef>
                <a:spcPts val="580"/>
              </a:spcBef>
              <a:tabLst>
                <a:tab pos="3522979" algn="l"/>
              </a:tabLst>
            </a:pPr>
            <a:r>
              <a:rPr sz="2400" dirty="0">
                <a:latin typeface="微软雅黑"/>
                <a:cs typeface="微软雅黑"/>
              </a:rPr>
              <a:t>无论</a:t>
            </a:r>
            <a:r>
              <a:rPr sz="2400" spc="-5" dirty="0">
                <a:latin typeface="微软雅黑"/>
                <a:cs typeface="微软雅黑"/>
              </a:rPr>
              <a:t>xxx</a:t>
            </a:r>
            <a:r>
              <a:rPr sz="2400" dirty="0">
                <a:latin typeface="微软雅黑"/>
                <a:cs typeface="微软雅黑"/>
              </a:rPr>
              <a:t>是哪种类型，编译器都不会报错。  </a:t>
            </a:r>
            <a:r>
              <a:rPr sz="2400" spc="-5" dirty="0">
                <a:solidFill>
                  <a:srgbClr val="FFFFFF"/>
                </a:solidFill>
                <a:latin typeface="微软雅黑"/>
                <a:cs typeface="微软雅黑"/>
              </a:rPr>
              <a:t>Animal	animal </a:t>
            </a: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= </a:t>
            </a:r>
            <a:r>
              <a:rPr sz="2400" spc="-5" dirty="0">
                <a:solidFill>
                  <a:srgbClr val="FFFFFF"/>
                </a:solidFill>
                <a:latin typeface="微软雅黑"/>
                <a:cs typeface="微软雅黑"/>
              </a:rPr>
              <a:t>new</a:t>
            </a:r>
            <a:r>
              <a:rPr sz="2400" spc="-2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微软雅黑"/>
                <a:cs typeface="微软雅黑"/>
              </a:rPr>
              <a:t>Animal();</a:t>
            </a:r>
            <a:endParaRPr sz="2400">
              <a:latin typeface="微软雅黑"/>
              <a:cs typeface="微软雅黑"/>
            </a:endParaRPr>
          </a:p>
          <a:p>
            <a:pPr marL="2593975">
              <a:lnSpc>
                <a:spcPct val="100000"/>
              </a:lnSpc>
            </a:pPr>
            <a:r>
              <a:rPr sz="2400" spc="-15" dirty="0">
                <a:solidFill>
                  <a:srgbClr val="FFFFFF"/>
                </a:solidFill>
                <a:latin typeface="微软雅黑"/>
                <a:cs typeface="微软雅黑"/>
              </a:rPr>
              <a:t>Bird </a:t>
            </a:r>
            <a:r>
              <a:rPr sz="2400" spc="-10" dirty="0">
                <a:solidFill>
                  <a:srgbClr val="FFFFFF"/>
                </a:solidFill>
                <a:latin typeface="微软雅黑"/>
                <a:cs typeface="微软雅黑"/>
              </a:rPr>
              <a:t>bird </a:t>
            </a: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=</a:t>
            </a:r>
            <a:r>
              <a:rPr sz="2400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微软雅黑"/>
                <a:cs typeface="微软雅黑"/>
              </a:rPr>
              <a:t>(Bird)animal;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2600" y="2852927"/>
            <a:ext cx="5573267" cy="1568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48510" y="2849130"/>
            <a:ext cx="5581015" cy="1576070"/>
          </a:xfrm>
          <a:custGeom>
            <a:avLst/>
            <a:gdLst/>
            <a:ahLst/>
            <a:cxnLst/>
            <a:rect l="l" t="t" r="r" b="b"/>
            <a:pathLst>
              <a:path w="5581015" h="1576070">
                <a:moveTo>
                  <a:pt x="5580481" y="1576069"/>
                </a:moveTo>
                <a:lnTo>
                  <a:pt x="0" y="1576069"/>
                </a:lnTo>
                <a:lnTo>
                  <a:pt x="0" y="0"/>
                </a:lnTo>
                <a:lnTo>
                  <a:pt x="5580481" y="0"/>
                </a:lnTo>
                <a:lnTo>
                  <a:pt x="5580481" y="3809"/>
                </a:lnTo>
                <a:lnTo>
                  <a:pt x="7619" y="3809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1568450"/>
                </a:lnTo>
                <a:lnTo>
                  <a:pt x="3810" y="1568450"/>
                </a:lnTo>
                <a:lnTo>
                  <a:pt x="7619" y="1572260"/>
                </a:lnTo>
                <a:lnTo>
                  <a:pt x="5580481" y="1572260"/>
                </a:lnTo>
                <a:lnTo>
                  <a:pt x="5580481" y="1576069"/>
                </a:lnTo>
                <a:close/>
              </a:path>
              <a:path w="5581015" h="1576070">
                <a:moveTo>
                  <a:pt x="7619" y="7619"/>
                </a:moveTo>
                <a:lnTo>
                  <a:pt x="3810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5581015" h="1576070">
                <a:moveTo>
                  <a:pt x="5572861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5572861" y="3809"/>
                </a:lnTo>
                <a:lnTo>
                  <a:pt x="5572861" y="7619"/>
                </a:lnTo>
                <a:close/>
              </a:path>
              <a:path w="5581015" h="1576070">
                <a:moveTo>
                  <a:pt x="5572861" y="1572260"/>
                </a:moveTo>
                <a:lnTo>
                  <a:pt x="5572861" y="3809"/>
                </a:lnTo>
                <a:lnTo>
                  <a:pt x="5576671" y="7619"/>
                </a:lnTo>
                <a:lnTo>
                  <a:pt x="5580481" y="7619"/>
                </a:lnTo>
                <a:lnTo>
                  <a:pt x="5580481" y="1568450"/>
                </a:lnTo>
                <a:lnTo>
                  <a:pt x="5576671" y="1568450"/>
                </a:lnTo>
                <a:lnTo>
                  <a:pt x="5572861" y="1572260"/>
                </a:lnTo>
                <a:close/>
              </a:path>
              <a:path w="5581015" h="1576070">
                <a:moveTo>
                  <a:pt x="5580481" y="7619"/>
                </a:moveTo>
                <a:lnTo>
                  <a:pt x="5576671" y="7619"/>
                </a:lnTo>
                <a:lnTo>
                  <a:pt x="5572861" y="3809"/>
                </a:lnTo>
                <a:lnTo>
                  <a:pt x="5580481" y="3809"/>
                </a:lnTo>
                <a:lnTo>
                  <a:pt x="5580481" y="7619"/>
                </a:lnTo>
                <a:close/>
              </a:path>
              <a:path w="5581015" h="1576070">
                <a:moveTo>
                  <a:pt x="7619" y="1572260"/>
                </a:moveTo>
                <a:lnTo>
                  <a:pt x="3810" y="1568450"/>
                </a:lnTo>
                <a:lnTo>
                  <a:pt x="7619" y="1568450"/>
                </a:lnTo>
                <a:lnTo>
                  <a:pt x="7619" y="1572260"/>
                </a:lnTo>
                <a:close/>
              </a:path>
              <a:path w="5581015" h="1576070">
                <a:moveTo>
                  <a:pt x="5572861" y="1572260"/>
                </a:moveTo>
                <a:lnTo>
                  <a:pt x="7619" y="1572260"/>
                </a:lnTo>
                <a:lnTo>
                  <a:pt x="7619" y="1568450"/>
                </a:lnTo>
                <a:lnTo>
                  <a:pt x="5572861" y="1568450"/>
                </a:lnTo>
                <a:lnTo>
                  <a:pt x="5572861" y="1572260"/>
                </a:lnTo>
                <a:close/>
              </a:path>
              <a:path w="5581015" h="1576070">
                <a:moveTo>
                  <a:pt x="5580481" y="1572260"/>
                </a:moveTo>
                <a:lnTo>
                  <a:pt x="5572861" y="1572260"/>
                </a:lnTo>
                <a:lnTo>
                  <a:pt x="5576671" y="1568450"/>
                </a:lnTo>
                <a:lnTo>
                  <a:pt x="5580481" y="1568450"/>
                </a:lnTo>
                <a:lnTo>
                  <a:pt x="5580481" y="157226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370357"/>
            <a:ext cx="7829550" cy="3996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  <a:tabLst>
                <a:tab pos="2021839" algn="l"/>
              </a:tabLst>
            </a:pPr>
            <a:r>
              <a:rPr sz="2100" b="1" spc="-5" dirty="0">
                <a:latin typeface="微软雅黑"/>
                <a:cs typeface="微软雅黑"/>
              </a:rPr>
              <a:t>6.1.3	</a:t>
            </a:r>
            <a:r>
              <a:rPr sz="2100" b="1" spc="-10" dirty="0">
                <a:latin typeface="微软雅黑"/>
                <a:cs typeface="微软雅黑"/>
              </a:rPr>
              <a:t>instanceof</a:t>
            </a:r>
            <a:r>
              <a:rPr sz="2100" b="1" dirty="0">
                <a:latin typeface="微软雅黑"/>
                <a:cs typeface="微软雅黑"/>
              </a:rPr>
              <a:t>运算符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向下转</a:t>
            </a:r>
            <a:r>
              <a:rPr sz="2800" spc="-5" dirty="0">
                <a:latin typeface="微软雅黑"/>
                <a:cs typeface="微软雅黑"/>
              </a:rPr>
              <a:t>型</a:t>
            </a:r>
            <a:endParaRPr sz="2800">
              <a:latin typeface="微软雅黑"/>
              <a:cs typeface="微软雅黑"/>
            </a:endParaRPr>
          </a:p>
          <a:p>
            <a:pPr marL="527050" marR="5080" lvl="1" indent="-171450">
              <a:lnSpc>
                <a:spcPts val="2590"/>
              </a:lnSpc>
              <a:spcBef>
                <a:spcPts val="414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在做强制类型转换前，应使用in</a:t>
            </a:r>
            <a:r>
              <a:rPr sz="2400" spc="-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t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nc</a:t>
            </a:r>
            <a:r>
              <a:rPr sz="2400" spc="-5" dirty="0">
                <a:latin typeface="微软雅黑"/>
                <a:cs typeface="微软雅黑"/>
              </a:rPr>
              <a:t>e</a:t>
            </a:r>
            <a:r>
              <a:rPr sz="2400" spc="-55" dirty="0">
                <a:latin typeface="微软雅黑"/>
                <a:cs typeface="微软雅黑"/>
              </a:rPr>
              <a:t>o</a:t>
            </a:r>
            <a:r>
              <a:rPr sz="2400" spc="-5" dirty="0">
                <a:latin typeface="微软雅黑"/>
                <a:cs typeface="微软雅黑"/>
              </a:rPr>
              <a:t>f</a:t>
            </a:r>
            <a:r>
              <a:rPr sz="2400" dirty="0">
                <a:latin typeface="微软雅黑"/>
                <a:cs typeface="微软雅黑"/>
              </a:rPr>
              <a:t>运算判断引用 变量的类型！</a:t>
            </a:r>
            <a:endParaRPr sz="2400">
              <a:latin typeface="微软雅黑"/>
              <a:cs typeface="微软雅黑"/>
            </a:endParaRPr>
          </a:p>
          <a:p>
            <a:pPr marL="2221865" marR="1383030">
              <a:lnSpc>
                <a:spcPct val="100000"/>
              </a:lnSpc>
              <a:spcBef>
                <a:spcPts val="2135"/>
              </a:spcBef>
              <a:tabLst>
                <a:tab pos="3511550" algn="l"/>
              </a:tabLst>
            </a:pPr>
            <a:r>
              <a:rPr sz="2400" spc="-5" dirty="0">
                <a:latin typeface="微软雅黑"/>
                <a:cs typeface="微软雅黑"/>
              </a:rPr>
              <a:t>Animal	animal </a:t>
            </a:r>
            <a:r>
              <a:rPr sz="2400" dirty="0">
                <a:latin typeface="微软雅黑"/>
                <a:cs typeface="微软雅黑"/>
              </a:rPr>
              <a:t>= </a:t>
            </a:r>
            <a:r>
              <a:rPr sz="2400" spc="-5" dirty="0">
                <a:latin typeface="微软雅黑"/>
                <a:cs typeface="微软雅黑"/>
              </a:rPr>
              <a:t>new</a:t>
            </a:r>
            <a:r>
              <a:rPr sz="2400" spc="-65" dirty="0">
                <a:latin typeface="微软雅黑"/>
                <a:cs typeface="微软雅黑"/>
              </a:rPr>
              <a:t> </a:t>
            </a:r>
            <a:r>
              <a:rPr sz="2400" spc="-10" dirty="0">
                <a:latin typeface="微软雅黑"/>
                <a:cs typeface="微软雅黑"/>
              </a:rPr>
              <a:t>Bird();  </a:t>
            </a:r>
            <a:r>
              <a:rPr sz="2400" spc="-5" dirty="0">
                <a:latin typeface="微软雅黑"/>
                <a:cs typeface="微软雅黑"/>
              </a:rPr>
              <a:t>if(animal </a:t>
            </a:r>
            <a:r>
              <a:rPr sz="2400" spc="-10" dirty="0">
                <a:solidFill>
                  <a:srgbClr val="C00000"/>
                </a:solidFill>
                <a:latin typeface="微软雅黑"/>
                <a:cs typeface="微软雅黑"/>
              </a:rPr>
              <a:t>instanceof </a:t>
            </a:r>
            <a:r>
              <a:rPr sz="2400" spc="-10" dirty="0">
                <a:latin typeface="微软雅黑"/>
                <a:cs typeface="微软雅黑"/>
              </a:rPr>
              <a:t>Bird)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{</a:t>
            </a:r>
            <a:endParaRPr sz="2400">
              <a:latin typeface="微软雅黑"/>
              <a:cs typeface="微软雅黑"/>
            </a:endParaRPr>
          </a:p>
          <a:p>
            <a:pPr marL="2762885">
              <a:lnSpc>
                <a:spcPct val="100000"/>
              </a:lnSpc>
            </a:pPr>
            <a:r>
              <a:rPr sz="2400" spc="-15" dirty="0">
                <a:latin typeface="微软雅黑"/>
                <a:cs typeface="微软雅黑"/>
              </a:rPr>
              <a:t>Bird </a:t>
            </a:r>
            <a:r>
              <a:rPr sz="2400" spc="-10" dirty="0">
                <a:latin typeface="微软雅黑"/>
                <a:cs typeface="微软雅黑"/>
              </a:rPr>
              <a:t>bird=(Bird)</a:t>
            </a:r>
            <a:r>
              <a:rPr sz="2400" spc="-5" dirty="0">
                <a:latin typeface="微软雅黑"/>
                <a:cs typeface="微软雅黑"/>
              </a:rPr>
              <a:t> animal;</a:t>
            </a:r>
            <a:endParaRPr sz="2400">
              <a:latin typeface="微软雅黑"/>
              <a:cs typeface="微软雅黑"/>
            </a:endParaRPr>
          </a:p>
          <a:p>
            <a:pPr marL="2221865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}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0219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6.1.3	</a:t>
            </a:r>
            <a:r>
              <a:rPr sz="2100" u="none" spc="-10" dirty="0"/>
              <a:t>instanceof</a:t>
            </a:r>
            <a:r>
              <a:rPr sz="2100" u="none" dirty="0"/>
              <a:t>运算符</a:t>
            </a:r>
            <a:endParaRPr sz="2100"/>
          </a:p>
        </p:txBody>
      </p:sp>
      <p:sp>
        <p:nvSpPr>
          <p:cNvPr id="3" name="object 3"/>
          <p:cNvSpPr txBox="1"/>
          <p:nvPr/>
        </p:nvSpPr>
        <p:spPr>
          <a:xfrm>
            <a:off x="4613909" y="1565275"/>
            <a:ext cx="3672840" cy="12979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Animal a=new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Fish();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Animal b=new</a:t>
            </a:r>
            <a:r>
              <a:rPr sz="2400" spc="-20" dirty="0">
                <a:latin typeface="微软雅黑"/>
                <a:cs typeface="微软雅黑"/>
              </a:rPr>
              <a:t> </a:t>
            </a:r>
            <a:r>
              <a:rPr sz="2400" spc="-10" dirty="0">
                <a:latin typeface="微软雅黑"/>
                <a:cs typeface="微软雅黑"/>
              </a:rPr>
              <a:t>Bird();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Animal c=new</a:t>
            </a:r>
            <a:r>
              <a:rPr sz="2400" spc="-3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Animal();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3909" y="3261994"/>
            <a:ext cx="3961129" cy="257048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60"/>
              </a:spcBef>
              <a:buClr>
                <a:srgbClr val="CC0000"/>
              </a:buClr>
              <a:buFont typeface="Arial"/>
              <a:buChar char="•"/>
              <a:tabLst>
                <a:tab pos="184150" algn="l"/>
                <a:tab pos="3800475" algn="l"/>
              </a:tabLst>
            </a:pPr>
            <a:r>
              <a:rPr sz="2400" dirty="0">
                <a:latin typeface="微软雅黑"/>
                <a:cs typeface="微软雅黑"/>
              </a:rPr>
              <a:t>i</a:t>
            </a:r>
            <a:r>
              <a:rPr sz="2400" spc="-5" dirty="0">
                <a:latin typeface="微软雅黑"/>
                <a:cs typeface="微软雅黑"/>
              </a:rPr>
              <a:t>f</a:t>
            </a:r>
            <a:r>
              <a:rPr sz="2400" dirty="0">
                <a:latin typeface="微软雅黑"/>
                <a:cs typeface="微软雅黑"/>
              </a:rPr>
              <a:t>(</a:t>
            </a:r>
            <a:r>
              <a:rPr sz="2400" spc="-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a</a:t>
            </a:r>
            <a:r>
              <a:rPr sz="2400" spc="-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in</a:t>
            </a:r>
            <a:r>
              <a:rPr sz="2400" spc="-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t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nc</a:t>
            </a:r>
            <a:r>
              <a:rPr sz="2400" spc="-5" dirty="0">
                <a:latin typeface="微软雅黑"/>
                <a:cs typeface="微软雅黑"/>
              </a:rPr>
              <a:t>e</a:t>
            </a:r>
            <a:r>
              <a:rPr sz="2400" spc="-55" dirty="0">
                <a:latin typeface="微软雅黑"/>
                <a:cs typeface="微软雅黑"/>
              </a:rPr>
              <a:t>o</a:t>
            </a:r>
            <a:r>
              <a:rPr sz="2400" dirty="0">
                <a:latin typeface="微软雅黑"/>
                <a:cs typeface="微软雅黑"/>
              </a:rPr>
              <a:t>f</a:t>
            </a:r>
            <a:r>
              <a:rPr sz="2400" spc="-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Anim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l)	?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Clr>
                <a:srgbClr val="CC0000"/>
              </a:buClr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if( </a:t>
            </a:r>
            <a:r>
              <a:rPr sz="2400" dirty="0">
                <a:latin typeface="微软雅黑"/>
                <a:cs typeface="微软雅黑"/>
              </a:rPr>
              <a:t>b </a:t>
            </a:r>
            <a:r>
              <a:rPr sz="2400" spc="-10" dirty="0">
                <a:latin typeface="微软雅黑"/>
                <a:cs typeface="微软雅黑"/>
              </a:rPr>
              <a:t>instanceof </a:t>
            </a:r>
            <a:r>
              <a:rPr sz="2400" spc="-5" dirty="0">
                <a:latin typeface="微软雅黑"/>
                <a:cs typeface="微软雅黑"/>
              </a:rPr>
              <a:t>Animal)</a:t>
            </a:r>
            <a:r>
              <a:rPr sz="2400" spc="-2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?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Clr>
                <a:srgbClr val="CC0000"/>
              </a:buClr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if( </a:t>
            </a:r>
            <a:r>
              <a:rPr sz="2400" dirty="0">
                <a:latin typeface="微软雅黑"/>
                <a:cs typeface="微软雅黑"/>
              </a:rPr>
              <a:t>c </a:t>
            </a:r>
            <a:r>
              <a:rPr sz="2400" spc="-10" dirty="0">
                <a:latin typeface="微软雅黑"/>
                <a:cs typeface="微软雅黑"/>
              </a:rPr>
              <a:t>instanceof </a:t>
            </a:r>
            <a:r>
              <a:rPr sz="2400" spc="-5" dirty="0">
                <a:latin typeface="微软雅黑"/>
                <a:cs typeface="微软雅黑"/>
              </a:rPr>
              <a:t>Animal)</a:t>
            </a:r>
            <a:r>
              <a:rPr sz="2400" spc="-2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?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Clr>
                <a:srgbClr val="CC0000"/>
              </a:buClr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if( </a:t>
            </a:r>
            <a:r>
              <a:rPr sz="2400" dirty="0">
                <a:latin typeface="微软雅黑"/>
                <a:cs typeface="微软雅黑"/>
              </a:rPr>
              <a:t>a </a:t>
            </a:r>
            <a:r>
              <a:rPr sz="2400" spc="-10" dirty="0">
                <a:latin typeface="微软雅黑"/>
                <a:cs typeface="微软雅黑"/>
              </a:rPr>
              <a:t>instanceof Bird)</a:t>
            </a:r>
            <a:r>
              <a:rPr sz="2400" spc="-6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?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Clr>
                <a:srgbClr val="CC0000"/>
              </a:buClr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if( </a:t>
            </a:r>
            <a:r>
              <a:rPr sz="2400" dirty="0">
                <a:latin typeface="微软雅黑"/>
                <a:cs typeface="微软雅黑"/>
              </a:rPr>
              <a:t>b </a:t>
            </a:r>
            <a:r>
              <a:rPr sz="2400" spc="-10" dirty="0">
                <a:latin typeface="微软雅黑"/>
                <a:cs typeface="微软雅黑"/>
              </a:rPr>
              <a:t>instanceof </a:t>
            </a:r>
            <a:r>
              <a:rPr sz="2400" spc="-5" dirty="0">
                <a:latin typeface="微软雅黑"/>
                <a:cs typeface="微软雅黑"/>
              </a:rPr>
              <a:t>Fish)</a:t>
            </a:r>
            <a:r>
              <a:rPr sz="2400" spc="-4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?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Clr>
                <a:srgbClr val="CC0000"/>
              </a:buClr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if( </a:t>
            </a:r>
            <a:r>
              <a:rPr sz="2400" dirty="0">
                <a:latin typeface="微软雅黑"/>
                <a:cs typeface="微软雅黑"/>
              </a:rPr>
              <a:t>c </a:t>
            </a:r>
            <a:r>
              <a:rPr sz="2400" spc="-10" dirty="0">
                <a:latin typeface="微软雅黑"/>
                <a:cs typeface="微软雅黑"/>
              </a:rPr>
              <a:t>instanceof </a:t>
            </a:r>
            <a:r>
              <a:rPr sz="2400" spc="-5" dirty="0">
                <a:latin typeface="微软雅黑"/>
                <a:cs typeface="微软雅黑"/>
              </a:rPr>
              <a:t>Fish)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?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6415" y="1831975"/>
            <a:ext cx="1617980" cy="960755"/>
          </a:xfrm>
          <a:custGeom>
            <a:avLst/>
            <a:gdLst/>
            <a:ahLst/>
            <a:cxnLst/>
            <a:rect l="l" t="t" r="r" b="b"/>
            <a:pathLst>
              <a:path w="1617980" h="960755">
                <a:moveTo>
                  <a:pt x="1617662" y="960437"/>
                </a:moveTo>
                <a:lnTo>
                  <a:pt x="0" y="960437"/>
                </a:lnTo>
                <a:lnTo>
                  <a:pt x="0" y="0"/>
                </a:lnTo>
                <a:lnTo>
                  <a:pt x="1617662" y="0"/>
                </a:lnTo>
                <a:lnTo>
                  <a:pt x="1617662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935037"/>
                </a:lnTo>
                <a:lnTo>
                  <a:pt x="12700" y="935037"/>
                </a:lnTo>
                <a:lnTo>
                  <a:pt x="25400" y="947737"/>
                </a:lnTo>
                <a:lnTo>
                  <a:pt x="1617662" y="947737"/>
                </a:lnTo>
                <a:lnTo>
                  <a:pt x="1617662" y="960437"/>
                </a:lnTo>
                <a:close/>
              </a:path>
              <a:path w="1617980" h="96075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617980" h="960755">
                <a:moveTo>
                  <a:pt x="1592262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92262" y="12700"/>
                </a:lnTo>
                <a:lnTo>
                  <a:pt x="1592262" y="25400"/>
                </a:lnTo>
                <a:close/>
              </a:path>
              <a:path w="1617980" h="960755">
                <a:moveTo>
                  <a:pt x="1592262" y="947737"/>
                </a:moveTo>
                <a:lnTo>
                  <a:pt x="1592262" y="12700"/>
                </a:lnTo>
                <a:lnTo>
                  <a:pt x="1604962" y="25400"/>
                </a:lnTo>
                <a:lnTo>
                  <a:pt x="1617662" y="25400"/>
                </a:lnTo>
                <a:lnTo>
                  <a:pt x="1617662" y="935037"/>
                </a:lnTo>
                <a:lnTo>
                  <a:pt x="1604962" y="935037"/>
                </a:lnTo>
                <a:lnTo>
                  <a:pt x="1592262" y="947737"/>
                </a:lnTo>
                <a:close/>
              </a:path>
              <a:path w="1617980" h="960755">
                <a:moveTo>
                  <a:pt x="1617662" y="25400"/>
                </a:moveTo>
                <a:lnTo>
                  <a:pt x="1604962" y="25400"/>
                </a:lnTo>
                <a:lnTo>
                  <a:pt x="1592262" y="12700"/>
                </a:lnTo>
                <a:lnTo>
                  <a:pt x="1617662" y="12700"/>
                </a:lnTo>
                <a:lnTo>
                  <a:pt x="1617662" y="25400"/>
                </a:lnTo>
                <a:close/>
              </a:path>
              <a:path w="1617980" h="960755">
                <a:moveTo>
                  <a:pt x="25400" y="947737"/>
                </a:moveTo>
                <a:lnTo>
                  <a:pt x="12700" y="935037"/>
                </a:lnTo>
                <a:lnTo>
                  <a:pt x="25400" y="935037"/>
                </a:lnTo>
                <a:lnTo>
                  <a:pt x="25400" y="947737"/>
                </a:lnTo>
                <a:close/>
              </a:path>
              <a:path w="1617980" h="960755">
                <a:moveTo>
                  <a:pt x="1592262" y="947737"/>
                </a:moveTo>
                <a:lnTo>
                  <a:pt x="25400" y="947737"/>
                </a:lnTo>
                <a:lnTo>
                  <a:pt x="25400" y="935037"/>
                </a:lnTo>
                <a:lnTo>
                  <a:pt x="1592262" y="935037"/>
                </a:lnTo>
                <a:lnTo>
                  <a:pt x="1592262" y="947737"/>
                </a:lnTo>
                <a:close/>
              </a:path>
              <a:path w="1617980" h="960755">
                <a:moveTo>
                  <a:pt x="1617662" y="947737"/>
                </a:moveTo>
                <a:lnTo>
                  <a:pt x="1592262" y="947737"/>
                </a:lnTo>
                <a:lnTo>
                  <a:pt x="1604962" y="935037"/>
                </a:lnTo>
                <a:lnTo>
                  <a:pt x="1617662" y="935037"/>
                </a:lnTo>
                <a:lnTo>
                  <a:pt x="1617662" y="947737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99450" y="1866264"/>
            <a:ext cx="13106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宋体"/>
                <a:cs typeface="宋体"/>
              </a:rPr>
              <a:t>动物类</a:t>
            </a:r>
            <a:r>
              <a:rPr sz="1600" spc="-5" dirty="0">
                <a:latin typeface="Book Antiqua"/>
                <a:cs typeface="Book Antiqua"/>
              </a:rPr>
              <a:t>Ani</a:t>
            </a:r>
            <a:r>
              <a:rPr sz="1600" dirty="0">
                <a:latin typeface="Book Antiqua"/>
                <a:cs typeface="Book Antiqua"/>
              </a:rPr>
              <a:t>m</a:t>
            </a:r>
            <a:r>
              <a:rPr sz="1600" spc="-5" dirty="0">
                <a:latin typeface="Book Antiqua"/>
                <a:cs typeface="Book Antiqua"/>
              </a:rPr>
              <a:t>al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97265" y="2109342"/>
            <a:ext cx="664210" cy="6096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latin typeface="Book Antiqua"/>
                <a:cs typeface="Book Antiqua"/>
              </a:rPr>
              <a:t>m</a:t>
            </a:r>
            <a:r>
              <a:rPr sz="1600" spc="-5" dirty="0">
                <a:latin typeface="Book Antiqua"/>
                <a:cs typeface="Book Antiqua"/>
              </a:rPr>
              <a:t>ove()</a:t>
            </a:r>
            <a:endParaRPr sz="1600">
              <a:latin typeface="Book Antiqua"/>
              <a:cs typeface="Book Antiqua"/>
            </a:endParaRPr>
          </a:p>
          <a:p>
            <a:pPr marL="50800" algn="ctr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Book Antiqua"/>
                <a:cs typeface="Book Antiqua"/>
              </a:rPr>
              <a:t>eat()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59102" y="2183606"/>
            <a:ext cx="1591310" cy="0"/>
          </a:xfrm>
          <a:custGeom>
            <a:avLst/>
            <a:gdLst/>
            <a:ahLst/>
            <a:cxnLst/>
            <a:rect l="l" t="t" r="r" b="b"/>
            <a:pathLst>
              <a:path w="1591310">
                <a:moveTo>
                  <a:pt x="0" y="0"/>
                </a:moveTo>
                <a:lnTo>
                  <a:pt x="1590979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2790" y="3271837"/>
            <a:ext cx="1617980" cy="889000"/>
          </a:xfrm>
          <a:custGeom>
            <a:avLst/>
            <a:gdLst/>
            <a:ahLst/>
            <a:cxnLst/>
            <a:rect l="l" t="t" r="r" b="b"/>
            <a:pathLst>
              <a:path w="1617980" h="889000">
                <a:moveTo>
                  <a:pt x="1617662" y="889000"/>
                </a:moveTo>
                <a:lnTo>
                  <a:pt x="0" y="889000"/>
                </a:lnTo>
                <a:lnTo>
                  <a:pt x="0" y="0"/>
                </a:lnTo>
                <a:lnTo>
                  <a:pt x="1617662" y="0"/>
                </a:lnTo>
                <a:lnTo>
                  <a:pt x="1617662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863600"/>
                </a:lnTo>
                <a:lnTo>
                  <a:pt x="12700" y="863600"/>
                </a:lnTo>
                <a:lnTo>
                  <a:pt x="25400" y="876300"/>
                </a:lnTo>
                <a:lnTo>
                  <a:pt x="1617662" y="876300"/>
                </a:lnTo>
                <a:lnTo>
                  <a:pt x="1617662" y="889000"/>
                </a:lnTo>
                <a:close/>
              </a:path>
              <a:path w="1617980" h="8890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617980" h="889000">
                <a:moveTo>
                  <a:pt x="1592262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92262" y="12700"/>
                </a:lnTo>
                <a:lnTo>
                  <a:pt x="1592262" y="25400"/>
                </a:lnTo>
                <a:close/>
              </a:path>
              <a:path w="1617980" h="889000">
                <a:moveTo>
                  <a:pt x="1592262" y="876300"/>
                </a:moveTo>
                <a:lnTo>
                  <a:pt x="1592262" y="12700"/>
                </a:lnTo>
                <a:lnTo>
                  <a:pt x="1604962" y="25400"/>
                </a:lnTo>
                <a:lnTo>
                  <a:pt x="1617662" y="25400"/>
                </a:lnTo>
                <a:lnTo>
                  <a:pt x="1617662" y="863600"/>
                </a:lnTo>
                <a:lnTo>
                  <a:pt x="1604962" y="863600"/>
                </a:lnTo>
                <a:lnTo>
                  <a:pt x="1592262" y="876300"/>
                </a:lnTo>
                <a:close/>
              </a:path>
              <a:path w="1617980" h="889000">
                <a:moveTo>
                  <a:pt x="1617662" y="25400"/>
                </a:moveTo>
                <a:lnTo>
                  <a:pt x="1604962" y="25400"/>
                </a:lnTo>
                <a:lnTo>
                  <a:pt x="1592262" y="12700"/>
                </a:lnTo>
                <a:lnTo>
                  <a:pt x="1617662" y="12700"/>
                </a:lnTo>
                <a:lnTo>
                  <a:pt x="1617662" y="25400"/>
                </a:lnTo>
                <a:close/>
              </a:path>
              <a:path w="1617980" h="889000">
                <a:moveTo>
                  <a:pt x="25400" y="876300"/>
                </a:moveTo>
                <a:lnTo>
                  <a:pt x="12700" y="863600"/>
                </a:lnTo>
                <a:lnTo>
                  <a:pt x="25400" y="863600"/>
                </a:lnTo>
                <a:lnTo>
                  <a:pt x="25400" y="876300"/>
                </a:lnTo>
                <a:close/>
              </a:path>
              <a:path w="1617980" h="889000">
                <a:moveTo>
                  <a:pt x="1592262" y="876300"/>
                </a:moveTo>
                <a:lnTo>
                  <a:pt x="25400" y="876300"/>
                </a:lnTo>
                <a:lnTo>
                  <a:pt x="25400" y="863600"/>
                </a:lnTo>
                <a:lnTo>
                  <a:pt x="1592262" y="863600"/>
                </a:lnTo>
                <a:lnTo>
                  <a:pt x="1592262" y="876300"/>
                </a:lnTo>
                <a:close/>
              </a:path>
              <a:path w="1617980" h="889000">
                <a:moveTo>
                  <a:pt x="1617662" y="876300"/>
                </a:moveTo>
                <a:lnTo>
                  <a:pt x="1592262" y="876300"/>
                </a:lnTo>
                <a:lnTo>
                  <a:pt x="1604962" y="863600"/>
                </a:lnTo>
                <a:lnTo>
                  <a:pt x="1617662" y="863600"/>
                </a:lnTo>
                <a:lnTo>
                  <a:pt x="1617662" y="876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2205" y="3301047"/>
            <a:ext cx="81851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宋体"/>
                <a:cs typeface="宋体"/>
              </a:rPr>
              <a:t>鸟类</a:t>
            </a:r>
            <a:r>
              <a:rPr sz="1600" spc="-5" dirty="0">
                <a:latin typeface="Book Antiqua"/>
                <a:cs typeface="Book Antiqua"/>
              </a:rPr>
              <a:t>Bi</a:t>
            </a:r>
            <a:r>
              <a:rPr sz="1600" spc="-10" dirty="0">
                <a:latin typeface="Book Antiqua"/>
                <a:cs typeface="Book Antiqua"/>
              </a:rPr>
              <a:t>r</a:t>
            </a:r>
            <a:r>
              <a:rPr sz="1600" spc="-5" dirty="0">
                <a:latin typeface="Book Antiqua"/>
                <a:cs typeface="Book Antiqua"/>
              </a:rPr>
              <a:t>d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640" y="3628707"/>
            <a:ext cx="66421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Book Antiqua"/>
                <a:cs typeface="Book Antiqua"/>
              </a:rPr>
              <a:t>m</a:t>
            </a:r>
            <a:r>
              <a:rPr sz="1600" spc="-5" dirty="0">
                <a:latin typeface="Book Antiqua"/>
                <a:cs typeface="Book Antiqua"/>
              </a:rPr>
              <a:t>ove()</a:t>
            </a:r>
            <a:endParaRPr sz="1600">
              <a:latin typeface="Book Antiqua"/>
              <a:cs typeface="Book Antiqua"/>
            </a:endParaRPr>
          </a:p>
          <a:p>
            <a:pPr marL="101600">
              <a:lnSpc>
                <a:spcPct val="100000"/>
              </a:lnSpc>
            </a:pPr>
            <a:r>
              <a:rPr sz="1600" spc="-5" dirty="0">
                <a:latin typeface="Book Antiqua"/>
                <a:cs typeface="Book Antiqua"/>
              </a:rPr>
              <a:t>sing()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5477" y="3642518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28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56055" y="2781300"/>
            <a:ext cx="657225" cy="513715"/>
          </a:xfrm>
          <a:custGeom>
            <a:avLst/>
            <a:gdLst/>
            <a:ahLst/>
            <a:cxnLst/>
            <a:rect l="l" t="t" r="r" b="b"/>
            <a:pathLst>
              <a:path w="657225" h="513714">
                <a:moveTo>
                  <a:pt x="589055" y="36639"/>
                </a:moveTo>
                <a:lnTo>
                  <a:pt x="573493" y="16560"/>
                </a:lnTo>
                <a:lnTo>
                  <a:pt x="657072" y="0"/>
                </a:lnTo>
                <a:lnTo>
                  <a:pt x="645077" y="24968"/>
                </a:lnTo>
                <a:lnTo>
                  <a:pt x="604113" y="24968"/>
                </a:lnTo>
                <a:lnTo>
                  <a:pt x="589055" y="36639"/>
                </a:lnTo>
                <a:close/>
              </a:path>
              <a:path w="657225" h="513714">
                <a:moveTo>
                  <a:pt x="604615" y="56715"/>
                </a:moveTo>
                <a:lnTo>
                  <a:pt x="589055" y="36639"/>
                </a:lnTo>
                <a:lnTo>
                  <a:pt x="604113" y="24968"/>
                </a:lnTo>
                <a:lnTo>
                  <a:pt x="619671" y="45046"/>
                </a:lnTo>
                <a:lnTo>
                  <a:pt x="604615" y="56715"/>
                </a:lnTo>
                <a:close/>
              </a:path>
              <a:path w="657225" h="513714">
                <a:moveTo>
                  <a:pt x="620179" y="76796"/>
                </a:moveTo>
                <a:lnTo>
                  <a:pt x="604615" y="56715"/>
                </a:lnTo>
                <a:lnTo>
                  <a:pt x="619671" y="45046"/>
                </a:lnTo>
                <a:lnTo>
                  <a:pt x="604113" y="24968"/>
                </a:lnTo>
                <a:lnTo>
                  <a:pt x="645077" y="24968"/>
                </a:lnTo>
                <a:lnTo>
                  <a:pt x="620179" y="76796"/>
                </a:lnTo>
                <a:close/>
              </a:path>
              <a:path w="657225" h="513714">
                <a:moveTo>
                  <a:pt x="15557" y="513270"/>
                </a:moveTo>
                <a:lnTo>
                  <a:pt x="0" y="493204"/>
                </a:lnTo>
                <a:lnTo>
                  <a:pt x="589055" y="36639"/>
                </a:lnTo>
                <a:lnTo>
                  <a:pt x="604615" y="56715"/>
                </a:lnTo>
                <a:lnTo>
                  <a:pt x="15557" y="513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0978" y="3271837"/>
            <a:ext cx="1617980" cy="889000"/>
          </a:xfrm>
          <a:custGeom>
            <a:avLst/>
            <a:gdLst/>
            <a:ahLst/>
            <a:cxnLst/>
            <a:rect l="l" t="t" r="r" b="b"/>
            <a:pathLst>
              <a:path w="1617979" h="889000">
                <a:moveTo>
                  <a:pt x="1617662" y="889000"/>
                </a:moveTo>
                <a:lnTo>
                  <a:pt x="0" y="889000"/>
                </a:lnTo>
                <a:lnTo>
                  <a:pt x="0" y="0"/>
                </a:lnTo>
                <a:lnTo>
                  <a:pt x="1617662" y="0"/>
                </a:lnTo>
                <a:lnTo>
                  <a:pt x="1617662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863600"/>
                </a:lnTo>
                <a:lnTo>
                  <a:pt x="12700" y="863600"/>
                </a:lnTo>
                <a:lnTo>
                  <a:pt x="25400" y="876300"/>
                </a:lnTo>
                <a:lnTo>
                  <a:pt x="1617662" y="876300"/>
                </a:lnTo>
                <a:lnTo>
                  <a:pt x="1617662" y="889000"/>
                </a:lnTo>
                <a:close/>
              </a:path>
              <a:path w="1617979" h="8890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617979" h="889000">
                <a:moveTo>
                  <a:pt x="1592262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92262" y="12700"/>
                </a:lnTo>
                <a:lnTo>
                  <a:pt x="1592262" y="25400"/>
                </a:lnTo>
                <a:close/>
              </a:path>
              <a:path w="1617979" h="889000">
                <a:moveTo>
                  <a:pt x="1592262" y="876300"/>
                </a:moveTo>
                <a:lnTo>
                  <a:pt x="1592262" y="12700"/>
                </a:lnTo>
                <a:lnTo>
                  <a:pt x="1604962" y="25400"/>
                </a:lnTo>
                <a:lnTo>
                  <a:pt x="1617662" y="25400"/>
                </a:lnTo>
                <a:lnTo>
                  <a:pt x="1617662" y="863600"/>
                </a:lnTo>
                <a:lnTo>
                  <a:pt x="1604962" y="863600"/>
                </a:lnTo>
                <a:lnTo>
                  <a:pt x="1592262" y="876300"/>
                </a:lnTo>
                <a:close/>
              </a:path>
              <a:path w="1617979" h="889000">
                <a:moveTo>
                  <a:pt x="1617662" y="25400"/>
                </a:moveTo>
                <a:lnTo>
                  <a:pt x="1604962" y="25400"/>
                </a:lnTo>
                <a:lnTo>
                  <a:pt x="1592262" y="12700"/>
                </a:lnTo>
                <a:lnTo>
                  <a:pt x="1617662" y="12700"/>
                </a:lnTo>
                <a:lnTo>
                  <a:pt x="1617662" y="25400"/>
                </a:lnTo>
                <a:close/>
              </a:path>
              <a:path w="1617979" h="889000">
                <a:moveTo>
                  <a:pt x="25400" y="876300"/>
                </a:moveTo>
                <a:lnTo>
                  <a:pt x="12700" y="863600"/>
                </a:lnTo>
                <a:lnTo>
                  <a:pt x="25400" y="863600"/>
                </a:lnTo>
                <a:lnTo>
                  <a:pt x="25400" y="876300"/>
                </a:lnTo>
                <a:close/>
              </a:path>
              <a:path w="1617979" h="889000">
                <a:moveTo>
                  <a:pt x="1592262" y="876300"/>
                </a:moveTo>
                <a:lnTo>
                  <a:pt x="25400" y="876300"/>
                </a:lnTo>
                <a:lnTo>
                  <a:pt x="25400" y="863600"/>
                </a:lnTo>
                <a:lnTo>
                  <a:pt x="1592262" y="863600"/>
                </a:lnTo>
                <a:lnTo>
                  <a:pt x="1592262" y="876300"/>
                </a:lnTo>
                <a:close/>
              </a:path>
              <a:path w="1617979" h="889000">
                <a:moveTo>
                  <a:pt x="1617662" y="876300"/>
                </a:moveTo>
                <a:lnTo>
                  <a:pt x="1592262" y="876300"/>
                </a:lnTo>
                <a:lnTo>
                  <a:pt x="1604962" y="863600"/>
                </a:lnTo>
                <a:lnTo>
                  <a:pt x="1617662" y="863600"/>
                </a:lnTo>
                <a:lnTo>
                  <a:pt x="1617662" y="876300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70073" y="3320732"/>
            <a:ext cx="85915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宋体"/>
                <a:cs typeface="宋体"/>
              </a:rPr>
              <a:t>鱼</a:t>
            </a:r>
            <a:r>
              <a:rPr sz="1600" spc="-5" dirty="0">
                <a:latin typeface="宋体"/>
                <a:cs typeface="宋体"/>
              </a:rPr>
              <a:t>类</a:t>
            </a:r>
            <a:r>
              <a:rPr sz="1600" spc="-470" dirty="0">
                <a:latin typeface="宋体"/>
                <a:cs typeface="宋体"/>
              </a:rPr>
              <a:t> </a:t>
            </a:r>
            <a:r>
              <a:rPr sz="1600" spc="-5" dirty="0">
                <a:latin typeface="Book Antiqua"/>
                <a:cs typeface="Book Antiqua"/>
              </a:rPr>
              <a:t>Fish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67228" y="3637597"/>
            <a:ext cx="66421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Book Antiqua"/>
                <a:cs typeface="Book Antiqua"/>
              </a:rPr>
              <a:t>m</a:t>
            </a:r>
            <a:r>
              <a:rPr sz="1600" spc="-5" dirty="0">
                <a:latin typeface="Book Antiqua"/>
                <a:cs typeface="Book Antiqua"/>
              </a:rPr>
              <a:t>ove()</a:t>
            </a:r>
            <a:endParaRPr sz="1600">
              <a:latin typeface="Book Antiqua"/>
              <a:cs typeface="Book Antiqu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03665" y="3642518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79">
                <a:moveTo>
                  <a:pt x="0" y="0"/>
                </a:moveTo>
                <a:lnTo>
                  <a:pt x="159228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21153" y="2781300"/>
            <a:ext cx="657225" cy="513715"/>
          </a:xfrm>
          <a:custGeom>
            <a:avLst/>
            <a:gdLst/>
            <a:ahLst/>
            <a:cxnLst/>
            <a:rect l="l" t="t" r="r" b="b"/>
            <a:pathLst>
              <a:path w="657225" h="513714">
                <a:moveTo>
                  <a:pt x="36880" y="76796"/>
                </a:moveTo>
                <a:lnTo>
                  <a:pt x="0" y="0"/>
                </a:lnTo>
                <a:lnTo>
                  <a:pt x="83566" y="16560"/>
                </a:lnTo>
                <a:lnTo>
                  <a:pt x="77049" y="24968"/>
                </a:lnTo>
                <a:lnTo>
                  <a:pt x="52946" y="24968"/>
                </a:lnTo>
                <a:lnTo>
                  <a:pt x="37388" y="45046"/>
                </a:lnTo>
                <a:lnTo>
                  <a:pt x="52444" y="56715"/>
                </a:lnTo>
                <a:lnTo>
                  <a:pt x="36880" y="76796"/>
                </a:lnTo>
                <a:close/>
              </a:path>
              <a:path w="657225" h="513714">
                <a:moveTo>
                  <a:pt x="52444" y="56715"/>
                </a:moveTo>
                <a:lnTo>
                  <a:pt x="37388" y="45046"/>
                </a:lnTo>
                <a:lnTo>
                  <a:pt x="52946" y="24968"/>
                </a:lnTo>
                <a:lnTo>
                  <a:pt x="68004" y="36639"/>
                </a:lnTo>
                <a:lnTo>
                  <a:pt x="52444" y="56715"/>
                </a:lnTo>
                <a:close/>
              </a:path>
              <a:path w="657225" h="513714">
                <a:moveTo>
                  <a:pt x="68004" y="36639"/>
                </a:moveTo>
                <a:lnTo>
                  <a:pt x="52946" y="24968"/>
                </a:lnTo>
                <a:lnTo>
                  <a:pt x="77049" y="24968"/>
                </a:lnTo>
                <a:lnTo>
                  <a:pt x="68004" y="36639"/>
                </a:lnTo>
                <a:close/>
              </a:path>
              <a:path w="657225" h="513714">
                <a:moveTo>
                  <a:pt x="641502" y="513270"/>
                </a:moveTo>
                <a:lnTo>
                  <a:pt x="52444" y="56715"/>
                </a:lnTo>
                <a:lnTo>
                  <a:pt x="68004" y="36639"/>
                </a:lnTo>
                <a:lnTo>
                  <a:pt x="657059" y="493204"/>
                </a:lnTo>
                <a:lnTo>
                  <a:pt x="641502" y="513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0219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6.1.3	</a:t>
            </a:r>
            <a:r>
              <a:rPr sz="2100" u="none" spc="-10" dirty="0"/>
              <a:t>instanceof</a:t>
            </a:r>
            <a:r>
              <a:rPr sz="2100" u="none" dirty="0"/>
              <a:t>运算符</a:t>
            </a:r>
            <a:endParaRPr sz="21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22044" y="1151255"/>
            <a:ext cx="6737984" cy="40468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微软雅黑"/>
                <a:cs typeface="微软雅黑"/>
              </a:rPr>
              <a:t>instanceof</a:t>
            </a:r>
            <a:endParaRPr sz="2800">
              <a:latin typeface="微软雅黑"/>
              <a:cs typeface="微软雅黑"/>
            </a:endParaRPr>
          </a:p>
          <a:p>
            <a:pPr marL="174625">
              <a:lnSpc>
                <a:spcPct val="100000"/>
              </a:lnSpc>
              <a:spcBef>
                <a:spcPts val="2895"/>
              </a:spcBef>
            </a:pPr>
            <a:r>
              <a:rPr sz="1800" spc="-5" dirty="0">
                <a:latin typeface="微软雅黑"/>
                <a:cs typeface="微软雅黑"/>
              </a:rPr>
              <a:t>boolean </a:t>
            </a:r>
            <a:r>
              <a:rPr sz="1800" spc="-10" dirty="0">
                <a:latin typeface="微软雅黑"/>
                <a:cs typeface="微软雅黑"/>
              </a:rPr>
              <a:t>result </a:t>
            </a:r>
            <a:r>
              <a:rPr sz="1800" dirty="0">
                <a:latin typeface="微软雅黑"/>
                <a:cs typeface="微软雅黑"/>
              </a:rPr>
              <a:t>= </a:t>
            </a:r>
            <a:r>
              <a:rPr sz="1800" spc="-5" dirty="0">
                <a:latin typeface="微软雅黑"/>
                <a:cs typeface="微软雅黑"/>
              </a:rPr>
              <a:t>object instanceof</a:t>
            </a:r>
            <a:r>
              <a:rPr sz="1800" spc="1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class</a:t>
            </a:r>
            <a:endParaRPr sz="1800">
              <a:latin typeface="微软雅黑"/>
              <a:cs typeface="微软雅黑"/>
            </a:endParaRPr>
          </a:p>
          <a:p>
            <a:pPr marL="174625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微软雅黑"/>
                <a:cs typeface="微软雅黑"/>
              </a:rPr>
              <a:t>如果</a:t>
            </a:r>
            <a:r>
              <a:rPr sz="1800" spc="-1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object</a:t>
            </a:r>
            <a:r>
              <a:rPr sz="1800" spc="-1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是</a:t>
            </a:r>
            <a:r>
              <a:rPr sz="1800" spc="-1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class</a:t>
            </a:r>
            <a:r>
              <a:rPr sz="1800" spc="-1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类型或者其子类的对象，则返回</a:t>
            </a:r>
            <a:r>
              <a:rPr sz="1800" spc="-1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true，</a:t>
            </a:r>
            <a:r>
              <a:rPr sz="1800" dirty="0">
                <a:latin typeface="微软雅黑"/>
                <a:cs typeface="微软雅黑"/>
              </a:rPr>
              <a:t>否则 返回false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注意：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1</a:t>
            </a:r>
            <a:r>
              <a:rPr sz="1800" dirty="0">
                <a:latin typeface="微软雅黑"/>
                <a:cs typeface="微软雅黑"/>
              </a:rPr>
              <a:t>、</a:t>
            </a:r>
            <a:r>
              <a:rPr sz="1800" spc="-5" dirty="0">
                <a:latin typeface="微软雅黑"/>
                <a:cs typeface="微软雅黑"/>
              </a:rPr>
              <a:t>obj</a:t>
            </a:r>
            <a:r>
              <a:rPr sz="1800" dirty="0">
                <a:latin typeface="微软雅黑"/>
                <a:cs typeface="微软雅黑"/>
              </a:rPr>
              <a:t>不可以是基本类型数据</a:t>
            </a:r>
            <a:endParaRPr sz="1800">
              <a:latin typeface="微软雅黑"/>
              <a:cs typeface="微软雅黑"/>
            </a:endParaRPr>
          </a:p>
          <a:p>
            <a:pPr marL="12700" marR="1554480">
              <a:lnSpc>
                <a:spcPct val="200000"/>
              </a:lnSpc>
            </a:pPr>
            <a:r>
              <a:rPr sz="1800" spc="-5" dirty="0">
                <a:latin typeface="微软雅黑"/>
                <a:cs typeface="微软雅黑"/>
              </a:rPr>
              <a:t>2</a:t>
            </a:r>
            <a:r>
              <a:rPr sz="1800" dirty="0">
                <a:latin typeface="微软雅黑"/>
                <a:cs typeface="微软雅黑"/>
              </a:rPr>
              <a:t>、左边的对象实例和右边的类必须在一个继承树上  </a:t>
            </a:r>
            <a:r>
              <a:rPr sz="1800" spc="-15" dirty="0">
                <a:latin typeface="微软雅黑"/>
                <a:cs typeface="微软雅黑"/>
              </a:rPr>
              <a:t>example:InstanceofTest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30219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6.1.3	</a:t>
            </a:r>
            <a:r>
              <a:rPr sz="2100" b="1" spc="-10" dirty="0">
                <a:latin typeface="微软雅黑"/>
                <a:cs typeface="微软雅黑"/>
              </a:rPr>
              <a:t>instanceof</a:t>
            </a:r>
            <a:r>
              <a:rPr sz="2100" b="1" dirty="0">
                <a:latin typeface="微软雅黑"/>
                <a:cs typeface="微软雅黑"/>
              </a:rPr>
              <a:t>运算符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0939" y="2173604"/>
            <a:ext cx="522795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3425" marR="5080" indent="-72136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public </a:t>
            </a:r>
            <a:r>
              <a:rPr sz="2400" spc="-10" dirty="0">
                <a:latin typeface="微软雅黑"/>
                <a:cs typeface="微软雅黑"/>
              </a:rPr>
              <a:t>void </a:t>
            </a:r>
            <a:r>
              <a:rPr sz="2400" spc="-15" dirty="0">
                <a:latin typeface="微软雅黑"/>
                <a:cs typeface="微软雅黑"/>
              </a:rPr>
              <a:t>beforeWay(Object </a:t>
            </a:r>
            <a:r>
              <a:rPr sz="2400" spc="-5" dirty="0">
                <a:latin typeface="微软雅黑"/>
                <a:cs typeface="微软雅黑"/>
              </a:rPr>
              <a:t>obj) </a:t>
            </a:r>
            <a:r>
              <a:rPr sz="2400" dirty="0">
                <a:latin typeface="微软雅黑"/>
                <a:cs typeface="微软雅黑"/>
              </a:rPr>
              <a:t>{  if </a:t>
            </a:r>
            <a:r>
              <a:rPr sz="2400" spc="-5" dirty="0">
                <a:latin typeface="微软雅黑"/>
                <a:cs typeface="微软雅黑"/>
              </a:rPr>
              <a:t>(obj </a:t>
            </a:r>
            <a:r>
              <a:rPr sz="2400" spc="-10" dirty="0">
                <a:latin typeface="微软雅黑"/>
                <a:cs typeface="微软雅黑"/>
              </a:rPr>
              <a:t>instanceof </a:t>
            </a:r>
            <a:r>
              <a:rPr sz="2400" spc="-15" dirty="0">
                <a:latin typeface="微软雅黑"/>
                <a:cs typeface="微软雅黑"/>
              </a:rPr>
              <a:t>String) </a:t>
            </a:r>
            <a:r>
              <a:rPr sz="2400" dirty="0">
                <a:latin typeface="微软雅黑"/>
                <a:cs typeface="微软雅黑"/>
              </a:rPr>
              <a:t>{  </a:t>
            </a:r>
            <a:r>
              <a:rPr sz="2400" spc="-20" dirty="0">
                <a:latin typeface="微软雅黑"/>
                <a:cs typeface="微软雅黑"/>
              </a:rPr>
              <a:t>String </a:t>
            </a:r>
            <a:r>
              <a:rPr sz="2400" spc="-5" dirty="0">
                <a:latin typeface="微软雅黑"/>
                <a:cs typeface="微软雅黑"/>
              </a:rPr>
              <a:t>str </a:t>
            </a:r>
            <a:r>
              <a:rPr sz="2400" dirty="0">
                <a:latin typeface="微软雅黑"/>
                <a:cs typeface="微软雅黑"/>
              </a:rPr>
              <a:t>= </a:t>
            </a:r>
            <a:r>
              <a:rPr sz="2400" spc="-15" dirty="0">
                <a:latin typeface="微软雅黑"/>
                <a:cs typeface="微软雅黑"/>
              </a:rPr>
              <a:t>(String) </a:t>
            </a:r>
            <a:r>
              <a:rPr sz="2400" spc="-5" dirty="0">
                <a:latin typeface="微软雅黑"/>
                <a:cs typeface="微软雅黑"/>
              </a:rPr>
              <a:t>obj;  </a:t>
            </a:r>
            <a:r>
              <a:rPr sz="2400" spc="-15" dirty="0">
                <a:latin typeface="微软雅黑"/>
                <a:cs typeface="微软雅黑"/>
              </a:rPr>
              <a:t>System.out.println(str.length());</a:t>
            </a:r>
            <a:endParaRPr sz="2400">
              <a:latin typeface="微软雅黑"/>
              <a:cs typeface="微软雅黑"/>
            </a:endParaRPr>
          </a:p>
          <a:p>
            <a:pPr marL="372745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}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}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70939" y="1151255"/>
            <a:ext cx="46799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u="none" spc="-10" dirty="0">
                <a:latin typeface="微软雅黑"/>
                <a:cs typeface="微软雅黑"/>
              </a:rPr>
              <a:t>instanceof</a:t>
            </a:r>
            <a:r>
              <a:rPr sz="2800" b="0" u="none" dirty="0">
                <a:latin typeface="微软雅黑"/>
                <a:cs typeface="微软雅黑"/>
              </a:rPr>
              <a:t>模式匹配</a:t>
            </a:r>
            <a:r>
              <a:rPr sz="2800" b="0" u="none" spc="-5" dirty="0">
                <a:latin typeface="微软雅黑"/>
                <a:cs typeface="微软雅黑"/>
              </a:rPr>
              <a:t>（17</a:t>
            </a:r>
            <a:r>
              <a:rPr sz="2800" b="0" u="none" dirty="0">
                <a:latin typeface="微软雅黑"/>
                <a:cs typeface="微软雅黑"/>
              </a:rPr>
              <a:t>后</a:t>
            </a:r>
            <a:r>
              <a:rPr sz="2800" b="0" u="none" spc="-5" dirty="0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0219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6.1.3	</a:t>
            </a:r>
            <a:r>
              <a:rPr sz="2100" u="none" spc="-10" dirty="0"/>
              <a:t>instanceof</a:t>
            </a:r>
            <a:r>
              <a:rPr sz="2100" u="none" dirty="0"/>
              <a:t>运算符</a:t>
            </a:r>
            <a:endParaRPr sz="21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0939" y="1151255"/>
            <a:ext cx="6729095" cy="3874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微软雅黑"/>
                <a:cs typeface="微软雅黑"/>
              </a:rPr>
              <a:t>instanceof</a:t>
            </a:r>
            <a:r>
              <a:rPr sz="2800" dirty="0">
                <a:latin typeface="微软雅黑"/>
                <a:cs typeface="微软雅黑"/>
              </a:rPr>
              <a:t>模式匹</a:t>
            </a:r>
            <a:r>
              <a:rPr sz="2800" spc="-5" dirty="0">
                <a:latin typeface="微软雅黑"/>
                <a:cs typeface="微软雅黑"/>
              </a:rPr>
              <a:t>配</a:t>
            </a:r>
            <a:endParaRPr sz="2800">
              <a:latin typeface="微软雅黑"/>
              <a:cs typeface="微软雅黑"/>
            </a:endParaRPr>
          </a:p>
          <a:p>
            <a:pPr marL="379095" marR="2068195" indent="-271780">
              <a:lnSpc>
                <a:spcPct val="100000"/>
              </a:lnSpc>
              <a:spcBef>
                <a:spcPts val="2895"/>
              </a:spcBef>
            </a:pPr>
            <a:r>
              <a:rPr sz="1800" dirty="0">
                <a:latin typeface="微软雅黑"/>
                <a:cs typeface="微软雅黑"/>
              </a:rPr>
              <a:t>public </a:t>
            </a:r>
            <a:r>
              <a:rPr sz="1800" spc="-5" dirty="0">
                <a:latin typeface="微软雅黑"/>
                <a:cs typeface="微软雅黑"/>
              </a:rPr>
              <a:t>void </a:t>
            </a:r>
            <a:r>
              <a:rPr sz="1800" spc="-10" dirty="0">
                <a:latin typeface="微软雅黑"/>
                <a:cs typeface="微软雅黑"/>
              </a:rPr>
              <a:t>patternMatching(Object </a:t>
            </a:r>
            <a:r>
              <a:rPr sz="1800" spc="-5" dirty="0">
                <a:latin typeface="微软雅黑"/>
                <a:cs typeface="微软雅黑"/>
              </a:rPr>
              <a:t>obj) </a:t>
            </a:r>
            <a:r>
              <a:rPr sz="1800" dirty="0">
                <a:latin typeface="微软雅黑"/>
                <a:cs typeface="微软雅黑"/>
              </a:rPr>
              <a:t>{  if </a:t>
            </a:r>
            <a:r>
              <a:rPr sz="1800" spc="-5" dirty="0">
                <a:latin typeface="微软雅黑"/>
                <a:cs typeface="微软雅黑"/>
              </a:rPr>
              <a:t>(</a:t>
            </a: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obj instanceof </a:t>
            </a:r>
            <a:r>
              <a:rPr sz="1800" spc="-15" dirty="0">
                <a:solidFill>
                  <a:srgbClr val="FF0000"/>
                </a:solidFill>
                <a:latin typeface="微软雅黑"/>
                <a:cs typeface="微软雅黑"/>
              </a:rPr>
              <a:t>String </a:t>
            </a: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str</a:t>
            </a:r>
            <a:r>
              <a:rPr sz="1800" spc="-5" dirty="0">
                <a:latin typeface="微软雅黑"/>
                <a:cs typeface="微软雅黑"/>
              </a:rPr>
              <a:t>) </a:t>
            </a:r>
            <a:r>
              <a:rPr sz="1800" dirty="0">
                <a:latin typeface="微软雅黑"/>
                <a:cs typeface="微软雅黑"/>
              </a:rPr>
              <a:t>{  </a:t>
            </a:r>
            <a:r>
              <a:rPr sz="1800" spc="-10" dirty="0">
                <a:latin typeface="微软雅黑"/>
                <a:cs typeface="微软雅黑"/>
              </a:rPr>
              <a:t>System.out.println(str.length());</a:t>
            </a:r>
            <a:endParaRPr sz="1800">
              <a:latin typeface="微软雅黑"/>
              <a:cs typeface="微软雅黑"/>
            </a:endParaRPr>
          </a:p>
          <a:p>
            <a:pPr marL="37909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 </a:t>
            </a:r>
            <a:r>
              <a:rPr sz="1800" spc="-5" dirty="0">
                <a:latin typeface="微软雅黑"/>
                <a:cs typeface="微软雅黑"/>
              </a:rPr>
              <a:t>else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65087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// </a:t>
            </a:r>
            <a:r>
              <a:rPr sz="1800" spc="-25" dirty="0">
                <a:latin typeface="微软雅黑"/>
                <a:cs typeface="微软雅黑"/>
              </a:rPr>
              <a:t>can't </a:t>
            </a:r>
            <a:r>
              <a:rPr sz="1800" dirty="0">
                <a:latin typeface="微软雅黑"/>
                <a:cs typeface="微软雅黑"/>
              </a:rPr>
              <a:t>use </a:t>
            </a:r>
            <a:r>
              <a:rPr sz="1800" spc="-5" dirty="0">
                <a:latin typeface="微软雅黑"/>
                <a:cs typeface="微软雅黑"/>
              </a:rPr>
              <a:t>str</a:t>
            </a:r>
            <a:r>
              <a:rPr sz="1800" spc="20" dirty="0">
                <a:latin typeface="微软雅黑"/>
                <a:cs typeface="微软雅黑"/>
              </a:rPr>
              <a:t> </a:t>
            </a:r>
            <a:r>
              <a:rPr sz="1800" spc="-10" dirty="0">
                <a:latin typeface="微软雅黑"/>
                <a:cs typeface="微软雅黑"/>
              </a:rPr>
              <a:t>here</a:t>
            </a:r>
            <a:endParaRPr sz="1800">
              <a:latin typeface="微软雅黑"/>
              <a:cs typeface="微软雅黑"/>
            </a:endParaRPr>
          </a:p>
          <a:p>
            <a:pPr marL="37909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0795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微软雅黑"/>
              <a:cs typeface="微软雅黑"/>
            </a:endParaRPr>
          </a:p>
          <a:p>
            <a:pPr marL="107950" marR="101155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1</a:t>
            </a:r>
            <a:r>
              <a:rPr sz="1800" dirty="0">
                <a:latin typeface="微软雅黑"/>
                <a:cs typeface="微软雅黑"/>
              </a:rPr>
              <a:t>、ins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anc</a:t>
            </a:r>
            <a:r>
              <a:rPr sz="1800" spc="-5" dirty="0">
                <a:latin typeface="微软雅黑"/>
                <a:cs typeface="微软雅黑"/>
              </a:rPr>
              <a:t>e</a:t>
            </a:r>
            <a:r>
              <a:rPr sz="1800" spc="-40" dirty="0">
                <a:latin typeface="微软雅黑"/>
                <a:cs typeface="微软雅黑"/>
              </a:rPr>
              <a:t>o</a:t>
            </a:r>
            <a:r>
              <a:rPr sz="1800" dirty="0">
                <a:latin typeface="微软雅黑"/>
                <a:cs typeface="微软雅黑"/>
              </a:rPr>
              <a:t>f模式匹配将判断和强制类型转换一步完成  </a:t>
            </a:r>
            <a:r>
              <a:rPr sz="1800" spc="-5" dirty="0">
                <a:latin typeface="微软雅黑"/>
                <a:cs typeface="微软雅黑"/>
              </a:rPr>
              <a:t>2</a:t>
            </a:r>
            <a:r>
              <a:rPr sz="1800" dirty="0">
                <a:latin typeface="微软雅黑"/>
                <a:cs typeface="微软雅黑"/>
              </a:rPr>
              <a:t>、语法：对象</a:t>
            </a:r>
            <a:r>
              <a:rPr sz="1800" spc="-5" dirty="0">
                <a:latin typeface="微软雅黑"/>
                <a:cs typeface="微软雅黑"/>
              </a:rPr>
              <a:t> instanceof </a:t>
            </a:r>
            <a:r>
              <a:rPr sz="1800" dirty="0">
                <a:latin typeface="微软雅黑"/>
                <a:cs typeface="微软雅黑"/>
              </a:rPr>
              <a:t>类型</a:t>
            </a:r>
            <a:r>
              <a:rPr sz="1800" spc="-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绑定变量</a:t>
            </a:r>
            <a:endParaRPr sz="1800">
              <a:latin typeface="微软雅黑"/>
              <a:cs typeface="微软雅黑"/>
            </a:endParaRPr>
          </a:p>
          <a:p>
            <a:pPr marL="10795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3</a:t>
            </a:r>
            <a:r>
              <a:rPr sz="1800" dirty="0">
                <a:latin typeface="微软雅黑"/>
                <a:cs typeface="微软雅黑"/>
              </a:rPr>
              <a:t>、注意绑定变量仅在obj</a:t>
            </a:r>
            <a:r>
              <a:rPr sz="1800" spc="-2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instanceof</a:t>
            </a:r>
            <a:r>
              <a:rPr sz="1800" spc="-25" dirty="0">
                <a:latin typeface="微软雅黑"/>
                <a:cs typeface="微软雅黑"/>
              </a:rPr>
              <a:t> </a:t>
            </a:r>
            <a:r>
              <a:rPr sz="1800" spc="-15" dirty="0">
                <a:latin typeface="微软雅黑"/>
                <a:cs typeface="微软雅黑"/>
              </a:rPr>
              <a:t>String</a:t>
            </a:r>
            <a:r>
              <a:rPr sz="1800" spc="-2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str</a:t>
            </a:r>
            <a:r>
              <a:rPr sz="1800" dirty="0">
                <a:latin typeface="微软雅黑"/>
                <a:cs typeface="微软雅黑"/>
              </a:rPr>
              <a:t>为</a:t>
            </a:r>
            <a:r>
              <a:rPr sz="1800" spc="-5" dirty="0">
                <a:latin typeface="微软雅黑"/>
                <a:cs typeface="微软雅黑"/>
              </a:rPr>
              <a:t>true</a:t>
            </a:r>
            <a:r>
              <a:rPr sz="1800" dirty="0">
                <a:latin typeface="微软雅黑"/>
                <a:cs typeface="微软雅黑"/>
              </a:rPr>
              <a:t>才被创建。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0219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6.1.3	</a:t>
            </a:r>
            <a:r>
              <a:rPr sz="2100" u="none" spc="-10" dirty="0"/>
              <a:t>instanceof</a:t>
            </a:r>
            <a:r>
              <a:rPr sz="2100" u="none" dirty="0"/>
              <a:t>运算符</a:t>
            </a:r>
            <a:endParaRPr sz="21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0939" y="1151255"/>
            <a:ext cx="5909310" cy="3509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微软雅黑"/>
                <a:cs typeface="微软雅黑"/>
              </a:rPr>
              <a:t>instanceof</a:t>
            </a:r>
            <a:r>
              <a:rPr sz="2800" dirty="0">
                <a:latin typeface="微软雅黑"/>
                <a:cs typeface="微软雅黑"/>
              </a:rPr>
              <a:t>模式匹</a:t>
            </a:r>
            <a:r>
              <a:rPr sz="2800" spc="-5" dirty="0">
                <a:latin typeface="微软雅黑"/>
                <a:cs typeface="微软雅黑"/>
              </a:rPr>
              <a:t>配</a:t>
            </a:r>
            <a:endParaRPr sz="2800">
              <a:latin typeface="微软雅黑"/>
              <a:cs typeface="微软雅黑"/>
            </a:endParaRPr>
          </a:p>
          <a:p>
            <a:pPr marL="107950">
              <a:lnSpc>
                <a:spcPct val="100000"/>
              </a:lnSpc>
              <a:spcBef>
                <a:spcPts val="2895"/>
              </a:spcBef>
            </a:pPr>
            <a:r>
              <a:rPr sz="1800" dirty="0">
                <a:latin typeface="微软雅黑"/>
                <a:cs typeface="微软雅黑"/>
              </a:rPr>
              <a:t>if </a:t>
            </a:r>
            <a:r>
              <a:rPr sz="1800" spc="-5" dirty="0">
                <a:latin typeface="微软雅黑"/>
                <a:cs typeface="微软雅黑"/>
              </a:rPr>
              <a:t>(obj instanceof </a:t>
            </a:r>
            <a:r>
              <a:rPr sz="1800" spc="-15" dirty="0">
                <a:latin typeface="微软雅黑"/>
                <a:cs typeface="微软雅黑"/>
              </a:rPr>
              <a:t>String </a:t>
            </a:r>
            <a:r>
              <a:rPr sz="1800" dirty="0">
                <a:latin typeface="微软雅黑"/>
                <a:cs typeface="微软雅黑"/>
              </a:rPr>
              <a:t>s)</a:t>
            </a:r>
            <a:r>
              <a:rPr sz="1800" spc="1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37909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//</a:t>
            </a:r>
            <a:r>
              <a:rPr sz="1800" spc="-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使用s</a:t>
            </a:r>
            <a:endParaRPr sz="1800">
              <a:latin typeface="微软雅黑"/>
              <a:cs typeface="微软雅黑"/>
            </a:endParaRPr>
          </a:p>
          <a:p>
            <a:pPr marL="10795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 </a:t>
            </a:r>
            <a:r>
              <a:rPr sz="1800" spc="-5" dirty="0">
                <a:latin typeface="微软雅黑"/>
                <a:cs typeface="微软雅黑"/>
              </a:rPr>
              <a:t>else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37909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//</a:t>
            </a:r>
            <a:r>
              <a:rPr sz="1800" spc="-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不能使用s</a:t>
            </a:r>
            <a:endParaRPr sz="1800">
              <a:latin typeface="微软雅黑"/>
              <a:cs typeface="微软雅黑"/>
            </a:endParaRPr>
          </a:p>
          <a:p>
            <a:pPr marL="10795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>
              <a:latin typeface="微软雅黑"/>
              <a:cs typeface="微软雅黑"/>
            </a:endParaRPr>
          </a:p>
          <a:p>
            <a:pPr marL="1079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微软雅黑"/>
                <a:cs typeface="微软雅黑"/>
              </a:rPr>
              <a:t>注意</a:t>
            </a:r>
            <a:endParaRPr sz="1800">
              <a:latin typeface="微软雅黑"/>
              <a:cs typeface="微软雅黑"/>
            </a:endParaRPr>
          </a:p>
          <a:p>
            <a:pPr marL="107950" marR="508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绑定变量仅在obj</a:t>
            </a:r>
            <a:r>
              <a:rPr sz="1800" spc="-2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instanceof</a:t>
            </a:r>
            <a:r>
              <a:rPr sz="1800" spc="-25" dirty="0">
                <a:latin typeface="微软雅黑"/>
                <a:cs typeface="微软雅黑"/>
              </a:rPr>
              <a:t> </a:t>
            </a:r>
            <a:r>
              <a:rPr sz="1800" spc="-15" dirty="0">
                <a:latin typeface="微软雅黑"/>
                <a:cs typeface="微软雅黑"/>
              </a:rPr>
              <a:t>String</a:t>
            </a:r>
            <a:r>
              <a:rPr sz="1800" spc="-2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str</a:t>
            </a:r>
            <a:r>
              <a:rPr sz="1800" dirty="0">
                <a:latin typeface="微软雅黑"/>
                <a:cs typeface="微软雅黑"/>
              </a:rPr>
              <a:t>为</a:t>
            </a:r>
            <a:r>
              <a:rPr sz="1800" spc="-5" dirty="0">
                <a:latin typeface="微软雅黑"/>
                <a:cs typeface="微软雅黑"/>
              </a:rPr>
              <a:t>true</a:t>
            </a:r>
            <a:r>
              <a:rPr sz="1800" dirty="0">
                <a:latin typeface="微软雅黑"/>
                <a:cs typeface="微软雅黑"/>
              </a:rPr>
              <a:t>才被创建。 绑定的变量作用域为if语句内部，并不在</a:t>
            </a:r>
            <a:r>
              <a:rPr sz="1800" spc="-5" dirty="0">
                <a:latin typeface="微软雅黑"/>
                <a:cs typeface="微软雅黑"/>
              </a:rPr>
              <a:t>false</a:t>
            </a:r>
            <a:r>
              <a:rPr sz="1800" dirty="0">
                <a:latin typeface="微软雅黑"/>
                <a:cs typeface="微软雅黑"/>
              </a:rPr>
              <a:t>语句块内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8715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1</a:t>
            </a:r>
            <a:r>
              <a:rPr sz="2100" u="none" dirty="0"/>
              <a:t>.</a:t>
            </a:r>
            <a:r>
              <a:rPr sz="2100" u="none" spc="-5" dirty="0"/>
              <a:t>4</a:t>
            </a:r>
            <a:r>
              <a:rPr sz="2100" u="none" dirty="0"/>
              <a:t>向上转型和向下转型的应用</a:t>
            </a:r>
            <a:endParaRPr sz="2100"/>
          </a:p>
        </p:txBody>
      </p:sp>
      <p:sp>
        <p:nvSpPr>
          <p:cNvPr id="3" name="object 3"/>
          <p:cNvSpPr/>
          <p:nvPr/>
        </p:nvSpPr>
        <p:spPr>
          <a:xfrm>
            <a:off x="2130551" y="3666744"/>
            <a:ext cx="4572000" cy="1199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6538" y="3663276"/>
            <a:ext cx="4579620" cy="1206500"/>
          </a:xfrm>
          <a:custGeom>
            <a:avLst/>
            <a:gdLst/>
            <a:ahLst/>
            <a:cxnLst/>
            <a:rect l="l" t="t" r="r" b="b"/>
            <a:pathLst>
              <a:path w="4579620" h="1206500">
                <a:moveTo>
                  <a:pt x="4579620" y="1206500"/>
                </a:moveTo>
                <a:lnTo>
                  <a:pt x="0" y="1206500"/>
                </a:lnTo>
                <a:lnTo>
                  <a:pt x="0" y="0"/>
                </a:lnTo>
                <a:lnTo>
                  <a:pt x="4579620" y="0"/>
                </a:lnTo>
                <a:lnTo>
                  <a:pt x="4579620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1198879"/>
                </a:lnTo>
                <a:lnTo>
                  <a:pt x="3810" y="1198879"/>
                </a:lnTo>
                <a:lnTo>
                  <a:pt x="7620" y="1202689"/>
                </a:lnTo>
                <a:lnTo>
                  <a:pt x="4579620" y="1202689"/>
                </a:lnTo>
                <a:lnTo>
                  <a:pt x="4579620" y="1206500"/>
                </a:lnTo>
                <a:close/>
              </a:path>
              <a:path w="4579620" h="120650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4579620" h="1206500">
                <a:moveTo>
                  <a:pt x="4572000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4572000" y="3810"/>
                </a:lnTo>
                <a:lnTo>
                  <a:pt x="4572000" y="7620"/>
                </a:lnTo>
                <a:close/>
              </a:path>
              <a:path w="4579620" h="1206500">
                <a:moveTo>
                  <a:pt x="4572000" y="1202689"/>
                </a:moveTo>
                <a:lnTo>
                  <a:pt x="4572000" y="3810"/>
                </a:lnTo>
                <a:lnTo>
                  <a:pt x="4575810" y="7620"/>
                </a:lnTo>
                <a:lnTo>
                  <a:pt x="4579620" y="7620"/>
                </a:lnTo>
                <a:lnTo>
                  <a:pt x="4579620" y="1198879"/>
                </a:lnTo>
                <a:lnTo>
                  <a:pt x="4575810" y="1198879"/>
                </a:lnTo>
                <a:lnTo>
                  <a:pt x="4572000" y="1202689"/>
                </a:lnTo>
                <a:close/>
              </a:path>
              <a:path w="4579620" h="1206500">
                <a:moveTo>
                  <a:pt x="4579620" y="7620"/>
                </a:moveTo>
                <a:lnTo>
                  <a:pt x="4575810" y="7620"/>
                </a:lnTo>
                <a:lnTo>
                  <a:pt x="4572000" y="3810"/>
                </a:lnTo>
                <a:lnTo>
                  <a:pt x="4579620" y="3810"/>
                </a:lnTo>
                <a:lnTo>
                  <a:pt x="4579620" y="7620"/>
                </a:lnTo>
                <a:close/>
              </a:path>
              <a:path w="4579620" h="1206500">
                <a:moveTo>
                  <a:pt x="7620" y="1202689"/>
                </a:moveTo>
                <a:lnTo>
                  <a:pt x="3810" y="1198879"/>
                </a:lnTo>
                <a:lnTo>
                  <a:pt x="7620" y="1198879"/>
                </a:lnTo>
                <a:lnTo>
                  <a:pt x="7620" y="1202689"/>
                </a:lnTo>
                <a:close/>
              </a:path>
              <a:path w="4579620" h="1206500">
                <a:moveTo>
                  <a:pt x="4572000" y="1202689"/>
                </a:moveTo>
                <a:lnTo>
                  <a:pt x="7620" y="1202689"/>
                </a:lnTo>
                <a:lnTo>
                  <a:pt x="7620" y="1198879"/>
                </a:lnTo>
                <a:lnTo>
                  <a:pt x="4572000" y="1198879"/>
                </a:lnTo>
                <a:lnTo>
                  <a:pt x="4572000" y="1202689"/>
                </a:lnTo>
                <a:close/>
              </a:path>
              <a:path w="4579620" h="1206500">
                <a:moveTo>
                  <a:pt x="4579620" y="1202689"/>
                </a:moveTo>
                <a:lnTo>
                  <a:pt x="4572000" y="1202689"/>
                </a:lnTo>
                <a:lnTo>
                  <a:pt x="4575810" y="1198879"/>
                </a:lnTo>
                <a:lnTo>
                  <a:pt x="4579620" y="1198879"/>
                </a:lnTo>
                <a:lnTo>
                  <a:pt x="4579620" y="120268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0065" y="1387475"/>
            <a:ext cx="7959725" cy="477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9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【例</a:t>
            </a:r>
            <a:r>
              <a:rPr sz="2400" spc="-5" dirty="0">
                <a:solidFill>
                  <a:srgbClr val="FF0000"/>
                </a:solidFill>
                <a:latin typeface="微软雅黑"/>
                <a:cs typeface="微软雅黑"/>
              </a:rPr>
              <a:t>6-1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】</a:t>
            </a:r>
            <a:r>
              <a:rPr sz="2400" dirty="0">
                <a:latin typeface="微软雅黑"/>
                <a:cs typeface="微软雅黑"/>
              </a:rPr>
              <a:t>在</a:t>
            </a:r>
            <a:r>
              <a:rPr sz="2400" spc="-5" dirty="0">
                <a:latin typeface="微软雅黑"/>
                <a:cs typeface="微软雅黑"/>
              </a:rPr>
              <a:t>Employee</a:t>
            </a:r>
            <a:r>
              <a:rPr sz="2400" dirty="0">
                <a:latin typeface="微软雅黑"/>
                <a:cs typeface="微软雅黑"/>
              </a:rPr>
              <a:t>类中重写</a:t>
            </a:r>
            <a:r>
              <a:rPr sz="2400" spc="-10" dirty="0">
                <a:latin typeface="微软雅黑"/>
                <a:cs typeface="微软雅黑"/>
              </a:rPr>
              <a:t>java.lang.Object</a:t>
            </a:r>
            <a:r>
              <a:rPr sz="2400" dirty="0">
                <a:latin typeface="微软雅黑"/>
                <a:cs typeface="微软雅黑"/>
              </a:rPr>
              <a:t>中的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ts val="2300"/>
              </a:lnSpc>
            </a:pPr>
            <a:r>
              <a:rPr sz="2400" spc="-5" dirty="0">
                <a:latin typeface="微软雅黑"/>
                <a:cs typeface="微软雅黑"/>
              </a:rPr>
              <a:t>equals()</a:t>
            </a:r>
            <a:r>
              <a:rPr sz="2400" dirty="0">
                <a:latin typeface="微软雅黑"/>
                <a:cs typeface="微软雅黑"/>
              </a:rPr>
              <a:t>方法。设有员工</a:t>
            </a:r>
            <a:r>
              <a:rPr sz="2400" spc="-5" dirty="0">
                <a:latin typeface="微软雅黑"/>
                <a:cs typeface="微软雅黑"/>
              </a:rPr>
              <a:t>Employee</a:t>
            </a:r>
            <a:r>
              <a:rPr sz="2400" dirty="0">
                <a:latin typeface="微软雅黑"/>
                <a:cs typeface="微软雅黑"/>
              </a:rPr>
              <a:t>类，包含工号</a:t>
            </a:r>
            <a:r>
              <a:rPr sz="2400" spc="-5" dirty="0">
                <a:latin typeface="微软雅黑"/>
                <a:cs typeface="微软雅黑"/>
              </a:rPr>
              <a:t>id</a:t>
            </a:r>
            <a:r>
              <a:rPr sz="2400" dirty="0">
                <a:latin typeface="微软雅黑"/>
                <a:cs typeface="微软雅黑"/>
              </a:rPr>
              <a:t>、姓</a:t>
            </a:r>
            <a:endParaRPr sz="2400">
              <a:latin typeface="微软雅黑"/>
              <a:cs typeface="微软雅黑"/>
            </a:endParaRPr>
          </a:p>
          <a:p>
            <a:pPr marL="12700" marR="612140">
              <a:lnSpc>
                <a:spcPct val="79900"/>
              </a:lnSpc>
              <a:spcBef>
                <a:spcPts val="285"/>
              </a:spcBef>
            </a:pPr>
            <a:r>
              <a:rPr sz="2400" dirty="0">
                <a:latin typeface="微软雅黑"/>
                <a:cs typeface="微软雅黑"/>
              </a:rPr>
              <a:t>名n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m</a:t>
            </a:r>
            <a:r>
              <a:rPr sz="2400" spc="-5" dirty="0">
                <a:latin typeface="微软雅黑"/>
                <a:cs typeface="微软雅黑"/>
              </a:rPr>
              <a:t>e</a:t>
            </a:r>
            <a:r>
              <a:rPr sz="2400" dirty="0">
                <a:latin typeface="微软雅黑"/>
                <a:cs typeface="微软雅黑"/>
              </a:rPr>
              <a:t>、工资</a:t>
            </a:r>
            <a:r>
              <a:rPr sz="2400" spc="-5" dirty="0">
                <a:latin typeface="微软雅黑"/>
                <a:cs typeface="微软雅黑"/>
              </a:rPr>
              <a:t>sa</a:t>
            </a:r>
            <a:r>
              <a:rPr sz="2400" dirty="0">
                <a:latin typeface="微软雅黑"/>
                <a:cs typeface="微软雅黑"/>
              </a:rPr>
              <a:t>l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spc="95" dirty="0">
                <a:latin typeface="微软雅黑"/>
                <a:cs typeface="微软雅黑"/>
              </a:rPr>
              <a:t>r</a:t>
            </a:r>
            <a:r>
              <a:rPr sz="2400" spc="-5" dirty="0">
                <a:latin typeface="微软雅黑"/>
                <a:cs typeface="微软雅黑"/>
              </a:rPr>
              <a:t>y</a:t>
            </a:r>
            <a:r>
              <a:rPr sz="2400" dirty="0">
                <a:latin typeface="微软雅黑"/>
                <a:cs typeface="微软雅黑"/>
              </a:rPr>
              <a:t>等属性。当工号i</a:t>
            </a:r>
            <a:r>
              <a:rPr sz="2400" spc="-5" dirty="0">
                <a:latin typeface="微软雅黑"/>
                <a:cs typeface="微软雅黑"/>
              </a:rPr>
              <a:t>d</a:t>
            </a:r>
            <a:r>
              <a:rPr sz="2400" dirty="0">
                <a:latin typeface="微软雅黑"/>
                <a:cs typeface="微软雅黑"/>
              </a:rPr>
              <a:t>与姓名n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m</a:t>
            </a:r>
            <a:r>
              <a:rPr sz="2400" spc="-5" dirty="0">
                <a:latin typeface="微软雅黑"/>
                <a:cs typeface="微软雅黑"/>
              </a:rPr>
              <a:t>e</a:t>
            </a:r>
            <a:r>
              <a:rPr sz="2400" dirty="0">
                <a:latin typeface="微软雅黑"/>
                <a:cs typeface="微软雅黑"/>
              </a:rPr>
              <a:t>均 相同时，两个对象相等。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900">
              <a:latin typeface="微软雅黑"/>
              <a:cs typeface="微软雅黑"/>
            </a:endParaRPr>
          </a:p>
          <a:p>
            <a:pPr marR="204470" algn="ctr">
              <a:lnSpc>
                <a:spcPct val="100000"/>
              </a:lnSpc>
            </a:pPr>
            <a:r>
              <a:rPr sz="2400" spc="-5" dirty="0">
                <a:latin typeface="微软雅黑"/>
                <a:cs typeface="微软雅黑"/>
              </a:rPr>
              <a:t>Object</a:t>
            </a:r>
            <a:r>
              <a:rPr sz="2400" dirty="0">
                <a:latin typeface="微软雅黑"/>
                <a:cs typeface="微软雅黑"/>
              </a:rPr>
              <a:t>类中的</a:t>
            </a:r>
            <a:r>
              <a:rPr sz="2400" spc="-5" dirty="0">
                <a:latin typeface="微软雅黑"/>
                <a:cs typeface="微软雅黑"/>
              </a:rPr>
              <a:t>equals()</a:t>
            </a:r>
            <a:r>
              <a:rPr sz="2400" dirty="0">
                <a:latin typeface="微软雅黑"/>
                <a:cs typeface="微软雅黑"/>
              </a:rPr>
              <a:t>方法</a:t>
            </a:r>
            <a:endParaRPr sz="2400">
              <a:latin typeface="微软雅黑"/>
              <a:cs typeface="微软雅黑"/>
            </a:endParaRPr>
          </a:p>
          <a:p>
            <a:pPr marR="161290" algn="ctr">
              <a:lnSpc>
                <a:spcPct val="100000"/>
              </a:lnSpc>
              <a:spcBef>
                <a:spcPts val="1820"/>
              </a:spcBef>
            </a:pPr>
            <a:r>
              <a:rPr sz="2400" b="1" spc="-5" dirty="0">
                <a:latin typeface="Times New Roman"/>
                <a:cs typeface="Times New Roman"/>
              </a:rPr>
              <a:t>public boolean </a:t>
            </a:r>
            <a:r>
              <a:rPr sz="2400" spc="-5" dirty="0">
                <a:latin typeface="Times New Roman"/>
                <a:cs typeface="Times New Roman"/>
              </a:rPr>
              <a:t>equals(Object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obj){</a:t>
            </a:r>
            <a:endParaRPr sz="2400">
              <a:latin typeface="Times New Roman"/>
              <a:cs typeface="Times New Roman"/>
            </a:endParaRPr>
          </a:p>
          <a:p>
            <a:pPr marR="509905" algn="ctr">
              <a:lnSpc>
                <a:spcPts val="2870"/>
              </a:lnSpc>
              <a:spcBef>
                <a:spcPts val="20"/>
              </a:spcBef>
            </a:pPr>
            <a:r>
              <a:rPr sz="2400" b="1" spc="-10" dirty="0">
                <a:latin typeface="Times New Roman"/>
                <a:cs typeface="Times New Roman"/>
              </a:rPr>
              <a:t>return</a:t>
            </a:r>
            <a:r>
              <a:rPr sz="2400" b="1" spc="-5" dirty="0">
                <a:latin typeface="Times New Roman"/>
                <a:cs typeface="Times New Roman"/>
              </a:rPr>
              <a:t> this</a:t>
            </a:r>
            <a:r>
              <a:rPr sz="2400" spc="-5" dirty="0">
                <a:latin typeface="Times New Roman"/>
                <a:cs typeface="Times New Roman"/>
              </a:rPr>
              <a:t>==obj;</a:t>
            </a:r>
            <a:endParaRPr sz="2400">
              <a:latin typeface="Times New Roman"/>
              <a:cs typeface="Times New Roman"/>
            </a:endParaRPr>
          </a:p>
          <a:p>
            <a:pPr marR="4401820" algn="ctr">
              <a:lnSpc>
                <a:spcPts val="287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26390" marR="5080">
              <a:lnSpc>
                <a:spcPct val="100000"/>
              </a:lnSpc>
              <a:spcBef>
                <a:spcPts val="2045"/>
              </a:spcBef>
            </a:pPr>
            <a:r>
              <a:rPr sz="2400" dirty="0">
                <a:latin typeface="微软雅黑"/>
                <a:cs typeface="微软雅黑"/>
              </a:rPr>
              <a:t>功能：比较参数所指定的对象是否与当前对象“相等”。 对于任何非空引用变量x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和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y，</a:t>
            </a:r>
            <a:r>
              <a:rPr sz="2400" dirty="0">
                <a:latin typeface="微软雅黑"/>
                <a:cs typeface="微软雅黑"/>
              </a:rPr>
              <a:t>当且仅当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x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和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y</a:t>
            </a:r>
            <a:r>
              <a:rPr sz="2400" spc="-1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引用同 一个对象时，此方法返回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true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8715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1</a:t>
            </a:r>
            <a:r>
              <a:rPr sz="2100" u="none" dirty="0"/>
              <a:t>.</a:t>
            </a:r>
            <a:r>
              <a:rPr sz="2100" u="none" spc="-5" dirty="0"/>
              <a:t>4</a:t>
            </a:r>
            <a:r>
              <a:rPr sz="2100" u="none" dirty="0"/>
              <a:t>向上转型和向下转型的应用</a:t>
            </a:r>
            <a:endParaRPr sz="2100"/>
          </a:p>
        </p:txBody>
      </p:sp>
      <p:sp>
        <p:nvSpPr>
          <p:cNvPr id="3" name="object 3"/>
          <p:cNvSpPr/>
          <p:nvPr/>
        </p:nvSpPr>
        <p:spPr>
          <a:xfrm>
            <a:off x="0" y="1484630"/>
            <a:ext cx="7489825" cy="4679950"/>
          </a:xfrm>
          <a:custGeom>
            <a:avLst/>
            <a:gdLst/>
            <a:ahLst/>
            <a:cxnLst/>
            <a:rect l="l" t="t" r="r" b="b"/>
            <a:pathLst>
              <a:path w="7489825" h="4679950">
                <a:moveTo>
                  <a:pt x="0" y="0"/>
                </a:moveTo>
                <a:lnTo>
                  <a:pt x="7489825" y="0"/>
                </a:lnTo>
                <a:lnTo>
                  <a:pt x="7489825" y="4679950"/>
                </a:lnTo>
                <a:lnTo>
                  <a:pt x="0" y="4679950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477644"/>
            <a:ext cx="4418330" cy="1154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public class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EqualsTest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984250" marR="5080" indent="-514350">
              <a:lnSpc>
                <a:spcPts val="2160"/>
              </a:lnSpc>
              <a:spcBef>
                <a:spcPts val="150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public 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static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void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main(String[]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args)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{ 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e1=new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Employee(); 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e1.setId("001");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0289" y="2574924"/>
            <a:ext cx="2362835" cy="6057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e1.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"zhang"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); 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e2=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e1;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0289" y="4495165"/>
            <a:ext cx="5715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8455" y="4571523"/>
            <a:ext cx="357568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5"/>
              </a:lnSpc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m.out.println("e1==e2?"+e1.equa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0804" y="4495165"/>
            <a:ext cx="7543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ls(e2));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5043804"/>
            <a:ext cx="1130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5318125"/>
            <a:ext cx="1130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53355" y="2421635"/>
            <a:ext cx="3881754" cy="1015365"/>
          </a:xfrm>
          <a:custGeom>
            <a:avLst/>
            <a:gdLst/>
            <a:ahLst/>
            <a:cxnLst/>
            <a:rect l="l" t="t" r="r" b="b"/>
            <a:pathLst>
              <a:path w="3881754" h="1015364">
                <a:moveTo>
                  <a:pt x="0" y="0"/>
                </a:moveTo>
                <a:lnTo>
                  <a:pt x="3881628" y="0"/>
                </a:lnTo>
                <a:lnTo>
                  <a:pt x="3881628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32159" y="2439822"/>
            <a:ext cx="37242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public boolean equals(Object obj)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3659" y="2744622"/>
            <a:ext cx="206946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return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(this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==</a:t>
            </a:r>
            <a:r>
              <a:rPr sz="2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obj);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32159" y="3049422"/>
            <a:ext cx="1130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66459" y="2780182"/>
            <a:ext cx="1844675" cy="2143125"/>
          </a:xfrm>
          <a:custGeom>
            <a:avLst/>
            <a:gdLst/>
            <a:ahLst/>
            <a:cxnLst/>
            <a:rect l="l" t="t" r="r" b="b"/>
            <a:pathLst>
              <a:path w="1844675" h="2143125">
                <a:moveTo>
                  <a:pt x="1696391" y="123903"/>
                </a:moveTo>
                <a:lnTo>
                  <a:pt x="1648206" y="82562"/>
                </a:lnTo>
                <a:lnTo>
                  <a:pt x="1844535" y="0"/>
                </a:lnTo>
                <a:lnTo>
                  <a:pt x="1822552" y="87756"/>
                </a:lnTo>
                <a:lnTo>
                  <a:pt x="1727403" y="87756"/>
                </a:lnTo>
                <a:lnTo>
                  <a:pt x="1696391" y="123903"/>
                </a:lnTo>
                <a:close/>
              </a:path>
              <a:path w="1844675" h="2143125">
                <a:moveTo>
                  <a:pt x="1744588" y="165254"/>
                </a:moveTo>
                <a:lnTo>
                  <a:pt x="1696391" y="123903"/>
                </a:lnTo>
                <a:lnTo>
                  <a:pt x="1727403" y="87756"/>
                </a:lnTo>
                <a:lnTo>
                  <a:pt x="1775599" y="129108"/>
                </a:lnTo>
                <a:lnTo>
                  <a:pt x="1744588" y="165254"/>
                </a:lnTo>
                <a:close/>
              </a:path>
              <a:path w="1844675" h="2143125">
                <a:moveTo>
                  <a:pt x="1792782" y="206603"/>
                </a:moveTo>
                <a:lnTo>
                  <a:pt x="1744588" y="165254"/>
                </a:lnTo>
                <a:lnTo>
                  <a:pt x="1775599" y="129108"/>
                </a:lnTo>
                <a:lnTo>
                  <a:pt x="1727403" y="87756"/>
                </a:lnTo>
                <a:lnTo>
                  <a:pt x="1822552" y="87756"/>
                </a:lnTo>
                <a:lnTo>
                  <a:pt x="1792782" y="206603"/>
                </a:lnTo>
                <a:close/>
              </a:path>
              <a:path w="1844675" h="2143125">
                <a:moveTo>
                  <a:pt x="48196" y="2142528"/>
                </a:moveTo>
                <a:lnTo>
                  <a:pt x="0" y="2101176"/>
                </a:lnTo>
                <a:lnTo>
                  <a:pt x="1696391" y="123903"/>
                </a:lnTo>
                <a:lnTo>
                  <a:pt x="1744588" y="165254"/>
                </a:lnTo>
                <a:lnTo>
                  <a:pt x="48196" y="2142528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96211" y="3415284"/>
            <a:ext cx="4625340" cy="368935"/>
          </a:xfrm>
          <a:custGeom>
            <a:avLst/>
            <a:gdLst/>
            <a:ahLst/>
            <a:cxnLst/>
            <a:rect l="l" t="t" r="r" b="b"/>
            <a:pathLst>
              <a:path w="4625340" h="368935">
                <a:moveTo>
                  <a:pt x="0" y="0"/>
                </a:moveTo>
                <a:lnTo>
                  <a:pt x="4625340" y="0"/>
                </a:lnTo>
                <a:lnTo>
                  <a:pt x="4625340" y="368808"/>
                </a:lnTo>
                <a:lnTo>
                  <a:pt x="0" y="368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50289" y="3435502"/>
            <a:ext cx="5193665" cy="8420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723900">
              <a:lnSpc>
                <a:spcPct val="88800"/>
              </a:lnSpc>
              <a:spcBef>
                <a:spcPts val="340"/>
              </a:spcBef>
            </a:pPr>
            <a:r>
              <a:rPr sz="1800" b="1" spc="-10" dirty="0">
                <a:latin typeface="Calibri"/>
                <a:cs typeface="Calibri"/>
              </a:rPr>
              <a:t>Employee </a:t>
            </a:r>
            <a:r>
              <a:rPr sz="1800" b="1" spc="-5" dirty="0">
                <a:latin typeface="Calibri"/>
                <a:cs typeface="Calibri"/>
              </a:rPr>
              <a:t>e3 </a:t>
            </a:r>
            <a:r>
              <a:rPr sz="1800" b="1" dirty="0">
                <a:latin typeface="Calibri"/>
                <a:cs typeface="Calibri"/>
              </a:rPr>
              <a:t>= </a:t>
            </a:r>
            <a:r>
              <a:rPr sz="1800" b="1" spc="-10" dirty="0">
                <a:latin typeface="Calibri"/>
                <a:cs typeface="Calibri"/>
              </a:rPr>
              <a:t>new Employee </a:t>
            </a:r>
            <a:r>
              <a:rPr sz="1800" b="1" spc="-5" dirty="0">
                <a:latin typeface="Calibri"/>
                <a:cs typeface="Calibri"/>
              </a:rPr>
              <a:t>("001","zhang"); 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System.out.println("e1:"+e1);  System.out.println("e2:"+e2);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29739" y="5180076"/>
            <a:ext cx="4541520" cy="368935"/>
          </a:xfrm>
          <a:custGeom>
            <a:avLst/>
            <a:gdLst/>
            <a:ahLst/>
            <a:cxnLst/>
            <a:rect l="l" t="t" r="r" b="b"/>
            <a:pathLst>
              <a:path w="4541520" h="368935">
                <a:moveTo>
                  <a:pt x="0" y="0"/>
                </a:moveTo>
                <a:lnTo>
                  <a:pt x="4541520" y="0"/>
                </a:lnTo>
                <a:lnTo>
                  <a:pt x="4541520" y="368808"/>
                </a:lnTo>
                <a:lnTo>
                  <a:pt x="0" y="3688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29739" y="5200802"/>
            <a:ext cx="4541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System.out.println("e1==e3?"+e1.equals(e3));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74511" y="2755315"/>
            <a:ext cx="2226310" cy="2443480"/>
          </a:xfrm>
          <a:custGeom>
            <a:avLst/>
            <a:gdLst/>
            <a:ahLst/>
            <a:cxnLst/>
            <a:rect l="l" t="t" r="r" b="b"/>
            <a:pathLst>
              <a:path w="2226309" h="2443479">
                <a:moveTo>
                  <a:pt x="2074225" y="119576"/>
                </a:moveTo>
                <a:lnTo>
                  <a:pt x="2027237" y="76847"/>
                </a:lnTo>
                <a:lnTo>
                  <a:pt x="2225878" y="0"/>
                </a:lnTo>
                <a:lnTo>
                  <a:pt x="2202142" y="84340"/>
                </a:lnTo>
                <a:lnTo>
                  <a:pt x="2106269" y="84340"/>
                </a:lnTo>
                <a:lnTo>
                  <a:pt x="2074225" y="119576"/>
                </a:lnTo>
                <a:close/>
              </a:path>
              <a:path w="2226309" h="2443479">
                <a:moveTo>
                  <a:pt x="2121205" y="162297"/>
                </a:moveTo>
                <a:lnTo>
                  <a:pt x="2074225" y="119576"/>
                </a:lnTo>
                <a:lnTo>
                  <a:pt x="2106269" y="84340"/>
                </a:lnTo>
                <a:lnTo>
                  <a:pt x="2153246" y="127063"/>
                </a:lnTo>
                <a:lnTo>
                  <a:pt x="2121205" y="162297"/>
                </a:lnTo>
                <a:close/>
              </a:path>
              <a:path w="2226309" h="2443479">
                <a:moveTo>
                  <a:pt x="2168182" y="205016"/>
                </a:moveTo>
                <a:lnTo>
                  <a:pt x="2121205" y="162297"/>
                </a:lnTo>
                <a:lnTo>
                  <a:pt x="2153246" y="127063"/>
                </a:lnTo>
                <a:lnTo>
                  <a:pt x="2106269" y="84340"/>
                </a:lnTo>
                <a:lnTo>
                  <a:pt x="2202142" y="84340"/>
                </a:lnTo>
                <a:lnTo>
                  <a:pt x="2168182" y="205016"/>
                </a:lnTo>
                <a:close/>
              </a:path>
              <a:path w="2226309" h="2443479">
                <a:moveTo>
                  <a:pt x="46989" y="2443149"/>
                </a:moveTo>
                <a:lnTo>
                  <a:pt x="0" y="2400427"/>
                </a:lnTo>
                <a:lnTo>
                  <a:pt x="2074225" y="119576"/>
                </a:lnTo>
                <a:lnTo>
                  <a:pt x="2121205" y="162297"/>
                </a:lnTo>
                <a:lnTo>
                  <a:pt x="46989" y="244314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19427" y="5876544"/>
            <a:ext cx="6468110" cy="652780"/>
          </a:xfrm>
          <a:custGeom>
            <a:avLst/>
            <a:gdLst/>
            <a:ahLst/>
            <a:cxnLst/>
            <a:rect l="l" t="t" r="r" b="b"/>
            <a:pathLst>
              <a:path w="6468109" h="652779">
                <a:moveTo>
                  <a:pt x="0" y="0"/>
                </a:moveTo>
                <a:lnTo>
                  <a:pt x="6467856" y="0"/>
                </a:lnTo>
                <a:lnTo>
                  <a:pt x="6467856" y="652272"/>
                </a:lnTo>
                <a:lnTo>
                  <a:pt x="0" y="652272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44624" y="5996647"/>
            <a:ext cx="62147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如何利用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equals()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方法比较对象的内容</a:t>
            </a:r>
            <a:r>
              <a:rPr sz="2800" b="1" spc="-20" dirty="0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29739" y="4581144"/>
            <a:ext cx="3515995" cy="306705"/>
          </a:xfrm>
          <a:custGeom>
            <a:avLst/>
            <a:gdLst/>
            <a:ahLst/>
            <a:cxnLst/>
            <a:rect l="l" t="t" r="r" b="b"/>
            <a:pathLst>
              <a:path w="3515995" h="306704">
                <a:moveTo>
                  <a:pt x="0" y="0"/>
                </a:moveTo>
                <a:lnTo>
                  <a:pt x="3515867" y="0"/>
                </a:lnTo>
                <a:lnTo>
                  <a:pt x="3515867" y="306324"/>
                </a:lnTo>
                <a:lnTo>
                  <a:pt x="0" y="306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08391" y="4522622"/>
            <a:ext cx="31451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System.out.println("e3:"+e3);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34915" y="3069107"/>
            <a:ext cx="1718945" cy="2208530"/>
          </a:xfrm>
          <a:custGeom>
            <a:avLst/>
            <a:gdLst/>
            <a:ahLst/>
            <a:cxnLst/>
            <a:rect l="l" t="t" r="r" b="b"/>
            <a:pathLst>
              <a:path w="1718945" h="2208529">
                <a:moveTo>
                  <a:pt x="1577050" y="131242"/>
                </a:moveTo>
                <a:lnTo>
                  <a:pt x="1526819" y="92379"/>
                </a:lnTo>
                <a:lnTo>
                  <a:pt x="1718729" y="0"/>
                </a:lnTo>
                <a:lnTo>
                  <a:pt x="1700262" y="93573"/>
                </a:lnTo>
                <a:lnTo>
                  <a:pt x="1606194" y="93573"/>
                </a:lnTo>
                <a:lnTo>
                  <a:pt x="1577050" y="131242"/>
                </a:lnTo>
                <a:close/>
              </a:path>
              <a:path w="1718945" h="2208529">
                <a:moveTo>
                  <a:pt x="1627271" y="170097"/>
                </a:moveTo>
                <a:lnTo>
                  <a:pt x="1577050" y="131242"/>
                </a:lnTo>
                <a:lnTo>
                  <a:pt x="1606194" y="93573"/>
                </a:lnTo>
                <a:lnTo>
                  <a:pt x="1656410" y="132435"/>
                </a:lnTo>
                <a:lnTo>
                  <a:pt x="1627271" y="170097"/>
                </a:lnTo>
                <a:close/>
              </a:path>
              <a:path w="1718945" h="2208529">
                <a:moveTo>
                  <a:pt x="1677492" y="208953"/>
                </a:moveTo>
                <a:lnTo>
                  <a:pt x="1627271" y="170097"/>
                </a:lnTo>
                <a:lnTo>
                  <a:pt x="1656410" y="132435"/>
                </a:lnTo>
                <a:lnTo>
                  <a:pt x="1606194" y="93573"/>
                </a:lnTo>
                <a:lnTo>
                  <a:pt x="1700262" y="93573"/>
                </a:lnTo>
                <a:lnTo>
                  <a:pt x="1677492" y="208953"/>
                </a:lnTo>
                <a:close/>
              </a:path>
              <a:path w="1718945" h="2208529">
                <a:moveTo>
                  <a:pt x="50228" y="2208428"/>
                </a:moveTo>
                <a:lnTo>
                  <a:pt x="0" y="2169566"/>
                </a:lnTo>
                <a:lnTo>
                  <a:pt x="1577050" y="131242"/>
                </a:lnTo>
                <a:lnTo>
                  <a:pt x="1627271" y="170097"/>
                </a:lnTo>
                <a:lnTo>
                  <a:pt x="50228" y="2208428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19814" y="3069107"/>
            <a:ext cx="1334135" cy="1918335"/>
          </a:xfrm>
          <a:custGeom>
            <a:avLst/>
            <a:gdLst/>
            <a:ahLst/>
            <a:cxnLst/>
            <a:rect l="l" t="t" r="r" b="b"/>
            <a:pathLst>
              <a:path w="1334134" h="1918335">
                <a:moveTo>
                  <a:pt x="1199681" y="138924"/>
                </a:moveTo>
                <a:lnTo>
                  <a:pt x="1147368" y="102920"/>
                </a:lnTo>
                <a:lnTo>
                  <a:pt x="1333830" y="0"/>
                </a:lnTo>
                <a:lnTo>
                  <a:pt x="1319867" y="99694"/>
                </a:lnTo>
                <a:lnTo>
                  <a:pt x="1226680" y="99694"/>
                </a:lnTo>
                <a:lnTo>
                  <a:pt x="1199681" y="138924"/>
                </a:lnTo>
                <a:close/>
              </a:path>
              <a:path w="1334134" h="1918335">
                <a:moveTo>
                  <a:pt x="1251984" y="174922"/>
                </a:moveTo>
                <a:lnTo>
                  <a:pt x="1199681" y="138924"/>
                </a:lnTo>
                <a:lnTo>
                  <a:pt x="1226680" y="99694"/>
                </a:lnTo>
                <a:lnTo>
                  <a:pt x="1278978" y="135699"/>
                </a:lnTo>
                <a:lnTo>
                  <a:pt x="1251984" y="174922"/>
                </a:lnTo>
                <a:close/>
              </a:path>
              <a:path w="1334134" h="1918335">
                <a:moveTo>
                  <a:pt x="1304289" y="210921"/>
                </a:moveTo>
                <a:lnTo>
                  <a:pt x="1251984" y="174922"/>
                </a:lnTo>
                <a:lnTo>
                  <a:pt x="1278978" y="135699"/>
                </a:lnTo>
                <a:lnTo>
                  <a:pt x="1226680" y="99694"/>
                </a:lnTo>
                <a:lnTo>
                  <a:pt x="1319867" y="99694"/>
                </a:lnTo>
                <a:lnTo>
                  <a:pt x="1304289" y="210921"/>
                </a:lnTo>
                <a:close/>
              </a:path>
              <a:path w="1334134" h="1918335">
                <a:moveTo>
                  <a:pt x="52298" y="1918068"/>
                </a:moveTo>
                <a:lnTo>
                  <a:pt x="0" y="1882076"/>
                </a:lnTo>
                <a:lnTo>
                  <a:pt x="1199681" y="138924"/>
                </a:lnTo>
                <a:lnTo>
                  <a:pt x="1251984" y="174922"/>
                </a:lnTo>
                <a:lnTo>
                  <a:pt x="52298" y="1918068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24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283652" y="370700"/>
            <a:ext cx="38715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1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4</a:t>
            </a:r>
            <a:r>
              <a:rPr sz="2100" b="1" dirty="0">
                <a:latin typeface="微软雅黑"/>
                <a:cs typeface="微软雅黑"/>
              </a:rPr>
              <a:t>向上转型和向下转型的应用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7719" y="1765300"/>
            <a:ext cx="6540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latin typeface="Calibri"/>
                <a:cs typeface="Calibri"/>
              </a:rPr>
              <a:t>Em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6344" y="3715511"/>
            <a:ext cx="8136890" cy="2246630"/>
          </a:xfrm>
          <a:custGeom>
            <a:avLst/>
            <a:gdLst/>
            <a:ahLst/>
            <a:cxnLst/>
            <a:rect l="l" t="t" r="r" b="b"/>
            <a:pathLst>
              <a:path w="8136890" h="2246629">
                <a:moveTo>
                  <a:pt x="0" y="0"/>
                </a:moveTo>
                <a:lnTo>
                  <a:pt x="8136635" y="0"/>
                </a:lnTo>
                <a:lnTo>
                  <a:pt x="8136635" y="2246376"/>
                </a:lnTo>
                <a:lnTo>
                  <a:pt x="0" y="2246376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6344" y="3734574"/>
            <a:ext cx="813689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9275" marR="4394835" indent="-4572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public boolean equals(Object obj){  if( </a:t>
            </a:r>
            <a:r>
              <a:rPr sz="2000" b="1" spc="-5" dirty="0">
                <a:solidFill>
                  <a:srgbClr val="FFE169"/>
                </a:solidFill>
                <a:latin typeface="Calibri"/>
                <a:cs typeface="Calibri"/>
              </a:rPr>
              <a:t>obj </a:t>
            </a:r>
            <a:r>
              <a:rPr sz="2000" b="1" spc="-10" dirty="0">
                <a:solidFill>
                  <a:srgbClr val="FFE169"/>
                </a:solidFill>
                <a:latin typeface="Calibri"/>
                <a:cs typeface="Calibri"/>
              </a:rPr>
              <a:t>instanceof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){</a:t>
            </a:r>
            <a:endParaRPr sz="2000">
              <a:latin typeface="Calibri"/>
              <a:cs typeface="Calibri"/>
            </a:endParaRPr>
          </a:p>
          <a:p>
            <a:pPr marL="1006475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 </a:t>
            </a:r>
            <a:r>
              <a:rPr sz="2000" b="1" dirty="0">
                <a:solidFill>
                  <a:srgbClr val="FFE169"/>
                </a:solidFill>
                <a:latin typeface="Calibri"/>
                <a:cs typeface="Calibri"/>
              </a:rPr>
              <a:t>e = </a:t>
            </a:r>
            <a:r>
              <a:rPr sz="2000" b="1" spc="-10" dirty="0">
                <a:solidFill>
                  <a:srgbClr val="FFE169"/>
                </a:solidFill>
                <a:latin typeface="Calibri"/>
                <a:cs typeface="Calibri"/>
              </a:rPr>
              <a:t>(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E169"/>
                </a:solidFill>
                <a:latin typeface="Calibri"/>
                <a:cs typeface="Calibri"/>
              </a:rPr>
              <a:t>)obj;</a:t>
            </a:r>
            <a:endParaRPr sz="2000">
              <a:latin typeface="Calibri"/>
              <a:cs typeface="Calibri"/>
            </a:endParaRPr>
          </a:p>
          <a:p>
            <a:pPr marL="1006475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return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this.name.equals(e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.name)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20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this.id.equals(e.id);</a:t>
            </a:r>
            <a:endParaRPr sz="2000">
              <a:latin typeface="Calibri"/>
              <a:cs typeface="Calibri"/>
            </a:endParaRPr>
          </a:p>
          <a:p>
            <a:pPr marL="5492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 marL="549275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return false;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89347" y="4648200"/>
            <a:ext cx="2546985" cy="2165985"/>
          </a:xfrm>
          <a:custGeom>
            <a:avLst/>
            <a:gdLst/>
            <a:ahLst/>
            <a:cxnLst/>
            <a:rect l="l" t="t" r="r" b="b"/>
            <a:pathLst>
              <a:path w="2546984" h="2165984">
                <a:moveTo>
                  <a:pt x="1286255" y="1659636"/>
                </a:moveTo>
                <a:lnTo>
                  <a:pt x="746760" y="1659636"/>
                </a:lnTo>
                <a:lnTo>
                  <a:pt x="0" y="0"/>
                </a:lnTo>
                <a:lnTo>
                  <a:pt x="1286255" y="1659636"/>
                </a:lnTo>
                <a:close/>
              </a:path>
              <a:path w="2546984" h="2165984">
                <a:moveTo>
                  <a:pt x="2546604" y="2165604"/>
                </a:moveTo>
                <a:lnTo>
                  <a:pt x="385572" y="2165604"/>
                </a:lnTo>
                <a:lnTo>
                  <a:pt x="385572" y="1659636"/>
                </a:lnTo>
                <a:lnTo>
                  <a:pt x="2546604" y="1659636"/>
                </a:lnTo>
                <a:lnTo>
                  <a:pt x="2546604" y="2165604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530786" y="6324422"/>
            <a:ext cx="1248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幼圆"/>
                <a:cs typeface="幼圆"/>
              </a:rPr>
              <a:t>向下转</a:t>
            </a:r>
            <a:r>
              <a:rPr sz="2400" b="1" spc="-10" dirty="0">
                <a:solidFill>
                  <a:srgbClr val="FFFFFF"/>
                </a:solidFill>
                <a:latin typeface="幼圆"/>
                <a:cs typeface="幼圆"/>
              </a:rPr>
              <a:t>型</a:t>
            </a:r>
            <a:endParaRPr sz="2400">
              <a:latin typeface="幼圆"/>
              <a:cs typeface="幼圆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6344" y="2420111"/>
            <a:ext cx="1043940" cy="1015365"/>
          </a:xfrm>
          <a:custGeom>
            <a:avLst/>
            <a:gdLst/>
            <a:ahLst/>
            <a:cxnLst/>
            <a:rect l="l" t="t" r="r" b="b"/>
            <a:pathLst>
              <a:path w="1043940" h="1015364">
                <a:moveTo>
                  <a:pt x="0" y="1014984"/>
                </a:moveTo>
                <a:lnTo>
                  <a:pt x="1043940" y="1014984"/>
                </a:lnTo>
                <a:lnTo>
                  <a:pt x="1043940" y="0"/>
                </a:lnTo>
                <a:lnTo>
                  <a:pt x="0" y="0"/>
                </a:lnTo>
                <a:lnTo>
                  <a:pt x="0" y="1014984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45719" y="2439174"/>
            <a:ext cx="9963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2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17219" y="2743974"/>
            <a:ext cx="463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49069" y="1757374"/>
            <a:ext cx="7035800" cy="13176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latin typeface="Calibri"/>
                <a:cs typeface="Calibri"/>
              </a:rPr>
              <a:t>pl</a:t>
            </a:r>
            <a:r>
              <a:rPr sz="2800" spc="-25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y</a:t>
            </a:r>
            <a:r>
              <a:rPr sz="2800" spc="-5" dirty="0">
                <a:latin typeface="Calibri"/>
                <a:cs typeface="Calibri"/>
              </a:rPr>
              <a:t>ee</a:t>
            </a:r>
            <a:r>
              <a:rPr sz="2800" dirty="0">
                <a:latin typeface="微软雅黑"/>
                <a:cs typeface="微软雅黑"/>
              </a:rPr>
              <a:t>类对象相等的条件是</a:t>
            </a:r>
            <a:r>
              <a:rPr sz="2800" spc="-5" dirty="0">
                <a:latin typeface="Calibri"/>
                <a:cs typeface="Calibri"/>
              </a:rPr>
              <a:t>Id</a:t>
            </a:r>
            <a:r>
              <a:rPr sz="2800" dirty="0">
                <a:latin typeface="微软雅黑"/>
                <a:cs typeface="微软雅黑"/>
              </a:rPr>
              <a:t>和</a:t>
            </a:r>
            <a:r>
              <a:rPr sz="2800" spc="-5" dirty="0">
                <a:latin typeface="Calibri"/>
                <a:cs typeface="Calibri"/>
              </a:rPr>
              <a:t>name</a:t>
            </a:r>
            <a:r>
              <a:rPr sz="2800" dirty="0">
                <a:latin typeface="微软雅黑"/>
                <a:cs typeface="微软雅黑"/>
              </a:rPr>
              <a:t>都相同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18110" marR="4219575" indent="-38735">
              <a:lnSpc>
                <a:spcPct val="100000"/>
              </a:lnSpc>
              <a:spcBef>
                <a:spcPts val="195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olean equals(Object obj)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{ 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rn (this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==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obj);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5719" y="3048774"/>
            <a:ext cx="1130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510283" y="1405127"/>
            <a:ext cx="7489190" cy="2232660"/>
          </a:xfrm>
          <a:custGeom>
            <a:avLst/>
            <a:gdLst/>
            <a:ahLst/>
            <a:cxnLst/>
            <a:rect l="l" t="t" r="r" b="b"/>
            <a:pathLst>
              <a:path w="7489190" h="2232660">
                <a:moveTo>
                  <a:pt x="0" y="0"/>
                </a:moveTo>
                <a:lnTo>
                  <a:pt x="7488935" y="0"/>
                </a:lnTo>
                <a:lnTo>
                  <a:pt x="7488935" y="2232660"/>
                </a:lnTo>
                <a:lnTo>
                  <a:pt x="0" y="2232660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588706" y="1423568"/>
            <a:ext cx="587756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public class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EqualsTest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public 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static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void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main(String[]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args)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 {</a:t>
            </a:r>
            <a:endParaRPr sz="2000">
              <a:latin typeface="Calibri"/>
              <a:cs typeface="Calibri"/>
            </a:endParaRPr>
          </a:p>
          <a:p>
            <a:pPr marL="927100" marR="5080" indent="57150" algn="just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e1=new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("001", "zhang"); 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e2=new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Employee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("001", "zhang");  System.out.println("e1==e2?"+e1.equals(e2));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0957" y="444017"/>
            <a:ext cx="374014" cy="208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85277" y="426237"/>
            <a:ext cx="2125535" cy="259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493647"/>
            <a:ext cx="5526405" cy="16275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042669" lvl="2" indent="-1029969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1042669" algn="l"/>
              </a:tabLst>
            </a:pPr>
            <a:r>
              <a:rPr sz="3200" dirty="0">
                <a:latin typeface="微软雅黑"/>
                <a:cs typeface="微软雅黑"/>
              </a:rPr>
              <a:t>抽象类及抽象方法的定</a:t>
            </a:r>
            <a:r>
              <a:rPr sz="3200" spc="5" dirty="0">
                <a:latin typeface="微软雅黑"/>
                <a:cs typeface="微软雅黑"/>
              </a:rPr>
              <a:t>义</a:t>
            </a:r>
            <a:endParaRPr sz="3200">
              <a:latin typeface="微软雅黑"/>
              <a:cs typeface="微软雅黑"/>
            </a:endParaRPr>
          </a:p>
          <a:p>
            <a:pPr marL="1042669" lvl="2" indent="-1029969">
              <a:lnSpc>
                <a:spcPct val="100000"/>
              </a:lnSpc>
              <a:spcBef>
                <a:spcPts val="365"/>
              </a:spcBef>
              <a:buAutoNum type="arabicPeriod"/>
              <a:tabLst>
                <a:tab pos="1042669" algn="l"/>
              </a:tabLst>
            </a:pPr>
            <a:r>
              <a:rPr sz="3200" dirty="0">
                <a:latin typeface="微软雅黑"/>
                <a:cs typeface="微软雅黑"/>
              </a:rPr>
              <a:t>为什么设计抽象</a:t>
            </a:r>
            <a:r>
              <a:rPr sz="3200" spc="5" dirty="0">
                <a:latin typeface="微软雅黑"/>
                <a:cs typeface="微软雅黑"/>
              </a:rPr>
              <a:t>类</a:t>
            </a:r>
            <a:endParaRPr sz="3200">
              <a:latin typeface="微软雅黑"/>
              <a:cs typeface="微软雅黑"/>
            </a:endParaRPr>
          </a:p>
          <a:p>
            <a:pPr marL="1042669" lvl="2" indent="-1029969">
              <a:lnSpc>
                <a:spcPct val="100000"/>
              </a:lnSpc>
              <a:spcBef>
                <a:spcPts val="365"/>
              </a:spcBef>
              <a:buAutoNum type="arabicPeriod"/>
              <a:tabLst>
                <a:tab pos="1042669" algn="l"/>
              </a:tabLst>
            </a:pPr>
            <a:r>
              <a:rPr sz="3200" dirty="0">
                <a:latin typeface="微软雅黑"/>
                <a:cs typeface="微软雅黑"/>
              </a:rPr>
              <a:t>开闭原</a:t>
            </a:r>
            <a:r>
              <a:rPr sz="3200" spc="5" dirty="0">
                <a:latin typeface="微软雅黑"/>
                <a:cs typeface="微软雅黑"/>
              </a:rPr>
              <a:t>则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969" y="263842"/>
            <a:ext cx="5602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spc="-5" dirty="0"/>
              <a:t>6.2.1</a:t>
            </a:r>
            <a:r>
              <a:rPr sz="3200" u="none" spc="-75" dirty="0"/>
              <a:t> </a:t>
            </a:r>
            <a:r>
              <a:rPr sz="3200" u="none" dirty="0"/>
              <a:t>抽象类及抽象方法的定</a:t>
            </a:r>
            <a:r>
              <a:rPr sz="3200" u="none" spc="5" dirty="0"/>
              <a:t>义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89254" y="3019425"/>
            <a:ext cx="8473440" cy="2955925"/>
          </a:xfrm>
          <a:custGeom>
            <a:avLst/>
            <a:gdLst/>
            <a:ahLst/>
            <a:cxnLst/>
            <a:rect l="l" t="t" r="r" b="b"/>
            <a:pathLst>
              <a:path w="8473440" h="2955925">
                <a:moveTo>
                  <a:pt x="8473440" y="2955925"/>
                </a:moveTo>
                <a:lnTo>
                  <a:pt x="0" y="2955925"/>
                </a:lnTo>
                <a:lnTo>
                  <a:pt x="0" y="0"/>
                </a:lnTo>
                <a:lnTo>
                  <a:pt x="8473440" y="0"/>
                </a:lnTo>
                <a:lnTo>
                  <a:pt x="847344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943225"/>
                </a:lnTo>
                <a:lnTo>
                  <a:pt x="6350" y="2943225"/>
                </a:lnTo>
                <a:lnTo>
                  <a:pt x="12700" y="2949575"/>
                </a:lnTo>
                <a:lnTo>
                  <a:pt x="8473440" y="2949575"/>
                </a:lnTo>
                <a:lnTo>
                  <a:pt x="8473440" y="2955925"/>
                </a:lnTo>
                <a:close/>
              </a:path>
              <a:path w="8473440" h="29559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8473440" h="2955925">
                <a:moveTo>
                  <a:pt x="846074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8460740" y="6350"/>
                </a:lnTo>
                <a:lnTo>
                  <a:pt x="8460740" y="12700"/>
                </a:lnTo>
                <a:close/>
              </a:path>
              <a:path w="8473440" h="2955925">
                <a:moveTo>
                  <a:pt x="8460740" y="2949575"/>
                </a:moveTo>
                <a:lnTo>
                  <a:pt x="8460740" y="6350"/>
                </a:lnTo>
                <a:lnTo>
                  <a:pt x="8467090" y="12700"/>
                </a:lnTo>
                <a:lnTo>
                  <a:pt x="8473440" y="12700"/>
                </a:lnTo>
                <a:lnTo>
                  <a:pt x="8473440" y="2943225"/>
                </a:lnTo>
                <a:lnTo>
                  <a:pt x="8467090" y="2943225"/>
                </a:lnTo>
                <a:lnTo>
                  <a:pt x="8460740" y="2949575"/>
                </a:lnTo>
                <a:close/>
              </a:path>
              <a:path w="8473440" h="2955925">
                <a:moveTo>
                  <a:pt x="8473440" y="12700"/>
                </a:moveTo>
                <a:lnTo>
                  <a:pt x="8467090" y="12700"/>
                </a:lnTo>
                <a:lnTo>
                  <a:pt x="8460740" y="6350"/>
                </a:lnTo>
                <a:lnTo>
                  <a:pt x="8473440" y="6350"/>
                </a:lnTo>
                <a:lnTo>
                  <a:pt x="8473440" y="12700"/>
                </a:lnTo>
                <a:close/>
              </a:path>
              <a:path w="8473440" h="2955925">
                <a:moveTo>
                  <a:pt x="12700" y="2949575"/>
                </a:moveTo>
                <a:lnTo>
                  <a:pt x="6350" y="2943225"/>
                </a:lnTo>
                <a:lnTo>
                  <a:pt x="12700" y="2943225"/>
                </a:lnTo>
                <a:lnTo>
                  <a:pt x="12700" y="2949575"/>
                </a:lnTo>
                <a:close/>
              </a:path>
              <a:path w="8473440" h="2955925">
                <a:moveTo>
                  <a:pt x="8460740" y="2949575"/>
                </a:moveTo>
                <a:lnTo>
                  <a:pt x="12700" y="2949575"/>
                </a:lnTo>
                <a:lnTo>
                  <a:pt x="12700" y="2943225"/>
                </a:lnTo>
                <a:lnTo>
                  <a:pt x="8460740" y="2943225"/>
                </a:lnTo>
                <a:lnTo>
                  <a:pt x="8460740" y="2949575"/>
                </a:lnTo>
                <a:close/>
              </a:path>
              <a:path w="8473440" h="2955925">
                <a:moveTo>
                  <a:pt x="8473440" y="2949575"/>
                </a:moveTo>
                <a:lnTo>
                  <a:pt x="8460740" y="2949575"/>
                </a:lnTo>
                <a:lnTo>
                  <a:pt x="8467090" y="2943225"/>
                </a:lnTo>
                <a:lnTo>
                  <a:pt x="8473440" y="2943225"/>
                </a:lnTo>
                <a:lnTo>
                  <a:pt x="8473440" y="2949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417827"/>
            <a:ext cx="8665210" cy="46793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372745" algn="l"/>
                <a:tab pos="373380" algn="l"/>
              </a:tabLst>
            </a:pPr>
            <a:r>
              <a:rPr sz="2800" b="1" dirty="0">
                <a:solidFill>
                  <a:srgbClr val="006C39"/>
                </a:solidFill>
                <a:latin typeface="微软雅黑"/>
                <a:cs typeface="微软雅黑"/>
              </a:rPr>
              <a:t>抽象类</a:t>
            </a:r>
            <a:r>
              <a:rPr sz="2800" b="1" dirty="0">
                <a:latin typeface="微软雅黑"/>
                <a:cs typeface="微软雅黑"/>
              </a:rPr>
              <a:t>：</a:t>
            </a:r>
            <a:r>
              <a:rPr sz="2800" dirty="0">
                <a:latin typeface="微软雅黑"/>
                <a:cs typeface="微软雅黑"/>
              </a:rPr>
              <a:t>至少包含一个抽象方法的类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2700" marR="875030">
              <a:lnSpc>
                <a:spcPts val="3020"/>
              </a:lnSpc>
              <a:spcBef>
                <a:spcPts val="795"/>
              </a:spcBef>
              <a:buFont typeface="Arial"/>
              <a:buChar char="•"/>
              <a:tabLst>
                <a:tab pos="372745" algn="l"/>
                <a:tab pos="373380" algn="l"/>
              </a:tabLst>
            </a:pPr>
            <a:r>
              <a:rPr sz="2800" b="1" dirty="0">
                <a:solidFill>
                  <a:srgbClr val="006C39"/>
                </a:solidFill>
                <a:latin typeface="微软雅黑"/>
                <a:cs typeface="微软雅黑"/>
              </a:rPr>
              <a:t>抽象方法</a:t>
            </a:r>
            <a:r>
              <a:rPr sz="2800" b="1" dirty="0">
                <a:latin typeface="微软雅黑"/>
                <a:cs typeface="微软雅黑"/>
              </a:rPr>
              <a:t>：</a:t>
            </a:r>
            <a:r>
              <a:rPr sz="2800" dirty="0">
                <a:latin typeface="微软雅黑"/>
                <a:cs typeface="微软雅黑"/>
              </a:rPr>
              <a:t>没有实现的方法，由</a:t>
            </a:r>
            <a:r>
              <a:rPr sz="2800" dirty="0">
                <a:solidFill>
                  <a:srgbClr val="CC0000"/>
                </a:solidFill>
                <a:latin typeface="微软雅黑"/>
                <a:cs typeface="微软雅黑"/>
              </a:rPr>
              <a:t>a</a:t>
            </a:r>
            <a:r>
              <a:rPr sz="2800" spc="-5" dirty="0">
                <a:solidFill>
                  <a:srgbClr val="CC0000"/>
                </a:solidFill>
                <a:latin typeface="微软雅黑"/>
                <a:cs typeface="微软雅黑"/>
              </a:rPr>
              <a:t>bstr</a:t>
            </a:r>
            <a:r>
              <a:rPr sz="2800" dirty="0">
                <a:solidFill>
                  <a:srgbClr val="CC0000"/>
                </a:solidFill>
                <a:latin typeface="微软雅黑"/>
                <a:cs typeface="微软雅黑"/>
              </a:rPr>
              <a:t>a</a:t>
            </a:r>
            <a:r>
              <a:rPr sz="2800" spc="-5" dirty="0">
                <a:solidFill>
                  <a:srgbClr val="CC0000"/>
                </a:solidFill>
                <a:latin typeface="微软雅黑"/>
                <a:cs typeface="微软雅黑"/>
              </a:rPr>
              <a:t>ct</a:t>
            </a:r>
            <a:r>
              <a:rPr sz="2800" dirty="0">
                <a:latin typeface="微软雅黑"/>
                <a:cs typeface="微软雅黑"/>
              </a:rPr>
              <a:t>修饰</a:t>
            </a:r>
            <a:r>
              <a:rPr sz="2800" spc="-5" dirty="0">
                <a:latin typeface="微软雅黑"/>
                <a:cs typeface="微软雅黑"/>
              </a:rPr>
              <a:t>。 </a:t>
            </a:r>
            <a:r>
              <a:rPr sz="2800" dirty="0">
                <a:latin typeface="微软雅黑"/>
                <a:cs typeface="微软雅黑"/>
              </a:rPr>
              <a:t>它的实现交给子类实现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322070" marR="4890770" indent="-914400">
              <a:lnSpc>
                <a:spcPct val="100000"/>
              </a:lnSpc>
              <a:spcBef>
                <a:spcPts val="2275"/>
              </a:spcBef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b="1" spc="-5" dirty="0">
                <a:solidFill>
                  <a:srgbClr val="C00000"/>
                </a:solidFill>
                <a:latin typeface="微软雅黑"/>
                <a:cs typeface="微软雅黑"/>
              </a:rPr>
              <a:t>abstract </a:t>
            </a:r>
            <a:r>
              <a:rPr sz="1800" b="1" dirty="0">
                <a:latin typeface="微软雅黑"/>
                <a:cs typeface="微软雅黑"/>
              </a:rPr>
              <a:t>class </a:t>
            </a:r>
            <a:r>
              <a:rPr sz="1800" b="1" spc="-5" dirty="0">
                <a:latin typeface="微软雅黑"/>
                <a:cs typeface="微软雅黑"/>
              </a:rPr>
              <a:t>Animal </a:t>
            </a:r>
            <a:r>
              <a:rPr sz="1800" b="1" dirty="0">
                <a:latin typeface="微软雅黑"/>
                <a:cs typeface="微软雅黑"/>
              </a:rPr>
              <a:t>{  </a:t>
            </a:r>
            <a:r>
              <a:rPr sz="1800" b="1" spc="-10" dirty="0">
                <a:latin typeface="微软雅黑"/>
                <a:cs typeface="微软雅黑"/>
              </a:rPr>
              <a:t>private String</a:t>
            </a:r>
            <a:r>
              <a:rPr sz="1800" b="1" spc="-25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name;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1322070">
              <a:lnSpc>
                <a:spcPct val="100000"/>
              </a:lnSpc>
              <a:tabLst>
                <a:tab pos="4751070" algn="l"/>
              </a:tabLst>
            </a:pPr>
            <a:r>
              <a:rPr sz="1800" b="1" spc="-5" dirty="0">
                <a:solidFill>
                  <a:srgbClr val="C00000"/>
                </a:solidFill>
                <a:latin typeface="微软雅黑"/>
                <a:cs typeface="微软雅黑"/>
              </a:rPr>
              <a:t>public abstract</a:t>
            </a:r>
            <a:r>
              <a:rPr sz="1800" b="1" spc="1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微软雅黑"/>
                <a:cs typeface="微软雅黑"/>
              </a:rPr>
              <a:t>void</a:t>
            </a:r>
            <a:r>
              <a:rPr sz="1800" b="1" spc="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微软雅黑"/>
                <a:cs typeface="微软雅黑"/>
              </a:rPr>
              <a:t>move();	//</a:t>
            </a:r>
            <a:r>
              <a:rPr sz="1800" b="1" dirty="0">
                <a:solidFill>
                  <a:srgbClr val="C00000"/>
                </a:solidFill>
                <a:latin typeface="微软雅黑"/>
                <a:cs typeface="微软雅黑"/>
              </a:rPr>
              <a:t>抽象方法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1322070">
              <a:lnSpc>
                <a:spcPct val="100000"/>
              </a:lnSpc>
              <a:tabLst>
                <a:tab pos="3447415" algn="l"/>
              </a:tabLst>
            </a:pPr>
            <a:r>
              <a:rPr sz="1800" b="1" spc="-5" dirty="0">
                <a:latin typeface="微软雅黑"/>
                <a:cs typeface="微软雅黑"/>
              </a:rPr>
              <a:t>public</a:t>
            </a:r>
            <a:r>
              <a:rPr sz="1800" b="1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Animal()</a:t>
            </a:r>
            <a:r>
              <a:rPr sz="1800" b="1" spc="5" dirty="0">
                <a:latin typeface="微软雅黑"/>
                <a:cs typeface="微软雅黑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{	</a:t>
            </a:r>
            <a:r>
              <a:rPr sz="1800" b="1" spc="-5" dirty="0">
                <a:latin typeface="微软雅黑"/>
                <a:cs typeface="微软雅黑"/>
              </a:rPr>
              <a:t>//</a:t>
            </a:r>
            <a:r>
              <a:rPr sz="1800" b="1" dirty="0">
                <a:latin typeface="微软雅黑"/>
                <a:cs typeface="微软雅黑"/>
              </a:rPr>
              <a:t>构造方法，抽象类中可以有构造方法</a:t>
            </a:r>
            <a:endParaRPr sz="1800">
              <a:latin typeface="微软雅黑"/>
              <a:cs typeface="微软雅黑"/>
            </a:endParaRPr>
          </a:p>
          <a:p>
            <a:pPr marL="1322070">
              <a:lnSpc>
                <a:spcPct val="100000"/>
              </a:lnSpc>
            </a:pPr>
            <a:r>
              <a:rPr sz="1800" b="1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2237105" marR="5080" indent="-914400">
              <a:lnSpc>
                <a:spcPct val="100000"/>
              </a:lnSpc>
              <a:tabLst>
                <a:tab pos="4321175" algn="l"/>
              </a:tabLst>
            </a:pPr>
            <a:r>
              <a:rPr sz="1800" b="1" dirty="0">
                <a:latin typeface="微软雅黑"/>
                <a:cs typeface="微软雅黑"/>
              </a:rPr>
              <a:t>p</a:t>
            </a:r>
            <a:r>
              <a:rPr sz="1800" b="1" spc="-5" dirty="0">
                <a:latin typeface="微软雅黑"/>
                <a:cs typeface="微软雅黑"/>
              </a:rPr>
              <a:t>u</a:t>
            </a:r>
            <a:r>
              <a:rPr sz="1800" b="1" dirty="0">
                <a:latin typeface="微软雅黑"/>
                <a:cs typeface="微软雅黑"/>
              </a:rPr>
              <a:t>blic</a:t>
            </a:r>
            <a:r>
              <a:rPr sz="1800" b="1" spc="-5" dirty="0">
                <a:latin typeface="微软雅黑"/>
                <a:cs typeface="微软雅黑"/>
              </a:rPr>
              <a:t> </a:t>
            </a:r>
            <a:r>
              <a:rPr sz="1800" b="1" spc="-55" dirty="0">
                <a:latin typeface="微软雅黑"/>
                <a:cs typeface="微软雅黑"/>
              </a:rPr>
              <a:t>S</a:t>
            </a:r>
            <a:r>
              <a:rPr sz="1800" b="1" spc="-5" dirty="0">
                <a:latin typeface="微软雅黑"/>
                <a:cs typeface="微软雅黑"/>
              </a:rPr>
              <a:t>t</a:t>
            </a:r>
            <a:r>
              <a:rPr sz="1800" b="1" spc="5" dirty="0">
                <a:latin typeface="微软雅黑"/>
                <a:cs typeface="微软雅黑"/>
              </a:rPr>
              <a:t>r</a:t>
            </a:r>
            <a:r>
              <a:rPr sz="1800" b="1" dirty="0">
                <a:latin typeface="微软雅黑"/>
                <a:cs typeface="微软雅黑"/>
              </a:rPr>
              <a:t>i</a:t>
            </a:r>
            <a:r>
              <a:rPr sz="1800" b="1" spc="-5" dirty="0">
                <a:latin typeface="微软雅黑"/>
                <a:cs typeface="微软雅黑"/>
              </a:rPr>
              <a:t>n</a:t>
            </a:r>
            <a:r>
              <a:rPr sz="1800" b="1" dirty="0">
                <a:latin typeface="微软雅黑"/>
                <a:cs typeface="微软雅黑"/>
              </a:rPr>
              <a:t>g</a:t>
            </a:r>
            <a:r>
              <a:rPr sz="1800" b="1" spc="-5" dirty="0">
                <a:latin typeface="微软雅黑"/>
                <a:cs typeface="微软雅黑"/>
              </a:rPr>
              <a:t> g</a:t>
            </a:r>
            <a:r>
              <a:rPr sz="1800" b="1" dirty="0">
                <a:latin typeface="微软雅黑"/>
                <a:cs typeface="微软雅黑"/>
              </a:rPr>
              <a:t>e</a:t>
            </a:r>
            <a:r>
              <a:rPr sz="1800" b="1" spc="-5" dirty="0">
                <a:latin typeface="微软雅黑"/>
                <a:cs typeface="微软雅黑"/>
              </a:rPr>
              <a:t>tN</a:t>
            </a:r>
            <a:r>
              <a:rPr sz="1800" b="1" dirty="0">
                <a:latin typeface="微软雅黑"/>
                <a:cs typeface="微软雅黑"/>
              </a:rPr>
              <a:t>a</a:t>
            </a:r>
            <a:r>
              <a:rPr sz="1800" b="1" spc="-5" dirty="0">
                <a:latin typeface="微软雅黑"/>
                <a:cs typeface="微软雅黑"/>
              </a:rPr>
              <a:t>m</a:t>
            </a:r>
            <a:r>
              <a:rPr sz="1800" b="1" dirty="0">
                <a:latin typeface="微软雅黑"/>
                <a:cs typeface="微软雅黑"/>
              </a:rPr>
              <a:t>e</a:t>
            </a:r>
            <a:r>
              <a:rPr sz="1800" b="1" spc="-5" dirty="0">
                <a:latin typeface="微软雅黑"/>
                <a:cs typeface="微软雅黑"/>
              </a:rPr>
              <a:t>()</a:t>
            </a:r>
            <a:r>
              <a:rPr sz="1800" b="1" dirty="0">
                <a:latin typeface="微软雅黑"/>
                <a:cs typeface="微软雅黑"/>
              </a:rPr>
              <a:t>{	</a:t>
            </a:r>
            <a:r>
              <a:rPr sz="1800" b="1" spc="-5" dirty="0">
                <a:latin typeface="微软雅黑"/>
                <a:cs typeface="微软雅黑"/>
              </a:rPr>
              <a:t>//</a:t>
            </a:r>
            <a:r>
              <a:rPr sz="1800" b="1" dirty="0">
                <a:latin typeface="微软雅黑"/>
                <a:cs typeface="微软雅黑"/>
              </a:rPr>
              <a:t>非抽象方法，抽象类中可以有非抽象方法  </a:t>
            </a:r>
            <a:r>
              <a:rPr sz="1800" b="1" spc="-5" dirty="0">
                <a:latin typeface="微软雅黑"/>
                <a:cs typeface="微软雅黑"/>
              </a:rPr>
              <a:t>return</a:t>
            </a:r>
            <a:r>
              <a:rPr sz="1800" b="1" spc="-10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this.name;</a:t>
            </a:r>
            <a:endParaRPr sz="1800">
              <a:latin typeface="微软雅黑"/>
              <a:cs typeface="微软雅黑"/>
            </a:endParaRPr>
          </a:p>
          <a:p>
            <a:pPr marL="1322070">
              <a:lnSpc>
                <a:spcPct val="100000"/>
              </a:lnSpc>
            </a:pPr>
            <a:r>
              <a:rPr sz="1800" b="1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408305">
              <a:lnSpc>
                <a:spcPct val="100000"/>
              </a:lnSpc>
            </a:pPr>
            <a:r>
              <a:rPr sz="1800" b="1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64020"/>
            <a:ext cx="5602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spc="-5" dirty="0"/>
              <a:t>6.2.1</a:t>
            </a:r>
            <a:r>
              <a:rPr sz="3200" u="none" spc="-75" dirty="0"/>
              <a:t> </a:t>
            </a:r>
            <a:r>
              <a:rPr sz="3200" u="none" dirty="0"/>
              <a:t>抽象类及抽象方法的定</a:t>
            </a:r>
            <a:r>
              <a:rPr sz="3200" u="none" spc="5" dirty="0"/>
              <a:t>义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676909" y="3912870"/>
            <a:ext cx="7717790" cy="1791970"/>
          </a:xfrm>
          <a:custGeom>
            <a:avLst/>
            <a:gdLst/>
            <a:ahLst/>
            <a:cxnLst/>
            <a:rect l="l" t="t" r="r" b="b"/>
            <a:pathLst>
              <a:path w="7717790" h="1791970">
                <a:moveTo>
                  <a:pt x="7717790" y="1791969"/>
                </a:moveTo>
                <a:lnTo>
                  <a:pt x="0" y="1791969"/>
                </a:lnTo>
                <a:lnTo>
                  <a:pt x="0" y="0"/>
                </a:lnTo>
                <a:lnTo>
                  <a:pt x="7717790" y="0"/>
                </a:lnTo>
                <a:lnTo>
                  <a:pt x="771779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779269"/>
                </a:lnTo>
                <a:lnTo>
                  <a:pt x="6350" y="1779269"/>
                </a:lnTo>
                <a:lnTo>
                  <a:pt x="12700" y="1785619"/>
                </a:lnTo>
                <a:lnTo>
                  <a:pt x="7717790" y="1785619"/>
                </a:lnTo>
                <a:lnTo>
                  <a:pt x="7717790" y="1791969"/>
                </a:lnTo>
                <a:close/>
              </a:path>
              <a:path w="7717790" h="179197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717790" h="1791970">
                <a:moveTo>
                  <a:pt x="770509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705090" y="6350"/>
                </a:lnTo>
                <a:lnTo>
                  <a:pt x="7705090" y="12700"/>
                </a:lnTo>
                <a:close/>
              </a:path>
              <a:path w="7717790" h="1791970">
                <a:moveTo>
                  <a:pt x="7705090" y="1785619"/>
                </a:moveTo>
                <a:lnTo>
                  <a:pt x="7705090" y="6350"/>
                </a:lnTo>
                <a:lnTo>
                  <a:pt x="7711440" y="12700"/>
                </a:lnTo>
                <a:lnTo>
                  <a:pt x="7717790" y="12700"/>
                </a:lnTo>
                <a:lnTo>
                  <a:pt x="7717790" y="1779269"/>
                </a:lnTo>
                <a:lnTo>
                  <a:pt x="7711440" y="1779269"/>
                </a:lnTo>
                <a:lnTo>
                  <a:pt x="7705090" y="1785619"/>
                </a:lnTo>
                <a:close/>
              </a:path>
              <a:path w="7717790" h="1791970">
                <a:moveTo>
                  <a:pt x="7717790" y="12700"/>
                </a:moveTo>
                <a:lnTo>
                  <a:pt x="7711440" y="12700"/>
                </a:lnTo>
                <a:lnTo>
                  <a:pt x="7705090" y="6350"/>
                </a:lnTo>
                <a:lnTo>
                  <a:pt x="7717790" y="6350"/>
                </a:lnTo>
                <a:lnTo>
                  <a:pt x="7717790" y="12700"/>
                </a:lnTo>
                <a:close/>
              </a:path>
              <a:path w="7717790" h="1791970">
                <a:moveTo>
                  <a:pt x="12700" y="1785619"/>
                </a:moveTo>
                <a:lnTo>
                  <a:pt x="6350" y="1779269"/>
                </a:lnTo>
                <a:lnTo>
                  <a:pt x="12700" y="1779269"/>
                </a:lnTo>
                <a:lnTo>
                  <a:pt x="12700" y="1785619"/>
                </a:lnTo>
                <a:close/>
              </a:path>
              <a:path w="7717790" h="1791970">
                <a:moveTo>
                  <a:pt x="7705090" y="1785619"/>
                </a:moveTo>
                <a:lnTo>
                  <a:pt x="12700" y="1785619"/>
                </a:lnTo>
                <a:lnTo>
                  <a:pt x="12700" y="1779269"/>
                </a:lnTo>
                <a:lnTo>
                  <a:pt x="7705090" y="1779269"/>
                </a:lnTo>
                <a:lnTo>
                  <a:pt x="7705090" y="1785619"/>
                </a:lnTo>
                <a:close/>
              </a:path>
              <a:path w="7717790" h="1791970">
                <a:moveTo>
                  <a:pt x="7717790" y="1785619"/>
                </a:moveTo>
                <a:lnTo>
                  <a:pt x="7705090" y="1785619"/>
                </a:lnTo>
                <a:lnTo>
                  <a:pt x="7711440" y="1779269"/>
                </a:lnTo>
                <a:lnTo>
                  <a:pt x="7717790" y="1779269"/>
                </a:lnTo>
                <a:lnTo>
                  <a:pt x="7717790" y="1785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470660"/>
            <a:ext cx="8043545" cy="402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72745" algn="l"/>
                <a:tab pos="373380" algn="l"/>
              </a:tabLst>
            </a:pPr>
            <a:r>
              <a:rPr sz="2800" dirty="0">
                <a:latin typeface="微软雅黑"/>
                <a:cs typeface="微软雅黑"/>
              </a:rPr>
              <a:t>抽象方法的现实意义</a:t>
            </a:r>
            <a:r>
              <a:rPr sz="2800" spc="-5" dirty="0">
                <a:latin typeface="微软雅黑"/>
                <a:cs typeface="微软雅黑"/>
              </a:rPr>
              <a:t>(</a:t>
            </a:r>
            <a:r>
              <a:rPr sz="2800" dirty="0">
                <a:latin typeface="微软雅黑"/>
                <a:cs typeface="微软雅黑"/>
              </a:rPr>
              <a:t>用处</a:t>
            </a:r>
            <a:r>
              <a:rPr sz="2800" spc="-5" dirty="0">
                <a:latin typeface="微软雅黑"/>
                <a:cs typeface="微软雅黑"/>
              </a:rPr>
              <a:t>)</a:t>
            </a:r>
            <a:endParaRPr sz="2800">
              <a:latin typeface="微软雅黑"/>
              <a:cs typeface="微软雅黑"/>
            </a:endParaRPr>
          </a:p>
          <a:p>
            <a:pPr marL="92710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927100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声明类的动作</a:t>
            </a:r>
            <a:endParaRPr sz="2400">
              <a:latin typeface="微软雅黑"/>
              <a:cs typeface="微软雅黑"/>
            </a:endParaRPr>
          </a:p>
          <a:p>
            <a:pPr marL="927100" marR="5080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927100" algn="l"/>
              </a:tabLst>
            </a:pPr>
            <a:r>
              <a:rPr sz="2400" dirty="0">
                <a:latin typeface="微软雅黑"/>
                <a:cs typeface="微软雅黑"/>
              </a:rPr>
              <a:t>例如</a:t>
            </a:r>
            <a:r>
              <a:rPr sz="2400" spc="-5" dirty="0">
                <a:latin typeface="微软雅黑"/>
                <a:cs typeface="微软雅黑"/>
              </a:rPr>
              <a:t>：Animal</a:t>
            </a:r>
            <a:r>
              <a:rPr sz="2400" dirty="0">
                <a:latin typeface="微软雅黑"/>
                <a:cs typeface="微软雅黑"/>
              </a:rPr>
              <a:t>类中的</a:t>
            </a:r>
            <a:r>
              <a:rPr sz="2400" spc="-10" dirty="0">
                <a:latin typeface="微软雅黑"/>
                <a:cs typeface="微软雅黑"/>
              </a:rPr>
              <a:t>move()</a:t>
            </a:r>
            <a:r>
              <a:rPr sz="2400" spc="-25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方法，在</a:t>
            </a:r>
            <a:r>
              <a:rPr sz="2400" spc="-5" dirty="0">
                <a:latin typeface="微软雅黑"/>
                <a:cs typeface="微软雅黑"/>
              </a:rPr>
              <a:t>Animal</a:t>
            </a:r>
            <a:r>
              <a:rPr sz="2400" dirty="0">
                <a:latin typeface="微软雅黑"/>
                <a:cs typeface="微软雅黑"/>
              </a:rPr>
              <a:t>层次上 </a:t>
            </a:r>
            <a:r>
              <a:rPr sz="2400" spc="-10" dirty="0">
                <a:latin typeface="微软雅黑"/>
                <a:cs typeface="微软雅黑"/>
              </a:rPr>
              <a:t>move</a:t>
            </a:r>
            <a:r>
              <a:rPr sz="2400" dirty="0">
                <a:latin typeface="微软雅黑"/>
                <a:cs typeface="微软雅黑"/>
              </a:rPr>
              <a:t>是一个抽象的行为，不能确定。如果定义</a:t>
            </a:r>
            <a:r>
              <a:rPr sz="2400" spc="-15" dirty="0">
                <a:latin typeface="微软雅黑"/>
                <a:cs typeface="微软雅黑"/>
              </a:rPr>
              <a:t>Bird  </a:t>
            </a:r>
            <a:r>
              <a:rPr sz="2400" dirty="0">
                <a:latin typeface="微软雅黑"/>
                <a:cs typeface="微软雅黑"/>
              </a:rPr>
              <a:t>类，则</a:t>
            </a:r>
            <a:r>
              <a:rPr sz="2400" spc="-10" dirty="0">
                <a:latin typeface="微软雅黑"/>
                <a:cs typeface="微软雅黑"/>
              </a:rPr>
              <a:t>move</a:t>
            </a:r>
            <a:r>
              <a:rPr sz="2400" dirty="0">
                <a:latin typeface="微软雅黑"/>
                <a:cs typeface="微软雅黑"/>
              </a:rPr>
              <a:t>方法是具体的。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微软雅黑"/>
              <a:cs typeface="微软雅黑"/>
            </a:endParaRPr>
          </a:p>
          <a:p>
            <a:pPr marL="695960">
              <a:lnSpc>
                <a:spcPct val="100000"/>
              </a:lnSpc>
            </a:pPr>
            <a:r>
              <a:rPr sz="2000" b="1" spc="-5" dirty="0">
                <a:latin typeface="微软雅黑"/>
                <a:cs typeface="微软雅黑"/>
              </a:rPr>
              <a:t>public class </a:t>
            </a:r>
            <a:r>
              <a:rPr sz="2000" spc="-10" dirty="0">
                <a:latin typeface="微软雅黑"/>
                <a:cs typeface="微软雅黑"/>
              </a:rPr>
              <a:t>Bird </a:t>
            </a:r>
            <a:r>
              <a:rPr sz="2000" b="1" spc="-5" dirty="0">
                <a:latin typeface="微软雅黑"/>
                <a:cs typeface="微软雅黑"/>
              </a:rPr>
              <a:t>extends</a:t>
            </a:r>
            <a:r>
              <a:rPr sz="2000" b="1" spc="-30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微软雅黑"/>
                <a:cs typeface="微软雅黑"/>
              </a:rPr>
              <a:t>Animal{</a:t>
            </a:r>
            <a:endParaRPr sz="2000">
              <a:latin typeface="微软雅黑"/>
              <a:cs typeface="微软雅黑"/>
            </a:endParaRPr>
          </a:p>
          <a:p>
            <a:pPr marL="2524760" marR="459105" indent="-914400">
              <a:lnSpc>
                <a:spcPts val="2400"/>
              </a:lnSpc>
              <a:spcBef>
                <a:spcPts val="80"/>
              </a:spcBef>
              <a:tabLst>
                <a:tab pos="4184015" algn="l"/>
                <a:tab pos="4252595" algn="l"/>
              </a:tabLst>
            </a:pPr>
            <a:r>
              <a:rPr sz="2000" b="1" spc="-5" dirty="0">
                <a:latin typeface="微软雅黑"/>
                <a:cs typeface="微软雅黑"/>
              </a:rPr>
              <a:t>public </a:t>
            </a:r>
            <a:r>
              <a:rPr sz="2000" b="1" spc="-10" dirty="0">
                <a:latin typeface="微软雅黑"/>
                <a:cs typeface="微软雅黑"/>
              </a:rPr>
              <a:t>void</a:t>
            </a:r>
            <a:r>
              <a:rPr sz="2000" b="1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微软雅黑"/>
                <a:cs typeface="微软雅黑"/>
              </a:rPr>
              <a:t>move()</a:t>
            </a:r>
            <a:r>
              <a:rPr sz="2000" spc="5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{		</a:t>
            </a:r>
            <a:r>
              <a:rPr sz="2000" spc="-5" dirty="0">
                <a:latin typeface="微软雅黑"/>
                <a:cs typeface="微软雅黑"/>
              </a:rPr>
              <a:t>//</a:t>
            </a:r>
            <a:r>
              <a:rPr sz="2000" dirty="0">
                <a:latin typeface="微软雅黑"/>
                <a:cs typeface="微软雅黑"/>
              </a:rPr>
              <a:t>子类实现父类的抽象方</a:t>
            </a:r>
            <a:r>
              <a:rPr sz="2000" spc="5" dirty="0">
                <a:latin typeface="微软雅黑"/>
                <a:cs typeface="微软雅黑"/>
              </a:rPr>
              <a:t>法 </a:t>
            </a:r>
            <a:r>
              <a:rPr sz="2000" spc="-55" dirty="0">
                <a:latin typeface="微软雅黑"/>
                <a:cs typeface="微软雅黑"/>
              </a:rPr>
              <a:t>S</a:t>
            </a:r>
            <a:r>
              <a:rPr sz="2000" spc="-5" dirty="0">
                <a:latin typeface="微软雅黑"/>
                <a:cs typeface="微软雅黑"/>
              </a:rPr>
              <a:t>ys</a:t>
            </a:r>
            <a:r>
              <a:rPr sz="2000" spc="-25" dirty="0">
                <a:latin typeface="微软雅黑"/>
                <a:cs typeface="微软雅黑"/>
              </a:rPr>
              <a:t>t</a:t>
            </a:r>
            <a:r>
              <a:rPr sz="2000" spc="-5" dirty="0">
                <a:latin typeface="微软雅黑"/>
                <a:cs typeface="微软雅黑"/>
              </a:rPr>
              <a:t>em</a:t>
            </a:r>
            <a:r>
              <a:rPr sz="2000" spc="-340" dirty="0">
                <a:latin typeface="微软雅黑"/>
                <a:cs typeface="微软雅黑"/>
              </a:rPr>
              <a:t>.</a:t>
            </a:r>
            <a:r>
              <a:rPr sz="2100" i="1" spc="-750" dirty="0">
                <a:latin typeface="微软雅黑"/>
                <a:cs typeface="微软雅黑"/>
              </a:rPr>
              <a:t>o</a:t>
            </a:r>
            <a:r>
              <a:rPr sz="2100" i="1" spc="-915" dirty="0">
                <a:latin typeface="微软雅黑"/>
                <a:cs typeface="微软雅黑"/>
              </a:rPr>
              <a:t>u</a:t>
            </a:r>
            <a:r>
              <a:rPr sz="2100" i="1" spc="-245" dirty="0">
                <a:latin typeface="微软雅黑"/>
                <a:cs typeface="微软雅黑"/>
              </a:rPr>
              <a:t>t</a:t>
            </a:r>
            <a:r>
              <a:rPr sz="2000" spc="-10" dirty="0">
                <a:latin typeface="微软雅黑"/>
                <a:cs typeface="微软雅黑"/>
              </a:rPr>
              <a:t>p</a:t>
            </a:r>
            <a:r>
              <a:rPr sz="2000" spc="-2525" dirty="0">
                <a:latin typeface="微软雅黑"/>
                <a:cs typeface="微软雅黑"/>
              </a:rPr>
              <a:t>r</a:t>
            </a:r>
            <a:r>
              <a:rPr sz="2000" dirty="0">
                <a:latin typeface="微软雅黑"/>
                <a:cs typeface="微软雅黑"/>
              </a:rPr>
              <a:t>.	</a:t>
            </a:r>
            <a:r>
              <a:rPr sz="2000" spc="-5" dirty="0">
                <a:latin typeface="微软雅黑"/>
                <a:cs typeface="微软雅黑"/>
              </a:rPr>
              <a:t>i</a:t>
            </a:r>
            <a:r>
              <a:rPr sz="2000" spc="-10" dirty="0">
                <a:latin typeface="微软雅黑"/>
                <a:cs typeface="微软雅黑"/>
              </a:rPr>
              <a:t>n</a:t>
            </a:r>
            <a:r>
              <a:rPr sz="2000" spc="-5" dirty="0">
                <a:latin typeface="微软雅黑"/>
                <a:cs typeface="微软雅黑"/>
              </a:rPr>
              <a:t>tl</a:t>
            </a:r>
            <a:r>
              <a:rPr sz="2000" spc="-10" dirty="0">
                <a:latin typeface="微软雅黑"/>
                <a:cs typeface="微软雅黑"/>
              </a:rPr>
              <a:t>n</a:t>
            </a:r>
            <a:r>
              <a:rPr sz="2000" dirty="0">
                <a:latin typeface="微软雅黑"/>
                <a:cs typeface="微软雅黑"/>
              </a:rPr>
              <a:t>(</a:t>
            </a:r>
            <a:r>
              <a:rPr sz="2000" spc="-5" dirty="0">
                <a:latin typeface="微软雅黑"/>
                <a:cs typeface="微软雅黑"/>
              </a:rPr>
              <a:t>"我可以在天空飞翔......"</a:t>
            </a:r>
            <a:r>
              <a:rPr sz="2000" dirty="0">
                <a:latin typeface="微软雅黑"/>
                <a:cs typeface="微软雅黑"/>
              </a:rPr>
              <a:t>);</a:t>
            </a:r>
            <a:endParaRPr sz="2000">
              <a:latin typeface="微软雅黑"/>
              <a:cs typeface="微软雅黑"/>
            </a:endParaRPr>
          </a:p>
          <a:p>
            <a:pPr marL="1610360">
              <a:lnSpc>
                <a:spcPts val="2320"/>
              </a:lnSpc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695960">
              <a:lnSpc>
                <a:spcPct val="100000"/>
              </a:lnSpc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70660"/>
            <a:ext cx="7964805" cy="2615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2280" indent="-44958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1645" algn="l"/>
                <a:tab pos="462280" algn="l"/>
              </a:tabLst>
            </a:pPr>
            <a:r>
              <a:rPr sz="2800" dirty="0">
                <a:latin typeface="微软雅黑"/>
                <a:cs typeface="微软雅黑"/>
              </a:rPr>
              <a:t>抽象方</a:t>
            </a:r>
            <a:r>
              <a:rPr sz="2800" spc="-5" dirty="0">
                <a:latin typeface="微软雅黑"/>
                <a:cs typeface="微软雅黑"/>
              </a:rPr>
              <a:t>法</a:t>
            </a:r>
            <a:endParaRPr sz="2800">
              <a:latin typeface="微软雅黑"/>
              <a:cs typeface="微软雅黑"/>
            </a:endParaRPr>
          </a:p>
          <a:p>
            <a:pPr marL="92710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927100" algn="l"/>
              </a:tabLst>
            </a:pPr>
            <a:r>
              <a:rPr sz="2400" dirty="0">
                <a:latin typeface="微软雅黑"/>
                <a:cs typeface="微软雅黑"/>
              </a:rPr>
              <a:t>抽象方法不提供实现。</a:t>
            </a:r>
            <a:endParaRPr sz="2400">
              <a:latin typeface="微软雅黑"/>
              <a:cs typeface="微软雅黑"/>
            </a:endParaRPr>
          </a:p>
          <a:p>
            <a:pPr marL="92710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927100" algn="l"/>
              </a:tabLst>
            </a:pPr>
            <a:r>
              <a:rPr sz="2400" dirty="0">
                <a:latin typeface="微软雅黑"/>
                <a:cs typeface="微软雅黑"/>
              </a:rPr>
              <a:t>包含抽象方法的类必须声明为抽象类。</a:t>
            </a:r>
            <a:endParaRPr sz="2400">
              <a:latin typeface="微软雅黑"/>
              <a:cs typeface="微软雅黑"/>
            </a:endParaRPr>
          </a:p>
          <a:p>
            <a:pPr marL="927100" marR="20320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927100" algn="l"/>
              </a:tabLst>
            </a:pPr>
            <a:r>
              <a:rPr sz="2400" dirty="0">
                <a:latin typeface="微软雅黑"/>
                <a:cs typeface="微软雅黑"/>
              </a:rPr>
              <a:t>抽象父类的所有具体子类都必须为父类的抽象方法提 供具体实现；否则其仍然为抽象类。</a:t>
            </a:r>
            <a:endParaRPr sz="2400">
              <a:latin typeface="微软雅黑"/>
              <a:cs typeface="微软雅黑"/>
            </a:endParaRPr>
          </a:p>
          <a:p>
            <a:pPr marL="927100" marR="5080" lvl="1" indent="-171450">
              <a:lnSpc>
                <a:spcPts val="2590"/>
              </a:lnSpc>
              <a:spcBef>
                <a:spcPts val="375"/>
              </a:spcBef>
              <a:buFont typeface="Arial"/>
              <a:buChar char="•"/>
              <a:tabLst>
                <a:tab pos="927100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静态方法、私有方法、</a:t>
            </a:r>
            <a:r>
              <a:rPr sz="2400" spc="-5" dirty="0">
                <a:solidFill>
                  <a:srgbClr val="FF0000"/>
                </a:solidFill>
                <a:latin typeface="微软雅黑"/>
                <a:cs typeface="微软雅黑"/>
              </a:rPr>
              <a:t>f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in</a:t>
            </a:r>
            <a:r>
              <a:rPr sz="2400" spc="-5" dirty="0">
                <a:solidFill>
                  <a:srgbClr val="FF0000"/>
                </a:solidFill>
                <a:latin typeface="微软雅黑"/>
                <a:cs typeface="微软雅黑"/>
              </a:rPr>
              <a:t>a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l方法、构造方法</a:t>
            </a:r>
            <a:r>
              <a:rPr sz="2400" dirty="0">
                <a:latin typeface="微软雅黑"/>
                <a:cs typeface="微软雅黑"/>
              </a:rPr>
              <a:t>不能被声 明为抽象方法。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264020"/>
            <a:ext cx="5602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spc="-5" dirty="0"/>
              <a:t>6.2.1</a:t>
            </a:r>
            <a:r>
              <a:rPr sz="3200" u="none" spc="-75" dirty="0"/>
              <a:t> </a:t>
            </a:r>
            <a:r>
              <a:rPr sz="3200" u="none" dirty="0"/>
              <a:t>抽象类及抽象方法的定</a:t>
            </a:r>
            <a:r>
              <a:rPr sz="3200" u="none" spc="5" dirty="0"/>
              <a:t>义</a:t>
            </a:r>
            <a:endParaRPr sz="3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75914" y="1470660"/>
            <a:ext cx="5885815" cy="29432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抽象类中不一定所有方法都是抽象</a:t>
            </a:r>
            <a:r>
              <a:rPr sz="2800" spc="-5" dirty="0">
                <a:latin typeface="微软雅黑"/>
                <a:cs typeface="微软雅黑"/>
              </a:rPr>
              <a:t>方 </a:t>
            </a:r>
            <a:r>
              <a:rPr sz="2800" dirty="0">
                <a:latin typeface="微软雅黑"/>
                <a:cs typeface="微软雅黑"/>
              </a:rPr>
              <a:t>法，可以在抽象类中定义非抽象方</a:t>
            </a:r>
            <a:r>
              <a:rPr sz="2800" spc="-5" dirty="0">
                <a:latin typeface="微软雅黑"/>
                <a:cs typeface="微软雅黑"/>
              </a:rPr>
              <a:t>法</a:t>
            </a:r>
            <a:endParaRPr sz="2800">
              <a:latin typeface="微软雅黑"/>
              <a:cs typeface="微软雅黑"/>
            </a:endParaRPr>
          </a:p>
          <a:p>
            <a:pPr marL="184150">
              <a:lnSpc>
                <a:spcPts val="2975"/>
              </a:lnSpc>
            </a:pP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84150" marR="5080" indent="-171450" algn="just">
              <a:lnSpc>
                <a:spcPts val="302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尽管抽象类不能实例化，但是抽象</a:t>
            </a:r>
            <a:r>
              <a:rPr sz="2800" spc="-5" dirty="0">
                <a:latin typeface="微软雅黑"/>
                <a:cs typeface="微软雅黑"/>
              </a:rPr>
              <a:t>类 </a:t>
            </a:r>
            <a:r>
              <a:rPr sz="2800" dirty="0">
                <a:latin typeface="微软雅黑"/>
                <a:cs typeface="微软雅黑"/>
              </a:rPr>
              <a:t>可以有构造方法，为其子类的创建</a:t>
            </a:r>
            <a:r>
              <a:rPr sz="2800" spc="-5" dirty="0">
                <a:latin typeface="微软雅黑"/>
                <a:cs typeface="微软雅黑"/>
              </a:rPr>
              <a:t>而 </a:t>
            </a:r>
            <a:r>
              <a:rPr sz="2800" dirty="0">
                <a:latin typeface="微软雅黑"/>
                <a:cs typeface="微软雅黑"/>
              </a:rPr>
              <a:t>准备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84150" indent="-171450" algn="just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不能创建抽象类的对象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264020"/>
            <a:ext cx="5602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spc="-5" dirty="0"/>
              <a:t>6.2.1</a:t>
            </a:r>
            <a:r>
              <a:rPr sz="3200" u="none" spc="-75" dirty="0"/>
              <a:t> </a:t>
            </a:r>
            <a:r>
              <a:rPr sz="3200" u="none" dirty="0"/>
              <a:t>抽象类及抽象方法的定</a:t>
            </a:r>
            <a:r>
              <a:rPr sz="3200" u="none" spc="5" dirty="0"/>
              <a:t>义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611123" y="1700783"/>
            <a:ext cx="1799844" cy="1440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64020"/>
            <a:ext cx="5602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spc="-5" dirty="0"/>
              <a:t>6.2.1</a:t>
            </a:r>
            <a:r>
              <a:rPr sz="3200" u="none" spc="-75" dirty="0"/>
              <a:t> </a:t>
            </a:r>
            <a:r>
              <a:rPr sz="3200" u="none" dirty="0"/>
              <a:t>抽象类及抽象方法的定</a:t>
            </a:r>
            <a:r>
              <a:rPr sz="3200" u="none" spc="5" dirty="0"/>
              <a:t>义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470660"/>
            <a:ext cx="8006715" cy="203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抽象类与多</a:t>
            </a:r>
            <a:r>
              <a:rPr sz="2800" spc="-5" dirty="0">
                <a:latin typeface="微软雅黑"/>
                <a:cs typeface="微软雅黑"/>
              </a:rPr>
              <a:t>态</a:t>
            </a:r>
            <a:endParaRPr sz="2800">
              <a:latin typeface="微软雅黑"/>
              <a:cs typeface="微软雅黑"/>
            </a:endParaRPr>
          </a:p>
          <a:p>
            <a:pPr marL="527050" marR="5080" lvl="1" indent="-171450" algn="just">
              <a:lnSpc>
                <a:spcPts val="3020"/>
              </a:lnSpc>
              <a:spcBef>
                <a:spcPts val="420"/>
              </a:spcBef>
              <a:buFont typeface="Arial"/>
              <a:buChar char="•"/>
              <a:tabLst>
                <a:tab pos="527050" algn="l"/>
              </a:tabLst>
            </a:pPr>
            <a:r>
              <a:rPr sz="2800" dirty="0">
                <a:latin typeface="微软雅黑"/>
                <a:cs typeface="微软雅黑"/>
              </a:rPr>
              <a:t>抽象父类不能实例化，但可以使用抽象父类来</a:t>
            </a:r>
            <a:r>
              <a:rPr sz="2800" spc="-5" dirty="0">
                <a:latin typeface="微软雅黑"/>
                <a:cs typeface="微软雅黑"/>
              </a:rPr>
              <a:t>声 </a:t>
            </a:r>
            <a:r>
              <a:rPr sz="2800" dirty="0">
                <a:latin typeface="微软雅黑"/>
                <a:cs typeface="微软雅黑"/>
              </a:rPr>
              <a:t>明引用变量，用以保存抽象类所派生的任何具</a:t>
            </a:r>
            <a:r>
              <a:rPr sz="2800" spc="-5" dirty="0">
                <a:latin typeface="微软雅黑"/>
                <a:cs typeface="微软雅黑"/>
              </a:rPr>
              <a:t>体 </a:t>
            </a:r>
            <a:r>
              <a:rPr sz="2800" dirty="0">
                <a:latin typeface="微软雅黑"/>
                <a:cs typeface="微软雅黑"/>
              </a:rPr>
              <a:t>类的对象。程序通常使用这种变量来</a:t>
            </a:r>
            <a:r>
              <a:rPr sz="2800" dirty="0">
                <a:solidFill>
                  <a:srgbClr val="CC0000"/>
                </a:solidFill>
                <a:latin typeface="微软雅黑"/>
                <a:cs typeface="微软雅黑"/>
              </a:rPr>
              <a:t>多态</a:t>
            </a:r>
            <a:r>
              <a:rPr sz="2800" dirty="0">
                <a:latin typeface="微软雅黑"/>
                <a:cs typeface="微软雅黑"/>
              </a:rPr>
              <a:t>地操</a:t>
            </a:r>
            <a:r>
              <a:rPr sz="2800" spc="-5" dirty="0">
                <a:latin typeface="微软雅黑"/>
                <a:cs typeface="微软雅黑"/>
              </a:rPr>
              <a:t>作 </a:t>
            </a:r>
            <a:r>
              <a:rPr sz="2800" dirty="0">
                <a:latin typeface="微软雅黑"/>
                <a:cs typeface="微软雅黑"/>
              </a:rPr>
              <a:t>子类对象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64020"/>
            <a:ext cx="5602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spc="-5" dirty="0"/>
              <a:t>6.2.1</a:t>
            </a:r>
            <a:r>
              <a:rPr sz="3200" u="none" spc="-75" dirty="0"/>
              <a:t> </a:t>
            </a:r>
            <a:r>
              <a:rPr sz="3200" u="none" dirty="0"/>
              <a:t>抽象类及抽象方法的定</a:t>
            </a:r>
            <a:r>
              <a:rPr sz="3200" u="none" spc="5" dirty="0"/>
              <a:t>义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333927" y="1545615"/>
            <a:ext cx="2184400" cy="2473325"/>
          </a:xfrm>
          <a:custGeom>
            <a:avLst/>
            <a:gdLst/>
            <a:ahLst/>
            <a:cxnLst/>
            <a:rect l="l" t="t" r="r" b="b"/>
            <a:pathLst>
              <a:path w="2184400" h="2473325">
                <a:moveTo>
                  <a:pt x="2184400" y="2473325"/>
                </a:moveTo>
                <a:lnTo>
                  <a:pt x="0" y="2473325"/>
                </a:lnTo>
                <a:lnTo>
                  <a:pt x="0" y="0"/>
                </a:lnTo>
                <a:lnTo>
                  <a:pt x="2184400" y="0"/>
                </a:lnTo>
                <a:lnTo>
                  <a:pt x="218440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2447925"/>
                </a:lnTo>
                <a:lnTo>
                  <a:pt x="12700" y="2447925"/>
                </a:lnTo>
                <a:lnTo>
                  <a:pt x="25400" y="2460625"/>
                </a:lnTo>
                <a:lnTo>
                  <a:pt x="2184400" y="2460625"/>
                </a:lnTo>
                <a:lnTo>
                  <a:pt x="2184400" y="2473325"/>
                </a:lnTo>
                <a:close/>
              </a:path>
              <a:path w="2184400" h="247332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184400" h="2473325">
                <a:moveTo>
                  <a:pt x="215900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159000" y="12700"/>
                </a:lnTo>
                <a:lnTo>
                  <a:pt x="2159000" y="25400"/>
                </a:lnTo>
                <a:close/>
              </a:path>
              <a:path w="2184400" h="2473325">
                <a:moveTo>
                  <a:pt x="2159000" y="2460625"/>
                </a:moveTo>
                <a:lnTo>
                  <a:pt x="2159000" y="12700"/>
                </a:lnTo>
                <a:lnTo>
                  <a:pt x="2171700" y="25400"/>
                </a:lnTo>
                <a:lnTo>
                  <a:pt x="2184400" y="25400"/>
                </a:lnTo>
                <a:lnTo>
                  <a:pt x="2184400" y="2447925"/>
                </a:lnTo>
                <a:lnTo>
                  <a:pt x="2171700" y="2447925"/>
                </a:lnTo>
                <a:lnTo>
                  <a:pt x="2159000" y="2460625"/>
                </a:lnTo>
                <a:close/>
              </a:path>
              <a:path w="2184400" h="2473325">
                <a:moveTo>
                  <a:pt x="2184400" y="25400"/>
                </a:moveTo>
                <a:lnTo>
                  <a:pt x="2171700" y="25400"/>
                </a:lnTo>
                <a:lnTo>
                  <a:pt x="2159000" y="12700"/>
                </a:lnTo>
                <a:lnTo>
                  <a:pt x="2184400" y="12700"/>
                </a:lnTo>
                <a:lnTo>
                  <a:pt x="2184400" y="25400"/>
                </a:lnTo>
                <a:close/>
              </a:path>
              <a:path w="2184400" h="2473325">
                <a:moveTo>
                  <a:pt x="25400" y="2460625"/>
                </a:moveTo>
                <a:lnTo>
                  <a:pt x="12700" y="2447925"/>
                </a:lnTo>
                <a:lnTo>
                  <a:pt x="25400" y="2447925"/>
                </a:lnTo>
                <a:lnTo>
                  <a:pt x="25400" y="2460625"/>
                </a:lnTo>
                <a:close/>
              </a:path>
              <a:path w="2184400" h="2473325">
                <a:moveTo>
                  <a:pt x="2159000" y="2460625"/>
                </a:moveTo>
                <a:lnTo>
                  <a:pt x="25400" y="2460625"/>
                </a:lnTo>
                <a:lnTo>
                  <a:pt x="25400" y="2447925"/>
                </a:lnTo>
                <a:lnTo>
                  <a:pt x="2159000" y="2447925"/>
                </a:lnTo>
                <a:lnTo>
                  <a:pt x="2159000" y="2460625"/>
                </a:lnTo>
                <a:close/>
              </a:path>
              <a:path w="2184400" h="2473325">
                <a:moveTo>
                  <a:pt x="2184400" y="2460625"/>
                </a:moveTo>
                <a:lnTo>
                  <a:pt x="2159000" y="2460625"/>
                </a:lnTo>
                <a:lnTo>
                  <a:pt x="2171700" y="2447925"/>
                </a:lnTo>
                <a:lnTo>
                  <a:pt x="2184400" y="2447925"/>
                </a:lnTo>
                <a:lnTo>
                  <a:pt x="2184400" y="2460625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1855" y="972184"/>
            <a:ext cx="4530090" cy="286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仿宋"/>
                <a:cs typeface="仿宋"/>
              </a:rPr>
              <a:t>【练习】完成如下代码的设计</a:t>
            </a:r>
            <a:r>
              <a:rPr sz="2100" b="1" spc="-10" dirty="0">
                <a:latin typeface="仿宋"/>
                <a:cs typeface="仿宋"/>
              </a:rPr>
              <a:t>。</a:t>
            </a:r>
            <a:endParaRPr sz="2100">
              <a:latin typeface="仿宋"/>
              <a:cs typeface="仿宋"/>
            </a:endParaRPr>
          </a:p>
          <a:p>
            <a:pPr marL="2875280" marR="288925" algn="ctr">
              <a:lnSpc>
                <a:spcPct val="139800"/>
              </a:lnSpc>
              <a:spcBef>
                <a:spcPts val="1750"/>
              </a:spcBef>
            </a:pPr>
            <a:r>
              <a:rPr sz="1800" dirty="0">
                <a:latin typeface="宋体"/>
                <a:cs typeface="宋体"/>
              </a:rPr>
              <a:t>抽象类</a:t>
            </a:r>
            <a:r>
              <a:rPr sz="1800" spc="-530" dirty="0">
                <a:latin typeface="宋体"/>
                <a:cs typeface="宋体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Shape </a:t>
            </a:r>
            <a:r>
              <a:rPr sz="1800" dirty="0">
                <a:latin typeface="Book Antiqua"/>
                <a:cs typeface="Book Antiqua"/>
              </a:rPr>
              <a:t> name</a:t>
            </a:r>
            <a:endParaRPr sz="1800">
              <a:latin typeface="Book Antiqua"/>
              <a:cs typeface="Book Antiqua"/>
            </a:endParaRPr>
          </a:p>
          <a:p>
            <a:pPr marL="2590800" marR="5080" algn="ctr">
              <a:lnSpc>
                <a:spcPct val="139800"/>
              </a:lnSpc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抽象方法</a:t>
            </a:r>
            <a:r>
              <a:rPr sz="1800" spc="-53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Book Antiqua"/>
                <a:cs typeface="Book Antiqua"/>
              </a:rPr>
              <a:t>getArea()  </a:t>
            </a:r>
            <a:r>
              <a:rPr sz="1800" spc="-5" dirty="0">
                <a:latin typeface="Book Antiqua"/>
                <a:cs typeface="Book Antiqua"/>
              </a:rPr>
              <a:t>Shape()  Shape(String)  getName()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46615" y="1989321"/>
            <a:ext cx="2160905" cy="0"/>
          </a:xfrm>
          <a:custGeom>
            <a:avLst/>
            <a:gdLst/>
            <a:ahLst/>
            <a:cxnLst/>
            <a:rect l="l" t="t" r="r" b="b"/>
            <a:pathLst>
              <a:path w="2160904">
                <a:moveTo>
                  <a:pt x="0" y="0"/>
                </a:moveTo>
                <a:lnTo>
                  <a:pt x="2160600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46615" y="2349684"/>
            <a:ext cx="2160905" cy="0"/>
          </a:xfrm>
          <a:custGeom>
            <a:avLst/>
            <a:gdLst/>
            <a:ahLst/>
            <a:cxnLst/>
            <a:rect l="l" t="t" r="r" b="b"/>
            <a:pathLst>
              <a:path w="2160904">
                <a:moveTo>
                  <a:pt x="0" y="0"/>
                </a:moveTo>
                <a:lnTo>
                  <a:pt x="2160600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4927" y="4496777"/>
            <a:ext cx="2905125" cy="1465580"/>
          </a:xfrm>
          <a:custGeom>
            <a:avLst/>
            <a:gdLst/>
            <a:ahLst/>
            <a:cxnLst/>
            <a:rect l="l" t="t" r="r" b="b"/>
            <a:pathLst>
              <a:path w="2905125" h="1465579">
                <a:moveTo>
                  <a:pt x="2905125" y="1465262"/>
                </a:moveTo>
                <a:lnTo>
                  <a:pt x="0" y="1465262"/>
                </a:lnTo>
                <a:lnTo>
                  <a:pt x="0" y="0"/>
                </a:lnTo>
                <a:lnTo>
                  <a:pt x="2905125" y="0"/>
                </a:lnTo>
                <a:lnTo>
                  <a:pt x="290512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439862"/>
                </a:lnTo>
                <a:lnTo>
                  <a:pt x="12700" y="1439862"/>
                </a:lnTo>
                <a:lnTo>
                  <a:pt x="25400" y="1452562"/>
                </a:lnTo>
                <a:lnTo>
                  <a:pt x="2905125" y="1452562"/>
                </a:lnTo>
                <a:lnTo>
                  <a:pt x="2905125" y="1465262"/>
                </a:lnTo>
                <a:close/>
              </a:path>
              <a:path w="2905125" h="146557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905125" h="1465579">
                <a:moveTo>
                  <a:pt x="287972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879725" y="12700"/>
                </a:lnTo>
                <a:lnTo>
                  <a:pt x="2879725" y="25400"/>
                </a:lnTo>
                <a:close/>
              </a:path>
              <a:path w="2905125" h="1465579">
                <a:moveTo>
                  <a:pt x="2879725" y="1452562"/>
                </a:moveTo>
                <a:lnTo>
                  <a:pt x="2879725" y="12700"/>
                </a:lnTo>
                <a:lnTo>
                  <a:pt x="2892425" y="25400"/>
                </a:lnTo>
                <a:lnTo>
                  <a:pt x="2905125" y="25400"/>
                </a:lnTo>
                <a:lnTo>
                  <a:pt x="2905125" y="1439862"/>
                </a:lnTo>
                <a:lnTo>
                  <a:pt x="2892425" y="1439862"/>
                </a:lnTo>
                <a:lnTo>
                  <a:pt x="2879725" y="1452562"/>
                </a:lnTo>
                <a:close/>
              </a:path>
              <a:path w="2905125" h="1465579">
                <a:moveTo>
                  <a:pt x="2905125" y="25400"/>
                </a:moveTo>
                <a:lnTo>
                  <a:pt x="2892425" y="25400"/>
                </a:lnTo>
                <a:lnTo>
                  <a:pt x="2879725" y="12700"/>
                </a:lnTo>
                <a:lnTo>
                  <a:pt x="2905125" y="12700"/>
                </a:lnTo>
                <a:lnTo>
                  <a:pt x="2905125" y="25400"/>
                </a:lnTo>
                <a:close/>
              </a:path>
              <a:path w="2905125" h="1465579">
                <a:moveTo>
                  <a:pt x="25400" y="1452562"/>
                </a:moveTo>
                <a:lnTo>
                  <a:pt x="12700" y="1439862"/>
                </a:lnTo>
                <a:lnTo>
                  <a:pt x="25400" y="1439862"/>
                </a:lnTo>
                <a:lnTo>
                  <a:pt x="25400" y="1452562"/>
                </a:lnTo>
                <a:close/>
              </a:path>
              <a:path w="2905125" h="1465579">
                <a:moveTo>
                  <a:pt x="2879725" y="1452562"/>
                </a:moveTo>
                <a:lnTo>
                  <a:pt x="25400" y="1452562"/>
                </a:lnTo>
                <a:lnTo>
                  <a:pt x="25400" y="1439862"/>
                </a:lnTo>
                <a:lnTo>
                  <a:pt x="2879725" y="1439862"/>
                </a:lnTo>
                <a:lnTo>
                  <a:pt x="2879725" y="1452562"/>
                </a:lnTo>
                <a:close/>
              </a:path>
              <a:path w="2905125" h="1465579">
                <a:moveTo>
                  <a:pt x="2905125" y="1452562"/>
                </a:moveTo>
                <a:lnTo>
                  <a:pt x="2879725" y="1452562"/>
                </a:lnTo>
                <a:lnTo>
                  <a:pt x="2892425" y="1439862"/>
                </a:lnTo>
                <a:lnTo>
                  <a:pt x="2905125" y="1439862"/>
                </a:lnTo>
                <a:lnTo>
                  <a:pt x="2905125" y="1452562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7615" y="4870634"/>
            <a:ext cx="2880360" cy="0"/>
          </a:xfrm>
          <a:custGeom>
            <a:avLst/>
            <a:gdLst/>
            <a:ahLst/>
            <a:cxnLst/>
            <a:rect l="l" t="t" r="r" b="b"/>
            <a:pathLst>
              <a:path w="2880360">
                <a:moveTo>
                  <a:pt x="0" y="0"/>
                </a:moveTo>
                <a:lnTo>
                  <a:pt x="28797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87615" y="5229409"/>
            <a:ext cx="2880360" cy="0"/>
          </a:xfrm>
          <a:custGeom>
            <a:avLst/>
            <a:gdLst/>
            <a:ahLst/>
            <a:cxnLst/>
            <a:rect l="l" t="t" r="r" b="b"/>
            <a:pathLst>
              <a:path w="2880360">
                <a:moveTo>
                  <a:pt x="0" y="0"/>
                </a:moveTo>
                <a:lnTo>
                  <a:pt x="28797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59477" y="4496777"/>
            <a:ext cx="3768725" cy="1465580"/>
          </a:xfrm>
          <a:custGeom>
            <a:avLst/>
            <a:gdLst/>
            <a:ahLst/>
            <a:cxnLst/>
            <a:rect l="l" t="t" r="r" b="b"/>
            <a:pathLst>
              <a:path w="3768725" h="1465579">
                <a:moveTo>
                  <a:pt x="3768725" y="1465262"/>
                </a:moveTo>
                <a:lnTo>
                  <a:pt x="0" y="1465262"/>
                </a:lnTo>
                <a:lnTo>
                  <a:pt x="0" y="0"/>
                </a:lnTo>
                <a:lnTo>
                  <a:pt x="3768725" y="0"/>
                </a:lnTo>
                <a:lnTo>
                  <a:pt x="376872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439862"/>
                </a:lnTo>
                <a:lnTo>
                  <a:pt x="12700" y="1439862"/>
                </a:lnTo>
                <a:lnTo>
                  <a:pt x="25400" y="1452562"/>
                </a:lnTo>
                <a:lnTo>
                  <a:pt x="3768725" y="1452562"/>
                </a:lnTo>
                <a:lnTo>
                  <a:pt x="3768725" y="1465262"/>
                </a:lnTo>
                <a:close/>
              </a:path>
              <a:path w="3768725" h="146557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768725" h="1465579">
                <a:moveTo>
                  <a:pt x="374332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3743325" y="12700"/>
                </a:lnTo>
                <a:lnTo>
                  <a:pt x="3743325" y="25400"/>
                </a:lnTo>
                <a:close/>
              </a:path>
              <a:path w="3768725" h="1465579">
                <a:moveTo>
                  <a:pt x="3743325" y="1452562"/>
                </a:moveTo>
                <a:lnTo>
                  <a:pt x="3743325" y="12700"/>
                </a:lnTo>
                <a:lnTo>
                  <a:pt x="3756025" y="25400"/>
                </a:lnTo>
                <a:lnTo>
                  <a:pt x="3768725" y="25400"/>
                </a:lnTo>
                <a:lnTo>
                  <a:pt x="3768725" y="1439862"/>
                </a:lnTo>
                <a:lnTo>
                  <a:pt x="3756025" y="1439862"/>
                </a:lnTo>
                <a:lnTo>
                  <a:pt x="3743325" y="1452562"/>
                </a:lnTo>
                <a:close/>
              </a:path>
              <a:path w="3768725" h="1465579">
                <a:moveTo>
                  <a:pt x="3768725" y="25400"/>
                </a:moveTo>
                <a:lnTo>
                  <a:pt x="3756025" y="25400"/>
                </a:lnTo>
                <a:lnTo>
                  <a:pt x="3743325" y="12700"/>
                </a:lnTo>
                <a:lnTo>
                  <a:pt x="3768725" y="12700"/>
                </a:lnTo>
                <a:lnTo>
                  <a:pt x="3768725" y="25400"/>
                </a:lnTo>
                <a:close/>
              </a:path>
              <a:path w="3768725" h="1465579">
                <a:moveTo>
                  <a:pt x="25400" y="1452562"/>
                </a:moveTo>
                <a:lnTo>
                  <a:pt x="12700" y="1439862"/>
                </a:lnTo>
                <a:lnTo>
                  <a:pt x="25400" y="1439862"/>
                </a:lnTo>
                <a:lnTo>
                  <a:pt x="25400" y="1452562"/>
                </a:lnTo>
                <a:close/>
              </a:path>
              <a:path w="3768725" h="1465579">
                <a:moveTo>
                  <a:pt x="3743325" y="1452562"/>
                </a:moveTo>
                <a:lnTo>
                  <a:pt x="25400" y="1452562"/>
                </a:lnTo>
                <a:lnTo>
                  <a:pt x="25400" y="1439862"/>
                </a:lnTo>
                <a:lnTo>
                  <a:pt x="3743325" y="1439862"/>
                </a:lnTo>
                <a:lnTo>
                  <a:pt x="3743325" y="1452562"/>
                </a:lnTo>
                <a:close/>
              </a:path>
              <a:path w="3768725" h="1465579">
                <a:moveTo>
                  <a:pt x="3768725" y="1452562"/>
                </a:moveTo>
                <a:lnTo>
                  <a:pt x="3743325" y="1452562"/>
                </a:lnTo>
                <a:lnTo>
                  <a:pt x="3756025" y="1439862"/>
                </a:lnTo>
                <a:lnTo>
                  <a:pt x="3768725" y="1439862"/>
                </a:lnTo>
                <a:lnTo>
                  <a:pt x="3768725" y="1452562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2165" y="4870634"/>
            <a:ext cx="3743960" cy="0"/>
          </a:xfrm>
          <a:custGeom>
            <a:avLst/>
            <a:gdLst/>
            <a:ahLst/>
            <a:cxnLst/>
            <a:rect l="l" t="t" r="r" b="b"/>
            <a:pathLst>
              <a:path w="3743959">
                <a:moveTo>
                  <a:pt x="0" y="0"/>
                </a:moveTo>
                <a:lnTo>
                  <a:pt x="37433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2165" y="5229409"/>
            <a:ext cx="3743960" cy="0"/>
          </a:xfrm>
          <a:custGeom>
            <a:avLst/>
            <a:gdLst/>
            <a:ahLst/>
            <a:cxnLst/>
            <a:rect l="l" t="t" r="r" b="b"/>
            <a:pathLst>
              <a:path w="3743959">
                <a:moveTo>
                  <a:pt x="0" y="0"/>
                </a:moveTo>
                <a:lnTo>
                  <a:pt x="37433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43615" y="4006240"/>
            <a:ext cx="514350" cy="512445"/>
          </a:xfrm>
          <a:custGeom>
            <a:avLst/>
            <a:gdLst/>
            <a:ahLst/>
            <a:cxnLst/>
            <a:rect l="l" t="t" r="r" b="b"/>
            <a:pathLst>
              <a:path w="514350" h="512445">
                <a:moveTo>
                  <a:pt x="27063" y="80772"/>
                </a:moveTo>
                <a:lnTo>
                  <a:pt x="0" y="0"/>
                </a:lnTo>
                <a:lnTo>
                  <a:pt x="80860" y="26809"/>
                </a:lnTo>
                <a:lnTo>
                  <a:pt x="76340" y="31343"/>
                </a:lnTo>
                <a:lnTo>
                  <a:pt x="49441" y="31343"/>
                </a:lnTo>
                <a:lnTo>
                  <a:pt x="31508" y="49339"/>
                </a:lnTo>
                <a:lnTo>
                  <a:pt x="44996" y="62784"/>
                </a:lnTo>
                <a:lnTo>
                  <a:pt x="27063" y="80772"/>
                </a:lnTo>
                <a:close/>
              </a:path>
              <a:path w="514350" h="512445">
                <a:moveTo>
                  <a:pt x="44996" y="62784"/>
                </a:moveTo>
                <a:lnTo>
                  <a:pt x="31508" y="49339"/>
                </a:lnTo>
                <a:lnTo>
                  <a:pt x="49441" y="31343"/>
                </a:lnTo>
                <a:lnTo>
                  <a:pt x="62932" y="44792"/>
                </a:lnTo>
                <a:lnTo>
                  <a:pt x="44996" y="62784"/>
                </a:lnTo>
                <a:close/>
              </a:path>
              <a:path w="514350" h="512445">
                <a:moveTo>
                  <a:pt x="62932" y="44792"/>
                </a:moveTo>
                <a:lnTo>
                  <a:pt x="49441" y="31343"/>
                </a:lnTo>
                <a:lnTo>
                  <a:pt x="76340" y="31343"/>
                </a:lnTo>
                <a:lnTo>
                  <a:pt x="62932" y="44792"/>
                </a:lnTo>
                <a:close/>
              </a:path>
              <a:path w="514350" h="512445">
                <a:moveTo>
                  <a:pt x="495858" y="512229"/>
                </a:moveTo>
                <a:lnTo>
                  <a:pt x="44996" y="62784"/>
                </a:lnTo>
                <a:lnTo>
                  <a:pt x="62932" y="44792"/>
                </a:lnTo>
                <a:lnTo>
                  <a:pt x="513791" y="494233"/>
                </a:lnTo>
                <a:lnTo>
                  <a:pt x="495858" y="5122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54171" y="4006240"/>
            <a:ext cx="584835" cy="513080"/>
          </a:xfrm>
          <a:custGeom>
            <a:avLst/>
            <a:gdLst/>
            <a:ahLst/>
            <a:cxnLst/>
            <a:rect l="l" t="t" r="r" b="b"/>
            <a:pathLst>
              <a:path w="584835" h="513079">
                <a:moveTo>
                  <a:pt x="518860" y="40547"/>
                </a:moveTo>
                <a:lnTo>
                  <a:pt x="502158" y="21424"/>
                </a:lnTo>
                <a:lnTo>
                  <a:pt x="584619" y="0"/>
                </a:lnTo>
                <a:lnTo>
                  <a:pt x="573125" y="28016"/>
                </a:lnTo>
                <a:lnTo>
                  <a:pt x="533209" y="28016"/>
                </a:lnTo>
                <a:lnTo>
                  <a:pt x="518860" y="40547"/>
                </a:lnTo>
                <a:close/>
              </a:path>
              <a:path w="584835" h="513079">
                <a:moveTo>
                  <a:pt x="535574" y="59684"/>
                </a:moveTo>
                <a:lnTo>
                  <a:pt x="518860" y="40547"/>
                </a:lnTo>
                <a:lnTo>
                  <a:pt x="533209" y="28016"/>
                </a:lnTo>
                <a:lnTo>
                  <a:pt x="549922" y="47155"/>
                </a:lnTo>
                <a:lnTo>
                  <a:pt x="535574" y="59684"/>
                </a:lnTo>
                <a:close/>
              </a:path>
              <a:path w="584835" h="513079">
                <a:moveTo>
                  <a:pt x="552284" y="78816"/>
                </a:moveTo>
                <a:lnTo>
                  <a:pt x="535574" y="59684"/>
                </a:lnTo>
                <a:lnTo>
                  <a:pt x="549922" y="47155"/>
                </a:lnTo>
                <a:lnTo>
                  <a:pt x="533209" y="28016"/>
                </a:lnTo>
                <a:lnTo>
                  <a:pt x="573125" y="28016"/>
                </a:lnTo>
                <a:lnTo>
                  <a:pt x="552284" y="78816"/>
                </a:lnTo>
                <a:close/>
              </a:path>
              <a:path w="584835" h="513079">
                <a:moveTo>
                  <a:pt x="16700" y="512800"/>
                </a:moveTo>
                <a:lnTo>
                  <a:pt x="0" y="493661"/>
                </a:lnTo>
                <a:lnTo>
                  <a:pt x="518860" y="40547"/>
                </a:lnTo>
                <a:lnTo>
                  <a:pt x="535574" y="59684"/>
                </a:lnTo>
                <a:lnTo>
                  <a:pt x="16700" y="512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4927" y="4496777"/>
            <a:ext cx="2905125" cy="1465580"/>
          </a:xfrm>
          <a:custGeom>
            <a:avLst/>
            <a:gdLst/>
            <a:ahLst/>
            <a:cxnLst/>
            <a:rect l="l" t="t" r="r" b="b"/>
            <a:pathLst>
              <a:path w="2905125" h="1465579">
                <a:moveTo>
                  <a:pt x="2905125" y="1465262"/>
                </a:moveTo>
                <a:lnTo>
                  <a:pt x="0" y="1465262"/>
                </a:lnTo>
                <a:lnTo>
                  <a:pt x="0" y="0"/>
                </a:lnTo>
                <a:lnTo>
                  <a:pt x="2905125" y="0"/>
                </a:lnTo>
                <a:lnTo>
                  <a:pt x="290512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439862"/>
                </a:lnTo>
                <a:lnTo>
                  <a:pt x="12700" y="1439862"/>
                </a:lnTo>
                <a:lnTo>
                  <a:pt x="25400" y="1452562"/>
                </a:lnTo>
                <a:lnTo>
                  <a:pt x="2905125" y="1452562"/>
                </a:lnTo>
                <a:lnTo>
                  <a:pt x="2905125" y="1465262"/>
                </a:lnTo>
                <a:close/>
              </a:path>
              <a:path w="2905125" h="146557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905125" h="1465579">
                <a:moveTo>
                  <a:pt x="287972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879725" y="12700"/>
                </a:lnTo>
                <a:lnTo>
                  <a:pt x="2879725" y="25400"/>
                </a:lnTo>
                <a:close/>
              </a:path>
              <a:path w="2905125" h="1465579">
                <a:moveTo>
                  <a:pt x="2879725" y="1452562"/>
                </a:moveTo>
                <a:lnTo>
                  <a:pt x="2879725" y="12700"/>
                </a:lnTo>
                <a:lnTo>
                  <a:pt x="2892425" y="25400"/>
                </a:lnTo>
                <a:lnTo>
                  <a:pt x="2905125" y="25400"/>
                </a:lnTo>
                <a:lnTo>
                  <a:pt x="2905125" y="1439862"/>
                </a:lnTo>
                <a:lnTo>
                  <a:pt x="2892425" y="1439862"/>
                </a:lnTo>
                <a:lnTo>
                  <a:pt x="2879725" y="1452562"/>
                </a:lnTo>
                <a:close/>
              </a:path>
              <a:path w="2905125" h="1465579">
                <a:moveTo>
                  <a:pt x="2905125" y="25400"/>
                </a:moveTo>
                <a:lnTo>
                  <a:pt x="2892425" y="25400"/>
                </a:lnTo>
                <a:lnTo>
                  <a:pt x="2879725" y="12700"/>
                </a:lnTo>
                <a:lnTo>
                  <a:pt x="2905125" y="12700"/>
                </a:lnTo>
                <a:lnTo>
                  <a:pt x="2905125" y="25400"/>
                </a:lnTo>
                <a:close/>
              </a:path>
              <a:path w="2905125" h="1465579">
                <a:moveTo>
                  <a:pt x="25400" y="1452562"/>
                </a:moveTo>
                <a:lnTo>
                  <a:pt x="12700" y="1439862"/>
                </a:lnTo>
                <a:lnTo>
                  <a:pt x="25400" y="1439862"/>
                </a:lnTo>
                <a:lnTo>
                  <a:pt x="25400" y="1452562"/>
                </a:lnTo>
                <a:close/>
              </a:path>
              <a:path w="2905125" h="1465579">
                <a:moveTo>
                  <a:pt x="2879725" y="1452562"/>
                </a:moveTo>
                <a:lnTo>
                  <a:pt x="25400" y="1452562"/>
                </a:lnTo>
                <a:lnTo>
                  <a:pt x="25400" y="1439862"/>
                </a:lnTo>
                <a:lnTo>
                  <a:pt x="2879725" y="1439862"/>
                </a:lnTo>
                <a:lnTo>
                  <a:pt x="2879725" y="1452562"/>
                </a:lnTo>
                <a:close/>
              </a:path>
              <a:path w="2905125" h="1465579">
                <a:moveTo>
                  <a:pt x="2905125" y="1452562"/>
                </a:moveTo>
                <a:lnTo>
                  <a:pt x="2879725" y="1452562"/>
                </a:lnTo>
                <a:lnTo>
                  <a:pt x="2892425" y="1439862"/>
                </a:lnTo>
                <a:lnTo>
                  <a:pt x="2905125" y="1439862"/>
                </a:lnTo>
                <a:lnTo>
                  <a:pt x="2905125" y="1452562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73782" y="4529163"/>
            <a:ext cx="908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圆</a:t>
            </a:r>
            <a:r>
              <a:rPr sz="1800" spc="-515" dirty="0">
                <a:latin typeface="宋体"/>
                <a:cs typeface="宋体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Circle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7587" y="4803482"/>
            <a:ext cx="979805" cy="68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1800">
              <a:lnSpc>
                <a:spcPct val="119900"/>
              </a:lnSpc>
              <a:spcBef>
                <a:spcPts val="100"/>
              </a:spcBef>
            </a:pPr>
            <a:r>
              <a:rPr sz="1800" dirty="0">
                <a:latin typeface="Book Antiqua"/>
                <a:cs typeface="Book Antiqua"/>
              </a:rPr>
              <a:t>r  </a:t>
            </a:r>
            <a:r>
              <a:rPr sz="1800" spc="-5" dirty="0">
                <a:solidFill>
                  <a:srgbClr val="FF0000"/>
                </a:solidFill>
                <a:latin typeface="Book Antiqua"/>
                <a:cs typeface="Book Antiqua"/>
              </a:rPr>
              <a:t>getAre</a:t>
            </a:r>
            <a:r>
              <a:rPr sz="1800" dirty="0">
                <a:solidFill>
                  <a:srgbClr val="FF0000"/>
                </a:solidFill>
                <a:latin typeface="Book Antiqua"/>
                <a:cs typeface="Book Antiqua"/>
              </a:rPr>
              <a:t>a()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24812" y="5515952"/>
            <a:ext cx="2204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Book Antiqua"/>
                <a:cs typeface="Book Antiqua"/>
              </a:rPr>
              <a:t>Circle(String,</a:t>
            </a:r>
            <a:r>
              <a:rPr sz="1800" spc="-35" dirty="0">
                <a:latin typeface="Book Antiqua"/>
                <a:cs typeface="Book Antiqua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double)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87615" y="4870634"/>
            <a:ext cx="2880360" cy="0"/>
          </a:xfrm>
          <a:custGeom>
            <a:avLst/>
            <a:gdLst/>
            <a:ahLst/>
            <a:cxnLst/>
            <a:rect l="l" t="t" r="r" b="b"/>
            <a:pathLst>
              <a:path w="2880360">
                <a:moveTo>
                  <a:pt x="0" y="0"/>
                </a:moveTo>
                <a:lnTo>
                  <a:pt x="28797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87615" y="5229409"/>
            <a:ext cx="2880360" cy="0"/>
          </a:xfrm>
          <a:custGeom>
            <a:avLst/>
            <a:gdLst/>
            <a:ahLst/>
            <a:cxnLst/>
            <a:rect l="l" t="t" r="r" b="b"/>
            <a:pathLst>
              <a:path w="2880360">
                <a:moveTo>
                  <a:pt x="0" y="0"/>
                </a:moveTo>
                <a:lnTo>
                  <a:pt x="28797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59477" y="4496777"/>
            <a:ext cx="3768725" cy="1465580"/>
          </a:xfrm>
          <a:custGeom>
            <a:avLst/>
            <a:gdLst/>
            <a:ahLst/>
            <a:cxnLst/>
            <a:rect l="l" t="t" r="r" b="b"/>
            <a:pathLst>
              <a:path w="3768725" h="1465579">
                <a:moveTo>
                  <a:pt x="3768725" y="1465262"/>
                </a:moveTo>
                <a:lnTo>
                  <a:pt x="0" y="1465262"/>
                </a:lnTo>
                <a:lnTo>
                  <a:pt x="0" y="0"/>
                </a:lnTo>
                <a:lnTo>
                  <a:pt x="3768725" y="0"/>
                </a:lnTo>
                <a:lnTo>
                  <a:pt x="376872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439862"/>
                </a:lnTo>
                <a:lnTo>
                  <a:pt x="12700" y="1439862"/>
                </a:lnTo>
                <a:lnTo>
                  <a:pt x="25400" y="1452562"/>
                </a:lnTo>
                <a:lnTo>
                  <a:pt x="3768725" y="1452562"/>
                </a:lnTo>
                <a:lnTo>
                  <a:pt x="3768725" y="1465262"/>
                </a:lnTo>
                <a:close/>
              </a:path>
              <a:path w="3768725" h="146557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768725" h="1465579">
                <a:moveTo>
                  <a:pt x="374332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3743325" y="12700"/>
                </a:lnTo>
                <a:lnTo>
                  <a:pt x="3743325" y="25400"/>
                </a:lnTo>
                <a:close/>
              </a:path>
              <a:path w="3768725" h="1465579">
                <a:moveTo>
                  <a:pt x="3743325" y="1452562"/>
                </a:moveTo>
                <a:lnTo>
                  <a:pt x="3743325" y="12700"/>
                </a:lnTo>
                <a:lnTo>
                  <a:pt x="3756025" y="25400"/>
                </a:lnTo>
                <a:lnTo>
                  <a:pt x="3768725" y="25400"/>
                </a:lnTo>
                <a:lnTo>
                  <a:pt x="3768725" y="1439862"/>
                </a:lnTo>
                <a:lnTo>
                  <a:pt x="3756025" y="1439862"/>
                </a:lnTo>
                <a:lnTo>
                  <a:pt x="3743325" y="1452562"/>
                </a:lnTo>
                <a:close/>
              </a:path>
              <a:path w="3768725" h="1465579">
                <a:moveTo>
                  <a:pt x="3768725" y="25400"/>
                </a:moveTo>
                <a:lnTo>
                  <a:pt x="3756025" y="25400"/>
                </a:lnTo>
                <a:lnTo>
                  <a:pt x="3743325" y="12700"/>
                </a:lnTo>
                <a:lnTo>
                  <a:pt x="3768725" y="12700"/>
                </a:lnTo>
                <a:lnTo>
                  <a:pt x="3768725" y="25400"/>
                </a:lnTo>
                <a:close/>
              </a:path>
              <a:path w="3768725" h="1465579">
                <a:moveTo>
                  <a:pt x="25400" y="1452562"/>
                </a:moveTo>
                <a:lnTo>
                  <a:pt x="12700" y="1439862"/>
                </a:lnTo>
                <a:lnTo>
                  <a:pt x="25400" y="1439862"/>
                </a:lnTo>
                <a:lnTo>
                  <a:pt x="25400" y="1452562"/>
                </a:lnTo>
                <a:close/>
              </a:path>
              <a:path w="3768725" h="1465579">
                <a:moveTo>
                  <a:pt x="3743325" y="1452562"/>
                </a:moveTo>
                <a:lnTo>
                  <a:pt x="25400" y="1452562"/>
                </a:lnTo>
                <a:lnTo>
                  <a:pt x="25400" y="1439862"/>
                </a:lnTo>
                <a:lnTo>
                  <a:pt x="3743325" y="1439862"/>
                </a:lnTo>
                <a:lnTo>
                  <a:pt x="3743325" y="1452562"/>
                </a:lnTo>
                <a:close/>
              </a:path>
              <a:path w="3768725" h="1465579">
                <a:moveTo>
                  <a:pt x="3768725" y="1452562"/>
                </a:moveTo>
                <a:lnTo>
                  <a:pt x="3743325" y="1452562"/>
                </a:lnTo>
                <a:lnTo>
                  <a:pt x="3756025" y="1439862"/>
                </a:lnTo>
                <a:lnTo>
                  <a:pt x="3768725" y="1439862"/>
                </a:lnTo>
                <a:lnTo>
                  <a:pt x="3768725" y="1452562"/>
                </a:lnTo>
                <a:close/>
              </a:path>
            </a:pathLst>
          </a:custGeom>
          <a:solidFill>
            <a:srgbClr val="967A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679617" y="4552022"/>
            <a:ext cx="1528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矩形</a:t>
            </a:r>
            <a:r>
              <a:rPr sz="1800" spc="-509" dirty="0">
                <a:latin typeface="宋体"/>
                <a:cs typeface="宋体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Rectangle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9467" y="4885397"/>
            <a:ext cx="1388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Book Antiqua"/>
                <a:cs typeface="Book Antiqua"/>
              </a:rPr>
              <a:t>length,</a:t>
            </a:r>
            <a:r>
              <a:rPr sz="1800" spc="-55" dirty="0">
                <a:latin typeface="Book Antiqua"/>
                <a:cs typeface="Book Antiqua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width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64582" y="5159718"/>
            <a:ext cx="3358515" cy="68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89355">
              <a:lnSpc>
                <a:spcPct val="1199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Book Antiqua"/>
                <a:cs typeface="Book Antiqua"/>
              </a:rPr>
              <a:t>getArea()  </a:t>
            </a:r>
            <a:r>
              <a:rPr sz="1800" spc="-5" dirty="0">
                <a:latin typeface="Book Antiqua"/>
                <a:cs typeface="Book Antiqua"/>
              </a:rPr>
              <a:t>Rectangle(String,</a:t>
            </a:r>
            <a:r>
              <a:rPr sz="1800" spc="-15" dirty="0">
                <a:latin typeface="Book Antiqua"/>
                <a:cs typeface="Book Antiqua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double,double)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72165" y="4870634"/>
            <a:ext cx="3743960" cy="0"/>
          </a:xfrm>
          <a:custGeom>
            <a:avLst/>
            <a:gdLst/>
            <a:ahLst/>
            <a:cxnLst/>
            <a:rect l="l" t="t" r="r" b="b"/>
            <a:pathLst>
              <a:path w="3743959">
                <a:moveTo>
                  <a:pt x="0" y="0"/>
                </a:moveTo>
                <a:lnTo>
                  <a:pt x="37433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72165" y="5229409"/>
            <a:ext cx="3743960" cy="0"/>
          </a:xfrm>
          <a:custGeom>
            <a:avLst/>
            <a:gdLst/>
            <a:ahLst/>
            <a:cxnLst/>
            <a:rect l="l" t="t" r="r" b="b"/>
            <a:pathLst>
              <a:path w="3743959">
                <a:moveTo>
                  <a:pt x="0" y="0"/>
                </a:moveTo>
                <a:lnTo>
                  <a:pt x="3743337" y="0"/>
                </a:lnTo>
              </a:path>
            </a:pathLst>
          </a:custGeom>
          <a:ln w="26987">
            <a:solidFill>
              <a:srgbClr val="967A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64020"/>
            <a:ext cx="5602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none" spc="-5" dirty="0"/>
              <a:t>6.2.1</a:t>
            </a:r>
            <a:r>
              <a:rPr sz="3200" u="none" spc="-75" dirty="0"/>
              <a:t> </a:t>
            </a:r>
            <a:r>
              <a:rPr sz="3200" u="none" dirty="0"/>
              <a:t>抽象类及抽象方法的定</a:t>
            </a:r>
            <a:r>
              <a:rPr sz="3200" u="none" spc="5" dirty="0"/>
              <a:t>义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181100" y="1550987"/>
            <a:ext cx="6350000" cy="4403725"/>
          </a:xfrm>
          <a:custGeom>
            <a:avLst/>
            <a:gdLst/>
            <a:ahLst/>
            <a:cxnLst/>
            <a:rect l="l" t="t" r="r" b="b"/>
            <a:pathLst>
              <a:path w="6350000" h="4403725">
                <a:moveTo>
                  <a:pt x="6350000" y="4403725"/>
                </a:moveTo>
                <a:lnTo>
                  <a:pt x="0" y="4403725"/>
                </a:lnTo>
                <a:lnTo>
                  <a:pt x="0" y="0"/>
                </a:lnTo>
                <a:lnTo>
                  <a:pt x="6350000" y="0"/>
                </a:lnTo>
                <a:lnTo>
                  <a:pt x="63500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391025"/>
                </a:lnTo>
                <a:lnTo>
                  <a:pt x="6350" y="4391025"/>
                </a:lnTo>
                <a:lnTo>
                  <a:pt x="12700" y="4397375"/>
                </a:lnTo>
                <a:lnTo>
                  <a:pt x="6350000" y="4397375"/>
                </a:lnTo>
                <a:lnTo>
                  <a:pt x="6350000" y="4403725"/>
                </a:lnTo>
                <a:close/>
              </a:path>
              <a:path w="6350000" h="44037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350000" h="4403725">
                <a:moveTo>
                  <a:pt x="63373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337300" y="6350"/>
                </a:lnTo>
                <a:lnTo>
                  <a:pt x="6337300" y="12700"/>
                </a:lnTo>
                <a:close/>
              </a:path>
              <a:path w="6350000" h="4403725">
                <a:moveTo>
                  <a:pt x="6337300" y="4397375"/>
                </a:moveTo>
                <a:lnTo>
                  <a:pt x="6337300" y="6350"/>
                </a:lnTo>
                <a:lnTo>
                  <a:pt x="6343650" y="12700"/>
                </a:lnTo>
                <a:lnTo>
                  <a:pt x="6350000" y="12700"/>
                </a:lnTo>
                <a:lnTo>
                  <a:pt x="6350000" y="4391025"/>
                </a:lnTo>
                <a:lnTo>
                  <a:pt x="6343650" y="4391025"/>
                </a:lnTo>
                <a:lnTo>
                  <a:pt x="6337300" y="4397375"/>
                </a:lnTo>
                <a:close/>
              </a:path>
              <a:path w="6350000" h="4403725">
                <a:moveTo>
                  <a:pt x="6350000" y="12700"/>
                </a:moveTo>
                <a:lnTo>
                  <a:pt x="6343650" y="12700"/>
                </a:lnTo>
                <a:lnTo>
                  <a:pt x="6337300" y="6350"/>
                </a:lnTo>
                <a:lnTo>
                  <a:pt x="6350000" y="6350"/>
                </a:lnTo>
                <a:lnTo>
                  <a:pt x="6350000" y="12700"/>
                </a:lnTo>
                <a:close/>
              </a:path>
              <a:path w="6350000" h="4403725">
                <a:moveTo>
                  <a:pt x="12700" y="4397375"/>
                </a:moveTo>
                <a:lnTo>
                  <a:pt x="6350" y="4391025"/>
                </a:lnTo>
                <a:lnTo>
                  <a:pt x="12700" y="4391025"/>
                </a:lnTo>
                <a:lnTo>
                  <a:pt x="12700" y="4397375"/>
                </a:lnTo>
                <a:close/>
              </a:path>
              <a:path w="6350000" h="4403725">
                <a:moveTo>
                  <a:pt x="6337300" y="4397375"/>
                </a:moveTo>
                <a:lnTo>
                  <a:pt x="12700" y="4397375"/>
                </a:lnTo>
                <a:lnTo>
                  <a:pt x="12700" y="4391025"/>
                </a:lnTo>
                <a:lnTo>
                  <a:pt x="6337300" y="4391025"/>
                </a:lnTo>
                <a:lnTo>
                  <a:pt x="6337300" y="4397375"/>
                </a:lnTo>
                <a:close/>
              </a:path>
              <a:path w="6350000" h="4403725">
                <a:moveTo>
                  <a:pt x="6350000" y="4397375"/>
                </a:moveTo>
                <a:lnTo>
                  <a:pt x="6337300" y="4397375"/>
                </a:lnTo>
                <a:lnTo>
                  <a:pt x="6343650" y="4391025"/>
                </a:lnTo>
                <a:lnTo>
                  <a:pt x="6350000" y="4391025"/>
                </a:lnTo>
                <a:lnTo>
                  <a:pt x="6350000" y="4397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6189" y="1577022"/>
            <a:ext cx="330327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323850" indent="-4572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Book Antiqua"/>
                <a:cs typeface="Book Antiqua"/>
              </a:rPr>
              <a:t>public </a:t>
            </a:r>
            <a:r>
              <a:rPr sz="1800" b="1" spc="-5" dirty="0">
                <a:solidFill>
                  <a:srgbClr val="ED7A07"/>
                </a:solidFill>
                <a:latin typeface="Book Antiqua"/>
                <a:cs typeface="Book Antiqua"/>
              </a:rPr>
              <a:t>abstract </a:t>
            </a:r>
            <a:r>
              <a:rPr sz="1800" dirty="0">
                <a:latin typeface="Book Antiqua"/>
                <a:cs typeface="Book Antiqua"/>
              </a:rPr>
              <a:t>class </a:t>
            </a:r>
            <a:r>
              <a:rPr sz="1800" spc="-5" dirty="0">
                <a:latin typeface="Book Antiqua"/>
                <a:cs typeface="Book Antiqua"/>
              </a:rPr>
              <a:t>Shape </a:t>
            </a:r>
            <a:r>
              <a:rPr sz="1800" dirty="0">
                <a:latin typeface="Book Antiqua"/>
                <a:cs typeface="Book Antiqua"/>
              </a:rPr>
              <a:t>{  </a:t>
            </a:r>
            <a:r>
              <a:rPr sz="1800" spc="-5" dirty="0">
                <a:latin typeface="Book Antiqua"/>
                <a:cs typeface="Book Antiqua"/>
              </a:rPr>
              <a:t>private String</a:t>
            </a:r>
            <a:r>
              <a:rPr sz="1800" spc="-15" dirty="0">
                <a:latin typeface="Book Antiqua"/>
                <a:cs typeface="Book Antiqua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name;</a:t>
            </a:r>
            <a:endParaRPr sz="18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Book Antiqua"/>
              <a:cs typeface="Book Antiqua"/>
            </a:endParaRPr>
          </a:p>
          <a:p>
            <a:pPr marL="469265">
              <a:lnSpc>
                <a:spcPct val="100000"/>
              </a:lnSpc>
            </a:pPr>
            <a:r>
              <a:rPr sz="1800" spc="-5" dirty="0">
                <a:latin typeface="Book Antiqua"/>
                <a:cs typeface="Book Antiqua"/>
              </a:rPr>
              <a:t>public Shape()</a:t>
            </a:r>
            <a:r>
              <a:rPr sz="1800" dirty="0">
                <a:latin typeface="Book Antiqua"/>
                <a:cs typeface="Book Antiqua"/>
              </a:rPr>
              <a:t> {</a:t>
            </a:r>
            <a:endParaRPr sz="1800">
              <a:latin typeface="Book Antiqua"/>
              <a:cs typeface="Book Antiqua"/>
            </a:endParaRPr>
          </a:p>
          <a:p>
            <a:pPr marL="469265">
              <a:lnSpc>
                <a:spcPct val="100000"/>
              </a:lnSpc>
            </a:pPr>
            <a:r>
              <a:rPr sz="1800" dirty="0"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  <a:p>
            <a:pPr marL="755015" marR="5080" indent="-285750">
              <a:lnSpc>
                <a:spcPct val="100000"/>
              </a:lnSpc>
            </a:pPr>
            <a:r>
              <a:rPr sz="1800" spc="-5" dirty="0">
                <a:latin typeface="Book Antiqua"/>
                <a:cs typeface="Book Antiqua"/>
              </a:rPr>
              <a:t>public Shape(String name) </a:t>
            </a:r>
            <a:r>
              <a:rPr sz="1800" dirty="0">
                <a:latin typeface="Book Antiqua"/>
                <a:cs typeface="Book Antiqua"/>
              </a:rPr>
              <a:t>{  </a:t>
            </a:r>
            <a:r>
              <a:rPr sz="1800" spc="-5" dirty="0">
                <a:latin typeface="Book Antiqua"/>
                <a:cs typeface="Book Antiqua"/>
              </a:rPr>
              <a:t>this.name </a:t>
            </a:r>
            <a:r>
              <a:rPr sz="1800" dirty="0">
                <a:latin typeface="Book Antiqua"/>
                <a:cs typeface="Book Antiqua"/>
              </a:rPr>
              <a:t>=</a:t>
            </a:r>
            <a:r>
              <a:rPr sz="1800" spc="-15" dirty="0">
                <a:latin typeface="Book Antiqua"/>
                <a:cs typeface="Book Antiqua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name;</a:t>
            </a:r>
            <a:endParaRPr sz="1800">
              <a:latin typeface="Book Antiqua"/>
              <a:cs typeface="Book Antiqua"/>
            </a:endParaRPr>
          </a:p>
          <a:p>
            <a:pPr marL="469265">
              <a:lnSpc>
                <a:spcPct val="100000"/>
              </a:lnSpc>
            </a:pPr>
            <a:r>
              <a:rPr sz="1800" dirty="0"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Book Antiqua"/>
              <a:cs typeface="Book Antiqua"/>
            </a:endParaRPr>
          </a:p>
          <a:p>
            <a:pPr marL="755015" marR="252095" indent="-28575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Book Antiqua"/>
                <a:cs typeface="Book Antiqua"/>
              </a:rPr>
              <a:t>public String getName() </a:t>
            </a:r>
            <a:r>
              <a:rPr sz="1800" dirty="0">
                <a:latin typeface="Book Antiqua"/>
                <a:cs typeface="Book Antiqua"/>
              </a:rPr>
              <a:t>{  </a:t>
            </a:r>
            <a:r>
              <a:rPr sz="1800" spc="-5" dirty="0">
                <a:latin typeface="Book Antiqua"/>
                <a:cs typeface="Book Antiqua"/>
              </a:rPr>
              <a:t>return name;</a:t>
            </a:r>
            <a:endParaRPr sz="1800">
              <a:latin typeface="Book Antiqua"/>
              <a:cs typeface="Book Antiqua"/>
            </a:endParaRPr>
          </a:p>
          <a:p>
            <a:pPr marL="469265">
              <a:lnSpc>
                <a:spcPct val="100000"/>
              </a:lnSpc>
            </a:pPr>
            <a:r>
              <a:rPr sz="1800" dirty="0"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736089" y="5173407"/>
            <a:ext cx="3316604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sz="1800" spc="-5" dirty="0">
                <a:latin typeface="Book Antiqua"/>
                <a:cs typeface="Book Antiqua"/>
              </a:rPr>
              <a:t>public abstract double</a:t>
            </a:r>
            <a:r>
              <a:rPr sz="1800" spc="-20" dirty="0">
                <a:latin typeface="Book Antiqua"/>
                <a:cs typeface="Book Antiqua"/>
              </a:rPr>
              <a:t> </a:t>
            </a:r>
            <a:r>
              <a:rPr sz="1800" spc="-5" dirty="0">
                <a:latin typeface="Book Antiqua"/>
                <a:cs typeface="Book Antiqua"/>
              </a:rPr>
              <a:t>getArea();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189" y="5417502"/>
            <a:ext cx="10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7196" y="5084064"/>
            <a:ext cx="5473065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115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45"/>
              </a:spcBef>
              <a:tabLst>
                <a:tab pos="4136390" algn="l"/>
              </a:tabLst>
            </a:pPr>
            <a:r>
              <a:rPr sz="1800" b="1" dirty="0">
                <a:latin typeface="Book Antiqua"/>
                <a:cs typeface="Book Antiqua"/>
              </a:rPr>
              <a:t>public </a:t>
            </a:r>
            <a:r>
              <a:rPr sz="1800" b="1" spc="-5" dirty="0">
                <a:solidFill>
                  <a:srgbClr val="ED7A07"/>
                </a:solidFill>
                <a:latin typeface="Book Antiqua"/>
                <a:cs typeface="Book Antiqua"/>
              </a:rPr>
              <a:t>abstract</a:t>
            </a:r>
            <a:r>
              <a:rPr sz="1800" b="1" spc="30" dirty="0">
                <a:solidFill>
                  <a:srgbClr val="ED7A07"/>
                </a:solidFill>
                <a:latin typeface="Book Antiqua"/>
                <a:cs typeface="Book Antiqua"/>
              </a:rPr>
              <a:t> </a:t>
            </a:r>
            <a:r>
              <a:rPr sz="1800" b="1" spc="-5" dirty="0">
                <a:latin typeface="Book Antiqua"/>
                <a:cs typeface="Book Antiqua"/>
              </a:rPr>
              <a:t>double</a:t>
            </a:r>
            <a:r>
              <a:rPr sz="1800" b="1" spc="15" dirty="0">
                <a:latin typeface="Book Antiqua"/>
                <a:cs typeface="Book Antiqua"/>
              </a:rPr>
              <a:t> </a:t>
            </a:r>
            <a:r>
              <a:rPr sz="1800" b="1" spc="-5" dirty="0">
                <a:latin typeface="Book Antiqua"/>
                <a:cs typeface="Book Antiqua"/>
              </a:rPr>
              <a:t>getArea()</a:t>
            </a:r>
            <a:r>
              <a:rPr sz="1800" b="1" spc="-5" dirty="0">
                <a:solidFill>
                  <a:srgbClr val="ED7A07"/>
                </a:solidFill>
                <a:latin typeface="Book Antiqua"/>
                <a:cs typeface="Book Antiqua"/>
              </a:rPr>
              <a:t>;	</a:t>
            </a:r>
            <a:r>
              <a:rPr sz="1800" b="1" dirty="0">
                <a:latin typeface="Book Antiqua"/>
                <a:cs typeface="Book Antiqua"/>
              </a:rPr>
              <a:t>//</a:t>
            </a:r>
            <a:r>
              <a:rPr sz="1800" b="1" dirty="0">
                <a:latin typeface="宋体"/>
                <a:cs typeface="宋体"/>
              </a:rPr>
              <a:t>抽象方</a:t>
            </a:r>
            <a:r>
              <a:rPr sz="1800" b="1" spc="-10" dirty="0">
                <a:latin typeface="宋体"/>
                <a:cs typeface="宋体"/>
              </a:rPr>
              <a:t>法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81455"/>
            <a:ext cx="8229600" cy="452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477644"/>
            <a:ext cx="8233409" cy="4533265"/>
          </a:xfrm>
          <a:custGeom>
            <a:avLst/>
            <a:gdLst/>
            <a:ahLst/>
            <a:cxnLst/>
            <a:rect l="l" t="t" r="r" b="b"/>
            <a:pathLst>
              <a:path w="8233409" h="4533265">
                <a:moveTo>
                  <a:pt x="0" y="7619"/>
                </a:moveTo>
                <a:lnTo>
                  <a:pt x="0" y="0"/>
                </a:lnTo>
                <a:lnTo>
                  <a:pt x="8233409" y="0"/>
                </a:lnTo>
                <a:lnTo>
                  <a:pt x="8233409" y="3809"/>
                </a:lnTo>
                <a:lnTo>
                  <a:pt x="3810" y="3809"/>
                </a:lnTo>
                <a:lnTo>
                  <a:pt x="0" y="7619"/>
                </a:lnTo>
                <a:close/>
              </a:path>
              <a:path w="8233409" h="4533265">
                <a:moveTo>
                  <a:pt x="3810" y="4529455"/>
                </a:moveTo>
                <a:lnTo>
                  <a:pt x="0" y="4525644"/>
                </a:lnTo>
                <a:lnTo>
                  <a:pt x="0" y="7619"/>
                </a:lnTo>
                <a:lnTo>
                  <a:pt x="3810" y="3809"/>
                </a:lnTo>
                <a:lnTo>
                  <a:pt x="3810" y="4529455"/>
                </a:lnTo>
                <a:close/>
              </a:path>
              <a:path w="8233409" h="4533265">
                <a:moveTo>
                  <a:pt x="8225790" y="7619"/>
                </a:moveTo>
                <a:lnTo>
                  <a:pt x="3810" y="7619"/>
                </a:lnTo>
                <a:lnTo>
                  <a:pt x="3810" y="3809"/>
                </a:lnTo>
                <a:lnTo>
                  <a:pt x="8225790" y="3809"/>
                </a:lnTo>
                <a:lnTo>
                  <a:pt x="8225790" y="7619"/>
                </a:lnTo>
                <a:close/>
              </a:path>
              <a:path w="8233409" h="4533265">
                <a:moveTo>
                  <a:pt x="8225790" y="4529455"/>
                </a:moveTo>
                <a:lnTo>
                  <a:pt x="8225790" y="3809"/>
                </a:lnTo>
                <a:lnTo>
                  <a:pt x="8229600" y="7619"/>
                </a:lnTo>
                <a:lnTo>
                  <a:pt x="8233409" y="7619"/>
                </a:lnTo>
                <a:lnTo>
                  <a:pt x="8233409" y="4525644"/>
                </a:lnTo>
                <a:lnTo>
                  <a:pt x="8229600" y="4525644"/>
                </a:lnTo>
                <a:lnTo>
                  <a:pt x="8225790" y="4529455"/>
                </a:lnTo>
                <a:close/>
              </a:path>
              <a:path w="8233409" h="4533265">
                <a:moveTo>
                  <a:pt x="8233409" y="7619"/>
                </a:moveTo>
                <a:lnTo>
                  <a:pt x="8229600" y="7619"/>
                </a:lnTo>
                <a:lnTo>
                  <a:pt x="8225790" y="3809"/>
                </a:lnTo>
                <a:lnTo>
                  <a:pt x="8233409" y="3809"/>
                </a:lnTo>
                <a:lnTo>
                  <a:pt x="8233409" y="7619"/>
                </a:lnTo>
                <a:close/>
              </a:path>
              <a:path w="8233409" h="4533265">
                <a:moveTo>
                  <a:pt x="8233409" y="4533265"/>
                </a:moveTo>
                <a:lnTo>
                  <a:pt x="0" y="4533265"/>
                </a:lnTo>
                <a:lnTo>
                  <a:pt x="0" y="4525644"/>
                </a:lnTo>
                <a:lnTo>
                  <a:pt x="3810" y="4529455"/>
                </a:lnTo>
                <a:lnTo>
                  <a:pt x="8233409" y="4529455"/>
                </a:lnTo>
                <a:lnTo>
                  <a:pt x="8233409" y="4533265"/>
                </a:lnTo>
                <a:close/>
              </a:path>
              <a:path w="8233409" h="4533265">
                <a:moveTo>
                  <a:pt x="8225790" y="4529455"/>
                </a:moveTo>
                <a:lnTo>
                  <a:pt x="3810" y="4529455"/>
                </a:lnTo>
                <a:lnTo>
                  <a:pt x="3810" y="4525644"/>
                </a:lnTo>
                <a:lnTo>
                  <a:pt x="8225790" y="4525644"/>
                </a:lnTo>
                <a:lnTo>
                  <a:pt x="8225790" y="4529455"/>
                </a:lnTo>
                <a:close/>
              </a:path>
              <a:path w="8233409" h="4533265">
                <a:moveTo>
                  <a:pt x="8233409" y="4529455"/>
                </a:moveTo>
                <a:lnTo>
                  <a:pt x="8225790" y="4529455"/>
                </a:lnTo>
                <a:lnTo>
                  <a:pt x="8229600" y="4525644"/>
                </a:lnTo>
                <a:lnTo>
                  <a:pt x="8233409" y="4525644"/>
                </a:lnTo>
                <a:lnTo>
                  <a:pt x="8233409" y="452945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2579369"/>
            <a:ext cx="16129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微软雅黑"/>
                <a:cs typeface="微软雅黑"/>
              </a:rPr>
              <a:t>super(name);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950970"/>
            <a:ext cx="1231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r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640" y="4225290"/>
            <a:ext cx="1104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4499610"/>
            <a:ext cx="1104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83652" y="0"/>
            <a:ext cx="5977890" cy="118300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u="none" spc="-5" dirty="0"/>
              <a:t>6.2.1</a:t>
            </a:r>
            <a:r>
              <a:rPr u="none" spc="-95" dirty="0"/>
              <a:t> </a:t>
            </a:r>
            <a:r>
              <a:rPr u="none" dirty="0"/>
              <a:t>抽象类及抽象方法</a:t>
            </a:r>
            <a:r>
              <a:rPr u="none" spc="-5" dirty="0"/>
              <a:t>的 </a:t>
            </a:r>
            <a:r>
              <a:rPr u="none" dirty="0"/>
              <a:t>定</a:t>
            </a:r>
            <a:r>
              <a:rPr u="none" spc="-5" dirty="0"/>
              <a:t>义</a:t>
            </a:r>
          </a:p>
        </p:txBody>
      </p:sp>
      <p:sp>
        <p:nvSpPr>
          <p:cNvPr id="9" name="object 9"/>
          <p:cNvSpPr/>
          <p:nvPr/>
        </p:nvSpPr>
        <p:spPr>
          <a:xfrm>
            <a:off x="1115567" y="2421635"/>
            <a:ext cx="7670292" cy="4030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2202" y="2417127"/>
            <a:ext cx="7677150" cy="4039870"/>
          </a:xfrm>
          <a:custGeom>
            <a:avLst/>
            <a:gdLst/>
            <a:ahLst/>
            <a:cxnLst/>
            <a:rect l="l" t="t" r="r" b="b"/>
            <a:pathLst>
              <a:path w="7677150" h="4039870">
                <a:moveTo>
                  <a:pt x="7676832" y="4039870"/>
                </a:moveTo>
                <a:lnTo>
                  <a:pt x="0" y="4039870"/>
                </a:lnTo>
                <a:lnTo>
                  <a:pt x="0" y="0"/>
                </a:lnTo>
                <a:lnTo>
                  <a:pt x="7676832" y="0"/>
                </a:lnTo>
                <a:lnTo>
                  <a:pt x="7676832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4032250"/>
                </a:lnTo>
                <a:lnTo>
                  <a:pt x="3809" y="4032250"/>
                </a:lnTo>
                <a:lnTo>
                  <a:pt x="7619" y="4036060"/>
                </a:lnTo>
                <a:lnTo>
                  <a:pt x="7676832" y="4036060"/>
                </a:lnTo>
                <a:lnTo>
                  <a:pt x="7676832" y="4039870"/>
                </a:lnTo>
                <a:close/>
              </a:path>
              <a:path w="7677150" h="403987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7677150" h="4039870">
                <a:moveTo>
                  <a:pt x="7669212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7669212" y="3810"/>
                </a:lnTo>
                <a:lnTo>
                  <a:pt x="7669212" y="7620"/>
                </a:lnTo>
                <a:close/>
              </a:path>
              <a:path w="7677150" h="4039870">
                <a:moveTo>
                  <a:pt x="7669212" y="4036060"/>
                </a:moveTo>
                <a:lnTo>
                  <a:pt x="7669212" y="3810"/>
                </a:lnTo>
                <a:lnTo>
                  <a:pt x="7673022" y="7620"/>
                </a:lnTo>
                <a:lnTo>
                  <a:pt x="7676832" y="7620"/>
                </a:lnTo>
                <a:lnTo>
                  <a:pt x="7676832" y="4032250"/>
                </a:lnTo>
                <a:lnTo>
                  <a:pt x="7673022" y="4032250"/>
                </a:lnTo>
                <a:lnTo>
                  <a:pt x="7669212" y="4036060"/>
                </a:lnTo>
                <a:close/>
              </a:path>
              <a:path w="7677150" h="4039870">
                <a:moveTo>
                  <a:pt x="7676832" y="7620"/>
                </a:moveTo>
                <a:lnTo>
                  <a:pt x="7673022" y="7620"/>
                </a:lnTo>
                <a:lnTo>
                  <a:pt x="7669212" y="3810"/>
                </a:lnTo>
                <a:lnTo>
                  <a:pt x="7676832" y="3810"/>
                </a:lnTo>
                <a:lnTo>
                  <a:pt x="7676832" y="7620"/>
                </a:lnTo>
                <a:close/>
              </a:path>
              <a:path w="7677150" h="4039870">
                <a:moveTo>
                  <a:pt x="7619" y="4036060"/>
                </a:moveTo>
                <a:lnTo>
                  <a:pt x="3809" y="4032250"/>
                </a:lnTo>
                <a:lnTo>
                  <a:pt x="7619" y="4032250"/>
                </a:lnTo>
                <a:lnTo>
                  <a:pt x="7619" y="4036060"/>
                </a:lnTo>
                <a:close/>
              </a:path>
              <a:path w="7677150" h="4039870">
                <a:moveTo>
                  <a:pt x="7669212" y="4036060"/>
                </a:moveTo>
                <a:lnTo>
                  <a:pt x="7619" y="4036060"/>
                </a:lnTo>
                <a:lnTo>
                  <a:pt x="7619" y="4032250"/>
                </a:lnTo>
                <a:lnTo>
                  <a:pt x="7669212" y="4032250"/>
                </a:lnTo>
                <a:lnTo>
                  <a:pt x="7669212" y="4036060"/>
                </a:lnTo>
                <a:close/>
              </a:path>
              <a:path w="7677150" h="4039870">
                <a:moveTo>
                  <a:pt x="7676832" y="4036060"/>
                </a:moveTo>
                <a:lnTo>
                  <a:pt x="7669212" y="4036060"/>
                </a:lnTo>
                <a:lnTo>
                  <a:pt x="7673022" y="4032250"/>
                </a:lnTo>
                <a:lnTo>
                  <a:pt x="7676832" y="4032250"/>
                </a:lnTo>
                <a:lnTo>
                  <a:pt x="7676832" y="403606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039" y="1482089"/>
            <a:ext cx="5600065" cy="11544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68300" marR="1260475" indent="-342900">
              <a:lnSpc>
                <a:spcPts val="2160"/>
              </a:lnSpc>
              <a:spcBef>
                <a:spcPts val="375"/>
              </a:spcBef>
              <a:tabLst>
                <a:tab pos="2306955" algn="l"/>
                <a:tab pos="3465195" algn="l"/>
              </a:tabLst>
            </a:pPr>
            <a:r>
              <a:rPr sz="2000" spc="-10" dirty="0">
                <a:latin typeface="微软雅黑"/>
                <a:cs typeface="微软雅黑"/>
              </a:rPr>
              <a:t>pub</a:t>
            </a:r>
            <a:r>
              <a:rPr sz="2000" spc="-5" dirty="0">
                <a:latin typeface="微软雅黑"/>
                <a:cs typeface="微软雅黑"/>
              </a:rPr>
              <a:t>li</a:t>
            </a:r>
            <a:r>
              <a:rPr sz="2000" dirty="0">
                <a:latin typeface="微软雅黑"/>
                <a:cs typeface="微软雅黑"/>
              </a:rPr>
              <a:t>c</a:t>
            </a:r>
            <a:r>
              <a:rPr sz="2000" spc="-5" dirty="0">
                <a:latin typeface="微软雅黑"/>
                <a:cs typeface="微软雅黑"/>
              </a:rPr>
              <a:t> clas</a:t>
            </a:r>
            <a:r>
              <a:rPr sz="2000" dirty="0">
                <a:latin typeface="微软雅黑"/>
                <a:cs typeface="微软雅黑"/>
              </a:rPr>
              <a:t>s</a:t>
            </a:r>
            <a:r>
              <a:rPr sz="2000" spc="-5" dirty="0">
                <a:latin typeface="微软雅黑"/>
                <a:cs typeface="微软雅黑"/>
              </a:rPr>
              <a:t> Ci</a:t>
            </a:r>
            <a:r>
              <a:rPr sz="2000" spc="-35" dirty="0">
                <a:latin typeface="微软雅黑"/>
                <a:cs typeface="微软雅黑"/>
              </a:rPr>
              <a:t>r</a:t>
            </a:r>
            <a:r>
              <a:rPr sz="2000" spc="-5" dirty="0">
                <a:latin typeface="微软雅黑"/>
                <a:cs typeface="微软雅黑"/>
              </a:rPr>
              <a:t>cl</a:t>
            </a:r>
            <a:r>
              <a:rPr sz="2000" dirty="0">
                <a:latin typeface="微软雅黑"/>
                <a:cs typeface="微软雅黑"/>
              </a:rPr>
              <a:t>e	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ex</a:t>
            </a:r>
            <a:r>
              <a:rPr sz="2000" b="1" spc="-15" dirty="0">
                <a:solidFill>
                  <a:srgbClr val="C00000"/>
                </a:solidFill>
                <a:latin typeface="微软雅黑"/>
                <a:cs typeface="微软雅黑"/>
              </a:rPr>
              <a:t>t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end</a:t>
            </a:r>
            <a:r>
              <a:rPr sz="2000" b="1" dirty="0">
                <a:solidFill>
                  <a:srgbClr val="C00000"/>
                </a:solidFill>
                <a:latin typeface="微软雅黑"/>
                <a:cs typeface="微软雅黑"/>
              </a:rPr>
              <a:t>s	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Sha</a:t>
            </a:r>
            <a:r>
              <a:rPr sz="2000" b="1" spc="-10" dirty="0">
                <a:solidFill>
                  <a:srgbClr val="C00000"/>
                </a:solidFill>
                <a:latin typeface="微软雅黑"/>
                <a:cs typeface="微软雅黑"/>
              </a:rPr>
              <a:t>p</a:t>
            </a:r>
            <a:r>
              <a:rPr sz="2000" b="1" spc="-5" dirty="0">
                <a:solidFill>
                  <a:srgbClr val="C00000"/>
                </a:solidFill>
                <a:latin typeface="微软雅黑"/>
                <a:cs typeface="微软雅黑"/>
              </a:rPr>
              <a:t>e</a:t>
            </a:r>
            <a:r>
              <a:rPr sz="2000" dirty="0">
                <a:latin typeface="微软雅黑"/>
                <a:cs typeface="微软雅黑"/>
              </a:rPr>
              <a:t>{  </a:t>
            </a:r>
            <a:r>
              <a:rPr sz="2000" spc="-15" dirty="0">
                <a:latin typeface="微软雅黑"/>
                <a:cs typeface="微软雅黑"/>
              </a:rPr>
              <a:t>private </a:t>
            </a:r>
            <a:r>
              <a:rPr sz="2000" spc="-5" dirty="0">
                <a:latin typeface="微软雅黑"/>
                <a:cs typeface="微软雅黑"/>
              </a:rPr>
              <a:t>double</a:t>
            </a:r>
            <a:r>
              <a:rPr sz="2000" dirty="0">
                <a:latin typeface="微软雅黑"/>
                <a:cs typeface="微软雅黑"/>
              </a:rPr>
              <a:t> </a:t>
            </a:r>
            <a:r>
              <a:rPr sz="2000" spc="40" dirty="0">
                <a:latin typeface="微软雅黑"/>
                <a:cs typeface="微软雅黑"/>
              </a:rPr>
              <a:t>r;</a:t>
            </a:r>
            <a:endParaRPr sz="2000">
              <a:latin typeface="微软雅黑"/>
              <a:cs typeface="微软雅黑"/>
            </a:endParaRPr>
          </a:p>
          <a:p>
            <a:pPr marL="368300">
              <a:lnSpc>
                <a:spcPct val="100000"/>
              </a:lnSpc>
              <a:spcBef>
                <a:spcPts val="1890"/>
              </a:spcBef>
            </a:pPr>
            <a:r>
              <a:rPr sz="2000" spc="-5" dirty="0">
                <a:latin typeface="微软雅黑"/>
                <a:cs typeface="微软雅黑"/>
              </a:rPr>
              <a:t>public </a:t>
            </a:r>
            <a:r>
              <a:rPr sz="3000" spc="-630" baseline="-29166" dirty="0">
                <a:latin typeface="Book Antiqua"/>
                <a:cs typeface="Book Antiqua"/>
              </a:rPr>
              <a:t>p</a:t>
            </a:r>
            <a:r>
              <a:rPr sz="2000" spc="-420" dirty="0">
                <a:latin typeface="微软雅黑"/>
                <a:cs typeface="微软雅黑"/>
              </a:rPr>
              <a:t>C</a:t>
            </a:r>
            <a:r>
              <a:rPr sz="3000" spc="-630" baseline="-29166" dirty="0">
                <a:latin typeface="Book Antiqua"/>
                <a:cs typeface="Book Antiqua"/>
              </a:rPr>
              <a:t>u</a:t>
            </a:r>
            <a:r>
              <a:rPr sz="2000" spc="-420" dirty="0">
                <a:latin typeface="微软雅黑"/>
                <a:cs typeface="微软雅黑"/>
              </a:rPr>
              <a:t>ir</a:t>
            </a:r>
            <a:r>
              <a:rPr sz="3000" spc="-630" baseline="-29166" dirty="0">
                <a:latin typeface="Book Antiqua"/>
                <a:cs typeface="Book Antiqua"/>
              </a:rPr>
              <a:t>b</a:t>
            </a:r>
            <a:r>
              <a:rPr sz="2000" spc="-420" dirty="0">
                <a:latin typeface="微软雅黑"/>
                <a:cs typeface="微软雅黑"/>
              </a:rPr>
              <a:t>c</a:t>
            </a:r>
            <a:r>
              <a:rPr sz="3000" spc="-630" baseline="-29166" dirty="0">
                <a:latin typeface="Book Antiqua"/>
                <a:cs typeface="Book Antiqua"/>
              </a:rPr>
              <a:t>l</a:t>
            </a:r>
            <a:r>
              <a:rPr sz="2000" spc="-420" dirty="0">
                <a:latin typeface="微软雅黑"/>
                <a:cs typeface="微软雅黑"/>
              </a:rPr>
              <a:t>l</a:t>
            </a:r>
            <a:r>
              <a:rPr sz="3000" spc="-630" baseline="-29166" dirty="0">
                <a:latin typeface="Book Antiqua"/>
                <a:cs typeface="Book Antiqua"/>
              </a:rPr>
              <a:t>i</a:t>
            </a:r>
            <a:r>
              <a:rPr sz="2000" spc="-420" dirty="0">
                <a:latin typeface="微软雅黑"/>
                <a:cs typeface="微软雅黑"/>
              </a:rPr>
              <a:t>e</a:t>
            </a:r>
            <a:r>
              <a:rPr sz="3000" spc="-630" baseline="-29166" dirty="0">
                <a:latin typeface="Book Antiqua"/>
                <a:cs typeface="Book Antiqua"/>
              </a:rPr>
              <a:t>c</a:t>
            </a:r>
            <a:r>
              <a:rPr sz="2000" spc="-420" dirty="0">
                <a:latin typeface="微软雅黑"/>
                <a:cs typeface="微软雅黑"/>
              </a:rPr>
              <a:t>(</a:t>
            </a:r>
            <a:r>
              <a:rPr sz="3000" spc="-630" baseline="-29166" dirty="0">
                <a:latin typeface="Book Antiqua"/>
                <a:cs typeface="Book Antiqua"/>
              </a:rPr>
              <a:t>c</a:t>
            </a:r>
            <a:r>
              <a:rPr sz="2000" spc="-420" dirty="0">
                <a:latin typeface="微软雅黑"/>
                <a:cs typeface="微软雅黑"/>
              </a:rPr>
              <a:t>S</a:t>
            </a:r>
            <a:r>
              <a:rPr sz="3000" spc="-630" baseline="-29166" dirty="0">
                <a:latin typeface="Book Antiqua"/>
                <a:cs typeface="Book Antiqua"/>
              </a:rPr>
              <a:t>l</a:t>
            </a:r>
            <a:r>
              <a:rPr sz="2000" spc="-420" dirty="0">
                <a:latin typeface="微软雅黑"/>
                <a:cs typeface="微软雅黑"/>
              </a:rPr>
              <a:t>t</a:t>
            </a:r>
            <a:r>
              <a:rPr sz="3000" spc="-630" baseline="-29166" dirty="0">
                <a:latin typeface="Book Antiqua"/>
                <a:cs typeface="Book Antiqua"/>
              </a:rPr>
              <a:t>a</a:t>
            </a:r>
            <a:r>
              <a:rPr sz="2000" spc="-420" dirty="0">
                <a:latin typeface="微软雅黑"/>
                <a:cs typeface="微软雅黑"/>
              </a:rPr>
              <a:t>r</a:t>
            </a:r>
            <a:r>
              <a:rPr sz="3000" spc="-630" baseline="-29166" dirty="0">
                <a:latin typeface="Book Antiqua"/>
                <a:cs typeface="Book Antiqua"/>
              </a:rPr>
              <a:t>s</a:t>
            </a:r>
            <a:r>
              <a:rPr sz="2000" spc="-420" dirty="0">
                <a:latin typeface="微软雅黑"/>
                <a:cs typeface="微软雅黑"/>
              </a:rPr>
              <a:t>ing</a:t>
            </a:r>
            <a:r>
              <a:rPr sz="3000" spc="-630" baseline="-29166" dirty="0">
                <a:latin typeface="Book Antiqua"/>
                <a:cs typeface="Book Antiqua"/>
              </a:rPr>
              <a:t>s </a:t>
            </a:r>
            <a:r>
              <a:rPr sz="3000" spc="-600" baseline="-29166" dirty="0">
                <a:latin typeface="Book Antiqua"/>
                <a:cs typeface="Book Antiqua"/>
              </a:rPr>
              <a:t>Re</a:t>
            </a:r>
            <a:r>
              <a:rPr sz="2000" spc="-400" dirty="0">
                <a:latin typeface="微软雅黑"/>
                <a:cs typeface="微软雅黑"/>
              </a:rPr>
              <a:t>n</a:t>
            </a:r>
            <a:r>
              <a:rPr sz="3000" spc="-600" baseline="-29166" dirty="0">
                <a:latin typeface="Book Antiqua"/>
                <a:cs typeface="Book Antiqua"/>
              </a:rPr>
              <a:t>c</a:t>
            </a:r>
            <a:r>
              <a:rPr sz="2000" spc="-400" dirty="0">
                <a:latin typeface="微软雅黑"/>
                <a:cs typeface="微软雅黑"/>
              </a:rPr>
              <a:t>a</a:t>
            </a:r>
            <a:r>
              <a:rPr sz="3000" spc="-600" baseline="-29166" dirty="0">
                <a:latin typeface="Book Antiqua"/>
                <a:cs typeface="Book Antiqua"/>
              </a:rPr>
              <a:t>ta</a:t>
            </a:r>
            <a:r>
              <a:rPr sz="2000" spc="-400" dirty="0">
                <a:latin typeface="微软雅黑"/>
                <a:cs typeface="微软雅黑"/>
              </a:rPr>
              <a:t>m</a:t>
            </a:r>
            <a:r>
              <a:rPr sz="3000" spc="-600" baseline="-29166" dirty="0">
                <a:latin typeface="Book Antiqua"/>
                <a:cs typeface="Book Antiqua"/>
              </a:rPr>
              <a:t>ngl</a:t>
            </a:r>
            <a:r>
              <a:rPr sz="2000" spc="-400" dirty="0">
                <a:latin typeface="微软雅黑"/>
                <a:cs typeface="微软雅黑"/>
              </a:rPr>
              <a:t>e,</a:t>
            </a:r>
            <a:r>
              <a:rPr sz="3000" spc="-600" baseline="-29166" dirty="0">
                <a:latin typeface="Book Antiqua"/>
                <a:cs typeface="Book Antiqua"/>
              </a:rPr>
              <a:t>e</a:t>
            </a:r>
            <a:r>
              <a:rPr sz="2000" spc="-400" dirty="0">
                <a:latin typeface="微软雅黑"/>
                <a:cs typeface="微软雅黑"/>
              </a:rPr>
              <a:t>do</a:t>
            </a:r>
            <a:r>
              <a:rPr sz="3000" b="1" spc="-600" baseline="-29166" dirty="0">
                <a:solidFill>
                  <a:srgbClr val="C00000"/>
                </a:solidFill>
                <a:latin typeface="Book Antiqua"/>
                <a:cs typeface="Book Antiqua"/>
              </a:rPr>
              <a:t>ex</a:t>
            </a:r>
            <a:r>
              <a:rPr sz="2000" spc="-400" dirty="0">
                <a:latin typeface="微软雅黑"/>
                <a:cs typeface="微软雅黑"/>
              </a:rPr>
              <a:t>u</a:t>
            </a:r>
            <a:r>
              <a:rPr sz="3000" b="1" spc="-600" baseline="-29166" dirty="0">
                <a:solidFill>
                  <a:srgbClr val="C00000"/>
                </a:solidFill>
                <a:latin typeface="Book Antiqua"/>
                <a:cs typeface="Book Antiqua"/>
              </a:rPr>
              <a:t>t</a:t>
            </a:r>
            <a:r>
              <a:rPr sz="2000" spc="-400" dirty="0">
                <a:latin typeface="微软雅黑"/>
                <a:cs typeface="微软雅黑"/>
              </a:rPr>
              <a:t>b</a:t>
            </a:r>
            <a:r>
              <a:rPr sz="3000" b="1" spc="-600" baseline="-29166" dirty="0">
                <a:solidFill>
                  <a:srgbClr val="C00000"/>
                </a:solidFill>
                <a:latin typeface="Book Antiqua"/>
                <a:cs typeface="Book Antiqua"/>
              </a:rPr>
              <a:t>en</a:t>
            </a:r>
            <a:r>
              <a:rPr sz="2000" spc="-400" dirty="0">
                <a:latin typeface="微软雅黑"/>
                <a:cs typeface="微软雅黑"/>
              </a:rPr>
              <a:t>le</a:t>
            </a:r>
            <a:r>
              <a:rPr sz="3000" b="1" spc="-600" baseline="-29166" dirty="0">
                <a:solidFill>
                  <a:srgbClr val="C00000"/>
                </a:solidFill>
                <a:latin typeface="Book Antiqua"/>
                <a:cs typeface="Book Antiqua"/>
              </a:rPr>
              <a:t>d</a:t>
            </a:r>
            <a:r>
              <a:rPr sz="2000" spc="-400" dirty="0">
                <a:latin typeface="微软雅黑"/>
                <a:cs typeface="微软雅黑"/>
              </a:rPr>
              <a:t>r</a:t>
            </a:r>
            <a:r>
              <a:rPr sz="3000" b="1" spc="-600" baseline="-29166" dirty="0">
                <a:solidFill>
                  <a:srgbClr val="C00000"/>
                </a:solidFill>
                <a:latin typeface="Book Antiqua"/>
                <a:cs typeface="Book Antiqua"/>
              </a:rPr>
              <a:t>s</a:t>
            </a:r>
            <a:r>
              <a:rPr sz="2000" spc="-400" dirty="0">
                <a:latin typeface="微软雅黑"/>
                <a:cs typeface="微软雅黑"/>
              </a:rPr>
              <a:t>)  </a:t>
            </a:r>
            <a:r>
              <a:rPr sz="2000" spc="-340" dirty="0">
                <a:latin typeface="微软雅黑"/>
                <a:cs typeface="微软雅黑"/>
              </a:rPr>
              <a:t>{</a:t>
            </a:r>
            <a:r>
              <a:rPr sz="3000" b="1" spc="-509" baseline="-29166" dirty="0">
                <a:solidFill>
                  <a:srgbClr val="C00000"/>
                </a:solidFill>
                <a:latin typeface="Book Antiqua"/>
                <a:cs typeface="Book Antiqua"/>
              </a:rPr>
              <a:t>Shape</a:t>
            </a:r>
            <a:r>
              <a:rPr sz="3000" spc="-509" baseline="-29166" dirty="0">
                <a:latin typeface="Book Antiqua"/>
                <a:cs typeface="Book Antiqua"/>
              </a:rPr>
              <a:t>{</a:t>
            </a:r>
            <a:endParaRPr sz="3000" baseline="-29166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739140" y="2742882"/>
            <a:ext cx="42513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spc="-7" baseline="-23611" dirty="0">
                <a:latin typeface="微软雅黑"/>
                <a:cs typeface="微软雅黑"/>
              </a:rPr>
              <a:t>this.r </a:t>
            </a:r>
            <a:r>
              <a:rPr sz="3000" baseline="-23611" dirty="0">
                <a:latin typeface="微软雅黑"/>
                <a:cs typeface="微软雅黑"/>
              </a:rPr>
              <a:t>= </a:t>
            </a:r>
            <a:r>
              <a:rPr sz="2000" spc="-390" dirty="0">
                <a:latin typeface="Book Antiqua"/>
                <a:cs typeface="Book Antiqua"/>
              </a:rPr>
              <a:t>p</a:t>
            </a:r>
            <a:r>
              <a:rPr sz="3000" spc="-585" baseline="-23611" dirty="0">
                <a:latin typeface="微软雅黑"/>
                <a:cs typeface="微软雅黑"/>
              </a:rPr>
              <a:t>r</a:t>
            </a:r>
            <a:r>
              <a:rPr sz="2000" spc="-390" dirty="0">
                <a:latin typeface="Book Antiqua"/>
                <a:cs typeface="Book Antiqua"/>
              </a:rPr>
              <a:t>r</a:t>
            </a:r>
            <a:r>
              <a:rPr sz="3000" spc="-585" baseline="-23611" dirty="0">
                <a:latin typeface="微软雅黑"/>
                <a:cs typeface="微软雅黑"/>
              </a:rPr>
              <a:t>; </a:t>
            </a:r>
            <a:r>
              <a:rPr sz="2000" spc="-5" dirty="0">
                <a:latin typeface="Book Antiqua"/>
                <a:cs typeface="Book Antiqua"/>
              </a:rPr>
              <a:t>ivate double length,</a:t>
            </a:r>
            <a:r>
              <a:rPr sz="2000" spc="-270" dirty="0"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width;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640" y="3128010"/>
            <a:ext cx="813689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1242695">
              <a:lnSpc>
                <a:spcPts val="2085"/>
              </a:lnSpc>
            </a:pPr>
            <a:r>
              <a:rPr sz="2000" spc="-5" dirty="0">
                <a:latin typeface="Book Antiqua"/>
                <a:cs typeface="Book Antiqua"/>
              </a:rPr>
              <a:t>public Rectangle(String name, double length, double width)</a:t>
            </a:r>
            <a:r>
              <a:rPr sz="2000" spc="40" dirty="0">
                <a:latin typeface="Book Antiqua"/>
                <a:cs typeface="Book Antiqua"/>
              </a:rPr>
              <a:t> </a:t>
            </a:r>
            <a:r>
              <a:rPr sz="2000" dirty="0">
                <a:latin typeface="Book Antiqua"/>
                <a:cs typeface="Book Antiqua"/>
              </a:rPr>
              <a:t>{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000" spc="-5" dirty="0">
                <a:latin typeface="微软雅黑"/>
                <a:cs typeface="微软雅黑"/>
              </a:rPr>
              <a:t>public </a:t>
            </a:r>
            <a:r>
              <a:rPr sz="2000" spc="-380" dirty="0">
                <a:latin typeface="微软雅黑"/>
                <a:cs typeface="微软雅黑"/>
              </a:rPr>
              <a:t>double</a:t>
            </a:r>
            <a:r>
              <a:rPr sz="3000" spc="-569" baseline="4166" dirty="0">
                <a:latin typeface="Book Antiqua"/>
                <a:cs typeface="Book Antiqua"/>
              </a:rPr>
              <a:t>s</a:t>
            </a:r>
            <a:r>
              <a:rPr sz="2000" spc="-380" dirty="0">
                <a:latin typeface="微软雅黑"/>
                <a:cs typeface="微软雅黑"/>
              </a:rPr>
              <a:t>g</a:t>
            </a:r>
            <a:r>
              <a:rPr sz="3000" spc="-569" baseline="4166" dirty="0">
                <a:latin typeface="Book Antiqua"/>
                <a:cs typeface="Book Antiqua"/>
              </a:rPr>
              <a:t>u</a:t>
            </a:r>
            <a:r>
              <a:rPr sz="2000" spc="-380" dirty="0">
                <a:latin typeface="微软雅黑"/>
                <a:cs typeface="微软雅黑"/>
              </a:rPr>
              <a:t>e</a:t>
            </a:r>
            <a:r>
              <a:rPr sz="3000" spc="-569" baseline="4166" dirty="0">
                <a:latin typeface="Book Antiqua"/>
                <a:cs typeface="Book Antiqua"/>
              </a:rPr>
              <a:t>p</a:t>
            </a:r>
            <a:r>
              <a:rPr sz="2000" spc="-380" dirty="0">
                <a:latin typeface="微软雅黑"/>
                <a:cs typeface="微软雅黑"/>
              </a:rPr>
              <a:t>t</a:t>
            </a:r>
            <a:r>
              <a:rPr sz="3000" spc="-569" baseline="4166" dirty="0">
                <a:latin typeface="Book Antiqua"/>
                <a:cs typeface="Book Antiqua"/>
              </a:rPr>
              <a:t>e</a:t>
            </a:r>
            <a:r>
              <a:rPr sz="2000" spc="-380" dirty="0">
                <a:latin typeface="微软雅黑"/>
                <a:cs typeface="微软雅黑"/>
              </a:rPr>
              <a:t>A</a:t>
            </a:r>
            <a:r>
              <a:rPr sz="3000" spc="-569" baseline="4166" dirty="0">
                <a:latin typeface="Book Antiqua"/>
                <a:cs typeface="Book Antiqua"/>
              </a:rPr>
              <a:t>r(</a:t>
            </a:r>
            <a:r>
              <a:rPr sz="2000" spc="-380" dirty="0">
                <a:latin typeface="微软雅黑"/>
                <a:cs typeface="微软雅黑"/>
              </a:rPr>
              <a:t>r</a:t>
            </a:r>
            <a:r>
              <a:rPr sz="3000" spc="-569" baseline="4166" dirty="0">
                <a:latin typeface="Book Antiqua"/>
                <a:cs typeface="Book Antiqua"/>
              </a:rPr>
              <a:t>n</a:t>
            </a:r>
            <a:r>
              <a:rPr sz="2000" spc="-380" dirty="0">
                <a:latin typeface="微软雅黑"/>
                <a:cs typeface="微软雅黑"/>
              </a:rPr>
              <a:t>ea</a:t>
            </a:r>
            <a:r>
              <a:rPr sz="3000" spc="-569" baseline="4166" dirty="0">
                <a:latin typeface="Book Antiqua"/>
                <a:cs typeface="Book Antiqua"/>
              </a:rPr>
              <a:t>am</a:t>
            </a:r>
            <a:r>
              <a:rPr sz="2000" spc="-380" dirty="0">
                <a:latin typeface="微软雅黑"/>
                <a:cs typeface="微软雅黑"/>
              </a:rPr>
              <a:t>()</a:t>
            </a:r>
            <a:r>
              <a:rPr sz="2000" spc="-335" dirty="0">
                <a:latin typeface="微软雅黑"/>
                <a:cs typeface="微软雅黑"/>
              </a:rPr>
              <a:t> </a:t>
            </a:r>
            <a:r>
              <a:rPr sz="3000" spc="-254" baseline="4166" dirty="0">
                <a:latin typeface="Book Antiqua"/>
                <a:cs typeface="Book Antiqua"/>
              </a:rPr>
              <a:t>e</a:t>
            </a:r>
            <a:r>
              <a:rPr sz="2000" spc="-170" dirty="0">
                <a:latin typeface="微软雅黑"/>
                <a:cs typeface="微软雅黑"/>
              </a:rPr>
              <a:t>{</a:t>
            </a:r>
            <a:r>
              <a:rPr sz="3000" spc="-254" baseline="4166" dirty="0">
                <a:latin typeface="Book Antiqua"/>
                <a:cs typeface="Book Antiqua"/>
              </a:rPr>
              <a:t>);</a:t>
            </a:r>
            <a:endParaRPr sz="3000" baseline="4166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0585" y="3948874"/>
            <a:ext cx="3501390" cy="96202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9"/>
              </a:spcBef>
            </a:pPr>
            <a:r>
              <a:rPr sz="3000" spc="-7" baseline="2777" dirty="0">
                <a:latin typeface="微软雅黑"/>
                <a:cs typeface="微软雅黑"/>
              </a:rPr>
              <a:t>eturn </a:t>
            </a:r>
            <a:r>
              <a:rPr sz="3000" spc="-540" baseline="2777" dirty="0">
                <a:latin typeface="微软雅黑"/>
                <a:cs typeface="微软雅黑"/>
              </a:rPr>
              <a:t>Math</a:t>
            </a:r>
            <a:r>
              <a:rPr sz="2000" spc="-360" dirty="0">
                <a:latin typeface="Book Antiqua"/>
                <a:cs typeface="Book Antiqua"/>
              </a:rPr>
              <a:t>th</a:t>
            </a:r>
            <a:r>
              <a:rPr sz="3000" spc="-540" baseline="2777" dirty="0">
                <a:latin typeface="微软雅黑"/>
                <a:cs typeface="微软雅黑"/>
              </a:rPr>
              <a:t>.P</a:t>
            </a:r>
            <a:r>
              <a:rPr sz="2000" spc="-360" dirty="0">
                <a:latin typeface="Book Antiqua"/>
                <a:cs typeface="Book Antiqua"/>
              </a:rPr>
              <a:t>is</a:t>
            </a:r>
            <a:r>
              <a:rPr sz="3000" spc="-540" baseline="2777" dirty="0">
                <a:latin typeface="微软雅黑"/>
                <a:cs typeface="微软雅黑"/>
              </a:rPr>
              <a:t>I*</a:t>
            </a:r>
            <a:r>
              <a:rPr sz="2000" spc="-360" dirty="0">
                <a:latin typeface="Book Antiqua"/>
                <a:cs typeface="Book Antiqua"/>
              </a:rPr>
              <a:t>.l</a:t>
            </a:r>
            <a:r>
              <a:rPr sz="3000" spc="-540" baseline="2777" dirty="0">
                <a:latin typeface="微软雅黑"/>
                <a:cs typeface="微软雅黑"/>
              </a:rPr>
              <a:t>r</a:t>
            </a:r>
            <a:r>
              <a:rPr sz="2000" spc="-360" dirty="0">
                <a:latin typeface="Book Antiqua"/>
                <a:cs typeface="Book Antiqua"/>
              </a:rPr>
              <a:t>e</a:t>
            </a:r>
            <a:r>
              <a:rPr sz="3000" spc="-540" baseline="2777" dirty="0">
                <a:latin typeface="微软雅黑"/>
                <a:cs typeface="微软雅黑"/>
              </a:rPr>
              <a:t>*</a:t>
            </a:r>
            <a:r>
              <a:rPr sz="2000" spc="-360" dirty="0">
                <a:latin typeface="Book Antiqua"/>
                <a:cs typeface="Book Antiqua"/>
              </a:rPr>
              <a:t>n</a:t>
            </a:r>
            <a:r>
              <a:rPr sz="3000" spc="-540" baseline="2777" dirty="0">
                <a:latin typeface="微软雅黑"/>
                <a:cs typeface="微软雅黑"/>
              </a:rPr>
              <a:t>r</a:t>
            </a:r>
            <a:r>
              <a:rPr sz="2000" spc="-360" dirty="0">
                <a:latin typeface="Book Antiqua"/>
                <a:cs typeface="Book Antiqua"/>
              </a:rPr>
              <a:t>g</a:t>
            </a:r>
            <a:r>
              <a:rPr sz="3000" spc="-540" baseline="2777" dirty="0">
                <a:latin typeface="微软雅黑"/>
                <a:cs typeface="微软雅黑"/>
              </a:rPr>
              <a:t>; </a:t>
            </a:r>
            <a:r>
              <a:rPr sz="2000" spc="-5" dirty="0">
                <a:latin typeface="Book Antiqua"/>
                <a:cs typeface="Book Antiqua"/>
              </a:rPr>
              <a:t>th </a:t>
            </a:r>
            <a:r>
              <a:rPr sz="2000" dirty="0">
                <a:latin typeface="Book Antiqua"/>
                <a:cs typeface="Book Antiqua"/>
              </a:rPr>
              <a:t>=</a:t>
            </a:r>
            <a:r>
              <a:rPr sz="2000" spc="-15" dirty="0"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length;</a:t>
            </a:r>
            <a:endParaRPr sz="2000">
              <a:latin typeface="Book Antiqua"/>
              <a:cs typeface="Book Antiqua"/>
            </a:endParaRPr>
          </a:p>
          <a:p>
            <a:pPr marL="1250950">
              <a:lnSpc>
                <a:spcPct val="100000"/>
              </a:lnSpc>
            </a:pPr>
            <a:r>
              <a:rPr sz="2000" spc="-5" dirty="0">
                <a:latin typeface="Book Antiqua"/>
                <a:cs typeface="Book Antiqua"/>
              </a:rPr>
              <a:t>this.width </a:t>
            </a:r>
            <a:r>
              <a:rPr sz="2000" dirty="0">
                <a:latin typeface="Book Antiqua"/>
                <a:cs typeface="Book Antiqua"/>
              </a:rPr>
              <a:t>=</a:t>
            </a:r>
            <a:r>
              <a:rPr sz="2000" spc="-35" dirty="0"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width;</a:t>
            </a:r>
            <a:endParaRPr sz="2000">
              <a:latin typeface="Book Antiqua"/>
              <a:cs typeface="Book Antiqua"/>
            </a:endParaRPr>
          </a:p>
          <a:p>
            <a:pPr marL="793750">
              <a:lnSpc>
                <a:spcPct val="100000"/>
              </a:lnSpc>
            </a:pPr>
            <a:r>
              <a:rPr sz="2000" dirty="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64652" y="5213502"/>
            <a:ext cx="2825115" cy="916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50"/>
              </a:lnSpc>
            </a:pPr>
            <a:r>
              <a:rPr sz="2000" spc="-5" dirty="0">
                <a:latin typeface="Book Antiqua"/>
                <a:cs typeface="Book Antiqua"/>
              </a:rPr>
              <a:t>public double getArea()</a:t>
            </a:r>
            <a:r>
              <a:rPr sz="2000" spc="-45" dirty="0">
                <a:latin typeface="Book Antiqua"/>
                <a:cs typeface="Book Antiqua"/>
              </a:rPr>
              <a:t> </a:t>
            </a:r>
            <a:r>
              <a:rPr sz="2000" dirty="0">
                <a:latin typeface="Book Antiqua"/>
                <a:cs typeface="Book Antiqua"/>
              </a:rPr>
              <a:t>{</a:t>
            </a:r>
            <a:endParaRPr sz="2000">
              <a:latin typeface="Book Antiqua"/>
              <a:cs typeface="Book Antiqua"/>
            </a:endParaRPr>
          </a:p>
          <a:p>
            <a:pPr marL="64769" algn="ctr">
              <a:lnSpc>
                <a:spcPct val="100000"/>
              </a:lnSpc>
            </a:pPr>
            <a:r>
              <a:rPr sz="2000" spc="-5" dirty="0">
                <a:latin typeface="Book Antiqua"/>
                <a:cs typeface="Book Antiqua"/>
              </a:rPr>
              <a:t>return</a:t>
            </a:r>
            <a:r>
              <a:rPr sz="2000" spc="-20" dirty="0"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length*width;</a:t>
            </a:r>
            <a:endParaRPr sz="2000">
              <a:latin typeface="Book Antiqua"/>
              <a:cs typeface="Book Antiqua"/>
            </a:endParaRPr>
          </a:p>
          <a:p>
            <a:pPr marR="2733040" algn="ctr">
              <a:lnSpc>
                <a:spcPct val="100000"/>
              </a:lnSpc>
            </a:pPr>
            <a:r>
              <a:rPr sz="2000" dirty="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07452" y="6095682"/>
            <a:ext cx="977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58111" y="5228844"/>
            <a:ext cx="4572000" cy="92201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4"/>
              </a:spcBef>
              <a:tabLst>
                <a:tab pos="2804795" algn="l"/>
              </a:tabLst>
            </a:pPr>
            <a:r>
              <a:rPr sz="1800" spc="-5" dirty="0">
                <a:solidFill>
                  <a:srgbClr val="C00000"/>
                </a:solidFill>
                <a:latin typeface="Book Antiqua"/>
                <a:cs typeface="Book Antiqua"/>
              </a:rPr>
              <a:t>public double</a:t>
            </a:r>
            <a:r>
              <a:rPr sz="1800" spc="15" dirty="0">
                <a:solidFill>
                  <a:srgbClr val="C00000"/>
                </a:solidFill>
                <a:latin typeface="Book Antiqua"/>
                <a:cs typeface="Book Antiqua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Book Antiqua"/>
                <a:cs typeface="Book Antiqua"/>
              </a:rPr>
              <a:t>getArea()</a:t>
            </a:r>
            <a:r>
              <a:rPr sz="1800" spc="10" dirty="0">
                <a:solidFill>
                  <a:srgbClr val="C00000"/>
                </a:solidFill>
                <a:latin typeface="Book Antiqua"/>
                <a:cs typeface="Book Antiqua"/>
              </a:rPr>
              <a:t> </a:t>
            </a:r>
            <a:r>
              <a:rPr sz="1800" dirty="0">
                <a:solidFill>
                  <a:srgbClr val="C00000"/>
                </a:solidFill>
                <a:latin typeface="Book Antiqua"/>
                <a:cs typeface="Book Antiqua"/>
              </a:rPr>
              <a:t>{	</a:t>
            </a:r>
            <a:r>
              <a:rPr sz="1800" spc="-5" dirty="0">
                <a:solidFill>
                  <a:srgbClr val="C00000"/>
                </a:solidFill>
                <a:latin typeface="Times New Roman"/>
                <a:cs typeface="Times New Roman"/>
              </a:rPr>
              <a:t>//</a:t>
            </a:r>
            <a:r>
              <a:rPr sz="1800" dirty="0">
                <a:solidFill>
                  <a:srgbClr val="C00000"/>
                </a:solidFill>
                <a:latin typeface="宋体"/>
                <a:cs typeface="宋体"/>
              </a:rPr>
              <a:t>实现抽象方法</a:t>
            </a:r>
            <a:endParaRPr sz="1800">
              <a:latin typeface="宋体"/>
              <a:cs typeface="宋体"/>
            </a:endParaRPr>
          </a:p>
          <a:p>
            <a:pPr marL="433070">
              <a:lnSpc>
                <a:spcPct val="100000"/>
              </a:lnSpc>
            </a:pPr>
            <a:r>
              <a:rPr sz="1800" spc="-5" dirty="0">
                <a:solidFill>
                  <a:srgbClr val="C00000"/>
                </a:solidFill>
                <a:latin typeface="Book Antiqua"/>
                <a:cs typeface="Book Antiqua"/>
              </a:rPr>
              <a:t>return length*width;</a:t>
            </a:r>
            <a:endParaRPr sz="1800">
              <a:latin typeface="Book Antiqua"/>
              <a:cs typeface="Book Antiqua"/>
            </a:endParaRPr>
          </a:p>
          <a:p>
            <a:pPr marL="9017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9160" y="3933444"/>
            <a:ext cx="4572000" cy="92201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ts val="2145"/>
              </a:lnSpc>
              <a:spcBef>
                <a:spcPts val="285"/>
              </a:spcBef>
            </a:pPr>
            <a:r>
              <a:rPr sz="1800" spc="-5" dirty="0">
                <a:solidFill>
                  <a:srgbClr val="C00000"/>
                </a:solidFill>
                <a:latin typeface="Book Antiqua"/>
                <a:cs typeface="Book Antiqua"/>
              </a:rPr>
              <a:t>public double</a:t>
            </a:r>
            <a:r>
              <a:rPr sz="1800" spc="-10" dirty="0">
                <a:solidFill>
                  <a:srgbClr val="C00000"/>
                </a:solidFill>
                <a:latin typeface="Book Antiqua"/>
                <a:cs typeface="Book Antiqua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Book Antiqua"/>
                <a:cs typeface="Book Antiqua"/>
              </a:rPr>
              <a:t>getArea() </a:t>
            </a:r>
            <a:r>
              <a:rPr sz="1800" dirty="0">
                <a:solidFill>
                  <a:srgbClr val="C00000"/>
                </a:solidFill>
                <a:latin typeface="Book Antiqua"/>
                <a:cs typeface="Book Antiqua"/>
              </a:rPr>
              <a:t>{</a:t>
            </a:r>
            <a:r>
              <a:rPr sz="1800" spc="434" dirty="0">
                <a:solidFill>
                  <a:srgbClr val="C00000"/>
                </a:solidFill>
                <a:latin typeface="Book Antiqua"/>
                <a:cs typeface="Book Antiqua"/>
              </a:rPr>
              <a:t> </a:t>
            </a: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//</a:t>
            </a:r>
            <a:r>
              <a:rPr sz="1800" dirty="0">
                <a:solidFill>
                  <a:srgbClr val="C00000"/>
                </a:solidFill>
                <a:latin typeface="宋体"/>
                <a:cs typeface="宋体"/>
              </a:rPr>
              <a:t>实现抽象方法</a:t>
            </a:r>
            <a:endParaRPr sz="1800">
              <a:latin typeface="宋体"/>
              <a:cs typeface="宋体"/>
            </a:endParaRPr>
          </a:p>
          <a:p>
            <a:pPr marL="548640">
              <a:lnSpc>
                <a:spcPts val="2140"/>
              </a:lnSpc>
            </a:pPr>
            <a:r>
              <a:rPr sz="1800" spc="-5" dirty="0">
                <a:solidFill>
                  <a:srgbClr val="C00000"/>
                </a:solidFill>
                <a:latin typeface="Book Antiqua"/>
                <a:cs typeface="Book Antiqua"/>
              </a:rPr>
              <a:t>return Math.PI*r*r;</a:t>
            </a:r>
            <a:endParaRPr sz="1800">
              <a:latin typeface="Book Antiqua"/>
              <a:cs typeface="Book Antiqua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0"/>
            <a:ext cx="60159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none" spc="-5" dirty="0"/>
              <a:t>6.2.1</a:t>
            </a:r>
            <a:r>
              <a:rPr sz="4400" u="none" spc="-85" dirty="0"/>
              <a:t> </a:t>
            </a:r>
            <a:r>
              <a:rPr sz="4400" u="none" dirty="0"/>
              <a:t>抽象类及抽象方</a:t>
            </a:r>
            <a:r>
              <a:rPr sz="4400" u="none" spc="5" dirty="0"/>
              <a:t>法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83652" y="450392"/>
            <a:ext cx="1702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微软雅黑"/>
                <a:cs typeface="微软雅黑"/>
              </a:rPr>
              <a:t>的定</a:t>
            </a:r>
            <a:r>
              <a:rPr sz="4400" b="1" spc="5" dirty="0">
                <a:latin typeface="微软雅黑"/>
                <a:cs typeface="微软雅黑"/>
              </a:rPr>
              <a:t>义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0100" y="1557655"/>
            <a:ext cx="8343900" cy="3166745"/>
          </a:xfrm>
          <a:custGeom>
            <a:avLst/>
            <a:gdLst/>
            <a:ahLst/>
            <a:cxnLst/>
            <a:rect l="l" t="t" r="r" b="b"/>
            <a:pathLst>
              <a:path w="8343900" h="3166745">
                <a:moveTo>
                  <a:pt x="0" y="0"/>
                </a:moveTo>
                <a:lnTo>
                  <a:pt x="8343900" y="0"/>
                </a:lnTo>
                <a:lnTo>
                  <a:pt x="8343900" y="3166745"/>
                </a:lnTo>
                <a:lnTo>
                  <a:pt x="0" y="3166745"/>
                </a:lnTo>
                <a:lnTo>
                  <a:pt x="0" y="0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8839" y="1541906"/>
            <a:ext cx="7868920" cy="2970530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2000" b="1" spc="-5" dirty="0">
                <a:solidFill>
                  <a:srgbClr val="FFFFFF"/>
                </a:solidFill>
                <a:latin typeface="微软雅黑"/>
                <a:cs typeface="微软雅黑"/>
              </a:rPr>
              <a:t>public class </a:t>
            </a:r>
            <a:r>
              <a:rPr sz="2000" spc="-60" dirty="0">
                <a:solidFill>
                  <a:srgbClr val="FFFFFF"/>
                </a:solidFill>
                <a:latin typeface="微软雅黑"/>
                <a:cs typeface="微软雅黑"/>
              </a:rPr>
              <a:t>Test</a:t>
            </a:r>
            <a:r>
              <a:rPr sz="2000" spc="-2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{</a:t>
            </a:r>
            <a:endParaRPr sz="2000">
              <a:latin typeface="微软雅黑"/>
              <a:cs typeface="微软雅黑"/>
            </a:endParaRPr>
          </a:p>
          <a:p>
            <a:pPr marL="698500" marR="2846705" indent="-342900">
              <a:lnSpc>
                <a:spcPct val="105600"/>
              </a:lnSpc>
            </a:pPr>
            <a:r>
              <a:rPr sz="2000" b="1" spc="-5" dirty="0">
                <a:solidFill>
                  <a:srgbClr val="FFFFFF"/>
                </a:solidFill>
                <a:latin typeface="微软雅黑"/>
                <a:cs typeface="微软雅黑"/>
              </a:rPr>
              <a:t>public static </a:t>
            </a:r>
            <a:r>
              <a:rPr sz="2000" b="1" spc="-10" dirty="0">
                <a:solidFill>
                  <a:srgbClr val="FFFFFF"/>
                </a:solidFill>
                <a:latin typeface="微软雅黑"/>
                <a:cs typeface="微软雅黑"/>
              </a:rPr>
              <a:t>void </a:t>
            </a:r>
            <a:r>
              <a:rPr sz="2000" spc="-10" dirty="0">
                <a:solidFill>
                  <a:srgbClr val="FFFFFF"/>
                </a:solidFill>
                <a:latin typeface="微软雅黑"/>
                <a:cs typeface="微软雅黑"/>
              </a:rPr>
              <a:t>main(String[] args)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{  </a:t>
            </a:r>
            <a:r>
              <a:rPr sz="2000" spc="-5" dirty="0">
                <a:solidFill>
                  <a:srgbClr val="FFFFFF"/>
                </a:solidFill>
                <a:latin typeface="微软雅黑"/>
                <a:cs typeface="微软雅黑"/>
              </a:rPr>
              <a:t>Shape</a:t>
            </a:r>
            <a:r>
              <a:rPr sz="2000" spc="-1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微软雅黑"/>
                <a:cs typeface="微软雅黑"/>
              </a:rPr>
              <a:t>shape;</a:t>
            </a:r>
            <a:endParaRPr sz="2000">
              <a:latin typeface="微软雅黑"/>
              <a:cs typeface="微软雅黑"/>
            </a:endParaRPr>
          </a:p>
          <a:p>
            <a:pPr marL="698500" marR="5080">
              <a:lnSpc>
                <a:spcPct val="102499"/>
              </a:lnSpc>
              <a:spcBef>
                <a:spcPts val="75"/>
              </a:spcBef>
            </a:pPr>
            <a:r>
              <a:rPr sz="2000" spc="-5" dirty="0">
                <a:solidFill>
                  <a:srgbClr val="FFFFFF"/>
                </a:solidFill>
                <a:latin typeface="微软雅黑"/>
                <a:cs typeface="微软雅黑"/>
              </a:rPr>
              <a:t>shape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= </a:t>
            </a: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new </a:t>
            </a:r>
            <a:r>
              <a:rPr sz="2000" spc="-15" dirty="0">
                <a:solidFill>
                  <a:srgbClr val="FFFFFF"/>
                </a:solidFill>
                <a:latin typeface="微软雅黑"/>
                <a:cs typeface="微软雅黑"/>
              </a:rPr>
              <a:t>Circle("circle",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5);  </a:t>
            </a:r>
            <a:r>
              <a:rPr sz="2000" spc="-65" dirty="0">
                <a:solidFill>
                  <a:srgbClr val="FFFFFF"/>
                </a:solidFill>
                <a:latin typeface="微软雅黑"/>
                <a:cs typeface="微软雅黑"/>
              </a:rPr>
              <a:t>System.</a:t>
            </a:r>
            <a:r>
              <a:rPr sz="2100" i="1" spc="-65" dirty="0">
                <a:solidFill>
                  <a:srgbClr val="FFFFFF"/>
                </a:solidFill>
                <a:latin typeface="微软雅黑"/>
                <a:cs typeface="微软雅黑"/>
              </a:rPr>
              <a:t>out</a:t>
            </a:r>
            <a:r>
              <a:rPr sz="2000" spc="-65" dirty="0">
                <a:solidFill>
                  <a:srgbClr val="FFFFFF"/>
                </a:solidFill>
                <a:latin typeface="微软雅黑"/>
                <a:cs typeface="微软雅黑"/>
              </a:rPr>
              <a:t>.println(shape.getName()+":"+shape. </a:t>
            </a:r>
            <a:r>
              <a:rPr sz="2000" spc="-5" dirty="0">
                <a:solidFill>
                  <a:srgbClr val="FFFFFF"/>
                </a:solidFill>
                <a:latin typeface="微软雅黑"/>
                <a:cs typeface="微软雅黑"/>
              </a:rPr>
              <a:t>getArea());  shape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= </a:t>
            </a: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new </a:t>
            </a:r>
            <a:r>
              <a:rPr sz="2000" spc="-10" dirty="0">
                <a:solidFill>
                  <a:srgbClr val="FFFFFF"/>
                </a:solidFill>
                <a:latin typeface="微软雅黑"/>
                <a:cs typeface="微软雅黑"/>
              </a:rPr>
              <a:t>Rectangle("rect",10,8);  </a:t>
            </a:r>
            <a:r>
              <a:rPr sz="2000" spc="-65" dirty="0">
                <a:solidFill>
                  <a:srgbClr val="FFFFFF"/>
                </a:solidFill>
                <a:latin typeface="微软雅黑"/>
                <a:cs typeface="微软雅黑"/>
              </a:rPr>
              <a:t>System.</a:t>
            </a:r>
            <a:r>
              <a:rPr sz="2100" i="1" spc="-65" dirty="0">
                <a:solidFill>
                  <a:srgbClr val="FFFFFF"/>
                </a:solidFill>
                <a:latin typeface="微软雅黑"/>
                <a:cs typeface="微软雅黑"/>
              </a:rPr>
              <a:t>out</a:t>
            </a:r>
            <a:r>
              <a:rPr sz="2000" spc="-65" dirty="0">
                <a:solidFill>
                  <a:srgbClr val="FFFFFF"/>
                </a:solidFill>
                <a:latin typeface="微软雅黑"/>
                <a:cs typeface="微软雅黑"/>
              </a:rPr>
              <a:t>.println(shape.getName()+":"+shape.</a:t>
            </a:r>
            <a:r>
              <a:rPr sz="2000" spc="-2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微软雅黑"/>
                <a:cs typeface="微软雅黑"/>
              </a:rPr>
              <a:t>getArea());</a:t>
            </a:r>
            <a:endParaRPr sz="2000">
              <a:latin typeface="微软雅黑"/>
              <a:cs typeface="微软雅黑"/>
            </a:endParaRPr>
          </a:p>
          <a:p>
            <a:pPr marL="355600">
              <a:lnSpc>
                <a:spcPct val="100000"/>
              </a:lnSpc>
              <a:spcBef>
                <a:spcPts val="115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63723" y="691895"/>
            <a:ext cx="6600825" cy="1923414"/>
          </a:xfrm>
          <a:custGeom>
            <a:avLst/>
            <a:gdLst/>
            <a:ahLst/>
            <a:cxnLst/>
            <a:rect l="l" t="t" r="r" b="b"/>
            <a:pathLst>
              <a:path w="6600825" h="1923414">
                <a:moveTo>
                  <a:pt x="6600444" y="504443"/>
                </a:moveTo>
                <a:lnTo>
                  <a:pt x="4440935" y="504443"/>
                </a:lnTo>
                <a:lnTo>
                  <a:pt x="4440935" y="0"/>
                </a:lnTo>
                <a:lnTo>
                  <a:pt x="6600444" y="0"/>
                </a:lnTo>
                <a:lnTo>
                  <a:pt x="6600444" y="504443"/>
                </a:lnTo>
                <a:close/>
              </a:path>
              <a:path w="6600825" h="1923414">
                <a:moveTo>
                  <a:pt x="0" y="1923287"/>
                </a:moveTo>
                <a:lnTo>
                  <a:pt x="4800600" y="504443"/>
                </a:lnTo>
                <a:lnTo>
                  <a:pt x="5340096" y="504443"/>
                </a:lnTo>
                <a:lnTo>
                  <a:pt x="0" y="1923287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17064" y="691895"/>
            <a:ext cx="6547484" cy="2524125"/>
          </a:xfrm>
          <a:custGeom>
            <a:avLst/>
            <a:gdLst/>
            <a:ahLst/>
            <a:cxnLst/>
            <a:rect l="l" t="t" r="r" b="b"/>
            <a:pathLst>
              <a:path w="6547484" h="2524125">
                <a:moveTo>
                  <a:pt x="6547104" y="504443"/>
                </a:moveTo>
                <a:lnTo>
                  <a:pt x="4387595" y="504443"/>
                </a:lnTo>
                <a:lnTo>
                  <a:pt x="4387595" y="0"/>
                </a:lnTo>
                <a:lnTo>
                  <a:pt x="6547104" y="0"/>
                </a:lnTo>
                <a:lnTo>
                  <a:pt x="6547104" y="504443"/>
                </a:lnTo>
                <a:close/>
              </a:path>
              <a:path w="6547484" h="2524125">
                <a:moveTo>
                  <a:pt x="0" y="2523743"/>
                </a:moveTo>
                <a:lnTo>
                  <a:pt x="4747260" y="504443"/>
                </a:lnTo>
                <a:lnTo>
                  <a:pt x="5286756" y="504443"/>
                </a:lnTo>
                <a:lnTo>
                  <a:pt x="0" y="2523743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59319" y="708025"/>
            <a:ext cx="1248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幼圆"/>
                <a:cs typeface="幼圆"/>
              </a:rPr>
              <a:t>向上转</a:t>
            </a:r>
            <a:r>
              <a:rPr sz="2400" b="1" spc="-10" dirty="0">
                <a:solidFill>
                  <a:srgbClr val="FFFFFF"/>
                </a:solidFill>
                <a:latin typeface="幼圆"/>
                <a:cs typeface="幼圆"/>
              </a:rPr>
              <a:t>型</a:t>
            </a:r>
            <a:endParaRPr sz="2400">
              <a:latin typeface="幼圆"/>
              <a:cs typeface="幼圆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6600" y="3198876"/>
            <a:ext cx="4419600" cy="2679700"/>
          </a:xfrm>
          <a:custGeom>
            <a:avLst/>
            <a:gdLst/>
            <a:ahLst/>
            <a:cxnLst/>
            <a:rect l="l" t="t" r="r" b="b"/>
            <a:pathLst>
              <a:path w="4419600" h="2679700">
                <a:moveTo>
                  <a:pt x="1799844" y="2174748"/>
                </a:moveTo>
                <a:lnTo>
                  <a:pt x="1260348" y="2174748"/>
                </a:lnTo>
                <a:lnTo>
                  <a:pt x="4419600" y="0"/>
                </a:lnTo>
                <a:lnTo>
                  <a:pt x="1799844" y="2174748"/>
                </a:lnTo>
                <a:close/>
              </a:path>
              <a:path w="4419600" h="2679700">
                <a:moveTo>
                  <a:pt x="2161032" y="2679191"/>
                </a:moveTo>
                <a:lnTo>
                  <a:pt x="0" y="2679191"/>
                </a:lnTo>
                <a:lnTo>
                  <a:pt x="0" y="2174748"/>
                </a:lnTo>
                <a:lnTo>
                  <a:pt x="2161032" y="2174748"/>
                </a:lnTo>
                <a:lnTo>
                  <a:pt x="2161032" y="2679191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76600" y="3864864"/>
            <a:ext cx="4267200" cy="2013585"/>
          </a:xfrm>
          <a:custGeom>
            <a:avLst/>
            <a:gdLst/>
            <a:ahLst/>
            <a:cxnLst/>
            <a:rect l="l" t="t" r="r" b="b"/>
            <a:pathLst>
              <a:path w="4267200" h="2013585">
                <a:moveTo>
                  <a:pt x="1799844" y="1508760"/>
                </a:moveTo>
                <a:lnTo>
                  <a:pt x="1260348" y="1508760"/>
                </a:lnTo>
                <a:lnTo>
                  <a:pt x="4267200" y="0"/>
                </a:lnTo>
                <a:lnTo>
                  <a:pt x="1799844" y="1508760"/>
                </a:lnTo>
                <a:close/>
              </a:path>
              <a:path w="4267200" h="2013585">
                <a:moveTo>
                  <a:pt x="2161032" y="2013203"/>
                </a:moveTo>
                <a:lnTo>
                  <a:pt x="0" y="2013203"/>
                </a:lnTo>
                <a:lnTo>
                  <a:pt x="0" y="1508760"/>
                </a:lnTo>
                <a:lnTo>
                  <a:pt x="2161032" y="1508760"/>
                </a:lnTo>
                <a:lnTo>
                  <a:pt x="2161032" y="2013203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37965" y="5389562"/>
            <a:ext cx="636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幼圆"/>
                <a:cs typeface="幼圆"/>
              </a:rPr>
              <a:t>多</a:t>
            </a:r>
            <a:r>
              <a:rPr sz="2400" b="1" spc="-10" dirty="0">
                <a:solidFill>
                  <a:srgbClr val="FFFFFF"/>
                </a:solidFill>
                <a:latin typeface="幼圆"/>
                <a:cs typeface="幼圆"/>
              </a:rPr>
              <a:t>态</a:t>
            </a:r>
            <a:endParaRPr sz="2400">
              <a:latin typeface="幼圆"/>
              <a:cs typeface="幼圆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21359" y="1853564"/>
            <a:ext cx="7308215" cy="29432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 algn="just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抽象类是对一系列看上去不同，但是本质上</a:t>
            </a:r>
            <a:r>
              <a:rPr sz="2800" spc="-5" dirty="0">
                <a:latin typeface="微软雅黑"/>
                <a:cs typeface="微软雅黑"/>
              </a:rPr>
              <a:t>相 </a:t>
            </a:r>
            <a:r>
              <a:rPr sz="2800" dirty="0">
                <a:latin typeface="微软雅黑"/>
                <a:cs typeface="微软雅黑"/>
              </a:rPr>
              <a:t>同的具体概念的抽象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450">
              <a:latin typeface="微软雅黑"/>
              <a:cs typeface="微软雅黑"/>
            </a:endParaRPr>
          </a:p>
          <a:p>
            <a:pPr marL="184150" marR="5080" indent="-171450" algn="just">
              <a:lnSpc>
                <a:spcPts val="3020"/>
              </a:lnSpc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可以构造出一组行为的抽象描述，但是这组</a:t>
            </a:r>
            <a:r>
              <a:rPr sz="2800" spc="-5" dirty="0">
                <a:latin typeface="微软雅黑"/>
                <a:cs typeface="微软雅黑"/>
              </a:rPr>
              <a:t>行 </a:t>
            </a:r>
            <a:r>
              <a:rPr sz="2800" dirty="0">
                <a:latin typeface="微软雅黑"/>
                <a:cs typeface="微软雅黑"/>
              </a:rPr>
              <a:t>为却能够有任意个可能的具体实现方式。这</a:t>
            </a:r>
            <a:r>
              <a:rPr sz="2800" spc="-5" dirty="0">
                <a:latin typeface="微软雅黑"/>
                <a:cs typeface="微软雅黑"/>
              </a:rPr>
              <a:t>个 </a:t>
            </a:r>
            <a:r>
              <a:rPr sz="2800" dirty="0">
                <a:latin typeface="微软雅黑"/>
                <a:cs typeface="微软雅黑"/>
              </a:rPr>
              <a:t>抽象描述就是抽象类，而这一组任意个可能</a:t>
            </a:r>
            <a:r>
              <a:rPr sz="2800" spc="-5" dirty="0">
                <a:latin typeface="微软雅黑"/>
                <a:cs typeface="微软雅黑"/>
              </a:rPr>
              <a:t>的 </a:t>
            </a:r>
            <a:r>
              <a:rPr sz="2800" dirty="0">
                <a:latin typeface="微软雅黑"/>
                <a:cs typeface="微软雅黑"/>
              </a:rPr>
              <a:t>具体实现则由所有可能的派生类表现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6.2.2</a:t>
            </a:r>
            <a:r>
              <a:rPr spc="-95" dirty="0"/>
              <a:t> </a:t>
            </a:r>
            <a:r>
              <a:rPr dirty="0"/>
              <a:t>为什么设计抽象</a:t>
            </a:r>
            <a:r>
              <a:rPr spc="-5" dirty="0"/>
              <a:t>类	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63039"/>
            <a:ext cx="7844155" cy="1267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84150" algn="l"/>
              </a:tabLst>
            </a:pPr>
            <a:r>
              <a:rPr sz="3200" dirty="0">
                <a:latin typeface="微软雅黑"/>
                <a:cs typeface="微软雅黑"/>
              </a:rPr>
              <a:t>开闭原则</a:t>
            </a:r>
            <a:r>
              <a:rPr sz="3200" spc="-5" dirty="0">
                <a:latin typeface="微软雅黑"/>
                <a:cs typeface="微软雅黑"/>
              </a:rPr>
              <a:t>OCP（Open-Closed</a:t>
            </a:r>
            <a:r>
              <a:rPr sz="3200" spc="-30" dirty="0">
                <a:latin typeface="微软雅黑"/>
                <a:cs typeface="微软雅黑"/>
              </a:rPr>
              <a:t> </a:t>
            </a:r>
            <a:r>
              <a:rPr sz="3200" spc="-5" dirty="0">
                <a:latin typeface="微软雅黑"/>
                <a:cs typeface="微软雅黑"/>
              </a:rPr>
              <a:t>Principle）</a:t>
            </a:r>
            <a:endParaRPr sz="32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面向对象设计的一个最核心的原则</a:t>
            </a:r>
            <a:endParaRPr sz="24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对于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扩展是开放的，对于修改是关闭的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26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6.2.3</a:t>
            </a:r>
            <a:r>
              <a:rPr spc="-95" dirty="0"/>
              <a:t> </a:t>
            </a:r>
            <a:r>
              <a:rPr dirty="0"/>
              <a:t>开闭原</a:t>
            </a:r>
            <a:r>
              <a:rPr spc="-5" dirty="0"/>
              <a:t>则	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81454"/>
            <a:ext cx="7920990" cy="6330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390"/>
              </a:spcBef>
            </a:pPr>
            <a:r>
              <a:rPr sz="2100" dirty="0">
                <a:latin typeface="微软雅黑"/>
                <a:cs typeface="微软雅黑"/>
              </a:rPr>
              <a:t>【例</a:t>
            </a:r>
            <a:r>
              <a:rPr sz="2100" spc="-5" dirty="0">
                <a:latin typeface="微软雅黑"/>
                <a:cs typeface="微软雅黑"/>
              </a:rPr>
              <a:t>6</a:t>
            </a:r>
            <a:r>
              <a:rPr sz="2100" dirty="0">
                <a:latin typeface="微软雅黑"/>
                <a:cs typeface="微软雅黑"/>
              </a:rPr>
              <a:t>-</a:t>
            </a:r>
            <a:r>
              <a:rPr sz="2100" spc="-5" dirty="0">
                <a:latin typeface="微软雅黑"/>
                <a:cs typeface="微软雅黑"/>
              </a:rPr>
              <a:t>2</a:t>
            </a:r>
            <a:r>
              <a:rPr sz="2100" dirty="0">
                <a:latin typeface="微软雅黑"/>
                <a:cs typeface="微软雅黑"/>
              </a:rPr>
              <a:t>】为某个系统设计方案，要求能显示各种类型的图表，如饼 图和柱状图等。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6.2.3</a:t>
            </a:r>
            <a:r>
              <a:rPr spc="-95" dirty="0"/>
              <a:t> </a:t>
            </a:r>
            <a:r>
              <a:rPr dirty="0"/>
              <a:t>开闭原</a:t>
            </a:r>
            <a:r>
              <a:rPr spc="-5" dirty="0"/>
              <a:t>则	</a:t>
            </a:r>
          </a:p>
        </p:txBody>
      </p:sp>
      <p:sp>
        <p:nvSpPr>
          <p:cNvPr id="4" name="object 4"/>
          <p:cNvSpPr/>
          <p:nvPr/>
        </p:nvSpPr>
        <p:spPr>
          <a:xfrm>
            <a:off x="1403603" y="2601467"/>
            <a:ext cx="5646625" cy="2927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81454"/>
            <a:ext cx="64027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在ChartDisplay类的</a:t>
            </a:r>
            <a:r>
              <a:rPr sz="2100" spc="-5" dirty="0">
                <a:latin typeface="微软雅黑"/>
                <a:cs typeface="微软雅黑"/>
              </a:rPr>
              <a:t>show()</a:t>
            </a:r>
            <a:r>
              <a:rPr sz="2100" dirty="0">
                <a:latin typeface="微软雅黑"/>
                <a:cs typeface="微软雅黑"/>
              </a:rPr>
              <a:t>方法中会存在如下代码：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6.2.3</a:t>
            </a:r>
            <a:r>
              <a:rPr sz="4400" spc="-90" dirty="0"/>
              <a:t> </a:t>
            </a:r>
            <a:r>
              <a:rPr sz="4400" dirty="0"/>
              <a:t>开闭原</a:t>
            </a:r>
            <a:r>
              <a:rPr sz="4400" spc="5" dirty="0"/>
              <a:t>则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60347" y="2596895"/>
            <a:ext cx="6768083" cy="26776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55826" y="2593809"/>
            <a:ext cx="6776720" cy="2684145"/>
          </a:xfrm>
          <a:custGeom>
            <a:avLst/>
            <a:gdLst/>
            <a:ahLst/>
            <a:cxnLst/>
            <a:rect l="l" t="t" r="r" b="b"/>
            <a:pathLst>
              <a:path w="6776720" h="2684145">
                <a:moveTo>
                  <a:pt x="6776364" y="2684145"/>
                </a:moveTo>
                <a:lnTo>
                  <a:pt x="0" y="2684145"/>
                </a:lnTo>
                <a:lnTo>
                  <a:pt x="0" y="0"/>
                </a:lnTo>
                <a:lnTo>
                  <a:pt x="6776364" y="0"/>
                </a:lnTo>
                <a:lnTo>
                  <a:pt x="6776364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676525"/>
                </a:lnTo>
                <a:lnTo>
                  <a:pt x="3809" y="2676525"/>
                </a:lnTo>
                <a:lnTo>
                  <a:pt x="7619" y="2680335"/>
                </a:lnTo>
                <a:lnTo>
                  <a:pt x="6776364" y="2680335"/>
                </a:lnTo>
                <a:lnTo>
                  <a:pt x="6776364" y="2684145"/>
                </a:lnTo>
                <a:close/>
              </a:path>
              <a:path w="6776720" h="268414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6776720" h="2684145">
                <a:moveTo>
                  <a:pt x="6768744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6768744" y="3810"/>
                </a:lnTo>
                <a:lnTo>
                  <a:pt x="6768744" y="7620"/>
                </a:lnTo>
                <a:close/>
              </a:path>
              <a:path w="6776720" h="2684145">
                <a:moveTo>
                  <a:pt x="6768744" y="2680335"/>
                </a:moveTo>
                <a:lnTo>
                  <a:pt x="6768744" y="3810"/>
                </a:lnTo>
                <a:lnTo>
                  <a:pt x="6772554" y="7620"/>
                </a:lnTo>
                <a:lnTo>
                  <a:pt x="6776364" y="7620"/>
                </a:lnTo>
                <a:lnTo>
                  <a:pt x="6776364" y="2676525"/>
                </a:lnTo>
                <a:lnTo>
                  <a:pt x="6772554" y="2676525"/>
                </a:lnTo>
                <a:lnTo>
                  <a:pt x="6768744" y="2680335"/>
                </a:lnTo>
                <a:close/>
              </a:path>
              <a:path w="6776720" h="2684145">
                <a:moveTo>
                  <a:pt x="6776364" y="7620"/>
                </a:moveTo>
                <a:lnTo>
                  <a:pt x="6772554" y="7620"/>
                </a:lnTo>
                <a:lnTo>
                  <a:pt x="6768744" y="3810"/>
                </a:lnTo>
                <a:lnTo>
                  <a:pt x="6776364" y="3810"/>
                </a:lnTo>
                <a:lnTo>
                  <a:pt x="6776364" y="7620"/>
                </a:lnTo>
                <a:close/>
              </a:path>
              <a:path w="6776720" h="2684145">
                <a:moveTo>
                  <a:pt x="7619" y="2680335"/>
                </a:moveTo>
                <a:lnTo>
                  <a:pt x="3809" y="2676525"/>
                </a:lnTo>
                <a:lnTo>
                  <a:pt x="7619" y="2676525"/>
                </a:lnTo>
                <a:lnTo>
                  <a:pt x="7619" y="2680335"/>
                </a:lnTo>
                <a:close/>
              </a:path>
              <a:path w="6776720" h="2684145">
                <a:moveTo>
                  <a:pt x="6768744" y="2680335"/>
                </a:moveTo>
                <a:lnTo>
                  <a:pt x="7619" y="2680335"/>
                </a:lnTo>
                <a:lnTo>
                  <a:pt x="7619" y="2676525"/>
                </a:lnTo>
                <a:lnTo>
                  <a:pt x="6768744" y="2676525"/>
                </a:lnTo>
                <a:lnTo>
                  <a:pt x="6768744" y="2680335"/>
                </a:lnTo>
                <a:close/>
              </a:path>
              <a:path w="6776720" h="2684145">
                <a:moveTo>
                  <a:pt x="6776364" y="2680335"/>
                </a:moveTo>
                <a:lnTo>
                  <a:pt x="6768744" y="2680335"/>
                </a:lnTo>
                <a:lnTo>
                  <a:pt x="6772554" y="2676525"/>
                </a:lnTo>
                <a:lnTo>
                  <a:pt x="6776364" y="2676525"/>
                </a:lnTo>
                <a:lnTo>
                  <a:pt x="6776364" y="268033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260347" y="2612225"/>
            <a:ext cx="6768465" cy="2585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04569" marR="1724025" indent="-914400">
              <a:lnSpc>
                <a:spcPct val="100299"/>
              </a:lnSpc>
              <a:spcBef>
                <a:spcPts val="90"/>
              </a:spcBef>
            </a:pPr>
            <a:r>
              <a:rPr sz="2400" b="1" spc="-5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(type.equalsIgnoreCase("pie")){  PieChart chart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b="1" spc="-5" dirty="0">
                <a:latin typeface="Times New Roman"/>
                <a:cs typeface="Times New Roman"/>
              </a:rPr>
              <a:t>new </a:t>
            </a:r>
            <a:r>
              <a:rPr sz="2400" spc="-5" dirty="0">
                <a:latin typeface="Times New Roman"/>
                <a:cs typeface="Times New Roman"/>
              </a:rPr>
              <a:t>PieChart();  chart.display();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ts val="2860"/>
              </a:lnSpc>
            </a:pPr>
            <a:r>
              <a:rPr sz="2400" spc="-5" dirty="0">
                <a:latin typeface="Times New Roman"/>
                <a:cs typeface="Times New Roman"/>
              </a:rPr>
              <a:t>}</a:t>
            </a:r>
            <a:r>
              <a:rPr sz="2400" b="1" spc="-5" dirty="0">
                <a:latin typeface="Times New Roman"/>
                <a:cs typeface="Times New Roman"/>
              </a:rPr>
              <a:t>else if</a:t>
            </a:r>
            <a:r>
              <a:rPr sz="2400" spc="-5" dirty="0">
                <a:latin typeface="Times New Roman"/>
                <a:cs typeface="Times New Roman"/>
              </a:rPr>
              <a:t>(type.equalsIgnoreCase("bar")){</a:t>
            </a:r>
            <a:endParaRPr sz="2400">
              <a:latin typeface="Times New Roman"/>
              <a:cs typeface="Times New Roman"/>
            </a:endParaRPr>
          </a:p>
          <a:p>
            <a:pPr marL="1004569" marR="1622425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Times New Roman"/>
                <a:cs typeface="Times New Roman"/>
              </a:rPr>
              <a:t>BarChart chart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b="1" spc="-5" dirty="0">
                <a:latin typeface="Times New Roman"/>
                <a:cs typeface="Times New Roman"/>
              </a:rPr>
              <a:t>new </a:t>
            </a:r>
            <a:r>
              <a:rPr sz="2400" spc="-5" dirty="0">
                <a:latin typeface="Times New Roman"/>
                <a:cs typeface="Times New Roman"/>
              </a:rPr>
              <a:t>BarChart();  chart.display();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ts val="286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29483" y="2686811"/>
            <a:ext cx="5646625" cy="292716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8739" y="1481454"/>
            <a:ext cx="54952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新的需求：增加显示一种新的图表--折线图。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6.2.3</a:t>
            </a:r>
            <a:r>
              <a:rPr sz="4400" spc="-90" dirty="0"/>
              <a:t> </a:t>
            </a:r>
            <a:r>
              <a:rPr sz="4400" dirty="0"/>
              <a:t>开闭原</a:t>
            </a:r>
            <a:r>
              <a:rPr sz="4400" spc="5" dirty="0"/>
              <a:t>则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1227" y="4741164"/>
            <a:ext cx="1874520" cy="201295"/>
          </a:xfrm>
          <a:custGeom>
            <a:avLst/>
            <a:gdLst/>
            <a:ahLst/>
            <a:cxnLst/>
            <a:rect l="l" t="t" r="r" b="b"/>
            <a:pathLst>
              <a:path w="1874520" h="201295">
                <a:moveTo>
                  <a:pt x="0" y="201168"/>
                </a:moveTo>
                <a:lnTo>
                  <a:pt x="1874520" y="201168"/>
                </a:lnTo>
                <a:lnTo>
                  <a:pt x="1874520" y="0"/>
                </a:lnTo>
                <a:lnTo>
                  <a:pt x="0" y="0"/>
                </a:lnTo>
                <a:lnTo>
                  <a:pt x="0" y="201168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7214" y="4433303"/>
            <a:ext cx="1882775" cy="1019810"/>
          </a:xfrm>
          <a:custGeom>
            <a:avLst/>
            <a:gdLst/>
            <a:ahLst/>
            <a:cxnLst/>
            <a:rect l="l" t="t" r="r" b="b"/>
            <a:pathLst>
              <a:path w="1882775" h="1019810">
                <a:moveTo>
                  <a:pt x="1882368" y="1019187"/>
                </a:moveTo>
                <a:lnTo>
                  <a:pt x="0" y="1019187"/>
                </a:lnTo>
                <a:lnTo>
                  <a:pt x="0" y="0"/>
                </a:lnTo>
                <a:lnTo>
                  <a:pt x="1882368" y="0"/>
                </a:lnTo>
                <a:lnTo>
                  <a:pt x="1882368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011567"/>
                </a:lnTo>
                <a:lnTo>
                  <a:pt x="3810" y="1011567"/>
                </a:lnTo>
                <a:lnTo>
                  <a:pt x="7620" y="1015377"/>
                </a:lnTo>
                <a:lnTo>
                  <a:pt x="1882368" y="1015377"/>
                </a:lnTo>
                <a:lnTo>
                  <a:pt x="1882368" y="1019187"/>
                </a:lnTo>
                <a:close/>
              </a:path>
              <a:path w="1882775" h="1019810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1882775" h="1019810">
                <a:moveTo>
                  <a:pt x="1874748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1874748" y="3810"/>
                </a:lnTo>
                <a:lnTo>
                  <a:pt x="1874748" y="7619"/>
                </a:lnTo>
                <a:close/>
              </a:path>
              <a:path w="1882775" h="1019810">
                <a:moveTo>
                  <a:pt x="1874748" y="1015377"/>
                </a:moveTo>
                <a:lnTo>
                  <a:pt x="1874748" y="3810"/>
                </a:lnTo>
                <a:lnTo>
                  <a:pt x="1878558" y="7619"/>
                </a:lnTo>
                <a:lnTo>
                  <a:pt x="1882368" y="7619"/>
                </a:lnTo>
                <a:lnTo>
                  <a:pt x="1882368" y="1011567"/>
                </a:lnTo>
                <a:lnTo>
                  <a:pt x="1878558" y="1011567"/>
                </a:lnTo>
                <a:lnTo>
                  <a:pt x="1874748" y="1015377"/>
                </a:lnTo>
                <a:close/>
              </a:path>
              <a:path w="1882775" h="1019810">
                <a:moveTo>
                  <a:pt x="1882368" y="7619"/>
                </a:moveTo>
                <a:lnTo>
                  <a:pt x="1878558" y="7619"/>
                </a:lnTo>
                <a:lnTo>
                  <a:pt x="1874748" y="3810"/>
                </a:lnTo>
                <a:lnTo>
                  <a:pt x="1882368" y="3810"/>
                </a:lnTo>
                <a:lnTo>
                  <a:pt x="1882368" y="7619"/>
                </a:lnTo>
                <a:close/>
              </a:path>
              <a:path w="1882775" h="1019810">
                <a:moveTo>
                  <a:pt x="7620" y="1015377"/>
                </a:moveTo>
                <a:lnTo>
                  <a:pt x="3810" y="1011567"/>
                </a:lnTo>
                <a:lnTo>
                  <a:pt x="7620" y="1011567"/>
                </a:lnTo>
                <a:lnTo>
                  <a:pt x="7620" y="1015377"/>
                </a:lnTo>
                <a:close/>
              </a:path>
              <a:path w="1882775" h="1019810">
                <a:moveTo>
                  <a:pt x="1874748" y="1015377"/>
                </a:moveTo>
                <a:lnTo>
                  <a:pt x="7620" y="1015377"/>
                </a:lnTo>
                <a:lnTo>
                  <a:pt x="7620" y="1011567"/>
                </a:lnTo>
                <a:lnTo>
                  <a:pt x="1874748" y="1011567"/>
                </a:lnTo>
                <a:lnTo>
                  <a:pt x="1874748" y="1015377"/>
                </a:lnTo>
                <a:close/>
              </a:path>
              <a:path w="1882775" h="1019810">
                <a:moveTo>
                  <a:pt x="1882368" y="1015377"/>
                </a:moveTo>
                <a:lnTo>
                  <a:pt x="1874748" y="1015377"/>
                </a:lnTo>
                <a:lnTo>
                  <a:pt x="1878558" y="1011567"/>
                </a:lnTo>
                <a:lnTo>
                  <a:pt x="1882368" y="1011567"/>
                </a:lnTo>
                <a:lnTo>
                  <a:pt x="1882368" y="1015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1227" y="4436364"/>
            <a:ext cx="1874520" cy="304800"/>
          </a:xfrm>
          <a:custGeom>
            <a:avLst/>
            <a:gdLst/>
            <a:ahLst/>
            <a:cxnLst/>
            <a:rect l="l" t="t" r="r" b="b"/>
            <a:pathLst>
              <a:path w="1874520" h="304800">
                <a:moveTo>
                  <a:pt x="0" y="0"/>
                </a:moveTo>
                <a:lnTo>
                  <a:pt x="1874520" y="0"/>
                </a:lnTo>
                <a:lnTo>
                  <a:pt x="187452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7214" y="4433303"/>
            <a:ext cx="1882775" cy="311150"/>
          </a:xfrm>
          <a:custGeom>
            <a:avLst/>
            <a:gdLst/>
            <a:ahLst/>
            <a:cxnLst/>
            <a:rect l="l" t="t" r="r" b="b"/>
            <a:pathLst>
              <a:path w="1882775" h="311150">
                <a:moveTo>
                  <a:pt x="1882368" y="311086"/>
                </a:moveTo>
                <a:lnTo>
                  <a:pt x="0" y="311086"/>
                </a:lnTo>
                <a:lnTo>
                  <a:pt x="0" y="0"/>
                </a:lnTo>
                <a:lnTo>
                  <a:pt x="1882368" y="0"/>
                </a:lnTo>
                <a:lnTo>
                  <a:pt x="1882368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03466"/>
                </a:lnTo>
                <a:lnTo>
                  <a:pt x="3810" y="303466"/>
                </a:lnTo>
                <a:lnTo>
                  <a:pt x="7620" y="307276"/>
                </a:lnTo>
                <a:lnTo>
                  <a:pt x="1882368" y="307276"/>
                </a:lnTo>
                <a:lnTo>
                  <a:pt x="1882368" y="311086"/>
                </a:lnTo>
                <a:close/>
              </a:path>
              <a:path w="1882775" h="311150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1882775" h="311150">
                <a:moveTo>
                  <a:pt x="1874748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1874748" y="3810"/>
                </a:lnTo>
                <a:lnTo>
                  <a:pt x="1874748" y="7619"/>
                </a:lnTo>
                <a:close/>
              </a:path>
              <a:path w="1882775" h="311150">
                <a:moveTo>
                  <a:pt x="1874748" y="307276"/>
                </a:moveTo>
                <a:lnTo>
                  <a:pt x="1874748" y="3810"/>
                </a:lnTo>
                <a:lnTo>
                  <a:pt x="1878558" y="7619"/>
                </a:lnTo>
                <a:lnTo>
                  <a:pt x="1882368" y="7619"/>
                </a:lnTo>
                <a:lnTo>
                  <a:pt x="1882368" y="303466"/>
                </a:lnTo>
                <a:lnTo>
                  <a:pt x="1878558" y="303466"/>
                </a:lnTo>
                <a:lnTo>
                  <a:pt x="1874748" y="307276"/>
                </a:lnTo>
                <a:close/>
              </a:path>
              <a:path w="1882775" h="311150">
                <a:moveTo>
                  <a:pt x="1882368" y="7619"/>
                </a:moveTo>
                <a:lnTo>
                  <a:pt x="1878558" y="7619"/>
                </a:lnTo>
                <a:lnTo>
                  <a:pt x="1874748" y="3810"/>
                </a:lnTo>
                <a:lnTo>
                  <a:pt x="1882368" y="3810"/>
                </a:lnTo>
                <a:lnTo>
                  <a:pt x="1882368" y="7619"/>
                </a:lnTo>
                <a:close/>
              </a:path>
              <a:path w="1882775" h="311150">
                <a:moveTo>
                  <a:pt x="7620" y="307276"/>
                </a:moveTo>
                <a:lnTo>
                  <a:pt x="3810" y="303466"/>
                </a:lnTo>
                <a:lnTo>
                  <a:pt x="7620" y="303466"/>
                </a:lnTo>
                <a:lnTo>
                  <a:pt x="7620" y="307276"/>
                </a:lnTo>
                <a:close/>
              </a:path>
              <a:path w="1882775" h="311150">
                <a:moveTo>
                  <a:pt x="1874748" y="307276"/>
                </a:moveTo>
                <a:lnTo>
                  <a:pt x="7620" y="307276"/>
                </a:lnTo>
                <a:lnTo>
                  <a:pt x="7620" y="303466"/>
                </a:lnTo>
                <a:lnTo>
                  <a:pt x="1874748" y="303466"/>
                </a:lnTo>
                <a:lnTo>
                  <a:pt x="1874748" y="307276"/>
                </a:lnTo>
                <a:close/>
              </a:path>
              <a:path w="1882775" h="311150">
                <a:moveTo>
                  <a:pt x="1882368" y="307276"/>
                </a:moveTo>
                <a:lnTo>
                  <a:pt x="1874748" y="307276"/>
                </a:lnTo>
                <a:lnTo>
                  <a:pt x="1878558" y="303466"/>
                </a:lnTo>
                <a:lnTo>
                  <a:pt x="1882368" y="303466"/>
                </a:lnTo>
                <a:lnTo>
                  <a:pt x="1882368" y="307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81227" y="4942332"/>
            <a:ext cx="1874520" cy="506095"/>
          </a:xfrm>
          <a:custGeom>
            <a:avLst/>
            <a:gdLst/>
            <a:ahLst/>
            <a:cxnLst/>
            <a:rect l="l" t="t" r="r" b="b"/>
            <a:pathLst>
              <a:path w="1874520" h="506095">
                <a:moveTo>
                  <a:pt x="0" y="0"/>
                </a:moveTo>
                <a:lnTo>
                  <a:pt x="1874520" y="0"/>
                </a:lnTo>
                <a:lnTo>
                  <a:pt x="1874520" y="505967"/>
                </a:lnTo>
                <a:lnTo>
                  <a:pt x="0" y="505967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7214" y="4939080"/>
            <a:ext cx="1882775" cy="513715"/>
          </a:xfrm>
          <a:custGeom>
            <a:avLst/>
            <a:gdLst/>
            <a:ahLst/>
            <a:cxnLst/>
            <a:rect l="l" t="t" r="r" b="b"/>
            <a:pathLst>
              <a:path w="1882775" h="513714">
                <a:moveTo>
                  <a:pt x="1882368" y="513410"/>
                </a:moveTo>
                <a:lnTo>
                  <a:pt x="0" y="513410"/>
                </a:lnTo>
                <a:lnTo>
                  <a:pt x="0" y="0"/>
                </a:lnTo>
                <a:lnTo>
                  <a:pt x="1882368" y="0"/>
                </a:lnTo>
                <a:lnTo>
                  <a:pt x="1882368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505790"/>
                </a:lnTo>
                <a:lnTo>
                  <a:pt x="3810" y="505790"/>
                </a:lnTo>
                <a:lnTo>
                  <a:pt x="7620" y="509600"/>
                </a:lnTo>
                <a:lnTo>
                  <a:pt x="1882368" y="509600"/>
                </a:lnTo>
                <a:lnTo>
                  <a:pt x="1882368" y="513410"/>
                </a:lnTo>
                <a:close/>
              </a:path>
              <a:path w="1882775" h="51371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882775" h="513714">
                <a:moveTo>
                  <a:pt x="1874748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874748" y="3810"/>
                </a:lnTo>
                <a:lnTo>
                  <a:pt x="1874748" y="7620"/>
                </a:lnTo>
                <a:close/>
              </a:path>
              <a:path w="1882775" h="513714">
                <a:moveTo>
                  <a:pt x="1874748" y="509600"/>
                </a:moveTo>
                <a:lnTo>
                  <a:pt x="1874748" y="3810"/>
                </a:lnTo>
                <a:lnTo>
                  <a:pt x="1878558" y="7620"/>
                </a:lnTo>
                <a:lnTo>
                  <a:pt x="1882368" y="7620"/>
                </a:lnTo>
                <a:lnTo>
                  <a:pt x="1882368" y="505790"/>
                </a:lnTo>
                <a:lnTo>
                  <a:pt x="1878558" y="505790"/>
                </a:lnTo>
                <a:lnTo>
                  <a:pt x="1874748" y="509600"/>
                </a:lnTo>
                <a:close/>
              </a:path>
              <a:path w="1882775" h="513714">
                <a:moveTo>
                  <a:pt x="1882368" y="7620"/>
                </a:moveTo>
                <a:lnTo>
                  <a:pt x="1878558" y="7620"/>
                </a:lnTo>
                <a:lnTo>
                  <a:pt x="1874748" y="3810"/>
                </a:lnTo>
                <a:lnTo>
                  <a:pt x="1882368" y="3810"/>
                </a:lnTo>
                <a:lnTo>
                  <a:pt x="1882368" y="7620"/>
                </a:lnTo>
                <a:close/>
              </a:path>
              <a:path w="1882775" h="513714">
                <a:moveTo>
                  <a:pt x="7620" y="509600"/>
                </a:moveTo>
                <a:lnTo>
                  <a:pt x="3810" y="505790"/>
                </a:lnTo>
                <a:lnTo>
                  <a:pt x="7620" y="505790"/>
                </a:lnTo>
                <a:lnTo>
                  <a:pt x="7620" y="509600"/>
                </a:lnTo>
                <a:close/>
              </a:path>
              <a:path w="1882775" h="513714">
                <a:moveTo>
                  <a:pt x="1874748" y="509600"/>
                </a:moveTo>
                <a:lnTo>
                  <a:pt x="7620" y="509600"/>
                </a:lnTo>
                <a:lnTo>
                  <a:pt x="7620" y="505790"/>
                </a:lnTo>
                <a:lnTo>
                  <a:pt x="1874748" y="505790"/>
                </a:lnTo>
                <a:lnTo>
                  <a:pt x="1874748" y="509600"/>
                </a:lnTo>
                <a:close/>
              </a:path>
              <a:path w="1882775" h="513714">
                <a:moveTo>
                  <a:pt x="1882368" y="509600"/>
                </a:moveTo>
                <a:lnTo>
                  <a:pt x="1874748" y="509600"/>
                </a:lnTo>
                <a:lnTo>
                  <a:pt x="1878558" y="505790"/>
                </a:lnTo>
                <a:lnTo>
                  <a:pt x="1882368" y="505790"/>
                </a:lnTo>
                <a:lnTo>
                  <a:pt x="1882368" y="5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81227" y="4474578"/>
            <a:ext cx="1874520" cy="82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769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微软雅黑"/>
                <a:cs typeface="微软雅黑"/>
              </a:rPr>
              <a:t>LineChart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70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</a:pPr>
            <a:r>
              <a:rPr sz="1400" b="1" spc="-5" dirty="0">
                <a:latin typeface="微软雅黑"/>
                <a:cs typeface="微软雅黑"/>
              </a:rPr>
              <a:t>+display():void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18399" y="3425431"/>
            <a:ext cx="2667000" cy="1020444"/>
          </a:xfrm>
          <a:custGeom>
            <a:avLst/>
            <a:gdLst/>
            <a:ahLst/>
            <a:cxnLst/>
            <a:rect l="l" t="t" r="r" b="b"/>
            <a:pathLst>
              <a:path w="2667000" h="1020445">
                <a:moveTo>
                  <a:pt x="84759" y="1020356"/>
                </a:moveTo>
                <a:lnTo>
                  <a:pt x="0" y="1011682"/>
                </a:lnTo>
                <a:lnTo>
                  <a:pt x="57797" y="949083"/>
                </a:lnTo>
                <a:lnTo>
                  <a:pt x="69930" y="981154"/>
                </a:lnTo>
                <a:lnTo>
                  <a:pt x="52108" y="987894"/>
                </a:lnTo>
                <a:lnTo>
                  <a:pt x="54800" y="995032"/>
                </a:lnTo>
                <a:lnTo>
                  <a:pt x="75179" y="995032"/>
                </a:lnTo>
                <a:lnTo>
                  <a:pt x="84759" y="1020356"/>
                </a:lnTo>
                <a:close/>
              </a:path>
              <a:path w="2667000" h="1020445">
                <a:moveTo>
                  <a:pt x="72629" y="988289"/>
                </a:moveTo>
                <a:lnTo>
                  <a:pt x="69930" y="981154"/>
                </a:lnTo>
                <a:lnTo>
                  <a:pt x="91262" y="973086"/>
                </a:lnTo>
                <a:lnTo>
                  <a:pt x="93954" y="980224"/>
                </a:lnTo>
                <a:lnTo>
                  <a:pt x="72629" y="988289"/>
                </a:lnTo>
                <a:close/>
              </a:path>
              <a:path w="2667000" h="1020445">
                <a:moveTo>
                  <a:pt x="54800" y="995032"/>
                </a:moveTo>
                <a:lnTo>
                  <a:pt x="52108" y="987894"/>
                </a:lnTo>
                <a:lnTo>
                  <a:pt x="69930" y="981154"/>
                </a:lnTo>
                <a:lnTo>
                  <a:pt x="72629" y="988289"/>
                </a:lnTo>
                <a:lnTo>
                  <a:pt x="54800" y="995032"/>
                </a:lnTo>
                <a:close/>
              </a:path>
              <a:path w="2667000" h="1020445">
                <a:moveTo>
                  <a:pt x="75179" y="995032"/>
                </a:moveTo>
                <a:lnTo>
                  <a:pt x="54800" y="995032"/>
                </a:lnTo>
                <a:lnTo>
                  <a:pt x="72629" y="988289"/>
                </a:lnTo>
                <a:lnTo>
                  <a:pt x="75179" y="995032"/>
                </a:lnTo>
                <a:close/>
              </a:path>
              <a:path w="2667000" h="1020445">
                <a:moveTo>
                  <a:pt x="2609900" y="28701"/>
                </a:moveTo>
                <a:lnTo>
                  <a:pt x="2607208" y="21564"/>
                </a:lnTo>
                <a:lnTo>
                  <a:pt x="2664218" y="0"/>
                </a:lnTo>
                <a:lnTo>
                  <a:pt x="2666911" y="7137"/>
                </a:lnTo>
                <a:lnTo>
                  <a:pt x="2609900" y="28701"/>
                </a:lnTo>
                <a:close/>
              </a:path>
              <a:path w="2667000" h="1020445">
                <a:moveTo>
                  <a:pt x="2581389" y="39484"/>
                </a:moveTo>
                <a:lnTo>
                  <a:pt x="2578696" y="32346"/>
                </a:lnTo>
                <a:lnTo>
                  <a:pt x="2585821" y="29654"/>
                </a:lnTo>
                <a:lnTo>
                  <a:pt x="2588514" y="36779"/>
                </a:lnTo>
                <a:lnTo>
                  <a:pt x="2581389" y="39484"/>
                </a:lnTo>
                <a:close/>
              </a:path>
              <a:path w="2667000" h="1020445">
                <a:moveTo>
                  <a:pt x="2552877" y="50266"/>
                </a:moveTo>
                <a:lnTo>
                  <a:pt x="2550185" y="43129"/>
                </a:lnTo>
                <a:lnTo>
                  <a:pt x="2557310" y="40436"/>
                </a:lnTo>
                <a:lnTo>
                  <a:pt x="2560002" y="47561"/>
                </a:lnTo>
                <a:lnTo>
                  <a:pt x="2552877" y="50266"/>
                </a:lnTo>
                <a:close/>
              </a:path>
              <a:path w="2667000" h="1020445">
                <a:moveTo>
                  <a:pt x="2474480" y="79908"/>
                </a:moveTo>
                <a:lnTo>
                  <a:pt x="2471788" y="72783"/>
                </a:lnTo>
                <a:lnTo>
                  <a:pt x="2528798" y="51219"/>
                </a:lnTo>
                <a:lnTo>
                  <a:pt x="2531503" y="58343"/>
                </a:lnTo>
                <a:lnTo>
                  <a:pt x="2474480" y="79908"/>
                </a:lnTo>
                <a:close/>
              </a:path>
              <a:path w="2667000" h="1020445">
                <a:moveTo>
                  <a:pt x="2445969" y="90690"/>
                </a:moveTo>
                <a:lnTo>
                  <a:pt x="2443276" y="83565"/>
                </a:lnTo>
                <a:lnTo>
                  <a:pt x="2450401" y="80873"/>
                </a:lnTo>
                <a:lnTo>
                  <a:pt x="2453093" y="87998"/>
                </a:lnTo>
                <a:lnTo>
                  <a:pt x="2445969" y="90690"/>
                </a:lnTo>
                <a:close/>
              </a:path>
              <a:path w="2667000" h="1020445">
                <a:moveTo>
                  <a:pt x="2417457" y="101473"/>
                </a:moveTo>
                <a:lnTo>
                  <a:pt x="2414765" y="94348"/>
                </a:lnTo>
                <a:lnTo>
                  <a:pt x="2421890" y="91655"/>
                </a:lnTo>
                <a:lnTo>
                  <a:pt x="2424582" y="98780"/>
                </a:lnTo>
                <a:lnTo>
                  <a:pt x="2417457" y="101473"/>
                </a:lnTo>
                <a:close/>
              </a:path>
              <a:path w="2667000" h="1020445">
                <a:moveTo>
                  <a:pt x="2339060" y="131127"/>
                </a:moveTo>
                <a:lnTo>
                  <a:pt x="2336368" y="124002"/>
                </a:lnTo>
                <a:lnTo>
                  <a:pt x="2393378" y="102438"/>
                </a:lnTo>
                <a:lnTo>
                  <a:pt x="2396083" y="109562"/>
                </a:lnTo>
                <a:lnTo>
                  <a:pt x="2339060" y="131127"/>
                </a:lnTo>
                <a:close/>
              </a:path>
              <a:path w="2667000" h="1020445">
                <a:moveTo>
                  <a:pt x="2310549" y="141909"/>
                </a:moveTo>
                <a:lnTo>
                  <a:pt x="2307856" y="134785"/>
                </a:lnTo>
                <a:lnTo>
                  <a:pt x="2314981" y="132080"/>
                </a:lnTo>
                <a:lnTo>
                  <a:pt x="2317673" y="139217"/>
                </a:lnTo>
                <a:lnTo>
                  <a:pt x="2310549" y="141909"/>
                </a:lnTo>
                <a:close/>
              </a:path>
              <a:path w="2667000" h="1020445">
                <a:moveTo>
                  <a:pt x="2282037" y="152692"/>
                </a:moveTo>
                <a:lnTo>
                  <a:pt x="2279345" y="145567"/>
                </a:lnTo>
                <a:lnTo>
                  <a:pt x="2286469" y="142862"/>
                </a:lnTo>
                <a:lnTo>
                  <a:pt x="2289175" y="149999"/>
                </a:lnTo>
                <a:lnTo>
                  <a:pt x="2282037" y="152692"/>
                </a:lnTo>
                <a:close/>
              </a:path>
              <a:path w="2667000" h="1020445">
                <a:moveTo>
                  <a:pt x="2203640" y="182346"/>
                </a:moveTo>
                <a:lnTo>
                  <a:pt x="2200948" y="175209"/>
                </a:lnTo>
                <a:lnTo>
                  <a:pt x="2257958" y="153644"/>
                </a:lnTo>
                <a:lnTo>
                  <a:pt x="2260663" y="160782"/>
                </a:lnTo>
                <a:lnTo>
                  <a:pt x="2203640" y="182346"/>
                </a:lnTo>
                <a:close/>
              </a:path>
              <a:path w="2667000" h="1020445">
                <a:moveTo>
                  <a:pt x="2175129" y="193128"/>
                </a:moveTo>
                <a:lnTo>
                  <a:pt x="2172436" y="185991"/>
                </a:lnTo>
                <a:lnTo>
                  <a:pt x="2179561" y="183299"/>
                </a:lnTo>
                <a:lnTo>
                  <a:pt x="2182253" y="190423"/>
                </a:lnTo>
                <a:lnTo>
                  <a:pt x="2175129" y="193128"/>
                </a:lnTo>
                <a:close/>
              </a:path>
              <a:path w="2667000" h="1020445">
                <a:moveTo>
                  <a:pt x="2146617" y="203911"/>
                </a:moveTo>
                <a:lnTo>
                  <a:pt x="2143925" y="196773"/>
                </a:lnTo>
                <a:lnTo>
                  <a:pt x="2151049" y="194081"/>
                </a:lnTo>
                <a:lnTo>
                  <a:pt x="2153754" y="201206"/>
                </a:lnTo>
                <a:lnTo>
                  <a:pt x="2146617" y="203911"/>
                </a:lnTo>
                <a:close/>
              </a:path>
              <a:path w="2667000" h="1020445">
                <a:moveTo>
                  <a:pt x="2068220" y="233552"/>
                </a:moveTo>
                <a:lnTo>
                  <a:pt x="2065527" y="226428"/>
                </a:lnTo>
                <a:lnTo>
                  <a:pt x="2122551" y="204863"/>
                </a:lnTo>
                <a:lnTo>
                  <a:pt x="2125243" y="211988"/>
                </a:lnTo>
                <a:lnTo>
                  <a:pt x="2068220" y="233552"/>
                </a:lnTo>
                <a:close/>
              </a:path>
              <a:path w="2667000" h="1020445">
                <a:moveTo>
                  <a:pt x="2039708" y="244335"/>
                </a:moveTo>
                <a:lnTo>
                  <a:pt x="2037016" y="237210"/>
                </a:lnTo>
                <a:lnTo>
                  <a:pt x="2044141" y="234518"/>
                </a:lnTo>
                <a:lnTo>
                  <a:pt x="2046846" y="241642"/>
                </a:lnTo>
                <a:lnTo>
                  <a:pt x="2039708" y="244335"/>
                </a:lnTo>
                <a:close/>
              </a:path>
              <a:path w="2667000" h="1020445">
                <a:moveTo>
                  <a:pt x="2011210" y="255117"/>
                </a:moveTo>
                <a:lnTo>
                  <a:pt x="2008505" y="247992"/>
                </a:lnTo>
                <a:lnTo>
                  <a:pt x="2015642" y="245300"/>
                </a:lnTo>
                <a:lnTo>
                  <a:pt x="2018334" y="252425"/>
                </a:lnTo>
                <a:lnTo>
                  <a:pt x="2011210" y="255117"/>
                </a:lnTo>
                <a:close/>
              </a:path>
              <a:path w="2667000" h="1020445">
                <a:moveTo>
                  <a:pt x="1932800" y="284772"/>
                </a:moveTo>
                <a:lnTo>
                  <a:pt x="1930107" y="277647"/>
                </a:lnTo>
                <a:lnTo>
                  <a:pt x="1987130" y="256082"/>
                </a:lnTo>
                <a:lnTo>
                  <a:pt x="1989823" y="263207"/>
                </a:lnTo>
                <a:lnTo>
                  <a:pt x="1932800" y="284772"/>
                </a:lnTo>
                <a:close/>
              </a:path>
              <a:path w="2667000" h="1020445">
                <a:moveTo>
                  <a:pt x="1904288" y="295554"/>
                </a:moveTo>
                <a:lnTo>
                  <a:pt x="1901596" y="288429"/>
                </a:lnTo>
                <a:lnTo>
                  <a:pt x="1908721" y="285737"/>
                </a:lnTo>
                <a:lnTo>
                  <a:pt x="1911426" y="292862"/>
                </a:lnTo>
                <a:lnTo>
                  <a:pt x="1904288" y="295554"/>
                </a:lnTo>
                <a:close/>
              </a:path>
              <a:path w="2667000" h="1020445">
                <a:moveTo>
                  <a:pt x="1875789" y="306336"/>
                </a:moveTo>
                <a:lnTo>
                  <a:pt x="1873084" y="299212"/>
                </a:lnTo>
                <a:lnTo>
                  <a:pt x="1880222" y="296519"/>
                </a:lnTo>
                <a:lnTo>
                  <a:pt x="1882914" y="303644"/>
                </a:lnTo>
                <a:lnTo>
                  <a:pt x="1875789" y="306336"/>
                </a:lnTo>
                <a:close/>
              </a:path>
              <a:path w="2667000" h="1020445">
                <a:moveTo>
                  <a:pt x="1797380" y="335991"/>
                </a:moveTo>
                <a:lnTo>
                  <a:pt x="1794687" y="328853"/>
                </a:lnTo>
                <a:lnTo>
                  <a:pt x="1851710" y="307301"/>
                </a:lnTo>
                <a:lnTo>
                  <a:pt x="1854403" y="314426"/>
                </a:lnTo>
                <a:lnTo>
                  <a:pt x="1797380" y="335991"/>
                </a:lnTo>
                <a:close/>
              </a:path>
              <a:path w="2667000" h="1020445">
                <a:moveTo>
                  <a:pt x="1768881" y="346773"/>
                </a:moveTo>
                <a:lnTo>
                  <a:pt x="1766176" y="339636"/>
                </a:lnTo>
                <a:lnTo>
                  <a:pt x="1773313" y="336943"/>
                </a:lnTo>
                <a:lnTo>
                  <a:pt x="1776006" y="344068"/>
                </a:lnTo>
                <a:lnTo>
                  <a:pt x="1768881" y="346773"/>
                </a:lnTo>
                <a:close/>
              </a:path>
              <a:path w="2667000" h="1020445">
                <a:moveTo>
                  <a:pt x="1740369" y="357555"/>
                </a:moveTo>
                <a:lnTo>
                  <a:pt x="1737677" y="350418"/>
                </a:lnTo>
                <a:lnTo>
                  <a:pt x="1744802" y="347725"/>
                </a:lnTo>
                <a:lnTo>
                  <a:pt x="1747494" y="354850"/>
                </a:lnTo>
                <a:lnTo>
                  <a:pt x="1740369" y="357555"/>
                </a:lnTo>
                <a:close/>
              </a:path>
              <a:path w="2667000" h="1020445">
                <a:moveTo>
                  <a:pt x="1661972" y="387197"/>
                </a:moveTo>
                <a:lnTo>
                  <a:pt x="1659267" y="380072"/>
                </a:lnTo>
                <a:lnTo>
                  <a:pt x="1716290" y="358508"/>
                </a:lnTo>
                <a:lnTo>
                  <a:pt x="1718983" y="365633"/>
                </a:lnTo>
                <a:lnTo>
                  <a:pt x="1661972" y="387197"/>
                </a:lnTo>
                <a:close/>
              </a:path>
              <a:path w="2667000" h="1020445">
                <a:moveTo>
                  <a:pt x="1633461" y="397979"/>
                </a:moveTo>
                <a:lnTo>
                  <a:pt x="1630756" y="390855"/>
                </a:lnTo>
                <a:lnTo>
                  <a:pt x="1637893" y="388162"/>
                </a:lnTo>
                <a:lnTo>
                  <a:pt x="1640586" y="395287"/>
                </a:lnTo>
                <a:lnTo>
                  <a:pt x="1633461" y="397979"/>
                </a:lnTo>
                <a:close/>
              </a:path>
              <a:path w="2667000" h="1020445">
                <a:moveTo>
                  <a:pt x="1604949" y="408762"/>
                </a:moveTo>
                <a:lnTo>
                  <a:pt x="1602257" y="401637"/>
                </a:lnTo>
                <a:lnTo>
                  <a:pt x="1609382" y="398945"/>
                </a:lnTo>
                <a:lnTo>
                  <a:pt x="1612074" y="406069"/>
                </a:lnTo>
                <a:lnTo>
                  <a:pt x="1604949" y="408762"/>
                </a:lnTo>
                <a:close/>
              </a:path>
              <a:path w="2667000" h="1020445">
                <a:moveTo>
                  <a:pt x="1526552" y="438416"/>
                </a:moveTo>
                <a:lnTo>
                  <a:pt x="1523847" y="431291"/>
                </a:lnTo>
                <a:lnTo>
                  <a:pt x="1580870" y="409727"/>
                </a:lnTo>
                <a:lnTo>
                  <a:pt x="1583562" y="416852"/>
                </a:lnTo>
                <a:lnTo>
                  <a:pt x="1526552" y="438416"/>
                </a:lnTo>
                <a:close/>
              </a:path>
              <a:path w="2667000" h="1020445">
                <a:moveTo>
                  <a:pt x="1498041" y="449199"/>
                </a:moveTo>
                <a:lnTo>
                  <a:pt x="1495348" y="442074"/>
                </a:lnTo>
                <a:lnTo>
                  <a:pt x="1502473" y="439381"/>
                </a:lnTo>
                <a:lnTo>
                  <a:pt x="1505165" y="446506"/>
                </a:lnTo>
                <a:lnTo>
                  <a:pt x="1498041" y="449199"/>
                </a:lnTo>
                <a:close/>
              </a:path>
              <a:path w="2667000" h="1020445">
                <a:moveTo>
                  <a:pt x="1469529" y="459981"/>
                </a:moveTo>
                <a:lnTo>
                  <a:pt x="1466837" y="452856"/>
                </a:lnTo>
                <a:lnTo>
                  <a:pt x="1473961" y="450164"/>
                </a:lnTo>
                <a:lnTo>
                  <a:pt x="1476654" y="457288"/>
                </a:lnTo>
                <a:lnTo>
                  <a:pt x="1469529" y="459981"/>
                </a:lnTo>
                <a:close/>
              </a:path>
              <a:path w="2667000" h="1020445">
                <a:moveTo>
                  <a:pt x="1391132" y="489635"/>
                </a:moveTo>
                <a:lnTo>
                  <a:pt x="1388427" y="482511"/>
                </a:lnTo>
                <a:lnTo>
                  <a:pt x="1445450" y="460946"/>
                </a:lnTo>
                <a:lnTo>
                  <a:pt x="1448142" y="468071"/>
                </a:lnTo>
                <a:lnTo>
                  <a:pt x="1391132" y="489635"/>
                </a:lnTo>
                <a:close/>
              </a:path>
              <a:path w="2667000" h="1020445">
                <a:moveTo>
                  <a:pt x="1362621" y="500418"/>
                </a:moveTo>
                <a:lnTo>
                  <a:pt x="1359928" y="493293"/>
                </a:lnTo>
                <a:lnTo>
                  <a:pt x="1367053" y="490588"/>
                </a:lnTo>
                <a:lnTo>
                  <a:pt x="1369745" y="497725"/>
                </a:lnTo>
                <a:lnTo>
                  <a:pt x="1362621" y="500418"/>
                </a:lnTo>
                <a:close/>
              </a:path>
              <a:path w="2667000" h="1020445">
                <a:moveTo>
                  <a:pt x="1334109" y="511200"/>
                </a:moveTo>
                <a:lnTo>
                  <a:pt x="1331417" y="504075"/>
                </a:lnTo>
                <a:lnTo>
                  <a:pt x="1338541" y="501370"/>
                </a:lnTo>
                <a:lnTo>
                  <a:pt x="1341234" y="508495"/>
                </a:lnTo>
                <a:lnTo>
                  <a:pt x="1334109" y="511200"/>
                </a:lnTo>
                <a:close/>
              </a:path>
              <a:path w="2667000" h="1020445">
                <a:moveTo>
                  <a:pt x="1255712" y="540842"/>
                </a:moveTo>
                <a:lnTo>
                  <a:pt x="1253020" y="533717"/>
                </a:lnTo>
                <a:lnTo>
                  <a:pt x="1310030" y="512152"/>
                </a:lnTo>
                <a:lnTo>
                  <a:pt x="1312722" y="519277"/>
                </a:lnTo>
                <a:lnTo>
                  <a:pt x="1255712" y="540842"/>
                </a:lnTo>
                <a:close/>
              </a:path>
              <a:path w="2667000" h="1020445">
                <a:moveTo>
                  <a:pt x="1227200" y="551624"/>
                </a:moveTo>
                <a:lnTo>
                  <a:pt x="1224508" y="544499"/>
                </a:lnTo>
                <a:lnTo>
                  <a:pt x="1231633" y="541807"/>
                </a:lnTo>
                <a:lnTo>
                  <a:pt x="1234325" y="548932"/>
                </a:lnTo>
                <a:lnTo>
                  <a:pt x="1227200" y="551624"/>
                </a:lnTo>
                <a:close/>
              </a:path>
              <a:path w="2667000" h="1020445">
                <a:moveTo>
                  <a:pt x="1198689" y="562406"/>
                </a:moveTo>
                <a:lnTo>
                  <a:pt x="1195997" y="555282"/>
                </a:lnTo>
                <a:lnTo>
                  <a:pt x="1203121" y="552589"/>
                </a:lnTo>
                <a:lnTo>
                  <a:pt x="1205814" y="559714"/>
                </a:lnTo>
                <a:lnTo>
                  <a:pt x="1198689" y="562406"/>
                </a:lnTo>
                <a:close/>
              </a:path>
              <a:path w="2667000" h="1020445">
                <a:moveTo>
                  <a:pt x="1120292" y="592061"/>
                </a:moveTo>
                <a:lnTo>
                  <a:pt x="1117599" y="584936"/>
                </a:lnTo>
                <a:lnTo>
                  <a:pt x="1174610" y="563372"/>
                </a:lnTo>
                <a:lnTo>
                  <a:pt x="1177315" y="570496"/>
                </a:lnTo>
                <a:lnTo>
                  <a:pt x="1120292" y="592061"/>
                </a:lnTo>
                <a:close/>
              </a:path>
              <a:path w="2667000" h="1020445">
                <a:moveTo>
                  <a:pt x="1091780" y="602843"/>
                </a:moveTo>
                <a:lnTo>
                  <a:pt x="1089088" y="595718"/>
                </a:lnTo>
                <a:lnTo>
                  <a:pt x="1096213" y="593026"/>
                </a:lnTo>
                <a:lnTo>
                  <a:pt x="1098905" y="600151"/>
                </a:lnTo>
                <a:lnTo>
                  <a:pt x="1091780" y="602843"/>
                </a:lnTo>
                <a:close/>
              </a:path>
              <a:path w="2667000" h="1020445">
                <a:moveTo>
                  <a:pt x="1063269" y="613625"/>
                </a:moveTo>
                <a:lnTo>
                  <a:pt x="1060577" y="606501"/>
                </a:lnTo>
                <a:lnTo>
                  <a:pt x="1067701" y="603808"/>
                </a:lnTo>
                <a:lnTo>
                  <a:pt x="1070394" y="610933"/>
                </a:lnTo>
                <a:lnTo>
                  <a:pt x="1063269" y="613625"/>
                </a:lnTo>
                <a:close/>
              </a:path>
              <a:path w="2667000" h="1020445">
                <a:moveTo>
                  <a:pt x="984872" y="643280"/>
                </a:moveTo>
                <a:lnTo>
                  <a:pt x="982179" y="636155"/>
                </a:lnTo>
                <a:lnTo>
                  <a:pt x="1039190" y="614591"/>
                </a:lnTo>
                <a:lnTo>
                  <a:pt x="1041895" y="621715"/>
                </a:lnTo>
                <a:lnTo>
                  <a:pt x="984872" y="643280"/>
                </a:lnTo>
                <a:close/>
              </a:path>
              <a:path w="2667000" h="1020445">
                <a:moveTo>
                  <a:pt x="956360" y="654062"/>
                </a:moveTo>
                <a:lnTo>
                  <a:pt x="953668" y="646938"/>
                </a:lnTo>
                <a:lnTo>
                  <a:pt x="960793" y="644232"/>
                </a:lnTo>
                <a:lnTo>
                  <a:pt x="963485" y="651370"/>
                </a:lnTo>
                <a:lnTo>
                  <a:pt x="956360" y="654062"/>
                </a:lnTo>
                <a:close/>
              </a:path>
              <a:path w="2667000" h="1020445">
                <a:moveTo>
                  <a:pt x="927849" y="664845"/>
                </a:moveTo>
                <a:lnTo>
                  <a:pt x="925156" y="657720"/>
                </a:lnTo>
                <a:lnTo>
                  <a:pt x="932281" y="655015"/>
                </a:lnTo>
                <a:lnTo>
                  <a:pt x="934986" y="662152"/>
                </a:lnTo>
                <a:lnTo>
                  <a:pt x="927849" y="664845"/>
                </a:lnTo>
                <a:close/>
              </a:path>
              <a:path w="2667000" h="1020445">
                <a:moveTo>
                  <a:pt x="849452" y="694499"/>
                </a:moveTo>
                <a:lnTo>
                  <a:pt x="846759" y="687362"/>
                </a:lnTo>
                <a:lnTo>
                  <a:pt x="903782" y="665797"/>
                </a:lnTo>
                <a:lnTo>
                  <a:pt x="906475" y="672934"/>
                </a:lnTo>
                <a:lnTo>
                  <a:pt x="849452" y="694499"/>
                </a:lnTo>
                <a:close/>
              </a:path>
              <a:path w="2667000" h="1020445">
                <a:moveTo>
                  <a:pt x="820940" y="705281"/>
                </a:moveTo>
                <a:lnTo>
                  <a:pt x="818248" y="698144"/>
                </a:lnTo>
                <a:lnTo>
                  <a:pt x="825372" y="695451"/>
                </a:lnTo>
                <a:lnTo>
                  <a:pt x="828065" y="702576"/>
                </a:lnTo>
                <a:lnTo>
                  <a:pt x="820940" y="705281"/>
                </a:lnTo>
                <a:close/>
              </a:path>
              <a:path w="2667000" h="1020445">
                <a:moveTo>
                  <a:pt x="792429" y="716064"/>
                </a:moveTo>
                <a:lnTo>
                  <a:pt x="789736" y="708926"/>
                </a:lnTo>
                <a:lnTo>
                  <a:pt x="796861" y="706234"/>
                </a:lnTo>
                <a:lnTo>
                  <a:pt x="799566" y="713359"/>
                </a:lnTo>
                <a:lnTo>
                  <a:pt x="792429" y="716064"/>
                </a:lnTo>
                <a:close/>
              </a:path>
              <a:path w="2667000" h="1020445">
                <a:moveTo>
                  <a:pt x="714032" y="745705"/>
                </a:moveTo>
                <a:lnTo>
                  <a:pt x="711339" y="738581"/>
                </a:lnTo>
                <a:lnTo>
                  <a:pt x="768362" y="717016"/>
                </a:lnTo>
                <a:lnTo>
                  <a:pt x="771055" y="724141"/>
                </a:lnTo>
                <a:lnTo>
                  <a:pt x="714032" y="745705"/>
                </a:lnTo>
                <a:close/>
              </a:path>
              <a:path w="2667000" h="1020445">
                <a:moveTo>
                  <a:pt x="685520" y="756488"/>
                </a:moveTo>
                <a:lnTo>
                  <a:pt x="682828" y="749363"/>
                </a:lnTo>
                <a:lnTo>
                  <a:pt x="689952" y="746671"/>
                </a:lnTo>
                <a:lnTo>
                  <a:pt x="692658" y="753795"/>
                </a:lnTo>
                <a:lnTo>
                  <a:pt x="685520" y="756488"/>
                </a:lnTo>
                <a:close/>
              </a:path>
              <a:path w="2667000" h="1020445">
                <a:moveTo>
                  <a:pt x="657021" y="767270"/>
                </a:moveTo>
                <a:lnTo>
                  <a:pt x="654316" y="760145"/>
                </a:lnTo>
                <a:lnTo>
                  <a:pt x="661454" y="757453"/>
                </a:lnTo>
                <a:lnTo>
                  <a:pt x="664146" y="764578"/>
                </a:lnTo>
                <a:lnTo>
                  <a:pt x="657021" y="767270"/>
                </a:lnTo>
                <a:close/>
              </a:path>
              <a:path w="2667000" h="1020445">
                <a:moveTo>
                  <a:pt x="578611" y="796925"/>
                </a:moveTo>
                <a:lnTo>
                  <a:pt x="575919" y="789800"/>
                </a:lnTo>
                <a:lnTo>
                  <a:pt x="632942" y="768235"/>
                </a:lnTo>
                <a:lnTo>
                  <a:pt x="635635" y="775360"/>
                </a:lnTo>
                <a:lnTo>
                  <a:pt x="578611" y="796925"/>
                </a:lnTo>
                <a:close/>
              </a:path>
              <a:path w="2667000" h="1020445">
                <a:moveTo>
                  <a:pt x="550100" y="807707"/>
                </a:moveTo>
                <a:lnTo>
                  <a:pt x="547408" y="800582"/>
                </a:lnTo>
                <a:lnTo>
                  <a:pt x="554532" y="797877"/>
                </a:lnTo>
                <a:lnTo>
                  <a:pt x="557237" y="805014"/>
                </a:lnTo>
                <a:lnTo>
                  <a:pt x="550100" y="807707"/>
                </a:lnTo>
                <a:close/>
              </a:path>
              <a:path w="2667000" h="1020445">
                <a:moveTo>
                  <a:pt x="521601" y="818489"/>
                </a:moveTo>
                <a:lnTo>
                  <a:pt x="518896" y="811364"/>
                </a:lnTo>
                <a:lnTo>
                  <a:pt x="526034" y="808659"/>
                </a:lnTo>
                <a:lnTo>
                  <a:pt x="528726" y="815797"/>
                </a:lnTo>
                <a:lnTo>
                  <a:pt x="521601" y="818489"/>
                </a:lnTo>
                <a:close/>
              </a:path>
              <a:path w="2667000" h="1020445">
                <a:moveTo>
                  <a:pt x="443191" y="848144"/>
                </a:moveTo>
                <a:lnTo>
                  <a:pt x="440499" y="841006"/>
                </a:lnTo>
                <a:lnTo>
                  <a:pt x="497522" y="819442"/>
                </a:lnTo>
                <a:lnTo>
                  <a:pt x="500214" y="826579"/>
                </a:lnTo>
                <a:lnTo>
                  <a:pt x="443191" y="848144"/>
                </a:lnTo>
                <a:close/>
              </a:path>
              <a:path w="2667000" h="1020445">
                <a:moveTo>
                  <a:pt x="414693" y="858926"/>
                </a:moveTo>
                <a:lnTo>
                  <a:pt x="411987" y="851788"/>
                </a:lnTo>
                <a:lnTo>
                  <a:pt x="419125" y="849096"/>
                </a:lnTo>
                <a:lnTo>
                  <a:pt x="421817" y="856221"/>
                </a:lnTo>
                <a:lnTo>
                  <a:pt x="414693" y="858926"/>
                </a:lnTo>
                <a:close/>
              </a:path>
              <a:path w="2667000" h="1020445">
                <a:moveTo>
                  <a:pt x="386181" y="869708"/>
                </a:moveTo>
                <a:lnTo>
                  <a:pt x="383489" y="862571"/>
                </a:lnTo>
                <a:lnTo>
                  <a:pt x="390613" y="859878"/>
                </a:lnTo>
                <a:lnTo>
                  <a:pt x="393306" y="867003"/>
                </a:lnTo>
                <a:lnTo>
                  <a:pt x="386181" y="869708"/>
                </a:lnTo>
                <a:close/>
              </a:path>
              <a:path w="2667000" h="1020445">
                <a:moveTo>
                  <a:pt x="307784" y="899350"/>
                </a:moveTo>
                <a:lnTo>
                  <a:pt x="305079" y="892225"/>
                </a:lnTo>
                <a:lnTo>
                  <a:pt x="362102" y="870661"/>
                </a:lnTo>
                <a:lnTo>
                  <a:pt x="364794" y="877785"/>
                </a:lnTo>
                <a:lnTo>
                  <a:pt x="307784" y="899350"/>
                </a:lnTo>
                <a:close/>
              </a:path>
              <a:path w="2667000" h="1020445">
                <a:moveTo>
                  <a:pt x="279272" y="910132"/>
                </a:moveTo>
                <a:lnTo>
                  <a:pt x="276567" y="903008"/>
                </a:lnTo>
                <a:lnTo>
                  <a:pt x="283705" y="900315"/>
                </a:lnTo>
                <a:lnTo>
                  <a:pt x="286397" y="907440"/>
                </a:lnTo>
                <a:lnTo>
                  <a:pt x="279272" y="910132"/>
                </a:lnTo>
                <a:close/>
              </a:path>
              <a:path w="2667000" h="1020445">
                <a:moveTo>
                  <a:pt x="250761" y="920915"/>
                </a:moveTo>
                <a:lnTo>
                  <a:pt x="248069" y="913790"/>
                </a:lnTo>
                <a:lnTo>
                  <a:pt x="255193" y="911098"/>
                </a:lnTo>
                <a:lnTo>
                  <a:pt x="257886" y="918222"/>
                </a:lnTo>
                <a:lnTo>
                  <a:pt x="250761" y="920915"/>
                </a:lnTo>
                <a:close/>
              </a:path>
              <a:path w="2667000" h="1020445">
                <a:moveTo>
                  <a:pt x="172364" y="950569"/>
                </a:moveTo>
                <a:lnTo>
                  <a:pt x="169659" y="943444"/>
                </a:lnTo>
                <a:lnTo>
                  <a:pt x="226682" y="921880"/>
                </a:lnTo>
                <a:lnTo>
                  <a:pt x="229374" y="929005"/>
                </a:lnTo>
                <a:lnTo>
                  <a:pt x="172364" y="950569"/>
                </a:lnTo>
                <a:close/>
              </a:path>
              <a:path w="2667000" h="1020445">
                <a:moveTo>
                  <a:pt x="143852" y="961351"/>
                </a:moveTo>
                <a:lnTo>
                  <a:pt x="141160" y="954227"/>
                </a:lnTo>
                <a:lnTo>
                  <a:pt x="148285" y="951522"/>
                </a:lnTo>
                <a:lnTo>
                  <a:pt x="150977" y="958659"/>
                </a:lnTo>
                <a:lnTo>
                  <a:pt x="143852" y="961351"/>
                </a:lnTo>
                <a:close/>
              </a:path>
              <a:path w="2667000" h="1020445">
                <a:moveTo>
                  <a:pt x="115341" y="972134"/>
                </a:moveTo>
                <a:lnTo>
                  <a:pt x="112648" y="965009"/>
                </a:lnTo>
                <a:lnTo>
                  <a:pt x="119773" y="962304"/>
                </a:lnTo>
                <a:lnTo>
                  <a:pt x="122466" y="969441"/>
                </a:lnTo>
                <a:lnTo>
                  <a:pt x="115341" y="9721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81454"/>
            <a:ext cx="7846695" cy="6330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方案一在设计好折线图类Lin</a:t>
            </a:r>
            <a:r>
              <a:rPr sz="2100" spc="-5" dirty="0">
                <a:latin typeface="微软雅黑"/>
                <a:cs typeface="微软雅黑"/>
              </a:rPr>
              <a:t>e</a:t>
            </a:r>
            <a:r>
              <a:rPr sz="2100" dirty="0">
                <a:latin typeface="微软雅黑"/>
                <a:cs typeface="微软雅黑"/>
              </a:rPr>
              <a:t>Ch</a:t>
            </a:r>
            <a:r>
              <a:rPr sz="2100" spc="-5" dirty="0">
                <a:latin typeface="微软雅黑"/>
                <a:cs typeface="微软雅黑"/>
              </a:rPr>
              <a:t>a</a:t>
            </a:r>
            <a:r>
              <a:rPr sz="2100" spc="60" dirty="0">
                <a:latin typeface="微软雅黑"/>
                <a:cs typeface="微软雅黑"/>
              </a:rPr>
              <a:t>r</a:t>
            </a:r>
            <a:r>
              <a:rPr sz="2100" spc="-5" dirty="0">
                <a:latin typeface="微软雅黑"/>
                <a:cs typeface="微软雅黑"/>
              </a:rPr>
              <a:t>t</a:t>
            </a:r>
            <a:r>
              <a:rPr sz="2100" dirty="0">
                <a:latin typeface="微软雅黑"/>
                <a:cs typeface="微软雅黑"/>
              </a:rPr>
              <a:t>后，需要修改Ch</a:t>
            </a:r>
            <a:r>
              <a:rPr sz="2100" spc="-5" dirty="0">
                <a:latin typeface="微软雅黑"/>
                <a:cs typeface="微软雅黑"/>
              </a:rPr>
              <a:t>a</a:t>
            </a:r>
            <a:r>
              <a:rPr sz="2100" spc="60" dirty="0">
                <a:latin typeface="微软雅黑"/>
                <a:cs typeface="微软雅黑"/>
              </a:rPr>
              <a:t>r</a:t>
            </a:r>
            <a:r>
              <a:rPr sz="2100" spc="-5" dirty="0">
                <a:latin typeface="微软雅黑"/>
                <a:cs typeface="微软雅黑"/>
              </a:rPr>
              <a:t>t</a:t>
            </a:r>
            <a:r>
              <a:rPr sz="2100" dirty="0">
                <a:latin typeface="微软雅黑"/>
                <a:cs typeface="微软雅黑"/>
              </a:rPr>
              <a:t>Di</a:t>
            </a:r>
            <a:r>
              <a:rPr sz="2100" spc="-5" dirty="0">
                <a:latin typeface="微软雅黑"/>
                <a:cs typeface="微软雅黑"/>
              </a:rPr>
              <a:t>sp</a:t>
            </a:r>
            <a:r>
              <a:rPr sz="2100" dirty="0">
                <a:latin typeface="微软雅黑"/>
                <a:cs typeface="微软雅黑"/>
              </a:rPr>
              <a:t>l</a:t>
            </a:r>
            <a:r>
              <a:rPr sz="2100" spc="-5" dirty="0">
                <a:latin typeface="微软雅黑"/>
                <a:cs typeface="微软雅黑"/>
              </a:rPr>
              <a:t>ay</a:t>
            </a:r>
            <a:r>
              <a:rPr sz="2100" dirty="0">
                <a:latin typeface="微软雅黑"/>
                <a:cs typeface="微软雅黑"/>
              </a:rPr>
              <a:t>类 的</a:t>
            </a:r>
            <a:r>
              <a:rPr sz="2100" spc="-5" dirty="0">
                <a:latin typeface="微软雅黑"/>
                <a:cs typeface="微软雅黑"/>
              </a:rPr>
              <a:t>show()</a:t>
            </a:r>
            <a:r>
              <a:rPr sz="2100" dirty="0">
                <a:latin typeface="微软雅黑"/>
                <a:cs typeface="微软雅黑"/>
              </a:rPr>
              <a:t>方法的源代码，增加新的判断逻辑：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6.2.3</a:t>
            </a:r>
            <a:r>
              <a:rPr sz="4400" spc="-90" dirty="0"/>
              <a:t> </a:t>
            </a:r>
            <a:r>
              <a:rPr sz="4400" dirty="0"/>
              <a:t>开闭原</a:t>
            </a:r>
            <a:r>
              <a:rPr sz="4400" spc="5" dirty="0"/>
              <a:t>则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97635" y="3134360"/>
            <a:ext cx="6781165" cy="3060065"/>
          </a:xfrm>
          <a:custGeom>
            <a:avLst/>
            <a:gdLst/>
            <a:ahLst/>
            <a:cxnLst/>
            <a:rect l="l" t="t" r="r" b="b"/>
            <a:pathLst>
              <a:path w="6781165" h="3060065">
                <a:moveTo>
                  <a:pt x="6781165" y="3060065"/>
                </a:moveTo>
                <a:lnTo>
                  <a:pt x="0" y="3060065"/>
                </a:lnTo>
                <a:lnTo>
                  <a:pt x="0" y="0"/>
                </a:lnTo>
                <a:lnTo>
                  <a:pt x="6781165" y="0"/>
                </a:lnTo>
                <a:lnTo>
                  <a:pt x="678116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047365"/>
                </a:lnTo>
                <a:lnTo>
                  <a:pt x="6350" y="3047365"/>
                </a:lnTo>
                <a:lnTo>
                  <a:pt x="12700" y="3053715"/>
                </a:lnTo>
                <a:lnTo>
                  <a:pt x="6781165" y="3053715"/>
                </a:lnTo>
                <a:lnTo>
                  <a:pt x="6781165" y="3060065"/>
                </a:lnTo>
                <a:close/>
              </a:path>
              <a:path w="6781165" h="306006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781165" h="3060065">
                <a:moveTo>
                  <a:pt x="676846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768465" y="6350"/>
                </a:lnTo>
                <a:lnTo>
                  <a:pt x="6768465" y="12700"/>
                </a:lnTo>
                <a:close/>
              </a:path>
              <a:path w="6781165" h="3060065">
                <a:moveTo>
                  <a:pt x="6768465" y="3053715"/>
                </a:moveTo>
                <a:lnTo>
                  <a:pt x="6768465" y="6350"/>
                </a:lnTo>
                <a:lnTo>
                  <a:pt x="6774815" y="12700"/>
                </a:lnTo>
                <a:lnTo>
                  <a:pt x="6781165" y="12700"/>
                </a:lnTo>
                <a:lnTo>
                  <a:pt x="6781165" y="3047365"/>
                </a:lnTo>
                <a:lnTo>
                  <a:pt x="6774815" y="3047365"/>
                </a:lnTo>
                <a:lnTo>
                  <a:pt x="6768465" y="3053715"/>
                </a:lnTo>
                <a:close/>
              </a:path>
              <a:path w="6781165" h="3060065">
                <a:moveTo>
                  <a:pt x="6781165" y="12700"/>
                </a:moveTo>
                <a:lnTo>
                  <a:pt x="6774815" y="12700"/>
                </a:lnTo>
                <a:lnTo>
                  <a:pt x="6768465" y="6350"/>
                </a:lnTo>
                <a:lnTo>
                  <a:pt x="6781165" y="6350"/>
                </a:lnTo>
                <a:lnTo>
                  <a:pt x="6781165" y="12700"/>
                </a:lnTo>
                <a:close/>
              </a:path>
              <a:path w="6781165" h="3060065">
                <a:moveTo>
                  <a:pt x="12700" y="3053715"/>
                </a:moveTo>
                <a:lnTo>
                  <a:pt x="6350" y="3047365"/>
                </a:lnTo>
                <a:lnTo>
                  <a:pt x="12700" y="3047365"/>
                </a:lnTo>
                <a:lnTo>
                  <a:pt x="12700" y="3053715"/>
                </a:lnTo>
                <a:close/>
              </a:path>
              <a:path w="6781165" h="3060065">
                <a:moveTo>
                  <a:pt x="6768465" y="3053715"/>
                </a:moveTo>
                <a:lnTo>
                  <a:pt x="12700" y="3053715"/>
                </a:lnTo>
                <a:lnTo>
                  <a:pt x="12700" y="3047365"/>
                </a:lnTo>
                <a:lnTo>
                  <a:pt x="6768465" y="3047365"/>
                </a:lnTo>
                <a:lnTo>
                  <a:pt x="6768465" y="3053715"/>
                </a:lnTo>
                <a:close/>
              </a:path>
              <a:path w="6781165" h="3060065">
                <a:moveTo>
                  <a:pt x="6781165" y="3053715"/>
                </a:moveTo>
                <a:lnTo>
                  <a:pt x="6768465" y="3053715"/>
                </a:lnTo>
                <a:lnTo>
                  <a:pt x="6774815" y="3047365"/>
                </a:lnTo>
                <a:lnTo>
                  <a:pt x="6781165" y="3047365"/>
                </a:lnTo>
                <a:lnTo>
                  <a:pt x="6781165" y="305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482725" y="3157855"/>
            <a:ext cx="4894580" cy="3074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598805" indent="-914400">
              <a:lnSpc>
                <a:spcPct val="100299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(type.equalsIgnoreCase("pie")){  PieChart </a:t>
            </a:r>
            <a:r>
              <a:rPr sz="2000" dirty="0">
                <a:latin typeface="Times New Roman"/>
                <a:cs typeface="Times New Roman"/>
              </a:rPr>
              <a:t>chart = </a:t>
            </a:r>
            <a:r>
              <a:rPr sz="2000" b="1" spc="-5" dirty="0">
                <a:latin typeface="Times New Roman"/>
                <a:cs typeface="Times New Roman"/>
              </a:rPr>
              <a:t>new </a:t>
            </a:r>
            <a:r>
              <a:rPr sz="2000" spc="-5" dirty="0">
                <a:latin typeface="Times New Roman"/>
                <a:cs typeface="Times New Roman"/>
              </a:rPr>
              <a:t>PieChart();  chart.display();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85"/>
              </a:lnSpc>
            </a:pPr>
            <a:r>
              <a:rPr sz="2000" spc="-5" dirty="0">
                <a:latin typeface="Times New Roman"/>
                <a:cs typeface="Times New Roman"/>
              </a:rPr>
              <a:t>}</a:t>
            </a:r>
            <a:r>
              <a:rPr sz="2000" b="1" spc="-5" dirty="0">
                <a:latin typeface="Times New Roman"/>
                <a:cs typeface="Times New Roman"/>
              </a:rPr>
              <a:t>else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(type.equalsIgnoreCase("bar")){</a:t>
            </a:r>
            <a:endParaRPr sz="2000">
              <a:latin typeface="Times New Roman"/>
              <a:cs typeface="Times New Roman"/>
            </a:endParaRPr>
          </a:p>
          <a:p>
            <a:pPr marL="927100" marR="513715">
              <a:lnSpc>
                <a:spcPct val="100000"/>
              </a:lnSpc>
              <a:spcBef>
                <a:spcPts val="15"/>
              </a:spcBef>
            </a:pPr>
            <a:r>
              <a:rPr sz="2000" spc="-5" dirty="0">
                <a:latin typeface="Times New Roman"/>
                <a:cs typeface="Times New Roman"/>
              </a:rPr>
              <a:t>BarChart </a:t>
            </a:r>
            <a:r>
              <a:rPr sz="2000" dirty="0">
                <a:latin typeface="Times New Roman"/>
                <a:cs typeface="Times New Roman"/>
              </a:rPr>
              <a:t>chart = </a:t>
            </a:r>
            <a:r>
              <a:rPr sz="2000" b="1" spc="-5" dirty="0">
                <a:latin typeface="Times New Roman"/>
                <a:cs typeface="Times New Roman"/>
              </a:rPr>
              <a:t>new </a:t>
            </a:r>
            <a:r>
              <a:rPr sz="2000" spc="-5" dirty="0">
                <a:latin typeface="Times New Roman"/>
                <a:cs typeface="Times New Roman"/>
              </a:rPr>
              <a:t>BarChart();  chart.display();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85"/>
              </a:lnSpc>
            </a:pP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}else if(type.equalsIgnoreCase("line")){</a:t>
            </a:r>
            <a:endParaRPr sz="2000">
              <a:latin typeface="Times New Roman"/>
              <a:cs typeface="Times New Roman"/>
            </a:endParaRPr>
          </a:p>
          <a:p>
            <a:pPr marL="927100" marR="5080">
              <a:lnSpc>
                <a:spcPct val="100000"/>
              </a:lnSpc>
              <a:spcBef>
                <a:spcPts val="15"/>
              </a:spcBef>
            </a:pP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LineChart chart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= </a:t>
            </a: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new LineChart();  chart.display();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85"/>
              </a:lnSpc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5904" y="2420111"/>
            <a:ext cx="7903464" cy="583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1763" y="2417051"/>
            <a:ext cx="7912100" cy="591185"/>
          </a:xfrm>
          <a:custGeom>
            <a:avLst/>
            <a:gdLst/>
            <a:ahLst/>
            <a:cxnLst/>
            <a:rect l="l" t="t" r="r" b="b"/>
            <a:pathLst>
              <a:path w="7912100" h="591185">
                <a:moveTo>
                  <a:pt x="7912100" y="591185"/>
                </a:moveTo>
                <a:lnTo>
                  <a:pt x="0" y="591185"/>
                </a:lnTo>
                <a:lnTo>
                  <a:pt x="0" y="0"/>
                </a:lnTo>
                <a:lnTo>
                  <a:pt x="7912100" y="0"/>
                </a:lnTo>
                <a:lnTo>
                  <a:pt x="791210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583565"/>
                </a:lnTo>
                <a:lnTo>
                  <a:pt x="3809" y="583565"/>
                </a:lnTo>
                <a:lnTo>
                  <a:pt x="7619" y="587375"/>
                </a:lnTo>
                <a:lnTo>
                  <a:pt x="7912100" y="587375"/>
                </a:lnTo>
                <a:lnTo>
                  <a:pt x="7912100" y="591185"/>
                </a:lnTo>
                <a:close/>
              </a:path>
              <a:path w="7912100" h="59118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7912100" h="591185">
                <a:moveTo>
                  <a:pt x="790448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7904480" y="3810"/>
                </a:lnTo>
                <a:lnTo>
                  <a:pt x="7904480" y="7620"/>
                </a:lnTo>
                <a:close/>
              </a:path>
              <a:path w="7912100" h="591185">
                <a:moveTo>
                  <a:pt x="7904480" y="587375"/>
                </a:moveTo>
                <a:lnTo>
                  <a:pt x="7904480" y="3810"/>
                </a:lnTo>
                <a:lnTo>
                  <a:pt x="7908290" y="7620"/>
                </a:lnTo>
                <a:lnTo>
                  <a:pt x="7912100" y="7620"/>
                </a:lnTo>
                <a:lnTo>
                  <a:pt x="7912100" y="583565"/>
                </a:lnTo>
                <a:lnTo>
                  <a:pt x="7908290" y="583565"/>
                </a:lnTo>
                <a:lnTo>
                  <a:pt x="7904480" y="587375"/>
                </a:lnTo>
                <a:close/>
              </a:path>
              <a:path w="7912100" h="591185">
                <a:moveTo>
                  <a:pt x="7912100" y="7620"/>
                </a:moveTo>
                <a:lnTo>
                  <a:pt x="7908290" y="7620"/>
                </a:lnTo>
                <a:lnTo>
                  <a:pt x="7904480" y="3810"/>
                </a:lnTo>
                <a:lnTo>
                  <a:pt x="7912100" y="3810"/>
                </a:lnTo>
                <a:lnTo>
                  <a:pt x="7912100" y="7620"/>
                </a:lnTo>
                <a:close/>
              </a:path>
              <a:path w="7912100" h="591185">
                <a:moveTo>
                  <a:pt x="7619" y="587375"/>
                </a:moveTo>
                <a:lnTo>
                  <a:pt x="3809" y="583565"/>
                </a:lnTo>
                <a:lnTo>
                  <a:pt x="7619" y="583565"/>
                </a:lnTo>
                <a:lnTo>
                  <a:pt x="7619" y="587375"/>
                </a:lnTo>
                <a:close/>
              </a:path>
              <a:path w="7912100" h="591185">
                <a:moveTo>
                  <a:pt x="7904480" y="587375"/>
                </a:moveTo>
                <a:lnTo>
                  <a:pt x="7619" y="587375"/>
                </a:lnTo>
                <a:lnTo>
                  <a:pt x="7619" y="583565"/>
                </a:lnTo>
                <a:lnTo>
                  <a:pt x="7904480" y="583565"/>
                </a:lnTo>
                <a:lnTo>
                  <a:pt x="7904480" y="587375"/>
                </a:lnTo>
                <a:close/>
              </a:path>
              <a:path w="7912100" h="591185">
                <a:moveTo>
                  <a:pt x="7912100" y="587375"/>
                </a:moveTo>
                <a:lnTo>
                  <a:pt x="7904480" y="587375"/>
                </a:lnTo>
                <a:lnTo>
                  <a:pt x="7908290" y="583565"/>
                </a:lnTo>
                <a:lnTo>
                  <a:pt x="7912100" y="583565"/>
                </a:lnTo>
                <a:lnTo>
                  <a:pt x="7912100" y="58737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55904" y="2443086"/>
            <a:ext cx="79038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微软雅黑"/>
                <a:cs typeface="微软雅黑"/>
              </a:rPr>
              <a:t>违反了开闭原则，没有实现对修改是关闭</a:t>
            </a:r>
            <a:r>
              <a:rPr sz="3200" spc="5" dirty="0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55748" y="3543300"/>
            <a:ext cx="4104640" cy="1369060"/>
          </a:xfrm>
          <a:custGeom>
            <a:avLst/>
            <a:gdLst/>
            <a:ahLst/>
            <a:cxnLst/>
            <a:rect l="l" t="t" r="r" b="b"/>
            <a:pathLst>
              <a:path w="4104640" h="1369060">
                <a:moveTo>
                  <a:pt x="0" y="0"/>
                </a:moveTo>
                <a:lnTo>
                  <a:pt x="4104132" y="0"/>
                </a:lnTo>
                <a:lnTo>
                  <a:pt x="4104132" y="1368552"/>
                </a:lnTo>
                <a:lnTo>
                  <a:pt x="0" y="13685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49423" y="3537242"/>
            <a:ext cx="4117340" cy="1381125"/>
          </a:xfrm>
          <a:custGeom>
            <a:avLst/>
            <a:gdLst/>
            <a:ahLst/>
            <a:cxnLst/>
            <a:rect l="l" t="t" r="r" b="b"/>
            <a:pathLst>
              <a:path w="4117340" h="1381125">
                <a:moveTo>
                  <a:pt x="4117162" y="1380858"/>
                </a:moveTo>
                <a:lnTo>
                  <a:pt x="0" y="1380858"/>
                </a:lnTo>
                <a:lnTo>
                  <a:pt x="0" y="0"/>
                </a:lnTo>
                <a:lnTo>
                  <a:pt x="4117162" y="0"/>
                </a:lnTo>
                <a:lnTo>
                  <a:pt x="411716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368158"/>
                </a:lnTo>
                <a:lnTo>
                  <a:pt x="6350" y="1368158"/>
                </a:lnTo>
                <a:lnTo>
                  <a:pt x="12700" y="1374508"/>
                </a:lnTo>
                <a:lnTo>
                  <a:pt x="4117162" y="1374508"/>
                </a:lnTo>
                <a:lnTo>
                  <a:pt x="4117162" y="1380858"/>
                </a:lnTo>
                <a:close/>
              </a:path>
              <a:path w="4117340" h="13811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4117340" h="1381125">
                <a:moveTo>
                  <a:pt x="410446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4104462" y="6350"/>
                </a:lnTo>
                <a:lnTo>
                  <a:pt x="4104462" y="12700"/>
                </a:lnTo>
                <a:close/>
              </a:path>
              <a:path w="4117340" h="1381125">
                <a:moveTo>
                  <a:pt x="4104462" y="1374508"/>
                </a:moveTo>
                <a:lnTo>
                  <a:pt x="4104462" y="6350"/>
                </a:lnTo>
                <a:lnTo>
                  <a:pt x="4110812" y="12700"/>
                </a:lnTo>
                <a:lnTo>
                  <a:pt x="4117162" y="12700"/>
                </a:lnTo>
                <a:lnTo>
                  <a:pt x="4117162" y="1368158"/>
                </a:lnTo>
                <a:lnTo>
                  <a:pt x="4110812" y="1368158"/>
                </a:lnTo>
                <a:lnTo>
                  <a:pt x="4104462" y="1374508"/>
                </a:lnTo>
                <a:close/>
              </a:path>
              <a:path w="4117340" h="1381125">
                <a:moveTo>
                  <a:pt x="4117162" y="12700"/>
                </a:moveTo>
                <a:lnTo>
                  <a:pt x="4110812" y="12700"/>
                </a:lnTo>
                <a:lnTo>
                  <a:pt x="4104462" y="6350"/>
                </a:lnTo>
                <a:lnTo>
                  <a:pt x="4117162" y="6350"/>
                </a:lnTo>
                <a:lnTo>
                  <a:pt x="4117162" y="12700"/>
                </a:lnTo>
                <a:close/>
              </a:path>
              <a:path w="4117340" h="1381125">
                <a:moveTo>
                  <a:pt x="12700" y="1374508"/>
                </a:moveTo>
                <a:lnTo>
                  <a:pt x="6350" y="1368158"/>
                </a:lnTo>
                <a:lnTo>
                  <a:pt x="12700" y="1368158"/>
                </a:lnTo>
                <a:lnTo>
                  <a:pt x="12700" y="1374508"/>
                </a:lnTo>
                <a:close/>
              </a:path>
              <a:path w="4117340" h="1381125">
                <a:moveTo>
                  <a:pt x="4104462" y="1374508"/>
                </a:moveTo>
                <a:lnTo>
                  <a:pt x="12700" y="1374508"/>
                </a:lnTo>
                <a:lnTo>
                  <a:pt x="12700" y="1368158"/>
                </a:lnTo>
                <a:lnTo>
                  <a:pt x="4104462" y="1368158"/>
                </a:lnTo>
                <a:lnTo>
                  <a:pt x="4104462" y="1374508"/>
                </a:lnTo>
                <a:close/>
              </a:path>
              <a:path w="4117340" h="1381125">
                <a:moveTo>
                  <a:pt x="4117162" y="1374508"/>
                </a:moveTo>
                <a:lnTo>
                  <a:pt x="4104462" y="1374508"/>
                </a:lnTo>
                <a:lnTo>
                  <a:pt x="4110812" y="1368158"/>
                </a:lnTo>
                <a:lnTo>
                  <a:pt x="4117162" y="1368158"/>
                </a:lnTo>
                <a:lnTo>
                  <a:pt x="4117162" y="1374508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57360" y="1679689"/>
            <a:ext cx="3404870" cy="1641475"/>
          </a:xfrm>
          <a:custGeom>
            <a:avLst/>
            <a:gdLst/>
            <a:ahLst/>
            <a:cxnLst/>
            <a:rect l="l" t="t" r="r" b="b"/>
            <a:pathLst>
              <a:path w="3404870" h="1641475">
                <a:moveTo>
                  <a:pt x="0" y="0"/>
                </a:moveTo>
                <a:lnTo>
                  <a:pt x="3404273" y="0"/>
                </a:lnTo>
                <a:lnTo>
                  <a:pt x="3404273" y="1641144"/>
                </a:lnTo>
                <a:lnTo>
                  <a:pt x="0" y="1641144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57360" y="1679689"/>
            <a:ext cx="3404870" cy="1641475"/>
          </a:xfrm>
          <a:custGeom>
            <a:avLst/>
            <a:gdLst/>
            <a:ahLst/>
            <a:cxnLst/>
            <a:rect l="l" t="t" r="r" b="b"/>
            <a:pathLst>
              <a:path w="3404870" h="1641475">
                <a:moveTo>
                  <a:pt x="0" y="0"/>
                </a:moveTo>
                <a:lnTo>
                  <a:pt x="3404273" y="0"/>
                </a:lnTo>
                <a:lnTo>
                  <a:pt x="3404273" y="1641144"/>
                </a:lnTo>
                <a:lnTo>
                  <a:pt x="0" y="1641144"/>
                </a:lnTo>
                <a:lnTo>
                  <a:pt x="0" y="0"/>
                </a:lnTo>
                <a:close/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57360" y="1679689"/>
            <a:ext cx="3404870" cy="325755"/>
          </a:xfrm>
          <a:prstGeom prst="rect">
            <a:avLst/>
          </a:prstGeom>
          <a:solidFill>
            <a:srgbClr val="FFFFB8"/>
          </a:solidFill>
          <a:ln w="14795">
            <a:solidFill>
              <a:srgbClr val="8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610"/>
              </a:spcBef>
            </a:pPr>
            <a:r>
              <a:rPr sz="1250" b="1" spc="20" dirty="0">
                <a:latin typeface="Tahoma"/>
                <a:cs typeface="Tahoma"/>
              </a:rPr>
              <a:t>ChartDisplay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57360" y="2004961"/>
            <a:ext cx="3404870" cy="325755"/>
          </a:xfrm>
          <a:prstGeom prst="rect">
            <a:avLst/>
          </a:prstGeom>
          <a:ln w="14795">
            <a:solidFill>
              <a:srgbClr val="8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10"/>
              </a:spcBef>
            </a:pPr>
            <a:r>
              <a:rPr sz="1250" spc="15" dirty="0">
                <a:latin typeface="Tahoma"/>
                <a:cs typeface="Tahoma"/>
              </a:rPr>
              <a:t>-chart:</a:t>
            </a:r>
            <a:r>
              <a:rPr sz="1250" spc="-35" dirty="0">
                <a:latin typeface="Tahoma"/>
                <a:cs typeface="Tahoma"/>
              </a:rPr>
              <a:t> </a:t>
            </a:r>
            <a:r>
              <a:rPr sz="1250" spc="25" dirty="0">
                <a:latin typeface="Tahoma"/>
                <a:cs typeface="Tahoma"/>
              </a:rPr>
              <a:t>AbstractChart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57360" y="2330234"/>
            <a:ext cx="3404870" cy="990600"/>
          </a:xfrm>
          <a:prstGeom prst="rect">
            <a:avLst/>
          </a:prstGeom>
          <a:solidFill>
            <a:srgbClr val="FFFFB8"/>
          </a:solidFill>
          <a:ln w="14795">
            <a:solidFill>
              <a:srgbClr val="8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10"/>
              </a:spcBef>
            </a:pPr>
            <a:r>
              <a:rPr sz="1250" spc="10" dirty="0">
                <a:latin typeface="Tahoma"/>
                <a:cs typeface="Tahoma"/>
              </a:rPr>
              <a:t>+ChartDisplay()</a:t>
            </a:r>
            <a:endParaRPr sz="1250">
              <a:latin typeface="Tahoma"/>
              <a:cs typeface="Tahoma"/>
            </a:endParaRPr>
          </a:p>
          <a:p>
            <a:pPr marL="73660">
              <a:lnSpc>
                <a:spcPct val="100000"/>
              </a:lnSpc>
              <a:spcBef>
                <a:spcPts val="15"/>
              </a:spcBef>
            </a:pPr>
            <a:r>
              <a:rPr sz="1250" spc="10" dirty="0">
                <a:latin typeface="Tahoma"/>
                <a:cs typeface="Tahoma"/>
              </a:rPr>
              <a:t>+ChartDisplay(chart:</a:t>
            </a:r>
            <a:r>
              <a:rPr sz="1250" spc="-30" dirty="0">
                <a:latin typeface="Tahoma"/>
                <a:cs typeface="Tahoma"/>
              </a:rPr>
              <a:t> </a:t>
            </a:r>
            <a:r>
              <a:rPr sz="1250" spc="25" dirty="0">
                <a:latin typeface="Tahoma"/>
                <a:cs typeface="Tahoma"/>
              </a:rPr>
              <a:t>AbstractChart)</a:t>
            </a:r>
            <a:endParaRPr sz="1250">
              <a:latin typeface="Tahoma"/>
              <a:cs typeface="Tahoma"/>
            </a:endParaRPr>
          </a:p>
          <a:p>
            <a:pPr marL="73660">
              <a:lnSpc>
                <a:spcPct val="100000"/>
              </a:lnSpc>
              <a:spcBef>
                <a:spcPts val="15"/>
              </a:spcBef>
            </a:pPr>
            <a:r>
              <a:rPr sz="1250" spc="20" dirty="0">
                <a:latin typeface="Tahoma"/>
                <a:cs typeface="Tahoma"/>
              </a:rPr>
              <a:t>+setChart(chart: </a:t>
            </a:r>
            <a:r>
              <a:rPr sz="1250" spc="25" dirty="0">
                <a:latin typeface="Tahoma"/>
                <a:cs typeface="Tahoma"/>
              </a:rPr>
              <a:t>AbstractChart):</a:t>
            </a:r>
            <a:r>
              <a:rPr sz="1250" spc="-80" dirty="0">
                <a:latin typeface="Tahoma"/>
                <a:cs typeface="Tahoma"/>
              </a:rPr>
              <a:t> </a:t>
            </a:r>
            <a:r>
              <a:rPr sz="1250" spc="10" dirty="0">
                <a:latin typeface="Tahoma"/>
                <a:cs typeface="Tahoma"/>
              </a:rPr>
              <a:t>void</a:t>
            </a:r>
            <a:endParaRPr sz="1250">
              <a:latin typeface="Tahoma"/>
              <a:cs typeface="Tahoma"/>
            </a:endParaRPr>
          </a:p>
          <a:p>
            <a:pPr marL="73660">
              <a:lnSpc>
                <a:spcPct val="100000"/>
              </a:lnSpc>
              <a:spcBef>
                <a:spcPts val="10"/>
              </a:spcBef>
            </a:pPr>
            <a:r>
              <a:rPr sz="1250" spc="5" dirty="0">
                <a:latin typeface="Tahoma"/>
                <a:cs typeface="Tahoma"/>
              </a:rPr>
              <a:t>+show():</a:t>
            </a:r>
            <a:r>
              <a:rPr sz="1250" spc="-35" dirty="0">
                <a:latin typeface="Tahoma"/>
                <a:cs typeface="Tahoma"/>
              </a:rPr>
              <a:t> </a:t>
            </a:r>
            <a:r>
              <a:rPr sz="1250" spc="10" dirty="0">
                <a:latin typeface="Tahoma"/>
                <a:cs typeface="Tahoma"/>
              </a:rPr>
              <a:t>void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408616" y="3808742"/>
            <a:ext cx="2338705" cy="931544"/>
          </a:xfrm>
          <a:custGeom>
            <a:avLst/>
            <a:gdLst/>
            <a:ahLst/>
            <a:cxnLst/>
            <a:rect l="l" t="t" r="r" b="b"/>
            <a:pathLst>
              <a:path w="2338704" h="931545">
                <a:moveTo>
                  <a:pt x="0" y="0"/>
                </a:moveTo>
                <a:lnTo>
                  <a:pt x="2338590" y="0"/>
                </a:lnTo>
                <a:lnTo>
                  <a:pt x="2338590" y="931456"/>
                </a:lnTo>
                <a:lnTo>
                  <a:pt x="0" y="931456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08616" y="3808742"/>
            <a:ext cx="2338705" cy="931544"/>
          </a:xfrm>
          <a:custGeom>
            <a:avLst/>
            <a:gdLst/>
            <a:ahLst/>
            <a:cxnLst/>
            <a:rect l="l" t="t" r="r" b="b"/>
            <a:pathLst>
              <a:path w="2338704" h="931545">
                <a:moveTo>
                  <a:pt x="0" y="0"/>
                </a:moveTo>
                <a:lnTo>
                  <a:pt x="2338590" y="0"/>
                </a:lnTo>
                <a:lnTo>
                  <a:pt x="2338590" y="931456"/>
                </a:lnTo>
                <a:lnTo>
                  <a:pt x="0" y="931456"/>
                </a:lnTo>
                <a:lnTo>
                  <a:pt x="0" y="0"/>
                </a:lnTo>
                <a:close/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08616" y="3808742"/>
            <a:ext cx="2338705" cy="325755"/>
          </a:xfrm>
          <a:prstGeom prst="rect">
            <a:avLst/>
          </a:prstGeom>
          <a:solidFill>
            <a:srgbClr val="FFFFB8"/>
          </a:solidFill>
          <a:ln w="14795">
            <a:solidFill>
              <a:srgbClr val="8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610"/>
              </a:spcBef>
            </a:pPr>
            <a:r>
              <a:rPr sz="1250" b="1" spc="40" dirty="0">
                <a:latin typeface="Tahoma"/>
                <a:cs typeface="Tahoma"/>
              </a:rPr>
              <a:t>AbstractChart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408616" y="4134015"/>
            <a:ext cx="2353945" cy="0"/>
          </a:xfrm>
          <a:custGeom>
            <a:avLst/>
            <a:gdLst/>
            <a:ahLst/>
            <a:cxnLst/>
            <a:rect l="l" t="t" r="r" b="b"/>
            <a:pathLst>
              <a:path w="2353945">
                <a:moveTo>
                  <a:pt x="0" y="0"/>
                </a:moveTo>
                <a:lnTo>
                  <a:pt x="2353398" y="0"/>
                </a:lnTo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408616" y="4267085"/>
            <a:ext cx="2338705" cy="473709"/>
          </a:xfrm>
          <a:prstGeom prst="rect">
            <a:avLst/>
          </a:prstGeom>
          <a:solidFill>
            <a:srgbClr val="FFFFB8"/>
          </a:solidFill>
          <a:ln w="14795">
            <a:solidFill>
              <a:srgbClr val="8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610"/>
              </a:spcBef>
            </a:pPr>
            <a:r>
              <a:rPr sz="1250" dirty="0">
                <a:latin typeface="Tahoma"/>
                <a:cs typeface="Tahoma"/>
              </a:rPr>
              <a:t>+display():</a:t>
            </a:r>
            <a:r>
              <a:rPr sz="1250" spc="-35" dirty="0">
                <a:latin typeface="Tahoma"/>
                <a:cs typeface="Tahoma"/>
              </a:rPr>
              <a:t> </a:t>
            </a:r>
            <a:r>
              <a:rPr sz="1250" spc="10" dirty="0">
                <a:latin typeface="Tahoma"/>
                <a:cs typeface="Tahoma"/>
              </a:rPr>
              <a:t>void</a:t>
            </a:r>
            <a:endParaRPr sz="1250">
              <a:latin typeface="Tahoma"/>
              <a:cs typeface="Tahoma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980304" y="5102434"/>
          <a:ext cx="2101850" cy="872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272">
                <a:tc>
                  <a:txBody>
                    <a:bodyPr/>
                    <a:lstStyle/>
                    <a:p>
                      <a:pPr marL="7099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50" b="1" spc="15" dirty="0">
                          <a:latin typeface="Tahoma"/>
                          <a:cs typeface="Tahoma"/>
                        </a:rPr>
                        <a:t>PieChart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8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50" dirty="0">
                          <a:latin typeface="Tahoma"/>
                          <a:cs typeface="Tahoma"/>
                        </a:rPr>
                        <a:t>+display():</a:t>
                      </a:r>
                      <a:r>
                        <a:rPr sz="125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50" spc="10" dirty="0">
                          <a:latin typeface="Tahoma"/>
                          <a:cs typeface="Tahoma"/>
                        </a:rPr>
                        <a:t>void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4585315" y="5102434"/>
          <a:ext cx="2219960" cy="916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272">
                <a:tc>
                  <a:txBody>
                    <a:bodyPr/>
                    <a:lstStyle/>
                    <a:p>
                      <a:pPr marL="7543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50" b="1" spc="20" dirty="0">
                          <a:latin typeface="Tahoma"/>
                          <a:cs typeface="Tahoma"/>
                        </a:rPr>
                        <a:t>BarChart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33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50" dirty="0">
                          <a:latin typeface="Tahoma"/>
                          <a:cs typeface="Tahoma"/>
                        </a:rPr>
                        <a:t>+display():</a:t>
                      </a:r>
                      <a:r>
                        <a:rPr sz="125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50" spc="10" dirty="0">
                          <a:latin typeface="Tahoma"/>
                          <a:cs typeface="Tahoma"/>
                        </a:rPr>
                        <a:t>void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3571430" y="4754994"/>
            <a:ext cx="429259" cy="354965"/>
          </a:xfrm>
          <a:custGeom>
            <a:avLst/>
            <a:gdLst/>
            <a:ahLst/>
            <a:cxnLst/>
            <a:rect l="l" t="t" r="r" b="b"/>
            <a:pathLst>
              <a:path w="429260" h="354964">
                <a:moveTo>
                  <a:pt x="0" y="354838"/>
                </a:moveTo>
                <a:lnTo>
                  <a:pt x="429234" y="0"/>
                </a:lnTo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89845" y="4754994"/>
            <a:ext cx="311150" cy="281305"/>
          </a:xfrm>
          <a:custGeom>
            <a:avLst/>
            <a:gdLst/>
            <a:ahLst/>
            <a:cxnLst/>
            <a:rect l="l" t="t" r="r" b="b"/>
            <a:pathLst>
              <a:path w="311150" h="281304">
                <a:moveTo>
                  <a:pt x="162813" y="280911"/>
                </a:moveTo>
                <a:lnTo>
                  <a:pt x="0" y="88709"/>
                </a:lnTo>
                <a:lnTo>
                  <a:pt x="310819" y="0"/>
                </a:lnTo>
                <a:lnTo>
                  <a:pt x="162813" y="280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89845" y="4754994"/>
            <a:ext cx="311150" cy="281305"/>
          </a:xfrm>
          <a:custGeom>
            <a:avLst/>
            <a:gdLst/>
            <a:ahLst/>
            <a:cxnLst/>
            <a:rect l="l" t="t" r="r" b="b"/>
            <a:pathLst>
              <a:path w="311150" h="281304">
                <a:moveTo>
                  <a:pt x="162813" y="280911"/>
                </a:moveTo>
                <a:lnTo>
                  <a:pt x="310819" y="0"/>
                </a:lnTo>
                <a:lnTo>
                  <a:pt x="0" y="88709"/>
                </a:lnTo>
                <a:lnTo>
                  <a:pt x="162813" y="280911"/>
                </a:lnTo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92344" y="4754994"/>
            <a:ext cx="311150" cy="354965"/>
          </a:xfrm>
          <a:custGeom>
            <a:avLst/>
            <a:gdLst/>
            <a:ahLst/>
            <a:cxnLst/>
            <a:rect l="l" t="t" r="r" b="b"/>
            <a:pathLst>
              <a:path w="311150" h="354964">
                <a:moveTo>
                  <a:pt x="310832" y="354838"/>
                </a:moveTo>
                <a:lnTo>
                  <a:pt x="0" y="0"/>
                </a:lnTo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92344" y="4754994"/>
            <a:ext cx="281305" cy="295910"/>
          </a:xfrm>
          <a:custGeom>
            <a:avLst/>
            <a:gdLst/>
            <a:ahLst/>
            <a:cxnLst/>
            <a:rect l="l" t="t" r="r" b="b"/>
            <a:pathLst>
              <a:path w="281304" h="295910">
                <a:moveTo>
                  <a:pt x="103606" y="295694"/>
                </a:moveTo>
                <a:lnTo>
                  <a:pt x="0" y="0"/>
                </a:lnTo>
                <a:lnTo>
                  <a:pt x="281228" y="133057"/>
                </a:lnTo>
                <a:lnTo>
                  <a:pt x="103606" y="295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92344" y="4754994"/>
            <a:ext cx="281305" cy="295910"/>
          </a:xfrm>
          <a:custGeom>
            <a:avLst/>
            <a:gdLst/>
            <a:ahLst/>
            <a:cxnLst/>
            <a:rect l="l" t="t" r="r" b="b"/>
            <a:pathLst>
              <a:path w="281304" h="295910">
                <a:moveTo>
                  <a:pt x="281228" y="133057"/>
                </a:moveTo>
                <a:lnTo>
                  <a:pt x="0" y="0"/>
                </a:lnTo>
                <a:lnTo>
                  <a:pt x="103606" y="295694"/>
                </a:lnTo>
                <a:lnTo>
                  <a:pt x="281228" y="133057"/>
                </a:lnTo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18710" y="3335616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125"/>
                </a:lnTo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459503" y="3660889"/>
            <a:ext cx="118745" cy="147955"/>
          </a:xfrm>
          <a:custGeom>
            <a:avLst/>
            <a:gdLst/>
            <a:ahLst/>
            <a:cxnLst/>
            <a:rect l="l" t="t" r="r" b="b"/>
            <a:pathLst>
              <a:path w="118745" h="147954">
                <a:moveTo>
                  <a:pt x="0" y="0"/>
                </a:moveTo>
                <a:lnTo>
                  <a:pt x="59207" y="147853"/>
                </a:lnTo>
                <a:lnTo>
                  <a:pt x="118414" y="0"/>
                </a:lnTo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842493" y="3572179"/>
            <a:ext cx="1628139" cy="754380"/>
          </a:xfrm>
          <a:custGeom>
            <a:avLst/>
            <a:gdLst/>
            <a:ahLst/>
            <a:cxnLst/>
            <a:rect l="l" t="t" r="r" b="b"/>
            <a:pathLst>
              <a:path w="1628140" h="754379">
                <a:moveTo>
                  <a:pt x="1628140" y="754037"/>
                </a:moveTo>
                <a:lnTo>
                  <a:pt x="0" y="754037"/>
                </a:lnTo>
                <a:lnTo>
                  <a:pt x="0" y="0"/>
                </a:lnTo>
                <a:lnTo>
                  <a:pt x="1480121" y="0"/>
                </a:lnTo>
                <a:lnTo>
                  <a:pt x="1628140" y="147853"/>
                </a:lnTo>
                <a:lnTo>
                  <a:pt x="1628140" y="754037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842493" y="3572179"/>
            <a:ext cx="1628139" cy="754380"/>
          </a:xfrm>
          <a:custGeom>
            <a:avLst/>
            <a:gdLst/>
            <a:ahLst/>
            <a:cxnLst/>
            <a:rect l="l" t="t" r="r" b="b"/>
            <a:pathLst>
              <a:path w="1628140" h="754379">
                <a:moveTo>
                  <a:pt x="0" y="0"/>
                </a:moveTo>
                <a:lnTo>
                  <a:pt x="1480121" y="0"/>
                </a:lnTo>
                <a:lnTo>
                  <a:pt x="1628140" y="147853"/>
                </a:lnTo>
                <a:lnTo>
                  <a:pt x="1628140" y="754037"/>
                </a:lnTo>
                <a:lnTo>
                  <a:pt x="0" y="754037"/>
                </a:lnTo>
                <a:lnTo>
                  <a:pt x="0" y="0"/>
                </a:lnTo>
              </a:path>
            </a:pathLst>
          </a:custGeom>
          <a:ln w="1479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15217" y="3564782"/>
            <a:ext cx="162814" cy="1626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903808" y="3606784"/>
            <a:ext cx="1376045" cy="690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865" marR="5080" indent="-177800">
              <a:lnSpc>
                <a:spcPct val="116399"/>
              </a:lnSpc>
              <a:spcBef>
                <a:spcPts val="95"/>
              </a:spcBef>
            </a:pPr>
            <a:r>
              <a:rPr sz="1250" spc="-15" dirty="0">
                <a:latin typeface="Tahoma"/>
                <a:cs typeface="Tahoma"/>
              </a:rPr>
              <a:t>public </a:t>
            </a:r>
            <a:r>
              <a:rPr sz="1250" spc="10" dirty="0">
                <a:latin typeface="Tahoma"/>
                <a:cs typeface="Tahoma"/>
              </a:rPr>
              <a:t>void</a:t>
            </a:r>
            <a:r>
              <a:rPr sz="1250" spc="-130" dirty="0">
                <a:latin typeface="Tahoma"/>
                <a:cs typeface="Tahoma"/>
              </a:rPr>
              <a:t> </a:t>
            </a:r>
            <a:r>
              <a:rPr sz="1250" dirty="0">
                <a:latin typeface="Tahoma"/>
                <a:cs typeface="Tahoma"/>
              </a:rPr>
              <a:t>show(){  </a:t>
            </a:r>
            <a:r>
              <a:rPr sz="1250" spc="10" dirty="0">
                <a:latin typeface="Tahoma"/>
                <a:cs typeface="Tahoma"/>
              </a:rPr>
              <a:t>chart.display();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250" spc="15" dirty="0">
                <a:latin typeface="Tahoma"/>
                <a:cs typeface="Tahoma"/>
              </a:rPr>
              <a:t>}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176441" y="3291268"/>
            <a:ext cx="666115" cy="295910"/>
          </a:xfrm>
          <a:custGeom>
            <a:avLst/>
            <a:gdLst/>
            <a:ahLst/>
            <a:cxnLst/>
            <a:rect l="l" t="t" r="r" b="b"/>
            <a:pathLst>
              <a:path w="666115" h="295910">
                <a:moveTo>
                  <a:pt x="666051" y="295706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176441" y="3291268"/>
            <a:ext cx="666115" cy="295910"/>
          </a:xfrm>
          <a:custGeom>
            <a:avLst/>
            <a:gdLst/>
            <a:ahLst/>
            <a:cxnLst/>
            <a:rect l="l" t="t" r="r" b="b"/>
            <a:pathLst>
              <a:path w="666115" h="295910">
                <a:moveTo>
                  <a:pt x="666051" y="295706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8739" y="1481454"/>
            <a:ext cx="9969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方案二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6.2.3</a:t>
            </a:r>
            <a:r>
              <a:rPr sz="4400" spc="-90" dirty="0"/>
              <a:t> </a:t>
            </a:r>
            <a:r>
              <a:rPr sz="4400" dirty="0"/>
              <a:t>开闭原</a:t>
            </a:r>
            <a:r>
              <a:rPr sz="4400" spc="5" dirty="0"/>
              <a:t>则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52750" y="2012378"/>
            <a:ext cx="1874520" cy="267970"/>
          </a:xfrm>
          <a:custGeom>
            <a:avLst/>
            <a:gdLst/>
            <a:ahLst/>
            <a:cxnLst/>
            <a:rect l="l" t="t" r="r" b="b"/>
            <a:pathLst>
              <a:path w="1874520" h="267969">
                <a:moveTo>
                  <a:pt x="1874304" y="267627"/>
                </a:moveTo>
                <a:lnTo>
                  <a:pt x="0" y="267627"/>
                </a:lnTo>
                <a:lnTo>
                  <a:pt x="0" y="0"/>
                </a:lnTo>
                <a:lnTo>
                  <a:pt x="1874304" y="0"/>
                </a:lnTo>
                <a:lnTo>
                  <a:pt x="1874304" y="19049"/>
                </a:lnTo>
                <a:lnTo>
                  <a:pt x="38100" y="19049"/>
                </a:lnTo>
                <a:lnTo>
                  <a:pt x="19050" y="38099"/>
                </a:lnTo>
                <a:lnTo>
                  <a:pt x="38100" y="38099"/>
                </a:lnTo>
                <a:lnTo>
                  <a:pt x="38100" y="229527"/>
                </a:lnTo>
                <a:lnTo>
                  <a:pt x="19050" y="229527"/>
                </a:lnTo>
                <a:lnTo>
                  <a:pt x="38100" y="248577"/>
                </a:lnTo>
                <a:lnTo>
                  <a:pt x="1874304" y="248577"/>
                </a:lnTo>
                <a:lnTo>
                  <a:pt x="1874304" y="267627"/>
                </a:lnTo>
                <a:close/>
              </a:path>
              <a:path w="1874520" h="267969">
                <a:moveTo>
                  <a:pt x="38100" y="38099"/>
                </a:moveTo>
                <a:lnTo>
                  <a:pt x="19050" y="38099"/>
                </a:lnTo>
                <a:lnTo>
                  <a:pt x="38100" y="19049"/>
                </a:lnTo>
                <a:lnTo>
                  <a:pt x="38100" y="38099"/>
                </a:lnTo>
                <a:close/>
              </a:path>
              <a:path w="1874520" h="267969">
                <a:moveTo>
                  <a:pt x="1836204" y="38099"/>
                </a:moveTo>
                <a:lnTo>
                  <a:pt x="38100" y="38099"/>
                </a:lnTo>
                <a:lnTo>
                  <a:pt x="38100" y="19049"/>
                </a:lnTo>
                <a:lnTo>
                  <a:pt x="1836204" y="19049"/>
                </a:lnTo>
                <a:lnTo>
                  <a:pt x="1836204" y="38099"/>
                </a:lnTo>
                <a:close/>
              </a:path>
              <a:path w="1874520" h="267969">
                <a:moveTo>
                  <a:pt x="1836204" y="248577"/>
                </a:moveTo>
                <a:lnTo>
                  <a:pt x="1836204" y="19049"/>
                </a:lnTo>
                <a:lnTo>
                  <a:pt x="1855254" y="38099"/>
                </a:lnTo>
                <a:lnTo>
                  <a:pt x="1874304" y="38099"/>
                </a:lnTo>
                <a:lnTo>
                  <a:pt x="1874304" y="229527"/>
                </a:lnTo>
                <a:lnTo>
                  <a:pt x="1855254" y="229527"/>
                </a:lnTo>
                <a:lnTo>
                  <a:pt x="1836204" y="248577"/>
                </a:lnTo>
                <a:close/>
              </a:path>
              <a:path w="1874520" h="267969">
                <a:moveTo>
                  <a:pt x="1874304" y="38099"/>
                </a:moveTo>
                <a:lnTo>
                  <a:pt x="1855254" y="38099"/>
                </a:lnTo>
                <a:lnTo>
                  <a:pt x="1836204" y="19049"/>
                </a:lnTo>
                <a:lnTo>
                  <a:pt x="1874304" y="19049"/>
                </a:lnTo>
                <a:lnTo>
                  <a:pt x="1874304" y="38099"/>
                </a:lnTo>
                <a:close/>
              </a:path>
              <a:path w="1874520" h="267969">
                <a:moveTo>
                  <a:pt x="38100" y="248577"/>
                </a:moveTo>
                <a:lnTo>
                  <a:pt x="19050" y="229527"/>
                </a:lnTo>
                <a:lnTo>
                  <a:pt x="38100" y="229527"/>
                </a:lnTo>
                <a:lnTo>
                  <a:pt x="38100" y="248577"/>
                </a:lnTo>
                <a:close/>
              </a:path>
              <a:path w="1874520" h="267969">
                <a:moveTo>
                  <a:pt x="1836204" y="248577"/>
                </a:moveTo>
                <a:lnTo>
                  <a:pt x="38100" y="248577"/>
                </a:lnTo>
                <a:lnTo>
                  <a:pt x="38100" y="229527"/>
                </a:lnTo>
                <a:lnTo>
                  <a:pt x="1836204" y="229527"/>
                </a:lnTo>
                <a:lnTo>
                  <a:pt x="1836204" y="248577"/>
                </a:lnTo>
                <a:close/>
              </a:path>
              <a:path w="1874520" h="267969">
                <a:moveTo>
                  <a:pt x="1874304" y="248577"/>
                </a:moveTo>
                <a:lnTo>
                  <a:pt x="1836204" y="248577"/>
                </a:lnTo>
                <a:lnTo>
                  <a:pt x="1855254" y="229527"/>
                </a:lnTo>
                <a:lnTo>
                  <a:pt x="1874304" y="229527"/>
                </a:lnTo>
                <a:lnTo>
                  <a:pt x="1874304" y="24857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76375"/>
            <a:ext cx="7944484" cy="245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微软雅黑"/>
                <a:cs typeface="微软雅黑"/>
              </a:rPr>
              <a:t>方案二</a:t>
            </a:r>
            <a:endParaRPr sz="2400">
              <a:latin typeface="微软雅黑"/>
              <a:cs typeface="微软雅黑"/>
            </a:endParaRPr>
          </a:p>
          <a:p>
            <a:pPr marL="527050" marR="36195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（</a:t>
            </a:r>
            <a:r>
              <a:rPr sz="2400" spc="-5" dirty="0">
                <a:latin typeface="微软雅黑"/>
                <a:cs typeface="微软雅黑"/>
              </a:rPr>
              <a:t>1</a:t>
            </a:r>
            <a:r>
              <a:rPr sz="2400" dirty="0">
                <a:latin typeface="微软雅黑"/>
                <a:cs typeface="微软雅黑"/>
              </a:rPr>
              <a:t>）增加一个抽象图表类Ab</a:t>
            </a:r>
            <a:r>
              <a:rPr sz="2400" spc="-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t</a:t>
            </a:r>
            <a:r>
              <a:rPr sz="2400" spc="-5" dirty="0">
                <a:latin typeface="微软雅黑"/>
                <a:cs typeface="微软雅黑"/>
              </a:rPr>
              <a:t>ra</a:t>
            </a:r>
            <a:r>
              <a:rPr sz="2400" dirty="0">
                <a:latin typeface="微软雅黑"/>
                <a:cs typeface="微软雅黑"/>
              </a:rPr>
              <a:t>ct</a:t>
            </a:r>
            <a:r>
              <a:rPr sz="2400" spc="-5" dirty="0">
                <a:latin typeface="微软雅黑"/>
                <a:cs typeface="微软雅黑"/>
              </a:rPr>
              <a:t>C</a:t>
            </a:r>
            <a:r>
              <a:rPr sz="2400" dirty="0">
                <a:latin typeface="微软雅黑"/>
                <a:cs typeface="微软雅黑"/>
              </a:rPr>
              <a:t>h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spc="65" dirty="0">
                <a:latin typeface="微软雅黑"/>
                <a:cs typeface="微软雅黑"/>
              </a:rPr>
              <a:t>r</a:t>
            </a:r>
            <a:r>
              <a:rPr sz="2400" dirty="0">
                <a:latin typeface="微软雅黑"/>
                <a:cs typeface="微软雅黑"/>
              </a:rPr>
              <a:t>t，将各种具体 图表类作为其子类；</a:t>
            </a:r>
            <a:endParaRPr sz="2400">
              <a:latin typeface="微软雅黑"/>
              <a:cs typeface="微软雅黑"/>
            </a:endParaRPr>
          </a:p>
          <a:p>
            <a:pPr marL="527050" marR="5080" lvl="1" indent="-171450">
              <a:lnSpc>
                <a:spcPts val="259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（2）ChartDisplay类针对抽象图表类AbstractChart进 行编程：将抽象类AbstractChart的引用</a:t>
            </a:r>
            <a:r>
              <a:rPr sz="2400" spc="10" dirty="0">
                <a:latin typeface="微软雅黑"/>
                <a:cs typeface="微软雅黑"/>
              </a:rPr>
              <a:t>chart</a:t>
            </a:r>
            <a:r>
              <a:rPr sz="2400" dirty="0">
                <a:latin typeface="微软雅黑"/>
                <a:cs typeface="微软雅黑"/>
              </a:rPr>
              <a:t>作为自己 的数据成员，在</a:t>
            </a:r>
            <a:r>
              <a:rPr sz="2400" spc="-5" dirty="0">
                <a:latin typeface="微软雅黑"/>
                <a:cs typeface="微软雅黑"/>
              </a:rPr>
              <a:t>display()</a:t>
            </a:r>
            <a:r>
              <a:rPr sz="2400" dirty="0">
                <a:latin typeface="微软雅黑"/>
                <a:cs typeface="微软雅黑"/>
              </a:rPr>
              <a:t>方法中调用</a:t>
            </a:r>
            <a:r>
              <a:rPr sz="2400" spc="10" dirty="0">
                <a:latin typeface="微软雅黑"/>
                <a:cs typeface="微软雅黑"/>
              </a:rPr>
              <a:t>chart</a:t>
            </a:r>
            <a:r>
              <a:rPr sz="2400" dirty="0">
                <a:latin typeface="微软雅黑"/>
                <a:cs typeface="微软雅黑"/>
              </a:rPr>
              <a:t>对象的 </a:t>
            </a:r>
            <a:r>
              <a:rPr sz="2400" spc="-5" dirty="0">
                <a:latin typeface="微软雅黑"/>
                <a:cs typeface="微软雅黑"/>
              </a:rPr>
              <a:t>display()</a:t>
            </a:r>
            <a:r>
              <a:rPr sz="2400" dirty="0">
                <a:latin typeface="微软雅黑"/>
                <a:cs typeface="微软雅黑"/>
              </a:rPr>
              <a:t>方法显示图表（多态性的应用）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6.2.3</a:t>
            </a:r>
            <a:r>
              <a:rPr sz="4400" spc="-90" dirty="0"/>
              <a:t> </a:t>
            </a:r>
            <a:r>
              <a:rPr sz="4400" dirty="0"/>
              <a:t>开闭原</a:t>
            </a:r>
            <a:r>
              <a:rPr sz="4400" spc="5" dirty="0"/>
              <a:t>则	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387" y="863155"/>
            <a:ext cx="1129665" cy="0"/>
          </a:xfrm>
          <a:custGeom>
            <a:avLst/>
            <a:gdLst/>
            <a:ahLst/>
            <a:cxnLst/>
            <a:rect l="l" t="t" r="r" b="b"/>
            <a:pathLst>
              <a:path w="1129665">
                <a:moveTo>
                  <a:pt x="0" y="0"/>
                </a:moveTo>
                <a:lnTo>
                  <a:pt x="1129144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2570" y="863155"/>
            <a:ext cx="4611370" cy="0"/>
          </a:xfrm>
          <a:custGeom>
            <a:avLst/>
            <a:gdLst/>
            <a:ahLst/>
            <a:cxnLst/>
            <a:rect l="l" t="t" r="r" b="b"/>
            <a:pathLst>
              <a:path w="4611370">
                <a:moveTo>
                  <a:pt x="0" y="0"/>
                </a:moveTo>
                <a:lnTo>
                  <a:pt x="4611154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1689" y="1450975"/>
            <a:ext cx="7586980" cy="469709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7880" y="1447164"/>
            <a:ext cx="7594600" cy="4704715"/>
          </a:xfrm>
          <a:custGeom>
            <a:avLst/>
            <a:gdLst/>
            <a:ahLst/>
            <a:cxnLst/>
            <a:rect l="l" t="t" r="r" b="b"/>
            <a:pathLst>
              <a:path w="7594600" h="4704715">
                <a:moveTo>
                  <a:pt x="7594600" y="4704715"/>
                </a:moveTo>
                <a:lnTo>
                  <a:pt x="0" y="4704715"/>
                </a:lnTo>
                <a:lnTo>
                  <a:pt x="0" y="0"/>
                </a:lnTo>
                <a:lnTo>
                  <a:pt x="7594600" y="0"/>
                </a:lnTo>
                <a:lnTo>
                  <a:pt x="759460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4697095"/>
                </a:lnTo>
                <a:lnTo>
                  <a:pt x="3809" y="4697095"/>
                </a:lnTo>
                <a:lnTo>
                  <a:pt x="7619" y="4700905"/>
                </a:lnTo>
                <a:lnTo>
                  <a:pt x="7594600" y="4700905"/>
                </a:lnTo>
                <a:lnTo>
                  <a:pt x="7594600" y="4704715"/>
                </a:lnTo>
                <a:close/>
              </a:path>
              <a:path w="7594600" h="470471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7594600" h="4704715">
                <a:moveTo>
                  <a:pt x="758698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7586980" y="3810"/>
                </a:lnTo>
                <a:lnTo>
                  <a:pt x="7586980" y="7620"/>
                </a:lnTo>
                <a:close/>
              </a:path>
              <a:path w="7594600" h="4704715">
                <a:moveTo>
                  <a:pt x="7586980" y="4700905"/>
                </a:moveTo>
                <a:lnTo>
                  <a:pt x="7586980" y="3810"/>
                </a:lnTo>
                <a:lnTo>
                  <a:pt x="7590790" y="7620"/>
                </a:lnTo>
                <a:lnTo>
                  <a:pt x="7594600" y="7620"/>
                </a:lnTo>
                <a:lnTo>
                  <a:pt x="7594600" y="4697095"/>
                </a:lnTo>
                <a:lnTo>
                  <a:pt x="7590790" y="4697095"/>
                </a:lnTo>
                <a:lnTo>
                  <a:pt x="7586980" y="4700905"/>
                </a:lnTo>
                <a:close/>
              </a:path>
              <a:path w="7594600" h="4704715">
                <a:moveTo>
                  <a:pt x="7594600" y="7620"/>
                </a:moveTo>
                <a:lnTo>
                  <a:pt x="7590790" y="7620"/>
                </a:lnTo>
                <a:lnTo>
                  <a:pt x="7586980" y="3810"/>
                </a:lnTo>
                <a:lnTo>
                  <a:pt x="7594600" y="3810"/>
                </a:lnTo>
                <a:lnTo>
                  <a:pt x="7594600" y="7620"/>
                </a:lnTo>
                <a:close/>
              </a:path>
              <a:path w="7594600" h="4704715">
                <a:moveTo>
                  <a:pt x="7619" y="4700905"/>
                </a:moveTo>
                <a:lnTo>
                  <a:pt x="3809" y="4697095"/>
                </a:lnTo>
                <a:lnTo>
                  <a:pt x="7619" y="4697095"/>
                </a:lnTo>
                <a:lnTo>
                  <a:pt x="7619" y="4700905"/>
                </a:lnTo>
                <a:close/>
              </a:path>
              <a:path w="7594600" h="4704715">
                <a:moveTo>
                  <a:pt x="7586980" y="4700905"/>
                </a:moveTo>
                <a:lnTo>
                  <a:pt x="7619" y="4700905"/>
                </a:lnTo>
                <a:lnTo>
                  <a:pt x="7619" y="4697095"/>
                </a:lnTo>
                <a:lnTo>
                  <a:pt x="7586980" y="4697095"/>
                </a:lnTo>
                <a:lnTo>
                  <a:pt x="7586980" y="4700905"/>
                </a:lnTo>
                <a:close/>
              </a:path>
              <a:path w="7594600" h="4704715">
                <a:moveTo>
                  <a:pt x="7594600" y="4700905"/>
                </a:moveTo>
                <a:lnTo>
                  <a:pt x="7586980" y="4700905"/>
                </a:lnTo>
                <a:lnTo>
                  <a:pt x="7590790" y="4697095"/>
                </a:lnTo>
                <a:lnTo>
                  <a:pt x="7594600" y="4697095"/>
                </a:lnTo>
                <a:lnTo>
                  <a:pt x="7594600" y="470090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10285" y="1448434"/>
            <a:ext cx="181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public class </a:t>
            </a:r>
            <a:r>
              <a:rPr sz="1800" spc="-5" dirty="0">
                <a:latin typeface="Calibri"/>
                <a:cs typeface="Calibri"/>
              </a:rPr>
              <a:t>Client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14829" y="1790065"/>
            <a:ext cx="3460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public </a:t>
            </a:r>
            <a:r>
              <a:rPr sz="1800" b="1" spc="-15" dirty="0">
                <a:latin typeface="Calibri"/>
                <a:cs typeface="Calibri"/>
              </a:rPr>
              <a:t>static </a:t>
            </a:r>
            <a:r>
              <a:rPr sz="1800" b="1" spc="-10" dirty="0">
                <a:latin typeface="Calibri"/>
                <a:cs typeface="Calibri"/>
              </a:rPr>
              <a:t>void </a:t>
            </a:r>
            <a:r>
              <a:rPr sz="1800" spc="-5" dirty="0">
                <a:latin typeface="Calibri"/>
                <a:cs typeface="Calibri"/>
              </a:rPr>
              <a:t>main(String[] </a:t>
            </a:r>
            <a:r>
              <a:rPr sz="1800" spc="-10" dirty="0">
                <a:latin typeface="Calibri"/>
                <a:cs typeface="Calibri"/>
              </a:rPr>
              <a:t>args){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29229" y="2131695"/>
            <a:ext cx="2560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ChartDisplay </a:t>
            </a:r>
            <a:r>
              <a:rPr sz="1800" spc="-10" dirty="0">
                <a:latin typeface="Calibri"/>
                <a:cs typeface="Calibri"/>
              </a:rPr>
              <a:t>chartDisplay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27650" y="2201545"/>
            <a:ext cx="12484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10" dirty="0">
                <a:latin typeface="Calibri"/>
                <a:cs typeface="Calibri"/>
              </a:rPr>
              <a:t>new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ChartDis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63359" y="2131695"/>
            <a:ext cx="30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53555" y="2201545"/>
            <a:ext cx="3035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()</a:t>
            </a:r>
            <a:r>
              <a:rPr sz="1800" dirty="0">
                <a:latin typeface="Calibri"/>
                <a:cs typeface="Calibri"/>
              </a:rPr>
              <a:t>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0285" y="2740025"/>
            <a:ext cx="5149850" cy="369570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731645">
              <a:lnSpc>
                <a:spcPct val="100000"/>
              </a:lnSpc>
              <a:spcBef>
                <a:spcPts val="690"/>
              </a:spcBef>
            </a:pPr>
            <a:r>
              <a:rPr sz="1800" spc="-5" dirty="0">
                <a:latin typeface="Calibri"/>
                <a:cs typeface="Calibri"/>
              </a:rPr>
              <a:t>PieChart pie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b="1" spc="-10" dirty="0">
                <a:latin typeface="Calibri"/>
                <a:cs typeface="Calibri"/>
              </a:rPr>
              <a:t>new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PieChart();</a:t>
            </a:r>
            <a:endParaRPr sz="1800">
              <a:latin typeface="Calibri"/>
              <a:cs typeface="Calibri"/>
            </a:endParaRPr>
          </a:p>
          <a:p>
            <a:pPr marL="1731645" marR="5080">
              <a:lnSpc>
                <a:spcPct val="123100"/>
              </a:lnSpc>
              <a:spcBef>
                <a:spcPts val="90"/>
              </a:spcBef>
            </a:pPr>
            <a:r>
              <a:rPr sz="1800" spc="-5" dirty="0">
                <a:latin typeface="Calibri"/>
                <a:cs typeface="Calibri"/>
              </a:rPr>
              <a:t>//</a:t>
            </a:r>
            <a:r>
              <a:rPr sz="1800" dirty="0">
                <a:latin typeface="微软雅黑"/>
                <a:cs typeface="微软雅黑"/>
              </a:rPr>
              <a:t>向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ha</a:t>
            </a:r>
            <a:r>
              <a:rPr sz="1800" dirty="0">
                <a:latin typeface="Calibri"/>
                <a:cs typeface="Calibri"/>
              </a:rPr>
              <a:t>rt</a:t>
            </a:r>
            <a:r>
              <a:rPr sz="1800" spc="-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40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dirty="0">
                <a:latin typeface="微软雅黑"/>
                <a:cs typeface="微软雅黑"/>
              </a:rPr>
              <a:t>注入具体图表对象 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chartDisplay.setChart(pie);  </a:t>
            </a:r>
            <a:r>
              <a:rPr sz="1800" spc="-15" dirty="0">
                <a:latin typeface="Calibri"/>
                <a:cs typeface="Calibri"/>
              </a:rPr>
              <a:t>chartDisplay.show();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Calibri"/>
              <a:cs typeface="Calibri"/>
            </a:endParaRPr>
          </a:p>
          <a:p>
            <a:pPr marL="173164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BarChart bar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b="1" spc="-10" dirty="0">
                <a:latin typeface="Calibri"/>
                <a:cs typeface="Calibri"/>
              </a:rPr>
              <a:t>new </a:t>
            </a:r>
            <a:r>
              <a:rPr sz="1800" spc="-5" dirty="0">
                <a:latin typeface="Calibri"/>
                <a:cs typeface="Calibri"/>
              </a:rPr>
              <a:t>BarChart();</a:t>
            </a:r>
            <a:endParaRPr sz="1800">
              <a:latin typeface="Calibri"/>
              <a:cs typeface="Calibri"/>
            </a:endParaRPr>
          </a:p>
          <a:p>
            <a:pPr marL="1731645">
              <a:lnSpc>
                <a:spcPct val="100000"/>
              </a:lnSpc>
              <a:spcBef>
                <a:spcPts val="590"/>
              </a:spcBef>
            </a:pPr>
            <a:r>
              <a:rPr sz="1800" spc="-5" dirty="0">
                <a:latin typeface="Calibri"/>
                <a:cs typeface="Calibri"/>
              </a:rPr>
              <a:t>//</a:t>
            </a:r>
            <a:r>
              <a:rPr sz="1800" dirty="0">
                <a:latin typeface="微软雅黑"/>
                <a:cs typeface="微软雅黑"/>
              </a:rPr>
              <a:t>向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ha</a:t>
            </a:r>
            <a:r>
              <a:rPr sz="1800" dirty="0">
                <a:latin typeface="Calibri"/>
                <a:cs typeface="Calibri"/>
              </a:rPr>
              <a:t>rt</a:t>
            </a:r>
            <a:r>
              <a:rPr sz="1800" spc="-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40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dirty="0">
                <a:latin typeface="微软雅黑"/>
                <a:cs typeface="微软雅黑"/>
              </a:rPr>
              <a:t>注入具体图表对象</a:t>
            </a:r>
            <a:endParaRPr sz="1800">
              <a:latin typeface="微软雅黑"/>
              <a:cs typeface="微软雅黑"/>
            </a:endParaRPr>
          </a:p>
          <a:p>
            <a:pPr marL="1731645" marR="925830">
              <a:lnSpc>
                <a:spcPts val="1939"/>
              </a:lnSpc>
              <a:spcBef>
                <a:spcPts val="720"/>
              </a:spcBef>
            </a:pP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cha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rt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spc="-12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.s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tC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ha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rt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(ba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;  </a:t>
            </a:r>
            <a:r>
              <a:rPr sz="1800" spc="-15" dirty="0">
                <a:latin typeface="Calibri"/>
                <a:cs typeface="Calibri"/>
              </a:rPr>
              <a:t>chartDisplay.show();</a:t>
            </a:r>
            <a:endParaRPr sz="1800">
              <a:latin typeface="Calibri"/>
              <a:cs typeface="Calibri"/>
            </a:endParaRPr>
          </a:p>
          <a:p>
            <a:pPr marL="817244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283652" y="148450"/>
            <a:ext cx="37807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none" spc="-5" dirty="0"/>
              <a:t>6.2.3</a:t>
            </a:r>
            <a:r>
              <a:rPr sz="4400" u="none" spc="-85" dirty="0"/>
              <a:t> </a:t>
            </a:r>
            <a:r>
              <a:rPr sz="4400" u="none" dirty="0"/>
              <a:t>开闭原</a:t>
            </a:r>
            <a:r>
              <a:rPr sz="4400" u="none" spc="5" dirty="0"/>
              <a:t>则</a:t>
            </a:r>
            <a:endParaRPr sz="4400"/>
          </a:p>
        </p:txBody>
      </p:sp>
      <p:sp>
        <p:nvSpPr>
          <p:cNvPr id="32" name="object 32"/>
          <p:cNvSpPr/>
          <p:nvPr/>
        </p:nvSpPr>
        <p:spPr>
          <a:xfrm>
            <a:off x="5773724" y="173634"/>
            <a:ext cx="1998980" cy="963930"/>
          </a:xfrm>
          <a:custGeom>
            <a:avLst/>
            <a:gdLst/>
            <a:ahLst/>
            <a:cxnLst/>
            <a:rect l="l" t="t" r="r" b="b"/>
            <a:pathLst>
              <a:path w="1998979" h="963930">
                <a:moveTo>
                  <a:pt x="0" y="0"/>
                </a:moveTo>
                <a:lnTo>
                  <a:pt x="1998662" y="0"/>
                </a:lnTo>
                <a:lnTo>
                  <a:pt x="1998662" y="963650"/>
                </a:lnTo>
                <a:lnTo>
                  <a:pt x="0" y="963650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73724" y="173634"/>
            <a:ext cx="1998980" cy="963930"/>
          </a:xfrm>
          <a:custGeom>
            <a:avLst/>
            <a:gdLst/>
            <a:ahLst/>
            <a:cxnLst/>
            <a:rect l="l" t="t" r="r" b="b"/>
            <a:pathLst>
              <a:path w="1998979" h="963930">
                <a:moveTo>
                  <a:pt x="0" y="0"/>
                </a:moveTo>
                <a:lnTo>
                  <a:pt x="1998662" y="0"/>
                </a:lnTo>
                <a:lnTo>
                  <a:pt x="1998662" y="963650"/>
                </a:lnTo>
                <a:lnTo>
                  <a:pt x="0" y="963650"/>
                </a:lnTo>
                <a:lnTo>
                  <a:pt x="0" y="0"/>
                </a:lnTo>
                <a:close/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456222" y="204279"/>
            <a:ext cx="64516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latin typeface="Tahoma"/>
                <a:cs typeface="Tahoma"/>
              </a:rPr>
              <a:t>ChartDisplay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4484" y="395274"/>
            <a:ext cx="9264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ahoma"/>
                <a:cs typeface="Tahoma"/>
              </a:rPr>
              <a:t>-chart:</a:t>
            </a:r>
            <a:r>
              <a:rPr sz="750" spc="-45" dirty="0">
                <a:latin typeface="Tahoma"/>
                <a:cs typeface="Tahoma"/>
              </a:rPr>
              <a:t> </a:t>
            </a:r>
            <a:r>
              <a:rPr sz="750" spc="5" dirty="0">
                <a:latin typeface="Tahoma"/>
                <a:cs typeface="Tahoma"/>
              </a:rPr>
              <a:t>AbstractChart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73724" y="364616"/>
            <a:ext cx="2007870" cy="0"/>
          </a:xfrm>
          <a:custGeom>
            <a:avLst/>
            <a:gdLst/>
            <a:ahLst/>
            <a:cxnLst/>
            <a:rect l="l" t="t" r="r" b="b"/>
            <a:pathLst>
              <a:path w="2007870">
                <a:moveTo>
                  <a:pt x="0" y="0"/>
                </a:moveTo>
                <a:lnTo>
                  <a:pt x="2007349" y="0"/>
                </a:lnTo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804484" y="586270"/>
            <a:ext cx="1633220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94"/>
              </a:lnSpc>
              <a:spcBef>
                <a:spcPts val="100"/>
              </a:spcBef>
            </a:pPr>
            <a:r>
              <a:rPr sz="750" spc="-5" dirty="0">
                <a:latin typeface="Tahoma"/>
                <a:cs typeface="Tahoma"/>
              </a:rPr>
              <a:t>+ChartDisplay()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ts val="890"/>
              </a:lnSpc>
            </a:pPr>
            <a:r>
              <a:rPr sz="750" spc="-5" dirty="0">
                <a:latin typeface="Tahoma"/>
                <a:cs typeface="Tahoma"/>
              </a:rPr>
              <a:t>+ChartDisplay(chart:</a:t>
            </a:r>
            <a:r>
              <a:rPr sz="750" spc="-15" dirty="0">
                <a:latin typeface="Tahoma"/>
                <a:cs typeface="Tahoma"/>
              </a:rPr>
              <a:t> </a:t>
            </a:r>
            <a:r>
              <a:rPr sz="750" spc="5" dirty="0">
                <a:latin typeface="Tahoma"/>
                <a:cs typeface="Tahoma"/>
              </a:rPr>
              <a:t>AbstractChart)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ts val="890"/>
              </a:lnSpc>
            </a:pPr>
            <a:r>
              <a:rPr sz="750" spc="5" dirty="0">
                <a:latin typeface="Tahoma"/>
                <a:cs typeface="Tahoma"/>
              </a:rPr>
              <a:t>+setChart(chart: AbstractChart):</a:t>
            </a:r>
            <a:r>
              <a:rPr sz="750" spc="-75" dirty="0">
                <a:latin typeface="Tahoma"/>
                <a:cs typeface="Tahoma"/>
              </a:rPr>
              <a:t> </a:t>
            </a:r>
            <a:r>
              <a:rPr sz="750" spc="-5" dirty="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ts val="894"/>
              </a:lnSpc>
            </a:pPr>
            <a:r>
              <a:rPr sz="750" spc="-10" dirty="0">
                <a:latin typeface="Tahoma"/>
                <a:cs typeface="Tahoma"/>
              </a:rPr>
              <a:t>+show():</a:t>
            </a:r>
            <a:r>
              <a:rPr sz="750" spc="-30" dirty="0">
                <a:latin typeface="Tahoma"/>
                <a:cs typeface="Tahoma"/>
              </a:rPr>
              <a:t> </a:t>
            </a:r>
            <a:r>
              <a:rPr sz="750" spc="-5" dirty="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73724" y="555612"/>
            <a:ext cx="2007870" cy="0"/>
          </a:xfrm>
          <a:custGeom>
            <a:avLst/>
            <a:gdLst/>
            <a:ahLst/>
            <a:cxnLst/>
            <a:rect l="l" t="t" r="r" b="b"/>
            <a:pathLst>
              <a:path w="2007870">
                <a:moveTo>
                  <a:pt x="0" y="0"/>
                </a:moveTo>
                <a:lnTo>
                  <a:pt x="2007349" y="0"/>
                </a:lnTo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156083" y="1423758"/>
            <a:ext cx="1373505" cy="547370"/>
          </a:xfrm>
          <a:custGeom>
            <a:avLst/>
            <a:gdLst/>
            <a:ahLst/>
            <a:cxnLst/>
            <a:rect l="l" t="t" r="r" b="b"/>
            <a:pathLst>
              <a:path w="1373504" h="547369">
                <a:moveTo>
                  <a:pt x="0" y="0"/>
                </a:moveTo>
                <a:lnTo>
                  <a:pt x="1372997" y="0"/>
                </a:lnTo>
                <a:lnTo>
                  <a:pt x="1372997" y="546938"/>
                </a:lnTo>
                <a:lnTo>
                  <a:pt x="0" y="546938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156083" y="1423758"/>
            <a:ext cx="1373505" cy="547370"/>
          </a:xfrm>
          <a:custGeom>
            <a:avLst/>
            <a:gdLst/>
            <a:ahLst/>
            <a:cxnLst/>
            <a:rect l="l" t="t" r="r" b="b"/>
            <a:pathLst>
              <a:path w="1373504" h="547369">
                <a:moveTo>
                  <a:pt x="0" y="0"/>
                </a:moveTo>
                <a:lnTo>
                  <a:pt x="1372997" y="0"/>
                </a:lnTo>
                <a:lnTo>
                  <a:pt x="1372997" y="546938"/>
                </a:lnTo>
                <a:lnTo>
                  <a:pt x="0" y="546938"/>
                </a:lnTo>
                <a:lnTo>
                  <a:pt x="0" y="0"/>
                </a:lnTo>
                <a:close/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490970" y="1454416"/>
            <a:ext cx="7169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10" dirty="0">
                <a:latin typeface="Tahoma"/>
                <a:cs typeface="Tahoma"/>
              </a:rPr>
              <a:t>AbstractChart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156083" y="1614754"/>
            <a:ext cx="1381760" cy="0"/>
          </a:xfrm>
          <a:custGeom>
            <a:avLst/>
            <a:gdLst/>
            <a:ahLst/>
            <a:cxnLst/>
            <a:rect l="l" t="t" r="r" b="b"/>
            <a:pathLst>
              <a:path w="1381759">
                <a:moveTo>
                  <a:pt x="0" y="0"/>
                </a:moveTo>
                <a:lnTo>
                  <a:pt x="1381683" y="0"/>
                </a:lnTo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186830" y="1723542"/>
            <a:ext cx="6864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latin typeface="Tahoma"/>
                <a:cs typeface="Tahoma"/>
              </a:rPr>
              <a:t>+display():</a:t>
            </a:r>
            <a:r>
              <a:rPr sz="750" spc="-50" dirty="0">
                <a:latin typeface="Tahoma"/>
                <a:cs typeface="Tahoma"/>
              </a:rPr>
              <a:t> </a:t>
            </a:r>
            <a:r>
              <a:rPr sz="750" spc="-5" dirty="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56083" y="1692897"/>
            <a:ext cx="1381760" cy="0"/>
          </a:xfrm>
          <a:custGeom>
            <a:avLst/>
            <a:gdLst/>
            <a:ahLst/>
            <a:cxnLst/>
            <a:rect l="l" t="t" r="r" b="b"/>
            <a:pathLst>
              <a:path w="1381759">
                <a:moveTo>
                  <a:pt x="0" y="0"/>
                </a:moveTo>
                <a:lnTo>
                  <a:pt x="1381683" y="0"/>
                </a:lnTo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5317515" y="2183396"/>
          <a:ext cx="1233805" cy="5122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3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982">
                <a:tc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50" b="1" dirty="0">
                          <a:latin typeface="Tahoma"/>
                          <a:cs typeface="Tahoma"/>
                        </a:rPr>
                        <a:t>PieChart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77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50" spc="-10" dirty="0">
                          <a:latin typeface="Tahoma"/>
                          <a:cs typeface="Tahoma"/>
                        </a:rPr>
                        <a:t>+display():</a:t>
                      </a:r>
                      <a:r>
                        <a:rPr sz="75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spc="-5" dirty="0">
                          <a:latin typeface="Tahoma"/>
                          <a:cs typeface="Tahoma"/>
                        </a:rPr>
                        <a:t>void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6846925" y="2183396"/>
          <a:ext cx="1303655" cy="538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3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982">
                <a:tc>
                  <a:txBody>
                    <a:bodyPr/>
                    <a:lstStyle/>
                    <a:p>
                      <a:pPr marL="4425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50" b="1" dirty="0">
                          <a:latin typeface="Tahoma"/>
                          <a:cs typeface="Tahoma"/>
                        </a:rPr>
                        <a:t>BarChart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125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750" spc="-10" dirty="0">
                          <a:latin typeface="Tahoma"/>
                          <a:cs typeface="Tahoma"/>
                        </a:rPr>
                        <a:t>+display():</a:t>
                      </a:r>
                      <a:r>
                        <a:rPr sz="75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spc="-5" dirty="0">
                          <a:latin typeface="Tahoma"/>
                          <a:cs typeface="Tahoma"/>
                        </a:rPr>
                        <a:t>void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6251676" y="1979383"/>
            <a:ext cx="252095" cy="208915"/>
          </a:xfrm>
          <a:custGeom>
            <a:avLst/>
            <a:gdLst/>
            <a:ahLst/>
            <a:cxnLst/>
            <a:rect l="l" t="t" r="r" b="b"/>
            <a:pathLst>
              <a:path w="252095" h="208914">
                <a:moveTo>
                  <a:pt x="0" y="208356"/>
                </a:moveTo>
                <a:lnTo>
                  <a:pt x="251993" y="0"/>
                </a:lnTo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16840" y="1975040"/>
            <a:ext cx="191173" cy="17363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81545" y="1975040"/>
            <a:ext cx="191173" cy="21704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807822" y="1145959"/>
            <a:ext cx="0" cy="278130"/>
          </a:xfrm>
          <a:custGeom>
            <a:avLst/>
            <a:gdLst/>
            <a:ahLst/>
            <a:cxnLst/>
            <a:rect l="l" t="t" r="r" b="b"/>
            <a:pathLst>
              <a:path h="278130">
                <a:moveTo>
                  <a:pt x="0" y="0"/>
                </a:moveTo>
                <a:lnTo>
                  <a:pt x="0" y="277799"/>
                </a:lnTo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773062" y="1336954"/>
            <a:ext cx="69850" cy="86995"/>
          </a:xfrm>
          <a:custGeom>
            <a:avLst/>
            <a:gdLst/>
            <a:ahLst/>
            <a:cxnLst/>
            <a:rect l="l" t="t" r="r" b="b"/>
            <a:pathLst>
              <a:path w="69850" h="86994">
                <a:moveTo>
                  <a:pt x="0" y="0"/>
                </a:moveTo>
                <a:lnTo>
                  <a:pt x="34759" y="86804"/>
                </a:lnTo>
                <a:lnTo>
                  <a:pt x="69519" y="0"/>
                </a:lnTo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172119" y="1284858"/>
            <a:ext cx="956310" cy="443230"/>
          </a:xfrm>
          <a:custGeom>
            <a:avLst/>
            <a:gdLst/>
            <a:ahLst/>
            <a:cxnLst/>
            <a:rect l="l" t="t" r="r" b="b"/>
            <a:pathLst>
              <a:path w="956309" h="443230">
                <a:moveTo>
                  <a:pt x="955878" y="442760"/>
                </a:moveTo>
                <a:lnTo>
                  <a:pt x="0" y="442760"/>
                </a:lnTo>
                <a:lnTo>
                  <a:pt x="0" y="0"/>
                </a:lnTo>
                <a:lnTo>
                  <a:pt x="868984" y="0"/>
                </a:lnTo>
                <a:lnTo>
                  <a:pt x="955878" y="86817"/>
                </a:lnTo>
                <a:lnTo>
                  <a:pt x="955878" y="44276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72119" y="1284858"/>
            <a:ext cx="956310" cy="443230"/>
          </a:xfrm>
          <a:custGeom>
            <a:avLst/>
            <a:gdLst/>
            <a:ahLst/>
            <a:cxnLst/>
            <a:rect l="l" t="t" r="r" b="b"/>
            <a:pathLst>
              <a:path w="956309" h="443230">
                <a:moveTo>
                  <a:pt x="0" y="0"/>
                </a:moveTo>
                <a:lnTo>
                  <a:pt x="868984" y="0"/>
                </a:lnTo>
                <a:lnTo>
                  <a:pt x="955878" y="86817"/>
                </a:lnTo>
                <a:lnTo>
                  <a:pt x="955878" y="442760"/>
                </a:lnTo>
                <a:lnTo>
                  <a:pt x="0" y="442760"/>
                </a:lnTo>
                <a:lnTo>
                  <a:pt x="0" y="0"/>
                </a:lnTo>
              </a:path>
            </a:pathLst>
          </a:custGeom>
          <a:ln w="868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036761" y="1280515"/>
            <a:ext cx="95580" cy="955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8202866" y="1315504"/>
            <a:ext cx="8185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latin typeface="Tahoma"/>
                <a:cs typeface="Tahoma"/>
              </a:rPr>
              <a:t>public </a:t>
            </a:r>
            <a:r>
              <a:rPr sz="750" spc="-5" dirty="0">
                <a:latin typeface="Tahoma"/>
                <a:cs typeface="Tahoma"/>
              </a:rPr>
              <a:t>void</a:t>
            </a:r>
            <a:r>
              <a:rPr sz="750" spc="-80" dirty="0">
                <a:latin typeface="Tahoma"/>
                <a:cs typeface="Tahoma"/>
              </a:rPr>
              <a:t> </a:t>
            </a:r>
            <a:r>
              <a:rPr sz="750" spc="-10" dirty="0">
                <a:latin typeface="Tahoma"/>
                <a:cs typeface="Tahoma"/>
              </a:rPr>
              <a:t>show(){</a:t>
            </a:r>
            <a:endParaRPr sz="75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307108" y="1445729"/>
            <a:ext cx="6673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latin typeface="Tahoma"/>
                <a:cs typeface="Tahoma"/>
              </a:rPr>
              <a:t>ch</a:t>
            </a:r>
            <a:r>
              <a:rPr sz="750" spc="15" dirty="0">
                <a:latin typeface="Tahoma"/>
                <a:cs typeface="Tahoma"/>
              </a:rPr>
              <a:t>a</a:t>
            </a:r>
            <a:r>
              <a:rPr sz="750" dirty="0">
                <a:latin typeface="Tahoma"/>
                <a:cs typeface="Tahoma"/>
              </a:rPr>
              <a:t>r</a:t>
            </a:r>
            <a:r>
              <a:rPr sz="750" spc="20" dirty="0">
                <a:latin typeface="Tahoma"/>
                <a:cs typeface="Tahoma"/>
              </a:rPr>
              <a:t>t</a:t>
            </a:r>
            <a:r>
              <a:rPr sz="750" spc="45" dirty="0">
                <a:latin typeface="Tahoma"/>
                <a:cs typeface="Tahoma"/>
              </a:rPr>
              <a:t>.</a:t>
            </a:r>
            <a:r>
              <a:rPr sz="750" spc="-10" dirty="0">
                <a:latin typeface="Tahoma"/>
                <a:cs typeface="Tahoma"/>
              </a:rPr>
              <a:t>d</a:t>
            </a:r>
            <a:r>
              <a:rPr sz="750" spc="-40" dirty="0">
                <a:latin typeface="Tahoma"/>
                <a:cs typeface="Tahoma"/>
              </a:rPr>
              <a:t>i</a:t>
            </a:r>
            <a:r>
              <a:rPr sz="750" spc="5" dirty="0">
                <a:latin typeface="Tahoma"/>
                <a:cs typeface="Tahoma"/>
              </a:rPr>
              <a:t>s</a:t>
            </a:r>
            <a:r>
              <a:rPr sz="750" spc="-10" dirty="0">
                <a:latin typeface="Tahoma"/>
                <a:cs typeface="Tahoma"/>
              </a:rPr>
              <a:t>p</a:t>
            </a:r>
            <a:r>
              <a:rPr sz="750" spc="-40" dirty="0">
                <a:latin typeface="Tahoma"/>
                <a:cs typeface="Tahoma"/>
              </a:rPr>
              <a:t>l</a:t>
            </a:r>
            <a:r>
              <a:rPr sz="750" spc="15" dirty="0">
                <a:latin typeface="Tahoma"/>
                <a:cs typeface="Tahoma"/>
              </a:rPr>
              <a:t>a</a:t>
            </a:r>
            <a:r>
              <a:rPr sz="750" spc="35" dirty="0">
                <a:latin typeface="Tahoma"/>
                <a:cs typeface="Tahoma"/>
              </a:rPr>
              <a:t>y</a:t>
            </a:r>
            <a:r>
              <a:rPr sz="750" spc="-15" dirty="0">
                <a:latin typeface="Tahoma"/>
                <a:cs typeface="Tahoma"/>
              </a:rPr>
              <a:t>()</a:t>
            </a:r>
            <a:r>
              <a:rPr sz="750" dirty="0">
                <a:latin typeface="Tahoma"/>
                <a:cs typeface="Tahoma"/>
              </a:rPr>
              <a:t>;</a:t>
            </a:r>
            <a:endParaRPr sz="75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202866" y="1575955"/>
            <a:ext cx="7175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ahoma"/>
                <a:cs typeface="Tahoma"/>
              </a:rPr>
              <a:t>}</a:t>
            </a:r>
            <a:endParaRPr sz="75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781073" y="1119911"/>
            <a:ext cx="391160" cy="173990"/>
          </a:xfrm>
          <a:custGeom>
            <a:avLst/>
            <a:gdLst/>
            <a:ahLst/>
            <a:cxnLst/>
            <a:rect l="l" t="t" r="r" b="b"/>
            <a:pathLst>
              <a:path w="391159" h="173990">
                <a:moveTo>
                  <a:pt x="391045" y="173634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666930" y="4116089"/>
          <a:ext cx="1853564" cy="7693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3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867">
                <a:tc>
                  <a:txBody>
                    <a:bodyPr/>
                    <a:lstStyle/>
                    <a:p>
                      <a:pPr marL="62611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b="1" spc="15" dirty="0">
                          <a:latin typeface="Tahoma"/>
                          <a:cs typeface="Tahoma"/>
                        </a:rPr>
                        <a:t>PieChart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086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+display():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void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64195" y="4116089"/>
          <a:ext cx="1957705" cy="808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867">
                <a:tc>
                  <a:txBody>
                    <a:bodyPr/>
                    <a:lstStyle/>
                    <a:p>
                      <a:pPr marL="6654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b="1" spc="15" dirty="0">
                          <a:latin typeface="Tahoma"/>
                          <a:cs typeface="Tahoma"/>
                        </a:rPr>
                        <a:t>BarChart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202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+display():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void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070083" y="3809669"/>
            <a:ext cx="379095" cy="313055"/>
          </a:xfrm>
          <a:custGeom>
            <a:avLst/>
            <a:gdLst/>
            <a:ahLst/>
            <a:cxnLst/>
            <a:rect l="l" t="t" r="r" b="b"/>
            <a:pathLst>
              <a:path w="379095" h="313054">
                <a:moveTo>
                  <a:pt x="0" y="312940"/>
                </a:moveTo>
                <a:lnTo>
                  <a:pt x="378523" y="0"/>
                </a:lnTo>
              </a:path>
            </a:pathLst>
          </a:custGeom>
          <a:ln w="13042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74502" y="3809669"/>
            <a:ext cx="274320" cy="248285"/>
          </a:xfrm>
          <a:custGeom>
            <a:avLst/>
            <a:gdLst/>
            <a:ahLst/>
            <a:cxnLst/>
            <a:rect l="l" t="t" r="r" b="b"/>
            <a:pathLst>
              <a:path w="274320" h="248285">
                <a:moveTo>
                  <a:pt x="143573" y="247751"/>
                </a:moveTo>
                <a:lnTo>
                  <a:pt x="274104" y="0"/>
                </a:lnTo>
                <a:lnTo>
                  <a:pt x="0" y="78232"/>
                </a:lnTo>
                <a:lnTo>
                  <a:pt x="143573" y="247751"/>
                </a:lnTo>
              </a:path>
            </a:pathLst>
          </a:custGeom>
          <a:ln w="13042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23128" y="3809669"/>
            <a:ext cx="274320" cy="313055"/>
          </a:xfrm>
          <a:custGeom>
            <a:avLst/>
            <a:gdLst/>
            <a:ahLst/>
            <a:cxnLst/>
            <a:rect l="l" t="t" r="r" b="b"/>
            <a:pathLst>
              <a:path w="274320" h="313054">
                <a:moveTo>
                  <a:pt x="274104" y="312940"/>
                </a:moveTo>
                <a:lnTo>
                  <a:pt x="0" y="0"/>
                </a:lnTo>
              </a:path>
            </a:pathLst>
          </a:custGeom>
          <a:ln w="13042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23128" y="3809669"/>
            <a:ext cx="248285" cy="260985"/>
          </a:xfrm>
          <a:custGeom>
            <a:avLst/>
            <a:gdLst/>
            <a:ahLst/>
            <a:cxnLst/>
            <a:rect l="l" t="t" r="r" b="b"/>
            <a:pathLst>
              <a:path w="248285" h="260985">
                <a:moveTo>
                  <a:pt x="248005" y="117360"/>
                </a:moveTo>
                <a:lnTo>
                  <a:pt x="0" y="0"/>
                </a:lnTo>
                <a:lnTo>
                  <a:pt x="91376" y="260781"/>
                </a:lnTo>
                <a:lnTo>
                  <a:pt x="248005" y="117360"/>
                </a:lnTo>
              </a:path>
            </a:pathLst>
          </a:custGeom>
          <a:ln w="13042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45669" y="1090974"/>
          <a:ext cx="2999739" cy="26991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6867">
                <a:tc gridSpan="4"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b="1" spc="15" dirty="0">
                          <a:latin typeface="Tahoma"/>
                          <a:cs typeface="Tahoma"/>
                        </a:rPr>
                        <a:t>ChartDisplay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67">
                <a:tc gridSpan="4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15" dirty="0">
                          <a:latin typeface="Tahoma"/>
                          <a:cs typeface="Tahoma"/>
                        </a:rPr>
                        <a:t>-chart: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AbstractChart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633">
                <a:tc gridSpan="4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spc="10" dirty="0">
                          <a:latin typeface="Tahoma"/>
                          <a:cs typeface="Tahoma"/>
                        </a:rPr>
                        <a:t>+ChartDisplay()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10" dirty="0">
                          <a:latin typeface="Tahoma"/>
                          <a:cs typeface="Tahoma"/>
                        </a:rPr>
                        <a:t>+ChartDisplay(chart: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AbstractChart)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20" dirty="0">
                          <a:latin typeface="Tahoma"/>
                          <a:cs typeface="Tahoma"/>
                        </a:rPr>
                        <a:t>+setChart(chart: AbstractChart):</a:t>
                      </a:r>
                      <a:r>
                        <a:rPr sz="110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void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5" dirty="0">
                          <a:latin typeface="Tahoma"/>
                          <a:cs typeface="Tahoma"/>
                        </a:rPr>
                        <a:t>+show():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void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28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867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b="1" spc="35" dirty="0">
                          <a:latin typeface="Tahoma"/>
                          <a:cs typeface="Tahoma"/>
                        </a:rPr>
                        <a:t>AbstractChart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+display():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0" dirty="0">
                          <a:latin typeface="Tahoma"/>
                          <a:cs typeface="Tahoma"/>
                        </a:rPr>
                        <a:t>void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853241" y="2844761"/>
            <a:ext cx="104775" cy="130810"/>
          </a:xfrm>
          <a:custGeom>
            <a:avLst/>
            <a:gdLst/>
            <a:ahLst/>
            <a:cxnLst/>
            <a:rect l="l" t="t" r="r" b="b"/>
            <a:pathLst>
              <a:path w="104775" h="130810">
                <a:moveTo>
                  <a:pt x="0" y="0"/>
                </a:moveTo>
                <a:lnTo>
                  <a:pt x="52209" y="130390"/>
                </a:lnTo>
                <a:lnTo>
                  <a:pt x="104419" y="0"/>
                </a:lnTo>
              </a:path>
            </a:pathLst>
          </a:custGeom>
          <a:ln w="13042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54710" y="2766529"/>
            <a:ext cx="1436370" cy="665480"/>
          </a:xfrm>
          <a:custGeom>
            <a:avLst/>
            <a:gdLst/>
            <a:ahLst/>
            <a:cxnLst/>
            <a:rect l="l" t="t" r="r" b="b"/>
            <a:pathLst>
              <a:path w="1436370" h="665479">
                <a:moveTo>
                  <a:pt x="1435785" y="664997"/>
                </a:moveTo>
                <a:lnTo>
                  <a:pt x="0" y="664997"/>
                </a:lnTo>
                <a:lnTo>
                  <a:pt x="0" y="0"/>
                </a:lnTo>
                <a:lnTo>
                  <a:pt x="1305267" y="0"/>
                </a:lnTo>
                <a:lnTo>
                  <a:pt x="1435785" y="130390"/>
                </a:lnTo>
                <a:lnTo>
                  <a:pt x="1435785" y="664997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54710" y="2766529"/>
            <a:ext cx="1436370" cy="665480"/>
          </a:xfrm>
          <a:custGeom>
            <a:avLst/>
            <a:gdLst/>
            <a:ahLst/>
            <a:cxnLst/>
            <a:rect l="l" t="t" r="r" b="b"/>
            <a:pathLst>
              <a:path w="1436370" h="665479">
                <a:moveTo>
                  <a:pt x="0" y="0"/>
                </a:moveTo>
                <a:lnTo>
                  <a:pt x="1305267" y="0"/>
                </a:lnTo>
                <a:lnTo>
                  <a:pt x="1435785" y="130390"/>
                </a:lnTo>
                <a:lnTo>
                  <a:pt x="1435785" y="664997"/>
                </a:lnTo>
                <a:lnTo>
                  <a:pt x="0" y="664997"/>
                </a:lnTo>
                <a:lnTo>
                  <a:pt x="0" y="0"/>
                </a:lnTo>
              </a:path>
            </a:pathLst>
          </a:custGeom>
          <a:ln w="13042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53456" y="2760008"/>
            <a:ext cx="143560" cy="1434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07276" y="2795554"/>
            <a:ext cx="1217295" cy="612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8910" marR="5080" indent="-156845">
              <a:lnSpc>
                <a:spcPct val="116700"/>
              </a:lnSpc>
              <a:spcBef>
                <a:spcPts val="90"/>
              </a:spcBef>
            </a:pPr>
            <a:r>
              <a:rPr sz="1100" spc="-15" dirty="0">
                <a:latin typeface="Tahoma"/>
                <a:cs typeface="Tahoma"/>
              </a:rPr>
              <a:t>public </a:t>
            </a:r>
            <a:r>
              <a:rPr sz="1100" spc="10" dirty="0">
                <a:latin typeface="Tahoma"/>
                <a:cs typeface="Tahoma"/>
              </a:rPr>
              <a:t>void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show(){  </a:t>
            </a:r>
            <a:r>
              <a:rPr sz="1100" spc="10" dirty="0">
                <a:latin typeface="Tahoma"/>
                <a:cs typeface="Tahoma"/>
              </a:rPr>
              <a:t>chart.display();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spc="10" dirty="0">
                <a:latin typeface="Tahoma"/>
                <a:cs typeface="Tahoma"/>
              </a:rPr>
              <a:t>}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67335" y="2518778"/>
            <a:ext cx="587375" cy="260985"/>
          </a:xfrm>
          <a:custGeom>
            <a:avLst/>
            <a:gdLst/>
            <a:ahLst/>
            <a:cxnLst/>
            <a:rect l="l" t="t" r="r" b="b"/>
            <a:pathLst>
              <a:path w="587375" h="260985">
                <a:moveTo>
                  <a:pt x="587375" y="260794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1123" y="4364735"/>
            <a:ext cx="1656714" cy="144780"/>
          </a:xfrm>
          <a:custGeom>
            <a:avLst/>
            <a:gdLst/>
            <a:ahLst/>
            <a:cxnLst/>
            <a:rect l="l" t="t" r="r" b="b"/>
            <a:pathLst>
              <a:path w="1656714" h="144779">
                <a:moveTo>
                  <a:pt x="0" y="144779"/>
                </a:moveTo>
                <a:lnTo>
                  <a:pt x="1656588" y="144779"/>
                </a:lnTo>
                <a:lnTo>
                  <a:pt x="1656588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7745" y="4145267"/>
            <a:ext cx="1664335" cy="727710"/>
          </a:xfrm>
          <a:custGeom>
            <a:avLst/>
            <a:gdLst/>
            <a:ahLst/>
            <a:cxnLst/>
            <a:rect l="l" t="t" r="r" b="b"/>
            <a:pathLst>
              <a:path w="1664335" h="727710">
                <a:moveTo>
                  <a:pt x="1663814" y="727697"/>
                </a:moveTo>
                <a:lnTo>
                  <a:pt x="0" y="727697"/>
                </a:lnTo>
                <a:lnTo>
                  <a:pt x="0" y="0"/>
                </a:lnTo>
                <a:lnTo>
                  <a:pt x="1663814" y="0"/>
                </a:lnTo>
                <a:lnTo>
                  <a:pt x="166381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720077"/>
                </a:lnTo>
                <a:lnTo>
                  <a:pt x="3810" y="720077"/>
                </a:lnTo>
                <a:lnTo>
                  <a:pt x="7620" y="723887"/>
                </a:lnTo>
                <a:lnTo>
                  <a:pt x="1663814" y="723887"/>
                </a:lnTo>
                <a:lnTo>
                  <a:pt x="1663814" y="727697"/>
                </a:lnTo>
                <a:close/>
              </a:path>
              <a:path w="1664335" h="7277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664335" h="727710">
                <a:moveTo>
                  <a:pt x="165619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656194" y="3810"/>
                </a:lnTo>
                <a:lnTo>
                  <a:pt x="1656194" y="7620"/>
                </a:lnTo>
                <a:close/>
              </a:path>
              <a:path w="1664335" h="727710">
                <a:moveTo>
                  <a:pt x="1656194" y="723887"/>
                </a:moveTo>
                <a:lnTo>
                  <a:pt x="1656194" y="3810"/>
                </a:lnTo>
                <a:lnTo>
                  <a:pt x="1660004" y="7620"/>
                </a:lnTo>
                <a:lnTo>
                  <a:pt x="1663814" y="7620"/>
                </a:lnTo>
                <a:lnTo>
                  <a:pt x="1663814" y="720077"/>
                </a:lnTo>
                <a:lnTo>
                  <a:pt x="1660004" y="720077"/>
                </a:lnTo>
                <a:lnTo>
                  <a:pt x="1656194" y="723887"/>
                </a:lnTo>
                <a:close/>
              </a:path>
              <a:path w="1664335" h="727710">
                <a:moveTo>
                  <a:pt x="1663814" y="7620"/>
                </a:moveTo>
                <a:lnTo>
                  <a:pt x="1660004" y="7620"/>
                </a:lnTo>
                <a:lnTo>
                  <a:pt x="1656194" y="3810"/>
                </a:lnTo>
                <a:lnTo>
                  <a:pt x="1663814" y="3810"/>
                </a:lnTo>
                <a:lnTo>
                  <a:pt x="1663814" y="7620"/>
                </a:lnTo>
                <a:close/>
              </a:path>
              <a:path w="1664335" h="727710">
                <a:moveTo>
                  <a:pt x="7620" y="723887"/>
                </a:moveTo>
                <a:lnTo>
                  <a:pt x="3810" y="720077"/>
                </a:lnTo>
                <a:lnTo>
                  <a:pt x="7620" y="720077"/>
                </a:lnTo>
                <a:lnTo>
                  <a:pt x="7620" y="723887"/>
                </a:lnTo>
                <a:close/>
              </a:path>
              <a:path w="1664335" h="727710">
                <a:moveTo>
                  <a:pt x="1656194" y="723887"/>
                </a:moveTo>
                <a:lnTo>
                  <a:pt x="7620" y="723887"/>
                </a:lnTo>
                <a:lnTo>
                  <a:pt x="7620" y="720077"/>
                </a:lnTo>
                <a:lnTo>
                  <a:pt x="1656194" y="720077"/>
                </a:lnTo>
                <a:lnTo>
                  <a:pt x="1656194" y="723887"/>
                </a:lnTo>
                <a:close/>
              </a:path>
              <a:path w="1664335" h="727710">
                <a:moveTo>
                  <a:pt x="1663814" y="723887"/>
                </a:moveTo>
                <a:lnTo>
                  <a:pt x="1656194" y="723887"/>
                </a:lnTo>
                <a:lnTo>
                  <a:pt x="1660004" y="720077"/>
                </a:lnTo>
                <a:lnTo>
                  <a:pt x="1663814" y="720077"/>
                </a:lnTo>
                <a:lnTo>
                  <a:pt x="1663814" y="7238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1123" y="4148328"/>
            <a:ext cx="1656714" cy="216535"/>
          </a:xfrm>
          <a:custGeom>
            <a:avLst/>
            <a:gdLst/>
            <a:ahLst/>
            <a:cxnLst/>
            <a:rect l="l" t="t" r="r" b="b"/>
            <a:pathLst>
              <a:path w="1656714" h="216535">
                <a:moveTo>
                  <a:pt x="0" y="0"/>
                </a:moveTo>
                <a:lnTo>
                  <a:pt x="1656588" y="0"/>
                </a:lnTo>
                <a:lnTo>
                  <a:pt x="1656588" y="216408"/>
                </a:lnTo>
                <a:lnTo>
                  <a:pt x="0" y="216408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7745" y="4145267"/>
            <a:ext cx="1664335" cy="224154"/>
          </a:xfrm>
          <a:custGeom>
            <a:avLst/>
            <a:gdLst/>
            <a:ahLst/>
            <a:cxnLst/>
            <a:rect l="l" t="t" r="r" b="b"/>
            <a:pathLst>
              <a:path w="1664335" h="224154">
                <a:moveTo>
                  <a:pt x="1663814" y="223647"/>
                </a:moveTo>
                <a:lnTo>
                  <a:pt x="0" y="223647"/>
                </a:lnTo>
                <a:lnTo>
                  <a:pt x="0" y="0"/>
                </a:lnTo>
                <a:lnTo>
                  <a:pt x="1663814" y="0"/>
                </a:lnTo>
                <a:lnTo>
                  <a:pt x="166381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16026"/>
                </a:lnTo>
                <a:lnTo>
                  <a:pt x="3810" y="216026"/>
                </a:lnTo>
                <a:lnTo>
                  <a:pt x="7620" y="219837"/>
                </a:lnTo>
                <a:lnTo>
                  <a:pt x="1663814" y="219837"/>
                </a:lnTo>
                <a:lnTo>
                  <a:pt x="1663814" y="223647"/>
                </a:lnTo>
                <a:close/>
              </a:path>
              <a:path w="1664335" h="22415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664335" h="224154">
                <a:moveTo>
                  <a:pt x="165619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656194" y="3810"/>
                </a:lnTo>
                <a:lnTo>
                  <a:pt x="1656194" y="7620"/>
                </a:lnTo>
                <a:close/>
              </a:path>
              <a:path w="1664335" h="224154">
                <a:moveTo>
                  <a:pt x="1656194" y="219837"/>
                </a:moveTo>
                <a:lnTo>
                  <a:pt x="1656194" y="3810"/>
                </a:lnTo>
                <a:lnTo>
                  <a:pt x="1660004" y="7620"/>
                </a:lnTo>
                <a:lnTo>
                  <a:pt x="1663814" y="7620"/>
                </a:lnTo>
                <a:lnTo>
                  <a:pt x="1663814" y="216026"/>
                </a:lnTo>
                <a:lnTo>
                  <a:pt x="1660004" y="216026"/>
                </a:lnTo>
                <a:lnTo>
                  <a:pt x="1656194" y="219837"/>
                </a:lnTo>
                <a:close/>
              </a:path>
              <a:path w="1664335" h="224154">
                <a:moveTo>
                  <a:pt x="1663814" y="7620"/>
                </a:moveTo>
                <a:lnTo>
                  <a:pt x="1660004" y="7620"/>
                </a:lnTo>
                <a:lnTo>
                  <a:pt x="1656194" y="3810"/>
                </a:lnTo>
                <a:lnTo>
                  <a:pt x="1663814" y="3810"/>
                </a:lnTo>
                <a:lnTo>
                  <a:pt x="1663814" y="7620"/>
                </a:lnTo>
                <a:close/>
              </a:path>
              <a:path w="1664335" h="224154">
                <a:moveTo>
                  <a:pt x="7620" y="219837"/>
                </a:moveTo>
                <a:lnTo>
                  <a:pt x="3810" y="216026"/>
                </a:lnTo>
                <a:lnTo>
                  <a:pt x="7620" y="216026"/>
                </a:lnTo>
                <a:lnTo>
                  <a:pt x="7620" y="219837"/>
                </a:lnTo>
                <a:close/>
              </a:path>
              <a:path w="1664335" h="224154">
                <a:moveTo>
                  <a:pt x="1656194" y="219837"/>
                </a:moveTo>
                <a:lnTo>
                  <a:pt x="7620" y="219837"/>
                </a:lnTo>
                <a:lnTo>
                  <a:pt x="7620" y="216026"/>
                </a:lnTo>
                <a:lnTo>
                  <a:pt x="1656194" y="216026"/>
                </a:lnTo>
                <a:lnTo>
                  <a:pt x="1656194" y="219837"/>
                </a:lnTo>
                <a:close/>
              </a:path>
              <a:path w="1664335" h="224154">
                <a:moveTo>
                  <a:pt x="1663814" y="219837"/>
                </a:moveTo>
                <a:lnTo>
                  <a:pt x="1656194" y="219837"/>
                </a:lnTo>
                <a:lnTo>
                  <a:pt x="1660004" y="216026"/>
                </a:lnTo>
                <a:lnTo>
                  <a:pt x="1663814" y="216026"/>
                </a:lnTo>
                <a:lnTo>
                  <a:pt x="1663814" y="219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1123" y="4509515"/>
            <a:ext cx="1656714" cy="360045"/>
          </a:xfrm>
          <a:custGeom>
            <a:avLst/>
            <a:gdLst/>
            <a:ahLst/>
            <a:cxnLst/>
            <a:rect l="l" t="t" r="r" b="b"/>
            <a:pathLst>
              <a:path w="1656714" h="360045">
                <a:moveTo>
                  <a:pt x="0" y="0"/>
                </a:moveTo>
                <a:lnTo>
                  <a:pt x="1656588" y="0"/>
                </a:lnTo>
                <a:lnTo>
                  <a:pt x="1656588" y="359663"/>
                </a:lnTo>
                <a:lnTo>
                  <a:pt x="0" y="359663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7745" y="4505312"/>
            <a:ext cx="1664335" cy="367665"/>
          </a:xfrm>
          <a:custGeom>
            <a:avLst/>
            <a:gdLst/>
            <a:ahLst/>
            <a:cxnLst/>
            <a:rect l="l" t="t" r="r" b="b"/>
            <a:pathLst>
              <a:path w="1664335" h="367664">
                <a:moveTo>
                  <a:pt x="1663814" y="367652"/>
                </a:moveTo>
                <a:lnTo>
                  <a:pt x="0" y="367652"/>
                </a:lnTo>
                <a:lnTo>
                  <a:pt x="0" y="0"/>
                </a:lnTo>
                <a:lnTo>
                  <a:pt x="1663814" y="0"/>
                </a:lnTo>
                <a:lnTo>
                  <a:pt x="1663814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60032"/>
                </a:lnTo>
                <a:lnTo>
                  <a:pt x="3810" y="360032"/>
                </a:lnTo>
                <a:lnTo>
                  <a:pt x="7620" y="363842"/>
                </a:lnTo>
                <a:lnTo>
                  <a:pt x="1663814" y="363842"/>
                </a:lnTo>
                <a:lnTo>
                  <a:pt x="1663814" y="367652"/>
                </a:lnTo>
                <a:close/>
              </a:path>
              <a:path w="1664335" h="367664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664335" h="367664">
                <a:moveTo>
                  <a:pt x="1656194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656194" y="3809"/>
                </a:lnTo>
                <a:lnTo>
                  <a:pt x="1656194" y="7619"/>
                </a:lnTo>
                <a:close/>
              </a:path>
              <a:path w="1664335" h="367664">
                <a:moveTo>
                  <a:pt x="1656194" y="363842"/>
                </a:moveTo>
                <a:lnTo>
                  <a:pt x="1656194" y="3809"/>
                </a:lnTo>
                <a:lnTo>
                  <a:pt x="1660004" y="7619"/>
                </a:lnTo>
                <a:lnTo>
                  <a:pt x="1663814" y="7619"/>
                </a:lnTo>
                <a:lnTo>
                  <a:pt x="1663814" y="360032"/>
                </a:lnTo>
                <a:lnTo>
                  <a:pt x="1660004" y="360032"/>
                </a:lnTo>
                <a:lnTo>
                  <a:pt x="1656194" y="363842"/>
                </a:lnTo>
                <a:close/>
              </a:path>
              <a:path w="1664335" h="367664">
                <a:moveTo>
                  <a:pt x="1663814" y="7619"/>
                </a:moveTo>
                <a:lnTo>
                  <a:pt x="1660004" y="7619"/>
                </a:lnTo>
                <a:lnTo>
                  <a:pt x="1656194" y="3809"/>
                </a:lnTo>
                <a:lnTo>
                  <a:pt x="1663814" y="3809"/>
                </a:lnTo>
                <a:lnTo>
                  <a:pt x="1663814" y="7619"/>
                </a:lnTo>
                <a:close/>
              </a:path>
              <a:path w="1664335" h="367664">
                <a:moveTo>
                  <a:pt x="7620" y="363842"/>
                </a:moveTo>
                <a:lnTo>
                  <a:pt x="3810" y="360032"/>
                </a:lnTo>
                <a:lnTo>
                  <a:pt x="7620" y="360032"/>
                </a:lnTo>
                <a:lnTo>
                  <a:pt x="7620" y="363842"/>
                </a:lnTo>
                <a:close/>
              </a:path>
              <a:path w="1664335" h="367664">
                <a:moveTo>
                  <a:pt x="1656194" y="363842"/>
                </a:moveTo>
                <a:lnTo>
                  <a:pt x="7620" y="363842"/>
                </a:lnTo>
                <a:lnTo>
                  <a:pt x="7620" y="360032"/>
                </a:lnTo>
                <a:lnTo>
                  <a:pt x="1656194" y="360032"/>
                </a:lnTo>
                <a:lnTo>
                  <a:pt x="1656194" y="363842"/>
                </a:lnTo>
                <a:close/>
              </a:path>
              <a:path w="1664335" h="367664">
                <a:moveTo>
                  <a:pt x="1663814" y="363842"/>
                </a:moveTo>
                <a:lnTo>
                  <a:pt x="1656194" y="363842"/>
                </a:lnTo>
                <a:lnTo>
                  <a:pt x="1660004" y="360032"/>
                </a:lnTo>
                <a:lnTo>
                  <a:pt x="1663814" y="360032"/>
                </a:lnTo>
                <a:lnTo>
                  <a:pt x="1663814" y="363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1123" y="4143997"/>
            <a:ext cx="1656714" cy="63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50850" algn="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微软雅黑"/>
                <a:cs typeface="微软雅黑"/>
              </a:rPr>
              <a:t>Li</a:t>
            </a:r>
            <a:r>
              <a:rPr sz="1200" b="1" dirty="0">
                <a:latin typeface="微软雅黑"/>
                <a:cs typeface="微软雅黑"/>
              </a:rPr>
              <a:t>neCha</a:t>
            </a:r>
            <a:r>
              <a:rPr sz="1200" b="1" spc="35" dirty="0">
                <a:latin typeface="微软雅黑"/>
                <a:cs typeface="微软雅黑"/>
              </a:rPr>
              <a:t>r</a:t>
            </a:r>
            <a:r>
              <a:rPr sz="1200" b="1" dirty="0">
                <a:latin typeface="微软雅黑"/>
                <a:cs typeface="微软雅黑"/>
              </a:rPr>
              <a:t>t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微软雅黑"/>
              <a:cs typeface="微软雅黑"/>
            </a:endParaRPr>
          </a:p>
          <a:p>
            <a:pPr marR="400685" algn="r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微软雅黑"/>
                <a:cs typeface="微软雅黑"/>
              </a:rPr>
              <a:t>+</a:t>
            </a:r>
            <a:r>
              <a:rPr sz="1200" b="1" spc="-5" dirty="0">
                <a:latin typeface="微软雅黑"/>
                <a:cs typeface="微软雅黑"/>
              </a:rPr>
              <a:t>dis</a:t>
            </a:r>
            <a:r>
              <a:rPr sz="1200" b="1" dirty="0">
                <a:latin typeface="微软雅黑"/>
                <a:cs typeface="微软雅黑"/>
              </a:rPr>
              <a:t>p</a:t>
            </a:r>
            <a:r>
              <a:rPr sz="1200" b="1" spc="-5" dirty="0">
                <a:latin typeface="微软雅黑"/>
                <a:cs typeface="微软雅黑"/>
              </a:rPr>
              <a:t>l</a:t>
            </a:r>
            <a:r>
              <a:rPr sz="1200" b="1" dirty="0">
                <a:latin typeface="微软雅黑"/>
                <a:cs typeface="微软雅黑"/>
              </a:rPr>
              <a:t>ay():</a:t>
            </a:r>
            <a:r>
              <a:rPr sz="1200" b="1" spc="-15" dirty="0">
                <a:latin typeface="微软雅黑"/>
                <a:cs typeface="微软雅黑"/>
              </a:rPr>
              <a:t>v</a:t>
            </a:r>
            <a:r>
              <a:rPr sz="1200" b="1" dirty="0">
                <a:latin typeface="微软雅黑"/>
                <a:cs typeface="微软雅黑"/>
              </a:rPr>
              <a:t>o</a:t>
            </a:r>
            <a:r>
              <a:rPr sz="1200" b="1" spc="-5" dirty="0">
                <a:latin typeface="微软雅黑"/>
                <a:cs typeface="微软雅黑"/>
              </a:rPr>
              <a:t>i</a:t>
            </a:r>
            <a:r>
              <a:rPr sz="1200" b="1" dirty="0">
                <a:latin typeface="微软雅黑"/>
                <a:cs typeface="微软雅黑"/>
              </a:rPr>
              <a:t>d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38363" y="3274809"/>
            <a:ext cx="2413635" cy="878205"/>
          </a:xfrm>
          <a:custGeom>
            <a:avLst/>
            <a:gdLst/>
            <a:ahLst/>
            <a:cxnLst/>
            <a:rect l="l" t="t" r="r" b="b"/>
            <a:pathLst>
              <a:path w="2413635" h="878204">
                <a:moveTo>
                  <a:pt x="2340536" y="32279"/>
                </a:moveTo>
                <a:lnTo>
                  <a:pt x="2328976" y="0"/>
                </a:lnTo>
                <a:lnTo>
                  <a:pt x="2413558" y="10172"/>
                </a:lnTo>
                <a:lnTo>
                  <a:pt x="2398556" y="25857"/>
                </a:lnTo>
                <a:lnTo>
                  <a:pt x="2358466" y="25857"/>
                </a:lnTo>
                <a:lnTo>
                  <a:pt x="2340536" y="32279"/>
                </a:lnTo>
                <a:close/>
              </a:path>
              <a:path w="2413635" h="878204">
                <a:moveTo>
                  <a:pt x="2343107" y="39457"/>
                </a:moveTo>
                <a:lnTo>
                  <a:pt x="2340536" y="32279"/>
                </a:lnTo>
                <a:lnTo>
                  <a:pt x="2358466" y="25857"/>
                </a:lnTo>
                <a:lnTo>
                  <a:pt x="2361044" y="33032"/>
                </a:lnTo>
                <a:lnTo>
                  <a:pt x="2343107" y="39457"/>
                </a:lnTo>
                <a:close/>
              </a:path>
              <a:path w="2413635" h="878204">
                <a:moveTo>
                  <a:pt x="2354668" y="71742"/>
                </a:moveTo>
                <a:lnTo>
                  <a:pt x="2343107" y="39457"/>
                </a:lnTo>
                <a:lnTo>
                  <a:pt x="2361044" y="33032"/>
                </a:lnTo>
                <a:lnTo>
                  <a:pt x="2358466" y="25857"/>
                </a:lnTo>
                <a:lnTo>
                  <a:pt x="2398556" y="25857"/>
                </a:lnTo>
                <a:lnTo>
                  <a:pt x="2354668" y="71742"/>
                </a:lnTo>
                <a:close/>
              </a:path>
              <a:path w="2413635" h="878204">
                <a:moveTo>
                  <a:pt x="2578" y="877862"/>
                </a:moveTo>
                <a:lnTo>
                  <a:pt x="0" y="870686"/>
                </a:lnTo>
                <a:lnTo>
                  <a:pt x="2340536" y="32279"/>
                </a:lnTo>
                <a:lnTo>
                  <a:pt x="2343107" y="39457"/>
                </a:lnTo>
                <a:lnTo>
                  <a:pt x="2578" y="877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5125" y="1592502"/>
            <a:ext cx="7906384" cy="24269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4150" indent="-171450" algn="just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微软雅黑"/>
                <a:cs typeface="微软雅黑"/>
              </a:rPr>
              <a:t>方案二的特点</a:t>
            </a:r>
            <a:endParaRPr sz="2400">
              <a:latin typeface="微软雅黑"/>
              <a:cs typeface="微软雅黑"/>
            </a:endParaRPr>
          </a:p>
          <a:p>
            <a:pPr marL="527050" marR="5080" lvl="1" indent="-171450" algn="just">
              <a:lnSpc>
                <a:spcPts val="2160"/>
              </a:lnSpc>
              <a:spcBef>
                <a:spcPts val="405"/>
              </a:spcBef>
              <a:buFont typeface="Arial"/>
              <a:buChar char="•"/>
              <a:tabLst>
                <a:tab pos="527050" algn="l"/>
              </a:tabLst>
            </a:pPr>
            <a:r>
              <a:rPr sz="2000" dirty="0">
                <a:latin typeface="微软雅黑"/>
                <a:cs typeface="微软雅黑"/>
              </a:rPr>
              <a:t>在方案二的设计架构中引入了抽象类作为中间层，通过扩展它的子 类使系统适应了需求的变化，保持了历史代码的不变，从而提高了 系统的稳定性</a:t>
            </a:r>
            <a:r>
              <a:rPr sz="2000" spc="5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527050" marR="86995" lvl="1" indent="-171450">
              <a:lnSpc>
                <a:spcPts val="216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sz="2000" dirty="0">
                <a:latin typeface="微软雅黑"/>
                <a:cs typeface="微软雅黑"/>
              </a:rPr>
              <a:t>如果需要增加一种新的图表，如折线图LineChart，只需要</a:t>
            </a:r>
            <a:r>
              <a:rPr sz="2000" spc="5" dirty="0">
                <a:latin typeface="微软雅黑"/>
                <a:cs typeface="微软雅黑"/>
              </a:rPr>
              <a:t>将 </a:t>
            </a:r>
            <a:r>
              <a:rPr sz="2000" dirty="0">
                <a:latin typeface="微软雅黑"/>
                <a:cs typeface="微软雅黑"/>
              </a:rPr>
              <a:t>LineChart也作为AbstractChart的子类，在客户端</a:t>
            </a:r>
            <a:r>
              <a:rPr sz="2000" spc="5" dirty="0">
                <a:latin typeface="微软雅黑"/>
                <a:cs typeface="微软雅黑"/>
              </a:rPr>
              <a:t>向 </a:t>
            </a:r>
            <a:r>
              <a:rPr sz="2000" spc="-5" dirty="0">
                <a:latin typeface="微软雅黑"/>
                <a:cs typeface="微软雅黑"/>
              </a:rPr>
              <a:t>Cha</a:t>
            </a:r>
            <a:r>
              <a:rPr sz="2000" spc="55" dirty="0">
                <a:latin typeface="微软雅黑"/>
                <a:cs typeface="微软雅黑"/>
              </a:rPr>
              <a:t>r</a:t>
            </a:r>
            <a:r>
              <a:rPr sz="2000" spc="-5" dirty="0">
                <a:latin typeface="微软雅黑"/>
                <a:cs typeface="微软雅黑"/>
              </a:rPr>
              <a:t>tDis</a:t>
            </a:r>
            <a:r>
              <a:rPr sz="2000" spc="-10" dirty="0">
                <a:latin typeface="微软雅黑"/>
                <a:cs typeface="微软雅黑"/>
              </a:rPr>
              <a:t>p</a:t>
            </a:r>
            <a:r>
              <a:rPr sz="2000" spc="-5" dirty="0">
                <a:latin typeface="微软雅黑"/>
                <a:cs typeface="微软雅黑"/>
              </a:rPr>
              <a:t>lay中注入一个Li</a:t>
            </a:r>
            <a:r>
              <a:rPr sz="2000" spc="-10" dirty="0">
                <a:latin typeface="微软雅黑"/>
                <a:cs typeface="微软雅黑"/>
              </a:rPr>
              <a:t>n</a:t>
            </a:r>
            <a:r>
              <a:rPr sz="2000" spc="-5" dirty="0">
                <a:latin typeface="微软雅黑"/>
                <a:cs typeface="微软雅黑"/>
              </a:rPr>
              <a:t>eCha</a:t>
            </a:r>
            <a:r>
              <a:rPr sz="2000" spc="55" dirty="0">
                <a:latin typeface="微软雅黑"/>
                <a:cs typeface="微软雅黑"/>
              </a:rPr>
              <a:t>r</a:t>
            </a:r>
            <a:r>
              <a:rPr sz="2000" spc="-5" dirty="0">
                <a:latin typeface="微软雅黑"/>
                <a:cs typeface="微软雅黑"/>
              </a:rPr>
              <a:t>t对象即可，无需修改现有源</a:t>
            </a:r>
            <a:r>
              <a:rPr sz="2000" dirty="0">
                <a:latin typeface="微软雅黑"/>
                <a:cs typeface="微软雅黑"/>
              </a:rPr>
              <a:t>代 码，方案二符合了开闭原则</a:t>
            </a:r>
            <a:r>
              <a:rPr sz="2000" spc="5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6.2.3</a:t>
            </a:r>
            <a:r>
              <a:rPr sz="4400" spc="-90" dirty="0"/>
              <a:t> </a:t>
            </a:r>
            <a:r>
              <a:rPr sz="4400" dirty="0"/>
              <a:t>开闭原</a:t>
            </a:r>
            <a:r>
              <a:rPr sz="4400" spc="5" dirty="0"/>
              <a:t>则	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34389" y="1101851"/>
            <a:ext cx="4713605" cy="1093470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1042669" lvl="2" indent="-1029969">
              <a:lnSpc>
                <a:spcPct val="100000"/>
              </a:lnSpc>
              <a:spcBef>
                <a:spcPts val="464"/>
              </a:spcBef>
              <a:buAutoNum type="arabicPeriod"/>
              <a:tabLst>
                <a:tab pos="1042669" algn="l"/>
              </a:tabLst>
            </a:pPr>
            <a:r>
              <a:rPr sz="3200" dirty="0">
                <a:latin typeface="微软雅黑"/>
                <a:cs typeface="微软雅黑"/>
              </a:rPr>
              <a:t>接口的定义和实</a:t>
            </a:r>
            <a:r>
              <a:rPr sz="3200" spc="5" dirty="0">
                <a:latin typeface="微软雅黑"/>
                <a:cs typeface="微软雅黑"/>
              </a:rPr>
              <a:t>现</a:t>
            </a:r>
            <a:endParaRPr sz="3200">
              <a:latin typeface="微软雅黑"/>
              <a:cs typeface="微软雅黑"/>
            </a:endParaRPr>
          </a:p>
          <a:p>
            <a:pPr marL="1042669" lvl="2" indent="-1029969">
              <a:lnSpc>
                <a:spcPct val="100000"/>
              </a:lnSpc>
              <a:spcBef>
                <a:spcPts val="365"/>
              </a:spcBef>
              <a:buAutoNum type="arabicPeriod"/>
              <a:tabLst>
                <a:tab pos="1042669" algn="l"/>
              </a:tabLst>
            </a:pPr>
            <a:r>
              <a:rPr sz="3200" dirty="0">
                <a:latin typeface="微软雅黑"/>
                <a:cs typeface="微软雅黑"/>
              </a:rPr>
              <a:t>接口与抽象类的区</a:t>
            </a:r>
            <a:r>
              <a:rPr sz="3200" spc="5" dirty="0">
                <a:latin typeface="微软雅黑"/>
                <a:cs typeface="微软雅黑"/>
              </a:rPr>
              <a:t>别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487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0"/>
              </a:spcBef>
              <a:tabLst>
                <a:tab pos="8672195" algn="l"/>
              </a:tabLst>
            </a:pPr>
            <a:r>
              <a:rPr sz="3600" b="0" spc="150" dirty="0">
                <a:latin typeface="Times New Roman"/>
                <a:cs typeface="Times New Roman"/>
              </a:rPr>
              <a:t> </a:t>
            </a:r>
            <a:r>
              <a:rPr sz="3600" spc="-5" dirty="0"/>
              <a:t>6.3</a:t>
            </a:r>
            <a:r>
              <a:rPr sz="3600" spc="-95" dirty="0"/>
              <a:t> </a:t>
            </a:r>
            <a:r>
              <a:rPr sz="3600" dirty="0">
                <a:latin typeface="仿宋"/>
                <a:cs typeface="仿宋"/>
              </a:rPr>
              <a:t>接</a:t>
            </a:r>
            <a:r>
              <a:rPr sz="3600" spc="-15" dirty="0">
                <a:latin typeface="仿宋"/>
                <a:cs typeface="仿宋"/>
              </a:rPr>
              <a:t>口	</a:t>
            </a:r>
            <a:endParaRPr sz="3600">
              <a:latin typeface="仿宋"/>
              <a:cs typeface="仿宋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35735"/>
            <a:ext cx="8019415" cy="3706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84150" marR="5080" indent="-171450">
              <a:lnSpc>
                <a:spcPct val="79900"/>
              </a:lnSpc>
              <a:spcBef>
                <a:spcPts val="770"/>
              </a:spcBef>
              <a:buFont typeface="Arial"/>
              <a:buChar char="•"/>
              <a:tabLst>
                <a:tab pos="184150" algn="l"/>
              </a:tabLst>
            </a:pPr>
            <a:r>
              <a:rPr sz="2800" b="1" dirty="0">
                <a:solidFill>
                  <a:srgbClr val="006C39"/>
                </a:solidFill>
                <a:latin typeface="微软雅黑"/>
                <a:cs typeface="微软雅黑"/>
              </a:rPr>
              <a:t>接口</a:t>
            </a:r>
            <a:r>
              <a:rPr sz="2800" dirty="0">
                <a:latin typeface="微软雅黑"/>
                <a:cs typeface="微软雅黑"/>
              </a:rPr>
              <a:t>：特殊的抽象类，接口比抽象的概念更向前</a:t>
            </a:r>
            <a:r>
              <a:rPr sz="2800" spc="-5" dirty="0">
                <a:latin typeface="微软雅黑"/>
                <a:cs typeface="微软雅黑"/>
              </a:rPr>
              <a:t>迈 </a:t>
            </a:r>
            <a:r>
              <a:rPr sz="2800" dirty="0">
                <a:latin typeface="微软雅黑"/>
                <a:cs typeface="微软雅黑"/>
              </a:rPr>
              <a:t>了一步，接口可以看成是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“纯粹”的抽象类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527050" lvl="1" indent="-171450">
              <a:lnSpc>
                <a:spcPts val="2565"/>
              </a:lnSpc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关键字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interface</a:t>
            </a:r>
            <a:r>
              <a:rPr sz="2400" dirty="0">
                <a:latin typeface="微软雅黑"/>
                <a:cs typeface="微软雅黑"/>
              </a:rPr>
              <a:t>标识</a:t>
            </a:r>
            <a:r>
              <a:rPr sz="2400" dirty="0">
                <a:solidFill>
                  <a:srgbClr val="967A2C"/>
                </a:solidFill>
                <a:latin typeface="微软雅黑"/>
                <a:cs typeface="微软雅黑"/>
              </a:rPr>
              <a:t>，</a:t>
            </a:r>
            <a:r>
              <a:rPr sz="2400" dirty="0">
                <a:latin typeface="微软雅黑"/>
                <a:cs typeface="微软雅黑"/>
              </a:rPr>
              <a:t>由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常量和一组抽象方法组成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527050" marR="169545" lvl="1" indent="-171450">
              <a:lnSpc>
                <a:spcPct val="79900"/>
              </a:lnSpc>
              <a:spcBef>
                <a:spcPts val="475"/>
              </a:spcBef>
              <a:buFont typeface="Arial"/>
              <a:buChar char="•"/>
              <a:tabLst>
                <a:tab pos="527050" algn="l"/>
                <a:tab pos="2514600" algn="l"/>
              </a:tabLst>
            </a:pPr>
            <a:r>
              <a:rPr sz="2400" dirty="0">
                <a:solidFill>
                  <a:srgbClr val="CC0000"/>
                </a:solidFill>
                <a:latin typeface="微软雅黑"/>
                <a:cs typeface="微软雅黑"/>
              </a:rPr>
              <a:t>接口中的所有方法都必须是公开的抽象方法</a:t>
            </a:r>
            <a:r>
              <a:rPr sz="2400" dirty="0">
                <a:latin typeface="微软雅黑"/>
                <a:cs typeface="微软雅黑"/>
              </a:rPr>
              <a:t>。系统默认 方法为public	</a:t>
            </a:r>
            <a:r>
              <a:rPr sz="2400" spc="-5" dirty="0">
                <a:latin typeface="微软雅黑"/>
                <a:cs typeface="微软雅黑"/>
              </a:rPr>
              <a:t>abstract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346835">
              <a:lnSpc>
                <a:spcPts val="2570"/>
              </a:lnSpc>
              <a:tabLst>
                <a:tab pos="3511550" algn="l"/>
                <a:tab pos="5668645" algn="l"/>
              </a:tabLst>
            </a:pPr>
            <a:r>
              <a:rPr sz="2400" spc="-10" dirty="0">
                <a:latin typeface="微软雅黑"/>
                <a:cs typeface="微软雅黑"/>
              </a:rPr>
              <a:t>void</a:t>
            </a:r>
            <a:r>
              <a:rPr sz="2400" spc="5" dirty="0">
                <a:latin typeface="微软雅黑"/>
                <a:cs typeface="微软雅黑"/>
              </a:rPr>
              <a:t> </a:t>
            </a:r>
            <a:r>
              <a:rPr sz="2400" spc="-10" dirty="0">
                <a:latin typeface="微软雅黑"/>
                <a:cs typeface="微软雅黑"/>
              </a:rPr>
              <a:t>move();	</a:t>
            </a:r>
            <a:r>
              <a:rPr sz="2400" spc="-5" dirty="0">
                <a:latin typeface="Times New Roman"/>
                <a:cs typeface="Times New Roman"/>
              </a:rPr>
              <a:t>//</a:t>
            </a:r>
            <a:r>
              <a:rPr sz="2400" dirty="0">
                <a:latin typeface="微软雅黑"/>
                <a:cs typeface="微软雅黑"/>
              </a:rPr>
              <a:t>默认是public	</a:t>
            </a:r>
            <a:r>
              <a:rPr sz="2400" spc="-5" dirty="0">
                <a:latin typeface="微软雅黑"/>
                <a:cs typeface="微软雅黑"/>
              </a:rPr>
              <a:t>abstract</a:t>
            </a:r>
            <a:endParaRPr sz="2400">
              <a:latin typeface="微软雅黑"/>
              <a:cs typeface="微软雅黑"/>
            </a:endParaRPr>
          </a:p>
          <a:p>
            <a:pPr marL="527050" marR="169545" lvl="1" indent="-171450">
              <a:lnSpc>
                <a:spcPct val="79900"/>
              </a:lnSpc>
              <a:spcBef>
                <a:spcPts val="47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solidFill>
                  <a:srgbClr val="CC0000"/>
                </a:solidFill>
                <a:latin typeface="微软雅黑"/>
                <a:cs typeface="微软雅黑"/>
              </a:rPr>
              <a:t>接口中的所有属性都是公开静态常量。</a:t>
            </a:r>
            <a:r>
              <a:rPr sz="2400" dirty="0">
                <a:latin typeface="微软雅黑"/>
                <a:cs typeface="微软雅黑"/>
              </a:rPr>
              <a:t>系统默认属性为  public</a:t>
            </a:r>
            <a:r>
              <a:rPr sz="2400" spc="-5" dirty="0">
                <a:latin typeface="微软雅黑"/>
                <a:cs typeface="微软雅黑"/>
              </a:rPr>
              <a:t> static</a:t>
            </a:r>
            <a:r>
              <a:rPr sz="240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final</a:t>
            </a:r>
            <a:r>
              <a:rPr sz="2400" dirty="0">
                <a:latin typeface="微软雅黑"/>
                <a:cs typeface="微软雅黑"/>
              </a:rPr>
              <a:t>。必须被初始化。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微软雅黑"/>
              <a:cs typeface="微软雅黑"/>
            </a:endParaRPr>
          </a:p>
          <a:p>
            <a:pPr marL="527050" marR="36195" indent="-171450">
              <a:lnSpc>
                <a:spcPct val="79900"/>
              </a:lnSpc>
            </a:pPr>
            <a:r>
              <a:rPr sz="2400" dirty="0">
                <a:solidFill>
                  <a:srgbClr val="CC0000"/>
                </a:solidFill>
                <a:latin typeface="微软雅黑"/>
                <a:cs typeface="微软雅黑"/>
              </a:rPr>
              <a:t>接口没有构造方法</a:t>
            </a:r>
            <a:r>
              <a:rPr sz="2400" dirty="0">
                <a:latin typeface="微软雅黑"/>
                <a:cs typeface="微软雅黑"/>
              </a:rPr>
              <a:t>（抽象类有构造方法，即使不写，系统 自动加上一个无参构造方法）。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26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6.3.1</a:t>
            </a:r>
            <a:r>
              <a:rPr spc="-95" dirty="0"/>
              <a:t> </a:t>
            </a:r>
            <a:r>
              <a:rPr dirty="0"/>
              <a:t>接口的定义和实</a:t>
            </a:r>
            <a:r>
              <a:rPr spc="-5" dirty="0"/>
              <a:t>现	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70660"/>
            <a:ext cx="7867015" cy="2559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2280" indent="-44958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1645" algn="l"/>
                <a:tab pos="462280" algn="l"/>
              </a:tabLst>
            </a:pPr>
            <a:r>
              <a:rPr sz="2800" b="1" dirty="0">
                <a:latin typeface="微软雅黑"/>
                <a:cs typeface="微软雅黑"/>
              </a:rPr>
              <a:t>接</a:t>
            </a:r>
            <a:r>
              <a:rPr sz="2800" b="1" spc="-5" dirty="0">
                <a:latin typeface="微软雅黑"/>
                <a:cs typeface="微软雅黑"/>
              </a:rPr>
              <a:t>口</a:t>
            </a:r>
            <a:endParaRPr sz="2800">
              <a:latin typeface="微软雅黑"/>
              <a:cs typeface="微软雅黑"/>
            </a:endParaRPr>
          </a:p>
          <a:p>
            <a:pPr marL="92710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927100" algn="l"/>
              </a:tabLst>
            </a:pPr>
            <a:r>
              <a:rPr sz="2800" dirty="0">
                <a:latin typeface="微软雅黑"/>
                <a:cs typeface="微软雅黑"/>
              </a:rPr>
              <a:t>接口由静态常量和一组抽象方法组成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927100" lvl="1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927100" algn="l"/>
              </a:tabLst>
            </a:pPr>
            <a:r>
              <a:rPr sz="2800" dirty="0">
                <a:latin typeface="微软雅黑"/>
                <a:cs typeface="微软雅黑"/>
              </a:rPr>
              <a:t>接口支持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多重继承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335405" lvl="2" indent="-17208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1335405" algn="l"/>
              </a:tabLst>
            </a:pPr>
            <a:r>
              <a:rPr sz="2800" dirty="0">
                <a:latin typeface="微软雅黑"/>
                <a:cs typeface="微软雅黑"/>
              </a:rPr>
              <a:t>一个类可以同时实现多个接口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334770" marR="5080" lvl="2" indent="-171450">
              <a:lnSpc>
                <a:spcPts val="3020"/>
              </a:lnSpc>
              <a:spcBef>
                <a:spcPts val="415"/>
              </a:spcBef>
              <a:buFont typeface="Arial"/>
              <a:buChar char="•"/>
              <a:tabLst>
                <a:tab pos="1335405" algn="l"/>
              </a:tabLst>
            </a:pPr>
            <a:r>
              <a:rPr sz="2800" dirty="0">
                <a:latin typeface="微软雅黑"/>
                <a:cs typeface="微软雅黑"/>
              </a:rPr>
              <a:t>一个接口可以同时继承自多个接口</a:t>
            </a:r>
            <a:r>
              <a:rPr sz="2800" spc="-5" dirty="0">
                <a:latin typeface="微软雅黑"/>
                <a:cs typeface="微软雅黑"/>
              </a:rPr>
              <a:t>(</a:t>
            </a:r>
            <a:r>
              <a:rPr sz="2800" dirty="0">
                <a:latin typeface="微软雅黑"/>
                <a:cs typeface="微软雅黑"/>
              </a:rPr>
              <a:t>不会</a:t>
            </a:r>
            <a:r>
              <a:rPr sz="2800" spc="-5" dirty="0">
                <a:latin typeface="微软雅黑"/>
                <a:cs typeface="微软雅黑"/>
              </a:rPr>
              <a:t>产 </a:t>
            </a:r>
            <a:r>
              <a:rPr sz="2800" dirty="0">
                <a:latin typeface="微软雅黑"/>
                <a:cs typeface="微软雅黑"/>
              </a:rPr>
              <a:t>生二义性</a:t>
            </a:r>
            <a:r>
              <a:rPr sz="2800" spc="-5" dirty="0">
                <a:latin typeface="微软雅黑"/>
                <a:cs typeface="微软雅黑"/>
              </a:rPr>
              <a:t>)。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26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6.3.1</a:t>
            </a:r>
            <a:r>
              <a:rPr spc="-95" dirty="0"/>
              <a:t> </a:t>
            </a:r>
            <a:r>
              <a:rPr dirty="0"/>
              <a:t>接口的定义和实</a:t>
            </a:r>
            <a:r>
              <a:rPr spc="-5" dirty="0"/>
              <a:t>现	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81454"/>
            <a:ext cx="36639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指出下面代码中错误的部分。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6.3.1</a:t>
            </a:r>
            <a:r>
              <a:rPr spc="-95" dirty="0"/>
              <a:t> </a:t>
            </a:r>
            <a:r>
              <a:rPr dirty="0"/>
              <a:t>接口的定义和实</a:t>
            </a:r>
            <a:r>
              <a:rPr spc="-5" dirty="0"/>
              <a:t>现	</a:t>
            </a:r>
          </a:p>
        </p:txBody>
      </p:sp>
      <p:sp>
        <p:nvSpPr>
          <p:cNvPr id="22" name="object 22"/>
          <p:cNvSpPr/>
          <p:nvPr/>
        </p:nvSpPr>
        <p:spPr>
          <a:xfrm>
            <a:off x="684276" y="2205227"/>
            <a:ext cx="4464050" cy="3477895"/>
          </a:xfrm>
          <a:custGeom>
            <a:avLst/>
            <a:gdLst/>
            <a:ahLst/>
            <a:cxnLst/>
            <a:rect l="l" t="t" r="r" b="b"/>
            <a:pathLst>
              <a:path w="4464050" h="3477895">
                <a:moveTo>
                  <a:pt x="0" y="0"/>
                </a:moveTo>
                <a:lnTo>
                  <a:pt x="4463796" y="0"/>
                </a:lnTo>
                <a:lnTo>
                  <a:pt x="4463796" y="3477767"/>
                </a:lnTo>
                <a:lnTo>
                  <a:pt x="0" y="3477767"/>
                </a:lnTo>
                <a:lnTo>
                  <a:pt x="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61047" y="2222817"/>
            <a:ext cx="32048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200" marR="5080" indent="-3175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Book Antiqua"/>
                <a:cs typeface="Book Antiqua"/>
              </a:rPr>
              <a:t>public interface Introduce </a:t>
            </a:r>
            <a:r>
              <a:rPr sz="2000" dirty="0">
                <a:solidFill>
                  <a:srgbClr val="FFFFFF"/>
                </a:solidFill>
                <a:latin typeface="Book Antiqua"/>
                <a:cs typeface="Book Antiqua"/>
              </a:rPr>
              <a:t>{  </a:t>
            </a:r>
            <a:r>
              <a:rPr sz="2000" spc="-5" dirty="0">
                <a:solidFill>
                  <a:srgbClr val="FFFFFF"/>
                </a:solidFill>
                <a:latin typeface="Book Antiqua"/>
                <a:cs typeface="Book Antiqua"/>
              </a:rPr>
              <a:t>public String</a:t>
            </a:r>
            <a:r>
              <a:rPr sz="2000" spc="-1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Book Antiqua"/>
                <a:cs typeface="Book Antiqua"/>
              </a:rPr>
              <a:t>detail();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5047" y="3137217"/>
            <a:ext cx="333502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marR="246379" indent="-1905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Book Antiqua"/>
                <a:cs typeface="Book Antiqua"/>
              </a:rPr>
              <a:t>public void introduction(){  detail();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Book Antiqua"/>
              <a:cs typeface="Book Antiqua"/>
            </a:endParaRPr>
          </a:p>
          <a:p>
            <a:pPr marL="7620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Book Antiqua"/>
                <a:cs typeface="Book Antiqua"/>
              </a:rPr>
              <a:t>private void</a:t>
            </a:r>
            <a:r>
              <a:rPr sz="2000" spc="-3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Book Antiqua"/>
                <a:cs typeface="Book Antiqua"/>
              </a:rPr>
              <a:t>showMessage();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78547" y="4966017"/>
            <a:ext cx="14827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Book Antiqua"/>
                <a:cs typeface="Book Antiqua"/>
              </a:rPr>
              <a:t>void</a:t>
            </a:r>
            <a:r>
              <a:rPr sz="2000" spc="-6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Book Antiqua"/>
                <a:cs typeface="Book Antiqua"/>
              </a:rPr>
              <a:t>speak();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1047" y="5270817"/>
            <a:ext cx="1104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83379" y="3345179"/>
            <a:ext cx="4780915" cy="731520"/>
          </a:xfrm>
          <a:custGeom>
            <a:avLst/>
            <a:gdLst/>
            <a:ahLst/>
            <a:cxnLst/>
            <a:rect l="l" t="t" r="r" b="b"/>
            <a:pathLst>
              <a:path w="4780915" h="731520">
                <a:moveTo>
                  <a:pt x="2764536" y="228600"/>
                </a:moveTo>
                <a:lnTo>
                  <a:pt x="1901952" y="228600"/>
                </a:lnTo>
                <a:lnTo>
                  <a:pt x="0" y="0"/>
                </a:lnTo>
                <a:lnTo>
                  <a:pt x="2764536" y="228600"/>
                </a:lnTo>
                <a:close/>
              </a:path>
              <a:path w="4780915" h="731520">
                <a:moveTo>
                  <a:pt x="4780788" y="731520"/>
                </a:moveTo>
                <a:lnTo>
                  <a:pt x="1325880" y="731520"/>
                </a:lnTo>
                <a:lnTo>
                  <a:pt x="1325880" y="228600"/>
                </a:lnTo>
                <a:lnTo>
                  <a:pt x="4780788" y="228600"/>
                </a:lnTo>
                <a:lnTo>
                  <a:pt x="4780788" y="73152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00395" y="3588702"/>
            <a:ext cx="30714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Java</a:t>
            </a:r>
            <a:r>
              <a:rPr sz="2000" b="1" dirty="0">
                <a:solidFill>
                  <a:srgbClr val="FFFFFF"/>
                </a:solidFill>
                <a:latin typeface="幼圆"/>
                <a:cs typeface="幼圆"/>
              </a:rPr>
              <a:t>接口中不能有方法实</a:t>
            </a:r>
            <a:r>
              <a:rPr sz="2000" b="1" spc="-5" dirty="0">
                <a:solidFill>
                  <a:srgbClr val="FFFFFF"/>
                </a:solidFill>
                <a:latin typeface="幼圆"/>
                <a:cs typeface="幼圆"/>
              </a:rPr>
              <a:t>现</a:t>
            </a:r>
            <a:endParaRPr sz="2000">
              <a:latin typeface="幼圆"/>
              <a:cs typeface="幼圆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63211" y="4520184"/>
            <a:ext cx="4780915" cy="1069975"/>
          </a:xfrm>
          <a:custGeom>
            <a:avLst/>
            <a:gdLst/>
            <a:ahLst/>
            <a:cxnLst/>
            <a:rect l="l" t="t" r="r" b="b"/>
            <a:pathLst>
              <a:path w="4780915" h="1069975">
                <a:moveTo>
                  <a:pt x="2491740" y="563879"/>
                </a:moveTo>
                <a:lnTo>
                  <a:pt x="1510284" y="563879"/>
                </a:lnTo>
                <a:lnTo>
                  <a:pt x="0" y="0"/>
                </a:lnTo>
                <a:lnTo>
                  <a:pt x="2491740" y="563879"/>
                </a:lnTo>
                <a:close/>
              </a:path>
              <a:path w="4780915" h="1069975">
                <a:moveTo>
                  <a:pt x="4780788" y="1069848"/>
                </a:moveTo>
                <a:lnTo>
                  <a:pt x="856488" y="1069848"/>
                </a:lnTo>
                <a:lnTo>
                  <a:pt x="856488" y="563879"/>
                </a:lnTo>
                <a:lnTo>
                  <a:pt x="4780788" y="563879"/>
                </a:lnTo>
                <a:lnTo>
                  <a:pt x="4780788" y="1069848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400040" y="5100002"/>
            <a:ext cx="35636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Java</a:t>
            </a:r>
            <a:r>
              <a:rPr sz="2000" b="1" dirty="0">
                <a:solidFill>
                  <a:srgbClr val="FFFFFF"/>
                </a:solidFill>
                <a:latin typeface="幼圆"/>
                <a:cs typeface="幼圆"/>
              </a:rPr>
              <a:t>接口中的方法必须是</a:t>
            </a: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public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76375"/>
            <a:ext cx="3129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72745" algn="l"/>
                <a:tab pos="373380" algn="l"/>
              </a:tabLst>
            </a:pPr>
            <a:r>
              <a:rPr sz="2400" dirty="0">
                <a:latin typeface="微软雅黑"/>
                <a:cs typeface="微软雅黑"/>
              </a:rPr>
              <a:t>定义接口的一般格式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6.3.1</a:t>
            </a:r>
            <a:r>
              <a:rPr spc="-95" dirty="0"/>
              <a:t> </a:t>
            </a:r>
            <a:r>
              <a:rPr dirty="0"/>
              <a:t>接口的定义和实</a:t>
            </a:r>
            <a:r>
              <a:rPr spc="-5" dirty="0"/>
              <a:t>现	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72311" y="2060448"/>
            <a:ext cx="7560945" cy="1938655"/>
          </a:xfrm>
          <a:prstGeom prst="rect">
            <a:avLst/>
          </a:prstGeom>
          <a:solidFill>
            <a:srgbClr val="008000"/>
          </a:solidFill>
        </p:spPr>
        <p:txBody>
          <a:bodyPr vert="horz" wrap="square" lIns="0" tIns="28575" rIns="0" bIns="0" rtlCol="0">
            <a:spAutoFit/>
          </a:bodyPr>
          <a:lstStyle/>
          <a:p>
            <a:pPr marR="1842770" algn="r">
              <a:lnSpc>
                <a:spcPct val="100000"/>
              </a:lnSpc>
              <a:spcBef>
                <a:spcPts val="225"/>
              </a:spcBef>
            </a:pP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[public] </a:t>
            </a:r>
            <a:r>
              <a:rPr sz="2000" b="1" spc="-5" dirty="0">
                <a:solidFill>
                  <a:srgbClr val="FFCC00"/>
                </a:solidFill>
                <a:latin typeface="Book Antiqua"/>
                <a:cs typeface="Book Antiqua"/>
              </a:rPr>
              <a:t>interface</a:t>
            </a:r>
            <a:r>
              <a:rPr sz="2000" b="1" dirty="0">
                <a:solidFill>
                  <a:srgbClr val="FFCC00"/>
                </a:solidFill>
                <a:latin typeface="Book Antiqua"/>
                <a:cs typeface="Book Antiqu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接口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sz="2000" b="1" spc="-50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[</a:t>
            </a:r>
            <a:r>
              <a:rPr sz="2000" b="1" spc="-5" dirty="0">
                <a:solidFill>
                  <a:srgbClr val="C00000"/>
                </a:solidFill>
                <a:latin typeface="Book Antiqua"/>
                <a:cs typeface="Book Antiqua"/>
              </a:rPr>
              <a:t>extends</a:t>
            </a:r>
            <a:r>
              <a:rPr sz="2000" b="1" spc="5" dirty="0">
                <a:solidFill>
                  <a:srgbClr val="C00000"/>
                </a:solidFill>
                <a:latin typeface="Book Antiqua"/>
                <a:cs typeface="Book Antiqu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父接口名列表</a:t>
            </a: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]{</a:t>
            </a:r>
            <a:endParaRPr sz="20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Book Antiqua"/>
              <a:cs typeface="Book Antiqua"/>
            </a:endParaRPr>
          </a:p>
          <a:p>
            <a:pPr marR="1776095" algn="r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[public] [final] [static] 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型 </a:t>
            </a:r>
            <a:r>
              <a:rPr sz="2000" b="1" dirty="0">
                <a:solidFill>
                  <a:srgbClr val="FFCC00"/>
                </a:solidFill>
                <a:latin typeface="宋体"/>
                <a:cs typeface="宋体"/>
              </a:rPr>
              <a:t>常量名</a:t>
            </a: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=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常量值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宋体"/>
              <a:cs typeface="宋体"/>
            </a:endParaRPr>
          </a:p>
          <a:p>
            <a:pPr marL="59817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[public </a:t>
            </a:r>
            <a:r>
              <a:rPr sz="2000" b="1" dirty="0">
                <a:solidFill>
                  <a:srgbClr val="FFFFFF"/>
                </a:solidFill>
                <a:latin typeface="Book Antiqua"/>
                <a:cs typeface="Book Antiqua"/>
              </a:rPr>
              <a:t>]</a:t>
            </a: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 [abstract] 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返回类</a:t>
            </a:r>
            <a:r>
              <a:rPr sz="2000" b="1" spc="-5" dirty="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sz="2000" b="1" spc="-50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FFCC00"/>
                </a:solidFill>
                <a:latin typeface="宋体"/>
                <a:cs typeface="宋体"/>
              </a:rPr>
              <a:t>方法名</a:t>
            </a: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2000" b="1" dirty="0">
                <a:solidFill>
                  <a:srgbClr val="FFFFFF"/>
                </a:solidFill>
                <a:latin typeface="宋体"/>
                <a:cs typeface="宋体"/>
              </a:rPr>
              <a:t>参数列表</a:t>
            </a:r>
            <a:r>
              <a:rPr sz="2000" b="1" dirty="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2000" b="1" spc="-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000" b="1" dirty="0">
                <a:solidFill>
                  <a:srgbClr val="FFCC00"/>
                </a:solidFill>
                <a:latin typeface="Book Antiqua"/>
                <a:cs typeface="Book Antiqua"/>
              </a:rPr>
              <a:t>;</a:t>
            </a:r>
            <a:endParaRPr sz="2000">
              <a:latin typeface="Book Antiqua"/>
              <a:cs typeface="Book Antiqua"/>
            </a:endParaRPr>
          </a:p>
          <a:p>
            <a:pPr marL="9017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2311" y="4436364"/>
            <a:ext cx="7560564" cy="13243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67739" y="4433252"/>
            <a:ext cx="7569200" cy="1331595"/>
          </a:xfrm>
          <a:custGeom>
            <a:avLst/>
            <a:gdLst/>
            <a:ahLst/>
            <a:cxnLst/>
            <a:rect l="l" t="t" r="r" b="b"/>
            <a:pathLst>
              <a:path w="7569200" h="1331595">
                <a:moveTo>
                  <a:pt x="7568882" y="1331595"/>
                </a:moveTo>
                <a:lnTo>
                  <a:pt x="0" y="1331595"/>
                </a:lnTo>
                <a:lnTo>
                  <a:pt x="0" y="0"/>
                </a:lnTo>
                <a:lnTo>
                  <a:pt x="7568882" y="0"/>
                </a:lnTo>
                <a:lnTo>
                  <a:pt x="7568882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1323975"/>
                </a:lnTo>
                <a:lnTo>
                  <a:pt x="3809" y="1323975"/>
                </a:lnTo>
                <a:lnTo>
                  <a:pt x="7619" y="1327785"/>
                </a:lnTo>
                <a:lnTo>
                  <a:pt x="7568882" y="1327785"/>
                </a:lnTo>
                <a:lnTo>
                  <a:pt x="7568882" y="1331595"/>
                </a:lnTo>
                <a:close/>
              </a:path>
              <a:path w="7569200" h="133159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7569200" h="1331595">
                <a:moveTo>
                  <a:pt x="7561262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7561262" y="3810"/>
                </a:lnTo>
                <a:lnTo>
                  <a:pt x="7561262" y="7620"/>
                </a:lnTo>
                <a:close/>
              </a:path>
              <a:path w="7569200" h="1331595">
                <a:moveTo>
                  <a:pt x="7561262" y="1327785"/>
                </a:moveTo>
                <a:lnTo>
                  <a:pt x="7561262" y="3810"/>
                </a:lnTo>
                <a:lnTo>
                  <a:pt x="7565072" y="7620"/>
                </a:lnTo>
                <a:lnTo>
                  <a:pt x="7568882" y="7620"/>
                </a:lnTo>
                <a:lnTo>
                  <a:pt x="7568882" y="1323975"/>
                </a:lnTo>
                <a:lnTo>
                  <a:pt x="7565072" y="1323975"/>
                </a:lnTo>
                <a:lnTo>
                  <a:pt x="7561262" y="1327785"/>
                </a:lnTo>
                <a:close/>
              </a:path>
              <a:path w="7569200" h="1331595">
                <a:moveTo>
                  <a:pt x="7568882" y="7620"/>
                </a:moveTo>
                <a:lnTo>
                  <a:pt x="7565072" y="7620"/>
                </a:lnTo>
                <a:lnTo>
                  <a:pt x="7561262" y="3810"/>
                </a:lnTo>
                <a:lnTo>
                  <a:pt x="7568882" y="3810"/>
                </a:lnTo>
                <a:lnTo>
                  <a:pt x="7568882" y="7620"/>
                </a:lnTo>
                <a:close/>
              </a:path>
              <a:path w="7569200" h="1331595">
                <a:moveTo>
                  <a:pt x="7619" y="1327785"/>
                </a:moveTo>
                <a:lnTo>
                  <a:pt x="3809" y="1323975"/>
                </a:lnTo>
                <a:lnTo>
                  <a:pt x="7619" y="1323975"/>
                </a:lnTo>
                <a:lnTo>
                  <a:pt x="7619" y="1327785"/>
                </a:lnTo>
                <a:close/>
              </a:path>
              <a:path w="7569200" h="1331595">
                <a:moveTo>
                  <a:pt x="7561262" y="1327785"/>
                </a:moveTo>
                <a:lnTo>
                  <a:pt x="7619" y="1327785"/>
                </a:lnTo>
                <a:lnTo>
                  <a:pt x="7619" y="1323975"/>
                </a:lnTo>
                <a:lnTo>
                  <a:pt x="7561262" y="1323975"/>
                </a:lnTo>
                <a:lnTo>
                  <a:pt x="7561262" y="1327785"/>
                </a:lnTo>
                <a:close/>
              </a:path>
              <a:path w="7569200" h="1331595">
                <a:moveTo>
                  <a:pt x="7568882" y="1327785"/>
                </a:moveTo>
                <a:lnTo>
                  <a:pt x="7561262" y="1327785"/>
                </a:lnTo>
                <a:lnTo>
                  <a:pt x="7565072" y="1323975"/>
                </a:lnTo>
                <a:lnTo>
                  <a:pt x="7568882" y="1323975"/>
                </a:lnTo>
                <a:lnTo>
                  <a:pt x="7568882" y="132778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72311" y="4454207"/>
            <a:ext cx="756094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Book Antiqua"/>
                <a:cs typeface="Book Antiqua"/>
              </a:rPr>
              <a:t>public </a:t>
            </a:r>
            <a:r>
              <a:rPr sz="2000" b="1" spc="-5" dirty="0">
                <a:solidFill>
                  <a:srgbClr val="C00000"/>
                </a:solidFill>
                <a:latin typeface="Book Antiqua"/>
                <a:cs typeface="Book Antiqua"/>
              </a:rPr>
              <a:t>interface </a:t>
            </a:r>
            <a:r>
              <a:rPr sz="2000" spc="-5" dirty="0">
                <a:latin typeface="Book Antiqua"/>
                <a:cs typeface="Book Antiqua"/>
              </a:rPr>
              <a:t>ChineseEmployee</a:t>
            </a:r>
            <a:r>
              <a:rPr sz="2000" dirty="0">
                <a:latin typeface="Book Antiqua"/>
                <a:cs typeface="Book Antiqua"/>
              </a:rPr>
              <a:t> {</a:t>
            </a:r>
            <a:endParaRPr sz="2000">
              <a:latin typeface="Book Antiqua"/>
              <a:cs typeface="Book Antiqua"/>
            </a:endParaRPr>
          </a:p>
          <a:p>
            <a:pPr marL="471170" marR="1430655">
              <a:lnSpc>
                <a:spcPct val="100000"/>
              </a:lnSpc>
              <a:tabLst>
                <a:tab pos="2477770" algn="l"/>
                <a:tab pos="4053204" algn="l"/>
              </a:tabLst>
            </a:pPr>
            <a:r>
              <a:rPr sz="2000" spc="-5" dirty="0">
                <a:latin typeface="Book Antiqua"/>
                <a:cs typeface="Book Antiqua"/>
              </a:rPr>
              <a:t>String</a:t>
            </a:r>
            <a:r>
              <a:rPr sz="2000" spc="55" dirty="0"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nationality="Chinese";	</a:t>
            </a:r>
            <a:r>
              <a:rPr sz="2000" spc="-5" dirty="0">
                <a:latin typeface="Times New Roman"/>
                <a:cs typeface="Times New Roman"/>
              </a:rPr>
              <a:t>//</a:t>
            </a:r>
            <a:r>
              <a:rPr sz="2000" spc="-5" dirty="0">
                <a:latin typeface="Book Antiqua"/>
                <a:cs typeface="Book Antiqua"/>
              </a:rPr>
              <a:t>public static final  double</a:t>
            </a:r>
            <a:r>
              <a:rPr sz="2000" dirty="0">
                <a:latin typeface="Book Antiqua"/>
                <a:cs typeface="Book Antiqua"/>
              </a:rPr>
              <a:t> </a:t>
            </a:r>
            <a:r>
              <a:rPr sz="2000" spc="-5" dirty="0">
                <a:latin typeface="Book Antiqua"/>
                <a:cs typeface="Book Antiqua"/>
              </a:rPr>
              <a:t>pay();	</a:t>
            </a:r>
            <a:r>
              <a:rPr sz="2000" spc="-5" dirty="0">
                <a:latin typeface="Times New Roman"/>
                <a:cs typeface="Times New Roman"/>
              </a:rPr>
              <a:t>//</a:t>
            </a:r>
            <a:r>
              <a:rPr sz="2000" spc="-5" dirty="0">
                <a:latin typeface="Book Antiqua"/>
                <a:cs typeface="Book Antiqua"/>
              </a:rPr>
              <a:t>abstract</a:t>
            </a:r>
            <a:endParaRPr sz="2000">
              <a:latin typeface="Book Antiqua"/>
              <a:cs typeface="Book Antiqua"/>
            </a:endParaRPr>
          </a:p>
          <a:p>
            <a:pPr marL="90170">
              <a:lnSpc>
                <a:spcPct val="100000"/>
              </a:lnSpc>
            </a:pPr>
            <a:r>
              <a:rPr sz="2000" dirty="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70660"/>
            <a:ext cx="8041005" cy="2191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2450" indent="-539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551815" algn="l"/>
                <a:tab pos="552450" algn="l"/>
              </a:tabLst>
            </a:pPr>
            <a:r>
              <a:rPr sz="2800" dirty="0">
                <a:latin typeface="微软雅黑"/>
                <a:cs typeface="微软雅黑"/>
              </a:rPr>
              <a:t>接口的实</a:t>
            </a:r>
            <a:r>
              <a:rPr sz="2800" spc="-5" dirty="0">
                <a:latin typeface="微软雅黑"/>
                <a:cs typeface="微软雅黑"/>
              </a:rPr>
              <a:t>现</a:t>
            </a:r>
            <a:endParaRPr sz="2800">
              <a:latin typeface="微软雅黑"/>
              <a:cs typeface="微软雅黑"/>
            </a:endParaRPr>
          </a:p>
          <a:p>
            <a:pPr marL="1017905" lvl="1" indent="-172085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1017905" algn="l"/>
              </a:tabLst>
            </a:pPr>
            <a:r>
              <a:rPr sz="2400" dirty="0">
                <a:latin typeface="微软雅黑"/>
                <a:cs typeface="微软雅黑"/>
              </a:rPr>
              <a:t>类对接口予以实现。</a:t>
            </a:r>
            <a:endParaRPr sz="2400">
              <a:latin typeface="微软雅黑"/>
              <a:cs typeface="微软雅黑"/>
            </a:endParaRPr>
          </a:p>
          <a:p>
            <a:pPr marL="1017269" marR="5080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1017905" algn="l"/>
              </a:tabLst>
            </a:pPr>
            <a:r>
              <a:rPr sz="2400" dirty="0">
                <a:latin typeface="微软雅黑"/>
                <a:cs typeface="微软雅黑"/>
              </a:rPr>
              <a:t>为了声明一个类要实现接口，在类的声明中要包括一 条</a:t>
            </a:r>
            <a:r>
              <a:rPr sz="2400" spc="-5" dirty="0">
                <a:latin typeface="微软雅黑"/>
                <a:cs typeface="微软雅黑"/>
              </a:rPr>
              <a:t>implements</a:t>
            </a:r>
            <a:r>
              <a:rPr sz="2400" dirty="0">
                <a:latin typeface="微软雅黑"/>
                <a:cs typeface="微软雅黑"/>
              </a:rPr>
              <a:t>语句。一个类可以实现多个接口，因 此可以在</a:t>
            </a:r>
            <a:r>
              <a:rPr sz="2400" spc="-5" dirty="0">
                <a:latin typeface="微软雅黑"/>
                <a:cs typeface="微软雅黑"/>
              </a:rPr>
              <a:t>implements</a:t>
            </a:r>
            <a:r>
              <a:rPr sz="2400" dirty="0">
                <a:latin typeface="微软雅黑"/>
                <a:cs typeface="微软雅黑"/>
              </a:rPr>
              <a:t>后面可列出类要实现的接口系 列，这些接口以逗号分隔。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26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6.3.1</a:t>
            </a:r>
            <a:r>
              <a:rPr spc="-95" dirty="0"/>
              <a:t> </a:t>
            </a:r>
            <a:r>
              <a:rPr dirty="0"/>
              <a:t>接口的定义和实</a:t>
            </a:r>
            <a:r>
              <a:rPr spc="-5" dirty="0"/>
              <a:t>现	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72311" y="4005071"/>
            <a:ext cx="7848600" cy="1568450"/>
          </a:xfrm>
          <a:prstGeom prst="rect">
            <a:avLst/>
          </a:prstGeom>
          <a:solidFill>
            <a:srgbClr val="008000"/>
          </a:solidFill>
        </p:spPr>
        <p:txBody>
          <a:bodyPr vert="horz" wrap="square" lIns="0" tIns="247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5"/>
              </a:spcBef>
              <a:tabLst>
                <a:tab pos="5309235" algn="l"/>
              </a:tabLst>
            </a:pPr>
            <a:r>
              <a:rPr sz="2400" b="1" spc="-5" dirty="0">
                <a:solidFill>
                  <a:srgbClr val="FFFFFF"/>
                </a:solidFill>
                <a:latin typeface="Book Antiqua"/>
                <a:cs typeface="Book Antiqua"/>
              </a:rPr>
              <a:t>class</a:t>
            </a:r>
            <a:r>
              <a:rPr sz="2400" b="1" spc="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sz="2400" b="1" spc="-59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Book Antiqua"/>
                <a:cs typeface="Book Antiqua"/>
              </a:rPr>
              <a:t>extends</a:t>
            </a:r>
            <a:r>
              <a:rPr sz="2400" b="1" spc="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父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sz="2400" b="1" spc="63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b="1" spc="-5" dirty="0">
                <a:solidFill>
                  <a:srgbClr val="FFCC00"/>
                </a:solidFill>
                <a:latin typeface="Book Antiqua"/>
                <a:cs typeface="Book Antiqua"/>
              </a:rPr>
              <a:t>implements	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接口</a:t>
            </a:r>
            <a:r>
              <a:rPr sz="2400" b="1" dirty="0">
                <a:solidFill>
                  <a:srgbClr val="FFFFFF"/>
                </a:solidFill>
                <a:latin typeface="Book Antiqua"/>
                <a:cs typeface="Book Antiqua"/>
              </a:rPr>
              <a:t>1,</a:t>
            </a:r>
            <a:r>
              <a:rPr sz="2400" b="1" spc="-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接口</a:t>
            </a:r>
            <a:r>
              <a:rPr sz="2400" b="1" dirty="0">
                <a:solidFill>
                  <a:srgbClr val="FFFFFF"/>
                </a:solidFill>
                <a:latin typeface="Book Antiqua"/>
                <a:cs typeface="Book Antiqua"/>
              </a:rPr>
              <a:t>2</a:t>
            </a:r>
            <a:r>
              <a:rPr sz="2400" b="1" spc="-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Book Antiqua"/>
                <a:cs typeface="Book Antiqua"/>
              </a:rPr>
              <a:t>{</a:t>
            </a:r>
            <a:endParaRPr sz="2400">
              <a:latin typeface="Book Antiqua"/>
              <a:cs typeface="Book Antiqua"/>
            </a:endParaRPr>
          </a:p>
          <a:p>
            <a:pPr marL="62357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Book Antiqua"/>
                <a:cs typeface="Book Antiqua"/>
              </a:rPr>
              <a:t>……</a:t>
            </a:r>
            <a:endParaRPr sz="2400">
              <a:latin typeface="Book Antiqua"/>
              <a:cs typeface="Book Antiqua"/>
            </a:endParaRPr>
          </a:p>
          <a:p>
            <a:pPr marL="62357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Book Antiqua"/>
                <a:cs typeface="Book Antiqua"/>
              </a:rPr>
              <a:t>//</a:t>
            </a: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实现接口中所有的方</a:t>
            </a:r>
            <a:r>
              <a:rPr sz="2400" b="1" spc="-10" dirty="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2400">
              <a:latin typeface="宋体"/>
              <a:cs typeface="宋体"/>
            </a:endParaRPr>
          </a:p>
          <a:p>
            <a:pPr marL="9017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Book Antiqua"/>
                <a:cs typeface="Book Antiqua"/>
              </a:rPr>
              <a:t>}</a:t>
            </a:r>
            <a:endParaRPr sz="24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900112" y="2982912"/>
          <a:ext cx="8222615" cy="20466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8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64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父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子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关键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字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关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系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类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类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extends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单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一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接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口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类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implements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多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重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接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口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接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口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" dirty="0">
                          <a:latin typeface="Book Antiqua"/>
                          <a:cs typeface="Book Antiqua"/>
                        </a:rPr>
                        <a:t>extends</a:t>
                      </a:r>
                      <a:endParaRPr sz="2000">
                        <a:latin typeface="Book Antiqua"/>
                        <a:cs typeface="Book Antiqu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多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重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类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接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口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不存</a:t>
                      </a:r>
                      <a:r>
                        <a:rPr sz="2000" spc="5" dirty="0">
                          <a:latin typeface="宋体"/>
                          <a:cs typeface="宋体"/>
                        </a:rPr>
                        <a:t>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6.3.1</a:t>
            </a:r>
            <a:r>
              <a:rPr spc="-95" dirty="0"/>
              <a:t> </a:t>
            </a:r>
            <a:r>
              <a:rPr dirty="0"/>
              <a:t>接口的定义和实</a:t>
            </a:r>
            <a:r>
              <a:rPr spc="-5" dirty="0"/>
              <a:t>现	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29360" y="1567815"/>
            <a:ext cx="6597650" cy="1049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4150" marR="5080" indent="-171450" algn="just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微软雅黑"/>
                <a:cs typeface="微软雅黑"/>
              </a:rPr>
              <a:t>如果一个类实现一个接口，且实现接口中声明的 所有方法时，那么这个类才是具体的类；否则它 还是一个抽象的类。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6.3.1</a:t>
            </a:r>
            <a:r>
              <a:rPr sz="4400" spc="-90" dirty="0"/>
              <a:t> </a:t>
            </a:r>
            <a:r>
              <a:rPr sz="4400" dirty="0"/>
              <a:t>接口的定义和实</a:t>
            </a:r>
            <a:r>
              <a:rPr sz="4400" spc="5" dirty="0"/>
              <a:t>现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78739" y="1470660"/>
            <a:ext cx="8062595" cy="21761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</a:pPr>
            <a:r>
              <a:rPr sz="2800" dirty="0">
                <a:latin typeface="微软雅黑"/>
                <a:cs typeface="微软雅黑"/>
              </a:rPr>
              <a:t>【例</a:t>
            </a:r>
            <a:r>
              <a:rPr sz="2800" spc="-5" dirty="0">
                <a:latin typeface="微软雅黑"/>
                <a:cs typeface="微软雅黑"/>
              </a:rPr>
              <a:t>6-3</a:t>
            </a:r>
            <a:r>
              <a:rPr sz="2800" dirty="0">
                <a:latin typeface="微软雅黑"/>
                <a:cs typeface="微软雅黑"/>
              </a:rPr>
              <a:t>】为一个用户管理系统的前台管理设计抽</a:t>
            </a:r>
            <a:r>
              <a:rPr sz="2800" spc="-5" dirty="0">
                <a:latin typeface="微软雅黑"/>
                <a:cs typeface="微软雅黑"/>
              </a:rPr>
              <a:t>象 </a:t>
            </a:r>
            <a:r>
              <a:rPr sz="2800" dirty="0">
                <a:latin typeface="微软雅黑"/>
                <a:cs typeface="微软雅黑"/>
              </a:rPr>
              <a:t>接口层，并写一个实现类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用户管理系统的前台向用户提供注册、登录功能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84150" marR="193675" indent="-171450">
              <a:lnSpc>
                <a:spcPts val="302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用户类</a:t>
            </a:r>
            <a:r>
              <a:rPr sz="2800" spc="-5" dirty="0">
                <a:latin typeface="微软雅黑"/>
                <a:cs typeface="微软雅黑"/>
              </a:rPr>
              <a:t>User</a:t>
            </a:r>
            <a:r>
              <a:rPr sz="2800" dirty="0">
                <a:latin typeface="微软雅黑"/>
                <a:cs typeface="微软雅黑"/>
              </a:rPr>
              <a:t>包含</a:t>
            </a:r>
            <a:r>
              <a:rPr sz="2800" spc="-5" dirty="0">
                <a:latin typeface="微软雅黑"/>
                <a:cs typeface="微软雅黑"/>
              </a:rPr>
              <a:t>userN</a:t>
            </a:r>
            <a:r>
              <a:rPr sz="2800" dirty="0">
                <a:latin typeface="微软雅黑"/>
                <a:cs typeface="微软雅黑"/>
              </a:rPr>
              <a:t>am</a:t>
            </a:r>
            <a:r>
              <a:rPr sz="2800" spc="-5" dirty="0">
                <a:latin typeface="微软雅黑"/>
                <a:cs typeface="微软雅黑"/>
              </a:rPr>
              <a:t>e</a:t>
            </a:r>
            <a:r>
              <a:rPr sz="2800" dirty="0">
                <a:latin typeface="微软雅黑"/>
                <a:cs typeface="微软雅黑"/>
              </a:rPr>
              <a:t>、</a:t>
            </a:r>
            <a:r>
              <a:rPr sz="2800" spc="-45" dirty="0">
                <a:latin typeface="微软雅黑"/>
                <a:cs typeface="微软雅黑"/>
              </a:rPr>
              <a:t>p</a:t>
            </a:r>
            <a:r>
              <a:rPr sz="2800" dirty="0">
                <a:latin typeface="微软雅黑"/>
                <a:cs typeface="微软雅黑"/>
              </a:rPr>
              <a:t>a</a:t>
            </a:r>
            <a:r>
              <a:rPr sz="2800" spc="-5" dirty="0">
                <a:latin typeface="微软雅黑"/>
                <a:cs typeface="微软雅黑"/>
              </a:rPr>
              <a:t>ss</a:t>
            </a:r>
            <a:r>
              <a:rPr sz="2800" spc="-15" dirty="0">
                <a:latin typeface="微软雅黑"/>
                <a:cs typeface="微软雅黑"/>
              </a:rPr>
              <a:t>w</a:t>
            </a:r>
            <a:r>
              <a:rPr sz="2800" spc="-5" dirty="0">
                <a:latin typeface="微软雅黑"/>
                <a:cs typeface="微软雅黑"/>
              </a:rPr>
              <a:t>o</a:t>
            </a:r>
            <a:r>
              <a:rPr sz="2800" spc="-45" dirty="0">
                <a:latin typeface="微软雅黑"/>
                <a:cs typeface="微软雅黑"/>
              </a:rPr>
              <a:t>r</a:t>
            </a:r>
            <a:r>
              <a:rPr sz="2800" spc="-5" dirty="0">
                <a:latin typeface="微软雅黑"/>
                <a:cs typeface="微软雅黑"/>
              </a:rPr>
              <a:t>d</a:t>
            </a:r>
            <a:r>
              <a:rPr sz="2800" dirty="0">
                <a:latin typeface="微软雅黑"/>
                <a:cs typeface="微软雅黑"/>
              </a:rPr>
              <a:t>等数据</a:t>
            </a:r>
            <a:r>
              <a:rPr sz="2800" spc="-5" dirty="0">
                <a:latin typeface="微软雅黑"/>
                <a:cs typeface="微软雅黑"/>
              </a:rPr>
              <a:t>成 </a:t>
            </a:r>
            <a:r>
              <a:rPr sz="2800" dirty="0">
                <a:latin typeface="微软雅黑"/>
                <a:cs typeface="微软雅黑"/>
              </a:rPr>
              <a:t>员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6.3.1</a:t>
            </a:r>
            <a:r>
              <a:rPr sz="4400" spc="-90" dirty="0"/>
              <a:t> </a:t>
            </a:r>
            <a:r>
              <a:rPr sz="4400" dirty="0"/>
              <a:t>接口的定义和实</a:t>
            </a:r>
            <a:r>
              <a:rPr sz="4400" spc="5" dirty="0"/>
              <a:t>现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39" y="1470660"/>
            <a:ext cx="8019415" cy="160210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 algn="just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利用接口为系统定义一个抽象层，描述用户管理</a:t>
            </a:r>
            <a:r>
              <a:rPr sz="2800" spc="-5" dirty="0">
                <a:latin typeface="微软雅黑"/>
                <a:cs typeface="微软雅黑"/>
              </a:rPr>
              <a:t>系 </a:t>
            </a:r>
            <a:r>
              <a:rPr sz="2800" dirty="0">
                <a:latin typeface="微软雅黑"/>
                <a:cs typeface="微软雅黑"/>
              </a:rPr>
              <a:t>统中应具有的行为。比如，注册对应着向系统中</a:t>
            </a:r>
            <a:r>
              <a:rPr sz="2800" spc="-5" dirty="0">
                <a:latin typeface="微软雅黑"/>
                <a:cs typeface="微软雅黑"/>
              </a:rPr>
              <a:t>添 </a:t>
            </a:r>
            <a:r>
              <a:rPr sz="2800" dirty="0">
                <a:latin typeface="微软雅黑"/>
                <a:cs typeface="微软雅黑"/>
              </a:rPr>
              <a:t>加用户的行为，登录对应着在系统用户中按照用</a:t>
            </a:r>
            <a:r>
              <a:rPr sz="2800" spc="-5" dirty="0">
                <a:latin typeface="微软雅黑"/>
                <a:cs typeface="微软雅黑"/>
              </a:rPr>
              <a:t>户 </a:t>
            </a:r>
            <a:r>
              <a:rPr sz="2800" dirty="0">
                <a:latin typeface="微软雅黑"/>
                <a:cs typeface="微软雅黑"/>
              </a:rPr>
              <a:t>名和密码进行查询的行为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43939" y="3860291"/>
            <a:ext cx="7415783" cy="15072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39799" y="3857244"/>
            <a:ext cx="7425055" cy="1514475"/>
          </a:xfrm>
          <a:custGeom>
            <a:avLst/>
            <a:gdLst/>
            <a:ahLst/>
            <a:cxnLst/>
            <a:rect l="l" t="t" r="r" b="b"/>
            <a:pathLst>
              <a:path w="7425055" h="1514475">
                <a:moveTo>
                  <a:pt x="7424445" y="1514475"/>
                </a:moveTo>
                <a:lnTo>
                  <a:pt x="0" y="1514475"/>
                </a:lnTo>
                <a:lnTo>
                  <a:pt x="0" y="0"/>
                </a:lnTo>
                <a:lnTo>
                  <a:pt x="7424445" y="0"/>
                </a:lnTo>
                <a:lnTo>
                  <a:pt x="7424445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506854"/>
                </a:lnTo>
                <a:lnTo>
                  <a:pt x="3810" y="1506854"/>
                </a:lnTo>
                <a:lnTo>
                  <a:pt x="7620" y="1510664"/>
                </a:lnTo>
                <a:lnTo>
                  <a:pt x="7424445" y="1510664"/>
                </a:lnTo>
                <a:lnTo>
                  <a:pt x="7424445" y="1514475"/>
                </a:lnTo>
                <a:close/>
              </a:path>
              <a:path w="7425055" h="1514475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7425055" h="1514475">
                <a:moveTo>
                  <a:pt x="7416825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7416825" y="3809"/>
                </a:lnTo>
                <a:lnTo>
                  <a:pt x="7416825" y="7619"/>
                </a:lnTo>
                <a:close/>
              </a:path>
              <a:path w="7425055" h="1514475">
                <a:moveTo>
                  <a:pt x="7416825" y="1510664"/>
                </a:moveTo>
                <a:lnTo>
                  <a:pt x="7416825" y="3809"/>
                </a:lnTo>
                <a:lnTo>
                  <a:pt x="7420635" y="7619"/>
                </a:lnTo>
                <a:lnTo>
                  <a:pt x="7424445" y="7619"/>
                </a:lnTo>
                <a:lnTo>
                  <a:pt x="7424445" y="1506854"/>
                </a:lnTo>
                <a:lnTo>
                  <a:pt x="7420635" y="1506854"/>
                </a:lnTo>
                <a:lnTo>
                  <a:pt x="7416825" y="1510664"/>
                </a:lnTo>
                <a:close/>
              </a:path>
              <a:path w="7425055" h="1514475">
                <a:moveTo>
                  <a:pt x="7424445" y="7619"/>
                </a:moveTo>
                <a:lnTo>
                  <a:pt x="7420635" y="7619"/>
                </a:lnTo>
                <a:lnTo>
                  <a:pt x="7416825" y="3809"/>
                </a:lnTo>
                <a:lnTo>
                  <a:pt x="7424445" y="3809"/>
                </a:lnTo>
                <a:lnTo>
                  <a:pt x="7424445" y="7619"/>
                </a:lnTo>
                <a:close/>
              </a:path>
              <a:path w="7425055" h="1514475">
                <a:moveTo>
                  <a:pt x="7620" y="1510664"/>
                </a:moveTo>
                <a:lnTo>
                  <a:pt x="3810" y="1506854"/>
                </a:lnTo>
                <a:lnTo>
                  <a:pt x="7620" y="1506854"/>
                </a:lnTo>
                <a:lnTo>
                  <a:pt x="7620" y="1510664"/>
                </a:lnTo>
                <a:close/>
              </a:path>
              <a:path w="7425055" h="1514475">
                <a:moveTo>
                  <a:pt x="7416825" y="1510664"/>
                </a:moveTo>
                <a:lnTo>
                  <a:pt x="7620" y="1510664"/>
                </a:lnTo>
                <a:lnTo>
                  <a:pt x="7620" y="1506854"/>
                </a:lnTo>
                <a:lnTo>
                  <a:pt x="7416825" y="1506854"/>
                </a:lnTo>
                <a:lnTo>
                  <a:pt x="7416825" y="1510664"/>
                </a:lnTo>
                <a:close/>
              </a:path>
              <a:path w="7425055" h="1514475">
                <a:moveTo>
                  <a:pt x="7424445" y="1510664"/>
                </a:moveTo>
                <a:lnTo>
                  <a:pt x="7416825" y="1510664"/>
                </a:lnTo>
                <a:lnTo>
                  <a:pt x="7420635" y="1506854"/>
                </a:lnTo>
                <a:lnTo>
                  <a:pt x="7424445" y="1506854"/>
                </a:lnTo>
                <a:lnTo>
                  <a:pt x="7424445" y="151066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43939" y="3887089"/>
            <a:ext cx="7416165" cy="1429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微软雅黑"/>
                <a:cs typeface="微软雅黑"/>
              </a:rPr>
              <a:t>public </a:t>
            </a:r>
            <a:r>
              <a:rPr sz="2000" spc="-5" dirty="0">
                <a:solidFill>
                  <a:srgbClr val="C00000"/>
                </a:solidFill>
                <a:latin typeface="微软雅黑"/>
                <a:cs typeface="微软雅黑"/>
              </a:rPr>
              <a:t>interface </a:t>
            </a:r>
            <a:r>
              <a:rPr sz="1800" spc="-5" dirty="0">
                <a:latin typeface="微软雅黑"/>
                <a:cs typeface="微软雅黑"/>
              </a:rPr>
              <a:t>UserDao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微软雅黑"/>
                <a:cs typeface="微软雅黑"/>
              </a:rPr>
              <a:t>public </a:t>
            </a:r>
            <a:r>
              <a:rPr sz="1800" spc="-5" dirty="0">
                <a:latin typeface="微软雅黑"/>
                <a:cs typeface="微软雅黑"/>
              </a:rPr>
              <a:t>boolean addUser(User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user);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public </a:t>
            </a:r>
            <a:r>
              <a:rPr sz="1800" spc="-5" dirty="0">
                <a:latin typeface="微软雅黑"/>
                <a:cs typeface="微软雅黑"/>
              </a:rPr>
              <a:t>User </a:t>
            </a:r>
            <a:r>
              <a:rPr sz="1800" spc="-10" dirty="0">
                <a:latin typeface="微软雅黑"/>
                <a:cs typeface="微软雅黑"/>
              </a:rPr>
              <a:t>getUser(String userName,String</a:t>
            </a:r>
            <a:r>
              <a:rPr sz="1800" spc="20" dirty="0">
                <a:latin typeface="微软雅黑"/>
                <a:cs typeface="微软雅黑"/>
              </a:rPr>
              <a:t> </a:t>
            </a:r>
            <a:r>
              <a:rPr sz="1800" spc="-10" dirty="0">
                <a:latin typeface="微软雅黑"/>
                <a:cs typeface="微软雅黑"/>
              </a:rPr>
              <a:t>password);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53</a:t>
            </a:fld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6.3.1</a:t>
            </a:r>
            <a:r>
              <a:rPr sz="4400" spc="-90" dirty="0"/>
              <a:t> </a:t>
            </a:r>
            <a:r>
              <a:rPr sz="4400" dirty="0"/>
              <a:t>接口的定义和实</a:t>
            </a:r>
            <a:r>
              <a:rPr sz="4400" spc="5" dirty="0"/>
              <a:t>现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39" y="1470660"/>
            <a:ext cx="7927975" cy="8350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用数组保存所有的用户信息，并用</a:t>
            </a:r>
            <a:r>
              <a:rPr sz="2800" spc="-5" dirty="0">
                <a:latin typeface="微软雅黑"/>
                <a:cs typeface="微软雅黑"/>
              </a:rPr>
              <a:t>count</a:t>
            </a:r>
            <a:r>
              <a:rPr sz="2800" dirty="0">
                <a:latin typeface="微软雅黑"/>
                <a:cs typeface="微软雅黑"/>
              </a:rPr>
              <a:t>成员记</a:t>
            </a:r>
            <a:r>
              <a:rPr sz="2800" spc="-5" dirty="0">
                <a:latin typeface="微软雅黑"/>
                <a:cs typeface="微软雅黑"/>
              </a:rPr>
              <a:t>录 </a:t>
            </a:r>
            <a:r>
              <a:rPr sz="2800" dirty="0">
                <a:latin typeface="微软雅黑"/>
                <a:cs typeface="微软雅黑"/>
              </a:rPr>
              <a:t>当前用户的数量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48383" y="2636520"/>
            <a:ext cx="5975603" cy="23073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43850" y="2633103"/>
            <a:ext cx="5984875" cy="2314575"/>
          </a:xfrm>
          <a:custGeom>
            <a:avLst/>
            <a:gdLst/>
            <a:ahLst/>
            <a:cxnLst/>
            <a:rect l="l" t="t" r="r" b="b"/>
            <a:pathLst>
              <a:path w="5984875" h="2314575">
                <a:moveTo>
                  <a:pt x="5984290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5984290" y="0"/>
                </a:lnTo>
                <a:lnTo>
                  <a:pt x="5984290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306954"/>
                </a:lnTo>
                <a:lnTo>
                  <a:pt x="3809" y="2306954"/>
                </a:lnTo>
                <a:lnTo>
                  <a:pt x="7619" y="2310765"/>
                </a:lnTo>
                <a:lnTo>
                  <a:pt x="5984290" y="2310765"/>
                </a:lnTo>
                <a:lnTo>
                  <a:pt x="5984290" y="2314575"/>
                </a:lnTo>
                <a:close/>
              </a:path>
              <a:path w="5984875" h="231457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5984875" h="2314575">
                <a:moveTo>
                  <a:pt x="5976670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5976670" y="3809"/>
                </a:lnTo>
                <a:lnTo>
                  <a:pt x="5976670" y="7619"/>
                </a:lnTo>
                <a:close/>
              </a:path>
              <a:path w="5984875" h="2314575">
                <a:moveTo>
                  <a:pt x="5976670" y="2310765"/>
                </a:moveTo>
                <a:lnTo>
                  <a:pt x="5976670" y="3809"/>
                </a:lnTo>
                <a:lnTo>
                  <a:pt x="5980480" y="7619"/>
                </a:lnTo>
                <a:lnTo>
                  <a:pt x="5984290" y="7619"/>
                </a:lnTo>
                <a:lnTo>
                  <a:pt x="5984290" y="2306954"/>
                </a:lnTo>
                <a:lnTo>
                  <a:pt x="5980480" y="2306954"/>
                </a:lnTo>
                <a:lnTo>
                  <a:pt x="5976670" y="2310765"/>
                </a:lnTo>
                <a:close/>
              </a:path>
              <a:path w="5984875" h="2314575">
                <a:moveTo>
                  <a:pt x="5984290" y="7619"/>
                </a:moveTo>
                <a:lnTo>
                  <a:pt x="5980480" y="7619"/>
                </a:lnTo>
                <a:lnTo>
                  <a:pt x="5976670" y="3809"/>
                </a:lnTo>
                <a:lnTo>
                  <a:pt x="5984290" y="3809"/>
                </a:lnTo>
                <a:lnTo>
                  <a:pt x="5984290" y="7619"/>
                </a:lnTo>
                <a:close/>
              </a:path>
              <a:path w="5984875" h="2314575">
                <a:moveTo>
                  <a:pt x="7619" y="2310765"/>
                </a:moveTo>
                <a:lnTo>
                  <a:pt x="3809" y="2306954"/>
                </a:lnTo>
                <a:lnTo>
                  <a:pt x="7619" y="2306954"/>
                </a:lnTo>
                <a:lnTo>
                  <a:pt x="7619" y="2310765"/>
                </a:lnTo>
                <a:close/>
              </a:path>
              <a:path w="5984875" h="2314575">
                <a:moveTo>
                  <a:pt x="5976670" y="2310765"/>
                </a:moveTo>
                <a:lnTo>
                  <a:pt x="7619" y="2310765"/>
                </a:lnTo>
                <a:lnTo>
                  <a:pt x="7619" y="2306954"/>
                </a:lnTo>
                <a:lnTo>
                  <a:pt x="5976670" y="2306954"/>
                </a:lnTo>
                <a:lnTo>
                  <a:pt x="5976670" y="2310765"/>
                </a:lnTo>
                <a:close/>
              </a:path>
              <a:path w="5984875" h="2314575">
                <a:moveTo>
                  <a:pt x="5984290" y="2310765"/>
                </a:moveTo>
                <a:lnTo>
                  <a:pt x="5976670" y="2310765"/>
                </a:lnTo>
                <a:lnTo>
                  <a:pt x="5980480" y="2306954"/>
                </a:lnTo>
                <a:lnTo>
                  <a:pt x="5984290" y="2306954"/>
                </a:lnTo>
                <a:lnTo>
                  <a:pt x="5984290" y="231076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548383" y="2664853"/>
            <a:ext cx="597598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b="1" dirty="0">
                <a:latin typeface="微软雅黑"/>
                <a:cs typeface="微软雅黑"/>
              </a:rPr>
              <a:t>class </a:t>
            </a:r>
            <a:r>
              <a:rPr sz="1800" spc="-5" dirty="0">
                <a:latin typeface="微软雅黑"/>
                <a:cs typeface="微软雅黑"/>
              </a:rPr>
              <a:t>UserDaoForArray </a:t>
            </a:r>
            <a:r>
              <a:rPr sz="1800" b="1" spc="-5" dirty="0">
                <a:latin typeface="微软雅黑"/>
                <a:cs typeface="微软雅黑"/>
              </a:rPr>
              <a:t>implements</a:t>
            </a:r>
            <a:r>
              <a:rPr sz="1800" b="1" spc="1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UserDao{</a:t>
            </a:r>
            <a:endParaRPr sz="1800">
              <a:latin typeface="微软雅黑"/>
              <a:cs typeface="微软雅黑"/>
            </a:endParaRPr>
          </a:p>
          <a:p>
            <a:pPr marL="1004569">
              <a:lnSpc>
                <a:spcPct val="100000"/>
              </a:lnSpc>
            </a:pPr>
            <a:r>
              <a:rPr sz="1800" b="1" spc="-10" dirty="0">
                <a:latin typeface="微软雅黑"/>
                <a:cs typeface="微软雅黑"/>
              </a:rPr>
              <a:t>private </a:t>
            </a:r>
            <a:r>
              <a:rPr sz="1800" b="1" spc="-5" dirty="0">
                <a:solidFill>
                  <a:srgbClr val="C00000"/>
                </a:solidFill>
                <a:latin typeface="微软雅黑"/>
                <a:cs typeface="微软雅黑"/>
              </a:rPr>
              <a:t>User[]</a:t>
            </a:r>
            <a:r>
              <a:rPr sz="1800" b="1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data;</a:t>
            </a:r>
            <a:endParaRPr sz="1800">
              <a:latin typeface="微软雅黑"/>
              <a:cs typeface="微软雅黑"/>
            </a:endParaRPr>
          </a:p>
          <a:p>
            <a:pPr marL="1004569">
              <a:lnSpc>
                <a:spcPct val="100000"/>
              </a:lnSpc>
            </a:pPr>
            <a:r>
              <a:rPr sz="1800" b="1" spc="-10" dirty="0">
                <a:latin typeface="微软雅黑"/>
                <a:cs typeface="微软雅黑"/>
              </a:rPr>
              <a:t>private </a:t>
            </a:r>
            <a:r>
              <a:rPr sz="1800" b="1" spc="-5" dirty="0">
                <a:latin typeface="微软雅黑"/>
                <a:cs typeface="微软雅黑"/>
              </a:rPr>
              <a:t>int</a:t>
            </a:r>
            <a:r>
              <a:rPr sz="1800" b="1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count=0;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1004569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public</a:t>
            </a:r>
            <a:r>
              <a:rPr sz="1800" b="1" spc="-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UserDaoForArray(){</a:t>
            </a:r>
            <a:endParaRPr sz="1800">
              <a:latin typeface="微软雅黑"/>
              <a:cs typeface="微软雅黑"/>
            </a:endParaRPr>
          </a:p>
          <a:p>
            <a:pPr marL="191897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data=</a:t>
            </a:r>
            <a:r>
              <a:rPr sz="1800" b="1" spc="-5" dirty="0">
                <a:latin typeface="微软雅黑"/>
                <a:cs typeface="微软雅黑"/>
              </a:rPr>
              <a:t>new </a:t>
            </a:r>
            <a:r>
              <a:rPr sz="1800" spc="-5" dirty="0">
                <a:latin typeface="微软雅黑"/>
                <a:cs typeface="微软雅黑"/>
              </a:rPr>
              <a:t>User[10];</a:t>
            </a:r>
            <a:endParaRPr sz="1800">
              <a:latin typeface="微软雅黑"/>
              <a:cs typeface="微软雅黑"/>
            </a:endParaRPr>
          </a:p>
          <a:p>
            <a:pPr marL="1004569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54</a:t>
            </a:fld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6.3.1</a:t>
            </a:r>
            <a:r>
              <a:rPr sz="4400" spc="-90" dirty="0"/>
              <a:t> </a:t>
            </a:r>
            <a:r>
              <a:rPr sz="4400" dirty="0"/>
              <a:t>接口的定义和实</a:t>
            </a:r>
            <a:r>
              <a:rPr sz="4400" spc="5" dirty="0"/>
              <a:t>现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7314" y="1481455"/>
            <a:ext cx="9036685" cy="452564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3504" y="1477644"/>
            <a:ext cx="9040495" cy="4533265"/>
          </a:xfrm>
          <a:custGeom>
            <a:avLst/>
            <a:gdLst/>
            <a:ahLst/>
            <a:cxnLst/>
            <a:rect l="l" t="t" r="r" b="b"/>
            <a:pathLst>
              <a:path w="9040495" h="4533265">
                <a:moveTo>
                  <a:pt x="9040495" y="4533265"/>
                </a:moveTo>
                <a:lnTo>
                  <a:pt x="0" y="4533265"/>
                </a:lnTo>
                <a:lnTo>
                  <a:pt x="0" y="0"/>
                </a:lnTo>
                <a:lnTo>
                  <a:pt x="9040495" y="0"/>
                </a:lnTo>
                <a:lnTo>
                  <a:pt x="9040495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4525645"/>
                </a:lnTo>
                <a:lnTo>
                  <a:pt x="3809" y="4525645"/>
                </a:lnTo>
                <a:lnTo>
                  <a:pt x="7619" y="4529455"/>
                </a:lnTo>
                <a:lnTo>
                  <a:pt x="9040495" y="4529455"/>
                </a:lnTo>
                <a:lnTo>
                  <a:pt x="9040495" y="4533265"/>
                </a:lnTo>
                <a:close/>
              </a:path>
              <a:path w="9040495" h="4533265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9040495" h="4533265">
                <a:moveTo>
                  <a:pt x="903668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9036685" y="3810"/>
                </a:lnTo>
                <a:lnTo>
                  <a:pt x="9036685" y="7620"/>
                </a:lnTo>
                <a:close/>
              </a:path>
              <a:path w="9040495" h="4533265">
                <a:moveTo>
                  <a:pt x="9036685" y="4529455"/>
                </a:moveTo>
                <a:lnTo>
                  <a:pt x="9036685" y="3810"/>
                </a:lnTo>
                <a:lnTo>
                  <a:pt x="9040495" y="7620"/>
                </a:lnTo>
                <a:lnTo>
                  <a:pt x="9040495" y="4525644"/>
                </a:lnTo>
                <a:lnTo>
                  <a:pt x="9036685" y="4529455"/>
                </a:lnTo>
                <a:close/>
              </a:path>
              <a:path w="9040495" h="4533265">
                <a:moveTo>
                  <a:pt x="9040495" y="7620"/>
                </a:moveTo>
                <a:lnTo>
                  <a:pt x="9036685" y="3810"/>
                </a:lnTo>
                <a:lnTo>
                  <a:pt x="9040495" y="3810"/>
                </a:lnTo>
                <a:lnTo>
                  <a:pt x="9040495" y="7620"/>
                </a:lnTo>
                <a:close/>
              </a:path>
              <a:path w="9040495" h="4533265">
                <a:moveTo>
                  <a:pt x="7619" y="4529455"/>
                </a:moveTo>
                <a:lnTo>
                  <a:pt x="3809" y="4525645"/>
                </a:lnTo>
                <a:lnTo>
                  <a:pt x="7619" y="4525645"/>
                </a:lnTo>
                <a:lnTo>
                  <a:pt x="7619" y="4529455"/>
                </a:lnTo>
                <a:close/>
              </a:path>
              <a:path w="9040495" h="4533265">
                <a:moveTo>
                  <a:pt x="9036685" y="4529455"/>
                </a:moveTo>
                <a:lnTo>
                  <a:pt x="7619" y="4529455"/>
                </a:lnTo>
                <a:lnTo>
                  <a:pt x="7619" y="4525645"/>
                </a:lnTo>
                <a:lnTo>
                  <a:pt x="9036685" y="4525645"/>
                </a:lnTo>
                <a:lnTo>
                  <a:pt x="9036685" y="4529455"/>
                </a:lnTo>
                <a:close/>
              </a:path>
              <a:path w="9040495" h="4533265">
                <a:moveTo>
                  <a:pt x="9040495" y="4529455"/>
                </a:moveTo>
                <a:lnTo>
                  <a:pt x="9036685" y="4529455"/>
                </a:lnTo>
                <a:lnTo>
                  <a:pt x="9040495" y="4525645"/>
                </a:lnTo>
                <a:lnTo>
                  <a:pt x="9040495" y="452945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00455" y="1440815"/>
            <a:ext cx="7736840" cy="431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b="1" dirty="0">
                <a:latin typeface="微软雅黑"/>
                <a:cs typeface="微软雅黑"/>
              </a:rPr>
              <a:t>boolean </a:t>
            </a:r>
            <a:r>
              <a:rPr sz="1800" spc="-5" dirty="0">
                <a:latin typeface="微软雅黑"/>
                <a:cs typeface="微软雅黑"/>
              </a:rPr>
              <a:t>addUser(User user)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if</a:t>
            </a:r>
            <a:r>
              <a:rPr sz="1800" spc="-5" dirty="0">
                <a:latin typeface="微软雅黑"/>
                <a:cs typeface="微软雅黑"/>
              </a:rPr>
              <a:t>(count==data.length){ </a:t>
            </a:r>
            <a:r>
              <a:rPr sz="1800" dirty="0">
                <a:latin typeface="微软雅黑"/>
                <a:cs typeface="微软雅黑"/>
              </a:rPr>
              <a:t>//用户上限已达到</a:t>
            </a:r>
            <a:endParaRPr sz="18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return</a:t>
            </a:r>
            <a:r>
              <a:rPr sz="1800" b="1" spc="-10" dirty="0">
                <a:latin typeface="微软雅黑"/>
                <a:cs typeface="微软雅黑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false</a:t>
            </a:r>
            <a:r>
              <a:rPr sz="1800" dirty="0"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//查找用户名是否已存在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for</a:t>
            </a:r>
            <a:r>
              <a:rPr sz="1800" spc="-5" dirty="0">
                <a:latin typeface="微软雅黑"/>
                <a:cs typeface="微软雅黑"/>
              </a:rPr>
              <a:t>(</a:t>
            </a:r>
            <a:r>
              <a:rPr sz="1800" b="1" spc="-5" dirty="0">
                <a:latin typeface="微软雅黑"/>
                <a:cs typeface="微软雅黑"/>
              </a:rPr>
              <a:t>int </a:t>
            </a:r>
            <a:r>
              <a:rPr sz="1800" spc="-5" dirty="0">
                <a:latin typeface="微软雅黑"/>
                <a:cs typeface="微软雅黑"/>
              </a:rPr>
              <a:t>i=0; i&lt;count;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i++){</a:t>
            </a:r>
            <a:endParaRPr sz="1800">
              <a:latin typeface="微软雅黑"/>
              <a:cs typeface="微软雅黑"/>
            </a:endParaRPr>
          </a:p>
          <a:p>
            <a:pPr marL="2755265" marR="5080" indent="-914400">
              <a:lnSpc>
                <a:spcPct val="104600"/>
              </a:lnSpc>
            </a:pPr>
            <a:r>
              <a:rPr sz="1800" b="1" spc="-10" dirty="0">
                <a:latin typeface="微软雅黑"/>
                <a:cs typeface="微软雅黑"/>
              </a:rPr>
              <a:t>if</a:t>
            </a:r>
            <a:r>
              <a:rPr sz="1800" spc="-10" dirty="0">
                <a:latin typeface="微软雅黑"/>
                <a:cs typeface="微软雅黑"/>
              </a:rPr>
              <a:t>(data[i].getUserName().equals(user.getUserName())){  </a:t>
            </a:r>
            <a:r>
              <a:rPr sz="1800" b="1" spc="-5" dirty="0">
                <a:latin typeface="微软雅黑"/>
                <a:cs typeface="微软雅黑"/>
              </a:rPr>
              <a:t>return</a:t>
            </a:r>
            <a:r>
              <a:rPr sz="1800" b="1" spc="-10" dirty="0">
                <a:latin typeface="微软雅黑"/>
                <a:cs typeface="微软雅黑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false</a:t>
            </a:r>
            <a:r>
              <a:rPr sz="1800" dirty="0"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927100" marR="4839970">
              <a:lnSpc>
                <a:spcPct val="104600"/>
              </a:lnSpc>
            </a:pPr>
            <a:r>
              <a:rPr sz="1800" dirty="0">
                <a:latin typeface="微软雅黑"/>
                <a:cs typeface="微软雅黑"/>
              </a:rPr>
              <a:t>//添加新用户 </a:t>
            </a:r>
            <a:r>
              <a:rPr sz="1800" spc="-5" dirty="0">
                <a:latin typeface="微软雅黑"/>
                <a:cs typeface="微软雅黑"/>
              </a:rPr>
              <a:t>d</a:t>
            </a:r>
            <a:r>
              <a:rPr sz="1800" dirty="0">
                <a:latin typeface="微软雅黑"/>
                <a:cs typeface="微软雅黑"/>
              </a:rPr>
              <a:t>a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a</a:t>
            </a:r>
            <a:r>
              <a:rPr sz="1800" spc="-5" dirty="0">
                <a:latin typeface="微软雅黑"/>
                <a:cs typeface="微软雅黑"/>
              </a:rPr>
              <a:t>[</a:t>
            </a:r>
            <a:r>
              <a:rPr sz="1800" dirty="0">
                <a:latin typeface="微软雅黑"/>
                <a:cs typeface="微软雅黑"/>
              </a:rPr>
              <a:t>coun</a:t>
            </a:r>
            <a:r>
              <a:rPr sz="1800" spc="-5" dirty="0">
                <a:latin typeface="微软雅黑"/>
                <a:cs typeface="微软雅黑"/>
              </a:rPr>
              <a:t>t]=</a:t>
            </a:r>
            <a:r>
              <a:rPr sz="1800" dirty="0">
                <a:latin typeface="微软雅黑"/>
                <a:cs typeface="微软雅黑"/>
              </a:rPr>
              <a:t>us</a:t>
            </a:r>
            <a:r>
              <a:rPr sz="1800" spc="-5" dirty="0">
                <a:latin typeface="微软雅黑"/>
                <a:cs typeface="微软雅黑"/>
              </a:rPr>
              <a:t>e</a:t>
            </a:r>
            <a:r>
              <a:rPr sz="1800" spc="70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;  </a:t>
            </a:r>
            <a:r>
              <a:rPr sz="1800" spc="-5" dirty="0">
                <a:latin typeface="微软雅黑"/>
                <a:cs typeface="微软雅黑"/>
              </a:rPr>
              <a:t>count++;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return</a:t>
            </a:r>
            <a:r>
              <a:rPr sz="1800" b="1" spc="-10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true</a:t>
            </a:r>
            <a:r>
              <a:rPr sz="1800" spc="-5" dirty="0"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55</a:t>
            </a:fld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05"/>
              </a:spcBef>
              <a:tabLst>
                <a:tab pos="8672195" algn="l"/>
              </a:tabLst>
            </a:pPr>
            <a:r>
              <a:rPr sz="4400" b="0" spc="-50" dirty="0">
                <a:latin typeface="Times New Roman"/>
                <a:cs typeface="Times New Roman"/>
              </a:rPr>
              <a:t> </a:t>
            </a:r>
            <a:r>
              <a:rPr sz="4400" spc="-5" dirty="0"/>
              <a:t>6.3.1</a:t>
            </a:r>
            <a:r>
              <a:rPr sz="4400" spc="-90" dirty="0"/>
              <a:t> </a:t>
            </a:r>
            <a:r>
              <a:rPr sz="4400" dirty="0"/>
              <a:t>接口的定义和实</a:t>
            </a:r>
            <a:r>
              <a:rPr sz="4400" spc="5" dirty="0"/>
              <a:t>现	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1481455"/>
            <a:ext cx="8229600" cy="41795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1477644"/>
            <a:ext cx="8233409" cy="4187190"/>
          </a:xfrm>
          <a:custGeom>
            <a:avLst/>
            <a:gdLst/>
            <a:ahLst/>
            <a:cxnLst/>
            <a:rect l="l" t="t" r="r" b="b"/>
            <a:pathLst>
              <a:path w="8233409" h="4187190">
                <a:moveTo>
                  <a:pt x="0" y="7619"/>
                </a:moveTo>
                <a:lnTo>
                  <a:pt x="0" y="0"/>
                </a:lnTo>
                <a:lnTo>
                  <a:pt x="8233409" y="0"/>
                </a:lnTo>
                <a:lnTo>
                  <a:pt x="8233409" y="3809"/>
                </a:lnTo>
                <a:lnTo>
                  <a:pt x="3810" y="3809"/>
                </a:lnTo>
                <a:lnTo>
                  <a:pt x="0" y="7619"/>
                </a:lnTo>
                <a:close/>
              </a:path>
              <a:path w="8233409" h="4187190">
                <a:moveTo>
                  <a:pt x="3810" y="4183379"/>
                </a:moveTo>
                <a:lnTo>
                  <a:pt x="0" y="4179569"/>
                </a:lnTo>
                <a:lnTo>
                  <a:pt x="0" y="7619"/>
                </a:lnTo>
                <a:lnTo>
                  <a:pt x="3810" y="3809"/>
                </a:lnTo>
                <a:lnTo>
                  <a:pt x="3810" y="4183379"/>
                </a:lnTo>
                <a:close/>
              </a:path>
              <a:path w="8233409" h="4187190">
                <a:moveTo>
                  <a:pt x="8225790" y="7619"/>
                </a:moveTo>
                <a:lnTo>
                  <a:pt x="3810" y="7619"/>
                </a:lnTo>
                <a:lnTo>
                  <a:pt x="3810" y="3809"/>
                </a:lnTo>
                <a:lnTo>
                  <a:pt x="8225790" y="3809"/>
                </a:lnTo>
                <a:lnTo>
                  <a:pt x="8225790" y="7619"/>
                </a:lnTo>
                <a:close/>
              </a:path>
              <a:path w="8233409" h="4187190">
                <a:moveTo>
                  <a:pt x="8225790" y="4183379"/>
                </a:moveTo>
                <a:lnTo>
                  <a:pt x="8225790" y="3809"/>
                </a:lnTo>
                <a:lnTo>
                  <a:pt x="8229600" y="7619"/>
                </a:lnTo>
                <a:lnTo>
                  <a:pt x="8233409" y="7619"/>
                </a:lnTo>
                <a:lnTo>
                  <a:pt x="8233409" y="4179569"/>
                </a:lnTo>
                <a:lnTo>
                  <a:pt x="8229600" y="4179569"/>
                </a:lnTo>
                <a:lnTo>
                  <a:pt x="8225790" y="4183379"/>
                </a:lnTo>
                <a:close/>
              </a:path>
              <a:path w="8233409" h="4187190">
                <a:moveTo>
                  <a:pt x="8233409" y="7619"/>
                </a:moveTo>
                <a:lnTo>
                  <a:pt x="8229600" y="7619"/>
                </a:lnTo>
                <a:lnTo>
                  <a:pt x="8225790" y="3809"/>
                </a:lnTo>
                <a:lnTo>
                  <a:pt x="8233409" y="3809"/>
                </a:lnTo>
                <a:lnTo>
                  <a:pt x="8233409" y="7619"/>
                </a:lnTo>
                <a:close/>
              </a:path>
              <a:path w="8233409" h="4187190">
                <a:moveTo>
                  <a:pt x="8233409" y="4187190"/>
                </a:moveTo>
                <a:lnTo>
                  <a:pt x="0" y="4187190"/>
                </a:lnTo>
                <a:lnTo>
                  <a:pt x="0" y="4179569"/>
                </a:lnTo>
                <a:lnTo>
                  <a:pt x="3810" y="4183379"/>
                </a:lnTo>
                <a:lnTo>
                  <a:pt x="8233409" y="4183379"/>
                </a:lnTo>
                <a:lnTo>
                  <a:pt x="8233409" y="4187190"/>
                </a:lnTo>
                <a:close/>
              </a:path>
              <a:path w="8233409" h="4187190">
                <a:moveTo>
                  <a:pt x="8225790" y="4183379"/>
                </a:moveTo>
                <a:lnTo>
                  <a:pt x="3810" y="4183379"/>
                </a:lnTo>
                <a:lnTo>
                  <a:pt x="3810" y="4179569"/>
                </a:lnTo>
                <a:lnTo>
                  <a:pt x="8225790" y="4179569"/>
                </a:lnTo>
                <a:lnTo>
                  <a:pt x="8225790" y="4183379"/>
                </a:lnTo>
                <a:close/>
              </a:path>
              <a:path w="8233409" h="4187190">
                <a:moveTo>
                  <a:pt x="8233409" y="4183379"/>
                </a:moveTo>
                <a:lnTo>
                  <a:pt x="8225790" y="4183379"/>
                </a:lnTo>
                <a:lnTo>
                  <a:pt x="8229600" y="4179569"/>
                </a:lnTo>
                <a:lnTo>
                  <a:pt x="8233409" y="4179569"/>
                </a:lnTo>
                <a:lnTo>
                  <a:pt x="8233409" y="418337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88595" y="1418081"/>
            <a:ext cx="7870190" cy="390017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817244">
              <a:lnSpc>
                <a:spcPct val="100000"/>
              </a:lnSpc>
              <a:spcBef>
                <a:spcPts val="610"/>
              </a:spcBef>
            </a:pPr>
            <a:r>
              <a:rPr sz="2000" b="1" spc="-5" dirty="0">
                <a:latin typeface="微软雅黑"/>
                <a:cs typeface="微软雅黑"/>
              </a:rPr>
              <a:t>public </a:t>
            </a:r>
            <a:r>
              <a:rPr sz="2000" spc="-5" dirty="0">
                <a:latin typeface="微软雅黑"/>
                <a:cs typeface="微软雅黑"/>
              </a:rPr>
              <a:t>User </a:t>
            </a:r>
            <a:r>
              <a:rPr sz="2000" spc="-10" dirty="0">
                <a:latin typeface="微软雅黑"/>
                <a:cs typeface="微软雅黑"/>
              </a:rPr>
              <a:t>getUser(String </a:t>
            </a:r>
            <a:r>
              <a:rPr sz="2000" spc="-5" dirty="0">
                <a:latin typeface="微软雅黑"/>
                <a:cs typeface="微软雅黑"/>
              </a:rPr>
              <a:t>userName, </a:t>
            </a:r>
            <a:r>
              <a:rPr sz="2000" spc="-15" dirty="0">
                <a:latin typeface="微软雅黑"/>
                <a:cs typeface="微软雅黑"/>
              </a:rPr>
              <a:t>String password)</a:t>
            </a:r>
            <a:r>
              <a:rPr sz="2000" spc="30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{</a:t>
            </a:r>
            <a:endParaRPr sz="20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509"/>
              </a:spcBef>
            </a:pPr>
            <a:r>
              <a:rPr sz="2000" b="1" spc="-5" dirty="0">
                <a:latin typeface="微软雅黑"/>
                <a:cs typeface="微软雅黑"/>
              </a:rPr>
              <a:t>for</a:t>
            </a:r>
            <a:r>
              <a:rPr sz="2000" spc="-5" dirty="0">
                <a:latin typeface="微软雅黑"/>
                <a:cs typeface="微软雅黑"/>
              </a:rPr>
              <a:t>(</a:t>
            </a:r>
            <a:r>
              <a:rPr sz="2000" b="1" spc="-5" dirty="0">
                <a:latin typeface="微软雅黑"/>
                <a:cs typeface="微软雅黑"/>
              </a:rPr>
              <a:t>int</a:t>
            </a:r>
            <a:r>
              <a:rPr sz="2000" b="1" spc="-15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微软雅黑"/>
                <a:cs typeface="微软雅黑"/>
              </a:rPr>
              <a:t>i=0;i&lt;count;i++){</a:t>
            </a:r>
            <a:endParaRPr sz="2000">
              <a:latin typeface="微软雅黑"/>
              <a:cs typeface="微软雅黑"/>
            </a:endParaRPr>
          </a:p>
          <a:p>
            <a:pPr marL="12700" marR="5080" indent="2633345">
              <a:lnSpc>
                <a:spcPts val="2160"/>
              </a:lnSpc>
              <a:spcBef>
                <a:spcPts val="780"/>
              </a:spcBef>
            </a:pPr>
            <a:r>
              <a:rPr sz="2000" b="1" spc="-5" dirty="0">
                <a:latin typeface="微软雅黑"/>
                <a:cs typeface="微软雅黑"/>
              </a:rPr>
              <a:t>if</a:t>
            </a:r>
            <a:r>
              <a:rPr sz="2000" spc="-5" dirty="0">
                <a:latin typeface="微软雅黑"/>
                <a:cs typeface="微软雅黑"/>
              </a:rPr>
              <a:t>(data[i].getUserName().equals(userName)  </a:t>
            </a:r>
            <a:r>
              <a:rPr sz="2000" dirty="0">
                <a:latin typeface="微软雅黑"/>
                <a:cs typeface="微软雅黑"/>
              </a:rPr>
              <a:t>&amp;&amp; </a:t>
            </a:r>
            <a:r>
              <a:rPr sz="2000" spc="-10" dirty="0">
                <a:latin typeface="微软雅黑"/>
                <a:cs typeface="微软雅黑"/>
              </a:rPr>
              <a:t>data[i].getPassword().equals(password)</a:t>
            </a:r>
            <a:r>
              <a:rPr sz="2000" spc="-15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){</a:t>
            </a:r>
            <a:endParaRPr sz="2000">
              <a:latin typeface="微软雅黑"/>
              <a:cs typeface="微软雅黑"/>
            </a:endParaRPr>
          </a:p>
          <a:p>
            <a:pPr marL="3559810">
              <a:lnSpc>
                <a:spcPts val="2280"/>
              </a:lnSpc>
              <a:spcBef>
                <a:spcPts val="475"/>
              </a:spcBef>
            </a:pPr>
            <a:r>
              <a:rPr sz="2000" b="1" spc="-5" dirty="0">
                <a:latin typeface="微软雅黑"/>
                <a:cs typeface="微软雅黑"/>
              </a:rPr>
              <a:t>return </a:t>
            </a:r>
            <a:r>
              <a:rPr sz="2000" b="1" dirty="0">
                <a:latin typeface="微软雅黑"/>
                <a:cs typeface="微软雅黑"/>
              </a:rPr>
              <a:t>new</a:t>
            </a:r>
            <a:r>
              <a:rPr sz="2000" b="1" spc="-25" dirty="0">
                <a:latin typeface="微软雅黑"/>
                <a:cs typeface="微软雅黑"/>
              </a:rPr>
              <a:t> </a:t>
            </a:r>
            <a:r>
              <a:rPr sz="2000" spc="-5" dirty="0">
                <a:latin typeface="微软雅黑"/>
                <a:cs typeface="微软雅黑"/>
              </a:rPr>
              <a:t>User(userName,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latin typeface="微软雅黑"/>
                <a:cs typeface="微软雅黑"/>
              </a:rPr>
              <a:t>password);</a:t>
            </a:r>
            <a:endParaRPr sz="2000">
              <a:latin typeface="微软雅黑"/>
              <a:cs typeface="微软雅黑"/>
            </a:endParaRPr>
          </a:p>
          <a:p>
            <a:pPr marL="2646045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515"/>
              </a:spcBef>
              <a:tabLst>
                <a:tab pos="3367404" algn="l"/>
              </a:tabLst>
            </a:pPr>
            <a:r>
              <a:rPr sz="2000" b="1" spc="-5" dirty="0">
                <a:latin typeface="微软雅黑"/>
                <a:cs typeface="微软雅黑"/>
              </a:rPr>
              <a:t>return null</a:t>
            </a:r>
            <a:r>
              <a:rPr sz="2000" spc="-5" dirty="0">
                <a:latin typeface="微软雅黑"/>
                <a:cs typeface="微软雅黑"/>
              </a:rPr>
              <a:t>;	//</a:t>
            </a:r>
            <a:r>
              <a:rPr sz="2000" dirty="0">
                <a:latin typeface="微软雅黑"/>
                <a:cs typeface="微软雅黑"/>
              </a:rPr>
              <a:t>用户名，密码不匹配返回</a:t>
            </a:r>
            <a:r>
              <a:rPr sz="2000" spc="-10" dirty="0">
                <a:latin typeface="微软雅黑"/>
                <a:cs typeface="微软雅黑"/>
              </a:rPr>
              <a:t>null</a:t>
            </a:r>
            <a:r>
              <a:rPr sz="2000" dirty="0">
                <a:latin typeface="微软雅黑"/>
                <a:cs typeface="微软雅黑"/>
              </a:rPr>
              <a:t>表示失</a:t>
            </a:r>
            <a:r>
              <a:rPr sz="2000" spc="5" dirty="0">
                <a:latin typeface="微软雅黑"/>
                <a:cs typeface="微软雅黑"/>
              </a:rPr>
              <a:t>败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56</a:t>
            </a:fld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26237"/>
            <a:ext cx="5062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1285" algn="l"/>
              </a:tabLst>
            </a:pPr>
            <a:r>
              <a:rPr sz="3600" u="none" spc="-5" dirty="0"/>
              <a:t>6</a:t>
            </a:r>
            <a:r>
              <a:rPr sz="3600" u="none" dirty="0"/>
              <a:t>.</a:t>
            </a:r>
            <a:r>
              <a:rPr sz="3600" u="none" spc="-5" dirty="0"/>
              <a:t>3</a:t>
            </a:r>
            <a:r>
              <a:rPr sz="3600" u="none" dirty="0"/>
              <a:t>.1	接口的定义和实现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8445" y="1185544"/>
            <a:ext cx="6241415" cy="1396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通过接口可以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实现向上转型为多个类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•"/>
            </a:pPr>
            <a:endParaRPr sz="315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sz="280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Adventure.java 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26237"/>
            <a:ext cx="5519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1285" algn="l"/>
              </a:tabLst>
            </a:pPr>
            <a:r>
              <a:rPr sz="3600" u="none" spc="-5" dirty="0"/>
              <a:t>6</a:t>
            </a:r>
            <a:r>
              <a:rPr sz="3600" u="none" dirty="0"/>
              <a:t>.</a:t>
            </a:r>
            <a:r>
              <a:rPr sz="3600" u="none" spc="-5" dirty="0"/>
              <a:t>3</a:t>
            </a:r>
            <a:r>
              <a:rPr sz="3600" u="none" dirty="0"/>
              <a:t>.2	接口与抽象类的区别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8445" y="1185544"/>
            <a:ext cx="8019415" cy="361505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抽象类和接口是支持开闭原则中抽象层定义的两</a:t>
            </a:r>
            <a:r>
              <a:rPr sz="2800" spc="-5" dirty="0">
                <a:latin typeface="微软雅黑"/>
                <a:cs typeface="微软雅黑"/>
              </a:rPr>
              <a:t>种 </a:t>
            </a:r>
            <a:r>
              <a:rPr sz="2800" dirty="0">
                <a:latin typeface="微软雅黑"/>
                <a:cs typeface="微软雅黑"/>
              </a:rPr>
              <a:t>机</a:t>
            </a:r>
            <a:r>
              <a:rPr sz="2800" spc="-5" dirty="0">
                <a:latin typeface="微软雅黑"/>
                <a:cs typeface="微软雅黑"/>
              </a:rPr>
              <a:t>制</a:t>
            </a:r>
            <a:endParaRPr sz="2800">
              <a:latin typeface="微软雅黑"/>
              <a:cs typeface="微软雅黑"/>
            </a:endParaRPr>
          </a:p>
          <a:p>
            <a:pPr marL="184150" marR="5080" indent="-171450">
              <a:lnSpc>
                <a:spcPts val="3020"/>
              </a:lnSpc>
              <a:spcBef>
                <a:spcPts val="75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区别</a:t>
            </a:r>
            <a:r>
              <a:rPr sz="2800" spc="-5" dirty="0">
                <a:latin typeface="微软雅黑"/>
                <a:cs typeface="微软雅黑"/>
              </a:rPr>
              <a:t>1（</a:t>
            </a:r>
            <a:r>
              <a:rPr sz="2800" dirty="0">
                <a:latin typeface="微软雅黑"/>
                <a:cs typeface="微软雅黑"/>
              </a:rPr>
              <a:t>次要）：从语法层面上抽象类和接口的</a:t>
            </a:r>
            <a:r>
              <a:rPr sz="2800" spc="-5" dirty="0">
                <a:latin typeface="微软雅黑"/>
                <a:cs typeface="微软雅黑"/>
              </a:rPr>
              <a:t>区 </a:t>
            </a:r>
            <a:r>
              <a:rPr sz="2800" dirty="0">
                <a:latin typeface="微软雅黑"/>
                <a:cs typeface="微软雅黑"/>
              </a:rPr>
              <a:t>别很明显，抽象类可以有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非常量</a:t>
            </a:r>
            <a:r>
              <a:rPr sz="2800" dirty="0">
                <a:latin typeface="微软雅黑"/>
                <a:cs typeface="微软雅黑"/>
              </a:rPr>
              <a:t>的数据成员，也</a:t>
            </a:r>
            <a:r>
              <a:rPr sz="2800" spc="-5" dirty="0">
                <a:latin typeface="微软雅黑"/>
                <a:cs typeface="微软雅黑"/>
              </a:rPr>
              <a:t>可 </a:t>
            </a:r>
            <a:r>
              <a:rPr sz="2800" dirty="0">
                <a:latin typeface="微软雅黑"/>
                <a:cs typeface="微软雅黑"/>
              </a:rPr>
              <a:t>以有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非抽象</a:t>
            </a:r>
            <a:r>
              <a:rPr sz="2800" dirty="0">
                <a:latin typeface="微软雅黑"/>
                <a:cs typeface="微软雅黑"/>
              </a:rPr>
              <a:t>的方法，甚至它可以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有构造方法</a:t>
            </a:r>
            <a:r>
              <a:rPr sz="2800" dirty="0">
                <a:latin typeface="微软雅黑"/>
                <a:cs typeface="微软雅黑"/>
              </a:rPr>
              <a:t>（虽</a:t>
            </a:r>
            <a:r>
              <a:rPr sz="2800" spc="-5" dirty="0">
                <a:latin typeface="微软雅黑"/>
                <a:cs typeface="微软雅黑"/>
              </a:rPr>
              <a:t>然 </a:t>
            </a:r>
            <a:r>
              <a:rPr sz="2800" dirty="0">
                <a:latin typeface="微软雅黑"/>
                <a:cs typeface="微软雅黑"/>
              </a:rPr>
              <a:t>抽象类不能创建实例，但是构造方法为其子类对</a:t>
            </a:r>
            <a:r>
              <a:rPr sz="2800" spc="-5" dirty="0">
                <a:latin typeface="微软雅黑"/>
                <a:cs typeface="微软雅黑"/>
              </a:rPr>
              <a:t>象 </a:t>
            </a:r>
            <a:r>
              <a:rPr sz="2800" dirty="0">
                <a:latin typeface="微软雅黑"/>
                <a:cs typeface="微软雅黑"/>
              </a:rPr>
              <a:t>的创建做好准备）；而接口只能有静态、常量的</a:t>
            </a:r>
            <a:r>
              <a:rPr sz="2800" spc="-5" dirty="0">
                <a:latin typeface="微软雅黑"/>
                <a:cs typeface="微软雅黑"/>
              </a:rPr>
              <a:t>数 </a:t>
            </a:r>
            <a:r>
              <a:rPr sz="2800" dirty="0">
                <a:latin typeface="微软雅黑"/>
                <a:cs typeface="微软雅黑"/>
              </a:rPr>
              <a:t>据成员，只能有抽象方法，不能有构造方法。抽</a:t>
            </a:r>
            <a:r>
              <a:rPr sz="2800" spc="-5" dirty="0">
                <a:latin typeface="微软雅黑"/>
                <a:cs typeface="微软雅黑"/>
              </a:rPr>
              <a:t>象 </a:t>
            </a:r>
            <a:r>
              <a:rPr sz="2800" dirty="0">
                <a:latin typeface="微软雅黑"/>
                <a:cs typeface="微软雅黑"/>
              </a:rPr>
              <a:t>类支持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单继承</a:t>
            </a:r>
            <a:r>
              <a:rPr sz="2800" dirty="0">
                <a:latin typeface="微软雅黑"/>
                <a:cs typeface="微软雅黑"/>
              </a:rPr>
              <a:t>；接口支持多继承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26237"/>
            <a:ext cx="5519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1285" algn="l"/>
              </a:tabLst>
            </a:pPr>
            <a:r>
              <a:rPr sz="3600" u="none" spc="-5" dirty="0"/>
              <a:t>6</a:t>
            </a:r>
            <a:r>
              <a:rPr sz="3600" u="none" dirty="0"/>
              <a:t>.</a:t>
            </a:r>
            <a:r>
              <a:rPr sz="3600" u="none" spc="-5" dirty="0"/>
              <a:t>3</a:t>
            </a:r>
            <a:r>
              <a:rPr sz="3600" u="none" dirty="0"/>
              <a:t>.2	接口与抽象类的区别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4690" y="1186180"/>
            <a:ext cx="7516495" cy="12185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区别</a:t>
            </a:r>
            <a:r>
              <a:rPr sz="2800" spc="-5" dirty="0">
                <a:latin typeface="微软雅黑"/>
                <a:cs typeface="微软雅黑"/>
              </a:rPr>
              <a:t>2</a:t>
            </a:r>
            <a:r>
              <a:rPr sz="2800" dirty="0">
                <a:latin typeface="微软雅黑"/>
                <a:cs typeface="微软雅黑"/>
              </a:rPr>
              <a:t>（次要）：从编程的角度看，抽象类中</a:t>
            </a:r>
            <a:r>
              <a:rPr sz="2800" spc="-5" dirty="0">
                <a:latin typeface="微软雅黑"/>
                <a:cs typeface="微软雅黑"/>
              </a:rPr>
              <a:t>的 </a:t>
            </a:r>
            <a:r>
              <a:rPr sz="2800" dirty="0">
                <a:latin typeface="微软雅黑"/>
                <a:cs typeface="微软雅黑"/>
              </a:rPr>
              <a:t>非抽象方法可以定义对象的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默认行为方式</a:t>
            </a:r>
            <a:r>
              <a:rPr sz="2800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微软雅黑"/>
                <a:cs typeface="微软雅黑"/>
              </a:rPr>
              <a:t>而 </a:t>
            </a:r>
            <a:r>
              <a:rPr sz="2800" dirty="0">
                <a:latin typeface="微软雅黑"/>
                <a:cs typeface="微软雅黑"/>
              </a:rPr>
              <a:t>接口中的方法永远只有声明，没有行为方式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44" y="1133475"/>
            <a:ext cx="7284720" cy="232473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区别</a:t>
            </a:r>
            <a:r>
              <a:rPr sz="2100" spc="-5" dirty="0">
                <a:latin typeface="微软雅黑"/>
                <a:cs typeface="微软雅黑"/>
              </a:rPr>
              <a:t>3（</a:t>
            </a:r>
            <a:r>
              <a:rPr sz="2100" dirty="0">
                <a:latin typeface="微软雅黑"/>
                <a:cs typeface="微软雅黑"/>
              </a:rPr>
              <a:t>主要）：</a:t>
            </a:r>
            <a:endParaRPr sz="2100">
              <a:latin typeface="微软雅黑"/>
              <a:cs typeface="微软雅黑"/>
            </a:endParaRPr>
          </a:p>
          <a:p>
            <a:pPr marL="184150" marR="5080" indent="-171450">
              <a:lnSpc>
                <a:spcPts val="2260"/>
              </a:lnSpc>
              <a:spcBef>
                <a:spcPts val="78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抽象类在</a:t>
            </a:r>
            <a:r>
              <a:rPr sz="2100" spc="-25" dirty="0">
                <a:latin typeface="微软雅黑"/>
                <a:cs typeface="微软雅黑"/>
              </a:rPr>
              <a:t>Java</a:t>
            </a:r>
            <a:r>
              <a:rPr sz="2100" dirty="0">
                <a:latin typeface="微软雅黑"/>
                <a:cs typeface="微软雅黑"/>
              </a:rPr>
              <a:t>语言中体现的是继承关系，要想使继承关系合 理，父类和子类之间必须存在“</a:t>
            </a:r>
            <a:r>
              <a:rPr sz="2100" dirty="0">
                <a:solidFill>
                  <a:srgbClr val="FF0000"/>
                </a:solidFill>
                <a:latin typeface="微软雅黑"/>
                <a:cs typeface="微软雅黑"/>
              </a:rPr>
              <a:t>is</a:t>
            </a:r>
            <a:r>
              <a:rPr sz="2100" spc="-10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微软雅黑"/>
                <a:cs typeface="微软雅黑"/>
              </a:rPr>
              <a:t>a</a:t>
            </a:r>
            <a:r>
              <a:rPr sz="2100" spc="-5" dirty="0">
                <a:latin typeface="微软雅黑"/>
                <a:cs typeface="微软雅黑"/>
              </a:rPr>
              <a:t>”</a:t>
            </a:r>
            <a:r>
              <a:rPr sz="2100" dirty="0">
                <a:latin typeface="微软雅黑"/>
                <a:cs typeface="微软雅黑"/>
              </a:rPr>
              <a:t>的关系，即父类和子类 在概念本质上应该是相同的。</a:t>
            </a:r>
            <a:endParaRPr sz="2100">
              <a:latin typeface="微软雅黑"/>
              <a:cs typeface="微软雅黑"/>
            </a:endParaRPr>
          </a:p>
          <a:p>
            <a:pPr marL="184150" marR="158750" indent="-171450" algn="just">
              <a:lnSpc>
                <a:spcPts val="2270"/>
              </a:lnSpc>
              <a:spcBef>
                <a:spcPts val="75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接口则不然，它不要求接口的实现类与接口在概念本质上是 一致的，实现类与接口间仅是一种契约关系，实现类按接口 的规定兑现契约，是一种</a:t>
            </a:r>
            <a:r>
              <a:rPr sz="2100" spc="-10" dirty="0">
                <a:latin typeface="微软雅黑"/>
                <a:cs typeface="微软雅黑"/>
              </a:rPr>
              <a:t>“</a:t>
            </a:r>
            <a:r>
              <a:rPr sz="2100" spc="-10" dirty="0">
                <a:solidFill>
                  <a:srgbClr val="FF0000"/>
                </a:solidFill>
                <a:latin typeface="微软雅黑"/>
                <a:cs typeface="微软雅黑"/>
              </a:rPr>
              <a:t>like</a:t>
            </a:r>
            <a:r>
              <a:rPr sz="2100" spc="-1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微软雅黑"/>
                <a:cs typeface="微软雅黑"/>
              </a:rPr>
              <a:t>a</a:t>
            </a:r>
            <a:r>
              <a:rPr sz="2100" spc="-5" dirty="0">
                <a:latin typeface="微软雅黑"/>
                <a:cs typeface="微软雅黑"/>
              </a:rPr>
              <a:t>”</a:t>
            </a:r>
            <a:r>
              <a:rPr sz="2100" dirty="0">
                <a:latin typeface="微软雅黑"/>
                <a:cs typeface="微软雅黑"/>
              </a:rPr>
              <a:t>关系的体现。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226237"/>
            <a:ext cx="5519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1285" algn="l"/>
              </a:tabLst>
            </a:pPr>
            <a:r>
              <a:rPr sz="3600" u="none" spc="-5" dirty="0"/>
              <a:t>6</a:t>
            </a:r>
            <a:r>
              <a:rPr sz="3600" u="none" dirty="0"/>
              <a:t>.</a:t>
            </a:r>
            <a:r>
              <a:rPr sz="3600" u="none" spc="-5" dirty="0"/>
              <a:t>3</a:t>
            </a:r>
            <a:r>
              <a:rPr sz="3600" u="none" dirty="0"/>
              <a:t>.2	接口与抽象类的区别</a:t>
            </a:r>
            <a:endParaRPr sz="36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18589"/>
            <a:ext cx="7885430" cy="107886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595"/>
              </a:spcBef>
            </a:pPr>
            <a:r>
              <a:rPr sz="2100" dirty="0">
                <a:latin typeface="微软雅黑"/>
                <a:cs typeface="微软雅黑"/>
              </a:rPr>
              <a:t>【例</a:t>
            </a:r>
            <a:r>
              <a:rPr sz="2100" spc="-5" dirty="0">
                <a:latin typeface="微软雅黑"/>
                <a:cs typeface="微软雅黑"/>
              </a:rPr>
              <a:t>6-4</a:t>
            </a:r>
            <a:r>
              <a:rPr sz="2100" dirty="0">
                <a:latin typeface="微软雅黑"/>
                <a:cs typeface="微软雅黑"/>
              </a:rPr>
              <a:t>】门和报警门的设计。</a:t>
            </a:r>
            <a:endParaRPr sz="2100">
              <a:latin typeface="微软雅黑"/>
              <a:cs typeface="微软雅黑"/>
            </a:endParaRPr>
          </a:p>
          <a:p>
            <a:pPr marL="184150" marR="5080" indent="-171450">
              <a:lnSpc>
                <a:spcPts val="2270"/>
              </a:lnSpc>
              <a:spcBef>
                <a:spcPts val="77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假设在问题领域中有一个关于门D</a:t>
            </a:r>
            <a:r>
              <a:rPr sz="2100" spc="-5" dirty="0">
                <a:latin typeface="微软雅黑"/>
                <a:cs typeface="微软雅黑"/>
              </a:rPr>
              <a:t>oor</a:t>
            </a:r>
            <a:r>
              <a:rPr sz="2100" dirty="0">
                <a:latin typeface="微软雅黑"/>
                <a:cs typeface="微软雅黑"/>
              </a:rPr>
              <a:t>的抽象概念，该D</a:t>
            </a:r>
            <a:r>
              <a:rPr sz="2100" spc="-5" dirty="0">
                <a:latin typeface="微软雅黑"/>
                <a:cs typeface="微软雅黑"/>
              </a:rPr>
              <a:t>oor</a:t>
            </a:r>
            <a:r>
              <a:rPr sz="2100" dirty="0">
                <a:latin typeface="微软雅黑"/>
                <a:cs typeface="微软雅黑"/>
              </a:rPr>
              <a:t>具有两 个动作</a:t>
            </a:r>
            <a:r>
              <a:rPr sz="2100" spc="-5" dirty="0">
                <a:latin typeface="微软雅黑"/>
                <a:cs typeface="微软雅黑"/>
              </a:rPr>
              <a:t>open</a:t>
            </a:r>
            <a:r>
              <a:rPr sz="2100" dirty="0">
                <a:latin typeface="微软雅黑"/>
                <a:cs typeface="微软雅黑"/>
              </a:rPr>
              <a:t>和</a:t>
            </a:r>
            <a:r>
              <a:rPr sz="2100" spc="-5" dirty="0">
                <a:latin typeface="微软雅黑"/>
                <a:cs typeface="微软雅黑"/>
              </a:rPr>
              <a:t>close</a:t>
            </a:r>
            <a:r>
              <a:rPr sz="2100" dirty="0"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2472055"/>
            <a:ext cx="3130550" cy="79121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使用抽象类作为中间层</a:t>
            </a:r>
            <a:endParaRPr sz="21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或者使用接口作为中间层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226237"/>
            <a:ext cx="5519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1285" algn="l"/>
              </a:tabLst>
            </a:pPr>
            <a:r>
              <a:rPr sz="3600" u="none" spc="-5" dirty="0"/>
              <a:t>6</a:t>
            </a:r>
            <a:r>
              <a:rPr sz="3600" u="none" dirty="0"/>
              <a:t>.</a:t>
            </a:r>
            <a:r>
              <a:rPr sz="3600" u="none" spc="-5" dirty="0"/>
              <a:t>3</a:t>
            </a:r>
            <a:r>
              <a:rPr sz="3600" u="none" dirty="0"/>
              <a:t>.2	接口与抽象类的区别</a:t>
            </a:r>
            <a:endParaRPr sz="3600"/>
          </a:p>
        </p:txBody>
      </p:sp>
      <p:sp>
        <p:nvSpPr>
          <p:cNvPr id="5" name="object 5"/>
          <p:cNvSpPr/>
          <p:nvPr/>
        </p:nvSpPr>
        <p:spPr>
          <a:xfrm>
            <a:off x="3709415" y="2564892"/>
            <a:ext cx="4571999" cy="1199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04894" y="2561844"/>
            <a:ext cx="4579620" cy="1206500"/>
          </a:xfrm>
          <a:custGeom>
            <a:avLst/>
            <a:gdLst/>
            <a:ahLst/>
            <a:cxnLst/>
            <a:rect l="l" t="t" r="r" b="b"/>
            <a:pathLst>
              <a:path w="4579620" h="1206500">
                <a:moveTo>
                  <a:pt x="4579620" y="1206500"/>
                </a:moveTo>
                <a:lnTo>
                  <a:pt x="0" y="1206500"/>
                </a:lnTo>
                <a:lnTo>
                  <a:pt x="0" y="0"/>
                </a:lnTo>
                <a:lnTo>
                  <a:pt x="4579620" y="0"/>
                </a:lnTo>
                <a:lnTo>
                  <a:pt x="4579620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198879"/>
                </a:lnTo>
                <a:lnTo>
                  <a:pt x="3810" y="1198879"/>
                </a:lnTo>
                <a:lnTo>
                  <a:pt x="7620" y="1202689"/>
                </a:lnTo>
                <a:lnTo>
                  <a:pt x="4579620" y="1202689"/>
                </a:lnTo>
                <a:lnTo>
                  <a:pt x="4579620" y="1206500"/>
                </a:lnTo>
                <a:close/>
              </a:path>
              <a:path w="4579620" h="1206500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4579620" h="1206500">
                <a:moveTo>
                  <a:pt x="457200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4572000" y="3809"/>
                </a:lnTo>
                <a:lnTo>
                  <a:pt x="4572000" y="7619"/>
                </a:lnTo>
                <a:close/>
              </a:path>
              <a:path w="4579620" h="1206500">
                <a:moveTo>
                  <a:pt x="4572000" y="1202689"/>
                </a:moveTo>
                <a:lnTo>
                  <a:pt x="4572000" y="3809"/>
                </a:lnTo>
                <a:lnTo>
                  <a:pt x="4575810" y="7619"/>
                </a:lnTo>
                <a:lnTo>
                  <a:pt x="4579620" y="7619"/>
                </a:lnTo>
                <a:lnTo>
                  <a:pt x="4579620" y="1198879"/>
                </a:lnTo>
                <a:lnTo>
                  <a:pt x="4575810" y="1198879"/>
                </a:lnTo>
                <a:lnTo>
                  <a:pt x="4572000" y="1202689"/>
                </a:lnTo>
                <a:close/>
              </a:path>
              <a:path w="4579620" h="1206500">
                <a:moveTo>
                  <a:pt x="4579620" y="7619"/>
                </a:moveTo>
                <a:lnTo>
                  <a:pt x="4575810" y="7619"/>
                </a:lnTo>
                <a:lnTo>
                  <a:pt x="4572000" y="3809"/>
                </a:lnTo>
                <a:lnTo>
                  <a:pt x="4579620" y="3809"/>
                </a:lnTo>
                <a:lnTo>
                  <a:pt x="4579620" y="7619"/>
                </a:lnTo>
                <a:close/>
              </a:path>
              <a:path w="4579620" h="1206500">
                <a:moveTo>
                  <a:pt x="7620" y="1202689"/>
                </a:moveTo>
                <a:lnTo>
                  <a:pt x="3810" y="1198879"/>
                </a:lnTo>
                <a:lnTo>
                  <a:pt x="7620" y="1198879"/>
                </a:lnTo>
                <a:lnTo>
                  <a:pt x="7620" y="1202689"/>
                </a:lnTo>
                <a:close/>
              </a:path>
              <a:path w="4579620" h="1206500">
                <a:moveTo>
                  <a:pt x="4572000" y="1202689"/>
                </a:moveTo>
                <a:lnTo>
                  <a:pt x="7620" y="1202689"/>
                </a:lnTo>
                <a:lnTo>
                  <a:pt x="7620" y="1198879"/>
                </a:lnTo>
                <a:lnTo>
                  <a:pt x="4572000" y="1198879"/>
                </a:lnTo>
                <a:lnTo>
                  <a:pt x="4572000" y="1202689"/>
                </a:lnTo>
                <a:close/>
              </a:path>
              <a:path w="4579620" h="1206500">
                <a:moveTo>
                  <a:pt x="4579620" y="1202689"/>
                </a:moveTo>
                <a:lnTo>
                  <a:pt x="4572000" y="1202689"/>
                </a:lnTo>
                <a:lnTo>
                  <a:pt x="4575810" y="1198879"/>
                </a:lnTo>
                <a:lnTo>
                  <a:pt x="4579620" y="1198879"/>
                </a:lnTo>
                <a:lnTo>
                  <a:pt x="4579620" y="120268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09415" y="2593594"/>
            <a:ext cx="4572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9794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public abstract </a:t>
            </a:r>
            <a:r>
              <a:rPr sz="1800" b="1" dirty="0">
                <a:latin typeface="微软雅黑"/>
                <a:cs typeface="微软雅黑"/>
              </a:rPr>
              <a:t>class </a:t>
            </a:r>
            <a:r>
              <a:rPr sz="1800" spc="-5" dirty="0">
                <a:latin typeface="微软雅黑"/>
                <a:cs typeface="微软雅黑"/>
              </a:rPr>
              <a:t>Door</a:t>
            </a:r>
            <a:r>
              <a:rPr sz="1800" spc="-2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551815" algn="ctr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public abstract void</a:t>
            </a:r>
            <a:r>
              <a:rPr sz="1800" b="1" spc="-2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open();</a:t>
            </a:r>
            <a:endParaRPr sz="1800">
              <a:latin typeface="微软雅黑"/>
              <a:cs typeface="微软雅黑"/>
            </a:endParaRPr>
          </a:p>
          <a:p>
            <a:pPr marL="546735" algn="ctr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public abstract void</a:t>
            </a:r>
            <a:r>
              <a:rPr sz="1800" b="1" spc="-2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close();</a:t>
            </a:r>
            <a:endParaRPr sz="1800">
              <a:latin typeface="微软雅黑"/>
              <a:cs typeface="微软雅黑"/>
            </a:endParaRPr>
          </a:p>
          <a:p>
            <a:pPr marR="4306570" algn="ctr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7868" y="4437888"/>
            <a:ext cx="4572000" cy="1197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489" y="4433798"/>
            <a:ext cx="4579620" cy="1206500"/>
          </a:xfrm>
          <a:custGeom>
            <a:avLst/>
            <a:gdLst/>
            <a:ahLst/>
            <a:cxnLst/>
            <a:rect l="l" t="t" r="r" b="b"/>
            <a:pathLst>
              <a:path w="4579620" h="1206500">
                <a:moveTo>
                  <a:pt x="4579620" y="1206500"/>
                </a:moveTo>
                <a:lnTo>
                  <a:pt x="0" y="1206500"/>
                </a:lnTo>
                <a:lnTo>
                  <a:pt x="0" y="0"/>
                </a:lnTo>
                <a:lnTo>
                  <a:pt x="4579620" y="0"/>
                </a:lnTo>
                <a:lnTo>
                  <a:pt x="4579620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1198879"/>
                </a:lnTo>
                <a:lnTo>
                  <a:pt x="3810" y="1198879"/>
                </a:lnTo>
                <a:lnTo>
                  <a:pt x="7620" y="1202689"/>
                </a:lnTo>
                <a:lnTo>
                  <a:pt x="4579620" y="1202689"/>
                </a:lnTo>
                <a:lnTo>
                  <a:pt x="4579620" y="1206500"/>
                </a:lnTo>
                <a:close/>
              </a:path>
              <a:path w="4579620" h="120650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4579620" h="1206500">
                <a:moveTo>
                  <a:pt x="4572000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4572000" y="3810"/>
                </a:lnTo>
                <a:lnTo>
                  <a:pt x="4572000" y="7620"/>
                </a:lnTo>
                <a:close/>
              </a:path>
              <a:path w="4579620" h="1206500">
                <a:moveTo>
                  <a:pt x="4572000" y="1202689"/>
                </a:moveTo>
                <a:lnTo>
                  <a:pt x="4572000" y="3810"/>
                </a:lnTo>
                <a:lnTo>
                  <a:pt x="4575810" y="7620"/>
                </a:lnTo>
                <a:lnTo>
                  <a:pt x="4579620" y="7620"/>
                </a:lnTo>
                <a:lnTo>
                  <a:pt x="4579620" y="1198879"/>
                </a:lnTo>
                <a:lnTo>
                  <a:pt x="4575810" y="1198879"/>
                </a:lnTo>
                <a:lnTo>
                  <a:pt x="4572000" y="1202689"/>
                </a:lnTo>
                <a:close/>
              </a:path>
              <a:path w="4579620" h="1206500">
                <a:moveTo>
                  <a:pt x="4579620" y="7620"/>
                </a:moveTo>
                <a:lnTo>
                  <a:pt x="4575810" y="7620"/>
                </a:lnTo>
                <a:lnTo>
                  <a:pt x="4572000" y="3810"/>
                </a:lnTo>
                <a:lnTo>
                  <a:pt x="4579620" y="3810"/>
                </a:lnTo>
                <a:lnTo>
                  <a:pt x="4579620" y="7620"/>
                </a:lnTo>
                <a:close/>
              </a:path>
              <a:path w="4579620" h="1206500">
                <a:moveTo>
                  <a:pt x="7620" y="1202689"/>
                </a:moveTo>
                <a:lnTo>
                  <a:pt x="3810" y="1198879"/>
                </a:lnTo>
                <a:lnTo>
                  <a:pt x="7620" y="1198879"/>
                </a:lnTo>
                <a:lnTo>
                  <a:pt x="7620" y="1202689"/>
                </a:lnTo>
                <a:close/>
              </a:path>
              <a:path w="4579620" h="1206500">
                <a:moveTo>
                  <a:pt x="4572000" y="1202689"/>
                </a:moveTo>
                <a:lnTo>
                  <a:pt x="7620" y="1202689"/>
                </a:lnTo>
                <a:lnTo>
                  <a:pt x="7620" y="1198879"/>
                </a:lnTo>
                <a:lnTo>
                  <a:pt x="4572000" y="1198879"/>
                </a:lnTo>
                <a:lnTo>
                  <a:pt x="4572000" y="1202689"/>
                </a:lnTo>
                <a:close/>
              </a:path>
              <a:path w="4579620" h="1206500">
                <a:moveTo>
                  <a:pt x="4579620" y="1202689"/>
                </a:moveTo>
                <a:lnTo>
                  <a:pt x="4572000" y="1202689"/>
                </a:lnTo>
                <a:lnTo>
                  <a:pt x="4575810" y="1198879"/>
                </a:lnTo>
                <a:lnTo>
                  <a:pt x="4579620" y="1198879"/>
                </a:lnTo>
                <a:lnTo>
                  <a:pt x="4579620" y="1202689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7868" y="4465548"/>
            <a:ext cx="4572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b="1" dirty="0">
                <a:latin typeface="微软雅黑"/>
                <a:cs typeface="微软雅黑"/>
              </a:rPr>
              <a:t>interface </a:t>
            </a:r>
            <a:r>
              <a:rPr sz="1800" spc="-5" dirty="0">
                <a:latin typeface="微软雅黑"/>
                <a:cs typeface="微软雅黑"/>
              </a:rPr>
              <a:t>Door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  <a:tabLst>
                <a:tab pos="1848485" algn="l"/>
              </a:tabLst>
            </a:pPr>
            <a:r>
              <a:rPr sz="1800" b="1" spc="-5" dirty="0">
                <a:latin typeface="微软雅黑"/>
                <a:cs typeface="微软雅黑"/>
              </a:rPr>
              <a:t>public	void</a:t>
            </a:r>
            <a:r>
              <a:rPr sz="1800" b="1" spc="-8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open();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  <a:tabLst>
                <a:tab pos="1848485" algn="l"/>
              </a:tabLst>
            </a:pPr>
            <a:r>
              <a:rPr sz="1800" b="1" spc="-5" dirty="0">
                <a:latin typeface="微软雅黑"/>
                <a:cs typeface="微软雅黑"/>
              </a:rPr>
              <a:t>public	void</a:t>
            </a:r>
            <a:r>
              <a:rPr sz="1800" b="1" spc="-8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close();</a:t>
            </a:r>
            <a:endParaRPr sz="1800">
              <a:latin typeface="微软雅黑"/>
              <a:cs typeface="微软雅黑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61</a:t>
            </a:fld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969" y="187960"/>
            <a:ext cx="61290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4320" algn="l"/>
              </a:tabLst>
            </a:pPr>
            <a:r>
              <a:rPr u="none" spc="-5" dirty="0"/>
              <a:t>6.3.2	</a:t>
            </a:r>
            <a:r>
              <a:rPr u="none" dirty="0"/>
              <a:t>接口与抽象类的区</a:t>
            </a:r>
            <a:r>
              <a:rPr u="none" spc="-5" dirty="0"/>
              <a:t>别</a:t>
            </a:r>
          </a:p>
        </p:txBody>
      </p:sp>
      <p:sp>
        <p:nvSpPr>
          <p:cNvPr id="3" name="object 3"/>
          <p:cNvSpPr/>
          <p:nvPr/>
        </p:nvSpPr>
        <p:spPr>
          <a:xfrm>
            <a:off x="684276" y="2061972"/>
            <a:ext cx="7548372" cy="460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9754" y="2057679"/>
            <a:ext cx="7557134" cy="467995"/>
          </a:xfrm>
          <a:custGeom>
            <a:avLst/>
            <a:gdLst/>
            <a:ahLst/>
            <a:cxnLst/>
            <a:rect l="l" t="t" r="r" b="b"/>
            <a:pathLst>
              <a:path w="7557134" h="467994">
                <a:moveTo>
                  <a:pt x="7557134" y="467995"/>
                </a:moveTo>
                <a:lnTo>
                  <a:pt x="0" y="467995"/>
                </a:lnTo>
                <a:lnTo>
                  <a:pt x="0" y="0"/>
                </a:lnTo>
                <a:lnTo>
                  <a:pt x="7557134" y="0"/>
                </a:lnTo>
                <a:lnTo>
                  <a:pt x="7557134" y="3810"/>
                </a:lnTo>
                <a:lnTo>
                  <a:pt x="7620" y="3810"/>
                </a:lnTo>
                <a:lnTo>
                  <a:pt x="3809" y="7620"/>
                </a:lnTo>
                <a:lnTo>
                  <a:pt x="7620" y="7620"/>
                </a:lnTo>
                <a:lnTo>
                  <a:pt x="7620" y="460375"/>
                </a:lnTo>
                <a:lnTo>
                  <a:pt x="3809" y="460375"/>
                </a:lnTo>
                <a:lnTo>
                  <a:pt x="7620" y="464185"/>
                </a:lnTo>
                <a:lnTo>
                  <a:pt x="7557134" y="464185"/>
                </a:lnTo>
                <a:lnTo>
                  <a:pt x="7557134" y="467995"/>
                </a:lnTo>
                <a:close/>
              </a:path>
              <a:path w="7557134" h="467994">
                <a:moveTo>
                  <a:pt x="7620" y="7620"/>
                </a:moveTo>
                <a:lnTo>
                  <a:pt x="3809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7557134" h="467994">
                <a:moveTo>
                  <a:pt x="754951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7549515" y="3810"/>
                </a:lnTo>
                <a:lnTo>
                  <a:pt x="7549515" y="7620"/>
                </a:lnTo>
                <a:close/>
              </a:path>
              <a:path w="7557134" h="467994">
                <a:moveTo>
                  <a:pt x="7549515" y="464185"/>
                </a:moveTo>
                <a:lnTo>
                  <a:pt x="7549515" y="3810"/>
                </a:lnTo>
                <a:lnTo>
                  <a:pt x="7553325" y="7620"/>
                </a:lnTo>
                <a:lnTo>
                  <a:pt x="7557134" y="7620"/>
                </a:lnTo>
                <a:lnTo>
                  <a:pt x="7557134" y="460375"/>
                </a:lnTo>
                <a:lnTo>
                  <a:pt x="7553325" y="460375"/>
                </a:lnTo>
                <a:lnTo>
                  <a:pt x="7549515" y="464185"/>
                </a:lnTo>
                <a:close/>
              </a:path>
              <a:path w="7557134" h="467994">
                <a:moveTo>
                  <a:pt x="7557134" y="7620"/>
                </a:moveTo>
                <a:lnTo>
                  <a:pt x="7553325" y="7620"/>
                </a:lnTo>
                <a:lnTo>
                  <a:pt x="7549515" y="3810"/>
                </a:lnTo>
                <a:lnTo>
                  <a:pt x="7557134" y="3810"/>
                </a:lnTo>
                <a:lnTo>
                  <a:pt x="7557134" y="7620"/>
                </a:lnTo>
                <a:close/>
              </a:path>
              <a:path w="7557134" h="467994">
                <a:moveTo>
                  <a:pt x="7620" y="464185"/>
                </a:moveTo>
                <a:lnTo>
                  <a:pt x="3809" y="460375"/>
                </a:lnTo>
                <a:lnTo>
                  <a:pt x="7620" y="460375"/>
                </a:lnTo>
                <a:lnTo>
                  <a:pt x="7620" y="464185"/>
                </a:lnTo>
                <a:close/>
              </a:path>
              <a:path w="7557134" h="467994">
                <a:moveTo>
                  <a:pt x="7549515" y="464185"/>
                </a:moveTo>
                <a:lnTo>
                  <a:pt x="7620" y="464185"/>
                </a:lnTo>
                <a:lnTo>
                  <a:pt x="7620" y="460375"/>
                </a:lnTo>
                <a:lnTo>
                  <a:pt x="7549515" y="460375"/>
                </a:lnTo>
                <a:lnTo>
                  <a:pt x="7549515" y="464185"/>
                </a:lnTo>
                <a:close/>
              </a:path>
              <a:path w="7557134" h="467994">
                <a:moveTo>
                  <a:pt x="7557134" y="464185"/>
                </a:moveTo>
                <a:lnTo>
                  <a:pt x="7549515" y="464185"/>
                </a:lnTo>
                <a:lnTo>
                  <a:pt x="7553325" y="460375"/>
                </a:lnTo>
                <a:lnTo>
                  <a:pt x="7557134" y="460375"/>
                </a:lnTo>
                <a:lnTo>
                  <a:pt x="7557134" y="46418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8595" y="1481454"/>
            <a:ext cx="8044180" cy="988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微软雅黑"/>
                <a:cs typeface="微软雅黑"/>
              </a:rPr>
              <a:t>需求变化：</a:t>
            </a:r>
            <a:endParaRPr sz="2100">
              <a:latin typeface="微软雅黑"/>
              <a:cs typeface="微软雅黑"/>
            </a:endParaRPr>
          </a:p>
          <a:p>
            <a:pPr marL="586105">
              <a:lnSpc>
                <a:spcPct val="100000"/>
              </a:lnSpc>
              <a:spcBef>
                <a:spcPts val="2180"/>
              </a:spcBef>
            </a:pPr>
            <a:r>
              <a:rPr sz="2400" dirty="0">
                <a:latin typeface="宋体"/>
                <a:cs typeface="宋体"/>
              </a:rPr>
              <a:t>要求Door还要具有报警的功能，该如何设计类结构呢？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4276" y="2822448"/>
            <a:ext cx="4968240" cy="1476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9754" y="2818803"/>
            <a:ext cx="4976495" cy="1483995"/>
          </a:xfrm>
          <a:custGeom>
            <a:avLst/>
            <a:gdLst/>
            <a:ahLst/>
            <a:cxnLst/>
            <a:rect l="l" t="t" r="r" b="b"/>
            <a:pathLst>
              <a:path w="4976495" h="1483995">
                <a:moveTo>
                  <a:pt x="4976177" y="1483995"/>
                </a:moveTo>
                <a:lnTo>
                  <a:pt x="0" y="1483995"/>
                </a:lnTo>
                <a:lnTo>
                  <a:pt x="0" y="0"/>
                </a:lnTo>
                <a:lnTo>
                  <a:pt x="4976177" y="0"/>
                </a:lnTo>
                <a:lnTo>
                  <a:pt x="4976177" y="3810"/>
                </a:lnTo>
                <a:lnTo>
                  <a:pt x="7620" y="3810"/>
                </a:lnTo>
                <a:lnTo>
                  <a:pt x="3809" y="7620"/>
                </a:lnTo>
                <a:lnTo>
                  <a:pt x="7620" y="7620"/>
                </a:lnTo>
                <a:lnTo>
                  <a:pt x="7620" y="1476375"/>
                </a:lnTo>
                <a:lnTo>
                  <a:pt x="3809" y="1476375"/>
                </a:lnTo>
                <a:lnTo>
                  <a:pt x="7620" y="1480185"/>
                </a:lnTo>
                <a:lnTo>
                  <a:pt x="4976177" y="1480185"/>
                </a:lnTo>
                <a:lnTo>
                  <a:pt x="4976177" y="1483995"/>
                </a:lnTo>
                <a:close/>
              </a:path>
              <a:path w="4976495" h="1483995">
                <a:moveTo>
                  <a:pt x="7620" y="7620"/>
                </a:moveTo>
                <a:lnTo>
                  <a:pt x="3809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4976495" h="1483995">
                <a:moveTo>
                  <a:pt x="4968557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4968557" y="3810"/>
                </a:lnTo>
                <a:lnTo>
                  <a:pt x="4968557" y="7620"/>
                </a:lnTo>
                <a:close/>
              </a:path>
              <a:path w="4976495" h="1483995">
                <a:moveTo>
                  <a:pt x="4968557" y="1480185"/>
                </a:moveTo>
                <a:lnTo>
                  <a:pt x="4968557" y="3810"/>
                </a:lnTo>
                <a:lnTo>
                  <a:pt x="4972367" y="7620"/>
                </a:lnTo>
                <a:lnTo>
                  <a:pt x="4976177" y="7620"/>
                </a:lnTo>
                <a:lnTo>
                  <a:pt x="4976177" y="1476375"/>
                </a:lnTo>
                <a:lnTo>
                  <a:pt x="4972367" y="1476375"/>
                </a:lnTo>
                <a:lnTo>
                  <a:pt x="4968557" y="1480185"/>
                </a:lnTo>
                <a:close/>
              </a:path>
              <a:path w="4976495" h="1483995">
                <a:moveTo>
                  <a:pt x="4976177" y="7620"/>
                </a:moveTo>
                <a:lnTo>
                  <a:pt x="4972367" y="7620"/>
                </a:lnTo>
                <a:lnTo>
                  <a:pt x="4968557" y="3810"/>
                </a:lnTo>
                <a:lnTo>
                  <a:pt x="4976177" y="3810"/>
                </a:lnTo>
                <a:lnTo>
                  <a:pt x="4976177" y="7620"/>
                </a:lnTo>
                <a:close/>
              </a:path>
              <a:path w="4976495" h="1483995">
                <a:moveTo>
                  <a:pt x="7620" y="1480185"/>
                </a:moveTo>
                <a:lnTo>
                  <a:pt x="3809" y="1476375"/>
                </a:lnTo>
                <a:lnTo>
                  <a:pt x="7620" y="1476375"/>
                </a:lnTo>
                <a:lnTo>
                  <a:pt x="7620" y="1480185"/>
                </a:lnTo>
                <a:close/>
              </a:path>
              <a:path w="4976495" h="1483995">
                <a:moveTo>
                  <a:pt x="4968557" y="1480185"/>
                </a:moveTo>
                <a:lnTo>
                  <a:pt x="7620" y="1480185"/>
                </a:lnTo>
                <a:lnTo>
                  <a:pt x="7620" y="1476375"/>
                </a:lnTo>
                <a:lnTo>
                  <a:pt x="4968557" y="1476375"/>
                </a:lnTo>
                <a:lnTo>
                  <a:pt x="4968557" y="1480185"/>
                </a:lnTo>
                <a:close/>
              </a:path>
              <a:path w="4976495" h="1483995">
                <a:moveTo>
                  <a:pt x="4976177" y="1480185"/>
                </a:moveTo>
                <a:lnTo>
                  <a:pt x="4968557" y="1480185"/>
                </a:lnTo>
                <a:lnTo>
                  <a:pt x="4972367" y="1476375"/>
                </a:lnTo>
                <a:lnTo>
                  <a:pt x="4976177" y="1476375"/>
                </a:lnTo>
                <a:lnTo>
                  <a:pt x="4976177" y="148018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4276" y="2850553"/>
            <a:ext cx="49682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public abstract </a:t>
            </a:r>
            <a:r>
              <a:rPr sz="1800" b="1" dirty="0">
                <a:latin typeface="微软雅黑"/>
                <a:cs typeface="微软雅黑"/>
              </a:rPr>
              <a:t>class </a:t>
            </a:r>
            <a:r>
              <a:rPr sz="1800" spc="-5" dirty="0">
                <a:latin typeface="微软雅黑"/>
                <a:cs typeface="微软雅黑"/>
              </a:rPr>
              <a:t>Door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04569" marR="789305" algn="just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public abstract void </a:t>
            </a:r>
            <a:r>
              <a:rPr sz="1800" spc="-5" dirty="0">
                <a:latin typeface="微软雅黑"/>
                <a:cs typeface="微软雅黑"/>
              </a:rPr>
              <a:t>open();  </a:t>
            </a:r>
            <a:r>
              <a:rPr sz="1800" b="1" spc="-5" dirty="0">
                <a:latin typeface="微软雅黑"/>
                <a:cs typeface="微软雅黑"/>
              </a:rPr>
              <a:t>public abstract void </a:t>
            </a:r>
            <a:r>
              <a:rPr sz="1800" spc="-5" dirty="0">
                <a:latin typeface="微软雅黑"/>
                <a:cs typeface="微软雅黑"/>
              </a:rPr>
              <a:t>close();  </a:t>
            </a:r>
            <a:r>
              <a:rPr sz="1800" b="1" spc="-5" dirty="0">
                <a:solidFill>
                  <a:srgbClr val="C00000"/>
                </a:solidFill>
                <a:latin typeface="微软雅黑"/>
                <a:cs typeface="微软雅黑"/>
              </a:rPr>
              <a:t>public abstract void</a:t>
            </a:r>
            <a:r>
              <a:rPr sz="1800" b="1" spc="-3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微软雅黑"/>
                <a:cs typeface="微软雅黑"/>
              </a:rPr>
              <a:t>alarm();</a:t>
            </a:r>
            <a:endParaRPr sz="1800">
              <a:latin typeface="微软雅黑"/>
              <a:cs typeface="微软雅黑"/>
            </a:endParaRPr>
          </a:p>
          <a:p>
            <a:pPr marL="9017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4880" y="2509392"/>
            <a:ext cx="278765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在Door的定义中把Door概</a:t>
            </a:r>
            <a:r>
              <a:rPr sz="1800" b="1" spc="-10" dirty="0">
                <a:latin typeface="宋体"/>
                <a:cs typeface="宋体"/>
              </a:rPr>
              <a:t>念 </a:t>
            </a:r>
            <a:r>
              <a:rPr sz="1800" b="1" dirty="0">
                <a:latin typeface="宋体"/>
                <a:cs typeface="宋体"/>
              </a:rPr>
              <a:t>本身固有的行为方</a:t>
            </a:r>
            <a:r>
              <a:rPr sz="1800" b="1" spc="-10" dirty="0">
                <a:latin typeface="宋体"/>
                <a:cs typeface="宋体"/>
              </a:rPr>
              <a:t>法</a:t>
            </a:r>
            <a:endParaRPr sz="1800">
              <a:latin typeface="宋体"/>
              <a:cs typeface="宋体"/>
            </a:endParaRPr>
          </a:p>
          <a:p>
            <a:pPr marL="12700" marR="8255">
              <a:lnSpc>
                <a:spcPct val="100000"/>
              </a:lnSpc>
            </a:pPr>
            <a:r>
              <a:rPr sz="1800" b="1" dirty="0">
                <a:latin typeface="宋体"/>
                <a:cs typeface="宋体"/>
              </a:rPr>
              <a:t>（open()和close()）和</a:t>
            </a:r>
            <a:r>
              <a:rPr sz="1800" b="1" spc="-10" dirty="0">
                <a:latin typeface="宋体"/>
                <a:cs typeface="宋体"/>
              </a:rPr>
              <a:t>另 </a:t>
            </a:r>
            <a:r>
              <a:rPr sz="1800" b="1" dirty="0">
                <a:latin typeface="宋体"/>
                <a:cs typeface="宋体"/>
              </a:rPr>
              <a:t>外一个概念“报警器”的</a:t>
            </a:r>
            <a:r>
              <a:rPr sz="1800" b="1" spc="-10" dirty="0">
                <a:latin typeface="宋体"/>
                <a:cs typeface="宋体"/>
              </a:rPr>
              <a:t>行 </a:t>
            </a:r>
            <a:r>
              <a:rPr sz="1800" b="1" dirty="0">
                <a:latin typeface="宋体"/>
                <a:cs typeface="宋体"/>
              </a:rPr>
              <a:t>为方法（alarm()）混在</a:t>
            </a:r>
            <a:r>
              <a:rPr sz="1800" b="1" spc="-10" dirty="0">
                <a:latin typeface="宋体"/>
                <a:cs typeface="宋体"/>
              </a:rPr>
              <a:t>了 </a:t>
            </a:r>
            <a:r>
              <a:rPr sz="1800" b="1" dirty="0">
                <a:latin typeface="宋体"/>
                <a:cs typeface="宋体"/>
              </a:rPr>
              <a:t>一起，使那些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仅仅依赖</a:t>
            </a:r>
            <a:r>
              <a:rPr sz="1800" b="1" spc="-10" dirty="0">
                <a:solidFill>
                  <a:srgbClr val="FF0000"/>
                </a:solidFill>
                <a:latin typeface="宋体"/>
                <a:cs typeface="宋体"/>
              </a:rPr>
              <a:t>于 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Door这个概念的模块会因</a:t>
            </a:r>
            <a:r>
              <a:rPr sz="1800" b="1" spc="-5" dirty="0">
                <a:solidFill>
                  <a:srgbClr val="FF0000"/>
                </a:solidFill>
                <a:latin typeface="宋体"/>
                <a:cs typeface="宋体"/>
              </a:rPr>
              <a:t>为  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“报警器”的改变（例如</a:t>
            </a:r>
            <a:r>
              <a:rPr sz="1800" b="1" spc="-10" dirty="0">
                <a:solidFill>
                  <a:srgbClr val="FF0000"/>
                </a:solidFill>
                <a:latin typeface="宋体"/>
                <a:cs typeface="宋体"/>
              </a:rPr>
              <a:t>修 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改alarm()方法的参数）</a:t>
            </a:r>
            <a:r>
              <a:rPr sz="1800" b="1" spc="-10" dirty="0">
                <a:solidFill>
                  <a:srgbClr val="FF0000"/>
                </a:solidFill>
                <a:latin typeface="宋体"/>
                <a:cs typeface="宋体"/>
              </a:rPr>
              <a:t>而 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改变</a:t>
            </a:r>
            <a:r>
              <a:rPr sz="1800" b="1" spc="-1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4276" y="4544567"/>
            <a:ext cx="4968240" cy="1475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9754" y="4540148"/>
            <a:ext cx="4976495" cy="1483995"/>
          </a:xfrm>
          <a:custGeom>
            <a:avLst/>
            <a:gdLst/>
            <a:ahLst/>
            <a:cxnLst/>
            <a:rect l="l" t="t" r="r" b="b"/>
            <a:pathLst>
              <a:path w="4976495" h="1483995">
                <a:moveTo>
                  <a:pt x="4976177" y="1483994"/>
                </a:moveTo>
                <a:lnTo>
                  <a:pt x="0" y="1483994"/>
                </a:lnTo>
                <a:lnTo>
                  <a:pt x="0" y="0"/>
                </a:lnTo>
                <a:lnTo>
                  <a:pt x="4976177" y="0"/>
                </a:lnTo>
                <a:lnTo>
                  <a:pt x="4976177" y="3809"/>
                </a:lnTo>
                <a:lnTo>
                  <a:pt x="7620" y="3809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1476375"/>
                </a:lnTo>
                <a:lnTo>
                  <a:pt x="3809" y="1476375"/>
                </a:lnTo>
                <a:lnTo>
                  <a:pt x="7620" y="1480184"/>
                </a:lnTo>
                <a:lnTo>
                  <a:pt x="4976177" y="1480184"/>
                </a:lnTo>
                <a:lnTo>
                  <a:pt x="4976177" y="1483994"/>
                </a:lnTo>
                <a:close/>
              </a:path>
              <a:path w="4976495" h="1483995">
                <a:moveTo>
                  <a:pt x="7620" y="7619"/>
                </a:moveTo>
                <a:lnTo>
                  <a:pt x="3809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4976495" h="1483995">
                <a:moveTo>
                  <a:pt x="4968557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4968557" y="3809"/>
                </a:lnTo>
                <a:lnTo>
                  <a:pt x="4968557" y="7619"/>
                </a:lnTo>
                <a:close/>
              </a:path>
              <a:path w="4976495" h="1483995">
                <a:moveTo>
                  <a:pt x="4968557" y="1480184"/>
                </a:moveTo>
                <a:lnTo>
                  <a:pt x="4968557" y="3809"/>
                </a:lnTo>
                <a:lnTo>
                  <a:pt x="4972367" y="7619"/>
                </a:lnTo>
                <a:lnTo>
                  <a:pt x="4976177" y="7619"/>
                </a:lnTo>
                <a:lnTo>
                  <a:pt x="4976177" y="1476375"/>
                </a:lnTo>
                <a:lnTo>
                  <a:pt x="4972367" y="1476375"/>
                </a:lnTo>
                <a:lnTo>
                  <a:pt x="4968557" y="1480184"/>
                </a:lnTo>
                <a:close/>
              </a:path>
              <a:path w="4976495" h="1483995">
                <a:moveTo>
                  <a:pt x="4976177" y="7619"/>
                </a:moveTo>
                <a:lnTo>
                  <a:pt x="4972367" y="7619"/>
                </a:lnTo>
                <a:lnTo>
                  <a:pt x="4968557" y="3809"/>
                </a:lnTo>
                <a:lnTo>
                  <a:pt x="4976177" y="3809"/>
                </a:lnTo>
                <a:lnTo>
                  <a:pt x="4976177" y="7619"/>
                </a:lnTo>
                <a:close/>
              </a:path>
              <a:path w="4976495" h="1483995">
                <a:moveTo>
                  <a:pt x="7620" y="1480184"/>
                </a:moveTo>
                <a:lnTo>
                  <a:pt x="3809" y="1476375"/>
                </a:lnTo>
                <a:lnTo>
                  <a:pt x="7620" y="1476375"/>
                </a:lnTo>
                <a:lnTo>
                  <a:pt x="7620" y="1480184"/>
                </a:lnTo>
                <a:close/>
              </a:path>
              <a:path w="4976495" h="1483995">
                <a:moveTo>
                  <a:pt x="4968557" y="1480184"/>
                </a:moveTo>
                <a:lnTo>
                  <a:pt x="7620" y="1480184"/>
                </a:lnTo>
                <a:lnTo>
                  <a:pt x="7620" y="1476375"/>
                </a:lnTo>
                <a:lnTo>
                  <a:pt x="4968557" y="1476375"/>
                </a:lnTo>
                <a:lnTo>
                  <a:pt x="4968557" y="1480184"/>
                </a:lnTo>
                <a:close/>
              </a:path>
              <a:path w="4976495" h="1483995">
                <a:moveTo>
                  <a:pt x="4976177" y="1480184"/>
                </a:moveTo>
                <a:lnTo>
                  <a:pt x="4968557" y="1480184"/>
                </a:lnTo>
                <a:lnTo>
                  <a:pt x="4972367" y="1476375"/>
                </a:lnTo>
                <a:lnTo>
                  <a:pt x="4976177" y="1476375"/>
                </a:lnTo>
                <a:lnTo>
                  <a:pt x="4976177" y="148018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4276" y="4571898"/>
            <a:ext cx="49682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b="1" dirty="0">
                <a:latin typeface="微软雅黑"/>
                <a:cs typeface="微软雅黑"/>
              </a:rPr>
              <a:t>interface </a:t>
            </a:r>
            <a:r>
              <a:rPr sz="1800" spc="-5" dirty="0">
                <a:latin typeface="微软雅黑"/>
                <a:cs typeface="微软雅黑"/>
              </a:rPr>
              <a:t>Door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04569" marR="1716405" algn="just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public void </a:t>
            </a:r>
            <a:r>
              <a:rPr sz="1800" spc="-5" dirty="0">
                <a:latin typeface="微软雅黑"/>
                <a:cs typeface="微软雅黑"/>
              </a:rPr>
              <a:t>open();  </a:t>
            </a:r>
            <a:r>
              <a:rPr sz="1800" b="1" spc="-5" dirty="0">
                <a:latin typeface="微软雅黑"/>
                <a:cs typeface="微软雅黑"/>
              </a:rPr>
              <a:t>public void </a:t>
            </a:r>
            <a:r>
              <a:rPr sz="1800" spc="-5" dirty="0">
                <a:latin typeface="微软雅黑"/>
                <a:cs typeface="微软雅黑"/>
              </a:rPr>
              <a:t>close();  </a:t>
            </a:r>
            <a:r>
              <a:rPr sz="1800" b="1" spc="-5" dirty="0">
                <a:solidFill>
                  <a:srgbClr val="C00000"/>
                </a:solidFill>
                <a:latin typeface="微软雅黑"/>
                <a:cs typeface="微软雅黑"/>
              </a:rPr>
              <a:t>public void</a:t>
            </a:r>
            <a:r>
              <a:rPr sz="1800" b="1" spc="-5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微软雅黑"/>
                <a:cs typeface="微软雅黑"/>
              </a:rPr>
              <a:t>alarm();</a:t>
            </a:r>
            <a:endParaRPr sz="1800">
              <a:latin typeface="微软雅黑"/>
              <a:cs typeface="微软雅黑"/>
            </a:endParaRPr>
          </a:p>
          <a:p>
            <a:pPr marL="9017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62</a:t>
            </a:fld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76375"/>
            <a:ext cx="8031480" cy="283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微软雅黑"/>
                <a:cs typeface="微软雅黑"/>
              </a:rPr>
              <a:t>改进方案</a:t>
            </a:r>
            <a:endParaRPr sz="2400">
              <a:latin typeface="微软雅黑"/>
              <a:cs typeface="微软雅黑"/>
            </a:endParaRPr>
          </a:p>
          <a:p>
            <a:pPr marL="527050" marR="5080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既然</a:t>
            </a:r>
            <a:r>
              <a:rPr sz="2400" spc="-5" dirty="0">
                <a:latin typeface="微软雅黑"/>
                <a:cs typeface="微软雅黑"/>
              </a:rPr>
              <a:t>o</a:t>
            </a:r>
            <a:r>
              <a:rPr sz="2400" dirty="0">
                <a:latin typeface="微软雅黑"/>
                <a:cs typeface="微软雅黑"/>
              </a:rPr>
              <a:t>p</a:t>
            </a:r>
            <a:r>
              <a:rPr sz="2400" spc="-5" dirty="0">
                <a:latin typeface="微软雅黑"/>
                <a:cs typeface="微软雅黑"/>
              </a:rPr>
              <a:t>e</a:t>
            </a:r>
            <a:r>
              <a:rPr sz="2400" dirty="0">
                <a:latin typeface="微软雅黑"/>
                <a:cs typeface="微软雅黑"/>
              </a:rPr>
              <a:t>n、cl</a:t>
            </a:r>
            <a:r>
              <a:rPr sz="2400" spc="-5" dirty="0">
                <a:latin typeface="微软雅黑"/>
                <a:cs typeface="微软雅黑"/>
              </a:rPr>
              <a:t>ose</a:t>
            </a:r>
            <a:r>
              <a:rPr sz="2400" dirty="0">
                <a:latin typeface="微软雅黑"/>
                <a:cs typeface="微软雅黑"/>
              </a:rPr>
              <a:t>和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l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spc="-10" dirty="0">
                <a:latin typeface="微软雅黑"/>
                <a:cs typeface="微软雅黑"/>
              </a:rPr>
              <a:t>r</a:t>
            </a:r>
            <a:r>
              <a:rPr sz="2400" dirty="0">
                <a:latin typeface="微软雅黑"/>
                <a:cs typeface="微软雅黑"/>
              </a:rPr>
              <a:t>m是属于两个不同概念的行为方 式，那么就应该把它们分别定义在代表这两个概念的抽 象类或接口中。</a:t>
            </a:r>
            <a:endParaRPr sz="24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800">
              <a:latin typeface="微软雅黑"/>
              <a:cs typeface="微软雅黑"/>
            </a:endParaRPr>
          </a:p>
          <a:p>
            <a:pPr marL="527050" marR="182245" lvl="1" indent="-171450" algn="just">
              <a:lnSpc>
                <a:spcPts val="2590"/>
              </a:lnSpc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因为</a:t>
            </a:r>
            <a:r>
              <a:rPr sz="2400" spc="-40" dirty="0">
                <a:latin typeface="微软雅黑"/>
                <a:cs typeface="微软雅黑"/>
              </a:rPr>
              <a:t>J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spc="-50" dirty="0">
                <a:latin typeface="微软雅黑"/>
                <a:cs typeface="微软雅黑"/>
              </a:rPr>
              <a:t>v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语言不支持多重继承，所以或者两个概念都使 用接口定义，或者一个概念使用抽象类定义、另一个概 念使用接口定义。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0"/>
            <a:ext cx="6182360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  <a:tabLst>
                <a:tab pos="1697989" algn="l"/>
              </a:tabLst>
            </a:pPr>
            <a:r>
              <a:rPr sz="4400" u="none" spc="-5" dirty="0"/>
              <a:t>6.3.</a:t>
            </a:r>
            <a:r>
              <a:rPr sz="4400" u="none" dirty="0"/>
              <a:t>2	接口与抽象类的区 </a:t>
            </a:r>
            <a:r>
              <a:rPr sz="4400" u="none" spc="5" dirty="0"/>
              <a:t>别</a:t>
            </a:r>
            <a:endParaRPr sz="44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76375"/>
            <a:ext cx="8009890" cy="213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微软雅黑"/>
                <a:cs typeface="微软雅黑"/>
              </a:rPr>
              <a:t>问题领域：“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带有报警功能的门</a:t>
            </a:r>
            <a:r>
              <a:rPr sz="2400" dirty="0">
                <a:latin typeface="微软雅黑"/>
                <a:cs typeface="微软雅黑"/>
              </a:rPr>
              <a:t>”</a:t>
            </a:r>
            <a:endParaRPr sz="2400">
              <a:latin typeface="微软雅黑"/>
              <a:cs typeface="微软雅黑"/>
            </a:endParaRPr>
          </a:p>
          <a:p>
            <a:pPr marL="527050" marR="84455" lvl="1" indent="-171450" algn="just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sz="2400" spc="-5" dirty="0">
                <a:latin typeface="微软雅黑"/>
                <a:cs typeface="微软雅黑"/>
              </a:rPr>
              <a:t>AlarmDoor</a:t>
            </a:r>
            <a:r>
              <a:rPr sz="2400" dirty="0">
                <a:latin typeface="微软雅黑"/>
                <a:cs typeface="微软雅黑"/>
              </a:rPr>
              <a:t>在概念本质上是（is</a:t>
            </a:r>
            <a:r>
              <a:rPr sz="2400" spc="-7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a）Door，</a:t>
            </a:r>
            <a:r>
              <a:rPr sz="2400" dirty="0">
                <a:latin typeface="微软雅黑"/>
                <a:cs typeface="微软雅黑"/>
              </a:rPr>
              <a:t>同时它有具 有</a:t>
            </a:r>
            <a:r>
              <a:rPr sz="2400" spc="-15" dirty="0">
                <a:latin typeface="微软雅黑"/>
                <a:cs typeface="微软雅黑"/>
              </a:rPr>
              <a:t>（like</a:t>
            </a:r>
            <a:r>
              <a:rPr sz="2400" spc="-1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a）</a:t>
            </a:r>
            <a:r>
              <a:rPr sz="2400" dirty="0">
                <a:latin typeface="微软雅黑"/>
                <a:cs typeface="微软雅黑"/>
              </a:rPr>
              <a:t>报警的功能。</a:t>
            </a:r>
            <a:endParaRPr sz="2400">
              <a:latin typeface="微软雅黑"/>
              <a:cs typeface="微软雅黑"/>
            </a:endParaRPr>
          </a:p>
          <a:p>
            <a:pPr marL="527050" marR="5080" lvl="1" indent="-171450" algn="just">
              <a:lnSpc>
                <a:spcPts val="259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sz="2400" spc="-5" dirty="0">
                <a:latin typeface="微软雅黑"/>
                <a:cs typeface="微软雅黑"/>
              </a:rPr>
              <a:t>Door</a:t>
            </a:r>
            <a:r>
              <a:rPr sz="2400" dirty="0">
                <a:latin typeface="微软雅黑"/>
                <a:cs typeface="微软雅黑"/>
              </a:rPr>
              <a:t>应该使用抽象类方式定义</a:t>
            </a:r>
            <a:r>
              <a:rPr sz="2400" spc="-5" dirty="0">
                <a:latin typeface="微软雅黑"/>
                <a:cs typeface="微软雅黑"/>
              </a:rPr>
              <a:t>，Alarm</a:t>
            </a:r>
            <a:r>
              <a:rPr sz="2400" dirty="0">
                <a:latin typeface="微软雅黑"/>
                <a:cs typeface="微软雅黑"/>
              </a:rPr>
              <a:t>这个概念应该通 过接口方式定义，Al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spc="-10" dirty="0">
                <a:latin typeface="微软雅黑"/>
                <a:cs typeface="微软雅黑"/>
              </a:rPr>
              <a:t>r</a:t>
            </a:r>
            <a:r>
              <a:rPr sz="2400" dirty="0">
                <a:latin typeface="微软雅黑"/>
                <a:cs typeface="微软雅黑"/>
              </a:rPr>
              <a:t>mD</a:t>
            </a:r>
            <a:r>
              <a:rPr sz="2400" spc="-5" dirty="0">
                <a:latin typeface="微软雅黑"/>
                <a:cs typeface="微软雅黑"/>
              </a:rPr>
              <a:t>oor</a:t>
            </a:r>
            <a:r>
              <a:rPr sz="2400" dirty="0">
                <a:latin typeface="微软雅黑"/>
                <a:cs typeface="微软雅黑"/>
              </a:rPr>
              <a:t>继承D</a:t>
            </a:r>
            <a:r>
              <a:rPr sz="2400" spc="-5" dirty="0">
                <a:latin typeface="微软雅黑"/>
                <a:cs typeface="微软雅黑"/>
              </a:rPr>
              <a:t>oor</a:t>
            </a:r>
            <a:r>
              <a:rPr sz="2400" dirty="0">
                <a:latin typeface="微软雅黑"/>
                <a:cs typeface="微软雅黑"/>
              </a:rPr>
              <a:t>，并实现Al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spc="-10" dirty="0">
                <a:latin typeface="微软雅黑"/>
                <a:cs typeface="微软雅黑"/>
              </a:rPr>
              <a:t>r</a:t>
            </a:r>
            <a:r>
              <a:rPr sz="2400" dirty="0">
                <a:latin typeface="微软雅黑"/>
                <a:cs typeface="微软雅黑"/>
              </a:rPr>
              <a:t>m 接口。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188137"/>
            <a:ext cx="61290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4320" algn="l"/>
              </a:tabLst>
            </a:pPr>
            <a:r>
              <a:rPr u="none" spc="-5" dirty="0"/>
              <a:t>6.3.2	</a:t>
            </a:r>
            <a:r>
              <a:rPr u="none" dirty="0"/>
              <a:t>接口与抽象类的区</a:t>
            </a:r>
            <a:r>
              <a:rPr u="none" spc="-5" dirty="0"/>
              <a:t>别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81455"/>
            <a:ext cx="8229600" cy="452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477644"/>
            <a:ext cx="8233409" cy="4533265"/>
          </a:xfrm>
          <a:custGeom>
            <a:avLst/>
            <a:gdLst/>
            <a:ahLst/>
            <a:cxnLst/>
            <a:rect l="l" t="t" r="r" b="b"/>
            <a:pathLst>
              <a:path w="8233409" h="4533265">
                <a:moveTo>
                  <a:pt x="0" y="7619"/>
                </a:moveTo>
                <a:lnTo>
                  <a:pt x="0" y="0"/>
                </a:lnTo>
                <a:lnTo>
                  <a:pt x="8233409" y="0"/>
                </a:lnTo>
                <a:lnTo>
                  <a:pt x="8233409" y="3809"/>
                </a:lnTo>
                <a:lnTo>
                  <a:pt x="3810" y="3809"/>
                </a:lnTo>
                <a:lnTo>
                  <a:pt x="0" y="7619"/>
                </a:lnTo>
                <a:close/>
              </a:path>
              <a:path w="8233409" h="4533265">
                <a:moveTo>
                  <a:pt x="3810" y="4529455"/>
                </a:moveTo>
                <a:lnTo>
                  <a:pt x="0" y="4525644"/>
                </a:lnTo>
                <a:lnTo>
                  <a:pt x="0" y="7619"/>
                </a:lnTo>
                <a:lnTo>
                  <a:pt x="3810" y="3809"/>
                </a:lnTo>
                <a:lnTo>
                  <a:pt x="3810" y="4529455"/>
                </a:lnTo>
                <a:close/>
              </a:path>
              <a:path w="8233409" h="4533265">
                <a:moveTo>
                  <a:pt x="8225790" y="7619"/>
                </a:moveTo>
                <a:lnTo>
                  <a:pt x="3810" y="7619"/>
                </a:lnTo>
                <a:lnTo>
                  <a:pt x="3810" y="3809"/>
                </a:lnTo>
                <a:lnTo>
                  <a:pt x="8225790" y="3809"/>
                </a:lnTo>
                <a:lnTo>
                  <a:pt x="8225790" y="7619"/>
                </a:lnTo>
                <a:close/>
              </a:path>
              <a:path w="8233409" h="4533265">
                <a:moveTo>
                  <a:pt x="8225790" y="4529455"/>
                </a:moveTo>
                <a:lnTo>
                  <a:pt x="8225790" y="3809"/>
                </a:lnTo>
                <a:lnTo>
                  <a:pt x="8229600" y="7619"/>
                </a:lnTo>
                <a:lnTo>
                  <a:pt x="8233409" y="7619"/>
                </a:lnTo>
                <a:lnTo>
                  <a:pt x="8233409" y="4525644"/>
                </a:lnTo>
                <a:lnTo>
                  <a:pt x="8229600" y="4525644"/>
                </a:lnTo>
                <a:lnTo>
                  <a:pt x="8225790" y="4529455"/>
                </a:lnTo>
                <a:close/>
              </a:path>
              <a:path w="8233409" h="4533265">
                <a:moveTo>
                  <a:pt x="8233409" y="7619"/>
                </a:moveTo>
                <a:lnTo>
                  <a:pt x="8229600" y="7619"/>
                </a:lnTo>
                <a:lnTo>
                  <a:pt x="8225790" y="3809"/>
                </a:lnTo>
                <a:lnTo>
                  <a:pt x="8233409" y="3809"/>
                </a:lnTo>
                <a:lnTo>
                  <a:pt x="8233409" y="7619"/>
                </a:lnTo>
                <a:close/>
              </a:path>
              <a:path w="8233409" h="4533265">
                <a:moveTo>
                  <a:pt x="8233409" y="4533265"/>
                </a:moveTo>
                <a:lnTo>
                  <a:pt x="0" y="4533265"/>
                </a:lnTo>
                <a:lnTo>
                  <a:pt x="0" y="4525644"/>
                </a:lnTo>
                <a:lnTo>
                  <a:pt x="3810" y="4529455"/>
                </a:lnTo>
                <a:lnTo>
                  <a:pt x="8233409" y="4529455"/>
                </a:lnTo>
                <a:lnTo>
                  <a:pt x="8233409" y="4533265"/>
                </a:lnTo>
                <a:close/>
              </a:path>
              <a:path w="8233409" h="4533265">
                <a:moveTo>
                  <a:pt x="8225790" y="4529455"/>
                </a:moveTo>
                <a:lnTo>
                  <a:pt x="3810" y="4529455"/>
                </a:lnTo>
                <a:lnTo>
                  <a:pt x="3810" y="4525644"/>
                </a:lnTo>
                <a:lnTo>
                  <a:pt x="8225790" y="4525644"/>
                </a:lnTo>
                <a:lnTo>
                  <a:pt x="8225790" y="4529455"/>
                </a:lnTo>
                <a:close/>
              </a:path>
              <a:path w="8233409" h="4533265">
                <a:moveTo>
                  <a:pt x="8233409" y="4529455"/>
                </a:moveTo>
                <a:lnTo>
                  <a:pt x="8225790" y="4529455"/>
                </a:lnTo>
                <a:lnTo>
                  <a:pt x="8229600" y="4525644"/>
                </a:lnTo>
                <a:lnTo>
                  <a:pt x="8233409" y="4525644"/>
                </a:lnTo>
                <a:lnTo>
                  <a:pt x="8233409" y="452945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8595" y="1427607"/>
            <a:ext cx="5339715" cy="41687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700" b="1" spc="-5" dirty="0">
                <a:latin typeface="微软雅黑"/>
                <a:cs typeface="微软雅黑"/>
              </a:rPr>
              <a:t>public abstract class </a:t>
            </a:r>
            <a:r>
              <a:rPr sz="1700" spc="-5" dirty="0">
                <a:latin typeface="微软雅黑"/>
                <a:cs typeface="微软雅黑"/>
              </a:rPr>
              <a:t>Door </a:t>
            </a:r>
            <a:r>
              <a:rPr sz="1700" dirty="0">
                <a:latin typeface="微软雅黑"/>
                <a:cs typeface="微软雅黑"/>
              </a:rPr>
              <a:t>{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b="1" spc="-5" dirty="0">
                <a:latin typeface="微软雅黑"/>
                <a:cs typeface="微软雅黑"/>
              </a:rPr>
              <a:t>public abstract </a:t>
            </a:r>
            <a:r>
              <a:rPr sz="1700" b="1" spc="-10" dirty="0">
                <a:latin typeface="微软雅黑"/>
                <a:cs typeface="微软雅黑"/>
              </a:rPr>
              <a:t>void</a:t>
            </a:r>
            <a:r>
              <a:rPr sz="1700" b="1" spc="-20" dirty="0">
                <a:latin typeface="微软雅黑"/>
                <a:cs typeface="微软雅黑"/>
              </a:rPr>
              <a:t> </a:t>
            </a:r>
            <a:r>
              <a:rPr sz="1700" spc="-5" dirty="0">
                <a:latin typeface="微软雅黑"/>
                <a:cs typeface="微软雅黑"/>
              </a:rPr>
              <a:t>open();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b="1" spc="-5" dirty="0">
                <a:latin typeface="微软雅黑"/>
                <a:cs typeface="微软雅黑"/>
              </a:rPr>
              <a:t>public abstract </a:t>
            </a:r>
            <a:r>
              <a:rPr sz="1700" b="1" spc="-10" dirty="0">
                <a:latin typeface="微软雅黑"/>
                <a:cs typeface="微软雅黑"/>
              </a:rPr>
              <a:t>void</a:t>
            </a:r>
            <a:r>
              <a:rPr sz="1700" b="1" spc="-20" dirty="0">
                <a:latin typeface="微软雅黑"/>
                <a:cs typeface="微软雅黑"/>
              </a:rPr>
              <a:t> </a:t>
            </a:r>
            <a:r>
              <a:rPr sz="1700" spc="-5" dirty="0">
                <a:latin typeface="微软雅黑"/>
                <a:cs typeface="微软雅黑"/>
              </a:rPr>
              <a:t>close();</a:t>
            </a:r>
            <a:endParaRPr sz="17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微软雅黑"/>
                <a:cs typeface="微软雅黑"/>
              </a:rPr>
              <a:t>}</a:t>
            </a:r>
            <a:endParaRPr sz="17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dirty="0">
                <a:solidFill>
                  <a:srgbClr val="C00000"/>
                </a:solidFill>
                <a:latin typeface="微软雅黑"/>
                <a:cs typeface="微软雅黑"/>
              </a:rPr>
              <a:t>interface</a:t>
            </a:r>
            <a:r>
              <a:rPr sz="1700" b="1" spc="-1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微软雅黑"/>
                <a:cs typeface="微软雅黑"/>
              </a:rPr>
              <a:t>Alarm{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b="1" spc="-10" dirty="0">
                <a:solidFill>
                  <a:srgbClr val="C00000"/>
                </a:solidFill>
                <a:latin typeface="微软雅黑"/>
                <a:cs typeface="微软雅黑"/>
              </a:rPr>
              <a:t>void </a:t>
            </a:r>
            <a:r>
              <a:rPr sz="1700" spc="-5" dirty="0">
                <a:solidFill>
                  <a:srgbClr val="C00000"/>
                </a:solidFill>
                <a:latin typeface="微软雅黑"/>
                <a:cs typeface="微软雅黑"/>
              </a:rPr>
              <a:t>alarm();</a:t>
            </a:r>
            <a:endParaRPr sz="17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solidFill>
                  <a:srgbClr val="C00000"/>
                </a:solidFill>
                <a:latin typeface="微软雅黑"/>
                <a:cs typeface="微软雅黑"/>
              </a:rPr>
              <a:t>}</a:t>
            </a:r>
            <a:endParaRPr sz="17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b="1" spc="-5" dirty="0">
                <a:latin typeface="微软雅黑"/>
                <a:cs typeface="微软雅黑"/>
              </a:rPr>
              <a:t>class </a:t>
            </a:r>
            <a:r>
              <a:rPr sz="1700" spc="-5" dirty="0">
                <a:latin typeface="微软雅黑"/>
                <a:cs typeface="微软雅黑"/>
              </a:rPr>
              <a:t>AlarmDoor </a:t>
            </a:r>
            <a:r>
              <a:rPr sz="1700" b="1" spc="-5" dirty="0">
                <a:latin typeface="微软雅黑"/>
                <a:cs typeface="微软雅黑"/>
              </a:rPr>
              <a:t>extends </a:t>
            </a:r>
            <a:r>
              <a:rPr sz="1700" spc="-5" dirty="0">
                <a:latin typeface="微软雅黑"/>
                <a:cs typeface="微软雅黑"/>
              </a:rPr>
              <a:t>Door </a:t>
            </a:r>
            <a:r>
              <a:rPr sz="1700" b="1" spc="-5" dirty="0">
                <a:solidFill>
                  <a:srgbClr val="C00000"/>
                </a:solidFill>
                <a:latin typeface="微软雅黑"/>
                <a:cs typeface="微软雅黑"/>
              </a:rPr>
              <a:t>implements</a:t>
            </a:r>
            <a:r>
              <a:rPr sz="1700" b="1" spc="3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微软雅黑"/>
                <a:cs typeface="微软雅黑"/>
              </a:rPr>
              <a:t>Alarm</a:t>
            </a:r>
            <a:r>
              <a:rPr sz="1700" spc="-5" dirty="0">
                <a:latin typeface="微软雅黑"/>
                <a:cs typeface="微软雅黑"/>
              </a:rPr>
              <a:t>{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b="1" spc="-5" dirty="0">
                <a:latin typeface="微软雅黑"/>
                <a:cs typeface="微软雅黑"/>
              </a:rPr>
              <a:t>public </a:t>
            </a:r>
            <a:r>
              <a:rPr sz="1700" b="1" spc="-10" dirty="0">
                <a:latin typeface="微软雅黑"/>
                <a:cs typeface="微软雅黑"/>
              </a:rPr>
              <a:t>void</a:t>
            </a:r>
            <a:r>
              <a:rPr sz="1700" b="1" spc="-40" dirty="0">
                <a:latin typeface="微软雅黑"/>
                <a:cs typeface="微软雅黑"/>
              </a:rPr>
              <a:t> </a:t>
            </a:r>
            <a:r>
              <a:rPr sz="1700" spc="-5" dirty="0">
                <a:latin typeface="微软雅黑"/>
                <a:cs typeface="微软雅黑"/>
              </a:rPr>
              <a:t>open(){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微软雅黑"/>
                <a:cs typeface="微软雅黑"/>
              </a:rPr>
              <a:t>}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b="1" spc="-5" dirty="0">
                <a:latin typeface="微软雅黑"/>
                <a:cs typeface="微软雅黑"/>
              </a:rPr>
              <a:t>public </a:t>
            </a:r>
            <a:r>
              <a:rPr sz="1700" b="1" spc="-10" dirty="0">
                <a:latin typeface="微软雅黑"/>
                <a:cs typeface="微软雅黑"/>
              </a:rPr>
              <a:t>void</a:t>
            </a:r>
            <a:r>
              <a:rPr sz="1700" b="1" spc="-40" dirty="0">
                <a:latin typeface="微软雅黑"/>
                <a:cs typeface="微软雅黑"/>
              </a:rPr>
              <a:t> </a:t>
            </a:r>
            <a:r>
              <a:rPr sz="1700" spc="-5" dirty="0">
                <a:latin typeface="微软雅黑"/>
                <a:cs typeface="微软雅黑"/>
              </a:rPr>
              <a:t>close(){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微软雅黑"/>
                <a:cs typeface="微软雅黑"/>
              </a:rPr>
              <a:t>}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b="1" spc="-5" dirty="0">
                <a:latin typeface="微软雅黑"/>
                <a:cs typeface="微软雅黑"/>
              </a:rPr>
              <a:t>public </a:t>
            </a:r>
            <a:r>
              <a:rPr sz="1700" b="1" spc="-10" dirty="0">
                <a:latin typeface="微软雅黑"/>
                <a:cs typeface="微软雅黑"/>
              </a:rPr>
              <a:t>void </a:t>
            </a:r>
            <a:r>
              <a:rPr sz="1700" spc="-5" dirty="0">
                <a:latin typeface="微软雅黑"/>
                <a:cs typeface="微软雅黑"/>
              </a:rPr>
              <a:t>alarm(){</a:t>
            </a:r>
            <a:endParaRPr sz="17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微软雅黑"/>
                <a:cs typeface="微软雅黑"/>
              </a:rPr>
              <a:t>}</a:t>
            </a:r>
            <a:endParaRPr sz="17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微软雅黑"/>
                <a:cs typeface="微软雅黑"/>
              </a:rPr>
              <a:t>}</a:t>
            </a:r>
            <a:endParaRPr sz="17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65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3652" y="0"/>
            <a:ext cx="6182360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  <a:tabLst>
                <a:tab pos="1697989" algn="l"/>
              </a:tabLst>
            </a:pPr>
            <a:r>
              <a:rPr sz="4400" u="none" spc="-5" dirty="0"/>
              <a:t>6.3.</a:t>
            </a:r>
            <a:r>
              <a:rPr sz="4400" u="none" dirty="0"/>
              <a:t>2	接口与抽象类的区 </a:t>
            </a:r>
            <a:r>
              <a:rPr sz="4400" u="none" spc="5" dirty="0"/>
              <a:t>别</a:t>
            </a:r>
            <a:endParaRPr sz="4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3479" y="1623695"/>
            <a:ext cx="6611620" cy="41998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4150" marR="5080" indent="-17145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（1）</a:t>
            </a:r>
            <a:r>
              <a:rPr sz="2400" dirty="0">
                <a:latin typeface="微软雅黑"/>
                <a:cs typeface="微软雅黑"/>
              </a:rPr>
              <a:t>抽象层到底使用抽象类还是使用接口，本 质上取决于我们对于问题领域的理解，抽象类表 示的是“is</a:t>
            </a:r>
            <a:r>
              <a:rPr sz="2400" spc="-45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a”</a:t>
            </a:r>
            <a:r>
              <a:rPr sz="2400" dirty="0">
                <a:latin typeface="微软雅黑"/>
                <a:cs typeface="微软雅黑"/>
              </a:rPr>
              <a:t>关系，接口表示的是</a:t>
            </a:r>
            <a:r>
              <a:rPr sz="2400" spc="-15" dirty="0">
                <a:latin typeface="微软雅黑"/>
                <a:cs typeface="微软雅黑"/>
              </a:rPr>
              <a:t>“like</a:t>
            </a:r>
            <a:r>
              <a:rPr sz="2400" spc="-4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a”</a:t>
            </a:r>
            <a:r>
              <a:rPr sz="2400" dirty="0">
                <a:latin typeface="微软雅黑"/>
                <a:cs typeface="微软雅黑"/>
              </a:rPr>
              <a:t>关 系，这一点可以作为选择的依据。</a:t>
            </a:r>
            <a:endParaRPr sz="2400">
              <a:latin typeface="微软雅黑"/>
              <a:cs typeface="微软雅黑"/>
            </a:endParaRPr>
          </a:p>
          <a:p>
            <a:pPr marL="184150" marR="146050" indent="-171450">
              <a:lnSpc>
                <a:spcPts val="259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微软雅黑"/>
                <a:cs typeface="微软雅黑"/>
              </a:rPr>
              <a:t>（</a:t>
            </a:r>
            <a:r>
              <a:rPr sz="2400" spc="-5" dirty="0">
                <a:latin typeface="微软雅黑"/>
                <a:cs typeface="微软雅黑"/>
              </a:rPr>
              <a:t>2</a:t>
            </a:r>
            <a:r>
              <a:rPr sz="2400" dirty="0">
                <a:latin typeface="微软雅黑"/>
                <a:cs typeface="微软雅黑"/>
              </a:rPr>
              <a:t>）使用抽象类主要是为了代码的复用，并能 够保证父类和子类间的层次关系。</a:t>
            </a:r>
            <a:endParaRPr sz="2400">
              <a:latin typeface="微软雅黑"/>
              <a:cs typeface="微软雅黑"/>
            </a:endParaRPr>
          </a:p>
          <a:p>
            <a:pPr marL="184150" marR="19050" indent="-171450">
              <a:lnSpc>
                <a:spcPts val="259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微软雅黑"/>
                <a:cs typeface="微软雅黑"/>
              </a:rPr>
              <a:t>（3）</a:t>
            </a:r>
            <a:r>
              <a:rPr sz="2400" dirty="0">
                <a:latin typeface="微软雅黑"/>
                <a:cs typeface="微软雅黑"/>
              </a:rPr>
              <a:t>系统中的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行为模型</a:t>
            </a:r>
            <a:r>
              <a:rPr sz="2400" dirty="0">
                <a:latin typeface="微软雅黑"/>
                <a:cs typeface="微软雅黑"/>
              </a:rPr>
              <a:t>（描述具有什么功能）  应该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总是通过接口</a:t>
            </a:r>
            <a:r>
              <a:rPr sz="2400" dirty="0">
                <a:latin typeface="微软雅黑"/>
                <a:cs typeface="微软雅黑"/>
              </a:rPr>
              <a:t>而不是抽象类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定义</a:t>
            </a:r>
            <a:r>
              <a:rPr sz="2400" dirty="0">
                <a:latin typeface="微软雅黑"/>
                <a:cs typeface="微软雅黑"/>
              </a:rPr>
              <a:t>（属于</a:t>
            </a:r>
            <a:r>
              <a:rPr sz="2400" spc="-15" dirty="0">
                <a:latin typeface="微软雅黑"/>
                <a:cs typeface="微软雅黑"/>
              </a:rPr>
              <a:t>like  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的关系），如例</a:t>
            </a:r>
            <a:r>
              <a:rPr sz="2400" spc="-5" dirty="0">
                <a:latin typeface="微软雅黑"/>
                <a:cs typeface="微软雅黑"/>
              </a:rPr>
              <a:t>6-3</a:t>
            </a:r>
            <a:r>
              <a:rPr sz="2400" dirty="0">
                <a:latin typeface="微软雅黑"/>
                <a:cs typeface="微软雅黑"/>
              </a:rPr>
              <a:t>中</a:t>
            </a:r>
            <a:r>
              <a:rPr sz="2400" spc="-5" dirty="0">
                <a:latin typeface="微软雅黑"/>
                <a:cs typeface="微软雅黑"/>
              </a:rPr>
              <a:t>UserDao</a:t>
            </a:r>
            <a:r>
              <a:rPr sz="2400" dirty="0">
                <a:latin typeface="微软雅黑"/>
                <a:cs typeface="微软雅黑"/>
              </a:rPr>
              <a:t>对前台行为的 抽象就是使用的接口。通过接口定义行为能够更 有效地分离行为与实现，为代码的维护和修改带 来方便。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188137"/>
            <a:ext cx="61290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4320" algn="l"/>
              </a:tabLst>
            </a:pPr>
            <a:r>
              <a:rPr u="none" spc="-5" dirty="0"/>
              <a:t>6.3.2	</a:t>
            </a:r>
            <a:r>
              <a:rPr u="none" dirty="0"/>
              <a:t>接口与抽象类的区</a:t>
            </a:r>
            <a:r>
              <a:rPr u="none" spc="-5" dirty="0"/>
              <a:t>别</a:t>
            </a:r>
          </a:p>
        </p:txBody>
      </p:sp>
      <p:sp>
        <p:nvSpPr>
          <p:cNvPr id="4" name="object 4"/>
          <p:cNvSpPr/>
          <p:nvPr/>
        </p:nvSpPr>
        <p:spPr>
          <a:xfrm>
            <a:off x="684276" y="1629155"/>
            <a:ext cx="1223772" cy="1467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66</a:t>
            </a:fld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188137"/>
            <a:ext cx="583120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14475" algn="l"/>
              </a:tabLst>
            </a:pPr>
            <a:r>
              <a:rPr u="none" spc="-5" dirty="0"/>
              <a:t>6.3.3	</a:t>
            </a:r>
            <a:r>
              <a:rPr sz="3200" u="none" dirty="0"/>
              <a:t>接口中的关键字</a:t>
            </a:r>
            <a:r>
              <a:rPr sz="3200" u="none" spc="-5" dirty="0"/>
              <a:t>default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41730" y="1172845"/>
            <a:ext cx="6777355" cy="324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marR="4074795" indent="-2038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public interface </a:t>
            </a:r>
            <a:r>
              <a:rPr sz="1800" spc="-20" dirty="0">
                <a:latin typeface="微软雅黑"/>
                <a:cs typeface="微软雅黑"/>
              </a:rPr>
              <a:t>Vehicle</a:t>
            </a:r>
            <a:r>
              <a:rPr sz="1800" spc="-9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  </a:t>
            </a: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default </a:t>
            </a:r>
            <a:r>
              <a:rPr sz="1800" spc="-5" dirty="0">
                <a:latin typeface="微软雅黑"/>
                <a:cs typeface="微软雅黑"/>
              </a:rPr>
              <a:t>void</a:t>
            </a:r>
            <a:r>
              <a:rPr sz="1800" spc="-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print(){</a:t>
            </a:r>
            <a:endParaRPr sz="1800">
              <a:latin typeface="微软雅黑"/>
              <a:cs typeface="微软雅黑"/>
            </a:endParaRPr>
          </a:p>
          <a:p>
            <a:pPr marL="419734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System.out.println("</a:t>
            </a:r>
            <a:r>
              <a:rPr sz="1800" dirty="0">
                <a:latin typeface="微软雅黑"/>
                <a:cs typeface="微软雅黑"/>
              </a:rPr>
              <a:t>我是一辆车</a:t>
            </a:r>
            <a:r>
              <a:rPr sz="1800" spc="-5" dirty="0">
                <a:latin typeface="微软雅黑"/>
                <a:cs typeface="微软雅黑"/>
              </a:rPr>
              <a:t>!");</a:t>
            </a:r>
            <a:endParaRPr sz="1800">
              <a:latin typeface="微软雅黑"/>
              <a:cs typeface="微软雅黑"/>
            </a:endParaRPr>
          </a:p>
          <a:p>
            <a:pPr marL="2159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98425">
              <a:lnSpc>
                <a:spcPct val="100000"/>
              </a:lnSpc>
              <a:spcBef>
                <a:spcPts val="1290"/>
              </a:spcBef>
            </a:pP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default </a:t>
            </a:r>
            <a:r>
              <a:rPr sz="1800" dirty="0">
                <a:solidFill>
                  <a:srgbClr val="FF0000"/>
                </a:solidFill>
                <a:latin typeface="微软雅黑"/>
                <a:cs typeface="微软雅黑"/>
              </a:rPr>
              <a:t>不需要实现类去实现的方法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00">
              <a:latin typeface="微软雅黑"/>
              <a:cs typeface="微软雅黑"/>
            </a:endParaRPr>
          </a:p>
          <a:p>
            <a:pPr marL="134620" marR="5080" algn="just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当需要修改接口时候，需要修改该接口的全部实现。然而，对于已 经发布的版本，是没法在给接口添加新方法的同时不影响已有的实 现。所以引进的默认方法。目的是为了解决接口的修改与现有的实 现不兼容的问题。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188137"/>
            <a:ext cx="583120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14475" algn="l"/>
              </a:tabLst>
            </a:pPr>
            <a:r>
              <a:rPr u="none" spc="-5" dirty="0"/>
              <a:t>6.3.3	</a:t>
            </a:r>
            <a:r>
              <a:rPr sz="3200" u="none" dirty="0"/>
              <a:t>接口中的关键字</a:t>
            </a:r>
            <a:r>
              <a:rPr sz="3200" u="none" spc="-5" dirty="0"/>
              <a:t>default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66189" y="1056004"/>
            <a:ext cx="63315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多个默认方法</a:t>
            </a:r>
            <a:r>
              <a:rPr sz="1800" spc="-5" dirty="0">
                <a:latin typeface="微软雅黑"/>
                <a:cs typeface="微软雅黑"/>
              </a:rPr>
              <a:t>：</a:t>
            </a: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Default </a:t>
            </a:r>
            <a:r>
              <a:rPr sz="1800" spc="-30" dirty="0">
                <a:solidFill>
                  <a:srgbClr val="FF0000"/>
                </a:solidFill>
                <a:latin typeface="微软雅黑"/>
                <a:cs typeface="微软雅黑"/>
              </a:rPr>
              <a:t>Test.java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一个类实现了多个接口，且这些接口有相同的默认方法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解决方案</a:t>
            </a:r>
            <a:r>
              <a:rPr sz="1800" spc="-5" dirty="0">
                <a:latin typeface="微软雅黑"/>
                <a:cs typeface="微软雅黑"/>
              </a:rPr>
              <a:t>1</a:t>
            </a:r>
            <a:r>
              <a:rPr sz="1800" dirty="0">
                <a:latin typeface="微软雅黑"/>
                <a:cs typeface="微软雅黑"/>
              </a:rPr>
              <a:t>：创建自己的默认方法，来覆盖重写接口的默认方法 解决方案</a:t>
            </a:r>
            <a:r>
              <a:rPr sz="1800" spc="-5" dirty="0">
                <a:latin typeface="微软雅黑"/>
                <a:cs typeface="微软雅黑"/>
              </a:rPr>
              <a:t>2：</a:t>
            </a:r>
            <a:r>
              <a:rPr sz="1800" dirty="0">
                <a:latin typeface="微软雅黑"/>
                <a:cs typeface="微软雅黑"/>
              </a:rPr>
              <a:t>使用</a:t>
            </a:r>
            <a:r>
              <a:rPr sz="1800" spc="-5" dirty="0">
                <a:latin typeface="微软雅黑"/>
                <a:cs typeface="微软雅黑"/>
              </a:rPr>
              <a:t> super </a:t>
            </a:r>
            <a:r>
              <a:rPr sz="1800" dirty="0">
                <a:latin typeface="微软雅黑"/>
                <a:cs typeface="微软雅黑"/>
              </a:rPr>
              <a:t>来调用指定接口的默认方法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880" y="2448559"/>
            <a:ext cx="3736340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marR="1033780" indent="-2038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public interface </a:t>
            </a:r>
            <a:r>
              <a:rPr sz="1800" spc="-20" dirty="0">
                <a:latin typeface="微软雅黑"/>
                <a:cs typeface="微软雅黑"/>
              </a:rPr>
              <a:t>Vehicle</a:t>
            </a:r>
            <a:r>
              <a:rPr sz="1800" spc="-9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  </a:t>
            </a:r>
            <a:r>
              <a:rPr sz="1800" spc="-5" dirty="0">
                <a:latin typeface="微软雅黑"/>
                <a:cs typeface="微软雅黑"/>
              </a:rPr>
              <a:t>default void</a:t>
            </a:r>
            <a:r>
              <a:rPr sz="1800" spc="-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print(){</a:t>
            </a:r>
            <a:endParaRPr sz="1800">
              <a:latin typeface="微软雅黑"/>
              <a:cs typeface="微软雅黑"/>
            </a:endParaRPr>
          </a:p>
          <a:p>
            <a:pPr marL="12700" marR="233679" indent="407670">
              <a:lnSpc>
                <a:spcPct val="100000"/>
              </a:lnSpc>
            </a:pPr>
            <a:r>
              <a:rPr sz="1800" spc="-45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ys</a:t>
            </a:r>
            <a:r>
              <a:rPr sz="1800" spc="-20" dirty="0">
                <a:latin typeface="微软雅黑"/>
                <a:cs typeface="微软雅黑"/>
              </a:rPr>
              <a:t>t</a:t>
            </a:r>
            <a:r>
              <a:rPr sz="1800" spc="-5" dirty="0">
                <a:latin typeface="微软雅黑"/>
                <a:cs typeface="微软雅黑"/>
              </a:rPr>
              <a:t>em</a:t>
            </a:r>
            <a:r>
              <a:rPr sz="1800" dirty="0">
                <a:latin typeface="微软雅黑"/>
                <a:cs typeface="微软雅黑"/>
              </a:rPr>
              <a:t>.ou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.p</a:t>
            </a:r>
            <a:r>
              <a:rPr sz="1800" spc="-5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in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ln</a:t>
            </a:r>
            <a:r>
              <a:rPr sz="1800" spc="-5" dirty="0">
                <a:latin typeface="微软雅黑"/>
                <a:cs typeface="微软雅黑"/>
              </a:rPr>
              <a:t>(</a:t>
            </a:r>
            <a:r>
              <a:rPr sz="1800" dirty="0">
                <a:latin typeface="微软雅黑"/>
                <a:cs typeface="微软雅黑"/>
              </a:rPr>
              <a:t>"我是一辆 车</a:t>
            </a:r>
            <a:r>
              <a:rPr sz="1800" spc="-5" dirty="0">
                <a:latin typeface="微软雅黑"/>
                <a:cs typeface="微软雅黑"/>
              </a:rPr>
              <a:t>!");</a:t>
            </a:r>
            <a:endParaRPr sz="1800">
              <a:latin typeface="微软雅黑"/>
              <a:cs typeface="微软雅黑"/>
            </a:endParaRPr>
          </a:p>
          <a:p>
            <a:pPr marL="2159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215900" marR="404495" indent="-20383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public interface </a:t>
            </a:r>
            <a:r>
              <a:rPr sz="1800" spc="-5" dirty="0">
                <a:latin typeface="微软雅黑"/>
                <a:cs typeface="微软雅黑"/>
              </a:rPr>
              <a:t>FourWheeler</a:t>
            </a:r>
            <a:r>
              <a:rPr sz="1800" spc="-7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  </a:t>
            </a:r>
            <a:r>
              <a:rPr sz="1800" spc="-5" dirty="0">
                <a:latin typeface="微软雅黑"/>
                <a:cs typeface="微软雅黑"/>
              </a:rPr>
              <a:t>default void print(){</a:t>
            </a:r>
            <a:endParaRPr sz="1800">
              <a:latin typeface="微软雅黑"/>
              <a:cs typeface="微软雅黑"/>
            </a:endParaRPr>
          </a:p>
          <a:p>
            <a:pPr marL="12700" marR="5080" indent="407670">
              <a:lnSpc>
                <a:spcPct val="100000"/>
              </a:lnSpc>
            </a:pPr>
            <a:r>
              <a:rPr sz="1800" spc="-45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ys</a:t>
            </a:r>
            <a:r>
              <a:rPr sz="1800" spc="-20" dirty="0">
                <a:latin typeface="微软雅黑"/>
                <a:cs typeface="微软雅黑"/>
              </a:rPr>
              <a:t>t</a:t>
            </a:r>
            <a:r>
              <a:rPr sz="1800" spc="-5" dirty="0">
                <a:latin typeface="微软雅黑"/>
                <a:cs typeface="微软雅黑"/>
              </a:rPr>
              <a:t>em</a:t>
            </a:r>
            <a:r>
              <a:rPr sz="1800" dirty="0">
                <a:latin typeface="微软雅黑"/>
                <a:cs typeface="微软雅黑"/>
              </a:rPr>
              <a:t>.ou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.p</a:t>
            </a:r>
            <a:r>
              <a:rPr sz="1800" spc="-5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in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ln</a:t>
            </a:r>
            <a:r>
              <a:rPr sz="1800" spc="-5" dirty="0">
                <a:latin typeface="微软雅黑"/>
                <a:cs typeface="微软雅黑"/>
              </a:rPr>
              <a:t>(</a:t>
            </a:r>
            <a:r>
              <a:rPr sz="1800" dirty="0">
                <a:latin typeface="微软雅黑"/>
                <a:cs typeface="微软雅黑"/>
              </a:rPr>
              <a:t>"我是一辆四 轮车</a:t>
            </a:r>
            <a:r>
              <a:rPr sz="1800" spc="-5" dirty="0">
                <a:latin typeface="微软雅黑"/>
                <a:cs typeface="微软雅黑"/>
              </a:rPr>
              <a:t>!");</a:t>
            </a:r>
            <a:endParaRPr sz="1800">
              <a:latin typeface="微软雅黑"/>
              <a:cs typeface="微软雅黑"/>
            </a:endParaRPr>
          </a:p>
          <a:p>
            <a:pPr marL="2159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1875" y="2376804"/>
            <a:ext cx="3990340" cy="368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public class Car </a:t>
            </a:r>
            <a:r>
              <a:rPr sz="1800" spc="-5" dirty="0">
                <a:latin typeface="微软雅黑"/>
                <a:cs typeface="微软雅黑"/>
              </a:rPr>
              <a:t>implements </a:t>
            </a:r>
            <a:r>
              <a:rPr sz="1800" spc="-20" dirty="0">
                <a:latin typeface="微软雅黑"/>
                <a:cs typeface="微软雅黑"/>
              </a:rPr>
              <a:t>Vehicle,  </a:t>
            </a:r>
            <a:r>
              <a:rPr sz="1800" spc="-5" dirty="0">
                <a:latin typeface="微软雅黑"/>
                <a:cs typeface="微软雅黑"/>
              </a:rPr>
              <a:t>FourWheeler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445134" marR="5080" indent="-20383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default void print()</a:t>
            </a:r>
            <a:r>
              <a:rPr sz="1800" spc="-5" dirty="0">
                <a:latin typeface="微软雅黑"/>
                <a:cs typeface="微软雅黑"/>
              </a:rPr>
              <a:t>{//</a:t>
            </a:r>
            <a:r>
              <a:rPr sz="1800" dirty="0">
                <a:latin typeface="微软雅黑"/>
                <a:cs typeface="微软雅黑"/>
              </a:rPr>
              <a:t>重写 </a:t>
            </a:r>
            <a:r>
              <a:rPr sz="1800" spc="-45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ys</a:t>
            </a:r>
            <a:r>
              <a:rPr sz="1800" spc="-20" dirty="0">
                <a:latin typeface="微软雅黑"/>
                <a:cs typeface="微软雅黑"/>
              </a:rPr>
              <a:t>t</a:t>
            </a:r>
            <a:r>
              <a:rPr sz="1800" spc="-5" dirty="0">
                <a:latin typeface="微软雅黑"/>
                <a:cs typeface="微软雅黑"/>
              </a:rPr>
              <a:t>em</a:t>
            </a:r>
            <a:r>
              <a:rPr sz="1800" dirty="0">
                <a:latin typeface="微软雅黑"/>
                <a:cs typeface="微软雅黑"/>
              </a:rPr>
              <a:t>.ou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.p</a:t>
            </a:r>
            <a:r>
              <a:rPr sz="1800" spc="-5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in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ln</a:t>
            </a:r>
            <a:r>
              <a:rPr sz="1800" spc="-5" dirty="0">
                <a:latin typeface="微软雅黑"/>
                <a:cs typeface="微软雅黑"/>
              </a:rPr>
              <a:t>(</a:t>
            </a:r>
            <a:r>
              <a:rPr sz="1800" dirty="0">
                <a:latin typeface="微软雅黑"/>
                <a:cs typeface="微软雅黑"/>
              </a:rPr>
              <a:t>"我是一辆四轮</a:t>
            </a:r>
            <a:endParaRPr sz="1800">
              <a:latin typeface="微软雅黑"/>
              <a:cs typeface="微软雅黑"/>
            </a:endParaRPr>
          </a:p>
          <a:p>
            <a:pPr marL="3683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汽车</a:t>
            </a:r>
            <a:r>
              <a:rPr sz="1800" spc="-5" dirty="0">
                <a:latin typeface="微软雅黑"/>
                <a:cs typeface="微软雅黑"/>
              </a:rPr>
              <a:t>!");</a:t>
            </a:r>
            <a:endParaRPr sz="1800">
              <a:latin typeface="微软雅黑"/>
              <a:cs typeface="微软雅黑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3683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2700" marR="928369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微软雅黑"/>
                <a:cs typeface="微软雅黑"/>
              </a:rPr>
              <a:t>public class Car</a:t>
            </a:r>
            <a:r>
              <a:rPr sz="1800" spc="-7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implements  </a:t>
            </a:r>
            <a:r>
              <a:rPr sz="1800" spc="-20" dirty="0">
                <a:latin typeface="微软雅黑"/>
                <a:cs typeface="微软雅黑"/>
              </a:rPr>
              <a:t>Vehicle, </a:t>
            </a:r>
            <a:r>
              <a:rPr sz="1800" spc="-5" dirty="0">
                <a:latin typeface="微软雅黑"/>
                <a:cs typeface="微软雅黑"/>
              </a:rPr>
              <a:t>FourWheeler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420370" marR="1360170" indent="-20383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public </a:t>
            </a:r>
            <a:r>
              <a:rPr sz="1800" spc="-5" dirty="0">
                <a:latin typeface="微软雅黑"/>
                <a:cs typeface="微软雅黑"/>
              </a:rPr>
              <a:t>void print(){  </a:t>
            </a:r>
            <a:r>
              <a:rPr sz="1800" spc="-20" dirty="0">
                <a:solidFill>
                  <a:srgbClr val="FF0000"/>
                </a:solidFill>
                <a:latin typeface="微软雅黑"/>
                <a:cs typeface="微软雅黑"/>
              </a:rPr>
              <a:t>Vehicle.super.print();</a:t>
            </a:r>
            <a:endParaRPr sz="1800">
              <a:latin typeface="微软雅黑"/>
              <a:cs typeface="微软雅黑"/>
            </a:endParaRPr>
          </a:p>
          <a:p>
            <a:pPr marL="21653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7944" y="56514"/>
            <a:ext cx="547560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14475" algn="l"/>
              </a:tabLst>
            </a:pPr>
            <a:r>
              <a:rPr u="none" spc="-5" dirty="0"/>
              <a:t>6.3.4	</a:t>
            </a:r>
            <a:r>
              <a:rPr sz="3200" u="none" spc="-5" dirty="0"/>
              <a:t>接口中的static关键</a:t>
            </a:r>
            <a:r>
              <a:rPr sz="3200" u="none" spc="5" dirty="0"/>
              <a:t>字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03935" y="1230629"/>
            <a:ext cx="4368800" cy="371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接口中可以定义一个或者更多个静态方法。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用法和普通的</a:t>
            </a:r>
            <a:r>
              <a:rPr sz="1800" spc="-5" dirty="0">
                <a:latin typeface="微软雅黑"/>
                <a:cs typeface="微软雅黑"/>
              </a:rPr>
              <a:t>static</a:t>
            </a:r>
            <a:r>
              <a:rPr sz="1800" dirty="0">
                <a:latin typeface="微软雅黑"/>
                <a:cs typeface="微软雅黑"/>
              </a:rPr>
              <a:t>方法一样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50">
              <a:latin typeface="微软雅黑"/>
              <a:cs typeface="微软雅黑"/>
            </a:endParaRPr>
          </a:p>
          <a:p>
            <a:pPr marL="334645" marR="1547495" indent="-20383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public interface </a:t>
            </a:r>
            <a:r>
              <a:rPr sz="1800" spc="-20" dirty="0">
                <a:latin typeface="微软雅黑"/>
                <a:cs typeface="微软雅黑"/>
              </a:rPr>
              <a:t>Vehicle</a:t>
            </a:r>
            <a:r>
              <a:rPr sz="1800" spc="-9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  </a:t>
            </a:r>
            <a:r>
              <a:rPr sz="1800" spc="-5" dirty="0">
                <a:latin typeface="微软雅黑"/>
                <a:cs typeface="微软雅黑"/>
              </a:rPr>
              <a:t>default void</a:t>
            </a:r>
            <a:r>
              <a:rPr sz="1800" spc="-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print(){</a:t>
            </a:r>
            <a:endParaRPr sz="1800">
              <a:latin typeface="微软雅黑"/>
              <a:cs typeface="微软雅黑"/>
            </a:endParaRPr>
          </a:p>
          <a:p>
            <a:pPr marL="53848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System.out.println("</a:t>
            </a:r>
            <a:r>
              <a:rPr sz="1800" dirty="0">
                <a:latin typeface="微软雅黑"/>
                <a:cs typeface="微软雅黑"/>
              </a:rPr>
              <a:t>我是一辆车</a:t>
            </a:r>
            <a:r>
              <a:rPr sz="1800" spc="-5" dirty="0">
                <a:latin typeface="微软雅黑"/>
                <a:cs typeface="微软雅黑"/>
              </a:rPr>
              <a:t>!");</a:t>
            </a:r>
            <a:endParaRPr sz="1800">
              <a:latin typeface="微软雅黑"/>
              <a:cs typeface="微软雅黑"/>
            </a:endParaRPr>
          </a:p>
          <a:p>
            <a:pPr marL="33464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40259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//</a:t>
            </a:r>
            <a:r>
              <a:rPr sz="1800" spc="-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静态方法</a:t>
            </a:r>
            <a:endParaRPr sz="1800">
              <a:latin typeface="微软雅黑"/>
              <a:cs typeface="微软雅黑"/>
            </a:endParaRPr>
          </a:p>
          <a:p>
            <a:pPr marL="538480" marR="529590" indent="-203835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微软雅黑"/>
                <a:cs typeface="微软雅黑"/>
              </a:rPr>
              <a:t>static void blowHorn(){  </a:t>
            </a:r>
            <a:r>
              <a:rPr sz="1800" spc="-45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ys</a:t>
            </a:r>
            <a:r>
              <a:rPr sz="1800" spc="-20" dirty="0">
                <a:latin typeface="微软雅黑"/>
                <a:cs typeface="微软雅黑"/>
              </a:rPr>
              <a:t>t</a:t>
            </a:r>
            <a:r>
              <a:rPr sz="1800" spc="-5" dirty="0">
                <a:latin typeface="微软雅黑"/>
                <a:cs typeface="微软雅黑"/>
              </a:rPr>
              <a:t>em</a:t>
            </a:r>
            <a:r>
              <a:rPr sz="1800" dirty="0">
                <a:latin typeface="微软雅黑"/>
                <a:cs typeface="微软雅黑"/>
              </a:rPr>
              <a:t>.ou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.p</a:t>
            </a:r>
            <a:r>
              <a:rPr sz="1800" spc="-5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in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ln</a:t>
            </a:r>
            <a:r>
              <a:rPr sz="1800" spc="-5" dirty="0">
                <a:latin typeface="微软雅黑"/>
                <a:cs typeface="微软雅黑"/>
              </a:rPr>
              <a:t>(</a:t>
            </a:r>
            <a:r>
              <a:rPr sz="1800" dirty="0">
                <a:latin typeface="微软雅黑"/>
                <a:cs typeface="微软雅黑"/>
              </a:rPr>
              <a:t>"按喇叭!!!"</a:t>
            </a:r>
            <a:r>
              <a:rPr sz="1800" spc="-5" dirty="0">
                <a:latin typeface="微软雅黑"/>
                <a:cs typeface="微软雅黑"/>
              </a:rPr>
              <a:t>)</a:t>
            </a:r>
            <a:r>
              <a:rPr sz="1800" dirty="0"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  <a:p>
            <a:pPr marL="33464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31445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538605"/>
            <a:ext cx="28530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84150" algn="l"/>
              </a:tabLst>
            </a:pPr>
            <a:r>
              <a:rPr sz="3200" b="0" u="none" spc="-5" dirty="0">
                <a:latin typeface="微软雅黑"/>
                <a:cs typeface="微软雅黑"/>
              </a:rPr>
              <a:t>6.4.1</a:t>
            </a:r>
            <a:r>
              <a:rPr sz="3200" b="0" u="none" spc="-85" dirty="0">
                <a:latin typeface="微软雅黑"/>
                <a:cs typeface="微软雅黑"/>
              </a:rPr>
              <a:t> </a:t>
            </a:r>
            <a:r>
              <a:rPr sz="3200" b="0" u="none" dirty="0">
                <a:latin typeface="微软雅黑"/>
                <a:cs typeface="微软雅黑"/>
              </a:rPr>
              <a:t>案例分</a:t>
            </a:r>
            <a:r>
              <a:rPr sz="3200" b="0" u="none" spc="5" dirty="0">
                <a:latin typeface="微软雅黑"/>
                <a:cs typeface="微软雅黑"/>
              </a:rPr>
              <a:t>析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2072639"/>
            <a:ext cx="56978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84150" algn="l"/>
              </a:tabLst>
            </a:pPr>
            <a:r>
              <a:rPr sz="3200" spc="-5" dirty="0">
                <a:latin typeface="微软雅黑"/>
                <a:cs typeface="微软雅黑"/>
              </a:rPr>
              <a:t>6.4.2</a:t>
            </a:r>
            <a:r>
              <a:rPr sz="3200" spc="-85" dirty="0">
                <a:latin typeface="微软雅黑"/>
                <a:cs typeface="微软雅黑"/>
              </a:rPr>
              <a:t> </a:t>
            </a:r>
            <a:r>
              <a:rPr sz="3200" dirty="0">
                <a:latin typeface="微软雅黑"/>
                <a:cs typeface="微软雅黑"/>
              </a:rPr>
              <a:t>面向接口编程的代码组</a:t>
            </a:r>
            <a:r>
              <a:rPr sz="3200" spc="5" dirty="0">
                <a:latin typeface="微软雅黑"/>
                <a:cs typeface="微软雅黑"/>
              </a:rPr>
              <a:t>织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1117" y="343687"/>
            <a:ext cx="664209" cy="357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39886" y="313207"/>
            <a:ext cx="2723108" cy="443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70</a:t>
            </a:fld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20725" y="1470660"/>
            <a:ext cx="7207250" cy="26295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2555" marR="56515">
              <a:lnSpc>
                <a:spcPts val="3020"/>
              </a:lnSpc>
              <a:spcBef>
                <a:spcPts val="475"/>
              </a:spcBef>
            </a:pPr>
            <a:r>
              <a:rPr sz="2800" dirty="0">
                <a:latin typeface="微软雅黑"/>
                <a:cs typeface="微软雅黑"/>
              </a:rPr>
              <a:t>【例</a:t>
            </a:r>
            <a:r>
              <a:rPr sz="2800" spc="-5" dirty="0">
                <a:latin typeface="微软雅黑"/>
                <a:cs typeface="微软雅黑"/>
              </a:rPr>
              <a:t>6-5</a:t>
            </a:r>
            <a:r>
              <a:rPr sz="2800" dirty="0">
                <a:latin typeface="微软雅黑"/>
                <a:cs typeface="微软雅黑"/>
              </a:rPr>
              <a:t>】现要开发一个应用，模拟移动存</a:t>
            </a:r>
            <a:r>
              <a:rPr sz="2800" spc="-5" dirty="0">
                <a:latin typeface="微软雅黑"/>
                <a:cs typeface="微软雅黑"/>
              </a:rPr>
              <a:t>储 </a:t>
            </a:r>
            <a:r>
              <a:rPr sz="2800" dirty="0">
                <a:latin typeface="微软雅黑"/>
                <a:cs typeface="微软雅黑"/>
              </a:rPr>
              <a:t>设备的读写，即模拟计算机与</a:t>
            </a:r>
            <a:r>
              <a:rPr sz="2800" spc="-5" dirty="0">
                <a:latin typeface="微软雅黑"/>
                <a:cs typeface="微软雅黑"/>
              </a:rPr>
              <a:t>U</a:t>
            </a:r>
            <a:r>
              <a:rPr sz="2800" dirty="0">
                <a:latin typeface="微软雅黑"/>
                <a:cs typeface="微软雅黑"/>
              </a:rPr>
              <a:t>盘、移动硬</a:t>
            </a:r>
            <a:r>
              <a:rPr sz="2800" spc="-5" dirty="0">
                <a:latin typeface="微软雅黑"/>
                <a:cs typeface="微软雅黑"/>
              </a:rPr>
              <a:t>盘</a:t>
            </a:r>
            <a:endParaRPr sz="2800">
              <a:latin typeface="微软雅黑"/>
              <a:cs typeface="微软雅黑"/>
            </a:endParaRPr>
          </a:p>
          <a:p>
            <a:pPr marL="122555">
              <a:lnSpc>
                <a:spcPts val="2975"/>
              </a:lnSpc>
            </a:pPr>
            <a:r>
              <a:rPr sz="2800" dirty="0">
                <a:latin typeface="微软雅黑"/>
                <a:cs typeface="微软雅黑"/>
              </a:rPr>
              <a:t>、</a:t>
            </a:r>
            <a:r>
              <a:rPr sz="2800" spc="-5" dirty="0">
                <a:latin typeface="微软雅黑"/>
                <a:cs typeface="微软雅黑"/>
              </a:rPr>
              <a:t>MP3</a:t>
            </a:r>
            <a:r>
              <a:rPr sz="2800" dirty="0">
                <a:latin typeface="微软雅黑"/>
                <a:cs typeface="微软雅黑"/>
              </a:rPr>
              <a:t>等设备间的数据交换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84150" marR="5080" indent="-171450" algn="just">
              <a:lnSpc>
                <a:spcPts val="2590"/>
              </a:lnSpc>
              <a:spcBef>
                <a:spcPts val="790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微软雅黑"/>
                <a:cs typeface="微软雅黑"/>
              </a:rPr>
              <a:t>现已确定有</a:t>
            </a:r>
            <a:r>
              <a:rPr sz="2400" spc="-5" dirty="0">
                <a:latin typeface="微软雅黑"/>
                <a:cs typeface="微软雅黑"/>
              </a:rPr>
              <a:t>U</a:t>
            </a:r>
            <a:r>
              <a:rPr sz="2400" dirty="0">
                <a:latin typeface="微软雅黑"/>
                <a:cs typeface="微软雅黑"/>
              </a:rPr>
              <a:t>盘、移动硬盘、</a:t>
            </a:r>
            <a:r>
              <a:rPr sz="2400" spc="-5" dirty="0">
                <a:latin typeface="微软雅黑"/>
                <a:cs typeface="微软雅黑"/>
              </a:rPr>
              <a:t>MP3</a:t>
            </a:r>
            <a:r>
              <a:rPr sz="2400" dirty="0">
                <a:latin typeface="微软雅黑"/>
                <a:cs typeface="微软雅黑"/>
              </a:rPr>
              <a:t>播放器三种设备，  但以后可能会有新的移动存储设备出现，所以数据交 换必须有扩展性，保证计算机能与目前未知、而以后 可能会出现的存储设备进行数据交换。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71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26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dirty="0"/>
              <a:t>面向接口的编</a:t>
            </a:r>
            <a:r>
              <a:rPr spc="-5" dirty="0"/>
              <a:t>程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76375"/>
            <a:ext cx="8011159" cy="13779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4150" marR="5080" indent="-17145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184150" algn="l"/>
              </a:tabLst>
            </a:pPr>
            <a:r>
              <a:rPr sz="2400" b="1" dirty="0">
                <a:latin typeface="微软雅黑"/>
                <a:cs typeface="微软雅黑"/>
              </a:rPr>
              <a:t>方案一：</a:t>
            </a:r>
            <a:r>
              <a:rPr sz="2400" dirty="0">
                <a:latin typeface="微软雅黑"/>
                <a:cs typeface="微软雅黑"/>
              </a:rPr>
              <a:t>分别定义</a:t>
            </a:r>
            <a:r>
              <a:rPr sz="2400" spc="-5" dirty="0">
                <a:latin typeface="微软雅黑"/>
                <a:cs typeface="微软雅黑"/>
              </a:rPr>
              <a:t>U</a:t>
            </a:r>
            <a:r>
              <a:rPr sz="2400" dirty="0">
                <a:latin typeface="微软雅黑"/>
                <a:cs typeface="微软雅黑"/>
              </a:rPr>
              <a:t>盘</a:t>
            </a:r>
            <a:r>
              <a:rPr sz="2400" spc="-5" dirty="0">
                <a:latin typeface="微软雅黑"/>
                <a:cs typeface="微软雅黑"/>
              </a:rPr>
              <a:t>FlashDisk</a:t>
            </a:r>
            <a:r>
              <a:rPr sz="2400" dirty="0">
                <a:latin typeface="微软雅黑"/>
                <a:cs typeface="微软雅黑"/>
              </a:rPr>
              <a:t>类、移动硬盘 </a:t>
            </a:r>
            <a:r>
              <a:rPr sz="2400" spc="-10" dirty="0">
                <a:latin typeface="微软雅黑"/>
                <a:cs typeface="微软雅黑"/>
              </a:rPr>
              <a:t>MobileHardDisk</a:t>
            </a:r>
            <a:r>
              <a:rPr sz="2400" dirty="0">
                <a:latin typeface="微软雅黑"/>
                <a:cs typeface="微软雅黑"/>
              </a:rPr>
              <a:t>类、</a:t>
            </a:r>
            <a:r>
              <a:rPr sz="2400" spc="-5" dirty="0">
                <a:latin typeface="微软雅黑"/>
                <a:cs typeface="微软雅黑"/>
              </a:rPr>
              <a:t>MP3</a:t>
            </a:r>
            <a:r>
              <a:rPr sz="2400" dirty="0">
                <a:latin typeface="微软雅黑"/>
                <a:cs typeface="微软雅黑"/>
              </a:rPr>
              <a:t>播放器</a:t>
            </a:r>
            <a:r>
              <a:rPr sz="2400" spc="-5" dirty="0">
                <a:latin typeface="微软雅黑"/>
                <a:cs typeface="微软雅黑"/>
              </a:rPr>
              <a:t>MP3Player</a:t>
            </a:r>
            <a:r>
              <a:rPr sz="2400" dirty="0">
                <a:latin typeface="微软雅黑"/>
                <a:cs typeface="微软雅黑"/>
              </a:rPr>
              <a:t>类，实现各 自的</a:t>
            </a:r>
            <a:r>
              <a:rPr sz="2400" spc="-15" dirty="0">
                <a:latin typeface="微软雅黑"/>
                <a:cs typeface="微软雅黑"/>
              </a:rPr>
              <a:t>read()</a:t>
            </a:r>
            <a:r>
              <a:rPr sz="2400" dirty="0">
                <a:latin typeface="微软雅黑"/>
                <a:cs typeface="微软雅黑"/>
              </a:rPr>
              <a:t>和</a:t>
            </a:r>
            <a:r>
              <a:rPr sz="2400" spc="-10" dirty="0">
                <a:latin typeface="微软雅黑"/>
                <a:cs typeface="微软雅黑"/>
              </a:rPr>
              <a:t>write()</a:t>
            </a:r>
            <a:r>
              <a:rPr sz="2400" dirty="0">
                <a:latin typeface="微软雅黑"/>
                <a:cs typeface="微软雅黑"/>
              </a:rPr>
              <a:t>方法。然后在</a:t>
            </a:r>
            <a:r>
              <a:rPr sz="2400" spc="-5" dirty="0">
                <a:latin typeface="微软雅黑"/>
                <a:cs typeface="微软雅黑"/>
              </a:rPr>
              <a:t>Computer</a:t>
            </a:r>
            <a:r>
              <a:rPr sz="2400" dirty="0">
                <a:latin typeface="微软雅黑"/>
                <a:cs typeface="微软雅黑"/>
              </a:rPr>
              <a:t>类中实例化上 述三个类，为每个类分别定义读、写方法。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6.4.1</a:t>
            </a:r>
            <a:r>
              <a:rPr spc="-95" dirty="0"/>
              <a:t> </a:t>
            </a:r>
            <a:r>
              <a:rPr dirty="0"/>
              <a:t>案例分</a:t>
            </a:r>
            <a:r>
              <a:rPr spc="-5" dirty="0"/>
              <a:t>析	</a:t>
            </a:r>
          </a:p>
        </p:txBody>
      </p:sp>
      <p:sp>
        <p:nvSpPr>
          <p:cNvPr id="22" name="object 22"/>
          <p:cNvSpPr/>
          <p:nvPr/>
        </p:nvSpPr>
        <p:spPr>
          <a:xfrm>
            <a:off x="1333500" y="3140964"/>
            <a:ext cx="6550152" cy="30967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72</a:t>
            </a:fld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47467"/>
            <a:ext cx="7652384" cy="276479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方案一缺</a:t>
            </a:r>
            <a:r>
              <a:rPr sz="2800" spc="-5" dirty="0">
                <a:latin typeface="微软雅黑"/>
                <a:cs typeface="微软雅黑"/>
              </a:rPr>
              <a:t>陷</a:t>
            </a:r>
            <a:endParaRPr sz="2800">
              <a:latin typeface="微软雅黑"/>
              <a:cs typeface="微软雅黑"/>
            </a:endParaRPr>
          </a:p>
          <a:p>
            <a:pPr marL="527050" lvl="1" indent="-171450">
              <a:lnSpc>
                <a:spcPts val="2280"/>
              </a:lnSpc>
              <a:spcBef>
                <a:spcPts val="135"/>
              </a:spcBef>
              <a:buFont typeface="Arial"/>
              <a:buChar char="•"/>
              <a:tabLst>
                <a:tab pos="527050" algn="l"/>
              </a:tabLst>
            </a:pPr>
            <a:r>
              <a:rPr sz="2000" dirty="0">
                <a:latin typeface="微软雅黑"/>
                <a:cs typeface="微软雅黑"/>
              </a:rPr>
              <a:t>可扩展性差，不符合“开闭原则”（为对扩展开放，对修改关</a:t>
            </a:r>
            <a:r>
              <a:rPr sz="2000" spc="5" dirty="0">
                <a:latin typeface="微软雅黑"/>
                <a:cs typeface="微软雅黑"/>
              </a:rPr>
              <a:t>闭</a:t>
            </a:r>
            <a:endParaRPr sz="2000">
              <a:latin typeface="微软雅黑"/>
              <a:cs typeface="微软雅黑"/>
            </a:endParaRPr>
          </a:p>
          <a:p>
            <a:pPr marL="527050">
              <a:lnSpc>
                <a:spcPts val="2280"/>
              </a:lnSpc>
            </a:pPr>
            <a:r>
              <a:rPr sz="2000" dirty="0">
                <a:latin typeface="微软雅黑"/>
                <a:cs typeface="微软雅黑"/>
              </a:rPr>
              <a:t>）</a:t>
            </a:r>
            <a:r>
              <a:rPr sz="2000" spc="5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527050" marR="5080" lvl="1" indent="-171450" algn="just">
              <a:lnSpc>
                <a:spcPts val="216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sz="2000" dirty="0">
                <a:latin typeface="微软雅黑"/>
                <a:cs typeface="微软雅黑"/>
              </a:rPr>
              <a:t>未来有了新的移动存储设备时，必须对</a:t>
            </a:r>
            <a:r>
              <a:rPr sz="2000" spc="-10" dirty="0">
                <a:latin typeface="微软雅黑"/>
                <a:cs typeface="微软雅黑"/>
              </a:rPr>
              <a:t>Computer</a:t>
            </a:r>
            <a:r>
              <a:rPr sz="2000" dirty="0">
                <a:latin typeface="微软雅黑"/>
                <a:cs typeface="微软雅黑"/>
              </a:rPr>
              <a:t>的源代码进</a:t>
            </a:r>
            <a:r>
              <a:rPr sz="2000" spc="5" dirty="0">
                <a:latin typeface="微软雅黑"/>
                <a:cs typeface="微软雅黑"/>
              </a:rPr>
              <a:t>行 </a:t>
            </a:r>
            <a:r>
              <a:rPr sz="2000" dirty="0">
                <a:latin typeface="微软雅黑"/>
                <a:cs typeface="微软雅黑"/>
              </a:rPr>
              <a:t>修改。这就如在一个真实的计算机上，为每一种移动存储设备实 现一个不同的插口、并分别有各自的驱动程序。当有了一种新的 移动存储设备后，我们就要将计算机大卸八块，然后增加一个新 的插口，再编写一套针对此新设备的驱动程序。这种设计显然不 可取</a:t>
            </a:r>
            <a:r>
              <a:rPr sz="2000" spc="5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73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6.4.1</a:t>
            </a:r>
            <a:r>
              <a:rPr spc="-95" dirty="0"/>
              <a:t> </a:t>
            </a:r>
            <a:r>
              <a:rPr dirty="0"/>
              <a:t>案例分</a:t>
            </a:r>
            <a:r>
              <a:rPr spc="-5" dirty="0"/>
              <a:t>析	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5600" y="1481454"/>
            <a:ext cx="770255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方案二：</a:t>
            </a:r>
            <a:endParaRPr sz="2100">
              <a:latin typeface="微软雅黑"/>
              <a:cs typeface="微软雅黑"/>
            </a:endParaRPr>
          </a:p>
          <a:p>
            <a:pPr marL="527050" marR="157480" lvl="1" indent="-171450">
              <a:lnSpc>
                <a:spcPts val="2590"/>
              </a:lnSpc>
              <a:spcBef>
                <a:spcPts val="33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采取满足开闭原则的设计方案，把Computer的行为 read()和write()组织为一个中间的抽象层 IMobileStorage，描述Computer对移动设备的读写。 如前节的分析，系统中的行为模型应该总是通过接口 定义，所以抽象层IMobileStorage用接口实现。三个 存储设备分别实现该接口。</a:t>
            </a:r>
            <a:endParaRPr sz="2400">
              <a:latin typeface="宋体"/>
              <a:cs typeface="宋体"/>
            </a:endParaRPr>
          </a:p>
          <a:p>
            <a:pPr marL="527050" lvl="1" indent="-171450">
              <a:lnSpc>
                <a:spcPts val="2735"/>
              </a:lnSpc>
              <a:spcBef>
                <a:spcPts val="5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宋体"/>
                <a:cs typeface="宋体"/>
              </a:rPr>
              <a:t>Computer类引入一个IMobileStorage类型的成员变量</a:t>
            </a:r>
            <a:endParaRPr sz="2400">
              <a:latin typeface="宋体"/>
              <a:cs typeface="宋体"/>
            </a:endParaRPr>
          </a:p>
          <a:p>
            <a:pPr marL="527050" marR="5080">
              <a:lnSpc>
                <a:spcPts val="2590"/>
              </a:lnSpc>
              <a:spcBef>
                <a:spcPts val="180"/>
              </a:spcBef>
            </a:pPr>
            <a:r>
              <a:rPr sz="2400" dirty="0">
                <a:latin typeface="宋体"/>
                <a:cs typeface="宋体"/>
              </a:rPr>
              <a:t>，并为其提供set方法，Computer中的readData()和 writeData()方法通过该成员调用IMobileStorage实现 类（三种存储设备）对象的读写方法。Computer类利 用接口IMobileStorage实现了多态。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74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6.4.1</a:t>
            </a:r>
            <a:r>
              <a:rPr spc="-95" dirty="0"/>
              <a:t> </a:t>
            </a:r>
            <a:r>
              <a:rPr dirty="0"/>
              <a:t>案例分</a:t>
            </a:r>
            <a:r>
              <a:rPr spc="-5" dirty="0"/>
              <a:t>析	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1019" y="863155"/>
            <a:ext cx="741045" cy="0"/>
          </a:xfrm>
          <a:custGeom>
            <a:avLst/>
            <a:gdLst/>
            <a:ahLst/>
            <a:cxnLst/>
            <a:rect l="l" t="t" r="r" b="b"/>
            <a:pathLst>
              <a:path w="741045">
                <a:moveTo>
                  <a:pt x="0" y="0"/>
                </a:moveTo>
                <a:lnTo>
                  <a:pt x="740511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2570" y="863155"/>
            <a:ext cx="3023870" cy="0"/>
          </a:xfrm>
          <a:custGeom>
            <a:avLst/>
            <a:gdLst/>
            <a:ahLst/>
            <a:cxnLst/>
            <a:rect l="l" t="t" r="r" b="b"/>
            <a:pathLst>
              <a:path w="3023870">
                <a:moveTo>
                  <a:pt x="0" y="0"/>
                </a:moveTo>
                <a:lnTo>
                  <a:pt x="3023857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283652" y="188137"/>
            <a:ext cx="292989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/>
              <a:t>6.4.1</a:t>
            </a:r>
            <a:r>
              <a:rPr u="none" spc="-85" dirty="0"/>
              <a:t> </a:t>
            </a:r>
            <a:r>
              <a:rPr u="none" dirty="0"/>
              <a:t>案例</a:t>
            </a:r>
            <a:r>
              <a:rPr u="none" spc="-5" dirty="0"/>
              <a:t>分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201477" y="171357"/>
            <a:ext cx="507365" cy="6699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r>
              <a:rPr sz="4000" b="1" spc="-5" dirty="0">
                <a:latin typeface="微软雅黑"/>
                <a:cs typeface="微软雅黑"/>
              </a:rPr>
              <a:t>析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7883" y="2385060"/>
            <a:ext cx="2057064" cy="28102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24755" y="1775744"/>
            <a:ext cx="1944624" cy="132882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30496" y="2987039"/>
            <a:ext cx="2217420" cy="15361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19700" y="4647693"/>
            <a:ext cx="2326459" cy="10855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85084" y="1461249"/>
            <a:ext cx="1402080" cy="1047750"/>
          </a:xfrm>
          <a:custGeom>
            <a:avLst/>
            <a:gdLst/>
            <a:ahLst/>
            <a:cxnLst/>
            <a:rect l="l" t="t" r="r" b="b"/>
            <a:pathLst>
              <a:path w="1402079" h="1047750">
                <a:moveTo>
                  <a:pt x="1298565" y="52839"/>
                </a:moveTo>
                <a:lnTo>
                  <a:pt x="1275854" y="22250"/>
                </a:lnTo>
                <a:lnTo>
                  <a:pt x="1401686" y="0"/>
                </a:lnTo>
                <a:lnTo>
                  <a:pt x="1383570" y="35801"/>
                </a:lnTo>
                <a:lnTo>
                  <a:pt x="1321511" y="35801"/>
                </a:lnTo>
                <a:lnTo>
                  <a:pt x="1298565" y="52839"/>
                </a:lnTo>
                <a:close/>
              </a:path>
              <a:path w="1402079" h="1047750">
                <a:moveTo>
                  <a:pt x="1321278" y="83430"/>
                </a:moveTo>
                <a:lnTo>
                  <a:pt x="1298565" y="52839"/>
                </a:lnTo>
                <a:lnTo>
                  <a:pt x="1321511" y="35801"/>
                </a:lnTo>
                <a:lnTo>
                  <a:pt x="1344218" y="66395"/>
                </a:lnTo>
                <a:lnTo>
                  <a:pt x="1321278" y="83430"/>
                </a:lnTo>
                <a:close/>
              </a:path>
              <a:path w="1402079" h="1047750">
                <a:moveTo>
                  <a:pt x="1343990" y="114020"/>
                </a:moveTo>
                <a:lnTo>
                  <a:pt x="1321278" y="83430"/>
                </a:lnTo>
                <a:lnTo>
                  <a:pt x="1344218" y="66395"/>
                </a:lnTo>
                <a:lnTo>
                  <a:pt x="1321511" y="35801"/>
                </a:lnTo>
                <a:lnTo>
                  <a:pt x="1383570" y="35801"/>
                </a:lnTo>
                <a:lnTo>
                  <a:pt x="1343990" y="114020"/>
                </a:lnTo>
                <a:close/>
              </a:path>
              <a:path w="1402079" h="1047750">
                <a:moveTo>
                  <a:pt x="22707" y="1047686"/>
                </a:moveTo>
                <a:lnTo>
                  <a:pt x="0" y="1017104"/>
                </a:lnTo>
                <a:lnTo>
                  <a:pt x="1298565" y="52839"/>
                </a:lnTo>
                <a:lnTo>
                  <a:pt x="1321278" y="83430"/>
                </a:lnTo>
                <a:lnTo>
                  <a:pt x="22707" y="1047686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9000" y="4872228"/>
            <a:ext cx="1679448" cy="94487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24567" y="4868252"/>
            <a:ext cx="1688464" cy="952500"/>
          </a:xfrm>
          <a:custGeom>
            <a:avLst/>
            <a:gdLst/>
            <a:ahLst/>
            <a:cxnLst/>
            <a:rect l="l" t="t" r="r" b="b"/>
            <a:pathLst>
              <a:path w="1688464" h="952500">
                <a:moveTo>
                  <a:pt x="1688439" y="952233"/>
                </a:moveTo>
                <a:lnTo>
                  <a:pt x="0" y="952233"/>
                </a:lnTo>
                <a:lnTo>
                  <a:pt x="0" y="0"/>
                </a:lnTo>
                <a:lnTo>
                  <a:pt x="1688439" y="0"/>
                </a:lnTo>
                <a:lnTo>
                  <a:pt x="1688439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944613"/>
                </a:lnTo>
                <a:lnTo>
                  <a:pt x="3810" y="944613"/>
                </a:lnTo>
                <a:lnTo>
                  <a:pt x="7619" y="948423"/>
                </a:lnTo>
                <a:lnTo>
                  <a:pt x="1688439" y="948423"/>
                </a:lnTo>
                <a:lnTo>
                  <a:pt x="1688439" y="952233"/>
                </a:lnTo>
                <a:close/>
              </a:path>
              <a:path w="1688464" h="95250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688464" h="952500">
                <a:moveTo>
                  <a:pt x="1680819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680819" y="3810"/>
                </a:lnTo>
                <a:lnTo>
                  <a:pt x="1680819" y="7620"/>
                </a:lnTo>
                <a:close/>
              </a:path>
              <a:path w="1688464" h="952500">
                <a:moveTo>
                  <a:pt x="1680819" y="948423"/>
                </a:moveTo>
                <a:lnTo>
                  <a:pt x="1680819" y="3810"/>
                </a:lnTo>
                <a:lnTo>
                  <a:pt x="1684629" y="7620"/>
                </a:lnTo>
                <a:lnTo>
                  <a:pt x="1688439" y="7620"/>
                </a:lnTo>
                <a:lnTo>
                  <a:pt x="1688439" y="944613"/>
                </a:lnTo>
                <a:lnTo>
                  <a:pt x="1684629" y="944613"/>
                </a:lnTo>
                <a:lnTo>
                  <a:pt x="1680819" y="948423"/>
                </a:lnTo>
                <a:close/>
              </a:path>
              <a:path w="1688464" h="952500">
                <a:moveTo>
                  <a:pt x="1688439" y="7620"/>
                </a:moveTo>
                <a:lnTo>
                  <a:pt x="1684629" y="7620"/>
                </a:lnTo>
                <a:lnTo>
                  <a:pt x="1680819" y="3810"/>
                </a:lnTo>
                <a:lnTo>
                  <a:pt x="1688439" y="3810"/>
                </a:lnTo>
                <a:lnTo>
                  <a:pt x="1688439" y="7620"/>
                </a:lnTo>
                <a:close/>
              </a:path>
              <a:path w="1688464" h="952500">
                <a:moveTo>
                  <a:pt x="7619" y="948423"/>
                </a:moveTo>
                <a:lnTo>
                  <a:pt x="3810" y="944613"/>
                </a:lnTo>
                <a:lnTo>
                  <a:pt x="7619" y="944613"/>
                </a:lnTo>
                <a:lnTo>
                  <a:pt x="7619" y="948423"/>
                </a:lnTo>
                <a:close/>
              </a:path>
              <a:path w="1688464" h="952500">
                <a:moveTo>
                  <a:pt x="1680819" y="948423"/>
                </a:moveTo>
                <a:lnTo>
                  <a:pt x="7619" y="948423"/>
                </a:lnTo>
                <a:lnTo>
                  <a:pt x="7619" y="944613"/>
                </a:lnTo>
                <a:lnTo>
                  <a:pt x="1680819" y="944613"/>
                </a:lnTo>
                <a:lnTo>
                  <a:pt x="1680819" y="948423"/>
                </a:lnTo>
                <a:close/>
              </a:path>
              <a:path w="1688464" h="952500">
                <a:moveTo>
                  <a:pt x="1688439" y="948423"/>
                </a:moveTo>
                <a:lnTo>
                  <a:pt x="1680819" y="948423"/>
                </a:lnTo>
                <a:lnTo>
                  <a:pt x="1684629" y="944613"/>
                </a:lnTo>
                <a:lnTo>
                  <a:pt x="1688439" y="944613"/>
                </a:lnTo>
                <a:lnTo>
                  <a:pt x="1688439" y="948423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429000" y="5157177"/>
            <a:ext cx="16795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华文新魏"/>
                <a:cs typeface="华文新魏"/>
              </a:rPr>
              <a:t>未知设备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0263" y="2219909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Computer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86428" y="262127"/>
            <a:ext cx="3975100" cy="1199515"/>
          </a:xfrm>
          <a:custGeom>
            <a:avLst/>
            <a:gdLst/>
            <a:ahLst/>
            <a:cxnLst/>
            <a:rect l="l" t="t" r="r" b="b"/>
            <a:pathLst>
              <a:path w="3975100" h="1199515">
                <a:moveTo>
                  <a:pt x="0" y="0"/>
                </a:moveTo>
                <a:lnTo>
                  <a:pt x="3974591" y="0"/>
                </a:lnTo>
                <a:lnTo>
                  <a:pt x="3974591" y="1199388"/>
                </a:lnTo>
                <a:lnTo>
                  <a:pt x="0" y="11993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80420" y="256425"/>
            <a:ext cx="3987165" cy="1211580"/>
          </a:xfrm>
          <a:custGeom>
            <a:avLst/>
            <a:gdLst/>
            <a:ahLst/>
            <a:cxnLst/>
            <a:rect l="l" t="t" r="r" b="b"/>
            <a:pathLst>
              <a:path w="3987165" h="1211580">
                <a:moveTo>
                  <a:pt x="3986822" y="1211173"/>
                </a:moveTo>
                <a:lnTo>
                  <a:pt x="0" y="1211173"/>
                </a:lnTo>
                <a:lnTo>
                  <a:pt x="0" y="0"/>
                </a:lnTo>
                <a:lnTo>
                  <a:pt x="3986822" y="0"/>
                </a:lnTo>
                <a:lnTo>
                  <a:pt x="3986822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198473"/>
                </a:lnTo>
                <a:lnTo>
                  <a:pt x="6350" y="1198473"/>
                </a:lnTo>
                <a:lnTo>
                  <a:pt x="12700" y="1204823"/>
                </a:lnTo>
                <a:lnTo>
                  <a:pt x="3986822" y="1204823"/>
                </a:lnTo>
                <a:lnTo>
                  <a:pt x="3986822" y="1211173"/>
                </a:lnTo>
                <a:close/>
              </a:path>
              <a:path w="3987165" h="121158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3987165" h="1211580">
                <a:moveTo>
                  <a:pt x="3974122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3974122" y="6349"/>
                </a:lnTo>
                <a:lnTo>
                  <a:pt x="3974122" y="12699"/>
                </a:lnTo>
                <a:close/>
              </a:path>
              <a:path w="3987165" h="1211580">
                <a:moveTo>
                  <a:pt x="3974122" y="1204823"/>
                </a:moveTo>
                <a:lnTo>
                  <a:pt x="3974122" y="6349"/>
                </a:lnTo>
                <a:lnTo>
                  <a:pt x="3980472" y="12699"/>
                </a:lnTo>
                <a:lnTo>
                  <a:pt x="3986822" y="12699"/>
                </a:lnTo>
                <a:lnTo>
                  <a:pt x="3986822" y="1198473"/>
                </a:lnTo>
                <a:lnTo>
                  <a:pt x="3980472" y="1198473"/>
                </a:lnTo>
                <a:lnTo>
                  <a:pt x="3974122" y="1204823"/>
                </a:lnTo>
                <a:close/>
              </a:path>
              <a:path w="3987165" h="1211580">
                <a:moveTo>
                  <a:pt x="3986822" y="12699"/>
                </a:moveTo>
                <a:lnTo>
                  <a:pt x="3980472" y="12699"/>
                </a:lnTo>
                <a:lnTo>
                  <a:pt x="3974122" y="6349"/>
                </a:lnTo>
                <a:lnTo>
                  <a:pt x="3986822" y="6349"/>
                </a:lnTo>
                <a:lnTo>
                  <a:pt x="3986822" y="12699"/>
                </a:lnTo>
                <a:close/>
              </a:path>
              <a:path w="3987165" h="1211580">
                <a:moveTo>
                  <a:pt x="12700" y="1204823"/>
                </a:moveTo>
                <a:lnTo>
                  <a:pt x="6350" y="1198473"/>
                </a:lnTo>
                <a:lnTo>
                  <a:pt x="12700" y="1198473"/>
                </a:lnTo>
                <a:lnTo>
                  <a:pt x="12700" y="1204823"/>
                </a:lnTo>
                <a:close/>
              </a:path>
              <a:path w="3987165" h="1211580">
                <a:moveTo>
                  <a:pt x="3974122" y="1204823"/>
                </a:moveTo>
                <a:lnTo>
                  <a:pt x="12700" y="1204823"/>
                </a:lnTo>
                <a:lnTo>
                  <a:pt x="12700" y="1198473"/>
                </a:lnTo>
                <a:lnTo>
                  <a:pt x="3974122" y="1198473"/>
                </a:lnTo>
                <a:lnTo>
                  <a:pt x="3974122" y="1204823"/>
                </a:lnTo>
                <a:close/>
              </a:path>
              <a:path w="3987165" h="1211580">
                <a:moveTo>
                  <a:pt x="3986822" y="1204823"/>
                </a:moveTo>
                <a:lnTo>
                  <a:pt x="3974122" y="1204823"/>
                </a:lnTo>
                <a:lnTo>
                  <a:pt x="3980472" y="1198473"/>
                </a:lnTo>
                <a:lnTo>
                  <a:pt x="3986822" y="1198473"/>
                </a:lnTo>
                <a:lnTo>
                  <a:pt x="3986822" y="12048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899875" y="654570"/>
            <a:ext cx="2548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接口</a:t>
            </a:r>
            <a:r>
              <a:rPr sz="2400" spc="-5" dirty="0">
                <a:latin typeface="Times New Roman"/>
                <a:cs typeface="Times New Roman"/>
              </a:rPr>
              <a:t>IMobileStorage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70003" y="1461249"/>
            <a:ext cx="101600" cy="455930"/>
          </a:xfrm>
          <a:custGeom>
            <a:avLst/>
            <a:gdLst/>
            <a:ahLst/>
            <a:cxnLst/>
            <a:rect l="l" t="t" r="r" b="b"/>
            <a:pathLst>
              <a:path w="101600" h="455930">
                <a:moveTo>
                  <a:pt x="6959" y="95110"/>
                </a:moveTo>
                <a:lnTo>
                  <a:pt x="0" y="89433"/>
                </a:lnTo>
                <a:lnTo>
                  <a:pt x="114" y="87452"/>
                </a:lnTo>
                <a:lnTo>
                  <a:pt x="838" y="85598"/>
                </a:lnTo>
                <a:lnTo>
                  <a:pt x="50774" y="0"/>
                </a:lnTo>
                <a:lnTo>
                  <a:pt x="58122" y="12598"/>
                </a:lnTo>
                <a:lnTo>
                  <a:pt x="44424" y="12598"/>
                </a:lnTo>
                <a:lnTo>
                  <a:pt x="44411" y="36089"/>
                </a:lnTo>
                <a:lnTo>
                  <a:pt x="11798" y="91998"/>
                </a:lnTo>
                <a:lnTo>
                  <a:pt x="10540" y="93535"/>
                </a:lnTo>
                <a:lnTo>
                  <a:pt x="8877" y="94615"/>
                </a:lnTo>
                <a:lnTo>
                  <a:pt x="6959" y="95110"/>
                </a:lnTo>
                <a:close/>
              </a:path>
              <a:path w="101600" h="455930">
                <a:moveTo>
                  <a:pt x="44424" y="36068"/>
                </a:moveTo>
                <a:lnTo>
                  <a:pt x="44424" y="12598"/>
                </a:lnTo>
                <a:lnTo>
                  <a:pt x="57124" y="12598"/>
                </a:lnTo>
                <a:lnTo>
                  <a:pt x="57124" y="15798"/>
                </a:lnTo>
                <a:lnTo>
                  <a:pt x="45288" y="15798"/>
                </a:lnTo>
                <a:lnTo>
                  <a:pt x="50768" y="25193"/>
                </a:lnTo>
                <a:lnTo>
                  <a:pt x="44424" y="36068"/>
                </a:lnTo>
                <a:close/>
              </a:path>
              <a:path w="101600" h="455930">
                <a:moveTo>
                  <a:pt x="94589" y="95110"/>
                </a:moveTo>
                <a:lnTo>
                  <a:pt x="92659" y="94615"/>
                </a:lnTo>
                <a:lnTo>
                  <a:pt x="90995" y="93535"/>
                </a:lnTo>
                <a:lnTo>
                  <a:pt x="89738" y="91998"/>
                </a:lnTo>
                <a:lnTo>
                  <a:pt x="57124" y="36089"/>
                </a:lnTo>
                <a:lnTo>
                  <a:pt x="57124" y="12598"/>
                </a:lnTo>
                <a:lnTo>
                  <a:pt x="58122" y="12598"/>
                </a:lnTo>
                <a:lnTo>
                  <a:pt x="100698" y="85598"/>
                </a:lnTo>
                <a:lnTo>
                  <a:pt x="101422" y="87452"/>
                </a:lnTo>
                <a:lnTo>
                  <a:pt x="101536" y="89433"/>
                </a:lnTo>
                <a:lnTo>
                  <a:pt x="101028" y="91351"/>
                </a:lnTo>
                <a:lnTo>
                  <a:pt x="99961" y="93027"/>
                </a:lnTo>
                <a:lnTo>
                  <a:pt x="98412" y="94284"/>
                </a:lnTo>
                <a:lnTo>
                  <a:pt x="96570" y="95008"/>
                </a:lnTo>
                <a:lnTo>
                  <a:pt x="94589" y="95110"/>
                </a:lnTo>
                <a:close/>
              </a:path>
              <a:path w="101600" h="455930">
                <a:moveTo>
                  <a:pt x="50768" y="25193"/>
                </a:moveTo>
                <a:lnTo>
                  <a:pt x="45288" y="15798"/>
                </a:lnTo>
                <a:lnTo>
                  <a:pt x="56248" y="15798"/>
                </a:lnTo>
                <a:lnTo>
                  <a:pt x="50768" y="25193"/>
                </a:lnTo>
                <a:close/>
              </a:path>
              <a:path w="101600" h="455930">
                <a:moveTo>
                  <a:pt x="57124" y="36089"/>
                </a:moveTo>
                <a:lnTo>
                  <a:pt x="50768" y="25193"/>
                </a:lnTo>
                <a:lnTo>
                  <a:pt x="56248" y="15798"/>
                </a:lnTo>
                <a:lnTo>
                  <a:pt x="57124" y="15798"/>
                </a:lnTo>
                <a:lnTo>
                  <a:pt x="57124" y="36089"/>
                </a:lnTo>
                <a:close/>
              </a:path>
              <a:path w="101600" h="455930">
                <a:moveTo>
                  <a:pt x="57124" y="74587"/>
                </a:moveTo>
                <a:lnTo>
                  <a:pt x="44424" y="74587"/>
                </a:lnTo>
                <a:lnTo>
                  <a:pt x="44424" y="36068"/>
                </a:lnTo>
                <a:lnTo>
                  <a:pt x="50768" y="25193"/>
                </a:lnTo>
                <a:lnTo>
                  <a:pt x="57111" y="36068"/>
                </a:lnTo>
                <a:lnTo>
                  <a:pt x="57124" y="74587"/>
                </a:lnTo>
                <a:close/>
              </a:path>
              <a:path w="101600" h="455930">
                <a:moveTo>
                  <a:pt x="57124" y="455587"/>
                </a:moveTo>
                <a:lnTo>
                  <a:pt x="44424" y="455587"/>
                </a:lnTo>
                <a:lnTo>
                  <a:pt x="44424" y="353987"/>
                </a:lnTo>
                <a:lnTo>
                  <a:pt x="57124" y="353987"/>
                </a:lnTo>
                <a:lnTo>
                  <a:pt x="57124" y="455587"/>
                </a:lnTo>
                <a:close/>
              </a:path>
              <a:path w="101600" h="455930">
                <a:moveTo>
                  <a:pt x="57124" y="315887"/>
                </a:moveTo>
                <a:lnTo>
                  <a:pt x="44424" y="315887"/>
                </a:lnTo>
                <a:lnTo>
                  <a:pt x="44424" y="303187"/>
                </a:lnTo>
                <a:lnTo>
                  <a:pt x="57124" y="303187"/>
                </a:lnTo>
                <a:lnTo>
                  <a:pt x="57124" y="315887"/>
                </a:lnTo>
                <a:close/>
              </a:path>
              <a:path w="101600" h="455930">
                <a:moveTo>
                  <a:pt x="57124" y="265087"/>
                </a:moveTo>
                <a:lnTo>
                  <a:pt x="44424" y="265087"/>
                </a:lnTo>
                <a:lnTo>
                  <a:pt x="44424" y="163487"/>
                </a:lnTo>
                <a:lnTo>
                  <a:pt x="57124" y="163487"/>
                </a:lnTo>
                <a:lnTo>
                  <a:pt x="57124" y="265087"/>
                </a:lnTo>
                <a:close/>
              </a:path>
              <a:path w="101600" h="455930">
                <a:moveTo>
                  <a:pt x="57124" y="125387"/>
                </a:moveTo>
                <a:lnTo>
                  <a:pt x="44424" y="125387"/>
                </a:lnTo>
                <a:lnTo>
                  <a:pt x="44424" y="112687"/>
                </a:lnTo>
                <a:lnTo>
                  <a:pt x="57124" y="112687"/>
                </a:lnTo>
                <a:lnTo>
                  <a:pt x="57124" y="125387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18071" y="1461249"/>
            <a:ext cx="101600" cy="2065020"/>
          </a:xfrm>
          <a:custGeom>
            <a:avLst/>
            <a:gdLst/>
            <a:ahLst/>
            <a:cxnLst/>
            <a:rect l="l" t="t" r="r" b="b"/>
            <a:pathLst>
              <a:path w="101600" h="2065020">
                <a:moveTo>
                  <a:pt x="6959" y="95110"/>
                </a:moveTo>
                <a:lnTo>
                  <a:pt x="0" y="89433"/>
                </a:lnTo>
                <a:lnTo>
                  <a:pt x="114" y="87452"/>
                </a:lnTo>
                <a:lnTo>
                  <a:pt x="838" y="85598"/>
                </a:lnTo>
                <a:lnTo>
                  <a:pt x="50774" y="0"/>
                </a:lnTo>
                <a:lnTo>
                  <a:pt x="58124" y="12598"/>
                </a:lnTo>
                <a:lnTo>
                  <a:pt x="44424" y="12598"/>
                </a:lnTo>
                <a:lnTo>
                  <a:pt x="44424" y="20104"/>
                </a:lnTo>
                <a:lnTo>
                  <a:pt x="47799" y="20104"/>
                </a:lnTo>
                <a:lnTo>
                  <a:pt x="50774" y="25204"/>
                </a:lnTo>
                <a:lnTo>
                  <a:pt x="11811" y="91998"/>
                </a:lnTo>
                <a:lnTo>
                  <a:pt x="10553" y="93535"/>
                </a:lnTo>
                <a:lnTo>
                  <a:pt x="8877" y="94615"/>
                </a:lnTo>
                <a:lnTo>
                  <a:pt x="6959" y="95110"/>
                </a:lnTo>
                <a:close/>
              </a:path>
              <a:path w="101600" h="2065020">
                <a:moveTo>
                  <a:pt x="47799" y="20104"/>
                </a:moveTo>
                <a:lnTo>
                  <a:pt x="44424" y="20104"/>
                </a:lnTo>
                <a:lnTo>
                  <a:pt x="44424" y="12598"/>
                </a:lnTo>
                <a:lnTo>
                  <a:pt x="57124" y="12598"/>
                </a:lnTo>
                <a:lnTo>
                  <a:pt x="57124" y="15798"/>
                </a:lnTo>
                <a:lnTo>
                  <a:pt x="45288" y="15798"/>
                </a:lnTo>
                <a:lnTo>
                  <a:pt x="47799" y="20104"/>
                </a:lnTo>
                <a:close/>
              </a:path>
              <a:path w="101600" h="2065020">
                <a:moveTo>
                  <a:pt x="62502" y="20104"/>
                </a:moveTo>
                <a:lnTo>
                  <a:pt x="57124" y="20104"/>
                </a:lnTo>
                <a:lnTo>
                  <a:pt x="57124" y="12598"/>
                </a:lnTo>
                <a:lnTo>
                  <a:pt x="58124" y="12598"/>
                </a:lnTo>
                <a:lnTo>
                  <a:pt x="62502" y="20104"/>
                </a:lnTo>
                <a:close/>
              </a:path>
              <a:path w="101600" h="2065020">
                <a:moveTo>
                  <a:pt x="50774" y="25204"/>
                </a:moveTo>
                <a:lnTo>
                  <a:pt x="45288" y="15798"/>
                </a:lnTo>
                <a:lnTo>
                  <a:pt x="56261" y="15798"/>
                </a:lnTo>
                <a:lnTo>
                  <a:pt x="50774" y="25204"/>
                </a:lnTo>
                <a:close/>
              </a:path>
              <a:path w="101600" h="2065020">
                <a:moveTo>
                  <a:pt x="94589" y="95110"/>
                </a:moveTo>
                <a:lnTo>
                  <a:pt x="92671" y="94615"/>
                </a:lnTo>
                <a:lnTo>
                  <a:pt x="90995" y="93535"/>
                </a:lnTo>
                <a:lnTo>
                  <a:pt x="89738" y="91998"/>
                </a:lnTo>
                <a:lnTo>
                  <a:pt x="50774" y="25204"/>
                </a:lnTo>
                <a:lnTo>
                  <a:pt x="56261" y="15798"/>
                </a:lnTo>
                <a:lnTo>
                  <a:pt x="57124" y="15798"/>
                </a:lnTo>
                <a:lnTo>
                  <a:pt x="57124" y="20104"/>
                </a:lnTo>
                <a:lnTo>
                  <a:pt x="62502" y="20104"/>
                </a:lnTo>
                <a:lnTo>
                  <a:pt x="100710" y="85598"/>
                </a:lnTo>
                <a:lnTo>
                  <a:pt x="101422" y="87452"/>
                </a:lnTo>
                <a:lnTo>
                  <a:pt x="101536" y="89433"/>
                </a:lnTo>
                <a:lnTo>
                  <a:pt x="101041" y="91351"/>
                </a:lnTo>
                <a:lnTo>
                  <a:pt x="99961" y="93027"/>
                </a:lnTo>
                <a:lnTo>
                  <a:pt x="98425" y="94284"/>
                </a:lnTo>
                <a:lnTo>
                  <a:pt x="96570" y="94996"/>
                </a:lnTo>
                <a:lnTo>
                  <a:pt x="94589" y="95110"/>
                </a:lnTo>
                <a:close/>
              </a:path>
              <a:path w="101600" h="2065020">
                <a:moveTo>
                  <a:pt x="57124" y="159804"/>
                </a:moveTo>
                <a:lnTo>
                  <a:pt x="44424" y="159804"/>
                </a:lnTo>
                <a:lnTo>
                  <a:pt x="44424" y="58204"/>
                </a:lnTo>
                <a:lnTo>
                  <a:pt x="57124" y="58204"/>
                </a:lnTo>
                <a:lnTo>
                  <a:pt x="57124" y="159804"/>
                </a:lnTo>
                <a:close/>
              </a:path>
              <a:path w="101600" h="2065020">
                <a:moveTo>
                  <a:pt x="57124" y="2064804"/>
                </a:moveTo>
                <a:lnTo>
                  <a:pt x="44424" y="2064804"/>
                </a:lnTo>
                <a:lnTo>
                  <a:pt x="44424" y="1963204"/>
                </a:lnTo>
                <a:lnTo>
                  <a:pt x="57124" y="1963204"/>
                </a:lnTo>
                <a:lnTo>
                  <a:pt x="57124" y="2064804"/>
                </a:lnTo>
                <a:close/>
              </a:path>
              <a:path w="101600" h="2065020">
                <a:moveTo>
                  <a:pt x="57124" y="1925104"/>
                </a:moveTo>
                <a:lnTo>
                  <a:pt x="44424" y="1925104"/>
                </a:lnTo>
                <a:lnTo>
                  <a:pt x="44424" y="1912404"/>
                </a:lnTo>
                <a:lnTo>
                  <a:pt x="57124" y="1912404"/>
                </a:lnTo>
                <a:lnTo>
                  <a:pt x="57124" y="1925104"/>
                </a:lnTo>
                <a:close/>
              </a:path>
              <a:path w="101600" h="2065020">
                <a:moveTo>
                  <a:pt x="57124" y="1874304"/>
                </a:moveTo>
                <a:lnTo>
                  <a:pt x="44424" y="1874304"/>
                </a:lnTo>
                <a:lnTo>
                  <a:pt x="44424" y="1772704"/>
                </a:lnTo>
                <a:lnTo>
                  <a:pt x="57124" y="1772704"/>
                </a:lnTo>
                <a:lnTo>
                  <a:pt x="57124" y="1874304"/>
                </a:lnTo>
                <a:close/>
              </a:path>
              <a:path w="101600" h="2065020">
                <a:moveTo>
                  <a:pt x="57124" y="1734604"/>
                </a:moveTo>
                <a:lnTo>
                  <a:pt x="44424" y="1734604"/>
                </a:lnTo>
                <a:lnTo>
                  <a:pt x="44424" y="1721904"/>
                </a:lnTo>
                <a:lnTo>
                  <a:pt x="57124" y="1721904"/>
                </a:lnTo>
                <a:lnTo>
                  <a:pt x="57124" y="1734604"/>
                </a:lnTo>
                <a:close/>
              </a:path>
              <a:path w="101600" h="2065020">
                <a:moveTo>
                  <a:pt x="57124" y="1683804"/>
                </a:moveTo>
                <a:lnTo>
                  <a:pt x="44424" y="1683804"/>
                </a:lnTo>
                <a:lnTo>
                  <a:pt x="44424" y="1582204"/>
                </a:lnTo>
                <a:lnTo>
                  <a:pt x="57124" y="1582204"/>
                </a:lnTo>
                <a:lnTo>
                  <a:pt x="57124" y="1683804"/>
                </a:lnTo>
                <a:close/>
              </a:path>
              <a:path w="101600" h="2065020">
                <a:moveTo>
                  <a:pt x="57124" y="1544104"/>
                </a:moveTo>
                <a:lnTo>
                  <a:pt x="44424" y="1544104"/>
                </a:lnTo>
                <a:lnTo>
                  <a:pt x="44424" y="1531404"/>
                </a:lnTo>
                <a:lnTo>
                  <a:pt x="57124" y="1531404"/>
                </a:lnTo>
                <a:lnTo>
                  <a:pt x="57124" y="1544104"/>
                </a:lnTo>
                <a:close/>
              </a:path>
              <a:path w="101600" h="2065020">
                <a:moveTo>
                  <a:pt x="57124" y="1493304"/>
                </a:moveTo>
                <a:lnTo>
                  <a:pt x="44424" y="1493304"/>
                </a:lnTo>
                <a:lnTo>
                  <a:pt x="44424" y="1391704"/>
                </a:lnTo>
                <a:lnTo>
                  <a:pt x="57124" y="1391704"/>
                </a:lnTo>
                <a:lnTo>
                  <a:pt x="57124" y="1493304"/>
                </a:lnTo>
                <a:close/>
              </a:path>
              <a:path w="101600" h="2065020">
                <a:moveTo>
                  <a:pt x="57124" y="1353604"/>
                </a:moveTo>
                <a:lnTo>
                  <a:pt x="44424" y="1353604"/>
                </a:lnTo>
                <a:lnTo>
                  <a:pt x="44424" y="1340904"/>
                </a:lnTo>
                <a:lnTo>
                  <a:pt x="57124" y="1340904"/>
                </a:lnTo>
                <a:lnTo>
                  <a:pt x="57124" y="1353604"/>
                </a:lnTo>
                <a:close/>
              </a:path>
              <a:path w="101600" h="2065020">
                <a:moveTo>
                  <a:pt x="57124" y="1302804"/>
                </a:moveTo>
                <a:lnTo>
                  <a:pt x="44424" y="1302804"/>
                </a:lnTo>
                <a:lnTo>
                  <a:pt x="44424" y="1201204"/>
                </a:lnTo>
                <a:lnTo>
                  <a:pt x="57124" y="1201204"/>
                </a:lnTo>
                <a:lnTo>
                  <a:pt x="57124" y="1302804"/>
                </a:lnTo>
                <a:close/>
              </a:path>
              <a:path w="101600" h="2065020">
                <a:moveTo>
                  <a:pt x="57124" y="1163104"/>
                </a:moveTo>
                <a:lnTo>
                  <a:pt x="44424" y="1163104"/>
                </a:lnTo>
                <a:lnTo>
                  <a:pt x="44424" y="1150404"/>
                </a:lnTo>
                <a:lnTo>
                  <a:pt x="57124" y="1150404"/>
                </a:lnTo>
                <a:lnTo>
                  <a:pt x="57124" y="1163104"/>
                </a:lnTo>
                <a:close/>
              </a:path>
              <a:path w="101600" h="2065020">
                <a:moveTo>
                  <a:pt x="57124" y="1112304"/>
                </a:moveTo>
                <a:lnTo>
                  <a:pt x="44424" y="1112304"/>
                </a:lnTo>
                <a:lnTo>
                  <a:pt x="44424" y="1010704"/>
                </a:lnTo>
                <a:lnTo>
                  <a:pt x="57124" y="1010704"/>
                </a:lnTo>
                <a:lnTo>
                  <a:pt x="57124" y="1112304"/>
                </a:lnTo>
                <a:close/>
              </a:path>
              <a:path w="101600" h="2065020">
                <a:moveTo>
                  <a:pt x="57124" y="972604"/>
                </a:moveTo>
                <a:lnTo>
                  <a:pt x="44424" y="972604"/>
                </a:lnTo>
                <a:lnTo>
                  <a:pt x="44424" y="959904"/>
                </a:lnTo>
                <a:lnTo>
                  <a:pt x="57124" y="959904"/>
                </a:lnTo>
                <a:lnTo>
                  <a:pt x="57124" y="972604"/>
                </a:lnTo>
                <a:close/>
              </a:path>
              <a:path w="101600" h="2065020">
                <a:moveTo>
                  <a:pt x="57124" y="921804"/>
                </a:moveTo>
                <a:lnTo>
                  <a:pt x="44424" y="921804"/>
                </a:lnTo>
                <a:lnTo>
                  <a:pt x="44424" y="820204"/>
                </a:lnTo>
                <a:lnTo>
                  <a:pt x="57124" y="820204"/>
                </a:lnTo>
                <a:lnTo>
                  <a:pt x="57124" y="921804"/>
                </a:lnTo>
                <a:close/>
              </a:path>
              <a:path w="101600" h="2065020">
                <a:moveTo>
                  <a:pt x="57124" y="782104"/>
                </a:moveTo>
                <a:lnTo>
                  <a:pt x="44424" y="782104"/>
                </a:lnTo>
                <a:lnTo>
                  <a:pt x="44424" y="769404"/>
                </a:lnTo>
                <a:lnTo>
                  <a:pt x="57124" y="769404"/>
                </a:lnTo>
                <a:lnTo>
                  <a:pt x="57124" y="782104"/>
                </a:lnTo>
                <a:close/>
              </a:path>
              <a:path w="101600" h="2065020">
                <a:moveTo>
                  <a:pt x="57124" y="731304"/>
                </a:moveTo>
                <a:lnTo>
                  <a:pt x="44424" y="731304"/>
                </a:lnTo>
                <a:lnTo>
                  <a:pt x="44424" y="629704"/>
                </a:lnTo>
                <a:lnTo>
                  <a:pt x="57124" y="629704"/>
                </a:lnTo>
                <a:lnTo>
                  <a:pt x="57124" y="731304"/>
                </a:lnTo>
                <a:close/>
              </a:path>
              <a:path w="101600" h="2065020">
                <a:moveTo>
                  <a:pt x="57124" y="591604"/>
                </a:moveTo>
                <a:lnTo>
                  <a:pt x="44424" y="591604"/>
                </a:lnTo>
                <a:lnTo>
                  <a:pt x="44424" y="578904"/>
                </a:lnTo>
                <a:lnTo>
                  <a:pt x="57124" y="578904"/>
                </a:lnTo>
                <a:lnTo>
                  <a:pt x="57124" y="591604"/>
                </a:lnTo>
                <a:close/>
              </a:path>
              <a:path w="101600" h="2065020">
                <a:moveTo>
                  <a:pt x="57124" y="540804"/>
                </a:moveTo>
                <a:lnTo>
                  <a:pt x="44424" y="540804"/>
                </a:lnTo>
                <a:lnTo>
                  <a:pt x="44424" y="439204"/>
                </a:lnTo>
                <a:lnTo>
                  <a:pt x="57124" y="439204"/>
                </a:lnTo>
                <a:lnTo>
                  <a:pt x="57124" y="540804"/>
                </a:lnTo>
                <a:close/>
              </a:path>
              <a:path w="101600" h="2065020">
                <a:moveTo>
                  <a:pt x="57124" y="401104"/>
                </a:moveTo>
                <a:lnTo>
                  <a:pt x="44424" y="401104"/>
                </a:lnTo>
                <a:lnTo>
                  <a:pt x="44424" y="388404"/>
                </a:lnTo>
                <a:lnTo>
                  <a:pt x="57124" y="388404"/>
                </a:lnTo>
                <a:lnTo>
                  <a:pt x="57124" y="401104"/>
                </a:lnTo>
                <a:close/>
              </a:path>
              <a:path w="101600" h="2065020">
                <a:moveTo>
                  <a:pt x="57124" y="350304"/>
                </a:moveTo>
                <a:lnTo>
                  <a:pt x="44424" y="350304"/>
                </a:lnTo>
                <a:lnTo>
                  <a:pt x="44424" y="248704"/>
                </a:lnTo>
                <a:lnTo>
                  <a:pt x="57124" y="248704"/>
                </a:lnTo>
                <a:lnTo>
                  <a:pt x="57124" y="350304"/>
                </a:lnTo>
                <a:close/>
              </a:path>
              <a:path w="101600" h="2065020">
                <a:moveTo>
                  <a:pt x="57124" y="210604"/>
                </a:moveTo>
                <a:lnTo>
                  <a:pt x="44424" y="210604"/>
                </a:lnTo>
                <a:lnTo>
                  <a:pt x="44424" y="197904"/>
                </a:lnTo>
                <a:lnTo>
                  <a:pt x="57124" y="197904"/>
                </a:lnTo>
                <a:lnTo>
                  <a:pt x="57124" y="210604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25488" y="1461249"/>
            <a:ext cx="101600" cy="3336290"/>
          </a:xfrm>
          <a:custGeom>
            <a:avLst/>
            <a:gdLst/>
            <a:ahLst/>
            <a:cxnLst/>
            <a:rect l="l" t="t" r="r" b="b"/>
            <a:pathLst>
              <a:path w="101600" h="3336290">
                <a:moveTo>
                  <a:pt x="6946" y="95110"/>
                </a:moveTo>
                <a:lnTo>
                  <a:pt x="0" y="89433"/>
                </a:lnTo>
                <a:lnTo>
                  <a:pt x="114" y="87452"/>
                </a:lnTo>
                <a:lnTo>
                  <a:pt x="838" y="85598"/>
                </a:lnTo>
                <a:lnTo>
                  <a:pt x="50761" y="0"/>
                </a:lnTo>
                <a:lnTo>
                  <a:pt x="58111" y="12598"/>
                </a:lnTo>
                <a:lnTo>
                  <a:pt x="44411" y="12598"/>
                </a:lnTo>
                <a:lnTo>
                  <a:pt x="44411" y="36089"/>
                </a:lnTo>
                <a:lnTo>
                  <a:pt x="11798" y="91998"/>
                </a:lnTo>
                <a:lnTo>
                  <a:pt x="10540" y="93535"/>
                </a:lnTo>
                <a:lnTo>
                  <a:pt x="8877" y="94615"/>
                </a:lnTo>
                <a:lnTo>
                  <a:pt x="6946" y="95110"/>
                </a:lnTo>
                <a:close/>
              </a:path>
              <a:path w="101600" h="3336290">
                <a:moveTo>
                  <a:pt x="44411" y="36089"/>
                </a:moveTo>
                <a:lnTo>
                  <a:pt x="44411" y="12598"/>
                </a:lnTo>
                <a:lnTo>
                  <a:pt x="57111" y="12598"/>
                </a:lnTo>
                <a:lnTo>
                  <a:pt x="57111" y="15798"/>
                </a:lnTo>
                <a:lnTo>
                  <a:pt x="45288" y="15798"/>
                </a:lnTo>
                <a:lnTo>
                  <a:pt x="50768" y="25193"/>
                </a:lnTo>
                <a:lnTo>
                  <a:pt x="44411" y="36089"/>
                </a:lnTo>
                <a:close/>
              </a:path>
              <a:path w="101600" h="3336290">
                <a:moveTo>
                  <a:pt x="94576" y="95110"/>
                </a:moveTo>
                <a:lnTo>
                  <a:pt x="57124" y="36089"/>
                </a:lnTo>
                <a:lnTo>
                  <a:pt x="57111" y="12598"/>
                </a:lnTo>
                <a:lnTo>
                  <a:pt x="58111" y="12598"/>
                </a:lnTo>
                <a:lnTo>
                  <a:pt x="100698" y="85598"/>
                </a:lnTo>
                <a:lnTo>
                  <a:pt x="101422" y="87452"/>
                </a:lnTo>
                <a:lnTo>
                  <a:pt x="101536" y="89433"/>
                </a:lnTo>
                <a:lnTo>
                  <a:pt x="101028" y="91351"/>
                </a:lnTo>
                <a:lnTo>
                  <a:pt x="99948" y="93027"/>
                </a:lnTo>
                <a:lnTo>
                  <a:pt x="98412" y="94284"/>
                </a:lnTo>
                <a:lnTo>
                  <a:pt x="96570" y="95008"/>
                </a:lnTo>
                <a:lnTo>
                  <a:pt x="94576" y="95110"/>
                </a:lnTo>
                <a:close/>
              </a:path>
              <a:path w="101600" h="3336290">
                <a:moveTo>
                  <a:pt x="50768" y="25193"/>
                </a:moveTo>
                <a:lnTo>
                  <a:pt x="45288" y="15798"/>
                </a:lnTo>
                <a:lnTo>
                  <a:pt x="56248" y="15798"/>
                </a:lnTo>
                <a:lnTo>
                  <a:pt x="50768" y="25193"/>
                </a:lnTo>
                <a:close/>
              </a:path>
              <a:path w="101600" h="3336290">
                <a:moveTo>
                  <a:pt x="57111" y="36068"/>
                </a:moveTo>
                <a:lnTo>
                  <a:pt x="50768" y="25193"/>
                </a:lnTo>
                <a:lnTo>
                  <a:pt x="56248" y="15798"/>
                </a:lnTo>
                <a:lnTo>
                  <a:pt x="57111" y="15798"/>
                </a:lnTo>
                <a:lnTo>
                  <a:pt x="57111" y="36068"/>
                </a:lnTo>
                <a:close/>
              </a:path>
              <a:path w="101600" h="3336290">
                <a:moveTo>
                  <a:pt x="57111" y="97409"/>
                </a:moveTo>
                <a:lnTo>
                  <a:pt x="44411" y="97409"/>
                </a:lnTo>
                <a:lnTo>
                  <a:pt x="44424" y="36068"/>
                </a:lnTo>
                <a:lnTo>
                  <a:pt x="50768" y="25193"/>
                </a:lnTo>
                <a:lnTo>
                  <a:pt x="57111" y="36068"/>
                </a:lnTo>
                <a:lnTo>
                  <a:pt x="57111" y="97409"/>
                </a:lnTo>
                <a:close/>
              </a:path>
              <a:path w="101600" h="3336290">
                <a:moveTo>
                  <a:pt x="57111" y="3335896"/>
                </a:moveTo>
                <a:lnTo>
                  <a:pt x="44411" y="3335896"/>
                </a:lnTo>
                <a:lnTo>
                  <a:pt x="44411" y="3234296"/>
                </a:lnTo>
                <a:lnTo>
                  <a:pt x="57111" y="3234296"/>
                </a:lnTo>
                <a:lnTo>
                  <a:pt x="57111" y="3335896"/>
                </a:lnTo>
                <a:close/>
              </a:path>
              <a:path w="101600" h="3336290">
                <a:moveTo>
                  <a:pt x="57111" y="3196196"/>
                </a:moveTo>
                <a:lnTo>
                  <a:pt x="44411" y="3196196"/>
                </a:lnTo>
                <a:lnTo>
                  <a:pt x="44411" y="3183496"/>
                </a:lnTo>
                <a:lnTo>
                  <a:pt x="57111" y="3183496"/>
                </a:lnTo>
                <a:lnTo>
                  <a:pt x="57111" y="3196196"/>
                </a:lnTo>
                <a:close/>
              </a:path>
              <a:path w="101600" h="3336290">
                <a:moveTo>
                  <a:pt x="57111" y="3145396"/>
                </a:moveTo>
                <a:lnTo>
                  <a:pt x="44411" y="3145396"/>
                </a:lnTo>
                <a:lnTo>
                  <a:pt x="44411" y="3043796"/>
                </a:lnTo>
                <a:lnTo>
                  <a:pt x="57111" y="3043796"/>
                </a:lnTo>
                <a:lnTo>
                  <a:pt x="57111" y="3145396"/>
                </a:lnTo>
                <a:close/>
              </a:path>
              <a:path w="101600" h="3336290">
                <a:moveTo>
                  <a:pt x="57111" y="3005696"/>
                </a:moveTo>
                <a:lnTo>
                  <a:pt x="44411" y="3005696"/>
                </a:lnTo>
                <a:lnTo>
                  <a:pt x="44411" y="2992996"/>
                </a:lnTo>
                <a:lnTo>
                  <a:pt x="57111" y="2992996"/>
                </a:lnTo>
                <a:lnTo>
                  <a:pt x="57111" y="3005696"/>
                </a:lnTo>
                <a:close/>
              </a:path>
              <a:path w="101600" h="3336290">
                <a:moveTo>
                  <a:pt x="57111" y="2954896"/>
                </a:moveTo>
                <a:lnTo>
                  <a:pt x="44411" y="2954896"/>
                </a:lnTo>
                <a:lnTo>
                  <a:pt x="44411" y="2853296"/>
                </a:lnTo>
                <a:lnTo>
                  <a:pt x="57111" y="2853296"/>
                </a:lnTo>
                <a:lnTo>
                  <a:pt x="57111" y="2954896"/>
                </a:lnTo>
                <a:close/>
              </a:path>
              <a:path w="101600" h="3336290">
                <a:moveTo>
                  <a:pt x="57111" y="2815196"/>
                </a:moveTo>
                <a:lnTo>
                  <a:pt x="44411" y="2815196"/>
                </a:lnTo>
                <a:lnTo>
                  <a:pt x="44411" y="2802496"/>
                </a:lnTo>
                <a:lnTo>
                  <a:pt x="57111" y="2802496"/>
                </a:lnTo>
                <a:lnTo>
                  <a:pt x="57111" y="2815196"/>
                </a:lnTo>
                <a:close/>
              </a:path>
              <a:path w="101600" h="3336290">
                <a:moveTo>
                  <a:pt x="57111" y="2764396"/>
                </a:moveTo>
                <a:lnTo>
                  <a:pt x="44411" y="2764396"/>
                </a:lnTo>
                <a:lnTo>
                  <a:pt x="44411" y="2662796"/>
                </a:lnTo>
                <a:lnTo>
                  <a:pt x="57111" y="2662796"/>
                </a:lnTo>
                <a:lnTo>
                  <a:pt x="57111" y="2764396"/>
                </a:lnTo>
                <a:close/>
              </a:path>
              <a:path w="101600" h="3336290">
                <a:moveTo>
                  <a:pt x="57111" y="2624696"/>
                </a:moveTo>
                <a:lnTo>
                  <a:pt x="44411" y="2624696"/>
                </a:lnTo>
                <a:lnTo>
                  <a:pt x="44411" y="2611996"/>
                </a:lnTo>
                <a:lnTo>
                  <a:pt x="57111" y="2611996"/>
                </a:lnTo>
                <a:lnTo>
                  <a:pt x="57111" y="2624696"/>
                </a:lnTo>
                <a:close/>
              </a:path>
              <a:path w="101600" h="3336290">
                <a:moveTo>
                  <a:pt x="57111" y="2573896"/>
                </a:moveTo>
                <a:lnTo>
                  <a:pt x="44411" y="2573896"/>
                </a:lnTo>
                <a:lnTo>
                  <a:pt x="44411" y="2472296"/>
                </a:lnTo>
                <a:lnTo>
                  <a:pt x="57111" y="2472296"/>
                </a:lnTo>
                <a:lnTo>
                  <a:pt x="57111" y="2573896"/>
                </a:lnTo>
                <a:close/>
              </a:path>
              <a:path w="101600" h="3336290">
                <a:moveTo>
                  <a:pt x="57111" y="2434196"/>
                </a:moveTo>
                <a:lnTo>
                  <a:pt x="44411" y="2434196"/>
                </a:lnTo>
                <a:lnTo>
                  <a:pt x="44411" y="2421496"/>
                </a:lnTo>
                <a:lnTo>
                  <a:pt x="57111" y="2421496"/>
                </a:lnTo>
                <a:lnTo>
                  <a:pt x="57111" y="2434196"/>
                </a:lnTo>
                <a:close/>
              </a:path>
              <a:path w="101600" h="3336290">
                <a:moveTo>
                  <a:pt x="57111" y="2383396"/>
                </a:moveTo>
                <a:lnTo>
                  <a:pt x="44411" y="2383396"/>
                </a:lnTo>
                <a:lnTo>
                  <a:pt x="44411" y="2281796"/>
                </a:lnTo>
                <a:lnTo>
                  <a:pt x="57111" y="2281796"/>
                </a:lnTo>
                <a:lnTo>
                  <a:pt x="57111" y="2383396"/>
                </a:lnTo>
                <a:close/>
              </a:path>
              <a:path w="101600" h="3336290">
                <a:moveTo>
                  <a:pt x="57111" y="2243696"/>
                </a:moveTo>
                <a:lnTo>
                  <a:pt x="44411" y="2243696"/>
                </a:lnTo>
                <a:lnTo>
                  <a:pt x="44411" y="2230996"/>
                </a:lnTo>
                <a:lnTo>
                  <a:pt x="57111" y="2230996"/>
                </a:lnTo>
                <a:lnTo>
                  <a:pt x="57111" y="2243696"/>
                </a:lnTo>
                <a:close/>
              </a:path>
              <a:path w="101600" h="3336290">
                <a:moveTo>
                  <a:pt x="57111" y="2192896"/>
                </a:moveTo>
                <a:lnTo>
                  <a:pt x="44411" y="2192896"/>
                </a:lnTo>
                <a:lnTo>
                  <a:pt x="44411" y="2091296"/>
                </a:lnTo>
                <a:lnTo>
                  <a:pt x="57111" y="2091296"/>
                </a:lnTo>
                <a:lnTo>
                  <a:pt x="57111" y="2192896"/>
                </a:lnTo>
                <a:close/>
              </a:path>
              <a:path w="101600" h="3336290">
                <a:moveTo>
                  <a:pt x="57111" y="2053196"/>
                </a:moveTo>
                <a:lnTo>
                  <a:pt x="44411" y="2053196"/>
                </a:lnTo>
                <a:lnTo>
                  <a:pt x="44411" y="2040496"/>
                </a:lnTo>
                <a:lnTo>
                  <a:pt x="57111" y="2040496"/>
                </a:lnTo>
                <a:lnTo>
                  <a:pt x="57111" y="2053196"/>
                </a:lnTo>
                <a:close/>
              </a:path>
              <a:path w="101600" h="3336290">
                <a:moveTo>
                  <a:pt x="57111" y="2002396"/>
                </a:moveTo>
                <a:lnTo>
                  <a:pt x="44411" y="2002396"/>
                </a:lnTo>
                <a:lnTo>
                  <a:pt x="44411" y="1900796"/>
                </a:lnTo>
                <a:lnTo>
                  <a:pt x="57111" y="1900796"/>
                </a:lnTo>
                <a:lnTo>
                  <a:pt x="57111" y="2002396"/>
                </a:lnTo>
                <a:close/>
              </a:path>
              <a:path w="101600" h="3336290">
                <a:moveTo>
                  <a:pt x="57111" y="1862696"/>
                </a:moveTo>
                <a:lnTo>
                  <a:pt x="44411" y="1862696"/>
                </a:lnTo>
                <a:lnTo>
                  <a:pt x="44411" y="1849996"/>
                </a:lnTo>
                <a:lnTo>
                  <a:pt x="57111" y="1849996"/>
                </a:lnTo>
                <a:lnTo>
                  <a:pt x="57111" y="1862696"/>
                </a:lnTo>
                <a:close/>
              </a:path>
              <a:path w="101600" h="3336290">
                <a:moveTo>
                  <a:pt x="57111" y="1811896"/>
                </a:moveTo>
                <a:lnTo>
                  <a:pt x="44411" y="1811896"/>
                </a:lnTo>
                <a:lnTo>
                  <a:pt x="44411" y="1710296"/>
                </a:lnTo>
                <a:lnTo>
                  <a:pt x="57111" y="1710296"/>
                </a:lnTo>
                <a:lnTo>
                  <a:pt x="57111" y="1811896"/>
                </a:lnTo>
                <a:close/>
              </a:path>
              <a:path w="101600" h="3336290">
                <a:moveTo>
                  <a:pt x="57111" y="1672209"/>
                </a:moveTo>
                <a:lnTo>
                  <a:pt x="44411" y="1672209"/>
                </a:lnTo>
                <a:lnTo>
                  <a:pt x="44411" y="1659509"/>
                </a:lnTo>
                <a:lnTo>
                  <a:pt x="57111" y="1659509"/>
                </a:lnTo>
                <a:lnTo>
                  <a:pt x="57111" y="1672209"/>
                </a:lnTo>
                <a:close/>
              </a:path>
              <a:path w="101600" h="3336290">
                <a:moveTo>
                  <a:pt x="57111" y="1621409"/>
                </a:moveTo>
                <a:lnTo>
                  <a:pt x="44411" y="1621409"/>
                </a:lnTo>
                <a:lnTo>
                  <a:pt x="44411" y="1519809"/>
                </a:lnTo>
                <a:lnTo>
                  <a:pt x="57111" y="1519809"/>
                </a:lnTo>
                <a:lnTo>
                  <a:pt x="57111" y="1621409"/>
                </a:lnTo>
                <a:close/>
              </a:path>
              <a:path w="101600" h="3336290">
                <a:moveTo>
                  <a:pt x="57111" y="1481709"/>
                </a:moveTo>
                <a:lnTo>
                  <a:pt x="44411" y="1481709"/>
                </a:lnTo>
                <a:lnTo>
                  <a:pt x="44411" y="1469009"/>
                </a:lnTo>
                <a:lnTo>
                  <a:pt x="57111" y="1469009"/>
                </a:lnTo>
                <a:lnTo>
                  <a:pt x="57111" y="1481709"/>
                </a:lnTo>
                <a:close/>
              </a:path>
              <a:path w="101600" h="3336290">
                <a:moveTo>
                  <a:pt x="57111" y="1430909"/>
                </a:moveTo>
                <a:lnTo>
                  <a:pt x="44411" y="1430909"/>
                </a:lnTo>
                <a:lnTo>
                  <a:pt x="44411" y="1329309"/>
                </a:lnTo>
                <a:lnTo>
                  <a:pt x="57111" y="1329309"/>
                </a:lnTo>
                <a:lnTo>
                  <a:pt x="57111" y="1430909"/>
                </a:lnTo>
                <a:close/>
              </a:path>
              <a:path w="101600" h="3336290">
                <a:moveTo>
                  <a:pt x="57111" y="1291209"/>
                </a:moveTo>
                <a:lnTo>
                  <a:pt x="44411" y="1291209"/>
                </a:lnTo>
                <a:lnTo>
                  <a:pt x="44411" y="1278509"/>
                </a:lnTo>
                <a:lnTo>
                  <a:pt x="57111" y="1278509"/>
                </a:lnTo>
                <a:lnTo>
                  <a:pt x="57111" y="1291209"/>
                </a:lnTo>
                <a:close/>
              </a:path>
              <a:path w="101600" h="3336290">
                <a:moveTo>
                  <a:pt x="57111" y="1240409"/>
                </a:moveTo>
                <a:lnTo>
                  <a:pt x="44411" y="1240409"/>
                </a:lnTo>
                <a:lnTo>
                  <a:pt x="44411" y="1138809"/>
                </a:lnTo>
                <a:lnTo>
                  <a:pt x="57111" y="1138809"/>
                </a:lnTo>
                <a:lnTo>
                  <a:pt x="57111" y="1240409"/>
                </a:lnTo>
                <a:close/>
              </a:path>
              <a:path w="101600" h="3336290">
                <a:moveTo>
                  <a:pt x="57111" y="1100709"/>
                </a:moveTo>
                <a:lnTo>
                  <a:pt x="44411" y="1100709"/>
                </a:lnTo>
                <a:lnTo>
                  <a:pt x="44411" y="1088009"/>
                </a:lnTo>
                <a:lnTo>
                  <a:pt x="57111" y="1088009"/>
                </a:lnTo>
                <a:lnTo>
                  <a:pt x="57111" y="1100709"/>
                </a:lnTo>
                <a:close/>
              </a:path>
              <a:path w="101600" h="3336290">
                <a:moveTo>
                  <a:pt x="57111" y="1049909"/>
                </a:moveTo>
                <a:lnTo>
                  <a:pt x="44411" y="1049909"/>
                </a:lnTo>
                <a:lnTo>
                  <a:pt x="44411" y="948309"/>
                </a:lnTo>
                <a:lnTo>
                  <a:pt x="57111" y="948309"/>
                </a:lnTo>
                <a:lnTo>
                  <a:pt x="57111" y="1049909"/>
                </a:lnTo>
                <a:close/>
              </a:path>
              <a:path w="101600" h="3336290">
                <a:moveTo>
                  <a:pt x="57111" y="910209"/>
                </a:moveTo>
                <a:lnTo>
                  <a:pt x="44411" y="910209"/>
                </a:lnTo>
                <a:lnTo>
                  <a:pt x="44411" y="897509"/>
                </a:lnTo>
                <a:lnTo>
                  <a:pt x="57111" y="897509"/>
                </a:lnTo>
                <a:lnTo>
                  <a:pt x="57111" y="910209"/>
                </a:lnTo>
                <a:close/>
              </a:path>
              <a:path w="101600" h="3336290">
                <a:moveTo>
                  <a:pt x="57111" y="859409"/>
                </a:moveTo>
                <a:lnTo>
                  <a:pt x="44411" y="859409"/>
                </a:lnTo>
                <a:lnTo>
                  <a:pt x="44411" y="757809"/>
                </a:lnTo>
                <a:lnTo>
                  <a:pt x="57111" y="757809"/>
                </a:lnTo>
                <a:lnTo>
                  <a:pt x="57111" y="859409"/>
                </a:lnTo>
                <a:close/>
              </a:path>
              <a:path w="101600" h="3336290">
                <a:moveTo>
                  <a:pt x="57111" y="719709"/>
                </a:moveTo>
                <a:lnTo>
                  <a:pt x="44411" y="719709"/>
                </a:lnTo>
                <a:lnTo>
                  <a:pt x="44411" y="707009"/>
                </a:lnTo>
                <a:lnTo>
                  <a:pt x="57111" y="707009"/>
                </a:lnTo>
                <a:lnTo>
                  <a:pt x="57111" y="719709"/>
                </a:lnTo>
                <a:close/>
              </a:path>
              <a:path w="101600" h="3336290">
                <a:moveTo>
                  <a:pt x="57111" y="668909"/>
                </a:moveTo>
                <a:lnTo>
                  <a:pt x="44411" y="668909"/>
                </a:lnTo>
                <a:lnTo>
                  <a:pt x="44411" y="567309"/>
                </a:lnTo>
                <a:lnTo>
                  <a:pt x="57111" y="567309"/>
                </a:lnTo>
                <a:lnTo>
                  <a:pt x="57111" y="668909"/>
                </a:lnTo>
                <a:close/>
              </a:path>
              <a:path w="101600" h="3336290">
                <a:moveTo>
                  <a:pt x="57111" y="529209"/>
                </a:moveTo>
                <a:lnTo>
                  <a:pt x="44411" y="529209"/>
                </a:lnTo>
                <a:lnTo>
                  <a:pt x="44411" y="516509"/>
                </a:lnTo>
                <a:lnTo>
                  <a:pt x="57111" y="516509"/>
                </a:lnTo>
                <a:lnTo>
                  <a:pt x="57111" y="529209"/>
                </a:lnTo>
                <a:close/>
              </a:path>
              <a:path w="101600" h="3336290">
                <a:moveTo>
                  <a:pt x="57111" y="478409"/>
                </a:moveTo>
                <a:lnTo>
                  <a:pt x="44411" y="478409"/>
                </a:lnTo>
                <a:lnTo>
                  <a:pt x="44411" y="376809"/>
                </a:lnTo>
                <a:lnTo>
                  <a:pt x="57111" y="376809"/>
                </a:lnTo>
                <a:lnTo>
                  <a:pt x="57111" y="478409"/>
                </a:lnTo>
                <a:close/>
              </a:path>
              <a:path w="101600" h="3336290">
                <a:moveTo>
                  <a:pt x="57111" y="338709"/>
                </a:moveTo>
                <a:lnTo>
                  <a:pt x="44411" y="338709"/>
                </a:lnTo>
                <a:lnTo>
                  <a:pt x="44411" y="326009"/>
                </a:lnTo>
                <a:lnTo>
                  <a:pt x="57111" y="326009"/>
                </a:lnTo>
                <a:lnTo>
                  <a:pt x="57111" y="338709"/>
                </a:lnTo>
                <a:close/>
              </a:path>
              <a:path w="101600" h="3336290">
                <a:moveTo>
                  <a:pt x="57111" y="287909"/>
                </a:moveTo>
                <a:lnTo>
                  <a:pt x="44411" y="287909"/>
                </a:lnTo>
                <a:lnTo>
                  <a:pt x="44411" y="186309"/>
                </a:lnTo>
                <a:lnTo>
                  <a:pt x="57111" y="186309"/>
                </a:lnTo>
                <a:lnTo>
                  <a:pt x="57111" y="287909"/>
                </a:lnTo>
                <a:close/>
              </a:path>
              <a:path w="101600" h="3336290">
                <a:moveTo>
                  <a:pt x="57111" y="148209"/>
                </a:moveTo>
                <a:lnTo>
                  <a:pt x="44411" y="148209"/>
                </a:lnTo>
                <a:lnTo>
                  <a:pt x="44411" y="135509"/>
                </a:lnTo>
                <a:lnTo>
                  <a:pt x="57111" y="135509"/>
                </a:lnTo>
                <a:lnTo>
                  <a:pt x="57111" y="148209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73422" y="1461477"/>
            <a:ext cx="101600" cy="3335654"/>
          </a:xfrm>
          <a:custGeom>
            <a:avLst/>
            <a:gdLst/>
            <a:ahLst/>
            <a:cxnLst/>
            <a:rect l="l" t="t" r="r" b="b"/>
            <a:pathLst>
              <a:path w="101600" h="3335654">
                <a:moveTo>
                  <a:pt x="6794" y="94792"/>
                </a:moveTo>
                <a:lnTo>
                  <a:pt x="0" y="87083"/>
                </a:lnTo>
                <a:lnTo>
                  <a:pt x="736" y="85229"/>
                </a:lnTo>
                <a:lnTo>
                  <a:pt x="51308" y="0"/>
                </a:lnTo>
                <a:lnTo>
                  <a:pt x="58510" y="12560"/>
                </a:lnTo>
                <a:lnTo>
                  <a:pt x="44869" y="12560"/>
                </a:lnTo>
                <a:lnTo>
                  <a:pt x="44695" y="36046"/>
                </a:lnTo>
                <a:lnTo>
                  <a:pt x="11648" y="91732"/>
                </a:lnTo>
                <a:lnTo>
                  <a:pt x="10388" y="93243"/>
                </a:lnTo>
                <a:lnTo>
                  <a:pt x="8712" y="94310"/>
                </a:lnTo>
                <a:lnTo>
                  <a:pt x="6794" y="94792"/>
                </a:lnTo>
                <a:close/>
              </a:path>
              <a:path w="101600" h="3335654">
                <a:moveTo>
                  <a:pt x="44695" y="36046"/>
                </a:moveTo>
                <a:lnTo>
                  <a:pt x="44869" y="12560"/>
                </a:lnTo>
                <a:lnTo>
                  <a:pt x="57569" y="12649"/>
                </a:lnTo>
                <a:lnTo>
                  <a:pt x="57546" y="15760"/>
                </a:lnTo>
                <a:lnTo>
                  <a:pt x="45707" y="15760"/>
                </a:lnTo>
                <a:lnTo>
                  <a:pt x="51125" y="25210"/>
                </a:lnTo>
                <a:lnTo>
                  <a:pt x="44695" y="36046"/>
                </a:lnTo>
                <a:close/>
              </a:path>
              <a:path w="101600" h="3335654">
                <a:moveTo>
                  <a:pt x="94411" y="95453"/>
                </a:moveTo>
                <a:lnTo>
                  <a:pt x="92494" y="94932"/>
                </a:lnTo>
                <a:lnTo>
                  <a:pt x="90830" y="93840"/>
                </a:lnTo>
                <a:lnTo>
                  <a:pt x="89585" y="92290"/>
                </a:lnTo>
                <a:lnTo>
                  <a:pt x="57395" y="36145"/>
                </a:lnTo>
                <a:lnTo>
                  <a:pt x="57569" y="12649"/>
                </a:lnTo>
                <a:lnTo>
                  <a:pt x="44869" y="12560"/>
                </a:lnTo>
                <a:lnTo>
                  <a:pt x="58510" y="12560"/>
                </a:lnTo>
                <a:lnTo>
                  <a:pt x="100609" y="85978"/>
                </a:lnTo>
                <a:lnTo>
                  <a:pt x="101307" y="87833"/>
                </a:lnTo>
                <a:lnTo>
                  <a:pt x="101409" y="89814"/>
                </a:lnTo>
                <a:lnTo>
                  <a:pt x="100888" y="91732"/>
                </a:lnTo>
                <a:lnTo>
                  <a:pt x="99809" y="93395"/>
                </a:lnTo>
                <a:lnTo>
                  <a:pt x="98259" y="94640"/>
                </a:lnTo>
                <a:lnTo>
                  <a:pt x="96405" y="95351"/>
                </a:lnTo>
                <a:lnTo>
                  <a:pt x="94411" y="95453"/>
                </a:lnTo>
                <a:close/>
              </a:path>
              <a:path w="101600" h="3335654">
                <a:moveTo>
                  <a:pt x="51125" y="25210"/>
                </a:moveTo>
                <a:lnTo>
                  <a:pt x="45707" y="15760"/>
                </a:lnTo>
                <a:lnTo>
                  <a:pt x="56680" y="15849"/>
                </a:lnTo>
                <a:lnTo>
                  <a:pt x="51125" y="25210"/>
                </a:lnTo>
                <a:close/>
              </a:path>
              <a:path w="101600" h="3335654">
                <a:moveTo>
                  <a:pt x="57395" y="36145"/>
                </a:moveTo>
                <a:lnTo>
                  <a:pt x="51125" y="25210"/>
                </a:lnTo>
                <a:lnTo>
                  <a:pt x="56680" y="15849"/>
                </a:lnTo>
                <a:lnTo>
                  <a:pt x="45707" y="15760"/>
                </a:lnTo>
                <a:lnTo>
                  <a:pt x="57546" y="15760"/>
                </a:lnTo>
                <a:lnTo>
                  <a:pt x="57395" y="36145"/>
                </a:lnTo>
                <a:close/>
              </a:path>
              <a:path w="101600" h="3335654">
                <a:moveTo>
                  <a:pt x="56946" y="96659"/>
                </a:moveTo>
                <a:lnTo>
                  <a:pt x="44246" y="96570"/>
                </a:lnTo>
                <a:lnTo>
                  <a:pt x="44695" y="36046"/>
                </a:lnTo>
                <a:lnTo>
                  <a:pt x="51125" y="25210"/>
                </a:lnTo>
                <a:lnTo>
                  <a:pt x="57395" y="36145"/>
                </a:lnTo>
                <a:lnTo>
                  <a:pt x="56946" y="96659"/>
                </a:lnTo>
                <a:close/>
              </a:path>
              <a:path w="101600" h="3335654">
                <a:moveTo>
                  <a:pt x="32892" y="3335070"/>
                </a:moveTo>
                <a:lnTo>
                  <a:pt x="20192" y="3334981"/>
                </a:lnTo>
                <a:lnTo>
                  <a:pt x="20954" y="3233381"/>
                </a:lnTo>
                <a:lnTo>
                  <a:pt x="33642" y="3233470"/>
                </a:lnTo>
                <a:lnTo>
                  <a:pt x="32892" y="3335070"/>
                </a:lnTo>
                <a:close/>
              </a:path>
              <a:path w="101600" h="3335654">
                <a:moveTo>
                  <a:pt x="33934" y="3195370"/>
                </a:moveTo>
                <a:lnTo>
                  <a:pt x="21234" y="3195281"/>
                </a:lnTo>
                <a:lnTo>
                  <a:pt x="21323" y="3182581"/>
                </a:lnTo>
                <a:lnTo>
                  <a:pt x="34023" y="3182683"/>
                </a:lnTo>
                <a:lnTo>
                  <a:pt x="33934" y="3195370"/>
                </a:lnTo>
                <a:close/>
              </a:path>
              <a:path w="101600" h="3335654">
                <a:moveTo>
                  <a:pt x="34302" y="3144583"/>
                </a:moveTo>
                <a:lnTo>
                  <a:pt x="21602" y="3144481"/>
                </a:lnTo>
                <a:lnTo>
                  <a:pt x="22364" y="3042881"/>
                </a:lnTo>
                <a:lnTo>
                  <a:pt x="35064" y="3042983"/>
                </a:lnTo>
                <a:lnTo>
                  <a:pt x="34302" y="3144583"/>
                </a:lnTo>
                <a:close/>
              </a:path>
              <a:path w="101600" h="3335654">
                <a:moveTo>
                  <a:pt x="35344" y="3004883"/>
                </a:moveTo>
                <a:lnTo>
                  <a:pt x="22644" y="3004781"/>
                </a:lnTo>
                <a:lnTo>
                  <a:pt x="22745" y="2992081"/>
                </a:lnTo>
                <a:lnTo>
                  <a:pt x="35445" y="2992183"/>
                </a:lnTo>
                <a:lnTo>
                  <a:pt x="35344" y="3004883"/>
                </a:lnTo>
                <a:close/>
              </a:path>
              <a:path w="101600" h="3335654">
                <a:moveTo>
                  <a:pt x="35725" y="2954083"/>
                </a:moveTo>
                <a:lnTo>
                  <a:pt x="23025" y="2953994"/>
                </a:lnTo>
                <a:lnTo>
                  <a:pt x="23774" y="2852394"/>
                </a:lnTo>
                <a:lnTo>
                  <a:pt x="36474" y="2852483"/>
                </a:lnTo>
                <a:lnTo>
                  <a:pt x="35725" y="2954083"/>
                </a:lnTo>
                <a:close/>
              </a:path>
              <a:path w="101600" h="3335654">
                <a:moveTo>
                  <a:pt x="36766" y="2814383"/>
                </a:moveTo>
                <a:lnTo>
                  <a:pt x="24066" y="2814294"/>
                </a:lnTo>
                <a:lnTo>
                  <a:pt x="24155" y="2801594"/>
                </a:lnTo>
                <a:lnTo>
                  <a:pt x="36855" y="2801683"/>
                </a:lnTo>
                <a:lnTo>
                  <a:pt x="36766" y="2814383"/>
                </a:lnTo>
                <a:close/>
              </a:path>
              <a:path w="101600" h="3335654">
                <a:moveTo>
                  <a:pt x="37134" y="2763583"/>
                </a:moveTo>
                <a:lnTo>
                  <a:pt x="24434" y="2763494"/>
                </a:lnTo>
                <a:lnTo>
                  <a:pt x="25196" y="2661894"/>
                </a:lnTo>
                <a:lnTo>
                  <a:pt x="37896" y="2661996"/>
                </a:lnTo>
                <a:lnTo>
                  <a:pt x="37134" y="2763583"/>
                </a:lnTo>
                <a:close/>
              </a:path>
              <a:path w="101600" h="3335654">
                <a:moveTo>
                  <a:pt x="38176" y="2623896"/>
                </a:moveTo>
                <a:lnTo>
                  <a:pt x="25476" y="2623794"/>
                </a:lnTo>
                <a:lnTo>
                  <a:pt x="25565" y="2611094"/>
                </a:lnTo>
                <a:lnTo>
                  <a:pt x="38265" y="2611196"/>
                </a:lnTo>
                <a:lnTo>
                  <a:pt x="38176" y="2623896"/>
                </a:lnTo>
                <a:close/>
              </a:path>
              <a:path w="101600" h="3335654">
                <a:moveTo>
                  <a:pt x="38557" y="2573096"/>
                </a:moveTo>
                <a:lnTo>
                  <a:pt x="25857" y="2572994"/>
                </a:lnTo>
                <a:lnTo>
                  <a:pt x="26606" y="2471407"/>
                </a:lnTo>
                <a:lnTo>
                  <a:pt x="39306" y="2471496"/>
                </a:lnTo>
                <a:lnTo>
                  <a:pt x="38557" y="2573096"/>
                </a:lnTo>
                <a:close/>
              </a:path>
              <a:path w="101600" h="3335654">
                <a:moveTo>
                  <a:pt x="39585" y="2433396"/>
                </a:moveTo>
                <a:lnTo>
                  <a:pt x="26885" y="2433307"/>
                </a:lnTo>
                <a:lnTo>
                  <a:pt x="26987" y="2420607"/>
                </a:lnTo>
                <a:lnTo>
                  <a:pt x="39687" y="2420696"/>
                </a:lnTo>
                <a:lnTo>
                  <a:pt x="39585" y="2433396"/>
                </a:lnTo>
                <a:close/>
              </a:path>
              <a:path w="101600" h="3335654">
                <a:moveTo>
                  <a:pt x="39966" y="2382596"/>
                </a:moveTo>
                <a:lnTo>
                  <a:pt x="27266" y="2382507"/>
                </a:lnTo>
                <a:lnTo>
                  <a:pt x="28016" y="2280907"/>
                </a:lnTo>
                <a:lnTo>
                  <a:pt x="40716" y="2280996"/>
                </a:lnTo>
                <a:lnTo>
                  <a:pt x="39966" y="2382596"/>
                </a:lnTo>
                <a:close/>
              </a:path>
              <a:path w="101600" h="3335654">
                <a:moveTo>
                  <a:pt x="41008" y="2242908"/>
                </a:moveTo>
                <a:lnTo>
                  <a:pt x="28308" y="2242807"/>
                </a:lnTo>
                <a:lnTo>
                  <a:pt x="28397" y="2230107"/>
                </a:lnTo>
                <a:lnTo>
                  <a:pt x="41097" y="2230208"/>
                </a:lnTo>
                <a:lnTo>
                  <a:pt x="41008" y="2242908"/>
                </a:lnTo>
                <a:close/>
              </a:path>
              <a:path w="101600" h="3335654">
                <a:moveTo>
                  <a:pt x="41376" y="2192108"/>
                </a:moveTo>
                <a:lnTo>
                  <a:pt x="28676" y="2192007"/>
                </a:lnTo>
                <a:lnTo>
                  <a:pt x="29438" y="2090407"/>
                </a:lnTo>
                <a:lnTo>
                  <a:pt x="42138" y="2090508"/>
                </a:lnTo>
                <a:lnTo>
                  <a:pt x="41376" y="2192108"/>
                </a:lnTo>
                <a:close/>
              </a:path>
              <a:path w="101600" h="3335654">
                <a:moveTo>
                  <a:pt x="42417" y="2052408"/>
                </a:moveTo>
                <a:lnTo>
                  <a:pt x="29717" y="2052320"/>
                </a:lnTo>
                <a:lnTo>
                  <a:pt x="29819" y="2039620"/>
                </a:lnTo>
                <a:lnTo>
                  <a:pt x="42506" y="2039708"/>
                </a:lnTo>
                <a:lnTo>
                  <a:pt x="42417" y="2052408"/>
                </a:lnTo>
                <a:close/>
              </a:path>
              <a:path w="101600" h="3335654">
                <a:moveTo>
                  <a:pt x="42799" y="2001608"/>
                </a:moveTo>
                <a:lnTo>
                  <a:pt x="30099" y="2001520"/>
                </a:lnTo>
                <a:lnTo>
                  <a:pt x="30848" y="1899920"/>
                </a:lnTo>
                <a:lnTo>
                  <a:pt x="43548" y="1900008"/>
                </a:lnTo>
                <a:lnTo>
                  <a:pt x="42799" y="2001608"/>
                </a:lnTo>
                <a:close/>
              </a:path>
              <a:path w="101600" h="3335654">
                <a:moveTo>
                  <a:pt x="43827" y="1861908"/>
                </a:moveTo>
                <a:lnTo>
                  <a:pt x="31127" y="1861820"/>
                </a:lnTo>
                <a:lnTo>
                  <a:pt x="31229" y="1849120"/>
                </a:lnTo>
                <a:lnTo>
                  <a:pt x="43929" y="1849208"/>
                </a:lnTo>
                <a:lnTo>
                  <a:pt x="43827" y="1861908"/>
                </a:lnTo>
                <a:close/>
              </a:path>
              <a:path w="101600" h="3335654">
                <a:moveTo>
                  <a:pt x="44208" y="1811108"/>
                </a:moveTo>
                <a:lnTo>
                  <a:pt x="31508" y="1811020"/>
                </a:lnTo>
                <a:lnTo>
                  <a:pt x="32270" y="1709420"/>
                </a:lnTo>
                <a:lnTo>
                  <a:pt x="44970" y="1709521"/>
                </a:lnTo>
                <a:lnTo>
                  <a:pt x="44208" y="1811108"/>
                </a:lnTo>
                <a:close/>
              </a:path>
              <a:path w="101600" h="3335654">
                <a:moveTo>
                  <a:pt x="45250" y="1671421"/>
                </a:moveTo>
                <a:lnTo>
                  <a:pt x="32550" y="1671320"/>
                </a:lnTo>
                <a:lnTo>
                  <a:pt x="32638" y="1658620"/>
                </a:lnTo>
                <a:lnTo>
                  <a:pt x="45338" y="1658721"/>
                </a:lnTo>
                <a:lnTo>
                  <a:pt x="45250" y="1671421"/>
                </a:lnTo>
                <a:close/>
              </a:path>
              <a:path w="101600" h="3335654">
                <a:moveTo>
                  <a:pt x="45631" y="1620621"/>
                </a:moveTo>
                <a:lnTo>
                  <a:pt x="32931" y="1620520"/>
                </a:lnTo>
                <a:lnTo>
                  <a:pt x="33680" y="1518932"/>
                </a:lnTo>
                <a:lnTo>
                  <a:pt x="46380" y="1519021"/>
                </a:lnTo>
                <a:lnTo>
                  <a:pt x="45631" y="1620621"/>
                </a:lnTo>
                <a:close/>
              </a:path>
              <a:path w="101600" h="3335654">
                <a:moveTo>
                  <a:pt x="46659" y="1480921"/>
                </a:moveTo>
                <a:lnTo>
                  <a:pt x="33959" y="1480832"/>
                </a:lnTo>
                <a:lnTo>
                  <a:pt x="34061" y="1468132"/>
                </a:lnTo>
                <a:lnTo>
                  <a:pt x="46761" y="1468221"/>
                </a:lnTo>
                <a:lnTo>
                  <a:pt x="46659" y="1480921"/>
                </a:lnTo>
                <a:close/>
              </a:path>
              <a:path w="101600" h="3335654">
                <a:moveTo>
                  <a:pt x="47040" y="1430121"/>
                </a:moveTo>
                <a:lnTo>
                  <a:pt x="34340" y="1430032"/>
                </a:lnTo>
                <a:lnTo>
                  <a:pt x="35090" y="1328432"/>
                </a:lnTo>
                <a:lnTo>
                  <a:pt x="47790" y="1328534"/>
                </a:lnTo>
                <a:lnTo>
                  <a:pt x="47040" y="1430121"/>
                </a:lnTo>
                <a:close/>
              </a:path>
              <a:path w="101600" h="3335654">
                <a:moveTo>
                  <a:pt x="48082" y="1290434"/>
                </a:moveTo>
                <a:lnTo>
                  <a:pt x="35382" y="1290332"/>
                </a:lnTo>
                <a:lnTo>
                  <a:pt x="35471" y="1277632"/>
                </a:lnTo>
                <a:lnTo>
                  <a:pt x="48171" y="1277734"/>
                </a:lnTo>
                <a:lnTo>
                  <a:pt x="48082" y="1290434"/>
                </a:lnTo>
                <a:close/>
              </a:path>
              <a:path w="101600" h="3335654">
                <a:moveTo>
                  <a:pt x="48450" y="1239634"/>
                </a:moveTo>
                <a:lnTo>
                  <a:pt x="35750" y="1239532"/>
                </a:lnTo>
                <a:lnTo>
                  <a:pt x="36512" y="1137945"/>
                </a:lnTo>
                <a:lnTo>
                  <a:pt x="49212" y="1138034"/>
                </a:lnTo>
                <a:lnTo>
                  <a:pt x="48450" y="1239634"/>
                </a:lnTo>
                <a:close/>
              </a:path>
              <a:path w="101600" h="3335654">
                <a:moveTo>
                  <a:pt x="49491" y="1099934"/>
                </a:moveTo>
                <a:lnTo>
                  <a:pt x="36791" y="1099845"/>
                </a:lnTo>
                <a:lnTo>
                  <a:pt x="36880" y="1087145"/>
                </a:lnTo>
                <a:lnTo>
                  <a:pt x="49580" y="1087234"/>
                </a:lnTo>
                <a:lnTo>
                  <a:pt x="49491" y="1099934"/>
                </a:lnTo>
                <a:close/>
              </a:path>
              <a:path w="101600" h="3335654">
                <a:moveTo>
                  <a:pt x="49872" y="1049134"/>
                </a:moveTo>
                <a:lnTo>
                  <a:pt x="37172" y="1049045"/>
                </a:lnTo>
                <a:lnTo>
                  <a:pt x="37922" y="947445"/>
                </a:lnTo>
                <a:lnTo>
                  <a:pt x="50622" y="947534"/>
                </a:lnTo>
                <a:lnTo>
                  <a:pt x="49872" y="1049134"/>
                </a:lnTo>
                <a:close/>
              </a:path>
              <a:path w="101600" h="3335654">
                <a:moveTo>
                  <a:pt x="50901" y="909434"/>
                </a:moveTo>
                <a:lnTo>
                  <a:pt x="38201" y="909345"/>
                </a:lnTo>
                <a:lnTo>
                  <a:pt x="38303" y="896645"/>
                </a:lnTo>
                <a:lnTo>
                  <a:pt x="51003" y="896734"/>
                </a:lnTo>
                <a:lnTo>
                  <a:pt x="50901" y="909434"/>
                </a:lnTo>
                <a:close/>
              </a:path>
              <a:path w="101600" h="3335654">
                <a:moveTo>
                  <a:pt x="51282" y="858647"/>
                </a:moveTo>
                <a:lnTo>
                  <a:pt x="38582" y="858545"/>
                </a:lnTo>
                <a:lnTo>
                  <a:pt x="39331" y="756945"/>
                </a:lnTo>
                <a:lnTo>
                  <a:pt x="52031" y="757047"/>
                </a:lnTo>
                <a:lnTo>
                  <a:pt x="51282" y="858647"/>
                </a:lnTo>
                <a:close/>
              </a:path>
              <a:path w="101600" h="3335654">
                <a:moveTo>
                  <a:pt x="52324" y="718947"/>
                </a:moveTo>
                <a:lnTo>
                  <a:pt x="39624" y="718845"/>
                </a:lnTo>
                <a:lnTo>
                  <a:pt x="39712" y="706145"/>
                </a:lnTo>
                <a:lnTo>
                  <a:pt x="52412" y="706247"/>
                </a:lnTo>
                <a:lnTo>
                  <a:pt x="52324" y="718947"/>
                </a:lnTo>
                <a:close/>
              </a:path>
              <a:path w="101600" h="3335654">
                <a:moveTo>
                  <a:pt x="52692" y="668147"/>
                </a:moveTo>
                <a:lnTo>
                  <a:pt x="39992" y="668058"/>
                </a:lnTo>
                <a:lnTo>
                  <a:pt x="40754" y="566458"/>
                </a:lnTo>
                <a:lnTo>
                  <a:pt x="53454" y="566547"/>
                </a:lnTo>
                <a:lnTo>
                  <a:pt x="52692" y="668147"/>
                </a:lnTo>
                <a:close/>
              </a:path>
              <a:path w="101600" h="3335654">
                <a:moveTo>
                  <a:pt x="53733" y="528447"/>
                </a:moveTo>
                <a:lnTo>
                  <a:pt x="41033" y="528358"/>
                </a:lnTo>
                <a:lnTo>
                  <a:pt x="41135" y="515658"/>
                </a:lnTo>
                <a:lnTo>
                  <a:pt x="53835" y="515747"/>
                </a:lnTo>
                <a:lnTo>
                  <a:pt x="53733" y="528447"/>
                </a:lnTo>
                <a:close/>
              </a:path>
              <a:path w="101600" h="3335654">
                <a:moveTo>
                  <a:pt x="54114" y="477647"/>
                </a:moveTo>
                <a:lnTo>
                  <a:pt x="41414" y="477558"/>
                </a:lnTo>
                <a:lnTo>
                  <a:pt x="42163" y="375958"/>
                </a:lnTo>
                <a:lnTo>
                  <a:pt x="54863" y="376059"/>
                </a:lnTo>
                <a:lnTo>
                  <a:pt x="54114" y="477647"/>
                </a:lnTo>
                <a:close/>
              </a:path>
              <a:path w="101600" h="3335654">
                <a:moveTo>
                  <a:pt x="55156" y="337959"/>
                </a:moveTo>
                <a:lnTo>
                  <a:pt x="42456" y="337858"/>
                </a:lnTo>
                <a:lnTo>
                  <a:pt x="42545" y="325158"/>
                </a:lnTo>
                <a:lnTo>
                  <a:pt x="55245" y="325259"/>
                </a:lnTo>
                <a:lnTo>
                  <a:pt x="55156" y="337959"/>
                </a:lnTo>
                <a:close/>
              </a:path>
              <a:path w="101600" h="3335654">
                <a:moveTo>
                  <a:pt x="55524" y="287159"/>
                </a:moveTo>
                <a:lnTo>
                  <a:pt x="42824" y="287058"/>
                </a:lnTo>
                <a:lnTo>
                  <a:pt x="43586" y="185470"/>
                </a:lnTo>
                <a:lnTo>
                  <a:pt x="56286" y="185559"/>
                </a:lnTo>
                <a:lnTo>
                  <a:pt x="55524" y="287159"/>
                </a:lnTo>
                <a:close/>
              </a:path>
              <a:path w="101600" h="3335654">
                <a:moveTo>
                  <a:pt x="56565" y="147459"/>
                </a:moveTo>
                <a:lnTo>
                  <a:pt x="43865" y="147370"/>
                </a:lnTo>
                <a:lnTo>
                  <a:pt x="43954" y="134670"/>
                </a:lnTo>
                <a:lnTo>
                  <a:pt x="56654" y="134759"/>
                </a:lnTo>
                <a:lnTo>
                  <a:pt x="56565" y="147459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475704" y="1935251"/>
            <a:ext cx="1504315" cy="65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 marR="5080" indent="-247015">
              <a:lnSpc>
                <a:spcPct val="114199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FlashDisk  </a:t>
            </a:r>
            <a:r>
              <a:rPr sz="1800" dirty="0">
                <a:latin typeface="Times New Roman"/>
                <a:cs typeface="Times New Roman"/>
              </a:rPr>
              <a:t>read()</a:t>
            </a:r>
            <a:r>
              <a:rPr sz="1800" spc="-5" dirty="0">
                <a:latin typeface="Times New Roman"/>
                <a:cs typeface="Times New Roman"/>
              </a:rPr>
              <a:t>/</a:t>
            </a:r>
            <a:r>
              <a:rPr sz="1800" dirty="0">
                <a:latin typeface="Times New Roman"/>
                <a:cs typeface="Times New Roman"/>
              </a:rPr>
              <a:t>wr</a:t>
            </a:r>
            <a:r>
              <a:rPr sz="1800" spc="-5" dirty="0">
                <a:latin typeface="Times New Roman"/>
                <a:cs typeface="Times New Roman"/>
              </a:rPr>
              <a:t>it</a:t>
            </a:r>
            <a:r>
              <a:rPr sz="1800" dirty="0">
                <a:latin typeface="Times New Roman"/>
                <a:cs typeface="Times New Roman"/>
              </a:rPr>
              <a:t>e()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41" name="object 41"/>
          <p:cNvSpPr txBox="1"/>
          <p:nvPr/>
        </p:nvSpPr>
        <p:spPr>
          <a:xfrm>
            <a:off x="6278498" y="3119653"/>
            <a:ext cx="1872614" cy="6197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spc="-5" dirty="0">
                <a:latin typeface="Times New Roman"/>
                <a:cs typeface="Times New Roman"/>
              </a:rPr>
              <a:t>MobileHardDisk</a:t>
            </a:r>
            <a:endParaRPr sz="1800">
              <a:latin typeface="Times New Roman"/>
              <a:cs typeface="Times New Roman"/>
            </a:endParaRPr>
          </a:p>
          <a:p>
            <a:pPr marL="627380">
              <a:lnSpc>
                <a:spcPct val="100000"/>
              </a:lnSpc>
              <a:spcBef>
                <a:spcPts val="180"/>
              </a:spcBef>
            </a:pPr>
            <a:r>
              <a:rPr sz="1800" spc="-5" dirty="0">
                <a:latin typeface="Times New Roman"/>
                <a:cs typeface="Times New Roman"/>
              </a:rPr>
              <a:t>read()/write()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85177" y="4801374"/>
            <a:ext cx="1652270" cy="8794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800" spc="-5" dirty="0">
                <a:latin typeface="Times New Roman"/>
                <a:cs typeface="Times New Roman"/>
              </a:rPr>
              <a:t>MP3Player</a:t>
            </a:r>
            <a:endParaRPr sz="1800">
              <a:latin typeface="Times New Roman"/>
              <a:cs typeface="Times New Roman"/>
            </a:endParaRPr>
          </a:p>
          <a:p>
            <a:pPr marL="343535" marR="508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latin typeface="Times New Roman"/>
                <a:cs typeface="Times New Roman"/>
              </a:rPr>
              <a:t>read()</a:t>
            </a:r>
            <a:r>
              <a:rPr sz="1800" spc="-5" dirty="0">
                <a:latin typeface="Times New Roman"/>
                <a:cs typeface="Times New Roman"/>
              </a:rPr>
              <a:t>/</a:t>
            </a:r>
            <a:r>
              <a:rPr sz="1800" dirty="0">
                <a:latin typeface="Times New Roman"/>
                <a:cs typeface="Times New Roman"/>
              </a:rPr>
              <a:t>wr</a:t>
            </a:r>
            <a:r>
              <a:rPr sz="1800" spc="-5" dirty="0">
                <a:latin typeface="Times New Roman"/>
                <a:cs typeface="Times New Roman"/>
              </a:rPr>
              <a:t>it</a:t>
            </a:r>
            <a:r>
              <a:rPr sz="1800" dirty="0">
                <a:latin typeface="Times New Roman"/>
                <a:cs typeface="Times New Roman"/>
              </a:rPr>
              <a:t>e()/  </a:t>
            </a:r>
            <a:r>
              <a:rPr sz="1800" spc="-5" dirty="0">
                <a:latin typeface="Times New Roman"/>
                <a:cs typeface="Times New Roman"/>
              </a:rPr>
              <a:t>playMusic()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46490" y="1720494"/>
            <a:ext cx="1003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readData()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75558" y="2152535"/>
            <a:ext cx="1181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wrieteData()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18589"/>
            <a:ext cx="8016875" cy="174942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方案二的优势</a:t>
            </a:r>
            <a:endParaRPr sz="21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具有良好的可扩展性。</a:t>
            </a:r>
            <a:endParaRPr sz="2100">
              <a:latin typeface="微软雅黑"/>
              <a:cs typeface="微软雅黑"/>
            </a:endParaRPr>
          </a:p>
          <a:p>
            <a:pPr marL="184150" marR="5080" indent="-171450">
              <a:lnSpc>
                <a:spcPts val="2260"/>
              </a:lnSpc>
              <a:spcBef>
                <a:spcPts val="78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有新的移动存储设备要接入</a:t>
            </a:r>
            <a:r>
              <a:rPr sz="2100" spc="-5" dirty="0">
                <a:latin typeface="微软雅黑"/>
                <a:cs typeface="微软雅黑"/>
              </a:rPr>
              <a:t>Computer，</a:t>
            </a:r>
            <a:r>
              <a:rPr sz="2100" dirty="0">
                <a:latin typeface="微软雅黑"/>
                <a:cs typeface="微软雅黑"/>
              </a:rPr>
              <a:t>只要令其实现 </a:t>
            </a:r>
            <a:r>
              <a:rPr sz="2100" spc="-5" dirty="0">
                <a:latin typeface="微软雅黑"/>
                <a:cs typeface="微软雅黑"/>
              </a:rPr>
              <a:t>IMob</a:t>
            </a:r>
            <a:r>
              <a:rPr sz="2100" dirty="0">
                <a:latin typeface="微软雅黑"/>
                <a:cs typeface="微软雅黑"/>
              </a:rPr>
              <a:t>il</a:t>
            </a:r>
            <a:r>
              <a:rPr sz="2100" spc="-5" dirty="0">
                <a:latin typeface="微软雅黑"/>
                <a:cs typeface="微软雅黑"/>
              </a:rPr>
              <a:t>e</a:t>
            </a:r>
            <a:r>
              <a:rPr sz="2100" spc="-80" dirty="0">
                <a:latin typeface="微软雅黑"/>
                <a:cs typeface="微软雅黑"/>
              </a:rPr>
              <a:t>S</a:t>
            </a:r>
            <a:r>
              <a:rPr sz="2100" spc="-25" dirty="0">
                <a:latin typeface="微软雅黑"/>
                <a:cs typeface="微软雅黑"/>
              </a:rPr>
              <a:t>t</a:t>
            </a:r>
            <a:r>
              <a:rPr sz="2100" spc="-5" dirty="0">
                <a:latin typeface="微软雅黑"/>
                <a:cs typeface="微软雅黑"/>
              </a:rPr>
              <a:t>ora</a:t>
            </a:r>
            <a:r>
              <a:rPr sz="2100" dirty="0">
                <a:latin typeface="微软雅黑"/>
                <a:cs typeface="微软雅黑"/>
              </a:rPr>
              <a:t>g</a:t>
            </a:r>
            <a:r>
              <a:rPr sz="2100" spc="-5" dirty="0">
                <a:latin typeface="微软雅黑"/>
                <a:cs typeface="微软雅黑"/>
              </a:rPr>
              <a:t>e</a:t>
            </a:r>
            <a:r>
              <a:rPr sz="2100" dirty="0">
                <a:latin typeface="微软雅黑"/>
                <a:cs typeface="微软雅黑"/>
              </a:rPr>
              <a:t>，就可以接进去运行。这就是所谓的“面向接口的 编程”。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76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6.4.1</a:t>
            </a:r>
            <a:r>
              <a:rPr spc="-95" dirty="0"/>
              <a:t> </a:t>
            </a:r>
            <a:r>
              <a:rPr dirty="0"/>
              <a:t>案例分</a:t>
            </a:r>
            <a:r>
              <a:rPr spc="-5" dirty="0"/>
              <a:t>析	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739" y="1457747"/>
            <a:ext cx="7931150" cy="279781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面向接口的编程</a:t>
            </a:r>
            <a:endParaRPr sz="21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527050" algn="l"/>
              </a:tabLst>
            </a:pPr>
            <a:r>
              <a:rPr sz="1800" dirty="0">
                <a:latin typeface="微软雅黑"/>
                <a:cs typeface="微软雅黑"/>
              </a:rPr>
              <a:t>对系统架构进行分层</a:t>
            </a:r>
            <a:endParaRPr sz="18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sz="1800" dirty="0">
                <a:latin typeface="微软雅黑"/>
                <a:cs typeface="微软雅黑"/>
              </a:rPr>
              <a:t>底层不是直接向顶层提供服务，即不是将自己直接实例化在顶层中</a:t>
            </a:r>
            <a:endParaRPr sz="18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sz="1800" dirty="0">
                <a:latin typeface="微软雅黑"/>
                <a:cs typeface="微软雅黑"/>
              </a:rPr>
              <a:t>定义一个中间的接口层，仅向顶层暴露接口层的功能</a:t>
            </a:r>
            <a:endParaRPr sz="18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sz="1800" dirty="0">
                <a:latin typeface="微软雅黑"/>
                <a:cs typeface="微软雅黑"/>
              </a:rPr>
              <a:t>顶层仅是接口依赖，而不依赖于底层具体类</a:t>
            </a:r>
            <a:endParaRPr sz="18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1500">
              <a:latin typeface="微软雅黑"/>
              <a:cs typeface="微软雅黑"/>
            </a:endParaRPr>
          </a:p>
          <a:p>
            <a:pPr marL="184150" indent="-171450">
              <a:lnSpc>
                <a:spcPts val="2390"/>
              </a:lnSpc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面向接口的编程增加了系统的稳定性和灵活性，当底层需要改变时</a:t>
            </a:r>
            <a:endParaRPr sz="2100">
              <a:latin typeface="微软雅黑"/>
              <a:cs typeface="微软雅黑"/>
            </a:endParaRPr>
          </a:p>
          <a:p>
            <a:pPr marL="184150" marR="5080">
              <a:lnSpc>
                <a:spcPts val="2270"/>
              </a:lnSpc>
              <a:spcBef>
                <a:spcPts val="155"/>
              </a:spcBef>
            </a:pPr>
            <a:r>
              <a:rPr sz="2100" dirty="0">
                <a:latin typeface="微软雅黑"/>
                <a:cs typeface="微软雅黑"/>
              </a:rPr>
              <a:t>，只要接口及接口功能不变，则顶层不用做任何修改，符合开闭原 则。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77</a:t>
            </a:fld>
            <a:endParaRPr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52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95"/>
              </a:spcBef>
              <a:tabLst>
                <a:tab pos="8672195" algn="l"/>
              </a:tabLst>
            </a:pP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5" dirty="0"/>
              <a:t>6.4.1</a:t>
            </a:r>
            <a:r>
              <a:rPr spc="-95" dirty="0"/>
              <a:t> </a:t>
            </a:r>
            <a:r>
              <a:rPr dirty="0"/>
              <a:t>案例分</a:t>
            </a:r>
            <a:r>
              <a:rPr spc="-5" dirty="0"/>
              <a:t>析	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7636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4</a:t>
            </a:r>
            <a:r>
              <a:rPr sz="2100" u="none" dirty="0"/>
              <a:t>.2	面向接口编程的代码组织</a:t>
            </a:r>
            <a:endParaRPr sz="2100"/>
          </a:p>
        </p:txBody>
      </p:sp>
      <p:sp>
        <p:nvSpPr>
          <p:cNvPr id="3" name="object 3"/>
          <p:cNvSpPr/>
          <p:nvPr/>
        </p:nvSpPr>
        <p:spPr>
          <a:xfrm>
            <a:off x="4076001" y="3375685"/>
            <a:ext cx="1762760" cy="988694"/>
          </a:xfrm>
          <a:custGeom>
            <a:avLst/>
            <a:gdLst/>
            <a:ahLst/>
            <a:cxnLst/>
            <a:rect l="l" t="t" r="r" b="b"/>
            <a:pathLst>
              <a:path w="1762760" h="988695">
                <a:moveTo>
                  <a:pt x="0" y="0"/>
                </a:moveTo>
                <a:lnTo>
                  <a:pt x="1762137" y="0"/>
                </a:lnTo>
                <a:lnTo>
                  <a:pt x="1762137" y="988669"/>
                </a:lnTo>
                <a:lnTo>
                  <a:pt x="0" y="988669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76001" y="3375685"/>
            <a:ext cx="1762760" cy="988694"/>
          </a:xfrm>
          <a:custGeom>
            <a:avLst/>
            <a:gdLst/>
            <a:ahLst/>
            <a:cxnLst/>
            <a:rect l="l" t="t" r="r" b="b"/>
            <a:pathLst>
              <a:path w="1762760" h="988695">
                <a:moveTo>
                  <a:pt x="0" y="0"/>
                </a:moveTo>
                <a:lnTo>
                  <a:pt x="1762137" y="0"/>
                </a:lnTo>
                <a:lnTo>
                  <a:pt x="1762137" y="988669"/>
                </a:lnTo>
                <a:lnTo>
                  <a:pt x="0" y="988669"/>
                </a:lnTo>
                <a:lnTo>
                  <a:pt x="0" y="0"/>
                </a:lnTo>
                <a:close/>
              </a:path>
            </a:pathLst>
          </a:custGeom>
          <a:ln w="1136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76001" y="3375685"/>
            <a:ext cx="1762760" cy="398145"/>
          </a:xfrm>
          <a:prstGeom prst="rect">
            <a:avLst/>
          </a:prstGeom>
          <a:solidFill>
            <a:srgbClr val="FFFFB8"/>
          </a:solidFill>
          <a:ln w="11366">
            <a:solidFill>
              <a:srgbClr val="8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66090">
              <a:lnSpc>
                <a:spcPct val="100000"/>
              </a:lnSpc>
              <a:spcBef>
                <a:spcPts val="480"/>
              </a:spcBef>
            </a:pPr>
            <a:r>
              <a:rPr sz="950" spc="15" dirty="0">
                <a:latin typeface="Tahoma"/>
                <a:cs typeface="Tahoma"/>
              </a:rPr>
              <a:t>&lt;&lt;interface&gt;&gt;</a:t>
            </a:r>
            <a:endParaRPr sz="950">
              <a:latin typeface="Tahoma"/>
              <a:cs typeface="Tahoma"/>
            </a:endParaRPr>
          </a:p>
          <a:p>
            <a:pPr marL="397510">
              <a:lnSpc>
                <a:spcPct val="100000"/>
              </a:lnSpc>
              <a:spcBef>
                <a:spcPts val="25"/>
              </a:spcBef>
            </a:pPr>
            <a:r>
              <a:rPr sz="950" b="1" spc="25" dirty="0">
                <a:latin typeface="Tahoma"/>
                <a:cs typeface="Tahoma"/>
              </a:rPr>
              <a:t>IMobileStorage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6001" y="3773423"/>
            <a:ext cx="1762760" cy="591185"/>
          </a:xfrm>
          <a:prstGeom prst="rect">
            <a:avLst/>
          </a:prstGeom>
          <a:solidFill>
            <a:srgbClr val="FFFFB8"/>
          </a:solidFill>
          <a:ln w="11366">
            <a:solidFill>
              <a:srgbClr val="8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480"/>
              </a:spcBef>
            </a:pPr>
            <a:r>
              <a:rPr sz="950" spc="10" dirty="0">
                <a:latin typeface="Tahoma"/>
                <a:cs typeface="Tahoma"/>
              </a:rPr>
              <a:t>+read():</a:t>
            </a:r>
            <a:r>
              <a:rPr sz="950" spc="-7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56515">
              <a:lnSpc>
                <a:spcPct val="100000"/>
              </a:lnSpc>
              <a:spcBef>
                <a:spcPts val="25"/>
              </a:spcBef>
            </a:pPr>
            <a:r>
              <a:rPr sz="950" spc="5" dirty="0">
                <a:latin typeface="Tahoma"/>
                <a:cs typeface="Tahoma"/>
              </a:rPr>
              <a:t>+write():</a:t>
            </a:r>
            <a:r>
              <a:rPr sz="950" spc="-8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48418" y="1784705"/>
            <a:ext cx="3206115" cy="1204595"/>
          </a:xfrm>
          <a:custGeom>
            <a:avLst/>
            <a:gdLst/>
            <a:ahLst/>
            <a:cxnLst/>
            <a:rect l="l" t="t" r="r" b="b"/>
            <a:pathLst>
              <a:path w="3206115" h="1204595">
                <a:moveTo>
                  <a:pt x="0" y="0"/>
                </a:moveTo>
                <a:lnTo>
                  <a:pt x="3205937" y="0"/>
                </a:lnTo>
                <a:lnTo>
                  <a:pt x="3205937" y="1204594"/>
                </a:lnTo>
                <a:lnTo>
                  <a:pt x="0" y="1204594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48418" y="1784705"/>
            <a:ext cx="3206115" cy="1204595"/>
          </a:xfrm>
          <a:custGeom>
            <a:avLst/>
            <a:gdLst/>
            <a:ahLst/>
            <a:cxnLst/>
            <a:rect l="l" t="t" r="r" b="b"/>
            <a:pathLst>
              <a:path w="3206115" h="1204595">
                <a:moveTo>
                  <a:pt x="0" y="0"/>
                </a:moveTo>
                <a:lnTo>
                  <a:pt x="3205937" y="0"/>
                </a:lnTo>
                <a:lnTo>
                  <a:pt x="3205937" y="1204594"/>
                </a:lnTo>
                <a:lnTo>
                  <a:pt x="0" y="1204594"/>
                </a:lnTo>
                <a:lnTo>
                  <a:pt x="0" y="0"/>
                </a:lnTo>
                <a:close/>
              </a:path>
            </a:pathLst>
          </a:custGeom>
          <a:ln w="1136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48418" y="1784705"/>
            <a:ext cx="3206115" cy="250190"/>
          </a:xfrm>
          <a:prstGeom prst="rect">
            <a:avLst/>
          </a:prstGeom>
          <a:solidFill>
            <a:srgbClr val="FFFFB8"/>
          </a:solidFill>
          <a:ln w="11366">
            <a:solidFill>
              <a:srgbClr val="8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480"/>
              </a:spcBef>
            </a:pPr>
            <a:r>
              <a:rPr sz="950" b="1" spc="30" dirty="0">
                <a:latin typeface="Tahoma"/>
                <a:cs typeface="Tahoma"/>
              </a:rPr>
              <a:t>Computer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8418" y="2034717"/>
            <a:ext cx="3206115" cy="250190"/>
          </a:xfrm>
          <a:prstGeom prst="rect">
            <a:avLst/>
          </a:prstGeom>
          <a:solidFill>
            <a:srgbClr val="FFFFB8"/>
          </a:solidFill>
          <a:ln w="11366">
            <a:solidFill>
              <a:srgbClr val="8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480"/>
              </a:spcBef>
            </a:pPr>
            <a:r>
              <a:rPr sz="950" spc="10" dirty="0">
                <a:latin typeface="Tahoma"/>
                <a:cs typeface="Tahoma"/>
              </a:rPr>
              <a:t>-usbDriver: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5" dirty="0">
                <a:latin typeface="Tahoma"/>
                <a:cs typeface="Tahoma"/>
              </a:rPr>
              <a:t>IMobileStorage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8418" y="2284729"/>
            <a:ext cx="3206115" cy="704850"/>
          </a:xfrm>
          <a:prstGeom prst="rect">
            <a:avLst/>
          </a:prstGeom>
          <a:solidFill>
            <a:srgbClr val="FFFFB8"/>
          </a:solidFill>
          <a:ln w="11366">
            <a:solidFill>
              <a:srgbClr val="8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480"/>
              </a:spcBef>
            </a:pPr>
            <a:r>
              <a:rPr sz="950" spc="10" dirty="0">
                <a:latin typeface="Tahoma"/>
                <a:cs typeface="Tahoma"/>
              </a:rPr>
              <a:t>+Computer(usbDriver: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5" dirty="0">
                <a:latin typeface="Tahoma"/>
                <a:cs typeface="Tahoma"/>
              </a:rPr>
              <a:t>IMobileStorage)</a:t>
            </a:r>
            <a:endParaRPr sz="950">
              <a:latin typeface="Tahoma"/>
              <a:cs typeface="Tahoma"/>
            </a:endParaRPr>
          </a:p>
          <a:p>
            <a:pPr marL="56515">
              <a:lnSpc>
                <a:spcPct val="100000"/>
              </a:lnSpc>
              <a:spcBef>
                <a:spcPts val="25"/>
              </a:spcBef>
            </a:pPr>
            <a:r>
              <a:rPr sz="950" spc="10" dirty="0">
                <a:latin typeface="Tahoma"/>
                <a:cs typeface="Tahoma"/>
              </a:rPr>
              <a:t>+setUsbDriver(usbDriver: </a:t>
            </a:r>
            <a:r>
              <a:rPr sz="950" spc="5" dirty="0">
                <a:latin typeface="Tahoma"/>
                <a:cs typeface="Tahoma"/>
              </a:rPr>
              <a:t>IMobileStorage):</a:t>
            </a:r>
            <a:r>
              <a:rPr sz="950" spc="-5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56515">
              <a:lnSpc>
                <a:spcPct val="100000"/>
              </a:lnSpc>
              <a:spcBef>
                <a:spcPts val="20"/>
              </a:spcBef>
            </a:pPr>
            <a:r>
              <a:rPr sz="950" spc="15" dirty="0">
                <a:latin typeface="Tahoma"/>
                <a:cs typeface="Tahoma"/>
              </a:rPr>
              <a:t>+readData():</a:t>
            </a:r>
            <a:r>
              <a:rPr sz="950" spc="-8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56515">
              <a:lnSpc>
                <a:spcPct val="100000"/>
              </a:lnSpc>
              <a:spcBef>
                <a:spcPts val="25"/>
              </a:spcBef>
            </a:pPr>
            <a:r>
              <a:rPr sz="950" spc="10" dirty="0">
                <a:latin typeface="Tahoma"/>
                <a:cs typeface="Tahoma"/>
              </a:rPr>
              <a:t>+writeData():</a:t>
            </a:r>
            <a:r>
              <a:rPr sz="950" spc="-7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06097" y="4960969"/>
          <a:ext cx="1261745" cy="8409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1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012"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20" dirty="0">
                          <a:latin typeface="Tahoma"/>
                          <a:cs typeface="Tahoma"/>
                        </a:rPr>
                        <a:t>FlashDriver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657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" dirty="0">
                          <a:latin typeface="Tahoma"/>
                          <a:cs typeface="Tahoma"/>
                        </a:rPr>
                        <a:t>+read():</a:t>
                      </a:r>
                      <a:r>
                        <a:rPr sz="95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void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5" dirty="0">
                          <a:latin typeface="Tahoma"/>
                          <a:cs typeface="Tahoma"/>
                        </a:rPr>
                        <a:t>+write():</a:t>
                      </a:r>
                      <a:r>
                        <a:rPr sz="95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void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3803154" y="4375721"/>
            <a:ext cx="625475" cy="591185"/>
          </a:xfrm>
          <a:custGeom>
            <a:avLst/>
            <a:gdLst/>
            <a:ahLst/>
            <a:cxnLst/>
            <a:rect l="l" t="t" r="r" b="b"/>
            <a:pathLst>
              <a:path w="625475" h="591185">
                <a:moveTo>
                  <a:pt x="0" y="590930"/>
                </a:moveTo>
                <a:lnTo>
                  <a:pt x="625271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01058" y="4375721"/>
            <a:ext cx="227965" cy="227329"/>
          </a:xfrm>
          <a:custGeom>
            <a:avLst/>
            <a:gdLst/>
            <a:ahLst/>
            <a:cxnLst/>
            <a:rect l="l" t="t" r="r" b="b"/>
            <a:pathLst>
              <a:path w="227964" h="227329">
                <a:moveTo>
                  <a:pt x="136423" y="227279"/>
                </a:moveTo>
                <a:lnTo>
                  <a:pt x="227368" y="0"/>
                </a:lnTo>
                <a:lnTo>
                  <a:pt x="0" y="79552"/>
                </a:lnTo>
                <a:lnTo>
                  <a:pt x="136423" y="227279"/>
                </a:lnTo>
              </a:path>
            </a:pathLst>
          </a:custGeom>
          <a:ln w="1136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12425" y="4966652"/>
            <a:ext cx="1353185" cy="841375"/>
          </a:xfrm>
          <a:custGeom>
            <a:avLst/>
            <a:gdLst/>
            <a:ahLst/>
            <a:cxnLst/>
            <a:rect l="l" t="t" r="r" b="b"/>
            <a:pathLst>
              <a:path w="1353185" h="841375">
                <a:moveTo>
                  <a:pt x="0" y="0"/>
                </a:moveTo>
                <a:lnTo>
                  <a:pt x="1352867" y="0"/>
                </a:lnTo>
                <a:lnTo>
                  <a:pt x="1352867" y="840943"/>
                </a:lnTo>
                <a:lnTo>
                  <a:pt x="0" y="840943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2425" y="4966652"/>
            <a:ext cx="1353185" cy="841375"/>
          </a:xfrm>
          <a:custGeom>
            <a:avLst/>
            <a:gdLst/>
            <a:ahLst/>
            <a:cxnLst/>
            <a:rect l="l" t="t" r="r" b="b"/>
            <a:pathLst>
              <a:path w="1353185" h="841375">
                <a:moveTo>
                  <a:pt x="0" y="0"/>
                </a:moveTo>
                <a:lnTo>
                  <a:pt x="1352867" y="0"/>
                </a:lnTo>
                <a:lnTo>
                  <a:pt x="1352867" y="840943"/>
                </a:lnTo>
                <a:lnTo>
                  <a:pt x="0" y="840943"/>
                </a:lnTo>
                <a:lnTo>
                  <a:pt x="0" y="0"/>
                </a:lnTo>
                <a:close/>
              </a:path>
            </a:pathLst>
          </a:custGeom>
          <a:ln w="1136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12425" y="4966652"/>
            <a:ext cx="1353185" cy="250190"/>
          </a:xfrm>
          <a:prstGeom prst="rect">
            <a:avLst/>
          </a:prstGeom>
          <a:ln w="11366">
            <a:solidFill>
              <a:srgbClr val="8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480"/>
              </a:spcBef>
            </a:pPr>
            <a:r>
              <a:rPr sz="950" b="1" spc="15" dirty="0">
                <a:latin typeface="Tahoma"/>
                <a:cs typeface="Tahoma"/>
              </a:rPr>
              <a:t>MobileHardDisk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12425" y="5216664"/>
            <a:ext cx="1364615" cy="0"/>
          </a:xfrm>
          <a:custGeom>
            <a:avLst/>
            <a:gdLst/>
            <a:ahLst/>
            <a:cxnLst/>
            <a:rect l="l" t="t" r="r" b="b"/>
            <a:pathLst>
              <a:path w="1364614">
                <a:moveTo>
                  <a:pt x="0" y="0"/>
                </a:moveTo>
                <a:lnTo>
                  <a:pt x="1364234" y="0"/>
                </a:lnTo>
              </a:path>
            </a:pathLst>
          </a:custGeom>
          <a:ln w="1136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12425" y="5318937"/>
            <a:ext cx="1353185" cy="488950"/>
          </a:xfrm>
          <a:prstGeom prst="rect">
            <a:avLst/>
          </a:prstGeom>
          <a:solidFill>
            <a:srgbClr val="FFFFB8"/>
          </a:solidFill>
          <a:ln w="11366">
            <a:solidFill>
              <a:srgbClr val="8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480"/>
              </a:spcBef>
            </a:pPr>
            <a:r>
              <a:rPr sz="950" spc="10" dirty="0">
                <a:latin typeface="Tahoma"/>
                <a:cs typeface="Tahoma"/>
              </a:rPr>
              <a:t>+read():</a:t>
            </a:r>
            <a:r>
              <a:rPr sz="950" spc="-7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56515">
              <a:lnSpc>
                <a:spcPct val="100000"/>
              </a:lnSpc>
              <a:spcBef>
                <a:spcPts val="25"/>
              </a:spcBef>
            </a:pPr>
            <a:r>
              <a:rPr sz="950" spc="5" dirty="0">
                <a:latin typeface="Tahoma"/>
                <a:cs typeface="Tahoma"/>
              </a:rPr>
              <a:t>+write():</a:t>
            </a:r>
            <a:r>
              <a:rPr sz="950" spc="-8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40020" y="4375721"/>
            <a:ext cx="0" cy="591185"/>
          </a:xfrm>
          <a:custGeom>
            <a:avLst/>
            <a:gdLst/>
            <a:ahLst/>
            <a:cxnLst/>
            <a:rect l="l" t="t" r="r" b="b"/>
            <a:pathLst>
              <a:path h="591185">
                <a:moveTo>
                  <a:pt x="0" y="590930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40020" y="4375721"/>
            <a:ext cx="0" cy="591185"/>
          </a:xfrm>
          <a:custGeom>
            <a:avLst/>
            <a:gdLst/>
            <a:ahLst/>
            <a:cxnLst/>
            <a:rect l="l" t="t" r="r" b="b"/>
            <a:pathLst>
              <a:path h="591185">
                <a:moveTo>
                  <a:pt x="0" y="590930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43392" y="4370038"/>
            <a:ext cx="193255" cy="238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889300" y="5006422"/>
          <a:ext cx="1523365" cy="795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012"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25" dirty="0">
                          <a:latin typeface="Tahoma"/>
                          <a:cs typeface="Tahoma"/>
                        </a:rPr>
                        <a:t>MP3Player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04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" dirty="0">
                          <a:latin typeface="Tahoma"/>
                          <a:cs typeface="Tahoma"/>
                        </a:rPr>
                        <a:t>+read():</a:t>
                      </a:r>
                      <a:r>
                        <a:rPr sz="95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void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5" dirty="0">
                          <a:latin typeface="Tahoma"/>
                          <a:cs typeface="Tahoma"/>
                        </a:rPr>
                        <a:t>+write():</a:t>
                      </a:r>
                      <a:r>
                        <a:rPr sz="95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10" dirty="0">
                          <a:latin typeface="Tahoma"/>
                          <a:cs typeface="Tahoma"/>
                        </a:rPr>
                        <a:t>void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508447" y="4375721"/>
            <a:ext cx="704850" cy="636905"/>
          </a:xfrm>
          <a:custGeom>
            <a:avLst/>
            <a:gdLst/>
            <a:ahLst/>
            <a:cxnLst/>
            <a:rect l="l" t="t" r="r" b="b"/>
            <a:pathLst>
              <a:path w="704850" h="636904">
                <a:moveTo>
                  <a:pt x="704850" y="636384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08447" y="4375721"/>
            <a:ext cx="704850" cy="636905"/>
          </a:xfrm>
          <a:custGeom>
            <a:avLst/>
            <a:gdLst/>
            <a:ahLst/>
            <a:cxnLst/>
            <a:rect l="l" t="t" r="r" b="b"/>
            <a:pathLst>
              <a:path w="704850" h="636904">
                <a:moveTo>
                  <a:pt x="704850" y="636384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08447" y="4375721"/>
            <a:ext cx="227965" cy="216535"/>
          </a:xfrm>
          <a:custGeom>
            <a:avLst/>
            <a:gdLst/>
            <a:ahLst/>
            <a:cxnLst/>
            <a:rect l="l" t="t" r="r" b="b"/>
            <a:pathLst>
              <a:path w="227964" h="216535">
                <a:moveTo>
                  <a:pt x="227368" y="79552"/>
                </a:moveTo>
                <a:lnTo>
                  <a:pt x="0" y="0"/>
                </a:lnTo>
                <a:lnTo>
                  <a:pt x="102323" y="215912"/>
                </a:lnTo>
                <a:lnTo>
                  <a:pt x="227368" y="79552"/>
                </a:lnTo>
              </a:path>
            </a:pathLst>
          </a:custGeom>
          <a:ln w="1136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51386" y="3000667"/>
            <a:ext cx="0" cy="375285"/>
          </a:xfrm>
          <a:custGeom>
            <a:avLst/>
            <a:gdLst/>
            <a:ahLst/>
            <a:cxnLst/>
            <a:rect l="l" t="t" r="r" b="b"/>
            <a:pathLst>
              <a:path h="375285">
                <a:moveTo>
                  <a:pt x="0" y="0"/>
                </a:moveTo>
                <a:lnTo>
                  <a:pt x="0" y="375018"/>
                </a:lnTo>
              </a:path>
            </a:pathLst>
          </a:custGeom>
          <a:ln w="1136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05908" y="3262045"/>
            <a:ext cx="91440" cy="113664"/>
          </a:xfrm>
          <a:custGeom>
            <a:avLst/>
            <a:gdLst/>
            <a:ahLst/>
            <a:cxnLst/>
            <a:rect l="l" t="t" r="r" b="b"/>
            <a:pathLst>
              <a:path w="91439" h="113664">
                <a:moveTo>
                  <a:pt x="0" y="0"/>
                </a:moveTo>
                <a:lnTo>
                  <a:pt x="45478" y="113639"/>
                </a:lnTo>
                <a:lnTo>
                  <a:pt x="90957" y="0"/>
                </a:lnTo>
              </a:path>
            </a:pathLst>
          </a:custGeom>
          <a:ln w="11366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60347" y="1772411"/>
            <a:ext cx="1223772" cy="4032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55826" y="1769008"/>
            <a:ext cx="1231900" cy="4040504"/>
          </a:xfrm>
          <a:custGeom>
            <a:avLst/>
            <a:gdLst/>
            <a:ahLst/>
            <a:cxnLst/>
            <a:rect l="l" t="t" r="r" b="b"/>
            <a:pathLst>
              <a:path w="1231900" h="4040504">
                <a:moveTo>
                  <a:pt x="1231747" y="4040060"/>
                </a:moveTo>
                <a:lnTo>
                  <a:pt x="0" y="4040060"/>
                </a:lnTo>
                <a:lnTo>
                  <a:pt x="0" y="0"/>
                </a:lnTo>
                <a:lnTo>
                  <a:pt x="1231747" y="0"/>
                </a:lnTo>
                <a:lnTo>
                  <a:pt x="1231747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4032440"/>
                </a:lnTo>
                <a:lnTo>
                  <a:pt x="3809" y="4032440"/>
                </a:lnTo>
                <a:lnTo>
                  <a:pt x="7619" y="4036250"/>
                </a:lnTo>
                <a:lnTo>
                  <a:pt x="1231747" y="4036250"/>
                </a:lnTo>
                <a:lnTo>
                  <a:pt x="1231747" y="4040060"/>
                </a:lnTo>
                <a:close/>
              </a:path>
              <a:path w="1231900" h="4040504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31900" h="4040504">
                <a:moveTo>
                  <a:pt x="1224127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24127" y="3810"/>
                </a:lnTo>
                <a:lnTo>
                  <a:pt x="1224127" y="7620"/>
                </a:lnTo>
                <a:close/>
              </a:path>
              <a:path w="1231900" h="4040504">
                <a:moveTo>
                  <a:pt x="1224127" y="4036250"/>
                </a:moveTo>
                <a:lnTo>
                  <a:pt x="1224127" y="3810"/>
                </a:lnTo>
                <a:lnTo>
                  <a:pt x="1227937" y="7620"/>
                </a:lnTo>
                <a:lnTo>
                  <a:pt x="1231747" y="7620"/>
                </a:lnTo>
                <a:lnTo>
                  <a:pt x="1231747" y="4032440"/>
                </a:lnTo>
                <a:lnTo>
                  <a:pt x="1227937" y="4032440"/>
                </a:lnTo>
                <a:lnTo>
                  <a:pt x="1224127" y="4036250"/>
                </a:lnTo>
                <a:close/>
              </a:path>
              <a:path w="1231900" h="4040504">
                <a:moveTo>
                  <a:pt x="1231747" y="7620"/>
                </a:moveTo>
                <a:lnTo>
                  <a:pt x="1227937" y="7620"/>
                </a:lnTo>
                <a:lnTo>
                  <a:pt x="1224127" y="3810"/>
                </a:lnTo>
                <a:lnTo>
                  <a:pt x="1231747" y="3810"/>
                </a:lnTo>
                <a:lnTo>
                  <a:pt x="1231747" y="7620"/>
                </a:lnTo>
                <a:close/>
              </a:path>
              <a:path w="1231900" h="4040504">
                <a:moveTo>
                  <a:pt x="7619" y="4036250"/>
                </a:moveTo>
                <a:lnTo>
                  <a:pt x="3809" y="4032440"/>
                </a:lnTo>
                <a:lnTo>
                  <a:pt x="7619" y="4032440"/>
                </a:lnTo>
                <a:lnTo>
                  <a:pt x="7619" y="4036250"/>
                </a:lnTo>
                <a:close/>
              </a:path>
              <a:path w="1231900" h="4040504">
                <a:moveTo>
                  <a:pt x="1224127" y="4036250"/>
                </a:moveTo>
                <a:lnTo>
                  <a:pt x="7619" y="4036250"/>
                </a:lnTo>
                <a:lnTo>
                  <a:pt x="7619" y="4032440"/>
                </a:lnTo>
                <a:lnTo>
                  <a:pt x="1224127" y="4032440"/>
                </a:lnTo>
                <a:lnTo>
                  <a:pt x="1224127" y="4036250"/>
                </a:lnTo>
                <a:close/>
              </a:path>
              <a:path w="1231900" h="4040504">
                <a:moveTo>
                  <a:pt x="1231747" y="4036250"/>
                </a:moveTo>
                <a:lnTo>
                  <a:pt x="1224127" y="4036250"/>
                </a:lnTo>
                <a:lnTo>
                  <a:pt x="1227937" y="4032440"/>
                </a:lnTo>
                <a:lnTo>
                  <a:pt x="1231747" y="4032440"/>
                </a:lnTo>
                <a:lnTo>
                  <a:pt x="1231747" y="4036250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60347" y="1772411"/>
            <a:ext cx="1223772" cy="13685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55826" y="1769008"/>
            <a:ext cx="1231900" cy="1376045"/>
          </a:xfrm>
          <a:custGeom>
            <a:avLst/>
            <a:gdLst/>
            <a:ahLst/>
            <a:cxnLst/>
            <a:rect l="l" t="t" r="r" b="b"/>
            <a:pathLst>
              <a:path w="1231900" h="1376045">
                <a:moveTo>
                  <a:pt x="1231747" y="1375765"/>
                </a:moveTo>
                <a:lnTo>
                  <a:pt x="0" y="1375765"/>
                </a:lnTo>
                <a:lnTo>
                  <a:pt x="0" y="0"/>
                </a:lnTo>
                <a:lnTo>
                  <a:pt x="1231747" y="0"/>
                </a:lnTo>
                <a:lnTo>
                  <a:pt x="1231747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1368145"/>
                </a:lnTo>
                <a:lnTo>
                  <a:pt x="3809" y="1368145"/>
                </a:lnTo>
                <a:lnTo>
                  <a:pt x="7619" y="1371955"/>
                </a:lnTo>
                <a:lnTo>
                  <a:pt x="1231747" y="1371955"/>
                </a:lnTo>
                <a:lnTo>
                  <a:pt x="1231747" y="1375765"/>
                </a:lnTo>
                <a:close/>
              </a:path>
              <a:path w="1231900" h="137604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231900" h="1376045">
                <a:moveTo>
                  <a:pt x="1224127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224127" y="3809"/>
                </a:lnTo>
                <a:lnTo>
                  <a:pt x="1224127" y="7619"/>
                </a:lnTo>
                <a:close/>
              </a:path>
              <a:path w="1231900" h="1376045">
                <a:moveTo>
                  <a:pt x="1224127" y="1371955"/>
                </a:moveTo>
                <a:lnTo>
                  <a:pt x="1224127" y="3809"/>
                </a:lnTo>
                <a:lnTo>
                  <a:pt x="1227937" y="7619"/>
                </a:lnTo>
                <a:lnTo>
                  <a:pt x="1231747" y="7619"/>
                </a:lnTo>
                <a:lnTo>
                  <a:pt x="1231747" y="1368145"/>
                </a:lnTo>
                <a:lnTo>
                  <a:pt x="1227937" y="1368145"/>
                </a:lnTo>
                <a:lnTo>
                  <a:pt x="1224127" y="1371955"/>
                </a:lnTo>
                <a:close/>
              </a:path>
              <a:path w="1231900" h="1376045">
                <a:moveTo>
                  <a:pt x="1231747" y="7619"/>
                </a:moveTo>
                <a:lnTo>
                  <a:pt x="1227937" y="7619"/>
                </a:lnTo>
                <a:lnTo>
                  <a:pt x="1224127" y="3809"/>
                </a:lnTo>
                <a:lnTo>
                  <a:pt x="1231747" y="3809"/>
                </a:lnTo>
                <a:lnTo>
                  <a:pt x="1231747" y="7619"/>
                </a:lnTo>
                <a:close/>
              </a:path>
              <a:path w="1231900" h="1376045">
                <a:moveTo>
                  <a:pt x="7619" y="1371955"/>
                </a:moveTo>
                <a:lnTo>
                  <a:pt x="3809" y="1368145"/>
                </a:lnTo>
                <a:lnTo>
                  <a:pt x="7619" y="1368145"/>
                </a:lnTo>
                <a:lnTo>
                  <a:pt x="7619" y="1371955"/>
                </a:lnTo>
                <a:close/>
              </a:path>
              <a:path w="1231900" h="1376045">
                <a:moveTo>
                  <a:pt x="1224127" y="1371955"/>
                </a:moveTo>
                <a:lnTo>
                  <a:pt x="7619" y="1371955"/>
                </a:lnTo>
                <a:lnTo>
                  <a:pt x="7619" y="1368145"/>
                </a:lnTo>
                <a:lnTo>
                  <a:pt x="1224127" y="1368145"/>
                </a:lnTo>
                <a:lnTo>
                  <a:pt x="1224127" y="1371955"/>
                </a:lnTo>
                <a:close/>
              </a:path>
              <a:path w="1231900" h="1376045">
                <a:moveTo>
                  <a:pt x="1231747" y="1371955"/>
                </a:moveTo>
                <a:lnTo>
                  <a:pt x="1224127" y="1371955"/>
                </a:lnTo>
                <a:lnTo>
                  <a:pt x="1227937" y="1368145"/>
                </a:lnTo>
                <a:lnTo>
                  <a:pt x="1231747" y="1368145"/>
                </a:lnTo>
                <a:lnTo>
                  <a:pt x="1231747" y="1371955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60347" y="3140964"/>
            <a:ext cx="1223772" cy="1440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55826" y="3137154"/>
            <a:ext cx="1231900" cy="1447800"/>
          </a:xfrm>
          <a:custGeom>
            <a:avLst/>
            <a:gdLst/>
            <a:ahLst/>
            <a:cxnLst/>
            <a:rect l="l" t="t" r="r" b="b"/>
            <a:pathLst>
              <a:path w="1231900" h="1447800">
                <a:moveTo>
                  <a:pt x="1231747" y="1447787"/>
                </a:moveTo>
                <a:lnTo>
                  <a:pt x="0" y="1447787"/>
                </a:lnTo>
                <a:lnTo>
                  <a:pt x="0" y="0"/>
                </a:lnTo>
                <a:lnTo>
                  <a:pt x="1231747" y="0"/>
                </a:lnTo>
                <a:lnTo>
                  <a:pt x="1231747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1440167"/>
                </a:lnTo>
                <a:lnTo>
                  <a:pt x="3809" y="1440167"/>
                </a:lnTo>
                <a:lnTo>
                  <a:pt x="7619" y="1443977"/>
                </a:lnTo>
                <a:lnTo>
                  <a:pt x="1231747" y="1443977"/>
                </a:lnTo>
                <a:lnTo>
                  <a:pt x="1231747" y="1447787"/>
                </a:lnTo>
                <a:close/>
              </a:path>
              <a:path w="1231900" h="144780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31900" h="1447800">
                <a:moveTo>
                  <a:pt x="1224127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24127" y="3810"/>
                </a:lnTo>
                <a:lnTo>
                  <a:pt x="1224127" y="7620"/>
                </a:lnTo>
                <a:close/>
              </a:path>
              <a:path w="1231900" h="1447800">
                <a:moveTo>
                  <a:pt x="1224127" y="1443977"/>
                </a:moveTo>
                <a:lnTo>
                  <a:pt x="1224127" y="3810"/>
                </a:lnTo>
                <a:lnTo>
                  <a:pt x="1227937" y="7620"/>
                </a:lnTo>
                <a:lnTo>
                  <a:pt x="1231747" y="7620"/>
                </a:lnTo>
                <a:lnTo>
                  <a:pt x="1231747" y="1440167"/>
                </a:lnTo>
                <a:lnTo>
                  <a:pt x="1227937" y="1440167"/>
                </a:lnTo>
                <a:lnTo>
                  <a:pt x="1224127" y="1443977"/>
                </a:lnTo>
                <a:close/>
              </a:path>
              <a:path w="1231900" h="1447800">
                <a:moveTo>
                  <a:pt x="1231747" y="7620"/>
                </a:moveTo>
                <a:lnTo>
                  <a:pt x="1227937" y="7620"/>
                </a:lnTo>
                <a:lnTo>
                  <a:pt x="1224127" y="3810"/>
                </a:lnTo>
                <a:lnTo>
                  <a:pt x="1231747" y="3810"/>
                </a:lnTo>
                <a:lnTo>
                  <a:pt x="1231747" y="7620"/>
                </a:lnTo>
                <a:close/>
              </a:path>
              <a:path w="1231900" h="1447800">
                <a:moveTo>
                  <a:pt x="7619" y="1443977"/>
                </a:moveTo>
                <a:lnTo>
                  <a:pt x="3809" y="1440167"/>
                </a:lnTo>
                <a:lnTo>
                  <a:pt x="7619" y="1440167"/>
                </a:lnTo>
                <a:lnTo>
                  <a:pt x="7619" y="1443977"/>
                </a:lnTo>
                <a:close/>
              </a:path>
              <a:path w="1231900" h="1447800">
                <a:moveTo>
                  <a:pt x="1224127" y="1443977"/>
                </a:moveTo>
                <a:lnTo>
                  <a:pt x="7619" y="1443977"/>
                </a:lnTo>
                <a:lnTo>
                  <a:pt x="7619" y="1440167"/>
                </a:lnTo>
                <a:lnTo>
                  <a:pt x="1224127" y="1440167"/>
                </a:lnTo>
                <a:lnTo>
                  <a:pt x="1224127" y="1443977"/>
                </a:lnTo>
                <a:close/>
              </a:path>
              <a:path w="1231900" h="1447800">
                <a:moveTo>
                  <a:pt x="1231747" y="1443977"/>
                </a:moveTo>
                <a:lnTo>
                  <a:pt x="1224127" y="1443977"/>
                </a:lnTo>
                <a:lnTo>
                  <a:pt x="1227937" y="1440167"/>
                </a:lnTo>
                <a:lnTo>
                  <a:pt x="1231747" y="1440167"/>
                </a:lnTo>
                <a:lnTo>
                  <a:pt x="1231747" y="144397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260347" y="2271141"/>
            <a:ext cx="1224280" cy="296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微软雅黑"/>
                <a:cs typeface="微软雅黑"/>
              </a:rPr>
              <a:t>应用</a:t>
            </a:r>
            <a:r>
              <a:rPr sz="1600" spc="-5" dirty="0">
                <a:latin typeface="微软雅黑"/>
                <a:cs typeface="微软雅黑"/>
              </a:rPr>
              <a:t>层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>
              <a:latin typeface="微软雅黑"/>
              <a:cs typeface="微软雅黑"/>
            </a:endParaRPr>
          </a:p>
          <a:p>
            <a:pPr marL="386080">
              <a:lnSpc>
                <a:spcPct val="100000"/>
              </a:lnSpc>
            </a:pPr>
            <a:r>
              <a:rPr sz="1600" dirty="0">
                <a:latin typeface="微软雅黑"/>
                <a:cs typeface="微软雅黑"/>
              </a:rPr>
              <a:t>接</a:t>
            </a:r>
            <a:r>
              <a:rPr sz="1600" spc="-5" dirty="0">
                <a:latin typeface="微软雅黑"/>
                <a:cs typeface="微软雅黑"/>
              </a:rPr>
              <a:t>口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500">
              <a:latin typeface="微软雅黑"/>
              <a:cs typeface="微软雅黑"/>
            </a:endParaRPr>
          </a:p>
          <a:p>
            <a:pPr marL="429259">
              <a:lnSpc>
                <a:spcPct val="100000"/>
              </a:lnSpc>
            </a:pPr>
            <a:r>
              <a:rPr sz="1600" dirty="0">
                <a:latin typeface="微软雅黑"/>
                <a:cs typeface="微软雅黑"/>
              </a:rPr>
              <a:t>底</a:t>
            </a:r>
            <a:r>
              <a:rPr sz="1600" spc="-5" dirty="0">
                <a:latin typeface="微软雅黑"/>
                <a:cs typeface="微软雅黑"/>
              </a:rPr>
              <a:t>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78</a:t>
            </a:fld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89908" y="863155"/>
            <a:ext cx="5012055" cy="0"/>
          </a:xfrm>
          <a:custGeom>
            <a:avLst/>
            <a:gdLst/>
            <a:ahLst/>
            <a:cxnLst/>
            <a:rect l="l" t="t" r="r" b="b"/>
            <a:pathLst>
              <a:path w="5012055">
                <a:moveTo>
                  <a:pt x="0" y="0"/>
                </a:moveTo>
                <a:lnTo>
                  <a:pt x="5011623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2570" y="863155"/>
            <a:ext cx="957580" cy="0"/>
          </a:xfrm>
          <a:custGeom>
            <a:avLst/>
            <a:gdLst/>
            <a:ahLst/>
            <a:cxnLst/>
            <a:rect l="l" t="t" r="r" b="b"/>
            <a:pathLst>
              <a:path w="957580">
                <a:moveTo>
                  <a:pt x="0" y="0"/>
                </a:moveTo>
                <a:lnTo>
                  <a:pt x="957491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8739" y="2277745"/>
            <a:ext cx="9969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包结构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8327" y="2892551"/>
            <a:ext cx="4058662" cy="32456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7573" y="5289778"/>
            <a:ext cx="3757295" cy="480695"/>
          </a:xfrm>
          <a:custGeom>
            <a:avLst/>
            <a:gdLst/>
            <a:ahLst/>
            <a:cxnLst/>
            <a:rect l="l" t="t" r="r" b="b"/>
            <a:pathLst>
              <a:path w="3757295" h="480695">
                <a:moveTo>
                  <a:pt x="3757117" y="480695"/>
                </a:moveTo>
                <a:lnTo>
                  <a:pt x="0" y="480695"/>
                </a:lnTo>
                <a:lnTo>
                  <a:pt x="0" y="0"/>
                </a:lnTo>
                <a:lnTo>
                  <a:pt x="3757117" y="0"/>
                </a:lnTo>
                <a:lnTo>
                  <a:pt x="375711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7995"/>
                </a:lnTo>
                <a:lnTo>
                  <a:pt x="6350" y="467995"/>
                </a:lnTo>
                <a:lnTo>
                  <a:pt x="12700" y="474345"/>
                </a:lnTo>
                <a:lnTo>
                  <a:pt x="3757117" y="474345"/>
                </a:lnTo>
                <a:lnTo>
                  <a:pt x="3757117" y="480695"/>
                </a:lnTo>
                <a:close/>
              </a:path>
              <a:path w="3757295" h="48069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757295" h="480695">
                <a:moveTo>
                  <a:pt x="374441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744417" y="6350"/>
                </a:lnTo>
                <a:lnTo>
                  <a:pt x="3744417" y="12700"/>
                </a:lnTo>
                <a:close/>
              </a:path>
              <a:path w="3757295" h="480695">
                <a:moveTo>
                  <a:pt x="3744417" y="474345"/>
                </a:moveTo>
                <a:lnTo>
                  <a:pt x="3744417" y="6350"/>
                </a:lnTo>
                <a:lnTo>
                  <a:pt x="3750767" y="12700"/>
                </a:lnTo>
                <a:lnTo>
                  <a:pt x="3757117" y="12700"/>
                </a:lnTo>
                <a:lnTo>
                  <a:pt x="3757117" y="467995"/>
                </a:lnTo>
                <a:lnTo>
                  <a:pt x="3750767" y="467995"/>
                </a:lnTo>
                <a:lnTo>
                  <a:pt x="3744417" y="474345"/>
                </a:lnTo>
                <a:close/>
              </a:path>
              <a:path w="3757295" h="480695">
                <a:moveTo>
                  <a:pt x="3757117" y="12700"/>
                </a:moveTo>
                <a:lnTo>
                  <a:pt x="3750767" y="12700"/>
                </a:lnTo>
                <a:lnTo>
                  <a:pt x="3744417" y="6350"/>
                </a:lnTo>
                <a:lnTo>
                  <a:pt x="3757117" y="6350"/>
                </a:lnTo>
                <a:lnTo>
                  <a:pt x="3757117" y="12700"/>
                </a:lnTo>
                <a:close/>
              </a:path>
              <a:path w="3757295" h="480695">
                <a:moveTo>
                  <a:pt x="12700" y="474345"/>
                </a:moveTo>
                <a:lnTo>
                  <a:pt x="6350" y="467995"/>
                </a:lnTo>
                <a:lnTo>
                  <a:pt x="12700" y="467995"/>
                </a:lnTo>
                <a:lnTo>
                  <a:pt x="12700" y="474345"/>
                </a:lnTo>
                <a:close/>
              </a:path>
              <a:path w="3757295" h="480695">
                <a:moveTo>
                  <a:pt x="3744417" y="474345"/>
                </a:moveTo>
                <a:lnTo>
                  <a:pt x="12700" y="474345"/>
                </a:lnTo>
                <a:lnTo>
                  <a:pt x="12700" y="467995"/>
                </a:lnTo>
                <a:lnTo>
                  <a:pt x="3744417" y="467995"/>
                </a:lnTo>
                <a:lnTo>
                  <a:pt x="3744417" y="474345"/>
                </a:lnTo>
                <a:close/>
              </a:path>
              <a:path w="3757295" h="480695">
                <a:moveTo>
                  <a:pt x="3757117" y="474345"/>
                </a:moveTo>
                <a:lnTo>
                  <a:pt x="3744417" y="474345"/>
                </a:lnTo>
                <a:lnTo>
                  <a:pt x="3750767" y="467995"/>
                </a:lnTo>
                <a:lnTo>
                  <a:pt x="3757117" y="467995"/>
                </a:lnTo>
                <a:lnTo>
                  <a:pt x="3757117" y="47434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72000" y="4727447"/>
            <a:ext cx="4546092" cy="6446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68190" y="4723079"/>
            <a:ext cx="4554220" cy="652780"/>
          </a:xfrm>
          <a:custGeom>
            <a:avLst/>
            <a:gdLst/>
            <a:ahLst/>
            <a:cxnLst/>
            <a:rect l="l" t="t" r="r" b="b"/>
            <a:pathLst>
              <a:path w="4554220" h="652779">
                <a:moveTo>
                  <a:pt x="4553864" y="652779"/>
                </a:moveTo>
                <a:lnTo>
                  <a:pt x="0" y="652779"/>
                </a:lnTo>
                <a:lnTo>
                  <a:pt x="0" y="0"/>
                </a:lnTo>
                <a:lnTo>
                  <a:pt x="4553864" y="0"/>
                </a:lnTo>
                <a:lnTo>
                  <a:pt x="4553864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645160"/>
                </a:lnTo>
                <a:lnTo>
                  <a:pt x="3810" y="645160"/>
                </a:lnTo>
                <a:lnTo>
                  <a:pt x="7620" y="648969"/>
                </a:lnTo>
                <a:lnTo>
                  <a:pt x="4553864" y="648969"/>
                </a:lnTo>
                <a:lnTo>
                  <a:pt x="4553864" y="652779"/>
                </a:lnTo>
                <a:close/>
              </a:path>
              <a:path w="4554220" h="652779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4554220" h="652779">
                <a:moveTo>
                  <a:pt x="4546244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4546244" y="3810"/>
                </a:lnTo>
                <a:lnTo>
                  <a:pt x="4546244" y="7619"/>
                </a:lnTo>
                <a:close/>
              </a:path>
              <a:path w="4554220" h="652779">
                <a:moveTo>
                  <a:pt x="4546244" y="648969"/>
                </a:moveTo>
                <a:lnTo>
                  <a:pt x="4546244" y="3810"/>
                </a:lnTo>
                <a:lnTo>
                  <a:pt x="4550054" y="7619"/>
                </a:lnTo>
                <a:lnTo>
                  <a:pt x="4553864" y="7619"/>
                </a:lnTo>
                <a:lnTo>
                  <a:pt x="4553864" y="645160"/>
                </a:lnTo>
                <a:lnTo>
                  <a:pt x="4550054" y="645160"/>
                </a:lnTo>
                <a:lnTo>
                  <a:pt x="4546244" y="648969"/>
                </a:lnTo>
                <a:close/>
              </a:path>
              <a:path w="4554220" h="652779">
                <a:moveTo>
                  <a:pt x="4553864" y="7619"/>
                </a:moveTo>
                <a:lnTo>
                  <a:pt x="4550054" y="7619"/>
                </a:lnTo>
                <a:lnTo>
                  <a:pt x="4546244" y="3810"/>
                </a:lnTo>
                <a:lnTo>
                  <a:pt x="4553864" y="3810"/>
                </a:lnTo>
                <a:lnTo>
                  <a:pt x="4553864" y="7619"/>
                </a:lnTo>
                <a:close/>
              </a:path>
              <a:path w="4554220" h="652779">
                <a:moveTo>
                  <a:pt x="7620" y="648969"/>
                </a:moveTo>
                <a:lnTo>
                  <a:pt x="3810" y="645160"/>
                </a:lnTo>
                <a:lnTo>
                  <a:pt x="7620" y="645160"/>
                </a:lnTo>
                <a:lnTo>
                  <a:pt x="7620" y="648969"/>
                </a:lnTo>
                <a:close/>
              </a:path>
              <a:path w="4554220" h="652779">
                <a:moveTo>
                  <a:pt x="4546244" y="648969"/>
                </a:moveTo>
                <a:lnTo>
                  <a:pt x="7620" y="648969"/>
                </a:lnTo>
                <a:lnTo>
                  <a:pt x="7620" y="645160"/>
                </a:lnTo>
                <a:lnTo>
                  <a:pt x="4546244" y="645160"/>
                </a:lnTo>
                <a:lnTo>
                  <a:pt x="4546244" y="648969"/>
                </a:lnTo>
                <a:close/>
              </a:path>
              <a:path w="4554220" h="652779">
                <a:moveTo>
                  <a:pt x="4553864" y="648969"/>
                </a:moveTo>
                <a:lnTo>
                  <a:pt x="4546244" y="648969"/>
                </a:lnTo>
                <a:lnTo>
                  <a:pt x="4550054" y="645160"/>
                </a:lnTo>
                <a:lnTo>
                  <a:pt x="4553864" y="645160"/>
                </a:lnTo>
                <a:lnTo>
                  <a:pt x="4553864" y="648969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650740" y="4754829"/>
            <a:ext cx="4443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第一步，编写中间层接口IMobil</a:t>
            </a:r>
            <a:r>
              <a:rPr sz="1800" spc="-5" dirty="0">
                <a:latin typeface="微软雅黑"/>
                <a:cs typeface="微软雅黑"/>
              </a:rPr>
              <a:t>e</a:t>
            </a:r>
            <a:r>
              <a:rPr sz="1800" spc="-65" dirty="0">
                <a:latin typeface="微软雅黑"/>
                <a:cs typeface="微软雅黑"/>
              </a:rPr>
              <a:t>S</a:t>
            </a:r>
            <a:r>
              <a:rPr sz="1800" spc="-20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o</a:t>
            </a:r>
            <a:r>
              <a:rPr sz="1800" spc="-5" dirty="0">
                <a:latin typeface="微软雅黑"/>
                <a:cs typeface="微软雅黑"/>
              </a:rPr>
              <a:t>r</a:t>
            </a:r>
            <a:r>
              <a:rPr sz="1800" dirty="0">
                <a:latin typeface="微软雅黑"/>
                <a:cs typeface="微软雅黑"/>
              </a:rPr>
              <a:t>a</a:t>
            </a:r>
            <a:r>
              <a:rPr sz="1800" spc="-5" dirty="0">
                <a:latin typeface="微软雅黑"/>
                <a:cs typeface="微软雅黑"/>
              </a:rPr>
              <a:t>ge</a:t>
            </a:r>
            <a:r>
              <a:rPr sz="1800" dirty="0">
                <a:latin typeface="微软雅黑"/>
                <a:cs typeface="微软雅黑"/>
              </a:rPr>
              <a:t>， 定义方法，即系统的行为模型。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72000" y="2417064"/>
            <a:ext cx="4572000" cy="23073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68190" y="2413012"/>
            <a:ext cx="4575810" cy="2314575"/>
          </a:xfrm>
          <a:custGeom>
            <a:avLst/>
            <a:gdLst/>
            <a:ahLst/>
            <a:cxnLst/>
            <a:rect l="l" t="t" r="r" b="b"/>
            <a:pathLst>
              <a:path w="4575809" h="2314575">
                <a:moveTo>
                  <a:pt x="4575810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4575810" y="0"/>
                </a:lnTo>
                <a:lnTo>
                  <a:pt x="4575810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306954"/>
                </a:lnTo>
                <a:lnTo>
                  <a:pt x="3809" y="2306954"/>
                </a:lnTo>
                <a:lnTo>
                  <a:pt x="7620" y="2310765"/>
                </a:lnTo>
                <a:lnTo>
                  <a:pt x="4575810" y="2310765"/>
                </a:lnTo>
                <a:lnTo>
                  <a:pt x="4575810" y="2314575"/>
                </a:lnTo>
                <a:close/>
              </a:path>
              <a:path w="4575809" h="231457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4575809" h="2314575">
                <a:moveTo>
                  <a:pt x="4572000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4572000" y="3810"/>
                </a:lnTo>
                <a:lnTo>
                  <a:pt x="4572000" y="7620"/>
                </a:lnTo>
                <a:close/>
              </a:path>
              <a:path w="4575809" h="2314575">
                <a:moveTo>
                  <a:pt x="4572000" y="2310765"/>
                </a:moveTo>
                <a:lnTo>
                  <a:pt x="4572000" y="3810"/>
                </a:lnTo>
                <a:lnTo>
                  <a:pt x="4575810" y="7620"/>
                </a:lnTo>
                <a:lnTo>
                  <a:pt x="4575810" y="2306954"/>
                </a:lnTo>
                <a:lnTo>
                  <a:pt x="4572000" y="2310765"/>
                </a:lnTo>
                <a:close/>
              </a:path>
              <a:path w="4575809" h="2314575">
                <a:moveTo>
                  <a:pt x="4575810" y="7620"/>
                </a:moveTo>
                <a:lnTo>
                  <a:pt x="4572000" y="3810"/>
                </a:lnTo>
                <a:lnTo>
                  <a:pt x="4575810" y="3810"/>
                </a:lnTo>
                <a:lnTo>
                  <a:pt x="4575810" y="7620"/>
                </a:lnTo>
                <a:close/>
              </a:path>
              <a:path w="4575809" h="2314575">
                <a:moveTo>
                  <a:pt x="7620" y="2310765"/>
                </a:moveTo>
                <a:lnTo>
                  <a:pt x="3809" y="2306954"/>
                </a:lnTo>
                <a:lnTo>
                  <a:pt x="7620" y="2306954"/>
                </a:lnTo>
                <a:lnTo>
                  <a:pt x="7620" y="2310765"/>
                </a:lnTo>
                <a:close/>
              </a:path>
              <a:path w="4575809" h="2314575">
                <a:moveTo>
                  <a:pt x="4572000" y="2310765"/>
                </a:moveTo>
                <a:lnTo>
                  <a:pt x="7620" y="2310765"/>
                </a:lnTo>
                <a:lnTo>
                  <a:pt x="7620" y="2306954"/>
                </a:lnTo>
                <a:lnTo>
                  <a:pt x="4572000" y="2306954"/>
                </a:lnTo>
                <a:lnTo>
                  <a:pt x="4572000" y="2310765"/>
                </a:lnTo>
                <a:close/>
              </a:path>
              <a:path w="4575809" h="2314575">
                <a:moveTo>
                  <a:pt x="4575810" y="2310765"/>
                </a:moveTo>
                <a:lnTo>
                  <a:pt x="4572000" y="2310765"/>
                </a:lnTo>
                <a:lnTo>
                  <a:pt x="4575810" y="2306954"/>
                </a:lnTo>
                <a:lnTo>
                  <a:pt x="4575810" y="231076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650740" y="2444762"/>
            <a:ext cx="4324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第三步，编写应用层Co</a:t>
            </a:r>
            <a:r>
              <a:rPr sz="1800" spc="-5" dirty="0">
                <a:latin typeface="微软雅黑"/>
                <a:cs typeface="微软雅黑"/>
              </a:rPr>
              <a:t>m</a:t>
            </a:r>
            <a:r>
              <a:rPr sz="1800" dirty="0">
                <a:latin typeface="微软雅黑"/>
                <a:cs typeface="微软雅黑"/>
              </a:rPr>
              <a:t>pu</a:t>
            </a:r>
            <a:r>
              <a:rPr sz="1800" spc="-20" dirty="0">
                <a:latin typeface="微软雅黑"/>
                <a:cs typeface="微软雅黑"/>
              </a:rPr>
              <a:t>t</a:t>
            </a:r>
            <a:r>
              <a:rPr sz="1800" spc="-5" dirty="0">
                <a:latin typeface="微软雅黑"/>
                <a:cs typeface="微软雅黑"/>
              </a:rPr>
              <a:t>er</a:t>
            </a:r>
            <a:r>
              <a:rPr sz="1800" dirty="0">
                <a:latin typeface="微软雅黑"/>
                <a:cs typeface="微软雅黑"/>
              </a:rPr>
              <a:t>类，依赖接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50740" y="2719082"/>
            <a:ext cx="436626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口完成业务逻辑，屏蔽底层的实现。</a:t>
            </a:r>
            <a:endParaRPr sz="1800">
              <a:latin typeface="微软雅黑"/>
              <a:cs typeface="微软雅黑"/>
            </a:endParaRPr>
          </a:p>
          <a:p>
            <a:pPr marL="12700" marR="97155">
              <a:lnSpc>
                <a:spcPct val="100000"/>
              </a:lnSpc>
              <a:buSzPct val="94444"/>
              <a:buAutoNum type="arabicPlain"/>
              <a:tabLst>
                <a:tab pos="604520" algn="l"/>
              </a:tabLst>
            </a:pPr>
            <a:r>
              <a:rPr sz="1800" dirty="0">
                <a:latin typeface="微软雅黑"/>
                <a:cs typeface="微软雅黑"/>
              </a:rPr>
              <a:t>将接口引用变量作为应用层的数据成 员。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buSzPct val="94444"/>
              <a:buAutoNum type="arabicPlain"/>
              <a:tabLst>
                <a:tab pos="604520" algn="l"/>
              </a:tabLst>
            </a:pPr>
            <a:r>
              <a:rPr sz="1800" dirty="0">
                <a:latin typeface="微软雅黑"/>
                <a:cs typeface="微软雅黑"/>
              </a:rPr>
              <a:t>定义构造方法或s</a:t>
            </a:r>
            <a:r>
              <a:rPr sz="1800" spc="-5" dirty="0">
                <a:latin typeface="微软雅黑"/>
                <a:cs typeface="微软雅黑"/>
              </a:rPr>
              <a:t>et</a:t>
            </a:r>
            <a:r>
              <a:rPr sz="1800" dirty="0">
                <a:latin typeface="微软雅黑"/>
                <a:cs typeface="微软雅黑"/>
              </a:rPr>
              <a:t>方法对接口数据成 员初始化。</a:t>
            </a:r>
            <a:endParaRPr sz="1800">
              <a:latin typeface="微软雅黑"/>
              <a:cs typeface="微软雅黑"/>
            </a:endParaRPr>
          </a:p>
          <a:p>
            <a:pPr marL="12700" marR="97155">
              <a:lnSpc>
                <a:spcPct val="100000"/>
              </a:lnSpc>
              <a:buSzPct val="94444"/>
              <a:buAutoNum type="arabicPlain"/>
              <a:tabLst>
                <a:tab pos="604520" algn="l"/>
              </a:tabLst>
            </a:pPr>
            <a:r>
              <a:rPr sz="1800" dirty="0">
                <a:latin typeface="微软雅黑"/>
                <a:cs typeface="微软雅黑"/>
              </a:rPr>
              <a:t>封装应用层的业务行为方法，通过接 口成员调用接口中的方法实现业务逻辑。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7573" y="4830838"/>
            <a:ext cx="3757295" cy="480695"/>
          </a:xfrm>
          <a:custGeom>
            <a:avLst/>
            <a:gdLst/>
            <a:ahLst/>
            <a:cxnLst/>
            <a:rect l="l" t="t" r="r" b="b"/>
            <a:pathLst>
              <a:path w="3757295" h="480695">
                <a:moveTo>
                  <a:pt x="3757117" y="480695"/>
                </a:moveTo>
                <a:lnTo>
                  <a:pt x="0" y="480695"/>
                </a:lnTo>
                <a:lnTo>
                  <a:pt x="0" y="0"/>
                </a:lnTo>
                <a:lnTo>
                  <a:pt x="3757117" y="0"/>
                </a:lnTo>
                <a:lnTo>
                  <a:pt x="375711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7995"/>
                </a:lnTo>
                <a:lnTo>
                  <a:pt x="6350" y="467995"/>
                </a:lnTo>
                <a:lnTo>
                  <a:pt x="12700" y="474345"/>
                </a:lnTo>
                <a:lnTo>
                  <a:pt x="3757117" y="474345"/>
                </a:lnTo>
                <a:lnTo>
                  <a:pt x="3757117" y="480695"/>
                </a:lnTo>
                <a:close/>
              </a:path>
              <a:path w="3757295" h="48069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757295" h="480695">
                <a:moveTo>
                  <a:pt x="374441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744417" y="6350"/>
                </a:lnTo>
                <a:lnTo>
                  <a:pt x="3744417" y="12700"/>
                </a:lnTo>
                <a:close/>
              </a:path>
              <a:path w="3757295" h="480695">
                <a:moveTo>
                  <a:pt x="3744417" y="474345"/>
                </a:moveTo>
                <a:lnTo>
                  <a:pt x="3744417" y="6350"/>
                </a:lnTo>
                <a:lnTo>
                  <a:pt x="3750767" y="12700"/>
                </a:lnTo>
                <a:lnTo>
                  <a:pt x="3757117" y="12700"/>
                </a:lnTo>
                <a:lnTo>
                  <a:pt x="3757117" y="467995"/>
                </a:lnTo>
                <a:lnTo>
                  <a:pt x="3750767" y="467995"/>
                </a:lnTo>
                <a:lnTo>
                  <a:pt x="3744417" y="474345"/>
                </a:lnTo>
                <a:close/>
              </a:path>
              <a:path w="3757295" h="480695">
                <a:moveTo>
                  <a:pt x="3757117" y="12700"/>
                </a:moveTo>
                <a:lnTo>
                  <a:pt x="3750767" y="12700"/>
                </a:lnTo>
                <a:lnTo>
                  <a:pt x="3744417" y="6350"/>
                </a:lnTo>
                <a:lnTo>
                  <a:pt x="3757117" y="6350"/>
                </a:lnTo>
                <a:lnTo>
                  <a:pt x="3757117" y="12700"/>
                </a:lnTo>
                <a:close/>
              </a:path>
              <a:path w="3757295" h="480695">
                <a:moveTo>
                  <a:pt x="12700" y="474345"/>
                </a:moveTo>
                <a:lnTo>
                  <a:pt x="6350" y="467995"/>
                </a:lnTo>
                <a:lnTo>
                  <a:pt x="12700" y="467995"/>
                </a:lnTo>
                <a:lnTo>
                  <a:pt x="12700" y="474345"/>
                </a:lnTo>
                <a:close/>
              </a:path>
              <a:path w="3757295" h="480695">
                <a:moveTo>
                  <a:pt x="3744417" y="474345"/>
                </a:moveTo>
                <a:lnTo>
                  <a:pt x="12700" y="474345"/>
                </a:lnTo>
                <a:lnTo>
                  <a:pt x="12700" y="467995"/>
                </a:lnTo>
                <a:lnTo>
                  <a:pt x="3744417" y="467995"/>
                </a:lnTo>
                <a:lnTo>
                  <a:pt x="3744417" y="474345"/>
                </a:lnTo>
                <a:close/>
              </a:path>
              <a:path w="3757295" h="480695">
                <a:moveTo>
                  <a:pt x="3757117" y="474345"/>
                </a:moveTo>
                <a:lnTo>
                  <a:pt x="3744417" y="474345"/>
                </a:lnTo>
                <a:lnTo>
                  <a:pt x="3750767" y="467995"/>
                </a:lnTo>
                <a:lnTo>
                  <a:pt x="3757117" y="467995"/>
                </a:lnTo>
                <a:lnTo>
                  <a:pt x="3757117" y="47434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72000" y="1498091"/>
            <a:ext cx="4527804" cy="92202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68190" y="1493748"/>
            <a:ext cx="4535805" cy="929640"/>
          </a:xfrm>
          <a:custGeom>
            <a:avLst/>
            <a:gdLst/>
            <a:ahLst/>
            <a:cxnLst/>
            <a:rect l="l" t="t" r="r" b="b"/>
            <a:pathLst>
              <a:path w="4535805" h="929639">
                <a:moveTo>
                  <a:pt x="4535741" y="929640"/>
                </a:moveTo>
                <a:lnTo>
                  <a:pt x="0" y="929640"/>
                </a:lnTo>
                <a:lnTo>
                  <a:pt x="0" y="0"/>
                </a:lnTo>
                <a:lnTo>
                  <a:pt x="4535741" y="0"/>
                </a:lnTo>
                <a:lnTo>
                  <a:pt x="4535741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922019"/>
                </a:lnTo>
                <a:lnTo>
                  <a:pt x="3810" y="922019"/>
                </a:lnTo>
                <a:lnTo>
                  <a:pt x="7620" y="925830"/>
                </a:lnTo>
                <a:lnTo>
                  <a:pt x="4535741" y="925830"/>
                </a:lnTo>
                <a:lnTo>
                  <a:pt x="4535741" y="929640"/>
                </a:lnTo>
                <a:close/>
              </a:path>
              <a:path w="4535805" h="929639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4535805" h="929639">
                <a:moveTo>
                  <a:pt x="452812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4528121" y="3810"/>
                </a:lnTo>
                <a:lnTo>
                  <a:pt x="4528121" y="7620"/>
                </a:lnTo>
                <a:close/>
              </a:path>
              <a:path w="4535805" h="929639">
                <a:moveTo>
                  <a:pt x="4528121" y="925830"/>
                </a:moveTo>
                <a:lnTo>
                  <a:pt x="4528121" y="3810"/>
                </a:lnTo>
                <a:lnTo>
                  <a:pt x="4531931" y="7620"/>
                </a:lnTo>
                <a:lnTo>
                  <a:pt x="4535741" y="7620"/>
                </a:lnTo>
                <a:lnTo>
                  <a:pt x="4535741" y="922019"/>
                </a:lnTo>
                <a:lnTo>
                  <a:pt x="4531931" y="922019"/>
                </a:lnTo>
                <a:lnTo>
                  <a:pt x="4528121" y="925830"/>
                </a:lnTo>
                <a:close/>
              </a:path>
              <a:path w="4535805" h="929639">
                <a:moveTo>
                  <a:pt x="4535741" y="7620"/>
                </a:moveTo>
                <a:lnTo>
                  <a:pt x="4531931" y="7620"/>
                </a:lnTo>
                <a:lnTo>
                  <a:pt x="4528121" y="3810"/>
                </a:lnTo>
                <a:lnTo>
                  <a:pt x="4535741" y="3810"/>
                </a:lnTo>
                <a:lnTo>
                  <a:pt x="4535741" y="7620"/>
                </a:lnTo>
                <a:close/>
              </a:path>
              <a:path w="4535805" h="929639">
                <a:moveTo>
                  <a:pt x="7620" y="925830"/>
                </a:moveTo>
                <a:lnTo>
                  <a:pt x="3810" y="922019"/>
                </a:lnTo>
                <a:lnTo>
                  <a:pt x="7620" y="922019"/>
                </a:lnTo>
                <a:lnTo>
                  <a:pt x="7620" y="925830"/>
                </a:lnTo>
                <a:close/>
              </a:path>
              <a:path w="4535805" h="929639">
                <a:moveTo>
                  <a:pt x="4528121" y="925830"/>
                </a:moveTo>
                <a:lnTo>
                  <a:pt x="7620" y="925830"/>
                </a:lnTo>
                <a:lnTo>
                  <a:pt x="7620" y="922019"/>
                </a:lnTo>
                <a:lnTo>
                  <a:pt x="4528121" y="922019"/>
                </a:lnTo>
                <a:lnTo>
                  <a:pt x="4528121" y="925830"/>
                </a:lnTo>
                <a:close/>
              </a:path>
              <a:path w="4535805" h="929639">
                <a:moveTo>
                  <a:pt x="4535741" y="925830"/>
                </a:moveTo>
                <a:lnTo>
                  <a:pt x="4528121" y="925830"/>
                </a:lnTo>
                <a:lnTo>
                  <a:pt x="4531931" y="922019"/>
                </a:lnTo>
                <a:lnTo>
                  <a:pt x="4535741" y="922019"/>
                </a:lnTo>
                <a:lnTo>
                  <a:pt x="4535741" y="92583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650740" y="1525498"/>
            <a:ext cx="4368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第二步，编写底层各实现类，实现接口中的 方法，直接操作底层数据（接口的实现类通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50740" y="2074138"/>
            <a:ext cx="4393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常放在接口的子包中，命名为</a:t>
            </a:r>
            <a:r>
              <a:rPr sz="1800" spc="-5" dirty="0">
                <a:latin typeface="微软雅黑"/>
                <a:cs typeface="微软雅黑"/>
              </a:rPr>
              <a:t>“impl”）</a:t>
            </a:r>
            <a:r>
              <a:rPr sz="1800" dirty="0">
                <a:latin typeface="微软雅黑"/>
                <a:cs typeface="微软雅黑"/>
              </a:rPr>
              <a:t>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47573" y="3246666"/>
            <a:ext cx="3757295" cy="1597025"/>
          </a:xfrm>
          <a:custGeom>
            <a:avLst/>
            <a:gdLst/>
            <a:ahLst/>
            <a:cxnLst/>
            <a:rect l="l" t="t" r="r" b="b"/>
            <a:pathLst>
              <a:path w="3757295" h="1597025">
                <a:moveTo>
                  <a:pt x="3757117" y="1596872"/>
                </a:moveTo>
                <a:lnTo>
                  <a:pt x="0" y="1596872"/>
                </a:lnTo>
                <a:lnTo>
                  <a:pt x="0" y="0"/>
                </a:lnTo>
                <a:lnTo>
                  <a:pt x="3757117" y="0"/>
                </a:lnTo>
                <a:lnTo>
                  <a:pt x="3757117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584172"/>
                </a:lnTo>
                <a:lnTo>
                  <a:pt x="6350" y="1584172"/>
                </a:lnTo>
                <a:lnTo>
                  <a:pt x="12700" y="1590522"/>
                </a:lnTo>
                <a:lnTo>
                  <a:pt x="3757117" y="1590522"/>
                </a:lnTo>
                <a:lnTo>
                  <a:pt x="3757117" y="1596872"/>
                </a:lnTo>
                <a:close/>
              </a:path>
              <a:path w="3757295" h="159702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3757295" h="1597025">
                <a:moveTo>
                  <a:pt x="3744417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3744417" y="6349"/>
                </a:lnTo>
                <a:lnTo>
                  <a:pt x="3744417" y="12699"/>
                </a:lnTo>
                <a:close/>
              </a:path>
              <a:path w="3757295" h="1597025">
                <a:moveTo>
                  <a:pt x="3744417" y="1590522"/>
                </a:moveTo>
                <a:lnTo>
                  <a:pt x="3744417" y="6349"/>
                </a:lnTo>
                <a:lnTo>
                  <a:pt x="3750767" y="12699"/>
                </a:lnTo>
                <a:lnTo>
                  <a:pt x="3757117" y="12699"/>
                </a:lnTo>
                <a:lnTo>
                  <a:pt x="3757117" y="1584172"/>
                </a:lnTo>
                <a:lnTo>
                  <a:pt x="3750767" y="1584172"/>
                </a:lnTo>
                <a:lnTo>
                  <a:pt x="3744417" y="1590522"/>
                </a:lnTo>
                <a:close/>
              </a:path>
              <a:path w="3757295" h="1597025">
                <a:moveTo>
                  <a:pt x="3757117" y="12699"/>
                </a:moveTo>
                <a:lnTo>
                  <a:pt x="3750767" y="12699"/>
                </a:lnTo>
                <a:lnTo>
                  <a:pt x="3744417" y="6349"/>
                </a:lnTo>
                <a:lnTo>
                  <a:pt x="3757117" y="6349"/>
                </a:lnTo>
                <a:lnTo>
                  <a:pt x="3757117" y="12699"/>
                </a:lnTo>
                <a:close/>
              </a:path>
              <a:path w="3757295" h="1597025">
                <a:moveTo>
                  <a:pt x="12700" y="1590522"/>
                </a:moveTo>
                <a:lnTo>
                  <a:pt x="6350" y="1584172"/>
                </a:lnTo>
                <a:lnTo>
                  <a:pt x="12700" y="1584172"/>
                </a:lnTo>
                <a:lnTo>
                  <a:pt x="12700" y="1590522"/>
                </a:lnTo>
                <a:close/>
              </a:path>
              <a:path w="3757295" h="1597025">
                <a:moveTo>
                  <a:pt x="3744417" y="1590522"/>
                </a:moveTo>
                <a:lnTo>
                  <a:pt x="12700" y="1590522"/>
                </a:lnTo>
                <a:lnTo>
                  <a:pt x="12700" y="1584172"/>
                </a:lnTo>
                <a:lnTo>
                  <a:pt x="3744417" y="1584172"/>
                </a:lnTo>
                <a:lnTo>
                  <a:pt x="3744417" y="1590522"/>
                </a:lnTo>
                <a:close/>
              </a:path>
              <a:path w="3757295" h="1597025">
                <a:moveTo>
                  <a:pt x="3757117" y="1590522"/>
                </a:moveTo>
                <a:lnTo>
                  <a:pt x="3744417" y="1590522"/>
                </a:lnTo>
                <a:lnTo>
                  <a:pt x="3750767" y="1584172"/>
                </a:lnTo>
                <a:lnTo>
                  <a:pt x="3757117" y="1584172"/>
                </a:lnTo>
                <a:lnTo>
                  <a:pt x="3757117" y="1590522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2663" y="3897541"/>
            <a:ext cx="1504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微软雅黑"/>
                <a:cs typeface="微软雅黑"/>
              </a:rPr>
              <a:t>2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579620" y="5373623"/>
            <a:ext cx="4564380" cy="92202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75581" y="5369407"/>
            <a:ext cx="4568825" cy="929640"/>
          </a:xfrm>
          <a:custGeom>
            <a:avLst/>
            <a:gdLst/>
            <a:ahLst/>
            <a:cxnLst/>
            <a:rect l="l" t="t" r="r" b="b"/>
            <a:pathLst>
              <a:path w="4568825" h="929639">
                <a:moveTo>
                  <a:pt x="4568418" y="929639"/>
                </a:moveTo>
                <a:lnTo>
                  <a:pt x="0" y="929639"/>
                </a:lnTo>
                <a:lnTo>
                  <a:pt x="0" y="0"/>
                </a:lnTo>
                <a:lnTo>
                  <a:pt x="4568418" y="0"/>
                </a:lnTo>
                <a:lnTo>
                  <a:pt x="4568418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922019"/>
                </a:lnTo>
                <a:lnTo>
                  <a:pt x="3810" y="922019"/>
                </a:lnTo>
                <a:lnTo>
                  <a:pt x="7620" y="925829"/>
                </a:lnTo>
                <a:lnTo>
                  <a:pt x="4568418" y="925829"/>
                </a:lnTo>
                <a:lnTo>
                  <a:pt x="4568418" y="929639"/>
                </a:lnTo>
                <a:close/>
              </a:path>
              <a:path w="4568825" h="929639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4568825" h="929639">
                <a:moveTo>
                  <a:pt x="4568418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4568418" y="3810"/>
                </a:lnTo>
                <a:lnTo>
                  <a:pt x="4568418" y="7619"/>
                </a:lnTo>
                <a:close/>
              </a:path>
              <a:path w="4568825" h="929639">
                <a:moveTo>
                  <a:pt x="7620" y="925829"/>
                </a:moveTo>
                <a:lnTo>
                  <a:pt x="3810" y="922019"/>
                </a:lnTo>
                <a:lnTo>
                  <a:pt x="7620" y="922019"/>
                </a:lnTo>
                <a:lnTo>
                  <a:pt x="7620" y="925829"/>
                </a:lnTo>
                <a:close/>
              </a:path>
              <a:path w="4568825" h="929639">
                <a:moveTo>
                  <a:pt x="4568418" y="925829"/>
                </a:moveTo>
                <a:lnTo>
                  <a:pt x="7620" y="925829"/>
                </a:lnTo>
                <a:lnTo>
                  <a:pt x="7620" y="922019"/>
                </a:lnTo>
                <a:lnTo>
                  <a:pt x="4568418" y="922019"/>
                </a:lnTo>
                <a:lnTo>
                  <a:pt x="4568418" y="92582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658131" y="5401157"/>
            <a:ext cx="4345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第四步，编写测试类</a:t>
            </a:r>
            <a:r>
              <a:rPr sz="1800" spc="-45" dirty="0">
                <a:latin typeface="微软雅黑"/>
                <a:cs typeface="微软雅黑"/>
              </a:rPr>
              <a:t>Test，</a:t>
            </a:r>
            <a:r>
              <a:rPr sz="1800" dirty="0">
                <a:latin typeface="微软雅黑"/>
                <a:cs typeface="微软雅黑"/>
              </a:rPr>
              <a:t>在</a:t>
            </a:r>
            <a:r>
              <a:rPr sz="1800" spc="-5" dirty="0">
                <a:latin typeface="微软雅黑"/>
                <a:cs typeface="微软雅黑"/>
              </a:rPr>
              <a:t>main()</a:t>
            </a:r>
            <a:r>
              <a:rPr sz="1800" dirty="0">
                <a:latin typeface="微软雅黑"/>
                <a:cs typeface="微软雅黑"/>
              </a:rPr>
              <a:t>方法中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58131" y="5675477"/>
            <a:ext cx="459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创建接口的实现类对象，传递给应用层实例，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58131" y="5949797"/>
            <a:ext cx="436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应用层实例调用应用层业务方法完成任务。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47573" y="5766942"/>
            <a:ext cx="3757295" cy="480695"/>
          </a:xfrm>
          <a:custGeom>
            <a:avLst/>
            <a:gdLst/>
            <a:ahLst/>
            <a:cxnLst/>
            <a:rect l="l" t="t" r="r" b="b"/>
            <a:pathLst>
              <a:path w="3757295" h="480695">
                <a:moveTo>
                  <a:pt x="3757117" y="480695"/>
                </a:moveTo>
                <a:lnTo>
                  <a:pt x="0" y="480695"/>
                </a:lnTo>
                <a:lnTo>
                  <a:pt x="0" y="0"/>
                </a:lnTo>
                <a:lnTo>
                  <a:pt x="3757117" y="0"/>
                </a:lnTo>
                <a:lnTo>
                  <a:pt x="375711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7995"/>
                </a:lnTo>
                <a:lnTo>
                  <a:pt x="6350" y="467995"/>
                </a:lnTo>
                <a:lnTo>
                  <a:pt x="12700" y="474345"/>
                </a:lnTo>
                <a:lnTo>
                  <a:pt x="3757117" y="474345"/>
                </a:lnTo>
                <a:lnTo>
                  <a:pt x="3757117" y="480695"/>
                </a:lnTo>
                <a:close/>
              </a:path>
              <a:path w="3757295" h="48069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757295" h="480695">
                <a:moveTo>
                  <a:pt x="374441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744417" y="6350"/>
                </a:lnTo>
                <a:lnTo>
                  <a:pt x="3744417" y="12700"/>
                </a:lnTo>
                <a:close/>
              </a:path>
              <a:path w="3757295" h="480695">
                <a:moveTo>
                  <a:pt x="3744417" y="474345"/>
                </a:moveTo>
                <a:lnTo>
                  <a:pt x="3744417" y="6350"/>
                </a:lnTo>
                <a:lnTo>
                  <a:pt x="3750767" y="12700"/>
                </a:lnTo>
                <a:lnTo>
                  <a:pt x="3757117" y="12700"/>
                </a:lnTo>
                <a:lnTo>
                  <a:pt x="3757117" y="467995"/>
                </a:lnTo>
                <a:lnTo>
                  <a:pt x="3750767" y="467995"/>
                </a:lnTo>
                <a:lnTo>
                  <a:pt x="3744417" y="474345"/>
                </a:lnTo>
                <a:close/>
              </a:path>
              <a:path w="3757295" h="480695">
                <a:moveTo>
                  <a:pt x="3757117" y="12700"/>
                </a:moveTo>
                <a:lnTo>
                  <a:pt x="3750767" y="12700"/>
                </a:lnTo>
                <a:lnTo>
                  <a:pt x="3744417" y="6350"/>
                </a:lnTo>
                <a:lnTo>
                  <a:pt x="3757117" y="6350"/>
                </a:lnTo>
                <a:lnTo>
                  <a:pt x="3757117" y="12700"/>
                </a:lnTo>
                <a:close/>
              </a:path>
              <a:path w="3757295" h="480695">
                <a:moveTo>
                  <a:pt x="12700" y="474345"/>
                </a:moveTo>
                <a:lnTo>
                  <a:pt x="6350" y="467995"/>
                </a:lnTo>
                <a:lnTo>
                  <a:pt x="12700" y="467995"/>
                </a:lnTo>
                <a:lnTo>
                  <a:pt x="12700" y="474345"/>
                </a:lnTo>
                <a:close/>
              </a:path>
              <a:path w="3757295" h="480695">
                <a:moveTo>
                  <a:pt x="3744417" y="474345"/>
                </a:moveTo>
                <a:lnTo>
                  <a:pt x="12700" y="474345"/>
                </a:lnTo>
                <a:lnTo>
                  <a:pt x="12700" y="467995"/>
                </a:lnTo>
                <a:lnTo>
                  <a:pt x="3744417" y="467995"/>
                </a:lnTo>
                <a:lnTo>
                  <a:pt x="3744417" y="474345"/>
                </a:lnTo>
                <a:close/>
              </a:path>
              <a:path w="3757295" h="480695">
                <a:moveTo>
                  <a:pt x="3757117" y="474345"/>
                </a:moveTo>
                <a:lnTo>
                  <a:pt x="3744417" y="474345"/>
                </a:lnTo>
                <a:lnTo>
                  <a:pt x="3750767" y="467995"/>
                </a:lnTo>
                <a:lnTo>
                  <a:pt x="3757117" y="467995"/>
                </a:lnTo>
                <a:lnTo>
                  <a:pt x="3757117" y="47434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32663" y="4781256"/>
            <a:ext cx="182880" cy="137414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600" b="1" spc="-5" dirty="0">
                <a:latin typeface="微软雅黑"/>
                <a:cs typeface="微软雅黑"/>
              </a:rPr>
              <a:t>3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b="1" dirty="0">
                <a:latin typeface="微软雅黑"/>
                <a:cs typeface="微软雅黑"/>
              </a:rPr>
              <a:t>1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000" b="1" dirty="0">
                <a:latin typeface="微软雅黑"/>
                <a:cs typeface="微软雅黑"/>
              </a:rPr>
              <a:t>4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521724" y="1346365"/>
            <a:ext cx="972819" cy="546100"/>
          </a:xfrm>
          <a:custGeom>
            <a:avLst/>
            <a:gdLst/>
            <a:ahLst/>
            <a:cxnLst/>
            <a:rect l="l" t="t" r="r" b="b"/>
            <a:pathLst>
              <a:path w="972820" h="546100">
                <a:moveTo>
                  <a:pt x="0" y="0"/>
                </a:moveTo>
                <a:lnTo>
                  <a:pt x="972781" y="0"/>
                </a:lnTo>
                <a:lnTo>
                  <a:pt x="972781" y="545731"/>
                </a:lnTo>
                <a:lnTo>
                  <a:pt x="0" y="545731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521724" y="1346365"/>
            <a:ext cx="972819" cy="546100"/>
          </a:xfrm>
          <a:custGeom>
            <a:avLst/>
            <a:gdLst/>
            <a:ahLst/>
            <a:cxnLst/>
            <a:rect l="l" t="t" r="r" b="b"/>
            <a:pathLst>
              <a:path w="972820" h="546100">
                <a:moveTo>
                  <a:pt x="0" y="0"/>
                </a:moveTo>
                <a:lnTo>
                  <a:pt x="972781" y="0"/>
                </a:lnTo>
                <a:lnTo>
                  <a:pt x="972781" y="545731"/>
                </a:lnTo>
                <a:lnTo>
                  <a:pt x="0" y="545731"/>
                </a:lnTo>
                <a:lnTo>
                  <a:pt x="0" y="0"/>
                </a:lnTo>
                <a:close/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728683" y="1365021"/>
            <a:ext cx="568325" cy="189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165">
              <a:lnSpc>
                <a:spcPts val="650"/>
              </a:lnSpc>
              <a:spcBef>
                <a:spcPts val="90"/>
              </a:spcBef>
            </a:pPr>
            <a:r>
              <a:rPr sz="550" spc="-5" dirty="0">
                <a:latin typeface="Tahoma"/>
                <a:cs typeface="Tahoma"/>
              </a:rPr>
              <a:t>&lt;&lt;interface&gt;&gt;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ts val="650"/>
              </a:lnSpc>
            </a:pPr>
            <a:r>
              <a:rPr sz="550" b="1" spc="-5" dirty="0">
                <a:latin typeface="Tahoma"/>
                <a:cs typeface="Tahoma"/>
              </a:rPr>
              <a:t>IMobileStorage</a:t>
            </a:r>
            <a:endParaRPr sz="55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540406" y="1584566"/>
            <a:ext cx="446405" cy="189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650"/>
              </a:lnSpc>
              <a:spcBef>
                <a:spcPts val="90"/>
              </a:spcBef>
            </a:pPr>
            <a:r>
              <a:rPr sz="550" spc="-10" dirty="0">
                <a:latin typeface="Tahoma"/>
                <a:cs typeface="Tahoma"/>
              </a:rPr>
              <a:t>+read():</a:t>
            </a:r>
            <a:r>
              <a:rPr sz="550" spc="-85" dirty="0">
                <a:latin typeface="Tahoma"/>
                <a:cs typeface="Tahoma"/>
              </a:rPr>
              <a:t> </a:t>
            </a:r>
            <a:r>
              <a:rPr sz="550" spc="-5" dirty="0">
                <a:latin typeface="Tahoma"/>
                <a:cs typeface="Tahoma"/>
              </a:rPr>
              <a:t>void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ts val="650"/>
              </a:lnSpc>
            </a:pPr>
            <a:r>
              <a:rPr sz="550" spc="-10" dirty="0">
                <a:latin typeface="Tahoma"/>
                <a:cs typeface="Tahoma"/>
              </a:rPr>
              <a:t>+write():</a:t>
            </a:r>
            <a:r>
              <a:rPr sz="550" spc="-105" dirty="0">
                <a:latin typeface="Tahoma"/>
                <a:cs typeface="Tahoma"/>
              </a:rPr>
              <a:t> </a:t>
            </a:r>
            <a:r>
              <a:rPr sz="550" spc="-5" dirty="0">
                <a:latin typeface="Tahoma"/>
                <a:cs typeface="Tahoma"/>
              </a:rPr>
              <a:t>void</a:t>
            </a:r>
            <a:endParaRPr sz="55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521724" y="1565910"/>
            <a:ext cx="979169" cy="0"/>
          </a:xfrm>
          <a:custGeom>
            <a:avLst/>
            <a:gdLst/>
            <a:ahLst/>
            <a:cxnLst/>
            <a:rect l="l" t="t" r="r" b="b"/>
            <a:pathLst>
              <a:path w="979170">
                <a:moveTo>
                  <a:pt x="0" y="0"/>
                </a:moveTo>
                <a:lnTo>
                  <a:pt x="979055" y="0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120061" y="468160"/>
            <a:ext cx="1770380" cy="665480"/>
          </a:xfrm>
          <a:custGeom>
            <a:avLst/>
            <a:gdLst/>
            <a:ahLst/>
            <a:cxnLst/>
            <a:rect l="l" t="t" r="r" b="b"/>
            <a:pathLst>
              <a:path w="1770379" h="665480">
                <a:moveTo>
                  <a:pt x="0" y="0"/>
                </a:moveTo>
                <a:lnTo>
                  <a:pt x="1769846" y="0"/>
                </a:lnTo>
                <a:lnTo>
                  <a:pt x="1769846" y="664921"/>
                </a:lnTo>
                <a:lnTo>
                  <a:pt x="0" y="664921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20061" y="468160"/>
            <a:ext cx="1770380" cy="665480"/>
          </a:xfrm>
          <a:custGeom>
            <a:avLst/>
            <a:gdLst/>
            <a:ahLst/>
            <a:cxnLst/>
            <a:rect l="l" t="t" r="r" b="b"/>
            <a:pathLst>
              <a:path w="1770379" h="665480">
                <a:moveTo>
                  <a:pt x="0" y="0"/>
                </a:moveTo>
                <a:lnTo>
                  <a:pt x="1769846" y="0"/>
                </a:lnTo>
                <a:lnTo>
                  <a:pt x="1769846" y="664921"/>
                </a:lnTo>
                <a:lnTo>
                  <a:pt x="0" y="664921"/>
                </a:lnTo>
                <a:lnTo>
                  <a:pt x="0" y="0"/>
                </a:lnTo>
                <a:close/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20061" y="606170"/>
            <a:ext cx="1776730" cy="0"/>
          </a:xfrm>
          <a:custGeom>
            <a:avLst/>
            <a:gdLst/>
            <a:ahLst/>
            <a:cxnLst/>
            <a:rect l="l" t="t" r="r" b="b"/>
            <a:pathLst>
              <a:path w="1776729">
                <a:moveTo>
                  <a:pt x="0" y="0"/>
                </a:moveTo>
                <a:lnTo>
                  <a:pt x="1776107" y="0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138730" y="486816"/>
            <a:ext cx="1469390" cy="629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6595">
              <a:lnSpc>
                <a:spcPct val="100000"/>
              </a:lnSpc>
              <a:spcBef>
                <a:spcPts val="90"/>
              </a:spcBef>
            </a:pPr>
            <a:r>
              <a:rPr sz="550" b="1" dirty="0">
                <a:latin typeface="Tahoma"/>
                <a:cs typeface="Tahoma"/>
              </a:rPr>
              <a:t>Computer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550" spc="-10" dirty="0">
                <a:latin typeface="Tahoma"/>
                <a:cs typeface="Tahoma"/>
              </a:rPr>
              <a:t>-usbDriver:</a:t>
            </a:r>
            <a:r>
              <a:rPr sz="550" spc="-25" dirty="0">
                <a:latin typeface="Tahoma"/>
                <a:cs typeface="Tahoma"/>
              </a:rPr>
              <a:t> </a:t>
            </a:r>
            <a:r>
              <a:rPr sz="550" spc="-10" dirty="0">
                <a:latin typeface="Tahoma"/>
                <a:cs typeface="Tahoma"/>
              </a:rPr>
              <a:t>IMobileStorage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ts val="650"/>
              </a:lnSpc>
              <a:spcBef>
                <a:spcPts val="425"/>
              </a:spcBef>
            </a:pPr>
            <a:r>
              <a:rPr sz="550" spc="-10" dirty="0">
                <a:latin typeface="Tahoma"/>
                <a:cs typeface="Tahoma"/>
              </a:rPr>
              <a:t>+Computer(usbDriver:</a:t>
            </a:r>
            <a:r>
              <a:rPr sz="550" spc="-25" dirty="0">
                <a:latin typeface="Tahoma"/>
                <a:cs typeface="Tahoma"/>
              </a:rPr>
              <a:t> </a:t>
            </a:r>
            <a:r>
              <a:rPr sz="550" spc="-10" dirty="0">
                <a:latin typeface="Tahoma"/>
                <a:cs typeface="Tahoma"/>
              </a:rPr>
              <a:t>IMobileStorage)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ts val="640"/>
              </a:lnSpc>
            </a:pPr>
            <a:r>
              <a:rPr sz="550" spc="-10" dirty="0">
                <a:latin typeface="Tahoma"/>
                <a:cs typeface="Tahoma"/>
              </a:rPr>
              <a:t>+setUsbDriver(usbDriver: IMobileStorage):</a:t>
            </a:r>
            <a:r>
              <a:rPr sz="550" spc="-20" dirty="0">
                <a:latin typeface="Tahoma"/>
                <a:cs typeface="Tahoma"/>
              </a:rPr>
              <a:t> </a:t>
            </a:r>
            <a:r>
              <a:rPr sz="550" spc="-5" dirty="0">
                <a:latin typeface="Tahoma"/>
                <a:cs typeface="Tahoma"/>
              </a:rPr>
              <a:t>void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ts val="640"/>
              </a:lnSpc>
            </a:pPr>
            <a:r>
              <a:rPr sz="550" spc="-5" dirty="0">
                <a:latin typeface="Tahoma"/>
                <a:cs typeface="Tahoma"/>
              </a:rPr>
              <a:t>+readData():</a:t>
            </a:r>
            <a:r>
              <a:rPr sz="550" spc="-110" dirty="0">
                <a:latin typeface="Tahoma"/>
                <a:cs typeface="Tahoma"/>
              </a:rPr>
              <a:t> </a:t>
            </a:r>
            <a:r>
              <a:rPr sz="550" spc="-5" dirty="0">
                <a:latin typeface="Tahoma"/>
                <a:cs typeface="Tahoma"/>
              </a:rPr>
              <a:t>void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ts val="650"/>
              </a:lnSpc>
            </a:pPr>
            <a:r>
              <a:rPr sz="550" spc="-10" dirty="0">
                <a:latin typeface="Tahoma"/>
                <a:cs typeface="Tahoma"/>
              </a:rPr>
              <a:t>+writeData():</a:t>
            </a:r>
            <a:r>
              <a:rPr sz="550" spc="-70" dirty="0">
                <a:latin typeface="Tahoma"/>
                <a:cs typeface="Tahoma"/>
              </a:rPr>
              <a:t> </a:t>
            </a:r>
            <a:r>
              <a:rPr sz="550" spc="-5" dirty="0">
                <a:latin typeface="Tahoma"/>
                <a:cs typeface="Tahoma"/>
              </a:rPr>
              <a:t>void</a:t>
            </a:r>
            <a:endParaRPr sz="55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120061" y="744169"/>
            <a:ext cx="1776730" cy="0"/>
          </a:xfrm>
          <a:custGeom>
            <a:avLst/>
            <a:gdLst/>
            <a:ahLst/>
            <a:cxnLst/>
            <a:rect l="l" t="t" r="r" b="b"/>
            <a:pathLst>
              <a:path w="1776729">
                <a:moveTo>
                  <a:pt x="0" y="0"/>
                </a:moveTo>
                <a:lnTo>
                  <a:pt x="1776107" y="0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1765465" y="2221420"/>
          <a:ext cx="696595" cy="464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998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550" b="1" spc="-5" dirty="0">
                          <a:latin typeface="Tahoma"/>
                          <a:cs typeface="Tahoma"/>
                        </a:rPr>
                        <a:t>FlashDriver</a:t>
                      </a:r>
                      <a:endParaRPr sz="55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T w="6350">
                      <a:solidFill>
                        <a:srgbClr val="800000"/>
                      </a:solidFill>
                      <a:prstDash val="solid"/>
                    </a:lnT>
                    <a:lnB w="63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T w="6350">
                      <a:solidFill>
                        <a:srgbClr val="800000"/>
                      </a:solidFill>
                      <a:prstDash val="solid"/>
                    </a:lnT>
                    <a:lnB w="63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22">
                <a:tc>
                  <a:txBody>
                    <a:bodyPr/>
                    <a:lstStyle/>
                    <a:p>
                      <a:pPr marL="31115">
                        <a:lnSpc>
                          <a:spcPts val="650"/>
                        </a:lnSpc>
                        <a:spcBef>
                          <a:spcPts val="240"/>
                        </a:spcBef>
                      </a:pPr>
                      <a:r>
                        <a:rPr sz="550" spc="-10" dirty="0">
                          <a:latin typeface="Tahoma"/>
                          <a:cs typeface="Tahoma"/>
                        </a:rPr>
                        <a:t>+read():</a:t>
                      </a:r>
                      <a:r>
                        <a:rPr sz="55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550" spc="-5" dirty="0">
                          <a:latin typeface="Tahoma"/>
                          <a:cs typeface="Tahoma"/>
                        </a:rPr>
                        <a:t>void</a:t>
                      </a:r>
                      <a:endParaRPr sz="550">
                        <a:latin typeface="Tahoma"/>
                        <a:cs typeface="Tahoma"/>
                      </a:endParaRPr>
                    </a:p>
                    <a:p>
                      <a:pPr marL="31115">
                        <a:lnSpc>
                          <a:spcPts val="650"/>
                        </a:lnSpc>
                      </a:pPr>
                      <a:r>
                        <a:rPr sz="550" spc="-10" dirty="0">
                          <a:latin typeface="Tahoma"/>
                          <a:cs typeface="Tahoma"/>
                        </a:rPr>
                        <a:t>+write():</a:t>
                      </a:r>
                      <a:r>
                        <a:rPr sz="55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550" spc="-5" dirty="0">
                          <a:latin typeface="Tahoma"/>
                          <a:cs typeface="Tahoma"/>
                        </a:rPr>
                        <a:t>void</a:t>
                      </a:r>
                      <a:endParaRPr sz="55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T w="6350">
                      <a:solidFill>
                        <a:srgbClr val="800000"/>
                      </a:solidFill>
                      <a:prstDash val="solid"/>
                    </a:lnT>
                    <a:lnB w="63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2371102" y="1898370"/>
            <a:ext cx="345440" cy="326390"/>
          </a:xfrm>
          <a:custGeom>
            <a:avLst/>
            <a:gdLst/>
            <a:ahLst/>
            <a:cxnLst/>
            <a:rect l="l" t="t" r="r" b="b"/>
            <a:pathLst>
              <a:path w="345439" h="326389">
                <a:moveTo>
                  <a:pt x="0" y="326186"/>
                </a:moveTo>
                <a:lnTo>
                  <a:pt x="345173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590761" y="189837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75310" y="125463"/>
                </a:moveTo>
                <a:lnTo>
                  <a:pt x="125514" y="0"/>
                </a:lnTo>
                <a:lnTo>
                  <a:pt x="0" y="43916"/>
                </a:lnTo>
                <a:lnTo>
                  <a:pt x="75310" y="125463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597035" y="2224557"/>
            <a:ext cx="747395" cy="464184"/>
          </a:xfrm>
          <a:custGeom>
            <a:avLst/>
            <a:gdLst/>
            <a:ahLst/>
            <a:cxnLst/>
            <a:rect l="l" t="t" r="r" b="b"/>
            <a:pathLst>
              <a:path w="747395" h="464185">
                <a:moveTo>
                  <a:pt x="0" y="0"/>
                </a:moveTo>
                <a:lnTo>
                  <a:pt x="746848" y="0"/>
                </a:lnTo>
                <a:lnTo>
                  <a:pt x="746848" y="464184"/>
                </a:lnTo>
                <a:lnTo>
                  <a:pt x="0" y="464184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597035" y="2224557"/>
            <a:ext cx="747395" cy="464184"/>
          </a:xfrm>
          <a:custGeom>
            <a:avLst/>
            <a:gdLst/>
            <a:ahLst/>
            <a:cxnLst/>
            <a:rect l="l" t="t" r="r" b="b"/>
            <a:pathLst>
              <a:path w="747395" h="464185">
                <a:moveTo>
                  <a:pt x="0" y="0"/>
                </a:moveTo>
                <a:lnTo>
                  <a:pt x="746848" y="0"/>
                </a:lnTo>
                <a:lnTo>
                  <a:pt x="746848" y="464184"/>
                </a:lnTo>
                <a:lnTo>
                  <a:pt x="0" y="464184"/>
                </a:lnTo>
                <a:lnTo>
                  <a:pt x="0" y="0"/>
                </a:lnTo>
                <a:close/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2684754" y="2243213"/>
            <a:ext cx="575310" cy="10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b="1" spc="-10" dirty="0">
                <a:latin typeface="Tahoma"/>
                <a:cs typeface="Tahoma"/>
              </a:rPr>
              <a:t>MobileHardDisk</a:t>
            </a:r>
            <a:endParaRPr sz="550">
              <a:latin typeface="Tahoma"/>
              <a:cs typeface="Tahom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597035" y="2362555"/>
            <a:ext cx="753745" cy="0"/>
          </a:xfrm>
          <a:custGeom>
            <a:avLst/>
            <a:gdLst/>
            <a:ahLst/>
            <a:cxnLst/>
            <a:rect l="l" t="t" r="r" b="b"/>
            <a:pathLst>
              <a:path w="753745">
                <a:moveTo>
                  <a:pt x="0" y="0"/>
                </a:moveTo>
                <a:lnTo>
                  <a:pt x="753122" y="0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2615717" y="2437676"/>
            <a:ext cx="446405" cy="189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650"/>
              </a:lnSpc>
              <a:spcBef>
                <a:spcPts val="90"/>
              </a:spcBef>
            </a:pPr>
            <a:r>
              <a:rPr sz="550" spc="-10" dirty="0">
                <a:latin typeface="Tahoma"/>
                <a:cs typeface="Tahoma"/>
              </a:rPr>
              <a:t>+read():</a:t>
            </a:r>
            <a:r>
              <a:rPr sz="550" spc="-85" dirty="0">
                <a:latin typeface="Tahoma"/>
                <a:cs typeface="Tahoma"/>
              </a:rPr>
              <a:t> </a:t>
            </a:r>
            <a:r>
              <a:rPr sz="550" spc="-5" dirty="0">
                <a:latin typeface="Tahoma"/>
                <a:cs typeface="Tahoma"/>
              </a:rPr>
              <a:t>void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ts val="650"/>
              </a:lnSpc>
            </a:pPr>
            <a:r>
              <a:rPr sz="550" spc="-10" dirty="0">
                <a:latin typeface="Tahoma"/>
                <a:cs typeface="Tahoma"/>
              </a:rPr>
              <a:t>+write():</a:t>
            </a:r>
            <a:r>
              <a:rPr sz="550" spc="-105" dirty="0">
                <a:latin typeface="Tahoma"/>
                <a:cs typeface="Tahoma"/>
              </a:rPr>
              <a:t> </a:t>
            </a:r>
            <a:r>
              <a:rPr sz="550" spc="-5" dirty="0">
                <a:latin typeface="Tahoma"/>
                <a:cs typeface="Tahoma"/>
              </a:rPr>
              <a:t>void</a:t>
            </a:r>
            <a:endParaRPr sz="55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597035" y="2419019"/>
            <a:ext cx="753745" cy="0"/>
          </a:xfrm>
          <a:custGeom>
            <a:avLst/>
            <a:gdLst/>
            <a:ahLst/>
            <a:cxnLst/>
            <a:rect l="l" t="t" r="r" b="b"/>
            <a:pathLst>
              <a:path w="753745">
                <a:moveTo>
                  <a:pt x="0" y="0"/>
                </a:moveTo>
                <a:lnTo>
                  <a:pt x="753122" y="0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998698" y="1898370"/>
            <a:ext cx="0" cy="326390"/>
          </a:xfrm>
          <a:custGeom>
            <a:avLst/>
            <a:gdLst/>
            <a:ahLst/>
            <a:cxnLst/>
            <a:rect l="l" t="t" r="r" b="b"/>
            <a:pathLst>
              <a:path h="326389">
                <a:moveTo>
                  <a:pt x="0" y="326186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998698" y="1898370"/>
            <a:ext cx="0" cy="326390"/>
          </a:xfrm>
          <a:custGeom>
            <a:avLst/>
            <a:gdLst/>
            <a:ahLst/>
            <a:cxnLst/>
            <a:rect l="l" t="t" r="r" b="b"/>
            <a:pathLst>
              <a:path h="326389">
                <a:moveTo>
                  <a:pt x="0" y="326186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945358" y="1895233"/>
            <a:ext cx="106692" cy="13173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3522751" y="2246515"/>
          <a:ext cx="840740" cy="439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998">
                <a:tc>
                  <a:txBody>
                    <a:bodyPr/>
                    <a:lstStyle/>
                    <a:p>
                      <a:pPr marL="2381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550" b="1" spc="-5" dirty="0">
                          <a:latin typeface="Tahoma"/>
                          <a:cs typeface="Tahoma"/>
                        </a:rPr>
                        <a:t>MP3Player</a:t>
                      </a:r>
                      <a:endParaRPr sz="55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T w="6350">
                      <a:solidFill>
                        <a:srgbClr val="800000"/>
                      </a:solidFill>
                      <a:prstDash val="solid"/>
                    </a:lnT>
                    <a:lnB w="63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T w="6350">
                      <a:solidFill>
                        <a:srgbClr val="800000"/>
                      </a:solidFill>
                      <a:prstDash val="solid"/>
                    </a:lnT>
                    <a:lnB w="63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52">
                <a:tc>
                  <a:txBody>
                    <a:bodyPr/>
                    <a:lstStyle/>
                    <a:p>
                      <a:pPr marL="31115">
                        <a:lnSpc>
                          <a:spcPts val="650"/>
                        </a:lnSpc>
                        <a:spcBef>
                          <a:spcPts val="240"/>
                        </a:spcBef>
                      </a:pPr>
                      <a:r>
                        <a:rPr sz="550" spc="-10" dirty="0">
                          <a:latin typeface="Tahoma"/>
                          <a:cs typeface="Tahoma"/>
                        </a:rPr>
                        <a:t>+read():</a:t>
                      </a:r>
                      <a:r>
                        <a:rPr sz="55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550" spc="-5" dirty="0">
                          <a:latin typeface="Tahoma"/>
                          <a:cs typeface="Tahoma"/>
                        </a:rPr>
                        <a:t>void</a:t>
                      </a:r>
                      <a:endParaRPr sz="550">
                        <a:latin typeface="Tahoma"/>
                        <a:cs typeface="Tahoma"/>
                      </a:endParaRPr>
                    </a:p>
                    <a:p>
                      <a:pPr marL="31115">
                        <a:lnSpc>
                          <a:spcPts val="650"/>
                        </a:lnSpc>
                      </a:pPr>
                      <a:r>
                        <a:rPr sz="550" spc="-10" dirty="0">
                          <a:latin typeface="Tahoma"/>
                          <a:cs typeface="Tahoma"/>
                        </a:rPr>
                        <a:t>+write():</a:t>
                      </a:r>
                      <a:r>
                        <a:rPr sz="55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550" spc="-5" dirty="0">
                          <a:latin typeface="Tahoma"/>
                          <a:cs typeface="Tahoma"/>
                        </a:rPr>
                        <a:t>void</a:t>
                      </a:r>
                      <a:endParaRPr sz="55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T w="6350">
                      <a:solidFill>
                        <a:srgbClr val="800000"/>
                      </a:solidFill>
                      <a:prstDash val="solid"/>
                    </a:lnT>
                    <a:lnB w="63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object 69"/>
          <p:cNvSpPr/>
          <p:nvPr/>
        </p:nvSpPr>
        <p:spPr>
          <a:xfrm>
            <a:off x="3312502" y="1898370"/>
            <a:ext cx="389255" cy="351790"/>
          </a:xfrm>
          <a:custGeom>
            <a:avLst/>
            <a:gdLst/>
            <a:ahLst/>
            <a:cxnLst/>
            <a:rect l="l" t="t" r="r" b="b"/>
            <a:pathLst>
              <a:path w="389254" h="351789">
                <a:moveTo>
                  <a:pt x="389115" y="351281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312502" y="1898370"/>
            <a:ext cx="389255" cy="351790"/>
          </a:xfrm>
          <a:custGeom>
            <a:avLst/>
            <a:gdLst/>
            <a:ahLst/>
            <a:cxnLst/>
            <a:rect l="l" t="t" r="r" b="b"/>
            <a:pathLst>
              <a:path w="389254" h="351789">
                <a:moveTo>
                  <a:pt x="389115" y="351281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312502" y="1898370"/>
            <a:ext cx="125730" cy="119380"/>
          </a:xfrm>
          <a:custGeom>
            <a:avLst/>
            <a:gdLst/>
            <a:ahLst/>
            <a:cxnLst/>
            <a:rect l="l" t="t" r="r" b="b"/>
            <a:pathLst>
              <a:path w="125729" h="119380">
                <a:moveTo>
                  <a:pt x="125514" y="43916"/>
                </a:moveTo>
                <a:lnTo>
                  <a:pt x="0" y="0"/>
                </a:lnTo>
                <a:lnTo>
                  <a:pt x="56489" y="119189"/>
                </a:lnTo>
                <a:lnTo>
                  <a:pt x="125514" y="43916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004972" y="1139355"/>
            <a:ext cx="0" cy="207010"/>
          </a:xfrm>
          <a:custGeom>
            <a:avLst/>
            <a:gdLst/>
            <a:ahLst/>
            <a:cxnLst/>
            <a:rect l="l" t="t" r="r" b="b"/>
            <a:pathLst>
              <a:path h="207009">
                <a:moveTo>
                  <a:pt x="0" y="0"/>
                </a:moveTo>
                <a:lnTo>
                  <a:pt x="0" y="207010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979877" y="1283627"/>
            <a:ext cx="50800" cy="62865"/>
          </a:xfrm>
          <a:custGeom>
            <a:avLst/>
            <a:gdLst/>
            <a:ahLst/>
            <a:cxnLst/>
            <a:rect l="l" t="t" r="r" b="b"/>
            <a:pathLst>
              <a:path w="50800" h="62865">
                <a:moveTo>
                  <a:pt x="0" y="0"/>
                </a:moveTo>
                <a:lnTo>
                  <a:pt x="25095" y="62738"/>
                </a:lnTo>
                <a:lnTo>
                  <a:pt x="50203" y="0"/>
                </a:lnTo>
              </a:path>
            </a:pathLst>
          </a:custGeom>
          <a:ln w="6273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79</a:t>
            </a:fld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81454"/>
            <a:ext cx="7931150" cy="14960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84150" marR="5080" indent="-171450" algn="just">
              <a:lnSpc>
                <a:spcPts val="2270"/>
              </a:lnSpc>
              <a:spcBef>
                <a:spcPts val="38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微软雅黑"/>
                <a:cs typeface="微软雅黑"/>
              </a:rPr>
              <a:t>将学生</a:t>
            </a:r>
            <a:r>
              <a:rPr sz="2100" spc="-15" dirty="0">
                <a:latin typeface="微软雅黑"/>
                <a:cs typeface="微软雅黑"/>
              </a:rPr>
              <a:t>（Student</a:t>
            </a:r>
            <a:r>
              <a:rPr sz="2100" dirty="0">
                <a:latin typeface="微软雅黑"/>
                <a:cs typeface="微软雅黑"/>
              </a:rPr>
              <a:t>类）数据按照表格的方式输出。学生数据存储在 不同的结构中，一种是二维字符串数组，每一行代表一个学生的数 据；另一种是一维</a:t>
            </a:r>
            <a:r>
              <a:rPr sz="2100" spc="-15" dirty="0">
                <a:latin typeface="微软雅黑"/>
                <a:cs typeface="微软雅黑"/>
              </a:rPr>
              <a:t>Student</a:t>
            </a:r>
            <a:r>
              <a:rPr sz="2100" dirty="0">
                <a:latin typeface="微软雅黑"/>
                <a:cs typeface="微软雅黑"/>
              </a:rPr>
              <a:t>类型数组，每个元素代表一个学生。要 求采用面向接口的方式设计架构，在接口层抽象出输出一个二维表 格所需的所有方法，并在底层用两种存储方式分别予以实现。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40512"/>
            <a:ext cx="5508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6590" algn="l"/>
              </a:tabLst>
            </a:pPr>
            <a:r>
              <a:rPr sz="2400" u="none" spc="-5" dirty="0"/>
              <a:t>6.</a:t>
            </a:r>
            <a:r>
              <a:rPr sz="2400" u="none" dirty="0"/>
              <a:t>5	综合实践--格式化输出学生对象数据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2221992" y="3212592"/>
            <a:ext cx="3718559" cy="1944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80</a:t>
            </a:fld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63677"/>
            <a:ext cx="28790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39520" algn="l"/>
              </a:tabLst>
            </a:pPr>
            <a:r>
              <a:rPr sz="3200" u="none" spc="-5" dirty="0"/>
              <a:t>6.5.</a:t>
            </a:r>
            <a:r>
              <a:rPr sz="3200" u="none" dirty="0"/>
              <a:t>1	系统架</a:t>
            </a:r>
            <a:r>
              <a:rPr sz="3200" u="none" spc="5" dirty="0"/>
              <a:t>构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27432" y="1534667"/>
            <a:ext cx="1223772" cy="4680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825" y="1530985"/>
            <a:ext cx="1231900" cy="4688205"/>
          </a:xfrm>
          <a:custGeom>
            <a:avLst/>
            <a:gdLst/>
            <a:ahLst/>
            <a:cxnLst/>
            <a:rect l="l" t="t" r="r" b="b"/>
            <a:pathLst>
              <a:path w="1231900" h="4688205">
                <a:moveTo>
                  <a:pt x="1231747" y="4688141"/>
                </a:moveTo>
                <a:lnTo>
                  <a:pt x="0" y="4688141"/>
                </a:lnTo>
                <a:lnTo>
                  <a:pt x="0" y="0"/>
                </a:lnTo>
                <a:lnTo>
                  <a:pt x="1231747" y="0"/>
                </a:lnTo>
                <a:lnTo>
                  <a:pt x="1231747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4680521"/>
                </a:lnTo>
                <a:lnTo>
                  <a:pt x="3810" y="4680521"/>
                </a:lnTo>
                <a:lnTo>
                  <a:pt x="7620" y="4684331"/>
                </a:lnTo>
                <a:lnTo>
                  <a:pt x="1231747" y="4684331"/>
                </a:lnTo>
                <a:lnTo>
                  <a:pt x="1231747" y="4688141"/>
                </a:lnTo>
                <a:close/>
              </a:path>
              <a:path w="1231900" h="4688205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231900" h="4688205">
                <a:moveTo>
                  <a:pt x="1224127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224127" y="3809"/>
                </a:lnTo>
                <a:lnTo>
                  <a:pt x="1224127" y="7619"/>
                </a:lnTo>
                <a:close/>
              </a:path>
              <a:path w="1231900" h="4688205">
                <a:moveTo>
                  <a:pt x="1224127" y="4684331"/>
                </a:moveTo>
                <a:lnTo>
                  <a:pt x="1224127" y="3809"/>
                </a:lnTo>
                <a:lnTo>
                  <a:pt x="1227937" y="7619"/>
                </a:lnTo>
                <a:lnTo>
                  <a:pt x="1231747" y="7619"/>
                </a:lnTo>
                <a:lnTo>
                  <a:pt x="1231747" y="4680521"/>
                </a:lnTo>
                <a:lnTo>
                  <a:pt x="1227937" y="4680521"/>
                </a:lnTo>
                <a:lnTo>
                  <a:pt x="1224127" y="4684331"/>
                </a:lnTo>
                <a:close/>
              </a:path>
              <a:path w="1231900" h="4688205">
                <a:moveTo>
                  <a:pt x="1231747" y="7619"/>
                </a:moveTo>
                <a:lnTo>
                  <a:pt x="1227937" y="7619"/>
                </a:lnTo>
                <a:lnTo>
                  <a:pt x="1224127" y="3809"/>
                </a:lnTo>
                <a:lnTo>
                  <a:pt x="1231747" y="3809"/>
                </a:lnTo>
                <a:lnTo>
                  <a:pt x="1231747" y="7619"/>
                </a:lnTo>
                <a:close/>
              </a:path>
              <a:path w="1231900" h="4688205">
                <a:moveTo>
                  <a:pt x="7620" y="4684331"/>
                </a:moveTo>
                <a:lnTo>
                  <a:pt x="3810" y="4680521"/>
                </a:lnTo>
                <a:lnTo>
                  <a:pt x="7620" y="4680521"/>
                </a:lnTo>
                <a:lnTo>
                  <a:pt x="7620" y="4684331"/>
                </a:lnTo>
                <a:close/>
              </a:path>
              <a:path w="1231900" h="4688205">
                <a:moveTo>
                  <a:pt x="1224127" y="4684331"/>
                </a:moveTo>
                <a:lnTo>
                  <a:pt x="7620" y="4684331"/>
                </a:lnTo>
                <a:lnTo>
                  <a:pt x="7620" y="4680521"/>
                </a:lnTo>
                <a:lnTo>
                  <a:pt x="1224127" y="4680521"/>
                </a:lnTo>
                <a:lnTo>
                  <a:pt x="1224127" y="4684331"/>
                </a:lnTo>
                <a:close/>
              </a:path>
              <a:path w="1231900" h="4688205">
                <a:moveTo>
                  <a:pt x="1231747" y="4684331"/>
                </a:moveTo>
                <a:lnTo>
                  <a:pt x="1224127" y="4684331"/>
                </a:lnTo>
                <a:lnTo>
                  <a:pt x="1227937" y="4680521"/>
                </a:lnTo>
                <a:lnTo>
                  <a:pt x="1231747" y="4680521"/>
                </a:lnTo>
                <a:lnTo>
                  <a:pt x="1231747" y="4684331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432" y="1534667"/>
            <a:ext cx="1223772" cy="1588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825" y="1530985"/>
            <a:ext cx="1231900" cy="1595755"/>
          </a:xfrm>
          <a:custGeom>
            <a:avLst/>
            <a:gdLst/>
            <a:ahLst/>
            <a:cxnLst/>
            <a:rect l="l" t="t" r="r" b="b"/>
            <a:pathLst>
              <a:path w="1231900" h="1595755">
                <a:moveTo>
                  <a:pt x="1231747" y="1595653"/>
                </a:moveTo>
                <a:lnTo>
                  <a:pt x="0" y="1595653"/>
                </a:lnTo>
                <a:lnTo>
                  <a:pt x="0" y="0"/>
                </a:lnTo>
                <a:lnTo>
                  <a:pt x="1231747" y="0"/>
                </a:lnTo>
                <a:lnTo>
                  <a:pt x="1231747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588033"/>
                </a:lnTo>
                <a:lnTo>
                  <a:pt x="3810" y="1588033"/>
                </a:lnTo>
                <a:lnTo>
                  <a:pt x="7620" y="1591843"/>
                </a:lnTo>
                <a:lnTo>
                  <a:pt x="1231747" y="1591843"/>
                </a:lnTo>
                <a:lnTo>
                  <a:pt x="1231747" y="1595653"/>
                </a:lnTo>
                <a:close/>
              </a:path>
              <a:path w="1231900" h="1595755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231900" h="1595755">
                <a:moveTo>
                  <a:pt x="1224127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224127" y="3809"/>
                </a:lnTo>
                <a:lnTo>
                  <a:pt x="1224127" y="7619"/>
                </a:lnTo>
                <a:close/>
              </a:path>
              <a:path w="1231900" h="1595755">
                <a:moveTo>
                  <a:pt x="1224127" y="1591843"/>
                </a:moveTo>
                <a:lnTo>
                  <a:pt x="1224127" y="3809"/>
                </a:lnTo>
                <a:lnTo>
                  <a:pt x="1227937" y="7619"/>
                </a:lnTo>
                <a:lnTo>
                  <a:pt x="1231747" y="7619"/>
                </a:lnTo>
                <a:lnTo>
                  <a:pt x="1231747" y="1588033"/>
                </a:lnTo>
                <a:lnTo>
                  <a:pt x="1227937" y="1588033"/>
                </a:lnTo>
                <a:lnTo>
                  <a:pt x="1224127" y="1591843"/>
                </a:lnTo>
                <a:close/>
              </a:path>
              <a:path w="1231900" h="1595755">
                <a:moveTo>
                  <a:pt x="1231747" y="7619"/>
                </a:moveTo>
                <a:lnTo>
                  <a:pt x="1227937" y="7619"/>
                </a:lnTo>
                <a:lnTo>
                  <a:pt x="1224127" y="3809"/>
                </a:lnTo>
                <a:lnTo>
                  <a:pt x="1231747" y="3809"/>
                </a:lnTo>
                <a:lnTo>
                  <a:pt x="1231747" y="7619"/>
                </a:lnTo>
                <a:close/>
              </a:path>
              <a:path w="1231900" h="1595755">
                <a:moveTo>
                  <a:pt x="7620" y="1591843"/>
                </a:moveTo>
                <a:lnTo>
                  <a:pt x="3810" y="1588033"/>
                </a:lnTo>
                <a:lnTo>
                  <a:pt x="7620" y="1588033"/>
                </a:lnTo>
                <a:lnTo>
                  <a:pt x="7620" y="1591843"/>
                </a:lnTo>
                <a:close/>
              </a:path>
              <a:path w="1231900" h="1595755">
                <a:moveTo>
                  <a:pt x="1224127" y="1591843"/>
                </a:moveTo>
                <a:lnTo>
                  <a:pt x="7620" y="1591843"/>
                </a:lnTo>
                <a:lnTo>
                  <a:pt x="7620" y="1588033"/>
                </a:lnTo>
                <a:lnTo>
                  <a:pt x="1224127" y="1588033"/>
                </a:lnTo>
                <a:lnTo>
                  <a:pt x="1224127" y="1591843"/>
                </a:lnTo>
                <a:close/>
              </a:path>
              <a:path w="1231900" h="1595755">
                <a:moveTo>
                  <a:pt x="1231747" y="1591843"/>
                </a:moveTo>
                <a:lnTo>
                  <a:pt x="1224127" y="1591843"/>
                </a:lnTo>
                <a:lnTo>
                  <a:pt x="1227937" y="1588033"/>
                </a:lnTo>
                <a:lnTo>
                  <a:pt x="1231747" y="1588033"/>
                </a:lnTo>
                <a:lnTo>
                  <a:pt x="1231747" y="1591843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32" y="3122676"/>
            <a:ext cx="1223772" cy="16718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825" y="3119018"/>
            <a:ext cx="1231900" cy="1679575"/>
          </a:xfrm>
          <a:custGeom>
            <a:avLst/>
            <a:gdLst/>
            <a:ahLst/>
            <a:cxnLst/>
            <a:rect l="l" t="t" r="r" b="b"/>
            <a:pathLst>
              <a:path w="1231900" h="1679575">
                <a:moveTo>
                  <a:pt x="1231747" y="1679244"/>
                </a:moveTo>
                <a:lnTo>
                  <a:pt x="0" y="1679244"/>
                </a:lnTo>
                <a:lnTo>
                  <a:pt x="0" y="0"/>
                </a:lnTo>
                <a:lnTo>
                  <a:pt x="1231747" y="0"/>
                </a:lnTo>
                <a:lnTo>
                  <a:pt x="1231747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1671624"/>
                </a:lnTo>
                <a:lnTo>
                  <a:pt x="3810" y="1671624"/>
                </a:lnTo>
                <a:lnTo>
                  <a:pt x="7620" y="1675434"/>
                </a:lnTo>
                <a:lnTo>
                  <a:pt x="1231747" y="1675434"/>
                </a:lnTo>
                <a:lnTo>
                  <a:pt x="1231747" y="1679244"/>
                </a:lnTo>
                <a:close/>
              </a:path>
              <a:path w="1231900" h="167957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31900" h="1679575">
                <a:moveTo>
                  <a:pt x="1224127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24127" y="3810"/>
                </a:lnTo>
                <a:lnTo>
                  <a:pt x="1224127" y="7620"/>
                </a:lnTo>
                <a:close/>
              </a:path>
              <a:path w="1231900" h="1679575">
                <a:moveTo>
                  <a:pt x="1224127" y="1675434"/>
                </a:moveTo>
                <a:lnTo>
                  <a:pt x="1224127" y="3810"/>
                </a:lnTo>
                <a:lnTo>
                  <a:pt x="1227937" y="7620"/>
                </a:lnTo>
                <a:lnTo>
                  <a:pt x="1231747" y="7620"/>
                </a:lnTo>
                <a:lnTo>
                  <a:pt x="1231747" y="1671624"/>
                </a:lnTo>
                <a:lnTo>
                  <a:pt x="1227937" y="1671624"/>
                </a:lnTo>
                <a:lnTo>
                  <a:pt x="1224127" y="1675434"/>
                </a:lnTo>
                <a:close/>
              </a:path>
              <a:path w="1231900" h="1679575">
                <a:moveTo>
                  <a:pt x="1231747" y="7620"/>
                </a:moveTo>
                <a:lnTo>
                  <a:pt x="1227937" y="7620"/>
                </a:lnTo>
                <a:lnTo>
                  <a:pt x="1224127" y="3810"/>
                </a:lnTo>
                <a:lnTo>
                  <a:pt x="1231747" y="3810"/>
                </a:lnTo>
                <a:lnTo>
                  <a:pt x="1231747" y="7620"/>
                </a:lnTo>
                <a:close/>
              </a:path>
              <a:path w="1231900" h="1679575">
                <a:moveTo>
                  <a:pt x="7620" y="1675434"/>
                </a:moveTo>
                <a:lnTo>
                  <a:pt x="3810" y="1671624"/>
                </a:lnTo>
                <a:lnTo>
                  <a:pt x="7620" y="1671624"/>
                </a:lnTo>
                <a:lnTo>
                  <a:pt x="7620" y="1675434"/>
                </a:lnTo>
                <a:close/>
              </a:path>
              <a:path w="1231900" h="1679575">
                <a:moveTo>
                  <a:pt x="1224127" y="1675434"/>
                </a:moveTo>
                <a:lnTo>
                  <a:pt x="7620" y="1675434"/>
                </a:lnTo>
                <a:lnTo>
                  <a:pt x="7620" y="1671624"/>
                </a:lnTo>
                <a:lnTo>
                  <a:pt x="1224127" y="1671624"/>
                </a:lnTo>
                <a:lnTo>
                  <a:pt x="1224127" y="1675434"/>
                </a:lnTo>
                <a:close/>
              </a:path>
              <a:path w="1231900" h="1679575">
                <a:moveTo>
                  <a:pt x="1231747" y="1675434"/>
                </a:moveTo>
                <a:lnTo>
                  <a:pt x="1224127" y="1675434"/>
                </a:lnTo>
                <a:lnTo>
                  <a:pt x="1227937" y="1671624"/>
                </a:lnTo>
                <a:lnTo>
                  <a:pt x="1231747" y="1671624"/>
                </a:lnTo>
                <a:lnTo>
                  <a:pt x="1231747" y="1675434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2389" y="2108517"/>
            <a:ext cx="7537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/>
                <a:cs typeface="微软雅黑"/>
              </a:rPr>
              <a:t>2</a:t>
            </a:r>
            <a:r>
              <a:rPr sz="1600" dirty="0">
                <a:latin typeface="微软雅黑"/>
                <a:cs typeface="微软雅黑"/>
              </a:rPr>
              <a:t>应用</a:t>
            </a:r>
            <a:r>
              <a:rPr sz="1600" spc="-5" dirty="0">
                <a:latin typeface="微软雅黑"/>
                <a:cs typeface="微软雅黑"/>
              </a:rPr>
              <a:t>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442" y="3696550"/>
            <a:ext cx="5505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/>
                <a:cs typeface="微软雅黑"/>
              </a:rPr>
              <a:t>1</a:t>
            </a:r>
            <a:r>
              <a:rPr sz="1600" dirty="0">
                <a:latin typeface="微软雅黑"/>
                <a:cs typeface="微软雅黑"/>
              </a:rPr>
              <a:t>接</a:t>
            </a:r>
            <a:r>
              <a:rPr sz="1600" spc="-5" dirty="0">
                <a:latin typeface="微软雅黑"/>
                <a:cs typeface="微软雅黑"/>
              </a:rPr>
              <a:t>口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648" y="5241556"/>
            <a:ext cx="5505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微软雅黑"/>
                <a:cs typeface="微软雅黑"/>
              </a:rPr>
              <a:t>3</a:t>
            </a:r>
            <a:r>
              <a:rPr sz="1600" dirty="0">
                <a:latin typeface="微软雅黑"/>
                <a:cs typeface="微软雅黑"/>
              </a:rPr>
              <a:t>底</a:t>
            </a:r>
            <a:r>
              <a:rPr sz="1600" spc="-5" dirty="0">
                <a:latin typeface="微软雅黑"/>
                <a:cs typeface="微软雅黑"/>
              </a:rPr>
              <a:t>层</a:t>
            </a:r>
            <a:endParaRPr sz="1600">
              <a:latin typeface="微软雅黑"/>
              <a:cs typeface="微软雅黑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519859" y="4588687"/>
          <a:ext cx="2332355" cy="1284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2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451">
                <a:tc>
                  <a:txBody>
                    <a:bodyPr/>
                    <a:lstStyle/>
                    <a:p>
                      <a:pPr marL="4527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b="1" spc="-30" dirty="0">
                          <a:latin typeface="Tahoma"/>
                          <a:cs typeface="Tahoma"/>
                        </a:rPr>
                        <a:t>TableModelForStringArray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64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-data: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String[][]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523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spc="-35" dirty="0">
                          <a:latin typeface="Tahoma"/>
                          <a:cs typeface="Tahoma"/>
                        </a:rPr>
                        <a:t>+TableModelForStringArray(data: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String[][])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50" dirty="0">
                          <a:latin typeface="Tahoma"/>
                          <a:cs typeface="Tahoma"/>
                        </a:rPr>
                        <a:t>+getRowNumber():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int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45" dirty="0">
                          <a:latin typeface="Tahoma"/>
                          <a:cs typeface="Tahoma"/>
                        </a:rPr>
                        <a:t>+getColNumber():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int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40" dirty="0">
                          <a:latin typeface="Tahoma"/>
                          <a:cs typeface="Tahoma"/>
                        </a:rPr>
                        <a:t>+getColName(index: int):</a:t>
                      </a:r>
                      <a:r>
                        <a:rPr sz="9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String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40" dirty="0">
                          <a:latin typeface="Tahoma"/>
                          <a:cs typeface="Tahoma"/>
                        </a:rPr>
                        <a:t>+getValue(row: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int, 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col: int):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Object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4107548" y="4593793"/>
            <a:ext cx="2419350" cy="1284605"/>
          </a:xfrm>
          <a:custGeom>
            <a:avLst/>
            <a:gdLst/>
            <a:ahLst/>
            <a:cxnLst/>
            <a:rect l="l" t="t" r="r" b="b"/>
            <a:pathLst>
              <a:path w="2419350" h="1284604">
                <a:moveTo>
                  <a:pt x="0" y="0"/>
                </a:moveTo>
                <a:lnTo>
                  <a:pt x="2418765" y="0"/>
                </a:lnTo>
                <a:lnTo>
                  <a:pt x="2418765" y="1284439"/>
                </a:lnTo>
                <a:lnTo>
                  <a:pt x="0" y="1284439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07548" y="4593793"/>
            <a:ext cx="2419350" cy="1284605"/>
          </a:xfrm>
          <a:custGeom>
            <a:avLst/>
            <a:gdLst/>
            <a:ahLst/>
            <a:cxnLst/>
            <a:rect l="l" t="t" r="r" b="b"/>
            <a:pathLst>
              <a:path w="2419350" h="1284604">
                <a:moveTo>
                  <a:pt x="0" y="0"/>
                </a:moveTo>
                <a:lnTo>
                  <a:pt x="2418765" y="0"/>
                </a:lnTo>
                <a:lnTo>
                  <a:pt x="2418765" y="1284439"/>
                </a:lnTo>
                <a:lnTo>
                  <a:pt x="0" y="1284439"/>
                </a:lnTo>
                <a:lnTo>
                  <a:pt x="0" y="0"/>
                </a:lnTo>
                <a:close/>
              </a:path>
            </a:pathLst>
          </a:custGeom>
          <a:ln w="1021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07548" y="4593793"/>
            <a:ext cx="2419350" cy="237490"/>
          </a:xfrm>
          <a:prstGeom prst="rect">
            <a:avLst/>
          </a:prstGeom>
          <a:solidFill>
            <a:srgbClr val="FFFFB8"/>
          </a:solidFill>
          <a:ln w="10210">
            <a:solidFill>
              <a:srgbClr val="8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443230">
              <a:lnSpc>
                <a:spcPct val="100000"/>
              </a:lnSpc>
              <a:spcBef>
                <a:spcPts val="459"/>
              </a:spcBef>
            </a:pPr>
            <a:r>
              <a:rPr sz="900" b="1" spc="-30" dirty="0">
                <a:latin typeface="Tahoma"/>
                <a:cs typeface="Tahoma"/>
              </a:rPr>
              <a:t>TableModelForStudentArray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07548" y="4831245"/>
            <a:ext cx="2419350" cy="237490"/>
          </a:xfrm>
          <a:prstGeom prst="rect">
            <a:avLst/>
          </a:prstGeom>
          <a:solidFill>
            <a:srgbClr val="FFFFB8"/>
          </a:solidFill>
          <a:ln w="10210">
            <a:solidFill>
              <a:srgbClr val="8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59"/>
              </a:spcBef>
            </a:pPr>
            <a:r>
              <a:rPr sz="900" spc="-25" dirty="0">
                <a:latin typeface="Tahoma"/>
                <a:cs typeface="Tahoma"/>
              </a:rPr>
              <a:t>-data: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Student[]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07548" y="5068709"/>
            <a:ext cx="2419350" cy="809625"/>
          </a:xfrm>
          <a:prstGeom prst="rect">
            <a:avLst/>
          </a:prstGeom>
          <a:solidFill>
            <a:srgbClr val="FFFFB8"/>
          </a:solidFill>
          <a:ln w="10210">
            <a:solidFill>
              <a:srgbClr val="8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59"/>
              </a:spcBef>
            </a:pPr>
            <a:r>
              <a:rPr sz="900" spc="-35" dirty="0">
                <a:latin typeface="Tahoma"/>
                <a:cs typeface="Tahoma"/>
              </a:rPr>
              <a:t>+TableModelForStudentArray(data:</a:t>
            </a:r>
            <a:r>
              <a:rPr sz="900" spc="-50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Student[])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50" dirty="0">
                <a:latin typeface="Tahoma"/>
                <a:cs typeface="Tahoma"/>
              </a:rPr>
              <a:t>+getRowNumber():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int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45" dirty="0">
                <a:latin typeface="Tahoma"/>
                <a:cs typeface="Tahoma"/>
              </a:rPr>
              <a:t>+getColNumber():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int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40" dirty="0">
                <a:latin typeface="Tahoma"/>
                <a:cs typeface="Tahoma"/>
              </a:rPr>
              <a:t>+getColName(index: int):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String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40" dirty="0">
                <a:latin typeface="Tahoma"/>
                <a:cs typeface="Tahoma"/>
              </a:rPr>
              <a:t>+getValue(row: </a:t>
            </a:r>
            <a:r>
              <a:rPr sz="900" spc="-35" dirty="0">
                <a:latin typeface="Tahoma"/>
                <a:cs typeface="Tahoma"/>
              </a:rPr>
              <a:t>int, </a:t>
            </a:r>
            <a:r>
              <a:rPr sz="900" spc="-40" dirty="0">
                <a:latin typeface="Tahoma"/>
                <a:cs typeface="Tahoma"/>
              </a:rPr>
              <a:t>col: int):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Object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06277" y="4086491"/>
            <a:ext cx="405130" cy="507365"/>
          </a:xfrm>
          <a:custGeom>
            <a:avLst/>
            <a:gdLst/>
            <a:ahLst/>
            <a:cxnLst/>
            <a:rect l="l" t="t" r="r" b="b"/>
            <a:pathLst>
              <a:path w="405129" h="507364">
                <a:moveTo>
                  <a:pt x="404736" y="507301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06277" y="4086491"/>
            <a:ext cx="183515" cy="215900"/>
          </a:xfrm>
          <a:custGeom>
            <a:avLst/>
            <a:gdLst/>
            <a:ahLst/>
            <a:cxnLst/>
            <a:rect l="l" t="t" r="r" b="b"/>
            <a:pathLst>
              <a:path w="183514" h="215900">
                <a:moveTo>
                  <a:pt x="183095" y="97142"/>
                </a:moveTo>
                <a:lnTo>
                  <a:pt x="0" y="0"/>
                </a:lnTo>
                <a:lnTo>
                  <a:pt x="67462" y="215874"/>
                </a:lnTo>
                <a:lnTo>
                  <a:pt x="183095" y="97142"/>
                </a:lnTo>
              </a:path>
            </a:pathLst>
          </a:custGeom>
          <a:ln w="1021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599143" y="1480134"/>
          <a:ext cx="2717799" cy="25904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451">
                <a:tc gridSpan="4"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PrintTable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64">
                <a:tc gridSpan="4"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spc="-55" dirty="0">
                          <a:latin typeface="Tahoma"/>
                          <a:cs typeface="Tahoma"/>
                        </a:rPr>
                        <a:t>-model: 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TableModel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201">
                <a:tc gridSpan="4"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spc="-45" dirty="0">
                          <a:latin typeface="Tahoma"/>
                          <a:cs typeface="Tahoma"/>
                        </a:rPr>
                        <a:t>+PrintTable(model: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TableModel)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45" dirty="0">
                          <a:latin typeface="Tahoma"/>
                          <a:cs typeface="Tahoma"/>
                        </a:rPr>
                        <a:t>+setModel(model: TableModel):</a:t>
                      </a:r>
                      <a:r>
                        <a:rPr sz="9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void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40" dirty="0">
                          <a:latin typeface="Tahoma"/>
                          <a:cs typeface="Tahoma"/>
                        </a:rPr>
                        <a:t>+printTable():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void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15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  <a:lnT w="12700">
                      <a:solidFill>
                        <a:srgbClr val="8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71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520065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900" spc="-35" dirty="0">
                          <a:latin typeface="Tahoma"/>
                          <a:cs typeface="Tahoma"/>
                        </a:rPr>
                        <a:t>&lt;&lt;interface&gt;&gt;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0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5683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b="1" spc="-30" dirty="0">
                          <a:latin typeface="Tahoma"/>
                          <a:cs typeface="Tahoma"/>
                        </a:rPr>
                        <a:t>TableModel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71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7625">
                        <a:lnSpc>
                          <a:spcPts val="980"/>
                        </a:lnSpc>
                        <a:spcBef>
                          <a:spcPts val="459"/>
                        </a:spcBef>
                      </a:pPr>
                      <a:r>
                        <a:rPr sz="900" spc="-50" dirty="0">
                          <a:latin typeface="Tahoma"/>
                          <a:cs typeface="Tahoma"/>
                        </a:rPr>
                        <a:t>+getRowNumber():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int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3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7625">
                        <a:lnSpc>
                          <a:spcPts val="980"/>
                        </a:lnSpc>
                        <a:spcBef>
                          <a:spcPts val="20"/>
                        </a:spcBef>
                      </a:pPr>
                      <a:r>
                        <a:rPr sz="900" spc="-45" dirty="0">
                          <a:latin typeface="Tahoma"/>
                          <a:cs typeface="Tahoma"/>
                        </a:rPr>
                        <a:t>+getColNumber():</a:t>
                      </a:r>
                      <a:r>
                        <a:rPr sz="9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5" dirty="0">
                          <a:latin typeface="Tahoma"/>
                          <a:cs typeface="Tahoma"/>
                        </a:rPr>
                        <a:t>int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03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7625">
                        <a:lnSpc>
                          <a:spcPts val="980"/>
                        </a:lnSpc>
                        <a:spcBef>
                          <a:spcPts val="20"/>
                        </a:spcBef>
                      </a:pPr>
                      <a:r>
                        <a:rPr sz="900" spc="-40" dirty="0">
                          <a:latin typeface="Tahoma"/>
                          <a:cs typeface="Tahoma"/>
                        </a:rPr>
                        <a:t>+getColName(index: int):</a:t>
                      </a:r>
                      <a:r>
                        <a:rPr sz="90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String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0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spc="-40" dirty="0">
                          <a:latin typeface="Tahoma"/>
                          <a:cs typeface="Tahoma"/>
                        </a:rPr>
                        <a:t>+getValue(row: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int, </a:t>
                      </a:r>
                      <a:r>
                        <a:rPr sz="900" spc="-40" dirty="0">
                          <a:latin typeface="Tahoma"/>
                          <a:cs typeface="Tahoma"/>
                        </a:rPr>
                        <a:t>col: int):</a:t>
                      </a:r>
                      <a:r>
                        <a:rPr sz="9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35" dirty="0">
                          <a:latin typeface="Tahoma"/>
                          <a:cs typeface="Tahoma"/>
                        </a:rPr>
                        <a:t>Object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3934091" y="2931579"/>
            <a:ext cx="77470" cy="107950"/>
          </a:xfrm>
          <a:custGeom>
            <a:avLst/>
            <a:gdLst/>
            <a:ahLst/>
            <a:cxnLst/>
            <a:rect l="l" t="t" r="r" b="b"/>
            <a:pathLst>
              <a:path w="77470" h="107950">
                <a:moveTo>
                  <a:pt x="0" y="0"/>
                </a:moveTo>
                <a:lnTo>
                  <a:pt x="38544" y="107937"/>
                </a:lnTo>
                <a:lnTo>
                  <a:pt x="77088" y="0"/>
                </a:lnTo>
              </a:path>
            </a:pathLst>
          </a:custGeom>
          <a:ln w="1021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92081" y="4086491"/>
            <a:ext cx="386080" cy="507365"/>
          </a:xfrm>
          <a:custGeom>
            <a:avLst/>
            <a:gdLst/>
            <a:ahLst/>
            <a:cxnLst/>
            <a:rect l="l" t="t" r="r" b="b"/>
            <a:pathLst>
              <a:path w="386079" h="507364">
                <a:moveTo>
                  <a:pt x="0" y="507301"/>
                </a:moveTo>
                <a:lnTo>
                  <a:pt x="385457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94443" y="4086491"/>
            <a:ext cx="183515" cy="215900"/>
          </a:xfrm>
          <a:custGeom>
            <a:avLst/>
            <a:gdLst/>
            <a:ahLst/>
            <a:cxnLst/>
            <a:rect l="l" t="t" r="r" b="b"/>
            <a:pathLst>
              <a:path w="183514" h="215900">
                <a:moveTo>
                  <a:pt x="125285" y="215874"/>
                </a:moveTo>
                <a:lnTo>
                  <a:pt x="183095" y="0"/>
                </a:lnTo>
                <a:lnTo>
                  <a:pt x="0" y="107937"/>
                </a:lnTo>
                <a:lnTo>
                  <a:pt x="125285" y="215874"/>
                </a:lnTo>
              </a:path>
            </a:pathLst>
          </a:custGeom>
          <a:ln w="1021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26493" y="2132850"/>
            <a:ext cx="2920365" cy="1845945"/>
          </a:xfrm>
          <a:custGeom>
            <a:avLst/>
            <a:gdLst/>
            <a:ahLst/>
            <a:cxnLst/>
            <a:rect l="l" t="t" r="r" b="b"/>
            <a:pathLst>
              <a:path w="2920365" h="1845945">
                <a:moveTo>
                  <a:pt x="0" y="0"/>
                </a:moveTo>
                <a:lnTo>
                  <a:pt x="2919869" y="0"/>
                </a:lnTo>
                <a:lnTo>
                  <a:pt x="2919869" y="1845703"/>
                </a:lnTo>
                <a:lnTo>
                  <a:pt x="0" y="1845703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26493" y="2132850"/>
            <a:ext cx="2920365" cy="1845945"/>
          </a:xfrm>
          <a:custGeom>
            <a:avLst/>
            <a:gdLst/>
            <a:ahLst/>
            <a:cxnLst/>
            <a:rect l="l" t="t" r="r" b="b"/>
            <a:pathLst>
              <a:path w="2920365" h="1845945">
                <a:moveTo>
                  <a:pt x="0" y="0"/>
                </a:moveTo>
                <a:lnTo>
                  <a:pt x="2919869" y="0"/>
                </a:lnTo>
                <a:lnTo>
                  <a:pt x="2919869" y="1845703"/>
                </a:lnTo>
                <a:lnTo>
                  <a:pt x="0" y="1845703"/>
                </a:lnTo>
                <a:lnTo>
                  <a:pt x="0" y="0"/>
                </a:lnTo>
                <a:close/>
              </a:path>
            </a:pathLst>
          </a:custGeom>
          <a:ln w="1021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726493" y="2132850"/>
            <a:ext cx="2920365" cy="237490"/>
          </a:xfrm>
          <a:prstGeom prst="rect">
            <a:avLst/>
          </a:prstGeom>
          <a:solidFill>
            <a:srgbClr val="FFFFB8"/>
          </a:solidFill>
          <a:ln w="10210">
            <a:solidFill>
              <a:srgbClr val="8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459"/>
              </a:spcBef>
            </a:pPr>
            <a:r>
              <a:rPr sz="900" b="1" spc="-30" dirty="0">
                <a:latin typeface="Tahoma"/>
                <a:cs typeface="Tahoma"/>
              </a:rPr>
              <a:t>Student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26493" y="2370315"/>
            <a:ext cx="2920365" cy="658495"/>
          </a:xfrm>
          <a:prstGeom prst="rect">
            <a:avLst/>
          </a:prstGeom>
          <a:solidFill>
            <a:srgbClr val="FFFFB8"/>
          </a:solidFill>
          <a:ln w="10210">
            <a:solidFill>
              <a:srgbClr val="8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59"/>
              </a:spcBef>
            </a:pPr>
            <a:r>
              <a:rPr sz="900" spc="-40" dirty="0">
                <a:latin typeface="Tahoma"/>
                <a:cs typeface="Tahoma"/>
              </a:rPr>
              <a:t>-id: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String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50" dirty="0">
                <a:latin typeface="Tahoma"/>
                <a:cs typeface="Tahoma"/>
              </a:rPr>
              <a:t>-name: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String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35" dirty="0">
                <a:latin typeface="Tahoma"/>
                <a:cs typeface="Tahoma"/>
              </a:rPr>
              <a:t>-gender: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boolean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30" dirty="0">
                <a:latin typeface="Tahoma"/>
                <a:cs typeface="Tahoma"/>
              </a:rPr>
              <a:t>-age: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int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26493" y="3028721"/>
            <a:ext cx="2920365" cy="949960"/>
          </a:xfrm>
          <a:prstGeom prst="rect">
            <a:avLst/>
          </a:prstGeom>
          <a:solidFill>
            <a:srgbClr val="FFFFB8"/>
          </a:solidFill>
          <a:ln w="10210">
            <a:solidFill>
              <a:srgbClr val="8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59"/>
              </a:spcBef>
            </a:pPr>
            <a:r>
              <a:rPr sz="900" spc="-35" dirty="0">
                <a:latin typeface="Tahoma"/>
                <a:cs typeface="Tahoma"/>
              </a:rPr>
              <a:t>+Student()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40" dirty="0">
                <a:latin typeface="Tahoma"/>
                <a:cs typeface="Tahoma"/>
              </a:rPr>
              <a:t>+Student(id: </a:t>
            </a:r>
            <a:r>
              <a:rPr sz="900" spc="-35" dirty="0">
                <a:latin typeface="Tahoma"/>
                <a:cs typeface="Tahoma"/>
              </a:rPr>
              <a:t>String, </a:t>
            </a:r>
            <a:r>
              <a:rPr sz="900" spc="-55" dirty="0">
                <a:latin typeface="Tahoma"/>
                <a:cs typeface="Tahoma"/>
              </a:rPr>
              <a:t>name: </a:t>
            </a:r>
            <a:r>
              <a:rPr sz="900" spc="-35" dirty="0">
                <a:latin typeface="Tahoma"/>
                <a:cs typeface="Tahoma"/>
              </a:rPr>
              <a:t>String, gender: </a:t>
            </a:r>
            <a:r>
              <a:rPr sz="900" spc="-40" dirty="0">
                <a:latin typeface="Tahoma"/>
                <a:cs typeface="Tahoma"/>
              </a:rPr>
              <a:t>boolean, </a:t>
            </a:r>
            <a:r>
              <a:rPr sz="900" spc="-30" dirty="0">
                <a:latin typeface="Tahoma"/>
                <a:cs typeface="Tahoma"/>
              </a:rPr>
              <a:t>age:</a:t>
            </a:r>
            <a:r>
              <a:rPr sz="900" spc="50" dirty="0">
                <a:latin typeface="Tahoma"/>
                <a:cs typeface="Tahoma"/>
              </a:rPr>
              <a:t> </a:t>
            </a:r>
            <a:r>
              <a:rPr sz="900" spc="-35" dirty="0">
                <a:latin typeface="Tahoma"/>
                <a:cs typeface="Tahoma"/>
              </a:rPr>
              <a:t>int)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35" dirty="0">
                <a:latin typeface="Tahoma"/>
                <a:cs typeface="Tahoma"/>
              </a:rPr>
              <a:t>+getId():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String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45" dirty="0">
                <a:latin typeface="Tahoma"/>
                <a:cs typeface="Tahoma"/>
              </a:rPr>
              <a:t>+getName():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String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40" dirty="0">
                <a:latin typeface="Tahoma"/>
                <a:cs typeface="Tahoma"/>
              </a:rPr>
              <a:t>+isGender():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boolean</a:t>
            </a:r>
            <a:endParaRPr sz="900">
              <a:latin typeface="Tahoma"/>
              <a:cs typeface="Tahoma"/>
            </a:endParaRPr>
          </a:p>
          <a:p>
            <a:pPr marL="47625">
              <a:lnSpc>
                <a:spcPct val="100000"/>
              </a:lnSpc>
              <a:spcBef>
                <a:spcPts val="25"/>
              </a:spcBef>
            </a:pPr>
            <a:r>
              <a:rPr sz="900" spc="-35" dirty="0">
                <a:latin typeface="Tahoma"/>
                <a:cs typeface="Tahoma"/>
              </a:rPr>
              <a:t>+getAge)():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int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140856" y="3989349"/>
            <a:ext cx="0" cy="604520"/>
          </a:xfrm>
          <a:custGeom>
            <a:avLst/>
            <a:gdLst/>
            <a:ahLst/>
            <a:cxnLst/>
            <a:rect l="l" t="t" r="r" b="b"/>
            <a:pathLst>
              <a:path h="604520">
                <a:moveTo>
                  <a:pt x="0" y="604443"/>
                </a:moveTo>
                <a:lnTo>
                  <a:pt x="0" y="0"/>
                </a:lnTo>
              </a:path>
            </a:pathLst>
          </a:custGeom>
          <a:ln w="1021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02312" y="3989349"/>
            <a:ext cx="77470" cy="107950"/>
          </a:xfrm>
          <a:custGeom>
            <a:avLst/>
            <a:gdLst/>
            <a:ahLst/>
            <a:cxnLst/>
            <a:rect l="l" t="t" r="r" b="b"/>
            <a:pathLst>
              <a:path w="77470" h="107950">
                <a:moveTo>
                  <a:pt x="77088" y="107937"/>
                </a:moveTo>
                <a:lnTo>
                  <a:pt x="38544" y="0"/>
                </a:lnTo>
                <a:lnTo>
                  <a:pt x="0" y="107937"/>
                </a:lnTo>
              </a:path>
            </a:pathLst>
          </a:custGeom>
          <a:ln w="1021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81</a:t>
            </a:fld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10335"/>
            <a:ext cx="7931150" cy="136652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595"/>
              </a:spcBef>
            </a:pPr>
            <a:r>
              <a:rPr sz="2100" dirty="0">
                <a:latin typeface="宋体"/>
                <a:cs typeface="宋体"/>
              </a:rPr>
              <a:t>1、接口层TableModel</a:t>
            </a:r>
            <a:endParaRPr sz="2100">
              <a:latin typeface="宋体"/>
              <a:cs typeface="宋体"/>
            </a:endParaRPr>
          </a:p>
          <a:p>
            <a:pPr marL="184150" marR="5080" indent="-171450">
              <a:lnSpc>
                <a:spcPts val="2260"/>
              </a:lnSpc>
              <a:spcBef>
                <a:spcPts val="78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宋体"/>
                <a:cs typeface="宋体"/>
              </a:rPr>
              <a:t>面向接口的设计中，接口层负责抽象出系统所有的行为方法。输出 一个二维表格所需的方法包括：计算表格的行数、计算表格的列数</a:t>
            </a:r>
            <a:endParaRPr sz="2100">
              <a:latin typeface="宋体"/>
              <a:cs typeface="宋体"/>
            </a:endParaRPr>
          </a:p>
          <a:p>
            <a:pPr marL="184150">
              <a:lnSpc>
                <a:spcPts val="2240"/>
              </a:lnSpc>
            </a:pPr>
            <a:r>
              <a:rPr sz="2100" dirty="0">
                <a:latin typeface="宋体"/>
                <a:cs typeface="宋体"/>
              </a:rPr>
              <a:t>、获取每列的表头名称、获取每行每列元素的取值。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148450"/>
            <a:ext cx="3947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97989" algn="l"/>
              </a:tabLst>
            </a:pPr>
            <a:r>
              <a:rPr sz="4400" u="none" spc="-5" dirty="0"/>
              <a:t>6.5.</a:t>
            </a:r>
            <a:r>
              <a:rPr sz="4400" u="none" dirty="0"/>
              <a:t>1	系统架</a:t>
            </a:r>
            <a:r>
              <a:rPr sz="4400" u="none" spc="5" dirty="0"/>
              <a:t>构</a:t>
            </a:r>
            <a:endParaRPr sz="44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10335"/>
            <a:ext cx="8064500" cy="20370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595"/>
              </a:spcBef>
            </a:pPr>
            <a:r>
              <a:rPr sz="2100" dirty="0">
                <a:latin typeface="宋体"/>
                <a:cs typeface="宋体"/>
              </a:rPr>
              <a:t>2、应用层PrintTable类</a:t>
            </a:r>
            <a:endParaRPr sz="2100">
              <a:latin typeface="宋体"/>
              <a:cs typeface="宋体"/>
            </a:endParaRPr>
          </a:p>
          <a:p>
            <a:pPr marL="184150" indent="-171450" algn="just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宋体"/>
                <a:cs typeface="宋体"/>
              </a:rPr>
              <a:t>面向接口的编程中，应用层要依赖接口成员变量完成业务逻辑。</a:t>
            </a:r>
            <a:endParaRPr sz="2100">
              <a:latin typeface="宋体"/>
              <a:cs typeface="宋体"/>
            </a:endParaRPr>
          </a:p>
          <a:p>
            <a:pPr marL="184150" marR="5080" indent="-171450" algn="just">
              <a:lnSpc>
                <a:spcPts val="2270"/>
              </a:lnSpc>
              <a:spcBef>
                <a:spcPts val="775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宋体"/>
                <a:cs typeface="宋体"/>
              </a:rPr>
              <a:t>PrintTable类将TableModel接口的引用变量model作为数据成员；定 义构造方法或set方法对接口成员初始化；将打印表格的业务封装在  printTable()方法中，printTable()方法通过model调用接口中的方 法实现打印表格。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188137"/>
            <a:ext cx="35890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4320" algn="l"/>
              </a:tabLst>
            </a:pPr>
            <a:r>
              <a:rPr u="none" spc="-5" dirty="0"/>
              <a:t>6.5.1	</a:t>
            </a:r>
            <a:r>
              <a:rPr u="none" dirty="0"/>
              <a:t>系统架</a:t>
            </a:r>
            <a:r>
              <a:rPr u="none" spc="-5" dirty="0"/>
              <a:t>构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73200"/>
            <a:ext cx="7931150" cy="197421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1920" marR="3133725">
              <a:lnSpc>
                <a:spcPts val="2260"/>
              </a:lnSpc>
              <a:spcBef>
                <a:spcPts val="390"/>
              </a:spcBef>
            </a:pPr>
            <a:r>
              <a:rPr sz="2100" dirty="0">
                <a:latin typeface="宋体"/>
                <a:cs typeface="宋体"/>
              </a:rPr>
              <a:t>3、实现类TableModelForStringArray和  TableModelForStudentArray</a:t>
            </a:r>
            <a:endParaRPr sz="2100">
              <a:latin typeface="宋体"/>
              <a:cs typeface="宋体"/>
            </a:endParaRPr>
          </a:p>
          <a:p>
            <a:pPr marL="184150" marR="5080" indent="-171450">
              <a:lnSpc>
                <a:spcPts val="227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宋体"/>
                <a:cs typeface="宋体"/>
              </a:rPr>
              <a:t>TableModelForStringArray类基于字符串数组的存储结构实现接口 中的所有方法。</a:t>
            </a:r>
            <a:endParaRPr sz="2100">
              <a:latin typeface="宋体"/>
              <a:cs typeface="宋体"/>
            </a:endParaRPr>
          </a:p>
          <a:p>
            <a:pPr marL="184150" marR="5080" indent="-171450">
              <a:lnSpc>
                <a:spcPts val="226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sz="2100" dirty="0">
                <a:latin typeface="宋体"/>
                <a:cs typeface="宋体"/>
              </a:rPr>
              <a:t>TableModelForStudentArray基于Student对象数组的存储结构实现 接口中的所有方法。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148450"/>
            <a:ext cx="3947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97989" algn="l"/>
              </a:tabLst>
            </a:pPr>
            <a:r>
              <a:rPr sz="4400" u="none" spc="-5" dirty="0"/>
              <a:t>6.5.</a:t>
            </a:r>
            <a:r>
              <a:rPr sz="4400" u="none" dirty="0"/>
              <a:t>1	系统架</a:t>
            </a:r>
            <a:r>
              <a:rPr sz="4400" u="none" spc="5" dirty="0"/>
              <a:t>构</a:t>
            </a:r>
            <a:endParaRPr sz="4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0660"/>
            <a:ext cx="363727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1</a:t>
            </a:r>
            <a:r>
              <a:rPr sz="2800" dirty="0">
                <a:latin typeface="微软雅黑"/>
                <a:cs typeface="微软雅黑"/>
              </a:rPr>
              <a:t>．接口层</a:t>
            </a:r>
            <a:r>
              <a:rPr sz="2800" spc="-325" dirty="0">
                <a:latin typeface="微软雅黑"/>
                <a:cs typeface="微软雅黑"/>
              </a:rPr>
              <a:t>T</a:t>
            </a:r>
            <a:r>
              <a:rPr sz="2800" dirty="0">
                <a:latin typeface="微软雅黑"/>
                <a:cs typeface="微软雅黑"/>
              </a:rPr>
              <a:t>a</a:t>
            </a:r>
            <a:r>
              <a:rPr sz="2800" spc="-5" dirty="0">
                <a:latin typeface="微软雅黑"/>
                <a:cs typeface="微软雅黑"/>
              </a:rPr>
              <a:t>bleModel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5</a:t>
            </a:r>
            <a:r>
              <a:rPr sz="2100" u="none" dirty="0"/>
              <a:t>.2	向接口编程的代码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827532" y="2205227"/>
            <a:ext cx="7560564" cy="2029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3772" y="2201049"/>
            <a:ext cx="7568565" cy="2037714"/>
          </a:xfrm>
          <a:custGeom>
            <a:avLst/>
            <a:gdLst/>
            <a:ahLst/>
            <a:cxnLst/>
            <a:rect l="l" t="t" r="r" b="b"/>
            <a:pathLst>
              <a:path w="7568565" h="2037714">
                <a:moveTo>
                  <a:pt x="7568463" y="2037714"/>
                </a:moveTo>
                <a:lnTo>
                  <a:pt x="0" y="2037714"/>
                </a:lnTo>
                <a:lnTo>
                  <a:pt x="0" y="0"/>
                </a:lnTo>
                <a:lnTo>
                  <a:pt x="7568463" y="0"/>
                </a:lnTo>
                <a:lnTo>
                  <a:pt x="7568463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030094"/>
                </a:lnTo>
                <a:lnTo>
                  <a:pt x="3809" y="2030094"/>
                </a:lnTo>
                <a:lnTo>
                  <a:pt x="7619" y="2033904"/>
                </a:lnTo>
                <a:lnTo>
                  <a:pt x="7568463" y="2033904"/>
                </a:lnTo>
                <a:lnTo>
                  <a:pt x="7568463" y="2037714"/>
                </a:lnTo>
                <a:close/>
              </a:path>
              <a:path w="7568565" h="2037714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7568565" h="2037714">
                <a:moveTo>
                  <a:pt x="7560843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7560843" y="3809"/>
                </a:lnTo>
                <a:lnTo>
                  <a:pt x="7560843" y="7619"/>
                </a:lnTo>
                <a:close/>
              </a:path>
              <a:path w="7568565" h="2037714">
                <a:moveTo>
                  <a:pt x="7560843" y="2033904"/>
                </a:moveTo>
                <a:lnTo>
                  <a:pt x="7560843" y="3809"/>
                </a:lnTo>
                <a:lnTo>
                  <a:pt x="7564653" y="7619"/>
                </a:lnTo>
                <a:lnTo>
                  <a:pt x="7568463" y="7619"/>
                </a:lnTo>
                <a:lnTo>
                  <a:pt x="7568463" y="2030094"/>
                </a:lnTo>
                <a:lnTo>
                  <a:pt x="7564653" y="2030094"/>
                </a:lnTo>
                <a:lnTo>
                  <a:pt x="7560843" y="2033904"/>
                </a:lnTo>
                <a:close/>
              </a:path>
              <a:path w="7568565" h="2037714">
                <a:moveTo>
                  <a:pt x="7568463" y="7619"/>
                </a:moveTo>
                <a:lnTo>
                  <a:pt x="7564653" y="7619"/>
                </a:lnTo>
                <a:lnTo>
                  <a:pt x="7560843" y="3809"/>
                </a:lnTo>
                <a:lnTo>
                  <a:pt x="7568463" y="3809"/>
                </a:lnTo>
                <a:lnTo>
                  <a:pt x="7568463" y="7619"/>
                </a:lnTo>
                <a:close/>
              </a:path>
              <a:path w="7568565" h="2037714">
                <a:moveTo>
                  <a:pt x="7619" y="2033904"/>
                </a:moveTo>
                <a:lnTo>
                  <a:pt x="3809" y="2030094"/>
                </a:lnTo>
                <a:lnTo>
                  <a:pt x="7619" y="2030094"/>
                </a:lnTo>
                <a:lnTo>
                  <a:pt x="7619" y="2033904"/>
                </a:lnTo>
                <a:close/>
              </a:path>
              <a:path w="7568565" h="2037714">
                <a:moveTo>
                  <a:pt x="7560843" y="2033904"/>
                </a:moveTo>
                <a:lnTo>
                  <a:pt x="7619" y="2033904"/>
                </a:lnTo>
                <a:lnTo>
                  <a:pt x="7619" y="2030094"/>
                </a:lnTo>
                <a:lnTo>
                  <a:pt x="7560843" y="2030094"/>
                </a:lnTo>
                <a:lnTo>
                  <a:pt x="7560843" y="2033904"/>
                </a:lnTo>
                <a:close/>
              </a:path>
              <a:path w="7568565" h="2037714">
                <a:moveTo>
                  <a:pt x="7568463" y="2033904"/>
                </a:moveTo>
                <a:lnTo>
                  <a:pt x="7560843" y="2033904"/>
                </a:lnTo>
                <a:lnTo>
                  <a:pt x="7564653" y="2030094"/>
                </a:lnTo>
                <a:lnTo>
                  <a:pt x="7568463" y="2030094"/>
                </a:lnTo>
                <a:lnTo>
                  <a:pt x="7568463" y="203390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9022" y="2232799"/>
            <a:ext cx="4019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b="1" dirty="0">
                <a:latin typeface="微软雅黑"/>
                <a:cs typeface="微软雅黑"/>
              </a:rPr>
              <a:t>interface </a:t>
            </a:r>
            <a:r>
              <a:rPr sz="1800" spc="-25" dirty="0">
                <a:latin typeface="微软雅黑"/>
                <a:cs typeface="微软雅黑"/>
              </a:rPr>
              <a:t>TableModel</a:t>
            </a:r>
            <a:r>
              <a:rPr sz="1800" spc="-1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91440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public int</a:t>
            </a:r>
            <a:r>
              <a:rPr sz="1800" b="1" spc="-30" dirty="0">
                <a:latin typeface="微软雅黑"/>
                <a:cs typeface="微软雅黑"/>
              </a:rPr>
              <a:t> </a:t>
            </a:r>
            <a:r>
              <a:rPr sz="1800" spc="-10" dirty="0">
                <a:latin typeface="微软雅黑"/>
                <a:cs typeface="微软雅黑"/>
              </a:rPr>
              <a:t>getRowNumber();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91022" y="2507119"/>
            <a:ext cx="180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//获取表格的行数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7532" y="4581144"/>
            <a:ext cx="7560564" cy="922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3772" y="4577321"/>
            <a:ext cx="7568565" cy="929640"/>
          </a:xfrm>
          <a:custGeom>
            <a:avLst/>
            <a:gdLst/>
            <a:ahLst/>
            <a:cxnLst/>
            <a:rect l="l" t="t" r="r" b="b"/>
            <a:pathLst>
              <a:path w="7568565" h="929639">
                <a:moveTo>
                  <a:pt x="7568463" y="929640"/>
                </a:moveTo>
                <a:lnTo>
                  <a:pt x="0" y="929640"/>
                </a:lnTo>
                <a:lnTo>
                  <a:pt x="0" y="0"/>
                </a:lnTo>
                <a:lnTo>
                  <a:pt x="7568463" y="0"/>
                </a:lnTo>
                <a:lnTo>
                  <a:pt x="7568463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922020"/>
                </a:lnTo>
                <a:lnTo>
                  <a:pt x="3809" y="922020"/>
                </a:lnTo>
                <a:lnTo>
                  <a:pt x="7619" y="925830"/>
                </a:lnTo>
                <a:lnTo>
                  <a:pt x="7568463" y="925830"/>
                </a:lnTo>
                <a:lnTo>
                  <a:pt x="7568463" y="929640"/>
                </a:lnTo>
                <a:close/>
              </a:path>
              <a:path w="7568565" h="92963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7568565" h="929639">
                <a:moveTo>
                  <a:pt x="7560843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7560843" y="3810"/>
                </a:lnTo>
                <a:lnTo>
                  <a:pt x="7560843" y="7620"/>
                </a:lnTo>
                <a:close/>
              </a:path>
              <a:path w="7568565" h="929639">
                <a:moveTo>
                  <a:pt x="7560843" y="925830"/>
                </a:moveTo>
                <a:lnTo>
                  <a:pt x="7560843" y="3810"/>
                </a:lnTo>
                <a:lnTo>
                  <a:pt x="7564653" y="7620"/>
                </a:lnTo>
                <a:lnTo>
                  <a:pt x="7568463" y="7620"/>
                </a:lnTo>
                <a:lnTo>
                  <a:pt x="7568463" y="922020"/>
                </a:lnTo>
                <a:lnTo>
                  <a:pt x="7564653" y="922020"/>
                </a:lnTo>
                <a:lnTo>
                  <a:pt x="7560843" y="925830"/>
                </a:lnTo>
                <a:close/>
              </a:path>
              <a:path w="7568565" h="929639">
                <a:moveTo>
                  <a:pt x="7568463" y="7620"/>
                </a:moveTo>
                <a:lnTo>
                  <a:pt x="7564653" y="7620"/>
                </a:lnTo>
                <a:lnTo>
                  <a:pt x="7560843" y="3810"/>
                </a:lnTo>
                <a:lnTo>
                  <a:pt x="7568463" y="3810"/>
                </a:lnTo>
                <a:lnTo>
                  <a:pt x="7568463" y="7620"/>
                </a:lnTo>
                <a:close/>
              </a:path>
              <a:path w="7568565" h="929639">
                <a:moveTo>
                  <a:pt x="7619" y="925830"/>
                </a:moveTo>
                <a:lnTo>
                  <a:pt x="3809" y="922020"/>
                </a:lnTo>
                <a:lnTo>
                  <a:pt x="7619" y="922020"/>
                </a:lnTo>
                <a:lnTo>
                  <a:pt x="7619" y="925830"/>
                </a:lnTo>
                <a:close/>
              </a:path>
              <a:path w="7568565" h="929639">
                <a:moveTo>
                  <a:pt x="7560843" y="925830"/>
                </a:moveTo>
                <a:lnTo>
                  <a:pt x="7619" y="925830"/>
                </a:lnTo>
                <a:lnTo>
                  <a:pt x="7619" y="922020"/>
                </a:lnTo>
                <a:lnTo>
                  <a:pt x="7560843" y="922020"/>
                </a:lnTo>
                <a:lnTo>
                  <a:pt x="7560843" y="925830"/>
                </a:lnTo>
                <a:close/>
              </a:path>
              <a:path w="7568565" h="929639">
                <a:moveTo>
                  <a:pt x="7568463" y="925830"/>
                </a:moveTo>
                <a:lnTo>
                  <a:pt x="7560843" y="925830"/>
                </a:lnTo>
                <a:lnTo>
                  <a:pt x="7564653" y="922020"/>
                </a:lnTo>
                <a:lnTo>
                  <a:pt x="7568463" y="922020"/>
                </a:lnTo>
                <a:lnTo>
                  <a:pt x="7568463" y="92583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7532" y="2781439"/>
            <a:ext cx="7560945" cy="267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00"/>
              </a:spcBef>
              <a:tabLst>
                <a:tab pos="4662805" algn="l"/>
              </a:tabLst>
            </a:pPr>
            <a:r>
              <a:rPr sz="1800" b="1" spc="-5" dirty="0">
                <a:latin typeface="微软雅黑"/>
                <a:cs typeface="微软雅黑"/>
              </a:rPr>
              <a:t>public</a:t>
            </a:r>
            <a:r>
              <a:rPr sz="1800" b="1" spc="5" dirty="0">
                <a:latin typeface="微软雅黑"/>
                <a:cs typeface="微软雅黑"/>
              </a:rPr>
              <a:t> </a:t>
            </a:r>
            <a:r>
              <a:rPr sz="1800" b="1" spc="-5" dirty="0">
                <a:latin typeface="微软雅黑"/>
                <a:cs typeface="微软雅黑"/>
              </a:rPr>
              <a:t>int</a:t>
            </a:r>
            <a:r>
              <a:rPr sz="1800" b="1" spc="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getColNumber();	</a:t>
            </a:r>
            <a:r>
              <a:rPr sz="1800" dirty="0">
                <a:latin typeface="微软雅黑"/>
                <a:cs typeface="微软雅黑"/>
              </a:rPr>
              <a:t>//获取表格的列数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  <a:tabLst>
                <a:tab pos="5577205" algn="l"/>
              </a:tabLst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spc="-15" dirty="0">
                <a:latin typeface="微软雅黑"/>
                <a:cs typeface="微软雅黑"/>
              </a:rPr>
              <a:t>String</a:t>
            </a:r>
            <a:r>
              <a:rPr sz="1800" spc="2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getColName(</a:t>
            </a:r>
            <a:r>
              <a:rPr sz="1800" b="1" spc="-5" dirty="0">
                <a:latin typeface="微软雅黑"/>
                <a:cs typeface="微软雅黑"/>
              </a:rPr>
              <a:t>int</a:t>
            </a:r>
            <a:r>
              <a:rPr sz="1800" b="1" spc="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index);	</a:t>
            </a:r>
            <a:r>
              <a:rPr sz="1800" dirty="0">
                <a:latin typeface="微软雅黑"/>
                <a:cs typeface="微软雅黑"/>
              </a:rPr>
              <a:t>//获取表头名称</a:t>
            </a:r>
            <a:endParaRPr sz="1800">
              <a:latin typeface="微软雅黑"/>
              <a:cs typeface="微软雅黑"/>
            </a:endParaRPr>
          </a:p>
          <a:p>
            <a:pPr marL="91440" marR="295275" indent="914400">
              <a:lnSpc>
                <a:spcPct val="100000"/>
              </a:lnSpc>
              <a:tabLst>
                <a:tab pos="5577205" algn="l"/>
              </a:tabLst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spc="-5" dirty="0">
                <a:latin typeface="微软雅黑"/>
                <a:cs typeface="微软雅黑"/>
              </a:rPr>
              <a:t>Object </a:t>
            </a:r>
            <a:r>
              <a:rPr sz="1800" spc="-15" dirty="0">
                <a:latin typeface="微软雅黑"/>
                <a:cs typeface="微软雅黑"/>
              </a:rPr>
              <a:t>getValue(</a:t>
            </a:r>
            <a:r>
              <a:rPr sz="1800" b="1" spc="-15" dirty="0">
                <a:latin typeface="微软雅黑"/>
                <a:cs typeface="微软雅黑"/>
              </a:rPr>
              <a:t>int</a:t>
            </a:r>
            <a:r>
              <a:rPr sz="1800" b="1" spc="25" dirty="0">
                <a:latin typeface="微软雅黑"/>
                <a:cs typeface="微软雅黑"/>
              </a:rPr>
              <a:t> </a:t>
            </a:r>
            <a:r>
              <a:rPr sz="1800" spc="-20" dirty="0">
                <a:latin typeface="微软雅黑"/>
                <a:cs typeface="微软雅黑"/>
              </a:rPr>
              <a:t>row,</a:t>
            </a:r>
            <a:r>
              <a:rPr sz="1800" b="1" spc="-20" dirty="0">
                <a:latin typeface="微软雅黑"/>
                <a:cs typeface="微软雅黑"/>
              </a:rPr>
              <a:t>int</a:t>
            </a:r>
            <a:r>
              <a:rPr sz="1800" b="1" spc="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col);	</a:t>
            </a:r>
            <a:r>
              <a:rPr sz="1800" dirty="0">
                <a:latin typeface="微软雅黑"/>
                <a:cs typeface="微软雅黑"/>
              </a:rPr>
              <a:t>//获取</a:t>
            </a:r>
            <a:r>
              <a:rPr sz="1800" spc="-85" dirty="0">
                <a:latin typeface="微软雅黑"/>
                <a:cs typeface="微软雅黑"/>
              </a:rPr>
              <a:t> </a:t>
            </a:r>
            <a:r>
              <a:rPr sz="1800" spc="-15" dirty="0">
                <a:latin typeface="微软雅黑"/>
                <a:cs typeface="微软雅黑"/>
              </a:rPr>
              <a:t>row</a:t>
            </a:r>
            <a:r>
              <a:rPr sz="1800" dirty="0">
                <a:latin typeface="微软雅黑"/>
                <a:cs typeface="微软雅黑"/>
              </a:rPr>
              <a:t>行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col  </a:t>
            </a:r>
            <a:r>
              <a:rPr sz="1800" dirty="0">
                <a:latin typeface="微软雅黑"/>
                <a:cs typeface="微软雅黑"/>
              </a:rPr>
              <a:t>列的数据</a:t>
            </a:r>
            <a:endParaRPr sz="1800">
              <a:latin typeface="微软雅黑"/>
              <a:cs typeface="微软雅黑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900">
              <a:latin typeface="微软雅黑"/>
              <a:cs typeface="微软雅黑"/>
            </a:endParaRPr>
          </a:p>
          <a:p>
            <a:pPr marL="91440" marR="109220" algn="just">
              <a:lnSpc>
                <a:spcPct val="100000"/>
              </a:lnSpc>
            </a:pPr>
            <a:r>
              <a:rPr sz="1800" spc="-20" dirty="0">
                <a:latin typeface="微软雅黑"/>
                <a:cs typeface="微软雅黑"/>
              </a:rPr>
              <a:t>getValue()</a:t>
            </a:r>
            <a:r>
              <a:rPr sz="1800" dirty="0">
                <a:latin typeface="微软雅黑"/>
                <a:cs typeface="微软雅黑"/>
              </a:rPr>
              <a:t>方法获取</a:t>
            </a:r>
            <a:r>
              <a:rPr sz="1800" spc="-15" dirty="0">
                <a:latin typeface="微软雅黑"/>
                <a:cs typeface="微软雅黑"/>
              </a:rPr>
              <a:t>row</a:t>
            </a:r>
            <a:r>
              <a:rPr sz="1800" dirty="0">
                <a:latin typeface="微软雅黑"/>
                <a:cs typeface="微软雅黑"/>
              </a:rPr>
              <a:t>行col列的表格数据，因为表格数据的类型并不统 一，所以用最高类型</a:t>
            </a:r>
            <a:r>
              <a:rPr sz="1800" spc="-5" dirty="0">
                <a:latin typeface="微软雅黑"/>
                <a:cs typeface="微软雅黑"/>
              </a:rPr>
              <a:t>O</a:t>
            </a:r>
            <a:r>
              <a:rPr sz="1800" dirty="0">
                <a:latin typeface="微软雅黑"/>
                <a:cs typeface="微软雅黑"/>
              </a:rPr>
              <a:t>b</a:t>
            </a:r>
            <a:r>
              <a:rPr sz="1800" spc="-5" dirty="0">
                <a:latin typeface="微软雅黑"/>
                <a:cs typeface="微软雅黑"/>
              </a:rPr>
              <a:t>je</a:t>
            </a:r>
            <a:r>
              <a:rPr sz="1800" dirty="0">
                <a:latin typeface="微软雅黑"/>
                <a:cs typeface="微软雅黑"/>
              </a:rPr>
              <a:t>c</a:t>
            </a:r>
            <a:r>
              <a:rPr sz="1800" spc="-5" dirty="0">
                <a:latin typeface="微软雅黑"/>
                <a:cs typeface="微软雅黑"/>
              </a:rPr>
              <a:t>t</a:t>
            </a:r>
            <a:r>
              <a:rPr sz="1800" dirty="0">
                <a:latin typeface="微软雅黑"/>
                <a:cs typeface="微软雅黑"/>
              </a:rPr>
              <a:t>作为返回值类型，允许该方法返回任何类型的 数据。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85</a:t>
            </a:fld>
            <a:endParaRPr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0660"/>
            <a:ext cx="36950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2．</a:t>
            </a:r>
            <a:r>
              <a:rPr sz="2800" dirty="0">
                <a:latin typeface="微软雅黑"/>
                <a:cs typeface="微软雅黑"/>
              </a:rPr>
              <a:t>应用层</a:t>
            </a:r>
            <a:r>
              <a:rPr sz="2800" spc="-35" dirty="0">
                <a:latin typeface="微软雅黑"/>
                <a:cs typeface="微软雅黑"/>
              </a:rPr>
              <a:t>PrintTable</a:t>
            </a:r>
            <a:r>
              <a:rPr sz="2800" spc="-5" dirty="0">
                <a:latin typeface="微软雅黑"/>
                <a:cs typeface="微软雅黑"/>
              </a:rPr>
              <a:t>类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5</a:t>
            </a:r>
            <a:r>
              <a:rPr sz="2100" u="none" dirty="0"/>
              <a:t>.2	向接口编程的代码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539495" y="2103120"/>
            <a:ext cx="8136635" cy="3692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5736" y="2099043"/>
            <a:ext cx="8145145" cy="3700145"/>
          </a:xfrm>
          <a:custGeom>
            <a:avLst/>
            <a:gdLst/>
            <a:ahLst/>
            <a:cxnLst/>
            <a:rect l="l" t="t" r="r" b="b"/>
            <a:pathLst>
              <a:path w="8145145" h="3700145">
                <a:moveTo>
                  <a:pt x="8144522" y="3700145"/>
                </a:moveTo>
                <a:lnTo>
                  <a:pt x="0" y="3700145"/>
                </a:lnTo>
                <a:lnTo>
                  <a:pt x="0" y="0"/>
                </a:lnTo>
                <a:lnTo>
                  <a:pt x="8144522" y="0"/>
                </a:lnTo>
                <a:lnTo>
                  <a:pt x="8144522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692525"/>
                </a:lnTo>
                <a:lnTo>
                  <a:pt x="3810" y="3692525"/>
                </a:lnTo>
                <a:lnTo>
                  <a:pt x="7620" y="3696335"/>
                </a:lnTo>
                <a:lnTo>
                  <a:pt x="8144522" y="3696335"/>
                </a:lnTo>
                <a:lnTo>
                  <a:pt x="8144522" y="3700145"/>
                </a:lnTo>
                <a:close/>
              </a:path>
              <a:path w="8145145" h="3700145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8145145" h="3700145">
                <a:moveTo>
                  <a:pt x="8136902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8136902" y="3810"/>
                </a:lnTo>
                <a:lnTo>
                  <a:pt x="8136902" y="7619"/>
                </a:lnTo>
                <a:close/>
              </a:path>
              <a:path w="8145145" h="3700145">
                <a:moveTo>
                  <a:pt x="8136902" y="3696335"/>
                </a:moveTo>
                <a:lnTo>
                  <a:pt x="8136902" y="3810"/>
                </a:lnTo>
                <a:lnTo>
                  <a:pt x="8140712" y="7619"/>
                </a:lnTo>
                <a:lnTo>
                  <a:pt x="8144522" y="7619"/>
                </a:lnTo>
                <a:lnTo>
                  <a:pt x="8144522" y="3692525"/>
                </a:lnTo>
                <a:lnTo>
                  <a:pt x="8140712" y="3692525"/>
                </a:lnTo>
                <a:lnTo>
                  <a:pt x="8136902" y="3696335"/>
                </a:lnTo>
                <a:close/>
              </a:path>
              <a:path w="8145145" h="3700145">
                <a:moveTo>
                  <a:pt x="8144522" y="7619"/>
                </a:moveTo>
                <a:lnTo>
                  <a:pt x="8140712" y="7619"/>
                </a:lnTo>
                <a:lnTo>
                  <a:pt x="8136902" y="3810"/>
                </a:lnTo>
                <a:lnTo>
                  <a:pt x="8144522" y="3810"/>
                </a:lnTo>
                <a:lnTo>
                  <a:pt x="8144522" y="7619"/>
                </a:lnTo>
                <a:close/>
              </a:path>
              <a:path w="8145145" h="3700145">
                <a:moveTo>
                  <a:pt x="7620" y="3696335"/>
                </a:moveTo>
                <a:lnTo>
                  <a:pt x="3810" y="3692525"/>
                </a:lnTo>
                <a:lnTo>
                  <a:pt x="7620" y="3692525"/>
                </a:lnTo>
                <a:lnTo>
                  <a:pt x="7620" y="3696335"/>
                </a:lnTo>
                <a:close/>
              </a:path>
              <a:path w="8145145" h="3700145">
                <a:moveTo>
                  <a:pt x="8136902" y="3696335"/>
                </a:moveTo>
                <a:lnTo>
                  <a:pt x="7620" y="3696335"/>
                </a:lnTo>
                <a:lnTo>
                  <a:pt x="7620" y="3692525"/>
                </a:lnTo>
                <a:lnTo>
                  <a:pt x="8136902" y="3692525"/>
                </a:lnTo>
                <a:lnTo>
                  <a:pt x="8136902" y="3696335"/>
                </a:lnTo>
                <a:close/>
              </a:path>
              <a:path w="8145145" h="3700145">
                <a:moveTo>
                  <a:pt x="8144522" y="3696335"/>
                </a:moveTo>
                <a:lnTo>
                  <a:pt x="8136902" y="3696335"/>
                </a:lnTo>
                <a:lnTo>
                  <a:pt x="8140712" y="3692525"/>
                </a:lnTo>
                <a:lnTo>
                  <a:pt x="8144522" y="3692525"/>
                </a:lnTo>
                <a:lnTo>
                  <a:pt x="8144522" y="369633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9495" y="2130793"/>
            <a:ext cx="813689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b="1" dirty="0">
                <a:latin typeface="微软雅黑"/>
                <a:cs typeface="微软雅黑"/>
              </a:rPr>
              <a:t>class </a:t>
            </a:r>
            <a:r>
              <a:rPr sz="1800" spc="-25" dirty="0">
                <a:latin typeface="微软雅黑"/>
                <a:cs typeface="微软雅黑"/>
              </a:rPr>
              <a:t>PrintTable</a:t>
            </a:r>
            <a:r>
              <a:rPr sz="1800" spc="-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</a:pPr>
            <a:r>
              <a:rPr sz="1800" b="1" spc="-10" dirty="0">
                <a:latin typeface="微软雅黑"/>
                <a:cs typeface="微软雅黑"/>
              </a:rPr>
              <a:t>private</a:t>
            </a:r>
            <a:r>
              <a:rPr sz="1800" b="1" spc="-5" dirty="0">
                <a:latin typeface="微软雅黑"/>
                <a:cs typeface="微软雅黑"/>
              </a:rPr>
              <a:t> </a:t>
            </a:r>
            <a:r>
              <a:rPr sz="1800" spc="-25" dirty="0">
                <a:latin typeface="微软雅黑"/>
                <a:cs typeface="微软雅黑"/>
              </a:rPr>
              <a:t>TableModel</a:t>
            </a:r>
            <a:r>
              <a:rPr sz="180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model;//</a:t>
            </a:r>
            <a:r>
              <a:rPr sz="1800" dirty="0">
                <a:latin typeface="微软雅黑"/>
                <a:cs typeface="微软雅黑"/>
              </a:rPr>
              <a:t>接口成员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public </a:t>
            </a:r>
            <a:r>
              <a:rPr sz="1800" spc="-25" dirty="0">
                <a:latin typeface="微软雅黑"/>
                <a:cs typeface="微软雅黑"/>
              </a:rPr>
              <a:t>PrintTable(TableModel </a:t>
            </a:r>
            <a:r>
              <a:rPr sz="1800" spc="-5" dirty="0">
                <a:latin typeface="微软雅黑"/>
                <a:cs typeface="微软雅黑"/>
              </a:rPr>
              <a:t>model)</a:t>
            </a:r>
            <a:r>
              <a:rPr sz="1800" spc="2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42669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//构造方法初始化接口成员变量</a:t>
            </a:r>
            <a:endParaRPr sz="1800">
              <a:latin typeface="微软雅黑"/>
              <a:cs typeface="微软雅黑"/>
            </a:endParaRPr>
          </a:p>
          <a:p>
            <a:pPr marL="1920239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this</a:t>
            </a:r>
            <a:r>
              <a:rPr sz="1800" spc="-5" dirty="0">
                <a:latin typeface="微软雅黑"/>
                <a:cs typeface="微软雅黑"/>
              </a:rPr>
              <a:t>.model </a:t>
            </a:r>
            <a:r>
              <a:rPr sz="1800" dirty="0">
                <a:latin typeface="微软雅黑"/>
                <a:cs typeface="微软雅黑"/>
              </a:rPr>
              <a:t>=</a:t>
            </a:r>
            <a:r>
              <a:rPr sz="1800" spc="-5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model;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public void </a:t>
            </a:r>
            <a:r>
              <a:rPr sz="1800" spc="-15" dirty="0">
                <a:latin typeface="微软雅黑"/>
                <a:cs typeface="微软雅黑"/>
              </a:rPr>
              <a:t>setModel(TableModel </a:t>
            </a:r>
            <a:r>
              <a:rPr sz="1800" spc="-5" dirty="0">
                <a:latin typeface="微软雅黑"/>
                <a:cs typeface="微软雅黑"/>
              </a:rPr>
              <a:t>model)</a:t>
            </a:r>
            <a:r>
              <a:rPr sz="1800" spc="10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//set</a:t>
            </a:r>
            <a:r>
              <a:rPr sz="1800" dirty="0">
                <a:latin typeface="微软雅黑"/>
                <a:cs typeface="微软雅黑"/>
              </a:rPr>
              <a:t>方法初始化接口成员变量</a:t>
            </a:r>
            <a:endParaRPr sz="1800">
              <a:latin typeface="微软雅黑"/>
              <a:cs typeface="微软雅黑"/>
            </a:endParaRPr>
          </a:p>
          <a:p>
            <a:pPr marL="1920239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this</a:t>
            </a:r>
            <a:r>
              <a:rPr sz="1800" spc="-5" dirty="0">
                <a:latin typeface="微软雅黑"/>
                <a:cs typeface="微软雅黑"/>
              </a:rPr>
              <a:t>.model </a:t>
            </a:r>
            <a:r>
              <a:rPr sz="1800" dirty="0">
                <a:latin typeface="微软雅黑"/>
                <a:cs typeface="微软雅黑"/>
              </a:rPr>
              <a:t>= </a:t>
            </a:r>
            <a:r>
              <a:rPr sz="1800" spc="-5" dirty="0">
                <a:latin typeface="微软雅黑"/>
                <a:cs typeface="微软雅黑"/>
              </a:rPr>
              <a:t>model;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86</a:t>
            </a:fld>
            <a:endParaRPr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1629" y="1481455"/>
            <a:ext cx="8237855" cy="452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7820" y="1477644"/>
            <a:ext cx="8245475" cy="4533265"/>
          </a:xfrm>
          <a:custGeom>
            <a:avLst/>
            <a:gdLst/>
            <a:ahLst/>
            <a:cxnLst/>
            <a:rect l="l" t="t" r="r" b="b"/>
            <a:pathLst>
              <a:path w="8245475" h="4533265">
                <a:moveTo>
                  <a:pt x="8245475" y="4533265"/>
                </a:moveTo>
                <a:lnTo>
                  <a:pt x="0" y="4533265"/>
                </a:lnTo>
                <a:lnTo>
                  <a:pt x="0" y="0"/>
                </a:lnTo>
                <a:lnTo>
                  <a:pt x="8245475" y="0"/>
                </a:lnTo>
                <a:lnTo>
                  <a:pt x="8245475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4525645"/>
                </a:lnTo>
                <a:lnTo>
                  <a:pt x="3809" y="4525645"/>
                </a:lnTo>
                <a:lnTo>
                  <a:pt x="7619" y="4529455"/>
                </a:lnTo>
                <a:lnTo>
                  <a:pt x="8245475" y="4529455"/>
                </a:lnTo>
                <a:lnTo>
                  <a:pt x="8245475" y="4533265"/>
                </a:lnTo>
                <a:close/>
              </a:path>
              <a:path w="8245475" h="4533265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8245475" h="4533265">
                <a:moveTo>
                  <a:pt x="823785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8237855" y="3810"/>
                </a:lnTo>
                <a:lnTo>
                  <a:pt x="8237855" y="7620"/>
                </a:lnTo>
                <a:close/>
              </a:path>
              <a:path w="8245475" h="4533265">
                <a:moveTo>
                  <a:pt x="8237855" y="4529455"/>
                </a:moveTo>
                <a:lnTo>
                  <a:pt x="8237855" y="3810"/>
                </a:lnTo>
                <a:lnTo>
                  <a:pt x="8241664" y="7620"/>
                </a:lnTo>
                <a:lnTo>
                  <a:pt x="8245475" y="7620"/>
                </a:lnTo>
                <a:lnTo>
                  <a:pt x="8245475" y="4525645"/>
                </a:lnTo>
                <a:lnTo>
                  <a:pt x="8241664" y="4525645"/>
                </a:lnTo>
                <a:lnTo>
                  <a:pt x="8237855" y="4529455"/>
                </a:lnTo>
                <a:close/>
              </a:path>
              <a:path w="8245475" h="4533265">
                <a:moveTo>
                  <a:pt x="8245475" y="7620"/>
                </a:moveTo>
                <a:lnTo>
                  <a:pt x="8241664" y="7620"/>
                </a:lnTo>
                <a:lnTo>
                  <a:pt x="8237855" y="3810"/>
                </a:lnTo>
                <a:lnTo>
                  <a:pt x="8245475" y="3810"/>
                </a:lnTo>
                <a:lnTo>
                  <a:pt x="8245475" y="7620"/>
                </a:lnTo>
                <a:close/>
              </a:path>
              <a:path w="8245475" h="4533265">
                <a:moveTo>
                  <a:pt x="7619" y="4529455"/>
                </a:moveTo>
                <a:lnTo>
                  <a:pt x="3809" y="4525645"/>
                </a:lnTo>
                <a:lnTo>
                  <a:pt x="7619" y="4525645"/>
                </a:lnTo>
                <a:lnTo>
                  <a:pt x="7619" y="4529455"/>
                </a:lnTo>
                <a:close/>
              </a:path>
              <a:path w="8245475" h="4533265">
                <a:moveTo>
                  <a:pt x="8237855" y="4529455"/>
                </a:moveTo>
                <a:lnTo>
                  <a:pt x="7619" y="4529455"/>
                </a:lnTo>
                <a:lnTo>
                  <a:pt x="7619" y="4525645"/>
                </a:lnTo>
                <a:lnTo>
                  <a:pt x="8237855" y="4525645"/>
                </a:lnTo>
                <a:lnTo>
                  <a:pt x="8237855" y="4529455"/>
                </a:lnTo>
                <a:close/>
              </a:path>
              <a:path w="8245475" h="4533265">
                <a:moveTo>
                  <a:pt x="8245475" y="4529455"/>
                </a:moveTo>
                <a:lnTo>
                  <a:pt x="8237855" y="4529455"/>
                </a:lnTo>
                <a:lnTo>
                  <a:pt x="8241664" y="4525645"/>
                </a:lnTo>
                <a:lnTo>
                  <a:pt x="8245475" y="4525645"/>
                </a:lnTo>
                <a:lnTo>
                  <a:pt x="8245475" y="452945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0225" y="1426209"/>
            <a:ext cx="7240905" cy="232283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500" b="1" spc="-5" dirty="0">
                <a:latin typeface="微软雅黑"/>
                <a:cs typeface="微软雅黑"/>
              </a:rPr>
              <a:t>public </a:t>
            </a:r>
            <a:r>
              <a:rPr sz="1500" b="1" spc="-10" dirty="0">
                <a:latin typeface="微软雅黑"/>
                <a:cs typeface="微软雅黑"/>
              </a:rPr>
              <a:t>void </a:t>
            </a:r>
            <a:r>
              <a:rPr sz="1500" spc="-15" dirty="0">
                <a:latin typeface="微软雅黑"/>
                <a:cs typeface="微软雅黑"/>
              </a:rPr>
              <a:t>printTable(){</a:t>
            </a:r>
            <a:endParaRPr sz="1500">
              <a:latin typeface="微软雅黑"/>
              <a:cs typeface="微软雅黑"/>
            </a:endParaRPr>
          </a:p>
          <a:p>
            <a:pPr marL="2646045" marR="5080" indent="-914400">
              <a:lnSpc>
                <a:spcPct val="108900"/>
              </a:lnSpc>
              <a:spcBef>
                <a:spcPts val="50"/>
              </a:spcBef>
              <a:tabLst>
                <a:tab pos="6303010" algn="l"/>
              </a:tabLst>
            </a:pPr>
            <a:r>
              <a:rPr sz="1500" b="1" dirty="0">
                <a:latin typeface="微软雅黑"/>
                <a:cs typeface="微软雅黑"/>
              </a:rPr>
              <a:t>f</a:t>
            </a:r>
            <a:r>
              <a:rPr sz="1500" b="1" spc="-5" dirty="0">
                <a:latin typeface="微软雅黑"/>
                <a:cs typeface="微软雅黑"/>
              </a:rPr>
              <a:t>or</a:t>
            </a:r>
            <a:r>
              <a:rPr sz="1500" spc="-5" dirty="0">
                <a:latin typeface="微软雅黑"/>
                <a:cs typeface="微软雅黑"/>
              </a:rPr>
              <a:t>(</a:t>
            </a:r>
            <a:r>
              <a:rPr sz="1500" b="1" dirty="0">
                <a:latin typeface="微软雅黑"/>
                <a:cs typeface="微软雅黑"/>
              </a:rPr>
              <a:t>i</a:t>
            </a:r>
            <a:r>
              <a:rPr sz="1500" b="1" spc="-5" dirty="0">
                <a:latin typeface="微软雅黑"/>
                <a:cs typeface="微软雅黑"/>
              </a:rPr>
              <a:t>n</a:t>
            </a:r>
            <a:r>
              <a:rPr sz="1500" b="1" dirty="0">
                <a:latin typeface="微软雅黑"/>
                <a:cs typeface="微软雅黑"/>
              </a:rPr>
              <a:t>t</a:t>
            </a:r>
            <a:r>
              <a:rPr sz="1500" b="1" spc="-5" dirty="0">
                <a:latin typeface="微软雅黑"/>
                <a:cs typeface="微软雅黑"/>
              </a:rPr>
              <a:t> </a:t>
            </a:r>
            <a:r>
              <a:rPr sz="1500" dirty="0">
                <a:latin typeface="微软雅黑"/>
                <a:cs typeface="微软雅黑"/>
              </a:rPr>
              <a:t>i=0; i&lt;</a:t>
            </a:r>
            <a:r>
              <a:rPr sz="1500" spc="-5" dirty="0">
                <a:latin typeface="微软雅黑"/>
                <a:cs typeface="微软雅黑"/>
              </a:rPr>
              <a:t>m</a:t>
            </a:r>
            <a:r>
              <a:rPr sz="1500" dirty="0">
                <a:latin typeface="微软雅黑"/>
                <a:cs typeface="微软雅黑"/>
              </a:rPr>
              <a:t>od</a:t>
            </a:r>
            <a:r>
              <a:rPr sz="1500" spc="-5" dirty="0">
                <a:latin typeface="微软雅黑"/>
                <a:cs typeface="微软雅黑"/>
              </a:rPr>
              <a:t>e</a:t>
            </a:r>
            <a:r>
              <a:rPr sz="1500" dirty="0">
                <a:latin typeface="微软雅黑"/>
                <a:cs typeface="微软雅黑"/>
              </a:rPr>
              <a:t>l</a:t>
            </a:r>
            <a:r>
              <a:rPr sz="1500" spc="-5" dirty="0">
                <a:latin typeface="微软雅黑"/>
                <a:cs typeface="微软雅黑"/>
              </a:rPr>
              <a:t>.</a:t>
            </a:r>
            <a:r>
              <a:rPr sz="1500" dirty="0">
                <a:latin typeface="微软雅黑"/>
                <a:cs typeface="微软雅黑"/>
              </a:rPr>
              <a:t>g</a:t>
            </a:r>
            <a:r>
              <a:rPr sz="1500" spc="-5" dirty="0">
                <a:latin typeface="微软雅黑"/>
                <a:cs typeface="微软雅黑"/>
              </a:rPr>
              <a:t>e</a:t>
            </a:r>
            <a:r>
              <a:rPr sz="1500" dirty="0">
                <a:latin typeface="微软雅黑"/>
                <a:cs typeface="微软雅黑"/>
              </a:rPr>
              <a:t>tColNu</a:t>
            </a:r>
            <a:r>
              <a:rPr sz="1500" spc="-5" dirty="0">
                <a:latin typeface="微软雅黑"/>
                <a:cs typeface="微软雅黑"/>
              </a:rPr>
              <a:t>m</a:t>
            </a:r>
            <a:r>
              <a:rPr sz="1500" dirty="0">
                <a:latin typeface="微软雅黑"/>
                <a:cs typeface="微软雅黑"/>
              </a:rPr>
              <a:t>b</a:t>
            </a:r>
            <a:r>
              <a:rPr sz="1500" spc="-5" dirty="0">
                <a:latin typeface="微软雅黑"/>
                <a:cs typeface="微软雅黑"/>
              </a:rPr>
              <a:t>e</a:t>
            </a:r>
            <a:r>
              <a:rPr sz="1500" dirty="0">
                <a:latin typeface="微软雅黑"/>
                <a:cs typeface="微软雅黑"/>
              </a:rPr>
              <a:t>r</a:t>
            </a:r>
            <a:r>
              <a:rPr sz="1500" spc="-5" dirty="0">
                <a:latin typeface="微软雅黑"/>
                <a:cs typeface="微软雅黑"/>
              </a:rPr>
              <a:t>()</a:t>
            </a:r>
            <a:r>
              <a:rPr sz="1500" dirty="0">
                <a:latin typeface="微软雅黑"/>
                <a:cs typeface="微软雅黑"/>
              </a:rPr>
              <a:t>; i++</a:t>
            </a:r>
            <a:r>
              <a:rPr sz="1500" spc="-5" dirty="0">
                <a:latin typeface="微软雅黑"/>
                <a:cs typeface="微软雅黑"/>
              </a:rPr>
              <a:t>)</a:t>
            </a:r>
            <a:r>
              <a:rPr sz="1500" dirty="0">
                <a:latin typeface="微软雅黑"/>
                <a:cs typeface="微软雅黑"/>
              </a:rPr>
              <a:t>{	</a:t>
            </a:r>
            <a:r>
              <a:rPr sz="1500" spc="-5" dirty="0">
                <a:latin typeface="微软雅黑"/>
                <a:cs typeface="微软雅黑"/>
              </a:rPr>
              <a:t>//</a:t>
            </a:r>
            <a:r>
              <a:rPr sz="1500" dirty="0">
                <a:latin typeface="微软雅黑"/>
                <a:cs typeface="微软雅黑"/>
              </a:rPr>
              <a:t>输出表头  </a:t>
            </a:r>
            <a:r>
              <a:rPr sz="1500" spc="-225" dirty="0">
                <a:latin typeface="微软雅黑"/>
                <a:cs typeface="微软雅黑"/>
              </a:rPr>
              <a:t>System.</a:t>
            </a:r>
            <a:r>
              <a:rPr sz="1550" i="1" spc="-225" dirty="0">
                <a:latin typeface="微软雅黑"/>
                <a:cs typeface="微软雅黑"/>
              </a:rPr>
              <a:t>out</a:t>
            </a:r>
            <a:r>
              <a:rPr sz="1500" spc="-225" dirty="0">
                <a:latin typeface="微软雅黑"/>
                <a:cs typeface="微软雅黑"/>
              </a:rPr>
              <a:t>p.</a:t>
            </a:r>
            <a:r>
              <a:rPr sz="1500" spc="-140" dirty="0">
                <a:latin typeface="微软雅黑"/>
                <a:cs typeface="微软雅黑"/>
              </a:rPr>
              <a:t> </a:t>
            </a:r>
            <a:r>
              <a:rPr sz="1500" spc="-5" dirty="0">
                <a:latin typeface="微软雅黑"/>
                <a:cs typeface="微软雅黑"/>
              </a:rPr>
              <a:t>rint(model.getColName(i)+"\t");</a:t>
            </a:r>
            <a:endParaRPr sz="15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200"/>
              </a:spcBef>
            </a:pPr>
            <a:r>
              <a:rPr sz="1500" dirty="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160"/>
              </a:spcBef>
            </a:pPr>
            <a:r>
              <a:rPr sz="1500" spc="-225" dirty="0">
                <a:latin typeface="微软雅黑"/>
                <a:cs typeface="微软雅黑"/>
              </a:rPr>
              <a:t>System.</a:t>
            </a:r>
            <a:r>
              <a:rPr sz="1550" i="1" spc="-225" dirty="0">
                <a:latin typeface="微软雅黑"/>
                <a:cs typeface="微软雅黑"/>
              </a:rPr>
              <a:t>out</a:t>
            </a:r>
            <a:r>
              <a:rPr sz="1500" spc="-225" dirty="0">
                <a:latin typeface="微软雅黑"/>
                <a:cs typeface="微软雅黑"/>
              </a:rPr>
              <a:t>p.</a:t>
            </a:r>
            <a:r>
              <a:rPr sz="1500" spc="-145" dirty="0">
                <a:latin typeface="微软雅黑"/>
                <a:cs typeface="微软雅黑"/>
              </a:rPr>
              <a:t> </a:t>
            </a:r>
            <a:r>
              <a:rPr sz="1500" spc="-5" dirty="0">
                <a:latin typeface="微软雅黑"/>
                <a:cs typeface="微软雅黑"/>
              </a:rPr>
              <a:t>rintln();</a:t>
            </a:r>
            <a:endParaRPr sz="15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150"/>
              </a:spcBef>
              <a:tabLst>
                <a:tab pos="5760085" algn="l"/>
              </a:tabLst>
            </a:pPr>
            <a:r>
              <a:rPr sz="1500" spc="-225" dirty="0">
                <a:latin typeface="微软雅黑"/>
                <a:cs typeface="微软雅黑"/>
              </a:rPr>
              <a:t>System.</a:t>
            </a:r>
            <a:r>
              <a:rPr sz="1550" i="1" spc="-225" dirty="0">
                <a:latin typeface="微软雅黑"/>
                <a:cs typeface="微软雅黑"/>
              </a:rPr>
              <a:t>out</a:t>
            </a:r>
            <a:r>
              <a:rPr sz="1500" spc="-225" dirty="0">
                <a:latin typeface="微软雅黑"/>
                <a:cs typeface="微软雅黑"/>
              </a:rPr>
              <a:t>p.   </a:t>
            </a:r>
            <a:r>
              <a:rPr sz="1500" spc="-114" dirty="0">
                <a:latin typeface="微软雅黑"/>
                <a:cs typeface="微软雅黑"/>
              </a:rPr>
              <a:t> </a:t>
            </a:r>
            <a:r>
              <a:rPr sz="1500" spc="-5" dirty="0">
                <a:latin typeface="微软雅黑"/>
                <a:cs typeface="微软雅黑"/>
              </a:rPr>
              <a:t>rintln("</a:t>
            </a:r>
            <a:r>
              <a:rPr sz="1500" u="heavy" spc="-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 	</a:t>
            </a:r>
            <a:r>
              <a:rPr sz="1500" spc="-5" dirty="0">
                <a:latin typeface="微软雅黑"/>
                <a:cs typeface="微软雅黑"/>
              </a:rPr>
              <a:t>");</a:t>
            </a:r>
            <a:endParaRPr sz="15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5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</a:pPr>
            <a:r>
              <a:rPr sz="1500" spc="-5" dirty="0">
                <a:latin typeface="微软雅黑"/>
                <a:cs typeface="微软雅黑"/>
              </a:rPr>
              <a:t>//</a:t>
            </a:r>
            <a:r>
              <a:rPr sz="1500" dirty="0">
                <a:latin typeface="微软雅黑"/>
                <a:cs typeface="微软雅黑"/>
              </a:rPr>
              <a:t>输出表格内容</a:t>
            </a:r>
            <a:endParaRPr sz="15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210"/>
              </a:spcBef>
            </a:pPr>
            <a:r>
              <a:rPr sz="1500" b="1" spc="-5" dirty="0">
                <a:latin typeface="微软雅黑"/>
                <a:cs typeface="微软雅黑"/>
              </a:rPr>
              <a:t>for</a:t>
            </a:r>
            <a:r>
              <a:rPr sz="1500" spc="-5" dirty="0">
                <a:latin typeface="微软雅黑"/>
                <a:cs typeface="微软雅黑"/>
              </a:rPr>
              <a:t>(</a:t>
            </a:r>
            <a:r>
              <a:rPr sz="1500" b="1" spc="-5" dirty="0">
                <a:latin typeface="微软雅黑"/>
                <a:cs typeface="微软雅黑"/>
              </a:rPr>
              <a:t>int </a:t>
            </a:r>
            <a:r>
              <a:rPr sz="1500" dirty="0">
                <a:latin typeface="微软雅黑"/>
                <a:cs typeface="微软雅黑"/>
              </a:rPr>
              <a:t>i=0; </a:t>
            </a:r>
            <a:r>
              <a:rPr sz="1500" spc="-5" dirty="0">
                <a:latin typeface="微软雅黑"/>
                <a:cs typeface="微软雅黑"/>
              </a:rPr>
              <a:t>i&lt;model.getRowNumber(); i++){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163570" y="3750309"/>
            <a:ext cx="39573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微软雅黑"/>
                <a:cs typeface="微软雅黑"/>
              </a:rPr>
              <a:t>for</a:t>
            </a:r>
            <a:r>
              <a:rPr sz="1500" spc="-5" dirty="0">
                <a:latin typeface="微软雅黑"/>
                <a:cs typeface="微软雅黑"/>
              </a:rPr>
              <a:t>(</a:t>
            </a:r>
            <a:r>
              <a:rPr sz="1500" b="1" spc="-5" dirty="0">
                <a:latin typeface="微软雅黑"/>
                <a:cs typeface="微软雅黑"/>
              </a:rPr>
              <a:t>int </a:t>
            </a:r>
            <a:r>
              <a:rPr sz="1500" spc="-5" dirty="0">
                <a:latin typeface="微软雅黑"/>
                <a:cs typeface="微软雅黑"/>
              </a:rPr>
              <a:t>j=0; j&lt;model.getColNumber();</a:t>
            </a:r>
            <a:r>
              <a:rPr sz="1500" spc="15" dirty="0">
                <a:latin typeface="微软雅黑"/>
                <a:cs typeface="微软雅黑"/>
              </a:rPr>
              <a:t> </a:t>
            </a:r>
            <a:r>
              <a:rPr sz="1500" spc="-5" dirty="0">
                <a:latin typeface="微软雅黑"/>
                <a:cs typeface="微软雅黑"/>
              </a:rPr>
              <a:t>j++){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3115" y="3900813"/>
            <a:ext cx="389572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70" dirty="0">
                <a:latin typeface="微软雅黑"/>
                <a:cs typeface="微软雅黑"/>
              </a:rPr>
              <a:t>System.</a:t>
            </a:r>
            <a:r>
              <a:rPr sz="1550" i="1" spc="-70" dirty="0">
                <a:latin typeface="微软雅黑"/>
                <a:cs typeface="微软雅黑"/>
              </a:rPr>
              <a:t>out</a:t>
            </a:r>
            <a:r>
              <a:rPr sz="1500" spc="-70" dirty="0">
                <a:latin typeface="微软雅黑"/>
                <a:cs typeface="微软雅黑"/>
              </a:rPr>
              <a:t>.print(model.getValue(i,</a:t>
            </a:r>
            <a:r>
              <a:rPr sz="1500" spc="15" dirty="0">
                <a:latin typeface="微软雅黑"/>
                <a:cs typeface="微软雅黑"/>
              </a:rPr>
              <a:t> </a:t>
            </a:r>
            <a:r>
              <a:rPr sz="1500" spc="-5" dirty="0">
                <a:latin typeface="微软雅黑"/>
                <a:cs typeface="微软雅黑"/>
              </a:rPr>
              <a:t>j)+"\t");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225" y="4149261"/>
            <a:ext cx="4485640" cy="12915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646045">
              <a:lnSpc>
                <a:spcPct val="100000"/>
              </a:lnSpc>
              <a:spcBef>
                <a:spcPts val="225"/>
              </a:spcBef>
            </a:pPr>
            <a:r>
              <a:rPr sz="1500" dirty="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  <a:p>
            <a:pPr marL="2646045">
              <a:lnSpc>
                <a:spcPct val="100000"/>
              </a:lnSpc>
              <a:spcBef>
                <a:spcPts val="160"/>
              </a:spcBef>
            </a:pPr>
            <a:r>
              <a:rPr sz="1500" spc="-225" dirty="0">
                <a:latin typeface="微软雅黑"/>
                <a:cs typeface="微软雅黑"/>
              </a:rPr>
              <a:t>System.</a:t>
            </a:r>
            <a:r>
              <a:rPr sz="1550" i="1" spc="-225" dirty="0">
                <a:latin typeface="微软雅黑"/>
                <a:cs typeface="微软雅黑"/>
              </a:rPr>
              <a:t>out</a:t>
            </a:r>
            <a:r>
              <a:rPr sz="1500" spc="-225" dirty="0">
                <a:latin typeface="微软雅黑"/>
                <a:cs typeface="微软雅黑"/>
              </a:rPr>
              <a:t>p.</a:t>
            </a:r>
            <a:r>
              <a:rPr sz="1500" spc="-155" dirty="0">
                <a:latin typeface="微软雅黑"/>
                <a:cs typeface="微软雅黑"/>
              </a:rPr>
              <a:t> </a:t>
            </a:r>
            <a:r>
              <a:rPr sz="1500" spc="-5" dirty="0">
                <a:latin typeface="微软雅黑"/>
                <a:cs typeface="微软雅黑"/>
              </a:rPr>
              <a:t>rintln();</a:t>
            </a:r>
            <a:endParaRPr sz="15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200"/>
              </a:spcBef>
            </a:pPr>
            <a:r>
              <a:rPr sz="1500" dirty="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210"/>
              </a:spcBef>
            </a:pPr>
            <a:r>
              <a:rPr sz="1500" dirty="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500" dirty="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5</a:t>
            </a:r>
            <a:r>
              <a:rPr sz="2100" u="none" dirty="0"/>
              <a:t>.2	向接口编程的代码</a:t>
            </a:r>
            <a:endParaRPr sz="21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590" y="1226185"/>
            <a:ext cx="68084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3．</a:t>
            </a:r>
            <a:r>
              <a:rPr sz="2800" dirty="0">
                <a:latin typeface="微软雅黑"/>
                <a:cs typeface="微软雅黑"/>
              </a:rPr>
              <a:t>底层实现类</a:t>
            </a:r>
            <a:r>
              <a:rPr sz="2800" spc="-20" dirty="0">
                <a:latin typeface="微软雅黑"/>
                <a:cs typeface="微软雅黑"/>
              </a:rPr>
              <a:t>TableModelForStringArray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5</a:t>
            </a:r>
            <a:r>
              <a:rPr sz="2100" u="none" dirty="0"/>
              <a:t>.2	向接口编程的代码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1331975" y="2276855"/>
            <a:ext cx="4751832" cy="2584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27835" y="2273058"/>
            <a:ext cx="4760595" cy="2592070"/>
          </a:xfrm>
          <a:custGeom>
            <a:avLst/>
            <a:gdLst/>
            <a:ahLst/>
            <a:cxnLst/>
            <a:rect l="l" t="t" r="r" b="b"/>
            <a:pathLst>
              <a:path w="4760595" h="2592070">
                <a:moveTo>
                  <a:pt x="4760137" y="2592070"/>
                </a:moveTo>
                <a:lnTo>
                  <a:pt x="0" y="2592070"/>
                </a:lnTo>
                <a:lnTo>
                  <a:pt x="0" y="0"/>
                </a:lnTo>
                <a:lnTo>
                  <a:pt x="4760137" y="0"/>
                </a:lnTo>
                <a:lnTo>
                  <a:pt x="4760137" y="3810"/>
                </a:lnTo>
                <a:lnTo>
                  <a:pt x="7619" y="3810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2584450"/>
                </a:lnTo>
                <a:lnTo>
                  <a:pt x="3809" y="2584450"/>
                </a:lnTo>
                <a:lnTo>
                  <a:pt x="7619" y="2588260"/>
                </a:lnTo>
                <a:lnTo>
                  <a:pt x="4760137" y="2588260"/>
                </a:lnTo>
                <a:lnTo>
                  <a:pt x="4760137" y="2592070"/>
                </a:lnTo>
                <a:close/>
              </a:path>
              <a:path w="4760595" h="2592070">
                <a:moveTo>
                  <a:pt x="7619" y="7619"/>
                </a:moveTo>
                <a:lnTo>
                  <a:pt x="3810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4760595" h="2592070">
                <a:moveTo>
                  <a:pt x="4752517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4752517" y="3810"/>
                </a:lnTo>
                <a:lnTo>
                  <a:pt x="4752517" y="7619"/>
                </a:lnTo>
                <a:close/>
              </a:path>
              <a:path w="4760595" h="2592070">
                <a:moveTo>
                  <a:pt x="4752517" y="2588260"/>
                </a:moveTo>
                <a:lnTo>
                  <a:pt x="4752517" y="3810"/>
                </a:lnTo>
                <a:lnTo>
                  <a:pt x="4756327" y="7619"/>
                </a:lnTo>
                <a:lnTo>
                  <a:pt x="4760137" y="7619"/>
                </a:lnTo>
                <a:lnTo>
                  <a:pt x="4760137" y="2584450"/>
                </a:lnTo>
                <a:lnTo>
                  <a:pt x="4756327" y="2584450"/>
                </a:lnTo>
                <a:lnTo>
                  <a:pt x="4752517" y="2588260"/>
                </a:lnTo>
                <a:close/>
              </a:path>
              <a:path w="4760595" h="2592070">
                <a:moveTo>
                  <a:pt x="4760137" y="7619"/>
                </a:moveTo>
                <a:lnTo>
                  <a:pt x="4756327" y="7619"/>
                </a:lnTo>
                <a:lnTo>
                  <a:pt x="4752517" y="3810"/>
                </a:lnTo>
                <a:lnTo>
                  <a:pt x="4760137" y="3810"/>
                </a:lnTo>
                <a:lnTo>
                  <a:pt x="4760137" y="7619"/>
                </a:lnTo>
                <a:close/>
              </a:path>
              <a:path w="4760595" h="2592070">
                <a:moveTo>
                  <a:pt x="7619" y="2588260"/>
                </a:moveTo>
                <a:lnTo>
                  <a:pt x="3809" y="2584450"/>
                </a:lnTo>
                <a:lnTo>
                  <a:pt x="7619" y="2584450"/>
                </a:lnTo>
                <a:lnTo>
                  <a:pt x="7619" y="2588260"/>
                </a:lnTo>
                <a:close/>
              </a:path>
              <a:path w="4760595" h="2592070">
                <a:moveTo>
                  <a:pt x="4752517" y="2588260"/>
                </a:moveTo>
                <a:lnTo>
                  <a:pt x="7619" y="2588260"/>
                </a:lnTo>
                <a:lnTo>
                  <a:pt x="7619" y="2584450"/>
                </a:lnTo>
                <a:lnTo>
                  <a:pt x="4752517" y="2584450"/>
                </a:lnTo>
                <a:lnTo>
                  <a:pt x="4752517" y="2588260"/>
                </a:lnTo>
                <a:close/>
              </a:path>
              <a:path w="4760595" h="2592070">
                <a:moveTo>
                  <a:pt x="4760137" y="2588260"/>
                </a:moveTo>
                <a:lnTo>
                  <a:pt x="4752517" y="2588260"/>
                </a:lnTo>
                <a:lnTo>
                  <a:pt x="4756327" y="2584450"/>
                </a:lnTo>
                <a:lnTo>
                  <a:pt x="4760137" y="2584450"/>
                </a:lnTo>
                <a:lnTo>
                  <a:pt x="4760137" y="258826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31975" y="2304808"/>
            <a:ext cx="475234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微软雅黑"/>
                <a:cs typeface="微软雅黑"/>
              </a:rPr>
              <a:t>String[][]</a:t>
            </a:r>
            <a:r>
              <a:rPr sz="1800" spc="-5" dirty="0">
                <a:latin typeface="微软雅黑"/>
                <a:cs typeface="微软雅黑"/>
              </a:rPr>
              <a:t> str={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{"ID","NAME","GENDER","AGE"},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{"1001","zhangs","</a:t>
            </a:r>
            <a:r>
              <a:rPr sz="1800" dirty="0">
                <a:latin typeface="微软雅黑"/>
                <a:cs typeface="微软雅黑"/>
              </a:rPr>
              <a:t>男</a:t>
            </a:r>
            <a:r>
              <a:rPr sz="1800" spc="-5" dirty="0">
                <a:latin typeface="微软雅黑"/>
                <a:cs typeface="微软雅黑"/>
              </a:rPr>
              <a:t>","21"},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{"1002","lis","</a:t>
            </a:r>
            <a:r>
              <a:rPr sz="1800" dirty="0">
                <a:latin typeface="微软雅黑"/>
                <a:cs typeface="微软雅黑"/>
              </a:rPr>
              <a:t>男</a:t>
            </a:r>
            <a:r>
              <a:rPr sz="1800" spc="-5" dirty="0">
                <a:latin typeface="微软雅黑"/>
                <a:cs typeface="微软雅黑"/>
              </a:rPr>
              <a:t>","23"},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sz="1800" spc="-10" dirty="0">
                <a:latin typeface="微软雅黑"/>
                <a:cs typeface="微软雅黑"/>
              </a:rPr>
              <a:t>{"1003","wangwu","</a:t>
            </a:r>
            <a:r>
              <a:rPr sz="1800" dirty="0">
                <a:latin typeface="微软雅黑"/>
                <a:cs typeface="微软雅黑"/>
              </a:rPr>
              <a:t>女</a:t>
            </a:r>
            <a:r>
              <a:rPr sz="1800" spc="-5" dirty="0">
                <a:latin typeface="微软雅黑"/>
                <a:cs typeface="微软雅黑"/>
              </a:rPr>
              <a:t>","21"},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{"1004","zhangs","</a:t>
            </a:r>
            <a:r>
              <a:rPr sz="1800" dirty="0">
                <a:latin typeface="微软雅黑"/>
                <a:cs typeface="微软雅黑"/>
              </a:rPr>
              <a:t>男</a:t>
            </a:r>
            <a:r>
              <a:rPr sz="1800" spc="-5" dirty="0">
                <a:latin typeface="微软雅黑"/>
                <a:cs typeface="微软雅黑"/>
              </a:rPr>
              <a:t>","24"},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{"1005","zhaol","</a:t>
            </a:r>
            <a:r>
              <a:rPr sz="1800" dirty="0">
                <a:latin typeface="微软雅黑"/>
                <a:cs typeface="微软雅黑"/>
              </a:rPr>
              <a:t>女</a:t>
            </a:r>
            <a:r>
              <a:rPr sz="1800" spc="-5" dirty="0">
                <a:latin typeface="微软雅黑"/>
                <a:cs typeface="微软雅黑"/>
              </a:rPr>
              <a:t>","25"},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{"1006","qingqi","</a:t>
            </a:r>
            <a:r>
              <a:rPr sz="1800" dirty="0">
                <a:latin typeface="微软雅黑"/>
                <a:cs typeface="微软雅黑"/>
              </a:rPr>
              <a:t>男</a:t>
            </a:r>
            <a:r>
              <a:rPr sz="1800" spc="-5" dirty="0">
                <a:latin typeface="微软雅黑"/>
                <a:cs typeface="微软雅黑"/>
              </a:rPr>
              <a:t>","21"}</a:t>
            </a:r>
            <a:endParaRPr sz="180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};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88</a:t>
            </a:fld>
            <a:endParaRPr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5</a:t>
            </a:r>
            <a:r>
              <a:rPr sz="2100" u="none" dirty="0"/>
              <a:t>.2	向接口编程的代码</a:t>
            </a:r>
            <a:endParaRPr sz="2100"/>
          </a:p>
        </p:txBody>
      </p:sp>
      <p:sp>
        <p:nvSpPr>
          <p:cNvPr id="3" name="object 3"/>
          <p:cNvSpPr/>
          <p:nvPr/>
        </p:nvSpPr>
        <p:spPr>
          <a:xfrm>
            <a:off x="467868" y="979932"/>
            <a:ext cx="8389620" cy="5135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3550" y="976630"/>
            <a:ext cx="8397240" cy="5143500"/>
          </a:xfrm>
          <a:custGeom>
            <a:avLst/>
            <a:gdLst/>
            <a:ahLst/>
            <a:cxnLst/>
            <a:rect l="l" t="t" r="r" b="b"/>
            <a:pathLst>
              <a:path w="8397240" h="5143500">
                <a:moveTo>
                  <a:pt x="839724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8397240" y="0"/>
                </a:lnTo>
                <a:lnTo>
                  <a:pt x="8397240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5135880"/>
                </a:lnTo>
                <a:lnTo>
                  <a:pt x="3809" y="5135880"/>
                </a:lnTo>
                <a:lnTo>
                  <a:pt x="7620" y="5139690"/>
                </a:lnTo>
                <a:lnTo>
                  <a:pt x="8397240" y="5139690"/>
                </a:lnTo>
                <a:lnTo>
                  <a:pt x="8397240" y="5143500"/>
                </a:lnTo>
                <a:close/>
              </a:path>
              <a:path w="8397240" h="5143500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8397240" h="5143500">
                <a:moveTo>
                  <a:pt x="8389620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8389620" y="3810"/>
                </a:lnTo>
                <a:lnTo>
                  <a:pt x="8389620" y="7619"/>
                </a:lnTo>
                <a:close/>
              </a:path>
              <a:path w="8397240" h="5143500">
                <a:moveTo>
                  <a:pt x="8389620" y="5139690"/>
                </a:moveTo>
                <a:lnTo>
                  <a:pt x="8389620" y="3810"/>
                </a:lnTo>
                <a:lnTo>
                  <a:pt x="8393429" y="7619"/>
                </a:lnTo>
                <a:lnTo>
                  <a:pt x="8397240" y="7619"/>
                </a:lnTo>
                <a:lnTo>
                  <a:pt x="8397240" y="5135880"/>
                </a:lnTo>
                <a:lnTo>
                  <a:pt x="8393430" y="5135880"/>
                </a:lnTo>
                <a:lnTo>
                  <a:pt x="8389620" y="5139690"/>
                </a:lnTo>
                <a:close/>
              </a:path>
              <a:path w="8397240" h="5143500">
                <a:moveTo>
                  <a:pt x="8397240" y="7619"/>
                </a:moveTo>
                <a:lnTo>
                  <a:pt x="8393429" y="7619"/>
                </a:lnTo>
                <a:lnTo>
                  <a:pt x="8389620" y="3810"/>
                </a:lnTo>
                <a:lnTo>
                  <a:pt x="8397240" y="3810"/>
                </a:lnTo>
                <a:lnTo>
                  <a:pt x="8397240" y="7619"/>
                </a:lnTo>
                <a:close/>
              </a:path>
              <a:path w="8397240" h="5143500">
                <a:moveTo>
                  <a:pt x="7620" y="5139690"/>
                </a:moveTo>
                <a:lnTo>
                  <a:pt x="3809" y="5135880"/>
                </a:lnTo>
                <a:lnTo>
                  <a:pt x="7620" y="5135880"/>
                </a:lnTo>
                <a:lnTo>
                  <a:pt x="7620" y="5139690"/>
                </a:lnTo>
                <a:close/>
              </a:path>
              <a:path w="8397240" h="5143500">
                <a:moveTo>
                  <a:pt x="8389620" y="5139690"/>
                </a:moveTo>
                <a:lnTo>
                  <a:pt x="7620" y="5139690"/>
                </a:lnTo>
                <a:lnTo>
                  <a:pt x="7620" y="5135880"/>
                </a:lnTo>
                <a:lnTo>
                  <a:pt x="8389620" y="5135880"/>
                </a:lnTo>
                <a:lnTo>
                  <a:pt x="8389620" y="5139690"/>
                </a:lnTo>
                <a:close/>
              </a:path>
              <a:path w="8397240" h="5143500">
                <a:moveTo>
                  <a:pt x="8397240" y="5139690"/>
                </a:moveTo>
                <a:lnTo>
                  <a:pt x="8389620" y="5139690"/>
                </a:lnTo>
                <a:lnTo>
                  <a:pt x="8393430" y="5135880"/>
                </a:lnTo>
                <a:lnTo>
                  <a:pt x="8397240" y="5135880"/>
                </a:lnTo>
                <a:lnTo>
                  <a:pt x="8397240" y="513969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6100" y="1009650"/>
            <a:ext cx="7746365" cy="5145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微软雅黑"/>
                <a:cs typeface="微软雅黑"/>
              </a:rPr>
              <a:t>public class </a:t>
            </a:r>
            <a:r>
              <a:rPr sz="1600" spc="-15" dirty="0">
                <a:latin typeface="微软雅黑"/>
                <a:cs typeface="微软雅黑"/>
              </a:rPr>
              <a:t>TableModelForStringArray </a:t>
            </a:r>
            <a:r>
              <a:rPr sz="1600" b="1" spc="-5" dirty="0">
                <a:latin typeface="微软雅黑"/>
                <a:cs typeface="微软雅黑"/>
              </a:rPr>
              <a:t>implements</a:t>
            </a:r>
            <a:r>
              <a:rPr sz="1600" b="1" spc="25" dirty="0">
                <a:latin typeface="微软雅黑"/>
                <a:cs typeface="微软雅黑"/>
              </a:rPr>
              <a:t> </a:t>
            </a:r>
            <a:r>
              <a:rPr sz="1600" spc="-20" dirty="0">
                <a:latin typeface="微软雅黑"/>
                <a:cs typeface="微软雅黑"/>
              </a:rPr>
              <a:t>TableModel{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b="1" spc="-10" dirty="0">
                <a:latin typeface="微软雅黑"/>
                <a:cs typeface="微软雅黑"/>
              </a:rPr>
              <a:t>private </a:t>
            </a:r>
            <a:r>
              <a:rPr sz="1600" spc="-10" dirty="0">
                <a:latin typeface="微软雅黑"/>
                <a:cs typeface="微软雅黑"/>
              </a:rPr>
              <a:t>String[][]</a:t>
            </a:r>
            <a:r>
              <a:rPr sz="1600" spc="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data;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public </a:t>
            </a:r>
            <a:r>
              <a:rPr sz="1600" spc="-15" dirty="0">
                <a:latin typeface="微软雅黑"/>
                <a:cs typeface="微软雅黑"/>
              </a:rPr>
              <a:t>TableModelForStringArray(String[][]</a:t>
            </a:r>
            <a:r>
              <a:rPr sz="160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data){</a:t>
            </a:r>
            <a:endParaRPr sz="16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this</a:t>
            </a:r>
            <a:r>
              <a:rPr sz="1600" spc="-5" dirty="0">
                <a:latin typeface="微软雅黑"/>
                <a:cs typeface="微软雅黑"/>
              </a:rPr>
              <a:t>.data=data;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//</a:t>
            </a:r>
            <a:r>
              <a:rPr sz="1600" dirty="0">
                <a:latin typeface="微软雅黑"/>
                <a:cs typeface="微软雅黑"/>
              </a:rPr>
              <a:t>列名：每列的名字在二维数组的第一行</a:t>
            </a:r>
            <a:r>
              <a:rPr sz="1600" spc="-5" dirty="0">
                <a:latin typeface="微软雅黑"/>
                <a:cs typeface="微软雅黑"/>
              </a:rPr>
              <a:t>中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public </a:t>
            </a:r>
            <a:r>
              <a:rPr sz="1600" spc="-15" dirty="0">
                <a:latin typeface="微软雅黑"/>
                <a:cs typeface="微软雅黑"/>
              </a:rPr>
              <a:t>String </a:t>
            </a:r>
            <a:r>
              <a:rPr sz="1600" spc="-5" dirty="0">
                <a:latin typeface="微软雅黑"/>
                <a:cs typeface="微软雅黑"/>
              </a:rPr>
              <a:t>getColName(</a:t>
            </a:r>
            <a:r>
              <a:rPr sz="1600" b="1" spc="-5" dirty="0">
                <a:latin typeface="微软雅黑"/>
                <a:cs typeface="微软雅黑"/>
              </a:rPr>
              <a:t>int</a:t>
            </a:r>
            <a:r>
              <a:rPr sz="1600" b="1" spc="2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index){</a:t>
            </a:r>
            <a:endParaRPr sz="16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return </a:t>
            </a:r>
            <a:r>
              <a:rPr sz="1600" spc="-5" dirty="0">
                <a:latin typeface="微软雅黑"/>
                <a:cs typeface="微软雅黑"/>
              </a:rPr>
              <a:t>data[0][index];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public</a:t>
            </a:r>
            <a:r>
              <a:rPr sz="1600" b="1" spc="-10" dirty="0">
                <a:latin typeface="微软雅黑"/>
                <a:cs typeface="微软雅黑"/>
              </a:rPr>
              <a:t> </a:t>
            </a:r>
            <a:r>
              <a:rPr sz="1600" b="1" spc="-5" dirty="0">
                <a:latin typeface="微软雅黑"/>
                <a:cs typeface="微软雅黑"/>
              </a:rPr>
              <a:t>int</a:t>
            </a:r>
            <a:r>
              <a:rPr sz="1600" b="1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getColNumber(){</a:t>
            </a:r>
            <a:r>
              <a:rPr sz="160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//</a:t>
            </a:r>
            <a:r>
              <a:rPr sz="1600" dirty="0">
                <a:latin typeface="微软雅黑"/>
                <a:cs typeface="微软雅黑"/>
              </a:rPr>
              <a:t>列数：二维数组每行的长</a:t>
            </a:r>
            <a:r>
              <a:rPr sz="1600" spc="-5" dirty="0">
                <a:latin typeface="微软雅黑"/>
                <a:cs typeface="微软雅黑"/>
              </a:rPr>
              <a:t>度</a:t>
            </a:r>
            <a:endParaRPr sz="16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return </a:t>
            </a:r>
            <a:r>
              <a:rPr sz="1600" spc="-5" dirty="0">
                <a:latin typeface="微软雅黑"/>
                <a:cs typeface="微软雅黑"/>
              </a:rPr>
              <a:t>data[0].length;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public</a:t>
            </a:r>
            <a:r>
              <a:rPr sz="1600" b="1" spc="-35" dirty="0">
                <a:latin typeface="微软雅黑"/>
                <a:cs typeface="微软雅黑"/>
              </a:rPr>
              <a:t> </a:t>
            </a:r>
            <a:r>
              <a:rPr sz="1600" b="1" spc="-5" dirty="0">
                <a:latin typeface="微软雅黑"/>
                <a:cs typeface="微软雅黑"/>
              </a:rPr>
              <a:t>int</a:t>
            </a:r>
            <a:r>
              <a:rPr sz="1600" b="1" spc="-2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getRowNumber(){//</a:t>
            </a:r>
            <a:r>
              <a:rPr sz="1600" dirty="0">
                <a:latin typeface="微软雅黑"/>
                <a:cs typeface="微软雅黑"/>
              </a:rPr>
              <a:t>行数：二维数组的总行数</a:t>
            </a:r>
            <a:r>
              <a:rPr sz="1600" spc="-5" dirty="0">
                <a:latin typeface="微软雅黑"/>
                <a:cs typeface="微软雅黑"/>
              </a:rPr>
              <a:t>-1（</a:t>
            </a:r>
            <a:r>
              <a:rPr sz="1600" dirty="0">
                <a:latin typeface="微软雅黑"/>
                <a:cs typeface="微软雅黑"/>
              </a:rPr>
              <a:t>去掉标题行</a:t>
            </a:r>
            <a:r>
              <a:rPr sz="1600" spc="-5" dirty="0">
                <a:latin typeface="微软雅黑"/>
                <a:cs typeface="微软雅黑"/>
              </a:rPr>
              <a:t>）</a:t>
            </a:r>
            <a:endParaRPr sz="16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return </a:t>
            </a:r>
            <a:r>
              <a:rPr sz="1600" spc="-5" dirty="0">
                <a:latin typeface="微软雅黑"/>
                <a:cs typeface="微软雅黑"/>
              </a:rPr>
              <a:t>data.length-1;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//</a:t>
            </a:r>
            <a:r>
              <a:rPr sz="1600" dirty="0">
                <a:latin typeface="微软雅黑"/>
                <a:cs typeface="微软雅黑"/>
              </a:rPr>
              <a:t>数据：在</a:t>
            </a:r>
            <a:r>
              <a:rPr sz="1600" spc="-10" dirty="0">
                <a:latin typeface="微软雅黑"/>
                <a:cs typeface="微软雅黑"/>
              </a:rPr>
              <a:t>row+1</a:t>
            </a:r>
            <a:r>
              <a:rPr sz="1600" dirty="0">
                <a:latin typeface="微软雅黑"/>
                <a:cs typeface="微软雅黑"/>
              </a:rPr>
              <a:t>行</a:t>
            </a:r>
            <a:r>
              <a:rPr sz="1600" spc="-5" dirty="0">
                <a:latin typeface="微软雅黑"/>
                <a:cs typeface="微软雅黑"/>
              </a:rPr>
              <a:t>(</a:t>
            </a:r>
            <a:r>
              <a:rPr sz="1600" dirty="0">
                <a:latin typeface="微软雅黑"/>
                <a:cs typeface="微软雅黑"/>
              </a:rPr>
              <a:t>越过标题行</a:t>
            </a:r>
            <a:r>
              <a:rPr sz="1600" spc="-5" dirty="0">
                <a:latin typeface="微软雅黑"/>
                <a:cs typeface="微软雅黑"/>
              </a:rPr>
              <a:t>),col列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public </a:t>
            </a:r>
            <a:r>
              <a:rPr sz="1600" spc="-5" dirty="0">
                <a:latin typeface="微软雅黑"/>
                <a:cs typeface="微软雅黑"/>
              </a:rPr>
              <a:t>Object </a:t>
            </a:r>
            <a:r>
              <a:rPr sz="1600" spc="-15" dirty="0">
                <a:latin typeface="微软雅黑"/>
                <a:cs typeface="微软雅黑"/>
              </a:rPr>
              <a:t>getValue(</a:t>
            </a:r>
            <a:r>
              <a:rPr sz="1600" b="1" spc="-15" dirty="0">
                <a:latin typeface="微软雅黑"/>
                <a:cs typeface="微软雅黑"/>
              </a:rPr>
              <a:t>int </a:t>
            </a:r>
            <a:r>
              <a:rPr sz="1600" spc="-30" dirty="0">
                <a:latin typeface="微软雅黑"/>
                <a:cs typeface="微软雅黑"/>
              </a:rPr>
              <a:t>row, </a:t>
            </a:r>
            <a:r>
              <a:rPr sz="1600" b="1" spc="-5" dirty="0">
                <a:latin typeface="微软雅黑"/>
                <a:cs typeface="微软雅黑"/>
              </a:rPr>
              <a:t>int </a:t>
            </a:r>
            <a:r>
              <a:rPr sz="1600" spc="-5" dirty="0">
                <a:latin typeface="微软雅黑"/>
                <a:cs typeface="微软雅黑"/>
              </a:rPr>
              <a:t>col)</a:t>
            </a:r>
            <a:r>
              <a:rPr sz="1600" spc="5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{</a:t>
            </a:r>
            <a:endParaRPr sz="16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return </a:t>
            </a:r>
            <a:r>
              <a:rPr sz="1600" spc="-5" dirty="0">
                <a:latin typeface="微软雅黑"/>
                <a:cs typeface="微软雅黑"/>
              </a:rPr>
              <a:t>data[row+1][col];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89</a:t>
            </a:fld>
            <a:endParaRPr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0660"/>
            <a:ext cx="713168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3．</a:t>
            </a:r>
            <a:r>
              <a:rPr sz="2800" dirty="0">
                <a:latin typeface="微软雅黑"/>
                <a:cs typeface="微软雅黑"/>
              </a:rPr>
              <a:t>底层实现类</a:t>
            </a:r>
            <a:r>
              <a:rPr sz="2800" spc="-20" dirty="0">
                <a:latin typeface="微软雅黑"/>
                <a:cs typeface="微软雅黑"/>
              </a:rPr>
              <a:t>TableModelForStudentArray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5</a:t>
            </a:r>
            <a:r>
              <a:rPr sz="2100" u="none" dirty="0"/>
              <a:t>.2	向接口编程的代码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1115567" y="2170176"/>
            <a:ext cx="6553200" cy="2307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11808" y="2167039"/>
            <a:ext cx="6560820" cy="2314575"/>
          </a:xfrm>
          <a:custGeom>
            <a:avLst/>
            <a:gdLst/>
            <a:ahLst/>
            <a:cxnLst/>
            <a:rect l="l" t="t" r="r" b="b"/>
            <a:pathLst>
              <a:path w="6560820" h="2314575">
                <a:moveTo>
                  <a:pt x="6560350" y="2314574"/>
                </a:moveTo>
                <a:lnTo>
                  <a:pt x="0" y="2314574"/>
                </a:lnTo>
                <a:lnTo>
                  <a:pt x="0" y="0"/>
                </a:lnTo>
                <a:lnTo>
                  <a:pt x="6560350" y="0"/>
                </a:lnTo>
                <a:lnTo>
                  <a:pt x="6560350" y="3809"/>
                </a:lnTo>
                <a:lnTo>
                  <a:pt x="7620" y="3809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2306954"/>
                </a:lnTo>
                <a:lnTo>
                  <a:pt x="3809" y="2306954"/>
                </a:lnTo>
                <a:lnTo>
                  <a:pt x="7620" y="2310765"/>
                </a:lnTo>
                <a:lnTo>
                  <a:pt x="6560350" y="2310765"/>
                </a:lnTo>
                <a:lnTo>
                  <a:pt x="6560350" y="2314574"/>
                </a:lnTo>
                <a:close/>
              </a:path>
              <a:path w="6560820" h="2314575">
                <a:moveTo>
                  <a:pt x="7620" y="7619"/>
                </a:moveTo>
                <a:lnTo>
                  <a:pt x="3809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6560820" h="2314575">
                <a:moveTo>
                  <a:pt x="655273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6552730" y="3809"/>
                </a:lnTo>
                <a:lnTo>
                  <a:pt x="6552730" y="7619"/>
                </a:lnTo>
                <a:close/>
              </a:path>
              <a:path w="6560820" h="2314575">
                <a:moveTo>
                  <a:pt x="6552730" y="2310765"/>
                </a:moveTo>
                <a:lnTo>
                  <a:pt x="6552730" y="3809"/>
                </a:lnTo>
                <a:lnTo>
                  <a:pt x="6556540" y="7619"/>
                </a:lnTo>
                <a:lnTo>
                  <a:pt x="6560350" y="7619"/>
                </a:lnTo>
                <a:lnTo>
                  <a:pt x="6560350" y="2306954"/>
                </a:lnTo>
                <a:lnTo>
                  <a:pt x="6556540" y="2306954"/>
                </a:lnTo>
                <a:lnTo>
                  <a:pt x="6552730" y="2310765"/>
                </a:lnTo>
                <a:close/>
              </a:path>
              <a:path w="6560820" h="2314575">
                <a:moveTo>
                  <a:pt x="6560350" y="7619"/>
                </a:moveTo>
                <a:lnTo>
                  <a:pt x="6556540" y="7619"/>
                </a:lnTo>
                <a:lnTo>
                  <a:pt x="6552730" y="3809"/>
                </a:lnTo>
                <a:lnTo>
                  <a:pt x="6560350" y="3809"/>
                </a:lnTo>
                <a:lnTo>
                  <a:pt x="6560350" y="7619"/>
                </a:lnTo>
                <a:close/>
              </a:path>
              <a:path w="6560820" h="2314575">
                <a:moveTo>
                  <a:pt x="7620" y="2310765"/>
                </a:moveTo>
                <a:lnTo>
                  <a:pt x="3809" y="2306954"/>
                </a:lnTo>
                <a:lnTo>
                  <a:pt x="7620" y="2306954"/>
                </a:lnTo>
                <a:lnTo>
                  <a:pt x="7620" y="2310765"/>
                </a:lnTo>
                <a:close/>
              </a:path>
              <a:path w="6560820" h="2314575">
                <a:moveTo>
                  <a:pt x="6552730" y="2310765"/>
                </a:moveTo>
                <a:lnTo>
                  <a:pt x="7620" y="2310765"/>
                </a:lnTo>
                <a:lnTo>
                  <a:pt x="7620" y="2306954"/>
                </a:lnTo>
                <a:lnTo>
                  <a:pt x="6552730" y="2306954"/>
                </a:lnTo>
                <a:lnTo>
                  <a:pt x="6552730" y="2310765"/>
                </a:lnTo>
                <a:close/>
              </a:path>
              <a:path w="6560820" h="2314575">
                <a:moveTo>
                  <a:pt x="6560350" y="2310765"/>
                </a:moveTo>
                <a:lnTo>
                  <a:pt x="6552730" y="2310765"/>
                </a:lnTo>
                <a:lnTo>
                  <a:pt x="6556540" y="2306954"/>
                </a:lnTo>
                <a:lnTo>
                  <a:pt x="6560350" y="2306954"/>
                </a:lnTo>
                <a:lnTo>
                  <a:pt x="6560350" y="231076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5567" y="2198789"/>
            <a:ext cx="655320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微软雅黑"/>
                <a:cs typeface="微软雅黑"/>
              </a:rPr>
              <a:t>Student[]</a:t>
            </a:r>
            <a:r>
              <a:rPr sz="1800" spc="-5" dirty="0">
                <a:latin typeface="微软雅黑"/>
                <a:cs typeface="微软雅黑"/>
              </a:rPr>
              <a:t> s={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new </a:t>
            </a:r>
            <a:r>
              <a:rPr sz="1800" spc="-5" dirty="0">
                <a:latin typeface="微软雅黑"/>
                <a:cs typeface="微软雅黑"/>
              </a:rPr>
              <a:t>Student(1001,"zhangs",</a:t>
            </a:r>
            <a:r>
              <a:rPr sz="1800" b="1" spc="-5" dirty="0">
                <a:latin typeface="微软雅黑"/>
                <a:cs typeface="微软雅黑"/>
              </a:rPr>
              <a:t>true</a:t>
            </a:r>
            <a:r>
              <a:rPr sz="1800" spc="-5" dirty="0">
                <a:latin typeface="微软雅黑"/>
                <a:cs typeface="微软雅黑"/>
              </a:rPr>
              <a:t>,21),</a:t>
            </a:r>
            <a:endParaRPr sz="1800">
              <a:latin typeface="微软雅黑"/>
              <a:cs typeface="微软雅黑"/>
            </a:endParaRPr>
          </a:p>
          <a:p>
            <a:pPr marL="100584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new </a:t>
            </a:r>
            <a:r>
              <a:rPr sz="1800" spc="-5" dirty="0">
                <a:latin typeface="微软雅黑"/>
                <a:cs typeface="微软雅黑"/>
              </a:rPr>
              <a:t>Student(1002,"lisi",</a:t>
            </a:r>
            <a:r>
              <a:rPr sz="1800" b="1" spc="-5" dirty="0">
                <a:latin typeface="微软雅黑"/>
                <a:cs typeface="微软雅黑"/>
              </a:rPr>
              <a:t>true</a:t>
            </a:r>
            <a:r>
              <a:rPr sz="1800" spc="-5" dirty="0">
                <a:latin typeface="微软雅黑"/>
                <a:cs typeface="微软雅黑"/>
              </a:rPr>
              <a:t>,24),</a:t>
            </a:r>
            <a:endParaRPr sz="1800">
              <a:latin typeface="微软雅黑"/>
              <a:cs typeface="微软雅黑"/>
            </a:endParaRPr>
          </a:p>
          <a:p>
            <a:pPr marL="1005840" marR="145415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new </a:t>
            </a:r>
            <a:r>
              <a:rPr sz="1800" spc="-5" dirty="0">
                <a:latin typeface="微软雅黑"/>
                <a:cs typeface="微软雅黑"/>
              </a:rPr>
              <a:t>Student(1003,"wangw",</a:t>
            </a:r>
            <a:r>
              <a:rPr sz="1800" b="1" spc="-5" dirty="0">
                <a:latin typeface="微软雅黑"/>
                <a:cs typeface="微软雅黑"/>
              </a:rPr>
              <a:t>false</a:t>
            </a:r>
            <a:r>
              <a:rPr sz="1800" spc="-5" dirty="0">
                <a:latin typeface="微软雅黑"/>
                <a:cs typeface="微软雅黑"/>
              </a:rPr>
              <a:t>,23),  </a:t>
            </a:r>
            <a:r>
              <a:rPr sz="1800" b="1" spc="-5" dirty="0">
                <a:latin typeface="微软雅黑"/>
                <a:cs typeface="微软雅黑"/>
              </a:rPr>
              <a:t>new </a:t>
            </a:r>
            <a:r>
              <a:rPr sz="1800" spc="-5" dirty="0">
                <a:latin typeface="微软雅黑"/>
                <a:cs typeface="微软雅黑"/>
              </a:rPr>
              <a:t>Student(1004,"zhaol",</a:t>
            </a:r>
            <a:r>
              <a:rPr sz="1800" b="1" spc="-5" dirty="0">
                <a:latin typeface="微软雅黑"/>
                <a:cs typeface="微软雅黑"/>
              </a:rPr>
              <a:t>true</a:t>
            </a:r>
            <a:r>
              <a:rPr sz="1800" spc="-5" dirty="0">
                <a:latin typeface="微软雅黑"/>
                <a:cs typeface="微软雅黑"/>
              </a:rPr>
              <a:t>,25),  </a:t>
            </a:r>
            <a:r>
              <a:rPr sz="1800" b="1" spc="-5" dirty="0">
                <a:latin typeface="微软雅黑"/>
                <a:cs typeface="微软雅黑"/>
              </a:rPr>
              <a:t>new </a:t>
            </a:r>
            <a:r>
              <a:rPr sz="1800" spc="-5" dirty="0">
                <a:latin typeface="微软雅黑"/>
                <a:cs typeface="微软雅黑"/>
              </a:rPr>
              <a:t>Student(1005,"qianqi",</a:t>
            </a:r>
            <a:r>
              <a:rPr sz="1800" b="1" spc="-5" dirty="0">
                <a:latin typeface="微软雅黑"/>
                <a:cs typeface="微软雅黑"/>
              </a:rPr>
              <a:t>false</a:t>
            </a:r>
            <a:r>
              <a:rPr sz="1800" spc="-5" dirty="0">
                <a:latin typeface="微软雅黑"/>
                <a:cs typeface="微软雅黑"/>
              </a:rPr>
              <a:t>,20),  </a:t>
            </a:r>
            <a:r>
              <a:rPr sz="1800" b="1" spc="-5" dirty="0">
                <a:latin typeface="微软雅黑"/>
                <a:cs typeface="微软雅黑"/>
              </a:rPr>
              <a:t>new</a:t>
            </a:r>
            <a:r>
              <a:rPr sz="1800" b="1" spc="5" dirty="0">
                <a:latin typeface="微软雅黑"/>
                <a:cs typeface="微软雅黑"/>
              </a:rPr>
              <a:t> </a:t>
            </a:r>
            <a:r>
              <a:rPr sz="1800" spc="-10" dirty="0">
                <a:latin typeface="微软雅黑"/>
                <a:cs typeface="微软雅黑"/>
              </a:rPr>
              <a:t>Student(1006,"liuba",</a:t>
            </a:r>
            <a:r>
              <a:rPr sz="1800" b="1" spc="-10" dirty="0">
                <a:latin typeface="微软雅黑"/>
                <a:cs typeface="微软雅黑"/>
              </a:rPr>
              <a:t>true</a:t>
            </a:r>
            <a:r>
              <a:rPr sz="1800" spc="-10" dirty="0">
                <a:latin typeface="微软雅黑"/>
                <a:cs typeface="微软雅黑"/>
              </a:rPr>
              <a:t>,22),</a:t>
            </a:r>
            <a:endParaRPr sz="1800">
              <a:latin typeface="微软雅黑"/>
              <a:cs typeface="微软雅黑"/>
            </a:endParaRPr>
          </a:p>
          <a:p>
            <a:pPr marL="9144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};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90</a:t>
            </a:fld>
            <a:endParaRPr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5694" y="980439"/>
            <a:ext cx="7211059" cy="5293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11885" y="976630"/>
            <a:ext cx="7218680" cy="5301615"/>
          </a:xfrm>
          <a:custGeom>
            <a:avLst/>
            <a:gdLst/>
            <a:ahLst/>
            <a:cxnLst/>
            <a:rect l="l" t="t" r="r" b="b"/>
            <a:pathLst>
              <a:path w="7218680" h="5301615">
                <a:moveTo>
                  <a:pt x="7218680" y="5301615"/>
                </a:moveTo>
                <a:lnTo>
                  <a:pt x="0" y="5301615"/>
                </a:lnTo>
                <a:lnTo>
                  <a:pt x="0" y="0"/>
                </a:lnTo>
                <a:lnTo>
                  <a:pt x="7218680" y="0"/>
                </a:lnTo>
                <a:lnTo>
                  <a:pt x="7218680" y="3810"/>
                </a:lnTo>
                <a:lnTo>
                  <a:pt x="7620" y="3810"/>
                </a:lnTo>
                <a:lnTo>
                  <a:pt x="3809" y="7620"/>
                </a:lnTo>
                <a:lnTo>
                  <a:pt x="7620" y="7620"/>
                </a:lnTo>
                <a:lnTo>
                  <a:pt x="7620" y="5293995"/>
                </a:lnTo>
                <a:lnTo>
                  <a:pt x="3809" y="5293995"/>
                </a:lnTo>
                <a:lnTo>
                  <a:pt x="7620" y="5297805"/>
                </a:lnTo>
                <a:lnTo>
                  <a:pt x="7218680" y="5297805"/>
                </a:lnTo>
                <a:lnTo>
                  <a:pt x="7218680" y="5301615"/>
                </a:lnTo>
                <a:close/>
              </a:path>
              <a:path w="7218680" h="5301615">
                <a:moveTo>
                  <a:pt x="7620" y="7620"/>
                </a:moveTo>
                <a:lnTo>
                  <a:pt x="3809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7218680" h="5301615">
                <a:moveTo>
                  <a:pt x="7211060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7211060" y="3810"/>
                </a:lnTo>
                <a:lnTo>
                  <a:pt x="7211060" y="7620"/>
                </a:lnTo>
                <a:close/>
              </a:path>
              <a:path w="7218680" h="5301615">
                <a:moveTo>
                  <a:pt x="7211060" y="5297805"/>
                </a:moveTo>
                <a:lnTo>
                  <a:pt x="7211060" y="3810"/>
                </a:lnTo>
                <a:lnTo>
                  <a:pt x="7214870" y="7620"/>
                </a:lnTo>
                <a:lnTo>
                  <a:pt x="7218680" y="7620"/>
                </a:lnTo>
                <a:lnTo>
                  <a:pt x="7218680" y="5293995"/>
                </a:lnTo>
                <a:lnTo>
                  <a:pt x="7214870" y="5293995"/>
                </a:lnTo>
                <a:lnTo>
                  <a:pt x="7211060" y="5297805"/>
                </a:lnTo>
                <a:close/>
              </a:path>
              <a:path w="7218680" h="5301615">
                <a:moveTo>
                  <a:pt x="7218680" y="7620"/>
                </a:moveTo>
                <a:lnTo>
                  <a:pt x="7214870" y="7620"/>
                </a:lnTo>
                <a:lnTo>
                  <a:pt x="7211060" y="3810"/>
                </a:lnTo>
                <a:lnTo>
                  <a:pt x="7218680" y="3810"/>
                </a:lnTo>
                <a:lnTo>
                  <a:pt x="7218680" y="7620"/>
                </a:lnTo>
                <a:close/>
              </a:path>
              <a:path w="7218680" h="5301615">
                <a:moveTo>
                  <a:pt x="7620" y="5297805"/>
                </a:moveTo>
                <a:lnTo>
                  <a:pt x="3809" y="5293995"/>
                </a:lnTo>
                <a:lnTo>
                  <a:pt x="7620" y="5293995"/>
                </a:lnTo>
                <a:lnTo>
                  <a:pt x="7620" y="5297805"/>
                </a:lnTo>
                <a:close/>
              </a:path>
              <a:path w="7218680" h="5301615">
                <a:moveTo>
                  <a:pt x="7211060" y="5297805"/>
                </a:moveTo>
                <a:lnTo>
                  <a:pt x="7620" y="5297805"/>
                </a:lnTo>
                <a:lnTo>
                  <a:pt x="7620" y="5293995"/>
                </a:lnTo>
                <a:lnTo>
                  <a:pt x="7211060" y="5293995"/>
                </a:lnTo>
                <a:lnTo>
                  <a:pt x="7211060" y="5297805"/>
                </a:lnTo>
                <a:close/>
              </a:path>
              <a:path w="7218680" h="5301615">
                <a:moveTo>
                  <a:pt x="7218680" y="5297805"/>
                </a:moveTo>
                <a:lnTo>
                  <a:pt x="7211060" y="5297805"/>
                </a:lnTo>
                <a:lnTo>
                  <a:pt x="7214870" y="5293995"/>
                </a:lnTo>
                <a:lnTo>
                  <a:pt x="7218680" y="5293995"/>
                </a:lnTo>
                <a:lnTo>
                  <a:pt x="7218680" y="529780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4289" y="918083"/>
            <a:ext cx="6504305" cy="536892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600" b="1" spc="-5" dirty="0">
                <a:latin typeface="微软雅黑"/>
                <a:cs typeface="微软雅黑"/>
              </a:rPr>
              <a:t>public class </a:t>
            </a:r>
            <a:r>
              <a:rPr sz="1600" spc="-15" dirty="0">
                <a:latin typeface="微软雅黑"/>
                <a:cs typeface="微软雅黑"/>
              </a:rPr>
              <a:t>TableModelForStudentArray </a:t>
            </a:r>
            <a:r>
              <a:rPr sz="1600" b="1" spc="-5" dirty="0">
                <a:latin typeface="微软雅黑"/>
                <a:cs typeface="微软雅黑"/>
              </a:rPr>
              <a:t>implements</a:t>
            </a:r>
            <a:r>
              <a:rPr sz="1600" b="1" spc="65" dirty="0">
                <a:latin typeface="微软雅黑"/>
                <a:cs typeface="微软雅黑"/>
              </a:rPr>
              <a:t> </a:t>
            </a:r>
            <a:r>
              <a:rPr sz="1600" spc="-20" dirty="0">
                <a:latin typeface="微软雅黑"/>
                <a:cs typeface="微软雅黑"/>
              </a:rPr>
              <a:t>TableModel{</a:t>
            </a:r>
            <a:endParaRPr sz="16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55"/>
              </a:spcBef>
            </a:pPr>
            <a:r>
              <a:rPr sz="1600" b="1" spc="-10" dirty="0">
                <a:latin typeface="微软雅黑"/>
                <a:cs typeface="微软雅黑"/>
              </a:rPr>
              <a:t>private </a:t>
            </a:r>
            <a:r>
              <a:rPr sz="1600" spc="-10" dirty="0">
                <a:latin typeface="微软雅黑"/>
                <a:cs typeface="微软雅黑"/>
              </a:rPr>
              <a:t>Student[]</a:t>
            </a:r>
            <a:r>
              <a:rPr sz="1600" spc="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data;</a:t>
            </a:r>
            <a:endParaRPr sz="16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55"/>
              </a:spcBef>
            </a:pPr>
            <a:r>
              <a:rPr sz="1600" b="1" spc="-5" dirty="0">
                <a:latin typeface="微软雅黑"/>
                <a:cs typeface="微软雅黑"/>
              </a:rPr>
              <a:t>public </a:t>
            </a:r>
            <a:r>
              <a:rPr sz="1600" spc="-15" dirty="0">
                <a:latin typeface="微软雅黑"/>
                <a:cs typeface="微软雅黑"/>
              </a:rPr>
              <a:t>TableModelForStudentArray(Student[]</a:t>
            </a:r>
            <a:r>
              <a:rPr sz="1600" spc="1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data){</a:t>
            </a:r>
            <a:endParaRPr sz="16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555"/>
              </a:spcBef>
            </a:pPr>
            <a:r>
              <a:rPr sz="1600" b="1" spc="-5" dirty="0">
                <a:latin typeface="微软雅黑"/>
                <a:cs typeface="微软雅黑"/>
              </a:rPr>
              <a:t>this</a:t>
            </a:r>
            <a:r>
              <a:rPr sz="1600" spc="-5" dirty="0">
                <a:latin typeface="微软雅黑"/>
                <a:cs typeface="微软雅黑"/>
              </a:rPr>
              <a:t>.data=data;</a:t>
            </a:r>
            <a:endParaRPr sz="16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55"/>
              </a:spcBef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55"/>
              </a:spcBef>
            </a:pPr>
            <a:r>
              <a:rPr sz="1600" b="1" spc="-5" dirty="0">
                <a:latin typeface="微软雅黑"/>
                <a:cs typeface="微软雅黑"/>
              </a:rPr>
              <a:t>public </a:t>
            </a:r>
            <a:r>
              <a:rPr sz="1600" spc="-15" dirty="0">
                <a:latin typeface="微软雅黑"/>
                <a:cs typeface="微软雅黑"/>
              </a:rPr>
              <a:t>String </a:t>
            </a:r>
            <a:r>
              <a:rPr sz="1600" spc="-5" dirty="0">
                <a:latin typeface="微软雅黑"/>
                <a:cs typeface="微软雅黑"/>
              </a:rPr>
              <a:t>getColName(</a:t>
            </a:r>
            <a:r>
              <a:rPr sz="1600" b="1" spc="-5" dirty="0">
                <a:latin typeface="微软雅黑"/>
                <a:cs typeface="微软雅黑"/>
              </a:rPr>
              <a:t>int </a:t>
            </a:r>
            <a:r>
              <a:rPr sz="1600" spc="-5" dirty="0">
                <a:latin typeface="微软雅黑"/>
                <a:cs typeface="微软雅黑"/>
              </a:rPr>
              <a:t>index)</a:t>
            </a:r>
            <a:r>
              <a:rPr sz="1600" spc="2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{</a:t>
            </a:r>
            <a:endParaRPr sz="1600">
              <a:latin typeface="微软雅黑"/>
              <a:cs typeface="微软雅黑"/>
            </a:endParaRPr>
          </a:p>
          <a:p>
            <a:pPr marL="2646045" marR="1543050" indent="-914400">
              <a:lnSpc>
                <a:spcPct val="128899"/>
              </a:lnSpc>
              <a:tabLst>
                <a:tab pos="3559810" algn="l"/>
              </a:tabLst>
            </a:pPr>
            <a:r>
              <a:rPr sz="1600" b="1" spc="-5" dirty="0">
                <a:latin typeface="微软雅黑"/>
                <a:cs typeface="微软雅黑"/>
              </a:rPr>
              <a:t>s</a:t>
            </a:r>
            <a:r>
              <a:rPr sz="1600" b="1" dirty="0">
                <a:latin typeface="微软雅黑"/>
                <a:cs typeface="微软雅黑"/>
              </a:rPr>
              <a:t>w</a:t>
            </a:r>
            <a:r>
              <a:rPr sz="1600" b="1" spc="-5" dirty="0">
                <a:latin typeface="微软雅黑"/>
                <a:cs typeface="微软雅黑"/>
              </a:rPr>
              <a:t>i</a:t>
            </a:r>
            <a:r>
              <a:rPr sz="1600" b="1" spc="-15" dirty="0">
                <a:latin typeface="微软雅黑"/>
                <a:cs typeface="微软雅黑"/>
              </a:rPr>
              <a:t>t</a:t>
            </a:r>
            <a:r>
              <a:rPr sz="1600" b="1" spc="-5" dirty="0">
                <a:latin typeface="微软雅黑"/>
                <a:cs typeface="微软雅黑"/>
              </a:rPr>
              <a:t>c</a:t>
            </a:r>
            <a:r>
              <a:rPr sz="1600" b="1" dirty="0">
                <a:latin typeface="微软雅黑"/>
                <a:cs typeface="微软雅黑"/>
              </a:rPr>
              <a:t>h</a:t>
            </a:r>
            <a:r>
              <a:rPr sz="1600" spc="-5" dirty="0">
                <a:latin typeface="微软雅黑"/>
                <a:cs typeface="微软雅黑"/>
              </a:rPr>
              <a:t>(ind</a:t>
            </a:r>
            <a:r>
              <a:rPr sz="1600" dirty="0">
                <a:latin typeface="微软雅黑"/>
                <a:cs typeface="微软雅黑"/>
              </a:rPr>
              <a:t>e</a:t>
            </a:r>
            <a:r>
              <a:rPr sz="1600" spc="-5" dirty="0">
                <a:latin typeface="微软雅黑"/>
                <a:cs typeface="微软雅黑"/>
              </a:rPr>
              <a:t>x){</a:t>
            </a:r>
            <a:r>
              <a:rPr sz="1600" dirty="0">
                <a:latin typeface="微软雅黑"/>
                <a:cs typeface="微软雅黑"/>
              </a:rPr>
              <a:t>	</a:t>
            </a:r>
            <a:r>
              <a:rPr sz="1600" spc="-5" dirty="0">
                <a:latin typeface="微软雅黑"/>
                <a:cs typeface="微软雅黑"/>
              </a:rPr>
              <a:t>//</a:t>
            </a:r>
            <a:r>
              <a:rPr sz="1600" dirty="0">
                <a:latin typeface="微软雅黑"/>
                <a:cs typeface="微软雅黑"/>
              </a:rPr>
              <a:t>指定每列名</a:t>
            </a:r>
            <a:r>
              <a:rPr sz="1600" spc="-5" dirty="0">
                <a:latin typeface="微软雅黑"/>
                <a:cs typeface="微软雅黑"/>
              </a:rPr>
              <a:t>称  </a:t>
            </a:r>
            <a:r>
              <a:rPr sz="1600" b="1" spc="-5" dirty="0">
                <a:latin typeface="微软雅黑"/>
                <a:cs typeface="微软雅黑"/>
              </a:rPr>
              <a:t>case </a:t>
            </a:r>
            <a:r>
              <a:rPr sz="1600" spc="-5" dirty="0">
                <a:latin typeface="微软雅黑"/>
                <a:cs typeface="微软雅黑"/>
              </a:rPr>
              <a:t>0: </a:t>
            </a:r>
            <a:r>
              <a:rPr sz="1600" b="1" spc="-5" dirty="0">
                <a:latin typeface="微软雅黑"/>
                <a:cs typeface="微软雅黑"/>
              </a:rPr>
              <a:t>return </a:t>
            </a:r>
            <a:r>
              <a:rPr sz="1600" spc="-5" dirty="0">
                <a:latin typeface="微软雅黑"/>
                <a:cs typeface="微软雅黑"/>
              </a:rPr>
              <a:t>"ID";  </a:t>
            </a:r>
            <a:r>
              <a:rPr sz="1600" b="1" spc="-5" dirty="0">
                <a:latin typeface="微软雅黑"/>
                <a:cs typeface="微软雅黑"/>
              </a:rPr>
              <a:t>case </a:t>
            </a:r>
            <a:r>
              <a:rPr sz="1600" spc="-5" dirty="0">
                <a:latin typeface="微软雅黑"/>
                <a:cs typeface="微软雅黑"/>
              </a:rPr>
              <a:t>1: </a:t>
            </a:r>
            <a:r>
              <a:rPr sz="1600" b="1" spc="-5" dirty="0">
                <a:latin typeface="微软雅黑"/>
                <a:cs typeface="微软雅黑"/>
              </a:rPr>
              <a:t>return</a:t>
            </a:r>
            <a:r>
              <a:rPr sz="1600" b="1" spc="-40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"NAME";</a:t>
            </a:r>
            <a:endParaRPr sz="1600">
              <a:latin typeface="微软雅黑"/>
              <a:cs typeface="微软雅黑"/>
            </a:endParaRPr>
          </a:p>
          <a:p>
            <a:pPr marL="2646045">
              <a:lnSpc>
                <a:spcPct val="100000"/>
              </a:lnSpc>
              <a:spcBef>
                <a:spcPts val="555"/>
              </a:spcBef>
            </a:pPr>
            <a:r>
              <a:rPr sz="1600" b="1" spc="-5" dirty="0">
                <a:latin typeface="微软雅黑"/>
                <a:cs typeface="微软雅黑"/>
              </a:rPr>
              <a:t>case </a:t>
            </a:r>
            <a:r>
              <a:rPr sz="1600" spc="-5" dirty="0">
                <a:latin typeface="微软雅黑"/>
                <a:cs typeface="微软雅黑"/>
              </a:rPr>
              <a:t>2: </a:t>
            </a:r>
            <a:r>
              <a:rPr sz="1600" b="1" spc="-5" dirty="0">
                <a:latin typeface="微软雅黑"/>
                <a:cs typeface="微软雅黑"/>
              </a:rPr>
              <a:t>return</a:t>
            </a:r>
            <a:r>
              <a:rPr sz="1600" b="1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"GENDER";</a:t>
            </a:r>
            <a:endParaRPr sz="1600">
              <a:latin typeface="微软雅黑"/>
              <a:cs typeface="微软雅黑"/>
            </a:endParaRPr>
          </a:p>
          <a:p>
            <a:pPr marL="2646045">
              <a:lnSpc>
                <a:spcPct val="100000"/>
              </a:lnSpc>
              <a:spcBef>
                <a:spcPts val="555"/>
              </a:spcBef>
            </a:pPr>
            <a:r>
              <a:rPr sz="1600" b="1" spc="-5" dirty="0">
                <a:latin typeface="微软雅黑"/>
                <a:cs typeface="微软雅黑"/>
              </a:rPr>
              <a:t>case </a:t>
            </a:r>
            <a:r>
              <a:rPr sz="1600" spc="-5" dirty="0">
                <a:latin typeface="微软雅黑"/>
                <a:cs typeface="微软雅黑"/>
              </a:rPr>
              <a:t>3: </a:t>
            </a:r>
            <a:r>
              <a:rPr sz="1600" b="1" spc="-5" dirty="0">
                <a:latin typeface="微软雅黑"/>
                <a:cs typeface="微软雅黑"/>
              </a:rPr>
              <a:t>return</a:t>
            </a:r>
            <a:r>
              <a:rPr sz="1600" b="1" dirty="0">
                <a:latin typeface="微软雅黑"/>
                <a:cs typeface="微软雅黑"/>
              </a:rPr>
              <a:t> </a:t>
            </a:r>
            <a:r>
              <a:rPr sz="1600" spc="-10" dirty="0">
                <a:latin typeface="微软雅黑"/>
                <a:cs typeface="微软雅黑"/>
              </a:rPr>
              <a:t>"AGE";</a:t>
            </a:r>
            <a:endParaRPr sz="16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555"/>
              </a:spcBef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555"/>
              </a:spcBef>
            </a:pPr>
            <a:r>
              <a:rPr sz="1600" b="1" spc="-5" dirty="0">
                <a:latin typeface="微软雅黑"/>
                <a:cs typeface="微软雅黑"/>
              </a:rPr>
              <a:t>return null</a:t>
            </a:r>
            <a:r>
              <a:rPr sz="1600" spc="-5" dirty="0">
                <a:latin typeface="微软雅黑"/>
                <a:cs typeface="微软雅黑"/>
              </a:rPr>
              <a:t>;</a:t>
            </a:r>
            <a:endParaRPr sz="16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55"/>
              </a:spcBef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55"/>
              </a:spcBef>
            </a:pPr>
            <a:r>
              <a:rPr sz="1600" b="1" spc="-5" dirty="0">
                <a:latin typeface="微软雅黑"/>
                <a:cs typeface="微软雅黑"/>
              </a:rPr>
              <a:t>public</a:t>
            </a:r>
            <a:r>
              <a:rPr sz="1600" b="1" spc="-10" dirty="0">
                <a:latin typeface="微软雅黑"/>
                <a:cs typeface="微软雅黑"/>
              </a:rPr>
              <a:t> </a:t>
            </a:r>
            <a:r>
              <a:rPr sz="1600" b="1" spc="-5" dirty="0">
                <a:latin typeface="微软雅黑"/>
                <a:cs typeface="微软雅黑"/>
              </a:rPr>
              <a:t>int</a:t>
            </a:r>
            <a:r>
              <a:rPr sz="1600" b="1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getColNumber(){//</a:t>
            </a:r>
            <a:r>
              <a:rPr sz="1600" dirty="0">
                <a:latin typeface="微软雅黑"/>
                <a:cs typeface="微软雅黑"/>
              </a:rPr>
              <a:t>指定列</a:t>
            </a:r>
            <a:r>
              <a:rPr sz="1600" spc="-5" dirty="0">
                <a:latin typeface="微软雅黑"/>
                <a:cs typeface="微软雅黑"/>
              </a:rPr>
              <a:t>数</a:t>
            </a:r>
            <a:endParaRPr sz="16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555"/>
              </a:spcBef>
            </a:pPr>
            <a:r>
              <a:rPr sz="1600" b="1" spc="-5" dirty="0">
                <a:latin typeface="微软雅黑"/>
                <a:cs typeface="微软雅黑"/>
              </a:rPr>
              <a:t>return </a:t>
            </a:r>
            <a:r>
              <a:rPr sz="1600" spc="-5" dirty="0">
                <a:latin typeface="微软雅黑"/>
                <a:cs typeface="微软雅黑"/>
              </a:rPr>
              <a:t>4;</a:t>
            </a:r>
            <a:endParaRPr sz="16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55"/>
              </a:spcBef>
            </a:pPr>
            <a:r>
              <a:rPr sz="1600" spc="-5" dirty="0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91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5</a:t>
            </a:r>
            <a:r>
              <a:rPr sz="2100" u="none" dirty="0"/>
              <a:t>.2	向接口编程的代码</a:t>
            </a:r>
            <a:endParaRPr sz="21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38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sz="2100" u="none" spc="-5" dirty="0"/>
              <a:t>6</a:t>
            </a:r>
            <a:r>
              <a:rPr sz="2100" u="none" dirty="0"/>
              <a:t>.6	内部类</a:t>
            </a:r>
            <a:endParaRPr sz="21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91564" y="1421129"/>
            <a:ext cx="236664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780" lvl="2" indent="-513715">
              <a:lnSpc>
                <a:spcPct val="100000"/>
              </a:lnSpc>
              <a:spcBef>
                <a:spcPts val="100"/>
              </a:spcBef>
              <a:buSzPct val="94444"/>
              <a:buAutoNum type="arabicPeriod"/>
              <a:tabLst>
                <a:tab pos="526415" algn="l"/>
              </a:tabLst>
            </a:pPr>
            <a:r>
              <a:rPr sz="1800" dirty="0">
                <a:latin typeface="微软雅黑"/>
                <a:cs typeface="微软雅黑"/>
              </a:rPr>
              <a:t>内部类定义及实现</a:t>
            </a:r>
            <a:endParaRPr sz="1800">
              <a:latin typeface="微软雅黑"/>
              <a:cs typeface="微软雅黑"/>
            </a:endParaRPr>
          </a:p>
          <a:p>
            <a:pPr lvl="2">
              <a:lnSpc>
                <a:spcPct val="100000"/>
              </a:lnSpc>
              <a:spcBef>
                <a:spcPts val="40"/>
              </a:spcBef>
              <a:buFont typeface="΢"/>
              <a:buAutoNum type="arabicPeriod"/>
            </a:pPr>
            <a:endParaRPr sz="1150">
              <a:latin typeface="微软雅黑"/>
              <a:cs typeface="微软雅黑"/>
            </a:endParaRPr>
          </a:p>
          <a:p>
            <a:pPr marL="525780" lvl="2" indent="-513715">
              <a:lnSpc>
                <a:spcPct val="100000"/>
              </a:lnSpc>
              <a:buSzPct val="94444"/>
              <a:buAutoNum type="arabicPeriod"/>
              <a:tabLst>
                <a:tab pos="526415" algn="l"/>
              </a:tabLst>
            </a:pPr>
            <a:r>
              <a:rPr sz="1800" dirty="0">
                <a:latin typeface="微软雅黑"/>
                <a:cs typeface="微软雅黑"/>
              </a:rPr>
              <a:t>内部类的向上转型</a:t>
            </a:r>
            <a:endParaRPr sz="1800">
              <a:latin typeface="微软雅黑"/>
              <a:cs typeface="微软雅黑"/>
            </a:endParaRPr>
          </a:p>
          <a:p>
            <a:pPr lvl="2">
              <a:lnSpc>
                <a:spcPct val="100000"/>
              </a:lnSpc>
              <a:spcBef>
                <a:spcPts val="40"/>
              </a:spcBef>
              <a:buFont typeface="΢"/>
              <a:buAutoNum type="arabicPeriod"/>
            </a:pPr>
            <a:endParaRPr sz="1150">
              <a:latin typeface="微软雅黑"/>
              <a:cs typeface="微软雅黑"/>
            </a:endParaRPr>
          </a:p>
          <a:p>
            <a:pPr marL="525780" lvl="2" indent="-513715">
              <a:lnSpc>
                <a:spcPct val="100000"/>
              </a:lnSpc>
              <a:buSzPct val="94444"/>
              <a:buAutoNum type="arabicPeriod"/>
              <a:tabLst>
                <a:tab pos="526415" algn="l"/>
              </a:tabLst>
            </a:pPr>
            <a:r>
              <a:rPr sz="1800" dirty="0">
                <a:latin typeface="微软雅黑"/>
                <a:cs typeface="微软雅黑"/>
              </a:rPr>
              <a:t>静态内部类</a:t>
            </a:r>
            <a:endParaRPr sz="1800">
              <a:latin typeface="微软雅黑"/>
              <a:cs typeface="微软雅黑"/>
            </a:endParaRPr>
          </a:p>
          <a:p>
            <a:pPr lvl="2">
              <a:lnSpc>
                <a:spcPct val="100000"/>
              </a:lnSpc>
              <a:spcBef>
                <a:spcPts val="40"/>
              </a:spcBef>
              <a:buFont typeface="΢"/>
              <a:buAutoNum type="arabicPeriod"/>
            </a:pPr>
            <a:endParaRPr sz="1150">
              <a:latin typeface="微软雅黑"/>
              <a:cs typeface="微软雅黑"/>
            </a:endParaRPr>
          </a:p>
          <a:p>
            <a:pPr marL="525780" lvl="2" indent="-513715">
              <a:lnSpc>
                <a:spcPct val="100000"/>
              </a:lnSpc>
              <a:buSzPct val="94444"/>
              <a:buAutoNum type="arabicPeriod"/>
              <a:tabLst>
                <a:tab pos="526415" algn="l"/>
              </a:tabLst>
            </a:pPr>
            <a:r>
              <a:rPr sz="1800" dirty="0">
                <a:latin typeface="微软雅黑"/>
                <a:cs typeface="微软雅黑"/>
              </a:rPr>
              <a:t>匿名类</a:t>
            </a:r>
            <a:endParaRPr sz="1800">
              <a:latin typeface="微软雅黑"/>
              <a:cs typeface="微软雅黑"/>
            </a:endParaRPr>
          </a:p>
          <a:p>
            <a:pPr lvl="2">
              <a:lnSpc>
                <a:spcPct val="100000"/>
              </a:lnSpc>
              <a:spcBef>
                <a:spcPts val="40"/>
              </a:spcBef>
              <a:buFont typeface="΢"/>
              <a:buAutoNum type="arabicPeriod"/>
            </a:pPr>
            <a:endParaRPr sz="1150">
              <a:latin typeface="微软雅黑"/>
              <a:cs typeface="微软雅黑"/>
            </a:endParaRPr>
          </a:p>
          <a:p>
            <a:pPr marL="525780" lvl="2" indent="-513715">
              <a:lnSpc>
                <a:spcPct val="100000"/>
              </a:lnSpc>
              <a:buSzPct val="94444"/>
              <a:buAutoNum type="arabicPeriod"/>
              <a:tabLst>
                <a:tab pos="526415" algn="l"/>
              </a:tabLst>
            </a:pPr>
            <a:r>
              <a:rPr sz="1800" dirty="0">
                <a:latin typeface="微软雅黑"/>
                <a:cs typeface="微软雅黑"/>
              </a:rPr>
              <a:t>内部类的作用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.1	内部类定义及实现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0674" y="1196354"/>
            <a:ext cx="5293995" cy="77660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3335">
              <a:lnSpc>
                <a:spcPts val="2890"/>
              </a:lnSpc>
              <a:spcBef>
                <a:spcPts val="305"/>
              </a:spcBef>
            </a:pPr>
            <a:r>
              <a:rPr sz="2400" i="1" u="none" spc="-5" dirty="0">
                <a:solidFill>
                  <a:srgbClr val="FF0000"/>
                </a:solidFill>
                <a:latin typeface="Times New Roman"/>
                <a:cs typeface="Times New Roman"/>
              </a:rPr>
              <a:t>Inner </a:t>
            </a:r>
            <a:r>
              <a:rPr sz="2400" i="1" u="none" spc="-165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500" i="1" u="none" spc="-165" dirty="0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sz="2500" i="1" u="none" spc="-869" dirty="0">
                <a:solidFill>
                  <a:srgbClr val="FF0000"/>
                </a:solidFill>
                <a:latin typeface="宋体"/>
                <a:cs typeface="宋体"/>
              </a:rPr>
              <a:t>内部类</a:t>
            </a:r>
            <a:r>
              <a:rPr sz="2500" i="1" u="none" spc="-434" dirty="0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r>
              <a:rPr sz="2400" i="1" u="none" spc="-434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500" i="1" u="none" spc="-869" dirty="0">
                <a:latin typeface="宋体"/>
                <a:cs typeface="宋体"/>
              </a:rPr>
              <a:t>定义在类中的</a:t>
            </a:r>
            <a:r>
              <a:rPr sz="2500" i="1" u="none" spc="-110" dirty="0">
                <a:latin typeface="宋体"/>
                <a:cs typeface="宋体"/>
              </a:rPr>
              <a:t>类 </a:t>
            </a:r>
            <a:r>
              <a:rPr sz="2500" i="1" u="none" spc="-869" dirty="0">
                <a:latin typeface="宋体"/>
                <a:cs typeface="宋体"/>
              </a:rPr>
              <a:t>包含内部类的类称为</a:t>
            </a:r>
            <a:r>
              <a:rPr sz="2500" i="1" u="none" spc="-869" dirty="0">
                <a:solidFill>
                  <a:srgbClr val="FF0000"/>
                </a:solidFill>
                <a:latin typeface="宋体"/>
                <a:cs typeface="宋体"/>
              </a:rPr>
              <a:t>外部</a:t>
            </a:r>
            <a:r>
              <a:rPr sz="2500" i="1" u="none" spc="-110" dirty="0">
                <a:solidFill>
                  <a:srgbClr val="FF0000"/>
                </a:solidFill>
                <a:latin typeface="宋体"/>
                <a:cs typeface="宋体"/>
              </a:rPr>
              <a:t>类</a:t>
            </a:r>
            <a:endParaRPr sz="25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759" y="2074417"/>
            <a:ext cx="7971155" cy="3548379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650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sz="280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Parcel1.java </a:t>
            </a:r>
            <a:endParaRPr sz="2800">
              <a:latin typeface="宋体"/>
              <a:cs typeface="宋体"/>
            </a:endParaRPr>
          </a:p>
          <a:p>
            <a:pPr marL="717550">
              <a:lnSpc>
                <a:spcPct val="100000"/>
              </a:lnSpc>
              <a:spcBef>
                <a:spcPts val="550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sz="280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Parcel2.java </a:t>
            </a:r>
            <a:endParaRPr sz="2800">
              <a:latin typeface="宋体"/>
              <a:cs typeface="宋体"/>
            </a:endParaRPr>
          </a:p>
          <a:p>
            <a:pPr marL="587375">
              <a:lnSpc>
                <a:spcPct val="100000"/>
              </a:lnSpc>
              <a:spcBef>
                <a:spcPts val="1495"/>
              </a:spcBef>
            </a:pPr>
            <a:r>
              <a:rPr sz="2400" b="1" dirty="0">
                <a:latin typeface="宋体"/>
                <a:cs typeface="宋体"/>
              </a:rPr>
              <a:t>内部类文件名：外部类</a:t>
            </a:r>
            <a:r>
              <a:rPr sz="2400" b="1" dirty="0">
                <a:latin typeface="Times New Roman"/>
                <a:cs typeface="Times New Roman"/>
              </a:rPr>
              <a:t>$</a:t>
            </a:r>
            <a:r>
              <a:rPr sz="2400" b="1" dirty="0">
                <a:latin typeface="宋体"/>
                <a:cs typeface="宋体"/>
              </a:rPr>
              <a:t>内部类</a:t>
            </a:r>
            <a:r>
              <a:rPr sz="2400" b="1" spc="-5" dirty="0">
                <a:latin typeface="Times New Roman"/>
                <a:cs typeface="Times New Roman"/>
              </a:rPr>
              <a:t>.class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400" b="1" dirty="0">
                <a:latin typeface="宋体"/>
                <a:cs typeface="宋体"/>
              </a:rPr>
              <a:t>内部类：比外部类多了</a:t>
            </a:r>
            <a:r>
              <a:rPr sz="2400" b="1" spc="-5" dirty="0">
                <a:latin typeface="Times New Roman"/>
                <a:cs typeface="Times New Roman"/>
              </a:rPr>
              <a:t>static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private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宋体"/>
                <a:cs typeface="宋体"/>
              </a:rPr>
              <a:t>和</a:t>
            </a:r>
            <a:r>
              <a:rPr sz="2400" b="1" spc="-10" dirty="0">
                <a:latin typeface="Times New Roman"/>
                <a:cs typeface="Times New Roman"/>
              </a:rPr>
              <a:t>protected</a:t>
            </a:r>
            <a:r>
              <a:rPr sz="2400" b="1" dirty="0">
                <a:latin typeface="宋体"/>
                <a:cs typeface="宋体"/>
              </a:rPr>
              <a:t>三个修饰</a:t>
            </a:r>
            <a:r>
              <a:rPr sz="2400" b="1" spc="-10" dirty="0"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00">
              <a:latin typeface="宋体"/>
              <a:cs typeface="宋体"/>
            </a:endParaRPr>
          </a:p>
          <a:p>
            <a:pPr marL="12700" marR="5080">
              <a:lnSpc>
                <a:spcPct val="100200"/>
              </a:lnSpc>
            </a:pPr>
            <a:r>
              <a:rPr sz="2400" b="1" dirty="0">
                <a:latin typeface="Times New Roman"/>
                <a:cs typeface="Times New Roman"/>
              </a:rPr>
              <a:t>Java16</a:t>
            </a:r>
            <a:r>
              <a:rPr sz="2400" b="1" dirty="0">
                <a:latin typeface="宋体"/>
                <a:cs typeface="宋体"/>
              </a:rPr>
              <a:t>前非静态内部类不可以包含</a:t>
            </a:r>
            <a:r>
              <a:rPr sz="2400" b="1" spc="-5" dirty="0">
                <a:latin typeface="Times New Roman"/>
                <a:cs typeface="Times New Roman"/>
              </a:rPr>
              <a:t>static</a:t>
            </a:r>
            <a:r>
              <a:rPr sz="2400" b="1" dirty="0">
                <a:latin typeface="宋体"/>
                <a:cs typeface="宋体"/>
              </a:rPr>
              <a:t>成员，除非是常</a:t>
            </a:r>
            <a:r>
              <a:rPr sz="2400" b="1" spc="-10" dirty="0">
                <a:latin typeface="宋体"/>
                <a:cs typeface="宋体"/>
              </a:rPr>
              <a:t>量 </a:t>
            </a:r>
            <a:r>
              <a:rPr sz="2400" b="1" spc="-5" dirty="0">
                <a:latin typeface="Times New Roman"/>
                <a:cs typeface="Times New Roman"/>
              </a:rPr>
              <a:t>final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static,16</a:t>
            </a:r>
            <a:r>
              <a:rPr sz="2400" b="1" dirty="0">
                <a:latin typeface="宋体"/>
                <a:cs typeface="宋体"/>
              </a:rPr>
              <a:t>后解除，可以包含</a:t>
            </a:r>
            <a:r>
              <a:rPr sz="2400" b="1" spc="-5" dirty="0">
                <a:latin typeface="Times New Roman"/>
                <a:cs typeface="Times New Roman"/>
              </a:rPr>
              <a:t>static</a:t>
            </a:r>
            <a:r>
              <a:rPr sz="2400" b="1" dirty="0">
                <a:latin typeface="宋体"/>
                <a:cs typeface="宋体"/>
              </a:rPr>
              <a:t>成员变量、方法和静</a:t>
            </a:r>
            <a:r>
              <a:rPr sz="2400" b="1" spc="-10" dirty="0">
                <a:latin typeface="宋体"/>
                <a:cs typeface="宋体"/>
              </a:rPr>
              <a:t>态 </a:t>
            </a:r>
            <a:r>
              <a:rPr sz="2400" b="1" dirty="0">
                <a:latin typeface="宋体"/>
                <a:cs typeface="宋体"/>
              </a:rPr>
              <a:t>内部</a:t>
            </a:r>
            <a:r>
              <a:rPr sz="2400" b="1" spc="-10" dirty="0">
                <a:latin typeface="宋体"/>
                <a:cs typeface="宋体"/>
              </a:rPr>
              <a:t>类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.1	内部类定义及实现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630" y="1434465"/>
            <a:ext cx="645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u="none" dirty="0">
                <a:latin typeface="宋体"/>
                <a:cs typeface="宋体"/>
              </a:rPr>
              <a:t>非静态内部类可以访问外部类的所有成员，但</a:t>
            </a:r>
            <a:r>
              <a:rPr sz="2400" u="none" spc="-10" dirty="0">
                <a:solidFill>
                  <a:srgbClr val="FF0000"/>
                </a:solidFill>
                <a:latin typeface="宋体"/>
                <a:cs typeface="宋体"/>
              </a:rPr>
              <a:t>静 </a:t>
            </a:r>
            <a:r>
              <a:rPr sz="2400" u="none" dirty="0">
                <a:solidFill>
                  <a:srgbClr val="FF0000"/>
                </a:solidFill>
                <a:latin typeface="宋体"/>
                <a:cs typeface="宋体"/>
              </a:rPr>
              <a:t>态内部类不能访问外部类的非静态成</a:t>
            </a:r>
            <a:r>
              <a:rPr sz="2400" u="none" spc="-10" dirty="0">
                <a:solidFill>
                  <a:srgbClr val="FF0000"/>
                </a:solidFill>
                <a:latin typeface="宋体"/>
                <a:cs typeface="宋体"/>
              </a:rPr>
              <a:t>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0335" y="2505075"/>
            <a:ext cx="5368925" cy="224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28955" algn="ctr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sz="2800" spc="-1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Sequence.java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6C39"/>
                </a:solidFill>
                <a:latin typeface="宋体"/>
                <a:cs typeface="宋体"/>
              </a:rPr>
              <a:t>对外部类对象的引用</a:t>
            </a: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</a:t>
            </a:r>
            <a:r>
              <a:rPr sz="2800" spc="-15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sz="2800" spc="-15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Dothis 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 外部类类名.this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.1	内部类定义及实现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630" y="1183004"/>
            <a:ext cx="2166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none" dirty="0">
                <a:latin typeface="宋体"/>
                <a:cs typeface="宋体"/>
              </a:rPr>
              <a:t>内部类的使用</a:t>
            </a:r>
            <a:r>
              <a:rPr sz="2400" u="none" spc="-1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630" y="1547495"/>
            <a:ext cx="7329170" cy="4217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7240" indent="-764540">
              <a:lnSpc>
                <a:spcPct val="100000"/>
              </a:lnSpc>
              <a:spcBef>
                <a:spcPts val="100"/>
              </a:spcBef>
              <a:buSzPct val="95833"/>
              <a:buAutoNum type="arabicPlain"/>
              <a:tabLst>
                <a:tab pos="777240" algn="l"/>
              </a:tabLst>
            </a:pPr>
            <a:r>
              <a:rPr sz="2400" b="1" dirty="0">
                <a:latin typeface="宋体"/>
                <a:cs typeface="宋体"/>
              </a:rPr>
              <a:t>在外部类中使用内部</a:t>
            </a:r>
            <a:r>
              <a:rPr sz="2400" b="1" spc="-10" dirty="0">
                <a:latin typeface="宋体"/>
                <a:cs typeface="宋体"/>
              </a:rPr>
              <a:t>类</a:t>
            </a:r>
            <a:endParaRPr sz="2400">
              <a:latin typeface="宋体"/>
              <a:cs typeface="宋体"/>
            </a:endParaRPr>
          </a:p>
          <a:p>
            <a:pPr marL="12700" marR="807085" indent="381000">
              <a:lnSpc>
                <a:spcPct val="100000"/>
              </a:lnSpc>
            </a:pPr>
            <a:r>
              <a:rPr sz="2400" b="1" dirty="0">
                <a:latin typeface="宋体"/>
                <a:cs typeface="宋体"/>
              </a:rPr>
              <a:t>与使用其他类无区别，注意</a:t>
            </a:r>
            <a:r>
              <a:rPr sz="2400" b="1" dirty="0">
                <a:solidFill>
                  <a:srgbClr val="FF0000"/>
                </a:solidFill>
                <a:latin typeface="宋体"/>
                <a:cs typeface="宋体"/>
              </a:rPr>
              <a:t>静态成员不可以</a:t>
            </a:r>
            <a:r>
              <a:rPr sz="2400" b="1" spc="-10" dirty="0">
                <a:solidFill>
                  <a:srgbClr val="FF0000"/>
                </a:solidFill>
                <a:latin typeface="宋体"/>
                <a:cs typeface="宋体"/>
              </a:rPr>
              <a:t>使 </a:t>
            </a:r>
            <a:r>
              <a:rPr sz="2400" b="1" dirty="0">
                <a:solidFill>
                  <a:srgbClr val="FF0000"/>
                </a:solidFill>
                <a:latin typeface="宋体"/>
                <a:cs typeface="宋体"/>
              </a:rPr>
              <a:t>用非静态内部类</a:t>
            </a:r>
            <a:r>
              <a:rPr sz="2400" b="1" spc="-1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777240" indent="-764540">
              <a:lnSpc>
                <a:spcPct val="100000"/>
              </a:lnSpc>
              <a:buSzPct val="95833"/>
              <a:buAutoNum type="arabicPlain" startAt="2"/>
              <a:tabLst>
                <a:tab pos="777240" algn="l"/>
              </a:tabLst>
            </a:pPr>
            <a:r>
              <a:rPr sz="2400" b="1" dirty="0">
                <a:latin typeface="宋体"/>
                <a:cs typeface="宋体"/>
              </a:rPr>
              <a:t>在外部类中使用静态内部</a:t>
            </a:r>
            <a:r>
              <a:rPr sz="2400" b="1" spc="-10" dirty="0">
                <a:latin typeface="宋体"/>
                <a:cs typeface="宋体"/>
              </a:rPr>
              <a:t>类</a:t>
            </a:r>
            <a:endParaRPr sz="2400">
              <a:latin typeface="宋体"/>
              <a:cs typeface="宋体"/>
            </a:endParaRPr>
          </a:p>
          <a:p>
            <a:pPr marL="12700" marR="883285" indent="304800">
              <a:lnSpc>
                <a:spcPts val="2890"/>
              </a:lnSpc>
              <a:spcBef>
                <a:spcPts val="85"/>
              </a:spcBef>
            </a:pPr>
            <a:r>
              <a:rPr sz="2400" b="1" dirty="0">
                <a:latin typeface="宋体"/>
                <a:cs typeface="宋体"/>
              </a:rPr>
              <a:t>与使用其他类无区别，注意静态内部类的访</a:t>
            </a:r>
            <a:r>
              <a:rPr sz="2400" b="1" spc="-10" dirty="0">
                <a:latin typeface="宋体"/>
                <a:cs typeface="宋体"/>
              </a:rPr>
              <a:t>问 </a:t>
            </a:r>
            <a:r>
              <a:rPr sz="2400" b="1" dirty="0">
                <a:latin typeface="宋体"/>
                <a:cs typeface="宋体"/>
              </a:rPr>
              <a:t>权</a:t>
            </a:r>
            <a:r>
              <a:rPr sz="2400" b="1" spc="-10" dirty="0">
                <a:latin typeface="宋体"/>
                <a:cs typeface="宋体"/>
              </a:rPr>
              <a:t>限</a:t>
            </a:r>
            <a:endParaRPr sz="2400">
              <a:latin typeface="宋体"/>
              <a:cs typeface="宋体"/>
            </a:endParaRPr>
          </a:p>
          <a:p>
            <a:pPr marL="777240" indent="-764540">
              <a:lnSpc>
                <a:spcPts val="2770"/>
              </a:lnSpc>
              <a:buSzPct val="95833"/>
              <a:buAutoNum type="arabicPlain" startAt="3"/>
              <a:tabLst>
                <a:tab pos="777240" algn="l"/>
              </a:tabLst>
            </a:pPr>
            <a:r>
              <a:rPr sz="2400" b="1" dirty="0">
                <a:latin typeface="宋体"/>
                <a:cs typeface="宋体"/>
              </a:rPr>
              <a:t>在外部类外使用非静态内部</a:t>
            </a:r>
            <a:r>
              <a:rPr sz="2400" b="1" spc="-10" dirty="0">
                <a:latin typeface="宋体"/>
                <a:cs typeface="宋体"/>
              </a:rPr>
              <a:t>类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b="1" dirty="0">
                <a:latin typeface="宋体"/>
                <a:cs typeface="宋体"/>
              </a:rPr>
              <a:t>注意</a:t>
            </a:r>
            <a:r>
              <a:rPr sz="2400" b="1" spc="-1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12700" marR="1428750">
              <a:lnSpc>
                <a:spcPts val="2870"/>
              </a:lnSpc>
              <a:spcBef>
                <a:spcPts val="105"/>
              </a:spcBef>
            </a:pPr>
            <a:r>
              <a:rPr sz="2400" b="1" dirty="0">
                <a:latin typeface="宋体"/>
                <a:cs typeface="宋体"/>
              </a:rPr>
              <a:t>非静态内部类对象一定包含一个外部类对</a:t>
            </a:r>
            <a:r>
              <a:rPr sz="2400" b="1" spc="-10" dirty="0">
                <a:latin typeface="宋体"/>
                <a:cs typeface="宋体"/>
              </a:rPr>
              <a:t>象 </a:t>
            </a:r>
            <a:r>
              <a:rPr sz="2400" b="1" dirty="0">
                <a:latin typeface="宋体"/>
                <a:cs typeface="宋体"/>
              </a:rPr>
              <a:t>创建：</a:t>
            </a:r>
            <a:r>
              <a:rPr sz="2400" b="1" dirty="0">
                <a:solidFill>
                  <a:srgbClr val="FF0000"/>
                </a:solidFill>
                <a:latin typeface="宋体"/>
                <a:cs typeface="宋体"/>
              </a:rPr>
              <a:t>外部类对象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.new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宋体"/>
                <a:cs typeface="宋体"/>
              </a:rPr>
              <a:t>非静态内部类构造</a:t>
            </a:r>
            <a:r>
              <a:rPr sz="2400" b="1" spc="-10" dirty="0">
                <a:solidFill>
                  <a:srgbClr val="FF0000"/>
                </a:solidFill>
                <a:latin typeface="宋体"/>
                <a:cs typeface="宋体"/>
              </a:rPr>
              <a:t>器</a:t>
            </a:r>
            <a:endParaRPr sz="2400">
              <a:latin typeface="宋体"/>
              <a:cs typeface="宋体"/>
            </a:endParaRPr>
          </a:p>
          <a:p>
            <a:pPr marL="173355">
              <a:lnSpc>
                <a:spcPct val="100000"/>
              </a:lnSpc>
              <a:spcBef>
                <a:spcPts val="750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 inner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Parcel3.java</a:t>
            </a:r>
            <a:r>
              <a:rPr sz="2800" spc="5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;Parcel10.java 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u="none" spc="-5" dirty="0"/>
              <a:t>6</a:t>
            </a:r>
            <a:r>
              <a:rPr sz="2100" u="none" dirty="0"/>
              <a:t>.</a:t>
            </a:r>
            <a:r>
              <a:rPr sz="2100" u="none" spc="-5" dirty="0"/>
              <a:t>6</a:t>
            </a:r>
            <a:r>
              <a:rPr sz="2100" u="none" dirty="0"/>
              <a:t>.1	内部类定义及实现</a:t>
            </a:r>
            <a:endParaRPr sz="21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22680" y="1644650"/>
            <a:ext cx="3324860" cy="148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局部内部类</a:t>
            </a:r>
            <a:r>
              <a:rPr sz="2400" b="1" spc="-1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ts val="2890"/>
              </a:lnSpc>
              <a:spcBef>
                <a:spcPts val="80"/>
              </a:spcBef>
            </a:pPr>
            <a:r>
              <a:rPr sz="2400" b="1" dirty="0">
                <a:latin typeface="宋体"/>
                <a:cs typeface="宋体"/>
              </a:rPr>
              <a:t>定义在方法或</a:t>
            </a:r>
            <a:r>
              <a:rPr sz="2400" b="1" spc="-5" dirty="0">
                <a:latin typeface="Times New Roman"/>
                <a:cs typeface="Times New Roman"/>
              </a:rPr>
              <a:t>{}</a:t>
            </a:r>
            <a:r>
              <a:rPr sz="2400" b="1" dirty="0">
                <a:latin typeface="宋体"/>
                <a:cs typeface="宋体"/>
              </a:rPr>
              <a:t>中的类</a:t>
            </a:r>
            <a:r>
              <a:rPr sz="2400" b="1" spc="-10" dirty="0">
                <a:latin typeface="宋体"/>
                <a:cs typeface="宋体"/>
              </a:rPr>
              <a:t>， </a:t>
            </a:r>
            <a:r>
              <a:rPr sz="2400" b="1" dirty="0">
                <a:latin typeface="宋体"/>
                <a:cs typeface="宋体"/>
              </a:rPr>
              <a:t>很少</a:t>
            </a:r>
            <a:r>
              <a:rPr sz="2400" b="1" spc="-10" dirty="0">
                <a:latin typeface="宋体"/>
                <a:cs typeface="宋体"/>
              </a:rPr>
              <a:t>用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770"/>
              </a:lnSpc>
            </a:pPr>
            <a:r>
              <a:rPr sz="2400" b="1" dirty="0">
                <a:latin typeface="宋体"/>
                <a:cs typeface="宋体"/>
              </a:rPr>
              <a:t>默认是</a:t>
            </a:r>
            <a:r>
              <a:rPr sz="2400" b="1" spc="-5" dirty="0">
                <a:latin typeface="Times New Roman"/>
                <a:cs typeface="Times New Roman"/>
              </a:rPr>
              <a:t>final</a:t>
            </a:r>
            <a:r>
              <a:rPr sz="2400" b="1" spc="-10" dirty="0">
                <a:latin typeface="宋体"/>
                <a:cs typeface="宋体"/>
              </a:rPr>
              <a:t>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0335" y="4022090"/>
            <a:ext cx="42875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</a:t>
            </a:r>
            <a:r>
              <a:rPr sz="2000" dirty="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sz="2000" spc="-1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C39"/>
                </a:solidFill>
                <a:latin typeface="宋体"/>
                <a:cs typeface="宋体"/>
              </a:rPr>
              <a:t>Parcel4.java;Parcel5.java</a:t>
            </a:r>
            <a:r>
              <a:rPr sz="200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.1	内部类定义及实现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4389" y="996315"/>
            <a:ext cx="3084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none" dirty="0">
                <a:solidFill>
                  <a:srgbClr val="FF0000"/>
                </a:solidFill>
                <a:latin typeface="宋体"/>
                <a:cs typeface="宋体"/>
              </a:rPr>
              <a:t>匿名内部类；（常用</a:t>
            </a:r>
            <a:r>
              <a:rPr sz="2400" u="none" spc="-10" dirty="0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没有名字的内部类，定义类时创建实例并向上</a:t>
            </a:r>
            <a:r>
              <a:rPr spc="-10" dirty="0"/>
              <a:t>转 </a:t>
            </a:r>
            <a:r>
              <a:rPr dirty="0"/>
              <a:t>型为父类实</a:t>
            </a:r>
            <a:r>
              <a:rPr spc="-10" dirty="0"/>
              <a:t>例</a:t>
            </a:r>
          </a:p>
          <a:p>
            <a:pPr marL="12700">
              <a:lnSpc>
                <a:spcPts val="2870"/>
              </a:lnSpc>
            </a:pPr>
            <a:r>
              <a:rPr spc="-5" dirty="0">
                <a:latin typeface="Times New Roman"/>
                <a:cs typeface="Times New Roman"/>
              </a:rPr>
              <a:t>new </a:t>
            </a:r>
            <a:r>
              <a:rPr dirty="0"/>
              <a:t>父类构造器（</a:t>
            </a:r>
            <a:r>
              <a:rPr dirty="0">
                <a:solidFill>
                  <a:srgbClr val="FF0000"/>
                </a:solidFill>
              </a:rPr>
              <a:t>参数</a:t>
            </a:r>
            <a:r>
              <a:rPr dirty="0"/>
              <a:t>）</a:t>
            </a:r>
            <a:r>
              <a:rPr dirty="0">
                <a:latin typeface="Times New Roman"/>
                <a:cs typeface="Times New Roman"/>
              </a:rPr>
              <a:t>{</a:t>
            </a:r>
          </a:p>
          <a:p>
            <a:pPr marL="546100">
              <a:lnSpc>
                <a:spcPct val="100000"/>
              </a:lnSpc>
            </a:pPr>
            <a:r>
              <a:rPr dirty="0"/>
              <a:t>类体（主要实现抽象方法）</a:t>
            </a:r>
            <a:r>
              <a:rPr dirty="0">
                <a:latin typeface="Times New Roman"/>
                <a:cs typeface="Times New Roman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/>
              <a:t>匿名内部类只能继承一个父类或一个接口；不</a:t>
            </a:r>
            <a:r>
              <a:rPr spc="-10" dirty="0"/>
              <a:t>能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4389" y="3190875"/>
            <a:ext cx="1248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是抽象</a:t>
            </a:r>
            <a:r>
              <a:rPr sz="2400" b="1" spc="-10" dirty="0">
                <a:latin typeface="宋体"/>
                <a:cs typeface="宋体"/>
              </a:rPr>
              <a:t>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6370" y="3369309"/>
            <a:ext cx="35032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sz="2800" spc="-4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Parcel6.java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191" y="4448555"/>
            <a:ext cx="2804590" cy="1261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29200" y="4482084"/>
            <a:ext cx="3425023" cy="1306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10000" y="5120640"/>
            <a:ext cx="914400" cy="114300"/>
          </a:xfrm>
          <a:custGeom>
            <a:avLst/>
            <a:gdLst/>
            <a:ahLst/>
            <a:cxnLst/>
            <a:rect l="l" t="t" r="r" b="b"/>
            <a:pathLst>
              <a:path w="914400" h="114300">
                <a:moveTo>
                  <a:pt x="800100" y="114300"/>
                </a:moveTo>
                <a:lnTo>
                  <a:pt x="800100" y="0"/>
                </a:lnTo>
                <a:lnTo>
                  <a:pt x="876300" y="38100"/>
                </a:lnTo>
                <a:lnTo>
                  <a:pt x="828675" y="38100"/>
                </a:lnTo>
                <a:lnTo>
                  <a:pt x="828675" y="76200"/>
                </a:lnTo>
                <a:lnTo>
                  <a:pt x="876300" y="76200"/>
                </a:lnTo>
                <a:lnTo>
                  <a:pt x="800100" y="114300"/>
                </a:lnTo>
                <a:close/>
              </a:path>
              <a:path w="914400" h="114300">
                <a:moveTo>
                  <a:pt x="800100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800100" y="38100"/>
                </a:lnTo>
                <a:lnTo>
                  <a:pt x="800100" y="76200"/>
                </a:lnTo>
                <a:close/>
              </a:path>
              <a:path w="914400" h="114300">
                <a:moveTo>
                  <a:pt x="876300" y="76200"/>
                </a:moveTo>
                <a:lnTo>
                  <a:pt x="828675" y="76200"/>
                </a:lnTo>
                <a:lnTo>
                  <a:pt x="828675" y="38100"/>
                </a:lnTo>
                <a:lnTo>
                  <a:pt x="876300" y="38100"/>
                </a:lnTo>
                <a:lnTo>
                  <a:pt x="914400" y="57150"/>
                </a:lnTo>
                <a:lnTo>
                  <a:pt x="8763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97</a:t>
            </a:fld>
            <a:endParaRPr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.1	内部类定义及实现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4389" y="996315"/>
            <a:ext cx="3084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none" dirty="0">
                <a:solidFill>
                  <a:srgbClr val="FF0000"/>
                </a:solidFill>
                <a:latin typeface="宋体"/>
                <a:cs typeface="宋体"/>
              </a:rPr>
              <a:t>匿名内部类；（常用</a:t>
            </a:r>
            <a:r>
              <a:rPr sz="2400" u="none" spc="-10" dirty="0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191" y="4448555"/>
            <a:ext cx="2804590" cy="1261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0" y="4482084"/>
            <a:ext cx="3425023" cy="1306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10000" y="5120640"/>
            <a:ext cx="914400" cy="114300"/>
          </a:xfrm>
          <a:custGeom>
            <a:avLst/>
            <a:gdLst/>
            <a:ahLst/>
            <a:cxnLst/>
            <a:rect l="l" t="t" r="r" b="b"/>
            <a:pathLst>
              <a:path w="914400" h="114300">
                <a:moveTo>
                  <a:pt x="800100" y="114300"/>
                </a:moveTo>
                <a:lnTo>
                  <a:pt x="800100" y="0"/>
                </a:lnTo>
                <a:lnTo>
                  <a:pt x="876300" y="38100"/>
                </a:lnTo>
                <a:lnTo>
                  <a:pt x="828675" y="38100"/>
                </a:lnTo>
                <a:lnTo>
                  <a:pt x="828675" y="76200"/>
                </a:lnTo>
                <a:lnTo>
                  <a:pt x="876300" y="76200"/>
                </a:lnTo>
                <a:lnTo>
                  <a:pt x="800100" y="114300"/>
                </a:lnTo>
                <a:close/>
              </a:path>
              <a:path w="914400" h="114300">
                <a:moveTo>
                  <a:pt x="800100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800100" y="38100"/>
                </a:lnTo>
                <a:lnTo>
                  <a:pt x="800100" y="76200"/>
                </a:lnTo>
                <a:close/>
              </a:path>
              <a:path w="914400" h="114300">
                <a:moveTo>
                  <a:pt x="876300" y="76200"/>
                </a:moveTo>
                <a:lnTo>
                  <a:pt x="828675" y="76200"/>
                </a:lnTo>
                <a:lnTo>
                  <a:pt x="828675" y="38100"/>
                </a:lnTo>
                <a:lnTo>
                  <a:pt x="876300" y="38100"/>
                </a:lnTo>
                <a:lnTo>
                  <a:pt x="914400" y="57150"/>
                </a:lnTo>
                <a:lnTo>
                  <a:pt x="8763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435" y="1487677"/>
            <a:ext cx="7075805" cy="2393950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64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sz="2800" dirty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Parcel7.java</a:t>
            </a:r>
            <a:endParaRPr sz="2800">
              <a:latin typeface="宋体"/>
              <a:cs typeface="宋体"/>
            </a:endParaRPr>
          </a:p>
          <a:p>
            <a:pPr marL="165100" marR="5080">
              <a:lnSpc>
                <a:spcPct val="100000"/>
              </a:lnSpc>
              <a:spcBef>
                <a:spcPts val="1764"/>
              </a:spcBef>
            </a:pP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anonymous class </a:t>
            </a:r>
            <a:r>
              <a:rPr sz="2800" spc="-5" dirty="0">
                <a:latin typeface="Times New Roman"/>
                <a:cs typeface="Times New Roman"/>
              </a:rPr>
              <a:t>extending </a:t>
            </a: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a class </a:t>
            </a:r>
            <a:r>
              <a:rPr sz="2800" spc="-5" dirty="0">
                <a:latin typeface="Times New Roman"/>
                <a:cs typeface="Times New Roman"/>
              </a:rPr>
              <a:t>that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has a  nondefault constructor 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680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Parcel8.java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；Parcel9.java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98</a:t>
            </a:fld>
            <a:endParaRPr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</a:t>
            </a:r>
            <a:r>
              <a:rPr sz="2100" b="1" spc="-5" dirty="0">
                <a:latin typeface="微软雅黑"/>
                <a:cs typeface="微软雅黑"/>
              </a:rPr>
              <a:t>6</a:t>
            </a:r>
            <a:r>
              <a:rPr sz="2100" b="1" dirty="0">
                <a:latin typeface="微软雅黑"/>
                <a:cs typeface="微软雅黑"/>
              </a:rPr>
              <a:t>.1	内部类定义及实现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630" y="1356359"/>
            <a:ext cx="2778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none" dirty="0">
                <a:latin typeface="宋体"/>
                <a:cs typeface="宋体"/>
              </a:rPr>
              <a:t>为什么使用内部类</a:t>
            </a:r>
            <a:r>
              <a:rPr sz="2400" u="none" spc="-10" dirty="0">
                <a:latin typeface="宋体"/>
                <a:cs typeface="宋体"/>
              </a:rPr>
              <a:t>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694" y="2003425"/>
            <a:ext cx="7724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Each </a:t>
            </a:r>
            <a:r>
              <a:rPr sz="2400" spc="-5" dirty="0">
                <a:latin typeface="Times New Roman"/>
                <a:cs typeface="Times New Roman"/>
              </a:rPr>
              <a:t>inner class can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independently </a:t>
            </a:r>
            <a:r>
              <a:rPr sz="2400" spc="-5" dirty="0">
                <a:latin typeface="Times New Roman"/>
                <a:cs typeface="Times New Roman"/>
              </a:rPr>
              <a:t>inherit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an  </a:t>
            </a:r>
            <a:r>
              <a:rPr sz="2400" spc="-5" dirty="0">
                <a:solidFill>
                  <a:srgbClr val="006C39"/>
                </a:solidFill>
                <a:latin typeface="Times New Roman"/>
                <a:cs typeface="Times New Roman"/>
              </a:rPr>
              <a:t>implementation</a:t>
            </a:r>
            <a:r>
              <a:rPr sz="2400" spc="-5" dirty="0">
                <a:latin typeface="Times New Roman"/>
                <a:cs typeface="Times New Roman"/>
              </a:rPr>
              <a:t>.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" dirty="0">
                <a:latin typeface="Times New Roman"/>
                <a:cs typeface="Times New Roman"/>
              </a:rPr>
              <a:t>way to look at the inner class is as the 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completion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solution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multiple-inheritance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problem.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190" y="3904614"/>
            <a:ext cx="3048000" cy="1306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0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 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MultiInterfaces.j  ava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6584" y="3836670"/>
            <a:ext cx="4114800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C39"/>
                </a:solidFill>
                <a:latin typeface="Times New Roman"/>
                <a:cs typeface="Times New Roman"/>
              </a:rPr>
              <a:t>Sample : 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MultiImplementation.jav  </a:t>
            </a:r>
            <a:r>
              <a:rPr sz="2800" dirty="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r>
              <a:rPr sz="2800" spc="-5" dirty="0">
                <a:solidFill>
                  <a:srgbClr val="006C39"/>
                </a:solidFill>
                <a:latin typeface="宋体"/>
                <a:cs typeface="宋体"/>
              </a:rPr>
              <a:t>a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47720" y="4227283"/>
            <a:ext cx="811530" cy="114935"/>
          </a:xfrm>
          <a:custGeom>
            <a:avLst/>
            <a:gdLst/>
            <a:ahLst/>
            <a:cxnLst/>
            <a:rect l="l" t="t" r="r" b="b"/>
            <a:pathLst>
              <a:path w="811529" h="114935">
                <a:moveTo>
                  <a:pt x="114249" y="114300"/>
                </a:moveTo>
                <a:lnTo>
                  <a:pt x="0" y="57061"/>
                </a:lnTo>
                <a:lnTo>
                  <a:pt x="114350" y="0"/>
                </a:lnTo>
                <a:lnTo>
                  <a:pt x="114316" y="38074"/>
                </a:lnTo>
                <a:lnTo>
                  <a:pt x="85737" y="38074"/>
                </a:lnTo>
                <a:lnTo>
                  <a:pt x="85712" y="76174"/>
                </a:lnTo>
                <a:lnTo>
                  <a:pt x="114283" y="76197"/>
                </a:lnTo>
                <a:lnTo>
                  <a:pt x="114249" y="114300"/>
                </a:lnTo>
                <a:close/>
              </a:path>
              <a:path w="811529" h="114935">
                <a:moveTo>
                  <a:pt x="773480" y="76682"/>
                </a:moveTo>
                <a:lnTo>
                  <a:pt x="725792" y="76682"/>
                </a:lnTo>
                <a:lnTo>
                  <a:pt x="725817" y="38582"/>
                </a:lnTo>
                <a:lnTo>
                  <a:pt x="697246" y="38559"/>
                </a:lnTo>
                <a:lnTo>
                  <a:pt x="697280" y="457"/>
                </a:lnTo>
                <a:lnTo>
                  <a:pt x="811529" y="57696"/>
                </a:lnTo>
                <a:lnTo>
                  <a:pt x="773480" y="76682"/>
                </a:lnTo>
                <a:close/>
              </a:path>
              <a:path w="811529" h="114935">
                <a:moveTo>
                  <a:pt x="114283" y="76197"/>
                </a:moveTo>
                <a:lnTo>
                  <a:pt x="85712" y="76174"/>
                </a:lnTo>
                <a:lnTo>
                  <a:pt x="85737" y="38074"/>
                </a:lnTo>
                <a:lnTo>
                  <a:pt x="114316" y="38097"/>
                </a:lnTo>
                <a:lnTo>
                  <a:pt x="114283" y="76197"/>
                </a:lnTo>
                <a:close/>
              </a:path>
              <a:path w="811529" h="114935">
                <a:moveTo>
                  <a:pt x="114316" y="38097"/>
                </a:moveTo>
                <a:lnTo>
                  <a:pt x="85737" y="38074"/>
                </a:lnTo>
                <a:lnTo>
                  <a:pt x="114316" y="38074"/>
                </a:lnTo>
                <a:close/>
              </a:path>
              <a:path w="811529" h="114935">
                <a:moveTo>
                  <a:pt x="697213" y="76659"/>
                </a:moveTo>
                <a:lnTo>
                  <a:pt x="114283" y="76197"/>
                </a:lnTo>
                <a:lnTo>
                  <a:pt x="114316" y="38097"/>
                </a:lnTo>
                <a:lnTo>
                  <a:pt x="697246" y="38559"/>
                </a:lnTo>
                <a:lnTo>
                  <a:pt x="697213" y="76659"/>
                </a:lnTo>
                <a:close/>
              </a:path>
              <a:path w="811529" h="114935">
                <a:moveTo>
                  <a:pt x="725792" y="76682"/>
                </a:moveTo>
                <a:lnTo>
                  <a:pt x="697213" y="76659"/>
                </a:lnTo>
                <a:lnTo>
                  <a:pt x="697246" y="38559"/>
                </a:lnTo>
                <a:lnTo>
                  <a:pt x="725817" y="38582"/>
                </a:lnTo>
                <a:lnTo>
                  <a:pt x="725792" y="76682"/>
                </a:lnTo>
                <a:close/>
              </a:path>
              <a:path w="811529" h="114935">
                <a:moveTo>
                  <a:pt x="697179" y="114757"/>
                </a:moveTo>
                <a:lnTo>
                  <a:pt x="697213" y="76659"/>
                </a:lnTo>
                <a:lnTo>
                  <a:pt x="773480" y="76682"/>
                </a:lnTo>
                <a:lnTo>
                  <a:pt x="697179" y="1147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29002" y="6309712"/>
            <a:ext cx="204470" cy="4095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  <a:p>
            <a:pPr marL="57150">
              <a:lnSpc>
                <a:spcPct val="100000"/>
              </a:lnSpc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0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3908" y="425602"/>
            <a:ext cx="2121369" cy="2578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1123" y="1752600"/>
            <a:ext cx="8023859" cy="3744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29002" y="6309712"/>
            <a:ext cx="204470" cy="4095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  <a:p>
            <a:pPr marL="57150">
              <a:lnSpc>
                <a:spcPct val="100000"/>
              </a:lnSpc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1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9476" y="424332"/>
            <a:ext cx="1058989" cy="26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7084" y="1437005"/>
            <a:ext cx="8159750" cy="191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利用多态性面向接口</a:t>
            </a:r>
            <a:r>
              <a:rPr sz="2800" spc="-5" dirty="0">
                <a:latin typeface="微软雅黑"/>
                <a:cs typeface="微软雅黑"/>
              </a:rPr>
              <a:t>(</a:t>
            </a:r>
            <a:r>
              <a:rPr sz="2800" dirty="0">
                <a:latin typeface="微软雅黑"/>
                <a:cs typeface="微软雅黑"/>
              </a:rPr>
              <a:t>抽象类</a:t>
            </a:r>
            <a:r>
              <a:rPr sz="2800" spc="-5" dirty="0">
                <a:latin typeface="微软雅黑"/>
                <a:cs typeface="微软雅黑"/>
              </a:rPr>
              <a:t>)</a:t>
            </a:r>
            <a:r>
              <a:rPr sz="2800" dirty="0">
                <a:latin typeface="微软雅黑"/>
                <a:cs typeface="微软雅黑"/>
              </a:rPr>
              <a:t>编</a:t>
            </a:r>
            <a:r>
              <a:rPr sz="2800" spc="-5" dirty="0">
                <a:latin typeface="微软雅黑"/>
                <a:cs typeface="微软雅黑"/>
              </a:rPr>
              <a:t>程</a:t>
            </a:r>
            <a:endParaRPr sz="2800">
              <a:latin typeface="微软雅黑"/>
              <a:cs typeface="微软雅黑"/>
            </a:endParaRPr>
          </a:p>
          <a:p>
            <a:pPr marL="527050" marR="5080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定义类继承自抽象类，并覆盖抽象方法；或者实现接口， 实现接口中的方法。</a:t>
            </a:r>
            <a:endParaRPr sz="24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将子类对象赋值给抽象父类引用或接口引用。</a:t>
            </a:r>
            <a:endParaRPr sz="24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利用父类的这些引用调用子类中的同名方法。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29002" y="6309712"/>
            <a:ext cx="204470" cy="4095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  <a:p>
            <a:pPr marL="57150">
              <a:lnSpc>
                <a:spcPct val="100000"/>
              </a:lnSpc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2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9476" y="424332"/>
            <a:ext cx="1058989" cy="26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739" y="1419870"/>
            <a:ext cx="7906384" cy="418147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子类对象赋给父类引用后的</a:t>
            </a:r>
            <a:r>
              <a:rPr sz="2800" spc="-5" dirty="0">
                <a:latin typeface="微软雅黑"/>
                <a:cs typeface="微软雅黑"/>
              </a:rPr>
              <a:t>3</a:t>
            </a:r>
            <a:r>
              <a:rPr sz="2800" dirty="0">
                <a:latin typeface="微软雅黑"/>
                <a:cs typeface="微软雅黑"/>
              </a:rPr>
              <a:t>个层</a:t>
            </a:r>
            <a:r>
              <a:rPr sz="2800" spc="-5" dirty="0">
                <a:latin typeface="微软雅黑"/>
                <a:cs typeface="微软雅黑"/>
              </a:rPr>
              <a:t>次</a:t>
            </a:r>
            <a:endParaRPr sz="2800">
              <a:latin typeface="微软雅黑"/>
              <a:cs typeface="微软雅黑"/>
            </a:endParaRPr>
          </a:p>
          <a:p>
            <a:pPr marL="1188085" lvl="1" indent="-47180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AutoNum type="arabicParenBoth"/>
              <a:tabLst>
                <a:tab pos="1188085" algn="l"/>
              </a:tabLst>
            </a:pPr>
            <a:r>
              <a:rPr sz="2400" dirty="0">
                <a:solidFill>
                  <a:srgbClr val="ED7A07"/>
                </a:solidFill>
                <a:latin typeface="微软雅黑"/>
                <a:cs typeface="微软雅黑"/>
              </a:rPr>
              <a:t>父类中没有的方法</a:t>
            </a:r>
            <a:r>
              <a:rPr sz="2400" dirty="0">
                <a:latin typeface="微软雅黑"/>
                <a:cs typeface="微软雅黑"/>
              </a:rPr>
              <a:t>子类对象不能调用。</a:t>
            </a:r>
            <a:endParaRPr sz="2400">
              <a:latin typeface="微软雅黑"/>
              <a:cs typeface="微软雅黑"/>
            </a:endParaRPr>
          </a:p>
          <a:p>
            <a:pPr marL="1188085" lvl="1" indent="-471805">
              <a:lnSpc>
                <a:spcPct val="100000"/>
              </a:lnSpc>
              <a:spcBef>
                <a:spcPts val="575"/>
              </a:spcBef>
              <a:buAutoNum type="arabicParenBoth"/>
              <a:tabLst>
                <a:tab pos="1188085" algn="l"/>
              </a:tabLst>
            </a:pPr>
            <a:r>
              <a:rPr sz="2400" dirty="0">
                <a:latin typeface="微软雅黑"/>
                <a:cs typeface="微软雅黑"/>
              </a:rPr>
              <a:t>如果</a:t>
            </a:r>
            <a:r>
              <a:rPr sz="2400" dirty="0">
                <a:solidFill>
                  <a:srgbClr val="ED7A07"/>
                </a:solidFill>
                <a:latin typeface="微软雅黑"/>
                <a:cs typeface="微软雅黑"/>
              </a:rPr>
              <a:t>子类没有覆盖父类的方法</a:t>
            </a:r>
            <a:r>
              <a:rPr sz="2400" dirty="0">
                <a:latin typeface="微软雅黑"/>
                <a:cs typeface="微软雅黑"/>
              </a:rPr>
              <a:t>则调用父类的方法。</a:t>
            </a:r>
            <a:endParaRPr sz="2400">
              <a:latin typeface="微软雅黑"/>
              <a:cs typeface="微软雅黑"/>
            </a:endParaRPr>
          </a:p>
          <a:p>
            <a:pPr marL="1188085" lvl="1" indent="-471805">
              <a:lnSpc>
                <a:spcPct val="100000"/>
              </a:lnSpc>
              <a:spcBef>
                <a:spcPts val="575"/>
              </a:spcBef>
              <a:buAutoNum type="arabicParenBoth"/>
              <a:tabLst>
                <a:tab pos="1188085" algn="l"/>
              </a:tabLst>
            </a:pPr>
            <a:r>
              <a:rPr sz="2400" dirty="0">
                <a:latin typeface="微软雅黑"/>
                <a:cs typeface="微软雅黑"/>
              </a:rPr>
              <a:t>如果</a:t>
            </a:r>
            <a:r>
              <a:rPr sz="2400" dirty="0">
                <a:solidFill>
                  <a:srgbClr val="ED7A07"/>
                </a:solidFill>
                <a:latin typeface="微软雅黑"/>
                <a:cs typeface="微软雅黑"/>
              </a:rPr>
              <a:t>子类覆盖父类的方法</a:t>
            </a:r>
            <a:r>
              <a:rPr sz="2400" dirty="0">
                <a:latin typeface="微软雅黑"/>
                <a:cs typeface="微软雅黑"/>
              </a:rPr>
              <a:t>则调用子类的方法。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111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父类对象转换为子类对</a:t>
            </a:r>
            <a:r>
              <a:rPr sz="2800" spc="-5" dirty="0">
                <a:latin typeface="微软雅黑"/>
                <a:cs typeface="微软雅黑"/>
              </a:rPr>
              <a:t>象</a:t>
            </a:r>
            <a:endParaRPr sz="2800">
              <a:latin typeface="微软雅黑"/>
              <a:cs typeface="微软雅黑"/>
            </a:endParaRPr>
          </a:p>
          <a:p>
            <a:pPr marL="527050" indent="-171450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必须使用强制类型转换。</a:t>
            </a:r>
            <a:endParaRPr sz="2400">
              <a:latin typeface="微软雅黑"/>
              <a:cs typeface="微软雅黑"/>
            </a:endParaRPr>
          </a:p>
          <a:p>
            <a:pPr marL="527050" indent="-17145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必须在有意义的情况下才能进行。</a:t>
            </a:r>
            <a:endParaRPr sz="2400">
              <a:latin typeface="微软雅黑"/>
              <a:cs typeface="微软雅黑"/>
            </a:endParaRPr>
          </a:p>
          <a:p>
            <a:pPr marL="527050" marR="82550" indent="-171450">
              <a:lnSpc>
                <a:spcPct val="10990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在做强制类型转换前，应使用in</a:t>
            </a:r>
            <a:r>
              <a:rPr sz="2400" spc="-5" dirty="0">
                <a:latin typeface="微软雅黑"/>
                <a:cs typeface="微软雅黑"/>
              </a:rPr>
              <a:t>s</a:t>
            </a:r>
            <a:r>
              <a:rPr sz="2400" dirty="0">
                <a:latin typeface="微软雅黑"/>
                <a:cs typeface="微软雅黑"/>
              </a:rPr>
              <a:t>t</a:t>
            </a:r>
            <a:r>
              <a:rPr sz="2400" spc="-5" dirty="0">
                <a:latin typeface="微软雅黑"/>
                <a:cs typeface="微软雅黑"/>
              </a:rPr>
              <a:t>a</a:t>
            </a:r>
            <a:r>
              <a:rPr sz="2400" dirty="0">
                <a:latin typeface="微软雅黑"/>
                <a:cs typeface="微软雅黑"/>
              </a:rPr>
              <a:t>nc</a:t>
            </a:r>
            <a:r>
              <a:rPr sz="2400" spc="-5" dirty="0">
                <a:latin typeface="微软雅黑"/>
                <a:cs typeface="微软雅黑"/>
              </a:rPr>
              <a:t>e</a:t>
            </a:r>
            <a:r>
              <a:rPr sz="2400" spc="-55" dirty="0">
                <a:latin typeface="微软雅黑"/>
                <a:cs typeface="微软雅黑"/>
              </a:rPr>
              <a:t>o</a:t>
            </a:r>
            <a:r>
              <a:rPr sz="2400" spc="-5" dirty="0">
                <a:latin typeface="微软雅黑"/>
                <a:cs typeface="微软雅黑"/>
              </a:rPr>
              <a:t>f</a:t>
            </a:r>
            <a:r>
              <a:rPr sz="2400" dirty="0">
                <a:latin typeface="微软雅黑"/>
                <a:cs typeface="微软雅黑"/>
              </a:rPr>
              <a:t>运算判断引用 变量的类型。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29002" y="6309712"/>
            <a:ext cx="204470" cy="4095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  <a:p>
            <a:pPr marL="57150">
              <a:lnSpc>
                <a:spcPct val="100000"/>
              </a:lnSpc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3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70660"/>
            <a:ext cx="7577455" cy="4278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抽象</a:t>
            </a:r>
            <a:r>
              <a:rPr sz="2800" spc="-5" dirty="0">
                <a:latin typeface="微软雅黑"/>
                <a:cs typeface="微软雅黑"/>
              </a:rPr>
              <a:t>类</a:t>
            </a:r>
            <a:endParaRPr sz="28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抽象类</a:t>
            </a:r>
            <a:endParaRPr sz="24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抽象方法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接</a:t>
            </a:r>
            <a:r>
              <a:rPr sz="2800" spc="-5" dirty="0">
                <a:latin typeface="微软雅黑"/>
                <a:cs typeface="微软雅黑"/>
              </a:rPr>
              <a:t>口</a:t>
            </a:r>
            <a:endParaRPr sz="2800">
              <a:latin typeface="微软雅黑"/>
              <a:cs typeface="微软雅黑"/>
            </a:endParaRPr>
          </a:p>
          <a:p>
            <a:pPr marL="527050" lvl="1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特殊的抽象类，由常量和抽象方法组成。</a:t>
            </a:r>
            <a:endParaRPr sz="2400">
              <a:latin typeface="微软雅黑"/>
              <a:cs typeface="微软雅黑"/>
            </a:endParaRPr>
          </a:p>
          <a:p>
            <a:pPr marL="527050" marR="194945" lvl="1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接口中的所有方法默认为公开抽象方法</a:t>
            </a:r>
            <a:r>
              <a:rPr sz="2400" spc="-5" dirty="0">
                <a:latin typeface="微软雅黑"/>
                <a:cs typeface="微软雅黑"/>
              </a:rPr>
              <a:t>(public  abstract)</a:t>
            </a:r>
            <a:r>
              <a:rPr sz="2400" spc="-80" dirty="0">
                <a:latin typeface="微软雅黑"/>
                <a:cs typeface="微软雅黑"/>
              </a:rPr>
              <a:t> </a:t>
            </a:r>
            <a:r>
              <a:rPr sz="2400" dirty="0">
                <a:latin typeface="微软雅黑"/>
                <a:cs typeface="微软雅黑"/>
              </a:rPr>
              <a:t>，在类中实现接口的方法时，方法必须是 public修饰。</a:t>
            </a:r>
            <a:endParaRPr sz="2400">
              <a:latin typeface="微软雅黑"/>
              <a:cs typeface="微软雅黑"/>
            </a:endParaRPr>
          </a:p>
          <a:p>
            <a:pPr marL="527050" marR="5080" lvl="1" indent="-171450">
              <a:lnSpc>
                <a:spcPts val="259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sz="2400" dirty="0">
                <a:latin typeface="微软雅黑"/>
                <a:cs typeface="微软雅黑"/>
              </a:rPr>
              <a:t>接口中的所有属性默认为公开静态常量</a:t>
            </a:r>
            <a:r>
              <a:rPr sz="2400" spc="-5" dirty="0">
                <a:latin typeface="微软雅黑"/>
                <a:cs typeface="微软雅黑"/>
              </a:rPr>
              <a:t>(public</a:t>
            </a:r>
            <a:r>
              <a:rPr sz="2400" spc="-5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static  final)</a:t>
            </a:r>
            <a:r>
              <a:rPr sz="240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184150" algn="l"/>
              </a:tabLst>
            </a:pPr>
            <a:r>
              <a:rPr sz="2800" dirty="0">
                <a:latin typeface="微软雅黑"/>
                <a:cs typeface="微软雅黑"/>
              </a:rPr>
              <a:t>接口与抽象类的区</a:t>
            </a:r>
            <a:r>
              <a:rPr sz="2800" spc="-5" dirty="0">
                <a:latin typeface="微软雅黑"/>
                <a:cs typeface="微软雅黑"/>
              </a:rPr>
              <a:t>别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99476" y="424332"/>
            <a:ext cx="1058989" cy="26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29002" y="6309712"/>
            <a:ext cx="204470" cy="4095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10</a:t>
            </a:r>
            <a:endParaRPr sz="1200">
              <a:latin typeface="微软雅黑"/>
              <a:cs typeface="微软雅黑"/>
            </a:endParaRPr>
          </a:p>
          <a:p>
            <a:pPr marL="57150">
              <a:lnSpc>
                <a:spcPct val="100000"/>
              </a:lnSpc>
            </a:pPr>
            <a:r>
              <a:rPr sz="1200" dirty="0">
                <a:solidFill>
                  <a:srgbClr val="F1F1F1"/>
                </a:solidFill>
                <a:latin typeface="微软雅黑"/>
                <a:cs typeface="微软雅黑"/>
              </a:rPr>
              <a:t>4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5190</Words>
  <Application>Microsoft Office PowerPoint</Application>
  <PresentationFormat>全屏显示(4:3)</PresentationFormat>
  <Paragraphs>1099</Paragraphs>
  <Slides>103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5" baseType="lpstr">
      <vt:lpstr>΢</vt:lpstr>
      <vt:lpstr>仿宋</vt:lpstr>
      <vt:lpstr>华文新魏</vt:lpstr>
      <vt:lpstr>宋体</vt:lpstr>
      <vt:lpstr>微软雅黑</vt:lpstr>
      <vt:lpstr>幼圆</vt:lpstr>
      <vt:lpstr>Arial</vt:lpstr>
      <vt:lpstr>Book Antiqua</vt:lpstr>
      <vt:lpstr>Calibri</vt:lpstr>
      <vt:lpstr>Tahoma</vt:lpstr>
      <vt:lpstr>Times New Roman</vt:lpstr>
      <vt:lpstr>Office Theme</vt:lpstr>
      <vt:lpstr>PowerPoint 演示文稿</vt:lpstr>
      <vt:lpstr>PowerPoint 演示文稿</vt:lpstr>
      <vt:lpstr>6.1 多态</vt:lpstr>
      <vt:lpstr>6.1.1 多态性</vt:lpstr>
      <vt:lpstr>6.1.1 多态性</vt:lpstr>
      <vt:lpstr>6.1.1 多态性</vt:lpstr>
      <vt:lpstr>在继承层次中，把子类对象赋给父类 引用后：</vt:lpstr>
      <vt:lpstr>6.1.1 多态性</vt:lpstr>
      <vt:lpstr>PowerPoint 演示文稿</vt:lpstr>
      <vt:lpstr>PowerPoint 演示文稿</vt:lpstr>
      <vt:lpstr>PowerPoint 演示文稿</vt:lpstr>
      <vt:lpstr>6.1.2 静态绑定和动态绑定</vt:lpstr>
      <vt:lpstr>PowerPoint 演示文稿</vt:lpstr>
      <vt:lpstr>PowerPoint 演示文稿</vt:lpstr>
      <vt:lpstr>PowerPoint 演示文稿</vt:lpstr>
      <vt:lpstr>6.1.3 instanceof运算符</vt:lpstr>
      <vt:lpstr>6.1.3 instanceof运算符</vt:lpstr>
      <vt:lpstr>instanceof模式匹配（17后）</vt:lpstr>
      <vt:lpstr>6.1.3 instanceof运算符</vt:lpstr>
      <vt:lpstr>6.1.3 instanceof运算符</vt:lpstr>
      <vt:lpstr>6.1.4向上转型和向下转型的应用</vt:lpstr>
      <vt:lpstr>6.1.4向上转型和向下转型的应用</vt:lpstr>
      <vt:lpstr>PowerPoint 演示文稿</vt:lpstr>
      <vt:lpstr>PowerPoint 演示文稿</vt:lpstr>
      <vt:lpstr>6.2.1 抽象类及抽象方法的定义</vt:lpstr>
      <vt:lpstr>6.2.1 抽象类及抽象方法的定义</vt:lpstr>
      <vt:lpstr>6.2.1 抽象类及抽象方法的定义</vt:lpstr>
      <vt:lpstr>6.2.1 抽象类及抽象方法的定义</vt:lpstr>
      <vt:lpstr>6.2.1 抽象类及抽象方法的定义</vt:lpstr>
      <vt:lpstr>6.2.1 抽象类及抽象方法的定义</vt:lpstr>
      <vt:lpstr>6.2.1 抽象类及抽象方法的定义</vt:lpstr>
      <vt:lpstr>6.2.1 抽象类及抽象方法的 定义</vt:lpstr>
      <vt:lpstr>6.2.1 抽象类及抽象方法</vt:lpstr>
      <vt:lpstr> 6.2.2 为什么设计抽象类 </vt:lpstr>
      <vt:lpstr> 6.2.3 开闭原则 </vt:lpstr>
      <vt:lpstr> 6.2.3 开闭原则 </vt:lpstr>
      <vt:lpstr> 6.2.3 开闭原则 </vt:lpstr>
      <vt:lpstr> 6.2.3 开闭原则 </vt:lpstr>
      <vt:lpstr> 6.2.3 开闭原则 </vt:lpstr>
      <vt:lpstr> 6.2.3 开闭原则 </vt:lpstr>
      <vt:lpstr> 6.2.3 开闭原则 </vt:lpstr>
      <vt:lpstr>6.2.3 开闭原则</vt:lpstr>
      <vt:lpstr>PowerPoint 演示文稿</vt:lpstr>
      <vt:lpstr> 6.2.3 开闭原则 </vt:lpstr>
      <vt:lpstr> 6.3 接口 </vt:lpstr>
      <vt:lpstr> 6.3.1 接口的定义和实现 </vt:lpstr>
      <vt:lpstr> 6.3.1 接口的定义和实现 </vt:lpstr>
      <vt:lpstr> 6.3.1 接口的定义和实现 </vt:lpstr>
      <vt:lpstr> 6.3.1 接口的定义和实现 </vt:lpstr>
      <vt:lpstr> 6.3.1 接口的定义和实现 </vt:lpstr>
      <vt:lpstr> 6.3.1 接口的定义和实现 </vt:lpstr>
      <vt:lpstr> 6.3.1 接口的定义和实现 </vt:lpstr>
      <vt:lpstr> 6.3.1 接口的定义和实现 </vt:lpstr>
      <vt:lpstr> 6.3.1 接口的定义和实现 </vt:lpstr>
      <vt:lpstr> 6.3.1 接口的定义和实现 </vt:lpstr>
      <vt:lpstr> 6.3.1 接口的定义和实现 </vt:lpstr>
      <vt:lpstr>6.3.1 接口的定义和实现</vt:lpstr>
      <vt:lpstr>6.3.2 接口与抽象类的区别</vt:lpstr>
      <vt:lpstr>6.3.2 接口与抽象类的区别</vt:lpstr>
      <vt:lpstr>6.3.2 接口与抽象类的区别</vt:lpstr>
      <vt:lpstr>6.3.2 接口与抽象类的区别</vt:lpstr>
      <vt:lpstr>6.3.2 接口与抽象类的区别</vt:lpstr>
      <vt:lpstr>6.3.2 接口与抽象类的区 别</vt:lpstr>
      <vt:lpstr>6.3.2 接口与抽象类的区别</vt:lpstr>
      <vt:lpstr>6.3.2 接口与抽象类的区 别</vt:lpstr>
      <vt:lpstr>6.3.2 接口与抽象类的区别</vt:lpstr>
      <vt:lpstr>6.3.3 接口中的关键字default</vt:lpstr>
      <vt:lpstr>6.3.3 接口中的关键字default</vt:lpstr>
      <vt:lpstr>6.3.4 接口中的static关键字</vt:lpstr>
      <vt:lpstr>6.4.1 案例分析</vt:lpstr>
      <vt:lpstr> 面向接口的编程 </vt:lpstr>
      <vt:lpstr> 6.4.1 案例分析 </vt:lpstr>
      <vt:lpstr> 6.4.1 案例分析 </vt:lpstr>
      <vt:lpstr> 6.4.1 案例分析 </vt:lpstr>
      <vt:lpstr>6.4.1 案例分</vt:lpstr>
      <vt:lpstr> 6.4.1 案例分析 </vt:lpstr>
      <vt:lpstr> 6.4.1 案例分析 </vt:lpstr>
      <vt:lpstr>6.4.2 面向接口编程的代码组织</vt:lpstr>
      <vt:lpstr>PowerPoint 演示文稿</vt:lpstr>
      <vt:lpstr>6.5 综合实践--格式化输出学生对象数据</vt:lpstr>
      <vt:lpstr>6.5.1 系统架构</vt:lpstr>
      <vt:lpstr>6.5.1 系统架构</vt:lpstr>
      <vt:lpstr>6.5.1 系统架构</vt:lpstr>
      <vt:lpstr>6.5.1 系统架构</vt:lpstr>
      <vt:lpstr>6.5.2 向接口编程的代码</vt:lpstr>
      <vt:lpstr>6.5.2 向接口编程的代码</vt:lpstr>
      <vt:lpstr>6.5.2 向接口编程的代码</vt:lpstr>
      <vt:lpstr>6.5.2 向接口编程的代码</vt:lpstr>
      <vt:lpstr>6.5.2 向接口编程的代码</vt:lpstr>
      <vt:lpstr>6.5.2 向接口编程的代码</vt:lpstr>
      <vt:lpstr>6.5.2 向接口编程的代码</vt:lpstr>
      <vt:lpstr>6.6 内部类</vt:lpstr>
      <vt:lpstr>Inner class（内部类）:定义在类中的类 包含内部类的类称为外部类</vt:lpstr>
      <vt:lpstr>非静态内部类可以访问外部类的所有成员，但静 态内部类不能访问外部类的非静态成员</vt:lpstr>
      <vt:lpstr>内部类的使用：</vt:lpstr>
      <vt:lpstr>6.6.1 内部类定义及实现</vt:lpstr>
      <vt:lpstr>匿名内部类；（常用）</vt:lpstr>
      <vt:lpstr>匿名内部类；（常用）</vt:lpstr>
      <vt:lpstr>为什么使用内部类？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- Vel</cp:lastModifiedBy>
  <cp:revision>1</cp:revision>
  <dcterms:created xsi:type="dcterms:W3CDTF">2024-05-05T07:41:31Z</dcterms:created>
  <dcterms:modified xsi:type="dcterms:W3CDTF">2024-05-10T03:59:05Z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2024-05-05T00:00:00Z</vt:filetime>
  </property>
</Properties>
</file>
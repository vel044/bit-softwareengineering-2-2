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565" y="1470660"/>
            <a:ext cx="6661784" cy="45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317" y="1907540"/>
            <a:ext cx="7261859" cy="282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03602" y="6401152"/>
            <a:ext cx="25527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2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3435" y="132587"/>
            <a:ext cx="3750564" cy="6536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484375"/>
            <a:ext cx="2197735" cy="4364990"/>
          </a:xfrm>
          <a:custGeom>
            <a:avLst/>
            <a:gdLst/>
            <a:ahLst/>
            <a:cxnLst/>
            <a:rect l="l" t="t" r="r" b="b"/>
            <a:pathLst>
              <a:path w="2197735" h="4364990">
                <a:moveTo>
                  <a:pt x="0" y="0"/>
                </a:moveTo>
                <a:lnTo>
                  <a:pt x="2197608" y="0"/>
                </a:lnTo>
                <a:lnTo>
                  <a:pt x="2197608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44128" y="1484375"/>
            <a:ext cx="500380" cy="4364990"/>
          </a:xfrm>
          <a:custGeom>
            <a:avLst/>
            <a:gdLst/>
            <a:ahLst/>
            <a:cxnLst/>
            <a:rect l="l" t="t" r="r" b="b"/>
            <a:pathLst>
              <a:path w="500379" h="4364990">
                <a:moveTo>
                  <a:pt x="0" y="0"/>
                </a:moveTo>
                <a:lnTo>
                  <a:pt x="499872" y="0"/>
                </a:lnTo>
                <a:lnTo>
                  <a:pt x="499872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96083" y="1484375"/>
            <a:ext cx="283845" cy="4364990"/>
          </a:xfrm>
          <a:custGeom>
            <a:avLst/>
            <a:gdLst/>
            <a:ahLst/>
            <a:cxnLst/>
            <a:rect l="l" t="t" r="r" b="b"/>
            <a:pathLst>
              <a:path w="283844" h="4364990">
                <a:moveTo>
                  <a:pt x="0" y="0"/>
                </a:moveTo>
                <a:lnTo>
                  <a:pt x="283463" y="0"/>
                </a:lnTo>
                <a:lnTo>
                  <a:pt x="283463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40852" y="1484375"/>
            <a:ext cx="303530" cy="4364990"/>
          </a:xfrm>
          <a:custGeom>
            <a:avLst/>
            <a:gdLst/>
            <a:ahLst/>
            <a:cxnLst/>
            <a:rect l="l" t="t" r="r" b="b"/>
            <a:pathLst>
              <a:path w="303529" h="4364990">
                <a:moveTo>
                  <a:pt x="0" y="0"/>
                </a:moveTo>
                <a:lnTo>
                  <a:pt x="303275" y="0"/>
                </a:lnTo>
                <a:lnTo>
                  <a:pt x="303275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942987" y="2545155"/>
            <a:ext cx="143510" cy="221996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70" b="1">
                <a:solidFill>
                  <a:srgbClr val="FFFFFF"/>
                </a:solidFill>
                <a:latin typeface="Arial"/>
                <a:cs typeface="Arial"/>
              </a:rPr>
              <a:t>BEIJING INSTITUTE </a:t>
            </a:r>
            <a:r>
              <a:rPr dirty="0" sz="800" spc="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80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80" b="1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6029" y="3754005"/>
            <a:ext cx="409575" cy="623570"/>
          </a:xfrm>
          <a:custGeom>
            <a:avLst/>
            <a:gdLst/>
            <a:ahLst/>
            <a:cxnLst/>
            <a:rect l="l" t="t" r="r" b="b"/>
            <a:pathLst>
              <a:path w="409575" h="623570">
                <a:moveTo>
                  <a:pt x="203495" y="189229"/>
                </a:moveTo>
                <a:lnTo>
                  <a:pt x="197313" y="189229"/>
                </a:lnTo>
                <a:lnTo>
                  <a:pt x="191755" y="185420"/>
                </a:lnTo>
                <a:lnTo>
                  <a:pt x="185264" y="175260"/>
                </a:lnTo>
                <a:lnTo>
                  <a:pt x="205203" y="162560"/>
                </a:lnTo>
                <a:lnTo>
                  <a:pt x="220157" y="154939"/>
                </a:lnTo>
                <a:lnTo>
                  <a:pt x="235111" y="148589"/>
                </a:lnTo>
                <a:lnTo>
                  <a:pt x="250066" y="140970"/>
                </a:lnTo>
                <a:lnTo>
                  <a:pt x="265020" y="130810"/>
                </a:lnTo>
                <a:lnTo>
                  <a:pt x="271675" y="130810"/>
                </a:lnTo>
                <a:lnTo>
                  <a:pt x="274989" y="121920"/>
                </a:lnTo>
                <a:lnTo>
                  <a:pt x="278317" y="118110"/>
                </a:lnTo>
                <a:lnTo>
                  <a:pt x="282780" y="97789"/>
                </a:lnTo>
                <a:lnTo>
                  <a:pt x="290465" y="54610"/>
                </a:lnTo>
                <a:lnTo>
                  <a:pt x="294928" y="34289"/>
                </a:lnTo>
                <a:lnTo>
                  <a:pt x="296020" y="27939"/>
                </a:lnTo>
                <a:lnTo>
                  <a:pt x="298670" y="20320"/>
                </a:lnTo>
                <a:lnTo>
                  <a:pt x="301942" y="12700"/>
                </a:lnTo>
                <a:lnTo>
                  <a:pt x="304898" y="7620"/>
                </a:lnTo>
                <a:lnTo>
                  <a:pt x="308225" y="0"/>
                </a:lnTo>
                <a:lnTo>
                  <a:pt x="321522" y="0"/>
                </a:lnTo>
                <a:lnTo>
                  <a:pt x="321522" y="3810"/>
                </a:lnTo>
                <a:lnTo>
                  <a:pt x="324837" y="16510"/>
                </a:lnTo>
                <a:lnTo>
                  <a:pt x="324837" y="21589"/>
                </a:lnTo>
                <a:lnTo>
                  <a:pt x="313726" y="45720"/>
                </a:lnTo>
                <a:lnTo>
                  <a:pt x="308224" y="69850"/>
                </a:lnTo>
                <a:lnTo>
                  <a:pt x="305215" y="96520"/>
                </a:lnTo>
                <a:lnTo>
                  <a:pt x="301583" y="121920"/>
                </a:lnTo>
                <a:lnTo>
                  <a:pt x="317055" y="127000"/>
                </a:lnTo>
                <a:lnTo>
                  <a:pt x="358084" y="127000"/>
                </a:lnTo>
                <a:lnTo>
                  <a:pt x="364715" y="130810"/>
                </a:lnTo>
                <a:lnTo>
                  <a:pt x="359629" y="140970"/>
                </a:lnTo>
                <a:lnTo>
                  <a:pt x="353920" y="148589"/>
                </a:lnTo>
                <a:lnTo>
                  <a:pt x="334806" y="148589"/>
                </a:lnTo>
                <a:lnTo>
                  <a:pt x="313625" y="152400"/>
                </a:lnTo>
                <a:lnTo>
                  <a:pt x="312255" y="153670"/>
                </a:lnTo>
                <a:lnTo>
                  <a:pt x="271675" y="153670"/>
                </a:lnTo>
                <a:lnTo>
                  <a:pt x="255317" y="162560"/>
                </a:lnTo>
                <a:lnTo>
                  <a:pt x="240518" y="170179"/>
                </a:lnTo>
                <a:lnTo>
                  <a:pt x="226344" y="177800"/>
                </a:lnTo>
                <a:lnTo>
                  <a:pt x="211858" y="184150"/>
                </a:lnTo>
                <a:lnTo>
                  <a:pt x="203495" y="189229"/>
                </a:lnTo>
                <a:close/>
              </a:path>
              <a:path w="409575" h="623570">
                <a:moveTo>
                  <a:pt x="116431" y="144779"/>
                </a:moveTo>
                <a:lnTo>
                  <a:pt x="88896" y="144779"/>
                </a:lnTo>
                <a:lnTo>
                  <a:pt x="105463" y="130810"/>
                </a:lnTo>
                <a:lnTo>
                  <a:pt x="119224" y="115570"/>
                </a:lnTo>
                <a:lnTo>
                  <a:pt x="128623" y="95250"/>
                </a:lnTo>
                <a:lnTo>
                  <a:pt x="132102" y="69850"/>
                </a:lnTo>
                <a:lnTo>
                  <a:pt x="133192" y="59689"/>
                </a:lnTo>
                <a:lnTo>
                  <a:pt x="135839" y="48260"/>
                </a:lnTo>
                <a:lnTo>
                  <a:pt x="139110" y="36829"/>
                </a:lnTo>
                <a:lnTo>
                  <a:pt x="142071" y="25400"/>
                </a:lnTo>
                <a:lnTo>
                  <a:pt x="145386" y="21589"/>
                </a:lnTo>
                <a:lnTo>
                  <a:pt x="155355" y="12700"/>
                </a:lnTo>
                <a:lnTo>
                  <a:pt x="158683" y="12700"/>
                </a:lnTo>
                <a:lnTo>
                  <a:pt x="170884" y="19050"/>
                </a:lnTo>
                <a:lnTo>
                  <a:pt x="181530" y="30479"/>
                </a:lnTo>
                <a:lnTo>
                  <a:pt x="189062" y="46989"/>
                </a:lnTo>
                <a:lnTo>
                  <a:pt x="191919" y="64770"/>
                </a:lnTo>
                <a:lnTo>
                  <a:pt x="191919" y="78739"/>
                </a:lnTo>
                <a:lnTo>
                  <a:pt x="195233" y="82550"/>
                </a:lnTo>
                <a:lnTo>
                  <a:pt x="221512" y="113029"/>
                </a:lnTo>
                <a:lnTo>
                  <a:pt x="225975" y="127000"/>
                </a:lnTo>
                <a:lnTo>
                  <a:pt x="176492" y="127000"/>
                </a:lnTo>
                <a:lnTo>
                  <a:pt x="169899" y="128270"/>
                </a:lnTo>
                <a:lnTo>
                  <a:pt x="165174" y="135889"/>
                </a:lnTo>
                <a:lnTo>
                  <a:pt x="164225" y="139700"/>
                </a:lnTo>
                <a:lnTo>
                  <a:pt x="118805" y="139700"/>
                </a:lnTo>
                <a:lnTo>
                  <a:pt x="116431" y="144779"/>
                </a:lnTo>
                <a:close/>
              </a:path>
              <a:path w="409575" h="623570">
                <a:moveTo>
                  <a:pt x="72285" y="250189"/>
                </a:moveTo>
                <a:lnTo>
                  <a:pt x="64808" y="247650"/>
                </a:lnTo>
                <a:lnTo>
                  <a:pt x="49853" y="243839"/>
                </a:lnTo>
                <a:lnTo>
                  <a:pt x="42376" y="241300"/>
                </a:lnTo>
                <a:lnTo>
                  <a:pt x="31831" y="233679"/>
                </a:lnTo>
                <a:lnTo>
                  <a:pt x="25339" y="222250"/>
                </a:lnTo>
                <a:lnTo>
                  <a:pt x="23210" y="208279"/>
                </a:lnTo>
                <a:lnTo>
                  <a:pt x="25752" y="193039"/>
                </a:lnTo>
                <a:lnTo>
                  <a:pt x="27728" y="185420"/>
                </a:lnTo>
                <a:lnTo>
                  <a:pt x="30431" y="167639"/>
                </a:lnTo>
                <a:lnTo>
                  <a:pt x="49849" y="114300"/>
                </a:lnTo>
                <a:lnTo>
                  <a:pt x="82254" y="87629"/>
                </a:lnTo>
                <a:lnTo>
                  <a:pt x="85832" y="85089"/>
                </a:lnTo>
                <a:lnTo>
                  <a:pt x="90971" y="86360"/>
                </a:lnTo>
                <a:lnTo>
                  <a:pt x="96736" y="90170"/>
                </a:lnTo>
                <a:lnTo>
                  <a:pt x="102193" y="96520"/>
                </a:lnTo>
                <a:lnTo>
                  <a:pt x="104943" y="100329"/>
                </a:lnTo>
                <a:lnTo>
                  <a:pt x="104268" y="105410"/>
                </a:lnTo>
                <a:lnTo>
                  <a:pt x="101724" y="111760"/>
                </a:lnTo>
                <a:lnTo>
                  <a:pt x="98866" y="118110"/>
                </a:lnTo>
                <a:lnTo>
                  <a:pt x="94974" y="123189"/>
                </a:lnTo>
                <a:lnTo>
                  <a:pt x="92638" y="129539"/>
                </a:lnTo>
                <a:lnTo>
                  <a:pt x="90924" y="137160"/>
                </a:lnTo>
                <a:lnTo>
                  <a:pt x="88896" y="144779"/>
                </a:lnTo>
                <a:lnTo>
                  <a:pt x="116431" y="144779"/>
                </a:lnTo>
                <a:lnTo>
                  <a:pt x="106344" y="166370"/>
                </a:lnTo>
                <a:lnTo>
                  <a:pt x="81418" y="217170"/>
                </a:lnTo>
                <a:lnTo>
                  <a:pt x="68957" y="241300"/>
                </a:lnTo>
                <a:lnTo>
                  <a:pt x="68957" y="245110"/>
                </a:lnTo>
                <a:lnTo>
                  <a:pt x="72285" y="250189"/>
                </a:lnTo>
                <a:close/>
              </a:path>
              <a:path w="409575" h="623570">
                <a:moveTo>
                  <a:pt x="358084" y="127000"/>
                </a:moveTo>
                <a:lnTo>
                  <a:pt x="317055" y="127000"/>
                </a:lnTo>
                <a:lnTo>
                  <a:pt x="333149" y="123189"/>
                </a:lnTo>
                <a:lnTo>
                  <a:pt x="349243" y="121920"/>
                </a:lnTo>
                <a:lnTo>
                  <a:pt x="358084" y="127000"/>
                </a:lnTo>
                <a:close/>
              </a:path>
              <a:path w="409575" h="623570">
                <a:moveTo>
                  <a:pt x="217671" y="144779"/>
                </a:moveTo>
                <a:lnTo>
                  <a:pt x="208530" y="144779"/>
                </a:lnTo>
                <a:lnTo>
                  <a:pt x="203495" y="140970"/>
                </a:lnTo>
                <a:lnTo>
                  <a:pt x="198145" y="138429"/>
                </a:lnTo>
                <a:lnTo>
                  <a:pt x="192171" y="134620"/>
                </a:lnTo>
                <a:lnTo>
                  <a:pt x="185264" y="130810"/>
                </a:lnTo>
                <a:lnTo>
                  <a:pt x="176492" y="127000"/>
                </a:lnTo>
                <a:lnTo>
                  <a:pt x="225975" y="127000"/>
                </a:lnTo>
                <a:lnTo>
                  <a:pt x="227224" y="134620"/>
                </a:lnTo>
                <a:lnTo>
                  <a:pt x="224318" y="142239"/>
                </a:lnTo>
                <a:lnTo>
                  <a:pt x="217671" y="144779"/>
                </a:lnTo>
                <a:close/>
              </a:path>
              <a:path w="409575" h="623570">
                <a:moveTo>
                  <a:pt x="47356" y="377189"/>
                </a:moveTo>
                <a:lnTo>
                  <a:pt x="29910" y="368300"/>
                </a:lnTo>
                <a:lnTo>
                  <a:pt x="12468" y="355600"/>
                </a:lnTo>
                <a:lnTo>
                  <a:pt x="3117" y="347979"/>
                </a:lnTo>
                <a:lnTo>
                  <a:pt x="0" y="339089"/>
                </a:lnTo>
                <a:lnTo>
                  <a:pt x="3117" y="330200"/>
                </a:lnTo>
                <a:lnTo>
                  <a:pt x="12468" y="320039"/>
                </a:lnTo>
                <a:lnTo>
                  <a:pt x="37335" y="303529"/>
                </a:lnTo>
                <a:lnTo>
                  <a:pt x="61895" y="284479"/>
                </a:lnTo>
                <a:lnTo>
                  <a:pt x="85832" y="265429"/>
                </a:lnTo>
                <a:lnTo>
                  <a:pt x="108835" y="245110"/>
                </a:lnTo>
                <a:lnTo>
                  <a:pt x="112163" y="241300"/>
                </a:lnTo>
                <a:lnTo>
                  <a:pt x="118805" y="237489"/>
                </a:lnTo>
                <a:lnTo>
                  <a:pt x="118805" y="228600"/>
                </a:lnTo>
                <a:lnTo>
                  <a:pt x="120728" y="207010"/>
                </a:lnTo>
                <a:lnTo>
                  <a:pt x="121716" y="186689"/>
                </a:lnTo>
                <a:lnTo>
                  <a:pt x="122016" y="168910"/>
                </a:lnTo>
                <a:lnTo>
                  <a:pt x="122132" y="139700"/>
                </a:lnTo>
                <a:lnTo>
                  <a:pt x="164225" y="139700"/>
                </a:lnTo>
                <a:lnTo>
                  <a:pt x="162010" y="148589"/>
                </a:lnTo>
                <a:lnTo>
                  <a:pt x="157437" y="185420"/>
                </a:lnTo>
                <a:lnTo>
                  <a:pt x="155433" y="219710"/>
                </a:lnTo>
                <a:lnTo>
                  <a:pt x="155462" y="222250"/>
                </a:lnTo>
                <a:lnTo>
                  <a:pt x="158267" y="256539"/>
                </a:lnTo>
                <a:lnTo>
                  <a:pt x="168652" y="289560"/>
                </a:lnTo>
                <a:lnTo>
                  <a:pt x="206282" y="289560"/>
                </a:lnTo>
                <a:lnTo>
                  <a:pt x="206817" y="290829"/>
                </a:lnTo>
                <a:lnTo>
                  <a:pt x="211858" y="302260"/>
                </a:lnTo>
                <a:lnTo>
                  <a:pt x="388813" y="302260"/>
                </a:lnTo>
                <a:lnTo>
                  <a:pt x="381334" y="306070"/>
                </a:lnTo>
                <a:lnTo>
                  <a:pt x="371366" y="309879"/>
                </a:lnTo>
                <a:lnTo>
                  <a:pt x="361400" y="311150"/>
                </a:lnTo>
                <a:lnTo>
                  <a:pt x="288286" y="311150"/>
                </a:lnTo>
                <a:lnTo>
                  <a:pt x="278316" y="321310"/>
                </a:lnTo>
                <a:lnTo>
                  <a:pt x="268347" y="328929"/>
                </a:lnTo>
                <a:lnTo>
                  <a:pt x="258379" y="335279"/>
                </a:lnTo>
                <a:lnTo>
                  <a:pt x="248408" y="342900"/>
                </a:lnTo>
                <a:lnTo>
                  <a:pt x="235430" y="351789"/>
                </a:lnTo>
                <a:lnTo>
                  <a:pt x="230328" y="355600"/>
                </a:lnTo>
                <a:lnTo>
                  <a:pt x="82254" y="355600"/>
                </a:lnTo>
                <a:lnTo>
                  <a:pt x="64805" y="374650"/>
                </a:lnTo>
                <a:lnTo>
                  <a:pt x="47356" y="377189"/>
                </a:lnTo>
                <a:close/>
              </a:path>
              <a:path w="409575" h="623570">
                <a:moveTo>
                  <a:pt x="346963" y="153670"/>
                </a:moveTo>
                <a:lnTo>
                  <a:pt x="338134" y="153670"/>
                </a:lnTo>
                <a:lnTo>
                  <a:pt x="338134" y="148589"/>
                </a:lnTo>
                <a:lnTo>
                  <a:pt x="353920" y="148589"/>
                </a:lnTo>
                <a:lnTo>
                  <a:pt x="346963" y="153670"/>
                </a:lnTo>
                <a:close/>
              </a:path>
              <a:path w="409575" h="623570">
                <a:moveTo>
                  <a:pt x="294550" y="205739"/>
                </a:moveTo>
                <a:lnTo>
                  <a:pt x="265020" y="205739"/>
                </a:lnTo>
                <a:lnTo>
                  <a:pt x="265592" y="195579"/>
                </a:lnTo>
                <a:lnTo>
                  <a:pt x="267100" y="182879"/>
                </a:lnTo>
                <a:lnTo>
                  <a:pt x="269231" y="168910"/>
                </a:lnTo>
                <a:lnTo>
                  <a:pt x="271675" y="153670"/>
                </a:lnTo>
                <a:lnTo>
                  <a:pt x="312255" y="153670"/>
                </a:lnTo>
                <a:lnTo>
                  <a:pt x="299918" y="165100"/>
                </a:lnTo>
                <a:lnTo>
                  <a:pt x="293685" y="185420"/>
                </a:lnTo>
                <a:lnTo>
                  <a:pt x="294550" y="205739"/>
                </a:lnTo>
                <a:close/>
              </a:path>
              <a:path w="409575" h="623570">
                <a:moveTo>
                  <a:pt x="388813" y="302260"/>
                </a:moveTo>
                <a:lnTo>
                  <a:pt x="211858" y="302260"/>
                </a:lnTo>
                <a:lnTo>
                  <a:pt x="248408" y="254000"/>
                </a:lnTo>
                <a:lnTo>
                  <a:pt x="245081" y="245110"/>
                </a:lnTo>
                <a:lnTo>
                  <a:pt x="245081" y="241300"/>
                </a:lnTo>
                <a:lnTo>
                  <a:pt x="241607" y="234950"/>
                </a:lnTo>
                <a:lnTo>
                  <a:pt x="233406" y="223520"/>
                </a:lnTo>
                <a:lnTo>
                  <a:pt x="231797" y="219710"/>
                </a:lnTo>
                <a:lnTo>
                  <a:pt x="235427" y="210820"/>
                </a:lnTo>
                <a:lnTo>
                  <a:pt x="240928" y="205739"/>
                </a:lnTo>
                <a:lnTo>
                  <a:pt x="247677" y="204470"/>
                </a:lnTo>
                <a:lnTo>
                  <a:pt x="255050" y="205739"/>
                </a:lnTo>
                <a:lnTo>
                  <a:pt x="294550" y="205739"/>
                </a:lnTo>
                <a:lnTo>
                  <a:pt x="294928" y="214629"/>
                </a:lnTo>
                <a:lnTo>
                  <a:pt x="297994" y="224789"/>
                </a:lnTo>
                <a:lnTo>
                  <a:pt x="301993" y="234950"/>
                </a:lnTo>
                <a:lnTo>
                  <a:pt x="306616" y="246379"/>
                </a:lnTo>
                <a:lnTo>
                  <a:pt x="311553" y="259079"/>
                </a:lnTo>
                <a:lnTo>
                  <a:pt x="394061" y="259079"/>
                </a:lnTo>
                <a:lnTo>
                  <a:pt x="404606" y="267970"/>
                </a:lnTo>
                <a:lnTo>
                  <a:pt x="408290" y="274320"/>
                </a:lnTo>
                <a:lnTo>
                  <a:pt x="409171" y="281939"/>
                </a:lnTo>
                <a:lnTo>
                  <a:pt x="406938" y="289560"/>
                </a:lnTo>
                <a:lnTo>
                  <a:pt x="401278" y="294639"/>
                </a:lnTo>
                <a:lnTo>
                  <a:pt x="391306" y="300989"/>
                </a:lnTo>
                <a:lnTo>
                  <a:pt x="388813" y="302260"/>
                </a:lnTo>
                <a:close/>
              </a:path>
              <a:path w="409575" h="623570">
                <a:moveTo>
                  <a:pt x="394061" y="259079"/>
                </a:moveTo>
                <a:lnTo>
                  <a:pt x="311553" y="259079"/>
                </a:lnTo>
                <a:lnTo>
                  <a:pt x="333565" y="256539"/>
                </a:lnTo>
                <a:lnTo>
                  <a:pt x="345664" y="252729"/>
                </a:lnTo>
                <a:lnTo>
                  <a:pt x="358073" y="250189"/>
                </a:lnTo>
                <a:lnTo>
                  <a:pt x="370482" y="248920"/>
                </a:lnTo>
                <a:lnTo>
                  <a:pt x="382582" y="252729"/>
                </a:lnTo>
                <a:lnTo>
                  <a:pt x="394061" y="259079"/>
                </a:lnTo>
                <a:close/>
              </a:path>
              <a:path w="409575" h="623570">
                <a:moveTo>
                  <a:pt x="206282" y="289560"/>
                </a:moveTo>
                <a:lnTo>
                  <a:pt x="168652" y="289560"/>
                </a:lnTo>
                <a:lnTo>
                  <a:pt x="173636" y="283210"/>
                </a:lnTo>
                <a:lnTo>
                  <a:pt x="178622" y="275589"/>
                </a:lnTo>
                <a:lnTo>
                  <a:pt x="183608" y="266700"/>
                </a:lnTo>
                <a:lnTo>
                  <a:pt x="188591" y="254000"/>
                </a:lnTo>
                <a:lnTo>
                  <a:pt x="195497" y="266700"/>
                </a:lnTo>
                <a:lnTo>
                  <a:pt x="201468" y="278129"/>
                </a:lnTo>
                <a:lnTo>
                  <a:pt x="206282" y="289560"/>
                </a:lnTo>
                <a:close/>
              </a:path>
              <a:path w="409575" h="623570">
                <a:moveTo>
                  <a:pt x="265020" y="527050"/>
                </a:moveTo>
                <a:lnTo>
                  <a:pt x="250589" y="519429"/>
                </a:lnTo>
                <a:lnTo>
                  <a:pt x="241761" y="506729"/>
                </a:lnTo>
                <a:lnTo>
                  <a:pt x="237918" y="492760"/>
                </a:lnTo>
                <a:lnTo>
                  <a:pt x="238439" y="474979"/>
                </a:lnTo>
                <a:lnTo>
                  <a:pt x="247162" y="431800"/>
                </a:lnTo>
                <a:lnTo>
                  <a:pt x="258376" y="391160"/>
                </a:lnTo>
                <a:lnTo>
                  <a:pt x="272084" y="351789"/>
                </a:lnTo>
                <a:lnTo>
                  <a:pt x="288286" y="311150"/>
                </a:lnTo>
                <a:lnTo>
                  <a:pt x="361400" y="311150"/>
                </a:lnTo>
                <a:lnTo>
                  <a:pt x="345664" y="312420"/>
                </a:lnTo>
                <a:lnTo>
                  <a:pt x="332733" y="321310"/>
                </a:lnTo>
                <a:lnTo>
                  <a:pt x="321674" y="332739"/>
                </a:lnTo>
                <a:lnTo>
                  <a:pt x="311553" y="346710"/>
                </a:lnTo>
                <a:lnTo>
                  <a:pt x="319496" y="349250"/>
                </a:lnTo>
                <a:lnTo>
                  <a:pt x="327750" y="351789"/>
                </a:lnTo>
                <a:lnTo>
                  <a:pt x="335382" y="354329"/>
                </a:lnTo>
                <a:lnTo>
                  <a:pt x="341461" y="359410"/>
                </a:lnTo>
                <a:lnTo>
                  <a:pt x="346391" y="364489"/>
                </a:lnTo>
                <a:lnTo>
                  <a:pt x="351010" y="372110"/>
                </a:lnTo>
                <a:lnTo>
                  <a:pt x="354341" y="378460"/>
                </a:lnTo>
                <a:lnTo>
                  <a:pt x="318192" y="378460"/>
                </a:lnTo>
                <a:lnTo>
                  <a:pt x="308117" y="381000"/>
                </a:lnTo>
                <a:lnTo>
                  <a:pt x="294928" y="394970"/>
                </a:lnTo>
                <a:lnTo>
                  <a:pt x="301371" y="403860"/>
                </a:lnTo>
                <a:lnTo>
                  <a:pt x="309057" y="410210"/>
                </a:lnTo>
                <a:lnTo>
                  <a:pt x="315495" y="419100"/>
                </a:lnTo>
                <a:lnTo>
                  <a:pt x="315945" y="421639"/>
                </a:lnTo>
                <a:lnTo>
                  <a:pt x="288286" y="421639"/>
                </a:lnTo>
                <a:lnTo>
                  <a:pt x="280911" y="433070"/>
                </a:lnTo>
                <a:lnTo>
                  <a:pt x="279144" y="440689"/>
                </a:lnTo>
                <a:lnTo>
                  <a:pt x="283609" y="445770"/>
                </a:lnTo>
                <a:lnTo>
                  <a:pt x="294928" y="452120"/>
                </a:lnTo>
                <a:lnTo>
                  <a:pt x="305993" y="463550"/>
                </a:lnTo>
                <a:lnTo>
                  <a:pt x="313628" y="474979"/>
                </a:lnTo>
                <a:lnTo>
                  <a:pt x="271675" y="474979"/>
                </a:lnTo>
                <a:lnTo>
                  <a:pt x="269699" y="487679"/>
                </a:lnTo>
                <a:lnTo>
                  <a:pt x="266996" y="514350"/>
                </a:lnTo>
                <a:lnTo>
                  <a:pt x="265020" y="527050"/>
                </a:lnTo>
                <a:close/>
              </a:path>
              <a:path w="409575" h="623570">
                <a:moveTo>
                  <a:pt x="76069" y="530860"/>
                </a:moveTo>
                <a:lnTo>
                  <a:pt x="65630" y="527050"/>
                </a:lnTo>
                <a:lnTo>
                  <a:pt x="55610" y="518160"/>
                </a:lnTo>
                <a:lnTo>
                  <a:pt x="50263" y="505460"/>
                </a:lnTo>
                <a:lnTo>
                  <a:pt x="49278" y="490220"/>
                </a:lnTo>
                <a:lnTo>
                  <a:pt x="52346" y="474979"/>
                </a:lnTo>
                <a:lnTo>
                  <a:pt x="74777" y="387350"/>
                </a:lnTo>
                <a:lnTo>
                  <a:pt x="82254" y="355600"/>
                </a:lnTo>
                <a:lnTo>
                  <a:pt x="230328" y="355600"/>
                </a:lnTo>
                <a:lnTo>
                  <a:pt x="208219" y="372110"/>
                </a:lnTo>
                <a:lnTo>
                  <a:pt x="195233" y="382270"/>
                </a:lnTo>
                <a:lnTo>
                  <a:pt x="191919" y="382270"/>
                </a:lnTo>
                <a:lnTo>
                  <a:pt x="185264" y="386079"/>
                </a:lnTo>
                <a:lnTo>
                  <a:pt x="175294" y="386079"/>
                </a:lnTo>
                <a:lnTo>
                  <a:pt x="159825" y="430529"/>
                </a:lnTo>
                <a:lnTo>
                  <a:pt x="158683" y="443229"/>
                </a:lnTo>
                <a:lnTo>
                  <a:pt x="159112" y="466089"/>
                </a:lnTo>
                <a:lnTo>
                  <a:pt x="118805" y="466089"/>
                </a:lnTo>
                <a:lnTo>
                  <a:pt x="115791" y="474979"/>
                </a:lnTo>
                <a:lnTo>
                  <a:pt x="108521" y="491489"/>
                </a:lnTo>
                <a:lnTo>
                  <a:pt x="105508" y="500379"/>
                </a:lnTo>
                <a:lnTo>
                  <a:pt x="96941" y="516889"/>
                </a:lnTo>
                <a:lnTo>
                  <a:pt x="86817" y="527050"/>
                </a:lnTo>
                <a:lnTo>
                  <a:pt x="76069" y="530860"/>
                </a:lnTo>
                <a:close/>
              </a:path>
              <a:path w="409575" h="623570">
                <a:moveTo>
                  <a:pt x="367159" y="571500"/>
                </a:moveTo>
                <a:lnTo>
                  <a:pt x="328164" y="571500"/>
                </a:lnTo>
                <a:lnTo>
                  <a:pt x="328164" y="566420"/>
                </a:lnTo>
                <a:lnTo>
                  <a:pt x="331492" y="566420"/>
                </a:lnTo>
                <a:lnTo>
                  <a:pt x="331492" y="403860"/>
                </a:lnTo>
                <a:lnTo>
                  <a:pt x="325775" y="386079"/>
                </a:lnTo>
                <a:lnTo>
                  <a:pt x="318192" y="378460"/>
                </a:lnTo>
                <a:lnTo>
                  <a:pt x="354341" y="378460"/>
                </a:lnTo>
                <a:lnTo>
                  <a:pt x="355008" y="379729"/>
                </a:lnTo>
                <a:lnTo>
                  <a:pt x="358073" y="386079"/>
                </a:lnTo>
                <a:lnTo>
                  <a:pt x="360940" y="445770"/>
                </a:lnTo>
                <a:lnTo>
                  <a:pt x="367159" y="571500"/>
                </a:lnTo>
                <a:close/>
              </a:path>
              <a:path w="409575" h="623570">
                <a:moveTo>
                  <a:pt x="318195" y="434339"/>
                </a:moveTo>
                <a:lnTo>
                  <a:pt x="288286" y="421639"/>
                </a:lnTo>
                <a:lnTo>
                  <a:pt x="315945" y="421639"/>
                </a:lnTo>
                <a:lnTo>
                  <a:pt x="318195" y="434339"/>
                </a:lnTo>
                <a:close/>
              </a:path>
              <a:path w="409575" h="623570">
                <a:moveTo>
                  <a:pt x="165325" y="601979"/>
                </a:moveTo>
                <a:lnTo>
                  <a:pt x="131474" y="581660"/>
                </a:lnTo>
                <a:lnTo>
                  <a:pt x="121922" y="563879"/>
                </a:lnTo>
                <a:lnTo>
                  <a:pt x="122132" y="548639"/>
                </a:lnTo>
                <a:lnTo>
                  <a:pt x="125452" y="529589"/>
                </a:lnTo>
                <a:lnTo>
                  <a:pt x="126280" y="509270"/>
                </a:lnTo>
                <a:lnTo>
                  <a:pt x="125447" y="469900"/>
                </a:lnTo>
                <a:lnTo>
                  <a:pt x="122132" y="469900"/>
                </a:lnTo>
                <a:lnTo>
                  <a:pt x="118805" y="466089"/>
                </a:lnTo>
                <a:lnTo>
                  <a:pt x="159112" y="466089"/>
                </a:lnTo>
                <a:lnTo>
                  <a:pt x="159255" y="473710"/>
                </a:lnTo>
                <a:lnTo>
                  <a:pt x="160761" y="502920"/>
                </a:lnTo>
                <a:lnTo>
                  <a:pt x="162889" y="532129"/>
                </a:lnTo>
                <a:lnTo>
                  <a:pt x="165325" y="562610"/>
                </a:lnTo>
                <a:lnTo>
                  <a:pt x="165325" y="601979"/>
                </a:lnTo>
                <a:close/>
              </a:path>
              <a:path w="409575" h="623570">
                <a:moveTo>
                  <a:pt x="305474" y="497839"/>
                </a:moveTo>
                <a:lnTo>
                  <a:pt x="297013" y="495300"/>
                </a:lnTo>
                <a:lnTo>
                  <a:pt x="289173" y="490220"/>
                </a:lnTo>
                <a:lnTo>
                  <a:pt x="281644" y="482600"/>
                </a:lnTo>
                <a:lnTo>
                  <a:pt x="278317" y="482600"/>
                </a:lnTo>
                <a:lnTo>
                  <a:pt x="271675" y="474979"/>
                </a:lnTo>
                <a:lnTo>
                  <a:pt x="313628" y="474979"/>
                </a:lnTo>
                <a:lnTo>
                  <a:pt x="316897" y="486410"/>
                </a:lnTo>
                <a:lnTo>
                  <a:pt x="314867" y="491489"/>
                </a:lnTo>
                <a:lnTo>
                  <a:pt x="305474" y="497839"/>
                </a:lnTo>
                <a:close/>
              </a:path>
              <a:path w="409575" h="623570">
                <a:moveTo>
                  <a:pt x="361400" y="623570"/>
                </a:moveTo>
                <a:lnTo>
                  <a:pt x="353975" y="621029"/>
                </a:lnTo>
                <a:lnTo>
                  <a:pt x="346860" y="619760"/>
                </a:lnTo>
                <a:lnTo>
                  <a:pt x="340367" y="617220"/>
                </a:lnTo>
                <a:lnTo>
                  <a:pt x="312377" y="586739"/>
                </a:lnTo>
                <a:lnTo>
                  <a:pt x="294928" y="557529"/>
                </a:lnTo>
                <a:lnTo>
                  <a:pt x="291614" y="553720"/>
                </a:lnTo>
                <a:lnTo>
                  <a:pt x="291614" y="539750"/>
                </a:lnTo>
                <a:lnTo>
                  <a:pt x="299661" y="547370"/>
                </a:lnTo>
                <a:lnTo>
                  <a:pt x="308641" y="553720"/>
                </a:lnTo>
                <a:lnTo>
                  <a:pt x="318246" y="562610"/>
                </a:lnTo>
                <a:lnTo>
                  <a:pt x="328164" y="571500"/>
                </a:lnTo>
                <a:lnTo>
                  <a:pt x="367159" y="571500"/>
                </a:lnTo>
                <a:lnTo>
                  <a:pt x="368042" y="589279"/>
                </a:lnTo>
                <a:lnTo>
                  <a:pt x="367004" y="598170"/>
                </a:lnTo>
                <a:lnTo>
                  <a:pt x="364721" y="608329"/>
                </a:lnTo>
                <a:lnTo>
                  <a:pt x="362438" y="615950"/>
                </a:lnTo>
                <a:lnTo>
                  <a:pt x="361400" y="623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3402" y="4802526"/>
            <a:ext cx="229870" cy="461009"/>
          </a:xfrm>
          <a:custGeom>
            <a:avLst/>
            <a:gdLst/>
            <a:ahLst/>
            <a:cxnLst/>
            <a:rect l="l" t="t" r="r" b="b"/>
            <a:pathLst>
              <a:path w="229870" h="461010">
                <a:moveTo>
                  <a:pt x="72342" y="460712"/>
                </a:moveTo>
                <a:lnTo>
                  <a:pt x="31705" y="429614"/>
                </a:lnTo>
                <a:lnTo>
                  <a:pt x="7729" y="370729"/>
                </a:lnTo>
                <a:lnTo>
                  <a:pt x="1346" y="337989"/>
                </a:lnTo>
                <a:lnTo>
                  <a:pt x="0" y="331380"/>
                </a:lnTo>
                <a:lnTo>
                  <a:pt x="519" y="324776"/>
                </a:lnTo>
                <a:lnTo>
                  <a:pt x="2284" y="318174"/>
                </a:lnTo>
                <a:lnTo>
                  <a:pt x="5135" y="310330"/>
                </a:lnTo>
                <a:lnTo>
                  <a:pt x="22112" y="264652"/>
                </a:lnTo>
                <a:lnTo>
                  <a:pt x="56983" y="169162"/>
                </a:lnTo>
                <a:lnTo>
                  <a:pt x="74422" y="122241"/>
                </a:lnTo>
                <a:lnTo>
                  <a:pt x="74422" y="109033"/>
                </a:lnTo>
                <a:lnTo>
                  <a:pt x="71094" y="100232"/>
                </a:lnTo>
                <a:lnTo>
                  <a:pt x="63107" y="90257"/>
                </a:lnTo>
                <a:lnTo>
                  <a:pt x="54494" y="79869"/>
                </a:lnTo>
                <a:lnTo>
                  <a:pt x="45879" y="68655"/>
                </a:lnTo>
                <a:lnTo>
                  <a:pt x="37884" y="56201"/>
                </a:lnTo>
                <a:lnTo>
                  <a:pt x="34771" y="47121"/>
                </a:lnTo>
                <a:lnTo>
                  <a:pt x="35396" y="39693"/>
                </a:lnTo>
                <a:lnTo>
                  <a:pt x="39757" y="33914"/>
                </a:lnTo>
                <a:lnTo>
                  <a:pt x="47853" y="29785"/>
                </a:lnTo>
                <a:lnTo>
                  <a:pt x="62278" y="25730"/>
                </a:lnTo>
                <a:lnTo>
                  <a:pt x="76079" y="20433"/>
                </a:lnTo>
                <a:lnTo>
                  <a:pt x="104305" y="7776"/>
                </a:lnTo>
                <a:lnTo>
                  <a:pt x="134253" y="0"/>
                </a:lnTo>
                <a:lnTo>
                  <a:pt x="162017" y="8325"/>
                </a:lnTo>
                <a:lnTo>
                  <a:pt x="184175" y="30686"/>
                </a:lnTo>
                <a:lnTo>
                  <a:pt x="197307" y="65015"/>
                </a:lnTo>
                <a:lnTo>
                  <a:pt x="198653" y="74852"/>
                </a:lnTo>
                <a:lnTo>
                  <a:pt x="198134" y="84276"/>
                </a:lnTo>
                <a:lnTo>
                  <a:pt x="196369" y="92874"/>
                </a:lnTo>
                <a:lnTo>
                  <a:pt x="193979" y="100232"/>
                </a:lnTo>
                <a:lnTo>
                  <a:pt x="188480" y="110826"/>
                </a:lnTo>
                <a:lnTo>
                  <a:pt x="176238" y="133668"/>
                </a:lnTo>
                <a:lnTo>
                  <a:pt x="170738" y="144263"/>
                </a:lnTo>
                <a:lnTo>
                  <a:pt x="110947" y="302759"/>
                </a:lnTo>
                <a:lnTo>
                  <a:pt x="110947" y="311573"/>
                </a:lnTo>
                <a:lnTo>
                  <a:pt x="107632" y="320374"/>
                </a:lnTo>
                <a:lnTo>
                  <a:pt x="215604" y="320374"/>
                </a:lnTo>
                <a:lnTo>
                  <a:pt x="223045" y="334682"/>
                </a:lnTo>
                <a:lnTo>
                  <a:pt x="229482" y="363989"/>
                </a:lnTo>
                <a:lnTo>
                  <a:pt x="227203" y="390821"/>
                </a:lnTo>
                <a:lnTo>
                  <a:pt x="220561" y="399622"/>
                </a:lnTo>
                <a:lnTo>
                  <a:pt x="217233" y="399622"/>
                </a:lnTo>
                <a:lnTo>
                  <a:pt x="202340" y="401619"/>
                </a:lnTo>
                <a:lnTo>
                  <a:pt x="160769" y="408435"/>
                </a:lnTo>
                <a:lnTo>
                  <a:pt x="125900" y="428797"/>
                </a:lnTo>
                <a:lnTo>
                  <a:pt x="91021" y="452454"/>
                </a:lnTo>
                <a:lnTo>
                  <a:pt x="81525" y="458029"/>
                </a:lnTo>
                <a:lnTo>
                  <a:pt x="72342" y="460712"/>
                </a:lnTo>
                <a:close/>
              </a:path>
              <a:path w="229870" h="461010">
                <a:moveTo>
                  <a:pt x="215604" y="320374"/>
                </a:moveTo>
                <a:lnTo>
                  <a:pt x="107632" y="320374"/>
                </a:lnTo>
                <a:lnTo>
                  <a:pt x="117077" y="314597"/>
                </a:lnTo>
                <a:lnTo>
                  <a:pt x="125901" y="310469"/>
                </a:lnTo>
                <a:lnTo>
                  <a:pt x="134725" y="307992"/>
                </a:lnTo>
                <a:lnTo>
                  <a:pt x="144170" y="307166"/>
                </a:lnTo>
                <a:lnTo>
                  <a:pt x="156621" y="303931"/>
                </a:lnTo>
                <a:lnTo>
                  <a:pt x="169075" y="301113"/>
                </a:lnTo>
                <a:lnTo>
                  <a:pt x="181528" y="299120"/>
                </a:lnTo>
                <a:lnTo>
                  <a:pt x="193979" y="298365"/>
                </a:lnTo>
                <a:lnTo>
                  <a:pt x="210381" y="310330"/>
                </a:lnTo>
                <a:lnTo>
                  <a:pt x="215604" y="32037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8863" y="2075091"/>
            <a:ext cx="418465" cy="462280"/>
          </a:xfrm>
          <a:custGeom>
            <a:avLst/>
            <a:gdLst/>
            <a:ahLst/>
            <a:cxnLst/>
            <a:rect l="l" t="t" r="r" b="b"/>
            <a:pathLst>
              <a:path w="418465" h="462280">
                <a:moveTo>
                  <a:pt x="225920" y="62610"/>
                </a:moveTo>
                <a:lnTo>
                  <a:pt x="192902" y="62610"/>
                </a:lnTo>
                <a:lnTo>
                  <a:pt x="197680" y="59928"/>
                </a:lnTo>
                <a:lnTo>
                  <a:pt x="202455" y="54774"/>
                </a:lnTo>
                <a:lnTo>
                  <a:pt x="240041" y="14297"/>
                </a:lnTo>
                <a:lnTo>
                  <a:pt x="279082" y="0"/>
                </a:lnTo>
                <a:lnTo>
                  <a:pt x="290917" y="1718"/>
                </a:lnTo>
                <a:lnTo>
                  <a:pt x="301505" y="7148"/>
                </a:lnTo>
                <a:lnTo>
                  <a:pt x="310848" y="16700"/>
                </a:lnTo>
                <a:lnTo>
                  <a:pt x="318947" y="30784"/>
                </a:lnTo>
                <a:lnTo>
                  <a:pt x="324059" y="43980"/>
                </a:lnTo>
                <a:lnTo>
                  <a:pt x="239204" y="43980"/>
                </a:lnTo>
                <a:lnTo>
                  <a:pt x="232562" y="52781"/>
                </a:lnTo>
                <a:lnTo>
                  <a:pt x="225920" y="57175"/>
                </a:lnTo>
                <a:lnTo>
                  <a:pt x="225920" y="62610"/>
                </a:lnTo>
                <a:close/>
              </a:path>
              <a:path w="418465" h="462280">
                <a:moveTo>
                  <a:pt x="132429" y="198753"/>
                </a:moveTo>
                <a:lnTo>
                  <a:pt x="102997" y="171538"/>
                </a:lnTo>
                <a:lnTo>
                  <a:pt x="90375" y="120203"/>
                </a:lnTo>
                <a:lnTo>
                  <a:pt x="96342" y="101168"/>
                </a:lnTo>
                <a:lnTo>
                  <a:pt x="100293" y="91271"/>
                </a:lnTo>
                <a:lnTo>
                  <a:pt x="105695" y="71478"/>
                </a:lnTo>
                <a:lnTo>
                  <a:pt x="109641" y="61575"/>
                </a:lnTo>
                <a:lnTo>
                  <a:pt x="112953" y="52781"/>
                </a:lnTo>
                <a:lnTo>
                  <a:pt x="116281" y="39585"/>
                </a:lnTo>
                <a:lnTo>
                  <a:pt x="119608" y="39585"/>
                </a:lnTo>
                <a:lnTo>
                  <a:pt x="142862" y="65976"/>
                </a:lnTo>
                <a:lnTo>
                  <a:pt x="146189" y="70370"/>
                </a:lnTo>
                <a:lnTo>
                  <a:pt x="224985" y="70370"/>
                </a:lnTo>
                <a:lnTo>
                  <a:pt x="224516" y="72575"/>
                </a:lnTo>
                <a:lnTo>
                  <a:pt x="224672" y="79171"/>
                </a:lnTo>
                <a:lnTo>
                  <a:pt x="225452" y="85768"/>
                </a:lnTo>
                <a:lnTo>
                  <a:pt x="225920" y="92367"/>
                </a:lnTo>
                <a:lnTo>
                  <a:pt x="226567" y="105562"/>
                </a:lnTo>
                <a:lnTo>
                  <a:pt x="156146" y="105562"/>
                </a:lnTo>
                <a:lnTo>
                  <a:pt x="156249" y="154974"/>
                </a:lnTo>
                <a:lnTo>
                  <a:pt x="156406" y="163291"/>
                </a:lnTo>
                <a:lnTo>
                  <a:pt x="155733" y="177036"/>
                </a:lnTo>
                <a:lnTo>
                  <a:pt x="151945" y="189131"/>
                </a:lnTo>
                <a:lnTo>
                  <a:pt x="142862" y="197929"/>
                </a:lnTo>
                <a:lnTo>
                  <a:pt x="132429" y="198753"/>
                </a:lnTo>
                <a:close/>
              </a:path>
              <a:path w="418465" h="462280">
                <a:moveTo>
                  <a:pt x="251367" y="243700"/>
                </a:moveTo>
                <a:lnTo>
                  <a:pt x="123138" y="243700"/>
                </a:lnTo>
                <a:lnTo>
                  <a:pt x="129578" y="241909"/>
                </a:lnTo>
                <a:lnTo>
                  <a:pt x="169129" y="219165"/>
                </a:lnTo>
                <a:lnTo>
                  <a:pt x="199340" y="185283"/>
                </a:lnTo>
                <a:lnTo>
                  <a:pt x="222077" y="142329"/>
                </a:lnTo>
                <a:lnTo>
                  <a:pt x="239204" y="92367"/>
                </a:lnTo>
                <a:lnTo>
                  <a:pt x="239204" y="87972"/>
                </a:lnTo>
                <a:lnTo>
                  <a:pt x="245859" y="70370"/>
                </a:lnTo>
                <a:lnTo>
                  <a:pt x="245859" y="48386"/>
                </a:lnTo>
                <a:lnTo>
                  <a:pt x="239204" y="43980"/>
                </a:lnTo>
                <a:lnTo>
                  <a:pt x="324059" y="43980"/>
                </a:lnTo>
                <a:lnTo>
                  <a:pt x="325177" y="57731"/>
                </a:lnTo>
                <a:lnTo>
                  <a:pt x="323151" y="72232"/>
                </a:lnTo>
                <a:lnTo>
                  <a:pt x="318947" y="87972"/>
                </a:lnTo>
                <a:lnTo>
                  <a:pt x="307059" y="111818"/>
                </a:lnTo>
                <a:lnTo>
                  <a:pt x="296103" y="136902"/>
                </a:lnTo>
                <a:lnTo>
                  <a:pt x="285772" y="162810"/>
                </a:lnTo>
                <a:lnTo>
                  <a:pt x="275755" y="189128"/>
                </a:lnTo>
                <a:lnTo>
                  <a:pt x="287072" y="189816"/>
                </a:lnTo>
                <a:lnTo>
                  <a:pt x="296521" y="191331"/>
                </a:lnTo>
                <a:lnTo>
                  <a:pt x="304724" y="192846"/>
                </a:lnTo>
                <a:lnTo>
                  <a:pt x="312305" y="193535"/>
                </a:lnTo>
                <a:lnTo>
                  <a:pt x="338983" y="201984"/>
                </a:lnTo>
                <a:lnTo>
                  <a:pt x="363794" y="214974"/>
                </a:lnTo>
                <a:lnTo>
                  <a:pt x="386114" y="233738"/>
                </a:lnTo>
                <a:lnTo>
                  <a:pt x="386468" y="234213"/>
                </a:lnTo>
                <a:lnTo>
                  <a:pt x="290709" y="234213"/>
                </a:lnTo>
                <a:lnTo>
                  <a:pt x="266415" y="236552"/>
                </a:lnTo>
                <a:lnTo>
                  <a:pt x="251367" y="243700"/>
                </a:lnTo>
                <a:close/>
              </a:path>
              <a:path w="418465" h="462280">
                <a:moveTo>
                  <a:pt x="224985" y="70370"/>
                </a:moveTo>
                <a:lnTo>
                  <a:pt x="146189" y="70370"/>
                </a:lnTo>
                <a:lnTo>
                  <a:pt x="156204" y="61575"/>
                </a:lnTo>
                <a:lnTo>
                  <a:pt x="166531" y="56080"/>
                </a:lnTo>
                <a:lnTo>
                  <a:pt x="177482" y="55533"/>
                </a:lnTo>
                <a:lnTo>
                  <a:pt x="189369" y="61582"/>
                </a:lnTo>
                <a:lnTo>
                  <a:pt x="192902" y="62610"/>
                </a:lnTo>
                <a:lnTo>
                  <a:pt x="225920" y="62610"/>
                </a:lnTo>
                <a:lnTo>
                  <a:pt x="225920" y="65976"/>
                </a:lnTo>
                <a:lnTo>
                  <a:pt x="224985" y="70370"/>
                </a:lnTo>
                <a:close/>
              </a:path>
              <a:path w="418465" h="462280">
                <a:moveTo>
                  <a:pt x="213775" y="128243"/>
                </a:moveTo>
                <a:lnTo>
                  <a:pt x="196024" y="127558"/>
                </a:lnTo>
                <a:lnTo>
                  <a:pt x="189369" y="127558"/>
                </a:lnTo>
                <a:lnTo>
                  <a:pt x="156146" y="105562"/>
                </a:lnTo>
                <a:lnTo>
                  <a:pt x="226567" y="105562"/>
                </a:lnTo>
                <a:lnTo>
                  <a:pt x="226856" y="111471"/>
                </a:lnTo>
                <a:lnTo>
                  <a:pt x="223431" y="123155"/>
                </a:lnTo>
                <a:lnTo>
                  <a:pt x="213775" y="128243"/>
                </a:lnTo>
                <a:close/>
              </a:path>
              <a:path w="418465" h="462280">
                <a:moveTo>
                  <a:pt x="46507" y="461835"/>
                </a:moveTo>
                <a:lnTo>
                  <a:pt x="43192" y="457428"/>
                </a:lnTo>
                <a:lnTo>
                  <a:pt x="33222" y="452688"/>
                </a:lnTo>
                <a:lnTo>
                  <a:pt x="23255" y="445885"/>
                </a:lnTo>
                <a:lnTo>
                  <a:pt x="13290" y="438256"/>
                </a:lnTo>
                <a:lnTo>
                  <a:pt x="3327" y="431037"/>
                </a:lnTo>
                <a:lnTo>
                  <a:pt x="0" y="426643"/>
                </a:lnTo>
                <a:lnTo>
                  <a:pt x="0" y="409054"/>
                </a:lnTo>
                <a:lnTo>
                  <a:pt x="49834" y="263905"/>
                </a:lnTo>
                <a:lnTo>
                  <a:pt x="49834" y="259511"/>
                </a:lnTo>
                <a:lnTo>
                  <a:pt x="53162" y="259511"/>
                </a:lnTo>
                <a:lnTo>
                  <a:pt x="53162" y="255104"/>
                </a:lnTo>
                <a:lnTo>
                  <a:pt x="57572" y="247273"/>
                </a:lnTo>
                <a:lnTo>
                  <a:pt x="61047" y="238613"/>
                </a:lnTo>
                <a:lnTo>
                  <a:pt x="63901" y="231601"/>
                </a:lnTo>
                <a:lnTo>
                  <a:pt x="66446" y="228714"/>
                </a:lnTo>
                <a:lnTo>
                  <a:pt x="76877" y="228851"/>
                </a:lnTo>
                <a:lnTo>
                  <a:pt x="87622" y="229814"/>
                </a:lnTo>
                <a:lnTo>
                  <a:pt x="97744" y="232427"/>
                </a:lnTo>
                <a:lnTo>
                  <a:pt x="106311" y="237515"/>
                </a:lnTo>
                <a:lnTo>
                  <a:pt x="112750" y="240675"/>
                </a:lnTo>
                <a:lnTo>
                  <a:pt x="117944" y="243012"/>
                </a:lnTo>
                <a:lnTo>
                  <a:pt x="123138" y="243700"/>
                </a:lnTo>
                <a:lnTo>
                  <a:pt x="251367" y="243700"/>
                </a:lnTo>
                <a:lnTo>
                  <a:pt x="245859" y="246316"/>
                </a:lnTo>
                <a:lnTo>
                  <a:pt x="243831" y="248994"/>
                </a:lnTo>
                <a:lnTo>
                  <a:pt x="211486" y="248994"/>
                </a:lnTo>
                <a:lnTo>
                  <a:pt x="197677" y="250163"/>
                </a:lnTo>
                <a:lnTo>
                  <a:pt x="119608" y="285889"/>
                </a:lnTo>
                <a:lnTo>
                  <a:pt x="93027" y="321081"/>
                </a:lnTo>
                <a:lnTo>
                  <a:pt x="83057" y="351526"/>
                </a:lnTo>
                <a:lnTo>
                  <a:pt x="73090" y="383208"/>
                </a:lnTo>
                <a:lnTo>
                  <a:pt x="63125" y="415716"/>
                </a:lnTo>
                <a:lnTo>
                  <a:pt x="53162" y="448640"/>
                </a:lnTo>
                <a:lnTo>
                  <a:pt x="53162" y="453034"/>
                </a:lnTo>
                <a:lnTo>
                  <a:pt x="46507" y="461835"/>
                </a:lnTo>
                <a:close/>
              </a:path>
              <a:path w="418465" h="462280">
                <a:moveTo>
                  <a:pt x="362134" y="334273"/>
                </a:moveTo>
                <a:lnTo>
                  <a:pt x="343550" y="330975"/>
                </a:lnTo>
                <a:lnTo>
                  <a:pt x="325589" y="321081"/>
                </a:lnTo>
                <a:lnTo>
                  <a:pt x="319930" y="314413"/>
                </a:lnTo>
                <a:lnTo>
                  <a:pt x="317696" y="307336"/>
                </a:lnTo>
                <a:lnTo>
                  <a:pt x="318578" y="299435"/>
                </a:lnTo>
                <a:lnTo>
                  <a:pt x="322262" y="290296"/>
                </a:lnTo>
                <a:lnTo>
                  <a:pt x="325275" y="282940"/>
                </a:lnTo>
                <a:lnTo>
                  <a:pt x="328910" y="274348"/>
                </a:lnTo>
                <a:lnTo>
                  <a:pt x="332545" y="264932"/>
                </a:lnTo>
                <a:lnTo>
                  <a:pt x="335559" y="255104"/>
                </a:lnTo>
                <a:lnTo>
                  <a:pt x="315003" y="240122"/>
                </a:lnTo>
                <a:lnTo>
                  <a:pt x="290709" y="234213"/>
                </a:lnTo>
                <a:lnTo>
                  <a:pt x="386468" y="234213"/>
                </a:lnTo>
                <a:lnTo>
                  <a:pt x="405320" y="259511"/>
                </a:lnTo>
                <a:lnTo>
                  <a:pt x="415966" y="277166"/>
                </a:lnTo>
                <a:lnTo>
                  <a:pt x="418201" y="291939"/>
                </a:lnTo>
                <a:lnTo>
                  <a:pt x="412335" y="305890"/>
                </a:lnTo>
                <a:lnTo>
                  <a:pt x="398678" y="321081"/>
                </a:lnTo>
                <a:lnTo>
                  <a:pt x="380718" y="330975"/>
                </a:lnTo>
                <a:lnTo>
                  <a:pt x="362134" y="334273"/>
                </a:lnTo>
                <a:close/>
              </a:path>
              <a:path w="418465" h="462280">
                <a:moveTo>
                  <a:pt x="232562" y="255104"/>
                </a:moveTo>
                <a:lnTo>
                  <a:pt x="225920" y="250710"/>
                </a:lnTo>
                <a:lnTo>
                  <a:pt x="211486" y="248994"/>
                </a:lnTo>
                <a:lnTo>
                  <a:pt x="243831" y="248994"/>
                </a:lnTo>
                <a:lnTo>
                  <a:pt x="242531" y="250710"/>
                </a:lnTo>
                <a:lnTo>
                  <a:pt x="232562" y="25510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2157" y="2356129"/>
            <a:ext cx="258445" cy="419734"/>
          </a:xfrm>
          <a:custGeom>
            <a:avLst/>
            <a:gdLst/>
            <a:ahLst/>
            <a:cxnLst/>
            <a:rect l="l" t="t" r="r" b="b"/>
            <a:pathLst>
              <a:path w="258445" h="419735">
                <a:moveTo>
                  <a:pt x="27331" y="112749"/>
                </a:moveTo>
                <a:lnTo>
                  <a:pt x="19357" y="108691"/>
                </a:lnTo>
                <a:lnTo>
                  <a:pt x="13246" y="96799"/>
                </a:lnTo>
                <a:lnTo>
                  <a:pt x="10715" y="90887"/>
                </a:lnTo>
                <a:lnTo>
                  <a:pt x="7870" y="85801"/>
                </a:lnTo>
                <a:lnTo>
                  <a:pt x="4402" y="80715"/>
                </a:lnTo>
                <a:lnTo>
                  <a:pt x="0" y="74803"/>
                </a:lnTo>
                <a:lnTo>
                  <a:pt x="29761" y="57685"/>
                </a:lnTo>
                <a:lnTo>
                  <a:pt x="88046" y="23446"/>
                </a:lnTo>
                <a:lnTo>
                  <a:pt x="131375" y="3712"/>
                </a:lnTo>
                <a:lnTo>
                  <a:pt x="178892" y="0"/>
                </a:lnTo>
                <a:lnTo>
                  <a:pt x="184323" y="2887"/>
                </a:lnTo>
                <a:lnTo>
                  <a:pt x="190068" y="9901"/>
                </a:lnTo>
                <a:lnTo>
                  <a:pt x="195194" y="18564"/>
                </a:lnTo>
                <a:lnTo>
                  <a:pt x="198767" y="26403"/>
                </a:lnTo>
                <a:lnTo>
                  <a:pt x="200062" y="33690"/>
                </a:lnTo>
                <a:lnTo>
                  <a:pt x="199182" y="41802"/>
                </a:lnTo>
                <a:lnTo>
                  <a:pt x="198436" y="44005"/>
                </a:lnTo>
                <a:lnTo>
                  <a:pt x="145757" y="44005"/>
                </a:lnTo>
                <a:lnTo>
                  <a:pt x="128934" y="53146"/>
                </a:lnTo>
                <a:lnTo>
                  <a:pt x="113044" y="61052"/>
                </a:lnTo>
                <a:lnTo>
                  <a:pt x="97775" y="68133"/>
                </a:lnTo>
                <a:lnTo>
                  <a:pt x="82816" y="74803"/>
                </a:lnTo>
                <a:lnTo>
                  <a:pt x="72931" y="82090"/>
                </a:lnTo>
                <a:lnTo>
                  <a:pt x="63355" y="90201"/>
                </a:lnTo>
                <a:lnTo>
                  <a:pt x="46380" y="105600"/>
                </a:lnTo>
                <a:lnTo>
                  <a:pt x="36547" y="111031"/>
                </a:lnTo>
                <a:lnTo>
                  <a:pt x="27331" y="112749"/>
                </a:lnTo>
                <a:close/>
              </a:path>
              <a:path w="258445" h="419735">
                <a:moveTo>
                  <a:pt x="256302" y="165001"/>
                </a:moveTo>
                <a:lnTo>
                  <a:pt x="35403" y="165001"/>
                </a:lnTo>
                <a:lnTo>
                  <a:pt x="53003" y="160601"/>
                </a:lnTo>
                <a:lnTo>
                  <a:pt x="70603" y="152900"/>
                </a:lnTo>
                <a:lnTo>
                  <a:pt x="89446" y="145199"/>
                </a:lnTo>
                <a:lnTo>
                  <a:pt x="92760" y="145199"/>
                </a:lnTo>
                <a:lnTo>
                  <a:pt x="99377" y="140804"/>
                </a:lnTo>
                <a:lnTo>
                  <a:pt x="106006" y="140804"/>
                </a:lnTo>
                <a:lnTo>
                  <a:pt x="102433" y="125881"/>
                </a:lnTo>
                <a:lnTo>
                  <a:pt x="102277" y="113849"/>
                </a:lnTo>
                <a:lnTo>
                  <a:pt x="106473" y="104293"/>
                </a:lnTo>
                <a:lnTo>
                  <a:pt x="115951" y="96799"/>
                </a:lnTo>
                <a:lnTo>
                  <a:pt x="123453" y="86214"/>
                </a:lnTo>
                <a:lnTo>
                  <a:pt x="131268" y="74803"/>
                </a:lnTo>
                <a:lnTo>
                  <a:pt x="139705" y="63391"/>
                </a:lnTo>
                <a:lnTo>
                  <a:pt x="149072" y="52806"/>
                </a:lnTo>
                <a:lnTo>
                  <a:pt x="145757" y="48399"/>
                </a:lnTo>
                <a:lnTo>
                  <a:pt x="145757" y="44005"/>
                </a:lnTo>
                <a:lnTo>
                  <a:pt x="198436" y="44005"/>
                </a:lnTo>
                <a:lnTo>
                  <a:pt x="171764" y="90887"/>
                </a:lnTo>
                <a:lnTo>
                  <a:pt x="149072" y="127596"/>
                </a:lnTo>
                <a:lnTo>
                  <a:pt x="165895" y="130693"/>
                </a:lnTo>
                <a:lnTo>
                  <a:pt x="181786" y="132549"/>
                </a:lnTo>
                <a:lnTo>
                  <a:pt x="234715" y="132549"/>
                </a:lnTo>
                <a:lnTo>
                  <a:pt x="243900" y="139150"/>
                </a:lnTo>
                <a:lnTo>
                  <a:pt x="255340" y="157922"/>
                </a:lnTo>
                <a:lnTo>
                  <a:pt x="256302" y="165001"/>
                </a:lnTo>
                <a:close/>
              </a:path>
              <a:path w="258445" h="419735">
                <a:moveTo>
                  <a:pt x="234715" y="132549"/>
                </a:moveTo>
                <a:lnTo>
                  <a:pt x="181786" y="132549"/>
                </a:lnTo>
                <a:lnTo>
                  <a:pt x="197055" y="131929"/>
                </a:lnTo>
                <a:lnTo>
                  <a:pt x="212013" y="127596"/>
                </a:lnTo>
                <a:lnTo>
                  <a:pt x="228111" y="127804"/>
                </a:lnTo>
                <a:lnTo>
                  <a:pt x="234715" y="132549"/>
                </a:lnTo>
                <a:close/>
              </a:path>
              <a:path w="258445" h="419735">
                <a:moveTo>
                  <a:pt x="38098" y="249145"/>
                </a:moveTo>
                <a:lnTo>
                  <a:pt x="3727" y="208446"/>
                </a:lnTo>
                <a:lnTo>
                  <a:pt x="1191" y="191191"/>
                </a:lnTo>
                <a:lnTo>
                  <a:pt x="3314" y="175996"/>
                </a:lnTo>
                <a:lnTo>
                  <a:pt x="3314" y="171602"/>
                </a:lnTo>
                <a:lnTo>
                  <a:pt x="13246" y="162801"/>
                </a:lnTo>
                <a:lnTo>
                  <a:pt x="16560" y="162801"/>
                </a:lnTo>
                <a:lnTo>
                  <a:pt x="35403" y="165001"/>
                </a:lnTo>
                <a:lnTo>
                  <a:pt x="256302" y="165001"/>
                </a:lnTo>
                <a:lnTo>
                  <a:pt x="258394" y="180403"/>
                </a:lnTo>
                <a:lnTo>
                  <a:pt x="258394" y="184797"/>
                </a:lnTo>
                <a:lnTo>
                  <a:pt x="250165" y="188444"/>
                </a:lnTo>
                <a:lnTo>
                  <a:pt x="181528" y="188444"/>
                </a:lnTo>
                <a:lnTo>
                  <a:pt x="173504" y="193049"/>
                </a:lnTo>
                <a:lnTo>
                  <a:pt x="170193" y="202399"/>
                </a:lnTo>
                <a:lnTo>
                  <a:pt x="139141" y="202399"/>
                </a:lnTo>
                <a:lnTo>
                  <a:pt x="120919" y="202808"/>
                </a:lnTo>
                <a:lnTo>
                  <a:pt x="105182" y="208995"/>
                </a:lnTo>
                <a:lnTo>
                  <a:pt x="90686" y="218485"/>
                </a:lnTo>
                <a:lnTo>
                  <a:pt x="76187" y="228803"/>
                </a:lnTo>
                <a:lnTo>
                  <a:pt x="69570" y="228803"/>
                </a:lnTo>
                <a:lnTo>
                  <a:pt x="66255" y="237591"/>
                </a:lnTo>
                <a:lnTo>
                  <a:pt x="59626" y="237591"/>
                </a:lnTo>
                <a:lnTo>
                  <a:pt x="48241" y="246874"/>
                </a:lnTo>
                <a:lnTo>
                  <a:pt x="38098" y="249145"/>
                </a:lnTo>
                <a:close/>
              </a:path>
              <a:path w="258445" h="419735">
                <a:moveTo>
                  <a:pt x="248450" y="189204"/>
                </a:moveTo>
                <a:lnTo>
                  <a:pt x="195453" y="189204"/>
                </a:lnTo>
                <a:lnTo>
                  <a:pt x="181528" y="188444"/>
                </a:lnTo>
                <a:lnTo>
                  <a:pt x="250165" y="188444"/>
                </a:lnTo>
                <a:lnTo>
                  <a:pt x="248450" y="189204"/>
                </a:lnTo>
                <a:close/>
              </a:path>
              <a:path w="258445" h="419735">
                <a:moveTo>
                  <a:pt x="163757" y="327242"/>
                </a:moveTo>
                <a:lnTo>
                  <a:pt x="115117" y="327242"/>
                </a:lnTo>
                <a:lnTo>
                  <a:pt x="124020" y="321123"/>
                </a:lnTo>
                <a:lnTo>
                  <a:pt x="129197" y="307987"/>
                </a:lnTo>
                <a:lnTo>
                  <a:pt x="139141" y="202399"/>
                </a:lnTo>
                <a:lnTo>
                  <a:pt x="170193" y="202399"/>
                </a:lnTo>
                <a:lnTo>
                  <a:pt x="169828" y="203431"/>
                </a:lnTo>
                <a:lnTo>
                  <a:pt x="168948" y="220002"/>
                </a:lnTo>
                <a:lnTo>
                  <a:pt x="166928" y="260286"/>
                </a:lnTo>
                <a:lnTo>
                  <a:pt x="165220" y="301396"/>
                </a:lnTo>
                <a:lnTo>
                  <a:pt x="163757" y="327242"/>
                </a:lnTo>
                <a:close/>
              </a:path>
              <a:path w="258445" h="419735">
                <a:moveTo>
                  <a:pt x="136181" y="419298"/>
                </a:moveTo>
                <a:lnTo>
                  <a:pt x="119253" y="417995"/>
                </a:lnTo>
                <a:lnTo>
                  <a:pt x="91407" y="402522"/>
                </a:lnTo>
                <a:lnTo>
                  <a:pt x="70394" y="376742"/>
                </a:lnTo>
                <a:lnTo>
                  <a:pt x="60561" y="341889"/>
                </a:lnTo>
                <a:lnTo>
                  <a:pt x="66255" y="299199"/>
                </a:lnTo>
                <a:lnTo>
                  <a:pt x="66307" y="292598"/>
                </a:lnTo>
                <a:lnTo>
                  <a:pt x="66670" y="285997"/>
                </a:lnTo>
                <a:lnTo>
                  <a:pt x="67654" y="279396"/>
                </a:lnTo>
                <a:lnTo>
                  <a:pt x="69570" y="272796"/>
                </a:lnTo>
                <a:lnTo>
                  <a:pt x="75105" y="283381"/>
                </a:lnTo>
                <a:lnTo>
                  <a:pt x="81575" y="294792"/>
                </a:lnTo>
                <a:lnTo>
                  <a:pt x="88669" y="306203"/>
                </a:lnTo>
                <a:lnTo>
                  <a:pt x="96075" y="316788"/>
                </a:lnTo>
                <a:lnTo>
                  <a:pt x="104974" y="325934"/>
                </a:lnTo>
                <a:lnTo>
                  <a:pt x="115117" y="327242"/>
                </a:lnTo>
                <a:lnTo>
                  <a:pt x="163757" y="327242"/>
                </a:lnTo>
                <a:lnTo>
                  <a:pt x="162893" y="342506"/>
                </a:lnTo>
                <a:lnTo>
                  <a:pt x="159016" y="382790"/>
                </a:lnTo>
                <a:lnTo>
                  <a:pt x="155132" y="403761"/>
                </a:lnTo>
                <a:lnTo>
                  <a:pt x="147831" y="415242"/>
                </a:lnTo>
                <a:lnTo>
                  <a:pt x="136181" y="419298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0737" y="3175431"/>
            <a:ext cx="81354" cy="251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6736" y="3075177"/>
            <a:ext cx="99060" cy="381635"/>
          </a:xfrm>
          <a:custGeom>
            <a:avLst/>
            <a:gdLst/>
            <a:ahLst/>
            <a:cxnLst/>
            <a:rect l="l" t="t" r="r" b="b"/>
            <a:pathLst>
              <a:path w="99059" h="381635">
                <a:moveTo>
                  <a:pt x="17549" y="320382"/>
                </a:moveTo>
                <a:lnTo>
                  <a:pt x="4176" y="294055"/>
                </a:lnTo>
                <a:lnTo>
                  <a:pt x="1356" y="284109"/>
                </a:lnTo>
                <a:lnTo>
                  <a:pt x="0" y="273753"/>
                </a:lnTo>
                <a:lnTo>
                  <a:pt x="731" y="262575"/>
                </a:lnTo>
                <a:lnTo>
                  <a:pt x="4176" y="250164"/>
                </a:lnTo>
                <a:lnTo>
                  <a:pt x="13859" y="230343"/>
                </a:lnTo>
                <a:lnTo>
                  <a:pt x="23125" y="210113"/>
                </a:lnTo>
                <a:lnTo>
                  <a:pt x="32390" y="189062"/>
                </a:lnTo>
                <a:lnTo>
                  <a:pt x="42073" y="166776"/>
                </a:lnTo>
                <a:lnTo>
                  <a:pt x="48796" y="147023"/>
                </a:lnTo>
                <a:lnTo>
                  <a:pt x="55730" y="127273"/>
                </a:lnTo>
                <a:lnTo>
                  <a:pt x="63081" y="107522"/>
                </a:lnTo>
                <a:lnTo>
                  <a:pt x="71054" y="87769"/>
                </a:lnTo>
                <a:lnTo>
                  <a:pt x="74819" y="70625"/>
                </a:lnTo>
                <a:lnTo>
                  <a:pt x="76074" y="52660"/>
                </a:lnTo>
                <a:lnTo>
                  <a:pt x="74819" y="34695"/>
                </a:lnTo>
                <a:lnTo>
                  <a:pt x="71054" y="17551"/>
                </a:lnTo>
                <a:lnTo>
                  <a:pt x="68835" y="13163"/>
                </a:lnTo>
                <a:lnTo>
                  <a:pt x="68832" y="4381"/>
                </a:lnTo>
                <a:lnTo>
                  <a:pt x="95542" y="45597"/>
                </a:lnTo>
                <a:lnTo>
                  <a:pt x="98645" y="68570"/>
                </a:lnTo>
                <a:lnTo>
                  <a:pt x="97986" y="92367"/>
                </a:lnTo>
                <a:lnTo>
                  <a:pt x="93356" y="114109"/>
                </a:lnTo>
                <a:lnTo>
                  <a:pt x="86280" y="137219"/>
                </a:lnTo>
                <a:lnTo>
                  <a:pt x="78581" y="160740"/>
                </a:lnTo>
                <a:lnTo>
                  <a:pt x="70465" y="185086"/>
                </a:lnTo>
                <a:lnTo>
                  <a:pt x="62139" y="210667"/>
                </a:lnTo>
                <a:lnTo>
                  <a:pt x="62139" y="228219"/>
                </a:lnTo>
                <a:lnTo>
                  <a:pt x="64374" y="228219"/>
                </a:lnTo>
                <a:lnTo>
                  <a:pt x="74752" y="246941"/>
                </a:lnTo>
                <a:lnTo>
                  <a:pt x="75017" y="247969"/>
                </a:lnTo>
                <a:lnTo>
                  <a:pt x="54895" y="247969"/>
                </a:lnTo>
                <a:lnTo>
                  <a:pt x="51131" y="250984"/>
                </a:lnTo>
                <a:lnTo>
                  <a:pt x="46531" y="258940"/>
                </a:lnTo>
                <a:lnTo>
                  <a:pt x="39809" y="274712"/>
                </a:lnTo>
                <a:lnTo>
                  <a:pt x="32878" y="289661"/>
                </a:lnTo>
                <a:lnTo>
                  <a:pt x="25528" y="304610"/>
                </a:lnTo>
                <a:lnTo>
                  <a:pt x="17549" y="320382"/>
                </a:lnTo>
                <a:close/>
              </a:path>
              <a:path w="99059" h="381635">
                <a:moveTo>
                  <a:pt x="83243" y="381627"/>
                </a:moveTo>
                <a:lnTo>
                  <a:pt x="67433" y="345968"/>
                </a:lnTo>
                <a:lnTo>
                  <a:pt x="66180" y="312712"/>
                </a:lnTo>
                <a:lnTo>
                  <a:pt x="64928" y="296252"/>
                </a:lnTo>
                <a:lnTo>
                  <a:pt x="62841" y="279793"/>
                </a:lnTo>
                <a:lnTo>
                  <a:pt x="57823" y="251537"/>
                </a:lnTo>
                <a:lnTo>
                  <a:pt x="54895" y="247969"/>
                </a:lnTo>
                <a:lnTo>
                  <a:pt x="75017" y="247969"/>
                </a:lnTo>
                <a:lnTo>
                  <a:pt x="80533" y="269366"/>
                </a:lnTo>
                <a:lnTo>
                  <a:pt x="83807" y="294259"/>
                </a:lnTo>
                <a:lnTo>
                  <a:pt x="86663" y="320382"/>
                </a:lnTo>
                <a:lnTo>
                  <a:pt x="87948" y="331013"/>
                </a:lnTo>
                <a:lnTo>
                  <a:pt x="88607" y="342877"/>
                </a:lnTo>
                <a:lnTo>
                  <a:pt x="88850" y="355565"/>
                </a:lnTo>
                <a:lnTo>
                  <a:pt x="88885" y="368668"/>
                </a:lnTo>
                <a:lnTo>
                  <a:pt x="88119" y="376829"/>
                </a:lnTo>
                <a:lnTo>
                  <a:pt x="86099" y="381285"/>
                </a:lnTo>
                <a:lnTo>
                  <a:pt x="83243" y="38162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0997" y="3075177"/>
            <a:ext cx="55244" cy="78105"/>
          </a:xfrm>
          <a:custGeom>
            <a:avLst/>
            <a:gdLst/>
            <a:ahLst/>
            <a:cxnLst/>
            <a:rect l="l" t="t" r="r" b="b"/>
            <a:pathLst>
              <a:path w="55245" h="78105">
                <a:moveTo>
                  <a:pt x="35029" y="78049"/>
                </a:moveTo>
                <a:lnTo>
                  <a:pt x="6769" y="47574"/>
                </a:lnTo>
                <a:lnTo>
                  <a:pt x="0" y="0"/>
                </a:lnTo>
                <a:lnTo>
                  <a:pt x="12748" y="2496"/>
                </a:lnTo>
                <a:lnTo>
                  <a:pt x="24225" y="3778"/>
                </a:lnTo>
                <a:lnTo>
                  <a:pt x="34854" y="4250"/>
                </a:lnTo>
                <a:lnTo>
                  <a:pt x="45059" y="4318"/>
                </a:lnTo>
                <a:lnTo>
                  <a:pt x="50871" y="9319"/>
                </a:lnTo>
                <a:lnTo>
                  <a:pt x="54357" y="21618"/>
                </a:lnTo>
                <a:lnTo>
                  <a:pt x="54884" y="37161"/>
                </a:lnTo>
                <a:lnTo>
                  <a:pt x="51815" y="51892"/>
                </a:lnTo>
                <a:lnTo>
                  <a:pt x="47631" y="63852"/>
                </a:lnTo>
                <a:lnTo>
                  <a:pt x="41965" y="72977"/>
                </a:lnTo>
                <a:lnTo>
                  <a:pt x="35029" y="7804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27022" y="3820414"/>
            <a:ext cx="190500" cy="439420"/>
          </a:xfrm>
          <a:custGeom>
            <a:avLst/>
            <a:gdLst/>
            <a:ahLst/>
            <a:cxnLst/>
            <a:rect l="l" t="t" r="r" b="b"/>
            <a:pathLst>
              <a:path w="190500" h="439420">
                <a:moveTo>
                  <a:pt x="111335" y="55258"/>
                </a:moveTo>
                <a:lnTo>
                  <a:pt x="88444" y="51071"/>
                </a:lnTo>
                <a:lnTo>
                  <a:pt x="73651" y="37823"/>
                </a:lnTo>
                <a:lnTo>
                  <a:pt x="69761" y="17576"/>
                </a:lnTo>
                <a:lnTo>
                  <a:pt x="89169" y="11122"/>
                </a:lnTo>
                <a:lnTo>
                  <a:pt x="107957" y="5492"/>
                </a:lnTo>
                <a:lnTo>
                  <a:pt x="126748" y="1510"/>
                </a:lnTo>
                <a:lnTo>
                  <a:pt x="146164" y="0"/>
                </a:lnTo>
                <a:lnTo>
                  <a:pt x="167855" y="3570"/>
                </a:lnTo>
                <a:lnTo>
                  <a:pt x="182699" y="18673"/>
                </a:lnTo>
                <a:lnTo>
                  <a:pt x="190069" y="42014"/>
                </a:lnTo>
                <a:lnTo>
                  <a:pt x="189907" y="48323"/>
                </a:lnTo>
                <a:lnTo>
                  <a:pt x="139522" y="48323"/>
                </a:lnTo>
                <a:lnTo>
                  <a:pt x="111335" y="55258"/>
                </a:lnTo>
                <a:close/>
              </a:path>
              <a:path w="190500" h="439420">
                <a:moveTo>
                  <a:pt x="186084" y="171348"/>
                </a:moveTo>
                <a:lnTo>
                  <a:pt x="142836" y="171348"/>
                </a:lnTo>
                <a:lnTo>
                  <a:pt x="142318" y="141620"/>
                </a:lnTo>
                <a:lnTo>
                  <a:pt x="140040" y="80522"/>
                </a:lnTo>
                <a:lnTo>
                  <a:pt x="139522" y="48323"/>
                </a:lnTo>
                <a:lnTo>
                  <a:pt x="189907" y="48323"/>
                </a:lnTo>
                <a:lnTo>
                  <a:pt x="189344" y="70294"/>
                </a:lnTo>
                <a:lnTo>
                  <a:pt x="187420" y="103935"/>
                </a:lnTo>
                <a:lnTo>
                  <a:pt x="186432" y="138398"/>
                </a:lnTo>
                <a:lnTo>
                  <a:pt x="186084" y="171348"/>
                </a:lnTo>
                <a:close/>
              </a:path>
              <a:path w="190500" h="439420">
                <a:moveTo>
                  <a:pt x="119206" y="348464"/>
                </a:moveTo>
                <a:lnTo>
                  <a:pt x="14894" y="348464"/>
                </a:lnTo>
                <a:lnTo>
                  <a:pt x="29479" y="345992"/>
                </a:lnTo>
                <a:lnTo>
                  <a:pt x="43441" y="335281"/>
                </a:lnTo>
                <a:lnTo>
                  <a:pt x="56464" y="316331"/>
                </a:lnTo>
                <a:lnTo>
                  <a:pt x="51430" y="312282"/>
                </a:lnTo>
                <a:lnTo>
                  <a:pt x="46086" y="307000"/>
                </a:lnTo>
                <a:lnTo>
                  <a:pt x="40121" y="300893"/>
                </a:lnTo>
                <a:lnTo>
                  <a:pt x="33223" y="294373"/>
                </a:lnTo>
                <a:lnTo>
                  <a:pt x="27511" y="287026"/>
                </a:lnTo>
                <a:lnTo>
                  <a:pt x="24914" y="278444"/>
                </a:lnTo>
                <a:lnTo>
                  <a:pt x="24807" y="269037"/>
                </a:lnTo>
                <a:lnTo>
                  <a:pt x="26568" y="259219"/>
                </a:lnTo>
                <a:lnTo>
                  <a:pt x="34563" y="219610"/>
                </a:lnTo>
                <a:lnTo>
                  <a:pt x="43179" y="179587"/>
                </a:lnTo>
                <a:lnTo>
                  <a:pt x="51861" y="138398"/>
                </a:lnTo>
                <a:lnTo>
                  <a:pt x="59791" y="96659"/>
                </a:lnTo>
                <a:lnTo>
                  <a:pt x="86372" y="70294"/>
                </a:lnTo>
                <a:lnTo>
                  <a:pt x="99968" y="75237"/>
                </a:lnTo>
                <a:lnTo>
                  <a:pt x="110450" y="83477"/>
                </a:lnTo>
                <a:lnTo>
                  <a:pt x="117196" y="95011"/>
                </a:lnTo>
                <a:lnTo>
                  <a:pt x="119583" y="109842"/>
                </a:lnTo>
                <a:lnTo>
                  <a:pt x="119482" y="132423"/>
                </a:lnTo>
                <a:lnTo>
                  <a:pt x="123737" y="147731"/>
                </a:lnTo>
                <a:lnTo>
                  <a:pt x="131729" y="160569"/>
                </a:lnTo>
                <a:lnTo>
                  <a:pt x="142836" y="171348"/>
                </a:lnTo>
                <a:lnTo>
                  <a:pt x="186084" y="171348"/>
                </a:lnTo>
                <a:lnTo>
                  <a:pt x="186044" y="188925"/>
                </a:lnTo>
                <a:lnTo>
                  <a:pt x="106299" y="188925"/>
                </a:lnTo>
                <a:lnTo>
                  <a:pt x="103805" y="211300"/>
                </a:lnTo>
                <a:lnTo>
                  <a:pt x="98823" y="254413"/>
                </a:lnTo>
                <a:lnTo>
                  <a:pt x="96329" y="276796"/>
                </a:lnTo>
                <a:lnTo>
                  <a:pt x="182702" y="276796"/>
                </a:lnTo>
                <a:lnTo>
                  <a:pt x="182182" y="283456"/>
                </a:lnTo>
                <a:lnTo>
                  <a:pt x="181038" y="290526"/>
                </a:lnTo>
                <a:lnTo>
                  <a:pt x="179894" y="298418"/>
                </a:lnTo>
                <a:lnTo>
                  <a:pt x="179374" y="307543"/>
                </a:lnTo>
                <a:lnTo>
                  <a:pt x="177406" y="333908"/>
                </a:lnTo>
                <a:lnTo>
                  <a:pt x="177181" y="338302"/>
                </a:lnTo>
                <a:lnTo>
                  <a:pt x="129552" y="338302"/>
                </a:lnTo>
                <a:lnTo>
                  <a:pt x="119206" y="348464"/>
                </a:lnTo>
                <a:close/>
              </a:path>
              <a:path w="190500" h="439420">
                <a:moveTo>
                  <a:pt x="182702" y="276796"/>
                </a:moveTo>
                <a:lnTo>
                  <a:pt x="96329" y="276796"/>
                </a:lnTo>
                <a:lnTo>
                  <a:pt x="117094" y="265742"/>
                </a:lnTo>
                <a:lnTo>
                  <a:pt x="130384" y="250982"/>
                </a:lnTo>
                <a:lnTo>
                  <a:pt x="137445" y="230456"/>
                </a:lnTo>
                <a:lnTo>
                  <a:pt x="139522" y="202107"/>
                </a:lnTo>
                <a:lnTo>
                  <a:pt x="131993" y="198812"/>
                </a:lnTo>
                <a:lnTo>
                  <a:pt x="124153" y="195516"/>
                </a:lnTo>
                <a:lnTo>
                  <a:pt x="115692" y="192220"/>
                </a:lnTo>
                <a:lnTo>
                  <a:pt x="106299" y="188925"/>
                </a:lnTo>
                <a:lnTo>
                  <a:pt x="186044" y="188925"/>
                </a:lnTo>
                <a:lnTo>
                  <a:pt x="186016" y="206501"/>
                </a:lnTo>
                <a:lnTo>
                  <a:pt x="186536" y="213159"/>
                </a:lnTo>
                <a:lnTo>
                  <a:pt x="187680" y="220227"/>
                </a:lnTo>
                <a:lnTo>
                  <a:pt x="188824" y="228118"/>
                </a:lnTo>
                <a:lnTo>
                  <a:pt x="189344" y="237248"/>
                </a:lnTo>
                <a:lnTo>
                  <a:pt x="188772" y="247135"/>
                </a:lnTo>
                <a:lnTo>
                  <a:pt x="187266" y="257022"/>
                </a:lnTo>
                <a:lnTo>
                  <a:pt x="185138" y="266909"/>
                </a:lnTo>
                <a:lnTo>
                  <a:pt x="182702" y="276796"/>
                </a:lnTo>
                <a:close/>
              </a:path>
              <a:path w="190500" h="439420">
                <a:moveTo>
                  <a:pt x="162775" y="439356"/>
                </a:moveTo>
                <a:lnTo>
                  <a:pt x="156121" y="439356"/>
                </a:lnTo>
                <a:lnTo>
                  <a:pt x="146164" y="434962"/>
                </a:lnTo>
                <a:lnTo>
                  <a:pt x="142836" y="426173"/>
                </a:lnTo>
                <a:lnTo>
                  <a:pt x="133703" y="416081"/>
                </a:lnTo>
                <a:lnTo>
                  <a:pt x="127058" y="404753"/>
                </a:lnTo>
                <a:lnTo>
                  <a:pt x="124150" y="390956"/>
                </a:lnTo>
                <a:lnTo>
                  <a:pt x="126225" y="373456"/>
                </a:lnTo>
                <a:lnTo>
                  <a:pt x="128148" y="366109"/>
                </a:lnTo>
                <a:lnTo>
                  <a:pt x="129136" y="357527"/>
                </a:lnTo>
                <a:lnTo>
                  <a:pt x="129487" y="348464"/>
                </a:lnTo>
                <a:lnTo>
                  <a:pt x="129552" y="338302"/>
                </a:lnTo>
                <a:lnTo>
                  <a:pt x="177181" y="338302"/>
                </a:lnTo>
                <a:lnTo>
                  <a:pt x="174708" y="386633"/>
                </a:lnTo>
                <a:lnTo>
                  <a:pt x="170245" y="427821"/>
                </a:lnTo>
                <a:lnTo>
                  <a:pt x="167133" y="434619"/>
                </a:lnTo>
                <a:lnTo>
                  <a:pt x="162775" y="439356"/>
                </a:lnTo>
                <a:close/>
              </a:path>
              <a:path w="190500" h="439420">
                <a:moveTo>
                  <a:pt x="41521" y="416836"/>
                </a:moveTo>
                <a:lnTo>
                  <a:pt x="8302" y="380595"/>
                </a:lnTo>
                <a:lnTo>
                  <a:pt x="0" y="342696"/>
                </a:lnTo>
                <a:lnTo>
                  <a:pt x="14894" y="348464"/>
                </a:lnTo>
                <a:lnTo>
                  <a:pt x="119206" y="348464"/>
                </a:lnTo>
                <a:lnTo>
                  <a:pt x="110188" y="357321"/>
                </a:lnTo>
                <a:lnTo>
                  <a:pt x="91760" y="375102"/>
                </a:lnTo>
                <a:lnTo>
                  <a:pt x="56464" y="408597"/>
                </a:lnTo>
                <a:lnTo>
                  <a:pt x="48994" y="415394"/>
                </a:lnTo>
                <a:lnTo>
                  <a:pt x="41521" y="416836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22445" y="3776573"/>
            <a:ext cx="175260" cy="527685"/>
          </a:xfrm>
          <a:custGeom>
            <a:avLst/>
            <a:gdLst/>
            <a:ahLst/>
            <a:cxnLst/>
            <a:rect l="l" t="t" r="r" b="b"/>
            <a:pathLst>
              <a:path w="175260" h="527685">
                <a:moveTo>
                  <a:pt x="36937" y="65951"/>
                </a:moveTo>
                <a:lnTo>
                  <a:pt x="33597" y="65951"/>
                </a:lnTo>
                <a:lnTo>
                  <a:pt x="26916" y="57150"/>
                </a:lnTo>
                <a:lnTo>
                  <a:pt x="26916" y="48361"/>
                </a:lnTo>
                <a:lnTo>
                  <a:pt x="23576" y="48361"/>
                </a:lnTo>
                <a:lnTo>
                  <a:pt x="64491" y="10993"/>
                </a:lnTo>
                <a:lnTo>
                  <a:pt x="100386" y="0"/>
                </a:lnTo>
                <a:lnTo>
                  <a:pt x="122246" y="5975"/>
                </a:lnTo>
                <a:lnTo>
                  <a:pt x="137533" y="18135"/>
                </a:lnTo>
                <a:lnTo>
                  <a:pt x="142955" y="30772"/>
                </a:lnTo>
                <a:lnTo>
                  <a:pt x="97046" y="30772"/>
                </a:lnTo>
                <a:lnTo>
                  <a:pt x="90366" y="35178"/>
                </a:lnTo>
                <a:lnTo>
                  <a:pt x="82852" y="39161"/>
                </a:lnTo>
                <a:lnTo>
                  <a:pt x="67831" y="48773"/>
                </a:lnTo>
                <a:lnTo>
                  <a:pt x="60317" y="52755"/>
                </a:lnTo>
                <a:lnTo>
                  <a:pt x="55255" y="56671"/>
                </a:lnTo>
                <a:lnTo>
                  <a:pt x="49880" y="61001"/>
                </a:lnTo>
                <a:lnTo>
                  <a:pt x="43878" y="64507"/>
                </a:lnTo>
                <a:lnTo>
                  <a:pt x="36937" y="65951"/>
                </a:lnTo>
                <a:close/>
              </a:path>
              <a:path w="175260" h="527685">
                <a:moveTo>
                  <a:pt x="145308" y="175856"/>
                </a:moveTo>
                <a:lnTo>
                  <a:pt x="63657" y="175856"/>
                </a:lnTo>
                <a:lnTo>
                  <a:pt x="70597" y="167478"/>
                </a:lnTo>
                <a:lnTo>
                  <a:pt x="76594" y="161569"/>
                </a:lnTo>
                <a:lnTo>
                  <a:pt x="81965" y="157308"/>
                </a:lnTo>
                <a:lnTo>
                  <a:pt x="87025" y="153873"/>
                </a:lnTo>
                <a:lnTo>
                  <a:pt x="94958" y="147968"/>
                </a:lnTo>
                <a:lnTo>
                  <a:pt x="115990" y="108810"/>
                </a:lnTo>
                <a:lnTo>
                  <a:pt x="116669" y="85731"/>
                </a:lnTo>
                <a:lnTo>
                  <a:pt x="114215" y="62649"/>
                </a:lnTo>
                <a:lnTo>
                  <a:pt x="107066" y="39573"/>
                </a:lnTo>
                <a:lnTo>
                  <a:pt x="107066" y="35178"/>
                </a:lnTo>
                <a:lnTo>
                  <a:pt x="97046" y="30772"/>
                </a:lnTo>
                <a:lnTo>
                  <a:pt x="142955" y="30772"/>
                </a:lnTo>
                <a:lnTo>
                  <a:pt x="145934" y="37715"/>
                </a:lnTo>
                <a:lnTo>
                  <a:pt x="147073" y="64507"/>
                </a:lnTo>
                <a:lnTo>
                  <a:pt x="146985" y="108810"/>
                </a:lnTo>
                <a:lnTo>
                  <a:pt x="146799" y="126401"/>
                </a:lnTo>
                <a:lnTo>
                  <a:pt x="146676" y="135536"/>
                </a:lnTo>
                <a:lnTo>
                  <a:pt x="145725" y="168574"/>
                </a:lnTo>
                <a:lnTo>
                  <a:pt x="145308" y="175856"/>
                </a:lnTo>
                <a:close/>
              </a:path>
              <a:path w="175260" h="527685">
                <a:moveTo>
                  <a:pt x="26916" y="457225"/>
                </a:moveTo>
                <a:lnTo>
                  <a:pt x="16909" y="457225"/>
                </a:lnTo>
                <a:lnTo>
                  <a:pt x="9602" y="456263"/>
                </a:lnTo>
                <a:lnTo>
                  <a:pt x="3548" y="452829"/>
                </a:lnTo>
                <a:lnTo>
                  <a:pt x="0" y="446097"/>
                </a:lnTo>
                <a:lnTo>
                  <a:pt x="208" y="435241"/>
                </a:lnTo>
                <a:lnTo>
                  <a:pt x="2191" y="418761"/>
                </a:lnTo>
                <a:lnTo>
                  <a:pt x="4905" y="385790"/>
                </a:lnTo>
                <a:lnTo>
                  <a:pt x="6888" y="369303"/>
                </a:lnTo>
                <a:lnTo>
                  <a:pt x="16551" y="316273"/>
                </a:lnTo>
                <a:lnTo>
                  <a:pt x="34120" y="214739"/>
                </a:lnTo>
                <a:lnTo>
                  <a:pt x="43617" y="162674"/>
                </a:lnTo>
                <a:lnTo>
                  <a:pt x="55725" y="107165"/>
                </a:lnTo>
                <a:lnTo>
                  <a:pt x="70338" y="48361"/>
                </a:lnTo>
                <a:lnTo>
                  <a:pt x="78524" y="55092"/>
                </a:lnTo>
                <a:lnTo>
                  <a:pt x="83270" y="62652"/>
                </a:lnTo>
                <a:lnTo>
                  <a:pt x="84886" y="71853"/>
                </a:lnTo>
                <a:lnTo>
                  <a:pt x="83685" y="83527"/>
                </a:lnTo>
                <a:lnTo>
                  <a:pt x="78683" y="104142"/>
                </a:lnTo>
                <a:lnTo>
                  <a:pt x="73676" y="126401"/>
                </a:lnTo>
                <a:lnTo>
                  <a:pt x="68667" y="150305"/>
                </a:lnTo>
                <a:lnTo>
                  <a:pt x="63657" y="175856"/>
                </a:lnTo>
                <a:lnTo>
                  <a:pt x="145308" y="175856"/>
                </a:lnTo>
                <a:lnTo>
                  <a:pt x="143794" y="202234"/>
                </a:lnTo>
                <a:lnTo>
                  <a:pt x="144473" y="213914"/>
                </a:lnTo>
                <a:lnTo>
                  <a:pt x="146717" y="223119"/>
                </a:lnTo>
                <a:lnTo>
                  <a:pt x="149713" y="228612"/>
                </a:lnTo>
                <a:lnTo>
                  <a:pt x="70338" y="228612"/>
                </a:lnTo>
                <a:lnTo>
                  <a:pt x="58856" y="270727"/>
                </a:lnTo>
                <a:lnTo>
                  <a:pt x="51132" y="311602"/>
                </a:lnTo>
                <a:lnTo>
                  <a:pt x="49671" y="351651"/>
                </a:lnTo>
                <a:lnTo>
                  <a:pt x="56977" y="391287"/>
                </a:lnTo>
                <a:lnTo>
                  <a:pt x="33597" y="391287"/>
                </a:lnTo>
                <a:lnTo>
                  <a:pt x="31666" y="403785"/>
                </a:lnTo>
                <a:lnTo>
                  <a:pt x="30674" y="415463"/>
                </a:lnTo>
                <a:lnTo>
                  <a:pt x="30309" y="427143"/>
                </a:lnTo>
                <a:lnTo>
                  <a:pt x="30256" y="439648"/>
                </a:lnTo>
                <a:lnTo>
                  <a:pt x="26916" y="448437"/>
                </a:lnTo>
                <a:lnTo>
                  <a:pt x="26916" y="457225"/>
                </a:lnTo>
                <a:close/>
              </a:path>
              <a:path w="175260" h="527685">
                <a:moveTo>
                  <a:pt x="83685" y="334124"/>
                </a:moveTo>
                <a:lnTo>
                  <a:pt x="77018" y="334124"/>
                </a:lnTo>
                <a:lnTo>
                  <a:pt x="73678" y="329730"/>
                </a:lnTo>
                <a:lnTo>
                  <a:pt x="73678" y="325335"/>
                </a:lnTo>
                <a:lnTo>
                  <a:pt x="77018" y="320941"/>
                </a:lnTo>
                <a:lnTo>
                  <a:pt x="83685" y="316547"/>
                </a:lnTo>
                <a:lnTo>
                  <a:pt x="87025" y="312153"/>
                </a:lnTo>
                <a:lnTo>
                  <a:pt x="92036" y="308781"/>
                </a:lnTo>
                <a:lnTo>
                  <a:pt x="97046" y="305001"/>
                </a:lnTo>
                <a:lnTo>
                  <a:pt x="102056" y="300400"/>
                </a:lnTo>
                <a:lnTo>
                  <a:pt x="107066" y="294563"/>
                </a:lnTo>
                <a:lnTo>
                  <a:pt x="113746" y="290169"/>
                </a:lnTo>
                <a:lnTo>
                  <a:pt x="113746" y="276974"/>
                </a:lnTo>
                <a:lnTo>
                  <a:pt x="103726" y="276974"/>
                </a:lnTo>
                <a:lnTo>
                  <a:pt x="92403" y="269419"/>
                </a:lnTo>
                <a:lnTo>
                  <a:pt x="83274" y="259389"/>
                </a:lnTo>
                <a:lnTo>
                  <a:pt x="76024" y="246061"/>
                </a:lnTo>
                <a:lnTo>
                  <a:pt x="70338" y="228612"/>
                </a:lnTo>
                <a:lnTo>
                  <a:pt x="149713" y="228612"/>
                </a:lnTo>
                <a:lnTo>
                  <a:pt x="150840" y="230677"/>
                </a:lnTo>
                <a:lnTo>
                  <a:pt x="157155" y="237413"/>
                </a:lnTo>
                <a:lnTo>
                  <a:pt x="170306" y="257128"/>
                </a:lnTo>
                <a:lnTo>
                  <a:pt x="174690" y="276431"/>
                </a:lnTo>
                <a:lnTo>
                  <a:pt x="170306" y="294910"/>
                </a:lnTo>
                <a:lnTo>
                  <a:pt x="157155" y="312153"/>
                </a:lnTo>
                <a:lnTo>
                  <a:pt x="150840" y="316273"/>
                </a:lnTo>
                <a:lnTo>
                  <a:pt x="146717" y="322041"/>
                </a:lnTo>
                <a:lnTo>
                  <a:pt x="144473" y="329460"/>
                </a:lnTo>
                <a:lnTo>
                  <a:pt x="144453" y="329730"/>
                </a:lnTo>
                <a:lnTo>
                  <a:pt x="93706" y="329730"/>
                </a:lnTo>
                <a:lnTo>
                  <a:pt x="83685" y="334124"/>
                </a:lnTo>
                <a:close/>
              </a:path>
              <a:path w="175260" h="527685">
                <a:moveTo>
                  <a:pt x="143965" y="470420"/>
                </a:moveTo>
                <a:lnTo>
                  <a:pt x="107066" y="470420"/>
                </a:lnTo>
                <a:lnTo>
                  <a:pt x="109049" y="437445"/>
                </a:lnTo>
                <a:lnTo>
                  <a:pt x="111763" y="371499"/>
                </a:lnTo>
                <a:lnTo>
                  <a:pt x="113746" y="338531"/>
                </a:lnTo>
                <a:lnTo>
                  <a:pt x="103726" y="329730"/>
                </a:lnTo>
                <a:lnTo>
                  <a:pt x="144453" y="329730"/>
                </a:lnTo>
                <a:lnTo>
                  <a:pt x="143794" y="338531"/>
                </a:lnTo>
                <a:lnTo>
                  <a:pt x="145075" y="371499"/>
                </a:lnTo>
                <a:lnTo>
                  <a:pt x="144952" y="415463"/>
                </a:lnTo>
                <a:lnTo>
                  <a:pt x="144291" y="446097"/>
                </a:lnTo>
                <a:lnTo>
                  <a:pt x="143965" y="470420"/>
                </a:lnTo>
                <a:close/>
              </a:path>
              <a:path w="175260" h="527685">
                <a:moveTo>
                  <a:pt x="133774" y="527570"/>
                </a:moveTo>
                <a:lnTo>
                  <a:pt x="86766" y="489104"/>
                </a:lnTo>
                <a:lnTo>
                  <a:pt x="55357" y="429753"/>
                </a:lnTo>
                <a:lnTo>
                  <a:pt x="40277" y="400075"/>
                </a:lnTo>
                <a:lnTo>
                  <a:pt x="36937" y="395681"/>
                </a:lnTo>
                <a:lnTo>
                  <a:pt x="36937" y="391287"/>
                </a:lnTo>
                <a:lnTo>
                  <a:pt x="56977" y="391287"/>
                </a:lnTo>
                <a:lnTo>
                  <a:pt x="66213" y="414778"/>
                </a:lnTo>
                <a:lnTo>
                  <a:pt x="78264" y="434149"/>
                </a:lnTo>
                <a:lnTo>
                  <a:pt x="92194" y="451873"/>
                </a:lnTo>
                <a:lnTo>
                  <a:pt x="107066" y="470420"/>
                </a:lnTo>
                <a:lnTo>
                  <a:pt x="143965" y="470420"/>
                </a:lnTo>
                <a:lnTo>
                  <a:pt x="143794" y="483603"/>
                </a:lnTo>
                <a:lnTo>
                  <a:pt x="143794" y="492404"/>
                </a:lnTo>
                <a:lnTo>
                  <a:pt x="147135" y="496798"/>
                </a:lnTo>
                <a:lnTo>
                  <a:pt x="143794" y="501192"/>
                </a:lnTo>
                <a:lnTo>
                  <a:pt x="141289" y="509021"/>
                </a:lnTo>
                <a:lnTo>
                  <a:pt x="138784" y="517677"/>
                </a:lnTo>
                <a:lnTo>
                  <a:pt x="136279" y="524685"/>
                </a:lnTo>
                <a:lnTo>
                  <a:pt x="133774" y="527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14640" y="2037909"/>
            <a:ext cx="424180" cy="671830"/>
          </a:xfrm>
          <a:custGeom>
            <a:avLst/>
            <a:gdLst/>
            <a:ahLst/>
            <a:cxnLst/>
            <a:rect l="l" t="t" r="r" b="b"/>
            <a:pathLst>
              <a:path w="424180" h="671830">
                <a:moveTo>
                  <a:pt x="232935" y="328930"/>
                </a:moveTo>
                <a:lnTo>
                  <a:pt x="179920" y="328930"/>
                </a:lnTo>
                <a:lnTo>
                  <a:pt x="209905" y="302260"/>
                </a:lnTo>
                <a:lnTo>
                  <a:pt x="203975" y="280670"/>
                </a:lnTo>
                <a:lnTo>
                  <a:pt x="207413" y="262890"/>
                </a:lnTo>
                <a:lnTo>
                  <a:pt x="214599" y="245110"/>
                </a:lnTo>
                <a:lnTo>
                  <a:pt x="219913" y="227330"/>
                </a:lnTo>
                <a:lnTo>
                  <a:pt x="211889" y="227330"/>
                </a:lnTo>
                <a:lnTo>
                  <a:pt x="194604" y="224790"/>
                </a:lnTo>
                <a:lnTo>
                  <a:pt x="163258" y="200660"/>
                </a:lnTo>
                <a:lnTo>
                  <a:pt x="163258" y="195580"/>
                </a:lnTo>
                <a:lnTo>
                  <a:pt x="166598" y="195580"/>
                </a:lnTo>
                <a:lnTo>
                  <a:pt x="178573" y="193040"/>
                </a:lnTo>
                <a:lnTo>
                  <a:pt x="201270" y="190500"/>
                </a:lnTo>
                <a:lnTo>
                  <a:pt x="213245" y="186690"/>
                </a:lnTo>
                <a:lnTo>
                  <a:pt x="222041" y="185420"/>
                </a:lnTo>
                <a:lnTo>
                  <a:pt x="228652" y="180340"/>
                </a:lnTo>
                <a:lnTo>
                  <a:pt x="233389" y="172720"/>
                </a:lnTo>
                <a:lnTo>
                  <a:pt x="246562" y="124460"/>
                </a:lnTo>
                <a:lnTo>
                  <a:pt x="266555" y="53340"/>
                </a:lnTo>
                <a:lnTo>
                  <a:pt x="276555" y="20320"/>
                </a:lnTo>
                <a:lnTo>
                  <a:pt x="278687" y="10160"/>
                </a:lnTo>
                <a:lnTo>
                  <a:pt x="281133" y="2540"/>
                </a:lnTo>
                <a:lnTo>
                  <a:pt x="285456" y="0"/>
                </a:lnTo>
                <a:lnTo>
                  <a:pt x="293217" y="2540"/>
                </a:lnTo>
                <a:lnTo>
                  <a:pt x="301805" y="11430"/>
                </a:lnTo>
                <a:lnTo>
                  <a:pt x="306958" y="21590"/>
                </a:lnTo>
                <a:lnTo>
                  <a:pt x="307740" y="33020"/>
                </a:lnTo>
                <a:lnTo>
                  <a:pt x="303212" y="41910"/>
                </a:lnTo>
                <a:lnTo>
                  <a:pt x="287645" y="71120"/>
                </a:lnTo>
                <a:lnTo>
                  <a:pt x="278638" y="102870"/>
                </a:lnTo>
                <a:lnTo>
                  <a:pt x="272755" y="138430"/>
                </a:lnTo>
                <a:lnTo>
                  <a:pt x="266560" y="173990"/>
                </a:lnTo>
                <a:lnTo>
                  <a:pt x="353186" y="173990"/>
                </a:lnTo>
                <a:lnTo>
                  <a:pt x="353186" y="179070"/>
                </a:lnTo>
                <a:lnTo>
                  <a:pt x="349859" y="186690"/>
                </a:lnTo>
                <a:lnTo>
                  <a:pt x="343192" y="186690"/>
                </a:lnTo>
                <a:lnTo>
                  <a:pt x="273215" y="213360"/>
                </a:lnTo>
                <a:lnTo>
                  <a:pt x="264941" y="214630"/>
                </a:lnTo>
                <a:lnTo>
                  <a:pt x="259476" y="217170"/>
                </a:lnTo>
                <a:lnTo>
                  <a:pt x="255884" y="223520"/>
                </a:lnTo>
                <a:lnTo>
                  <a:pt x="253225" y="231140"/>
                </a:lnTo>
                <a:lnTo>
                  <a:pt x="248746" y="243840"/>
                </a:lnTo>
                <a:lnTo>
                  <a:pt x="241041" y="266700"/>
                </a:lnTo>
                <a:lnTo>
                  <a:pt x="236562" y="279400"/>
                </a:lnTo>
                <a:lnTo>
                  <a:pt x="327341" y="279400"/>
                </a:lnTo>
                <a:lnTo>
                  <a:pt x="339864" y="284480"/>
                </a:lnTo>
                <a:lnTo>
                  <a:pt x="349648" y="288290"/>
                </a:lnTo>
                <a:lnTo>
                  <a:pt x="358182" y="295910"/>
                </a:lnTo>
                <a:lnTo>
                  <a:pt x="364219" y="304800"/>
                </a:lnTo>
                <a:lnTo>
                  <a:pt x="364410" y="306070"/>
                </a:lnTo>
                <a:lnTo>
                  <a:pt x="269887" y="306070"/>
                </a:lnTo>
                <a:lnTo>
                  <a:pt x="269887" y="314960"/>
                </a:lnTo>
                <a:lnTo>
                  <a:pt x="253225" y="314960"/>
                </a:lnTo>
                <a:lnTo>
                  <a:pt x="246301" y="318770"/>
                </a:lnTo>
                <a:lnTo>
                  <a:pt x="240314" y="322580"/>
                </a:lnTo>
                <a:lnTo>
                  <a:pt x="234953" y="326390"/>
                </a:lnTo>
                <a:lnTo>
                  <a:pt x="232935" y="328930"/>
                </a:lnTo>
                <a:close/>
              </a:path>
              <a:path w="424180" h="671830">
                <a:moveTo>
                  <a:pt x="44977" y="528320"/>
                </a:moveTo>
                <a:lnTo>
                  <a:pt x="14053" y="499110"/>
                </a:lnTo>
                <a:lnTo>
                  <a:pt x="117" y="448310"/>
                </a:lnTo>
                <a:lnTo>
                  <a:pt x="0" y="443230"/>
                </a:lnTo>
                <a:lnTo>
                  <a:pt x="3327" y="438150"/>
                </a:lnTo>
                <a:lnTo>
                  <a:pt x="3327" y="434340"/>
                </a:lnTo>
                <a:lnTo>
                  <a:pt x="18789" y="403860"/>
                </a:lnTo>
                <a:lnTo>
                  <a:pt x="34566" y="374650"/>
                </a:lnTo>
                <a:lnTo>
                  <a:pt x="49718" y="342900"/>
                </a:lnTo>
                <a:lnTo>
                  <a:pt x="70231" y="293370"/>
                </a:lnTo>
                <a:lnTo>
                  <a:pt x="81576" y="255270"/>
                </a:lnTo>
                <a:lnTo>
                  <a:pt x="86626" y="236220"/>
                </a:lnTo>
                <a:lnTo>
                  <a:pt x="89966" y="231140"/>
                </a:lnTo>
                <a:lnTo>
                  <a:pt x="83299" y="227330"/>
                </a:lnTo>
                <a:lnTo>
                  <a:pt x="83299" y="218440"/>
                </a:lnTo>
                <a:lnTo>
                  <a:pt x="70072" y="194310"/>
                </a:lnTo>
                <a:lnTo>
                  <a:pt x="64968" y="173990"/>
                </a:lnTo>
                <a:lnTo>
                  <a:pt x="67363" y="152400"/>
                </a:lnTo>
                <a:lnTo>
                  <a:pt x="76631" y="125730"/>
                </a:lnTo>
                <a:lnTo>
                  <a:pt x="99541" y="83820"/>
                </a:lnTo>
                <a:lnTo>
                  <a:pt x="129946" y="54610"/>
                </a:lnTo>
                <a:lnTo>
                  <a:pt x="144262" y="48260"/>
                </a:lnTo>
                <a:lnTo>
                  <a:pt x="157018" y="48260"/>
                </a:lnTo>
                <a:lnTo>
                  <a:pt x="167899" y="53340"/>
                </a:lnTo>
                <a:lnTo>
                  <a:pt x="176593" y="63500"/>
                </a:lnTo>
                <a:lnTo>
                  <a:pt x="182111" y="76200"/>
                </a:lnTo>
                <a:lnTo>
                  <a:pt x="183256" y="85090"/>
                </a:lnTo>
                <a:lnTo>
                  <a:pt x="179402" y="92710"/>
                </a:lnTo>
                <a:lnTo>
                  <a:pt x="169925" y="99060"/>
                </a:lnTo>
                <a:lnTo>
                  <a:pt x="154675" y="107950"/>
                </a:lnTo>
                <a:lnTo>
                  <a:pt x="142859" y="120650"/>
                </a:lnTo>
                <a:lnTo>
                  <a:pt x="132914" y="135890"/>
                </a:lnTo>
                <a:lnTo>
                  <a:pt x="123278" y="152400"/>
                </a:lnTo>
                <a:lnTo>
                  <a:pt x="121511" y="161290"/>
                </a:lnTo>
                <a:lnTo>
                  <a:pt x="121616" y="171450"/>
                </a:lnTo>
                <a:lnTo>
                  <a:pt x="124220" y="180340"/>
                </a:lnTo>
                <a:lnTo>
                  <a:pt x="129946" y="186690"/>
                </a:lnTo>
                <a:lnTo>
                  <a:pt x="136613" y="191770"/>
                </a:lnTo>
                <a:lnTo>
                  <a:pt x="139941" y="200660"/>
                </a:lnTo>
                <a:lnTo>
                  <a:pt x="143268" y="204470"/>
                </a:lnTo>
                <a:lnTo>
                  <a:pt x="161338" y="233680"/>
                </a:lnTo>
                <a:lnTo>
                  <a:pt x="170345" y="257810"/>
                </a:lnTo>
                <a:lnTo>
                  <a:pt x="169979" y="283210"/>
                </a:lnTo>
                <a:lnTo>
                  <a:pt x="159931" y="314960"/>
                </a:lnTo>
                <a:lnTo>
                  <a:pt x="179920" y="328930"/>
                </a:lnTo>
                <a:lnTo>
                  <a:pt x="232935" y="328930"/>
                </a:lnTo>
                <a:lnTo>
                  <a:pt x="229908" y="332740"/>
                </a:lnTo>
                <a:lnTo>
                  <a:pt x="226568" y="332740"/>
                </a:lnTo>
                <a:lnTo>
                  <a:pt x="223240" y="336550"/>
                </a:lnTo>
                <a:lnTo>
                  <a:pt x="143268" y="336550"/>
                </a:lnTo>
                <a:lnTo>
                  <a:pt x="113284" y="403860"/>
                </a:lnTo>
                <a:lnTo>
                  <a:pt x="109956" y="407670"/>
                </a:lnTo>
                <a:lnTo>
                  <a:pt x="109956" y="416560"/>
                </a:lnTo>
                <a:lnTo>
                  <a:pt x="113284" y="425450"/>
                </a:lnTo>
                <a:lnTo>
                  <a:pt x="113803" y="433070"/>
                </a:lnTo>
                <a:lnTo>
                  <a:pt x="116091" y="448310"/>
                </a:lnTo>
                <a:lnTo>
                  <a:pt x="116611" y="455930"/>
                </a:lnTo>
                <a:lnTo>
                  <a:pt x="108454" y="513080"/>
                </a:lnTo>
                <a:lnTo>
                  <a:pt x="66636" y="513080"/>
                </a:lnTo>
                <a:lnTo>
                  <a:pt x="55181" y="525780"/>
                </a:lnTo>
                <a:lnTo>
                  <a:pt x="44977" y="528320"/>
                </a:lnTo>
                <a:close/>
              </a:path>
              <a:path w="424180" h="671830">
                <a:moveTo>
                  <a:pt x="353186" y="173990"/>
                </a:moveTo>
                <a:lnTo>
                  <a:pt x="266560" y="173990"/>
                </a:lnTo>
                <a:lnTo>
                  <a:pt x="279571" y="167640"/>
                </a:lnTo>
                <a:lnTo>
                  <a:pt x="293211" y="161290"/>
                </a:lnTo>
                <a:lnTo>
                  <a:pt x="306851" y="156210"/>
                </a:lnTo>
                <a:lnTo>
                  <a:pt x="319862" y="152400"/>
                </a:lnTo>
                <a:lnTo>
                  <a:pt x="326529" y="147320"/>
                </a:lnTo>
                <a:lnTo>
                  <a:pt x="336524" y="147320"/>
                </a:lnTo>
                <a:lnTo>
                  <a:pt x="339864" y="152400"/>
                </a:lnTo>
                <a:lnTo>
                  <a:pt x="344753" y="156210"/>
                </a:lnTo>
                <a:lnTo>
                  <a:pt x="349021" y="161290"/>
                </a:lnTo>
                <a:lnTo>
                  <a:pt x="352041" y="167640"/>
                </a:lnTo>
                <a:lnTo>
                  <a:pt x="353186" y="173990"/>
                </a:lnTo>
                <a:close/>
              </a:path>
              <a:path w="424180" h="671830">
                <a:moveTo>
                  <a:pt x="327341" y="279400"/>
                </a:moveTo>
                <a:lnTo>
                  <a:pt x="236562" y="279400"/>
                </a:lnTo>
                <a:lnTo>
                  <a:pt x="263480" y="274320"/>
                </a:lnTo>
                <a:lnTo>
                  <a:pt x="289461" y="271780"/>
                </a:lnTo>
                <a:lnTo>
                  <a:pt x="314819" y="274320"/>
                </a:lnTo>
                <a:lnTo>
                  <a:pt x="327341" y="279400"/>
                </a:lnTo>
                <a:close/>
              </a:path>
              <a:path w="424180" h="671830">
                <a:moveTo>
                  <a:pt x="357532" y="389890"/>
                </a:moveTo>
                <a:lnTo>
                  <a:pt x="269887" y="389890"/>
                </a:lnTo>
                <a:lnTo>
                  <a:pt x="316534" y="328930"/>
                </a:lnTo>
                <a:lnTo>
                  <a:pt x="319191" y="318770"/>
                </a:lnTo>
                <a:lnTo>
                  <a:pt x="317785" y="312420"/>
                </a:lnTo>
                <a:lnTo>
                  <a:pt x="313255" y="307340"/>
                </a:lnTo>
                <a:lnTo>
                  <a:pt x="306539" y="306070"/>
                </a:lnTo>
                <a:lnTo>
                  <a:pt x="364410" y="306070"/>
                </a:lnTo>
                <a:lnTo>
                  <a:pt x="366509" y="320040"/>
                </a:lnTo>
                <a:lnTo>
                  <a:pt x="367138" y="335280"/>
                </a:lnTo>
                <a:lnTo>
                  <a:pt x="364015" y="349250"/>
                </a:lnTo>
                <a:lnTo>
                  <a:pt x="357142" y="359410"/>
                </a:lnTo>
                <a:lnTo>
                  <a:pt x="346519" y="368300"/>
                </a:lnTo>
                <a:lnTo>
                  <a:pt x="343192" y="368300"/>
                </a:lnTo>
                <a:lnTo>
                  <a:pt x="336524" y="377190"/>
                </a:lnTo>
                <a:lnTo>
                  <a:pt x="343192" y="381000"/>
                </a:lnTo>
                <a:lnTo>
                  <a:pt x="349859" y="381000"/>
                </a:lnTo>
                <a:lnTo>
                  <a:pt x="353186" y="386080"/>
                </a:lnTo>
                <a:lnTo>
                  <a:pt x="357532" y="389890"/>
                </a:lnTo>
                <a:close/>
              </a:path>
              <a:path w="424180" h="671830">
                <a:moveTo>
                  <a:pt x="365240" y="398780"/>
                </a:moveTo>
                <a:lnTo>
                  <a:pt x="226568" y="398780"/>
                </a:lnTo>
                <a:lnTo>
                  <a:pt x="239636" y="389890"/>
                </a:lnTo>
                <a:lnTo>
                  <a:pt x="248645" y="372110"/>
                </a:lnTo>
                <a:lnTo>
                  <a:pt x="253280" y="346710"/>
                </a:lnTo>
                <a:lnTo>
                  <a:pt x="253225" y="314960"/>
                </a:lnTo>
                <a:lnTo>
                  <a:pt x="269887" y="314960"/>
                </a:lnTo>
                <a:lnTo>
                  <a:pt x="269315" y="355600"/>
                </a:lnTo>
                <a:lnTo>
                  <a:pt x="263220" y="386080"/>
                </a:lnTo>
                <a:lnTo>
                  <a:pt x="266560" y="386080"/>
                </a:lnTo>
                <a:lnTo>
                  <a:pt x="266560" y="389890"/>
                </a:lnTo>
                <a:lnTo>
                  <a:pt x="357532" y="389890"/>
                </a:lnTo>
                <a:lnTo>
                  <a:pt x="361878" y="393700"/>
                </a:lnTo>
                <a:lnTo>
                  <a:pt x="365240" y="398780"/>
                </a:lnTo>
                <a:close/>
              </a:path>
              <a:path w="424180" h="671830">
                <a:moveTo>
                  <a:pt x="370118" y="420370"/>
                </a:moveTo>
                <a:lnTo>
                  <a:pt x="169925" y="420370"/>
                </a:lnTo>
                <a:lnTo>
                  <a:pt x="162949" y="398780"/>
                </a:lnTo>
                <a:lnTo>
                  <a:pt x="156597" y="377190"/>
                </a:lnTo>
                <a:lnTo>
                  <a:pt x="150244" y="356870"/>
                </a:lnTo>
                <a:lnTo>
                  <a:pt x="143268" y="336550"/>
                </a:lnTo>
                <a:lnTo>
                  <a:pt x="223240" y="336550"/>
                </a:lnTo>
                <a:lnTo>
                  <a:pt x="223283" y="342900"/>
                </a:lnTo>
                <a:lnTo>
                  <a:pt x="223543" y="350520"/>
                </a:lnTo>
                <a:lnTo>
                  <a:pt x="209905" y="350520"/>
                </a:lnTo>
                <a:lnTo>
                  <a:pt x="194083" y="359410"/>
                </a:lnTo>
                <a:lnTo>
                  <a:pt x="185754" y="365760"/>
                </a:lnTo>
                <a:lnTo>
                  <a:pt x="183671" y="372110"/>
                </a:lnTo>
                <a:lnTo>
                  <a:pt x="186588" y="381000"/>
                </a:lnTo>
                <a:lnTo>
                  <a:pt x="191743" y="397510"/>
                </a:lnTo>
                <a:lnTo>
                  <a:pt x="197832" y="405130"/>
                </a:lnTo>
                <a:lnTo>
                  <a:pt x="205796" y="407670"/>
                </a:lnTo>
                <a:lnTo>
                  <a:pt x="369142" y="407670"/>
                </a:lnTo>
                <a:lnTo>
                  <a:pt x="370523" y="412750"/>
                </a:lnTo>
                <a:lnTo>
                  <a:pt x="370118" y="420370"/>
                </a:lnTo>
                <a:close/>
              </a:path>
              <a:path w="424180" h="671830">
                <a:moveTo>
                  <a:pt x="369142" y="407670"/>
                </a:moveTo>
                <a:lnTo>
                  <a:pt x="205796" y="407670"/>
                </a:lnTo>
                <a:lnTo>
                  <a:pt x="216573" y="403860"/>
                </a:lnTo>
                <a:lnTo>
                  <a:pt x="214127" y="389890"/>
                </a:lnTo>
                <a:lnTo>
                  <a:pt x="211991" y="377190"/>
                </a:lnTo>
                <a:lnTo>
                  <a:pt x="210479" y="363220"/>
                </a:lnTo>
                <a:lnTo>
                  <a:pt x="209905" y="350520"/>
                </a:lnTo>
                <a:lnTo>
                  <a:pt x="223543" y="350520"/>
                </a:lnTo>
                <a:lnTo>
                  <a:pt x="223760" y="356870"/>
                </a:lnTo>
                <a:lnTo>
                  <a:pt x="224904" y="372110"/>
                </a:lnTo>
                <a:lnTo>
                  <a:pt x="226048" y="386080"/>
                </a:lnTo>
                <a:lnTo>
                  <a:pt x="226568" y="398780"/>
                </a:lnTo>
                <a:lnTo>
                  <a:pt x="365240" y="398780"/>
                </a:lnTo>
                <a:lnTo>
                  <a:pt x="367761" y="402590"/>
                </a:lnTo>
                <a:lnTo>
                  <a:pt x="369142" y="407670"/>
                </a:lnTo>
                <a:close/>
              </a:path>
              <a:path w="424180" h="671830">
                <a:moveTo>
                  <a:pt x="153687" y="495300"/>
                </a:moveTo>
                <a:lnTo>
                  <a:pt x="125361" y="453390"/>
                </a:lnTo>
                <a:lnTo>
                  <a:pt x="124891" y="436880"/>
                </a:lnTo>
                <a:lnTo>
                  <a:pt x="126606" y="420370"/>
                </a:lnTo>
                <a:lnTo>
                  <a:pt x="126606" y="416560"/>
                </a:lnTo>
                <a:lnTo>
                  <a:pt x="154933" y="416560"/>
                </a:lnTo>
                <a:lnTo>
                  <a:pt x="162429" y="417830"/>
                </a:lnTo>
                <a:lnTo>
                  <a:pt x="169925" y="420370"/>
                </a:lnTo>
                <a:lnTo>
                  <a:pt x="370118" y="420370"/>
                </a:lnTo>
                <a:lnTo>
                  <a:pt x="306539" y="452120"/>
                </a:lnTo>
                <a:lnTo>
                  <a:pt x="292431" y="458470"/>
                </a:lnTo>
                <a:lnTo>
                  <a:pt x="283187" y="469900"/>
                </a:lnTo>
                <a:lnTo>
                  <a:pt x="236562" y="469900"/>
                </a:lnTo>
                <a:lnTo>
                  <a:pt x="229066" y="472440"/>
                </a:lnTo>
                <a:lnTo>
                  <a:pt x="214074" y="474980"/>
                </a:lnTo>
                <a:lnTo>
                  <a:pt x="206578" y="478790"/>
                </a:lnTo>
                <a:lnTo>
                  <a:pt x="198562" y="481330"/>
                </a:lnTo>
                <a:lnTo>
                  <a:pt x="181282" y="487680"/>
                </a:lnTo>
                <a:lnTo>
                  <a:pt x="173266" y="491490"/>
                </a:lnTo>
                <a:lnTo>
                  <a:pt x="163319" y="494030"/>
                </a:lnTo>
                <a:lnTo>
                  <a:pt x="153687" y="495300"/>
                </a:lnTo>
                <a:close/>
              </a:path>
              <a:path w="424180" h="671830">
                <a:moveTo>
                  <a:pt x="360679" y="610870"/>
                </a:moveTo>
                <a:lnTo>
                  <a:pt x="313207" y="610870"/>
                </a:lnTo>
                <a:lnTo>
                  <a:pt x="293217" y="557530"/>
                </a:lnTo>
                <a:lnTo>
                  <a:pt x="286550" y="553720"/>
                </a:lnTo>
                <a:lnTo>
                  <a:pt x="283209" y="553720"/>
                </a:lnTo>
                <a:lnTo>
                  <a:pt x="255774" y="548640"/>
                </a:lnTo>
                <a:lnTo>
                  <a:pt x="241146" y="537210"/>
                </a:lnTo>
                <a:lnTo>
                  <a:pt x="235888" y="516890"/>
                </a:lnTo>
                <a:lnTo>
                  <a:pt x="236437" y="488950"/>
                </a:lnTo>
                <a:lnTo>
                  <a:pt x="236562" y="469900"/>
                </a:lnTo>
                <a:lnTo>
                  <a:pt x="283187" y="469900"/>
                </a:lnTo>
                <a:lnTo>
                  <a:pt x="281133" y="472440"/>
                </a:lnTo>
                <a:lnTo>
                  <a:pt x="274207" y="488950"/>
                </a:lnTo>
                <a:lnTo>
                  <a:pt x="273215" y="509270"/>
                </a:lnTo>
                <a:lnTo>
                  <a:pt x="423619" y="509270"/>
                </a:lnTo>
                <a:lnTo>
                  <a:pt x="423470" y="511810"/>
                </a:lnTo>
                <a:lnTo>
                  <a:pt x="419823" y="521970"/>
                </a:lnTo>
                <a:lnTo>
                  <a:pt x="359017" y="521970"/>
                </a:lnTo>
                <a:lnTo>
                  <a:pt x="340796" y="527050"/>
                </a:lnTo>
                <a:lnTo>
                  <a:pt x="323202" y="535940"/>
                </a:lnTo>
                <a:lnTo>
                  <a:pt x="333768" y="558800"/>
                </a:lnTo>
                <a:lnTo>
                  <a:pt x="345273" y="581660"/>
                </a:lnTo>
                <a:lnTo>
                  <a:pt x="357404" y="604520"/>
                </a:lnTo>
                <a:lnTo>
                  <a:pt x="360679" y="610870"/>
                </a:lnTo>
                <a:close/>
              </a:path>
              <a:path w="424180" h="671830">
                <a:moveTo>
                  <a:pt x="423619" y="509270"/>
                </a:moveTo>
                <a:lnTo>
                  <a:pt x="283209" y="509270"/>
                </a:lnTo>
                <a:lnTo>
                  <a:pt x="286550" y="504190"/>
                </a:lnTo>
                <a:lnTo>
                  <a:pt x="309090" y="490220"/>
                </a:lnTo>
                <a:lnTo>
                  <a:pt x="331944" y="481330"/>
                </a:lnTo>
                <a:lnTo>
                  <a:pt x="355424" y="474980"/>
                </a:lnTo>
                <a:lnTo>
                  <a:pt x="379844" y="473710"/>
                </a:lnTo>
                <a:lnTo>
                  <a:pt x="389264" y="477520"/>
                </a:lnTo>
                <a:lnTo>
                  <a:pt x="397748" y="480060"/>
                </a:lnTo>
                <a:lnTo>
                  <a:pt x="405608" y="483870"/>
                </a:lnTo>
                <a:lnTo>
                  <a:pt x="413156" y="486410"/>
                </a:lnTo>
                <a:lnTo>
                  <a:pt x="420761" y="494030"/>
                </a:lnTo>
                <a:lnTo>
                  <a:pt x="423991" y="502920"/>
                </a:lnTo>
                <a:lnTo>
                  <a:pt x="423619" y="509270"/>
                </a:lnTo>
                <a:close/>
              </a:path>
              <a:path w="424180" h="671830">
                <a:moveTo>
                  <a:pt x="86626" y="671830"/>
                </a:moveTo>
                <a:lnTo>
                  <a:pt x="67782" y="666750"/>
                </a:lnTo>
                <a:lnTo>
                  <a:pt x="55808" y="655320"/>
                </a:lnTo>
                <a:lnTo>
                  <a:pt x="50081" y="637540"/>
                </a:lnTo>
                <a:lnTo>
                  <a:pt x="49974" y="614680"/>
                </a:lnTo>
                <a:lnTo>
                  <a:pt x="54453" y="590550"/>
                </a:lnTo>
                <a:lnTo>
                  <a:pt x="58305" y="566420"/>
                </a:lnTo>
                <a:lnTo>
                  <a:pt x="62158" y="539750"/>
                </a:lnTo>
                <a:lnTo>
                  <a:pt x="66636" y="513080"/>
                </a:lnTo>
                <a:lnTo>
                  <a:pt x="108454" y="513080"/>
                </a:lnTo>
                <a:lnTo>
                  <a:pt x="102036" y="558800"/>
                </a:lnTo>
                <a:lnTo>
                  <a:pt x="95531" y="609600"/>
                </a:lnTo>
                <a:lnTo>
                  <a:pt x="89966" y="659130"/>
                </a:lnTo>
                <a:lnTo>
                  <a:pt x="86626" y="662940"/>
                </a:lnTo>
                <a:lnTo>
                  <a:pt x="86626" y="671830"/>
                </a:lnTo>
                <a:close/>
              </a:path>
              <a:path w="424180" h="671830">
                <a:moveTo>
                  <a:pt x="411081" y="533400"/>
                </a:moveTo>
                <a:lnTo>
                  <a:pt x="405302" y="533400"/>
                </a:lnTo>
                <a:lnTo>
                  <a:pt x="399834" y="530860"/>
                </a:lnTo>
                <a:lnTo>
                  <a:pt x="378489" y="521970"/>
                </a:lnTo>
                <a:lnTo>
                  <a:pt x="419823" y="521970"/>
                </a:lnTo>
                <a:lnTo>
                  <a:pt x="416234" y="529590"/>
                </a:lnTo>
                <a:lnTo>
                  <a:pt x="411081" y="533400"/>
                </a:lnTo>
                <a:close/>
              </a:path>
              <a:path w="424180" h="671830">
                <a:moveTo>
                  <a:pt x="369849" y="668020"/>
                </a:moveTo>
                <a:lnTo>
                  <a:pt x="349859" y="668020"/>
                </a:lnTo>
                <a:lnTo>
                  <a:pt x="315030" y="656590"/>
                </a:lnTo>
                <a:lnTo>
                  <a:pt x="249120" y="624840"/>
                </a:lnTo>
                <a:lnTo>
                  <a:pt x="210434" y="591820"/>
                </a:lnTo>
                <a:lnTo>
                  <a:pt x="192733" y="571500"/>
                </a:lnTo>
                <a:lnTo>
                  <a:pt x="183260" y="561340"/>
                </a:lnTo>
                <a:lnTo>
                  <a:pt x="176593" y="553720"/>
                </a:lnTo>
                <a:lnTo>
                  <a:pt x="176593" y="527050"/>
                </a:lnTo>
                <a:lnTo>
                  <a:pt x="193255" y="527050"/>
                </a:lnTo>
                <a:lnTo>
                  <a:pt x="199910" y="535940"/>
                </a:lnTo>
                <a:lnTo>
                  <a:pt x="203250" y="544830"/>
                </a:lnTo>
                <a:lnTo>
                  <a:pt x="226417" y="570230"/>
                </a:lnTo>
                <a:lnTo>
                  <a:pt x="251147" y="590550"/>
                </a:lnTo>
                <a:lnTo>
                  <a:pt x="277751" y="603250"/>
                </a:lnTo>
                <a:lnTo>
                  <a:pt x="306539" y="610870"/>
                </a:lnTo>
                <a:lnTo>
                  <a:pt x="360679" y="610870"/>
                </a:lnTo>
                <a:lnTo>
                  <a:pt x="369849" y="628650"/>
                </a:lnTo>
                <a:lnTo>
                  <a:pt x="371721" y="636270"/>
                </a:lnTo>
                <a:lnTo>
                  <a:pt x="372344" y="645160"/>
                </a:lnTo>
                <a:lnTo>
                  <a:pt x="371721" y="655320"/>
                </a:lnTo>
                <a:lnTo>
                  <a:pt x="369849" y="662940"/>
                </a:lnTo>
                <a:lnTo>
                  <a:pt x="369849" y="66802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31734" y="2561132"/>
            <a:ext cx="50800" cy="189230"/>
          </a:xfrm>
          <a:custGeom>
            <a:avLst/>
            <a:gdLst/>
            <a:ahLst/>
            <a:cxnLst/>
            <a:rect l="l" t="t" r="r" b="b"/>
            <a:pathLst>
              <a:path w="50800" h="189230">
                <a:moveTo>
                  <a:pt x="29819" y="189001"/>
                </a:moveTo>
                <a:lnTo>
                  <a:pt x="22933" y="183165"/>
                </a:lnTo>
                <a:lnTo>
                  <a:pt x="16981" y="178565"/>
                </a:lnTo>
                <a:lnTo>
                  <a:pt x="11651" y="174788"/>
                </a:lnTo>
                <a:lnTo>
                  <a:pt x="6629" y="171424"/>
                </a:lnTo>
                <a:lnTo>
                  <a:pt x="0" y="162636"/>
                </a:lnTo>
                <a:lnTo>
                  <a:pt x="0" y="153835"/>
                </a:lnTo>
                <a:lnTo>
                  <a:pt x="7456" y="116818"/>
                </a:lnTo>
                <a:lnTo>
                  <a:pt x="14909" y="78565"/>
                </a:lnTo>
                <a:lnTo>
                  <a:pt x="22363" y="39488"/>
                </a:lnTo>
                <a:lnTo>
                  <a:pt x="29819" y="0"/>
                </a:lnTo>
                <a:lnTo>
                  <a:pt x="41776" y="10024"/>
                </a:lnTo>
                <a:lnTo>
                  <a:pt x="48453" y="20874"/>
                </a:lnTo>
                <a:lnTo>
                  <a:pt x="50782" y="33373"/>
                </a:lnTo>
                <a:lnTo>
                  <a:pt x="49695" y="48348"/>
                </a:lnTo>
                <a:lnTo>
                  <a:pt x="43332" y="82070"/>
                </a:lnTo>
                <a:lnTo>
                  <a:pt x="38519" y="117027"/>
                </a:lnTo>
                <a:lnTo>
                  <a:pt x="34325" y="152808"/>
                </a:lnTo>
                <a:lnTo>
                  <a:pt x="29819" y="189001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92399" y="3075546"/>
            <a:ext cx="182245" cy="324485"/>
          </a:xfrm>
          <a:custGeom>
            <a:avLst/>
            <a:gdLst/>
            <a:ahLst/>
            <a:cxnLst/>
            <a:rect l="l" t="t" r="r" b="b"/>
            <a:pathLst>
              <a:path w="182244" h="324485">
                <a:moveTo>
                  <a:pt x="20816" y="271181"/>
                </a:moveTo>
                <a:lnTo>
                  <a:pt x="16604" y="268511"/>
                </a:lnTo>
                <a:lnTo>
                  <a:pt x="12080" y="262966"/>
                </a:lnTo>
                <a:lnTo>
                  <a:pt x="2760" y="245369"/>
                </a:lnTo>
                <a:lnTo>
                  <a:pt x="0" y="230646"/>
                </a:lnTo>
                <a:lnTo>
                  <a:pt x="4112" y="216744"/>
                </a:lnTo>
                <a:lnTo>
                  <a:pt x="15408" y="201612"/>
                </a:lnTo>
                <a:lnTo>
                  <a:pt x="32888" y="179286"/>
                </a:lnTo>
                <a:lnTo>
                  <a:pt x="67859" y="136282"/>
                </a:lnTo>
                <a:lnTo>
                  <a:pt x="85347" y="113957"/>
                </a:lnTo>
                <a:lnTo>
                  <a:pt x="97262" y="96834"/>
                </a:lnTo>
                <a:lnTo>
                  <a:pt x="108240" y="78892"/>
                </a:lnTo>
                <a:lnTo>
                  <a:pt x="118592" y="60950"/>
                </a:lnTo>
                <a:lnTo>
                  <a:pt x="128628" y="43827"/>
                </a:lnTo>
                <a:lnTo>
                  <a:pt x="128628" y="39446"/>
                </a:lnTo>
                <a:lnTo>
                  <a:pt x="131968" y="30683"/>
                </a:lnTo>
                <a:lnTo>
                  <a:pt x="131968" y="26301"/>
                </a:lnTo>
                <a:lnTo>
                  <a:pt x="131235" y="16646"/>
                </a:lnTo>
                <a:lnTo>
                  <a:pt x="133629" y="8221"/>
                </a:lnTo>
                <a:lnTo>
                  <a:pt x="138523" y="2261"/>
                </a:lnTo>
                <a:lnTo>
                  <a:pt x="145291" y="0"/>
                </a:lnTo>
                <a:lnTo>
                  <a:pt x="152727" y="823"/>
                </a:lnTo>
                <a:lnTo>
                  <a:pt x="181914" y="48763"/>
                </a:lnTo>
                <a:lnTo>
                  <a:pt x="179416" y="70469"/>
                </a:lnTo>
                <a:lnTo>
                  <a:pt x="171923" y="87655"/>
                </a:lnTo>
                <a:lnTo>
                  <a:pt x="158915" y="107379"/>
                </a:lnTo>
                <a:lnTo>
                  <a:pt x="131653" y="146823"/>
                </a:lnTo>
                <a:lnTo>
                  <a:pt x="118646" y="166547"/>
                </a:lnTo>
                <a:lnTo>
                  <a:pt x="132075" y="197436"/>
                </a:lnTo>
                <a:lnTo>
                  <a:pt x="92211" y="197436"/>
                </a:lnTo>
                <a:lnTo>
                  <a:pt x="85347" y="201612"/>
                </a:lnTo>
                <a:lnTo>
                  <a:pt x="72332" y="217360"/>
                </a:lnTo>
                <a:lnTo>
                  <a:pt x="45065" y="247218"/>
                </a:lnTo>
                <a:lnTo>
                  <a:pt x="32057" y="262966"/>
                </a:lnTo>
                <a:lnTo>
                  <a:pt x="25655" y="269743"/>
                </a:lnTo>
                <a:lnTo>
                  <a:pt x="20816" y="271181"/>
                </a:lnTo>
                <a:close/>
              </a:path>
              <a:path w="182244" h="324485">
                <a:moveTo>
                  <a:pt x="145964" y="324467"/>
                </a:moveTo>
                <a:lnTo>
                  <a:pt x="137377" y="318849"/>
                </a:lnTo>
                <a:lnTo>
                  <a:pt x="131911" y="308302"/>
                </a:lnTo>
                <a:lnTo>
                  <a:pt x="128628" y="293649"/>
                </a:lnTo>
                <a:lnTo>
                  <a:pt x="123115" y="273240"/>
                </a:lnTo>
                <a:lnTo>
                  <a:pt x="110799" y="230646"/>
                </a:lnTo>
                <a:lnTo>
                  <a:pt x="105324" y="210375"/>
                </a:lnTo>
                <a:lnTo>
                  <a:pt x="102202" y="202228"/>
                </a:lnTo>
                <a:lnTo>
                  <a:pt x="97831" y="197778"/>
                </a:lnTo>
                <a:lnTo>
                  <a:pt x="92211" y="197436"/>
                </a:lnTo>
                <a:lnTo>
                  <a:pt x="132075" y="197436"/>
                </a:lnTo>
                <a:lnTo>
                  <a:pt x="134722" y="203526"/>
                </a:lnTo>
                <a:lnTo>
                  <a:pt x="147369" y="242149"/>
                </a:lnTo>
                <a:lnTo>
                  <a:pt x="155645" y="282417"/>
                </a:lnTo>
                <a:lnTo>
                  <a:pt x="158613" y="324332"/>
                </a:lnTo>
                <a:lnTo>
                  <a:pt x="145964" y="32446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95304" y="3078835"/>
            <a:ext cx="141827" cy="3200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21041" y="4686876"/>
            <a:ext cx="328930" cy="627380"/>
          </a:xfrm>
          <a:custGeom>
            <a:avLst/>
            <a:gdLst/>
            <a:ahLst/>
            <a:cxnLst/>
            <a:rect l="l" t="t" r="r" b="b"/>
            <a:pathLst>
              <a:path w="328930" h="627379">
                <a:moveTo>
                  <a:pt x="107945" y="87915"/>
                </a:moveTo>
                <a:lnTo>
                  <a:pt x="98678" y="83420"/>
                </a:lnTo>
                <a:lnTo>
                  <a:pt x="90741" y="75407"/>
                </a:lnTo>
                <a:lnTo>
                  <a:pt x="82888" y="58900"/>
                </a:lnTo>
                <a:lnTo>
                  <a:pt x="81260" y="46495"/>
                </a:lnTo>
                <a:lnTo>
                  <a:pt x="86748" y="37606"/>
                </a:lnTo>
                <a:lnTo>
                  <a:pt x="100241" y="31643"/>
                </a:lnTo>
                <a:lnTo>
                  <a:pt x="132338" y="17972"/>
                </a:lnTo>
                <a:lnTo>
                  <a:pt x="164880" y="6643"/>
                </a:lnTo>
                <a:lnTo>
                  <a:pt x="198314" y="0"/>
                </a:lnTo>
                <a:lnTo>
                  <a:pt x="233083" y="388"/>
                </a:lnTo>
                <a:lnTo>
                  <a:pt x="259106" y="6738"/>
                </a:lnTo>
                <a:lnTo>
                  <a:pt x="281125" y="23053"/>
                </a:lnTo>
                <a:lnTo>
                  <a:pt x="300475" y="45228"/>
                </a:lnTo>
                <a:lnTo>
                  <a:pt x="303415" y="49134"/>
                </a:lnTo>
                <a:lnTo>
                  <a:pt x="202764" y="49134"/>
                </a:lnTo>
                <a:lnTo>
                  <a:pt x="176742" y="54314"/>
                </a:lnTo>
                <a:lnTo>
                  <a:pt x="151611" y="65354"/>
                </a:lnTo>
                <a:lnTo>
                  <a:pt x="128701" y="81668"/>
                </a:lnTo>
                <a:lnTo>
                  <a:pt x="118100" y="87721"/>
                </a:lnTo>
                <a:lnTo>
                  <a:pt x="107945" y="87915"/>
                </a:lnTo>
                <a:close/>
              </a:path>
              <a:path w="328930" h="627379">
                <a:moveTo>
                  <a:pt x="249696" y="256712"/>
                </a:moveTo>
                <a:lnTo>
                  <a:pt x="171399" y="256712"/>
                </a:lnTo>
                <a:lnTo>
                  <a:pt x="188010" y="246557"/>
                </a:lnTo>
                <a:lnTo>
                  <a:pt x="196759" y="240012"/>
                </a:lnTo>
                <a:lnTo>
                  <a:pt x="204622" y="231706"/>
                </a:lnTo>
                <a:lnTo>
                  <a:pt x="261556" y="119171"/>
                </a:lnTo>
                <a:lnTo>
                  <a:pt x="267043" y="95240"/>
                </a:lnTo>
                <a:lnTo>
                  <a:pt x="262743" y="73065"/>
                </a:lnTo>
                <a:lnTo>
                  <a:pt x="249547" y="56751"/>
                </a:lnTo>
                <a:lnTo>
                  <a:pt x="228345" y="50401"/>
                </a:lnTo>
                <a:lnTo>
                  <a:pt x="202764" y="49134"/>
                </a:lnTo>
                <a:lnTo>
                  <a:pt x="303415" y="49134"/>
                </a:lnTo>
                <a:lnTo>
                  <a:pt x="318490" y="69159"/>
                </a:lnTo>
                <a:lnTo>
                  <a:pt x="327755" y="85277"/>
                </a:lnTo>
                <a:lnTo>
                  <a:pt x="328540" y="103640"/>
                </a:lnTo>
                <a:lnTo>
                  <a:pt x="328542" y="104425"/>
                </a:lnTo>
                <a:lnTo>
                  <a:pt x="323157" y="124544"/>
                </a:lnTo>
                <a:lnTo>
                  <a:pt x="313740" y="144177"/>
                </a:lnTo>
                <a:lnTo>
                  <a:pt x="249696" y="256712"/>
                </a:lnTo>
                <a:close/>
              </a:path>
              <a:path w="328930" h="627379">
                <a:moveTo>
                  <a:pt x="200532" y="156687"/>
                </a:moveTo>
                <a:lnTo>
                  <a:pt x="90741" y="156687"/>
                </a:lnTo>
                <a:lnTo>
                  <a:pt x="111205" y="151901"/>
                </a:lnTo>
                <a:lnTo>
                  <a:pt x="129889" y="146527"/>
                </a:lnTo>
                <a:lnTo>
                  <a:pt x="168287" y="124942"/>
                </a:lnTo>
                <a:lnTo>
                  <a:pt x="179323" y="104325"/>
                </a:lnTo>
                <a:lnTo>
                  <a:pt x="185635" y="94165"/>
                </a:lnTo>
                <a:lnTo>
                  <a:pt x="195122" y="81668"/>
                </a:lnTo>
                <a:lnTo>
                  <a:pt x="199872" y="81668"/>
                </a:lnTo>
                <a:lnTo>
                  <a:pt x="202618" y="87428"/>
                </a:lnTo>
                <a:lnTo>
                  <a:pt x="203973" y="94655"/>
                </a:lnTo>
                <a:lnTo>
                  <a:pt x="204046" y="95240"/>
                </a:lnTo>
                <a:lnTo>
                  <a:pt x="204548" y="103640"/>
                </a:lnTo>
                <a:lnTo>
                  <a:pt x="204498" y="115271"/>
                </a:lnTo>
                <a:lnTo>
                  <a:pt x="203880" y="126991"/>
                </a:lnTo>
                <a:lnTo>
                  <a:pt x="200614" y="155123"/>
                </a:lnTo>
                <a:lnTo>
                  <a:pt x="200532" y="156687"/>
                </a:lnTo>
                <a:close/>
              </a:path>
              <a:path w="328930" h="627379">
                <a:moveTo>
                  <a:pt x="105056" y="310441"/>
                </a:moveTo>
                <a:lnTo>
                  <a:pt x="67017" y="262961"/>
                </a:lnTo>
                <a:lnTo>
                  <a:pt x="53364" y="194102"/>
                </a:lnTo>
                <a:lnTo>
                  <a:pt x="43294" y="125432"/>
                </a:lnTo>
                <a:lnTo>
                  <a:pt x="42186" y="115172"/>
                </a:lnTo>
                <a:lnTo>
                  <a:pt x="45079" y="104325"/>
                </a:lnTo>
                <a:lnTo>
                  <a:pt x="50638" y="94655"/>
                </a:lnTo>
                <a:lnTo>
                  <a:pt x="57538" y="87913"/>
                </a:lnTo>
                <a:lnTo>
                  <a:pt x="67318" y="83811"/>
                </a:lnTo>
                <a:lnTo>
                  <a:pt x="75327" y="87916"/>
                </a:lnTo>
                <a:lnTo>
                  <a:pt x="81553" y="96707"/>
                </a:lnTo>
                <a:lnTo>
                  <a:pt x="86004" y="106674"/>
                </a:lnTo>
                <a:lnTo>
                  <a:pt x="86744" y="119764"/>
                </a:lnTo>
                <a:lnTo>
                  <a:pt x="90001" y="143597"/>
                </a:lnTo>
                <a:lnTo>
                  <a:pt x="90741" y="156687"/>
                </a:lnTo>
                <a:lnTo>
                  <a:pt x="200532" y="156687"/>
                </a:lnTo>
                <a:lnTo>
                  <a:pt x="199872" y="169184"/>
                </a:lnTo>
                <a:lnTo>
                  <a:pt x="152425" y="169184"/>
                </a:lnTo>
                <a:lnTo>
                  <a:pt x="135820" y="179349"/>
                </a:lnTo>
                <a:lnTo>
                  <a:pt x="127072" y="185891"/>
                </a:lnTo>
                <a:lnTo>
                  <a:pt x="119194" y="194196"/>
                </a:lnTo>
                <a:lnTo>
                  <a:pt x="112321" y="196340"/>
                </a:lnTo>
                <a:lnTo>
                  <a:pt x="106762" y="202008"/>
                </a:lnTo>
                <a:lnTo>
                  <a:pt x="103870" y="210022"/>
                </a:lnTo>
                <a:lnTo>
                  <a:pt x="104978" y="219209"/>
                </a:lnTo>
                <a:lnTo>
                  <a:pt x="106534" y="228584"/>
                </a:lnTo>
                <a:lnTo>
                  <a:pt x="110315" y="237961"/>
                </a:lnTo>
                <a:lnTo>
                  <a:pt x="114986" y="247338"/>
                </a:lnTo>
                <a:lnTo>
                  <a:pt x="119214" y="256712"/>
                </a:lnTo>
                <a:lnTo>
                  <a:pt x="249696" y="256712"/>
                </a:lnTo>
                <a:lnTo>
                  <a:pt x="231902" y="287980"/>
                </a:lnTo>
                <a:lnTo>
                  <a:pt x="171399" y="287980"/>
                </a:lnTo>
                <a:lnTo>
                  <a:pt x="167918" y="293740"/>
                </a:lnTo>
                <a:lnTo>
                  <a:pt x="165195" y="300476"/>
                </a:lnTo>
                <a:lnTo>
                  <a:pt x="133451" y="300476"/>
                </a:lnTo>
                <a:lnTo>
                  <a:pt x="105056" y="310441"/>
                </a:lnTo>
                <a:close/>
              </a:path>
              <a:path w="328930" h="627379">
                <a:moveTo>
                  <a:pt x="171399" y="256712"/>
                </a:moveTo>
                <a:lnTo>
                  <a:pt x="119214" y="256712"/>
                </a:lnTo>
                <a:lnTo>
                  <a:pt x="124252" y="255638"/>
                </a:lnTo>
                <a:lnTo>
                  <a:pt x="131071" y="252807"/>
                </a:lnTo>
                <a:lnTo>
                  <a:pt x="150052" y="212173"/>
                </a:lnTo>
                <a:lnTo>
                  <a:pt x="157175" y="175445"/>
                </a:lnTo>
                <a:lnTo>
                  <a:pt x="152425" y="169184"/>
                </a:lnTo>
                <a:lnTo>
                  <a:pt x="199872" y="169184"/>
                </a:lnTo>
                <a:lnTo>
                  <a:pt x="184673" y="180032"/>
                </a:lnTo>
                <a:lnTo>
                  <a:pt x="177928" y="199670"/>
                </a:lnTo>
                <a:lnTo>
                  <a:pt x="173853" y="222823"/>
                </a:lnTo>
                <a:lnTo>
                  <a:pt x="166662" y="244215"/>
                </a:lnTo>
                <a:lnTo>
                  <a:pt x="166662" y="250464"/>
                </a:lnTo>
                <a:lnTo>
                  <a:pt x="171399" y="250464"/>
                </a:lnTo>
                <a:lnTo>
                  <a:pt x="171399" y="256712"/>
                </a:lnTo>
                <a:close/>
              </a:path>
              <a:path w="328930" h="627379">
                <a:moveTo>
                  <a:pt x="213510" y="311421"/>
                </a:moveTo>
                <a:lnTo>
                  <a:pt x="204984" y="310051"/>
                </a:lnTo>
                <a:lnTo>
                  <a:pt x="195122" y="300476"/>
                </a:lnTo>
                <a:lnTo>
                  <a:pt x="190085" y="295888"/>
                </a:lnTo>
                <a:lnTo>
                  <a:pt x="183265" y="291885"/>
                </a:lnTo>
                <a:lnTo>
                  <a:pt x="176443" y="289053"/>
                </a:lnTo>
                <a:lnTo>
                  <a:pt x="171399" y="287980"/>
                </a:lnTo>
                <a:lnTo>
                  <a:pt x="231902" y="287980"/>
                </a:lnTo>
                <a:lnTo>
                  <a:pt x="228345" y="294228"/>
                </a:lnTo>
                <a:lnTo>
                  <a:pt x="221149" y="305756"/>
                </a:lnTo>
                <a:lnTo>
                  <a:pt x="213510" y="311421"/>
                </a:lnTo>
                <a:close/>
              </a:path>
              <a:path w="328930" h="627379">
                <a:moveTo>
                  <a:pt x="38557" y="469272"/>
                </a:moveTo>
                <a:lnTo>
                  <a:pt x="2149" y="451007"/>
                </a:lnTo>
                <a:lnTo>
                  <a:pt x="0" y="441923"/>
                </a:lnTo>
                <a:lnTo>
                  <a:pt x="4079" y="434009"/>
                </a:lnTo>
                <a:lnTo>
                  <a:pt x="14833" y="425508"/>
                </a:lnTo>
                <a:lnTo>
                  <a:pt x="42487" y="411447"/>
                </a:lnTo>
                <a:lnTo>
                  <a:pt x="68805" y="397382"/>
                </a:lnTo>
                <a:lnTo>
                  <a:pt x="119214" y="369247"/>
                </a:lnTo>
                <a:lnTo>
                  <a:pt x="123952" y="369247"/>
                </a:lnTo>
                <a:lnTo>
                  <a:pt x="128698" y="356745"/>
                </a:lnTo>
                <a:lnTo>
                  <a:pt x="128701" y="350489"/>
                </a:lnTo>
                <a:lnTo>
                  <a:pt x="131447" y="340040"/>
                </a:lnTo>
                <a:lnTo>
                  <a:pt x="132857" y="327831"/>
                </a:lnTo>
                <a:lnTo>
                  <a:pt x="133377" y="314447"/>
                </a:lnTo>
                <a:lnTo>
                  <a:pt x="133451" y="300476"/>
                </a:lnTo>
                <a:lnTo>
                  <a:pt x="165195" y="300476"/>
                </a:lnTo>
                <a:lnTo>
                  <a:pt x="164879" y="301259"/>
                </a:lnTo>
                <a:lnTo>
                  <a:pt x="162752" y="309855"/>
                </a:lnTo>
                <a:lnTo>
                  <a:pt x="162599" y="311421"/>
                </a:lnTo>
                <a:lnTo>
                  <a:pt x="159692" y="344438"/>
                </a:lnTo>
                <a:lnTo>
                  <a:pt x="161918" y="356745"/>
                </a:lnTo>
                <a:lnTo>
                  <a:pt x="171259" y="359673"/>
                </a:lnTo>
                <a:lnTo>
                  <a:pt x="245603" y="359673"/>
                </a:lnTo>
                <a:lnTo>
                  <a:pt x="247319" y="362998"/>
                </a:lnTo>
                <a:lnTo>
                  <a:pt x="249991" y="373350"/>
                </a:lnTo>
                <a:lnTo>
                  <a:pt x="250882" y="384876"/>
                </a:lnTo>
                <a:lnTo>
                  <a:pt x="249991" y="396404"/>
                </a:lnTo>
                <a:lnTo>
                  <a:pt x="247319" y="406763"/>
                </a:lnTo>
                <a:lnTo>
                  <a:pt x="242943" y="415061"/>
                </a:lnTo>
                <a:lnTo>
                  <a:pt x="237234" y="421604"/>
                </a:lnTo>
                <a:lnTo>
                  <a:pt x="232441" y="425508"/>
                </a:lnTo>
                <a:lnTo>
                  <a:pt x="123952" y="425508"/>
                </a:lnTo>
                <a:lnTo>
                  <a:pt x="116836" y="426584"/>
                </a:lnTo>
                <a:lnTo>
                  <a:pt x="109721" y="429419"/>
                </a:lnTo>
                <a:lnTo>
                  <a:pt x="102606" y="433427"/>
                </a:lnTo>
                <a:lnTo>
                  <a:pt x="95491" y="438017"/>
                </a:lnTo>
                <a:lnTo>
                  <a:pt x="81258" y="443780"/>
                </a:lnTo>
                <a:lnTo>
                  <a:pt x="67024" y="451302"/>
                </a:lnTo>
                <a:lnTo>
                  <a:pt x="52789" y="459995"/>
                </a:lnTo>
                <a:lnTo>
                  <a:pt x="38557" y="469272"/>
                </a:lnTo>
                <a:close/>
              </a:path>
              <a:path w="328930" h="627379">
                <a:moveTo>
                  <a:pt x="245603" y="359673"/>
                </a:moveTo>
                <a:lnTo>
                  <a:pt x="171259" y="359673"/>
                </a:lnTo>
                <a:lnTo>
                  <a:pt x="190385" y="356737"/>
                </a:lnTo>
                <a:lnTo>
                  <a:pt x="198243" y="352246"/>
                </a:lnTo>
                <a:lnTo>
                  <a:pt x="206990" y="348927"/>
                </a:lnTo>
                <a:lnTo>
                  <a:pt x="215738" y="347951"/>
                </a:lnTo>
                <a:lnTo>
                  <a:pt x="223596" y="350489"/>
                </a:lnTo>
                <a:lnTo>
                  <a:pt x="231305" y="351563"/>
                </a:lnTo>
                <a:lnTo>
                  <a:pt x="239015" y="354396"/>
                </a:lnTo>
                <a:lnTo>
                  <a:pt x="244947" y="358402"/>
                </a:lnTo>
                <a:lnTo>
                  <a:pt x="245603" y="359673"/>
                </a:lnTo>
                <a:close/>
              </a:path>
              <a:path w="328930" h="627379">
                <a:moveTo>
                  <a:pt x="105872" y="626840"/>
                </a:moveTo>
                <a:lnTo>
                  <a:pt x="94308" y="621664"/>
                </a:lnTo>
                <a:lnTo>
                  <a:pt x="84523" y="610628"/>
                </a:lnTo>
                <a:lnTo>
                  <a:pt x="76517" y="594316"/>
                </a:lnTo>
                <a:lnTo>
                  <a:pt x="71767" y="594316"/>
                </a:lnTo>
                <a:lnTo>
                  <a:pt x="71767" y="588055"/>
                </a:lnTo>
                <a:lnTo>
                  <a:pt x="67017" y="581807"/>
                </a:lnTo>
                <a:lnTo>
                  <a:pt x="56641" y="544978"/>
                </a:lnTo>
                <a:lnTo>
                  <a:pt x="55160" y="521631"/>
                </a:lnTo>
                <a:lnTo>
                  <a:pt x="64355" y="501804"/>
                </a:lnTo>
                <a:lnTo>
                  <a:pt x="86004" y="475533"/>
                </a:lnTo>
                <a:lnTo>
                  <a:pt x="95939" y="465175"/>
                </a:lnTo>
                <a:lnTo>
                  <a:pt x="114023" y="442120"/>
                </a:lnTo>
                <a:lnTo>
                  <a:pt x="123952" y="431769"/>
                </a:lnTo>
                <a:lnTo>
                  <a:pt x="123952" y="425508"/>
                </a:lnTo>
                <a:lnTo>
                  <a:pt x="232441" y="425508"/>
                </a:lnTo>
                <a:lnTo>
                  <a:pt x="230637" y="426978"/>
                </a:lnTo>
                <a:lnTo>
                  <a:pt x="223596" y="431769"/>
                </a:lnTo>
                <a:lnTo>
                  <a:pt x="208771" y="445152"/>
                </a:lnTo>
                <a:lnTo>
                  <a:pt x="193944" y="459120"/>
                </a:lnTo>
                <a:lnTo>
                  <a:pt x="180894" y="476605"/>
                </a:lnTo>
                <a:lnTo>
                  <a:pt x="171399" y="500539"/>
                </a:lnTo>
                <a:lnTo>
                  <a:pt x="209359" y="500539"/>
                </a:lnTo>
                <a:lnTo>
                  <a:pt x="229601" y="503957"/>
                </a:lnTo>
                <a:lnTo>
                  <a:pt x="246727" y="513820"/>
                </a:lnTo>
                <a:lnTo>
                  <a:pt x="259403" y="529547"/>
                </a:lnTo>
                <a:lnTo>
                  <a:pt x="266293" y="550552"/>
                </a:lnTo>
                <a:lnTo>
                  <a:pt x="266518" y="569014"/>
                </a:lnTo>
                <a:lnTo>
                  <a:pt x="260959" y="585717"/>
                </a:lnTo>
                <a:lnTo>
                  <a:pt x="250952" y="598903"/>
                </a:lnTo>
                <a:lnTo>
                  <a:pt x="237832" y="606813"/>
                </a:lnTo>
                <a:lnTo>
                  <a:pt x="150423" y="620884"/>
                </a:lnTo>
                <a:lnTo>
                  <a:pt x="119214" y="625571"/>
                </a:lnTo>
                <a:lnTo>
                  <a:pt x="105872" y="62684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71485" y="4708097"/>
            <a:ext cx="178435" cy="610870"/>
          </a:xfrm>
          <a:custGeom>
            <a:avLst/>
            <a:gdLst/>
            <a:ahLst/>
            <a:cxnLst/>
            <a:rect l="l" t="t" r="r" b="b"/>
            <a:pathLst>
              <a:path w="178434" h="610870">
                <a:moveTo>
                  <a:pt x="41268" y="99221"/>
                </a:moveTo>
                <a:lnTo>
                  <a:pt x="30657" y="98927"/>
                </a:lnTo>
                <a:lnTo>
                  <a:pt x="20046" y="97460"/>
                </a:lnTo>
                <a:lnTo>
                  <a:pt x="9436" y="96579"/>
                </a:lnTo>
                <a:lnTo>
                  <a:pt x="5968" y="90896"/>
                </a:lnTo>
                <a:lnTo>
                  <a:pt x="2946" y="84038"/>
                </a:lnTo>
                <a:lnTo>
                  <a:pt x="810" y="77180"/>
                </a:lnTo>
                <a:lnTo>
                  <a:pt x="0" y="71497"/>
                </a:lnTo>
                <a:lnTo>
                  <a:pt x="9436" y="58962"/>
                </a:lnTo>
                <a:lnTo>
                  <a:pt x="14147" y="58962"/>
                </a:lnTo>
                <a:lnTo>
                  <a:pt x="29037" y="51617"/>
                </a:lnTo>
                <a:lnTo>
                  <a:pt x="44810" y="47210"/>
                </a:lnTo>
                <a:lnTo>
                  <a:pt x="60580" y="43976"/>
                </a:lnTo>
                <a:lnTo>
                  <a:pt x="75463" y="40153"/>
                </a:lnTo>
                <a:lnTo>
                  <a:pt x="86149" y="30850"/>
                </a:lnTo>
                <a:lnTo>
                  <a:pt x="97280" y="22133"/>
                </a:lnTo>
                <a:lnTo>
                  <a:pt x="109294" y="14591"/>
                </a:lnTo>
                <a:lnTo>
                  <a:pt x="122631" y="8810"/>
                </a:lnTo>
                <a:lnTo>
                  <a:pt x="131033" y="4308"/>
                </a:lnTo>
                <a:lnTo>
                  <a:pt x="140317" y="978"/>
                </a:lnTo>
                <a:lnTo>
                  <a:pt x="147832" y="0"/>
                </a:lnTo>
                <a:lnTo>
                  <a:pt x="150926" y="2548"/>
                </a:lnTo>
                <a:lnTo>
                  <a:pt x="157120" y="13028"/>
                </a:lnTo>
                <a:lnTo>
                  <a:pt x="161545" y="25270"/>
                </a:lnTo>
                <a:lnTo>
                  <a:pt x="164201" y="38687"/>
                </a:lnTo>
                <a:lnTo>
                  <a:pt x="165087" y="52688"/>
                </a:lnTo>
                <a:lnTo>
                  <a:pt x="169798" y="52688"/>
                </a:lnTo>
                <a:lnTo>
                  <a:pt x="160362" y="65236"/>
                </a:lnTo>
                <a:lnTo>
                  <a:pt x="157455" y="71497"/>
                </a:lnTo>
                <a:lnTo>
                  <a:pt x="108483" y="71497"/>
                </a:lnTo>
                <a:lnTo>
                  <a:pt x="94331" y="77180"/>
                </a:lnTo>
                <a:lnTo>
                  <a:pt x="66031" y="90896"/>
                </a:lnTo>
                <a:lnTo>
                  <a:pt x="51879" y="96579"/>
                </a:lnTo>
                <a:lnTo>
                  <a:pt x="41268" y="99221"/>
                </a:lnTo>
                <a:close/>
              </a:path>
              <a:path w="178434" h="610870">
                <a:moveTo>
                  <a:pt x="127455" y="235758"/>
                </a:moveTo>
                <a:lnTo>
                  <a:pt x="70311" y="235758"/>
                </a:lnTo>
                <a:lnTo>
                  <a:pt x="77828" y="230566"/>
                </a:lnTo>
                <a:lnTo>
                  <a:pt x="81807" y="219499"/>
                </a:lnTo>
                <a:lnTo>
                  <a:pt x="84899" y="203145"/>
                </a:lnTo>
                <a:lnTo>
                  <a:pt x="89245" y="171116"/>
                </a:lnTo>
                <a:lnTo>
                  <a:pt x="94919" y="139674"/>
                </a:lnTo>
                <a:lnTo>
                  <a:pt x="101480" y="107054"/>
                </a:lnTo>
                <a:lnTo>
                  <a:pt x="108483" y="71497"/>
                </a:lnTo>
                <a:lnTo>
                  <a:pt x="157455" y="71497"/>
                </a:lnTo>
                <a:lnTo>
                  <a:pt x="141943" y="104899"/>
                </a:lnTo>
                <a:lnTo>
                  <a:pt x="133248" y="147505"/>
                </a:lnTo>
                <a:lnTo>
                  <a:pt x="129859" y="191289"/>
                </a:lnTo>
                <a:lnTo>
                  <a:pt x="127355" y="234489"/>
                </a:lnTo>
                <a:lnTo>
                  <a:pt x="127455" y="235758"/>
                </a:lnTo>
                <a:close/>
              </a:path>
              <a:path w="178434" h="610870">
                <a:moveTo>
                  <a:pt x="177805" y="272093"/>
                </a:moveTo>
                <a:lnTo>
                  <a:pt x="141503" y="272093"/>
                </a:lnTo>
                <a:lnTo>
                  <a:pt x="148573" y="257891"/>
                </a:lnTo>
                <a:lnTo>
                  <a:pt x="155646" y="243102"/>
                </a:lnTo>
                <a:lnTo>
                  <a:pt x="162722" y="227138"/>
                </a:lnTo>
                <a:lnTo>
                  <a:pt x="169798" y="209406"/>
                </a:lnTo>
                <a:lnTo>
                  <a:pt x="173849" y="236639"/>
                </a:lnTo>
                <a:lnTo>
                  <a:pt x="177460" y="262692"/>
                </a:lnTo>
                <a:lnTo>
                  <a:pt x="177805" y="272093"/>
                </a:lnTo>
                <a:close/>
              </a:path>
              <a:path w="178434" h="610870">
                <a:moveTo>
                  <a:pt x="99047" y="610599"/>
                </a:moveTo>
                <a:lnTo>
                  <a:pt x="88510" y="606881"/>
                </a:lnTo>
                <a:lnTo>
                  <a:pt x="78414" y="604336"/>
                </a:lnTo>
                <a:lnTo>
                  <a:pt x="69202" y="601789"/>
                </a:lnTo>
                <a:lnTo>
                  <a:pt x="61315" y="598064"/>
                </a:lnTo>
                <a:lnTo>
                  <a:pt x="42155" y="585332"/>
                </a:lnTo>
                <a:lnTo>
                  <a:pt x="28300" y="566722"/>
                </a:lnTo>
                <a:lnTo>
                  <a:pt x="21519" y="543409"/>
                </a:lnTo>
                <a:lnTo>
                  <a:pt x="23583" y="516568"/>
                </a:lnTo>
                <a:lnTo>
                  <a:pt x="51879" y="384933"/>
                </a:lnTo>
                <a:lnTo>
                  <a:pt x="57704" y="355742"/>
                </a:lnTo>
                <a:lnTo>
                  <a:pt x="59550" y="325378"/>
                </a:lnTo>
                <a:lnTo>
                  <a:pt x="55204" y="295016"/>
                </a:lnTo>
                <a:lnTo>
                  <a:pt x="42456" y="265832"/>
                </a:lnTo>
                <a:lnTo>
                  <a:pt x="38696" y="250353"/>
                </a:lnTo>
                <a:lnTo>
                  <a:pt x="40686" y="240754"/>
                </a:lnTo>
                <a:lnTo>
                  <a:pt x="47097" y="235859"/>
                </a:lnTo>
                <a:lnTo>
                  <a:pt x="56603" y="234489"/>
                </a:lnTo>
                <a:lnTo>
                  <a:pt x="70311" y="235758"/>
                </a:lnTo>
                <a:lnTo>
                  <a:pt x="127455" y="235758"/>
                </a:lnTo>
                <a:lnTo>
                  <a:pt x="128091" y="243890"/>
                </a:lnTo>
                <a:lnTo>
                  <a:pt x="131331" y="262694"/>
                </a:lnTo>
                <a:lnTo>
                  <a:pt x="132067" y="272093"/>
                </a:lnTo>
                <a:lnTo>
                  <a:pt x="177805" y="272093"/>
                </a:lnTo>
                <a:lnTo>
                  <a:pt x="178417" y="288746"/>
                </a:lnTo>
                <a:lnTo>
                  <a:pt x="174510" y="315972"/>
                </a:lnTo>
                <a:lnTo>
                  <a:pt x="160364" y="363967"/>
                </a:lnTo>
                <a:lnTo>
                  <a:pt x="132066" y="462311"/>
                </a:lnTo>
                <a:lnTo>
                  <a:pt x="117919" y="510307"/>
                </a:lnTo>
                <a:lnTo>
                  <a:pt x="112316" y="533913"/>
                </a:lnTo>
                <a:lnTo>
                  <a:pt x="108483" y="558105"/>
                </a:lnTo>
                <a:lnTo>
                  <a:pt x="104649" y="583472"/>
                </a:lnTo>
                <a:lnTo>
                  <a:pt x="99047" y="61059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6615" y="515112"/>
            <a:ext cx="1722120" cy="504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195995" y="1355991"/>
            <a:ext cx="0" cy="4590415"/>
          </a:xfrm>
          <a:custGeom>
            <a:avLst/>
            <a:gdLst/>
            <a:ahLst/>
            <a:cxnLst/>
            <a:rect l="l" t="t" r="r" b="b"/>
            <a:pathLst>
              <a:path w="0" h="4590415">
                <a:moveTo>
                  <a:pt x="0" y="0"/>
                </a:moveTo>
                <a:lnTo>
                  <a:pt x="0" y="458984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641905" y="1400594"/>
            <a:ext cx="0" cy="4545330"/>
          </a:xfrm>
          <a:custGeom>
            <a:avLst/>
            <a:gdLst/>
            <a:ahLst/>
            <a:cxnLst/>
            <a:rect l="l" t="t" r="r" b="b"/>
            <a:pathLst>
              <a:path w="0" h="4545330">
                <a:moveTo>
                  <a:pt x="0" y="0"/>
                </a:moveTo>
                <a:lnTo>
                  <a:pt x="0" y="4545241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740647" y="1788477"/>
            <a:ext cx="4147185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7850" algn="l"/>
              </a:tabLst>
            </a:pPr>
            <a:r>
              <a:rPr dirty="0" sz="4500" b="1">
                <a:latin typeface="微软雅黑"/>
                <a:cs typeface="微软雅黑"/>
              </a:rPr>
              <a:t>第</a:t>
            </a:r>
            <a:r>
              <a:rPr dirty="0" sz="4500" spc="-5" b="1">
                <a:latin typeface="微软雅黑"/>
                <a:cs typeface="微软雅黑"/>
              </a:rPr>
              <a:t>9</a:t>
            </a:r>
            <a:r>
              <a:rPr dirty="0" sz="4500" b="1">
                <a:latin typeface="微软雅黑"/>
                <a:cs typeface="微软雅黑"/>
              </a:rPr>
              <a:t>章	异常处理</a:t>
            </a:r>
            <a:endParaRPr sz="45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61907" y="3865397"/>
            <a:ext cx="5465445" cy="0"/>
          </a:xfrm>
          <a:custGeom>
            <a:avLst/>
            <a:gdLst/>
            <a:ahLst/>
            <a:cxnLst/>
            <a:rect l="l" t="t" r="r" b="b"/>
            <a:pathLst>
              <a:path w="5465445" h="0">
                <a:moveTo>
                  <a:pt x="0" y="0"/>
                </a:moveTo>
                <a:lnTo>
                  <a:pt x="546533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3589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本章知识点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739" y="1417827"/>
            <a:ext cx="4047490" cy="409638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 spc="-5">
                <a:latin typeface="微软雅黑"/>
                <a:cs typeface="微软雅黑"/>
              </a:rPr>
              <a:t>1</a:t>
            </a:r>
            <a:r>
              <a:rPr dirty="0" sz="2800">
                <a:latin typeface="微软雅黑"/>
                <a:cs typeface="微软雅黑"/>
              </a:rPr>
              <a:t>、</a:t>
            </a:r>
            <a:r>
              <a:rPr dirty="0" sz="2800" spc="-25">
                <a:latin typeface="微软雅黑"/>
                <a:cs typeface="微软雅黑"/>
              </a:rPr>
              <a:t>Java</a:t>
            </a:r>
            <a:r>
              <a:rPr dirty="0" sz="2800">
                <a:latin typeface="微软雅黑"/>
                <a:cs typeface="微软雅黑"/>
              </a:rPr>
              <a:t>异常体</a:t>
            </a:r>
            <a:r>
              <a:rPr dirty="0" sz="2800" spc="-5">
                <a:latin typeface="微软雅黑"/>
                <a:cs typeface="微软雅黑"/>
              </a:rPr>
              <a:t>系</a:t>
            </a:r>
            <a:endParaRPr sz="2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 spc="-5">
                <a:latin typeface="微软雅黑"/>
                <a:cs typeface="微软雅黑"/>
              </a:rPr>
              <a:t>2</a:t>
            </a:r>
            <a:r>
              <a:rPr dirty="0" sz="2800">
                <a:latin typeface="微软雅黑"/>
                <a:cs typeface="微软雅黑"/>
              </a:rPr>
              <a:t>、异常的捕获和处</a:t>
            </a:r>
            <a:r>
              <a:rPr dirty="0" sz="2800" spc="-5">
                <a:latin typeface="微软雅黑"/>
                <a:cs typeface="微软雅黑"/>
              </a:rPr>
              <a:t>理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 spc="35">
                <a:latin typeface="微软雅黑"/>
                <a:cs typeface="微软雅黑"/>
              </a:rPr>
              <a:t>try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 spc="-10">
                <a:latin typeface="微软雅黑"/>
                <a:cs typeface="微软雅黑"/>
              </a:rPr>
              <a:t>catch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 spc="-5">
                <a:latin typeface="微软雅黑"/>
                <a:cs typeface="微软雅黑"/>
              </a:rPr>
              <a:t>Finally</a:t>
            </a:r>
            <a:endParaRPr sz="2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 spc="-5">
                <a:latin typeface="微软雅黑"/>
                <a:cs typeface="微软雅黑"/>
              </a:rPr>
              <a:t>3</a:t>
            </a:r>
            <a:r>
              <a:rPr dirty="0" sz="2800">
                <a:latin typeface="微软雅黑"/>
                <a:cs typeface="微软雅黑"/>
              </a:rPr>
              <a:t>、使用</a:t>
            </a:r>
            <a:r>
              <a:rPr dirty="0" sz="2800" spc="-5">
                <a:latin typeface="微软雅黑"/>
                <a:cs typeface="微软雅黑"/>
              </a:rPr>
              <a:t>th</a:t>
            </a:r>
            <a:r>
              <a:rPr dirty="0" sz="2800" spc="-45">
                <a:latin typeface="微软雅黑"/>
                <a:cs typeface="微软雅黑"/>
              </a:rPr>
              <a:t>r</a:t>
            </a:r>
            <a:r>
              <a:rPr dirty="0" sz="2800" spc="-5">
                <a:latin typeface="微软雅黑"/>
                <a:cs typeface="微软雅黑"/>
              </a:rPr>
              <a:t>ows</a:t>
            </a:r>
            <a:r>
              <a:rPr dirty="0" sz="2800">
                <a:latin typeface="微软雅黑"/>
                <a:cs typeface="微软雅黑"/>
              </a:rPr>
              <a:t>抛出异</a:t>
            </a:r>
            <a:r>
              <a:rPr dirty="0" sz="2800" spc="-5">
                <a:latin typeface="微软雅黑"/>
                <a:cs typeface="微软雅黑"/>
              </a:rPr>
              <a:t>常</a:t>
            </a:r>
            <a:endParaRPr sz="2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 spc="-5">
                <a:latin typeface="微软雅黑"/>
                <a:cs typeface="微软雅黑"/>
              </a:rPr>
              <a:t>4</a:t>
            </a:r>
            <a:r>
              <a:rPr dirty="0" sz="2800">
                <a:latin typeface="微软雅黑"/>
                <a:cs typeface="微软雅黑"/>
              </a:rPr>
              <a:t>、自定义异常</a:t>
            </a:r>
            <a:r>
              <a:rPr dirty="0" sz="2800" spc="-5">
                <a:latin typeface="微软雅黑"/>
                <a:cs typeface="微软雅黑"/>
              </a:rPr>
              <a:t>类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>
                <a:latin typeface="微软雅黑"/>
                <a:cs typeface="微软雅黑"/>
              </a:rPr>
              <a:t>自定</a:t>
            </a:r>
            <a:r>
              <a:rPr dirty="0" sz="2800" spc="-5">
                <a:latin typeface="微软雅黑"/>
                <a:cs typeface="微软雅黑"/>
              </a:rPr>
              <a:t>义</a:t>
            </a:r>
            <a:endParaRPr sz="2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 spc="-15">
                <a:latin typeface="微软雅黑"/>
                <a:cs typeface="微软雅黑"/>
              </a:rPr>
              <a:t>throw</a:t>
            </a:r>
            <a:r>
              <a:rPr dirty="0" sz="2800">
                <a:latin typeface="微软雅黑"/>
                <a:cs typeface="微软雅黑"/>
              </a:rPr>
              <a:t>抛</a:t>
            </a:r>
            <a:r>
              <a:rPr dirty="0" sz="2800" spc="-5">
                <a:latin typeface="微软雅黑"/>
                <a:cs typeface="微软雅黑"/>
              </a:rPr>
              <a:t>出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8089" y="1481454"/>
            <a:ext cx="6864350" cy="253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异常，是程序在运行期间发生的意外状况。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050">
              <a:latin typeface="微软雅黑"/>
              <a:cs typeface="微软雅黑"/>
            </a:endParaRPr>
          </a:p>
          <a:p>
            <a:pPr marL="184150" marR="5080" indent="-171450">
              <a:lnSpc>
                <a:spcPts val="226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对于程序设计者需要尽可能地预见可能发生的意外，尽可 能地保证程序在各种糟糕的情况下仍可以运行。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85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100" spc="-25">
                <a:latin typeface="微软雅黑"/>
                <a:cs typeface="微软雅黑"/>
              </a:rPr>
              <a:t>Java</a:t>
            </a:r>
            <a:r>
              <a:rPr dirty="0" sz="2100">
                <a:latin typeface="微软雅黑"/>
                <a:cs typeface="微软雅黑"/>
              </a:rPr>
              <a:t>语言提供了成熟的异常处理机制。</a:t>
            </a:r>
            <a:endParaRPr sz="2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100" spc="-5">
                <a:solidFill>
                  <a:srgbClr val="FF0000"/>
                </a:solidFill>
                <a:latin typeface="Times New Roman"/>
                <a:cs typeface="Times New Roman"/>
              </a:rPr>
              <a:t>badly formed code will </a:t>
            </a:r>
            <a:r>
              <a:rPr dirty="0" sz="2100">
                <a:solidFill>
                  <a:srgbClr val="FF0000"/>
                </a:solidFill>
                <a:latin typeface="Times New Roman"/>
                <a:cs typeface="Times New Roman"/>
              </a:rPr>
              <a:t>not be</a:t>
            </a:r>
            <a:r>
              <a:rPr dirty="0" sz="2100" spc="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FF0000"/>
                </a:solidFill>
                <a:latin typeface="Times New Roman"/>
                <a:cs typeface="Times New Roman"/>
              </a:rPr>
              <a:t>run.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10312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1</a:t>
            </a:r>
            <a:r>
              <a:rPr dirty="0" sz="2100" b="1">
                <a:latin typeface="微软雅黑"/>
                <a:cs typeface="微软雅黑"/>
              </a:rPr>
              <a:t>、</a:t>
            </a:r>
            <a:r>
              <a:rPr dirty="0" sz="2100" spc="-30" b="1">
                <a:latin typeface="微软雅黑"/>
                <a:cs typeface="微软雅黑"/>
              </a:rPr>
              <a:t>J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40" b="1">
                <a:latin typeface="微软雅黑"/>
                <a:cs typeface="微软雅黑"/>
              </a:rPr>
              <a:t>v</a:t>
            </a:r>
            <a:r>
              <a:rPr dirty="0" sz="2100" b="1">
                <a:latin typeface="微软雅黑"/>
                <a:cs typeface="微软雅黑"/>
              </a:rPr>
              <a:t>a异常体系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10312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1</a:t>
            </a:r>
            <a:r>
              <a:rPr dirty="0" sz="2100" b="1">
                <a:latin typeface="微软雅黑"/>
                <a:cs typeface="微软雅黑"/>
              </a:rPr>
              <a:t>、</a:t>
            </a:r>
            <a:r>
              <a:rPr dirty="0" sz="2100" spc="-30" b="1">
                <a:latin typeface="微软雅黑"/>
                <a:cs typeface="微软雅黑"/>
              </a:rPr>
              <a:t>J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40" b="1">
                <a:latin typeface="微软雅黑"/>
                <a:cs typeface="微软雅黑"/>
              </a:rPr>
              <a:t>v</a:t>
            </a:r>
            <a:r>
              <a:rPr dirty="0" sz="2100" b="1">
                <a:latin typeface="微软雅黑"/>
                <a:cs typeface="微软雅黑"/>
              </a:rPr>
              <a:t>a异常体系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94435" y="1647190"/>
            <a:ext cx="6736080" cy="3429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94640">
              <a:lnSpc>
                <a:spcPct val="99700"/>
              </a:lnSpc>
              <a:spcBef>
                <a:spcPts val="105"/>
              </a:spcBef>
            </a:pPr>
            <a:r>
              <a:rPr dirty="0" sz="2400" spc="-5">
                <a:latin typeface="Times New Roman"/>
                <a:cs typeface="Times New Roman"/>
              </a:rPr>
              <a:t>Java</a:t>
            </a:r>
            <a:r>
              <a:rPr dirty="0" sz="2400">
                <a:latin typeface="宋体"/>
                <a:cs typeface="宋体"/>
              </a:rPr>
              <a:t>提供了异常处理机制，</a:t>
            </a:r>
            <a:r>
              <a:rPr dirty="0" sz="2400" spc="-610">
                <a:latin typeface="宋体"/>
                <a:cs typeface="宋体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separates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400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code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that  describes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 want to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do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（业务逻辑）</a:t>
            </a:r>
            <a:r>
              <a:rPr dirty="0" sz="2400" spc="-60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  code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that is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executed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when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things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 go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awry</a:t>
            </a:r>
            <a:r>
              <a:rPr dirty="0" sz="2400" spc="-5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错误处 理）</a:t>
            </a:r>
            <a:r>
              <a:rPr dirty="0" sz="240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Times New Roman"/>
              <a:cs typeface="Times New Roman"/>
            </a:endParaRPr>
          </a:p>
          <a:p>
            <a:pPr marL="101600" marR="271780" indent="294640">
              <a:lnSpc>
                <a:spcPts val="2850"/>
              </a:lnSpc>
            </a:pP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Runtime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Allow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originator </a:t>
            </a:r>
            <a:r>
              <a:rPr dirty="0" sz="2400">
                <a:latin typeface="宋体"/>
                <a:cs typeface="宋体"/>
              </a:rPr>
              <a:t>（产生者）</a:t>
            </a:r>
            <a:r>
              <a:rPr dirty="0" sz="2400">
                <a:latin typeface="Times New Roman"/>
                <a:cs typeface="Times New Roman"/>
              </a:rPr>
              <a:t>of </a:t>
            </a:r>
            <a:r>
              <a:rPr dirty="0" sz="2400" spc="-5">
                <a:latin typeface="Times New Roman"/>
                <a:cs typeface="Times New Roman"/>
              </a:rPr>
              <a:t>the  error to pass appropriate information to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recipient</a:t>
            </a:r>
            <a:endParaRPr sz="2400">
              <a:latin typeface="Times New Roman"/>
              <a:cs typeface="Times New Roman"/>
            </a:endParaRPr>
          </a:p>
          <a:p>
            <a:pPr marL="101600" marR="945515">
              <a:lnSpc>
                <a:spcPts val="2880"/>
              </a:lnSpc>
              <a:spcBef>
                <a:spcPts val="10"/>
              </a:spcBef>
            </a:pPr>
            <a:r>
              <a:rPr dirty="0" sz="2400">
                <a:latin typeface="宋体"/>
                <a:cs typeface="宋体"/>
              </a:rPr>
              <a:t>（接受者）</a:t>
            </a:r>
            <a:r>
              <a:rPr dirty="0" sz="2400" spc="-610">
                <a:latin typeface="宋体"/>
                <a:cs typeface="宋体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will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know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how</a:t>
            </a:r>
            <a:r>
              <a:rPr dirty="0" sz="2400" spc="-5">
                <a:latin typeface="Times New Roman"/>
                <a:cs typeface="Times New Roman"/>
              </a:rPr>
              <a:t> 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handle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  </a:t>
            </a:r>
            <a:r>
              <a:rPr dirty="0" sz="2400" spc="-10">
                <a:latin typeface="Times New Roman"/>
                <a:cs typeface="Times New Roman"/>
              </a:rPr>
              <a:t>difficulty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properly.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10312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1</a:t>
            </a:r>
            <a:r>
              <a:rPr dirty="0" sz="2100" b="1">
                <a:latin typeface="微软雅黑"/>
                <a:cs typeface="微软雅黑"/>
              </a:rPr>
              <a:t>、</a:t>
            </a:r>
            <a:r>
              <a:rPr dirty="0" sz="2100" spc="-30" b="1">
                <a:latin typeface="微软雅黑"/>
                <a:cs typeface="微软雅黑"/>
              </a:rPr>
              <a:t>J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40" b="1">
                <a:latin typeface="微软雅黑"/>
                <a:cs typeface="微软雅黑"/>
              </a:rPr>
              <a:t>v</a:t>
            </a:r>
            <a:r>
              <a:rPr dirty="0" sz="2100" b="1">
                <a:latin typeface="微软雅黑"/>
                <a:cs typeface="微软雅黑"/>
              </a:rPr>
              <a:t>a异常体系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05827" y="1147762"/>
            <a:ext cx="7469505" cy="4903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7780">
              <a:lnSpc>
                <a:spcPct val="100000"/>
              </a:lnSpc>
              <a:spcBef>
                <a:spcPts val="105"/>
              </a:spcBef>
            </a:pPr>
            <a:r>
              <a:rPr dirty="0" sz="3200" spc="-30">
                <a:latin typeface="微软雅黑"/>
                <a:cs typeface="微软雅黑"/>
              </a:rPr>
              <a:t>Java</a:t>
            </a:r>
            <a:r>
              <a:rPr dirty="0" sz="3200" spc="-105">
                <a:latin typeface="微软雅黑"/>
                <a:cs typeface="微软雅黑"/>
              </a:rPr>
              <a:t> </a:t>
            </a:r>
            <a:r>
              <a:rPr dirty="0" sz="3200">
                <a:latin typeface="微软雅黑"/>
                <a:cs typeface="微软雅黑"/>
              </a:rPr>
              <a:t>中声明了很多异常类，每个都代表</a:t>
            </a:r>
            <a:r>
              <a:rPr dirty="0" sz="3200" spc="5">
                <a:latin typeface="微软雅黑"/>
                <a:cs typeface="微软雅黑"/>
              </a:rPr>
              <a:t>一 </a:t>
            </a:r>
            <a:r>
              <a:rPr dirty="0" sz="3200">
                <a:latin typeface="微软雅黑"/>
                <a:cs typeface="微软雅黑"/>
              </a:rPr>
              <a:t>种运行错误，包</a:t>
            </a:r>
            <a:r>
              <a:rPr dirty="0" sz="3200" spc="5">
                <a:latin typeface="微软雅黑"/>
                <a:cs typeface="微软雅黑"/>
              </a:rPr>
              <a:t>含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3200">
                <a:latin typeface="微软雅黑"/>
                <a:cs typeface="微软雅黑"/>
              </a:rPr>
              <a:t>▫</a:t>
            </a:r>
            <a:r>
              <a:rPr dirty="0" sz="3200" spc="-10">
                <a:latin typeface="微软雅黑"/>
                <a:cs typeface="微软雅黑"/>
              </a:rPr>
              <a:t> </a:t>
            </a:r>
            <a:r>
              <a:rPr dirty="0" sz="3200">
                <a:solidFill>
                  <a:srgbClr val="FF0000"/>
                </a:solidFill>
                <a:latin typeface="微软雅黑"/>
                <a:cs typeface="微软雅黑"/>
              </a:rPr>
              <a:t>该运行错误的信</a:t>
            </a:r>
            <a:r>
              <a:rPr dirty="0" sz="3200" spc="5">
                <a:solidFill>
                  <a:srgbClr val="FF0000"/>
                </a:solidFill>
                <a:latin typeface="微软雅黑"/>
                <a:cs typeface="微软雅黑"/>
              </a:rPr>
              <a:t>息</a:t>
            </a:r>
            <a:endParaRPr sz="3200">
              <a:latin typeface="微软雅黑"/>
              <a:cs typeface="微软雅黑"/>
            </a:endParaRPr>
          </a:p>
          <a:p>
            <a:pPr marL="12700" marR="4328160">
              <a:lnSpc>
                <a:spcPct val="100000"/>
              </a:lnSpc>
            </a:pPr>
            <a:r>
              <a:rPr dirty="0" sz="3200">
                <a:latin typeface="微软雅黑"/>
                <a:cs typeface="微软雅黑"/>
              </a:rPr>
              <a:t>▫</a:t>
            </a:r>
            <a:r>
              <a:rPr dirty="0" sz="3200" spc="-105">
                <a:latin typeface="微软雅黑"/>
                <a:cs typeface="微软雅黑"/>
              </a:rPr>
              <a:t> </a:t>
            </a:r>
            <a:r>
              <a:rPr dirty="0" sz="3200">
                <a:solidFill>
                  <a:srgbClr val="FF0000"/>
                </a:solidFill>
                <a:latin typeface="微软雅黑"/>
                <a:cs typeface="微软雅黑"/>
              </a:rPr>
              <a:t>处理错误的方</a:t>
            </a:r>
            <a:r>
              <a:rPr dirty="0" sz="3200" spc="5">
                <a:solidFill>
                  <a:srgbClr val="FF0000"/>
                </a:solidFill>
                <a:latin typeface="微软雅黑"/>
                <a:cs typeface="微软雅黑"/>
              </a:rPr>
              <a:t>法 </a:t>
            </a:r>
            <a:r>
              <a:rPr dirty="0" sz="3200">
                <a:latin typeface="微软雅黑"/>
                <a:cs typeface="微软雅黑"/>
              </a:rPr>
              <a:t>异常处理流程</a:t>
            </a:r>
            <a:r>
              <a:rPr dirty="0" sz="3200" spc="5">
                <a:latin typeface="微软雅黑"/>
                <a:cs typeface="微软雅黑"/>
              </a:rPr>
              <a:t>：</a:t>
            </a:r>
            <a:endParaRPr sz="3200">
              <a:latin typeface="微软雅黑"/>
              <a:cs typeface="微软雅黑"/>
            </a:endParaRPr>
          </a:p>
          <a:p>
            <a:pPr algn="just" marL="12700" marR="5080">
              <a:lnSpc>
                <a:spcPct val="100000"/>
              </a:lnSpc>
              <a:buChar char="•"/>
              <a:tabLst>
                <a:tab pos="311150" algn="l"/>
              </a:tabLst>
            </a:pPr>
            <a:r>
              <a:rPr dirty="0" sz="3200">
                <a:latin typeface="微软雅黑"/>
                <a:cs typeface="微软雅黑"/>
              </a:rPr>
              <a:t>每</a:t>
            </a:r>
            <a:r>
              <a:rPr dirty="0" sz="3200" spc="5">
                <a:latin typeface="微软雅黑"/>
                <a:cs typeface="微软雅黑"/>
              </a:rPr>
              <a:t>当</a:t>
            </a:r>
            <a:r>
              <a:rPr dirty="0" sz="3200" spc="-60">
                <a:latin typeface="微软雅黑"/>
                <a:cs typeface="微软雅黑"/>
              </a:rPr>
              <a:t> </a:t>
            </a:r>
            <a:r>
              <a:rPr dirty="0" sz="3200" spc="-30">
                <a:latin typeface="微软雅黑"/>
                <a:cs typeface="微软雅黑"/>
              </a:rPr>
              <a:t>Java</a:t>
            </a:r>
            <a:r>
              <a:rPr dirty="0" sz="3200" spc="-55">
                <a:latin typeface="微软雅黑"/>
                <a:cs typeface="微软雅黑"/>
              </a:rPr>
              <a:t> </a:t>
            </a:r>
            <a:r>
              <a:rPr dirty="0" sz="3200">
                <a:latin typeface="微软雅黑"/>
                <a:cs typeface="微软雅黑"/>
              </a:rPr>
              <a:t>程序运行过中发生一个可识</a:t>
            </a:r>
            <a:r>
              <a:rPr dirty="0" sz="3200" spc="5">
                <a:latin typeface="微软雅黑"/>
                <a:cs typeface="微软雅黑"/>
              </a:rPr>
              <a:t>别 </a:t>
            </a:r>
            <a:r>
              <a:rPr dirty="0" sz="3200">
                <a:latin typeface="微软雅黑"/>
                <a:cs typeface="微软雅黑"/>
              </a:rPr>
              <a:t>的错误时，即该有异</a:t>
            </a:r>
            <a:r>
              <a:rPr dirty="0" sz="3200" spc="5">
                <a:latin typeface="微软雅黑"/>
                <a:cs typeface="微软雅黑"/>
              </a:rPr>
              <a:t>常</a:t>
            </a:r>
            <a:r>
              <a:rPr dirty="0" sz="3200" spc="-105">
                <a:latin typeface="微软雅黑"/>
                <a:cs typeface="微软雅黑"/>
              </a:rPr>
              <a:t> </a:t>
            </a:r>
            <a:r>
              <a:rPr dirty="0" sz="3200">
                <a:latin typeface="微软雅黑"/>
                <a:cs typeface="微软雅黑"/>
              </a:rPr>
              <a:t>类与之相对应时</a:t>
            </a:r>
            <a:r>
              <a:rPr dirty="0" sz="3200" spc="5">
                <a:latin typeface="微软雅黑"/>
                <a:cs typeface="微软雅黑"/>
              </a:rPr>
              <a:t>，  </a:t>
            </a:r>
            <a:r>
              <a:rPr dirty="0" sz="3200">
                <a:latin typeface="微软雅黑"/>
                <a:cs typeface="微软雅黑"/>
              </a:rPr>
              <a:t>系统都会</a:t>
            </a:r>
            <a:r>
              <a:rPr dirty="0" sz="3200">
                <a:solidFill>
                  <a:srgbClr val="FF0000"/>
                </a:solidFill>
                <a:latin typeface="微软雅黑"/>
                <a:cs typeface="微软雅黑"/>
              </a:rPr>
              <a:t>产生</a:t>
            </a:r>
            <a:r>
              <a:rPr dirty="0" sz="3200">
                <a:latin typeface="微软雅黑"/>
                <a:cs typeface="微软雅黑"/>
              </a:rPr>
              <a:t>一</a:t>
            </a:r>
            <a:r>
              <a:rPr dirty="0" sz="3200" spc="5">
                <a:latin typeface="微软雅黑"/>
                <a:cs typeface="微软雅黑"/>
              </a:rPr>
              <a:t>个</a:t>
            </a:r>
            <a:r>
              <a:rPr dirty="0" sz="3200" spc="-35">
                <a:latin typeface="微软雅黑"/>
                <a:cs typeface="微软雅黑"/>
              </a:rPr>
              <a:t> </a:t>
            </a:r>
            <a:r>
              <a:rPr dirty="0" sz="3200">
                <a:latin typeface="微软雅黑"/>
                <a:cs typeface="微软雅黑"/>
              </a:rPr>
              <a:t>的该异常类的对象</a:t>
            </a:r>
            <a:r>
              <a:rPr dirty="0" sz="3200" spc="5">
                <a:latin typeface="微软雅黑"/>
                <a:cs typeface="微软雅黑"/>
              </a:rPr>
              <a:t>。</a:t>
            </a:r>
            <a:endParaRPr sz="3200">
              <a:latin typeface="微软雅黑"/>
              <a:cs typeface="微软雅黑"/>
            </a:endParaRPr>
          </a:p>
          <a:p>
            <a:pPr marL="191770" indent="-179705">
              <a:lnSpc>
                <a:spcPct val="100000"/>
              </a:lnSpc>
              <a:buClr>
                <a:srgbClr val="000000"/>
              </a:buClr>
              <a:buChar char="•"/>
              <a:tabLst>
                <a:tab pos="192405" algn="l"/>
              </a:tabLst>
            </a:pPr>
            <a:r>
              <a:rPr dirty="0" sz="3200">
                <a:solidFill>
                  <a:srgbClr val="FF0000"/>
                </a:solidFill>
                <a:latin typeface="微软雅黑"/>
                <a:cs typeface="微软雅黑"/>
              </a:rPr>
              <a:t>捕获</a:t>
            </a:r>
            <a:r>
              <a:rPr dirty="0" sz="3200">
                <a:latin typeface="微软雅黑"/>
                <a:cs typeface="微软雅黑"/>
              </a:rPr>
              <a:t>异</a:t>
            </a:r>
            <a:r>
              <a:rPr dirty="0" sz="3200" spc="5">
                <a:latin typeface="微软雅黑"/>
                <a:cs typeface="微软雅黑"/>
              </a:rPr>
              <a:t>常</a:t>
            </a:r>
            <a:endParaRPr sz="3200">
              <a:latin typeface="微软雅黑"/>
              <a:cs typeface="微软雅黑"/>
            </a:endParaRPr>
          </a:p>
          <a:p>
            <a:pPr marL="191770" indent="-179705">
              <a:lnSpc>
                <a:spcPct val="100000"/>
              </a:lnSpc>
              <a:buClr>
                <a:srgbClr val="000000"/>
              </a:buClr>
              <a:buChar char="•"/>
              <a:tabLst>
                <a:tab pos="192405" algn="l"/>
              </a:tabLst>
            </a:pPr>
            <a:r>
              <a:rPr dirty="0" sz="3200">
                <a:solidFill>
                  <a:srgbClr val="FF0000"/>
                </a:solidFill>
                <a:latin typeface="微软雅黑"/>
                <a:cs typeface="微软雅黑"/>
              </a:rPr>
              <a:t>处理</a:t>
            </a:r>
            <a:r>
              <a:rPr dirty="0" sz="3200">
                <a:latin typeface="微软雅黑"/>
                <a:cs typeface="微软雅黑"/>
              </a:rPr>
              <a:t>异</a:t>
            </a:r>
            <a:r>
              <a:rPr dirty="0" sz="3200" spc="5">
                <a:latin typeface="微软雅黑"/>
                <a:cs typeface="微软雅黑"/>
              </a:rPr>
              <a:t>常</a:t>
            </a:r>
            <a:endParaRPr sz="3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5232" y="1917192"/>
            <a:ext cx="6735026" cy="4025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2590" y="1124584"/>
            <a:ext cx="7929880" cy="63309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84150" marR="5080" indent="-171450">
              <a:lnSpc>
                <a:spcPts val="2270"/>
              </a:lnSpc>
              <a:spcBef>
                <a:spcPts val="38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35">
                <a:latin typeface="微软雅黑"/>
                <a:cs typeface="微软雅黑"/>
              </a:rPr>
              <a:t>J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 spc="-50">
                <a:latin typeface="微软雅黑"/>
                <a:cs typeface="微软雅黑"/>
              </a:rPr>
              <a:t>v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将所有的错误封装成为一个对象，Th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 spc="-5">
                <a:latin typeface="微软雅黑"/>
                <a:cs typeface="微软雅黑"/>
              </a:rPr>
              <a:t>o</a:t>
            </a:r>
            <a:r>
              <a:rPr dirty="0" sz="2100">
                <a:latin typeface="微软雅黑"/>
                <a:cs typeface="微软雅黑"/>
              </a:rPr>
              <a:t>w</a:t>
            </a:r>
            <a:r>
              <a:rPr dirty="0" sz="2100" spc="-5">
                <a:latin typeface="微软雅黑"/>
                <a:cs typeface="微软雅黑"/>
              </a:rPr>
              <a:t>ab</a:t>
            </a:r>
            <a:r>
              <a:rPr dirty="0" sz="2100">
                <a:latin typeface="微软雅黑"/>
                <a:cs typeface="微软雅黑"/>
              </a:rPr>
              <a:t>l</a:t>
            </a:r>
            <a:r>
              <a:rPr dirty="0" sz="2100" spc="-5">
                <a:latin typeface="微软雅黑"/>
                <a:cs typeface="微软雅黑"/>
              </a:rPr>
              <a:t>e</a:t>
            </a:r>
            <a:r>
              <a:rPr dirty="0" sz="2100">
                <a:latin typeface="微软雅黑"/>
                <a:cs typeface="微软雅黑"/>
              </a:rPr>
              <a:t>类是这个异常体 系的根，它有两个子类</a:t>
            </a:r>
            <a:r>
              <a:rPr dirty="0" sz="2100" spc="-10">
                <a:latin typeface="微软雅黑"/>
                <a:cs typeface="微软雅黑"/>
              </a:rPr>
              <a:t>：Error</a:t>
            </a:r>
            <a:r>
              <a:rPr dirty="0" sz="2100">
                <a:latin typeface="微软雅黑"/>
                <a:cs typeface="微软雅黑"/>
              </a:rPr>
              <a:t>和</a:t>
            </a:r>
            <a:r>
              <a:rPr dirty="0" sz="2100" spc="-5">
                <a:latin typeface="微软雅黑"/>
                <a:cs typeface="微软雅黑"/>
              </a:rPr>
              <a:t>Exception</a:t>
            </a:r>
            <a:r>
              <a:rPr dirty="0" sz="2100"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9951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2100" b="1">
                <a:latin typeface="微软雅黑"/>
                <a:cs typeface="微软雅黑"/>
              </a:rPr>
              <a:t>1	</a:t>
            </a:r>
            <a:r>
              <a:rPr dirty="0" sz="2100" spc="-30" b="1">
                <a:latin typeface="微软雅黑"/>
                <a:cs typeface="微软雅黑"/>
              </a:rPr>
              <a:t>J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40" b="1">
                <a:latin typeface="微软雅黑"/>
                <a:cs typeface="微软雅黑"/>
              </a:rPr>
              <a:t>v</a:t>
            </a:r>
            <a:r>
              <a:rPr dirty="0" sz="2100" b="1">
                <a:latin typeface="微软雅黑"/>
                <a:cs typeface="微软雅黑"/>
              </a:rPr>
              <a:t>a异常体系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7747"/>
            <a:ext cx="7887334" cy="120459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436245" indent="-423545">
              <a:lnSpc>
                <a:spcPct val="100000"/>
              </a:lnSpc>
              <a:spcBef>
                <a:spcPts val="285"/>
              </a:spcBef>
              <a:buSzPct val="95238"/>
              <a:buAutoNum type="arabicPeriod"/>
              <a:tabLst>
                <a:tab pos="436245" algn="l"/>
              </a:tabLst>
            </a:pPr>
            <a:r>
              <a:rPr dirty="0" sz="2100" spc="-10">
                <a:latin typeface="微软雅黑"/>
                <a:cs typeface="微软雅黑"/>
              </a:rPr>
              <a:t>Error</a:t>
            </a:r>
            <a:endParaRPr sz="2100">
              <a:latin typeface="微软雅黑"/>
              <a:cs typeface="微软雅黑"/>
            </a:endParaRPr>
          </a:p>
          <a:p>
            <a:pPr lvl="1" marL="417195" indent="-17145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 spc="-10">
                <a:latin typeface="微软雅黑"/>
                <a:cs typeface="微软雅黑"/>
              </a:rPr>
              <a:t>Error</a:t>
            </a:r>
            <a:r>
              <a:rPr dirty="0" sz="1800">
                <a:latin typeface="微软雅黑"/>
                <a:cs typeface="微软雅黑"/>
              </a:rPr>
              <a:t>类及其子类对象代表了程序运行时</a:t>
            </a:r>
            <a:r>
              <a:rPr dirty="0" sz="1800" spc="-20">
                <a:latin typeface="微软雅黑"/>
                <a:cs typeface="微软雅黑"/>
              </a:rPr>
              <a:t>Java</a:t>
            </a:r>
            <a:r>
              <a:rPr dirty="0" sz="1800">
                <a:latin typeface="微软雅黑"/>
                <a:cs typeface="微软雅黑"/>
              </a:rPr>
              <a:t>系统内部的错误。</a:t>
            </a:r>
            <a:endParaRPr sz="1800">
              <a:latin typeface="微软雅黑"/>
              <a:cs typeface="微软雅黑"/>
            </a:endParaRPr>
          </a:p>
          <a:p>
            <a:pPr lvl="1" marL="417195" marR="5080" indent="-171450">
              <a:lnSpc>
                <a:spcPts val="1939"/>
              </a:lnSpc>
              <a:spcBef>
                <a:spcPts val="40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对于E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 spc="-3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o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，程序设计者无能为力，程序不能从E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 spc="-3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o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恢复，因此不必处理它 们，从技术上讲</a:t>
            </a:r>
            <a:r>
              <a:rPr dirty="0" sz="1800" spc="-10">
                <a:latin typeface="微软雅黑"/>
                <a:cs typeface="微软雅黑"/>
              </a:rPr>
              <a:t>Error</a:t>
            </a:r>
            <a:r>
              <a:rPr dirty="0" sz="1800">
                <a:latin typeface="微软雅黑"/>
                <a:cs typeface="微软雅黑"/>
              </a:rPr>
              <a:t>不是异常。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9951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2100" b="1">
                <a:latin typeface="微软雅黑"/>
                <a:cs typeface="微软雅黑"/>
              </a:rPr>
              <a:t>1	</a:t>
            </a:r>
            <a:r>
              <a:rPr dirty="0" sz="2100" spc="-30" b="1">
                <a:latin typeface="微软雅黑"/>
                <a:cs typeface="微软雅黑"/>
              </a:rPr>
              <a:t>J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40" b="1">
                <a:latin typeface="微软雅黑"/>
                <a:cs typeface="微软雅黑"/>
              </a:rPr>
              <a:t>v</a:t>
            </a:r>
            <a:r>
              <a:rPr dirty="0" sz="2100" b="1">
                <a:latin typeface="微软雅黑"/>
                <a:cs typeface="微软雅黑"/>
              </a:rPr>
              <a:t>a异常体系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7747"/>
            <a:ext cx="7893050" cy="254508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436245" indent="-423545">
              <a:lnSpc>
                <a:spcPct val="100000"/>
              </a:lnSpc>
              <a:spcBef>
                <a:spcPts val="285"/>
              </a:spcBef>
              <a:buSzPct val="95238"/>
              <a:buAutoNum type="arabicPeriod" startAt="2"/>
              <a:tabLst>
                <a:tab pos="436245" algn="l"/>
              </a:tabLst>
            </a:pPr>
            <a:r>
              <a:rPr dirty="0" sz="2100" spc="-5">
                <a:latin typeface="微软雅黑"/>
                <a:cs typeface="微软雅黑"/>
              </a:rPr>
              <a:t>Exception</a:t>
            </a:r>
            <a:endParaRPr sz="2100">
              <a:latin typeface="微软雅黑"/>
              <a:cs typeface="微软雅黑"/>
            </a:endParaRPr>
          </a:p>
          <a:p>
            <a:pPr lvl="1" marL="417195" marR="5080" indent="-171450">
              <a:lnSpc>
                <a:spcPts val="1939"/>
              </a:lnSpc>
              <a:spcBef>
                <a:spcPts val="409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E</a:t>
            </a:r>
            <a:r>
              <a:rPr dirty="0" sz="1800" spc="-20">
                <a:latin typeface="微软雅黑"/>
                <a:cs typeface="微软雅黑"/>
              </a:rPr>
              <a:t>x</a:t>
            </a:r>
            <a:r>
              <a:rPr dirty="0" sz="1800">
                <a:latin typeface="微软雅黑"/>
                <a:cs typeface="微软雅黑"/>
              </a:rPr>
              <a:t>c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p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ion通常是由于某个资源不可用，或者正确执行程序所需的条件不满 足所造成的。</a:t>
            </a:r>
            <a:endParaRPr sz="1800">
              <a:latin typeface="微软雅黑"/>
              <a:cs typeface="微软雅黑"/>
            </a:endParaRPr>
          </a:p>
          <a:p>
            <a:pPr lvl="1" marL="417195" marR="5080" indent="-171450">
              <a:lnSpc>
                <a:spcPts val="1939"/>
              </a:lnSpc>
              <a:spcBef>
                <a:spcPts val="37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E</a:t>
            </a:r>
            <a:r>
              <a:rPr dirty="0" sz="1800" spc="-20">
                <a:latin typeface="微软雅黑"/>
                <a:cs typeface="微软雅黑"/>
              </a:rPr>
              <a:t>x</a:t>
            </a:r>
            <a:r>
              <a:rPr dirty="0" sz="1800">
                <a:latin typeface="微软雅黑"/>
                <a:cs typeface="微软雅黑"/>
              </a:rPr>
              <a:t>c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p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ion类及其子类对象是程序设计者应该关心、并尽可能加以处理的部 分。</a:t>
            </a:r>
            <a:endParaRPr sz="18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1300">
              <a:latin typeface="微软雅黑"/>
              <a:cs typeface="微软雅黑"/>
            </a:endParaRPr>
          </a:p>
          <a:p>
            <a:pPr lvl="1" marL="417195" indent="-171450">
              <a:lnSpc>
                <a:spcPct val="100000"/>
              </a:lnSpc>
              <a:buFont typeface="Arial"/>
              <a:buChar char="•"/>
              <a:tabLst>
                <a:tab pos="417195" algn="l"/>
              </a:tabLst>
            </a:pPr>
            <a:r>
              <a:rPr dirty="0" sz="1800" spc="-20">
                <a:latin typeface="微软雅黑"/>
                <a:cs typeface="微软雅黑"/>
              </a:rPr>
              <a:t>Java</a:t>
            </a:r>
            <a:r>
              <a:rPr dirty="0" sz="1800">
                <a:latin typeface="微软雅黑"/>
                <a:cs typeface="微软雅黑"/>
              </a:rPr>
              <a:t>将</a:t>
            </a:r>
            <a:r>
              <a:rPr dirty="0" sz="1800" spc="-5">
                <a:latin typeface="微软雅黑"/>
                <a:cs typeface="微软雅黑"/>
              </a:rPr>
              <a:t>Exception</a:t>
            </a:r>
            <a:r>
              <a:rPr dirty="0" sz="1800">
                <a:latin typeface="微软雅黑"/>
                <a:cs typeface="微软雅黑"/>
              </a:rPr>
              <a:t>分为两类</a:t>
            </a:r>
            <a:endParaRPr sz="1800">
              <a:latin typeface="微软雅黑"/>
              <a:cs typeface="微软雅黑"/>
            </a:endParaRPr>
          </a:p>
          <a:p>
            <a:pPr lvl="2" marL="760095" indent="-17145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1500" spc="-5">
                <a:latin typeface="微软雅黑"/>
                <a:cs typeface="微软雅黑"/>
              </a:rPr>
              <a:t>RuntimeException（</a:t>
            </a:r>
            <a:r>
              <a:rPr dirty="0" sz="1500">
                <a:latin typeface="微软雅黑"/>
                <a:cs typeface="微软雅黑"/>
              </a:rPr>
              <a:t>运行时异常，也称为未检查异常</a:t>
            </a:r>
            <a:r>
              <a:rPr dirty="0" sz="1500" spc="-10">
                <a:latin typeface="微软雅黑"/>
                <a:cs typeface="微软雅黑"/>
              </a:rPr>
              <a:t>Unchecked</a:t>
            </a:r>
            <a:r>
              <a:rPr dirty="0" sz="1500" spc="-5">
                <a:latin typeface="微软雅黑"/>
                <a:cs typeface="微软雅黑"/>
              </a:rPr>
              <a:t> Exception）</a:t>
            </a:r>
            <a:endParaRPr sz="1500">
              <a:latin typeface="微软雅黑"/>
              <a:cs typeface="微软雅黑"/>
            </a:endParaRPr>
          </a:p>
          <a:p>
            <a:pPr lvl="2" marL="760095" indent="-17145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1500">
                <a:latin typeface="微软雅黑"/>
                <a:cs typeface="微软雅黑"/>
              </a:rPr>
              <a:t>非</a:t>
            </a:r>
            <a:r>
              <a:rPr dirty="0" sz="1500" spc="-5">
                <a:latin typeface="微软雅黑"/>
                <a:cs typeface="微软雅黑"/>
              </a:rPr>
              <a:t>RuntimeException（</a:t>
            </a:r>
            <a:r>
              <a:rPr dirty="0" sz="1500">
                <a:latin typeface="微软雅黑"/>
                <a:cs typeface="微软雅黑"/>
              </a:rPr>
              <a:t>也称为已检查异常</a:t>
            </a:r>
            <a:r>
              <a:rPr dirty="0" sz="1500" spc="-5">
                <a:latin typeface="微软雅黑"/>
                <a:cs typeface="微软雅黑"/>
              </a:rPr>
              <a:t> </a:t>
            </a:r>
            <a:r>
              <a:rPr dirty="0" sz="1500" spc="-10">
                <a:latin typeface="微软雅黑"/>
                <a:cs typeface="微软雅黑"/>
              </a:rPr>
              <a:t>checked</a:t>
            </a:r>
            <a:r>
              <a:rPr dirty="0" sz="1500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Exception），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9951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2100" b="1">
                <a:latin typeface="微软雅黑"/>
                <a:cs typeface="微软雅黑"/>
              </a:rPr>
              <a:t>1	</a:t>
            </a:r>
            <a:r>
              <a:rPr dirty="0" sz="2100" spc="-30" b="1">
                <a:latin typeface="微软雅黑"/>
                <a:cs typeface="微软雅黑"/>
              </a:rPr>
              <a:t>J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40" b="1">
                <a:latin typeface="微软雅黑"/>
                <a:cs typeface="微软雅黑"/>
              </a:rPr>
              <a:t>v</a:t>
            </a:r>
            <a:r>
              <a:rPr dirty="0" sz="2100" b="1">
                <a:latin typeface="微软雅黑"/>
                <a:cs typeface="微软雅黑"/>
              </a:rPr>
              <a:t>a异常体系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7747"/>
            <a:ext cx="7917815" cy="346138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702945" indent="-690245">
              <a:lnSpc>
                <a:spcPct val="100000"/>
              </a:lnSpc>
              <a:spcBef>
                <a:spcPts val="285"/>
              </a:spcBef>
              <a:buSzPct val="95238"/>
              <a:buAutoNum type="arabicPlain"/>
              <a:tabLst>
                <a:tab pos="702945" algn="l"/>
              </a:tabLst>
            </a:pPr>
            <a:r>
              <a:rPr dirty="0" sz="2100">
                <a:latin typeface="微软雅黑"/>
                <a:cs typeface="微软雅黑"/>
              </a:rPr>
              <a:t>未检查异常</a:t>
            </a:r>
            <a:endParaRPr sz="2100">
              <a:latin typeface="微软雅黑"/>
              <a:cs typeface="微软雅黑"/>
            </a:endParaRPr>
          </a:p>
          <a:p>
            <a:pPr lvl="1" marL="417195" indent="-17145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未检查异常包含</a:t>
            </a:r>
            <a:r>
              <a:rPr dirty="0" sz="1800" spc="-5">
                <a:latin typeface="微软雅黑"/>
                <a:cs typeface="微软雅黑"/>
              </a:rPr>
              <a:t>java.lang.RuntimeException</a:t>
            </a:r>
            <a:r>
              <a:rPr dirty="0" sz="1800">
                <a:latin typeface="微软雅黑"/>
                <a:cs typeface="微软雅黑"/>
              </a:rPr>
              <a:t>类及其所有子类。</a:t>
            </a:r>
            <a:endParaRPr sz="1800">
              <a:latin typeface="微软雅黑"/>
              <a:cs typeface="微软雅黑"/>
            </a:endParaRPr>
          </a:p>
          <a:p>
            <a:pPr lvl="1" marL="417195" indent="-171450">
              <a:lnSpc>
                <a:spcPts val="2050"/>
              </a:lnSpc>
              <a:spcBef>
                <a:spcPts val="15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未检查异常因为程序员没有进行必要的检查，因疏忽或错误而引起的异常</a:t>
            </a:r>
            <a:endParaRPr sz="1800">
              <a:latin typeface="微软雅黑"/>
              <a:cs typeface="微软雅黑"/>
            </a:endParaRPr>
          </a:p>
          <a:p>
            <a:pPr marL="417195">
              <a:lnSpc>
                <a:spcPts val="2050"/>
              </a:lnSpc>
            </a:pPr>
            <a:r>
              <a:rPr dirty="0" sz="1800">
                <a:latin typeface="微软雅黑"/>
                <a:cs typeface="微软雅黑"/>
              </a:rPr>
              <a:t>，是可避免的。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 spc="-5">
                <a:latin typeface="微软雅黑"/>
                <a:cs typeface="微软雅黑"/>
              </a:rPr>
              <a:t>(2）</a:t>
            </a:r>
            <a:r>
              <a:rPr dirty="0" sz="1800">
                <a:latin typeface="微软雅黑"/>
                <a:cs typeface="微软雅黑"/>
              </a:rPr>
              <a:t>已检查异常</a:t>
            </a:r>
            <a:endParaRPr sz="1800">
              <a:latin typeface="微软雅黑"/>
              <a:cs typeface="微软雅黑"/>
            </a:endParaRPr>
          </a:p>
          <a:p>
            <a:pPr lvl="1" marL="417195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除了</a:t>
            </a:r>
            <a:r>
              <a:rPr dirty="0" sz="1800" spc="-5">
                <a:latin typeface="微软雅黑"/>
                <a:cs typeface="微软雅黑"/>
              </a:rPr>
              <a:t>java.lang.RuntimeException</a:t>
            </a:r>
            <a:r>
              <a:rPr dirty="0" sz="1800">
                <a:latin typeface="微软雅黑"/>
                <a:cs typeface="微软雅黑"/>
              </a:rPr>
              <a:t>之外的所有异常都属于此类。</a:t>
            </a:r>
            <a:endParaRPr sz="1800">
              <a:latin typeface="微软雅黑"/>
              <a:cs typeface="微软雅黑"/>
            </a:endParaRPr>
          </a:p>
          <a:p>
            <a:pPr lvl="1" marL="417195" marR="5080" indent="-171450">
              <a:lnSpc>
                <a:spcPts val="1939"/>
              </a:lnSpc>
              <a:spcBef>
                <a:spcPts val="40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已检查异常是不可避免的，最常见的如I</a:t>
            </a:r>
            <a:r>
              <a:rPr dirty="0" sz="1800" spc="-5">
                <a:latin typeface="微软雅黑"/>
                <a:cs typeface="微软雅黑"/>
              </a:rPr>
              <a:t>O</a:t>
            </a:r>
            <a:r>
              <a:rPr dirty="0" sz="1800">
                <a:latin typeface="微软雅黑"/>
                <a:cs typeface="微软雅黑"/>
              </a:rPr>
              <a:t>E</a:t>
            </a:r>
            <a:r>
              <a:rPr dirty="0" sz="1800" spc="-20">
                <a:latin typeface="微软雅黑"/>
                <a:cs typeface="微软雅黑"/>
              </a:rPr>
              <a:t>x</a:t>
            </a:r>
            <a:r>
              <a:rPr dirty="0" sz="1800">
                <a:latin typeface="微软雅黑"/>
                <a:cs typeface="微软雅黑"/>
              </a:rPr>
              <a:t>c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p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ion及其子类（像找不到文 件的</a:t>
            </a:r>
            <a:r>
              <a:rPr dirty="0" sz="1800" spc="-5">
                <a:latin typeface="微软雅黑"/>
                <a:cs typeface="微软雅黑"/>
              </a:rPr>
              <a:t>FileNotFoundException，</a:t>
            </a:r>
            <a:r>
              <a:rPr dirty="0" sz="1800">
                <a:latin typeface="微软雅黑"/>
                <a:cs typeface="微软雅黑"/>
              </a:rPr>
              <a:t>意外到达文件尾部</a:t>
            </a:r>
            <a:r>
              <a:rPr dirty="0" sz="1800" spc="-5">
                <a:latin typeface="微软雅黑"/>
                <a:cs typeface="微软雅黑"/>
              </a:rPr>
              <a:t>EOFException</a:t>
            </a:r>
            <a:r>
              <a:rPr dirty="0" sz="1800">
                <a:latin typeface="微软雅黑"/>
                <a:cs typeface="微软雅黑"/>
              </a:rPr>
              <a:t>等都是它 的子类）、数据库访问错误</a:t>
            </a:r>
            <a:r>
              <a:rPr dirty="0" sz="1800" spc="-5">
                <a:latin typeface="微软雅黑"/>
                <a:cs typeface="微软雅黑"/>
              </a:rPr>
              <a:t>SQLException</a:t>
            </a:r>
            <a:r>
              <a:rPr dirty="0" sz="1800">
                <a:latin typeface="微软雅黑"/>
                <a:cs typeface="微软雅黑"/>
              </a:rPr>
              <a:t>、解析时出现的异常 </a:t>
            </a:r>
            <a:r>
              <a:rPr dirty="0" sz="1800" spc="-10">
                <a:latin typeface="微软雅黑"/>
                <a:cs typeface="微软雅黑"/>
              </a:rPr>
              <a:t>ParseException</a:t>
            </a:r>
            <a:r>
              <a:rPr dirty="0" sz="1800">
                <a:latin typeface="微软雅黑"/>
                <a:cs typeface="微软雅黑"/>
              </a:rPr>
              <a:t>等。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9951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2100" b="1">
                <a:latin typeface="微软雅黑"/>
                <a:cs typeface="微软雅黑"/>
              </a:rPr>
              <a:t>1	</a:t>
            </a:r>
            <a:r>
              <a:rPr dirty="0" sz="2100" spc="-30" b="1">
                <a:latin typeface="微软雅黑"/>
                <a:cs typeface="微软雅黑"/>
              </a:rPr>
              <a:t>J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40" b="1">
                <a:latin typeface="微软雅黑"/>
                <a:cs typeface="微软雅黑"/>
              </a:rPr>
              <a:t>v</a:t>
            </a:r>
            <a:r>
              <a:rPr dirty="0" sz="2100" b="1">
                <a:latin typeface="微软雅黑"/>
                <a:cs typeface="微软雅黑"/>
              </a:rPr>
              <a:t>a异常体系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150" y="1177925"/>
            <a:ext cx="7274559" cy="3680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所有异常对象都包含了如下几个常用方法：</a:t>
            </a:r>
            <a:endParaRPr sz="24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2300"/>
              </a:spcBef>
            </a:pPr>
            <a:r>
              <a:rPr dirty="0" sz="2400" spc="-5">
                <a:latin typeface="微软雅黑"/>
                <a:cs typeface="微软雅黑"/>
              </a:rPr>
              <a:t>getMessage()：</a:t>
            </a:r>
            <a:r>
              <a:rPr dirty="0" sz="2400">
                <a:latin typeface="微软雅黑"/>
                <a:cs typeface="微软雅黑"/>
              </a:rPr>
              <a:t>返回该异常的详细描述字符串。</a:t>
            </a:r>
            <a:endParaRPr sz="2400">
              <a:latin typeface="微软雅黑"/>
              <a:cs typeface="微软雅黑"/>
            </a:endParaRPr>
          </a:p>
          <a:p>
            <a:pPr marL="469900" marR="111125">
              <a:lnSpc>
                <a:spcPts val="2590"/>
              </a:lnSpc>
              <a:spcBef>
                <a:spcPts val="2625"/>
              </a:spcBef>
            </a:pPr>
            <a:r>
              <a:rPr dirty="0" sz="2400">
                <a:latin typeface="微软雅黑"/>
                <a:cs typeface="微软雅黑"/>
              </a:rPr>
              <a:t>p</a:t>
            </a:r>
            <a:r>
              <a:rPr dirty="0" sz="2400" spc="-5">
                <a:latin typeface="微软雅黑"/>
                <a:cs typeface="微软雅黑"/>
              </a:rPr>
              <a:t>r</a:t>
            </a:r>
            <a:r>
              <a:rPr dirty="0" sz="2400">
                <a:latin typeface="微软雅黑"/>
                <a:cs typeface="微软雅黑"/>
              </a:rPr>
              <a:t>int</a:t>
            </a:r>
            <a:r>
              <a:rPr dirty="0" sz="2400" spc="-90">
                <a:latin typeface="微软雅黑"/>
                <a:cs typeface="微软雅黑"/>
              </a:rPr>
              <a:t>S</a:t>
            </a:r>
            <a:r>
              <a:rPr dirty="0" sz="2400">
                <a:latin typeface="微软雅黑"/>
                <a:cs typeface="微软雅黑"/>
              </a:rPr>
              <a:t>t</a:t>
            </a:r>
            <a:r>
              <a:rPr dirty="0" sz="2400" spc="-5">
                <a:latin typeface="微软雅黑"/>
                <a:cs typeface="微软雅黑"/>
              </a:rPr>
              <a:t>a</a:t>
            </a:r>
            <a:r>
              <a:rPr dirty="0" sz="2400">
                <a:latin typeface="微软雅黑"/>
                <a:cs typeface="微软雅黑"/>
              </a:rPr>
              <a:t>c</a:t>
            </a:r>
            <a:r>
              <a:rPr dirty="0" sz="2400" spc="-5">
                <a:latin typeface="微软雅黑"/>
                <a:cs typeface="微软雅黑"/>
              </a:rPr>
              <a:t>k</a:t>
            </a:r>
            <a:r>
              <a:rPr dirty="0" sz="2400" spc="-229">
                <a:latin typeface="微软雅黑"/>
                <a:cs typeface="微软雅黑"/>
              </a:rPr>
              <a:t>T</a:t>
            </a:r>
            <a:r>
              <a:rPr dirty="0" sz="2400" spc="-5">
                <a:latin typeface="微软雅黑"/>
                <a:cs typeface="微软雅黑"/>
              </a:rPr>
              <a:t>ra</a:t>
            </a:r>
            <a:r>
              <a:rPr dirty="0" sz="2400">
                <a:latin typeface="微软雅黑"/>
                <a:cs typeface="微软雅黑"/>
              </a:rPr>
              <a:t>c</a:t>
            </a:r>
            <a:r>
              <a:rPr dirty="0" sz="2400" spc="-5">
                <a:latin typeface="微软雅黑"/>
                <a:cs typeface="微软雅黑"/>
              </a:rPr>
              <a:t>e()</a:t>
            </a:r>
            <a:r>
              <a:rPr dirty="0" sz="2400">
                <a:latin typeface="微软雅黑"/>
                <a:cs typeface="微软雅黑"/>
              </a:rPr>
              <a:t>：将该异常的跟踪栈信息输出到 标准错误输出。</a:t>
            </a:r>
            <a:endParaRPr sz="2400">
              <a:latin typeface="微软雅黑"/>
              <a:cs typeface="微软雅黑"/>
            </a:endParaRPr>
          </a:p>
          <a:p>
            <a:pPr marL="469900" marR="5080">
              <a:lnSpc>
                <a:spcPts val="2590"/>
              </a:lnSpc>
              <a:spcBef>
                <a:spcPts val="2590"/>
              </a:spcBef>
            </a:pPr>
            <a:r>
              <a:rPr dirty="0" sz="2400" spc="-20">
                <a:latin typeface="微软雅黑"/>
                <a:cs typeface="微软雅黑"/>
              </a:rPr>
              <a:t>printStackTrace(PrintStream</a:t>
            </a:r>
            <a:r>
              <a:rPr dirty="0" sz="2400" spc="-5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s)：</a:t>
            </a:r>
            <a:r>
              <a:rPr dirty="0" sz="2400">
                <a:latin typeface="微软雅黑"/>
                <a:cs typeface="微软雅黑"/>
              </a:rPr>
              <a:t>将该异常的跟踪 栈信息输出到指定输出流。</a:t>
            </a:r>
            <a:endParaRPr sz="24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2265"/>
              </a:spcBef>
            </a:pPr>
            <a:r>
              <a:rPr dirty="0" sz="2400" spc="-25">
                <a:latin typeface="微软雅黑"/>
                <a:cs typeface="微软雅黑"/>
              </a:rPr>
              <a:t>getStackTrace()：</a:t>
            </a:r>
            <a:r>
              <a:rPr dirty="0" sz="2400">
                <a:latin typeface="微软雅黑"/>
                <a:cs typeface="微软雅黑"/>
              </a:rPr>
              <a:t>返回该异常的跟踪栈信息。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969" y="271779"/>
            <a:ext cx="259016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2</a:t>
            </a:r>
            <a:r>
              <a:rPr dirty="0" sz="2100" b="1">
                <a:latin typeface="微软雅黑"/>
                <a:cs typeface="微软雅黑"/>
              </a:rPr>
              <a:t>、异常的捕获和处理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2810255"/>
            <a:ext cx="1600200" cy="144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7637" y="2805112"/>
            <a:ext cx="1609725" cy="1457325"/>
          </a:xfrm>
          <a:custGeom>
            <a:avLst/>
            <a:gdLst/>
            <a:ahLst/>
            <a:cxnLst/>
            <a:rect l="l" t="t" r="r" b="b"/>
            <a:pathLst>
              <a:path w="1609725" h="1457325">
                <a:moveTo>
                  <a:pt x="1609725" y="1457325"/>
                </a:moveTo>
                <a:lnTo>
                  <a:pt x="0" y="14573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447800"/>
                </a:lnTo>
                <a:lnTo>
                  <a:pt x="4762" y="1447800"/>
                </a:lnTo>
                <a:lnTo>
                  <a:pt x="9525" y="1452562"/>
                </a:lnTo>
                <a:lnTo>
                  <a:pt x="1609725" y="1452562"/>
                </a:lnTo>
                <a:lnTo>
                  <a:pt x="1609725" y="1457325"/>
                </a:lnTo>
                <a:close/>
              </a:path>
              <a:path w="1609725" h="1457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14573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1457325">
                <a:moveTo>
                  <a:pt x="1600200" y="14525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1447800"/>
                </a:lnTo>
                <a:lnTo>
                  <a:pt x="1604962" y="1447800"/>
                </a:lnTo>
                <a:lnTo>
                  <a:pt x="1600200" y="1452562"/>
                </a:lnTo>
                <a:close/>
              </a:path>
              <a:path w="1609725" h="14573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1457325">
                <a:moveTo>
                  <a:pt x="9525" y="1452562"/>
                </a:moveTo>
                <a:lnTo>
                  <a:pt x="4762" y="1447800"/>
                </a:lnTo>
                <a:lnTo>
                  <a:pt x="9525" y="1447800"/>
                </a:lnTo>
                <a:lnTo>
                  <a:pt x="9525" y="1452562"/>
                </a:lnTo>
                <a:close/>
              </a:path>
              <a:path w="1609725" h="1457325">
                <a:moveTo>
                  <a:pt x="1600200" y="1452562"/>
                </a:moveTo>
                <a:lnTo>
                  <a:pt x="9525" y="1452562"/>
                </a:lnTo>
                <a:lnTo>
                  <a:pt x="9525" y="1447800"/>
                </a:lnTo>
                <a:lnTo>
                  <a:pt x="1600200" y="1447800"/>
                </a:lnTo>
                <a:lnTo>
                  <a:pt x="1600200" y="1452562"/>
                </a:lnTo>
                <a:close/>
              </a:path>
              <a:path w="1609725" h="1457325">
                <a:moveTo>
                  <a:pt x="1609725" y="1452562"/>
                </a:moveTo>
                <a:lnTo>
                  <a:pt x="1600200" y="1452562"/>
                </a:lnTo>
                <a:lnTo>
                  <a:pt x="1604962" y="1447800"/>
                </a:lnTo>
                <a:lnTo>
                  <a:pt x="1609725" y="1447800"/>
                </a:lnTo>
                <a:lnTo>
                  <a:pt x="1609725" y="1452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2400" y="2957829"/>
            <a:ext cx="16002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9225" marR="142240" indent="-63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0000"/>
                </a:solidFill>
                <a:latin typeface="Georgia"/>
                <a:cs typeface="Georgia"/>
              </a:rPr>
              <a:t>Create </a:t>
            </a:r>
            <a:r>
              <a:rPr dirty="0" sz="2400">
                <a:latin typeface="Georgia"/>
                <a:cs typeface="Georgia"/>
              </a:rPr>
              <a:t>an  </a:t>
            </a:r>
            <a:r>
              <a:rPr dirty="0" sz="2400" spc="-5">
                <a:latin typeface="Georgia"/>
                <a:cs typeface="Georgia"/>
              </a:rPr>
              <a:t>ex</a:t>
            </a:r>
            <a:r>
              <a:rPr dirty="0" sz="2400">
                <a:latin typeface="Georgia"/>
                <a:cs typeface="Georgia"/>
              </a:rPr>
              <a:t>c</a:t>
            </a:r>
            <a:r>
              <a:rPr dirty="0" sz="2400" spc="-5">
                <a:latin typeface="Georgia"/>
                <a:cs typeface="Georgia"/>
              </a:rPr>
              <a:t>ep</a:t>
            </a:r>
            <a:r>
              <a:rPr dirty="0" sz="2400">
                <a:latin typeface="Georgia"/>
                <a:cs typeface="Georgia"/>
              </a:rPr>
              <a:t>tion  </a:t>
            </a:r>
            <a:r>
              <a:rPr dirty="0" sz="2400" spc="-5">
                <a:latin typeface="Georgia"/>
                <a:cs typeface="Georgia"/>
              </a:rPr>
              <a:t>object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52600" y="3457575"/>
            <a:ext cx="990600" cy="76200"/>
          </a:xfrm>
          <a:custGeom>
            <a:avLst/>
            <a:gdLst/>
            <a:ahLst/>
            <a:cxnLst/>
            <a:rect l="l" t="t" r="r" b="b"/>
            <a:pathLst>
              <a:path w="990600" h="76200">
                <a:moveTo>
                  <a:pt x="914400" y="76200"/>
                </a:moveTo>
                <a:lnTo>
                  <a:pt x="914400" y="0"/>
                </a:lnTo>
                <a:lnTo>
                  <a:pt x="981075" y="33337"/>
                </a:lnTo>
                <a:lnTo>
                  <a:pt x="933450" y="33337"/>
                </a:lnTo>
                <a:lnTo>
                  <a:pt x="933450" y="42862"/>
                </a:lnTo>
                <a:lnTo>
                  <a:pt x="981075" y="42862"/>
                </a:lnTo>
                <a:lnTo>
                  <a:pt x="914400" y="76200"/>
                </a:lnTo>
                <a:close/>
              </a:path>
              <a:path w="990600" h="76200">
                <a:moveTo>
                  <a:pt x="9144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914400" y="33337"/>
                </a:lnTo>
                <a:lnTo>
                  <a:pt x="914400" y="42862"/>
                </a:lnTo>
                <a:close/>
              </a:path>
              <a:path w="990600" h="76200">
                <a:moveTo>
                  <a:pt x="981075" y="42862"/>
                </a:moveTo>
                <a:lnTo>
                  <a:pt x="933450" y="42862"/>
                </a:lnTo>
                <a:lnTo>
                  <a:pt x="933450" y="33337"/>
                </a:lnTo>
                <a:lnTo>
                  <a:pt x="981075" y="33337"/>
                </a:lnTo>
                <a:lnTo>
                  <a:pt x="990600" y="38100"/>
                </a:lnTo>
                <a:lnTo>
                  <a:pt x="9810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3200" y="3038855"/>
            <a:ext cx="2590800" cy="99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38437" y="3033712"/>
            <a:ext cx="2600325" cy="1000125"/>
          </a:xfrm>
          <a:custGeom>
            <a:avLst/>
            <a:gdLst/>
            <a:ahLst/>
            <a:cxnLst/>
            <a:rect l="l" t="t" r="r" b="b"/>
            <a:pathLst>
              <a:path w="2600325" h="1000125">
                <a:moveTo>
                  <a:pt x="26003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2600325" y="995362"/>
                </a:lnTo>
                <a:lnTo>
                  <a:pt x="2600325" y="1000125"/>
                </a:lnTo>
                <a:close/>
              </a:path>
              <a:path w="26003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10001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1000125">
                <a:moveTo>
                  <a:pt x="2590800" y="9953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990600"/>
                </a:lnTo>
                <a:lnTo>
                  <a:pt x="2595562" y="990600"/>
                </a:lnTo>
                <a:lnTo>
                  <a:pt x="2590800" y="995362"/>
                </a:lnTo>
                <a:close/>
              </a:path>
              <a:path w="2600325" h="10001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2600325" h="1000125">
                <a:moveTo>
                  <a:pt x="25908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2590800" y="990600"/>
                </a:lnTo>
                <a:lnTo>
                  <a:pt x="2590800" y="995362"/>
                </a:lnTo>
                <a:close/>
              </a:path>
              <a:path w="2600325" h="1000125">
                <a:moveTo>
                  <a:pt x="2600325" y="995362"/>
                </a:moveTo>
                <a:lnTo>
                  <a:pt x="2590800" y="995362"/>
                </a:lnTo>
                <a:lnTo>
                  <a:pt x="2595562" y="990600"/>
                </a:lnTo>
                <a:lnTo>
                  <a:pt x="2600325" y="990600"/>
                </a:lnTo>
                <a:lnTo>
                  <a:pt x="26003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43200" y="3140709"/>
            <a:ext cx="2590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155" marR="163195" indent="6667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0000"/>
                </a:solidFill>
                <a:latin typeface="Georgia"/>
                <a:cs typeface="Georgia"/>
              </a:rPr>
              <a:t>Stop </a:t>
            </a:r>
            <a:r>
              <a:rPr dirty="0" sz="2400" spc="-5">
                <a:latin typeface="Georgia"/>
                <a:cs typeface="Georgia"/>
              </a:rPr>
              <a:t>the current  path </a:t>
            </a:r>
            <a:r>
              <a:rPr dirty="0" sz="2400">
                <a:latin typeface="Georgia"/>
                <a:cs typeface="Georgia"/>
              </a:rPr>
              <a:t>of</a:t>
            </a:r>
            <a:r>
              <a:rPr dirty="0" sz="2400" spc="-60">
                <a:latin typeface="Georgia"/>
                <a:cs typeface="Georgia"/>
              </a:rPr>
              <a:t> </a:t>
            </a:r>
            <a:r>
              <a:rPr dirty="0" sz="2400" spc="-5">
                <a:latin typeface="Georgia"/>
                <a:cs typeface="Georgia"/>
              </a:rPr>
              <a:t>execution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34000" y="3457575"/>
            <a:ext cx="990600" cy="76200"/>
          </a:xfrm>
          <a:custGeom>
            <a:avLst/>
            <a:gdLst/>
            <a:ahLst/>
            <a:cxnLst/>
            <a:rect l="l" t="t" r="r" b="b"/>
            <a:pathLst>
              <a:path w="990600" h="76200">
                <a:moveTo>
                  <a:pt x="914400" y="76200"/>
                </a:moveTo>
                <a:lnTo>
                  <a:pt x="914400" y="0"/>
                </a:lnTo>
                <a:lnTo>
                  <a:pt x="981075" y="33337"/>
                </a:lnTo>
                <a:lnTo>
                  <a:pt x="933450" y="33337"/>
                </a:lnTo>
                <a:lnTo>
                  <a:pt x="933450" y="42862"/>
                </a:lnTo>
                <a:lnTo>
                  <a:pt x="981075" y="42862"/>
                </a:lnTo>
                <a:lnTo>
                  <a:pt x="914400" y="76200"/>
                </a:lnTo>
                <a:close/>
              </a:path>
              <a:path w="990600" h="76200">
                <a:moveTo>
                  <a:pt x="9144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914400" y="33337"/>
                </a:lnTo>
                <a:lnTo>
                  <a:pt x="914400" y="42862"/>
                </a:lnTo>
                <a:close/>
              </a:path>
              <a:path w="990600" h="76200">
                <a:moveTo>
                  <a:pt x="981075" y="42862"/>
                </a:moveTo>
                <a:lnTo>
                  <a:pt x="933450" y="42862"/>
                </a:lnTo>
                <a:lnTo>
                  <a:pt x="933450" y="33337"/>
                </a:lnTo>
                <a:lnTo>
                  <a:pt x="981075" y="33337"/>
                </a:lnTo>
                <a:lnTo>
                  <a:pt x="990600" y="38100"/>
                </a:lnTo>
                <a:lnTo>
                  <a:pt x="9810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24600" y="2962655"/>
            <a:ext cx="2819400" cy="1143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319837" y="2957512"/>
            <a:ext cx="2824480" cy="1152525"/>
          </a:xfrm>
          <a:custGeom>
            <a:avLst/>
            <a:gdLst/>
            <a:ahLst/>
            <a:cxnLst/>
            <a:rect l="l" t="t" r="r" b="b"/>
            <a:pathLst>
              <a:path w="2824479" h="1152525">
                <a:moveTo>
                  <a:pt x="2824162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2824162" y="0"/>
                </a:lnTo>
                <a:lnTo>
                  <a:pt x="282416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2824162" y="1147762"/>
                </a:lnTo>
                <a:lnTo>
                  <a:pt x="2824162" y="1152525"/>
                </a:lnTo>
                <a:close/>
              </a:path>
              <a:path w="2824479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824479" h="1152525">
                <a:moveTo>
                  <a:pt x="2819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19400" y="4762"/>
                </a:lnTo>
                <a:lnTo>
                  <a:pt x="2819400" y="9525"/>
                </a:lnTo>
                <a:close/>
              </a:path>
              <a:path w="2824479" h="1152525">
                <a:moveTo>
                  <a:pt x="2819400" y="1147762"/>
                </a:moveTo>
                <a:lnTo>
                  <a:pt x="2819400" y="4762"/>
                </a:lnTo>
                <a:lnTo>
                  <a:pt x="2824162" y="9525"/>
                </a:lnTo>
                <a:lnTo>
                  <a:pt x="2824162" y="1143000"/>
                </a:lnTo>
                <a:lnTo>
                  <a:pt x="2819400" y="1147762"/>
                </a:lnTo>
                <a:close/>
              </a:path>
              <a:path w="2824479" h="1152525">
                <a:moveTo>
                  <a:pt x="2824162" y="9525"/>
                </a:moveTo>
                <a:lnTo>
                  <a:pt x="2819400" y="4762"/>
                </a:lnTo>
                <a:lnTo>
                  <a:pt x="2824162" y="4762"/>
                </a:lnTo>
                <a:lnTo>
                  <a:pt x="2824162" y="9525"/>
                </a:lnTo>
                <a:close/>
              </a:path>
              <a:path w="2824479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2824479" h="1152525">
                <a:moveTo>
                  <a:pt x="28194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2819400" y="1143000"/>
                </a:lnTo>
                <a:lnTo>
                  <a:pt x="2819400" y="1147762"/>
                </a:lnTo>
                <a:close/>
              </a:path>
              <a:path w="2824479" h="1152525">
                <a:moveTo>
                  <a:pt x="2824162" y="1147762"/>
                </a:moveTo>
                <a:lnTo>
                  <a:pt x="2819400" y="1147762"/>
                </a:lnTo>
                <a:lnTo>
                  <a:pt x="2824162" y="1143000"/>
                </a:lnTo>
                <a:lnTo>
                  <a:pt x="2824162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363970" y="2958465"/>
            <a:ext cx="274066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0000"/>
                </a:solidFill>
                <a:latin typeface="Georgia"/>
                <a:cs typeface="Georgia"/>
              </a:rPr>
              <a:t>Throw </a:t>
            </a:r>
            <a:r>
              <a:rPr dirty="0" sz="2400" spc="-5">
                <a:latin typeface="Georgia"/>
                <a:cs typeface="Georgia"/>
              </a:rPr>
              <a:t>the</a:t>
            </a:r>
            <a:r>
              <a:rPr dirty="0" sz="2400" spc="-40">
                <a:latin typeface="Georgia"/>
                <a:cs typeface="Georgia"/>
              </a:rPr>
              <a:t> </a:t>
            </a:r>
            <a:r>
              <a:rPr dirty="0" sz="2400" spc="-5">
                <a:latin typeface="Georgia"/>
                <a:cs typeface="Georgia"/>
              </a:rPr>
              <a:t>reference  Of the exception  object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57800" y="4100893"/>
            <a:ext cx="2135505" cy="923925"/>
          </a:xfrm>
          <a:custGeom>
            <a:avLst/>
            <a:gdLst/>
            <a:ahLst/>
            <a:cxnLst/>
            <a:rect l="l" t="t" r="r" b="b"/>
            <a:pathLst>
              <a:path w="2135504" h="923925">
                <a:moveTo>
                  <a:pt x="71916" y="893141"/>
                </a:moveTo>
                <a:lnTo>
                  <a:pt x="68164" y="884388"/>
                </a:lnTo>
                <a:lnTo>
                  <a:pt x="2131720" y="0"/>
                </a:lnTo>
                <a:lnTo>
                  <a:pt x="2135479" y="8763"/>
                </a:lnTo>
                <a:lnTo>
                  <a:pt x="71916" y="893141"/>
                </a:lnTo>
                <a:close/>
              </a:path>
              <a:path w="2135504" h="923925">
                <a:moveTo>
                  <a:pt x="85051" y="923785"/>
                </a:moveTo>
                <a:lnTo>
                  <a:pt x="0" y="918781"/>
                </a:lnTo>
                <a:lnTo>
                  <a:pt x="55029" y="853744"/>
                </a:lnTo>
                <a:lnTo>
                  <a:pt x="68164" y="884388"/>
                </a:lnTo>
                <a:lnTo>
                  <a:pt x="50647" y="891895"/>
                </a:lnTo>
                <a:lnTo>
                  <a:pt x="54406" y="900645"/>
                </a:lnTo>
                <a:lnTo>
                  <a:pt x="75133" y="900645"/>
                </a:lnTo>
                <a:lnTo>
                  <a:pt x="85051" y="923785"/>
                </a:lnTo>
                <a:close/>
              </a:path>
              <a:path w="2135504" h="923925">
                <a:moveTo>
                  <a:pt x="54406" y="900645"/>
                </a:moveTo>
                <a:lnTo>
                  <a:pt x="50647" y="891895"/>
                </a:lnTo>
                <a:lnTo>
                  <a:pt x="68164" y="884388"/>
                </a:lnTo>
                <a:lnTo>
                  <a:pt x="71916" y="893141"/>
                </a:lnTo>
                <a:lnTo>
                  <a:pt x="54406" y="900645"/>
                </a:lnTo>
                <a:close/>
              </a:path>
              <a:path w="2135504" h="923925">
                <a:moveTo>
                  <a:pt x="75133" y="900645"/>
                </a:moveTo>
                <a:lnTo>
                  <a:pt x="54406" y="900645"/>
                </a:lnTo>
                <a:lnTo>
                  <a:pt x="71916" y="893141"/>
                </a:lnTo>
                <a:lnTo>
                  <a:pt x="75133" y="900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793740" y="4657090"/>
            <a:ext cx="2650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967A2C"/>
                </a:solidFill>
                <a:latin typeface="Georgia"/>
                <a:cs typeface="Georgia"/>
              </a:rPr>
              <a:t>Exception</a:t>
            </a:r>
            <a:r>
              <a:rPr dirty="0" sz="2400" spc="-35">
                <a:solidFill>
                  <a:srgbClr val="967A2C"/>
                </a:solidFill>
                <a:latin typeface="Georgia"/>
                <a:cs typeface="Georgia"/>
              </a:rPr>
              <a:t> </a:t>
            </a:r>
            <a:r>
              <a:rPr dirty="0" sz="2400" spc="-5">
                <a:solidFill>
                  <a:srgbClr val="967A2C"/>
                </a:solidFill>
                <a:latin typeface="Georgia"/>
                <a:cs typeface="Georgia"/>
              </a:rPr>
              <a:t>handling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57600" y="4486655"/>
            <a:ext cx="1600200" cy="1066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52837" y="4481512"/>
            <a:ext cx="1609725" cy="1076325"/>
          </a:xfrm>
          <a:custGeom>
            <a:avLst/>
            <a:gdLst/>
            <a:ahLst/>
            <a:cxnLst/>
            <a:rect l="l" t="t" r="r" b="b"/>
            <a:pathLst>
              <a:path w="1609725" h="1076325">
                <a:moveTo>
                  <a:pt x="1609725" y="1076325"/>
                </a:moveTo>
                <a:lnTo>
                  <a:pt x="0" y="10763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66800"/>
                </a:lnTo>
                <a:lnTo>
                  <a:pt x="4762" y="1066800"/>
                </a:lnTo>
                <a:lnTo>
                  <a:pt x="9525" y="1071562"/>
                </a:lnTo>
                <a:lnTo>
                  <a:pt x="1609725" y="1071562"/>
                </a:lnTo>
                <a:lnTo>
                  <a:pt x="1609725" y="1076325"/>
                </a:lnTo>
                <a:close/>
              </a:path>
              <a:path w="1609725" h="1076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10763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1076325">
                <a:moveTo>
                  <a:pt x="1600200" y="10715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1066800"/>
                </a:lnTo>
                <a:lnTo>
                  <a:pt x="1604962" y="1066800"/>
                </a:lnTo>
                <a:lnTo>
                  <a:pt x="1600200" y="1071562"/>
                </a:lnTo>
                <a:close/>
              </a:path>
              <a:path w="1609725" h="10763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1076325">
                <a:moveTo>
                  <a:pt x="9525" y="1071562"/>
                </a:moveTo>
                <a:lnTo>
                  <a:pt x="4762" y="1066800"/>
                </a:lnTo>
                <a:lnTo>
                  <a:pt x="9525" y="1066800"/>
                </a:lnTo>
                <a:lnTo>
                  <a:pt x="9525" y="1071562"/>
                </a:lnTo>
                <a:close/>
              </a:path>
              <a:path w="1609725" h="1076325">
                <a:moveTo>
                  <a:pt x="1600200" y="1071562"/>
                </a:moveTo>
                <a:lnTo>
                  <a:pt x="9525" y="1071562"/>
                </a:lnTo>
                <a:lnTo>
                  <a:pt x="9525" y="1066800"/>
                </a:lnTo>
                <a:lnTo>
                  <a:pt x="1600200" y="1066800"/>
                </a:lnTo>
                <a:lnTo>
                  <a:pt x="1600200" y="1071562"/>
                </a:lnTo>
                <a:close/>
              </a:path>
              <a:path w="1609725" h="1076325">
                <a:moveTo>
                  <a:pt x="1609725" y="1071562"/>
                </a:moveTo>
                <a:lnTo>
                  <a:pt x="1600200" y="1071562"/>
                </a:lnTo>
                <a:lnTo>
                  <a:pt x="1604962" y="1066800"/>
                </a:lnTo>
                <a:lnTo>
                  <a:pt x="1609725" y="1066800"/>
                </a:lnTo>
                <a:lnTo>
                  <a:pt x="1609725" y="107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823334" y="4622800"/>
            <a:ext cx="1192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solidFill>
                  <a:srgbClr val="FF0000"/>
                </a:solidFill>
                <a:latin typeface="Times New Roman"/>
                <a:cs typeface="Times New Roman"/>
              </a:rPr>
              <a:t>exce</a:t>
            </a: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2400" spc="-5" i="1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2994025" y="4992370"/>
            <a:ext cx="4405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solidFill>
                  <a:srgbClr val="FF0000"/>
                </a:solidFill>
                <a:latin typeface="Times New Roman"/>
                <a:cs typeface="Times New Roman"/>
              </a:rPr>
              <a:t>handler</a:t>
            </a:r>
            <a:r>
              <a:rPr dirty="0" sz="2400" spc="-5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（异常处理</a:t>
            </a:r>
            <a:r>
              <a:rPr dirty="0" sz="2400" spc="-65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r>
              <a:rPr dirty="0" baseline="-5787" sz="3600" spc="-97">
                <a:solidFill>
                  <a:srgbClr val="967A2C"/>
                </a:solidFill>
                <a:latin typeface="Georgia"/>
                <a:cs typeface="Georgia"/>
              </a:rPr>
              <a:t>mechanism</a:t>
            </a:r>
            <a:endParaRPr baseline="-5787" sz="36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624840" y="1177289"/>
            <a:ext cx="349948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9914" algn="l"/>
              </a:tabLst>
            </a:pPr>
            <a:r>
              <a:rPr dirty="0" sz="3200">
                <a:solidFill>
                  <a:srgbClr val="FF0000"/>
                </a:solidFill>
                <a:latin typeface="等线"/>
                <a:cs typeface="等线"/>
              </a:rPr>
              <a:t>抛出</a:t>
            </a:r>
            <a:r>
              <a:rPr dirty="0" sz="3200">
                <a:latin typeface="等线"/>
                <a:cs typeface="等线"/>
              </a:rPr>
              <a:t>异</a:t>
            </a:r>
            <a:r>
              <a:rPr dirty="0" sz="3200" spc="5">
                <a:latin typeface="等线"/>
                <a:cs typeface="等线"/>
              </a:rPr>
              <a:t>常</a:t>
            </a:r>
            <a:r>
              <a:rPr dirty="0" sz="3200">
                <a:latin typeface="等线"/>
                <a:cs typeface="等线"/>
              </a:rPr>
              <a:t>	</a:t>
            </a:r>
            <a:r>
              <a:rPr dirty="0" sz="3200">
                <a:solidFill>
                  <a:srgbClr val="FF0000"/>
                </a:solidFill>
                <a:latin typeface="等线"/>
                <a:cs typeface="等线"/>
              </a:rPr>
              <a:t>捕获</a:t>
            </a:r>
            <a:r>
              <a:rPr dirty="0" sz="3200">
                <a:latin typeface="等线"/>
                <a:cs typeface="等线"/>
              </a:rPr>
              <a:t>异</a:t>
            </a:r>
            <a:r>
              <a:rPr dirty="0" sz="3200" spc="5">
                <a:latin typeface="等线"/>
                <a:cs typeface="等线"/>
              </a:rPr>
              <a:t>常</a:t>
            </a:r>
            <a:endParaRPr sz="3200">
              <a:latin typeface="等线"/>
              <a:cs typeface="等线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31665" y="1177289"/>
            <a:ext cx="16516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0000"/>
                </a:solidFill>
                <a:latin typeface="等线"/>
                <a:cs typeface="等线"/>
              </a:rPr>
              <a:t>处理</a:t>
            </a:r>
            <a:r>
              <a:rPr dirty="0" sz="3200">
                <a:latin typeface="等线"/>
                <a:cs typeface="等线"/>
              </a:rPr>
              <a:t>异</a:t>
            </a:r>
            <a:r>
              <a:rPr dirty="0" sz="3200" spc="5">
                <a:latin typeface="等线"/>
                <a:cs typeface="等线"/>
              </a:rPr>
              <a:t>常</a:t>
            </a:r>
            <a:endParaRPr sz="320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44" y="297815"/>
            <a:ext cx="7891780" cy="3562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92835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2.1try-catch-finally语句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微软雅黑"/>
              <a:cs typeface="微软雅黑"/>
            </a:endParaRPr>
          </a:p>
          <a:p>
            <a:pPr marL="84455">
              <a:lnSpc>
                <a:spcPct val="100000"/>
              </a:lnSpc>
            </a:pPr>
            <a:r>
              <a:rPr dirty="0" sz="2000" b="1">
                <a:latin typeface="Verdana"/>
                <a:cs typeface="Verdana"/>
              </a:rPr>
              <a:t>The </a:t>
            </a:r>
            <a:r>
              <a:rPr dirty="0" sz="2000" spc="-5" b="1">
                <a:latin typeface="Verdana"/>
                <a:cs typeface="Verdana"/>
              </a:rPr>
              <a:t>try block</a:t>
            </a:r>
            <a:r>
              <a:rPr dirty="0" sz="2000" spc="-10" b="1">
                <a:latin typeface="Verdana"/>
                <a:cs typeface="Verdana"/>
              </a:rPr>
              <a:t> </a:t>
            </a:r>
            <a:r>
              <a:rPr dirty="0" sz="2000" b="1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  <a:p>
            <a:pPr marL="12700" marR="761365" indent="304800">
              <a:lnSpc>
                <a:spcPct val="100000"/>
              </a:lnSpc>
              <a:spcBef>
                <a:spcPts val="1505"/>
              </a:spcBef>
            </a:pPr>
            <a:r>
              <a:rPr dirty="0" sz="2400">
                <a:latin typeface="微软雅黑"/>
                <a:cs typeface="微软雅黑"/>
              </a:rPr>
              <a:t>将可能产生异常的代码放在t</a:t>
            </a:r>
            <a:r>
              <a:rPr dirty="0" sz="2400" spc="95">
                <a:latin typeface="微软雅黑"/>
                <a:cs typeface="微软雅黑"/>
              </a:rPr>
              <a:t>r</a:t>
            </a:r>
            <a:r>
              <a:rPr dirty="0" sz="2400" spc="-5">
                <a:latin typeface="微软雅黑"/>
                <a:cs typeface="微软雅黑"/>
              </a:rPr>
              <a:t>y</a:t>
            </a:r>
            <a:r>
              <a:rPr dirty="0" sz="2400">
                <a:latin typeface="微软雅黑"/>
                <a:cs typeface="微软雅黑"/>
              </a:rPr>
              <a:t>语句块中尝试执行， 异常发生之后的代码不会被执行</a:t>
            </a:r>
            <a:endParaRPr sz="2400">
              <a:latin typeface="微软雅黑"/>
              <a:cs typeface="微软雅黑"/>
            </a:endParaRPr>
          </a:p>
          <a:p>
            <a:pPr marL="83820" marR="5080" indent="294640">
              <a:lnSpc>
                <a:spcPct val="99100"/>
              </a:lnSpc>
              <a:spcBef>
                <a:spcPts val="2170"/>
              </a:spcBef>
            </a:pPr>
            <a:r>
              <a:rPr dirty="0" sz="2400" spc="-15" i="1">
                <a:solidFill>
                  <a:srgbClr val="FF0000"/>
                </a:solidFill>
                <a:latin typeface="Times New Roman"/>
                <a:cs typeface="Times New Roman"/>
              </a:rPr>
              <a:t>Guarded </a:t>
            </a:r>
            <a:r>
              <a:rPr dirty="0" sz="2400" spc="-155" i="1">
                <a:solidFill>
                  <a:srgbClr val="FF0000"/>
                </a:solidFill>
                <a:latin typeface="Times New Roman"/>
                <a:cs typeface="Times New Roman"/>
              </a:rPr>
              <a:t>region</a:t>
            </a:r>
            <a:r>
              <a:rPr dirty="0" sz="2500" spc="-155" i="1">
                <a:solidFill>
                  <a:srgbClr val="FF0000"/>
                </a:solidFill>
                <a:latin typeface="宋体"/>
                <a:cs typeface="宋体"/>
              </a:rPr>
              <a:t>（ </a:t>
            </a:r>
            <a:r>
              <a:rPr dirty="0" sz="2500" spc="-869" i="1">
                <a:solidFill>
                  <a:srgbClr val="FF0000"/>
                </a:solidFill>
                <a:latin typeface="宋体"/>
                <a:cs typeface="宋体"/>
              </a:rPr>
              <a:t>监 视 区 </a:t>
            </a:r>
            <a:r>
              <a:rPr dirty="0" sz="2500" spc="-55" i="1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r>
              <a:rPr dirty="0" sz="2400" spc="-55">
                <a:latin typeface="Times New Roman"/>
                <a:cs typeface="Times New Roman"/>
              </a:rPr>
              <a:t>is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5">
                <a:latin typeface="Times New Roman"/>
                <a:cs typeface="Times New Roman"/>
              </a:rPr>
              <a:t>section </a:t>
            </a:r>
            <a:r>
              <a:rPr dirty="0" sz="2400">
                <a:latin typeface="Times New Roman"/>
                <a:cs typeface="Times New Roman"/>
              </a:rPr>
              <a:t>of </a:t>
            </a:r>
            <a:r>
              <a:rPr dirty="0" sz="2400" spc="-5">
                <a:latin typeface="Times New Roman"/>
                <a:cs typeface="Times New Roman"/>
              </a:rPr>
              <a:t>code that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might  produce exceptions</a:t>
            </a:r>
            <a:r>
              <a:rPr dirty="0" sz="2400" spc="-5">
                <a:latin typeface="Times New Roman"/>
                <a:cs typeface="Times New Roman"/>
              </a:rPr>
              <a:t>, and is followed </a:t>
            </a:r>
            <a:r>
              <a:rPr dirty="0" sz="2400">
                <a:latin typeface="Times New Roman"/>
                <a:cs typeface="Times New Roman"/>
              </a:rPr>
              <a:t>by </a:t>
            </a:r>
            <a:r>
              <a:rPr dirty="0" sz="2400" spc="-5">
                <a:latin typeface="Times New Roman"/>
                <a:cs typeface="Times New Roman"/>
              </a:rPr>
              <a:t>the code to handle those  exceptions.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31395" y="3933444"/>
            <a:ext cx="3688596" cy="2074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23034"/>
            <a:ext cx="7711440" cy="63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9-1</a:t>
            </a:r>
            <a:r>
              <a:rPr dirty="0" sz="2100">
                <a:latin typeface="微软雅黑"/>
                <a:cs typeface="微软雅黑"/>
              </a:rPr>
              <a:t>】按</a:t>
            </a:r>
            <a:r>
              <a:rPr dirty="0" sz="2100" spc="-5">
                <a:latin typeface="微软雅黑"/>
                <a:cs typeface="微软雅黑"/>
              </a:rPr>
              <a:t>“yyyy-MM-dd”</a:t>
            </a:r>
            <a:r>
              <a:rPr dirty="0" sz="2100">
                <a:latin typeface="微软雅黑"/>
                <a:cs typeface="微软雅黑"/>
              </a:rPr>
              <a:t>格式输入一个人的生日并打印输出</a:t>
            </a:r>
            <a:endParaRPr sz="2100">
              <a:latin typeface="微软雅黑"/>
              <a:cs typeface="微软雅黑"/>
            </a:endParaRPr>
          </a:p>
          <a:p>
            <a:pPr marL="12700">
              <a:lnSpc>
                <a:spcPts val="2395"/>
              </a:lnSpc>
            </a:pPr>
            <a:r>
              <a:rPr dirty="0" sz="2100"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2778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2.1	</a:t>
            </a:r>
            <a:r>
              <a:rPr dirty="0" sz="2100" b="1">
                <a:latin typeface="微软雅黑"/>
                <a:cs typeface="微软雅黑"/>
              </a:rPr>
              <a:t>try-catch-finally语句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2355" y="1917192"/>
            <a:ext cx="8019288" cy="4137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8165" y="1913254"/>
            <a:ext cx="8027034" cy="4144645"/>
          </a:xfrm>
          <a:custGeom>
            <a:avLst/>
            <a:gdLst/>
            <a:ahLst/>
            <a:cxnLst/>
            <a:rect l="l" t="t" r="r" b="b"/>
            <a:pathLst>
              <a:path w="8027034" h="4144645">
                <a:moveTo>
                  <a:pt x="8027034" y="4144645"/>
                </a:moveTo>
                <a:lnTo>
                  <a:pt x="0" y="4144645"/>
                </a:lnTo>
                <a:lnTo>
                  <a:pt x="0" y="0"/>
                </a:lnTo>
                <a:lnTo>
                  <a:pt x="8027034" y="0"/>
                </a:lnTo>
                <a:lnTo>
                  <a:pt x="8027034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4137025"/>
                </a:lnTo>
                <a:lnTo>
                  <a:pt x="3809" y="4137025"/>
                </a:lnTo>
                <a:lnTo>
                  <a:pt x="7619" y="4140835"/>
                </a:lnTo>
                <a:lnTo>
                  <a:pt x="8027034" y="4140834"/>
                </a:lnTo>
                <a:lnTo>
                  <a:pt x="8027034" y="4144645"/>
                </a:lnTo>
                <a:close/>
              </a:path>
              <a:path w="8027034" h="4144645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8027034" h="4144645">
                <a:moveTo>
                  <a:pt x="8019414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8019414" y="3810"/>
                </a:lnTo>
                <a:lnTo>
                  <a:pt x="8019414" y="7620"/>
                </a:lnTo>
                <a:close/>
              </a:path>
              <a:path w="8027034" h="4144645">
                <a:moveTo>
                  <a:pt x="8019414" y="4140835"/>
                </a:moveTo>
                <a:lnTo>
                  <a:pt x="8019414" y="3810"/>
                </a:lnTo>
                <a:lnTo>
                  <a:pt x="8023225" y="7620"/>
                </a:lnTo>
                <a:lnTo>
                  <a:pt x="8027034" y="7620"/>
                </a:lnTo>
                <a:lnTo>
                  <a:pt x="8027034" y="4137025"/>
                </a:lnTo>
                <a:lnTo>
                  <a:pt x="8023225" y="4137025"/>
                </a:lnTo>
                <a:lnTo>
                  <a:pt x="8019414" y="4140835"/>
                </a:lnTo>
                <a:close/>
              </a:path>
              <a:path w="8027034" h="4144645">
                <a:moveTo>
                  <a:pt x="8027034" y="7620"/>
                </a:moveTo>
                <a:lnTo>
                  <a:pt x="8023225" y="7620"/>
                </a:lnTo>
                <a:lnTo>
                  <a:pt x="8019414" y="3810"/>
                </a:lnTo>
                <a:lnTo>
                  <a:pt x="8027034" y="3810"/>
                </a:lnTo>
                <a:lnTo>
                  <a:pt x="8027034" y="7620"/>
                </a:lnTo>
                <a:close/>
              </a:path>
              <a:path w="8027034" h="4144645">
                <a:moveTo>
                  <a:pt x="7619" y="4140835"/>
                </a:moveTo>
                <a:lnTo>
                  <a:pt x="3809" y="4137025"/>
                </a:lnTo>
                <a:lnTo>
                  <a:pt x="7619" y="4137025"/>
                </a:lnTo>
                <a:lnTo>
                  <a:pt x="7619" y="4140835"/>
                </a:lnTo>
                <a:close/>
              </a:path>
              <a:path w="8027034" h="4144645">
                <a:moveTo>
                  <a:pt x="8019414" y="4140835"/>
                </a:moveTo>
                <a:lnTo>
                  <a:pt x="7619" y="4140835"/>
                </a:lnTo>
                <a:lnTo>
                  <a:pt x="7619" y="4137025"/>
                </a:lnTo>
                <a:lnTo>
                  <a:pt x="8019414" y="4137025"/>
                </a:lnTo>
                <a:lnTo>
                  <a:pt x="8019414" y="4140835"/>
                </a:lnTo>
                <a:close/>
              </a:path>
              <a:path w="8027034" h="4144645">
                <a:moveTo>
                  <a:pt x="8027034" y="4140834"/>
                </a:moveTo>
                <a:lnTo>
                  <a:pt x="8019414" y="4140835"/>
                </a:lnTo>
                <a:lnTo>
                  <a:pt x="8023225" y="4137025"/>
                </a:lnTo>
                <a:lnTo>
                  <a:pt x="8027034" y="4137025"/>
                </a:lnTo>
                <a:lnTo>
                  <a:pt x="8027034" y="414083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8650" y="1945004"/>
            <a:ext cx="7922895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spc="-5" b="1">
                <a:latin typeface="微软雅黑"/>
                <a:cs typeface="微软雅黑"/>
              </a:rPr>
              <a:t>public static void </a:t>
            </a:r>
            <a:r>
              <a:rPr dirty="0" sz="1800" spc="-10">
                <a:latin typeface="微软雅黑"/>
                <a:cs typeface="微软雅黑"/>
              </a:rPr>
              <a:t>main(String[] args)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ts val="2190"/>
              </a:lnSpc>
              <a:tabLst>
                <a:tab pos="2364105" algn="l"/>
              </a:tabLst>
            </a:pPr>
            <a:r>
              <a:rPr dirty="0" sz="1800" spc="-5">
                <a:latin typeface="微软雅黑"/>
                <a:cs typeface="微软雅黑"/>
              </a:rPr>
              <a:t>Scanner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scn	= </a:t>
            </a:r>
            <a:r>
              <a:rPr dirty="0" sz="1800" spc="-5" b="1">
                <a:latin typeface="微软雅黑"/>
                <a:cs typeface="微软雅黑"/>
              </a:rPr>
              <a:t>new </a:t>
            </a:r>
            <a:r>
              <a:rPr dirty="0" sz="1800" spc="-75">
                <a:latin typeface="微软雅黑"/>
                <a:cs typeface="微软雅黑"/>
              </a:rPr>
              <a:t>Scanner(System.</a:t>
            </a:r>
            <a:r>
              <a:rPr dirty="0" sz="1850" spc="-75" i="1">
                <a:latin typeface="微软雅黑"/>
                <a:cs typeface="微软雅黑"/>
              </a:rPr>
              <a:t>in</a:t>
            </a:r>
            <a:r>
              <a:rPr dirty="0" sz="1800" spc="-75">
                <a:latin typeface="微软雅黑"/>
                <a:cs typeface="微软雅黑"/>
              </a:rPr>
              <a:t>);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ts val="2155"/>
              </a:lnSpc>
            </a:pPr>
            <a:r>
              <a:rPr dirty="0" sz="1800" spc="-5">
                <a:latin typeface="微软雅黑"/>
                <a:cs typeface="微软雅黑"/>
              </a:rPr>
              <a:t>SimpleDateFormat sdf </a:t>
            </a:r>
            <a:r>
              <a:rPr dirty="0" sz="1800">
                <a:latin typeface="微软雅黑"/>
                <a:cs typeface="微软雅黑"/>
              </a:rPr>
              <a:t>= </a:t>
            </a:r>
            <a:r>
              <a:rPr dirty="0" sz="1800" spc="-5" b="1">
                <a:latin typeface="微软雅黑"/>
                <a:cs typeface="微软雅黑"/>
              </a:rPr>
              <a:t>new</a:t>
            </a:r>
            <a:r>
              <a:rPr dirty="0" sz="1800" spc="10" b="1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SimpleDateFormat("yyyy-MM-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ts val="2135"/>
              </a:lnSpc>
            </a:pPr>
            <a:r>
              <a:rPr dirty="0" sz="1800" spc="-5">
                <a:latin typeface="微软雅黑"/>
                <a:cs typeface="微软雅黑"/>
              </a:rPr>
              <a:t>dd");</a:t>
            </a:r>
            <a:endParaRPr sz="1800">
              <a:latin typeface="微软雅黑"/>
              <a:cs typeface="微软雅黑"/>
            </a:endParaRPr>
          </a:p>
          <a:p>
            <a:pPr marL="927100" marR="2254885">
              <a:lnSpc>
                <a:spcPts val="2160"/>
              </a:lnSpc>
              <a:spcBef>
                <a:spcPts val="95"/>
              </a:spcBef>
            </a:pPr>
            <a:r>
              <a:rPr dirty="0" sz="1800" spc="-140">
                <a:latin typeface="微软雅黑"/>
                <a:cs typeface="微软雅黑"/>
              </a:rPr>
              <a:t>System.</a:t>
            </a:r>
            <a:r>
              <a:rPr dirty="0" sz="1850" spc="-140" i="1">
                <a:latin typeface="微软雅黑"/>
                <a:cs typeface="微软雅黑"/>
              </a:rPr>
              <a:t>out</a:t>
            </a:r>
            <a:r>
              <a:rPr dirty="0" sz="1800" spc="-140">
                <a:latin typeface="微软雅黑"/>
                <a:cs typeface="微软雅黑"/>
              </a:rPr>
              <a:t>.print("</a:t>
            </a:r>
            <a:r>
              <a:rPr dirty="0" sz="1800">
                <a:latin typeface="微软雅黑"/>
                <a:cs typeface="微软雅黑"/>
              </a:rPr>
              <a:t>输入生日</a:t>
            </a:r>
            <a:r>
              <a:rPr dirty="0" sz="1800" spc="-5">
                <a:latin typeface="微软雅黑"/>
                <a:cs typeface="微软雅黑"/>
              </a:rPr>
              <a:t>(yyyy-MM-dd):");  </a:t>
            </a:r>
            <a:r>
              <a:rPr dirty="0" sz="1800" spc="-15">
                <a:latin typeface="微软雅黑"/>
                <a:cs typeface="微软雅黑"/>
              </a:rPr>
              <a:t>String </a:t>
            </a:r>
            <a:r>
              <a:rPr dirty="0" sz="1800" spc="-5">
                <a:latin typeface="微软雅黑"/>
                <a:cs typeface="微软雅黑"/>
              </a:rPr>
              <a:t>birthStr </a:t>
            </a:r>
            <a:r>
              <a:rPr dirty="0" sz="1800">
                <a:latin typeface="微软雅黑"/>
                <a:cs typeface="微软雅黑"/>
              </a:rPr>
              <a:t>=</a:t>
            </a:r>
            <a:r>
              <a:rPr dirty="0" sz="1800" spc="1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scn.next();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2090"/>
              </a:spcBef>
            </a:pPr>
            <a:r>
              <a:rPr dirty="0" sz="1800" spc="20" b="1">
                <a:solidFill>
                  <a:srgbClr val="C00000"/>
                </a:solidFill>
                <a:latin typeface="微软雅黑"/>
                <a:cs typeface="微软雅黑"/>
              </a:rPr>
              <a:t>try</a:t>
            </a:r>
            <a:r>
              <a:rPr dirty="0" sz="1800" spc="-5" b="1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800">
                <a:solidFill>
                  <a:srgbClr val="C00000"/>
                </a:solidFill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1853564">
              <a:lnSpc>
                <a:spcPct val="100000"/>
              </a:lnSpc>
              <a:tabLst>
                <a:tab pos="5464175" algn="l"/>
              </a:tabLst>
            </a:pPr>
            <a:r>
              <a:rPr dirty="0" sz="1800" spc="-5">
                <a:latin typeface="微软雅黑"/>
                <a:cs typeface="微软雅黑"/>
              </a:rPr>
              <a:t>D</a:t>
            </a:r>
            <a:r>
              <a:rPr dirty="0" sz="1800">
                <a:latin typeface="微软雅黑"/>
                <a:cs typeface="微软雅黑"/>
              </a:rPr>
              <a:t>a</a:t>
            </a:r>
            <a:r>
              <a:rPr dirty="0" sz="1800" spc="-20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e bi</a:t>
            </a:r>
            <a:r>
              <a:rPr dirty="0" sz="1800" spc="50">
                <a:latin typeface="微软雅黑"/>
                <a:cs typeface="微软雅黑"/>
              </a:rPr>
              <a:t>r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h = s</a:t>
            </a:r>
            <a:r>
              <a:rPr dirty="0" sz="1800" spc="-5">
                <a:latin typeface="微软雅黑"/>
                <a:cs typeface="微软雅黑"/>
              </a:rPr>
              <a:t>d</a:t>
            </a:r>
            <a:r>
              <a:rPr dirty="0" sz="1800" spc="-125">
                <a:latin typeface="微软雅黑"/>
                <a:cs typeface="微软雅黑"/>
              </a:rPr>
              <a:t>f</a:t>
            </a:r>
            <a:r>
              <a:rPr dirty="0" sz="1800">
                <a:latin typeface="微软雅黑"/>
                <a:cs typeface="微软雅黑"/>
              </a:rPr>
              <a:t>.</a:t>
            </a:r>
            <a:r>
              <a:rPr dirty="0" sz="1800" spc="-30">
                <a:latin typeface="微软雅黑"/>
                <a:cs typeface="微软雅黑"/>
              </a:rPr>
              <a:t>p</a:t>
            </a:r>
            <a:r>
              <a:rPr dirty="0" sz="1800">
                <a:latin typeface="微软雅黑"/>
                <a:cs typeface="微软雅黑"/>
              </a:rPr>
              <a:t>a</a:t>
            </a:r>
            <a:r>
              <a:rPr dirty="0" sz="1800" spc="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s</a:t>
            </a:r>
            <a:r>
              <a:rPr dirty="0" sz="1800" spc="-5">
                <a:latin typeface="微软雅黑"/>
                <a:cs typeface="微软雅黑"/>
              </a:rPr>
              <a:t>e(</a:t>
            </a:r>
            <a:r>
              <a:rPr dirty="0" sz="1800">
                <a:latin typeface="微软雅黑"/>
                <a:cs typeface="微软雅黑"/>
              </a:rPr>
              <a:t>bi</a:t>
            </a:r>
            <a:r>
              <a:rPr dirty="0" sz="1800" spc="50">
                <a:latin typeface="微软雅黑"/>
                <a:cs typeface="微软雅黑"/>
              </a:rPr>
              <a:t>r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h</a:t>
            </a:r>
            <a:r>
              <a:rPr dirty="0" sz="1800" spc="-65">
                <a:latin typeface="微软雅黑"/>
                <a:cs typeface="微软雅黑"/>
              </a:rPr>
              <a:t>S</a:t>
            </a:r>
            <a:r>
              <a:rPr dirty="0" sz="1800" spc="-5">
                <a:latin typeface="微软雅黑"/>
                <a:cs typeface="微软雅黑"/>
              </a:rPr>
              <a:t>tr)</a:t>
            </a:r>
            <a:r>
              <a:rPr dirty="0" sz="1800">
                <a:latin typeface="微软雅黑"/>
                <a:cs typeface="微软雅黑"/>
              </a:rPr>
              <a:t>;	//如果bi</a:t>
            </a:r>
            <a:r>
              <a:rPr dirty="0" sz="1800" spc="50">
                <a:latin typeface="微软雅黑"/>
                <a:cs typeface="微软雅黑"/>
              </a:rPr>
              <a:t>r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h</a:t>
            </a:r>
            <a:r>
              <a:rPr dirty="0" sz="1800" spc="-65">
                <a:latin typeface="微软雅黑"/>
                <a:cs typeface="微软雅黑"/>
              </a:rPr>
              <a:t>S</a:t>
            </a:r>
            <a:r>
              <a:rPr dirty="0" sz="1800" spc="-5">
                <a:latin typeface="微软雅黑"/>
                <a:cs typeface="微软雅黑"/>
              </a:rPr>
              <a:t>tr</a:t>
            </a:r>
            <a:r>
              <a:rPr dirty="0" sz="1800">
                <a:latin typeface="微软雅黑"/>
                <a:cs typeface="微软雅黑"/>
              </a:rPr>
              <a:t>不可解析,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28650" y="4413884"/>
            <a:ext cx="671449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就抛出异常</a:t>
            </a:r>
            <a:endParaRPr sz="1800">
              <a:latin typeface="微软雅黑"/>
              <a:cs typeface="微软雅黑"/>
            </a:endParaRPr>
          </a:p>
          <a:p>
            <a:pPr marL="1841500">
              <a:lnSpc>
                <a:spcPts val="2190"/>
              </a:lnSpc>
              <a:tabLst>
                <a:tab pos="3249295" algn="l"/>
              </a:tabLst>
            </a:pPr>
            <a:r>
              <a:rPr dirty="0" sz="1800" spc="-265">
                <a:latin typeface="微软雅黑"/>
                <a:cs typeface="微软雅黑"/>
              </a:rPr>
              <a:t>System.</a:t>
            </a:r>
            <a:r>
              <a:rPr dirty="0" sz="1850" spc="-265" i="1">
                <a:latin typeface="微软雅黑"/>
                <a:cs typeface="微软雅黑"/>
              </a:rPr>
              <a:t>out</a:t>
            </a:r>
            <a:r>
              <a:rPr dirty="0" sz="1800" spc="-265">
                <a:latin typeface="微软雅黑"/>
                <a:cs typeface="微软雅黑"/>
              </a:rPr>
              <a:t>p.	</a:t>
            </a:r>
            <a:r>
              <a:rPr dirty="0" sz="1800" spc="-5">
                <a:latin typeface="微软雅黑"/>
                <a:cs typeface="微软雅黑"/>
              </a:rPr>
              <a:t>rintln("</a:t>
            </a:r>
            <a:r>
              <a:rPr dirty="0" sz="1800">
                <a:latin typeface="微软雅黑"/>
                <a:cs typeface="微软雅黑"/>
              </a:rPr>
              <a:t>生日</a:t>
            </a:r>
            <a:r>
              <a:rPr dirty="0" sz="1800" spc="-10">
                <a:latin typeface="微软雅黑"/>
                <a:cs typeface="微软雅黑"/>
              </a:rPr>
              <a:t>:"+sdf.format(birth));</a:t>
            </a:r>
            <a:endParaRPr sz="1800">
              <a:latin typeface="微软雅黑"/>
              <a:cs typeface="微软雅黑"/>
            </a:endParaRPr>
          </a:p>
          <a:p>
            <a:pPr marL="1841500" marR="1259205" indent="-914400">
              <a:lnSpc>
                <a:spcPts val="2160"/>
              </a:lnSpc>
              <a:spcBef>
                <a:spcPts val="65"/>
              </a:spcBef>
              <a:tabLst>
                <a:tab pos="3249295" algn="l"/>
              </a:tabLst>
            </a:pPr>
            <a:r>
              <a:rPr dirty="0" sz="1800">
                <a:solidFill>
                  <a:srgbClr val="C00000"/>
                </a:solidFill>
                <a:latin typeface="微软雅黑"/>
                <a:cs typeface="微软雅黑"/>
              </a:rPr>
              <a:t>}</a:t>
            </a:r>
            <a:r>
              <a:rPr dirty="0" sz="1800" spc="-5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微软雅黑"/>
                <a:cs typeface="微软雅黑"/>
              </a:rPr>
              <a:t>catch</a:t>
            </a:r>
            <a:r>
              <a:rPr dirty="0" sz="1800" spc="-10" b="1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800" spc="-10">
                <a:latin typeface="微软雅黑"/>
                <a:cs typeface="微软雅黑"/>
              </a:rPr>
              <a:t>(ParseException</a:t>
            </a:r>
            <a:r>
              <a:rPr dirty="0" sz="1800" spc="-5">
                <a:latin typeface="微软雅黑"/>
                <a:cs typeface="微软雅黑"/>
              </a:rPr>
              <a:t> e)</a:t>
            </a:r>
            <a:r>
              <a:rPr dirty="0" sz="1800">
                <a:latin typeface="微软雅黑"/>
                <a:cs typeface="微软雅黑"/>
              </a:rPr>
              <a:t> {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//捕获异常 </a:t>
            </a:r>
            <a:r>
              <a:rPr dirty="0" sz="1800" spc="-45">
                <a:latin typeface="微软雅黑"/>
                <a:cs typeface="微软雅黑"/>
              </a:rPr>
              <a:t>S</a:t>
            </a:r>
            <a:r>
              <a:rPr dirty="0" sz="1800">
                <a:latin typeface="微软雅黑"/>
                <a:cs typeface="微软雅黑"/>
              </a:rPr>
              <a:t>ys</a:t>
            </a:r>
            <a:r>
              <a:rPr dirty="0" sz="1800" spc="-20">
                <a:latin typeface="微软雅黑"/>
                <a:cs typeface="微软雅黑"/>
              </a:rPr>
              <a:t>t</a:t>
            </a:r>
            <a:r>
              <a:rPr dirty="0" sz="1800" spc="-5">
                <a:latin typeface="微软雅黑"/>
                <a:cs typeface="微软雅黑"/>
              </a:rPr>
              <a:t>em</a:t>
            </a:r>
            <a:r>
              <a:rPr dirty="0" sz="1800" spc="-150">
                <a:latin typeface="微软雅黑"/>
                <a:cs typeface="微软雅黑"/>
              </a:rPr>
              <a:t>.</a:t>
            </a:r>
            <a:r>
              <a:rPr dirty="0" sz="1850" spc="-795" i="1">
                <a:latin typeface="微软雅黑"/>
                <a:cs typeface="微软雅黑"/>
              </a:rPr>
              <a:t>ou</a:t>
            </a:r>
            <a:r>
              <a:rPr dirty="0" sz="1850" spc="-200" i="1">
                <a:latin typeface="微软雅黑"/>
                <a:cs typeface="微软雅黑"/>
              </a:rPr>
              <a:t>t</a:t>
            </a:r>
            <a:r>
              <a:rPr dirty="0" sz="1800" spc="-1585">
                <a:latin typeface="微软雅黑"/>
                <a:cs typeface="微软雅黑"/>
              </a:rPr>
              <a:t>p</a:t>
            </a:r>
            <a:r>
              <a:rPr dirty="0" sz="1800">
                <a:latin typeface="微软雅黑"/>
                <a:cs typeface="微软雅黑"/>
              </a:rPr>
              <a:t>.	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in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ln</a:t>
            </a:r>
            <a:r>
              <a:rPr dirty="0" sz="1800" spc="-5">
                <a:latin typeface="微软雅黑"/>
                <a:cs typeface="微软雅黑"/>
              </a:rPr>
              <a:t>(</a:t>
            </a:r>
            <a:r>
              <a:rPr dirty="0" sz="1800">
                <a:latin typeface="微软雅黑"/>
                <a:cs typeface="微软雅黑"/>
              </a:rPr>
              <a:t>"日期格式错!"</a:t>
            </a:r>
            <a:r>
              <a:rPr dirty="0" sz="1800" spc="-5">
                <a:latin typeface="微软雅黑"/>
                <a:cs typeface="微软雅黑"/>
              </a:rPr>
              <a:t>)</a:t>
            </a:r>
            <a:r>
              <a:rPr dirty="0" sz="1800">
                <a:latin typeface="微软雅黑"/>
                <a:cs typeface="微软雅黑"/>
              </a:rPr>
              <a:t>;</a:t>
            </a:r>
            <a:endParaRPr sz="1800">
              <a:latin typeface="微软雅黑"/>
              <a:cs typeface="微软雅黑"/>
            </a:endParaRPr>
          </a:p>
          <a:p>
            <a:pPr marL="927100">
              <a:lnSpc>
                <a:spcPts val="2090"/>
              </a:lnSpc>
            </a:pPr>
            <a:r>
              <a:rPr dirty="0" sz="1800">
                <a:solidFill>
                  <a:srgbClr val="C00000"/>
                </a:solidFill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397000"/>
            <a:ext cx="7941945" cy="360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65"/>
              </a:lnSpc>
              <a:spcBef>
                <a:spcPts val="100"/>
              </a:spcBef>
            </a:pPr>
            <a:r>
              <a:rPr dirty="0" sz="2100" spc="-10">
                <a:latin typeface="微软雅黑"/>
                <a:cs typeface="微软雅黑"/>
              </a:rPr>
              <a:t>catch</a:t>
            </a:r>
            <a:r>
              <a:rPr dirty="0" sz="2100">
                <a:latin typeface="微软雅黑"/>
                <a:cs typeface="微软雅黑"/>
              </a:rPr>
              <a:t>语句块</a:t>
            </a:r>
            <a:endParaRPr sz="2100">
              <a:latin typeface="微软雅黑"/>
              <a:cs typeface="微软雅黑"/>
            </a:endParaRPr>
          </a:p>
          <a:p>
            <a:pPr marL="417195" marR="15240" indent="-171450">
              <a:lnSpc>
                <a:spcPct val="80000"/>
              </a:lnSpc>
              <a:spcBef>
                <a:spcPts val="42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000" spc="-5">
                <a:latin typeface="微软雅黑"/>
                <a:cs typeface="微软雅黑"/>
              </a:rPr>
              <a:t>每个ca</a:t>
            </a:r>
            <a:r>
              <a:rPr dirty="0" sz="2000" spc="-35">
                <a:latin typeface="微软雅黑"/>
                <a:cs typeface="微软雅黑"/>
              </a:rPr>
              <a:t>t</a:t>
            </a:r>
            <a:r>
              <a:rPr dirty="0" sz="2000" spc="-5">
                <a:latin typeface="微软雅黑"/>
                <a:cs typeface="微软雅黑"/>
              </a:rPr>
              <a:t>ch语句块捕获、处理一种类型的异常。当异常发生时，程</a:t>
            </a:r>
            <a:r>
              <a:rPr dirty="0" sz="2000">
                <a:latin typeface="微软雅黑"/>
                <a:cs typeface="微软雅黑"/>
              </a:rPr>
              <a:t>序 </a:t>
            </a:r>
            <a:r>
              <a:rPr dirty="0" sz="2000">
                <a:latin typeface="微软雅黑"/>
                <a:cs typeface="微软雅黑"/>
              </a:rPr>
              <a:t>会中断正常的流程，离开</a:t>
            </a:r>
            <a:r>
              <a:rPr dirty="0" sz="2000" spc="25">
                <a:latin typeface="微软雅黑"/>
                <a:cs typeface="微软雅黑"/>
              </a:rPr>
              <a:t>try</a:t>
            </a:r>
            <a:r>
              <a:rPr dirty="0" sz="2000">
                <a:latin typeface="微软雅黑"/>
                <a:cs typeface="微软雅黑"/>
              </a:rPr>
              <a:t>语句块去执行相应的</a:t>
            </a:r>
            <a:r>
              <a:rPr dirty="0" sz="2000" spc="-10">
                <a:latin typeface="微软雅黑"/>
                <a:cs typeface="微软雅黑"/>
              </a:rPr>
              <a:t>catch</a:t>
            </a:r>
            <a:r>
              <a:rPr dirty="0" sz="2000">
                <a:latin typeface="微软雅黑"/>
                <a:cs typeface="微软雅黑"/>
              </a:rPr>
              <a:t>语句块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650">
              <a:latin typeface="微软雅黑"/>
              <a:cs typeface="微软雅黑"/>
            </a:endParaRPr>
          </a:p>
          <a:p>
            <a:pPr algn="just" marL="417195" marR="5080" indent="-171450">
              <a:lnSpc>
                <a:spcPct val="80000"/>
              </a:lnSpc>
              <a:buFont typeface="Arial"/>
              <a:buChar char="•"/>
              <a:tabLst>
                <a:tab pos="417195" algn="l"/>
              </a:tabLst>
            </a:pPr>
            <a:r>
              <a:rPr dirty="0" sz="2000" spc="-5">
                <a:latin typeface="Times New Roman"/>
                <a:cs typeface="Times New Roman"/>
              </a:rPr>
              <a:t>the exception handling mechanism goes hunting for the first handler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with 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dirty="0" sz="20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matched</a:t>
            </a:r>
            <a:r>
              <a:rPr dirty="0" sz="2000" spc="-10">
                <a:solidFill>
                  <a:srgbClr val="FF0000"/>
                </a:solidFill>
                <a:latin typeface="Times New Roman"/>
                <a:cs typeface="Times New Roman"/>
              </a:rPr>
              <a:t> argument</a:t>
            </a:r>
            <a:r>
              <a:rPr dirty="0" sz="2000" spc="-10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寻找第一个匹配的异常处理器）</a:t>
            </a:r>
            <a:r>
              <a:rPr dirty="0" sz="2000">
                <a:latin typeface="Times New Roman"/>
                <a:cs typeface="Times New Roman"/>
              </a:rPr>
              <a:t>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-5">
                <a:latin typeface="Times New Roman"/>
                <a:cs typeface="Times New Roman"/>
              </a:rPr>
              <a:t> it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enters  that </a:t>
            </a:r>
            <a:r>
              <a:rPr dirty="0" sz="2000">
                <a:latin typeface="Times New Roman"/>
                <a:cs typeface="Times New Roman"/>
              </a:rPr>
              <a:t>catch </a:t>
            </a:r>
            <a:r>
              <a:rPr dirty="0" sz="2000" spc="-5">
                <a:latin typeface="Times New Roman"/>
                <a:cs typeface="Times New Roman"/>
              </a:rPr>
              <a:t>clause, </a:t>
            </a:r>
            <a:r>
              <a:rPr dirty="0" sz="2000">
                <a:latin typeface="Times New Roman"/>
                <a:cs typeface="Times New Roman"/>
              </a:rPr>
              <a:t>and </a:t>
            </a:r>
            <a:r>
              <a:rPr dirty="0" sz="2000" spc="-5">
                <a:latin typeface="Times New Roman"/>
                <a:cs typeface="Times New Roman"/>
              </a:rPr>
              <a:t>the exception is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considered</a:t>
            </a:r>
            <a:r>
              <a:rPr dirty="0" sz="2000" spc="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handled</a:t>
            </a:r>
            <a:r>
              <a:rPr dirty="0" sz="2000" spc="-5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417195" indent="-171450">
              <a:lnSpc>
                <a:spcPts val="2395"/>
              </a:lnSpc>
              <a:buFont typeface="Arial"/>
              <a:buChar char="•"/>
              <a:tabLst>
                <a:tab pos="417195" algn="l"/>
              </a:tabLst>
            </a:pPr>
            <a:r>
              <a:rPr dirty="0" sz="2000">
                <a:latin typeface="微软雅黑"/>
                <a:cs typeface="微软雅黑"/>
              </a:rPr>
              <a:t>常用方法包括</a:t>
            </a:r>
            <a:r>
              <a:rPr dirty="0" sz="2000" spc="5"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lvl="1" marL="760095" indent="-171450">
              <a:lnSpc>
                <a:spcPts val="1910"/>
              </a:lnSpc>
              <a:buFont typeface="Arial"/>
              <a:buChar char="•"/>
              <a:tabLst>
                <a:tab pos="760095" algn="l"/>
              </a:tabLst>
            </a:pPr>
            <a:r>
              <a:rPr dirty="0" sz="1600" spc="-5">
                <a:latin typeface="微软雅黑"/>
                <a:cs typeface="微软雅黑"/>
              </a:rPr>
              <a:t>getMessage()：</a:t>
            </a:r>
            <a:r>
              <a:rPr dirty="0" sz="1600">
                <a:latin typeface="微软雅黑"/>
                <a:cs typeface="微软雅黑"/>
              </a:rPr>
              <a:t>返回该异常的详细描述字符串</a:t>
            </a:r>
            <a:r>
              <a:rPr dirty="0" sz="1600" spc="-5">
                <a:latin typeface="微软雅黑"/>
                <a:cs typeface="微软雅黑"/>
              </a:rPr>
              <a:t>。</a:t>
            </a:r>
            <a:endParaRPr sz="1600">
              <a:latin typeface="微软雅黑"/>
              <a:cs typeface="微软雅黑"/>
            </a:endParaRPr>
          </a:p>
          <a:p>
            <a:pPr lvl="1" marL="760095" indent="-171450">
              <a:lnSpc>
                <a:spcPts val="1914"/>
              </a:lnSpc>
              <a:buFont typeface="Arial"/>
              <a:buChar char="•"/>
              <a:tabLst>
                <a:tab pos="760095" algn="l"/>
              </a:tabLst>
            </a:pPr>
            <a:r>
              <a:rPr dirty="0" sz="1600" spc="-15">
                <a:latin typeface="微软雅黑"/>
                <a:cs typeface="微软雅黑"/>
              </a:rPr>
              <a:t>printStackTrace()：</a:t>
            </a:r>
            <a:r>
              <a:rPr dirty="0" sz="1600">
                <a:latin typeface="微软雅黑"/>
                <a:cs typeface="微软雅黑"/>
              </a:rPr>
              <a:t>将异常事件的跟踪栈信息输出</a:t>
            </a:r>
            <a:r>
              <a:rPr dirty="0" sz="1600" spc="-5">
                <a:latin typeface="微软雅黑"/>
                <a:cs typeface="微软雅黑"/>
              </a:rPr>
              <a:t>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2778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2.1	</a:t>
            </a:r>
            <a:r>
              <a:rPr dirty="0" sz="2100" b="1">
                <a:latin typeface="微软雅黑"/>
                <a:cs typeface="微软雅黑"/>
              </a:rPr>
              <a:t>try-catch-finally语句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052195"/>
            <a:ext cx="150050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c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 spc="-35">
                <a:latin typeface="微软雅黑"/>
                <a:cs typeface="微软雅黑"/>
              </a:rPr>
              <a:t>t</a:t>
            </a:r>
            <a:r>
              <a:rPr dirty="0" sz="2100">
                <a:latin typeface="微软雅黑"/>
                <a:cs typeface="微软雅黑"/>
              </a:rPr>
              <a:t>ch语句块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2778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2.1	</a:t>
            </a:r>
            <a:r>
              <a:rPr dirty="0" sz="2100" b="1">
                <a:latin typeface="微软雅黑"/>
                <a:cs typeface="微软雅黑"/>
              </a:rPr>
              <a:t>try-catch-finally语句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2512" y="1835055"/>
            <a:ext cx="6902026" cy="3472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5150" y="1419224"/>
            <a:ext cx="7586345" cy="38982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420"/>
              </a:spcBef>
            </a:pPr>
            <a:r>
              <a:rPr dirty="0" sz="2300" spc="25">
                <a:latin typeface="微软雅黑"/>
                <a:cs typeface="微软雅黑"/>
              </a:rPr>
              <a:t>一般情况下每个ca</a:t>
            </a:r>
            <a:r>
              <a:rPr dirty="0" sz="2300" spc="-10">
                <a:latin typeface="微软雅黑"/>
                <a:cs typeface="微软雅黑"/>
              </a:rPr>
              <a:t>t</a:t>
            </a:r>
            <a:r>
              <a:rPr dirty="0" sz="2300" spc="25">
                <a:latin typeface="微软雅黑"/>
                <a:cs typeface="微软雅黑"/>
              </a:rPr>
              <a:t>ch语句块用于捕获、处理一种类型</a:t>
            </a:r>
            <a:r>
              <a:rPr dirty="0" sz="2300" spc="35">
                <a:latin typeface="微软雅黑"/>
                <a:cs typeface="微软雅黑"/>
              </a:rPr>
              <a:t>的</a:t>
            </a:r>
            <a:r>
              <a:rPr dirty="0" sz="2300">
                <a:latin typeface="微软雅黑"/>
                <a:cs typeface="微软雅黑"/>
              </a:rPr>
              <a:t>异 </a:t>
            </a:r>
            <a:r>
              <a:rPr dirty="0" sz="2300" spc="5">
                <a:latin typeface="微软雅黑"/>
                <a:cs typeface="微软雅黑"/>
              </a:rPr>
              <a:t>常</a:t>
            </a:r>
            <a:endParaRPr sz="23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950">
              <a:latin typeface="微软雅黑"/>
              <a:cs typeface="微软雅黑"/>
            </a:endParaRPr>
          </a:p>
          <a:p>
            <a:pPr algn="just" marL="12700" marR="5080">
              <a:lnSpc>
                <a:spcPts val="2480"/>
              </a:lnSpc>
            </a:pPr>
            <a:r>
              <a:rPr dirty="0" sz="2300" spc="25">
                <a:latin typeface="微软雅黑"/>
                <a:cs typeface="微软雅黑"/>
              </a:rPr>
              <a:t>从</a:t>
            </a:r>
            <a:r>
              <a:rPr dirty="0" sz="2300" spc="-5">
                <a:latin typeface="微软雅黑"/>
                <a:cs typeface="微软雅黑"/>
              </a:rPr>
              <a:t>Java</a:t>
            </a:r>
            <a:r>
              <a:rPr dirty="0" sz="2300" spc="15">
                <a:latin typeface="微软雅黑"/>
                <a:cs typeface="微软雅黑"/>
              </a:rPr>
              <a:t> </a:t>
            </a:r>
            <a:r>
              <a:rPr dirty="0" sz="2300" spc="10">
                <a:latin typeface="微软雅黑"/>
                <a:cs typeface="微软雅黑"/>
              </a:rPr>
              <a:t>SE</a:t>
            </a:r>
            <a:r>
              <a:rPr dirty="0" sz="2300" spc="15">
                <a:latin typeface="微软雅黑"/>
                <a:cs typeface="微软雅黑"/>
              </a:rPr>
              <a:t> </a:t>
            </a:r>
            <a:r>
              <a:rPr dirty="0" sz="2300" spc="20">
                <a:latin typeface="微软雅黑"/>
                <a:cs typeface="微软雅黑"/>
              </a:rPr>
              <a:t>7</a:t>
            </a:r>
            <a:r>
              <a:rPr dirty="0" sz="2300" spc="25">
                <a:latin typeface="微软雅黑"/>
                <a:cs typeface="微软雅黑"/>
              </a:rPr>
              <a:t>开始允许</a:t>
            </a:r>
            <a:r>
              <a:rPr dirty="0" sz="2300" spc="15">
                <a:latin typeface="微软雅黑"/>
                <a:cs typeface="微软雅黑"/>
              </a:rPr>
              <a:t>catch</a:t>
            </a:r>
            <a:r>
              <a:rPr dirty="0" sz="2300" spc="25">
                <a:latin typeface="微软雅黑"/>
                <a:cs typeface="微软雅黑"/>
              </a:rPr>
              <a:t>语句一次捕</a:t>
            </a:r>
            <a:r>
              <a:rPr dirty="0" sz="2300" spc="30">
                <a:latin typeface="微软雅黑"/>
                <a:cs typeface="微软雅黑"/>
              </a:rPr>
              <a:t>获多个</a:t>
            </a:r>
            <a:r>
              <a:rPr dirty="0" sz="2300" spc="20">
                <a:latin typeface="微软雅黑"/>
                <a:cs typeface="微软雅黑"/>
              </a:rPr>
              <a:t>Exception，  </a:t>
            </a:r>
            <a:r>
              <a:rPr dirty="0" sz="2300" spc="80">
                <a:latin typeface="微软雅黑"/>
                <a:cs typeface="微软雅黑"/>
              </a:rPr>
              <a:t>即当</a:t>
            </a:r>
            <a:r>
              <a:rPr dirty="0" sz="2300" spc="85">
                <a:latin typeface="微软雅黑"/>
                <a:cs typeface="微软雅黑"/>
              </a:rPr>
              <a:t>出现的多个异常采取同样的处理措施时，则将多个</a:t>
            </a:r>
            <a:r>
              <a:rPr dirty="0" sz="2300">
                <a:latin typeface="微软雅黑"/>
                <a:cs typeface="微软雅黑"/>
              </a:rPr>
              <a:t>异 常见用“|”分开写在一个ca</a:t>
            </a:r>
            <a:r>
              <a:rPr dirty="0" sz="2300" spc="-35">
                <a:latin typeface="微软雅黑"/>
                <a:cs typeface="微软雅黑"/>
              </a:rPr>
              <a:t>t</a:t>
            </a:r>
            <a:r>
              <a:rPr dirty="0" sz="2300">
                <a:latin typeface="微软雅黑"/>
                <a:cs typeface="微软雅黑"/>
              </a:rPr>
              <a:t>ch</a:t>
            </a:r>
            <a:r>
              <a:rPr dirty="0" sz="2300" spc="10">
                <a:latin typeface="微软雅黑"/>
                <a:cs typeface="微软雅黑"/>
              </a:rPr>
              <a:t>的后面，注意多个异常不</a:t>
            </a:r>
            <a:r>
              <a:rPr dirty="0" sz="2300">
                <a:latin typeface="微软雅黑"/>
                <a:cs typeface="微软雅黑"/>
              </a:rPr>
              <a:t>允 </a:t>
            </a:r>
            <a:r>
              <a:rPr dirty="0" sz="2300">
                <a:latin typeface="微软雅黑"/>
                <a:cs typeface="微软雅黑"/>
              </a:rPr>
              <a:t>许出现继承关系</a:t>
            </a:r>
            <a:r>
              <a:rPr dirty="0" sz="2300" spc="5">
                <a:latin typeface="微软雅黑"/>
                <a:cs typeface="微软雅黑"/>
              </a:rPr>
              <a:t>。</a:t>
            </a:r>
            <a:endParaRPr sz="23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微软雅黑"/>
              <a:cs typeface="微软雅黑"/>
            </a:endParaRPr>
          </a:p>
          <a:p>
            <a:pPr marL="355600" indent="-17145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300" spc="-10">
                <a:latin typeface="微软雅黑"/>
                <a:cs typeface="微软雅黑"/>
              </a:rPr>
              <a:t>catch(</a:t>
            </a:r>
            <a:r>
              <a:rPr dirty="0" sz="2300">
                <a:latin typeface="微软雅黑"/>
                <a:cs typeface="微软雅黑"/>
              </a:rPr>
              <a:t>异常1</a:t>
            </a:r>
            <a:r>
              <a:rPr dirty="0" sz="2300" spc="-10">
                <a:latin typeface="微软雅黑"/>
                <a:cs typeface="微软雅黑"/>
              </a:rPr>
              <a:t> </a:t>
            </a:r>
            <a:r>
              <a:rPr dirty="0" sz="2300">
                <a:latin typeface="微软雅黑"/>
                <a:cs typeface="微软雅黑"/>
              </a:rPr>
              <a:t>|</a:t>
            </a:r>
            <a:r>
              <a:rPr dirty="0" sz="2300" spc="-5">
                <a:latin typeface="微软雅黑"/>
                <a:cs typeface="微软雅黑"/>
              </a:rPr>
              <a:t> </a:t>
            </a:r>
            <a:r>
              <a:rPr dirty="0" sz="2300">
                <a:latin typeface="微软雅黑"/>
                <a:cs typeface="微软雅黑"/>
              </a:rPr>
              <a:t>异</a:t>
            </a:r>
            <a:r>
              <a:rPr dirty="0" sz="2300" spc="5">
                <a:latin typeface="微软雅黑"/>
                <a:cs typeface="微软雅黑"/>
              </a:rPr>
              <a:t>常</a:t>
            </a:r>
            <a:r>
              <a:rPr dirty="0" sz="2300" spc="-10">
                <a:latin typeface="微软雅黑"/>
                <a:cs typeface="微软雅黑"/>
              </a:rPr>
              <a:t> </a:t>
            </a:r>
            <a:r>
              <a:rPr dirty="0" sz="2300">
                <a:latin typeface="微软雅黑"/>
                <a:cs typeface="微软雅黑"/>
              </a:rPr>
              <a:t>2</a:t>
            </a:r>
            <a:r>
              <a:rPr dirty="0" sz="2300" spc="-10">
                <a:latin typeface="微软雅黑"/>
                <a:cs typeface="微软雅黑"/>
              </a:rPr>
              <a:t> </a:t>
            </a:r>
            <a:r>
              <a:rPr dirty="0" sz="2300">
                <a:latin typeface="微软雅黑"/>
                <a:cs typeface="微软雅黑"/>
              </a:rPr>
              <a:t>|</a:t>
            </a:r>
            <a:r>
              <a:rPr dirty="0" sz="2300" spc="-5">
                <a:latin typeface="微软雅黑"/>
                <a:cs typeface="微软雅黑"/>
              </a:rPr>
              <a:t> </a:t>
            </a:r>
            <a:r>
              <a:rPr dirty="0" sz="2300">
                <a:latin typeface="微软雅黑"/>
                <a:cs typeface="微软雅黑"/>
              </a:rPr>
              <a:t>异常3</a:t>
            </a:r>
            <a:r>
              <a:rPr dirty="0" sz="2300" spc="-5">
                <a:latin typeface="微软雅黑"/>
                <a:cs typeface="微软雅黑"/>
              </a:rPr>
              <a:t> ex)</a:t>
            </a:r>
            <a:endParaRPr sz="2300">
              <a:latin typeface="微软雅黑"/>
              <a:cs typeface="微软雅黑"/>
            </a:endParaRPr>
          </a:p>
          <a:p>
            <a:pPr algn="just" marL="35560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300">
                <a:latin typeface="微软雅黑"/>
                <a:cs typeface="微软雅黑"/>
              </a:rPr>
              <a:t>{</a:t>
            </a:r>
            <a:endParaRPr sz="2300">
              <a:latin typeface="微软雅黑"/>
              <a:cs typeface="微软雅黑"/>
            </a:endParaRPr>
          </a:p>
          <a:p>
            <a:pPr algn="just" marL="35560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300">
                <a:latin typeface="微软雅黑"/>
                <a:cs typeface="微软雅黑"/>
              </a:rPr>
              <a:t>}</a:t>
            </a:r>
            <a:endParaRPr sz="23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2778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2.1	</a:t>
            </a:r>
            <a:r>
              <a:rPr dirty="0" sz="2100" b="1">
                <a:latin typeface="微软雅黑"/>
                <a:cs typeface="微软雅黑"/>
              </a:rPr>
              <a:t>try-catch-finally语句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2778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2.1	</a:t>
            </a:r>
            <a:r>
              <a:rPr dirty="0" sz="2100" b="1">
                <a:latin typeface="微软雅黑"/>
                <a:cs typeface="微软雅黑"/>
              </a:rPr>
              <a:t>try-catch-finally语句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53084" y="1135897"/>
            <a:ext cx="7585075" cy="422592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702945" indent="-690245">
              <a:lnSpc>
                <a:spcPct val="100000"/>
              </a:lnSpc>
              <a:spcBef>
                <a:spcPts val="229"/>
              </a:spcBef>
              <a:buSzPct val="95238"/>
              <a:buAutoNum type="arabicPlain" startAt="3"/>
              <a:tabLst>
                <a:tab pos="702945" algn="l"/>
              </a:tabLst>
            </a:pPr>
            <a:r>
              <a:rPr dirty="0" sz="2100" spc="-5">
                <a:latin typeface="微软雅黑"/>
                <a:cs typeface="微软雅黑"/>
              </a:rPr>
              <a:t>finally</a:t>
            </a:r>
            <a:r>
              <a:rPr dirty="0" sz="2100">
                <a:latin typeface="微软雅黑"/>
                <a:cs typeface="微软雅黑"/>
              </a:rPr>
              <a:t>语句块</a:t>
            </a:r>
            <a:endParaRPr sz="2100">
              <a:latin typeface="微软雅黑"/>
              <a:cs typeface="微软雅黑"/>
            </a:endParaRPr>
          </a:p>
          <a:p>
            <a:pPr lvl="1" marL="417195" marR="5080" indent="-171450">
              <a:lnSpc>
                <a:spcPts val="2160"/>
              </a:lnSpc>
              <a:spcBef>
                <a:spcPts val="40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000" spc="-5">
                <a:latin typeface="微软雅黑"/>
                <a:cs typeface="微软雅黑"/>
              </a:rPr>
              <a:t>fi</a:t>
            </a:r>
            <a:r>
              <a:rPr dirty="0" sz="2000" spc="-10">
                <a:latin typeface="微软雅黑"/>
                <a:cs typeface="微软雅黑"/>
              </a:rPr>
              <a:t>n</a:t>
            </a:r>
            <a:r>
              <a:rPr dirty="0" sz="2000" spc="-5">
                <a:latin typeface="微软雅黑"/>
                <a:cs typeface="微软雅黑"/>
              </a:rPr>
              <a:t>ally语句块为可选，一旦出现，无论t</a:t>
            </a:r>
            <a:r>
              <a:rPr dirty="0" sz="2000" spc="80">
                <a:latin typeface="微软雅黑"/>
                <a:cs typeface="微软雅黑"/>
              </a:rPr>
              <a:t>r</a:t>
            </a:r>
            <a:r>
              <a:rPr dirty="0" sz="2000" spc="-5">
                <a:latin typeface="微软雅黑"/>
                <a:cs typeface="微软雅黑"/>
              </a:rPr>
              <a:t>y语句块是否抛出异常</a:t>
            </a:r>
            <a:r>
              <a:rPr dirty="0" sz="2000">
                <a:latin typeface="微软雅黑"/>
                <a:cs typeface="微软雅黑"/>
              </a:rPr>
              <a:t>，  </a:t>
            </a:r>
            <a:r>
              <a:rPr dirty="0" sz="2000" spc="-5">
                <a:latin typeface="微软雅黑"/>
                <a:cs typeface="微软雅黑"/>
              </a:rPr>
              <a:t>finally</a:t>
            </a:r>
            <a:r>
              <a:rPr dirty="0" sz="2000">
                <a:latin typeface="微软雅黑"/>
                <a:cs typeface="微软雅黑"/>
              </a:rPr>
              <a:t>代码块都要被执行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lvl="1" marL="417195" marR="88900" indent="-171450">
              <a:lnSpc>
                <a:spcPts val="2160"/>
              </a:lnSpc>
              <a:spcBef>
                <a:spcPts val="37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000" spc="-5">
                <a:latin typeface="微软雅黑"/>
                <a:cs typeface="微软雅黑"/>
              </a:rPr>
              <a:t>fi</a:t>
            </a:r>
            <a:r>
              <a:rPr dirty="0" sz="2000" spc="-10">
                <a:latin typeface="微软雅黑"/>
                <a:cs typeface="微软雅黑"/>
              </a:rPr>
              <a:t>n</a:t>
            </a:r>
            <a:r>
              <a:rPr dirty="0" sz="2000" spc="-5">
                <a:latin typeface="微软雅黑"/>
                <a:cs typeface="微软雅黑"/>
              </a:rPr>
              <a:t>ally语句块为异常处理提供统一的善后处理，使流程转到其</a:t>
            </a:r>
            <a:r>
              <a:rPr dirty="0" sz="2000">
                <a:latin typeface="微软雅黑"/>
                <a:cs typeface="微软雅黑"/>
              </a:rPr>
              <a:t>他 </a:t>
            </a:r>
            <a:r>
              <a:rPr dirty="0" sz="2000">
                <a:latin typeface="微软雅黑"/>
                <a:cs typeface="微软雅黑"/>
              </a:rPr>
              <a:t>部分之前，能够对程序的状态进行统一的管理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lvl="1" marL="417195" marR="88900" indent="-171450">
              <a:lnSpc>
                <a:spcPts val="2160"/>
              </a:lnSpc>
              <a:spcBef>
                <a:spcPts val="37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000" spc="-5">
                <a:latin typeface="微软雅黑"/>
                <a:cs typeface="微软雅黑"/>
              </a:rPr>
              <a:t>通常在fi</a:t>
            </a:r>
            <a:r>
              <a:rPr dirty="0" sz="2000" spc="-10">
                <a:latin typeface="微软雅黑"/>
                <a:cs typeface="微软雅黑"/>
              </a:rPr>
              <a:t>n</a:t>
            </a:r>
            <a:r>
              <a:rPr dirty="0" sz="2000" spc="-5">
                <a:latin typeface="微软雅黑"/>
                <a:cs typeface="微软雅黑"/>
              </a:rPr>
              <a:t>ally语句块中进行资源释放的工作，如关闭已打开的</a:t>
            </a:r>
            <a:r>
              <a:rPr dirty="0" sz="2000">
                <a:latin typeface="微软雅黑"/>
                <a:cs typeface="微软雅黑"/>
              </a:rPr>
              <a:t>文 </a:t>
            </a:r>
            <a:r>
              <a:rPr dirty="0" sz="2000">
                <a:latin typeface="微软雅黑"/>
                <a:cs typeface="微软雅黑"/>
              </a:rPr>
              <a:t>件、关闭数据库连接等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50">
              <a:latin typeface="微软雅黑"/>
              <a:cs typeface="微软雅黑"/>
            </a:endParaRPr>
          </a:p>
          <a:p>
            <a:pPr marL="1374140">
              <a:lnSpc>
                <a:spcPct val="100000"/>
              </a:lnSpc>
              <a:spcBef>
                <a:spcPts val="5"/>
              </a:spcBef>
            </a:pPr>
            <a:r>
              <a:rPr dirty="0" sz="2000" spc="-5">
                <a:solidFill>
                  <a:srgbClr val="006C39"/>
                </a:solidFill>
                <a:latin typeface="Times New Roman"/>
                <a:cs typeface="Times New Roman"/>
              </a:rPr>
              <a:t>Sample </a:t>
            </a:r>
            <a:r>
              <a:rPr dirty="0" sz="200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dirty="0" sz="2000" spc="-5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06C39"/>
                </a:solidFill>
                <a:latin typeface="宋体"/>
                <a:cs typeface="宋体"/>
              </a:rPr>
              <a:t>FinallyWorks.java</a:t>
            </a:r>
            <a:endParaRPr sz="2000">
              <a:latin typeface="宋体"/>
              <a:cs typeface="宋体"/>
            </a:endParaRPr>
          </a:p>
          <a:p>
            <a:pPr marL="1445895">
              <a:lnSpc>
                <a:spcPct val="100000"/>
              </a:lnSpc>
              <a:spcBef>
                <a:spcPts val="1665"/>
              </a:spcBef>
            </a:pPr>
            <a:r>
              <a:rPr dirty="0" sz="2400" spc="-5">
                <a:solidFill>
                  <a:srgbClr val="006C39"/>
                </a:solidFill>
                <a:latin typeface="Times New Roman"/>
                <a:cs typeface="Times New Roman"/>
              </a:rPr>
              <a:t>Sample </a:t>
            </a:r>
            <a:r>
              <a:rPr dirty="0" sz="240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dirty="0" sz="2400" spc="-1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6C39"/>
                </a:solidFill>
                <a:latin typeface="宋体"/>
                <a:cs typeface="宋体"/>
              </a:rPr>
              <a:t>WithFinally.java</a:t>
            </a:r>
            <a:endParaRPr sz="2400">
              <a:latin typeface="宋体"/>
              <a:cs typeface="宋体"/>
            </a:endParaRPr>
          </a:p>
          <a:p>
            <a:pPr marL="1445895">
              <a:lnSpc>
                <a:spcPct val="100000"/>
              </a:lnSpc>
              <a:spcBef>
                <a:spcPts val="1115"/>
              </a:spcBef>
            </a:pPr>
            <a:r>
              <a:rPr dirty="0" sz="2000" spc="-5">
                <a:solidFill>
                  <a:srgbClr val="006C39"/>
                </a:solidFill>
                <a:latin typeface="Times New Roman"/>
                <a:cs typeface="Times New Roman"/>
              </a:rPr>
              <a:t>Sample </a:t>
            </a:r>
            <a:r>
              <a:rPr dirty="0" sz="200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dirty="0" sz="2000" spc="-5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06C39"/>
                </a:solidFill>
                <a:latin typeface="宋体"/>
                <a:cs typeface="宋体"/>
              </a:rPr>
              <a:t>AlwaysFinally.java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2778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2.1	</a:t>
            </a:r>
            <a:r>
              <a:rPr dirty="0" sz="2100" b="1">
                <a:latin typeface="微软雅黑"/>
                <a:cs typeface="微软雅黑"/>
              </a:rPr>
              <a:t>try-catch-finally语句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232535" y="1146810"/>
            <a:ext cx="6522720" cy="22123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just" marL="12700" marR="5080">
              <a:lnSpc>
                <a:spcPts val="3020"/>
              </a:lnSpc>
              <a:spcBef>
                <a:spcPts val="475"/>
              </a:spcBef>
            </a:pPr>
            <a:r>
              <a:rPr dirty="0" sz="2800">
                <a:latin typeface="等线"/>
                <a:cs typeface="等线"/>
              </a:rPr>
              <a:t>如果并列有多个</a:t>
            </a:r>
            <a:r>
              <a:rPr dirty="0" sz="2800" spc="-10">
                <a:latin typeface="等线"/>
                <a:cs typeface="等线"/>
              </a:rPr>
              <a:t>c</a:t>
            </a:r>
            <a:r>
              <a:rPr dirty="0" sz="2800" spc="-5">
                <a:latin typeface="等线"/>
                <a:cs typeface="等线"/>
              </a:rPr>
              <a:t>at</a:t>
            </a:r>
            <a:r>
              <a:rPr dirty="0" sz="2800" spc="-10">
                <a:latin typeface="等线"/>
                <a:cs typeface="等线"/>
              </a:rPr>
              <a:t>c</a:t>
            </a:r>
            <a:r>
              <a:rPr dirty="0" sz="2800" spc="-5">
                <a:latin typeface="等线"/>
                <a:cs typeface="等线"/>
              </a:rPr>
              <a:t>h</a:t>
            </a:r>
            <a:r>
              <a:rPr dirty="0" sz="2800">
                <a:latin typeface="等线"/>
                <a:cs typeface="等线"/>
              </a:rPr>
              <a:t>语句捕获多个异常</a:t>
            </a:r>
            <a:r>
              <a:rPr dirty="0" sz="2800" spc="-5">
                <a:latin typeface="等线"/>
                <a:cs typeface="等线"/>
              </a:rPr>
              <a:t>， </a:t>
            </a:r>
            <a:r>
              <a:rPr dirty="0" sz="2800">
                <a:latin typeface="等线"/>
                <a:cs typeface="等线"/>
              </a:rPr>
              <a:t>则一般的异常类型放在后面，特殊的放</a:t>
            </a:r>
            <a:r>
              <a:rPr dirty="0" sz="2800" spc="-5">
                <a:latin typeface="等线"/>
                <a:cs typeface="等线"/>
              </a:rPr>
              <a:t>在 </a:t>
            </a:r>
            <a:r>
              <a:rPr dirty="0" sz="2800">
                <a:latin typeface="等线"/>
                <a:cs typeface="等线"/>
              </a:rPr>
              <a:t>前面</a:t>
            </a:r>
            <a:r>
              <a:rPr dirty="0" sz="2100">
                <a:latin typeface="等线"/>
                <a:cs typeface="等线"/>
              </a:rPr>
              <a:t>。</a:t>
            </a:r>
            <a:endParaRPr sz="21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00">
              <a:latin typeface="等线"/>
              <a:cs typeface="等线"/>
            </a:endParaRPr>
          </a:p>
          <a:p>
            <a:pPr algn="ctr" marR="493395">
              <a:lnSpc>
                <a:spcPct val="100000"/>
              </a:lnSpc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 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Human.java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40512"/>
            <a:ext cx="52685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6590" algn="l"/>
              </a:tabLst>
            </a:pPr>
            <a:r>
              <a:rPr dirty="0" sz="2400" spc="-5" b="1">
                <a:latin typeface="微软雅黑"/>
                <a:cs typeface="微软雅黑"/>
              </a:rPr>
              <a:t>2.2	</a:t>
            </a:r>
            <a:r>
              <a:rPr dirty="0" sz="2400" b="1">
                <a:latin typeface="微软雅黑"/>
                <a:cs typeface="微软雅黑"/>
              </a:rPr>
              <a:t>try-catch-finally语句的执行过程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06246" y="1790700"/>
            <a:ext cx="4608576" cy="388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5660" y="1481454"/>
            <a:ext cx="7195820" cy="216662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84150" marR="5080" indent="-171450">
              <a:lnSpc>
                <a:spcPts val="2270"/>
              </a:lnSpc>
              <a:spcBef>
                <a:spcPts val="38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如果当前的</a:t>
            </a:r>
            <a:r>
              <a:rPr dirty="0" sz="2100">
                <a:solidFill>
                  <a:srgbClr val="FF0000"/>
                </a:solidFill>
                <a:latin typeface="微软雅黑"/>
                <a:cs typeface="微软雅黑"/>
              </a:rPr>
              <a:t>方法</a:t>
            </a:r>
            <a:r>
              <a:rPr dirty="0" sz="2100">
                <a:latin typeface="微软雅黑"/>
                <a:cs typeface="微软雅黑"/>
              </a:rPr>
              <a:t>不知道如何处理捕获到的异常，可以使用 </a:t>
            </a:r>
            <a:r>
              <a:rPr dirty="0" sz="2100" spc="-5">
                <a:latin typeface="微软雅黑"/>
                <a:cs typeface="微软雅黑"/>
              </a:rPr>
              <a:t>t</a:t>
            </a:r>
            <a:r>
              <a:rPr dirty="0" sz="2100">
                <a:latin typeface="微软雅黑"/>
                <a:cs typeface="微软雅黑"/>
              </a:rPr>
              <a:t>h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 spc="-5">
                <a:latin typeface="微软雅黑"/>
                <a:cs typeface="微软雅黑"/>
              </a:rPr>
              <a:t>o</a:t>
            </a:r>
            <a:r>
              <a:rPr dirty="0" sz="2100">
                <a:latin typeface="微软雅黑"/>
                <a:cs typeface="微软雅黑"/>
              </a:rPr>
              <a:t>w</a:t>
            </a:r>
            <a:r>
              <a:rPr dirty="0" sz="2100" spc="-5">
                <a:latin typeface="微软雅黑"/>
                <a:cs typeface="微软雅黑"/>
              </a:rPr>
              <a:t>s</a:t>
            </a:r>
            <a:r>
              <a:rPr dirty="0" sz="2100">
                <a:latin typeface="微软雅黑"/>
                <a:cs typeface="微软雅黑"/>
              </a:rPr>
              <a:t>声明将此异常再次抛出，交给当前方法的上一层调用 者，如果上层方法仍不知道如何处理，也可以继续向上抛出</a:t>
            </a:r>
            <a:endParaRPr sz="2100">
              <a:latin typeface="微软雅黑"/>
              <a:cs typeface="微软雅黑"/>
            </a:endParaRPr>
          </a:p>
          <a:p>
            <a:pPr marL="184150">
              <a:lnSpc>
                <a:spcPts val="2095"/>
              </a:lnSpc>
            </a:pPr>
            <a:r>
              <a:rPr dirty="0" sz="2100">
                <a:latin typeface="微软雅黑"/>
                <a:cs typeface="微软雅黑"/>
              </a:rPr>
              <a:t>，直到某个方法可以处理此异常，或者最终将异常交给了</a:t>
            </a:r>
            <a:endParaRPr sz="2100">
              <a:latin typeface="微软雅黑"/>
              <a:cs typeface="微软雅黑"/>
            </a:endParaRPr>
          </a:p>
          <a:p>
            <a:pPr marL="184150">
              <a:lnSpc>
                <a:spcPts val="2390"/>
              </a:lnSpc>
            </a:pPr>
            <a:r>
              <a:rPr dirty="0" sz="2100" spc="-5">
                <a:latin typeface="微软雅黑"/>
                <a:cs typeface="微软雅黑"/>
              </a:rPr>
              <a:t>JVM</a:t>
            </a:r>
            <a:r>
              <a:rPr dirty="0" sz="2100"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  <a:p>
            <a:pPr marL="184150" marR="57150" indent="-171450">
              <a:lnSpc>
                <a:spcPts val="2260"/>
              </a:lnSpc>
              <a:spcBef>
                <a:spcPts val="7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异常对象沿着方法调用链进行反向传递。</a:t>
            </a:r>
            <a:r>
              <a:rPr dirty="0" sz="2100" spc="-5">
                <a:latin typeface="微软雅黑"/>
                <a:cs typeface="微软雅黑"/>
              </a:rPr>
              <a:t>JVM</a:t>
            </a:r>
            <a:r>
              <a:rPr dirty="0" sz="2100">
                <a:latin typeface="微软雅黑"/>
                <a:cs typeface="微软雅黑"/>
              </a:rPr>
              <a:t>对异常的处理 方法是，打印异常的跟踪信息栈，并终止程序运行。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87655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2100" b="1">
                <a:latin typeface="微软雅黑"/>
                <a:cs typeface="微软雅黑"/>
              </a:rPr>
              <a:t>3	使用t</a:t>
            </a:r>
            <a:r>
              <a:rPr dirty="0" sz="2100" spc="-5" b="1">
                <a:latin typeface="微软雅黑"/>
                <a:cs typeface="微软雅黑"/>
              </a:rPr>
              <a:t>h</a:t>
            </a:r>
            <a:r>
              <a:rPr dirty="0" sz="2100" spc="-15" b="1">
                <a:latin typeface="微软雅黑"/>
                <a:cs typeface="微软雅黑"/>
              </a:rPr>
              <a:t>r</a:t>
            </a:r>
            <a:r>
              <a:rPr dirty="0" sz="2100" spc="-5" b="1">
                <a:latin typeface="微软雅黑"/>
                <a:cs typeface="微软雅黑"/>
              </a:rPr>
              <a:t>o</a:t>
            </a:r>
            <a:r>
              <a:rPr dirty="0" sz="2100" b="1">
                <a:latin typeface="微软雅黑"/>
                <a:cs typeface="微软雅黑"/>
              </a:rPr>
              <a:t>w</a:t>
            </a:r>
            <a:r>
              <a:rPr dirty="0" sz="2100" spc="-5" b="1">
                <a:latin typeface="微软雅黑"/>
                <a:cs typeface="微软雅黑"/>
              </a:rPr>
              <a:t>s</a:t>
            </a:r>
            <a:r>
              <a:rPr dirty="0" sz="2100" b="1">
                <a:latin typeface="微软雅黑"/>
                <a:cs typeface="微软雅黑"/>
              </a:rPr>
              <a:t>抛出异常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3914" y="4453890"/>
            <a:ext cx="4551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【例</a:t>
            </a:r>
            <a:r>
              <a:rPr dirty="0" sz="2400" spc="-5">
                <a:latin typeface="微软雅黑"/>
                <a:cs typeface="微软雅黑"/>
              </a:rPr>
              <a:t>9</a:t>
            </a:r>
            <a:r>
              <a:rPr dirty="0" sz="2400">
                <a:latin typeface="微软雅黑"/>
                <a:cs typeface="微软雅黑"/>
              </a:rPr>
              <a:t>-</a:t>
            </a:r>
            <a:r>
              <a:rPr dirty="0" sz="2400" spc="-5">
                <a:latin typeface="微软雅黑"/>
                <a:cs typeface="微软雅黑"/>
              </a:rPr>
              <a:t>5</a:t>
            </a:r>
            <a:r>
              <a:rPr dirty="0" sz="2400">
                <a:latin typeface="微软雅黑"/>
                <a:cs typeface="微软雅黑"/>
              </a:rPr>
              <a:t>】使用th</a:t>
            </a:r>
            <a:r>
              <a:rPr dirty="0" sz="2400" spc="-40">
                <a:latin typeface="微软雅黑"/>
                <a:cs typeface="微软雅黑"/>
              </a:rPr>
              <a:t>r</a:t>
            </a:r>
            <a:r>
              <a:rPr dirty="0" sz="2400" spc="-5">
                <a:latin typeface="微软雅黑"/>
                <a:cs typeface="微软雅黑"/>
              </a:rPr>
              <a:t>o</a:t>
            </a:r>
            <a:r>
              <a:rPr dirty="0" sz="2400">
                <a:latin typeface="微软雅黑"/>
                <a:cs typeface="微软雅黑"/>
              </a:rPr>
              <a:t>w</a:t>
            </a:r>
            <a:r>
              <a:rPr dirty="0" sz="2400" spc="-5">
                <a:latin typeface="微软雅黑"/>
                <a:cs typeface="微软雅黑"/>
              </a:rPr>
              <a:t>s</a:t>
            </a:r>
            <a:r>
              <a:rPr dirty="0" sz="2400">
                <a:latin typeface="微软雅黑"/>
                <a:cs typeface="微软雅黑"/>
              </a:rPr>
              <a:t>抛出异常。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705" y="370357"/>
            <a:ext cx="6349365" cy="2595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5330">
              <a:lnSpc>
                <a:spcPct val="100000"/>
              </a:lnSpc>
              <a:spcBef>
                <a:spcPts val="100"/>
              </a:spcBef>
              <a:tabLst>
                <a:tab pos="1058545" algn="l"/>
              </a:tabLst>
            </a:pPr>
            <a:r>
              <a:rPr dirty="0" sz="2100" b="1">
                <a:latin typeface="微软雅黑"/>
                <a:cs typeface="微软雅黑"/>
              </a:rPr>
              <a:t>3	使用</a:t>
            </a:r>
            <a:r>
              <a:rPr dirty="0" sz="2100" spc="-5" b="1">
                <a:latin typeface="微软雅黑"/>
                <a:cs typeface="微软雅黑"/>
              </a:rPr>
              <a:t>throws</a:t>
            </a:r>
            <a:r>
              <a:rPr dirty="0" sz="2100" b="1">
                <a:latin typeface="微软雅黑"/>
                <a:cs typeface="微软雅黑"/>
              </a:rPr>
              <a:t>抛出异常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50">
              <a:latin typeface="微软雅黑"/>
              <a:cs typeface="微软雅黑"/>
            </a:endParaRPr>
          </a:p>
          <a:p>
            <a:pPr marL="412115" indent="-399415">
              <a:lnSpc>
                <a:spcPct val="100000"/>
              </a:lnSpc>
              <a:buAutoNum type="arabicPeriod"/>
              <a:tabLst>
                <a:tab pos="411480" algn="l"/>
                <a:tab pos="412115" algn="l"/>
              </a:tabLst>
            </a:pPr>
            <a:r>
              <a:rPr dirty="0" sz="2100" b="1">
                <a:latin typeface="微软雅黑"/>
                <a:cs typeface="微软雅黑"/>
              </a:rPr>
              <a:t>基本规则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΢"/>
              <a:buAutoNum type="arabicPeriod"/>
            </a:pPr>
            <a:endParaRPr sz="1650">
              <a:latin typeface="微软雅黑"/>
              <a:cs typeface="微软雅黑"/>
            </a:endParaRPr>
          </a:p>
          <a:p>
            <a:pPr lvl="1" marL="417195" indent="-171450">
              <a:lnSpc>
                <a:spcPts val="2875"/>
              </a:lnSpc>
              <a:buFont typeface="Arial"/>
              <a:buChar char="•"/>
              <a:tabLst>
                <a:tab pos="417195" algn="l"/>
              </a:tabLst>
            </a:pPr>
            <a:r>
              <a:rPr dirty="0" sz="2400" spc="-10">
                <a:latin typeface="微软雅黑"/>
                <a:cs typeface="微软雅黑"/>
              </a:rPr>
              <a:t>throws</a:t>
            </a:r>
            <a:r>
              <a:rPr dirty="0" sz="2400">
                <a:latin typeface="微软雅黑"/>
                <a:cs typeface="微软雅黑"/>
              </a:rPr>
              <a:t>写在方法名之后，语法格式如下：</a:t>
            </a:r>
            <a:endParaRPr sz="2400">
              <a:latin typeface="微软雅黑"/>
              <a:cs typeface="微软雅黑"/>
            </a:endParaRPr>
          </a:p>
          <a:p>
            <a:pPr marL="791210">
              <a:lnSpc>
                <a:spcPts val="2995"/>
              </a:lnSpc>
            </a:pPr>
            <a:r>
              <a:rPr dirty="0" sz="2500" spc="-940" b="1" i="1">
                <a:latin typeface="微软雅黑"/>
                <a:cs typeface="微软雅黑"/>
              </a:rPr>
              <a:t>thowsExcepion1，Excepion2……ttr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31975" y="3645408"/>
            <a:ext cx="4243810" cy="367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dirty="0" spc="-5"/>
              <a:t>2.</a:t>
            </a:r>
            <a:r>
              <a:rPr dirty="0" spc="-5"/>
              <a:t>	</a:t>
            </a:r>
            <a:r>
              <a:rPr dirty="0"/>
              <a:t>子类方法重写父类方法时</a:t>
            </a:r>
            <a:r>
              <a:rPr dirty="0" spc="-5"/>
              <a:t>th</a:t>
            </a:r>
            <a:r>
              <a:rPr dirty="0" spc="-45"/>
              <a:t>r</a:t>
            </a:r>
            <a:r>
              <a:rPr dirty="0" spc="-5"/>
              <a:t>ows</a:t>
            </a:r>
            <a:r>
              <a:rPr dirty="0"/>
              <a:t>的规</a:t>
            </a:r>
            <a:r>
              <a:rPr dirty="0" spc="-5"/>
              <a:t>则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283652" y="370700"/>
            <a:ext cx="28765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2100" b="1">
                <a:latin typeface="微软雅黑"/>
                <a:cs typeface="微软雅黑"/>
              </a:rPr>
              <a:t>3	使用t</a:t>
            </a:r>
            <a:r>
              <a:rPr dirty="0" sz="2100" spc="-5" b="1">
                <a:latin typeface="微软雅黑"/>
                <a:cs typeface="微软雅黑"/>
              </a:rPr>
              <a:t>h</a:t>
            </a:r>
            <a:r>
              <a:rPr dirty="0" sz="2100" spc="-15" b="1">
                <a:latin typeface="微软雅黑"/>
                <a:cs typeface="微软雅黑"/>
              </a:rPr>
              <a:t>r</a:t>
            </a:r>
            <a:r>
              <a:rPr dirty="0" sz="2100" spc="-5" b="1">
                <a:latin typeface="微软雅黑"/>
                <a:cs typeface="微软雅黑"/>
              </a:rPr>
              <a:t>o</a:t>
            </a:r>
            <a:r>
              <a:rPr dirty="0" sz="2100" b="1">
                <a:latin typeface="微软雅黑"/>
                <a:cs typeface="微软雅黑"/>
              </a:rPr>
              <a:t>w</a:t>
            </a:r>
            <a:r>
              <a:rPr dirty="0" sz="2100" spc="-5" b="1">
                <a:latin typeface="微软雅黑"/>
                <a:cs typeface="微软雅黑"/>
              </a:rPr>
              <a:t>s</a:t>
            </a:r>
            <a:r>
              <a:rPr dirty="0" sz="2100" b="1">
                <a:latin typeface="微软雅黑"/>
                <a:cs typeface="微软雅黑"/>
              </a:rPr>
              <a:t>抛出异常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algn="just" marL="238125" marR="5080" indent="-17145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38760" algn="l"/>
              </a:tabLst>
            </a:pPr>
            <a:r>
              <a:rPr dirty="0" spc="-40"/>
              <a:t>J</a:t>
            </a:r>
            <a:r>
              <a:rPr dirty="0" spc="-5"/>
              <a:t>a</a:t>
            </a:r>
            <a:r>
              <a:rPr dirty="0" spc="-50"/>
              <a:t>v</a:t>
            </a:r>
            <a:r>
              <a:rPr dirty="0" spc="-5"/>
              <a:t>a</a:t>
            </a:r>
            <a:r>
              <a:rPr dirty="0"/>
              <a:t>规定，子类方法重写父类方法时，子类方法抛出 的异常类型不能比父类方法抛出的异常类型更宽泛。 也就是说，子类方法可以：</a:t>
            </a:r>
          </a:p>
          <a:p>
            <a:pPr lvl="1" marL="1077595" indent="-723265">
              <a:lnSpc>
                <a:spcPct val="100000"/>
              </a:lnSpc>
              <a:spcBef>
                <a:spcPts val="80"/>
              </a:spcBef>
              <a:buSzPct val="95454"/>
              <a:buAutoNum type="arabicPlain"/>
              <a:tabLst>
                <a:tab pos="1078230" algn="l"/>
              </a:tabLst>
            </a:pPr>
            <a:r>
              <a:rPr dirty="0" sz="2200">
                <a:latin typeface="微软雅黑"/>
                <a:cs typeface="微软雅黑"/>
              </a:rPr>
              <a:t>抛出与父类方法相同的异常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  <a:p>
            <a:pPr lvl="1" marL="1077595" indent="-723265">
              <a:lnSpc>
                <a:spcPct val="100000"/>
              </a:lnSpc>
              <a:spcBef>
                <a:spcPts val="110"/>
              </a:spcBef>
              <a:buSzPct val="95454"/>
              <a:buAutoNum type="arabicPlain"/>
              <a:tabLst>
                <a:tab pos="1078230" algn="l"/>
              </a:tabLst>
            </a:pPr>
            <a:r>
              <a:rPr dirty="0" sz="2200">
                <a:latin typeface="微软雅黑"/>
                <a:cs typeface="微软雅黑"/>
              </a:rPr>
              <a:t>抛出父类方法抛出异常的子类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  <a:p>
            <a:pPr lvl="1" marL="1077595" indent="-723265">
              <a:lnSpc>
                <a:spcPct val="100000"/>
              </a:lnSpc>
              <a:spcBef>
                <a:spcPts val="110"/>
              </a:spcBef>
              <a:buSzPct val="95454"/>
              <a:buAutoNum type="arabicPlain"/>
              <a:tabLst>
                <a:tab pos="1078230" algn="l"/>
              </a:tabLst>
            </a:pPr>
            <a:r>
              <a:rPr dirty="0" sz="2200">
                <a:latin typeface="微软雅黑"/>
                <a:cs typeface="微软雅黑"/>
              </a:rPr>
              <a:t>不抛出异常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375"/>
              </a:spcBef>
            </a:pPr>
            <a:r>
              <a:rPr dirty="0" sz="2800" spc="-5">
                <a:latin typeface="等线"/>
                <a:cs typeface="等线"/>
              </a:rPr>
              <a:t>OverrideTest.java</a:t>
            </a:r>
            <a:endParaRPr sz="280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87655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2100" b="1">
                <a:latin typeface="微软雅黑"/>
                <a:cs typeface="微软雅黑"/>
              </a:rPr>
              <a:t>3	使用t</a:t>
            </a:r>
            <a:r>
              <a:rPr dirty="0" sz="2100" spc="-5" b="1">
                <a:latin typeface="微软雅黑"/>
                <a:cs typeface="微软雅黑"/>
              </a:rPr>
              <a:t>h</a:t>
            </a:r>
            <a:r>
              <a:rPr dirty="0" sz="2100" spc="-15" b="1">
                <a:latin typeface="微软雅黑"/>
                <a:cs typeface="微软雅黑"/>
              </a:rPr>
              <a:t>r</a:t>
            </a:r>
            <a:r>
              <a:rPr dirty="0" sz="2100" spc="-5" b="1">
                <a:latin typeface="微软雅黑"/>
                <a:cs typeface="微软雅黑"/>
              </a:rPr>
              <a:t>o</a:t>
            </a:r>
            <a:r>
              <a:rPr dirty="0" sz="2100" b="1">
                <a:latin typeface="微软雅黑"/>
                <a:cs typeface="微软雅黑"/>
              </a:rPr>
              <a:t>w</a:t>
            </a:r>
            <a:r>
              <a:rPr dirty="0" sz="2100" spc="-5" b="1">
                <a:latin typeface="微软雅黑"/>
                <a:cs typeface="微软雅黑"/>
              </a:rPr>
              <a:t>s</a:t>
            </a:r>
            <a:r>
              <a:rPr dirty="0" sz="2100" b="1">
                <a:latin typeface="微软雅黑"/>
                <a:cs typeface="微软雅黑"/>
              </a:rPr>
              <a:t>抛出异常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224154" y="1113789"/>
            <a:ext cx="7706995" cy="528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【例</a:t>
            </a:r>
            <a:r>
              <a:rPr dirty="0" sz="2800" spc="-5">
                <a:latin typeface="微软雅黑"/>
                <a:cs typeface="微软雅黑"/>
              </a:rPr>
              <a:t>9-6</a:t>
            </a:r>
            <a:r>
              <a:rPr dirty="0" sz="2800">
                <a:latin typeface="微软雅黑"/>
                <a:cs typeface="微软雅黑"/>
              </a:rPr>
              <a:t>】分析下面代码中哪个类不能通过编译</a:t>
            </a:r>
            <a:r>
              <a:rPr dirty="0" sz="2800" spc="-5"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  <a:p>
            <a:pPr marL="892175">
              <a:lnSpc>
                <a:spcPct val="100000"/>
              </a:lnSpc>
              <a:spcBef>
                <a:spcPts val="142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public class </a:t>
            </a:r>
            <a:r>
              <a:rPr dirty="0" sz="1800" spc="-5">
                <a:latin typeface="Times New Roman"/>
                <a:cs typeface="Times New Roman"/>
              </a:rPr>
              <a:t>CC </a:t>
            </a:r>
            <a:r>
              <a:rPr dirty="0" sz="180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309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void </a:t>
            </a:r>
            <a:r>
              <a:rPr dirty="0" sz="1800" spc="-5">
                <a:latin typeface="Times New Roman"/>
                <a:cs typeface="Times New Roman"/>
              </a:rPr>
              <a:t>doStuff() </a:t>
            </a:r>
            <a:r>
              <a:rPr dirty="0" sz="1800" spc="-10" b="1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IOException{}</a:t>
            </a:r>
            <a:endParaRPr sz="1800">
              <a:latin typeface="Times New Roman"/>
              <a:cs typeface="Times New Roman"/>
            </a:endParaRPr>
          </a:p>
          <a:p>
            <a:pPr marL="890905">
              <a:lnSpc>
                <a:spcPct val="100000"/>
              </a:lnSpc>
              <a:spcBef>
                <a:spcPts val="290"/>
              </a:spcBef>
            </a:pPr>
            <a:r>
              <a:rPr dirty="0" sz="180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892175">
              <a:lnSpc>
                <a:spcPct val="100000"/>
              </a:lnSpc>
              <a:spcBef>
                <a:spcPts val="30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public class </a:t>
            </a:r>
            <a:r>
              <a:rPr dirty="0" sz="1800" spc="-5">
                <a:latin typeface="Times New Roman"/>
                <a:cs typeface="Times New Roman"/>
              </a:rPr>
              <a:t>CC2 </a:t>
            </a: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extends</a:t>
            </a:r>
            <a:r>
              <a:rPr dirty="0" sz="1800" b="1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CC{</a:t>
            </a:r>
            <a:endParaRPr sz="18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31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void </a:t>
            </a:r>
            <a:r>
              <a:rPr dirty="0" sz="1800" spc="-5">
                <a:latin typeface="Times New Roman"/>
                <a:cs typeface="Times New Roman"/>
              </a:rPr>
              <a:t>doStuff() </a:t>
            </a:r>
            <a:r>
              <a:rPr dirty="0" sz="1800" spc="-10" b="1">
                <a:solidFill>
                  <a:srgbClr val="7E0054"/>
                </a:solidFill>
                <a:latin typeface="Times New Roman"/>
                <a:cs typeface="Times New Roman"/>
              </a:rPr>
              <a:t>throws </a:t>
            </a:r>
            <a:r>
              <a:rPr dirty="0" sz="1800" spc="-5">
                <a:latin typeface="Times New Roman"/>
                <a:cs typeface="Times New Roman"/>
              </a:rPr>
              <a:t>FileNotFoundException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{}</a:t>
            </a:r>
            <a:endParaRPr sz="1800">
              <a:latin typeface="Times New Roman"/>
              <a:cs typeface="Times New Roman"/>
            </a:endParaRPr>
          </a:p>
          <a:p>
            <a:pPr marL="890905">
              <a:lnSpc>
                <a:spcPct val="100000"/>
              </a:lnSpc>
              <a:spcBef>
                <a:spcPts val="290"/>
              </a:spcBef>
            </a:pPr>
            <a:r>
              <a:rPr dirty="0" sz="180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892175">
              <a:lnSpc>
                <a:spcPct val="100000"/>
              </a:lnSpc>
              <a:spcBef>
                <a:spcPts val="30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public class </a:t>
            </a:r>
            <a:r>
              <a:rPr dirty="0" sz="1800" spc="-5">
                <a:latin typeface="Times New Roman"/>
                <a:cs typeface="Times New Roman"/>
              </a:rPr>
              <a:t>CC3 </a:t>
            </a: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extends</a:t>
            </a:r>
            <a:r>
              <a:rPr dirty="0" sz="1800" b="1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CC{</a:t>
            </a:r>
            <a:endParaRPr sz="18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31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void </a:t>
            </a:r>
            <a:r>
              <a:rPr dirty="0" sz="1800" spc="-5">
                <a:latin typeface="Times New Roman"/>
                <a:cs typeface="Times New Roman"/>
              </a:rPr>
              <a:t>doStuff() </a:t>
            </a:r>
            <a:r>
              <a:rPr dirty="0" sz="1800" spc="-10" b="1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Exception{}</a:t>
            </a:r>
            <a:endParaRPr sz="1800">
              <a:latin typeface="Times New Roman"/>
              <a:cs typeface="Times New Roman"/>
            </a:endParaRPr>
          </a:p>
          <a:p>
            <a:pPr marL="890905">
              <a:lnSpc>
                <a:spcPct val="100000"/>
              </a:lnSpc>
              <a:spcBef>
                <a:spcPts val="290"/>
              </a:spcBef>
            </a:pPr>
            <a:r>
              <a:rPr dirty="0" sz="180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892175">
              <a:lnSpc>
                <a:spcPct val="100000"/>
              </a:lnSpc>
              <a:spcBef>
                <a:spcPts val="30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public class </a:t>
            </a:r>
            <a:r>
              <a:rPr dirty="0" sz="1800" spc="-5">
                <a:latin typeface="Times New Roman"/>
                <a:cs typeface="Times New Roman"/>
              </a:rPr>
              <a:t>CC4 </a:t>
            </a: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extends</a:t>
            </a:r>
            <a:r>
              <a:rPr dirty="0" sz="1800" b="1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CC{</a:t>
            </a:r>
            <a:endParaRPr sz="18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31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void </a:t>
            </a:r>
            <a:r>
              <a:rPr dirty="0" sz="1800" spc="-5">
                <a:latin typeface="Times New Roman"/>
                <a:cs typeface="Times New Roman"/>
              </a:rPr>
              <a:t>doStuff(</a:t>
            </a: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int </a:t>
            </a:r>
            <a:r>
              <a:rPr dirty="0" sz="1800">
                <a:latin typeface="Times New Roman"/>
                <a:cs typeface="Times New Roman"/>
              </a:rPr>
              <a:t>x) </a:t>
            </a:r>
            <a:r>
              <a:rPr dirty="0" sz="1800" spc="-10" b="1">
                <a:solidFill>
                  <a:srgbClr val="7E0054"/>
                </a:solidFill>
                <a:latin typeface="Times New Roman"/>
                <a:cs typeface="Times New Roman"/>
              </a:rPr>
              <a:t>throws</a:t>
            </a: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Exception{}</a:t>
            </a:r>
            <a:endParaRPr sz="1800">
              <a:latin typeface="Times New Roman"/>
              <a:cs typeface="Times New Roman"/>
            </a:endParaRPr>
          </a:p>
          <a:p>
            <a:pPr marL="890905">
              <a:lnSpc>
                <a:spcPct val="100000"/>
              </a:lnSpc>
              <a:spcBef>
                <a:spcPts val="290"/>
              </a:spcBef>
            </a:pPr>
            <a:r>
              <a:rPr dirty="0" sz="180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892175">
              <a:lnSpc>
                <a:spcPct val="100000"/>
              </a:lnSpc>
              <a:spcBef>
                <a:spcPts val="30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public class </a:t>
            </a:r>
            <a:r>
              <a:rPr dirty="0" sz="1800" spc="-5">
                <a:latin typeface="Times New Roman"/>
                <a:cs typeface="Times New Roman"/>
              </a:rPr>
              <a:t>CC5 </a:t>
            </a: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extends</a:t>
            </a:r>
            <a:r>
              <a:rPr dirty="0" sz="1800" b="1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CC{</a:t>
            </a:r>
            <a:endParaRPr sz="180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310"/>
              </a:spcBef>
            </a:pPr>
            <a:r>
              <a:rPr dirty="0" sz="1800" spc="-5" b="1">
                <a:solidFill>
                  <a:srgbClr val="7E0054"/>
                </a:solidFill>
                <a:latin typeface="Times New Roman"/>
                <a:cs typeface="Times New Roman"/>
              </a:rPr>
              <a:t>void</a:t>
            </a:r>
            <a:r>
              <a:rPr dirty="0" sz="1800" spc="-10" b="1">
                <a:solidFill>
                  <a:srgbClr val="7E0054"/>
                </a:solidFill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doStuff(){}</a:t>
            </a:r>
            <a:endParaRPr sz="1800">
              <a:latin typeface="Times New Roman"/>
              <a:cs typeface="Times New Roman"/>
            </a:endParaRPr>
          </a:p>
          <a:p>
            <a:pPr marL="890905">
              <a:lnSpc>
                <a:spcPct val="100000"/>
              </a:lnSpc>
              <a:spcBef>
                <a:spcPts val="290"/>
              </a:spcBef>
            </a:pPr>
            <a:r>
              <a:rPr dirty="0" sz="180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1948814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2100" b="1">
                <a:latin typeface="微软雅黑"/>
                <a:cs typeface="微软雅黑"/>
              </a:rPr>
              <a:t>4	自定义异常类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08075" y="1481454"/>
            <a:ext cx="6614159" cy="421132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577215" algn="l"/>
                <a:tab pos="577850" algn="l"/>
              </a:tabLst>
            </a:pPr>
            <a:r>
              <a:rPr dirty="0"/>
              <a:t>	</a:t>
            </a:r>
            <a:r>
              <a:rPr dirty="0" sz="2100">
                <a:latin typeface="微软雅黑"/>
                <a:cs typeface="微软雅黑"/>
              </a:rPr>
              <a:t>（</a:t>
            </a:r>
            <a:r>
              <a:rPr dirty="0" sz="2100" spc="-5">
                <a:latin typeface="微软雅黑"/>
                <a:cs typeface="微软雅黑"/>
              </a:rPr>
              <a:t>1</a:t>
            </a:r>
            <a:r>
              <a:rPr dirty="0" sz="2100">
                <a:latin typeface="微软雅黑"/>
                <a:cs typeface="微软雅黑"/>
              </a:rPr>
              <a:t>）为该异常类取一个能标识异常状况的有意义的 名字。</a:t>
            </a:r>
            <a:endParaRPr sz="2100">
              <a:latin typeface="微软雅黑"/>
              <a:cs typeface="微软雅黑"/>
            </a:endParaRPr>
          </a:p>
          <a:p>
            <a:pPr lvl="1" marL="1096010" indent="-690245">
              <a:lnSpc>
                <a:spcPct val="100000"/>
              </a:lnSpc>
              <a:spcBef>
                <a:spcPts val="95"/>
              </a:spcBef>
              <a:buSzPct val="95238"/>
              <a:buAutoNum type="arabicPlain" startAt="2"/>
              <a:tabLst>
                <a:tab pos="1096010" algn="l"/>
              </a:tabLst>
            </a:pPr>
            <a:r>
              <a:rPr dirty="0" sz="2100">
                <a:latin typeface="微软雅黑"/>
                <a:cs typeface="微软雅黑"/>
              </a:rPr>
              <a:t>令其继承</a:t>
            </a:r>
            <a:r>
              <a:rPr dirty="0" sz="2100" spc="-5">
                <a:latin typeface="微软雅黑"/>
                <a:cs typeface="微软雅黑"/>
              </a:rPr>
              <a:t>Exception</a:t>
            </a:r>
            <a:r>
              <a:rPr dirty="0" sz="2100">
                <a:latin typeface="微软雅黑"/>
                <a:cs typeface="微软雅黑"/>
              </a:rPr>
              <a:t>类。</a:t>
            </a:r>
            <a:endParaRPr sz="2100">
              <a:latin typeface="微软雅黑"/>
              <a:cs typeface="微软雅黑"/>
            </a:endParaRPr>
          </a:p>
          <a:p>
            <a:pPr lvl="1" marL="405765" marR="116205">
              <a:lnSpc>
                <a:spcPts val="2260"/>
              </a:lnSpc>
              <a:spcBef>
                <a:spcPts val="409"/>
              </a:spcBef>
              <a:buSzPct val="95238"/>
              <a:buAutoNum type="arabicPlain" startAt="2"/>
              <a:tabLst>
                <a:tab pos="1096010" algn="l"/>
              </a:tabLst>
            </a:pPr>
            <a:r>
              <a:rPr dirty="0" sz="2100">
                <a:latin typeface="微软雅黑"/>
                <a:cs typeface="微软雅黑"/>
              </a:rPr>
              <a:t>在异常类中至少定义两个构造方法：一个是无 参的；另一个是带</a:t>
            </a:r>
            <a:r>
              <a:rPr dirty="0" sz="2100" spc="-80">
                <a:latin typeface="微软雅黑"/>
                <a:cs typeface="微软雅黑"/>
              </a:rPr>
              <a:t>S</a:t>
            </a:r>
            <a:r>
              <a:rPr dirty="0" sz="2100" spc="-5">
                <a:latin typeface="微软雅黑"/>
                <a:cs typeface="微软雅黑"/>
              </a:rPr>
              <a:t>tr</a:t>
            </a:r>
            <a:r>
              <a:rPr dirty="0" sz="2100">
                <a:latin typeface="微软雅黑"/>
                <a:cs typeface="微软雅黑"/>
              </a:rPr>
              <a:t>ing参数的，将此字符串传递给 父类</a:t>
            </a:r>
            <a:r>
              <a:rPr dirty="0" sz="2100" spc="-5">
                <a:latin typeface="微软雅黑"/>
                <a:cs typeface="微软雅黑"/>
              </a:rPr>
              <a:t>Exception</a:t>
            </a:r>
            <a:r>
              <a:rPr dirty="0" sz="2100">
                <a:latin typeface="微软雅黑"/>
                <a:cs typeface="微软雅黑"/>
              </a:rPr>
              <a:t>的相同构造方法。这个</a:t>
            </a:r>
            <a:r>
              <a:rPr dirty="0" sz="2100" spc="-15">
                <a:latin typeface="微软雅黑"/>
                <a:cs typeface="微软雅黑"/>
              </a:rPr>
              <a:t>String</a:t>
            </a:r>
            <a:r>
              <a:rPr dirty="0" sz="2100">
                <a:latin typeface="微软雅黑"/>
                <a:cs typeface="微软雅黑"/>
              </a:rPr>
              <a:t>将作为 该异常对象的描述信息（即</a:t>
            </a:r>
            <a:r>
              <a:rPr dirty="0" sz="2100" spc="-5">
                <a:latin typeface="微软雅黑"/>
                <a:cs typeface="微软雅黑"/>
              </a:rPr>
              <a:t>getMessage()</a:t>
            </a:r>
            <a:r>
              <a:rPr dirty="0" sz="2100">
                <a:latin typeface="微软雅黑"/>
                <a:cs typeface="微软雅黑"/>
              </a:rPr>
              <a:t>方法的返 回值）。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250">
              <a:latin typeface="微软雅黑"/>
              <a:cs typeface="微软雅黑"/>
            </a:endParaRPr>
          </a:p>
          <a:p>
            <a:pPr algn="ctr" marL="92710">
              <a:lnSpc>
                <a:spcPct val="100000"/>
              </a:lnSpc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dirty="0" sz="280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SimpleExceptionDemo.java 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200">
              <a:latin typeface="宋体"/>
              <a:cs typeface="宋体"/>
            </a:endParaRPr>
          </a:p>
          <a:p>
            <a:pPr algn="ctr" marL="168910">
              <a:lnSpc>
                <a:spcPct val="100000"/>
              </a:lnSpc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 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FullConstructors.java </a:t>
            </a: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*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81454"/>
            <a:ext cx="7387590" cy="6330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39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9</a:t>
            </a:r>
            <a:r>
              <a:rPr dirty="0" sz="2100">
                <a:latin typeface="微软雅黑"/>
                <a:cs typeface="微软雅黑"/>
              </a:rPr>
              <a:t>-</a:t>
            </a:r>
            <a:r>
              <a:rPr dirty="0" sz="2100" spc="-5">
                <a:latin typeface="微软雅黑"/>
                <a:cs typeface="微软雅黑"/>
              </a:rPr>
              <a:t>7</a:t>
            </a:r>
            <a:r>
              <a:rPr dirty="0" sz="2100">
                <a:latin typeface="微软雅黑"/>
                <a:cs typeface="微软雅黑"/>
              </a:rPr>
              <a:t>】自定义异常类，标识一个用户管理系统中因用户名（  </a:t>
            </a:r>
            <a:r>
              <a:rPr dirty="0" sz="2100" spc="-5">
                <a:latin typeface="微软雅黑"/>
                <a:cs typeface="微软雅黑"/>
              </a:rPr>
              <a:t>email）</a:t>
            </a:r>
            <a:r>
              <a:rPr dirty="0" sz="2100">
                <a:latin typeface="微软雅黑"/>
                <a:cs typeface="微软雅黑"/>
              </a:rPr>
              <a:t>已存在而注册失败的情况。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98958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4</a:t>
            </a:r>
            <a:r>
              <a:rPr dirty="0" sz="2100" b="1">
                <a:latin typeface="微软雅黑"/>
                <a:cs typeface="微软雅黑"/>
              </a:rPr>
              <a:t>.1	自定义异常类的方法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81454"/>
            <a:ext cx="8032750" cy="20840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110489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35">
                <a:latin typeface="微软雅黑"/>
                <a:cs typeface="微软雅黑"/>
              </a:rPr>
              <a:t>J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 spc="-50">
                <a:latin typeface="微软雅黑"/>
                <a:cs typeface="微软雅黑"/>
              </a:rPr>
              <a:t>v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异常体系中的异常都是在运行时由系统抛出的，用户自定义的 异常必须自行抛出。</a:t>
            </a:r>
            <a:endParaRPr sz="2100">
              <a:latin typeface="微软雅黑"/>
              <a:cs typeface="微软雅黑"/>
            </a:endParaRPr>
          </a:p>
          <a:p>
            <a:pPr lvl="1" marL="527050" marR="5080" indent="-171450">
              <a:lnSpc>
                <a:spcPts val="1939"/>
              </a:lnSpc>
              <a:spcBef>
                <a:spcPts val="38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自行抛出异常使用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h</a:t>
            </a:r>
            <a:r>
              <a:rPr dirty="0" sz="1800" spc="-3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o</a:t>
            </a:r>
            <a:r>
              <a:rPr dirty="0" sz="1800" spc="-5">
                <a:latin typeface="微软雅黑"/>
                <a:cs typeface="微软雅黑"/>
              </a:rPr>
              <a:t>w</a:t>
            </a:r>
            <a:r>
              <a:rPr dirty="0" sz="1800">
                <a:latin typeface="微软雅黑"/>
                <a:cs typeface="微软雅黑"/>
              </a:rPr>
              <a:t>语句，它抛出的不是异常类，而是异常对象，每次 只能抛出一个异常对象。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10">
                <a:latin typeface="微软雅黑"/>
                <a:cs typeface="微软雅黑"/>
              </a:rPr>
              <a:t>throw</a:t>
            </a:r>
            <a:r>
              <a:rPr dirty="0" sz="1800">
                <a:latin typeface="微软雅黑"/>
                <a:cs typeface="微软雅黑"/>
              </a:rPr>
              <a:t>的语法格式如下：</a:t>
            </a:r>
            <a:endParaRPr sz="1800">
              <a:latin typeface="微软雅黑"/>
              <a:cs typeface="微软雅黑"/>
            </a:endParaRPr>
          </a:p>
          <a:p>
            <a:pPr marL="1819910">
              <a:lnSpc>
                <a:spcPct val="100000"/>
              </a:lnSpc>
              <a:spcBef>
                <a:spcPts val="25"/>
              </a:spcBef>
            </a:pPr>
            <a:r>
              <a:rPr dirty="0" sz="2100" spc="-735" b="1" i="1">
                <a:solidFill>
                  <a:srgbClr val="C00000"/>
                </a:solidFill>
                <a:latin typeface="微软雅黑"/>
                <a:cs typeface="微软雅黑"/>
              </a:rPr>
              <a:t>throw</a:t>
            </a:r>
            <a:r>
              <a:rPr dirty="0" sz="2100" spc="-290" b="1" i="1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2100" spc="-950" b="1" i="1">
                <a:solidFill>
                  <a:srgbClr val="C00000"/>
                </a:solidFill>
                <a:latin typeface="微软雅黑"/>
                <a:cs typeface="微软雅黑"/>
              </a:rPr>
              <a:t>异常对象</a:t>
            </a:r>
            <a:r>
              <a:rPr dirty="0" sz="2100" spc="-30" b="1" i="1">
                <a:solidFill>
                  <a:srgbClr val="C00000"/>
                </a:solidFill>
                <a:latin typeface="微软雅黑"/>
                <a:cs typeface="微软雅黑"/>
              </a:rPr>
              <a:t>;</a:t>
            </a:r>
            <a:endParaRPr sz="21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一旦执行</a:t>
            </a:r>
            <a:r>
              <a:rPr dirty="0" sz="1800" spc="-10">
                <a:latin typeface="微软雅黑"/>
                <a:cs typeface="微软雅黑"/>
              </a:rPr>
              <a:t>throw</a:t>
            </a:r>
            <a:r>
              <a:rPr dirty="0" sz="1800">
                <a:latin typeface="微软雅黑"/>
                <a:cs typeface="微软雅黑"/>
              </a:rPr>
              <a:t>语句，其后的代码都不会被执行。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283652" y="370357"/>
            <a:ext cx="24523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4</a:t>
            </a:r>
            <a:r>
              <a:rPr dirty="0" sz="2100" b="1">
                <a:latin typeface="微软雅黑"/>
                <a:cs typeface="微软雅黑"/>
              </a:rPr>
              <a:t>.2	t</a:t>
            </a:r>
            <a:r>
              <a:rPr dirty="0" sz="2100" spc="-5" b="1">
                <a:latin typeface="微软雅黑"/>
                <a:cs typeface="微软雅黑"/>
              </a:rPr>
              <a:t>h</a:t>
            </a:r>
            <a:r>
              <a:rPr dirty="0" sz="2100" spc="-15" b="1">
                <a:latin typeface="微软雅黑"/>
                <a:cs typeface="微软雅黑"/>
              </a:rPr>
              <a:t>r</a:t>
            </a:r>
            <a:r>
              <a:rPr dirty="0" sz="2100" spc="-5" b="1">
                <a:latin typeface="微软雅黑"/>
                <a:cs typeface="微软雅黑"/>
              </a:rPr>
              <a:t>o</a:t>
            </a:r>
            <a:r>
              <a:rPr dirty="0" sz="2100" b="1">
                <a:latin typeface="微软雅黑"/>
                <a:cs typeface="微软雅黑"/>
              </a:rPr>
              <a:t>w抛出异常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0335" y="4353559"/>
            <a:ext cx="25177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等线"/>
                <a:cs typeface="等线"/>
              </a:rPr>
              <a:t>StudentTest.java</a:t>
            </a:r>
            <a:endParaRPr sz="280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7255" y="1481454"/>
            <a:ext cx="64211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9-8</a:t>
            </a:r>
            <a:r>
              <a:rPr dirty="0" sz="2100">
                <a:latin typeface="微软雅黑"/>
                <a:cs typeface="微软雅黑"/>
              </a:rPr>
              <a:t>】自行抛出自定义异常</a:t>
            </a:r>
            <a:r>
              <a:rPr dirty="0" sz="2100" spc="-5">
                <a:latin typeface="微软雅黑"/>
                <a:cs typeface="微软雅黑"/>
              </a:rPr>
              <a:t>EmailExistException</a:t>
            </a:r>
            <a:r>
              <a:rPr dirty="0" sz="2100"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4523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4</a:t>
            </a:r>
            <a:r>
              <a:rPr dirty="0" sz="2100" b="1">
                <a:latin typeface="微软雅黑"/>
                <a:cs typeface="微软雅黑"/>
              </a:rPr>
              <a:t>.2	t</a:t>
            </a:r>
            <a:r>
              <a:rPr dirty="0" sz="2100" spc="-5" b="1">
                <a:latin typeface="微软雅黑"/>
                <a:cs typeface="微软雅黑"/>
              </a:rPr>
              <a:t>h</a:t>
            </a:r>
            <a:r>
              <a:rPr dirty="0" sz="2100" spc="-15" b="1">
                <a:latin typeface="微软雅黑"/>
                <a:cs typeface="微软雅黑"/>
              </a:rPr>
              <a:t>r</a:t>
            </a:r>
            <a:r>
              <a:rPr dirty="0" sz="2100" spc="-5" b="1">
                <a:latin typeface="微软雅黑"/>
                <a:cs typeface="微软雅黑"/>
              </a:rPr>
              <a:t>o</a:t>
            </a:r>
            <a:r>
              <a:rPr dirty="0" sz="2100" b="1">
                <a:latin typeface="微软雅黑"/>
                <a:cs typeface="微软雅黑"/>
              </a:rPr>
              <a:t>w抛出异常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1540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微软雅黑"/>
                <a:cs typeface="微软雅黑"/>
              </a:rPr>
              <a:t>4</a:t>
            </a:r>
            <a:r>
              <a:rPr dirty="0" sz="2100" b="1">
                <a:latin typeface="微软雅黑"/>
                <a:cs typeface="微软雅黑"/>
              </a:rPr>
              <a:t>.3	异常处理的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个关键字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2311" y="1988820"/>
            <a:ext cx="6912864" cy="34736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49870" y="111912"/>
            <a:ext cx="7764780" cy="8350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46050">
              <a:lnSpc>
                <a:spcPts val="3190"/>
              </a:lnSpc>
              <a:spcBef>
                <a:spcPts val="95"/>
              </a:spcBef>
              <a:tabLst>
                <a:tab pos="897890" algn="l"/>
              </a:tabLst>
            </a:pPr>
            <a:r>
              <a:rPr dirty="0" spc="-5" b="1">
                <a:latin typeface="微软雅黑"/>
                <a:cs typeface="微软雅黑"/>
              </a:rPr>
              <a:t>9.5	</a:t>
            </a:r>
            <a:r>
              <a:rPr dirty="0" b="1">
                <a:latin typeface="微软雅黑"/>
                <a:cs typeface="微软雅黑"/>
              </a:rPr>
              <a:t>综合实践</a:t>
            </a:r>
            <a:r>
              <a:rPr dirty="0" spc="-5" b="1">
                <a:latin typeface="微软雅黑"/>
                <a:cs typeface="微软雅黑"/>
              </a:rPr>
              <a:t>—</a:t>
            </a:r>
            <a:r>
              <a:rPr dirty="0" b="1">
                <a:latin typeface="微软雅黑"/>
                <a:cs typeface="微软雅黑"/>
              </a:rPr>
              <a:t>用户管理系统及其异</a:t>
            </a:r>
            <a:r>
              <a:rPr dirty="0" spc="-5" b="1">
                <a:latin typeface="微软雅黑"/>
                <a:cs typeface="微软雅黑"/>
              </a:rPr>
              <a:t>常</a:t>
            </a:r>
          </a:p>
          <a:p>
            <a:pPr marL="12700">
              <a:lnSpc>
                <a:spcPts val="3190"/>
              </a:lnSpc>
              <a:tabLst>
                <a:tab pos="7751445" algn="l"/>
              </a:tabLst>
            </a:pPr>
            <a:r>
              <a:rPr dirty="0" u="heavy" spc="-5">
                <a:uFill>
                  <a:solidFill>
                    <a:srgbClr val="A1A1A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pc="-350">
                <a:uFill>
                  <a:solidFill>
                    <a:srgbClr val="A1A1A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="1">
                <a:uFill>
                  <a:solidFill>
                    <a:srgbClr val="A1A1A1"/>
                  </a:solidFill>
                </a:uFill>
                <a:latin typeface="微软雅黑"/>
                <a:cs typeface="微软雅黑"/>
              </a:rPr>
              <a:t>类设</a:t>
            </a:r>
            <a:r>
              <a:rPr dirty="0" u="heavy" spc="-5" b="1">
                <a:uFill>
                  <a:solidFill>
                    <a:srgbClr val="A1A1A1"/>
                  </a:solidFill>
                </a:uFill>
                <a:latin typeface="微软雅黑"/>
                <a:cs typeface="微软雅黑"/>
              </a:rPr>
              <a:t>计</a:t>
            </a:r>
            <a:r>
              <a:rPr dirty="0" u="heavy" b="1">
                <a:uFill>
                  <a:solidFill>
                    <a:srgbClr val="A1A1A1"/>
                  </a:solidFill>
                </a:uFill>
                <a:latin typeface="微软雅黑"/>
                <a:cs typeface="微软雅黑"/>
              </a:rPr>
              <a:t>	</a:t>
            </a:r>
          </a:p>
        </p:txBody>
      </p:sp>
      <p:sp>
        <p:nvSpPr>
          <p:cNvPr id="21" name="object 21"/>
          <p:cNvSpPr/>
          <p:nvPr/>
        </p:nvSpPr>
        <p:spPr>
          <a:xfrm>
            <a:off x="602183" y="4115790"/>
            <a:ext cx="2235835" cy="1452245"/>
          </a:xfrm>
          <a:custGeom>
            <a:avLst/>
            <a:gdLst/>
            <a:ahLst/>
            <a:cxnLst/>
            <a:rect l="l" t="t" r="r" b="b"/>
            <a:pathLst>
              <a:path w="2235835" h="1452245">
                <a:moveTo>
                  <a:pt x="0" y="0"/>
                </a:moveTo>
                <a:lnTo>
                  <a:pt x="2235276" y="0"/>
                </a:lnTo>
                <a:lnTo>
                  <a:pt x="2235276" y="1451775"/>
                </a:lnTo>
                <a:lnTo>
                  <a:pt x="0" y="1451775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02183" y="4115790"/>
            <a:ext cx="2235835" cy="1452245"/>
          </a:xfrm>
          <a:custGeom>
            <a:avLst/>
            <a:gdLst/>
            <a:ahLst/>
            <a:cxnLst/>
            <a:rect l="l" t="t" r="r" b="b"/>
            <a:pathLst>
              <a:path w="2235835" h="1452245">
                <a:moveTo>
                  <a:pt x="0" y="0"/>
                </a:moveTo>
                <a:lnTo>
                  <a:pt x="2235276" y="0"/>
                </a:lnTo>
                <a:lnTo>
                  <a:pt x="2235276" y="1451775"/>
                </a:lnTo>
                <a:lnTo>
                  <a:pt x="0" y="1451775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02183" y="4115790"/>
            <a:ext cx="2255520" cy="25336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434"/>
              </a:spcBef>
            </a:pPr>
            <a:r>
              <a:rPr dirty="0" sz="950" spc="-45" b="1">
                <a:latin typeface="Tahoma"/>
                <a:cs typeface="Tahoma"/>
              </a:rPr>
              <a:t>User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2183" y="4368749"/>
            <a:ext cx="2255520" cy="50609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48895">
              <a:lnSpc>
                <a:spcPts val="1135"/>
              </a:lnSpc>
              <a:spcBef>
                <a:spcPts val="350"/>
              </a:spcBef>
            </a:pPr>
            <a:r>
              <a:rPr dirty="0" sz="950" spc="-50">
                <a:latin typeface="Tahoma"/>
                <a:cs typeface="Tahoma"/>
              </a:rPr>
              <a:t>-id:</a:t>
            </a:r>
            <a:r>
              <a:rPr dirty="0" sz="950" spc="-65">
                <a:latin typeface="Tahoma"/>
                <a:cs typeface="Tahoma"/>
              </a:rPr>
              <a:t> </a:t>
            </a:r>
            <a:r>
              <a:rPr dirty="0" sz="950" spc="-55">
                <a:latin typeface="Tahoma"/>
                <a:cs typeface="Tahoma"/>
              </a:rPr>
              <a:t>int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25"/>
              </a:lnSpc>
            </a:pPr>
            <a:r>
              <a:rPr dirty="0" sz="950" spc="-65">
                <a:latin typeface="Tahoma"/>
                <a:cs typeface="Tahoma"/>
              </a:rPr>
              <a:t>-email: </a:t>
            </a:r>
            <a:r>
              <a:rPr dirty="0" sz="950" spc="-50">
                <a:latin typeface="Tahoma"/>
                <a:cs typeface="Tahoma"/>
              </a:rPr>
              <a:t>String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35"/>
              </a:lnSpc>
            </a:pPr>
            <a:r>
              <a:rPr dirty="0" sz="950" spc="-50">
                <a:latin typeface="Tahoma"/>
                <a:cs typeface="Tahoma"/>
              </a:rPr>
              <a:t>-password:</a:t>
            </a:r>
            <a:r>
              <a:rPr dirty="0" sz="950" spc="-65">
                <a:latin typeface="Tahoma"/>
                <a:cs typeface="Tahoma"/>
              </a:rPr>
              <a:t> </a:t>
            </a:r>
            <a:r>
              <a:rPr dirty="0" sz="950" spc="-50">
                <a:latin typeface="Tahoma"/>
                <a:cs typeface="Tahoma"/>
              </a:rPr>
              <a:t>String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2183" y="4874679"/>
            <a:ext cx="2255520" cy="693420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48895">
              <a:lnSpc>
                <a:spcPts val="1135"/>
              </a:lnSpc>
              <a:spcBef>
                <a:spcPts val="520"/>
              </a:spcBef>
            </a:pPr>
            <a:r>
              <a:rPr dirty="0" sz="950" spc="-55">
                <a:latin typeface="Tahoma"/>
                <a:cs typeface="Tahoma"/>
              </a:rPr>
              <a:t>+User()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25"/>
              </a:lnSpc>
            </a:pPr>
            <a:r>
              <a:rPr dirty="0" sz="950" spc="-55">
                <a:latin typeface="Tahoma"/>
                <a:cs typeface="Tahoma"/>
              </a:rPr>
              <a:t>+User(int id, </a:t>
            </a:r>
            <a:r>
              <a:rPr dirty="0" sz="950" spc="-50">
                <a:latin typeface="Tahoma"/>
                <a:cs typeface="Tahoma"/>
              </a:rPr>
              <a:t>String </a:t>
            </a:r>
            <a:r>
              <a:rPr dirty="0" sz="950" spc="-70">
                <a:latin typeface="Tahoma"/>
                <a:cs typeface="Tahoma"/>
              </a:rPr>
              <a:t>email, </a:t>
            </a:r>
            <a:r>
              <a:rPr dirty="0" sz="950" spc="-50">
                <a:latin typeface="Tahoma"/>
                <a:cs typeface="Tahoma"/>
              </a:rPr>
              <a:t>String</a:t>
            </a:r>
            <a:r>
              <a:rPr dirty="0" sz="950" spc="-5">
                <a:latin typeface="Tahoma"/>
                <a:cs typeface="Tahoma"/>
              </a:rPr>
              <a:t> </a:t>
            </a:r>
            <a:r>
              <a:rPr dirty="0" sz="950" spc="-55">
                <a:latin typeface="Tahoma"/>
                <a:cs typeface="Tahoma"/>
              </a:rPr>
              <a:t>password)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25"/>
              </a:lnSpc>
            </a:pPr>
            <a:r>
              <a:rPr dirty="0" sz="950" spc="-50">
                <a:latin typeface="Tahoma"/>
                <a:cs typeface="Tahoma"/>
              </a:rPr>
              <a:t>+getPassword():</a:t>
            </a:r>
            <a:r>
              <a:rPr dirty="0" sz="950" spc="-65">
                <a:latin typeface="Tahoma"/>
                <a:cs typeface="Tahoma"/>
              </a:rPr>
              <a:t> </a:t>
            </a:r>
            <a:r>
              <a:rPr dirty="0" sz="950" spc="-50">
                <a:latin typeface="Tahoma"/>
                <a:cs typeface="Tahoma"/>
              </a:rPr>
              <a:t>String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35"/>
              </a:lnSpc>
            </a:pPr>
            <a:r>
              <a:rPr dirty="0" sz="950" spc="-50">
                <a:latin typeface="Tahoma"/>
                <a:cs typeface="Tahoma"/>
              </a:rPr>
              <a:t>+toString():</a:t>
            </a:r>
            <a:r>
              <a:rPr dirty="0" sz="950" spc="-65">
                <a:latin typeface="Tahoma"/>
                <a:cs typeface="Tahoma"/>
              </a:rPr>
              <a:t> </a:t>
            </a:r>
            <a:r>
              <a:rPr dirty="0" sz="950" spc="-50">
                <a:latin typeface="Tahoma"/>
                <a:cs typeface="Tahoma"/>
              </a:rPr>
              <a:t>String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17295" y="1740154"/>
            <a:ext cx="1959610" cy="648970"/>
          </a:xfrm>
          <a:custGeom>
            <a:avLst/>
            <a:gdLst/>
            <a:ahLst/>
            <a:cxnLst/>
            <a:rect l="l" t="t" r="r" b="b"/>
            <a:pathLst>
              <a:path w="1959610" h="648969">
                <a:moveTo>
                  <a:pt x="0" y="0"/>
                </a:moveTo>
                <a:lnTo>
                  <a:pt x="1959559" y="0"/>
                </a:lnTo>
                <a:lnTo>
                  <a:pt x="1959559" y="648906"/>
                </a:lnTo>
                <a:lnTo>
                  <a:pt x="0" y="648906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17295" y="1740154"/>
            <a:ext cx="1959610" cy="648970"/>
          </a:xfrm>
          <a:custGeom>
            <a:avLst/>
            <a:gdLst/>
            <a:ahLst/>
            <a:cxnLst/>
            <a:rect l="l" t="t" r="r" b="b"/>
            <a:pathLst>
              <a:path w="1959610" h="648969">
                <a:moveTo>
                  <a:pt x="0" y="0"/>
                </a:moveTo>
                <a:lnTo>
                  <a:pt x="1959559" y="0"/>
                </a:lnTo>
                <a:lnTo>
                  <a:pt x="1959559" y="648906"/>
                </a:lnTo>
                <a:lnTo>
                  <a:pt x="0" y="648906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17295" y="1740154"/>
            <a:ext cx="1939925" cy="242570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algn="ctr" marL="34925">
              <a:lnSpc>
                <a:spcPct val="100000"/>
              </a:lnSpc>
              <a:spcBef>
                <a:spcPts val="434"/>
              </a:spcBef>
            </a:pPr>
            <a:r>
              <a:rPr dirty="0" sz="950" spc="-35" b="1">
                <a:latin typeface="Tahoma"/>
                <a:cs typeface="Tahoma"/>
              </a:rPr>
              <a:t>Test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7295" y="1982114"/>
            <a:ext cx="1939925" cy="407034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434"/>
              </a:spcBef>
            </a:pPr>
            <a:r>
              <a:rPr dirty="0" u="sng" sz="950" spc="-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+main(String[] </a:t>
            </a:r>
            <a:r>
              <a:rPr dirty="0" u="sng" sz="95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args):</a:t>
            </a:r>
            <a:r>
              <a:rPr dirty="0" u="sng" sz="950" spc="-9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95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80574" y="3147936"/>
            <a:ext cx="2265045" cy="770255"/>
          </a:xfrm>
          <a:custGeom>
            <a:avLst/>
            <a:gdLst/>
            <a:ahLst/>
            <a:cxnLst/>
            <a:rect l="l" t="t" r="r" b="b"/>
            <a:pathLst>
              <a:path w="2265045" h="770254">
                <a:moveTo>
                  <a:pt x="0" y="0"/>
                </a:moveTo>
                <a:lnTo>
                  <a:pt x="2264816" y="0"/>
                </a:lnTo>
                <a:lnTo>
                  <a:pt x="2264816" y="769886"/>
                </a:lnTo>
                <a:lnTo>
                  <a:pt x="0" y="769886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80574" y="3147936"/>
            <a:ext cx="2265045" cy="770255"/>
          </a:xfrm>
          <a:custGeom>
            <a:avLst/>
            <a:gdLst/>
            <a:ahLst/>
            <a:cxnLst/>
            <a:rect l="l" t="t" r="r" b="b"/>
            <a:pathLst>
              <a:path w="2265045" h="770254">
                <a:moveTo>
                  <a:pt x="0" y="0"/>
                </a:moveTo>
                <a:lnTo>
                  <a:pt x="2264816" y="0"/>
                </a:lnTo>
                <a:lnTo>
                  <a:pt x="2264816" y="769886"/>
                </a:lnTo>
                <a:lnTo>
                  <a:pt x="0" y="769886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293706" y="3147936"/>
            <a:ext cx="2255520" cy="385445"/>
          </a:xfrm>
          <a:prstGeom prst="rect">
            <a:avLst/>
          </a:prstGeom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algn="ctr">
              <a:lnSpc>
                <a:spcPts val="1135"/>
              </a:lnSpc>
              <a:spcBef>
                <a:spcPts val="434"/>
              </a:spcBef>
            </a:pPr>
            <a:r>
              <a:rPr dirty="0" sz="950" spc="-50">
                <a:latin typeface="Tahoma"/>
                <a:cs typeface="Tahoma"/>
              </a:rPr>
              <a:t>&lt;&lt;interface&gt;&gt;</a:t>
            </a:r>
            <a:endParaRPr sz="950">
              <a:latin typeface="Tahoma"/>
              <a:cs typeface="Tahoma"/>
            </a:endParaRPr>
          </a:p>
          <a:p>
            <a:pPr algn="ctr" marL="635">
              <a:lnSpc>
                <a:spcPts val="1135"/>
              </a:lnSpc>
            </a:pPr>
            <a:r>
              <a:rPr dirty="0" sz="950" spc="-50" b="1">
                <a:latin typeface="Tahoma"/>
                <a:cs typeface="Tahoma"/>
              </a:rPr>
              <a:t>UserDao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93706" y="3532885"/>
            <a:ext cx="2255520" cy="385445"/>
          </a:xfrm>
          <a:prstGeom prst="rect">
            <a:avLst/>
          </a:prstGeom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35560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+addUser(User </a:t>
            </a:r>
            <a:r>
              <a:rPr dirty="0" sz="950" spc="-50">
                <a:latin typeface="Tahoma"/>
                <a:cs typeface="Tahoma"/>
              </a:rPr>
              <a:t>user):</a:t>
            </a:r>
            <a:r>
              <a:rPr dirty="0" sz="950" spc="-75">
                <a:latin typeface="Tahoma"/>
                <a:cs typeface="Tahoma"/>
              </a:rPr>
              <a:t> </a:t>
            </a:r>
            <a:r>
              <a:rPr dirty="0" sz="950" spc="-50">
                <a:latin typeface="Tahoma"/>
                <a:cs typeface="Tahoma"/>
              </a:rPr>
              <a:t>User</a:t>
            </a:r>
            <a:endParaRPr sz="950">
              <a:latin typeface="Tahoma"/>
              <a:cs typeface="Tahoma"/>
            </a:endParaRPr>
          </a:p>
          <a:p>
            <a:pPr marL="35560">
              <a:lnSpc>
                <a:spcPts val="1135"/>
              </a:lnSpc>
            </a:pPr>
            <a:r>
              <a:rPr dirty="0" sz="950" spc="-50">
                <a:latin typeface="Tahoma"/>
                <a:cs typeface="Tahoma"/>
              </a:rPr>
              <a:t>+getUser(String </a:t>
            </a:r>
            <a:r>
              <a:rPr dirty="0" sz="950" spc="-70">
                <a:latin typeface="Tahoma"/>
                <a:cs typeface="Tahoma"/>
              </a:rPr>
              <a:t>email, </a:t>
            </a:r>
            <a:r>
              <a:rPr dirty="0" sz="950" spc="-50">
                <a:latin typeface="Tahoma"/>
                <a:cs typeface="Tahoma"/>
              </a:rPr>
              <a:t>String </a:t>
            </a:r>
            <a:r>
              <a:rPr dirty="0" sz="950" spc="-55">
                <a:latin typeface="Tahoma"/>
                <a:cs typeface="Tahoma"/>
              </a:rPr>
              <a:t>password):</a:t>
            </a:r>
            <a:r>
              <a:rPr dirty="0" sz="950" spc="-75">
                <a:latin typeface="Tahoma"/>
                <a:cs typeface="Tahoma"/>
              </a:rPr>
              <a:t> </a:t>
            </a:r>
            <a:r>
              <a:rPr dirty="0" sz="950" spc="-50">
                <a:latin typeface="Tahoma"/>
                <a:cs typeface="Tahoma"/>
              </a:rPr>
              <a:t>User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280574" y="4379747"/>
            <a:ext cx="2265045" cy="1122045"/>
          </a:xfrm>
          <a:custGeom>
            <a:avLst/>
            <a:gdLst/>
            <a:ahLst/>
            <a:cxnLst/>
            <a:rect l="l" t="t" r="r" b="b"/>
            <a:pathLst>
              <a:path w="2265045" h="1122045">
                <a:moveTo>
                  <a:pt x="0" y="0"/>
                </a:moveTo>
                <a:lnTo>
                  <a:pt x="2264816" y="0"/>
                </a:lnTo>
                <a:lnTo>
                  <a:pt x="2264816" y="1121829"/>
                </a:lnTo>
                <a:lnTo>
                  <a:pt x="0" y="1121829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80574" y="4379747"/>
            <a:ext cx="2265045" cy="1122045"/>
          </a:xfrm>
          <a:custGeom>
            <a:avLst/>
            <a:gdLst/>
            <a:ahLst/>
            <a:cxnLst/>
            <a:rect l="l" t="t" r="r" b="b"/>
            <a:pathLst>
              <a:path w="2265045" h="1122045">
                <a:moveTo>
                  <a:pt x="0" y="0"/>
                </a:moveTo>
                <a:lnTo>
                  <a:pt x="2264816" y="0"/>
                </a:lnTo>
                <a:lnTo>
                  <a:pt x="2264816" y="1121829"/>
                </a:lnTo>
                <a:lnTo>
                  <a:pt x="0" y="1121829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293706" y="4368749"/>
            <a:ext cx="2255520" cy="25336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685800">
              <a:lnSpc>
                <a:spcPct val="100000"/>
              </a:lnSpc>
              <a:spcBef>
                <a:spcPts val="520"/>
              </a:spcBef>
            </a:pPr>
            <a:r>
              <a:rPr dirty="0" sz="950" spc="-55" b="1">
                <a:latin typeface="Tahoma"/>
                <a:cs typeface="Tahoma"/>
              </a:rPr>
              <a:t>UserDaoForMap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93706" y="4621720"/>
            <a:ext cx="2255520" cy="25336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434"/>
              </a:spcBef>
            </a:pPr>
            <a:r>
              <a:rPr dirty="0" sz="950" spc="-50">
                <a:latin typeface="Tahoma"/>
                <a:cs typeface="Tahoma"/>
              </a:rPr>
              <a:t>+users: </a:t>
            </a:r>
            <a:r>
              <a:rPr dirty="0" sz="950" spc="-60">
                <a:latin typeface="Tahoma"/>
                <a:cs typeface="Tahoma"/>
              </a:rPr>
              <a:t>Map&lt;String,</a:t>
            </a:r>
            <a:r>
              <a:rPr dirty="0" sz="950" spc="-30">
                <a:latin typeface="Tahoma"/>
                <a:cs typeface="Tahoma"/>
              </a:rPr>
              <a:t> </a:t>
            </a:r>
            <a:r>
              <a:rPr dirty="0" sz="950" spc="-55">
                <a:latin typeface="Tahoma"/>
                <a:cs typeface="Tahoma"/>
              </a:rPr>
              <a:t>User&gt;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93706" y="4874679"/>
            <a:ext cx="2255520" cy="627380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35560">
              <a:lnSpc>
                <a:spcPts val="1135"/>
              </a:lnSpc>
              <a:spcBef>
                <a:spcPts val="345"/>
              </a:spcBef>
            </a:pPr>
            <a:r>
              <a:rPr dirty="0" sz="950" spc="-60">
                <a:latin typeface="Tahoma"/>
                <a:cs typeface="Tahoma"/>
              </a:rPr>
              <a:t>+UserDaoForMap()</a:t>
            </a:r>
            <a:endParaRPr sz="950">
              <a:latin typeface="Tahoma"/>
              <a:cs typeface="Tahoma"/>
            </a:endParaRPr>
          </a:p>
          <a:p>
            <a:pPr marL="35560">
              <a:lnSpc>
                <a:spcPts val="1125"/>
              </a:lnSpc>
            </a:pPr>
            <a:r>
              <a:rPr dirty="0" sz="950" spc="-55">
                <a:latin typeface="Tahoma"/>
                <a:cs typeface="Tahoma"/>
              </a:rPr>
              <a:t>+addUser(User </a:t>
            </a:r>
            <a:r>
              <a:rPr dirty="0" sz="950" spc="-50">
                <a:latin typeface="Tahoma"/>
                <a:cs typeface="Tahoma"/>
              </a:rPr>
              <a:t>user):</a:t>
            </a:r>
            <a:r>
              <a:rPr dirty="0" sz="950" spc="-75">
                <a:latin typeface="Tahoma"/>
                <a:cs typeface="Tahoma"/>
              </a:rPr>
              <a:t> </a:t>
            </a:r>
            <a:r>
              <a:rPr dirty="0" sz="950" spc="-50">
                <a:latin typeface="Tahoma"/>
                <a:cs typeface="Tahoma"/>
              </a:rPr>
              <a:t>User</a:t>
            </a:r>
            <a:endParaRPr sz="950">
              <a:latin typeface="Tahoma"/>
              <a:cs typeface="Tahoma"/>
            </a:endParaRPr>
          </a:p>
          <a:p>
            <a:pPr marL="35560">
              <a:lnSpc>
                <a:spcPts val="1135"/>
              </a:lnSpc>
            </a:pPr>
            <a:r>
              <a:rPr dirty="0" sz="950" spc="-50">
                <a:latin typeface="Tahoma"/>
                <a:cs typeface="Tahoma"/>
              </a:rPr>
              <a:t>+getUser(String </a:t>
            </a:r>
            <a:r>
              <a:rPr dirty="0" sz="950" spc="-70">
                <a:latin typeface="Tahoma"/>
                <a:cs typeface="Tahoma"/>
              </a:rPr>
              <a:t>email, </a:t>
            </a:r>
            <a:r>
              <a:rPr dirty="0" sz="950" spc="-50">
                <a:latin typeface="Tahoma"/>
                <a:cs typeface="Tahoma"/>
              </a:rPr>
              <a:t>String </a:t>
            </a:r>
            <a:r>
              <a:rPr dirty="0" sz="950" spc="-55">
                <a:latin typeface="Tahoma"/>
                <a:cs typeface="Tahoma"/>
              </a:rPr>
              <a:t>password):</a:t>
            </a:r>
            <a:r>
              <a:rPr dirty="0" sz="950" spc="-75">
                <a:latin typeface="Tahoma"/>
                <a:cs typeface="Tahoma"/>
              </a:rPr>
              <a:t> </a:t>
            </a:r>
            <a:r>
              <a:rPr dirty="0" sz="950" spc="-50">
                <a:latin typeface="Tahoma"/>
                <a:cs typeface="Tahoma"/>
              </a:rPr>
              <a:t>User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319970" y="1663166"/>
            <a:ext cx="2235835" cy="1165860"/>
          </a:xfrm>
          <a:custGeom>
            <a:avLst/>
            <a:gdLst/>
            <a:ahLst/>
            <a:cxnLst/>
            <a:rect l="l" t="t" r="r" b="b"/>
            <a:pathLst>
              <a:path w="2235835" h="1165860">
                <a:moveTo>
                  <a:pt x="0" y="0"/>
                </a:moveTo>
                <a:lnTo>
                  <a:pt x="2235276" y="0"/>
                </a:lnTo>
                <a:lnTo>
                  <a:pt x="2235276" y="1165821"/>
                </a:lnTo>
                <a:lnTo>
                  <a:pt x="0" y="1165821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319970" y="1663166"/>
            <a:ext cx="2235835" cy="1165860"/>
          </a:xfrm>
          <a:custGeom>
            <a:avLst/>
            <a:gdLst/>
            <a:ahLst/>
            <a:cxnLst/>
            <a:rect l="l" t="t" r="r" b="b"/>
            <a:pathLst>
              <a:path w="2235835" h="1165860">
                <a:moveTo>
                  <a:pt x="0" y="0"/>
                </a:moveTo>
                <a:lnTo>
                  <a:pt x="2235276" y="0"/>
                </a:lnTo>
                <a:lnTo>
                  <a:pt x="2235276" y="1165821"/>
                </a:lnTo>
                <a:lnTo>
                  <a:pt x="0" y="1165821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293706" y="1663166"/>
            <a:ext cx="2255520" cy="242570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algn="ctr" marL="52069">
              <a:lnSpc>
                <a:spcPct val="100000"/>
              </a:lnSpc>
              <a:spcBef>
                <a:spcPts val="434"/>
              </a:spcBef>
            </a:pPr>
            <a:r>
              <a:rPr dirty="0" sz="950" spc="-45" b="1">
                <a:latin typeface="Tahoma"/>
                <a:cs typeface="Tahoma"/>
              </a:rPr>
              <a:t>Application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93706" y="1905126"/>
            <a:ext cx="2255520" cy="38544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74930">
              <a:lnSpc>
                <a:spcPts val="1135"/>
              </a:lnSpc>
              <a:spcBef>
                <a:spcPts val="434"/>
              </a:spcBef>
            </a:pPr>
            <a:r>
              <a:rPr dirty="0" sz="950" spc="-45">
                <a:latin typeface="Tahoma"/>
                <a:cs typeface="Tahoma"/>
              </a:rPr>
              <a:t>-dao:</a:t>
            </a:r>
            <a:r>
              <a:rPr dirty="0" sz="950" spc="-65">
                <a:latin typeface="Tahoma"/>
                <a:cs typeface="Tahoma"/>
              </a:rPr>
              <a:t> </a:t>
            </a:r>
            <a:r>
              <a:rPr dirty="0" sz="950" spc="-60">
                <a:latin typeface="Tahoma"/>
                <a:cs typeface="Tahoma"/>
              </a:rPr>
              <a:t>UserDao</a:t>
            </a:r>
            <a:endParaRPr sz="950">
              <a:latin typeface="Tahoma"/>
              <a:cs typeface="Tahoma"/>
            </a:endParaRPr>
          </a:p>
          <a:p>
            <a:pPr marL="74930">
              <a:lnSpc>
                <a:spcPts val="1135"/>
              </a:lnSpc>
            </a:pPr>
            <a:r>
              <a:rPr dirty="0" sz="950" spc="-50">
                <a:latin typeface="Tahoma"/>
                <a:cs typeface="Tahoma"/>
              </a:rPr>
              <a:t>-id:</a:t>
            </a:r>
            <a:r>
              <a:rPr dirty="0" sz="950" spc="-65">
                <a:latin typeface="Tahoma"/>
                <a:cs typeface="Tahoma"/>
              </a:rPr>
              <a:t> </a:t>
            </a:r>
            <a:r>
              <a:rPr dirty="0" sz="950" spc="-55">
                <a:latin typeface="Tahoma"/>
                <a:cs typeface="Tahoma"/>
              </a:rPr>
              <a:t>int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93706" y="2290076"/>
            <a:ext cx="2255520" cy="53911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74930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+Application(UserDao</a:t>
            </a:r>
            <a:r>
              <a:rPr dirty="0" sz="950" spc="-70">
                <a:latin typeface="Tahoma"/>
                <a:cs typeface="Tahoma"/>
              </a:rPr>
              <a:t> </a:t>
            </a:r>
            <a:r>
              <a:rPr dirty="0" sz="950" spc="-50">
                <a:latin typeface="Tahoma"/>
                <a:cs typeface="Tahoma"/>
              </a:rPr>
              <a:t>dao)</a:t>
            </a:r>
            <a:endParaRPr sz="950">
              <a:latin typeface="Tahoma"/>
              <a:cs typeface="Tahoma"/>
            </a:endParaRPr>
          </a:p>
          <a:p>
            <a:pPr marL="74930">
              <a:lnSpc>
                <a:spcPts val="1125"/>
              </a:lnSpc>
            </a:pPr>
            <a:r>
              <a:rPr dirty="0" sz="950" spc="-50">
                <a:latin typeface="Tahoma"/>
                <a:cs typeface="Tahoma"/>
              </a:rPr>
              <a:t>+registe():</a:t>
            </a:r>
            <a:r>
              <a:rPr dirty="0" sz="950" spc="-65">
                <a:latin typeface="Tahoma"/>
                <a:cs typeface="Tahoma"/>
              </a:rPr>
              <a:t> </a:t>
            </a:r>
            <a:r>
              <a:rPr dirty="0" sz="950" spc="-4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  <a:p>
            <a:pPr marL="74930">
              <a:lnSpc>
                <a:spcPts val="1135"/>
              </a:lnSpc>
            </a:pPr>
            <a:r>
              <a:rPr dirty="0" sz="950" spc="-60">
                <a:latin typeface="Tahoma"/>
                <a:cs typeface="Tahoma"/>
              </a:rPr>
              <a:t>+login():</a:t>
            </a:r>
            <a:r>
              <a:rPr dirty="0" sz="950" spc="-65">
                <a:latin typeface="Tahoma"/>
                <a:cs typeface="Tahoma"/>
              </a:rPr>
              <a:t> </a:t>
            </a:r>
            <a:r>
              <a:rPr dirty="0" sz="950" spc="-45">
                <a:latin typeface="Tahoma"/>
                <a:cs typeface="Tahoma"/>
              </a:rPr>
              <a:t>void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412983" y="3928821"/>
            <a:ext cx="0" cy="451484"/>
          </a:xfrm>
          <a:custGeom>
            <a:avLst/>
            <a:gdLst/>
            <a:ahLst/>
            <a:cxnLst/>
            <a:rect l="l" t="t" r="r" b="b"/>
            <a:pathLst>
              <a:path w="0" h="451485">
                <a:moveTo>
                  <a:pt x="0" y="450926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412983" y="3928821"/>
            <a:ext cx="0" cy="451484"/>
          </a:xfrm>
          <a:custGeom>
            <a:avLst/>
            <a:gdLst/>
            <a:ahLst/>
            <a:cxnLst/>
            <a:rect l="l" t="t" r="r" b="b"/>
            <a:pathLst>
              <a:path w="0" h="451485">
                <a:moveTo>
                  <a:pt x="0" y="450926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329004" y="3923607"/>
            <a:ext cx="167970" cy="2303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847314" y="4896675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 h="0">
                <a:moveTo>
                  <a:pt x="433260" y="0"/>
                </a:moveTo>
                <a:lnTo>
                  <a:pt x="0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847314" y="4852682"/>
            <a:ext cx="99060" cy="88265"/>
          </a:xfrm>
          <a:custGeom>
            <a:avLst/>
            <a:gdLst/>
            <a:ahLst/>
            <a:cxnLst/>
            <a:rect l="l" t="t" r="r" b="b"/>
            <a:pathLst>
              <a:path w="99060" h="88264">
                <a:moveTo>
                  <a:pt x="98463" y="0"/>
                </a:moveTo>
                <a:lnTo>
                  <a:pt x="0" y="43992"/>
                </a:lnTo>
                <a:lnTo>
                  <a:pt x="98463" y="87985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432680" y="2839986"/>
            <a:ext cx="0" cy="307975"/>
          </a:xfrm>
          <a:custGeom>
            <a:avLst/>
            <a:gdLst/>
            <a:ahLst/>
            <a:cxnLst/>
            <a:rect l="l" t="t" r="r" b="b"/>
            <a:pathLst>
              <a:path w="0" h="307975">
                <a:moveTo>
                  <a:pt x="0" y="0"/>
                </a:moveTo>
                <a:lnTo>
                  <a:pt x="0" y="307949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93298" y="3037954"/>
            <a:ext cx="79375" cy="110489"/>
          </a:xfrm>
          <a:custGeom>
            <a:avLst/>
            <a:gdLst/>
            <a:ahLst/>
            <a:cxnLst/>
            <a:rect l="l" t="t" r="r" b="b"/>
            <a:pathLst>
              <a:path w="79375" h="110489">
                <a:moveTo>
                  <a:pt x="0" y="0"/>
                </a:moveTo>
                <a:lnTo>
                  <a:pt x="39382" y="109981"/>
                </a:lnTo>
                <a:lnTo>
                  <a:pt x="78778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886697" y="2048103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 h="0">
                <a:moveTo>
                  <a:pt x="0" y="0"/>
                </a:moveTo>
                <a:lnTo>
                  <a:pt x="433273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221494" y="2004110"/>
            <a:ext cx="99060" cy="88265"/>
          </a:xfrm>
          <a:custGeom>
            <a:avLst/>
            <a:gdLst/>
            <a:ahLst/>
            <a:cxnLst/>
            <a:rect l="l" t="t" r="r" b="b"/>
            <a:pathLst>
              <a:path w="99060" h="88264">
                <a:moveTo>
                  <a:pt x="0" y="87985"/>
                </a:moveTo>
                <a:lnTo>
                  <a:pt x="98475" y="43992"/>
                </a:lnTo>
                <a:lnTo>
                  <a:pt x="0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037745" y="2356065"/>
            <a:ext cx="1920239" cy="770255"/>
          </a:xfrm>
          <a:custGeom>
            <a:avLst/>
            <a:gdLst/>
            <a:ahLst/>
            <a:cxnLst/>
            <a:rect l="l" t="t" r="r" b="b"/>
            <a:pathLst>
              <a:path w="1920240" h="770255">
                <a:moveTo>
                  <a:pt x="0" y="0"/>
                </a:moveTo>
                <a:lnTo>
                  <a:pt x="1920176" y="0"/>
                </a:lnTo>
                <a:lnTo>
                  <a:pt x="1920176" y="769886"/>
                </a:lnTo>
                <a:lnTo>
                  <a:pt x="0" y="769886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037745" y="2356065"/>
            <a:ext cx="1920239" cy="770255"/>
          </a:xfrm>
          <a:custGeom>
            <a:avLst/>
            <a:gdLst/>
            <a:ahLst/>
            <a:cxnLst/>
            <a:rect l="l" t="t" r="r" b="b"/>
            <a:pathLst>
              <a:path w="1920240" h="770255">
                <a:moveTo>
                  <a:pt x="0" y="0"/>
                </a:moveTo>
                <a:lnTo>
                  <a:pt x="1920176" y="0"/>
                </a:lnTo>
                <a:lnTo>
                  <a:pt x="1920176" y="769886"/>
                </a:lnTo>
                <a:lnTo>
                  <a:pt x="0" y="769886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6037745" y="2356065"/>
            <a:ext cx="1920239" cy="38544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algn="ctr" marL="19050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&lt;&lt;exception&gt;&gt;</a:t>
            </a:r>
            <a:endParaRPr sz="950">
              <a:latin typeface="Tahoma"/>
              <a:cs typeface="Tahoma"/>
            </a:endParaRPr>
          </a:p>
          <a:p>
            <a:pPr algn="ctr" marL="9525">
              <a:lnSpc>
                <a:spcPts val="1135"/>
              </a:lnSpc>
            </a:pPr>
            <a:r>
              <a:rPr dirty="0" sz="950" spc="-55" b="1">
                <a:latin typeface="Tahoma"/>
                <a:cs typeface="Tahoma"/>
              </a:rPr>
              <a:t>EmailExistException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37745" y="2741002"/>
            <a:ext cx="1920239" cy="38544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48895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+EmailExistException()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35"/>
              </a:lnSpc>
            </a:pPr>
            <a:r>
              <a:rPr dirty="0" sz="950" spc="-55">
                <a:latin typeface="Tahoma"/>
                <a:cs typeface="Tahoma"/>
              </a:rPr>
              <a:t>+EmailExistException(String</a:t>
            </a:r>
            <a:r>
              <a:rPr dirty="0" sz="950" spc="-85">
                <a:latin typeface="Tahoma"/>
                <a:cs typeface="Tahoma"/>
              </a:rPr>
              <a:t> msg)</a:t>
            </a:r>
            <a:endParaRPr sz="950">
              <a:latin typeface="Tahoma"/>
              <a:cs typeface="Tahoma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549796" y="3235921"/>
            <a:ext cx="1920239" cy="781050"/>
          </a:xfrm>
          <a:custGeom>
            <a:avLst/>
            <a:gdLst/>
            <a:ahLst/>
            <a:cxnLst/>
            <a:rect l="l" t="t" r="r" b="b"/>
            <a:pathLst>
              <a:path w="1920240" h="781050">
                <a:moveTo>
                  <a:pt x="0" y="0"/>
                </a:moveTo>
                <a:lnTo>
                  <a:pt x="1920176" y="0"/>
                </a:lnTo>
                <a:lnTo>
                  <a:pt x="1920176" y="780884"/>
                </a:lnTo>
                <a:lnTo>
                  <a:pt x="0" y="780884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49796" y="3235921"/>
            <a:ext cx="1920239" cy="781050"/>
          </a:xfrm>
          <a:custGeom>
            <a:avLst/>
            <a:gdLst/>
            <a:ahLst/>
            <a:cxnLst/>
            <a:rect l="l" t="t" r="r" b="b"/>
            <a:pathLst>
              <a:path w="1920240" h="781050">
                <a:moveTo>
                  <a:pt x="0" y="0"/>
                </a:moveTo>
                <a:lnTo>
                  <a:pt x="1920176" y="0"/>
                </a:lnTo>
                <a:lnTo>
                  <a:pt x="1920176" y="780884"/>
                </a:lnTo>
                <a:lnTo>
                  <a:pt x="0" y="780884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549796" y="3235921"/>
            <a:ext cx="1920239" cy="38544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algn="ctr" marL="19050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&lt;&lt;exception&gt;&gt;</a:t>
            </a:r>
            <a:endParaRPr sz="950">
              <a:latin typeface="Tahoma"/>
              <a:cs typeface="Tahoma"/>
            </a:endParaRPr>
          </a:p>
          <a:p>
            <a:pPr algn="ctr" marL="9525">
              <a:lnSpc>
                <a:spcPts val="1135"/>
              </a:lnSpc>
            </a:pPr>
            <a:r>
              <a:rPr dirty="0" sz="950" spc="-60" b="1">
                <a:latin typeface="Tahoma"/>
                <a:cs typeface="Tahoma"/>
              </a:rPr>
              <a:t>Pwd2ShortException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49796" y="3620871"/>
            <a:ext cx="1920239" cy="396240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48895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+Pwd2ShortException()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35"/>
              </a:lnSpc>
            </a:pPr>
            <a:r>
              <a:rPr dirty="0" sz="950" spc="-55">
                <a:latin typeface="Tahoma"/>
                <a:cs typeface="Tahoma"/>
              </a:rPr>
              <a:t>+Pwd2ShortException(String</a:t>
            </a:r>
            <a:r>
              <a:rPr dirty="0" sz="950" spc="-80">
                <a:latin typeface="Tahoma"/>
                <a:cs typeface="Tahoma"/>
              </a:rPr>
              <a:t> </a:t>
            </a:r>
            <a:r>
              <a:rPr dirty="0" sz="950" spc="-85">
                <a:latin typeface="Tahoma"/>
                <a:cs typeface="Tahoma"/>
              </a:rPr>
              <a:t>msg)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549796" y="4203776"/>
            <a:ext cx="1920239" cy="770255"/>
          </a:xfrm>
          <a:custGeom>
            <a:avLst/>
            <a:gdLst/>
            <a:ahLst/>
            <a:cxnLst/>
            <a:rect l="l" t="t" r="r" b="b"/>
            <a:pathLst>
              <a:path w="1920240" h="770254">
                <a:moveTo>
                  <a:pt x="0" y="0"/>
                </a:moveTo>
                <a:lnTo>
                  <a:pt x="1920176" y="0"/>
                </a:lnTo>
                <a:lnTo>
                  <a:pt x="1920176" y="769886"/>
                </a:lnTo>
                <a:lnTo>
                  <a:pt x="0" y="769886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549796" y="4203776"/>
            <a:ext cx="1920239" cy="770255"/>
          </a:xfrm>
          <a:custGeom>
            <a:avLst/>
            <a:gdLst/>
            <a:ahLst/>
            <a:cxnLst/>
            <a:rect l="l" t="t" r="r" b="b"/>
            <a:pathLst>
              <a:path w="1920240" h="770254">
                <a:moveTo>
                  <a:pt x="0" y="0"/>
                </a:moveTo>
                <a:lnTo>
                  <a:pt x="1920176" y="0"/>
                </a:lnTo>
                <a:lnTo>
                  <a:pt x="1920176" y="769886"/>
                </a:lnTo>
                <a:lnTo>
                  <a:pt x="0" y="769886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549796" y="4203776"/>
            <a:ext cx="1920239" cy="38544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algn="ctr" marL="19050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&lt;&lt;exception&gt;&gt;</a:t>
            </a:r>
            <a:endParaRPr sz="950">
              <a:latin typeface="Tahoma"/>
              <a:cs typeface="Tahoma"/>
            </a:endParaRPr>
          </a:p>
          <a:p>
            <a:pPr algn="ctr" marL="9525">
              <a:lnSpc>
                <a:spcPts val="1135"/>
              </a:lnSpc>
            </a:pPr>
            <a:r>
              <a:rPr dirty="0" sz="950" spc="-60" b="1">
                <a:latin typeface="Tahoma"/>
                <a:cs typeface="Tahoma"/>
              </a:rPr>
              <a:t>UserNotFoundException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549796" y="4588725"/>
            <a:ext cx="1920239" cy="38544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48895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+UserNotFoundException()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35"/>
              </a:lnSpc>
            </a:pPr>
            <a:r>
              <a:rPr dirty="0" sz="950" spc="-55">
                <a:latin typeface="Tahoma"/>
                <a:cs typeface="Tahoma"/>
              </a:rPr>
              <a:t>+UserNotFoundException(String</a:t>
            </a:r>
            <a:r>
              <a:rPr dirty="0" sz="950" spc="-75">
                <a:latin typeface="Tahoma"/>
                <a:cs typeface="Tahoma"/>
              </a:rPr>
              <a:t> </a:t>
            </a:r>
            <a:r>
              <a:rPr dirty="0" sz="950" spc="-85">
                <a:latin typeface="Tahoma"/>
                <a:cs typeface="Tahoma"/>
              </a:rPr>
              <a:t>msg)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549796" y="5171630"/>
            <a:ext cx="1920239" cy="781050"/>
          </a:xfrm>
          <a:custGeom>
            <a:avLst/>
            <a:gdLst/>
            <a:ahLst/>
            <a:cxnLst/>
            <a:rect l="l" t="t" r="r" b="b"/>
            <a:pathLst>
              <a:path w="1920240" h="781050">
                <a:moveTo>
                  <a:pt x="0" y="0"/>
                </a:moveTo>
                <a:lnTo>
                  <a:pt x="1920176" y="0"/>
                </a:lnTo>
                <a:lnTo>
                  <a:pt x="1920176" y="780884"/>
                </a:lnTo>
                <a:lnTo>
                  <a:pt x="0" y="780884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549796" y="5171630"/>
            <a:ext cx="1920239" cy="781050"/>
          </a:xfrm>
          <a:custGeom>
            <a:avLst/>
            <a:gdLst/>
            <a:ahLst/>
            <a:cxnLst/>
            <a:rect l="l" t="t" r="r" b="b"/>
            <a:pathLst>
              <a:path w="1920240" h="781050">
                <a:moveTo>
                  <a:pt x="0" y="0"/>
                </a:moveTo>
                <a:lnTo>
                  <a:pt x="1920176" y="0"/>
                </a:lnTo>
                <a:lnTo>
                  <a:pt x="1920176" y="780884"/>
                </a:lnTo>
                <a:lnTo>
                  <a:pt x="0" y="780884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6549796" y="5171630"/>
            <a:ext cx="1920239" cy="385445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algn="ctr" marL="19050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&lt;&lt;exception&gt;&gt;</a:t>
            </a:r>
            <a:endParaRPr sz="950">
              <a:latin typeface="Tahoma"/>
              <a:cs typeface="Tahoma"/>
            </a:endParaRPr>
          </a:p>
          <a:p>
            <a:pPr algn="ctr" marL="19050">
              <a:lnSpc>
                <a:spcPts val="1135"/>
              </a:lnSpc>
            </a:pPr>
            <a:r>
              <a:rPr dirty="0" sz="950" spc="-55" b="1">
                <a:latin typeface="Tahoma"/>
                <a:cs typeface="Tahoma"/>
              </a:rPr>
              <a:t>PasswordException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549796" y="5556567"/>
            <a:ext cx="1920239" cy="396240"/>
          </a:xfrm>
          <a:prstGeom prst="rect">
            <a:avLst/>
          </a:prstGeom>
          <a:solidFill>
            <a:srgbClr val="FFFFB8"/>
          </a:solidFill>
          <a:ln w="10426">
            <a:solidFill>
              <a:srgbClr val="8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48895">
              <a:lnSpc>
                <a:spcPts val="1135"/>
              </a:lnSpc>
              <a:spcBef>
                <a:spcPts val="434"/>
              </a:spcBef>
            </a:pPr>
            <a:r>
              <a:rPr dirty="0" sz="950" spc="-55">
                <a:latin typeface="Tahoma"/>
                <a:cs typeface="Tahoma"/>
              </a:rPr>
              <a:t>+PasswordException()</a:t>
            </a:r>
            <a:endParaRPr sz="950">
              <a:latin typeface="Tahoma"/>
              <a:cs typeface="Tahoma"/>
            </a:endParaRPr>
          </a:p>
          <a:p>
            <a:pPr marL="48895">
              <a:lnSpc>
                <a:spcPts val="1135"/>
              </a:lnSpc>
            </a:pPr>
            <a:r>
              <a:rPr dirty="0" sz="950" spc="-55">
                <a:latin typeface="Tahoma"/>
                <a:cs typeface="Tahoma"/>
              </a:rPr>
              <a:t>+PasswordException(String</a:t>
            </a:r>
            <a:r>
              <a:rPr dirty="0" sz="950" spc="-75">
                <a:latin typeface="Tahoma"/>
                <a:cs typeface="Tahoma"/>
              </a:rPr>
              <a:t> </a:t>
            </a:r>
            <a:r>
              <a:rPr dirty="0" sz="950" spc="-85">
                <a:latin typeface="Tahoma"/>
                <a:cs typeface="Tahoma"/>
              </a:rPr>
              <a:t>msg)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072735" y="3136938"/>
            <a:ext cx="1467485" cy="1243330"/>
          </a:xfrm>
          <a:custGeom>
            <a:avLst/>
            <a:gdLst/>
            <a:ahLst/>
            <a:cxnLst/>
            <a:rect l="l" t="t" r="r" b="b"/>
            <a:pathLst>
              <a:path w="1467484" h="1243329">
                <a:moveTo>
                  <a:pt x="0" y="1242809"/>
                </a:moveTo>
                <a:lnTo>
                  <a:pt x="1467218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441478" y="3136938"/>
            <a:ext cx="99060" cy="99060"/>
          </a:xfrm>
          <a:custGeom>
            <a:avLst/>
            <a:gdLst/>
            <a:ahLst/>
            <a:cxnLst/>
            <a:rect l="l" t="t" r="r" b="b"/>
            <a:pathLst>
              <a:path w="99059" h="99060">
                <a:moveTo>
                  <a:pt x="49237" y="98983"/>
                </a:moveTo>
                <a:lnTo>
                  <a:pt x="98475" y="0"/>
                </a:lnTo>
                <a:lnTo>
                  <a:pt x="0" y="21996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555246" y="4027804"/>
            <a:ext cx="1014730" cy="429259"/>
          </a:xfrm>
          <a:custGeom>
            <a:avLst/>
            <a:gdLst/>
            <a:ahLst/>
            <a:cxnLst/>
            <a:rect l="l" t="t" r="r" b="b"/>
            <a:pathLst>
              <a:path w="1014729" h="429260">
                <a:moveTo>
                  <a:pt x="0" y="428929"/>
                </a:moveTo>
                <a:lnTo>
                  <a:pt x="1014247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471018" y="4027804"/>
            <a:ext cx="99060" cy="77470"/>
          </a:xfrm>
          <a:custGeom>
            <a:avLst/>
            <a:gdLst/>
            <a:ahLst/>
            <a:cxnLst/>
            <a:rect l="l" t="t" r="r" b="b"/>
            <a:pathLst>
              <a:path w="99059" h="77470">
                <a:moveTo>
                  <a:pt x="19697" y="76987"/>
                </a:moveTo>
                <a:lnTo>
                  <a:pt x="98475" y="0"/>
                </a:lnTo>
                <a:lnTo>
                  <a:pt x="0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555246" y="4698707"/>
            <a:ext cx="995044" cy="110489"/>
          </a:xfrm>
          <a:custGeom>
            <a:avLst/>
            <a:gdLst/>
            <a:ahLst/>
            <a:cxnLst/>
            <a:rect l="l" t="t" r="r" b="b"/>
            <a:pathLst>
              <a:path w="995045" h="110489">
                <a:moveTo>
                  <a:pt x="0" y="109982"/>
                </a:moveTo>
                <a:lnTo>
                  <a:pt x="994549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451320" y="4665713"/>
            <a:ext cx="99060" cy="88265"/>
          </a:xfrm>
          <a:custGeom>
            <a:avLst/>
            <a:gdLst/>
            <a:ahLst/>
            <a:cxnLst/>
            <a:rect l="l" t="t" r="r" b="b"/>
            <a:pathLst>
              <a:path w="99059" h="88264">
                <a:moveTo>
                  <a:pt x="9855" y="87985"/>
                </a:moveTo>
                <a:lnTo>
                  <a:pt x="98475" y="32994"/>
                </a:lnTo>
                <a:lnTo>
                  <a:pt x="0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555246" y="5171630"/>
            <a:ext cx="995044" cy="198120"/>
          </a:xfrm>
          <a:custGeom>
            <a:avLst/>
            <a:gdLst/>
            <a:ahLst/>
            <a:cxnLst/>
            <a:rect l="l" t="t" r="r" b="b"/>
            <a:pathLst>
              <a:path w="995045" h="198120">
                <a:moveTo>
                  <a:pt x="0" y="0"/>
                </a:moveTo>
                <a:lnTo>
                  <a:pt x="994549" y="197967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451320" y="5314606"/>
            <a:ext cx="99060" cy="77470"/>
          </a:xfrm>
          <a:custGeom>
            <a:avLst/>
            <a:gdLst/>
            <a:ahLst/>
            <a:cxnLst/>
            <a:rect l="l" t="t" r="r" b="b"/>
            <a:pathLst>
              <a:path w="99059" h="77470">
                <a:moveTo>
                  <a:pt x="0" y="76987"/>
                </a:moveTo>
                <a:lnTo>
                  <a:pt x="98475" y="54990"/>
                </a:lnTo>
                <a:lnTo>
                  <a:pt x="9855" y="0"/>
                </a:lnTo>
              </a:path>
            </a:pathLst>
          </a:custGeom>
          <a:ln w="10426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2024-05-06T06:08:17Z</dcterms:created>
  <dcterms:modified xsi:type="dcterms:W3CDTF">2024-05-06T06:08:17Z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2024-03-28T00:00:00Z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2024-05-06T00:00:00Z</vt:filetime>
  </property>
</Properties>
</file>
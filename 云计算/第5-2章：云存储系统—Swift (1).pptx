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335" r:id="rId2"/>
    <p:sldId id="320" r:id="rId3"/>
    <p:sldId id="331" r:id="rId4"/>
    <p:sldId id="281" r:id="rId5"/>
    <p:sldId id="273" r:id="rId6"/>
    <p:sldId id="299" r:id="rId7"/>
    <p:sldId id="330" r:id="rId8"/>
    <p:sldId id="322" r:id="rId9"/>
    <p:sldId id="272" r:id="rId10"/>
    <p:sldId id="324" r:id="rId11"/>
    <p:sldId id="323" r:id="rId12"/>
    <p:sldId id="274" r:id="rId13"/>
    <p:sldId id="321" r:id="rId14"/>
    <p:sldId id="282" r:id="rId15"/>
    <p:sldId id="300" r:id="rId16"/>
    <p:sldId id="276" r:id="rId17"/>
    <p:sldId id="301" r:id="rId18"/>
    <p:sldId id="302" r:id="rId19"/>
    <p:sldId id="303" r:id="rId20"/>
    <p:sldId id="325" r:id="rId21"/>
    <p:sldId id="326" r:id="rId22"/>
    <p:sldId id="327" r:id="rId23"/>
    <p:sldId id="328" r:id="rId24"/>
    <p:sldId id="329" r:id="rId25"/>
    <p:sldId id="332" r:id="rId26"/>
    <p:sldId id="278" r:id="rId27"/>
    <p:sldId id="305" r:id="rId28"/>
    <p:sldId id="306" r:id="rId29"/>
    <p:sldId id="284" r:id="rId30"/>
    <p:sldId id="285" r:id="rId31"/>
    <p:sldId id="286" r:id="rId32"/>
    <p:sldId id="307" r:id="rId33"/>
    <p:sldId id="308" r:id="rId34"/>
    <p:sldId id="287" r:id="rId35"/>
    <p:sldId id="288" r:id="rId36"/>
    <p:sldId id="289" r:id="rId37"/>
    <p:sldId id="309" r:id="rId38"/>
    <p:sldId id="310" r:id="rId39"/>
    <p:sldId id="290" r:id="rId40"/>
    <p:sldId id="291" r:id="rId41"/>
    <p:sldId id="311" r:id="rId42"/>
    <p:sldId id="312" r:id="rId43"/>
    <p:sldId id="313" r:id="rId44"/>
    <p:sldId id="314" r:id="rId45"/>
    <p:sldId id="315" r:id="rId46"/>
    <p:sldId id="333" r:id="rId47"/>
    <p:sldId id="293" r:id="rId48"/>
    <p:sldId id="317" r:id="rId49"/>
    <p:sldId id="318" r:id="rId50"/>
    <p:sldId id="319" r:id="rId51"/>
    <p:sldId id="334" r:id="rId52"/>
  </p:sldIdLst>
  <p:sldSz cx="12198350" cy="6859588"/>
  <p:notesSz cx="6858000" cy="9144000"/>
  <p:defaultTextStyle>
    <a:defPPr>
      <a:defRPr lang="en-US"/>
    </a:defPPr>
    <a:lvl1pPr marL="0" algn="l" defTabSz="1219627" rtl="0" eaLnBrk="1" latinLnBrk="0" hangingPunct="1">
      <a:defRPr sz="2400" kern="1200">
        <a:solidFill>
          <a:schemeClr val="tx1"/>
        </a:solidFill>
        <a:latin typeface="+mn-lt"/>
        <a:ea typeface="+mn-ea"/>
        <a:cs typeface="+mn-cs"/>
      </a:defRPr>
    </a:lvl1pPr>
    <a:lvl2pPr marL="609813" algn="l" defTabSz="1219627" rtl="0" eaLnBrk="1" latinLnBrk="0" hangingPunct="1">
      <a:defRPr sz="2400" kern="1200">
        <a:solidFill>
          <a:schemeClr val="tx1"/>
        </a:solidFill>
        <a:latin typeface="+mn-lt"/>
        <a:ea typeface="+mn-ea"/>
        <a:cs typeface="+mn-cs"/>
      </a:defRPr>
    </a:lvl2pPr>
    <a:lvl3pPr marL="1219627" algn="l" defTabSz="1219627" rtl="0" eaLnBrk="1" latinLnBrk="0" hangingPunct="1">
      <a:defRPr sz="2400" kern="1200">
        <a:solidFill>
          <a:schemeClr val="tx1"/>
        </a:solidFill>
        <a:latin typeface="+mn-lt"/>
        <a:ea typeface="+mn-ea"/>
        <a:cs typeface="+mn-cs"/>
      </a:defRPr>
    </a:lvl3pPr>
    <a:lvl4pPr marL="1829440" algn="l" defTabSz="1219627" rtl="0" eaLnBrk="1" latinLnBrk="0" hangingPunct="1">
      <a:defRPr sz="2400" kern="1200">
        <a:solidFill>
          <a:schemeClr val="tx1"/>
        </a:solidFill>
        <a:latin typeface="+mn-lt"/>
        <a:ea typeface="+mn-ea"/>
        <a:cs typeface="+mn-cs"/>
      </a:defRPr>
    </a:lvl4pPr>
    <a:lvl5pPr marL="2439253" algn="l" defTabSz="1219627" rtl="0" eaLnBrk="1" latinLnBrk="0" hangingPunct="1">
      <a:defRPr sz="2400" kern="1200">
        <a:solidFill>
          <a:schemeClr val="tx1"/>
        </a:solidFill>
        <a:latin typeface="+mn-lt"/>
        <a:ea typeface="+mn-ea"/>
        <a:cs typeface="+mn-cs"/>
      </a:defRPr>
    </a:lvl5pPr>
    <a:lvl6pPr marL="3049067" algn="l" defTabSz="1219627" rtl="0" eaLnBrk="1" latinLnBrk="0" hangingPunct="1">
      <a:defRPr sz="2400" kern="1200">
        <a:solidFill>
          <a:schemeClr val="tx1"/>
        </a:solidFill>
        <a:latin typeface="+mn-lt"/>
        <a:ea typeface="+mn-ea"/>
        <a:cs typeface="+mn-cs"/>
      </a:defRPr>
    </a:lvl6pPr>
    <a:lvl7pPr marL="3658880" algn="l" defTabSz="1219627" rtl="0" eaLnBrk="1" latinLnBrk="0" hangingPunct="1">
      <a:defRPr sz="2400" kern="1200">
        <a:solidFill>
          <a:schemeClr val="tx1"/>
        </a:solidFill>
        <a:latin typeface="+mn-lt"/>
        <a:ea typeface="+mn-ea"/>
        <a:cs typeface="+mn-cs"/>
      </a:defRPr>
    </a:lvl7pPr>
    <a:lvl8pPr marL="4268694" algn="l" defTabSz="1219627" rtl="0" eaLnBrk="1" latinLnBrk="0" hangingPunct="1">
      <a:defRPr sz="2400" kern="1200">
        <a:solidFill>
          <a:schemeClr val="tx1"/>
        </a:solidFill>
        <a:latin typeface="+mn-lt"/>
        <a:ea typeface="+mn-ea"/>
        <a:cs typeface="+mn-cs"/>
      </a:defRPr>
    </a:lvl8pPr>
    <a:lvl9pPr marL="4878507" algn="l" defTabSz="121962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2881">
          <p15:clr>
            <a:srgbClr val="A4A3A4"/>
          </p15:clr>
        </p15:guide>
        <p15:guide id="4" pos="384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1A8ABC"/>
    <a:srgbClr val="FF9933"/>
    <a:srgbClr val="FF6600"/>
    <a:srgbClr val="3A1700"/>
    <a:srgbClr val="682A00"/>
    <a:srgbClr val="D6A300"/>
    <a:srgbClr val="3E5CCC"/>
    <a:srgbClr val="3A4187"/>
    <a:srgbClr val="8C9E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9816" autoAdjust="0"/>
  </p:normalViewPr>
  <p:slideViewPr>
    <p:cSldViewPr>
      <p:cViewPr varScale="1">
        <p:scale>
          <a:sx n="72" d="100"/>
          <a:sy n="72" d="100"/>
        </p:scale>
        <p:origin x="660" y="72"/>
      </p:cViewPr>
      <p:guideLst>
        <p:guide orient="horz" pos="2160"/>
        <p:guide pos="2880"/>
        <p:guide orient="horz" pos="2881"/>
        <p:guide pos="384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774E6B-831C-488E-A1F8-8BA14E750DDD}" type="datetimeFigureOut">
              <a:rPr lang="zh-CN" altLang="en-US" smtClean="0"/>
              <a:t>2019/9/15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83949E-6521-41E9-AAC2-A374B3BD00C5}" type="slidenum">
              <a:rPr lang="zh-CN" altLang="en-US" smtClean="0"/>
              <a:t>‹#›</a:t>
            </a:fld>
            <a:endParaRPr lang="zh-CN" altLang="en-US"/>
          </a:p>
        </p:txBody>
      </p:sp>
    </p:spTree>
    <p:extLst>
      <p:ext uri="{BB962C8B-B14F-4D97-AF65-F5344CB8AC3E}">
        <p14:creationId xmlns:p14="http://schemas.microsoft.com/office/powerpoint/2010/main" val="991009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spect="1" noChangeArrowheads="1" noTextEdit="1"/>
          </p:cNvSpPr>
          <p:nvPr>
            <p:ph type="sldImg"/>
          </p:nvPr>
        </p:nvSpPr>
        <p:spPr>
          <a:ln/>
        </p:spPr>
      </p:sp>
      <p:sp>
        <p:nvSpPr>
          <p:cNvPr id="92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498015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spect="1" noChangeArrowheads="1" noTextEdit="1"/>
          </p:cNvSpPr>
          <p:nvPr>
            <p:ph type="sldImg"/>
          </p:nvPr>
        </p:nvSpPr>
        <p:spPr>
          <a:ln/>
        </p:spPr>
      </p:sp>
      <p:sp>
        <p:nvSpPr>
          <p:cNvPr id="92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761536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Rot="1" noChangeAspect="1" noChangeArrowheads="1" noTextEdit="1"/>
          </p:cNvSpPr>
          <p:nvPr>
            <p:ph type="sldImg"/>
          </p:nvPr>
        </p:nvSpPr>
        <p:spPr>
          <a:ln/>
        </p:spPr>
      </p:sp>
      <p:sp>
        <p:nvSpPr>
          <p:cNvPr id="92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38544200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一级标题">
    <p:spTree>
      <p:nvGrpSpPr>
        <p:cNvPr id="1" name=""/>
        <p:cNvGrpSpPr/>
        <p:nvPr/>
      </p:nvGrpSpPr>
      <p:grpSpPr>
        <a:xfrm>
          <a:off x="0" y="0"/>
          <a:ext cx="0" cy="0"/>
          <a:chOff x="0" y="0"/>
          <a:chExt cx="0" cy="0"/>
        </a:xfrm>
      </p:grpSpPr>
      <p:sp>
        <p:nvSpPr>
          <p:cNvPr id="2" name="Title 1"/>
          <p:cNvSpPr>
            <a:spLocks noGrp="1"/>
          </p:cNvSpPr>
          <p:nvPr>
            <p:ph type="title"/>
          </p:nvPr>
        </p:nvSpPr>
        <p:spPr>
          <a:xfrm>
            <a:off x="774700" y="352424"/>
            <a:ext cx="5334000" cy="429419"/>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8" y="1143795"/>
            <a:ext cx="10978515" cy="5029200"/>
          </a:xfrm>
          <a:prstGeom prst="rect">
            <a:avLst/>
          </a:prstGeom>
        </p:spPr>
        <p:txBody>
          <a:bodyPr/>
          <a:lstStyle>
            <a:lvl1pPr marL="457360" indent="-457360">
              <a:lnSpc>
                <a:spcPct val="130000"/>
              </a:lnSpc>
              <a:buSzPct val="80000"/>
              <a:buFont typeface="Wingdings" pitchFamily="2" charset="2"/>
              <a:buChar char="l"/>
              <a:defRPr>
                <a:solidFill>
                  <a:schemeClr val="tx1">
                    <a:lumMod val="95000"/>
                    <a:lumOff val="5000"/>
                  </a:schemeClr>
                </a:solidFill>
              </a:defRPr>
            </a:lvl1pPr>
            <a:lvl2pPr>
              <a:lnSpc>
                <a:spcPct val="130000"/>
              </a:lnSpc>
              <a:defRPr>
                <a:solidFill>
                  <a:schemeClr val="tx1">
                    <a:lumMod val="95000"/>
                    <a:lumOff val="5000"/>
                  </a:schemeClr>
                </a:solidFill>
              </a:defRPr>
            </a:lvl2pPr>
            <a:lvl3pPr>
              <a:lnSpc>
                <a:spcPct val="130000"/>
              </a:lnSpc>
              <a:defRPr>
                <a:solidFill>
                  <a:schemeClr val="tx1">
                    <a:lumMod val="95000"/>
                    <a:lumOff val="5000"/>
                  </a:schemeClr>
                </a:solidFill>
              </a:defRPr>
            </a:lvl3pPr>
            <a:lvl4pPr>
              <a:lnSpc>
                <a:spcPct val="130000"/>
              </a:lnSpc>
              <a:defRPr>
                <a:solidFill>
                  <a:schemeClr val="tx1">
                    <a:lumMod val="95000"/>
                    <a:lumOff val="5000"/>
                  </a:schemeClr>
                </a:solidFill>
              </a:defRPr>
            </a:lvl4pPr>
            <a:lvl5pPr>
              <a:lnSpc>
                <a:spcPct val="130000"/>
              </a:lnSpc>
              <a:defRPr>
                <a:solidFill>
                  <a:schemeClr val="tx1">
                    <a:lumMod val="95000"/>
                    <a:lumOff val="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9/15/2019</a:t>
            </a:fld>
            <a:endParaRPr lang="en-US"/>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两级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774700" y="362744"/>
            <a:ext cx="6581775" cy="400050"/>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609918" y="1600994"/>
            <a:ext cx="10978515" cy="4572000"/>
          </a:xfrm>
          <a:prstGeom prst="rect">
            <a:avLst/>
          </a:prstGeom>
        </p:spPr>
        <p:txBody>
          <a:bodyPr/>
          <a:lstStyle>
            <a:lvl1pPr marL="457360" indent="-457360">
              <a:lnSpc>
                <a:spcPct val="130000"/>
              </a:lnSpc>
              <a:buSzPct val="80000"/>
              <a:buFont typeface="Wingdings" pitchFamily="2" charset="2"/>
              <a:buChar char="l"/>
              <a:defRPr>
                <a:solidFill>
                  <a:schemeClr val="tx1">
                    <a:lumMod val="75000"/>
                    <a:lumOff val="25000"/>
                  </a:schemeClr>
                </a:solidFill>
              </a:defRPr>
            </a:lvl1pPr>
            <a:lvl2pPr>
              <a:lnSpc>
                <a:spcPct val="130000"/>
              </a:lnSpc>
              <a:defRPr>
                <a:solidFill>
                  <a:schemeClr val="tx1">
                    <a:lumMod val="75000"/>
                    <a:lumOff val="25000"/>
                  </a:schemeClr>
                </a:solidFill>
              </a:defRPr>
            </a:lvl2pPr>
            <a:lvl3pPr>
              <a:lnSpc>
                <a:spcPct val="130000"/>
              </a:lnSpc>
              <a:defRPr/>
            </a:lvl3pPr>
            <a:lvl4pPr>
              <a:lnSpc>
                <a:spcPct val="130000"/>
              </a:lnSpc>
              <a:defRPr/>
            </a:lvl4pPr>
            <a:lvl5pPr>
              <a:lnSpc>
                <a:spcPct val="13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9/15/2019</a:t>
            </a:fld>
            <a:endParaRPr lang="en-US"/>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a:p>
        </p:txBody>
      </p:sp>
      <p:sp>
        <p:nvSpPr>
          <p:cNvPr id="7" name="Content Placeholder 2"/>
          <p:cNvSpPr>
            <a:spLocks noGrp="1"/>
          </p:cNvSpPr>
          <p:nvPr>
            <p:ph idx="13" hasCustomPrompt="1"/>
          </p:nvPr>
        </p:nvSpPr>
        <p:spPr>
          <a:xfrm>
            <a:off x="841375" y="984137"/>
            <a:ext cx="10747058" cy="464458"/>
          </a:xfrm>
          <a:prstGeom prst="rect">
            <a:avLst/>
          </a:prstGeom>
        </p:spPr>
        <p:txBody>
          <a:bodyPr/>
          <a:lstStyle>
            <a:lvl1pPr marL="0" indent="0">
              <a:lnSpc>
                <a:spcPct val="120000"/>
              </a:lnSpc>
              <a:buSzPct val="80000"/>
              <a:buFont typeface="Wingdings" pitchFamily="2" charset="2"/>
              <a:buNone/>
              <a:defRPr b="0">
                <a:solidFill>
                  <a:schemeClr val="tx1">
                    <a:lumMod val="95000"/>
                    <a:lumOff val="5000"/>
                  </a:schemeClr>
                </a:solidFill>
              </a:defRPr>
            </a:lvl1pPr>
          </a:lstStyle>
          <a:p>
            <a:pPr lvl="0"/>
            <a:r>
              <a:rPr lang="en-US" dirty="0"/>
              <a:t>Click to edit Master text styles</a:t>
            </a:r>
          </a:p>
        </p:txBody>
      </p:sp>
    </p:spTree>
    <p:extLst>
      <p:ext uri="{BB962C8B-B14F-4D97-AF65-F5344CB8AC3E}">
        <p14:creationId xmlns:p14="http://schemas.microsoft.com/office/powerpoint/2010/main" val="3550800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9/15/2019</a:t>
            </a:fld>
            <a:endParaRPr lang="en-US"/>
          </a:p>
        </p:txBody>
      </p:sp>
      <p:sp>
        <p:nvSpPr>
          <p:cNvPr id="5" name="Footer Placeholder 4"/>
          <p:cNvSpPr>
            <a:spLocks noGrp="1"/>
          </p:cNvSpPr>
          <p:nvPr>
            <p:ph type="ftr" sz="quarter" idx="11"/>
          </p:nvPr>
        </p:nvSpPr>
        <p:spPr>
          <a:xfrm>
            <a:off x="4167770" y="8477096"/>
            <a:ext cx="3862811" cy="486946"/>
          </a:xfrm>
          <a:prstGeom prst="rect">
            <a:avLst/>
          </a:prstGeom>
        </p:spPr>
        <p:txBody>
          <a:bodyPr/>
          <a:lstStyle/>
          <a:p>
            <a:endParaRPr lang="en-US"/>
          </a:p>
        </p:txBody>
      </p:sp>
      <p:sp>
        <p:nvSpPr>
          <p:cNvPr id="6" name="Slide Number Placeholder 5"/>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917" y="8477096"/>
            <a:ext cx="2846282" cy="486946"/>
          </a:xfrm>
          <a:prstGeom prst="rect">
            <a:avLst/>
          </a:prstGeom>
        </p:spPr>
        <p:txBody>
          <a:bodyPr/>
          <a:lstStyle/>
          <a:p>
            <a:fld id="{1D8BD707-D9CF-40AE-B4C6-C98DA3205C09}" type="datetimeFigureOut">
              <a:rPr lang="en-US" smtClean="0"/>
              <a:pPr/>
              <a:t>9/15/2019</a:t>
            </a:fld>
            <a:endParaRPr lang="en-US"/>
          </a:p>
        </p:txBody>
      </p:sp>
      <p:sp>
        <p:nvSpPr>
          <p:cNvPr id="3" name="Footer Placeholder 2"/>
          <p:cNvSpPr>
            <a:spLocks noGrp="1"/>
          </p:cNvSpPr>
          <p:nvPr>
            <p:ph type="ftr" sz="quarter" idx="11"/>
          </p:nvPr>
        </p:nvSpPr>
        <p:spPr>
          <a:xfrm>
            <a:off x="4167770" y="8477096"/>
            <a:ext cx="3862811" cy="486946"/>
          </a:xfrm>
          <a:prstGeom prst="rect">
            <a:avLst/>
          </a:prstGeom>
        </p:spPr>
        <p:txBody>
          <a:bodyPr/>
          <a:lstStyle/>
          <a:p>
            <a:endParaRPr lang="en-US"/>
          </a:p>
        </p:txBody>
      </p:sp>
      <p:sp>
        <p:nvSpPr>
          <p:cNvPr id="4" name="Slide Number Placeholder 3"/>
          <p:cNvSpPr>
            <a:spLocks noGrp="1"/>
          </p:cNvSpPr>
          <p:nvPr>
            <p:ph type="sldNum" sz="quarter" idx="12"/>
          </p:nvPr>
        </p:nvSpPr>
        <p:spPr>
          <a:xfrm>
            <a:off x="8742151" y="8477096"/>
            <a:ext cx="2846282" cy="486946"/>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070266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 id="2147483660" r:id="rId2"/>
    <p:sldLayoutId id="2147483651" r:id="rId3"/>
    <p:sldLayoutId id="2147483655" r:id="rId4"/>
    <p:sldLayoutId id="2147483673" r:id="rId5"/>
  </p:sldLayoutIdLst>
  <p:txStyles>
    <p:titleStyle>
      <a:lvl1pPr algn="l" defTabSz="1219627" rtl="0" eaLnBrk="1" latinLnBrk="0" hangingPunct="1">
        <a:spcBef>
          <a:spcPct val="0"/>
        </a:spcBef>
        <a:buNone/>
        <a:defRPr sz="2400" kern="1200">
          <a:solidFill>
            <a:schemeClr val="bg1"/>
          </a:solidFill>
          <a:latin typeface="+mj-lt"/>
          <a:ea typeface="+mj-ea"/>
          <a:cs typeface="+mj-cs"/>
        </a:defRPr>
      </a:lvl1pPr>
    </p:titleStyle>
    <p:bodyStyle>
      <a:lvl1pPr marL="457360" indent="-457360" algn="l" defTabSz="1219627" rtl="0" eaLnBrk="1" latinLnBrk="0" hangingPunct="1">
        <a:lnSpc>
          <a:spcPct val="130000"/>
        </a:lnSpc>
        <a:spcBef>
          <a:spcPct val="20000"/>
        </a:spcBef>
        <a:buSzPct val="80000"/>
        <a:buFont typeface="Wingdings" pitchFamily="2" charset="2"/>
        <a:buChar char="l"/>
        <a:defRPr sz="2400" kern="1200">
          <a:solidFill>
            <a:schemeClr val="tx1">
              <a:lumMod val="95000"/>
              <a:lumOff val="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95000"/>
              <a:lumOff val="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lumMod val="95000"/>
              <a:lumOff val="5000"/>
            </a:schemeClr>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lumMod val="95000"/>
              <a:lumOff val="5000"/>
            </a:schemeClr>
          </a:solidFill>
          <a:latin typeface="+mn-lt"/>
          <a:ea typeface="+mn-ea"/>
          <a:cs typeface="+mn-cs"/>
        </a:defRPr>
      </a:lvl4pPr>
      <a:lvl5pPr marL="2744160" indent="-304907" algn="l" defTabSz="1219627" rtl="0" eaLnBrk="1" latinLnBrk="0" hangingPunct="1">
        <a:spcBef>
          <a:spcPct val="20000"/>
        </a:spcBef>
        <a:buFont typeface="Arial" pitchFamily="34" charset="0"/>
        <a:buChar char="»"/>
        <a:defRPr sz="1800" kern="1200">
          <a:solidFill>
            <a:schemeClr val="tx1">
              <a:lumMod val="95000"/>
              <a:lumOff val="5000"/>
            </a:schemeClr>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9627" rtl="0" eaLnBrk="1" latinLnBrk="0" hangingPunct="1">
        <a:defRPr sz="2400" kern="1200">
          <a:solidFill>
            <a:schemeClr val="tx1"/>
          </a:solidFill>
          <a:latin typeface="+mn-lt"/>
          <a:ea typeface="+mn-ea"/>
          <a:cs typeface="+mn-cs"/>
        </a:defRPr>
      </a:lvl1pPr>
      <a:lvl2pPr marL="609813" algn="l" defTabSz="1219627" rtl="0" eaLnBrk="1" latinLnBrk="0" hangingPunct="1">
        <a:defRPr sz="2400" kern="1200">
          <a:solidFill>
            <a:schemeClr val="tx1"/>
          </a:solidFill>
          <a:latin typeface="+mn-lt"/>
          <a:ea typeface="+mn-ea"/>
          <a:cs typeface="+mn-cs"/>
        </a:defRPr>
      </a:lvl2pPr>
      <a:lvl3pPr marL="1219627" algn="l" defTabSz="1219627" rtl="0" eaLnBrk="1" latinLnBrk="0" hangingPunct="1">
        <a:defRPr sz="2400" kern="1200">
          <a:solidFill>
            <a:schemeClr val="tx1"/>
          </a:solidFill>
          <a:latin typeface="+mn-lt"/>
          <a:ea typeface="+mn-ea"/>
          <a:cs typeface="+mn-cs"/>
        </a:defRPr>
      </a:lvl3pPr>
      <a:lvl4pPr marL="1829440" algn="l" defTabSz="1219627" rtl="0" eaLnBrk="1" latinLnBrk="0" hangingPunct="1">
        <a:defRPr sz="2400" kern="1200">
          <a:solidFill>
            <a:schemeClr val="tx1"/>
          </a:solidFill>
          <a:latin typeface="+mn-lt"/>
          <a:ea typeface="+mn-ea"/>
          <a:cs typeface="+mn-cs"/>
        </a:defRPr>
      </a:lvl4pPr>
      <a:lvl5pPr marL="2439253" algn="l" defTabSz="1219627" rtl="0" eaLnBrk="1" latinLnBrk="0" hangingPunct="1">
        <a:defRPr sz="2400" kern="1200">
          <a:solidFill>
            <a:schemeClr val="tx1"/>
          </a:solidFill>
          <a:latin typeface="+mn-lt"/>
          <a:ea typeface="+mn-ea"/>
          <a:cs typeface="+mn-cs"/>
        </a:defRPr>
      </a:lvl5pPr>
      <a:lvl6pPr marL="3049067" algn="l" defTabSz="1219627" rtl="0" eaLnBrk="1" latinLnBrk="0" hangingPunct="1">
        <a:defRPr sz="2400" kern="1200">
          <a:solidFill>
            <a:schemeClr val="tx1"/>
          </a:solidFill>
          <a:latin typeface="+mn-lt"/>
          <a:ea typeface="+mn-ea"/>
          <a:cs typeface="+mn-cs"/>
        </a:defRPr>
      </a:lvl6pPr>
      <a:lvl7pPr marL="3658880" algn="l" defTabSz="1219627" rtl="0" eaLnBrk="1" latinLnBrk="0" hangingPunct="1">
        <a:defRPr sz="2400" kern="1200">
          <a:solidFill>
            <a:schemeClr val="tx1"/>
          </a:solidFill>
          <a:latin typeface="+mn-lt"/>
          <a:ea typeface="+mn-ea"/>
          <a:cs typeface="+mn-cs"/>
        </a:defRPr>
      </a:lvl7pPr>
      <a:lvl8pPr marL="4268694" algn="l" defTabSz="1219627" rtl="0" eaLnBrk="1" latinLnBrk="0" hangingPunct="1">
        <a:defRPr sz="2400" kern="1200">
          <a:solidFill>
            <a:schemeClr val="tx1"/>
          </a:solidFill>
          <a:latin typeface="+mn-lt"/>
          <a:ea typeface="+mn-ea"/>
          <a:cs typeface="+mn-cs"/>
        </a:defRPr>
      </a:lvl8pPr>
      <a:lvl9pPr marL="4878507" algn="l" defTabSz="121962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1.xml"/><Relationship Id="rId5" Type="http://schemas.openxmlformats.org/officeDocument/2006/relationships/image" Target="../media/image3.png"/><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3.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2.xml"/><Relationship Id="rId5" Type="http://schemas.openxmlformats.org/officeDocument/2006/relationships/image" Target="../media/image3.png"/><Relationship Id="rId4" Type="http://schemas.openxmlformats.org/officeDocument/2006/relationships/image" Target="../media/image1.jpeg"/></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image" Target="../media/image1.jpeg"/><Relationship Id="rId4" Type="http://schemas.openxmlformats.org/officeDocument/2006/relationships/image" Target="../media/image9.emf"/></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3.xml"/><Relationship Id="rId5" Type="http://schemas.openxmlformats.org/officeDocument/2006/relationships/image" Target="../media/image3.png"/><Relationship Id="rId4" Type="http://schemas.openxmlformats.org/officeDocument/2006/relationships/image" Target="../media/image1.jpeg"/></Relationships>
</file>

<file path=ppt/slides/_rels/slide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WordArt 2"/>
          <p:cNvSpPr/>
          <p:nvPr/>
        </p:nvSpPr>
        <p:spPr>
          <a:xfrm>
            <a:off x="3088579" y="1977062"/>
            <a:ext cx="6021193" cy="2134094"/>
          </a:xfrm>
          <a:prstGeom prst="rect">
            <a:avLst/>
          </a:prstGeom>
        </p:spPr>
        <p:txBody>
          <a:bodyPr wrap="none" fromWordArt="1">
            <a:prstTxWarp prst="textArchUp">
              <a:avLst>
                <a:gd name="adj" fmla="val 11558685"/>
              </a:avLst>
            </a:prstTxWarp>
            <a:normAutofit/>
            <a:scene3d>
              <a:camera prst="legacyPerspectiveBottom">
                <a:rot lat="0" lon="0" rev="0"/>
              </a:camera>
              <a:lightRig rig="legacyFlat3" dir="t"/>
            </a:scene3d>
            <a:sp3d extrusionH="887400" prstMaterial="legacyMatte">
              <a:extrusionClr>
                <a:srgbClr val="99FFCC"/>
              </a:extrusionClr>
            </a:sp3d>
          </a:bodyPr>
          <a:lstStyle/>
          <a:p>
            <a:pPr algn="ctr" defTabSz="914583">
              <a:defRPr/>
            </a:pPr>
            <a:r>
              <a:rPr lang="zh-CN" altLang="en-US" sz="7201" b="1" spc="880" dirty="0">
                <a:solidFill>
                  <a:srgbClr val="0070C0"/>
                </a:solidFill>
                <a:latin typeface="华文新魏" panose="02010800040101010101" pitchFamily="2" charset="-122"/>
                <a:ea typeface="华文新魏" panose="02010800040101010101" pitchFamily="2" charset="-122"/>
              </a:rPr>
              <a:t>云计算及应用</a:t>
            </a:r>
          </a:p>
        </p:txBody>
      </p:sp>
      <p:sp>
        <p:nvSpPr>
          <p:cNvPr id="32771" name="Text Box 3"/>
          <p:cNvSpPr txBox="1"/>
          <p:nvPr/>
        </p:nvSpPr>
        <p:spPr>
          <a:xfrm>
            <a:off x="2898034" y="5071831"/>
            <a:ext cx="6402282" cy="1169822"/>
          </a:xfrm>
          <a:prstGeom prst="rect">
            <a:avLst/>
          </a:prstGeom>
          <a:noFill/>
          <a:ln w="9525">
            <a:noFill/>
          </a:ln>
        </p:spPr>
        <p:txBody>
          <a:bodyPr>
            <a:spAutoFit/>
          </a:bodyPr>
          <a:lstStyle/>
          <a:p>
            <a:pPr algn="ctr" defTabSz="914583">
              <a:spcBef>
                <a:spcPts val="1200"/>
              </a:spcBef>
              <a:spcAft>
                <a:spcPts val="600"/>
              </a:spcAft>
              <a:defRPr/>
            </a:pPr>
            <a:r>
              <a:rPr lang="zh-CN" altLang="en-US" sz="3201" b="1" dirty="0">
                <a:solidFill>
                  <a:srgbClr val="5B9BD5">
                    <a:lumMod val="75000"/>
                  </a:srgbClr>
                </a:solidFill>
                <a:latin typeface="华文行楷" panose="02010800040101010101" pitchFamily="2" charset="-122"/>
                <a:ea typeface="华文行楷" panose="02010800040101010101" pitchFamily="2" charset="-122"/>
              </a:rPr>
              <a:t>北京理工大学</a:t>
            </a:r>
            <a:endParaRPr lang="en-US" altLang="zh-CN" sz="3201" b="1" dirty="0">
              <a:solidFill>
                <a:srgbClr val="5B9BD5">
                  <a:lumMod val="75000"/>
                </a:srgbClr>
              </a:solidFill>
              <a:latin typeface="华文行楷" panose="02010800040101010101" pitchFamily="2" charset="-122"/>
              <a:ea typeface="华文行楷" panose="02010800040101010101" pitchFamily="2" charset="-122"/>
            </a:endParaRPr>
          </a:p>
          <a:p>
            <a:pPr algn="ctr" defTabSz="914583">
              <a:spcBef>
                <a:spcPts val="600"/>
              </a:spcBef>
              <a:defRPr/>
            </a:pPr>
            <a:r>
              <a:rPr lang="zh-CN" altLang="en-US" sz="2801" dirty="0">
                <a:solidFill>
                  <a:srgbClr val="5B9BD5">
                    <a:lumMod val="75000"/>
                  </a:srgbClr>
                </a:solidFill>
                <a:latin typeface="华文行楷" panose="02010800040101010101" pitchFamily="2" charset="-122"/>
                <a:ea typeface="华文行楷" panose="02010800040101010101" pitchFamily="2" charset="-122"/>
              </a:rPr>
              <a:t>数据科学与知识工程研究所</a:t>
            </a:r>
          </a:p>
        </p:txBody>
      </p:sp>
      <p:sp>
        <p:nvSpPr>
          <p:cNvPr id="32772" name="Text Box 4"/>
          <p:cNvSpPr txBox="1"/>
          <p:nvPr/>
        </p:nvSpPr>
        <p:spPr>
          <a:xfrm>
            <a:off x="3499689" y="3413841"/>
            <a:ext cx="5416511" cy="1123644"/>
          </a:xfrm>
          <a:prstGeom prst="rect">
            <a:avLst/>
          </a:prstGeom>
          <a:noFill/>
          <a:ln w="9525">
            <a:noFill/>
          </a:ln>
        </p:spPr>
        <p:txBody>
          <a:bodyPr wrap="square">
            <a:spAutoFit/>
          </a:bodyPr>
          <a:lstStyle/>
          <a:p>
            <a:pPr defTabSz="914583">
              <a:spcBef>
                <a:spcPct val="50000"/>
              </a:spcBef>
              <a:defRPr/>
            </a:pPr>
            <a:r>
              <a:rPr lang="zh-CN" altLang="en-US" sz="2601" b="1" dirty="0">
                <a:solidFill>
                  <a:srgbClr val="0070C0"/>
                </a:solidFill>
                <a:latin typeface="微软雅黑" panose="020B0503020204020204" pitchFamily="34" charset="-122"/>
                <a:ea typeface="楷体_GB2312" pitchFamily="49" charset="-122"/>
              </a:rPr>
              <a:t>授课教师：  </a:t>
            </a:r>
            <a:r>
              <a:rPr lang="zh-CN" altLang="en-US" sz="2801" dirty="0">
                <a:solidFill>
                  <a:srgbClr val="0070C0"/>
                </a:solidFill>
                <a:latin typeface="微软雅黑" panose="020B0503020204020204" pitchFamily="34" charset="-122"/>
                <a:ea typeface="楷体_GB2312" pitchFamily="49" charset="-122"/>
              </a:rPr>
              <a:t>袁野 </a:t>
            </a:r>
            <a:r>
              <a:rPr lang="en-US" altLang="zh-CN" sz="2801" dirty="0">
                <a:solidFill>
                  <a:srgbClr val="0070C0"/>
                </a:solidFill>
                <a:latin typeface="微软雅黑" panose="020B0503020204020204" pitchFamily="34" charset="-122"/>
                <a:ea typeface="楷体_GB2312" pitchFamily="49" charset="-122"/>
              </a:rPr>
              <a:t>(</a:t>
            </a:r>
            <a:r>
              <a:rPr lang="zh-CN" altLang="en-US" sz="2801" dirty="0">
                <a:solidFill>
                  <a:srgbClr val="0070C0"/>
                </a:solidFill>
                <a:latin typeface="微软雅黑" panose="020B0503020204020204" pitchFamily="34" charset="-122"/>
                <a:ea typeface="楷体_GB2312" pitchFamily="49" charset="-122"/>
              </a:rPr>
              <a:t>教授、博导</a:t>
            </a:r>
            <a:r>
              <a:rPr lang="en-US" altLang="zh-CN" sz="2801" dirty="0">
                <a:solidFill>
                  <a:srgbClr val="0070C0"/>
                </a:solidFill>
                <a:latin typeface="微软雅黑" panose="020B0503020204020204" pitchFamily="34" charset="-122"/>
                <a:ea typeface="楷体_GB2312" pitchFamily="49" charset="-122"/>
              </a:rPr>
              <a:t>)</a:t>
            </a:r>
            <a:endParaRPr lang="zh-CN" altLang="en-US" sz="2801" dirty="0">
              <a:solidFill>
                <a:srgbClr val="0070C0"/>
              </a:solidFill>
              <a:latin typeface="微软雅黑" panose="020B0503020204020204" pitchFamily="34" charset="-122"/>
              <a:ea typeface="楷体_GB2312" pitchFamily="49" charset="-122"/>
            </a:endParaRPr>
          </a:p>
          <a:p>
            <a:pPr defTabSz="914583">
              <a:spcBef>
                <a:spcPct val="50000"/>
              </a:spcBef>
              <a:defRPr/>
            </a:pPr>
            <a:r>
              <a:rPr lang="zh-CN" altLang="en-US" sz="2601" b="1" dirty="0">
                <a:solidFill>
                  <a:srgbClr val="0070C0"/>
                </a:solidFill>
                <a:latin typeface="Times New Roman" panose="02020603050405020304" pitchFamily="18" charset="0"/>
                <a:ea typeface="楷体_GB2312" pitchFamily="49" charset="-122"/>
              </a:rPr>
              <a:t>联系</a:t>
            </a:r>
            <a:r>
              <a:rPr lang="zh-CN" altLang="en-US" sz="2601" b="1">
                <a:solidFill>
                  <a:srgbClr val="0070C0"/>
                </a:solidFill>
                <a:latin typeface="Times New Roman" panose="02020603050405020304" pitchFamily="18" charset="0"/>
                <a:ea typeface="楷体_GB2312" pitchFamily="49" charset="-122"/>
              </a:rPr>
              <a:t>邮件：    </a:t>
            </a:r>
            <a:r>
              <a:rPr lang="en-US" altLang="zh-CN" sz="2600">
                <a:solidFill>
                  <a:srgbClr val="0070C0"/>
                </a:solidFill>
                <a:latin typeface="Times New Roman" panose="02020603050405020304" pitchFamily="18" charset="0"/>
                <a:ea typeface="楷体_GB2312" pitchFamily="49" charset="-122"/>
              </a:rPr>
              <a:t>yuanyebit</a:t>
            </a:r>
            <a:r>
              <a:rPr lang="zh-CN" altLang="zh-CN" sz="2600" dirty="0">
                <a:solidFill>
                  <a:srgbClr val="0070C0"/>
                </a:solidFill>
                <a:latin typeface="Times New Roman" panose="02020603050405020304" pitchFamily="18" charset="0"/>
                <a:ea typeface="楷体_GB2312" pitchFamily="49" charset="-122"/>
              </a:rPr>
              <a:t>@</a:t>
            </a:r>
            <a:r>
              <a:rPr lang="en-US" altLang="zh-CN" sz="2600" dirty="0">
                <a:solidFill>
                  <a:srgbClr val="0070C0"/>
                </a:solidFill>
                <a:latin typeface="Times New Roman" panose="02020603050405020304" pitchFamily="18" charset="0"/>
                <a:ea typeface="楷体_GB2312" pitchFamily="49" charset="-122"/>
              </a:rPr>
              <a:t>163.com</a:t>
            </a:r>
            <a:endParaRPr lang="zh-CN" altLang="zh-CN" sz="2601" dirty="0">
              <a:solidFill>
                <a:srgbClr val="0070C0"/>
              </a:solidFill>
              <a:latin typeface="Times New Roman" panose="02020603050405020304" pitchFamily="18" charset="0"/>
              <a:ea typeface="楷体_GB2312" pitchFamily="49" charset="-122"/>
            </a:endParaRPr>
          </a:p>
        </p:txBody>
      </p:sp>
      <p:pic>
        <p:nvPicPr>
          <p:cNvPr id="5" name="图片 4">
            <a:extLst>
              <a:ext uri="{FF2B5EF4-FFF2-40B4-BE49-F238E27FC236}">
                <a16:creationId xmlns:a16="http://schemas.microsoft.com/office/drawing/2014/main" id="{976B57FF-C59A-4357-91C9-06147D4A188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3769" y="0"/>
            <a:ext cx="949697" cy="949697"/>
          </a:xfrm>
          <a:prstGeom prst="rect">
            <a:avLst/>
          </a:prstGeom>
        </p:spPr>
      </p:pic>
      <p:sp>
        <p:nvSpPr>
          <p:cNvPr id="6" name="矩形 5">
            <a:extLst>
              <a:ext uri="{FF2B5EF4-FFF2-40B4-BE49-F238E27FC236}">
                <a16:creationId xmlns:a16="http://schemas.microsoft.com/office/drawing/2014/main" id="{984F06E0-3F49-4B42-A57F-1AFC1A9A517D}"/>
              </a:ext>
            </a:extLst>
          </p:cNvPr>
          <p:cNvSpPr/>
          <p:nvPr/>
        </p:nvSpPr>
        <p:spPr>
          <a:xfrm>
            <a:off x="133768" y="944370"/>
            <a:ext cx="11522667" cy="72017"/>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83">
              <a:defRPr/>
            </a:pPr>
            <a:endParaRPr lang="zh-CN" altLang="en-US" sz="1800">
              <a:solidFill>
                <a:prstClr val="white"/>
              </a:solidFill>
              <a:latin typeface="等线"/>
              <a:ea typeface="等线" panose="02010600030101010101" pitchFamily="2" charset="-122"/>
            </a:endParaRPr>
          </a:p>
        </p:txBody>
      </p:sp>
    </p:spTree>
    <p:extLst>
      <p:ext uri="{BB962C8B-B14F-4D97-AF65-F5344CB8AC3E}">
        <p14:creationId xmlns:p14="http://schemas.microsoft.com/office/powerpoint/2010/main" val="1373916911"/>
      </p:ext>
    </p:extLst>
  </p:cSld>
  <p:clrMapOvr>
    <a:masterClrMapping/>
  </p:clrMapOvr>
  <p:transition spd="med">
    <p:pull dir="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2"/>
          <p:cNvSpPr>
            <a:spLocks noGrp="1"/>
          </p:cNvSpPr>
          <p:nvPr>
            <p:ph type="subTitle" idx="4294967295"/>
          </p:nvPr>
        </p:nvSpPr>
        <p:spPr>
          <a:xfrm>
            <a:off x="1323101" y="3201194"/>
            <a:ext cx="9144000" cy="1657350"/>
          </a:xfrm>
          <a:prstGeom prst="rect">
            <a:avLst/>
          </a:prstGeom>
        </p:spPr>
        <p:txBody>
          <a:bodyPr>
            <a:noAutofit/>
          </a:bodyPr>
          <a:lstStyle/>
          <a:p>
            <a:pPr marL="0" indent="0" fontAlgn="base">
              <a:spcBef>
                <a:spcPct val="0"/>
              </a:spcBef>
              <a:spcAft>
                <a:spcPct val="0"/>
              </a:spcAft>
              <a:buNone/>
              <a:defRPr/>
            </a:pPr>
            <a:r>
              <a:rPr kumimoji="1" lang="zh-CN" altLang="en-US" sz="5601" b="1" kern="0" dirty="0">
                <a:solidFill>
                  <a:srgbClr val="002060"/>
                </a:solidFill>
                <a:effectLst>
                  <a:outerShdw blurRad="38100" dist="38100" dir="2700000" algn="tl">
                    <a:srgbClr val="C0C0C0"/>
                  </a:outerShdw>
                </a:effectLst>
                <a:latin typeface="Tahoma" pitchFamily="34" charset="0"/>
                <a:ea typeface="黑体" pitchFamily="2" charset="-122"/>
                <a:cs typeface="Times New Roman" pitchFamily="18" charset="0"/>
              </a:rPr>
              <a:t>第五章：云存储系统</a:t>
            </a:r>
            <a:r>
              <a:rPr kumimoji="1" lang="en-US" altLang="zh-CN" sz="5601" b="1" kern="0" dirty="0">
                <a:solidFill>
                  <a:srgbClr val="002060"/>
                </a:solidFill>
                <a:effectLst>
                  <a:outerShdw blurRad="38100" dist="38100" dir="2700000" algn="tl">
                    <a:srgbClr val="C0C0C0"/>
                  </a:outerShdw>
                </a:effectLst>
                <a:latin typeface="Tahoma" pitchFamily="34" charset="0"/>
                <a:ea typeface="黑体" pitchFamily="2" charset="-122"/>
                <a:cs typeface="Times New Roman" pitchFamily="18" charset="0"/>
              </a:rPr>
              <a:t>-Swift</a:t>
            </a:r>
            <a:endParaRPr kumimoji="1" lang="zh-CN" altLang="en-US" sz="5601" b="1" kern="0" dirty="0">
              <a:solidFill>
                <a:srgbClr val="002060"/>
              </a:solidFill>
              <a:effectLst>
                <a:outerShdw blurRad="38100" dist="38100" dir="2700000" algn="tl">
                  <a:srgbClr val="C0C0C0"/>
                </a:outerShdw>
              </a:effectLst>
              <a:latin typeface="Tahoma" pitchFamily="34" charset="0"/>
              <a:ea typeface="黑体" pitchFamily="2" charset="-122"/>
              <a:cs typeface="Times New Roman" pitchFamily="18" charset="0"/>
            </a:endParaRP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3769" y="0"/>
            <a:ext cx="949697" cy="949697"/>
          </a:xfrm>
          <a:prstGeom prst="rect">
            <a:avLst/>
          </a:prstGeom>
        </p:spPr>
      </p:pic>
      <p:sp>
        <p:nvSpPr>
          <p:cNvPr id="6" name="矩形 5"/>
          <p:cNvSpPr/>
          <p:nvPr/>
        </p:nvSpPr>
        <p:spPr>
          <a:xfrm>
            <a:off x="133768" y="944370"/>
            <a:ext cx="11522667" cy="72017"/>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83">
              <a:defRPr/>
            </a:pPr>
            <a:endParaRPr lang="zh-CN" altLang="en-US" sz="1800">
              <a:solidFill>
                <a:prstClr val="white"/>
              </a:solidFill>
              <a:latin typeface="等线" panose="020F0502020204030204"/>
              <a:ea typeface="等线" panose="02010600030101010101" pitchFamily="2" charset="-122"/>
            </a:endParaRPr>
          </a:p>
        </p:txBody>
      </p:sp>
    </p:spTree>
    <p:extLst>
      <p:ext uri="{BB962C8B-B14F-4D97-AF65-F5344CB8AC3E}">
        <p14:creationId xmlns:p14="http://schemas.microsoft.com/office/powerpoint/2010/main" val="3141290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8" name="组合 5"/>
          <p:cNvGrpSpPr>
            <a:grpSpLocks/>
          </p:cNvGrpSpPr>
          <p:nvPr/>
        </p:nvGrpSpPr>
        <p:grpSpPr bwMode="auto">
          <a:xfrm rot="-5400000">
            <a:off x="1031170" y="3620276"/>
            <a:ext cx="4038600" cy="152436"/>
            <a:chOff x="0" y="3259138"/>
            <a:chExt cx="9144000" cy="195262"/>
          </a:xfrm>
        </p:grpSpPr>
        <p:sp>
          <p:nvSpPr>
            <p:cNvPr id="76" name="Rectangle 3"/>
            <p:cNvSpPr>
              <a:spLocks noChangeArrowheads="1"/>
            </p:cNvSpPr>
            <p:nvPr/>
          </p:nvSpPr>
          <p:spPr bwMode="gray">
            <a:xfrm>
              <a:off x="1" y="3259139"/>
              <a:ext cx="9144000" cy="54918"/>
            </a:xfrm>
            <a:prstGeom prst="rect">
              <a:avLst/>
            </a:prstGeom>
            <a:gradFill rotWithShape="1">
              <a:gsLst>
                <a:gs pos="0">
                  <a:srgbClr val="808080"/>
                </a:gs>
                <a:gs pos="100000">
                  <a:srgbClr val="ECECEC"/>
                </a:gs>
              </a:gsLst>
              <a:lin ang="5400000" scaled="1"/>
            </a:gradFill>
            <a:ln w="9525" algn="ctr">
              <a:noFill/>
              <a:miter lim="800000"/>
              <a:headEnd/>
              <a:tailEnd/>
            </a:ln>
          </p:spPr>
          <p:txBody>
            <a:bodyPr wrap="none" anchor="ctr"/>
            <a:lstStyle/>
            <a:p>
              <a:pPr>
                <a:defRPr/>
              </a:pPr>
              <a:endParaRPr lang="zh-CN" altLang="en-US" sz="3201" kern="0">
                <a:solidFill>
                  <a:sysClr val="windowText" lastClr="000000"/>
                </a:solidFill>
                <a:latin typeface="+mn-ea"/>
              </a:endParaRPr>
            </a:p>
          </p:txBody>
        </p:sp>
        <p:sp>
          <p:nvSpPr>
            <p:cNvPr id="77" name="Rectangle 4"/>
            <p:cNvSpPr>
              <a:spLocks noChangeArrowheads="1"/>
            </p:cNvSpPr>
            <p:nvPr/>
          </p:nvSpPr>
          <p:spPr bwMode="gray">
            <a:xfrm>
              <a:off x="1" y="3312022"/>
              <a:ext cx="9144000" cy="142379"/>
            </a:xfrm>
            <a:prstGeom prst="rect">
              <a:avLst/>
            </a:prstGeom>
            <a:gradFill rotWithShape="1">
              <a:gsLst>
                <a:gs pos="0">
                  <a:srgbClr val="CFCFCF"/>
                </a:gs>
                <a:gs pos="100000">
                  <a:srgbClr val="5F5F5F"/>
                </a:gs>
              </a:gsLst>
              <a:lin ang="5400000" scaled="1"/>
            </a:gradFill>
            <a:ln w="9525" algn="ctr">
              <a:noFill/>
              <a:miter lim="800000"/>
              <a:headEnd/>
              <a:tailEnd/>
            </a:ln>
          </p:spPr>
          <p:txBody>
            <a:bodyPr wrap="none" anchor="ctr"/>
            <a:lstStyle/>
            <a:p>
              <a:pPr>
                <a:defRPr/>
              </a:pPr>
              <a:endParaRPr lang="zh-CN" altLang="en-US" sz="3201" kern="0">
                <a:solidFill>
                  <a:sysClr val="windowText" lastClr="000000"/>
                </a:solidFill>
                <a:latin typeface="+mn-ea"/>
              </a:endParaRPr>
            </a:p>
          </p:txBody>
        </p:sp>
      </p:grpSp>
      <p:grpSp>
        <p:nvGrpSpPr>
          <p:cNvPr id="3" name="组合 2"/>
          <p:cNvGrpSpPr/>
          <p:nvPr/>
        </p:nvGrpSpPr>
        <p:grpSpPr>
          <a:xfrm>
            <a:off x="2578051" y="1841509"/>
            <a:ext cx="6326064" cy="861638"/>
            <a:chOff x="2593164" y="1657734"/>
            <a:chExt cx="6326064" cy="922552"/>
          </a:xfrm>
        </p:grpSpPr>
        <p:grpSp>
          <p:nvGrpSpPr>
            <p:cNvPr id="8197" name="组合 62"/>
            <p:cNvGrpSpPr>
              <a:grpSpLocks/>
            </p:cNvGrpSpPr>
            <p:nvPr/>
          </p:nvGrpSpPr>
          <p:grpSpPr bwMode="auto">
            <a:xfrm>
              <a:off x="2974252" y="1810168"/>
              <a:ext cx="5944976" cy="626254"/>
              <a:chOff x="1752601" y="2209800"/>
              <a:chExt cx="6934200" cy="625705"/>
            </a:xfrm>
          </p:grpSpPr>
          <p:sp>
            <p:nvSpPr>
              <p:cNvPr id="73" name="AutoShape 4"/>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lang="zh-CN" altLang="en-US" sz="3201" kern="0">
                  <a:solidFill>
                    <a:sysClr val="windowText" lastClr="000000"/>
                  </a:solidFill>
                  <a:latin typeface="+mn-ea"/>
                </a:endParaRPr>
              </a:p>
            </p:txBody>
          </p:sp>
          <p:sp>
            <p:nvSpPr>
              <p:cNvPr id="8254" name="Text Box 9"/>
              <p:cNvSpPr txBox="1">
                <a:spLocks noChangeArrowheads="1"/>
              </p:cNvSpPr>
              <p:nvPr/>
            </p:nvSpPr>
            <p:spPr bwMode="gray">
              <a:xfrm>
                <a:off x="2513808" y="2209800"/>
                <a:ext cx="5700713" cy="625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en-US" altLang="zh-CN" sz="3201" dirty="0">
                    <a:ea typeface="黑体" panose="02010609060101010101" pitchFamily="49" charset="-122"/>
                    <a:cs typeface="Times New Roman" panose="02020603050405020304" pitchFamily="18" charset="0"/>
                  </a:rPr>
                  <a:t>Swift</a:t>
                </a:r>
                <a:r>
                  <a:rPr lang="zh-CN" altLang="en-US" sz="3201" dirty="0">
                    <a:ea typeface="黑体" panose="02010609060101010101" pitchFamily="49" charset="-122"/>
                    <a:cs typeface="Times New Roman" panose="02020603050405020304" pitchFamily="18" charset="0"/>
                  </a:rPr>
                  <a:t>简介</a:t>
                </a:r>
              </a:p>
            </p:txBody>
          </p:sp>
        </p:grpSp>
        <p:grpSp>
          <p:nvGrpSpPr>
            <p:cNvPr id="8199" name="Group 65"/>
            <p:cNvGrpSpPr>
              <a:grpSpLocks/>
            </p:cNvGrpSpPr>
            <p:nvPr/>
          </p:nvGrpSpPr>
          <p:grpSpPr bwMode="auto">
            <a:xfrm>
              <a:off x="2593164" y="1657734"/>
              <a:ext cx="854273" cy="922552"/>
              <a:chOff x="2789" y="1625"/>
              <a:chExt cx="847" cy="915"/>
            </a:xfrm>
          </p:grpSpPr>
          <p:sp>
            <p:nvSpPr>
              <p:cNvPr id="79"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lang="zh-CN" altLang="en-US" sz="3201" kern="0">
                  <a:solidFill>
                    <a:sysClr val="windowText" lastClr="000000"/>
                  </a:solidFill>
                  <a:latin typeface="+mn-ea"/>
                </a:endParaRPr>
              </a:p>
            </p:txBody>
          </p:sp>
          <p:sp>
            <p:nvSpPr>
              <p:cNvPr id="80"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lang="zh-CN" altLang="en-US" sz="3201" kern="0">
                  <a:solidFill>
                    <a:sysClr val="windowText" lastClr="000000"/>
                  </a:solidFill>
                  <a:latin typeface="+mn-ea"/>
                </a:endParaRPr>
              </a:p>
            </p:txBody>
          </p:sp>
          <p:sp>
            <p:nvSpPr>
              <p:cNvPr id="81"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sp>
            <p:nvSpPr>
              <p:cNvPr id="82"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sp>
            <p:nvSpPr>
              <p:cNvPr id="83"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grpSp>
            <p:nvGrpSpPr>
              <p:cNvPr id="8246" name="Group 71"/>
              <p:cNvGrpSpPr>
                <a:grpSpLocks/>
              </p:cNvGrpSpPr>
              <p:nvPr/>
            </p:nvGrpSpPr>
            <p:grpSpPr bwMode="auto">
              <a:xfrm>
                <a:off x="2899" y="1735"/>
                <a:ext cx="687" cy="688"/>
                <a:chOff x="4166" y="1706"/>
                <a:chExt cx="1252" cy="1252"/>
              </a:xfrm>
            </p:grpSpPr>
            <p:sp>
              <p:nvSpPr>
                <p:cNvPr id="85"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86"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87"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88"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grpSp>
        </p:grpSp>
        <p:sp>
          <p:nvSpPr>
            <p:cNvPr id="62" name="矩形 61"/>
            <p:cNvSpPr/>
            <p:nvPr/>
          </p:nvSpPr>
          <p:spPr>
            <a:xfrm>
              <a:off x="2740836" y="1845102"/>
              <a:ext cx="597038" cy="584335"/>
            </a:xfrm>
            <a:prstGeom prst="rect">
              <a:avLst/>
            </a:prstGeom>
          </p:spPr>
          <p:txBody>
            <a:bodyPr wrap="none">
              <a:spAutoFit/>
            </a:bodyPr>
            <a:lstStyle/>
            <a:p>
              <a:pPr eaLnBrk="1" hangingPunct="1">
                <a:defRPr/>
              </a:pPr>
              <a:r>
                <a:rPr lang="zh-CN" altLang="en-US" sz="3201" kern="0" dirty="0">
                  <a:solidFill>
                    <a:sysClr val="windowText" lastClr="000000"/>
                  </a:solidFill>
                  <a:latin typeface="+mn-ea"/>
                </a:rPr>
                <a:t>一</a:t>
              </a:r>
              <a:endParaRPr lang="zh-CN" altLang="en-US" sz="3201" dirty="0">
                <a:latin typeface="+mn-ea"/>
              </a:endParaRPr>
            </a:p>
          </p:txBody>
        </p:sp>
      </p:grpSp>
      <p:grpSp>
        <p:nvGrpSpPr>
          <p:cNvPr id="4" name="组合 3"/>
          <p:cNvGrpSpPr/>
          <p:nvPr/>
        </p:nvGrpSpPr>
        <p:grpSpPr>
          <a:xfrm>
            <a:off x="2593164" y="3015682"/>
            <a:ext cx="6326064" cy="877458"/>
            <a:chOff x="2593164" y="2724781"/>
            <a:chExt cx="6326064" cy="922552"/>
          </a:xfrm>
        </p:grpSpPr>
        <p:grpSp>
          <p:nvGrpSpPr>
            <p:cNvPr id="8194" name="组合 63"/>
            <p:cNvGrpSpPr>
              <a:grpSpLocks/>
            </p:cNvGrpSpPr>
            <p:nvPr/>
          </p:nvGrpSpPr>
          <p:grpSpPr bwMode="auto">
            <a:xfrm>
              <a:off x="2974252" y="2877217"/>
              <a:ext cx="5944976" cy="614964"/>
              <a:chOff x="1752601" y="2209798"/>
              <a:chExt cx="6934200" cy="614424"/>
            </a:xfrm>
          </p:grpSpPr>
          <p:sp>
            <p:nvSpPr>
              <p:cNvPr id="64"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lang="zh-CN" altLang="en-US" sz="3201" kern="0">
                  <a:solidFill>
                    <a:sysClr val="windowText" lastClr="000000"/>
                  </a:solidFill>
                  <a:latin typeface="+mn-ea"/>
                </a:endParaRPr>
              </a:p>
            </p:txBody>
          </p:sp>
          <p:sp>
            <p:nvSpPr>
              <p:cNvPr id="8260" name="Text Box 9"/>
              <p:cNvSpPr txBox="1">
                <a:spLocks noChangeArrowheads="1"/>
              </p:cNvSpPr>
              <p:nvPr/>
            </p:nvSpPr>
            <p:spPr bwMode="gray">
              <a:xfrm>
                <a:off x="2513808" y="2209798"/>
                <a:ext cx="5700713" cy="614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en-US" altLang="zh-CN" sz="3201" dirty="0">
                    <a:ea typeface="黑体" panose="02010609060101010101" pitchFamily="49" charset="-122"/>
                    <a:cs typeface="Times New Roman" panose="02020603050405020304" pitchFamily="18" charset="0"/>
                  </a:rPr>
                  <a:t>Swift</a:t>
                </a:r>
                <a:r>
                  <a:rPr lang="zh-CN" altLang="en-US" sz="3201" dirty="0">
                    <a:ea typeface="黑体" panose="02010609060101010101" pitchFamily="49" charset="-122"/>
                    <a:cs typeface="Times New Roman" panose="02020603050405020304" pitchFamily="18" charset="0"/>
                  </a:rPr>
                  <a:t>安装部署</a:t>
                </a:r>
              </a:p>
            </p:txBody>
          </p:sp>
        </p:grpSp>
        <p:grpSp>
          <p:nvGrpSpPr>
            <p:cNvPr id="8200" name="Group 65"/>
            <p:cNvGrpSpPr>
              <a:grpSpLocks/>
            </p:cNvGrpSpPr>
            <p:nvPr/>
          </p:nvGrpSpPr>
          <p:grpSpPr bwMode="auto">
            <a:xfrm>
              <a:off x="2593164" y="2724781"/>
              <a:ext cx="854273" cy="922552"/>
              <a:chOff x="2789" y="1625"/>
              <a:chExt cx="847" cy="915"/>
            </a:xfrm>
          </p:grpSpPr>
          <p:sp>
            <p:nvSpPr>
              <p:cNvPr id="90"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lang="zh-CN" altLang="en-US" sz="3201" kern="0">
                  <a:solidFill>
                    <a:sysClr val="windowText" lastClr="000000"/>
                  </a:solidFill>
                  <a:latin typeface="+mn-ea"/>
                </a:endParaRPr>
              </a:p>
            </p:txBody>
          </p:sp>
          <p:sp>
            <p:nvSpPr>
              <p:cNvPr id="91"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lang="zh-CN" altLang="en-US" sz="3201" kern="0">
                  <a:solidFill>
                    <a:sysClr val="windowText" lastClr="000000"/>
                  </a:solidFill>
                  <a:latin typeface="+mn-ea"/>
                </a:endParaRPr>
              </a:p>
            </p:txBody>
          </p:sp>
          <p:sp>
            <p:nvSpPr>
              <p:cNvPr id="92"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sp>
            <p:nvSpPr>
              <p:cNvPr id="93"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sp>
            <p:nvSpPr>
              <p:cNvPr id="94"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grpSp>
            <p:nvGrpSpPr>
              <p:cNvPr id="8236" name="Group 71"/>
              <p:cNvGrpSpPr>
                <a:grpSpLocks/>
              </p:cNvGrpSpPr>
              <p:nvPr/>
            </p:nvGrpSpPr>
            <p:grpSpPr bwMode="auto">
              <a:xfrm>
                <a:off x="2899" y="1735"/>
                <a:ext cx="687" cy="688"/>
                <a:chOff x="4166" y="1706"/>
                <a:chExt cx="1252" cy="1252"/>
              </a:xfrm>
            </p:grpSpPr>
            <p:sp>
              <p:nvSpPr>
                <p:cNvPr id="96"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97"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98"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99"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grpSp>
        </p:grpSp>
        <p:sp>
          <p:nvSpPr>
            <p:cNvPr id="63" name="矩形 62"/>
            <p:cNvSpPr/>
            <p:nvPr/>
          </p:nvSpPr>
          <p:spPr>
            <a:xfrm>
              <a:off x="2740836" y="2858162"/>
              <a:ext cx="597038" cy="584335"/>
            </a:xfrm>
            <a:prstGeom prst="rect">
              <a:avLst/>
            </a:prstGeom>
          </p:spPr>
          <p:txBody>
            <a:bodyPr wrap="none">
              <a:spAutoFit/>
            </a:bodyPr>
            <a:lstStyle/>
            <a:p>
              <a:pPr eaLnBrk="1" hangingPunct="1">
                <a:defRPr/>
              </a:pPr>
              <a:r>
                <a:rPr lang="zh-CN" altLang="en-US" sz="3201" kern="0" dirty="0">
                  <a:solidFill>
                    <a:sysClr val="windowText" lastClr="000000"/>
                  </a:solidFill>
                  <a:latin typeface="+mn-ea"/>
                </a:rPr>
                <a:t>二</a:t>
              </a:r>
              <a:endParaRPr lang="zh-CN" altLang="en-US" sz="3201" dirty="0">
                <a:latin typeface="+mn-ea"/>
              </a:endParaRPr>
            </a:p>
          </p:txBody>
        </p:sp>
      </p:grpSp>
      <p:grpSp>
        <p:nvGrpSpPr>
          <p:cNvPr id="5" name="组合 4"/>
          <p:cNvGrpSpPr/>
          <p:nvPr/>
        </p:nvGrpSpPr>
        <p:grpSpPr>
          <a:xfrm>
            <a:off x="2677901" y="4158175"/>
            <a:ext cx="6318125" cy="876206"/>
            <a:chOff x="2593164" y="3791828"/>
            <a:chExt cx="6318125" cy="922552"/>
          </a:xfrm>
        </p:grpSpPr>
        <p:grpSp>
          <p:nvGrpSpPr>
            <p:cNvPr id="8195" name="组合 66"/>
            <p:cNvGrpSpPr>
              <a:grpSpLocks/>
            </p:cNvGrpSpPr>
            <p:nvPr/>
          </p:nvGrpSpPr>
          <p:grpSpPr bwMode="auto">
            <a:xfrm>
              <a:off x="2966313" y="3934734"/>
              <a:ext cx="5944976" cy="615841"/>
              <a:chOff x="1752601" y="2209798"/>
              <a:chExt cx="6934200" cy="615301"/>
            </a:xfrm>
          </p:grpSpPr>
          <p:sp>
            <p:nvSpPr>
              <p:cNvPr id="67"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lang="zh-CN" altLang="en-US" sz="3201" kern="0">
                  <a:solidFill>
                    <a:sysClr val="windowText" lastClr="000000"/>
                  </a:solidFill>
                  <a:latin typeface="+mn-ea"/>
                </a:endParaRPr>
              </a:p>
            </p:txBody>
          </p:sp>
          <p:sp>
            <p:nvSpPr>
              <p:cNvPr id="8258"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en-US" altLang="zh-CN" sz="3201" dirty="0" err="1">
                    <a:ea typeface="黑体" panose="02010609060101010101" pitchFamily="49" charset="-122"/>
                    <a:cs typeface="Times New Roman" panose="02020603050405020304" pitchFamily="18" charset="0"/>
                  </a:rPr>
                  <a:t>jclouds</a:t>
                </a:r>
                <a:r>
                  <a:rPr lang="en-US" altLang="zh-CN" sz="3201" dirty="0">
                    <a:ea typeface="黑体" panose="02010609060101010101" pitchFamily="49" charset="-122"/>
                    <a:cs typeface="Times New Roman" panose="02020603050405020304" pitchFamily="18" charset="0"/>
                  </a:rPr>
                  <a:t>-swift</a:t>
                </a:r>
                <a:r>
                  <a:rPr lang="zh-CN" altLang="en-US" sz="3201" dirty="0">
                    <a:ea typeface="黑体" panose="02010609060101010101" pitchFamily="49" charset="-122"/>
                    <a:cs typeface="Times New Roman" panose="02020603050405020304" pitchFamily="18" charset="0"/>
                  </a:rPr>
                  <a:t>编程</a:t>
                </a:r>
              </a:p>
            </p:txBody>
          </p:sp>
        </p:grpSp>
        <p:grpSp>
          <p:nvGrpSpPr>
            <p:cNvPr id="8202" name="Group 65"/>
            <p:cNvGrpSpPr>
              <a:grpSpLocks/>
            </p:cNvGrpSpPr>
            <p:nvPr/>
          </p:nvGrpSpPr>
          <p:grpSpPr bwMode="auto">
            <a:xfrm>
              <a:off x="2593164" y="3791828"/>
              <a:ext cx="854273" cy="922552"/>
              <a:chOff x="2789" y="1625"/>
              <a:chExt cx="847" cy="915"/>
            </a:xfrm>
          </p:grpSpPr>
          <p:sp>
            <p:nvSpPr>
              <p:cNvPr id="11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lang="zh-CN" altLang="en-US" sz="3201" kern="0">
                  <a:solidFill>
                    <a:sysClr val="windowText" lastClr="000000"/>
                  </a:solidFill>
                  <a:latin typeface="+mn-ea"/>
                </a:endParaRPr>
              </a:p>
            </p:txBody>
          </p:sp>
          <p:sp>
            <p:nvSpPr>
              <p:cNvPr id="11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lang="zh-CN" altLang="en-US" sz="3201" kern="0">
                  <a:solidFill>
                    <a:sysClr val="windowText" lastClr="000000"/>
                  </a:solidFill>
                  <a:latin typeface="+mn-ea"/>
                </a:endParaRPr>
              </a:p>
            </p:txBody>
          </p:sp>
          <p:sp>
            <p:nvSpPr>
              <p:cNvPr id="11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sp>
            <p:nvSpPr>
              <p:cNvPr id="11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sp>
            <p:nvSpPr>
              <p:cNvPr id="116"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grpSp>
            <p:nvGrpSpPr>
              <p:cNvPr id="8216" name="Group 71"/>
              <p:cNvGrpSpPr>
                <a:grpSpLocks/>
              </p:cNvGrpSpPr>
              <p:nvPr/>
            </p:nvGrpSpPr>
            <p:grpSpPr bwMode="auto">
              <a:xfrm>
                <a:off x="2899" y="1735"/>
                <a:ext cx="687" cy="688"/>
                <a:chOff x="4166" y="1706"/>
                <a:chExt cx="1252" cy="1252"/>
              </a:xfrm>
            </p:grpSpPr>
            <p:sp>
              <p:nvSpPr>
                <p:cNvPr id="11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11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12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12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grpSp>
        </p:grpSp>
        <p:sp>
          <p:nvSpPr>
            <p:cNvPr id="66" name="矩形 65"/>
            <p:cNvSpPr/>
            <p:nvPr/>
          </p:nvSpPr>
          <p:spPr>
            <a:xfrm>
              <a:off x="2715430" y="3968082"/>
              <a:ext cx="597038" cy="585923"/>
            </a:xfrm>
            <a:prstGeom prst="rect">
              <a:avLst/>
            </a:prstGeom>
          </p:spPr>
          <p:txBody>
            <a:bodyPr wrap="none">
              <a:spAutoFit/>
            </a:bodyPr>
            <a:lstStyle/>
            <a:p>
              <a:pPr eaLnBrk="1" hangingPunct="1">
                <a:defRPr/>
              </a:pPr>
              <a:r>
                <a:rPr lang="zh-CN" altLang="en-US" sz="3201" kern="0" dirty="0">
                  <a:solidFill>
                    <a:sysClr val="windowText" lastClr="000000"/>
                  </a:solidFill>
                  <a:latin typeface="+mn-ea"/>
                </a:rPr>
                <a:t>三</a:t>
              </a:r>
              <a:endParaRPr lang="zh-CN" altLang="en-US" sz="3201" dirty="0">
                <a:latin typeface="+mn-ea"/>
              </a:endParaRPr>
            </a:p>
          </p:txBody>
        </p:sp>
      </p:grpSp>
      <p:sp>
        <p:nvSpPr>
          <p:cNvPr id="8209" name="Rectangle 35"/>
          <p:cNvSpPr>
            <a:spLocks noChangeArrowheads="1"/>
          </p:cNvSpPr>
          <p:nvPr/>
        </p:nvSpPr>
        <p:spPr bwMode="blackWhite">
          <a:xfrm>
            <a:off x="1735109" y="6512795"/>
            <a:ext cx="8288668" cy="198483"/>
          </a:xfrm>
          <a:prstGeom prst="rect">
            <a:avLst/>
          </a:prstGeom>
          <a:solidFill>
            <a:schemeClr val="bg1">
              <a:alpha val="74901"/>
            </a:schemeClr>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Tahoma" panose="020B0604030504040204" pitchFamily="34" charset="0"/>
            </a:endParaRPr>
          </a:p>
        </p:txBody>
      </p:sp>
      <p:pic>
        <p:nvPicPr>
          <p:cNvPr id="72" name="图片 7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74" name="矩形 73"/>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8" name="标题 1"/>
          <p:cNvSpPr>
            <a:spLocks/>
          </p:cNvSpPr>
          <p:nvPr/>
        </p:nvSpPr>
        <p:spPr bwMode="auto">
          <a:xfrm>
            <a:off x="5865536" y="312428"/>
            <a:ext cx="5786438" cy="533400"/>
          </a:xfrm>
          <a:prstGeom prst="rect">
            <a:avLst/>
          </a:prstGeom>
          <a:noFill/>
          <a:ln>
            <a:noFill/>
          </a:ln>
        </p:spPr>
        <p:txBody>
          <a:bodyPr anchor="b"/>
          <a:lstStyle/>
          <a:p>
            <a:pPr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目录</a:t>
            </a:r>
          </a:p>
        </p:txBody>
      </p:sp>
      <p:pic>
        <p:nvPicPr>
          <p:cNvPr id="8210" name="图片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19614" y="2770089"/>
            <a:ext cx="8291844" cy="239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54575176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圆角矩形 19"/>
          <p:cNvSpPr/>
          <p:nvPr/>
        </p:nvSpPr>
        <p:spPr>
          <a:xfrm>
            <a:off x="688975" y="2210594"/>
            <a:ext cx="11122544" cy="3733800"/>
          </a:xfrm>
          <a:prstGeom prst="roundRect">
            <a:avLst>
              <a:gd name="adj" fmla="val 10641"/>
            </a:avLst>
          </a:prstGeom>
          <a:solidFill>
            <a:schemeClr val="bg1">
              <a:lumMod val="95000"/>
            </a:schemeClr>
          </a:solidFill>
          <a:ln w="57150">
            <a:solidFill>
              <a:srgbClr val="FF66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4294967295"/>
          </p:nvPr>
        </p:nvSpPr>
        <p:spPr>
          <a:xfrm>
            <a:off x="876559" y="2507711"/>
            <a:ext cx="10747375" cy="3124200"/>
          </a:xfrm>
          <a:prstGeom prst="rect">
            <a:avLst/>
          </a:prstGeom>
        </p:spPr>
        <p:txBody>
          <a:bodyPr>
            <a:normAutofit fontScale="85000" lnSpcReduction="10000"/>
          </a:bodyPr>
          <a:lstStyle/>
          <a:p>
            <a:pPr marL="0" indent="0" algn="just">
              <a:lnSpc>
                <a:spcPct val="150000"/>
              </a:lnSpc>
              <a:buNone/>
            </a:pPr>
            <a:r>
              <a:rPr lang="en-US" altLang="zh-CN" dirty="0">
                <a:latin typeface="Times New Roman" panose="02020603050405020304" pitchFamily="18" charset="0"/>
                <a:cs typeface="Times New Roman" panose="02020603050405020304" pitchFamily="18" charset="0"/>
              </a:rPr>
              <a:t>        Swift </a:t>
            </a:r>
            <a:r>
              <a:rPr lang="zh-CN" altLang="en-US" dirty="0">
                <a:latin typeface="Times New Roman" panose="02020603050405020304" pitchFamily="18" charset="0"/>
                <a:cs typeface="Times New Roman" panose="02020603050405020304" pitchFamily="18" charset="0"/>
              </a:rPr>
              <a:t>最初是由 </a:t>
            </a:r>
            <a:r>
              <a:rPr lang="en-US" altLang="zh-CN" dirty="0">
                <a:latin typeface="Times New Roman" panose="02020603050405020304" pitchFamily="18" charset="0"/>
                <a:cs typeface="Times New Roman" panose="02020603050405020304" pitchFamily="18" charset="0"/>
              </a:rPr>
              <a:t>Rackspace </a:t>
            </a:r>
            <a:r>
              <a:rPr lang="zh-CN" altLang="en-US" dirty="0">
                <a:latin typeface="Times New Roman" panose="02020603050405020304" pitchFamily="18" charset="0"/>
                <a:cs typeface="Times New Roman" panose="02020603050405020304" pitchFamily="18" charset="0"/>
              </a:rPr>
              <a:t>公司开发的高可用分布式对象存储服务，并于 </a:t>
            </a:r>
            <a:r>
              <a:rPr lang="en-US" altLang="zh-CN" dirty="0">
                <a:latin typeface="Times New Roman" panose="02020603050405020304" pitchFamily="18" charset="0"/>
                <a:cs typeface="Times New Roman" panose="02020603050405020304" pitchFamily="18" charset="0"/>
              </a:rPr>
              <a:t>2010 </a:t>
            </a:r>
            <a:r>
              <a:rPr lang="zh-CN" altLang="en-US" dirty="0">
                <a:latin typeface="Times New Roman" panose="02020603050405020304" pitchFamily="18" charset="0"/>
                <a:cs typeface="Times New Roman" panose="02020603050405020304" pitchFamily="18" charset="0"/>
              </a:rPr>
              <a:t>年贡献给 </a:t>
            </a:r>
            <a:r>
              <a:rPr lang="en-US" altLang="zh-CN" dirty="0">
                <a:latin typeface="Times New Roman" panose="02020603050405020304" pitchFamily="18" charset="0"/>
                <a:cs typeface="Times New Roman" panose="02020603050405020304" pitchFamily="18" charset="0"/>
              </a:rPr>
              <a:t>OpenStack </a:t>
            </a:r>
            <a:r>
              <a:rPr lang="zh-CN" altLang="en-US" dirty="0">
                <a:latin typeface="Times New Roman" panose="02020603050405020304" pitchFamily="18" charset="0"/>
                <a:cs typeface="Times New Roman" panose="02020603050405020304" pitchFamily="18" charset="0"/>
              </a:rPr>
              <a:t>开源社区作为其最初的核心子项目之一，为其 </a:t>
            </a:r>
            <a:r>
              <a:rPr lang="en-US" altLang="zh-CN" dirty="0">
                <a:latin typeface="Times New Roman" panose="02020603050405020304" pitchFamily="18" charset="0"/>
                <a:cs typeface="Times New Roman" panose="02020603050405020304" pitchFamily="18" charset="0"/>
              </a:rPr>
              <a:t>Nova </a:t>
            </a:r>
            <a:r>
              <a:rPr lang="zh-CN" altLang="en-US" dirty="0">
                <a:latin typeface="Times New Roman" panose="02020603050405020304" pitchFamily="18" charset="0"/>
                <a:cs typeface="Times New Roman" panose="02020603050405020304" pitchFamily="18" charset="0"/>
              </a:rPr>
              <a:t>子项目提供虚机镜像存储服务。</a:t>
            </a:r>
            <a:r>
              <a:rPr lang="en-US" altLang="zh-CN" dirty="0">
                <a:latin typeface="Times New Roman" panose="02020603050405020304" pitchFamily="18" charset="0"/>
                <a:cs typeface="Times New Roman" panose="02020603050405020304" pitchFamily="18" charset="0"/>
              </a:rPr>
              <a:t>Swift </a:t>
            </a:r>
            <a:r>
              <a:rPr lang="zh-CN" altLang="en-US" dirty="0">
                <a:latin typeface="Times New Roman" panose="02020603050405020304" pitchFamily="18" charset="0"/>
                <a:cs typeface="Times New Roman" panose="02020603050405020304" pitchFamily="18" charset="0"/>
              </a:rPr>
              <a:t>构筑在比较便宜的标准硬件存储基础设施之上，无需采用 </a:t>
            </a:r>
            <a:r>
              <a:rPr lang="en-US" altLang="zh-CN" dirty="0">
                <a:latin typeface="Times New Roman" panose="02020603050405020304" pitchFamily="18" charset="0"/>
                <a:cs typeface="Times New Roman" panose="02020603050405020304" pitchFamily="18" charset="0"/>
              </a:rPr>
              <a:t>RAID</a:t>
            </a:r>
            <a:r>
              <a:rPr lang="zh-CN" altLang="en-US" dirty="0">
                <a:latin typeface="Times New Roman" panose="02020603050405020304" pitchFamily="18" charset="0"/>
                <a:cs typeface="Times New Roman" panose="02020603050405020304" pitchFamily="18" charset="0"/>
              </a:rPr>
              <a:t>（磁盘冗余阵列），通过在软件层面引入一致性散列技术和数据冗余性，牺牲一定程度的数据一致性来达到高可用性和可伸缩性，支持多租户模式、容器和对象读写操作，适合解决互联网的应用场景下非结构化数据存储问题。</a:t>
            </a:r>
          </a:p>
          <a:p>
            <a:pPr marL="0" indent="0" algn="just">
              <a:lnSpc>
                <a:spcPct val="150000"/>
              </a:lnSpc>
              <a:buNone/>
            </a:pPr>
            <a:r>
              <a:rPr lang="zh-CN" altLang="en-US" dirty="0">
                <a:latin typeface="Times New Roman" panose="02020603050405020304" pitchFamily="18" charset="0"/>
                <a:cs typeface="Times New Roman" panose="02020603050405020304" pitchFamily="18" charset="0"/>
              </a:rPr>
              <a:t>         此项目是基于 </a:t>
            </a:r>
            <a:r>
              <a:rPr lang="en-US" altLang="zh-CN" dirty="0">
                <a:latin typeface="Times New Roman" panose="02020603050405020304" pitchFamily="18" charset="0"/>
                <a:cs typeface="Times New Roman" panose="02020603050405020304" pitchFamily="18" charset="0"/>
              </a:rPr>
              <a:t>Python </a:t>
            </a:r>
            <a:r>
              <a:rPr lang="zh-CN" altLang="en-US" dirty="0">
                <a:latin typeface="Times New Roman" panose="02020603050405020304" pitchFamily="18" charset="0"/>
                <a:cs typeface="Times New Roman" panose="02020603050405020304" pitchFamily="18" charset="0"/>
              </a:rPr>
              <a:t>开发的，采用 </a:t>
            </a:r>
            <a:r>
              <a:rPr lang="en-US" altLang="zh-CN" dirty="0">
                <a:latin typeface="Times New Roman" panose="02020603050405020304" pitchFamily="18" charset="0"/>
                <a:cs typeface="Times New Roman" panose="02020603050405020304" pitchFamily="18" charset="0"/>
              </a:rPr>
              <a:t>Apache 2.0 </a:t>
            </a:r>
            <a:r>
              <a:rPr lang="zh-CN" altLang="en-US" dirty="0">
                <a:latin typeface="Times New Roman" panose="02020603050405020304" pitchFamily="18" charset="0"/>
                <a:cs typeface="Times New Roman" panose="02020603050405020304" pitchFamily="18" charset="0"/>
              </a:rPr>
              <a:t>许可协议，可用来开发商用系统。</a:t>
            </a:r>
          </a:p>
        </p:txBody>
      </p:sp>
      <p:sp>
        <p:nvSpPr>
          <p:cNvPr id="5" name="矩形 4"/>
          <p:cNvSpPr/>
          <p:nvPr/>
        </p:nvSpPr>
        <p:spPr>
          <a:xfrm>
            <a:off x="0" y="6096794"/>
            <a:ext cx="12192000" cy="761206"/>
          </a:xfrm>
          <a:prstGeom prst="rect">
            <a:avLst/>
          </a:prstGeom>
          <a:solidFill>
            <a:schemeClr val="tx1">
              <a:lumMod val="85000"/>
              <a:lumOff val="1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b="1" dirty="0">
              <a:solidFill>
                <a:schemeClr val="accent4">
                  <a:lumMod val="75000"/>
                </a:schemeClr>
              </a:solidFill>
            </a:endParaRPr>
          </a:p>
        </p:txBody>
      </p:sp>
      <p:grpSp>
        <p:nvGrpSpPr>
          <p:cNvPr id="6" name="组合 5"/>
          <p:cNvGrpSpPr/>
          <p:nvPr/>
        </p:nvGrpSpPr>
        <p:grpSpPr>
          <a:xfrm>
            <a:off x="131974" y="-1"/>
            <a:ext cx="11520000" cy="2053082"/>
            <a:chOff x="131974" y="-1"/>
            <a:chExt cx="11520000" cy="2053082"/>
          </a:xfrm>
        </p:grpSpPr>
        <p:grpSp>
          <p:nvGrpSpPr>
            <p:cNvPr id="7" name="组合 6"/>
            <p:cNvGrpSpPr/>
            <p:nvPr/>
          </p:nvGrpSpPr>
          <p:grpSpPr>
            <a:xfrm>
              <a:off x="131974" y="-1"/>
              <a:ext cx="11520000" cy="1016152"/>
              <a:chOff x="131974" y="-1"/>
              <a:chExt cx="11520000" cy="1016152"/>
            </a:xfrm>
          </p:grpSpPr>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1" name="矩形 10"/>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8" name="文本框 7"/>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文本框 8"/>
            <p:cNvSpPr txBox="1"/>
            <p:nvPr/>
          </p:nvSpPr>
          <p:spPr>
            <a:xfrm>
              <a:off x="612896" y="1591416"/>
              <a:ext cx="1834156"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简介</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4217960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txBox="1">
            <a:spLocks/>
          </p:cNvSpPr>
          <p:nvPr/>
        </p:nvSpPr>
        <p:spPr>
          <a:xfrm>
            <a:off x="609918" y="3286921"/>
            <a:ext cx="10978515" cy="523874"/>
          </a:xfrm>
          <a:prstGeom prst="rect">
            <a:avLst/>
          </a:prstGeom>
        </p:spPr>
        <p:txBody>
          <a:bodyPr vert="horz" lIns="121917" tIns="60958" rIns="121917" bIns="60958" rtlCol="0">
            <a:norm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endParaRPr lang="zh-CN" altLang="en-US" dirty="0"/>
          </a:p>
        </p:txBody>
      </p:sp>
      <p:sp>
        <p:nvSpPr>
          <p:cNvPr id="5" name="内容占位符 2"/>
          <p:cNvSpPr txBox="1">
            <a:spLocks/>
          </p:cNvSpPr>
          <p:nvPr/>
        </p:nvSpPr>
        <p:spPr>
          <a:xfrm>
            <a:off x="460375" y="2563958"/>
            <a:ext cx="10978515" cy="3235579"/>
          </a:xfrm>
          <a:prstGeom prst="rect">
            <a:avLst/>
          </a:prstGeom>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gn="just">
              <a:buNone/>
            </a:pPr>
            <a:r>
              <a:rPr lang="zh-CN" altLang="en-US" dirty="0">
                <a:solidFill>
                  <a:schemeClr val="tx1"/>
                </a:solidFill>
                <a:latin typeface="Times New Roman" panose="02020603050405020304" pitchFamily="18" charset="0"/>
                <a:cs typeface="Times New Roman" panose="02020603050405020304" pitchFamily="18" charset="0"/>
              </a:rPr>
              <a:t>        </a:t>
            </a:r>
            <a:r>
              <a:rPr lang="en-US" altLang="zh-CN" sz="2400" b="1" dirty="0">
                <a:solidFill>
                  <a:schemeClr val="tx1"/>
                </a:solidFill>
                <a:latin typeface="Times New Roman" panose="02020603050405020304" pitchFamily="18" charset="0"/>
                <a:cs typeface="Times New Roman" panose="02020603050405020304" pitchFamily="18" charset="0"/>
              </a:rPr>
              <a:t>Swift</a:t>
            </a:r>
            <a:r>
              <a:rPr lang="zh-CN" altLang="en-US" dirty="0">
                <a:solidFill>
                  <a:schemeClr val="tx1"/>
                </a:solidFill>
                <a:latin typeface="Times New Roman" panose="02020603050405020304" pitchFamily="18" charset="0"/>
                <a:cs typeface="Times New Roman" panose="02020603050405020304" pitchFamily="18" charset="0"/>
              </a:rPr>
              <a:t>是</a:t>
            </a:r>
            <a:r>
              <a:rPr lang="en-US" altLang="zh-CN" dirty="0">
                <a:solidFill>
                  <a:schemeClr val="tx1"/>
                </a:solidFill>
                <a:latin typeface="Times New Roman" panose="02020603050405020304" pitchFamily="18" charset="0"/>
                <a:cs typeface="Times New Roman" panose="02020603050405020304" pitchFamily="18" charset="0"/>
              </a:rPr>
              <a:t>OpenStack</a:t>
            </a:r>
            <a:r>
              <a:rPr lang="zh-CN" altLang="en-US" dirty="0">
                <a:solidFill>
                  <a:schemeClr val="tx1"/>
                </a:solidFill>
                <a:latin typeface="Times New Roman" panose="02020603050405020304" pitchFamily="18" charset="0"/>
                <a:cs typeface="Times New Roman" panose="02020603050405020304" pitchFamily="18" charset="0"/>
              </a:rPr>
              <a:t>开源云计算项目的子项目之一，被称为对象存储，其提供了强大的扩展性、冗余性和持久性。</a:t>
            </a:r>
            <a:endParaRPr lang="en-US" altLang="zh-CN" dirty="0">
              <a:solidFill>
                <a:schemeClr val="tx1"/>
              </a:solidFill>
              <a:latin typeface="Times New Roman" panose="02020603050405020304" pitchFamily="18" charset="0"/>
              <a:cs typeface="Times New Roman" panose="02020603050405020304" pitchFamily="18" charset="0"/>
            </a:endParaRPr>
          </a:p>
          <a:p>
            <a:pPr marL="0" indent="0" algn="just">
              <a:buNone/>
            </a:pPr>
            <a:r>
              <a:rPr lang="zh-CN" altLang="en-US" dirty="0">
                <a:solidFill>
                  <a:schemeClr val="tx1"/>
                </a:solidFill>
                <a:latin typeface="Times New Roman" panose="02020603050405020304" pitchFamily="18" charset="0"/>
                <a:cs typeface="Times New Roman" panose="02020603050405020304" pitchFamily="18" charset="0"/>
              </a:rPr>
              <a:t>①</a:t>
            </a:r>
            <a:r>
              <a:rPr lang="en-US" altLang="zh-CN" dirty="0" err="1">
                <a:solidFill>
                  <a:schemeClr val="tx1"/>
                </a:solidFill>
                <a:latin typeface="Times New Roman" panose="02020603050405020304" pitchFamily="18" charset="0"/>
                <a:cs typeface="Times New Roman" panose="02020603050405020304" pitchFamily="18" charset="0"/>
              </a:rPr>
              <a:t>RackSpace</a:t>
            </a:r>
            <a:r>
              <a:rPr lang="zh-CN" altLang="en-US" dirty="0">
                <a:solidFill>
                  <a:schemeClr val="tx1"/>
                </a:solidFill>
                <a:latin typeface="Times New Roman" panose="02020603050405020304" pitchFamily="18" charset="0"/>
                <a:cs typeface="Times New Roman" panose="02020603050405020304" pitchFamily="18" charset="0"/>
              </a:rPr>
              <a:t>（全球三大云计算中心之一）的开发者和工程师在</a:t>
            </a:r>
            <a:r>
              <a:rPr lang="en-US" altLang="zh-CN" dirty="0">
                <a:solidFill>
                  <a:srgbClr val="FF0000"/>
                </a:solidFill>
                <a:latin typeface="Times New Roman" panose="02020603050405020304" pitchFamily="18" charset="0"/>
                <a:cs typeface="Times New Roman" panose="02020603050405020304" pitchFamily="18" charset="0"/>
              </a:rPr>
              <a:t>2009</a:t>
            </a:r>
            <a:r>
              <a:rPr lang="zh-CN" altLang="en-US" dirty="0">
                <a:solidFill>
                  <a:schemeClr val="tx1"/>
                </a:solidFill>
                <a:latin typeface="Times New Roman" panose="02020603050405020304" pitchFamily="18" charset="0"/>
                <a:cs typeface="Times New Roman" panose="02020603050405020304" pitchFamily="18" charset="0"/>
              </a:rPr>
              <a:t>年针对快速增长的数据开始对</a:t>
            </a:r>
            <a:r>
              <a:rPr lang="en-US" altLang="zh-CN" dirty="0">
                <a:solidFill>
                  <a:schemeClr val="tx1"/>
                </a:solidFill>
                <a:latin typeface="Times New Roman" panose="02020603050405020304" pitchFamily="18" charset="0"/>
                <a:cs typeface="Times New Roman" panose="02020603050405020304" pitchFamily="18" charset="0"/>
              </a:rPr>
              <a:t>Swift</a:t>
            </a:r>
            <a:r>
              <a:rPr lang="zh-CN" altLang="en-US" dirty="0">
                <a:solidFill>
                  <a:schemeClr val="tx1"/>
                </a:solidFill>
                <a:latin typeface="Times New Roman" panose="02020603050405020304" pitchFamily="18" charset="0"/>
                <a:cs typeface="Times New Roman" panose="02020603050405020304" pitchFamily="18" charset="0"/>
              </a:rPr>
              <a:t>进行研发</a:t>
            </a:r>
            <a:endParaRPr lang="en-US" altLang="zh-CN" dirty="0">
              <a:solidFill>
                <a:schemeClr val="tx1"/>
              </a:solidFill>
              <a:latin typeface="Times New Roman" panose="02020603050405020304" pitchFamily="18" charset="0"/>
              <a:cs typeface="Times New Roman" panose="02020603050405020304" pitchFamily="18" charset="0"/>
            </a:endParaRPr>
          </a:p>
          <a:p>
            <a:pPr marL="0" indent="0" algn="just">
              <a:buNone/>
            </a:pPr>
            <a:r>
              <a:rPr lang="zh-CN" altLang="en-US" dirty="0">
                <a:solidFill>
                  <a:schemeClr val="tx1"/>
                </a:solidFill>
                <a:latin typeface="Times New Roman" panose="02020603050405020304" pitchFamily="18" charset="0"/>
                <a:cs typeface="Times New Roman" panose="02020603050405020304" pitchFamily="18" charset="0"/>
              </a:rPr>
              <a:t>②于</a:t>
            </a:r>
            <a:r>
              <a:rPr lang="en-US" altLang="zh-CN" dirty="0">
                <a:solidFill>
                  <a:srgbClr val="FF0000"/>
                </a:solidFill>
                <a:latin typeface="Times New Roman" panose="02020603050405020304" pitchFamily="18" charset="0"/>
                <a:cs typeface="Times New Roman" panose="02020603050405020304" pitchFamily="18" charset="0"/>
              </a:rPr>
              <a:t>2010</a:t>
            </a:r>
            <a:r>
              <a:rPr lang="zh-CN" altLang="en-US" dirty="0">
                <a:solidFill>
                  <a:srgbClr val="FF0000"/>
                </a:solidFill>
                <a:latin typeface="Times New Roman" panose="02020603050405020304" pitchFamily="18" charset="0"/>
                <a:cs typeface="Times New Roman" panose="02020603050405020304" pitchFamily="18" charset="0"/>
              </a:rPr>
              <a:t>年</a:t>
            </a:r>
            <a:r>
              <a:rPr lang="zh-CN" altLang="en-US" dirty="0">
                <a:solidFill>
                  <a:schemeClr val="tx1"/>
                </a:solidFill>
                <a:latin typeface="Times New Roman" panose="02020603050405020304" pitchFamily="18" charset="0"/>
                <a:cs typeface="Times New Roman" panose="02020603050405020304" pitchFamily="18" charset="0"/>
              </a:rPr>
              <a:t>开发出了一个可以替代原有存储系统的对象存储系统。</a:t>
            </a:r>
            <a:endParaRPr lang="en-US" altLang="zh-CN" dirty="0">
              <a:solidFill>
                <a:schemeClr val="tx1"/>
              </a:solidFill>
              <a:latin typeface="Times New Roman" panose="02020603050405020304" pitchFamily="18" charset="0"/>
              <a:cs typeface="Times New Roman" panose="02020603050405020304" pitchFamily="18" charset="0"/>
            </a:endParaRPr>
          </a:p>
          <a:p>
            <a:pPr marL="0" indent="0" algn="just">
              <a:buNone/>
            </a:pPr>
            <a:r>
              <a:rPr lang="zh-CN" altLang="en-US" dirty="0">
                <a:solidFill>
                  <a:schemeClr val="tx1"/>
                </a:solidFill>
                <a:latin typeface="Times New Roman" panose="02020603050405020304" pitchFamily="18" charset="0"/>
                <a:cs typeface="Times New Roman" panose="02020603050405020304" pitchFamily="18" charset="0"/>
              </a:rPr>
              <a:t>③</a:t>
            </a:r>
            <a:r>
              <a:rPr lang="zh-CN" altLang="en-US" dirty="0">
                <a:solidFill>
                  <a:srgbClr val="FF0000"/>
                </a:solidFill>
                <a:latin typeface="Times New Roman" panose="02020603050405020304" pitchFamily="18" charset="0"/>
                <a:cs typeface="Times New Roman" panose="02020603050405020304" pitchFamily="18" charset="0"/>
              </a:rPr>
              <a:t>同年</a:t>
            </a:r>
            <a:r>
              <a:rPr lang="en-US" altLang="zh-CN" dirty="0">
                <a:solidFill>
                  <a:srgbClr val="FF0000"/>
                </a:solidFill>
                <a:latin typeface="Times New Roman" panose="02020603050405020304" pitchFamily="18" charset="0"/>
                <a:cs typeface="Times New Roman" panose="02020603050405020304" pitchFamily="18" charset="0"/>
              </a:rPr>
              <a:t>7</a:t>
            </a:r>
            <a:r>
              <a:rPr lang="zh-CN" altLang="en-US" dirty="0">
                <a:solidFill>
                  <a:srgbClr val="FF0000"/>
                </a:solidFill>
                <a:latin typeface="Times New Roman" panose="02020603050405020304" pitchFamily="18" charset="0"/>
                <a:cs typeface="Times New Roman" panose="02020603050405020304" pitchFamily="18" charset="0"/>
              </a:rPr>
              <a:t>月</a:t>
            </a:r>
            <a:r>
              <a:rPr lang="zh-CN" altLang="en-US"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RackSpace</a:t>
            </a:r>
            <a:r>
              <a:rPr lang="zh-CN" altLang="en-US" dirty="0">
                <a:latin typeface="Times New Roman" panose="02020603050405020304" pitchFamily="18" charset="0"/>
                <a:cs typeface="Times New Roman" panose="02020603050405020304" pitchFamily="18" charset="0"/>
              </a:rPr>
              <a:t>将</a:t>
            </a:r>
            <a:r>
              <a:rPr lang="en-US" altLang="zh-CN" dirty="0">
                <a:latin typeface="Times New Roman" panose="02020603050405020304" pitchFamily="18" charset="0"/>
                <a:cs typeface="Times New Roman" panose="02020603050405020304" pitchFamily="18" charset="0"/>
              </a:rPr>
              <a:t>Swift</a:t>
            </a:r>
            <a:r>
              <a:rPr lang="zh-CN" altLang="en-US" dirty="0">
                <a:latin typeface="Times New Roman" panose="02020603050405020304" pitchFamily="18" charset="0"/>
                <a:cs typeface="Times New Roman" panose="02020603050405020304" pitchFamily="18" charset="0"/>
              </a:rPr>
              <a:t>贡献给</a:t>
            </a:r>
            <a:r>
              <a:rPr lang="en-US" altLang="zh-CN" dirty="0">
                <a:latin typeface="Times New Roman" panose="02020603050405020304" pitchFamily="18" charset="0"/>
                <a:cs typeface="Times New Roman" panose="02020603050405020304" pitchFamily="18" charset="0"/>
              </a:rPr>
              <a:t>OpenStack</a:t>
            </a:r>
            <a:r>
              <a:rPr lang="zh-CN" altLang="en-US" dirty="0">
                <a:latin typeface="Times New Roman" panose="02020603050405020304" pitchFamily="18" charset="0"/>
                <a:cs typeface="Times New Roman" panose="02020603050405020304" pitchFamily="18" charset="0"/>
              </a:rPr>
              <a:t>开源社区作为其最初的核心子项目之一，为其</a:t>
            </a:r>
            <a:r>
              <a:rPr lang="en-US" altLang="zh-CN" dirty="0">
                <a:latin typeface="Times New Roman" panose="02020603050405020304" pitchFamily="18" charset="0"/>
                <a:cs typeface="Times New Roman" panose="02020603050405020304" pitchFamily="18" charset="0"/>
              </a:rPr>
              <a:t>Nova</a:t>
            </a:r>
            <a:r>
              <a:rPr lang="zh-CN" altLang="en-US" dirty="0">
                <a:latin typeface="Times New Roman" panose="02020603050405020304" pitchFamily="18" charset="0"/>
                <a:cs typeface="Times New Roman" panose="02020603050405020304" pitchFamily="18" charset="0"/>
              </a:rPr>
              <a:t>子项目提供虚机镜像存储服务。至此，</a:t>
            </a:r>
            <a:r>
              <a:rPr lang="en-US" altLang="zh-CN" dirty="0">
                <a:latin typeface="Times New Roman" panose="02020603050405020304" pitchFamily="18" charset="0"/>
                <a:cs typeface="Times New Roman" panose="02020603050405020304" pitchFamily="18" charset="0"/>
              </a:rPr>
              <a:t>Swift</a:t>
            </a:r>
            <a:r>
              <a:rPr lang="zh-CN" altLang="en-US" dirty="0">
                <a:latin typeface="Times New Roman" panose="02020603050405020304" pitchFamily="18" charset="0"/>
                <a:cs typeface="Times New Roman" panose="02020603050405020304" pitchFamily="18" charset="0"/>
              </a:rPr>
              <a:t>成为了一个开源的超量存储系统。</a:t>
            </a:r>
          </a:p>
          <a:p>
            <a:pPr marL="0" indent="0" algn="just">
              <a:buNone/>
            </a:pPr>
            <a:endParaRPr lang="zh-CN" altLang="en-US" dirty="0">
              <a:latin typeface="Times New Roman" panose="02020603050405020304" pitchFamily="18" charset="0"/>
              <a:cs typeface="Times New Roman" panose="02020603050405020304" pitchFamily="18" charset="0"/>
            </a:endParaRPr>
          </a:p>
        </p:txBody>
      </p:sp>
      <p:sp>
        <p:nvSpPr>
          <p:cNvPr id="22" name="矩形 21"/>
          <p:cNvSpPr/>
          <p:nvPr/>
        </p:nvSpPr>
        <p:spPr>
          <a:xfrm>
            <a:off x="-14514" y="2134394"/>
            <a:ext cx="12198350" cy="152400"/>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14514" y="6472028"/>
            <a:ext cx="12198350" cy="41358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0" y="6290215"/>
            <a:ext cx="12198350" cy="88503"/>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131974" y="-1"/>
            <a:ext cx="11520000" cy="2053082"/>
            <a:chOff x="131974" y="-1"/>
            <a:chExt cx="11520000" cy="2053082"/>
          </a:xfrm>
        </p:grpSpPr>
        <p:grpSp>
          <p:nvGrpSpPr>
            <p:cNvPr id="9" name="组合 8"/>
            <p:cNvGrpSpPr/>
            <p:nvPr/>
          </p:nvGrpSpPr>
          <p:grpSpPr>
            <a:xfrm>
              <a:off x="131974" y="-1"/>
              <a:ext cx="11520000" cy="1016152"/>
              <a:chOff x="131974" y="-1"/>
              <a:chExt cx="11520000" cy="1016152"/>
            </a:xfrm>
          </p:grpSpPr>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3" name="矩形 12"/>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4"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10" name="文本框 9"/>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1" name="文本框 10"/>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的发展历程</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8713160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12564" y="2362993"/>
            <a:ext cx="12188961" cy="403860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452664" y="2457116"/>
            <a:ext cx="11280457" cy="3505200"/>
          </a:xfrm>
          <a:prstGeom prst="rect">
            <a:avLst/>
          </a:prstGeom>
        </p:spPr>
        <p:txBody>
          <a:bodyPr vert="horz" lIns="121917" tIns="60958" rIns="121917" bIns="60958" rtlCol="0">
            <a:noAutofit/>
          </a:bodyPr>
          <a:lstStyle/>
          <a:p>
            <a:pPr algn="just">
              <a:lnSpc>
                <a:spcPct val="130000"/>
              </a:lnSpc>
              <a:spcBef>
                <a:spcPct val="20000"/>
              </a:spcBef>
              <a:buSzPct val="80000"/>
              <a:buFont typeface="Wingdings" pitchFamily="2" charset="2"/>
              <a:buNone/>
            </a:pPr>
            <a:r>
              <a:rPr lang="en-US" altLang="zh-CN" sz="2000"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rPr>
              <a:t>Swift</a:t>
            </a:r>
            <a:r>
              <a:rPr lang="zh-CN" altLang="en-US" sz="2000" dirty="0">
                <a:latin typeface="Times New Roman" panose="02020603050405020304" pitchFamily="18" charset="0"/>
                <a:cs typeface="Times New Roman" panose="02020603050405020304" pitchFamily="18" charset="0"/>
              </a:rPr>
              <a:t>是一个可以存放大量</a:t>
            </a:r>
            <a:r>
              <a:rPr lang="zh-CN" altLang="en-US" sz="2000" dirty="0">
                <a:solidFill>
                  <a:srgbClr val="FF0000"/>
                </a:solidFill>
                <a:latin typeface="Times New Roman" panose="02020603050405020304" pitchFamily="18" charset="0"/>
                <a:cs typeface="Times New Roman" panose="02020603050405020304" pitchFamily="18" charset="0"/>
              </a:rPr>
              <a:t>非结构化数据的、支持多租户的、可以高扩展的持久性对象存储系统</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Swift</a:t>
            </a:r>
            <a:r>
              <a:rPr lang="zh-CN" altLang="en-US" sz="2000" dirty="0">
                <a:latin typeface="Times New Roman" panose="02020603050405020304" pitchFamily="18" charset="0"/>
                <a:cs typeface="Times New Roman" panose="02020603050405020304" pitchFamily="18" charset="0"/>
              </a:rPr>
              <a:t>通过</a:t>
            </a:r>
            <a:r>
              <a:rPr lang="en-US" altLang="zh-CN" sz="2000" dirty="0">
                <a:latin typeface="Times New Roman" panose="02020603050405020304" pitchFamily="18" charset="0"/>
                <a:cs typeface="Times New Roman" panose="02020603050405020304" pitchFamily="18" charset="0"/>
              </a:rPr>
              <a:t>REST API</a:t>
            </a:r>
            <a:r>
              <a:rPr lang="zh-CN" altLang="en-US" sz="2000" dirty="0">
                <a:latin typeface="Times New Roman" panose="02020603050405020304" pitchFamily="18" charset="0"/>
                <a:cs typeface="Times New Roman" panose="02020603050405020304" pitchFamily="18" charset="0"/>
              </a:rPr>
              <a:t>来存放、检索和删除容器中的对象。开发者可以直接通过</a:t>
            </a:r>
            <a:r>
              <a:rPr lang="en-US" altLang="zh-CN" sz="2000" dirty="0">
                <a:latin typeface="Times New Roman" panose="02020603050405020304" pitchFamily="18" charset="0"/>
                <a:cs typeface="Times New Roman" panose="02020603050405020304" pitchFamily="18" charset="0"/>
              </a:rPr>
              <a:t>Swift API</a:t>
            </a:r>
            <a:r>
              <a:rPr lang="zh-CN" altLang="en-US" sz="2000" dirty="0">
                <a:latin typeface="Times New Roman" panose="02020603050405020304" pitchFamily="18" charset="0"/>
                <a:cs typeface="Times New Roman" panose="02020603050405020304" pitchFamily="18" charset="0"/>
              </a:rPr>
              <a:t>使用</a:t>
            </a:r>
            <a:r>
              <a:rPr lang="en-US" altLang="zh-CN" sz="2000" dirty="0">
                <a:latin typeface="Times New Roman" panose="02020603050405020304" pitchFamily="18" charset="0"/>
                <a:cs typeface="Times New Roman" panose="02020603050405020304" pitchFamily="18" charset="0"/>
              </a:rPr>
              <a:t>Swift</a:t>
            </a:r>
            <a:r>
              <a:rPr lang="zh-CN" altLang="en-US" sz="2000" dirty="0">
                <a:latin typeface="Times New Roman" panose="02020603050405020304" pitchFamily="18" charset="0"/>
                <a:cs typeface="Times New Roman" panose="02020603050405020304" pitchFamily="18" charset="0"/>
              </a:rPr>
              <a:t>服务，也可以通过多种语言的客户库程序中的任何一个进行使用，例如</a:t>
            </a:r>
            <a:r>
              <a:rPr lang="en-US" altLang="zh-CN" sz="2000" dirty="0">
                <a:latin typeface="Times New Roman" panose="02020603050405020304" pitchFamily="18" charset="0"/>
                <a:cs typeface="Times New Roman" panose="02020603050405020304" pitchFamily="18" charset="0"/>
              </a:rPr>
              <a:t>Java</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Python</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PHP</a:t>
            </a:r>
            <a:r>
              <a:rPr lang="zh-CN" altLang="en-US" sz="2000" dirty="0">
                <a:latin typeface="Times New Roman" panose="02020603050405020304" pitchFamily="18" charset="0"/>
                <a:cs typeface="Times New Roman" panose="02020603050405020304" pitchFamily="18" charset="0"/>
              </a:rPr>
              <a:t>和</a:t>
            </a:r>
            <a:r>
              <a:rPr lang="en-US" altLang="zh-CN" sz="2000" dirty="0">
                <a:latin typeface="Times New Roman" panose="02020603050405020304" pitchFamily="18" charset="0"/>
                <a:cs typeface="Times New Roman" panose="02020603050405020304" pitchFamily="18" charset="0"/>
              </a:rPr>
              <a:t>C#</a:t>
            </a:r>
            <a:r>
              <a:rPr lang="zh-CN" altLang="en-US"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algn="just">
              <a:lnSpc>
                <a:spcPct val="130000"/>
              </a:lnSpc>
              <a:spcBef>
                <a:spcPct val="20000"/>
              </a:spcBef>
              <a:buSzPct val="80000"/>
              <a:buFont typeface="Wingdings" pitchFamily="2" charset="2"/>
              <a:buNone/>
            </a:pPr>
            <a:r>
              <a:rPr lang="zh-CN" altLang="en-US" sz="2000" dirty="0">
                <a:latin typeface="Times New Roman" panose="02020603050405020304" pitchFamily="18" charset="0"/>
                <a:cs typeface="Times New Roman" panose="02020603050405020304" pitchFamily="18" charset="0"/>
              </a:rPr>
              <a:t>      它与传统的存储系统不同，</a:t>
            </a:r>
            <a:r>
              <a:rPr lang="en-US" altLang="zh-CN" sz="2000" dirty="0">
                <a:latin typeface="Times New Roman" panose="02020603050405020304" pitchFamily="18" charset="0"/>
                <a:cs typeface="Times New Roman" panose="02020603050405020304" pitchFamily="18" charset="0"/>
              </a:rPr>
              <a:t>Swift</a:t>
            </a:r>
            <a:r>
              <a:rPr lang="zh-CN" altLang="en-US" sz="2000" dirty="0">
                <a:latin typeface="Times New Roman" panose="02020603050405020304" pitchFamily="18" charset="0"/>
                <a:cs typeface="Times New Roman" panose="02020603050405020304" pitchFamily="18" charset="0"/>
              </a:rPr>
              <a:t>采用的是</a:t>
            </a:r>
            <a:r>
              <a:rPr lang="zh-CN" altLang="en-US" sz="2000" dirty="0">
                <a:solidFill>
                  <a:srgbClr val="FF0000"/>
                </a:solidFill>
                <a:latin typeface="Times New Roman" panose="02020603050405020304" pitchFamily="18" charset="0"/>
                <a:cs typeface="Times New Roman" panose="02020603050405020304" pitchFamily="18" charset="0"/>
              </a:rPr>
              <a:t>“数据最终一致”</a:t>
            </a:r>
            <a:r>
              <a:rPr lang="zh-CN" altLang="en-US" sz="2000" dirty="0">
                <a:latin typeface="Times New Roman" panose="02020603050405020304" pitchFamily="18" charset="0"/>
                <a:cs typeface="Times New Roman" panose="02020603050405020304" pitchFamily="18" charset="0"/>
              </a:rPr>
              <a:t>的设计思想。这种设计使得</a:t>
            </a:r>
            <a:r>
              <a:rPr lang="en-US" altLang="zh-CN" sz="2000" dirty="0">
                <a:latin typeface="Times New Roman" panose="02020603050405020304" pitchFamily="18" charset="0"/>
                <a:cs typeface="Times New Roman" panose="02020603050405020304" pitchFamily="18" charset="0"/>
              </a:rPr>
              <a:t>Swift</a:t>
            </a:r>
            <a:r>
              <a:rPr lang="zh-CN" altLang="en-US" sz="2000" dirty="0">
                <a:latin typeface="Times New Roman" panose="02020603050405020304" pitchFamily="18" charset="0"/>
                <a:cs typeface="Times New Roman" panose="02020603050405020304" pitchFamily="18" charset="0"/>
              </a:rPr>
              <a:t>可以支持极大数量的并发连接和超量的数据集合。</a:t>
            </a:r>
            <a:r>
              <a:rPr lang="en-US" altLang="zh-CN" sz="2000" dirty="0">
                <a:latin typeface="Times New Roman" panose="02020603050405020304" pitchFamily="18" charset="0"/>
                <a:cs typeface="Times New Roman" panose="02020603050405020304" pitchFamily="18" charset="0"/>
              </a:rPr>
              <a:t>Swift</a:t>
            </a:r>
            <a:r>
              <a:rPr lang="zh-CN" altLang="en-US" sz="2000" dirty="0">
                <a:latin typeface="Times New Roman" panose="02020603050405020304" pitchFamily="18" charset="0"/>
                <a:cs typeface="Times New Roman" panose="02020603050405020304" pitchFamily="18" charset="0"/>
              </a:rPr>
              <a:t>使用普通的服务器来构建强大的具有扩展性、冗余性和持久性的分布式对象存储集群，存储容量可达</a:t>
            </a:r>
            <a:r>
              <a:rPr lang="en-US" altLang="zh-CN" sz="2000" dirty="0">
                <a:latin typeface="Times New Roman" panose="02020603050405020304" pitchFamily="18" charset="0"/>
                <a:cs typeface="Times New Roman" panose="02020603050405020304" pitchFamily="18" charset="0"/>
              </a:rPr>
              <a:t>PB</a:t>
            </a:r>
            <a:r>
              <a:rPr lang="zh-CN" altLang="en-US" sz="2000" dirty="0">
                <a:latin typeface="Times New Roman" panose="02020603050405020304" pitchFamily="18" charset="0"/>
                <a:cs typeface="Times New Roman" panose="02020603050405020304" pitchFamily="18" charset="0"/>
              </a:rPr>
              <a:t>级。</a:t>
            </a:r>
            <a:r>
              <a:rPr lang="en-US" altLang="zh-CN" sz="2000" dirty="0">
                <a:latin typeface="Times New Roman" panose="02020603050405020304" pitchFamily="18" charset="0"/>
                <a:cs typeface="Times New Roman" panose="02020603050405020304" pitchFamily="18" charset="0"/>
              </a:rPr>
              <a:t>Swift</a:t>
            </a:r>
            <a:r>
              <a:rPr lang="zh-CN" altLang="en-US" sz="2000" dirty="0">
                <a:latin typeface="Times New Roman" panose="02020603050405020304" pitchFamily="18" charset="0"/>
                <a:cs typeface="Times New Roman" panose="02020603050405020304" pitchFamily="18" charset="0"/>
              </a:rPr>
              <a:t>支持横向扩展，且没有单点故障，极大地降低了系统维护成本。此外，</a:t>
            </a:r>
            <a:r>
              <a:rPr lang="en-US" altLang="zh-CN" sz="2000" dirty="0">
                <a:latin typeface="Times New Roman" panose="02020603050405020304" pitchFamily="18" charset="0"/>
                <a:cs typeface="Times New Roman" panose="02020603050405020304" pitchFamily="18" charset="0"/>
              </a:rPr>
              <a:t>Swift</a:t>
            </a:r>
            <a:r>
              <a:rPr lang="zh-CN" altLang="en-US" sz="2000" dirty="0">
                <a:latin typeface="Times New Roman" panose="02020603050405020304" pitchFamily="18" charset="0"/>
                <a:cs typeface="Times New Roman" panose="02020603050405020304" pitchFamily="18" charset="0"/>
              </a:rPr>
              <a:t>还可以通过互联网直接使用，同时为多个应用提供数据存储服务。</a:t>
            </a:r>
          </a:p>
        </p:txBody>
      </p:sp>
      <p:sp>
        <p:nvSpPr>
          <p:cNvPr id="7" name="矩形 6"/>
          <p:cNvSpPr/>
          <p:nvPr/>
        </p:nvSpPr>
        <p:spPr>
          <a:xfrm>
            <a:off x="0" y="2286793"/>
            <a:ext cx="12185786" cy="76199"/>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131974" y="-1"/>
            <a:ext cx="11520000" cy="2053082"/>
            <a:chOff x="131974" y="-1"/>
            <a:chExt cx="11520000" cy="2053082"/>
          </a:xfrm>
        </p:grpSpPr>
        <p:grpSp>
          <p:nvGrpSpPr>
            <p:cNvPr id="10" name="组合 9"/>
            <p:cNvGrpSpPr/>
            <p:nvPr/>
          </p:nvGrpSpPr>
          <p:grpSpPr>
            <a:xfrm>
              <a:off x="131974" y="-1"/>
              <a:ext cx="11520000" cy="1016152"/>
              <a:chOff x="131974" y="-1"/>
              <a:chExt cx="11520000" cy="1016152"/>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4" name="矩形 13"/>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5"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11" name="文本框 10"/>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文本框 11"/>
            <p:cNvSpPr txBox="1"/>
            <p:nvPr/>
          </p:nvSpPr>
          <p:spPr>
            <a:xfrm>
              <a:off x="612896" y="1591416"/>
              <a:ext cx="2143536"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的特性</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2496253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3175" y="2256718"/>
            <a:ext cx="12188961" cy="460287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noAutofit/>
          </a:bodyPr>
          <a:lstStyle/>
          <a:p>
            <a:pPr algn="just"/>
            <a:r>
              <a:rPr lang="en-US" altLang="zh-CN" sz="2000" dirty="0">
                <a:solidFill>
                  <a:schemeClr val="tx1"/>
                </a:solidFill>
                <a:latin typeface="Times New Roman" panose="02020603050405020304" pitchFamily="18" charset="0"/>
                <a:cs typeface="Times New Roman" panose="02020603050405020304" pitchFamily="18" charset="0"/>
              </a:rPr>
              <a:t>       Swift</a:t>
            </a:r>
            <a:r>
              <a:rPr lang="zh-CN" altLang="en-US" sz="2000" dirty="0">
                <a:solidFill>
                  <a:schemeClr val="tx1"/>
                </a:solidFill>
                <a:latin typeface="Times New Roman" panose="02020603050405020304" pitchFamily="18" charset="0"/>
                <a:cs typeface="Times New Roman" panose="02020603050405020304" pitchFamily="18" charset="0"/>
              </a:rPr>
              <a:t>提供了高可用、分布式、持久性、大文件的对象存储服务。提供一系列价格便宜的硬件存储设备，提供安全、高效又可靠的存储服务。</a:t>
            </a:r>
            <a:endParaRPr lang="en-US" altLang="zh-CN" sz="2000" dirty="0">
              <a:solidFill>
                <a:schemeClr val="tx1"/>
              </a:solidFill>
              <a:latin typeface="Times New Roman" panose="02020603050405020304" pitchFamily="18" charset="0"/>
              <a:cs typeface="Times New Roman" panose="02020603050405020304" pitchFamily="18" charset="0"/>
            </a:endParaRPr>
          </a:p>
          <a:p>
            <a:pPr algn="just"/>
            <a:endParaRPr lang="en-US" altLang="zh-CN" sz="2000" dirty="0">
              <a:solidFill>
                <a:schemeClr val="tx1"/>
              </a:solidFill>
              <a:latin typeface="Times New Roman" panose="02020603050405020304" pitchFamily="18" charset="0"/>
              <a:cs typeface="Times New Roman" panose="02020603050405020304" pitchFamily="18" charset="0"/>
            </a:endParaRPr>
          </a:p>
          <a:p>
            <a:pPr algn="just">
              <a:lnSpc>
                <a:spcPct val="130000"/>
              </a:lnSpc>
            </a:pPr>
            <a:r>
              <a:rPr lang="en-US" altLang="zh-CN" sz="1600" dirty="0">
                <a:solidFill>
                  <a:srgbClr val="FF0000"/>
                </a:solidFill>
                <a:latin typeface="Times New Roman" panose="02020603050405020304" pitchFamily="18" charset="0"/>
                <a:cs typeface="Times New Roman" panose="02020603050405020304" pitchFamily="18" charset="0"/>
              </a:rPr>
              <a:t>1.</a:t>
            </a:r>
            <a:r>
              <a:rPr lang="zh-CN" altLang="en-US" sz="1600" dirty="0">
                <a:solidFill>
                  <a:srgbClr val="FF0000"/>
                </a:solidFill>
                <a:latin typeface="Times New Roman" panose="02020603050405020304" pitchFamily="18" charset="0"/>
                <a:cs typeface="Times New Roman" panose="02020603050405020304" pitchFamily="18" charset="0"/>
              </a:rPr>
              <a:t>数据持久性：</a:t>
            </a:r>
            <a:r>
              <a:rPr lang="zh-CN" altLang="en-US" sz="1600" dirty="0">
                <a:solidFill>
                  <a:schemeClr val="tx1"/>
                </a:solidFill>
                <a:latin typeface="Times New Roman" panose="02020603050405020304" pitchFamily="18" charset="0"/>
                <a:cs typeface="Times New Roman" panose="02020603050405020304" pitchFamily="18" charset="0"/>
              </a:rPr>
              <a:t>用户数据存储到系统中丢失的可能性。为了防止数据丢失，</a:t>
            </a:r>
            <a:r>
              <a:rPr lang="en-US" altLang="zh-CN" sz="1600" dirty="0">
                <a:solidFill>
                  <a:schemeClr val="tx1"/>
                </a:solidFill>
                <a:latin typeface="Times New Roman" panose="02020603050405020304" pitchFamily="18" charset="0"/>
                <a:cs typeface="Times New Roman" panose="02020603050405020304" pitchFamily="18" charset="0"/>
              </a:rPr>
              <a:t>Swift</a:t>
            </a:r>
            <a:r>
              <a:rPr lang="zh-CN" altLang="en-US" sz="1600" dirty="0">
                <a:solidFill>
                  <a:schemeClr val="tx1"/>
                </a:solidFill>
                <a:latin typeface="Times New Roman" panose="02020603050405020304" pitchFamily="18" charset="0"/>
                <a:cs typeface="Times New Roman" panose="02020603050405020304" pitchFamily="18" charset="0"/>
              </a:rPr>
              <a:t>采用了冗余</a:t>
            </a:r>
            <a:r>
              <a:rPr lang="en-US" altLang="zh-CN" sz="1600" dirty="0">
                <a:solidFill>
                  <a:schemeClr val="tx1"/>
                </a:solidFill>
                <a:latin typeface="Times New Roman" panose="02020603050405020304" pitchFamily="18" charset="0"/>
                <a:cs typeface="Times New Roman" panose="02020603050405020304" pitchFamily="18" charset="0"/>
              </a:rPr>
              <a:t>Replica</a:t>
            </a:r>
            <a:r>
              <a:rPr lang="zh-CN" altLang="en-US" sz="1600" dirty="0">
                <a:solidFill>
                  <a:schemeClr val="tx1"/>
                </a:solidFill>
                <a:latin typeface="Times New Roman" panose="02020603050405020304" pitchFamily="18" charset="0"/>
                <a:cs typeface="Times New Roman" panose="02020603050405020304" pitchFamily="18" charset="0"/>
              </a:rPr>
              <a:t>（副本）的处理方法。</a:t>
            </a:r>
            <a:r>
              <a:rPr lang="en-US" altLang="zh-CN" sz="1600" dirty="0">
                <a:solidFill>
                  <a:schemeClr val="tx1"/>
                </a:solidFill>
                <a:latin typeface="Times New Roman" panose="02020603050405020304" pitchFamily="18" charset="0"/>
                <a:cs typeface="Times New Roman" panose="02020603050405020304" pitchFamily="18" charset="0"/>
              </a:rPr>
              <a:t>Replica</a:t>
            </a:r>
            <a:r>
              <a:rPr lang="zh-CN" altLang="en-US" sz="1600" dirty="0">
                <a:solidFill>
                  <a:schemeClr val="tx1"/>
                </a:solidFill>
                <a:latin typeface="Times New Roman" panose="02020603050405020304" pitchFamily="18" charset="0"/>
                <a:cs typeface="Times New Roman" panose="02020603050405020304" pitchFamily="18" charset="0"/>
              </a:rPr>
              <a:t>的默认值是</a:t>
            </a:r>
            <a:r>
              <a:rPr lang="en-US" altLang="zh-CN" sz="1600" dirty="0">
                <a:solidFill>
                  <a:schemeClr val="tx1"/>
                </a:solidFill>
                <a:latin typeface="Times New Roman" panose="02020603050405020304" pitchFamily="18" charset="0"/>
                <a:cs typeface="Times New Roman" panose="02020603050405020304" pitchFamily="18" charset="0"/>
              </a:rPr>
              <a:t>3</a:t>
            </a:r>
            <a:r>
              <a:rPr lang="zh-CN" altLang="en-US" sz="1600" dirty="0">
                <a:solidFill>
                  <a:schemeClr val="tx1"/>
                </a:solidFill>
                <a:latin typeface="Times New Roman" panose="02020603050405020304" pitchFamily="18" charset="0"/>
                <a:cs typeface="Times New Roman" panose="02020603050405020304" pitchFamily="18" charset="0"/>
              </a:rPr>
              <a:t>。</a:t>
            </a:r>
            <a:endParaRPr lang="en-US" altLang="zh-CN" sz="1600" dirty="0">
              <a:solidFill>
                <a:schemeClr val="tx1"/>
              </a:solidFill>
              <a:latin typeface="Times New Roman" panose="02020603050405020304" pitchFamily="18" charset="0"/>
              <a:cs typeface="Times New Roman" panose="02020603050405020304" pitchFamily="18" charset="0"/>
            </a:endParaRPr>
          </a:p>
          <a:p>
            <a:pPr algn="just">
              <a:lnSpc>
                <a:spcPct val="130000"/>
              </a:lnSpc>
            </a:pPr>
            <a:r>
              <a:rPr lang="en-US" altLang="zh-CN" sz="1600" dirty="0">
                <a:solidFill>
                  <a:srgbClr val="FF0000"/>
                </a:solidFill>
                <a:latin typeface="Times New Roman" panose="02020603050405020304" pitchFamily="18" charset="0"/>
                <a:cs typeface="Times New Roman" panose="02020603050405020304" pitchFamily="18" charset="0"/>
              </a:rPr>
              <a:t>2.</a:t>
            </a:r>
            <a:r>
              <a:rPr lang="zh-CN" altLang="en-US" sz="1600" dirty="0">
                <a:solidFill>
                  <a:srgbClr val="FF0000"/>
                </a:solidFill>
                <a:latin typeface="Times New Roman" panose="02020603050405020304" pitchFamily="18" charset="0"/>
                <a:cs typeface="Times New Roman" panose="02020603050405020304" pitchFamily="18" charset="0"/>
              </a:rPr>
              <a:t>对称性：</a:t>
            </a:r>
            <a:r>
              <a:rPr lang="zh-CN" altLang="en-US" sz="1600" dirty="0">
                <a:solidFill>
                  <a:schemeClr val="tx1"/>
                </a:solidFill>
                <a:latin typeface="Times New Roman" panose="02020603050405020304" pitchFamily="18" charset="0"/>
                <a:cs typeface="Times New Roman" panose="02020603050405020304" pitchFamily="18" charset="0"/>
              </a:rPr>
              <a:t>指</a:t>
            </a:r>
            <a:r>
              <a:rPr lang="en-US" altLang="zh-CN" sz="1600" dirty="0">
                <a:solidFill>
                  <a:schemeClr val="tx1"/>
                </a:solidFill>
                <a:latin typeface="Times New Roman" panose="02020603050405020304" pitchFamily="18" charset="0"/>
                <a:cs typeface="Times New Roman" panose="02020603050405020304" pitchFamily="18" charset="0"/>
              </a:rPr>
              <a:t>Swift</a:t>
            </a:r>
            <a:r>
              <a:rPr lang="zh-CN" altLang="en-US" sz="1600" dirty="0">
                <a:solidFill>
                  <a:schemeClr val="tx1"/>
                </a:solidFill>
                <a:latin typeface="Times New Roman" panose="02020603050405020304" pitchFamily="18" charset="0"/>
                <a:cs typeface="Times New Roman" panose="02020603050405020304" pitchFamily="18" charset="0"/>
              </a:rPr>
              <a:t>架构设计上，</a:t>
            </a:r>
            <a:r>
              <a:rPr lang="zh-CN" altLang="en-US" sz="1600" dirty="0">
                <a:solidFill>
                  <a:srgbClr val="FF0000"/>
                </a:solidFill>
                <a:latin typeface="Times New Roman" panose="02020603050405020304" pitchFamily="18" charset="0"/>
                <a:cs typeface="Times New Roman" panose="02020603050405020304" pitchFamily="18" charset="0"/>
              </a:rPr>
              <a:t>每个服务器的功能和作用均等。</a:t>
            </a:r>
            <a:r>
              <a:rPr lang="zh-CN" altLang="en-US" sz="1600" dirty="0">
                <a:solidFill>
                  <a:schemeClr val="tx1"/>
                </a:solidFill>
                <a:latin typeface="Times New Roman" panose="02020603050405020304" pitchFamily="18" charset="0"/>
                <a:cs typeface="Times New Roman" panose="02020603050405020304" pitchFamily="18" charset="0"/>
              </a:rPr>
              <a:t>提高对称性带来的便利之处是整个系统的稳定性，不会因为某个主控制服务器的失效而变得不可用。</a:t>
            </a:r>
            <a:endParaRPr lang="en-US" altLang="zh-CN" sz="1600" dirty="0">
              <a:solidFill>
                <a:schemeClr val="tx1"/>
              </a:solidFill>
              <a:latin typeface="Times New Roman" panose="02020603050405020304" pitchFamily="18" charset="0"/>
              <a:cs typeface="Times New Roman" panose="02020603050405020304" pitchFamily="18" charset="0"/>
            </a:endParaRPr>
          </a:p>
          <a:p>
            <a:pPr algn="just">
              <a:lnSpc>
                <a:spcPct val="130000"/>
              </a:lnSpc>
            </a:pPr>
            <a:r>
              <a:rPr lang="en-US" altLang="zh-CN" sz="1600" dirty="0">
                <a:solidFill>
                  <a:srgbClr val="FF0000"/>
                </a:solidFill>
                <a:latin typeface="Times New Roman" panose="02020603050405020304" pitchFamily="18" charset="0"/>
                <a:cs typeface="Times New Roman" panose="02020603050405020304" pitchFamily="18" charset="0"/>
              </a:rPr>
              <a:t>3.</a:t>
            </a:r>
            <a:r>
              <a:rPr lang="zh-CN" altLang="en-US" sz="1600" dirty="0">
                <a:solidFill>
                  <a:srgbClr val="FF0000"/>
                </a:solidFill>
                <a:latin typeface="Times New Roman" panose="02020603050405020304" pitchFamily="18" charset="0"/>
                <a:cs typeface="Times New Roman" panose="02020603050405020304" pitchFamily="18" charset="0"/>
              </a:rPr>
              <a:t>无单点故障：</a:t>
            </a:r>
            <a:r>
              <a:rPr lang="zh-CN" altLang="en-US" sz="1600" dirty="0">
                <a:solidFill>
                  <a:schemeClr val="tx1"/>
                </a:solidFill>
                <a:latin typeface="Times New Roman" panose="02020603050405020304" pitchFamily="18" charset="0"/>
                <a:cs typeface="Times New Roman" panose="02020603050405020304" pitchFamily="18" charset="0"/>
              </a:rPr>
              <a:t>每个服务器的地位完全平等，没有一个角色是单点的，因此系统的性能并不会因为某个节点而导致整个系统的不可用，此外，</a:t>
            </a:r>
            <a:r>
              <a:rPr lang="en-US" altLang="zh-CN" sz="1600" dirty="0">
                <a:solidFill>
                  <a:schemeClr val="tx1"/>
                </a:solidFill>
                <a:latin typeface="Times New Roman" panose="02020603050405020304" pitchFamily="18" charset="0"/>
                <a:cs typeface="Times New Roman" panose="02020603050405020304" pitchFamily="18" charset="0"/>
              </a:rPr>
              <a:t>Swift</a:t>
            </a:r>
            <a:r>
              <a:rPr lang="zh-CN" altLang="en-US" sz="1600" dirty="0">
                <a:solidFill>
                  <a:schemeClr val="tx1"/>
                </a:solidFill>
                <a:latin typeface="Times New Roman" panose="02020603050405020304" pitchFamily="18" charset="0"/>
                <a:cs typeface="Times New Roman" panose="02020603050405020304" pitchFamily="18" charset="0"/>
              </a:rPr>
              <a:t>对元数据处理与对象文件一样，完全多份均匀随机分布。</a:t>
            </a:r>
            <a:endParaRPr lang="en-US" altLang="zh-CN" sz="1600" dirty="0">
              <a:solidFill>
                <a:schemeClr val="tx1"/>
              </a:solidFill>
              <a:latin typeface="Times New Roman" panose="02020603050405020304" pitchFamily="18" charset="0"/>
              <a:cs typeface="Times New Roman" panose="02020603050405020304" pitchFamily="18" charset="0"/>
            </a:endParaRPr>
          </a:p>
          <a:p>
            <a:pPr algn="just">
              <a:lnSpc>
                <a:spcPct val="130000"/>
              </a:lnSpc>
            </a:pPr>
            <a:r>
              <a:rPr lang="en-US" altLang="zh-CN" sz="1600" dirty="0">
                <a:solidFill>
                  <a:srgbClr val="FF0000"/>
                </a:solidFill>
                <a:latin typeface="Times New Roman" panose="02020603050405020304" pitchFamily="18" charset="0"/>
                <a:cs typeface="Times New Roman" panose="02020603050405020304" pitchFamily="18" charset="0"/>
              </a:rPr>
              <a:t>4.</a:t>
            </a:r>
            <a:r>
              <a:rPr lang="zh-CN" altLang="en-US" sz="1600" dirty="0">
                <a:solidFill>
                  <a:srgbClr val="FF0000"/>
                </a:solidFill>
                <a:latin typeface="Times New Roman" panose="02020603050405020304" pitchFamily="18" charset="0"/>
                <a:cs typeface="Times New Roman" panose="02020603050405020304" pitchFamily="18" charset="0"/>
              </a:rPr>
              <a:t>可扩展性：</a:t>
            </a:r>
            <a:r>
              <a:rPr lang="zh-CN" altLang="en-US" sz="1600" dirty="0">
                <a:solidFill>
                  <a:schemeClr val="tx1"/>
                </a:solidFill>
                <a:latin typeface="Times New Roman" panose="02020603050405020304" pitchFamily="18" charset="0"/>
                <a:cs typeface="Times New Roman" panose="02020603050405020304" pitchFamily="18" charset="0"/>
              </a:rPr>
              <a:t>当加入新节点到</a:t>
            </a:r>
            <a:r>
              <a:rPr lang="en-US" altLang="zh-CN" sz="1600" dirty="0">
                <a:solidFill>
                  <a:schemeClr val="tx1"/>
                </a:solidFill>
                <a:latin typeface="Times New Roman" panose="02020603050405020304" pitchFamily="18" charset="0"/>
                <a:cs typeface="Times New Roman" panose="02020603050405020304" pitchFamily="18" charset="0"/>
              </a:rPr>
              <a:t>Swift</a:t>
            </a:r>
            <a:r>
              <a:rPr lang="zh-CN" altLang="en-US" sz="1600" dirty="0">
                <a:solidFill>
                  <a:schemeClr val="tx1"/>
                </a:solidFill>
                <a:latin typeface="Times New Roman" panose="02020603050405020304" pitchFamily="18" charset="0"/>
                <a:cs typeface="Times New Roman" panose="02020603050405020304" pitchFamily="18" charset="0"/>
              </a:rPr>
              <a:t>集群中的时候，系统性能会得到提高。由于采用对称性的设计。每个节点所起的作用相当，因此只需要将新的服务器加入到</a:t>
            </a:r>
            <a:r>
              <a:rPr lang="en-US" altLang="zh-CN" sz="1600" dirty="0">
                <a:solidFill>
                  <a:schemeClr val="tx1"/>
                </a:solidFill>
                <a:latin typeface="Times New Roman" panose="02020603050405020304" pitchFamily="18" charset="0"/>
                <a:cs typeface="Times New Roman" panose="02020603050405020304" pitchFamily="18" charset="0"/>
              </a:rPr>
              <a:t>Swift</a:t>
            </a:r>
            <a:r>
              <a:rPr lang="zh-CN" altLang="en-US" sz="1600" dirty="0">
                <a:solidFill>
                  <a:schemeClr val="tx1"/>
                </a:solidFill>
                <a:latin typeface="Times New Roman" panose="02020603050405020304" pitchFamily="18" charset="0"/>
                <a:cs typeface="Times New Roman" panose="02020603050405020304" pitchFamily="18" charset="0"/>
              </a:rPr>
              <a:t>系统中。新加入的服务器并未存储数据。新的服务器的地位如何想要与旧有的节点地位保持一致，就需要将</a:t>
            </a:r>
            <a:r>
              <a:rPr lang="en-US" altLang="zh-CN" sz="1600" dirty="0">
                <a:solidFill>
                  <a:schemeClr val="tx1"/>
                </a:solidFill>
                <a:latin typeface="Times New Roman" panose="02020603050405020304" pitchFamily="18" charset="0"/>
                <a:cs typeface="Times New Roman" panose="02020603050405020304" pitchFamily="18" charset="0"/>
              </a:rPr>
              <a:t>Swift</a:t>
            </a:r>
            <a:r>
              <a:rPr lang="zh-CN" altLang="en-US" sz="1600" dirty="0">
                <a:solidFill>
                  <a:schemeClr val="tx1"/>
                </a:solidFill>
                <a:latin typeface="Times New Roman" panose="02020603050405020304" pitchFamily="18" charset="0"/>
                <a:cs typeface="Times New Roman" panose="02020603050405020304" pitchFamily="18" charset="0"/>
              </a:rPr>
              <a:t>中以及存在的数据进行迁移，迁移的结果是保持每个服务器的地位完全平等。当存储数据量上升之后，扩容会面临大量数据的迁移。对称性设计带来的数据迁移也制约着</a:t>
            </a:r>
            <a:r>
              <a:rPr lang="en-US" altLang="zh-CN" sz="1600" dirty="0">
                <a:solidFill>
                  <a:schemeClr val="tx1"/>
                </a:solidFill>
                <a:latin typeface="Times New Roman" panose="02020603050405020304" pitchFamily="18" charset="0"/>
                <a:cs typeface="Times New Roman" panose="02020603050405020304" pitchFamily="18" charset="0"/>
              </a:rPr>
              <a:t>Swift</a:t>
            </a:r>
            <a:r>
              <a:rPr lang="zh-CN" altLang="en-US" sz="1600" dirty="0">
                <a:solidFill>
                  <a:schemeClr val="tx1"/>
                </a:solidFill>
                <a:latin typeface="Times New Roman" panose="02020603050405020304" pitchFamily="18" charset="0"/>
                <a:cs typeface="Times New Roman" panose="02020603050405020304" pitchFamily="18" charset="0"/>
              </a:rPr>
              <a:t>系统的推广与使用。</a:t>
            </a:r>
          </a:p>
        </p:txBody>
      </p:sp>
      <p:sp>
        <p:nvSpPr>
          <p:cNvPr id="7" name="矩形 6"/>
          <p:cNvSpPr/>
          <p:nvPr/>
        </p:nvSpPr>
        <p:spPr>
          <a:xfrm>
            <a:off x="0" y="2134395"/>
            <a:ext cx="12185786" cy="76199"/>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131974" y="-1"/>
            <a:ext cx="11520000" cy="2053082"/>
            <a:chOff x="131974" y="-1"/>
            <a:chExt cx="11520000" cy="2053082"/>
          </a:xfrm>
        </p:grpSpPr>
        <p:grpSp>
          <p:nvGrpSpPr>
            <p:cNvPr id="10" name="组合 9"/>
            <p:cNvGrpSpPr/>
            <p:nvPr/>
          </p:nvGrpSpPr>
          <p:grpSpPr>
            <a:xfrm>
              <a:off x="131974" y="-1"/>
              <a:ext cx="11520000" cy="1016152"/>
              <a:chOff x="131974" y="-1"/>
              <a:chExt cx="11520000" cy="1016152"/>
            </a:xfrm>
          </p:grpSpPr>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4" name="矩形 13"/>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5"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11" name="文本框 10"/>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文本框 11"/>
            <p:cNvSpPr txBox="1"/>
            <p:nvPr/>
          </p:nvSpPr>
          <p:spPr>
            <a:xfrm>
              <a:off x="612896" y="1591416"/>
              <a:ext cx="2143536"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的功能</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9912899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圆角矩形 19"/>
          <p:cNvSpPr/>
          <p:nvPr/>
        </p:nvSpPr>
        <p:spPr>
          <a:xfrm>
            <a:off x="688975" y="2210594"/>
            <a:ext cx="11122544" cy="3733800"/>
          </a:xfrm>
          <a:prstGeom prst="roundRect">
            <a:avLst>
              <a:gd name="adj" fmla="val 10641"/>
            </a:avLst>
          </a:prstGeom>
          <a:solidFill>
            <a:schemeClr val="bg1">
              <a:lumMod val="95000"/>
            </a:schemeClr>
          </a:solidFill>
          <a:ln w="57150">
            <a:solidFill>
              <a:srgbClr val="FF66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idx="4294967295"/>
          </p:nvPr>
        </p:nvSpPr>
        <p:spPr>
          <a:xfrm>
            <a:off x="4726246" y="2237114"/>
            <a:ext cx="1524000" cy="428625"/>
          </a:xfrm>
          <a:prstGeom prst="rect">
            <a:avLst/>
          </a:prstGeom>
        </p:spPr>
        <p:txBody>
          <a:bodyPr/>
          <a:lstStyle/>
          <a:p>
            <a:r>
              <a:rPr lang="en-US" altLang="zh-CN" b="1" dirty="0">
                <a:solidFill>
                  <a:schemeClr val="tx1"/>
                </a:solidFill>
                <a:latin typeface="Times New Roman" panose="02020603050405020304" pitchFamily="18" charset="0"/>
                <a:ea typeface="+mn-ea"/>
                <a:cs typeface="Times New Roman" panose="02020603050405020304" pitchFamily="18" charset="0"/>
              </a:rPr>
              <a:t>CAP</a:t>
            </a:r>
            <a:r>
              <a:rPr lang="zh-CN" altLang="en-US" b="1" dirty="0">
                <a:solidFill>
                  <a:schemeClr val="tx1"/>
                </a:solidFill>
                <a:latin typeface="Times New Roman" panose="02020603050405020304" pitchFamily="18" charset="0"/>
                <a:ea typeface="+mn-ea"/>
                <a:cs typeface="Times New Roman" panose="02020603050405020304" pitchFamily="18" charset="0"/>
              </a:rPr>
              <a:t>理论</a:t>
            </a:r>
          </a:p>
        </p:txBody>
      </p:sp>
      <p:sp>
        <p:nvSpPr>
          <p:cNvPr id="3" name="内容占位符 2"/>
          <p:cNvSpPr>
            <a:spLocks noGrp="1"/>
          </p:cNvSpPr>
          <p:nvPr>
            <p:ph idx="4294967295"/>
          </p:nvPr>
        </p:nvSpPr>
        <p:spPr>
          <a:xfrm>
            <a:off x="876559" y="2667794"/>
            <a:ext cx="10747375" cy="3124200"/>
          </a:xfrm>
          <a:prstGeom prst="rect">
            <a:avLst/>
          </a:prstGeom>
        </p:spPr>
        <p:txBody>
          <a:bodyPr>
            <a:normAutofit/>
          </a:bodyPr>
          <a:lstStyle/>
          <a:p>
            <a:pPr marL="0" indent="0" algn="just">
              <a:lnSpc>
                <a:spcPct val="150000"/>
              </a:lnSpc>
              <a:buNone/>
            </a:pPr>
            <a:r>
              <a:rPr lang="en-US" altLang="zh-CN" dirty="0"/>
              <a:t>        2000</a:t>
            </a:r>
            <a:r>
              <a:rPr lang="zh-CN" altLang="en-US" dirty="0"/>
              <a:t>年，</a:t>
            </a:r>
            <a:r>
              <a:rPr lang="en-US" altLang="zh-CN" dirty="0"/>
              <a:t>Eric Brewer</a:t>
            </a:r>
            <a:r>
              <a:rPr lang="zh-CN" altLang="en-US" dirty="0"/>
              <a:t>教授指出了著名的</a:t>
            </a:r>
            <a:r>
              <a:rPr lang="en-US" altLang="zh-CN" dirty="0"/>
              <a:t>CAP</a:t>
            </a:r>
            <a:r>
              <a:rPr lang="zh-CN" altLang="en-US" dirty="0"/>
              <a:t>（</a:t>
            </a:r>
            <a:r>
              <a:rPr lang="en-US" altLang="zh-CN" dirty="0"/>
              <a:t>Consistency</a:t>
            </a:r>
            <a:r>
              <a:rPr lang="zh-CN" altLang="en-US" dirty="0"/>
              <a:t>，</a:t>
            </a:r>
            <a:r>
              <a:rPr lang="en-US" altLang="zh-CN" dirty="0"/>
              <a:t>Availability</a:t>
            </a:r>
            <a:r>
              <a:rPr lang="zh-CN" altLang="en-US" dirty="0"/>
              <a:t>，</a:t>
            </a:r>
            <a:r>
              <a:rPr lang="en-US" altLang="zh-CN" dirty="0"/>
              <a:t>Partition Tolerance</a:t>
            </a:r>
            <a:r>
              <a:rPr lang="zh-CN" altLang="en-US" dirty="0"/>
              <a:t>）理论，后来</a:t>
            </a:r>
            <a:r>
              <a:rPr lang="en-US" altLang="zh-CN" dirty="0"/>
              <a:t>Seth Gilbert</a:t>
            </a:r>
            <a:r>
              <a:rPr lang="zh-CN" altLang="en-US" dirty="0"/>
              <a:t>和</a:t>
            </a:r>
            <a:r>
              <a:rPr lang="en-US" altLang="zh-CN" dirty="0"/>
              <a:t>Nancy Lynch</a:t>
            </a:r>
            <a:r>
              <a:rPr lang="zh-CN" altLang="en-US" dirty="0"/>
              <a:t>两人证明了</a:t>
            </a:r>
            <a:r>
              <a:rPr lang="en-US" altLang="zh-CN" dirty="0"/>
              <a:t>CAP</a:t>
            </a:r>
            <a:r>
              <a:rPr lang="zh-CN" altLang="en-US" dirty="0"/>
              <a:t>理论的正确性。</a:t>
            </a:r>
            <a:r>
              <a:rPr lang="en-US" altLang="zh-CN" dirty="0"/>
              <a:t>CAP</a:t>
            </a:r>
            <a:r>
              <a:rPr lang="zh-CN" altLang="en-US" dirty="0"/>
              <a:t>指出，一个分布式系统不可能同时能满足一致性（</a:t>
            </a:r>
            <a:r>
              <a:rPr lang="en-US" altLang="zh-CN" dirty="0"/>
              <a:t>Consistency</a:t>
            </a:r>
            <a:r>
              <a:rPr lang="zh-CN" altLang="en-US" dirty="0"/>
              <a:t>）、可用性（</a:t>
            </a:r>
            <a:r>
              <a:rPr lang="en-US" altLang="zh-CN" dirty="0"/>
              <a:t>Availability</a:t>
            </a:r>
            <a:r>
              <a:rPr lang="zh-CN" altLang="en-US" dirty="0"/>
              <a:t>）和分区容错性（</a:t>
            </a:r>
            <a:r>
              <a:rPr lang="en-US" altLang="zh-CN" dirty="0" err="1"/>
              <a:t>Partion</a:t>
            </a:r>
            <a:r>
              <a:rPr lang="en-US" altLang="zh-CN" dirty="0"/>
              <a:t> Tolerance</a:t>
            </a:r>
            <a:r>
              <a:rPr lang="zh-CN" altLang="en-US" dirty="0"/>
              <a:t>）这</a:t>
            </a:r>
            <a:r>
              <a:rPr lang="en-US" altLang="zh-CN" dirty="0"/>
              <a:t>3</a:t>
            </a:r>
            <a:r>
              <a:rPr lang="zh-CN" altLang="en-US" dirty="0"/>
              <a:t>个要求，最多同时满足其中</a:t>
            </a:r>
            <a:r>
              <a:rPr lang="en-US" altLang="zh-CN" dirty="0"/>
              <a:t>2</a:t>
            </a:r>
            <a:r>
              <a:rPr lang="zh-CN" altLang="en-US" dirty="0"/>
              <a:t>个。</a:t>
            </a:r>
          </a:p>
        </p:txBody>
      </p:sp>
      <p:sp>
        <p:nvSpPr>
          <p:cNvPr id="5" name="矩形 4"/>
          <p:cNvSpPr/>
          <p:nvPr/>
        </p:nvSpPr>
        <p:spPr>
          <a:xfrm>
            <a:off x="0" y="6096794"/>
            <a:ext cx="12192000" cy="761206"/>
          </a:xfrm>
          <a:prstGeom prst="rect">
            <a:avLst/>
          </a:prstGeom>
          <a:solidFill>
            <a:schemeClr val="tx1">
              <a:lumMod val="85000"/>
              <a:lumOff val="1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b="1" dirty="0">
              <a:solidFill>
                <a:schemeClr val="accent4">
                  <a:lumMod val="75000"/>
                </a:schemeClr>
              </a:solidFill>
            </a:endParaRPr>
          </a:p>
        </p:txBody>
      </p:sp>
      <p:grpSp>
        <p:nvGrpSpPr>
          <p:cNvPr id="6" name="组合 5"/>
          <p:cNvGrpSpPr/>
          <p:nvPr/>
        </p:nvGrpSpPr>
        <p:grpSpPr>
          <a:xfrm>
            <a:off x="131974" y="-1"/>
            <a:ext cx="11520000" cy="2053082"/>
            <a:chOff x="131974" y="-1"/>
            <a:chExt cx="11520000" cy="2053082"/>
          </a:xfrm>
        </p:grpSpPr>
        <p:grpSp>
          <p:nvGrpSpPr>
            <p:cNvPr id="7" name="组合 6"/>
            <p:cNvGrpSpPr/>
            <p:nvPr/>
          </p:nvGrpSpPr>
          <p:grpSpPr>
            <a:xfrm>
              <a:off x="131974" y="-1"/>
              <a:ext cx="11520000" cy="1016152"/>
              <a:chOff x="131974" y="-1"/>
              <a:chExt cx="11520000" cy="1016152"/>
            </a:xfrm>
          </p:grpSpPr>
          <p:pic>
            <p:nvPicPr>
              <p:cNvPr id="10" name="图片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1" name="矩形 10"/>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8" name="文本框 7"/>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文本框 8"/>
            <p:cNvSpPr txBox="1"/>
            <p:nvPr/>
          </p:nvSpPr>
          <p:spPr>
            <a:xfrm>
              <a:off x="612896" y="1591416"/>
              <a:ext cx="2696572"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zh-CN" altLang="en-US" b="1" dirty="0">
                  <a:latin typeface="Times New Roman" panose="02020603050405020304" pitchFamily="18" charset="0"/>
                  <a:ea typeface="黑体" panose="02010609060101010101" pitchFamily="49" charset="-122"/>
                  <a:cs typeface="Times New Roman" panose="02020603050405020304" pitchFamily="18" charset="0"/>
                </a:rPr>
                <a:t>数据一致性模型</a:t>
              </a:r>
            </a:p>
          </p:txBody>
        </p:sp>
      </p:grpSp>
    </p:spTree>
    <p:extLst>
      <p:ext uri="{BB962C8B-B14F-4D97-AF65-F5344CB8AC3E}">
        <p14:creationId xmlns:p14="http://schemas.microsoft.com/office/powerpoint/2010/main" val="2722234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10214" y="2431192"/>
            <a:ext cx="12218778" cy="334406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4294967295"/>
          </p:nvPr>
        </p:nvSpPr>
        <p:spPr>
          <a:xfrm>
            <a:off x="536575" y="2533317"/>
            <a:ext cx="10979150" cy="3106738"/>
          </a:xfrm>
          <a:prstGeom prst="rect">
            <a:avLst/>
          </a:prstGeom>
        </p:spPr>
        <p:txBody>
          <a:bodyPr>
            <a:normAutofit/>
          </a:bodyPr>
          <a:lstStyle/>
          <a:p>
            <a:pPr marL="0" indent="0" algn="just">
              <a:buNone/>
            </a:pPr>
            <a:r>
              <a:rPr lang="zh-CN" altLang="en-US" dirty="0">
                <a:solidFill>
                  <a:schemeClr val="tx1"/>
                </a:solidFill>
                <a:latin typeface="+mn-ea"/>
              </a:rPr>
              <a:t>         按照</a:t>
            </a:r>
            <a:r>
              <a:rPr lang="en-US" altLang="zh-CN" dirty="0">
                <a:solidFill>
                  <a:schemeClr val="tx1"/>
                </a:solidFill>
                <a:latin typeface="+mn-ea"/>
              </a:rPr>
              <a:t>Eric Brewer</a:t>
            </a:r>
            <a:r>
              <a:rPr lang="zh-CN" altLang="en-US" dirty="0">
                <a:solidFill>
                  <a:schemeClr val="tx1"/>
                </a:solidFill>
                <a:latin typeface="+mn-ea"/>
              </a:rPr>
              <a:t>的</a:t>
            </a:r>
            <a:r>
              <a:rPr lang="en-US" altLang="zh-CN" dirty="0">
                <a:solidFill>
                  <a:schemeClr val="tx1"/>
                </a:solidFill>
                <a:latin typeface="+mn-ea"/>
              </a:rPr>
              <a:t>CAP</a:t>
            </a:r>
            <a:r>
              <a:rPr lang="zh-CN" altLang="en-US" dirty="0">
                <a:solidFill>
                  <a:schemeClr val="tx1"/>
                </a:solidFill>
                <a:latin typeface="+mn-ea"/>
              </a:rPr>
              <a:t>理论，无法同时满足</a:t>
            </a:r>
            <a:r>
              <a:rPr lang="en-US" altLang="zh-CN" dirty="0">
                <a:solidFill>
                  <a:schemeClr val="tx1"/>
                </a:solidFill>
                <a:latin typeface="+mn-ea"/>
              </a:rPr>
              <a:t>3</a:t>
            </a:r>
            <a:r>
              <a:rPr lang="zh-CN" altLang="en-US" dirty="0">
                <a:solidFill>
                  <a:schemeClr val="tx1"/>
                </a:solidFill>
                <a:latin typeface="+mn-ea"/>
              </a:rPr>
              <a:t>个方面，</a:t>
            </a:r>
            <a:r>
              <a:rPr lang="en-US" altLang="zh-CN" dirty="0">
                <a:solidFill>
                  <a:schemeClr val="tx1"/>
                </a:solidFill>
                <a:latin typeface="+mn-ea"/>
              </a:rPr>
              <a:t>Swift</a:t>
            </a:r>
            <a:r>
              <a:rPr lang="zh-CN" altLang="en-US" dirty="0">
                <a:solidFill>
                  <a:schemeClr val="tx1"/>
                </a:solidFill>
                <a:latin typeface="+mn-ea"/>
              </a:rPr>
              <a:t>放弃严格一致性（满足</a:t>
            </a:r>
            <a:r>
              <a:rPr lang="en-US" altLang="zh-CN" dirty="0">
                <a:solidFill>
                  <a:schemeClr val="tx1"/>
                </a:solidFill>
                <a:latin typeface="+mn-ea"/>
              </a:rPr>
              <a:t>ACID</a:t>
            </a:r>
            <a:r>
              <a:rPr lang="zh-CN" altLang="en-US" dirty="0">
                <a:solidFill>
                  <a:schemeClr val="tx1"/>
                </a:solidFill>
                <a:latin typeface="+mn-ea"/>
              </a:rPr>
              <a:t>事务级别），而采用最终一致性模型（</a:t>
            </a:r>
            <a:r>
              <a:rPr lang="en-US" altLang="zh-CN" dirty="0">
                <a:solidFill>
                  <a:schemeClr val="tx1"/>
                </a:solidFill>
                <a:latin typeface="+mn-ea"/>
              </a:rPr>
              <a:t>Eventual Consistency</a:t>
            </a:r>
            <a:r>
              <a:rPr lang="zh-CN" altLang="en-US" dirty="0">
                <a:solidFill>
                  <a:schemeClr val="tx1"/>
                </a:solidFill>
                <a:latin typeface="+mn-ea"/>
              </a:rPr>
              <a:t>），来达到高可用性和无限水平扩展能力。</a:t>
            </a:r>
            <a:r>
              <a:rPr lang="en-US" altLang="zh-CN" dirty="0">
                <a:solidFill>
                  <a:schemeClr val="tx1"/>
                </a:solidFill>
                <a:latin typeface="+mn-ea"/>
              </a:rPr>
              <a:t>Swift</a:t>
            </a:r>
            <a:r>
              <a:rPr lang="zh-CN" altLang="en-US" dirty="0">
                <a:solidFill>
                  <a:schemeClr val="tx1"/>
                </a:solidFill>
                <a:latin typeface="+mn-ea"/>
              </a:rPr>
              <a:t>存储系统的目的是为处理大量非结构化数据的应用服务，根据应用的需求，</a:t>
            </a:r>
            <a:r>
              <a:rPr lang="en-US" altLang="zh-CN" dirty="0">
                <a:solidFill>
                  <a:schemeClr val="tx1"/>
                </a:solidFill>
                <a:latin typeface="+mn-ea"/>
              </a:rPr>
              <a:t>Swift</a:t>
            </a:r>
            <a:r>
              <a:rPr lang="zh-CN" altLang="en-US" dirty="0">
                <a:solidFill>
                  <a:schemeClr val="tx1"/>
                </a:solidFill>
                <a:latin typeface="+mn-ea"/>
              </a:rPr>
              <a:t>只提供“</a:t>
            </a:r>
            <a:r>
              <a:rPr lang="zh-CN" altLang="en-US" dirty="0">
                <a:solidFill>
                  <a:srgbClr val="FF0000"/>
                </a:solidFill>
                <a:latin typeface="+mn-ea"/>
              </a:rPr>
              <a:t>最终一致性</a:t>
            </a:r>
            <a:r>
              <a:rPr lang="zh-CN" altLang="en-US" dirty="0">
                <a:solidFill>
                  <a:schemeClr val="tx1"/>
                </a:solidFill>
                <a:latin typeface="+mn-ea"/>
              </a:rPr>
              <a:t>”，而不是“</a:t>
            </a:r>
            <a:r>
              <a:rPr lang="zh-CN" altLang="en-US" dirty="0">
                <a:solidFill>
                  <a:srgbClr val="FF0000"/>
                </a:solidFill>
                <a:latin typeface="+mn-ea"/>
              </a:rPr>
              <a:t>强一致性</a:t>
            </a:r>
            <a:r>
              <a:rPr lang="zh-CN" altLang="en-US" dirty="0">
                <a:solidFill>
                  <a:schemeClr val="tx1"/>
                </a:solidFill>
                <a:latin typeface="+mn-ea"/>
              </a:rPr>
              <a:t>”。按照</a:t>
            </a:r>
            <a:r>
              <a:rPr lang="en-US" altLang="zh-CN" dirty="0">
                <a:solidFill>
                  <a:schemeClr val="tx1"/>
                </a:solidFill>
                <a:latin typeface="+mn-ea"/>
              </a:rPr>
              <a:t>CAP</a:t>
            </a:r>
            <a:r>
              <a:rPr lang="zh-CN" altLang="en-US" dirty="0">
                <a:solidFill>
                  <a:schemeClr val="tx1"/>
                </a:solidFill>
                <a:latin typeface="+mn-ea"/>
              </a:rPr>
              <a:t>理论，</a:t>
            </a:r>
            <a:r>
              <a:rPr lang="en-US" altLang="zh-CN" dirty="0">
                <a:solidFill>
                  <a:schemeClr val="tx1"/>
                </a:solidFill>
                <a:latin typeface="+mn-ea"/>
              </a:rPr>
              <a:t>Swift</a:t>
            </a:r>
            <a:r>
              <a:rPr lang="zh-CN" altLang="en-US" dirty="0">
                <a:solidFill>
                  <a:schemeClr val="tx1"/>
                </a:solidFill>
                <a:latin typeface="+mn-ea"/>
              </a:rPr>
              <a:t>牺牲了一致性，从而提高了可用性和分区容错性。</a:t>
            </a:r>
            <a:endParaRPr lang="zh-CN" altLang="en-US" dirty="0"/>
          </a:p>
        </p:txBody>
      </p:sp>
      <p:sp>
        <p:nvSpPr>
          <p:cNvPr id="19" name="矩形 18"/>
          <p:cNvSpPr/>
          <p:nvPr/>
        </p:nvSpPr>
        <p:spPr>
          <a:xfrm>
            <a:off x="0" y="2362994"/>
            <a:ext cx="12198350" cy="8493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20428" y="5775260"/>
            <a:ext cx="12198350" cy="8493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131974" y="-1"/>
            <a:ext cx="11520000" cy="2053082"/>
            <a:chOff x="131974" y="-1"/>
            <a:chExt cx="11520000" cy="2053082"/>
          </a:xfrm>
        </p:grpSpPr>
        <p:grpSp>
          <p:nvGrpSpPr>
            <p:cNvPr id="8" name="组合 7"/>
            <p:cNvGrpSpPr/>
            <p:nvPr/>
          </p:nvGrpSpPr>
          <p:grpSpPr>
            <a:xfrm>
              <a:off x="131974" y="-1"/>
              <a:ext cx="11520000" cy="1016152"/>
              <a:chOff x="131974" y="-1"/>
              <a:chExt cx="11520000" cy="1016152"/>
            </a:xfrm>
          </p:grpSpPr>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2" name="矩形 11"/>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3"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9" name="文本框 8"/>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文本框 9"/>
            <p:cNvSpPr txBox="1"/>
            <p:nvPr/>
          </p:nvSpPr>
          <p:spPr>
            <a:xfrm>
              <a:off x="612896" y="1591416"/>
              <a:ext cx="2696572"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zh-CN" altLang="en-US" b="1" dirty="0">
                  <a:latin typeface="Times New Roman" panose="02020603050405020304" pitchFamily="18" charset="0"/>
                  <a:ea typeface="黑体" panose="02010609060101010101" pitchFamily="49" charset="-122"/>
                  <a:cs typeface="Times New Roman" panose="02020603050405020304" pitchFamily="18" charset="0"/>
                </a:rPr>
                <a:t>数据一致性模型</a:t>
              </a:r>
            </a:p>
          </p:txBody>
        </p:sp>
      </p:grpSp>
    </p:spTree>
    <p:extLst>
      <p:ext uri="{BB962C8B-B14F-4D97-AF65-F5344CB8AC3E}">
        <p14:creationId xmlns:p14="http://schemas.microsoft.com/office/powerpoint/2010/main" val="3818532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20428" y="2234890"/>
            <a:ext cx="12218778" cy="44371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4294967295"/>
          </p:nvPr>
        </p:nvSpPr>
        <p:spPr>
          <a:xfrm>
            <a:off x="402399" y="2583716"/>
            <a:ext cx="10979150" cy="3106738"/>
          </a:xfrm>
          <a:prstGeom prst="rect">
            <a:avLst/>
          </a:prstGeom>
        </p:spPr>
        <p:txBody>
          <a:bodyPr>
            <a:noAutofit/>
          </a:bodyPr>
          <a:lstStyle/>
          <a:p>
            <a:pPr marL="0" indent="0" algn="just">
              <a:buNone/>
            </a:pPr>
            <a:r>
              <a:rPr lang="en-US" altLang="zh-CN" sz="2000" dirty="0">
                <a:solidFill>
                  <a:schemeClr val="tx1"/>
                </a:solidFill>
                <a:latin typeface="Times New Roman" panose="02020603050405020304" pitchFamily="18" charset="0"/>
                <a:cs typeface="Times New Roman" panose="02020603050405020304" pitchFamily="18" charset="0"/>
              </a:rPr>
              <a:t>          Swift</a:t>
            </a:r>
            <a:r>
              <a:rPr lang="zh-CN" altLang="en-US" sz="2000" dirty="0">
                <a:solidFill>
                  <a:schemeClr val="tx1"/>
                </a:solidFill>
                <a:latin typeface="Times New Roman" panose="02020603050405020304" pitchFamily="18" charset="0"/>
                <a:cs typeface="Times New Roman" panose="02020603050405020304" pitchFamily="18" charset="0"/>
              </a:rPr>
              <a:t>采用最终一致性模型，来达到高可用性和无限水平扩展能力。为了实现这一目标，</a:t>
            </a:r>
            <a:r>
              <a:rPr lang="en-US" altLang="zh-CN" sz="2000" dirty="0">
                <a:solidFill>
                  <a:schemeClr val="tx1"/>
                </a:solidFill>
                <a:latin typeface="Times New Roman" panose="02020603050405020304" pitchFamily="18" charset="0"/>
                <a:cs typeface="Times New Roman" panose="02020603050405020304" pitchFamily="18" charset="0"/>
              </a:rPr>
              <a:t>Swift </a:t>
            </a:r>
            <a:r>
              <a:rPr lang="zh-CN" altLang="en-US" sz="2000" dirty="0">
                <a:solidFill>
                  <a:schemeClr val="tx1"/>
                </a:solidFill>
                <a:latin typeface="Times New Roman" panose="02020603050405020304" pitchFamily="18" charset="0"/>
                <a:cs typeface="Times New Roman" panose="02020603050405020304" pitchFamily="18" charset="0"/>
              </a:rPr>
              <a:t>采用 </a:t>
            </a:r>
            <a:r>
              <a:rPr lang="en-US" altLang="zh-CN" sz="2000" dirty="0">
                <a:solidFill>
                  <a:schemeClr val="tx1"/>
                </a:solidFill>
                <a:latin typeface="Times New Roman" panose="02020603050405020304" pitchFamily="18" charset="0"/>
                <a:cs typeface="Times New Roman" panose="02020603050405020304" pitchFamily="18" charset="0"/>
              </a:rPr>
              <a:t>Quorum </a:t>
            </a:r>
            <a:r>
              <a:rPr lang="zh-CN" altLang="en-US" sz="2000" dirty="0">
                <a:solidFill>
                  <a:schemeClr val="tx1"/>
                </a:solidFill>
                <a:latin typeface="Times New Roman" panose="02020603050405020304" pitchFamily="18" charset="0"/>
                <a:cs typeface="Times New Roman" panose="02020603050405020304" pitchFamily="18" charset="0"/>
              </a:rPr>
              <a:t>仲裁协议</a:t>
            </a:r>
            <a:r>
              <a:rPr lang="en-US" altLang="zh-CN" sz="2000" dirty="0">
                <a:solidFill>
                  <a:schemeClr val="tx1"/>
                </a:solidFill>
                <a:latin typeface="Times New Roman" panose="02020603050405020304" pitchFamily="18" charset="0"/>
                <a:cs typeface="Times New Roman" panose="02020603050405020304" pitchFamily="18" charset="0"/>
              </a:rPr>
              <a:t>(Quorum </a:t>
            </a:r>
            <a:r>
              <a:rPr lang="zh-CN" altLang="en-US" sz="2000" dirty="0">
                <a:solidFill>
                  <a:schemeClr val="tx1"/>
                </a:solidFill>
                <a:latin typeface="Times New Roman" panose="02020603050405020304" pitchFamily="18" charset="0"/>
                <a:cs typeface="Times New Roman" panose="02020603050405020304" pitchFamily="18" charset="0"/>
              </a:rPr>
              <a:t>有法定投票人数的含义</a:t>
            </a:r>
            <a:r>
              <a:rPr lang="en-US" altLang="zh-CN" sz="2000" dirty="0">
                <a:solidFill>
                  <a:schemeClr val="tx1"/>
                </a:solidFill>
                <a:latin typeface="Times New Roman" panose="02020603050405020304" pitchFamily="18" charset="0"/>
                <a:cs typeface="Times New Roman" panose="02020603050405020304" pitchFamily="18" charset="0"/>
              </a:rPr>
              <a:t>)</a:t>
            </a:r>
            <a:r>
              <a:rPr lang="zh-CN" altLang="en-US" sz="2000" dirty="0">
                <a:solidFill>
                  <a:schemeClr val="tx1"/>
                </a:solidFill>
                <a:latin typeface="Times New Roman" panose="02020603050405020304" pitchFamily="18" charset="0"/>
                <a:cs typeface="Times New Roman" panose="02020603050405020304" pitchFamily="18" charset="0"/>
              </a:rPr>
              <a:t>：</a:t>
            </a:r>
            <a:endParaRPr lang="en-US" altLang="zh-CN" sz="20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a:t>
            </a:r>
            <a:r>
              <a:rPr lang="zh-CN" altLang="en-US" sz="1800" dirty="0">
                <a:latin typeface="Times New Roman" panose="02020603050405020304" pitchFamily="18" charset="0"/>
                <a:cs typeface="Times New Roman" panose="02020603050405020304" pitchFamily="18" charset="0"/>
              </a:rPr>
              <a:t>）定义：</a:t>
            </a:r>
            <a:r>
              <a:rPr lang="en-US" altLang="zh-CN" sz="1800" dirty="0">
                <a:latin typeface="Times New Roman" panose="02020603050405020304" pitchFamily="18" charset="0"/>
                <a:cs typeface="Times New Roman" panose="02020603050405020304" pitchFamily="18" charset="0"/>
              </a:rPr>
              <a:t>N</a:t>
            </a:r>
            <a:r>
              <a:rPr lang="zh-CN" altLang="en-US" sz="1800" dirty="0">
                <a:latin typeface="Times New Roman" panose="02020603050405020304" pitchFamily="18" charset="0"/>
                <a:cs typeface="Times New Roman" panose="02020603050405020304" pitchFamily="18" charset="0"/>
              </a:rPr>
              <a:t>：数据的副本总数；</a:t>
            </a:r>
            <a:r>
              <a:rPr lang="en-US" altLang="zh-CN" sz="1800" dirty="0">
                <a:latin typeface="Times New Roman" panose="02020603050405020304" pitchFamily="18" charset="0"/>
                <a:cs typeface="Times New Roman" panose="02020603050405020304" pitchFamily="18" charset="0"/>
              </a:rPr>
              <a:t>W</a:t>
            </a:r>
            <a:r>
              <a:rPr lang="zh-CN" altLang="en-US" sz="1800" dirty="0">
                <a:latin typeface="Times New Roman" panose="02020603050405020304" pitchFamily="18" charset="0"/>
                <a:cs typeface="Times New Roman" panose="02020603050405020304" pitchFamily="18" charset="0"/>
              </a:rPr>
              <a:t>：写操作被确认接受的副本数量；</a:t>
            </a:r>
            <a:r>
              <a:rPr lang="en-US" altLang="zh-CN" sz="1800" dirty="0">
                <a:latin typeface="Times New Roman" panose="02020603050405020304" pitchFamily="18" charset="0"/>
                <a:cs typeface="Times New Roman" panose="02020603050405020304" pitchFamily="18" charset="0"/>
              </a:rPr>
              <a:t>R</a:t>
            </a:r>
            <a:r>
              <a:rPr lang="zh-CN" altLang="en-US" sz="1800" dirty="0">
                <a:latin typeface="Times New Roman" panose="02020603050405020304" pitchFamily="18" charset="0"/>
                <a:cs typeface="Times New Roman" panose="02020603050405020304" pitchFamily="18" charset="0"/>
              </a:rPr>
              <a:t>：读操作的副本数量</a:t>
            </a:r>
          </a:p>
          <a:p>
            <a:pPr marL="0" indent="0" algn="just">
              <a:buNone/>
            </a:pP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2</a:t>
            </a:r>
            <a:r>
              <a:rPr lang="zh-CN" altLang="en-US" sz="1800" dirty="0">
                <a:latin typeface="Times New Roman" panose="02020603050405020304" pitchFamily="18" charset="0"/>
                <a:cs typeface="Times New Roman" panose="02020603050405020304" pitchFamily="18" charset="0"/>
              </a:rPr>
              <a:t>）强一致性：</a:t>
            </a:r>
            <a:r>
              <a:rPr lang="en-US" altLang="zh-CN" sz="1800" dirty="0">
                <a:latin typeface="Times New Roman" panose="02020603050405020304" pitchFamily="18" charset="0"/>
                <a:cs typeface="Times New Roman" panose="02020603050405020304" pitchFamily="18" charset="0"/>
              </a:rPr>
              <a:t>R+W&gt;N</a:t>
            </a:r>
            <a:r>
              <a:rPr lang="zh-CN" altLang="en-US" sz="1800" dirty="0">
                <a:latin typeface="Times New Roman" panose="02020603050405020304" pitchFamily="18" charset="0"/>
                <a:cs typeface="Times New Roman" panose="02020603050405020304" pitchFamily="18" charset="0"/>
              </a:rPr>
              <a:t>，以保证对副本的读写操作会产生交集，从而保证可以读取到最新版本；如果 </a:t>
            </a:r>
            <a:r>
              <a:rPr lang="en-US" altLang="zh-CN" sz="1800" dirty="0">
                <a:latin typeface="Times New Roman" panose="02020603050405020304" pitchFamily="18" charset="0"/>
                <a:cs typeface="Times New Roman" panose="02020603050405020304" pitchFamily="18" charset="0"/>
              </a:rPr>
              <a:t>W=N</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R=1</a:t>
            </a:r>
            <a:r>
              <a:rPr lang="zh-CN" altLang="en-US" sz="1800" dirty="0">
                <a:latin typeface="Times New Roman" panose="02020603050405020304" pitchFamily="18" charset="0"/>
                <a:cs typeface="Times New Roman" panose="02020603050405020304" pitchFamily="18" charset="0"/>
              </a:rPr>
              <a:t>，则需要全部更新，适合大量读少量写操作场景下的强一致性；如果 </a:t>
            </a:r>
            <a:r>
              <a:rPr lang="en-US" altLang="zh-CN" sz="1800" dirty="0">
                <a:latin typeface="Times New Roman" panose="02020603050405020304" pitchFamily="18" charset="0"/>
                <a:cs typeface="Times New Roman" panose="02020603050405020304" pitchFamily="18" charset="0"/>
              </a:rPr>
              <a:t>R=N</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W=1</a:t>
            </a:r>
            <a:r>
              <a:rPr lang="zh-CN" altLang="en-US" sz="1800" dirty="0">
                <a:latin typeface="Times New Roman" panose="02020603050405020304" pitchFamily="18" charset="0"/>
                <a:cs typeface="Times New Roman" panose="02020603050405020304" pitchFamily="18" charset="0"/>
              </a:rPr>
              <a:t>，则只更新一个副本，通过读取全部副本来得到最新版本，适合大量写少量读场景下的强一致性。</a:t>
            </a:r>
          </a:p>
          <a:p>
            <a:pPr marL="0" indent="0" algn="just">
              <a:buNone/>
            </a:pP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3</a:t>
            </a:r>
            <a:r>
              <a:rPr lang="zh-CN" altLang="en-US" sz="1800" dirty="0">
                <a:latin typeface="Times New Roman" panose="02020603050405020304" pitchFamily="18" charset="0"/>
                <a:cs typeface="Times New Roman" panose="02020603050405020304" pitchFamily="18" charset="0"/>
              </a:rPr>
              <a:t>）弱一致性：</a:t>
            </a:r>
            <a:r>
              <a:rPr lang="en-US" altLang="zh-CN" sz="1800" dirty="0">
                <a:latin typeface="Times New Roman" panose="02020603050405020304" pitchFamily="18" charset="0"/>
                <a:cs typeface="Times New Roman" panose="02020603050405020304" pitchFamily="18" charset="0"/>
              </a:rPr>
              <a:t>R+W&lt;=N</a:t>
            </a:r>
            <a:r>
              <a:rPr lang="zh-CN" altLang="en-US" sz="1800" dirty="0">
                <a:latin typeface="Times New Roman" panose="02020603050405020304" pitchFamily="18" charset="0"/>
                <a:cs typeface="Times New Roman" panose="02020603050405020304" pitchFamily="18" charset="0"/>
              </a:rPr>
              <a:t>，如果读写操作的副本集合不产生交集，就可能会读到脏数据；适合对一致性要求比较低的场景。</a:t>
            </a:r>
            <a:endParaRPr lang="en-US" altLang="zh-CN" sz="1800" dirty="0">
              <a:latin typeface="Times New Roman" panose="02020603050405020304" pitchFamily="18" charset="0"/>
              <a:cs typeface="Times New Roman" panose="02020603050405020304" pitchFamily="18" charset="0"/>
            </a:endParaRPr>
          </a:p>
          <a:p>
            <a:pPr marL="0" indent="0" algn="just">
              <a:buNone/>
            </a:pPr>
            <a:endParaRPr lang="en-US" altLang="zh-CN" sz="1800" dirty="0">
              <a:latin typeface="Times New Roman" panose="02020603050405020304" pitchFamily="18" charset="0"/>
              <a:cs typeface="Times New Roman" panose="02020603050405020304" pitchFamily="18" charset="0"/>
            </a:endParaRPr>
          </a:p>
        </p:txBody>
      </p:sp>
      <p:sp>
        <p:nvSpPr>
          <p:cNvPr id="19" name="矩形 18"/>
          <p:cNvSpPr/>
          <p:nvPr/>
        </p:nvSpPr>
        <p:spPr>
          <a:xfrm>
            <a:off x="0" y="2134394"/>
            <a:ext cx="12198350" cy="8493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61087" y="6630194"/>
            <a:ext cx="12198350" cy="8493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131974" y="-1"/>
            <a:ext cx="11520000" cy="2053082"/>
            <a:chOff x="131974" y="-1"/>
            <a:chExt cx="11520000" cy="2053082"/>
          </a:xfrm>
        </p:grpSpPr>
        <p:grpSp>
          <p:nvGrpSpPr>
            <p:cNvPr id="8" name="组合 7"/>
            <p:cNvGrpSpPr/>
            <p:nvPr/>
          </p:nvGrpSpPr>
          <p:grpSpPr>
            <a:xfrm>
              <a:off x="131974" y="-1"/>
              <a:ext cx="11520000" cy="1016152"/>
              <a:chOff x="131974" y="-1"/>
              <a:chExt cx="11520000" cy="1016152"/>
            </a:xfrm>
          </p:grpSpPr>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2" name="矩形 11"/>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3"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9" name="文本框 8"/>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文本框 9"/>
            <p:cNvSpPr txBox="1"/>
            <p:nvPr/>
          </p:nvSpPr>
          <p:spPr>
            <a:xfrm>
              <a:off x="612896" y="1591416"/>
              <a:ext cx="2696572"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zh-CN" altLang="en-US" b="1" dirty="0">
                  <a:latin typeface="Times New Roman" panose="02020603050405020304" pitchFamily="18" charset="0"/>
                  <a:ea typeface="黑体" panose="02010609060101010101" pitchFamily="49" charset="-122"/>
                  <a:cs typeface="Times New Roman" panose="02020603050405020304" pitchFamily="18" charset="0"/>
                </a:rPr>
                <a:t>数据一致性模型</a:t>
              </a:r>
            </a:p>
          </p:txBody>
        </p:sp>
      </p:grpSp>
    </p:spTree>
    <p:extLst>
      <p:ext uri="{BB962C8B-B14F-4D97-AF65-F5344CB8AC3E}">
        <p14:creationId xmlns:p14="http://schemas.microsoft.com/office/powerpoint/2010/main" val="345834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20428" y="2234890"/>
            <a:ext cx="7872203" cy="44371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4294967295"/>
          </p:nvPr>
        </p:nvSpPr>
        <p:spPr>
          <a:xfrm>
            <a:off x="61087" y="2267566"/>
            <a:ext cx="7485888" cy="3911185"/>
          </a:xfrm>
          <a:prstGeom prst="rect">
            <a:avLst/>
          </a:prstGeom>
        </p:spPr>
        <p:txBody>
          <a:bodyPr>
            <a:noAutofit/>
          </a:bodyPr>
          <a:lstStyle/>
          <a:p>
            <a:pPr marL="0" indent="0" algn="just">
              <a:buNone/>
            </a:pPr>
            <a:r>
              <a:rPr lang="en-US" altLang="zh-CN" sz="1800" dirty="0">
                <a:latin typeface="Times New Roman" panose="02020603050405020304" pitchFamily="18" charset="0"/>
                <a:cs typeface="Times New Roman" panose="02020603050405020304" pitchFamily="18" charset="0"/>
              </a:rPr>
              <a:t>        Swift </a:t>
            </a:r>
            <a:r>
              <a:rPr lang="zh-CN" altLang="en-US" sz="1800" dirty="0">
                <a:latin typeface="Times New Roman" panose="02020603050405020304" pitchFamily="18" charset="0"/>
                <a:cs typeface="Times New Roman" panose="02020603050405020304" pitchFamily="18" charset="0"/>
              </a:rPr>
              <a:t>针对的是读写都比较频繁的场景，所以采用了比较折中的策略，即写操作需要满足至少一半以上成功 </a:t>
            </a:r>
            <a:r>
              <a:rPr lang="en-US" altLang="zh-CN" sz="1800" dirty="0">
                <a:latin typeface="Times New Roman" panose="02020603050405020304" pitchFamily="18" charset="0"/>
                <a:cs typeface="Times New Roman" panose="02020603050405020304" pitchFamily="18" charset="0"/>
              </a:rPr>
              <a:t>W &gt;N/2</a:t>
            </a:r>
            <a:r>
              <a:rPr lang="zh-CN" altLang="en-US" sz="1800" dirty="0">
                <a:latin typeface="Times New Roman" panose="02020603050405020304" pitchFamily="18" charset="0"/>
                <a:cs typeface="Times New Roman" panose="02020603050405020304" pitchFamily="18" charset="0"/>
              </a:rPr>
              <a:t>，再保证读操作与写操作的副本集合至少产生一个交集，即 </a:t>
            </a:r>
            <a:r>
              <a:rPr lang="en-US" altLang="zh-CN" sz="1800" dirty="0">
                <a:latin typeface="Times New Roman" panose="02020603050405020304" pitchFamily="18" charset="0"/>
                <a:cs typeface="Times New Roman" panose="02020603050405020304" pitchFamily="18" charset="0"/>
              </a:rPr>
              <a:t>R+W&gt;N</a:t>
            </a:r>
            <a:r>
              <a:rPr lang="zh-CN" altLang="en-US"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marL="0" indent="0" algn="just">
              <a:buNone/>
            </a:pPr>
            <a:r>
              <a:rPr lang="en-US" altLang="zh-CN" sz="1800" dirty="0">
                <a:latin typeface="Times New Roman" panose="02020603050405020304" pitchFamily="18" charset="0"/>
                <a:cs typeface="Times New Roman" panose="02020603050405020304" pitchFamily="18" charset="0"/>
              </a:rPr>
              <a:t>        Swift </a:t>
            </a:r>
            <a:r>
              <a:rPr lang="zh-CN" altLang="en-US" sz="1800" dirty="0">
                <a:latin typeface="Times New Roman" panose="02020603050405020304" pitchFamily="18" charset="0"/>
                <a:cs typeface="Times New Roman" panose="02020603050405020304" pitchFamily="18" charset="0"/>
              </a:rPr>
              <a:t>默认配置是 </a:t>
            </a:r>
            <a:r>
              <a:rPr lang="en-US" altLang="zh-CN" sz="1800" dirty="0">
                <a:latin typeface="Times New Roman" panose="02020603050405020304" pitchFamily="18" charset="0"/>
                <a:cs typeface="Times New Roman" panose="02020603050405020304" pitchFamily="18" charset="0"/>
              </a:rPr>
              <a:t>N=3</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W=2&gt;N/2</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R=1 </a:t>
            </a:r>
            <a:r>
              <a:rPr lang="zh-CN" altLang="en-US" sz="1800" dirty="0">
                <a:latin typeface="Times New Roman" panose="02020603050405020304" pitchFamily="18" charset="0"/>
                <a:cs typeface="Times New Roman" panose="02020603050405020304" pitchFamily="18" charset="0"/>
              </a:rPr>
              <a:t>或 </a:t>
            </a:r>
            <a:r>
              <a:rPr lang="en-US" altLang="zh-CN" sz="1800" dirty="0">
                <a:latin typeface="Times New Roman" panose="02020603050405020304" pitchFamily="18" charset="0"/>
                <a:cs typeface="Times New Roman" panose="02020603050405020304" pitchFamily="18" charset="0"/>
              </a:rPr>
              <a:t>2</a:t>
            </a:r>
            <a:r>
              <a:rPr lang="zh-CN" altLang="en-US" sz="1800" dirty="0">
                <a:latin typeface="Times New Roman" panose="02020603050405020304" pitchFamily="18" charset="0"/>
                <a:cs typeface="Times New Roman" panose="02020603050405020304" pitchFamily="18" charset="0"/>
              </a:rPr>
              <a:t>，即每个对象会存在 </a:t>
            </a:r>
            <a:r>
              <a:rPr lang="en-US" altLang="zh-CN" sz="1800" dirty="0">
                <a:latin typeface="Times New Roman" panose="02020603050405020304" pitchFamily="18" charset="0"/>
                <a:cs typeface="Times New Roman" panose="02020603050405020304" pitchFamily="18" charset="0"/>
              </a:rPr>
              <a:t>3 </a:t>
            </a:r>
            <a:r>
              <a:rPr lang="zh-CN" altLang="en-US" sz="1800" dirty="0">
                <a:latin typeface="Times New Roman" panose="02020603050405020304" pitchFamily="18" charset="0"/>
                <a:cs typeface="Times New Roman" panose="02020603050405020304" pitchFamily="18" charset="0"/>
              </a:rPr>
              <a:t>个副本，这些副本会尽量被存储在不同区域的节点上；</a:t>
            </a:r>
            <a:r>
              <a:rPr lang="en-US" altLang="zh-CN" sz="1800" dirty="0">
                <a:latin typeface="Times New Roman" panose="02020603050405020304" pitchFamily="18" charset="0"/>
                <a:cs typeface="Times New Roman" panose="02020603050405020304" pitchFamily="18" charset="0"/>
              </a:rPr>
              <a:t>W=2 </a:t>
            </a:r>
            <a:r>
              <a:rPr lang="zh-CN" altLang="en-US" sz="1800" dirty="0">
                <a:latin typeface="Times New Roman" panose="02020603050405020304" pitchFamily="18" charset="0"/>
                <a:cs typeface="Times New Roman" panose="02020603050405020304" pitchFamily="18" charset="0"/>
              </a:rPr>
              <a:t>表示至少需要更新 </a:t>
            </a:r>
            <a:r>
              <a:rPr lang="en-US" altLang="zh-CN" sz="1800" dirty="0">
                <a:latin typeface="Times New Roman" panose="02020603050405020304" pitchFamily="18" charset="0"/>
                <a:cs typeface="Times New Roman" panose="02020603050405020304" pitchFamily="18" charset="0"/>
              </a:rPr>
              <a:t>2 </a:t>
            </a:r>
            <a:r>
              <a:rPr lang="zh-CN" altLang="en-US" sz="1800" dirty="0">
                <a:latin typeface="Times New Roman" panose="02020603050405020304" pitchFamily="18" charset="0"/>
                <a:cs typeface="Times New Roman" panose="02020603050405020304" pitchFamily="18" charset="0"/>
              </a:rPr>
              <a:t>个副本才算写成功；当 </a:t>
            </a:r>
            <a:r>
              <a:rPr lang="en-US" altLang="zh-CN" sz="1800" dirty="0">
                <a:latin typeface="Times New Roman" panose="02020603050405020304" pitchFamily="18" charset="0"/>
                <a:cs typeface="Times New Roman" panose="02020603050405020304" pitchFamily="18" charset="0"/>
              </a:rPr>
              <a:t>R=1 </a:t>
            </a:r>
            <a:r>
              <a:rPr lang="zh-CN" altLang="en-US" sz="1800" dirty="0">
                <a:latin typeface="Times New Roman" panose="02020603050405020304" pitchFamily="18" charset="0"/>
                <a:cs typeface="Times New Roman" panose="02020603050405020304" pitchFamily="18" charset="0"/>
              </a:rPr>
              <a:t>时意味着某一个读操作成功便立刻返回，此种情况下可能会读取到旧版本（弱一致性模型）；当 </a:t>
            </a:r>
            <a:r>
              <a:rPr lang="en-US" altLang="zh-CN" sz="1800" dirty="0">
                <a:latin typeface="Times New Roman" panose="02020603050405020304" pitchFamily="18" charset="0"/>
                <a:cs typeface="Times New Roman" panose="02020603050405020304" pitchFamily="18" charset="0"/>
              </a:rPr>
              <a:t>R=2 </a:t>
            </a:r>
            <a:r>
              <a:rPr lang="zh-CN" altLang="en-US" sz="1800" dirty="0">
                <a:latin typeface="Times New Roman" panose="02020603050405020304" pitchFamily="18" charset="0"/>
                <a:cs typeface="Times New Roman" panose="02020603050405020304" pitchFamily="18" charset="0"/>
              </a:rPr>
              <a:t>时，需要通过在读操作请求头中增加 </a:t>
            </a:r>
            <a:r>
              <a:rPr lang="en-US" altLang="zh-CN" sz="1800" dirty="0">
                <a:latin typeface="Times New Roman" panose="02020603050405020304" pitchFamily="18" charset="0"/>
                <a:cs typeface="Times New Roman" panose="02020603050405020304" pitchFamily="18" charset="0"/>
              </a:rPr>
              <a:t>x-newest=true </a:t>
            </a:r>
            <a:r>
              <a:rPr lang="zh-CN" altLang="en-US" sz="1800" dirty="0">
                <a:latin typeface="Times New Roman" panose="02020603050405020304" pitchFamily="18" charset="0"/>
                <a:cs typeface="Times New Roman" panose="02020603050405020304" pitchFamily="18" charset="0"/>
              </a:rPr>
              <a:t>参数来同时读取 </a:t>
            </a:r>
            <a:r>
              <a:rPr lang="en-US" altLang="zh-CN" sz="1800" dirty="0">
                <a:latin typeface="Times New Roman" panose="02020603050405020304" pitchFamily="18" charset="0"/>
                <a:cs typeface="Times New Roman" panose="02020603050405020304" pitchFamily="18" charset="0"/>
              </a:rPr>
              <a:t>2 </a:t>
            </a:r>
            <a:r>
              <a:rPr lang="zh-CN" altLang="en-US" sz="1800" dirty="0">
                <a:latin typeface="Times New Roman" panose="02020603050405020304" pitchFamily="18" charset="0"/>
                <a:cs typeface="Times New Roman" panose="02020603050405020304" pitchFamily="18" charset="0"/>
              </a:rPr>
              <a:t>个副本的元数据信息，然后比较时间戳来确定哪个是最新版本（强一致性模型）；如果数据出现了不一致，后台服务进程会在一定时间窗口内通过检测和复制协议来完成数据同步，从而保证达到最终一致性。如图所示：</a:t>
            </a:r>
          </a:p>
        </p:txBody>
      </p:sp>
      <p:sp>
        <p:nvSpPr>
          <p:cNvPr id="19" name="矩形 18"/>
          <p:cNvSpPr/>
          <p:nvPr/>
        </p:nvSpPr>
        <p:spPr>
          <a:xfrm>
            <a:off x="0" y="2134394"/>
            <a:ext cx="12198350" cy="8493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61087" y="6630194"/>
            <a:ext cx="12198350" cy="8493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131974" y="-1"/>
            <a:ext cx="11520000" cy="2053082"/>
            <a:chOff x="131974" y="-1"/>
            <a:chExt cx="11520000" cy="2053082"/>
          </a:xfrm>
        </p:grpSpPr>
        <p:grpSp>
          <p:nvGrpSpPr>
            <p:cNvPr id="8" name="组合 7"/>
            <p:cNvGrpSpPr/>
            <p:nvPr/>
          </p:nvGrpSpPr>
          <p:grpSpPr>
            <a:xfrm>
              <a:off x="131974" y="-1"/>
              <a:ext cx="11520000" cy="1016152"/>
              <a:chOff x="131974" y="-1"/>
              <a:chExt cx="11520000" cy="1016152"/>
            </a:xfrm>
          </p:grpSpPr>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2" name="矩形 11"/>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3"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9" name="文本框 8"/>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0" name="文本框 9"/>
            <p:cNvSpPr txBox="1"/>
            <p:nvPr/>
          </p:nvSpPr>
          <p:spPr>
            <a:xfrm>
              <a:off x="612896" y="1591416"/>
              <a:ext cx="2696572"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zh-CN" altLang="en-US" b="1" dirty="0">
                  <a:latin typeface="Times New Roman" panose="02020603050405020304" pitchFamily="18" charset="0"/>
                  <a:ea typeface="黑体" panose="02010609060101010101" pitchFamily="49" charset="-122"/>
                  <a:cs typeface="Times New Roman" panose="02020603050405020304" pitchFamily="18" charset="0"/>
                </a:rPr>
                <a:t>数据一致性模型</a:t>
              </a:r>
            </a:p>
          </p:txBody>
        </p:sp>
      </p:grpSp>
      <p:pic>
        <p:nvPicPr>
          <p:cNvPr id="6148" name="Picture 4" descr="http://www.ibm.com/developerworks/cn/cloud/library/1310_zhanghua_openstackswift/image002.png"/>
          <p:cNvPicPr>
            <a:picLocks noChangeAspect="1" noChangeArrowheads="1"/>
          </p:cNvPicPr>
          <p:nvPr/>
        </p:nvPicPr>
        <p:blipFill>
          <a:blip r:embed="rId3">
            <a:extLst>
              <a:ext uri="{BEBA8EAE-BF5A-486C-A8C5-ECC9F3942E4B}">
                <a14:imgProps xmlns:a14="http://schemas.microsoft.com/office/drawing/2010/main">
                  <a14:imgLayer r:embed="rId4">
                    <a14:imgEffect>
                      <a14:colorTemperature colorTemp="7200"/>
                    </a14:imgEffect>
                  </a14:imgLayer>
                </a14:imgProps>
              </a:ext>
              <a:ext uri="{28A0092B-C50C-407E-A947-70E740481C1C}">
                <a14:useLocalDpi xmlns:a14="http://schemas.microsoft.com/office/drawing/2010/main" val="0"/>
              </a:ext>
            </a:extLst>
          </a:blip>
          <a:srcRect/>
          <a:stretch>
            <a:fillRect/>
          </a:stretch>
        </p:blipFill>
        <p:spPr bwMode="auto">
          <a:xfrm>
            <a:off x="8080375" y="3404244"/>
            <a:ext cx="3331869" cy="1937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7070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321024" y="2439194"/>
            <a:ext cx="5489575" cy="3967513"/>
          </a:xfrm>
          <a:prstGeom prst="rect">
            <a:avLst/>
          </a:prstGeom>
        </p:spPr>
        <p:txBody>
          <a:bodyPr>
            <a:normAutofit/>
          </a:bodyPr>
          <a:lstStyle/>
          <a:p>
            <a:pPr marL="0" indent="0" algn="just">
              <a:lnSpc>
                <a:spcPct val="150000"/>
              </a:lnSpc>
              <a:spcBef>
                <a:spcPts val="2000"/>
              </a:spcBef>
              <a:buNone/>
            </a:pPr>
            <a:r>
              <a:rPr lang="en-US" altLang="zh-CN" sz="2000" dirty="0">
                <a:solidFill>
                  <a:schemeClr val="tx1"/>
                </a:solidFill>
                <a:latin typeface="Times New Roman" panose="02020603050405020304" pitchFamily="18" charset="0"/>
                <a:cs typeface="Times New Roman" panose="02020603050405020304" pitchFamily="18" charset="0"/>
              </a:rPr>
              <a:t>       Swift</a:t>
            </a:r>
            <a:r>
              <a:rPr lang="zh-CN" altLang="en-US" sz="2000" dirty="0">
                <a:solidFill>
                  <a:schemeClr val="tx1"/>
                </a:solidFill>
                <a:latin typeface="Times New Roman" panose="02020603050405020304" pitchFamily="18" charset="0"/>
                <a:cs typeface="Times New Roman" panose="02020603050405020304" pitchFamily="18" charset="0"/>
              </a:rPr>
              <a:t>是基于</a:t>
            </a:r>
            <a:r>
              <a:rPr lang="zh-CN" altLang="en-US" sz="2000" dirty="0">
                <a:solidFill>
                  <a:srgbClr val="FF0000"/>
                </a:solidFill>
                <a:latin typeface="Times New Roman" panose="02020603050405020304" pitchFamily="18" charset="0"/>
                <a:cs typeface="Times New Roman" panose="02020603050405020304" pitchFamily="18" charset="0"/>
              </a:rPr>
              <a:t>一致性散列技术</a:t>
            </a:r>
            <a:r>
              <a:rPr lang="zh-CN" altLang="en-US" sz="2000" dirty="0">
                <a:solidFill>
                  <a:schemeClr val="tx1"/>
                </a:solidFill>
                <a:latin typeface="Times New Roman" panose="02020603050405020304" pitchFamily="18" charset="0"/>
                <a:cs typeface="Times New Roman" panose="02020603050405020304" pitchFamily="18" charset="0"/>
              </a:rPr>
              <a:t>（</a:t>
            </a:r>
            <a:r>
              <a:rPr lang="en-US" altLang="zh-CN" sz="2000" dirty="0">
                <a:solidFill>
                  <a:schemeClr val="tx1"/>
                </a:solidFill>
                <a:latin typeface="Times New Roman" panose="02020603050405020304" pitchFamily="18" charset="0"/>
                <a:cs typeface="Times New Roman" panose="02020603050405020304" pitchFamily="18" charset="0"/>
              </a:rPr>
              <a:t>Consistent Hashing</a:t>
            </a:r>
            <a:r>
              <a:rPr lang="zh-CN" altLang="en-US" sz="2000" dirty="0">
                <a:solidFill>
                  <a:schemeClr val="tx1"/>
                </a:solidFill>
                <a:latin typeface="Times New Roman" panose="02020603050405020304" pitchFamily="18" charset="0"/>
                <a:cs typeface="Times New Roman" panose="02020603050405020304" pitchFamily="18" charset="0"/>
              </a:rPr>
              <a:t>），通过计算可将对象均匀分布到虚拟空间的虚节点上，在增加或删除节点时可大大减少需移动的数据量；虚拟空间大小通常采用</a:t>
            </a:r>
            <a:r>
              <a:rPr lang="en-US" altLang="zh-CN" sz="2000" dirty="0">
                <a:solidFill>
                  <a:schemeClr val="tx1"/>
                </a:solidFill>
                <a:latin typeface="Times New Roman" panose="02020603050405020304" pitchFamily="18" charset="0"/>
                <a:cs typeface="Times New Roman" panose="02020603050405020304" pitchFamily="18" charset="0"/>
              </a:rPr>
              <a:t>2</a:t>
            </a:r>
            <a:r>
              <a:rPr lang="zh-CN" altLang="en-US" sz="2000" dirty="0">
                <a:solidFill>
                  <a:schemeClr val="tx1"/>
                </a:solidFill>
                <a:latin typeface="Times New Roman" panose="02020603050405020304" pitchFamily="18" charset="0"/>
                <a:cs typeface="Times New Roman" panose="02020603050405020304" pitchFamily="18" charset="0"/>
              </a:rPr>
              <a:t>的</a:t>
            </a:r>
            <a:r>
              <a:rPr lang="en-US" altLang="zh-CN" sz="2000" dirty="0">
                <a:solidFill>
                  <a:schemeClr val="tx1"/>
                </a:solidFill>
                <a:latin typeface="Times New Roman" panose="02020603050405020304" pitchFamily="18" charset="0"/>
                <a:cs typeface="Times New Roman" panose="02020603050405020304" pitchFamily="18" charset="0"/>
              </a:rPr>
              <a:t>n</a:t>
            </a:r>
            <a:r>
              <a:rPr lang="zh-CN" altLang="en-US" sz="2000" dirty="0">
                <a:solidFill>
                  <a:schemeClr val="tx1"/>
                </a:solidFill>
                <a:latin typeface="Times New Roman" panose="02020603050405020304" pitchFamily="18" charset="0"/>
                <a:cs typeface="Times New Roman" panose="02020603050405020304" pitchFamily="18" charset="0"/>
              </a:rPr>
              <a:t>次幂，便于进行高效的移位操作；然后通过独特的数据结构</a:t>
            </a:r>
            <a:r>
              <a:rPr lang="en-US" altLang="zh-CN" sz="2000" dirty="0">
                <a:solidFill>
                  <a:schemeClr val="tx1"/>
                </a:solidFill>
                <a:latin typeface="Times New Roman" panose="02020603050405020304" pitchFamily="18" charset="0"/>
                <a:cs typeface="Times New Roman" panose="02020603050405020304" pitchFamily="18" charset="0"/>
              </a:rPr>
              <a:t>Ring</a:t>
            </a:r>
            <a:r>
              <a:rPr lang="zh-CN" altLang="en-US" sz="2000" dirty="0">
                <a:solidFill>
                  <a:schemeClr val="tx1"/>
                </a:solidFill>
                <a:latin typeface="Times New Roman" panose="02020603050405020304" pitchFamily="18" charset="0"/>
                <a:cs typeface="Times New Roman" panose="02020603050405020304" pitchFamily="18" charset="0"/>
              </a:rPr>
              <a:t>（环）再将虚节点映射到实际的物理存储设备上，完成寻址过程。</a:t>
            </a:r>
          </a:p>
        </p:txBody>
      </p:sp>
      <p:pic>
        <p:nvPicPr>
          <p:cNvPr id="1026" name="Picture 2" descr="1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92574" y="2031165"/>
            <a:ext cx="5359400" cy="3438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7802723" y="5639594"/>
            <a:ext cx="2339102" cy="461665"/>
          </a:xfrm>
          <a:prstGeom prst="rect">
            <a:avLst/>
          </a:prstGeom>
          <a:solidFill>
            <a:srgbClr val="92D050"/>
          </a:solidFill>
        </p:spPr>
        <p:txBody>
          <a:bodyPr wrap="none">
            <a:spAutoFit/>
          </a:bodyPr>
          <a:lstStyle/>
          <a:p>
            <a:r>
              <a:rPr lang="zh-CN" altLang="zh-CN" dirty="0"/>
              <a:t>一致性散列</a:t>
            </a:r>
            <a:r>
              <a:rPr lang="zh-CN" altLang="en-US" dirty="0"/>
              <a:t>框架</a:t>
            </a:r>
          </a:p>
        </p:txBody>
      </p:sp>
      <p:grpSp>
        <p:nvGrpSpPr>
          <p:cNvPr id="6" name="组合 5"/>
          <p:cNvGrpSpPr/>
          <p:nvPr/>
        </p:nvGrpSpPr>
        <p:grpSpPr>
          <a:xfrm>
            <a:off x="131974" y="-1"/>
            <a:ext cx="11520000" cy="2053082"/>
            <a:chOff x="131974" y="-1"/>
            <a:chExt cx="11520000" cy="2053082"/>
          </a:xfrm>
        </p:grpSpPr>
        <p:grpSp>
          <p:nvGrpSpPr>
            <p:cNvPr id="7" name="组合 6"/>
            <p:cNvGrpSpPr/>
            <p:nvPr/>
          </p:nvGrpSpPr>
          <p:grpSpPr>
            <a:xfrm>
              <a:off x="131974" y="-1"/>
              <a:ext cx="11520000" cy="1016152"/>
              <a:chOff x="131974" y="-1"/>
              <a:chExt cx="11520000" cy="1016152"/>
            </a:xfrm>
          </p:grpSpPr>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1" name="矩形 10"/>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8" name="文本框 7"/>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文本框 8"/>
            <p:cNvSpPr txBox="1"/>
            <p:nvPr/>
          </p:nvSpPr>
          <p:spPr>
            <a:xfrm>
              <a:off x="612896" y="1591416"/>
              <a:ext cx="2452916"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工作原理</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1722546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321024" y="2563958"/>
            <a:ext cx="5489575" cy="3281713"/>
          </a:xfrm>
          <a:prstGeom prst="rect">
            <a:avLst/>
          </a:prstGeom>
        </p:spPr>
        <p:txBody>
          <a:bodyPr>
            <a:normAutofit/>
          </a:bodyPr>
          <a:lstStyle/>
          <a:p>
            <a:pPr marL="0" indent="0" algn="just">
              <a:lnSpc>
                <a:spcPct val="150000"/>
              </a:lnSpc>
              <a:spcBef>
                <a:spcPts val="2000"/>
              </a:spcBef>
              <a:buNone/>
            </a:pPr>
            <a:r>
              <a:rPr lang="zh-CN" altLang="en-US" sz="2000" dirty="0">
                <a:solidFill>
                  <a:schemeClr val="tx1"/>
                </a:solidFill>
                <a:latin typeface="Times New Roman" panose="02020603050405020304" pitchFamily="18" charset="0"/>
                <a:cs typeface="Times New Roman" panose="02020603050405020304" pitchFamily="18" charset="0"/>
              </a:rPr>
              <a:t>        如图中所示，以逆时针方向递增的散列空间有 </a:t>
            </a:r>
            <a:r>
              <a:rPr lang="en-US" altLang="zh-CN" sz="2000" dirty="0">
                <a:solidFill>
                  <a:schemeClr val="tx1"/>
                </a:solidFill>
                <a:latin typeface="Times New Roman" panose="02020603050405020304" pitchFamily="18" charset="0"/>
                <a:cs typeface="Times New Roman" panose="02020603050405020304" pitchFamily="18" charset="0"/>
              </a:rPr>
              <a:t>4 </a:t>
            </a:r>
            <a:r>
              <a:rPr lang="zh-CN" altLang="en-US" sz="2000" dirty="0">
                <a:solidFill>
                  <a:schemeClr val="tx1"/>
                </a:solidFill>
                <a:latin typeface="Times New Roman" panose="02020603050405020304" pitchFamily="18" charset="0"/>
                <a:cs typeface="Times New Roman" panose="02020603050405020304" pitchFamily="18" charset="0"/>
              </a:rPr>
              <a:t>个字节长共 </a:t>
            </a:r>
            <a:r>
              <a:rPr lang="en-US" altLang="zh-CN" sz="2000" dirty="0">
                <a:solidFill>
                  <a:schemeClr val="tx1"/>
                </a:solidFill>
                <a:latin typeface="Times New Roman" panose="02020603050405020304" pitchFamily="18" charset="0"/>
                <a:cs typeface="Times New Roman" panose="02020603050405020304" pitchFamily="18" charset="0"/>
              </a:rPr>
              <a:t>32 </a:t>
            </a:r>
            <a:r>
              <a:rPr lang="zh-CN" altLang="en-US" sz="2000" dirty="0">
                <a:solidFill>
                  <a:schemeClr val="tx1"/>
                </a:solidFill>
                <a:latin typeface="Times New Roman" panose="02020603050405020304" pitchFamily="18" charset="0"/>
                <a:cs typeface="Times New Roman" panose="02020603050405020304" pitchFamily="18" charset="0"/>
              </a:rPr>
              <a:t>位，整数范围是</a:t>
            </a:r>
            <a:r>
              <a:rPr lang="en-US" altLang="zh-CN" sz="2000" dirty="0">
                <a:solidFill>
                  <a:schemeClr val="tx1"/>
                </a:solidFill>
                <a:latin typeface="Times New Roman" panose="02020603050405020304" pitchFamily="18" charset="0"/>
                <a:cs typeface="Times New Roman" panose="02020603050405020304" pitchFamily="18" charset="0"/>
              </a:rPr>
              <a:t>[0~232-1]</a:t>
            </a:r>
            <a:r>
              <a:rPr lang="zh-CN" altLang="en-US" sz="2000" dirty="0">
                <a:solidFill>
                  <a:schemeClr val="tx1"/>
                </a:solidFill>
                <a:latin typeface="Times New Roman" panose="02020603050405020304" pitchFamily="18" charset="0"/>
                <a:cs typeface="Times New Roman" panose="02020603050405020304" pitchFamily="18" charset="0"/>
              </a:rPr>
              <a:t>；将散列结果右移 </a:t>
            </a:r>
            <a:r>
              <a:rPr lang="en-US" altLang="zh-CN" sz="2000" dirty="0">
                <a:solidFill>
                  <a:schemeClr val="tx1"/>
                </a:solidFill>
                <a:latin typeface="Times New Roman" panose="02020603050405020304" pitchFamily="18" charset="0"/>
                <a:cs typeface="Times New Roman" panose="02020603050405020304" pitchFamily="18" charset="0"/>
              </a:rPr>
              <a:t>m </a:t>
            </a:r>
            <a:r>
              <a:rPr lang="zh-CN" altLang="en-US" sz="2000" dirty="0">
                <a:solidFill>
                  <a:schemeClr val="tx1"/>
                </a:solidFill>
                <a:latin typeface="Times New Roman" panose="02020603050405020304" pitchFamily="18" charset="0"/>
                <a:cs typeface="Times New Roman" panose="02020603050405020304" pitchFamily="18" charset="0"/>
              </a:rPr>
              <a:t>位，可产生 </a:t>
            </a:r>
            <a:r>
              <a:rPr lang="en-US" altLang="zh-CN" sz="2000" dirty="0">
                <a:solidFill>
                  <a:schemeClr val="tx1"/>
                </a:solidFill>
                <a:latin typeface="Times New Roman" panose="02020603050405020304" pitchFamily="18" charset="0"/>
                <a:cs typeface="Times New Roman" panose="02020603050405020304" pitchFamily="18" charset="0"/>
              </a:rPr>
              <a:t>2</a:t>
            </a:r>
            <a:r>
              <a:rPr lang="en-US" altLang="zh-CN" sz="2000" baseline="30000" dirty="0">
                <a:solidFill>
                  <a:schemeClr val="tx1"/>
                </a:solidFill>
                <a:latin typeface="Times New Roman" panose="02020603050405020304" pitchFamily="18" charset="0"/>
                <a:cs typeface="Times New Roman" panose="02020603050405020304" pitchFamily="18" charset="0"/>
              </a:rPr>
              <a:t>32-m</a:t>
            </a:r>
            <a:r>
              <a:rPr lang="zh-CN" altLang="en-US" sz="2000" dirty="0">
                <a:solidFill>
                  <a:schemeClr val="tx1"/>
                </a:solidFill>
                <a:latin typeface="Times New Roman" panose="02020603050405020304" pitchFamily="18" charset="0"/>
                <a:cs typeface="Times New Roman" panose="02020603050405020304" pitchFamily="18" charset="0"/>
              </a:rPr>
              <a:t>个虚拟节点，例如 </a:t>
            </a:r>
            <a:r>
              <a:rPr lang="en-US" altLang="zh-CN" sz="2000" dirty="0">
                <a:solidFill>
                  <a:schemeClr val="tx1"/>
                </a:solidFill>
                <a:latin typeface="Times New Roman" panose="02020603050405020304" pitchFamily="18" charset="0"/>
                <a:cs typeface="Times New Roman" panose="02020603050405020304" pitchFamily="18" charset="0"/>
              </a:rPr>
              <a:t>m=29 </a:t>
            </a:r>
            <a:r>
              <a:rPr lang="zh-CN" altLang="en-US" sz="2000" dirty="0">
                <a:solidFill>
                  <a:schemeClr val="tx1"/>
                </a:solidFill>
                <a:latin typeface="Times New Roman" panose="02020603050405020304" pitchFamily="18" charset="0"/>
                <a:cs typeface="Times New Roman" panose="02020603050405020304" pitchFamily="18" charset="0"/>
              </a:rPr>
              <a:t>时可产生 </a:t>
            </a:r>
            <a:r>
              <a:rPr lang="en-US" altLang="zh-CN" sz="2000" dirty="0">
                <a:solidFill>
                  <a:schemeClr val="tx1"/>
                </a:solidFill>
                <a:latin typeface="Times New Roman" panose="02020603050405020304" pitchFamily="18" charset="0"/>
                <a:cs typeface="Times New Roman" panose="02020603050405020304" pitchFamily="18" charset="0"/>
              </a:rPr>
              <a:t>8 </a:t>
            </a:r>
            <a:r>
              <a:rPr lang="zh-CN" altLang="en-US" sz="2000" dirty="0">
                <a:solidFill>
                  <a:schemeClr val="tx1"/>
                </a:solidFill>
                <a:latin typeface="Times New Roman" panose="02020603050405020304" pitchFamily="18" charset="0"/>
                <a:cs typeface="Times New Roman" panose="02020603050405020304" pitchFamily="18" charset="0"/>
              </a:rPr>
              <a:t>个虚拟节点。在实际部署的时候需要经过仔细计算得到合适的虚拟节点数，以达到存储空间和工作负载之间的平衡。</a:t>
            </a:r>
          </a:p>
        </p:txBody>
      </p:sp>
      <p:pic>
        <p:nvPicPr>
          <p:cNvPr id="1026" name="Picture 2" descr="1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92574" y="2031165"/>
            <a:ext cx="5359400" cy="3438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7802723" y="5639594"/>
            <a:ext cx="2339102" cy="461665"/>
          </a:xfrm>
          <a:prstGeom prst="rect">
            <a:avLst/>
          </a:prstGeom>
          <a:solidFill>
            <a:srgbClr val="92D050"/>
          </a:solidFill>
        </p:spPr>
        <p:txBody>
          <a:bodyPr wrap="none">
            <a:spAutoFit/>
          </a:bodyPr>
          <a:lstStyle/>
          <a:p>
            <a:r>
              <a:rPr lang="zh-CN" altLang="zh-CN" dirty="0"/>
              <a:t>一致性散列</a:t>
            </a:r>
            <a:r>
              <a:rPr lang="zh-CN" altLang="en-US" dirty="0"/>
              <a:t>框架</a:t>
            </a:r>
          </a:p>
        </p:txBody>
      </p:sp>
      <p:grpSp>
        <p:nvGrpSpPr>
          <p:cNvPr id="6" name="组合 5"/>
          <p:cNvGrpSpPr/>
          <p:nvPr/>
        </p:nvGrpSpPr>
        <p:grpSpPr>
          <a:xfrm>
            <a:off x="131974" y="-1"/>
            <a:ext cx="11520000" cy="2053082"/>
            <a:chOff x="131974" y="-1"/>
            <a:chExt cx="11520000" cy="2053082"/>
          </a:xfrm>
        </p:grpSpPr>
        <p:grpSp>
          <p:nvGrpSpPr>
            <p:cNvPr id="7" name="组合 6"/>
            <p:cNvGrpSpPr/>
            <p:nvPr/>
          </p:nvGrpSpPr>
          <p:grpSpPr>
            <a:xfrm>
              <a:off x="131974" y="-1"/>
              <a:ext cx="11520000" cy="1016152"/>
              <a:chOff x="131974" y="-1"/>
              <a:chExt cx="11520000" cy="1016152"/>
            </a:xfrm>
          </p:grpSpPr>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1" name="矩形 10"/>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8" name="文本框 7"/>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 name="文本框 8"/>
            <p:cNvSpPr txBox="1"/>
            <p:nvPr/>
          </p:nvSpPr>
          <p:spPr>
            <a:xfrm>
              <a:off x="612896" y="1591416"/>
              <a:ext cx="2452916"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工作原理</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2711204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2140" y="4119022"/>
            <a:ext cx="12258811" cy="102308"/>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655144" y="4496594"/>
            <a:ext cx="10972801" cy="1846659"/>
          </a:xfrm>
          <a:prstGeom prst="rect">
            <a:avLst/>
          </a:prstGeom>
          <a:ln>
            <a:solidFill>
              <a:srgbClr val="92D050"/>
            </a:solidFill>
          </a:ln>
        </p:spPr>
        <p:txBody>
          <a:bodyPr wrap="square">
            <a:spAutoFit/>
          </a:bodyPr>
          <a:lstStyle/>
          <a:p>
            <a:pPr>
              <a:lnSpc>
                <a:spcPct val="130000"/>
              </a:lnSpc>
              <a:spcBef>
                <a:spcPts val="600"/>
              </a:spcBef>
              <a:buSzPct val="80000"/>
              <a:buFont typeface="Wingdings" pitchFamily="2" charset="2"/>
              <a:buNone/>
            </a:pPr>
            <a:r>
              <a:rPr lang="zh-CN" altLang="en-US" sz="2000" dirty="0">
                <a:latin typeface="Times New Roman" panose="02020603050405020304" pitchFamily="18" charset="0"/>
                <a:cs typeface="Times New Roman" panose="02020603050405020304" pitchFamily="18" charset="0"/>
              </a:rPr>
              <a:t>①存储设备列表、设备信息包括唯一标识号（</a:t>
            </a:r>
            <a:r>
              <a:rPr lang="en-US" altLang="zh-CN" sz="2000" dirty="0">
                <a:latin typeface="Times New Roman" panose="02020603050405020304" pitchFamily="18" charset="0"/>
                <a:cs typeface="Times New Roman" panose="02020603050405020304" pitchFamily="18" charset="0"/>
              </a:rPr>
              <a:t>id</a:t>
            </a:r>
            <a:r>
              <a:rPr lang="zh-CN" altLang="en-US" sz="2000" dirty="0">
                <a:latin typeface="Times New Roman" panose="02020603050405020304" pitchFamily="18" charset="0"/>
                <a:cs typeface="Times New Roman" panose="02020603050405020304" pitchFamily="18" charset="0"/>
              </a:rPr>
              <a:t>）、区域号（</a:t>
            </a:r>
            <a:r>
              <a:rPr lang="en-US" altLang="zh-CN" sz="2000" dirty="0">
                <a:latin typeface="Times New Roman" panose="02020603050405020304" pitchFamily="18" charset="0"/>
                <a:cs typeface="Times New Roman" panose="02020603050405020304" pitchFamily="18" charset="0"/>
              </a:rPr>
              <a:t>zone</a:t>
            </a:r>
            <a:r>
              <a:rPr lang="zh-CN" altLang="en-US" sz="2000" dirty="0">
                <a:latin typeface="Times New Roman" panose="02020603050405020304" pitchFamily="18" charset="0"/>
                <a:cs typeface="Times New Roman" panose="02020603050405020304" pitchFamily="18" charset="0"/>
              </a:rPr>
              <a:t>）、权重（</a:t>
            </a:r>
            <a:r>
              <a:rPr lang="en-US" altLang="zh-CN" sz="2000" dirty="0">
                <a:latin typeface="Times New Roman" panose="02020603050405020304" pitchFamily="18" charset="0"/>
                <a:cs typeface="Times New Roman" panose="02020603050405020304" pitchFamily="18" charset="0"/>
              </a:rPr>
              <a:t>weight</a:t>
            </a:r>
            <a:r>
              <a:rPr lang="zh-CN" altLang="en-US" sz="2000" dirty="0">
                <a:latin typeface="Times New Roman" panose="02020603050405020304" pitchFamily="18" charset="0"/>
                <a:cs typeface="Times New Roman" panose="02020603050405020304" pitchFamily="18" charset="0"/>
              </a:rPr>
              <a:t>）、</a:t>
            </a:r>
            <a:r>
              <a:rPr lang="en-US" altLang="zh-CN" sz="2000" dirty="0">
                <a:latin typeface="Times New Roman" panose="02020603050405020304" pitchFamily="18" charset="0"/>
                <a:cs typeface="Times New Roman" panose="02020603050405020304" pitchFamily="18" charset="0"/>
              </a:rPr>
              <a:t>IP </a:t>
            </a:r>
            <a:r>
              <a:rPr lang="zh-CN" altLang="en-US" sz="2000" dirty="0">
                <a:latin typeface="Times New Roman" panose="02020603050405020304" pitchFamily="18" charset="0"/>
                <a:cs typeface="Times New Roman" panose="02020603050405020304" pitchFamily="18" charset="0"/>
              </a:rPr>
              <a:t>地址（</a:t>
            </a:r>
            <a:r>
              <a:rPr lang="en-US" altLang="zh-CN" sz="2000" dirty="0" err="1">
                <a:latin typeface="Times New Roman" panose="02020603050405020304" pitchFamily="18" charset="0"/>
                <a:cs typeface="Times New Roman" panose="02020603050405020304" pitchFamily="18" charset="0"/>
              </a:rPr>
              <a:t>ip</a:t>
            </a:r>
            <a:r>
              <a:rPr lang="zh-CN" altLang="en-US" sz="2000" dirty="0">
                <a:latin typeface="Times New Roman" panose="02020603050405020304" pitchFamily="18" charset="0"/>
                <a:cs typeface="Times New Roman" panose="02020603050405020304" pitchFamily="18" charset="0"/>
              </a:rPr>
              <a:t>）、端口（</a:t>
            </a:r>
            <a:r>
              <a:rPr lang="en-US" altLang="zh-CN" sz="2000" dirty="0">
                <a:latin typeface="Times New Roman" panose="02020603050405020304" pitchFamily="18" charset="0"/>
                <a:cs typeface="Times New Roman" panose="02020603050405020304" pitchFamily="18" charset="0"/>
              </a:rPr>
              <a:t>port</a:t>
            </a:r>
            <a:r>
              <a:rPr lang="zh-CN" altLang="en-US" sz="2000" dirty="0">
                <a:latin typeface="Times New Roman" panose="02020603050405020304" pitchFamily="18" charset="0"/>
                <a:cs typeface="Times New Roman" panose="02020603050405020304" pitchFamily="18" charset="0"/>
              </a:rPr>
              <a:t>）、设备名称（</a:t>
            </a:r>
            <a:r>
              <a:rPr lang="en-US" altLang="zh-CN" sz="2000" dirty="0">
                <a:latin typeface="Times New Roman" panose="02020603050405020304" pitchFamily="18" charset="0"/>
                <a:cs typeface="Times New Roman" panose="02020603050405020304" pitchFamily="18" charset="0"/>
              </a:rPr>
              <a:t>device</a:t>
            </a:r>
            <a:r>
              <a:rPr lang="zh-CN" altLang="en-US" sz="2000" dirty="0">
                <a:latin typeface="Times New Roman" panose="02020603050405020304" pitchFamily="18" charset="0"/>
                <a:cs typeface="Times New Roman" panose="02020603050405020304" pitchFamily="18" charset="0"/>
              </a:rPr>
              <a:t>）、元数据（</a:t>
            </a:r>
            <a:r>
              <a:rPr lang="en-US" altLang="zh-CN" sz="2000" dirty="0">
                <a:latin typeface="Times New Roman" panose="02020603050405020304" pitchFamily="18" charset="0"/>
                <a:cs typeface="Times New Roman" panose="02020603050405020304" pitchFamily="18" charset="0"/>
              </a:rPr>
              <a:t>meta</a:t>
            </a:r>
            <a:r>
              <a:rPr lang="zh-CN" altLang="en-US" sz="2000" dirty="0">
                <a:latin typeface="Times New Roman" panose="02020603050405020304" pitchFamily="18" charset="0"/>
                <a:cs typeface="Times New Roman" panose="02020603050405020304" pitchFamily="18" charset="0"/>
              </a:rPr>
              <a:t>）。</a:t>
            </a:r>
          </a:p>
          <a:p>
            <a:pPr>
              <a:lnSpc>
                <a:spcPct val="130000"/>
              </a:lnSpc>
              <a:spcBef>
                <a:spcPts val="600"/>
              </a:spcBef>
              <a:buSzPct val="80000"/>
              <a:buFont typeface="Wingdings" pitchFamily="2" charset="2"/>
              <a:buNone/>
            </a:pPr>
            <a:r>
              <a:rPr lang="zh-CN" altLang="en-US" sz="2000" dirty="0">
                <a:latin typeface="Times New Roman" panose="02020603050405020304" pitchFamily="18" charset="0"/>
                <a:cs typeface="Times New Roman" panose="02020603050405020304" pitchFamily="18" charset="0"/>
              </a:rPr>
              <a:t>②分区到设备映射关系（</a:t>
            </a:r>
            <a:r>
              <a:rPr lang="en-US" altLang="zh-CN" sz="2000" dirty="0">
                <a:latin typeface="Times New Roman" panose="02020603050405020304" pitchFamily="18" charset="0"/>
                <a:cs typeface="Times New Roman" panose="02020603050405020304" pitchFamily="18" charset="0"/>
              </a:rPr>
              <a:t>replica2part2dev_id</a:t>
            </a:r>
            <a:r>
              <a:rPr lang="zh-CN" altLang="en-US" sz="2000" dirty="0">
                <a:latin typeface="Times New Roman" panose="02020603050405020304" pitchFamily="18" charset="0"/>
                <a:cs typeface="Times New Roman" panose="02020603050405020304" pitchFamily="18" charset="0"/>
              </a:rPr>
              <a:t>数组）。</a:t>
            </a:r>
          </a:p>
          <a:p>
            <a:pPr>
              <a:lnSpc>
                <a:spcPct val="130000"/>
              </a:lnSpc>
              <a:spcBef>
                <a:spcPts val="600"/>
              </a:spcBef>
              <a:buSzPct val="80000"/>
              <a:buFont typeface="Wingdings" pitchFamily="2" charset="2"/>
              <a:buNone/>
            </a:pPr>
            <a:r>
              <a:rPr lang="zh-CN" altLang="en-US" sz="2000" dirty="0">
                <a:latin typeface="Times New Roman" panose="02020603050405020304" pitchFamily="18" charset="0"/>
                <a:cs typeface="Times New Roman" panose="02020603050405020304" pitchFamily="18" charset="0"/>
              </a:rPr>
              <a:t>③计算分区号的位移</a:t>
            </a:r>
          </a:p>
        </p:txBody>
      </p:sp>
      <p:sp>
        <p:nvSpPr>
          <p:cNvPr id="8" name="矩形 7"/>
          <p:cNvSpPr/>
          <p:nvPr/>
        </p:nvSpPr>
        <p:spPr>
          <a:xfrm>
            <a:off x="628490" y="2289574"/>
            <a:ext cx="10898188" cy="1292662"/>
          </a:xfrm>
          <a:prstGeom prst="rect">
            <a:avLst/>
          </a:prstGeom>
        </p:spPr>
        <p:txBody>
          <a:bodyPr wrap="square">
            <a:spAutoFit/>
          </a:bodyPr>
          <a:lstStyle/>
          <a:p>
            <a:pPr>
              <a:lnSpc>
                <a:spcPct val="130000"/>
              </a:lnSpc>
              <a:spcBef>
                <a:spcPts val="2000"/>
              </a:spcBef>
              <a:buSzPct val="80000"/>
              <a:buFont typeface="Wingdings" pitchFamily="2" charset="2"/>
              <a:buNone/>
            </a:pPr>
            <a:r>
              <a:rPr lang="en-US" altLang="zh-CN" sz="2000" dirty="0">
                <a:latin typeface="Times New Roman" panose="02020603050405020304" pitchFamily="18" charset="0"/>
                <a:cs typeface="Times New Roman" panose="02020603050405020304" pitchFamily="18" charset="0"/>
              </a:rPr>
              <a:t>       Swift</a:t>
            </a:r>
            <a:r>
              <a:rPr lang="zh-CN" altLang="en-US" sz="2000" dirty="0">
                <a:latin typeface="Times New Roman" panose="02020603050405020304" pitchFamily="18" charset="0"/>
                <a:cs typeface="Times New Roman" panose="02020603050405020304" pitchFamily="18" charset="0"/>
              </a:rPr>
              <a:t>存储系统</a:t>
            </a:r>
            <a:r>
              <a:rPr lang="zh-CN" altLang="en-US" sz="2000" dirty="0">
                <a:solidFill>
                  <a:srgbClr val="FF0000"/>
                </a:solidFill>
                <a:latin typeface="Times New Roman" panose="02020603050405020304" pitchFamily="18" charset="0"/>
                <a:cs typeface="Times New Roman" panose="02020603050405020304" pitchFamily="18" charset="0"/>
              </a:rPr>
              <a:t>工作原理的核心</a:t>
            </a:r>
            <a:r>
              <a:rPr lang="zh-CN" altLang="en-US" sz="2000" dirty="0">
                <a:latin typeface="Times New Roman" panose="02020603050405020304" pitchFamily="18" charset="0"/>
                <a:cs typeface="Times New Roman" panose="02020603050405020304" pitchFamily="18" charset="0"/>
              </a:rPr>
              <a:t>是虚节点（</a:t>
            </a:r>
            <a:r>
              <a:rPr lang="en-US" altLang="zh-CN" sz="2000" dirty="0">
                <a:latin typeface="Times New Roman" panose="02020603050405020304" pitchFamily="18" charset="0"/>
                <a:cs typeface="Times New Roman" panose="02020603050405020304" pitchFamily="18" charset="0"/>
              </a:rPr>
              <a:t>Partition Space</a:t>
            </a:r>
            <a:r>
              <a:rPr lang="zh-CN" altLang="en-US" sz="2000" dirty="0">
                <a:latin typeface="Times New Roman" panose="02020603050405020304" pitchFamily="18" charset="0"/>
                <a:cs typeface="Times New Roman" panose="02020603050405020304" pitchFamily="18" charset="0"/>
              </a:rPr>
              <a:t>）和环（</a:t>
            </a:r>
            <a:r>
              <a:rPr lang="en-US" altLang="zh-CN" sz="2000" dirty="0">
                <a:latin typeface="Times New Roman" panose="02020603050405020304" pitchFamily="18" charset="0"/>
                <a:cs typeface="Times New Roman" panose="02020603050405020304" pitchFamily="18" charset="0"/>
              </a:rPr>
              <a:t>Ring</a:t>
            </a:r>
            <a:r>
              <a:rPr lang="zh-CN" altLang="en-US" sz="2000" dirty="0">
                <a:latin typeface="Times New Roman" panose="02020603050405020304" pitchFamily="18" charset="0"/>
                <a:cs typeface="Times New Roman" panose="02020603050405020304" pitchFamily="18" charset="0"/>
              </a:rPr>
              <a:t>）。虚节点把整个集群的存储空间划分成几百万个存储点，而环把虚节点映射到磁盘上的物理存储点。环是为了将虚节点（分区）映射到一组物理存储设备上，并提供一定的冗余度而设计的。</a:t>
            </a:r>
          </a:p>
        </p:txBody>
      </p:sp>
      <p:sp>
        <p:nvSpPr>
          <p:cNvPr id="11" name="矩形 10"/>
          <p:cNvSpPr/>
          <p:nvPr/>
        </p:nvSpPr>
        <p:spPr>
          <a:xfrm>
            <a:off x="628490" y="3882529"/>
            <a:ext cx="4185761"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lt1"/>
                </a:solidFill>
              </a:rPr>
              <a:t>环的数据结构由以下信息组成</a:t>
            </a:r>
          </a:p>
        </p:txBody>
      </p:sp>
      <p:grpSp>
        <p:nvGrpSpPr>
          <p:cNvPr id="9" name="组合 8"/>
          <p:cNvGrpSpPr/>
          <p:nvPr/>
        </p:nvGrpSpPr>
        <p:grpSpPr>
          <a:xfrm>
            <a:off x="131974" y="-1"/>
            <a:ext cx="11520000" cy="2053082"/>
            <a:chOff x="131974" y="-1"/>
            <a:chExt cx="11520000" cy="2053082"/>
          </a:xfrm>
        </p:grpSpPr>
        <p:grpSp>
          <p:nvGrpSpPr>
            <p:cNvPr id="10" name="组合 9"/>
            <p:cNvGrpSpPr/>
            <p:nvPr/>
          </p:nvGrpSpPr>
          <p:grpSpPr>
            <a:xfrm>
              <a:off x="131974" y="-1"/>
              <a:ext cx="11520000" cy="1016152"/>
              <a:chOff x="131974" y="-1"/>
              <a:chExt cx="11520000" cy="1016152"/>
            </a:xfrm>
          </p:grpSpPr>
          <p:pic>
            <p:nvPicPr>
              <p:cNvPr id="14" name="图片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5" name="矩形 1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12" name="文本框 11"/>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3" name="文本框 12"/>
            <p:cNvSpPr txBox="1"/>
            <p:nvPr/>
          </p:nvSpPr>
          <p:spPr>
            <a:xfrm>
              <a:off x="612896" y="1591416"/>
              <a:ext cx="2387192"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zh-CN" altLang="en-US" b="1" dirty="0">
                  <a:latin typeface="Times New Roman" panose="02020603050405020304" pitchFamily="18" charset="0"/>
                  <a:ea typeface="黑体" panose="02010609060101010101" pitchFamily="49" charset="-122"/>
                  <a:cs typeface="Times New Roman" panose="02020603050405020304" pitchFamily="18" charset="0"/>
                </a:rPr>
                <a:t>环的数据结构</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2778792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10-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36775" y="2078020"/>
            <a:ext cx="8834461" cy="47045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9099550" y="5791994"/>
            <a:ext cx="3127375" cy="400110"/>
          </a:xfrm>
          <a:prstGeom prst="rect">
            <a:avLst/>
          </a:prstGeom>
          <a:solidFill>
            <a:srgbClr val="92D050"/>
          </a:solidFill>
        </p:spPr>
        <p:txBody>
          <a:bodyPr wrap="square">
            <a:spAutoFit/>
          </a:bodyPr>
          <a:lstStyle/>
          <a:p>
            <a:r>
              <a:rPr lang="zh-CN" altLang="zh-CN" sz="2000" dirty="0"/>
              <a:t>环的数据结构</a:t>
            </a:r>
          </a:p>
        </p:txBody>
      </p:sp>
      <p:grpSp>
        <p:nvGrpSpPr>
          <p:cNvPr id="5" name="组合 4"/>
          <p:cNvGrpSpPr/>
          <p:nvPr/>
        </p:nvGrpSpPr>
        <p:grpSpPr>
          <a:xfrm>
            <a:off x="131974" y="-1"/>
            <a:ext cx="11520000" cy="2053082"/>
            <a:chOff x="131974" y="-1"/>
            <a:chExt cx="11520000" cy="2053082"/>
          </a:xfrm>
        </p:grpSpPr>
        <p:grpSp>
          <p:nvGrpSpPr>
            <p:cNvPr id="6" name="组合 5"/>
            <p:cNvGrpSpPr/>
            <p:nvPr/>
          </p:nvGrpSpPr>
          <p:grpSpPr>
            <a:xfrm>
              <a:off x="131974" y="-1"/>
              <a:ext cx="11520000" cy="1016152"/>
              <a:chOff x="131974" y="-1"/>
              <a:chExt cx="11520000" cy="1016152"/>
            </a:xfrm>
          </p:grpSpPr>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0" name="矩形 9"/>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1"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7" name="文本框 6"/>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8" name="文本框 7"/>
            <p:cNvSpPr txBox="1"/>
            <p:nvPr/>
          </p:nvSpPr>
          <p:spPr>
            <a:xfrm>
              <a:off x="612896" y="1591416"/>
              <a:ext cx="2387192"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zh-CN" altLang="en-US" b="1" dirty="0">
                  <a:latin typeface="Times New Roman" panose="02020603050405020304" pitchFamily="18" charset="0"/>
                  <a:ea typeface="黑体" panose="02010609060101010101" pitchFamily="49" charset="-122"/>
                  <a:cs typeface="Times New Roman" panose="02020603050405020304" pitchFamily="18" charset="0"/>
                </a:rPr>
                <a:t>环的数据结构</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21015832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186164" y="2603516"/>
            <a:ext cx="10537825" cy="3000375"/>
          </a:xfrm>
          <a:prstGeom prst="rect">
            <a:avLst/>
          </a:prstGeom>
        </p:spPr>
        <p:txBody>
          <a:bodyPr>
            <a:noAutofit/>
          </a:bodyPr>
          <a:lstStyle/>
          <a:p>
            <a:pPr marL="0" indent="0" algn="just">
              <a:buNone/>
            </a:pPr>
            <a:r>
              <a:rPr lang="zh-CN" altLang="en-US" dirty="0"/>
              <a:t>       </a:t>
            </a:r>
            <a:r>
              <a:rPr lang="en-US" altLang="zh-CN" dirty="0"/>
              <a:t>Swift</a:t>
            </a:r>
            <a:r>
              <a:rPr lang="zh-CN" altLang="en-US" dirty="0"/>
              <a:t>采用</a:t>
            </a:r>
            <a:r>
              <a:rPr lang="zh-CN" altLang="en-US" dirty="0">
                <a:solidFill>
                  <a:srgbClr val="FF0000"/>
                </a:solidFill>
              </a:rPr>
              <a:t>层次数据模型</a:t>
            </a:r>
            <a:r>
              <a:rPr lang="zh-CN" altLang="en-US" dirty="0"/>
              <a:t>，共设</a:t>
            </a:r>
            <a:r>
              <a:rPr lang="zh-CN" altLang="en-US" dirty="0">
                <a:solidFill>
                  <a:srgbClr val="FF0000"/>
                </a:solidFill>
              </a:rPr>
              <a:t>三层</a:t>
            </a:r>
            <a:r>
              <a:rPr lang="zh-CN" altLang="en-US" dirty="0"/>
              <a:t>逻辑结构：</a:t>
            </a:r>
            <a:r>
              <a:rPr lang="en-US" altLang="zh-CN" dirty="0"/>
              <a:t>Account/Container/Object</a:t>
            </a:r>
            <a:r>
              <a:rPr lang="zh-CN" altLang="en-US" dirty="0"/>
              <a:t>（即账户</a:t>
            </a:r>
            <a:r>
              <a:rPr lang="en-US" altLang="zh-CN" dirty="0"/>
              <a:t>/</a:t>
            </a:r>
            <a:r>
              <a:rPr lang="zh-CN" altLang="en-US" dirty="0"/>
              <a:t>容器</a:t>
            </a:r>
            <a:r>
              <a:rPr lang="en-US" altLang="zh-CN" dirty="0"/>
              <a:t>/</a:t>
            </a:r>
            <a:r>
              <a:rPr lang="zh-CN" altLang="en-US" dirty="0"/>
              <a:t>对象</a:t>
            </a:r>
            <a:r>
              <a:rPr lang="en-US" altLang="zh-CN" dirty="0"/>
              <a:t>)</a:t>
            </a:r>
            <a:r>
              <a:rPr lang="zh-CN" altLang="en-US" dirty="0"/>
              <a:t>，每层节点数均没有限制，可以</a:t>
            </a:r>
            <a:r>
              <a:rPr lang="zh-CN" altLang="en-US" dirty="0">
                <a:solidFill>
                  <a:srgbClr val="FF0000"/>
                </a:solidFill>
              </a:rPr>
              <a:t>任意扩展</a:t>
            </a:r>
            <a:r>
              <a:rPr lang="zh-CN" altLang="en-US" dirty="0"/>
              <a:t>。这里的账户和个人账户不是一个概念，可理解为租户，用来做顶层的隔离机制，可以被评多个人账户所共同使用；容器代表封装一组对象，类似文件夹或目录；对象由元数据和内容两部分组成。</a:t>
            </a:r>
          </a:p>
        </p:txBody>
      </p:sp>
      <p:sp>
        <p:nvSpPr>
          <p:cNvPr id="4" name="矩形 3"/>
          <p:cNvSpPr/>
          <p:nvPr/>
        </p:nvSpPr>
        <p:spPr>
          <a:xfrm>
            <a:off x="41033" y="2452057"/>
            <a:ext cx="9663156" cy="45719"/>
          </a:xfrm>
          <a:prstGeom prst="rect">
            <a:avLst/>
          </a:prstGeom>
          <a:solidFill>
            <a:srgbClr val="FFC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rot="10800000">
            <a:off x="9617437" y="1297452"/>
            <a:ext cx="2592640" cy="1065542"/>
            <a:chOff x="-3884" y="1297773"/>
            <a:chExt cx="2592640" cy="1065542"/>
          </a:xfrm>
        </p:grpSpPr>
        <p:sp>
          <p:nvSpPr>
            <p:cNvPr id="6" name="矩形 5"/>
            <p:cNvSpPr/>
            <p:nvPr/>
          </p:nvSpPr>
          <p:spPr>
            <a:xfrm>
              <a:off x="-3884" y="1379730"/>
              <a:ext cx="495299" cy="5334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72046" y="1879600"/>
              <a:ext cx="266702" cy="2872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00597" y="1571628"/>
              <a:ext cx="342898" cy="36927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43495" y="2037009"/>
              <a:ext cx="266702" cy="28721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543037" y="1596441"/>
              <a:ext cx="45719"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flipV="1">
              <a:off x="491415" y="2076097"/>
              <a:ext cx="266702" cy="287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898724" y="1867051"/>
              <a:ext cx="106680" cy="11488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221544" y="1932488"/>
              <a:ext cx="266702" cy="28721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679145" y="2037009"/>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227144" y="1715237"/>
              <a:ext cx="266702" cy="287218"/>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038748" y="1297773"/>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p:nvSpPr>
        <p:spPr>
          <a:xfrm>
            <a:off x="-14514" y="5868194"/>
            <a:ext cx="12212863" cy="991394"/>
          </a:xfrm>
          <a:prstGeom prst="rect">
            <a:avLst/>
          </a:prstGeom>
          <a:solidFill>
            <a:schemeClr val="bg2">
              <a:lumMod val="1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466446" y="6137423"/>
            <a:ext cx="430306" cy="7738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19" name="矩形 18"/>
          <p:cNvSpPr/>
          <p:nvPr/>
        </p:nvSpPr>
        <p:spPr>
          <a:xfrm>
            <a:off x="1664130" y="6036473"/>
            <a:ext cx="460039" cy="8747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sp>
        <p:nvSpPr>
          <p:cNvPr id="20" name="矩形 19"/>
          <p:cNvSpPr/>
          <p:nvPr/>
        </p:nvSpPr>
        <p:spPr>
          <a:xfrm>
            <a:off x="1057519" y="6366568"/>
            <a:ext cx="430306" cy="5684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dirty="0"/>
          </a:p>
        </p:txBody>
      </p:sp>
      <p:grpSp>
        <p:nvGrpSpPr>
          <p:cNvPr id="21" name="组合 20"/>
          <p:cNvGrpSpPr/>
          <p:nvPr/>
        </p:nvGrpSpPr>
        <p:grpSpPr>
          <a:xfrm>
            <a:off x="131974" y="-1"/>
            <a:ext cx="11520000" cy="2053082"/>
            <a:chOff x="131974" y="-1"/>
            <a:chExt cx="11520000" cy="2053082"/>
          </a:xfrm>
        </p:grpSpPr>
        <p:grpSp>
          <p:nvGrpSpPr>
            <p:cNvPr id="22" name="组合 21"/>
            <p:cNvGrpSpPr/>
            <p:nvPr/>
          </p:nvGrpSpPr>
          <p:grpSpPr>
            <a:xfrm>
              <a:off x="131974" y="-1"/>
              <a:ext cx="11520000" cy="1016152"/>
              <a:chOff x="131974" y="-1"/>
              <a:chExt cx="11520000" cy="1016152"/>
            </a:xfrm>
          </p:grpSpPr>
          <p:pic>
            <p:nvPicPr>
              <p:cNvPr id="25" name="图片 2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6" name="矩形 25"/>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7"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23" name="文本框 22"/>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4" name="文本框 23"/>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的系统架构</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3957856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 y="2164875"/>
            <a:ext cx="9663156" cy="45719"/>
          </a:xfrm>
          <a:prstGeom prst="rect">
            <a:avLst/>
          </a:prstGeom>
          <a:solidFill>
            <a:srgbClr val="FFC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rot="10800000">
            <a:off x="9617437" y="1297452"/>
            <a:ext cx="2592640" cy="1065542"/>
            <a:chOff x="-3884" y="1297773"/>
            <a:chExt cx="2592640" cy="1065542"/>
          </a:xfrm>
        </p:grpSpPr>
        <p:sp>
          <p:nvSpPr>
            <p:cNvPr id="6" name="矩形 5"/>
            <p:cNvSpPr/>
            <p:nvPr/>
          </p:nvSpPr>
          <p:spPr>
            <a:xfrm>
              <a:off x="-3884" y="1379730"/>
              <a:ext cx="495299" cy="5334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72046" y="1879600"/>
              <a:ext cx="266702" cy="2872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00597" y="1571628"/>
              <a:ext cx="342898" cy="36927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43495" y="2037009"/>
              <a:ext cx="266702" cy="28721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543037" y="1596441"/>
              <a:ext cx="45719"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flipV="1">
              <a:off x="491415" y="2076097"/>
              <a:ext cx="266702" cy="287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898724" y="1867051"/>
              <a:ext cx="106680" cy="11488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221544" y="1932488"/>
              <a:ext cx="266702" cy="28721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679145" y="2037009"/>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227144" y="1715237"/>
              <a:ext cx="266702" cy="287218"/>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038748" y="1297773"/>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074" name="Picture 2" descr="10-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6175" y="2281037"/>
            <a:ext cx="7958853"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8" name="组合 17"/>
          <p:cNvGrpSpPr/>
          <p:nvPr/>
        </p:nvGrpSpPr>
        <p:grpSpPr>
          <a:xfrm>
            <a:off x="131974" y="-1"/>
            <a:ext cx="11520000" cy="2053082"/>
            <a:chOff x="131974" y="-1"/>
            <a:chExt cx="11520000" cy="2053082"/>
          </a:xfrm>
        </p:grpSpPr>
        <p:grpSp>
          <p:nvGrpSpPr>
            <p:cNvPr id="19" name="组合 18"/>
            <p:cNvGrpSpPr/>
            <p:nvPr/>
          </p:nvGrpSpPr>
          <p:grpSpPr>
            <a:xfrm>
              <a:off x="131974" y="-1"/>
              <a:ext cx="11520000" cy="1016152"/>
              <a:chOff x="131974" y="-1"/>
              <a:chExt cx="11520000" cy="1016152"/>
            </a:xfrm>
          </p:grpSpPr>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4" name="矩形 23"/>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5"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20" name="文本框 19"/>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1" name="文本框 20"/>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的系统架构</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29099447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4294967295"/>
          </p:nvPr>
        </p:nvSpPr>
        <p:spPr>
          <a:xfrm>
            <a:off x="6022975" y="2690607"/>
            <a:ext cx="5499100" cy="3000375"/>
          </a:xfrm>
          <a:prstGeom prst="rect">
            <a:avLst/>
          </a:prstGeom>
        </p:spPr>
        <p:txBody>
          <a:bodyPr>
            <a:noAutofit/>
          </a:bodyPr>
          <a:lstStyle/>
          <a:p>
            <a:pPr marL="0" indent="0" algn="just">
              <a:buNone/>
            </a:pPr>
            <a:r>
              <a:rPr lang="zh-CN" altLang="en-US" dirty="0"/>
              <a:t>       </a:t>
            </a:r>
            <a:r>
              <a:rPr lang="en-US" altLang="zh-CN" dirty="0"/>
              <a:t>Swift</a:t>
            </a:r>
            <a:r>
              <a:rPr lang="zh-CN" altLang="en-US" dirty="0"/>
              <a:t>采用</a:t>
            </a:r>
            <a:r>
              <a:rPr lang="zh-CN" altLang="en-US" dirty="0">
                <a:solidFill>
                  <a:srgbClr val="FF0000"/>
                </a:solidFill>
              </a:rPr>
              <a:t>完全对称、面向资源</a:t>
            </a:r>
            <a:r>
              <a:rPr lang="zh-CN" altLang="en-US" dirty="0"/>
              <a:t>的分布式系统架构设计，</a:t>
            </a:r>
            <a:r>
              <a:rPr lang="zh-CN" altLang="en-US" dirty="0">
                <a:solidFill>
                  <a:srgbClr val="FF0000"/>
                </a:solidFill>
              </a:rPr>
              <a:t>所有组件都可扩展</a:t>
            </a:r>
            <a:r>
              <a:rPr lang="zh-CN" altLang="en-US" dirty="0"/>
              <a:t>，避免因单点失效而扩散并影响整个系统运转；通信方式采用非阻塞式 </a:t>
            </a:r>
            <a:r>
              <a:rPr lang="en-US" altLang="zh-CN" dirty="0"/>
              <a:t>I/O </a:t>
            </a:r>
            <a:r>
              <a:rPr lang="zh-CN" altLang="en-US" dirty="0"/>
              <a:t>模式，提高了系统吞吐和响应能力。</a:t>
            </a:r>
          </a:p>
        </p:txBody>
      </p:sp>
      <p:sp>
        <p:nvSpPr>
          <p:cNvPr id="4" name="矩形 3"/>
          <p:cNvSpPr/>
          <p:nvPr/>
        </p:nvSpPr>
        <p:spPr>
          <a:xfrm>
            <a:off x="6022975" y="1945528"/>
            <a:ext cx="3640182" cy="143610"/>
          </a:xfrm>
          <a:prstGeom prst="rect">
            <a:avLst/>
          </a:prstGeom>
          <a:solidFill>
            <a:srgbClr val="FFC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rot="10800000">
            <a:off x="9617437" y="1297452"/>
            <a:ext cx="2592640" cy="1065542"/>
            <a:chOff x="-3884" y="1297773"/>
            <a:chExt cx="2592640" cy="1065542"/>
          </a:xfrm>
        </p:grpSpPr>
        <p:sp>
          <p:nvSpPr>
            <p:cNvPr id="6" name="矩形 5"/>
            <p:cNvSpPr/>
            <p:nvPr/>
          </p:nvSpPr>
          <p:spPr>
            <a:xfrm>
              <a:off x="-3884" y="1379730"/>
              <a:ext cx="495299" cy="5334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72046" y="1879600"/>
              <a:ext cx="266702" cy="2872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00597" y="1571628"/>
              <a:ext cx="342898" cy="36927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43495" y="2037009"/>
              <a:ext cx="266702" cy="28721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543037" y="1596441"/>
              <a:ext cx="45719"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flipV="1">
              <a:off x="491415" y="2076097"/>
              <a:ext cx="266702" cy="287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898724" y="1867051"/>
              <a:ext cx="106680" cy="11488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221544" y="1932488"/>
              <a:ext cx="266702" cy="28721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679145" y="2037009"/>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227144" y="1715237"/>
              <a:ext cx="266702" cy="287218"/>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038748" y="1297773"/>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98" name="Picture 2" descr="10-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9575" y="2063066"/>
            <a:ext cx="3706813" cy="4471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矩形 20"/>
          <p:cNvSpPr/>
          <p:nvPr/>
        </p:nvSpPr>
        <p:spPr>
          <a:xfrm>
            <a:off x="6022975" y="5715794"/>
            <a:ext cx="6175375" cy="461665"/>
          </a:xfrm>
          <a:prstGeom prst="rect">
            <a:avLst/>
          </a:prstGeom>
          <a:solidFill>
            <a:srgbClr val="92D050"/>
          </a:solidFill>
        </p:spPr>
        <p:txBody>
          <a:bodyPr wrap="square">
            <a:spAutoFit/>
          </a:bodyPr>
          <a:lstStyle/>
          <a:p>
            <a:r>
              <a:rPr lang="en-US" altLang="zh-CN" dirty="0"/>
              <a:t>Swift</a:t>
            </a:r>
            <a:r>
              <a:rPr lang="zh-CN" altLang="zh-CN" dirty="0"/>
              <a:t>系统架构</a:t>
            </a:r>
            <a:endParaRPr lang="zh-CN" altLang="en-US" dirty="0"/>
          </a:p>
        </p:txBody>
      </p:sp>
      <p:grpSp>
        <p:nvGrpSpPr>
          <p:cNvPr id="19" name="组合 18"/>
          <p:cNvGrpSpPr/>
          <p:nvPr/>
        </p:nvGrpSpPr>
        <p:grpSpPr>
          <a:xfrm>
            <a:off x="131974" y="-1"/>
            <a:ext cx="11520000" cy="2053082"/>
            <a:chOff x="131974" y="-1"/>
            <a:chExt cx="11520000" cy="2053082"/>
          </a:xfrm>
        </p:grpSpPr>
        <p:grpSp>
          <p:nvGrpSpPr>
            <p:cNvPr id="20" name="组合 19"/>
            <p:cNvGrpSpPr/>
            <p:nvPr/>
          </p:nvGrpSpPr>
          <p:grpSpPr>
            <a:xfrm>
              <a:off x="131974" y="-1"/>
              <a:ext cx="11520000" cy="1016152"/>
              <a:chOff x="131974" y="-1"/>
              <a:chExt cx="11520000" cy="1016152"/>
            </a:xfrm>
          </p:grpSpPr>
          <p:pic>
            <p:nvPicPr>
              <p:cNvPr id="24" name="图片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22" name="文本框 21"/>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文本框 22"/>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的系统架构</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28581382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73957" y="2040488"/>
            <a:ext cx="5718176" cy="61371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2" y="5317689"/>
            <a:ext cx="12183597" cy="153821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606712" y="2617574"/>
            <a:ext cx="5484533" cy="2748195"/>
          </a:xfrm>
          <a:prstGeom prst="rect">
            <a:avLst/>
          </a:prstGeom>
        </p:spPr>
        <p:txBody>
          <a:bodyPr vert="horz" lIns="121917" tIns="60958" rIns="121917" bIns="60958" rtlCol="0">
            <a:noAutofit/>
          </a:bodyPr>
          <a:lstStyle/>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1</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）代理服务（</a:t>
            </a:r>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Proxy Server</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a:t>
            </a:r>
            <a:endPar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lnSpc>
                <a:spcPct val="130000"/>
              </a:lnSpc>
              <a:spcBef>
                <a:spcPct val="20000"/>
              </a:spcBef>
              <a:buSzPct val="80000"/>
              <a:buFont typeface="Wingdings" pitchFamily="2" charset="2"/>
              <a:buNone/>
            </a:pP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         对外提供对象服务 </a:t>
            </a:r>
            <a:r>
              <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rPr>
              <a:t>API</a:t>
            </a: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，会根据环的信息来查找服务地址并转发用户请求至相应的账户、容器或者对象服务；由于采用无状态的 </a:t>
            </a:r>
            <a:r>
              <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rPr>
              <a:t>REST </a:t>
            </a: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请求协议，可以进行横向扩展来均衡负载。</a:t>
            </a:r>
            <a:endPar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endParaRPr>
          </a:p>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2</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）认证服务（</a:t>
            </a:r>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Authentication Server</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a:t>
            </a:r>
            <a:endPar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lnSpc>
                <a:spcPct val="130000"/>
              </a:lnSpc>
              <a:spcBef>
                <a:spcPct val="20000"/>
              </a:spcBef>
              <a:buSzPct val="80000"/>
              <a:buFont typeface="Wingdings" pitchFamily="2" charset="2"/>
              <a:buNone/>
            </a:pP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          验证访问用户的身份信息，并获得一个对象访问令牌（</a:t>
            </a:r>
            <a:r>
              <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rPr>
              <a:t>Token</a:t>
            </a: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），在一定的时间内会一直有效；验证访问令牌的有效性并缓存下来直至过期时间。</a:t>
            </a:r>
            <a:endPar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8" name="矩形 7"/>
          <p:cNvSpPr/>
          <p:nvPr/>
        </p:nvSpPr>
        <p:spPr>
          <a:xfrm>
            <a:off x="369170" y="2093432"/>
            <a:ext cx="3225621" cy="461665"/>
          </a:xfrm>
          <a:prstGeom prst="rect">
            <a:avLst/>
          </a:prstGeom>
        </p:spPr>
        <p:txBody>
          <a:bodyPr wrap="square">
            <a:spAutoFit/>
          </a:bodyPr>
          <a:lstStyle/>
          <a:p>
            <a:r>
              <a:rPr lang="en-US" altLang="zh-CN" dirty="0">
                <a:solidFill>
                  <a:schemeClr val="bg1"/>
                </a:solidFill>
              </a:rPr>
              <a:t>Swift</a:t>
            </a:r>
            <a:r>
              <a:rPr lang="zh-CN" altLang="zh-CN" dirty="0">
                <a:solidFill>
                  <a:schemeClr val="bg1"/>
                </a:solidFill>
              </a:rPr>
              <a:t>组件</a:t>
            </a:r>
            <a:r>
              <a:rPr lang="zh-CN" altLang="en-US" dirty="0">
                <a:solidFill>
                  <a:schemeClr val="bg1"/>
                </a:solidFill>
              </a:rPr>
              <a:t>内容</a:t>
            </a:r>
          </a:p>
        </p:txBody>
      </p:sp>
      <p:grpSp>
        <p:nvGrpSpPr>
          <p:cNvPr id="9" name="组合 8"/>
          <p:cNvGrpSpPr/>
          <p:nvPr/>
        </p:nvGrpSpPr>
        <p:grpSpPr>
          <a:xfrm>
            <a:off x="79375" y="5294829"/>
            <a:ext cx="5075839" cy="1487765"/>
            <a:chOff x="764256" y="5258118"/>
            <a:chExt cx="5075839" cy="1487765"/>
          </a:xfrm>
        </p:grpSpPr>
        <p:sp>
          <p:nvSpPr>
            <p:cNvPr id="10" name="矩形 9"/>
            <p:cNvSpPr/>
            <p:nvPr/>
          </p:nvSpPr>
          <p:spPr>
            <a:xfrm rot="10800000" flipH="1">
              <a:off x="764256" y="6130526"/>
              <a:ext cx="403859" cy="4717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0800000" flipH="1">
              <a:off x="1540184" y="5876838"/>
              <a:ext cx="266702" cy="2872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rot="10800000" flipH="1">
              <a:off x="1368735" y="6102752"/>
              <a:ext cx="342898" cy="36927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10800000" flipH="1">
              <a:off x="1711633" y="5719429"/>
              <a:ext cx="266702" cy="28721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rot="10800000" flipH="1">
              <a:off x="3311175" y="6401496"/>
              <a:ext cx="45719"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rot="10800000" flipH="1" flipV="1">
              <a:off x="1176720" y="5589620"/>
              <a:ext cx="266702" cy="287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rot="10800000" flipH="1">
              <a:off x="2666862" y="6061719"/>
              <a:ext cx="106680" cy="11488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rot="10800000" flipH="1">
              <a:off x="2989682" y="5823950"/>
              <a:ext cx="266702" cy="28721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10800000" flipH="1">
              <a:off x="2447283" y="5719429"/>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rot="10800000" flipH="1">
              <a:off x="1995282" y="6041201"/>
              <a:ext cx="266702" cy="287218"/>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10800000" flipH="1">
              <a:off x="2586851" y="6458665"/>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rot="10800000" flipH="1">
              <a:off x="5794376" y="5258118"/>
              <a:ext cx="45719"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rot="10800000" flipH="1">
              <a:off x="5260975" y="5395080"/>
              <a:ext cx="106680" cy="11488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rot="10800000" flipH="1">
              <a:off x="4644310" y="5693322"/>
              <a:ext cx="181690" cy="19566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rot="10800000" flipH="1">
              <a:off x="4101911" y="5588801"/>
              <a:ext cx="266702" cy="287218"/>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rot="10800000" flipH="1">
              <a:off x="3584575" y="5902369"/>
              <a:ext cx="266702" cy="28721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ndParaRPr>
            </a:p>
          </p:txBody>
        </p:sp>
      </p:grpSp>
      <p:grpSp>
        <p:nvGrpSpPr>
          <p:cNvPr id="26" name="组合 25"/>
          <p:cNvGrpSpPr/>
          <p:nvPr/>
        </p:nvGrpSpPr>
        <p:grpSpPr>
          <a:xfrm>
            <a:off x="131974" y="-1"/>
            <a:ext cx="11520000" cy="2053082"/>
            <a:chOff x="131974" y="-1"/>
            <a:chExt cx="11520000" cy="2053082"/>
          </a:xfrm>
        </p:grpSpPr>
        <p:grpSp>
          <p:nvGrpSpPr>
            <p:cNvPr id="27" name="组合 26"/>
            <p:cNvGrpSpPr/>
            <p:nvPr/>
          </p:nvGrpSpPr>
          <p:grpSpPr>
            <a:xfrm>
              <a:off x="131974" y="-1"/>
              <a:ext cx="11520000" cy="1016152"/>
              <a:chOff x="131974" y="-1"/>
              <a:chExt cx="11520000" cy="1016152"/>
            </a:xfrm>
          </p:grpSpPr>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31" name="矩形 30"/>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2"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28" name="文本框 27"/>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9" name="文本框 28"/>
            <p:cNvSpPr txBox="1"/>
            <p:nvPr/>
          </p:nvSpPr>
          <p:spPr>
            <a:xfrm>
              <a:off x="612896" y="1591416"/>
              <a:ext cx="1834156"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组件</a:t>
              </a:r>
            </a:p>
          </p:txBody>
        </p:sp>
      </p:grpSp>
      <p:sp>
        <p:nvSpPr>
          <p:cNvPr id="3" name="矩形 2"/>
          <p:cNvSpPr/>
          <p:nvPr/>
        </p:nvSpPr>
        <p:spPr>
          <a:xfrm>
            <a:off x="6117953" y="1293342"/>
            <a:ext cx="5691655" cy="2440668"/>
          </a:xfrm>
          <a:prstGeom prst="rect">
            <a:avLst/>
          </a:prstGeom>
        </p:spPr>
        <p:txBody>
          <a:bodyPr wrap="square">
            <a:spAutoFit/>
          </a:bodyPr>
          <a:lstStyle/>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3</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）缓存服务（</a:t>
            </a:r>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Cache Server</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a:t>
            </a:r>
            <a:endPar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a:lnSpc>
                <a:spcPct val="130000"/>
              </a:lnSpc>
              <a:spcBef>
                <a:spcPct val="20000"/>
              </a:spcBef>
              <a:buSzPct val="80000"/>
              <a:buFont typeface="Wingdings" pitchFamily="2" charset="2"/>
              <a:buNone/>
            </a:pP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        缓存的内容包括对象服务令牌，账户和容器的存在信息，但不会缓存对象本身的数据；缓存服务可采用 </a:t>
            </a:r>
            <a:r>
              <a:rPr lang="en-US" altLang="zh-CN" sz="1400" dirty="0" err="1">
                <a:solidFill>
                  <a:schemeClr val="tx1">
                    <a:lumMod val="95000"/>
                    <a:lumOff val="5000"/>
                  </a:schemeClr>
                </a:solidFill>
                <a:latin typeface="Times New Roman" panose="02020603050405020304" pitchFamily="18" charset="0"/>
                <a:cs typeface="Times New Roman" panose="02020603050405020304" pitchFamily="18" charset="0"/>
              </a:rPr>
              <a:t>Memcached</a:t>
            </a:r>
            <a:r>
              <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rPr>
              <a:t> </a:t>
            </a: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集群，</a:t>
            </a:r>
            <a:r>
              <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rPr>
              <a:t>Swift </a:t>
            </a: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会使用一致性散列算法来分配缓存地址。</a:t>
            </a:r>
            <a:endPar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endParaRPr>
          </a:p>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4</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）账户服务（</a:t>
            </a:r>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Account Server</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a:t>
            </a:r>
            <a:endPar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a:lnSpc>
                <a:spcPct val="130000"/>
              </a:lnSpc>
              <a:spcBef>
                <a:spcPct val="20000"/>
              </a:spcBef>
              <a:buSzPct val="80000"/>
              <a:buFont typeface="Wingdings" pitchFamily="2" charset="2"/>
              <a:buNone/>
            </a:pP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rPr>
              <a:t>       </a:t>
            </a: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提供账户元数据和统计信息，并维护所含容器列表的服务，每个账户的信息被存储在一个 </a:t>
            </a:r>
            <a:r>
              <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rPr>
              <a:t>SQLite </a:t>
            </a: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数据库中。</a:t>
            </a:r>
            <a:endPar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3" name="矩形 32"/>
          <p:cNvSpPr/>
          <p:nvPr/>
        </p:nvSpPr>
        <p:spPr>
          <a:xfrm>
            <a:off x="6117953" y="3886994"/>
            <a:ext cx="5560602" cy="1095685"/>
          </a:xfrm>
          <a:prstGeom prst="rect">
            <a:avLst/>
          </a:prstGeom>
        </p:spPr>
        <p:txBody>
          <a:bodyPr wrap="square">
            <a:spAutoFit/>
          </a:bodyPr>
          <a:lstStyle/>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5</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）容器服务（</a:t>
            </a:r>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Container Server</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a:t>
            </a:r>
            <a:endPar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endParaRPr>
          </a:p>
          <a:p>
            <a:pPr>
              <a:lnSpc>
                <a:spcPct val="130000"/>
              </a:lnSpc>
              <a:spcBef>
                <a:spcPct val="20000"/>
              </a:spcBef>
              <a:buSzPct val="80000"/>
              <a:buFont typeface="Wingdings" pitchFamily="2" charset="2"/>
              <a:buNone/>
            </a:pP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       提供容器元数据和统计信息，并维护所含对象列表的服务，每个容器的信息也存储在一个 </a:t>
            </a:r>
            <a:r>
              <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rPr>
              <a:t>SQLite </a:t>
            </a: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数据库中。</a:t>
            </a:r>
            <a:endPar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95398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 y="5625512"/>
            <a:ext cx="12183597" cy="123038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211000" y="5625512"/>
            <a:ext cx="4821376" cy="1228022"/>
            <a:chOff x="764256" y="5258118"/>
            <a:chExt cx="5075839" cy="1487765"/>
          </a:xfrm>
        </p:grpSpPr>
        <p:sp>
          <p:nvSpPr>
            <p:cNvPr id="10" name="矩形 9"/>
            <p:cNvSpPr/>
            <p:nvPr/>
          </p:nvSpPr>
          <p:spPr>
            <a:xfrm rot="10800000" flipH="1">
              <a:off x="764256" y="6130526"/>
              <a:ext cx="403859" cy="4717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rot="10800000" flipH="1">
              <a:off x="1540184" y="5876838"/>
              <a:ext cx="266702" cy="2872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rot="10800000" flipH="1">
              <a:off x="1368735" y="6102752"/>
              <a:ext cx="342898" cy="36927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rot="10800000" flipH="1">
              <a:off x="1711633" y="5719429"/>
              <a:ext cx="266702" cy="28721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rot="10800000" flipH="1">
              <a:off x="3311175" y="6401496"/>
              <a:ext cx="45719"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rot="10800000" flipH="1" flipV="1">
              <a:off x="1176720" y="5589620"/>
              <a:ext cx="266702" cy="287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rot="10800000" flipH="1">
              <a:off x="2666862" y="6061719"/>
              <a:ext cx="106680" cy="11488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rot="10800000" flipH="1">
              <a:off x="2989682" y="5823950"/>
              <a:ext cx="266702" cy="28721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rot="10800000" flipH="1">
              <a:off x="2447283" y="5719429"/>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rot="10800000" flipH="1">
              <a:off x="1995282" y="6041201"/>
              <a:ext cx="266702" cy="287218"/>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rot="10800000" flipH="1">
              <a:off x="2586851" y="6458665"/>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rot="10800000" flipH="1">
              <a:off x="5794376" y="5258118"/>
              <a:ext cx="45719"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rot="10800000" flipH="1">
              <a:off x="5260975" y="5395080"/>
              <a:ext cx="106680" cy="11488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rot="10800000" flipH="1">
              <a:off x="4644310" y="5693322"/>
              <a:ext cx="181690" cy="19566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rot="10800000" flipH="1">
              <a:off x="4101911" y="5588801"/>
              <a:ext cx="266702" cy="287218"/>
            </a:xfrm>
            <a:prstGeom prst="rect">
              <a:avLst/>
            </a:prstGeom>
            <a:solidFill>
              <a:srgbClr val="FF99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rot="10800000" flipH="1">
              <a:off x="3584575" y="5902369"/>
              <a:ext cx="266702" cy="28721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lumMod val="85000"/>
                  </a:schemeClr>
                </a:solidFill>
              </a:endParaRPr>
            </a:p>
          </p:txBody>
        </p:sp>
      </p:grpSp>
      <p:grpSp>
        <p:nvGrpSpPr>
          <p:cNvPr id="26" name="组合 25"/>
          <p:cNvGrpSpPr/>
          <p:nvPr/>
        </p:nvGrpSpPr>
        <p:grpSpPr>
          <a:xfrm>
            <a:off x="131974" y="-1"/>
            <a:ext cx="11520000" cy="2053082"/>
            <a:chOff x="131974" y="-1"/>
            <a:chExt cx="11520000" cy="2053082"/>
          </a:xfrm>
        </p:grpSpPr>
        <p:grpSp>
          <p:nvGrpSpPr>
            <p:cNvPr id="27" name="组合 26"/>
            <p:cNvGrpSpPr/>
            <p:nvPr/>
          </p:nvGrpSpPr>
          <p:grpSpPr>
            <a:xfrm>
              <a:off x="131974" y="-1"/>
              <a:ext cx="11520000" cy="1016152"/>
              <a:chOff x="131974" y="-1"/>
              <a:chExt cx="11520000" cy="1016152"/>
            </a:xfrm>
          </p:grpSpPr>
          <p:pic>
            <p:nvPicPr>
              <p:cNvPr id="30" name="图片 2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31" name="矩形 30"/>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2"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28" name="文本框 27"/>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9" name="文本框 28"/>
            <p:cNvSpPr txBox="1"/>
            <p:nvPr/>
          </p:nvSpPr>
          <p:spPr>
            <a:xfrm>
              <a:off x="612896" y="1591416"/>
              <a:ext cx="1834156"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组件</a:t>
              </a:r>
            </a:p>
          </p:txBody>
        </p:sp>
      </p:grpSp>
      <p:sp>
        <p:nvSpPr>
          <p:cNvPr id="33" name="矩形 32"/>
          <p:cNvSpPr/>
          <p:nvPr/>
        </p:nvSpPr>
        <p:spPr>
          <a:xfrm>
            <a:off x="173957" y="2040488"/>
            <a:ext cx="5718176" cy="61371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369170" y="2093432"/>
            <a:ext cx="3225621" cy="461665"/>
          </a:xfrm>
          <a:prstGeom prst="rect">
            <a:avLst/>
          </a:prstGeom>
        </p:spPr>
        <p:txBody>
          <a:bodyPr wrap="square">
            <a:spAutoFit/>
          </a:bodyPr>
          <a:lstStyle/>
          <a:p>
            <a:r>
              <a:rPr lang="en-US" altLang="zh-CN" dirty="0">
                <a:solidFill>
                  <a:schemeClr val="bg1"/>
                </a:solidFill>
              </a:rPr>
              <a:t>Swift</a:t>
            </a:r>
            <a:r>
              <a:rPr lang="zh-CN" altLang="zh-CN" dirty="0">
                <a:solidFill>
                  <a:schemeClr val="bg1"/>
                </a:solidFill>
              </a:rPr>
              <a:t>组件</a:t>
            </a:r>
            <a:r>
              <a:rPr lang="zh-CN" altLang="en-US" dirty="0">
                <a:solidFill>
                  <a:schemeClr val="bg1"/>
                </a:solidFill>
              </a:rPr>
              <a:t>内容</a:t>
            </a:r>
          </a:p>
        </p:txBody>
      </p:sp>
      <p:sp>
        <p:nvSpPr>
          <p:cNvPr id="35" name="矩形 34"/>
          <p:cNvSpPr/>
          <p:nvPr/>
        </p:nvSpPr>
        <p:spPr>
          <a:xfrm>
            <a:off x="606712" y="2617574"/>
            <a:ext cx="5484533" cy="2748195"/>
          </a:xfrm>
          <a:prstGeom prst="rect">
            <a:avLst/>
          </a:prstGeom>
        </p:spPr>
        <p:txBody>
          <a:bodyPr vert="horz" lIns="121917" tIns="60958" rIns="121917" bIns="60958" rtlCol="0">
            <a:noAutofit/>
          </a:bodyPr>
          <a:lstStyle/>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6</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）对象服务（</a:t>
            </a:r>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Object Server</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a:t>
            </a: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         </a:t>
            </a:r>
            <a:endPar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lnSpc>
                <a:spcPct val="130000"/>
              </a:lnSpc>
              <a:spcBef>
                <a:spcPct val="20000"/>
              </a:spcBef>
              <a:buSzPct val="80000"/>
              <a:buFont typeface="Wingdings" pitchFamily="2" charset="2"/>
              <a:buNone/>
            </a:pP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        提供对象元数据和内容服务，每个对象的内容会以文件的形式存储在文件系统中，元数据会作为文件属性来存储，建议采用支持扩展属性的 </a:t>
            </a:r>
            <a:r>
              <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rPr>
              <a:t>XFS </a:t>
            </a: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文件系统。</a:t>
            </a:r>
            <a:endPar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endParaRPr>
          </a:p>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7</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）复制服务（</a:t>
            </a:r>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Replicator</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a:t>
            </a: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          </a:t>
            </a:r>
            <a:endPar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endParaRPr>
          </a:p>
          <a:p>
            <a:pPr>
              <a:lnSpc>
                <a:spcPct val="130000"/>
              </a:lnSpc>
              <a:spcBef>
                <a:spcPct val="20000"/>
              </a:spcBef>
              <a:buSzPct val="80000"/>
              <a:buFont typeface="Wingdings" pitchFamily="2" charset="2"/>
              <a:buNone/>
            </a:pP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        会检测本地分区副本和远程副本是否一致，具体是通过对比散列文件和高级水印来完成，发现不一致时会采用推式（</a:t>
            </a:r>
            <a:r>
              <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rPr>
              <a:t>Push</a:t>
            </a: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）更新远程副本，例如对象复制服务会使用远程文件拷贝工具 </a:t>
            </a:r>
            <a:r>
              <a:rPr lang="en-US" altLang="zh-CN" sz="1400" dirty="0" err="1">
                <a:solidFill>
                  <a:schemeClr val="tx1">
                    <a:lumMod val="95000"/>
                    <a:lumOff val="5000"/>
                  </a:schemeClr>
                </a:solidFill>
                <a:latin typeface="Times New Roman" panose="02020603050405020304" pitchFamily="18" charset="0"/>
                <a:cs typeface="Times New Roman" panose="02020603050405020304" pitchFamily="18" charset="0"/>
              </a:rPr>
              <a:t>rsync</a:t>
            </a:r>
            <a:r>
              <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rPr>
              <a:t> </a:t>
            </a: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来同步；另外一个任务是确保被标记删除的对象从文件系统中移除。</a:t>
            </a:r>
            <a:endPar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6" name="矩形 35"/>
          <p:cNvSpPr/>
          <p:nvPr/>
        </p:nvSpPr>
        <p:spPr>
          <a:xfrm>
            <a:off x="6117953" y="1293342"/>
            <a:ext cx="5691655" cy="3280898"/>
          </a:xfrm>
          <a:prstGeom prst="rect">
            <a:avLst/>
          </a:prstGeom>
        </p:spPr>
        <p:txBody>
          <a:bodyPr wrap="square">
            <a:spAutoFit/>
          </a:bodyPr>
          <a:lstStyle/>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8</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）更新服务（</a:t>
            </a:r>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Updater</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a:lnSpc>
                <a:spcPct val="130000"/>
              </a:lnSpc>
              <a:spcBef>
                <a:spcPct val="20000"/>
              </a:spcBef>
              <a:buSzPct val="80000"/>
              <a:buFont typeface="Wingdings" pitchFamily="2" charset="2"/>
              <a:buNone/>
            </a:pP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       当对象由于高负载的原因而无法立即更新时，任务将会被序列化到在本地文件系统中进行排队，以便服务恢复后进行异步更新；例如成功创建对象后容器服务器没有及时更新对象列表，这个时候容器的更新操作就会进入排队中，更新服务会在系统恢复正常后扫描队列并进行相应的更新处理。</a:t>
            </a:r>
            <a:endPar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endParaRPr>
          </a:p>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9</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）审计服务（</a:t>
            </a:r>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Auditor</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a:t>
            </a:r>
          </a:p>
          <a:p>
            <a:pPr>
              <a:lnSpc>
                <a:spcPct val="130000"/>
              </a:lnSpc>
              <a:spcBef>
                <a:spcPct val="20000"/>
              </a:spcBef>
              <a:buSzPct val="80000"/>
              <a:buFont typeface="Wingdings" pitchFamily="2" charset="2"/>
              <a:buNone/>
            </a:pP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        检查对象，容器和账户的完整性，如果发现比特级的错误，文件将被隔离，并复制其他的副本以覆盖本地损坏的副本；其他类型的错误会被记录到日志中。</a:t>
            </a:r>
            <a:endPar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7" name="矩形 36"/>
          <p:cNvSpPr/>
          <p:nvPr/>
        </p:nvSpPr>
        <p:spPr>
          <a:xfrm>
            <a:off x="6091245" y="4529827"/>
            <a:ext cx="5560602" cy="815608"/>
          </a:xfrm>
          <a:prstGeom prst="rect">
            <a:avLst/>
          </a:prstGeom>
        </p:spPr>
        <p:txBody>
          <a:bodyPr wrap="square">
            <a:spAutoFit/>
          </a:bodyPr>
          <a:lstStyle/>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10</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）账户清理服务（</a:t>
            </a:r>
            <a:r>
              <a:rPr lang="en-US" altLang="zh-CN" sz="2000" dirty="0">
                <a:solidFill>
                  <a:schemeClr val="tx1">
                    <a:lumMod val="95000"/>
                    <a:lumOff val="5000"/>
                  </a:schemeClr>
                </a:solidFill>
                <a:latin typeface="Times New Roman" panose="02020603050405020304" pitchFamily="18" charset="0"/>
                <a:cs typeface="Times New Roman" panose="02020603050405020304" pitchFamily="18" charset="0"/>
              </a:rPr>
              <a:t>Account Reaper</a:t>
            </a:r>
            <a:r>
              <a:rPr lang="zh-CN" altLang="en-US" sz="2000" dirty="0">
                <a:solidFill>
                  <a:schemeClr val="tx1">
                    <a:lumMod val="95000"/>
                    <a:lumOff val="5000"/>
                  </a:schemeClr>
                </a:solidFill>
                <a:latin typeface="Times New Roman" panose="02020603050405020304" pitchFamily="18" charset="0"/>
                <a:cs typeface="Times New Roman" panose="02020603050405020304" pitchFamily="18" charset="0"/>
              </a:rPr>
              <a:t>）</a:t>
            </a:r>
          </a:p>
          <a:p>
            <a:pPr>
              <a:lnSpc>
                <a:spcPct val="130000"/>
              </a:lnSpc>
              <a:spcBef>
                <a:spcPct val="20000"/>
              </a:spcBef>
              <a:buSzPct val="80000"/>
              <a:buFont typeface="Wingdings" pitchFamily="2" charset="2"/>
              <a:buNone/>
            </a:pPr>
            <a:r>
              <a:rPr lang="zh-CN" altLang="en-US" sz="1400" dirty="0">
                <a:solidFill>
                  <a:schemeClr val="tx1">
                    <a:lumMod val="95000"/>
                    <a:lumOff val="5000"/>
                  </a:schemeClr>
                </a:solidFill>
                <a:latin typeface="Times New Roman" panose="02020603050405020304" pitchFamily="18" charset="0"/>
                <a:cs typeface="Times New Roman" panose="02020603050405020304" pitchFamily="18" charset="0"/>
              </a:rPr>
              <a:t>        移除被标记为删除的账户，删除其所包含的所有容器和对象。</a:t>
            </a:r>
            <a:endParaRPr lang="en-US" altLang="zh-CN" sz="14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73231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022975" y="1945528"/>
            <a:ext cx="3640182" cy="143610"/>
          </a:xfrm>
          <a:prstGeom prst="rect">
            <a:avLst/>
          </a:prstGeom>
          <a:solidFill>
            <a:srgbClr val="FFC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rot="10800000">
            <a:off x="9617437" y="1297452"/>
            <a:ext cx="2592640" cy="1065542"/>
            <a:chOff x="-3884" y="1297773"/>
            <a:chExt cx="2592640" cy="1065542"/>
          </a:xfrm>
        </p:grpSpPr>
        <p:sp>
          <p:nvSpPr>
            <p:cNvPr id="6" name="矩形 5"/>
            <p:cNvSpPr/>
            <p:nvPr/>
          </p:nvSpPr>
          <p:spPr>
            <a:xfrm>
              <a:off x="-3884" y="1379730"/>
              <a:ext cx="495299" cy="5334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72046" y="1879600"/>
              <a:ext cx="266702" cy="2872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00597" y="1571628"/>
              <a:ext cx="342898" cy="36927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43495" y="2037009"/>
              <a:ext cx="266702" cy="28721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543037" y="1596441"/>
              <a:ext cx="45719"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flipV="1">
              <a:off x="491415" y="2076097"/>
              <a:ext cx="266702" cy="287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898724" y="1867051"/>
              <a:ext cx="106680" cy="11488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221544" y="1932488"/>
              <a:ext cx="266702" cy="28721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679145" y="2037009"/>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227144" y="1715237"/>
              <a:ext cx="266702" cy="287218"/>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038748" y="1297773"/>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131974" y="-1"/>
            <a:ext cx="11520000" cy="2053082"/>
            <a:chOff x="131974" y="-1"/>
            <a:chExt cx="11520000" cy="2053082"/>
          </a:xfrm>
        </p:grpSpPr>
        <p:grpSp>
          <p:nvGrpSpPr>
            <p:cNvPr id="20" name="组合 19"/>
            <p:cNvGrpSpPr/>
            <p:nvPr/>
          </p:nvGrpSpPr>
          <p:grpSpPr>
            <a:xfrm>
              <a:off x="131974" y="-1"/>
              <a:ext cx="11520000" cy="1016152"/>
              <a:chOff x="131974" y="-1"/>
              <a:chExt cx="11520000" cy="1016152"/>
            </a:xfrm>
          </p:grpSpPr>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22" name="文本框 21"/>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文本框 22"/>
            <p:cNvSpPr txBox="1"/>
            <p:nvPr/>
          </p:nvSpPr>
          <p:spPr>
            <a:xfrm>
              <a:off x="612896" y="1591416"/>
              <a:ext cx="3381054"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系统中的服务器</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2" name="矩形 1"/>
          <p:cNvSpPr/>
          <p:nvPr/>
        </p:nvSpPr>
        <p:spPr>
          <a:xfrm>
            <a:off x="944362" y="2114636"/>
            <a:ext cx="6099175" cy="400110"/>
          </a:xfrm>
          <a:prstGeom prst="rect">
            <a:avLst/>
          </a:prstGeom>
        </p:spPr>
        <p:txBody>
          <a:bodyPr>
            <a:spAutoFit/>
          </a:bodyPr>
          <a:lstStyle/>
          <a:p>
            <a:r>
              <a:rPr lang="en-US" altLang="zh-CN" sz="2000" dirty="0">
                <a:latin typeface="Times New Roman" panose="02020603050405020304" pitchFamily="18" charset="0"/>
                <a:cs typeface="Times New Roman" panose="02020603050405020304" pitchFamily="18" charset="0"/>
              </a:rPr>
              <a:t>Swift</a:t>
            </a:r>
            <a:r>
              <a:rPr lang="zh-CN" altLang="en-US" sz="2000" dirty="0">
                <a:latin typeface="Times New Roman" panose="02020603050405020304" pitchFamily="18" charset="0"/>
                <a:cs typeface="Times New Roman" panose="02020603050405020304" pitchFamily="18" charset="0"/>
              </a:rPr>
              <a:t>系统中的服务器，主要分为</a:t>
            </a:r>
            <a:r>
              <a:rPr lang="en-US" altLang="zh-CN" sz="2000" dirty="0">
                <a:latin typeface="Times New Roman" panose="02020603050405020304" pitchFamily="18" charset="0"/>
                <a:cs typeface="Times New Roman" panose="02020603050405020304" pitchFamily="18" charset="0"/>
              </a:rPr>
              <a:t>3</a:t>
            </a:r>
            <a:r>
              <a:rPr lang="zh-CN" altLang="en-US" sz="2000" dirty="0">
                <a:latin typeface="Times New Roman" panose="02020603050405020304" pitchFamily="18" charset="0"/>
                <a:cs typeface="Times New Roman" panose="02020603050405020304" pitchFamily="18" charset="0"/>
              </a:rPr>
              <a:t>种。</a:t>
            </a:r>
          </a:p>
        </p:txBody>
      </p:sp>
      <p:sp>
        <p:nvSpPr>
          <p:cNvPr id="17" name="矩形 16"/>
          <p:cNvSpPr/>
          <p:nvPr/>
        </p:nvSpPr>
        <p:spPr>
          <a:xfrm>
            <a:off x="944362" y="2535813"/>
            <a:ext cx="6099175" cy="400110"/>
          </a:xfrm>
          <a:prstGeom prst="rect">
            <a:avLst/>
          </a:prstGeom>
        </p:spPr>
        <p:txBody>
          <a:bodyPr>
            <a:spAutoFit/>
          </a:bodyPr>
          <a:lstStyle/>
          <a:p>
            <a:pPr marL="342900" indent="-342900">
              <a:buClr>
                <a:srgbClr val="0070C0"/>
              </a:buClr>
              <a:buFont typeface="Wingdings" panose="05000000000000000000" pitchFamily="2" charset="2"/>
              <a:buChar char="Ø"/>
            </a:pPr>
            <a:r>
              <a:rPr lang="en-US" altLang="zh-CN" sz="2000" dirty="0">
                <a:latin typeface="Times New Roman" panose="02020603050405020304" pitchFamily="18" charset="0"/>
                <a:ea typeface="Microsoft YaHei" panose="020B0503020204020204" pitchFamily="34" charset="-122"/>
                <a:cs typeface="Times New Roman" panose="02020603050405020304" pitchFamily="18" charset="0"/>
              </a:rPr>
              <a:t>1.Authentication Node</a:t>
            </a:r>
          </a:p>
        </p:txBody>
      </p:sp>
      <p:sp>
        <p:nvSpPr>
          <p:cNvPr id="18" name="矩形 17"/>
          <p:cNvSpPr/>
          <p:nvPr/>
        </p:nvSpPr>
        <p:spPr>
          <a:xfrm>
            <a:off x="1269595" y="2956990"/>
            <a:ext cx="8715054" cy="1705210"/>
          </a:xfrm>
          <a:prstGeom prst="rect">
            <a:avLst/>
          </a:prstGeom>
        </p:spPr>
        <p:txBody>
          <a:bodyPr wrap="square">
            <a:spAutoFit/>
          </a:bodyPr>
          <a:lstStyle/>
          <a:p>
            <a:pPr algn="just">
              <a:lnSpc>
                <a:spcPct val="150000"/>
              </a:lnSpc>
            </a:pPr>
            <a:r>
              <a:rPr lang="en-US" altLang="zh-CN" sz="1800" dirty="0">
                <a:latin typeface="Times New Roman" panose="02020603050405020304" pitchFamily="18" charset="0"/>
                <a:cs typeface="Times New Roman" panose="02020603050405020304" pitchFamily="18" charset="0"/>
              </a:rPr>
              <a:t>        Authentication node</a:t>
            </a:r>
            <a:r>
              <a:rPr lang="zh-CN" altLang="en-US" sz="1800" dirty="0">
                <a:latin typeface="Times New Roman" panose="02020603050405020304" pitchFamily="18" charset="0"/>
                <a:cs typeface="Times New Roman" panose="02020603050405020304" pitchFamily="18" charset="0"/>
              </a:rPr>
              <a:t>（认证节点）提供身份验证功能。如果只想使用</a:t>
            </a:r>
            <a:r>
              <a:rPr lang="en-US" altLang="zh-CN" sz="1800" dirty="0">
                <a:latin typeface="Times New Roman" panose="02020603050405020304" pitchFamily="18" charset="0"/>
                <a:cs typeface="Times New Roman" panose="02020603050405020304" pitchFamily="18" charset="0"/>
              </a:rPr>
              <a:t>Swift</a:t>
            </a:r>
            <a:r>
              <a:rPr lang="zh-CN" altLang="en-US" sz="1800" dirty="0">
                <a:latin typeface="Times New Roman" panose="02020603050405020304" pitchFamily="18" charset="0"/>
                <a:cs typeface="Times New Roman" panose="02020603050405020304" pitchFamily="18" charset="0"/>
              </a:rPr>
              <a:t>作为存储用户，可以使用</a:t>
            </a:r>
            <a:r>
              <a:rPr lang="en-US" altLang="zh-CN" sz="1800" dirty="0">
                <a:latin typeface="Times New Roman" panose="02020603050405020304" pitchFamily="18" charset="0"/>
                <a:cs typeface="Times New Roman" panose="02020603050405020304" pitchFamily="18" charset="0"/>
              </a:rPr>
              <a:t>Swift</a:t>
            </a:r>
            <a:r>
              <a:rPr lang="zh-CN" altLang="en-US" sz="1800" dirty="0">
                <a:latin typeface="Times New Roman" panose="02020603050405020304" pitchFamily="18" charset="0"/>
                <a:cs typeface="Times New Roman" panose="02020603050405020304" pitchFamily="18" charset="0"/>
              </a:rPr>
              <a:t>内置的认证服务，并将次认证服务运行于</a:t>
            </a:r>
            <a:r>
              <a:rPr lang="en-US" altLang="zh-CN" sz="1800" dirty="0">
                <a:latin typeface="Times New Roman" panose="02020603050405020304" pitchFamily="18" charset="0"/>
                <a:cs typeface="Times New Roman" panose="02020603050405020304" pitchFamily="18" charset="0"/>
              </a:rPr>
              <a:t>Authentication node</a:t>
            </a:r>
            <a:r>
              <a:rPr lang="zh-CN" altLang="en-US" sz="1800" dirty="0">
                <a:latin typeface="Times New Roman" panose="02020603050405020304" pitchFamily="18" charset="0"/>
                <a:cs typeface="Times New Roman" panose="02020603050405020304" pitchFamily="18" charset="0"/>
              </a:rPr>
              <a:t>上，如果把</a:t>
            </a:r>
            <a:r>
              <a:rPr lang="en-US" altLang="zh-CN" sz="1800" dirty="0">
                <a:latin typeface="Times New Roman" panose="02020603050405020304" pitchFamily="18" charset="0"/>
                <a:cs typeface="Times New Roman" panose="02020603050405020304" pitchFamily="18" charset="0"/>
              </a:rPr>
              <a:t>Swift</a:t>
            </a:r>
            <a:r>
              <a:rPr lang="zh-CN" altLang="en-US" sz="1800" dirty="0">
                <a:latin typeface="Times New Roman" panose="02020603050405020304" pitchFamily="18" charset="0"/>
                <a:cs typeface="Times New Roman" panose="02020603050405020304" pitchFamily="18" charset="0"/>
              </a:rPr>
              <a:t>放到</a:t>
            </a:r>
            <a:r>
              <a:rPr lang="en-US" altLang="zh-CN" sz="1800" dirty="0">
                <a:latin typeface="Times New Roman" panose="02020603050405020304" pitchFamily="18" charset="0"/>
                <a:cs typeface="Times New Roman" panose="02020603050405020304" pitchFamily="18" charset="0"/>
              </a:rPr>
              <a:t>Openstack</a:t>
            </a:r>
            <a:r>
              <a:rPr lang="zh-CN" altLang="en-US" sz="1800" dirty="0">
                <a:latin typeface="Times New Roman" panose="02020603050405020304" pitchFamily="18" charset="0"/>
                <a:cs typeface="Times New Roman" panose="02020603050405020304" pitchFamily="18" charset="0"/>
              </a:rPr>
              <a:t>中，则会采用</a:t>
            </a:r>
            <a:r>
              <a:rPr lang="en-US" altLang="zh-CN" sz="1800" dirty="0">
                <a:latin typeface="Times New Roman" panose="02020603050405020304" pitchFamily="18" charset="0"/>
                <a:cs typeface="Times New Roman" panose="02020603050405020304" pitchFamily="18" charset="0"/>
              </a:rPr>
              <a:t>Keystone</a:t>
            </a:r>
            <a:r>
              <a:rPr lang="zh-CN" altLang="en-US" sz="1800" dirty="0">
                <a:latin typeface="Times New Roman" panose="02020603050405020304" pitchFamily="18" charset="0"/>
                <a:cs typeface="Times New Roman" panose="02020603050405020304" pitchFamily="18" charset="0"/>
              </a:rPr>
              <a:t>的认证服务。此时</a:t>
            </a:r>
            <a:r>
              <a:rPr lang="en-US" altLang="zh-CN" sz="1800" dirty="0">
                <a:latin typeface="Times New Roman" panose="02020603050405020304" pitchFamily="18" charset="0"/>
                <a:cs typeface="Times New Roman" panose="02020603050405020304" pitchFamily="18" charset="0"/>
              </a:rPr>
              <a:t>Authentication node</a:t>
            </a:r>
            <a:r>
              <a:rPr lang="zh-CN" altLang="en-US" sz="1800" dirty="0">
                <a:latin typeface="Times New Roman" panose="02020603050405020304" pitchFamily="18" charset="0"/>
                <a:cs typeface="Times New Roman" panose="02020603050405020304" pitchFamily="18" charset="0"/>
              </a:rPr>
              <a:t>就并不属于</a:t>
            </a:r>
            <a:r>
              <a:rPr lang="en-US" altLang="zh-CN" sz="1800" dirty="0">
                <a:latin typeface="Times New Roman" panose="02020603050405020304" pitchFamily="18" charset="0"/>
                <a:cs typeface="Times New Roman" panose="02020603050405020304" pitchFamily="18" charset="0"/>
              </a:rPr>
              <a:t>Swift</a:t>
            </a:r>
            <a:r>
              <a:rPr lang="zh-CN" altLang="en-US" sz="1800" dirty="0">
                <a:latin typeface="Times New Roman" panose="02020603050405020304" pitchFamily="18" charset="0"/>
                <a:cs typeface="Times New Roman" panose="02020603050405020304" pitchFamily="18" charset="0"/>
              </a:rPr>
              <a:t>。</a:t>
            </a:r>
          </a:p>
        </p:txBody>
      </p:sp>
      <p:sp>
        <p:nvSpPr>
          <p:cNvPr id="27" name="矩形 26"/>
          <p:cNvSpPr/>
          <p:nvPr/>
        </p:nvSpPr>
        <p:spPr>
          <a:xfrm>
            <a:off x="993775" y="4680688"/>
            <a:ext cx="1955985" cy="400110"/>
          </a:xfrm>
          <a:prstGeom prst="rect">
            <a:avLst/>
          </a:prstGeom>
        </p:spPr>
        <p:txBody>
          <a:bodyPr wrap="none">
            <a:spAutoFit/>
          </a:bodyPr>
          <a:lstStyle/>
          <a:p>
            <a:pPr marL="342900" indent="-342900">
              <a:buClr>
                <a:srgbClr val="0070C0"/>
              </a:buClr>
              <a:buFont typeface="Wingdings" panose="05000000000000000000" pitchFamily="2" charset="2"/>
              <a:buChar char="Ø"/>
            </a:pPr>
            <a:r>
              <a:rPr lang="en-US" altLang="zh-CN" sz="2000" dirty="0">
                <a:latin typeface="Times New Roman" panose="02020603050405020304" pitchFamily="18" charset="0"/>
                <a:ea typeface="Microsoft YaHei" panose="020B0503020204020204" pitchFamily="34" charset="-122"/>
                <a:cs typeface="Times New Roman" panose="02020603050405020304" pitchFamily="18" charset="0"/>
              </a:rPr>
              <a:t>2.Proxy Node</a:t>
            </a:r>
            <a:endParaRPr lang="zh-CN" altLang="en-US" sz="2000" dirty="0">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8" name="矩形 27"/>
          <p:cNvSpPr/>
          <p:nvPr/>
        </p:nvSpPr>
        <p:spPr>
          <a:xfrm>
            <a:off x="1374775" y="5138966"/>
            <a:ext cx="8609874" cy="1338828"/>
          </a:xfrm>
          <a:prstGeom prst="rect">
            <a:avLst/>
          </a:prstGeom>
        </p:spPr>
        <p:txBody>
          <a:bodyPr wrap="square">
            <a:spAutoFit/>
          </a:bodyPr>
          <a:lstStyle/>
          <a:p>
            <a:pPr algn="just">
              <a:lnSpc>
                <a:spcPct val="150000"/>
              </a:lnSpc>
            </a:pPr>
            <a:r>
              <a:rPr lang="en-US" altLang="zh-CN" sz="1800" dirty="0">
                <a:latin typeface="Times New Roman" panose="02020603050405020304" pitchFamily="18" charset="0"/>
                <a:cs typeface="Times New Roman" panose="02020603050405020304" pitchFamily="18" charset="0"/>
              </a:rPr>
              <a:t>         Proxy Server</a:t>
            </a:r>
            <a:r>
              <a:rPr lang="zh-CN" altLang="en-US" sz="1800" dirty="0">
                <a:latin typeface="Times New Roman" panose="02020603050405020304" pitchFamily="18" charset="0"/>
                <a:cs typeface="Times New Roman" panose="02020603050405020304" pitchFamily="18" charset="0"/>
              </a:rPr>
              <a:t>（代理节点）是提供</a:t>
            </a:r>
            <a:r>
              <a:rPr lang="en-US" altLang="zh-CN" sz="1800" dirty="0">
                <a:latin typeface="Times New Roman" panose="02020603050405020304" pitchFamily="18" charset="0"/>
                <a:cs typeface="Times New Roman" panose="02020603050405020304" pitchFamily="18" charset="0"/>
              </a:rPr>
              <a:t>Swift API</a:t>
            </a:r>
            <a:r>
              <a:rPr lang="zh-CN" altLang="en-US" sz="1800" dirty="0">
                <a:latin typeface="Times New Roman" panose="02020603050405020304" pitchFamily="18" charset="0"/>
                <a:cs typeface="Times New Roman" panose="02020603050405020304" pitchFamily="18" charset="0"/>
              </a:rPr>
              <a:t>的服务进程，负责把客户端的请求进行转发。</a:t>
            </a:r>
            <a:r>
              <a:rPr lang="en-US" altLang="zh-CN" sz="1800" dirty="0">
                <a:latin typeface="Times New Roman" panose="02020603050405020304" pitchFamily="18" charset="0"/>
                <a:cs typeface="Times New Roman" panose="02020603050405020304" pitchFamily="18" charset="0"/>
              </a:rPr>
              <a:t>Proxy Server </a:t>
            </a:r>
            <a:r>
              <a:rPr lang="zh-CN" altLang="en-US" sz="1800" dirty="0">
                <a:latin typeface="Times New Roman" panose="02020603050405020304" pitchFamily="18" charset="0"/>
                <a:cs typeface="Times New Roman" panose="02020603050405020304" pitchFamily="18" charset="0"/>
              </a:rPr>
              <a:t>提供了</a:t>
            </a:r>
            <a:r>
              <a:rPr lang="en-US" altLang="zh-CN" sz="1800" dirty="0">
                <a:latin typeface="Times New Roman" panose="02020603050405020304" pitchFamily="18" charset="0"/>
                <a:cs typeface="Times New Roman" panose="02020603050405020304" pitchFamily="18" charset="0"/>
              </a:rPr>
              <a:t>Rest-full API</a:t>
            </a:r>
            <a:r>
              <a:rPr lang="zh-CN" altLang="en-US" sz="1800" dirty="0">
                <a:latin typeface="Times New Roman" panose="02020603050405020304" pitchFamily="18" charset="0"/>
                <a:cs typeface="Times New Roman" panose="02020603050405020304" pitchFamily="18" charset="0"/>
              </a:rPr>
              <a:t>，使得开发者可以基于</a:t>
            </a:r>
            <a:r>
              <a:rPr lang="en-US" altLang="zh-CN" sz="1800" dirty="0">
                <a:latin typeface="Times New Roman" panose="02020603050405020304" pitchFamily="18" charset="0"/>
                <a:cs typeface="Times New Roman" panose="02020603050405020304" pitchFamily="18" charset="0"/>
              </a:rPr>
              <a:t>Swift API</a:t>
            </a:r>
            <a:r>
              <a:rPr lang="zh-CN" altLang="en-US" sz="1800" dirty="0">
                <a:latin typeface="Times New Roman" panose="02020603050405020304" pitchFamily="18" charset="0"/>
                <a:cs typeface="Times New Roman" panose="02020603050405020304" pitchFamily="18" charset="0"/>
              </a:rPr>
              <a:t>构建自己的应用程序。</a:t>
            </a:r>
          </a:p>
        </p:txBody>
      </p:sp>
    </p:spTree>
    <p:extLst>
      <p:ext uri="{BB962C8B-B14F-4D97-AF65-F5344CB8AC3E}">
        <p14:creationId xmlns:p14="http://schemas.microsoft.com/office/powerpoint/2010/main" val="11588653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022975" y="1945528"/>
            <a:ext cx="3640182" cy="143610"/>
          </a:xfrm>
          <a:prstGeom prst="rect">
            <a:avLst/>
          </a:prstGeom>
          <a:solidFill>
            <a:srgbClr val="FFC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rot="10800000">
            <a:off x="9617437" y="1297452"/>
            <a:ext cx="2592640" cy="1065542"/>
            <a:chOff x="-3884" y="1297773"/>
            <a:chExt cx="2592640" cy="1065542"/>
          </a:xfrm>
        </p:grpSpPr>
        <p:sp>
          <p:nvSpPr>
            <p:cNvPr id="6" name="矩形 5"/>
            <p:cNvSpPr/>
            <p:nvPr/>
          </p:nvSpPr>
          <p:spPr>
            <a:xfrm>
              <a:off x="-3884" y="1379730"/>
              <a:ext cx="495299" cy="5334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72046" y="1879600"/>
              <a:ext cx="266702" cy="2872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00597" y="1571628"/>
              <a:ext cx="342898" cy="36927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43495" y="2037009"/>
              <a:ext cx="266702" cy="28721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543037" y="1596441"/>
              <a:ext cx="45719"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flipV="1">
              <a:off x="491415" y="2076097"/>
              <a:ext cx="266702" cy="287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898724" y="1867051"/>
              <a:ext cx="106680" cy="11488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221544" y="1932488"/>
              <a:ext cx="266702" cy="28721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679145" y="2037009"/>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227144" y="1715237"/>
              <a:ext cx="266702" cy="287218"/>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038748" y="1297773"/>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131974" y="-1"/>
            <a:ext cx="11520000" cy="2053082"/>
            <a:chOff x="131974" y="-1"/>
            <a:chExt cx="11520000" cy="2053082"/>
          </a:xfrm>
        </p:grpSpPr>
        <p:grpSp>
          <p:nvGrpSpPr>
            <p:cNvPr id="20" name="组合 19"/>
            <p:cNvGrpSpPr/>
            <p:nvPr/>
          </p:nvGrpSpPr>
          <p:grpSpPr>
            <a:xfrm>
              <a:off x="131974" y="-1"/>
              <a:ext cx="11520000" cy="1016152"/>
              <a:chOff x="131974" y="-1"/>
              <a:chExt cx="11520000" cy="1016152"/>
            </a:xfrm>
          </p:grpSpPr>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22" name="文本框 21"/>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文本框 22"/>
            <p:cNvSpPr txBox="1"/>
            <p:nvPr/>
          </p:nvSpPr>
          <p:spPr>
            <a:xfrm>
              <a:off x="612896" y="1591416"/>
              <a:ext cx="3381054"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系统中的服务器</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2" name="矩形 1"/>
          <p:cNvSpPr/>
          <p:nvPr/>
        </p:nvSpPr>
        <p:spPr>
          <a:xfrm>
            <a:off x="944362" y="2114636"/>
            <a:ext cx="6099175" cy="400110"/>
          </a:xfrm>
          <a:prstGeom prst="rect">
            <a:avLst/>
          </a:prstGeom>
        </p:spPr>
        <p:txBody>
          <a:bodyPr>
            <a:spAutoFit/>
          </a:bodyPr>
          <a:lstStyle/>
          <a:p>
            <a:r>
              <a:rPr lang="en-US" altLang="zh-CN" sz="2000" dirty="0"/>
              <a:t>Swift</a:t>
            </a:r>
            <a:r>
              <a:rPr lang="zh-CN" altLang="en-US" sz="2000" dirty="0"/>
              <a:t>系统中的服务器，主要分为</a:t>
            </a:r>
            <a:r>
              <a:rPr lang="en-US" altLang="zh-CN" sz="2000" dirty="0"/>
              <a:t>3</a:t>
            </a:r>
            <a:r>
              <a:rPr lang="zh-CN" altLang="en-US" sz="2000" dirty="0"/>
              <a:t>种。</a:t>
            </a:r>
          </a:p>
        </p:txBody>
      </p:sp>
      <p:sp>
        <p:nvSpPr>
          <p:cNvPr id="17" name="矩形 16"/>
          <p:cNvSpPr/>
          <p:nvPr/>
        </p:nvSpPr>
        <p:spPr>
          <a:xfrm>
            <a:off x="944362" y="2535813"/>
            <a:ext cx="6099175" cy="400110"/>
          </a:xfrm>
          <a:prstGeom prst="rect">
            <a:avLst/>
          </a:prstGeom>
        </p:spPr>
        <p:txBody>
          <a:bodyPr>
            <a:spAutoFit/>
          </a:bodyPr>
          <a:lstStyle/>
          <a:p>
            <a:pPr marL="342900" indent="-342900">
              <a:buClr>
                <a:srgbClr val="0070C0"/>
              </a:buClr>
              <a:buFont typeface="Wingdings" panose="05000000000000000000" pitchFamily="2" charset="2"/>
              <a:buChar char="Ø"/>
            </a:pPr>
            <a:r>
              <a:rPr lang="en-US" altLang="zh-CN" sz="2000" dirty="0">
                <a:latin typeface="Times New Roman" panose="02020603050405020304" pitchFamily="18" charset="0"/>
                <a:ea typeface="Microsoft YaHei" panose="020B0503020204020204" pitchFamily="34" charset="-122"/>
                <a:cs typeface="Times New Roman" panose="02020603050405020304" pitchFamily="18" charset="0"/>
              </a:rPr>
              <a:t>3.Storage Node</a:t>
            </a:r>
          </a:p>
        </p:txBody>
      </p:sp>
      <p:sp>
        <p:nvSpPr>
          <p:cNvPr id="3" name="矩形 2"/>
          <p:cNvSpPr/>
          <p:nvPr/>
        </p:nvSpPr>
        <p:spPr>
          <a:xfrm>
            <a:off x="1081451" y="2892202"/>
            <a:ext cx="9226018" cy="923330"/>
          </a:xfrm>
          <a:prstGeom prst="rect">
            <a:avLst/>
          </a:prstGeom>
        </p:spPr>
        <p:txBody>
          <a:bodyPr wrap="square">
            <a:spAutoFit/>
          </a:bodyPr>
          <a:lstStyle/>
          <a:p>
            <a:pPr>
              <a:lnSpc>
                <a:spcPct val="150000"/>
              </a:lnSpc>
            </a:pPr>
            <a:r>
              <a:rPr lang="zh-CN" altLang="en-US" sz="1800" dirty="0">
                <a:latin typeface="Times New Roman" panose="02020603050405020304" pitchFamily="18" charset="0"/>
                <a:cs typeface="Times New Roman" panose="02020603050405020304" pitchFamily="18" charset="0"/>
              </a:rPr>
              <a:t>         将磁盘存储服务转化成为</a:t>
            </a:r>
            <a:r>
              <a:rPr lang="en-US" altLang="zh-CN" sz="1800" dirty="0">
                <a:latin typeface="Times New Roman" panose="02020603050405020304" pitchFamily="18" charset="0"/>
                <a:cs typeface="Times New Roman" panose="02020603050405020304" pitchFamily="18" charset="0"/>
              </a:rPr>
              <a:t>Swift</a:t>
            </a:r>
            <a:r>
              <a:rPr lang="zh-CN" altLang="en-US" sz="1800" dirty="0">
                <a:latin typeface="Times New Roman" panose="02020603050405020304" pitchFamily="18" charset="0"/>
                <a:cs typeface="Times New Roman" panose="02020603050405020304" pitchFamily="18" charset="0"/>
              </a:rPr>
              <a:t>中的存储服务。由于</a:t>
            </a:r>
            <a:r>
              <a:rPr lang="zh-CN" altLang="en-US" sz="1800" dirty="0">
                <a:solidFill>
                  <a:srgbClr val="FF0000"/>
                </a:solidFill>
                <a:latin typeface="Times New Roman" panose="02020603050405020304" pitchFamily="18" charset="0"/>
                <a:cs typeface="Times New Roman" panose="02020603050405020304" pitchFamily="18" charset="0"/>
              </a:rPr>
              <a:t>存储目标的类型不同</a:t>
            </a:r>
            <a:r>
              <a:rPr lang="zh-CN" altLang="en-US"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Storage Node</a:t>
            </a:r>
            <a:r>
              <a:rPr lang="zh-CN" altLang="en-US" sz="1800" dirty="0">
                <a:latin typeface="Times New Roman" panose="02020603050405020304" pitchFamily="18" charset="0"/>
                <a:cs typeface="Times New Roman" panose="02020603050405020304" pitchFamily="18" charset="0"/>
              </a:rPr>
              <a:t>上的运行存储服务也分为</a:t>
            </a:r>
            <a:r>
              <a:rPr lang="en-US" altLang="zh-CN" sz="1800" dirty="0">
                <a:solidFill>
                  <a:srgbClr val="FF0000"/>
                </a:solidFill>
                <a:latin typeface="Times New Roman" panose="02020603050405020304" pitchFamily="18" charset="0"/>
                <a:cs typeface="Times New Roman" panose="02020603050405020304" pitchFamily="18" charset="0"/>
              </a:rPr>
              <a:t>3</a:t>
            </a:r>
            <a:r>
              <a:rPr lang="zh-CN" altLang="en-US" sz="1800" dirty="0">
                <a:solidFill>
                  <a:srgbClr val="FF0000"/>
                </a:solidFill>
                <a:latin typeface="Times New Roman" panose="02020603050405020304" pitchFamily="18" charset="0"/>
                <a:cs typeface="Times New Roman" panose="02020603050405020304" pitchFamily="18" charset="0"/>
              </a:rPr>
              <a:t>类</a:t>
            </a:r>
            <a:r>
              <a:rPr lang="zh-CN" altLang="en-US" sz="1800" dirty="0">
                <a:latin typeface="Times New Roman" panose="02020603050405020304" pitchFamily="18" charset="0"/>
                <a:cs typeface="Times New Roman" panose="02020603050405020304" pitchFamily="18" charset="0"/>
              </a:rPr>
              <a:t>。</a:t>
            </a:r>
          </a:p>
        </p:txBody>
      </p:sp>
      <p:sp>
        <p:nvSpPr>
          <p:cNvPr id="21" name="矩形 20"/>
          <p:cNvSpPr/>
          <p:nvPr/>
        </p:nvSpPr>
        <p:spPr>
          <a:xfrm>
            <a:off x="982328" y="3738987"/>
            <a:ext cx="9819292" cy="2031325"/>
          </a:xfrm>
          <a:prstGeom prst="rect">
            <a:avLst/>
          </a:prstGeom>
        </p:spPr>
        <p:txBody>
          <a:bodyPr wrap="square">
            <a:spAutoFit/>
          </a:bodyPr>
          <a:lstStyle/>
          <a:p>
            <a:pPr marL="285750" indent="-285750">
              <a:lnSpc>
                <a:spcPct val="150000"/>
              </a:lnSpc>
              <a:buClr>
                <a:srgbClr val="0070C0"/>
              </a:buClr>
              <a:buFont typeface="Wingdings" panose="05000000000000000000" pitchFamily="2" charset="2"/>
              <a:buChar char="ü"/>
            </a:pPr>
            <a:r>
              <a:rPr lang="en-US" altLang="zh-CN" sz="1400" dirty="0">
                <a:latin typeface="Times New Roman" panose="02020603050405020304" pitchFamily="18" charset="0"/>
                <a:cs typeface="Times New Roman" panose="02020603050405020304" pitchFamily="18" charset="0"/>
              </a:rPr>
              <a:t>        </a:t>
            </a:r>
            <a:r>
              <a:rPr lang="en-US" altLang="zh-CN" sz="1400" dirty="0">
                <a:solidFill>
                  <a:srgbClr val="FF0000"/>
                </a:solidFill>
                <a:latin typeface="Times New Roman" panose="02020603050405020304" pitchFamily="18" charset="0"/>
                <a:cs typeface="Times New Roman" panose="02020603050405020304" pitchFamily="18" charset="0"/>
              </a:rPr>
              <a:t>Object Server </a:t>
            </a:r>
            <a:r>
              <a:rPr lang="zh-CN" altLang="en-US" sz="1400" dirty="0">
                <a:solidFill>
                  <a:srgbClr val="FF0000"/>
                </a:solidFill>
                <a:latin typeface="Times New Roman" panose="02020603050405020304" pitchFamily="18" charset="0"/>
                <a:cs typeface="Times New Roman" panose="02020603050405020304" pitchFamily="18" charset="0"/>
              </a:rPr>
              <a:t>：</a:t>
            </a:r>
            <a:r>
              <a:rPr lang="en-US" altLang="zh-CN" sz="1400" dirty="0">
                <a:latin typeface="Times New Roman" panose="02020603050405020304" pitchFamily="18" charset="0"/>
                <a:cs typeface="Times New Roman" panose="02020603050405020304" pitchFamily="18" charset="0"/>
              </a:rPr>
              <a:t>【</a:t>
            </a:r>
            <a:r>
              <a:rPr lang="zh-CN" altLang="en-US" sz="1400" dirty="0">
                <a:latin typeface="Times New Roman" panose="02020603050405020304" pitchFamily="18" charset="0"/>
                <a:cs typeface="Times New Roman" panose="02020603050405020304" pitchFamily="18" charset="0"/>
              </a:rPr>
              <a:t>用户需要存储的数据</a:t>
            </a:r>
            <a:r>
              <a:rPr lang="en-US" altLang="zh-CN" sz="1400" dirty="0">
                <a:latin typeface="Times New Roman" panose="02020603050405020304" pitchFamily="18" charset="0"/>
                <a:cs typeface="Times New Roman" panose="02020603050405020304" pitchFamily="18" charset="0"/>
              </a:rPr>
              <a:t>】</a:t>
            </a:r>
            <a:r>
              <a:rPr lang="zh-CN" altLang="en-US" sz="1400" dirty="0">
                <a:latin typeface="Times New Roman" panose="02020603050405020304" pitchFamily="18" charset="0"/>
                <a:cs typeface="Times New Roman" panose="02020603050405020304" pitchFamily="18" charset="0"/>
              </a:rPr>
              <a:t>对象服务提供了二级制大对象存储服务。对象数据本身是直接利用文件系统的存储功能。但是，对象的元数据却是存放在文件系统的扩展属性中。</a:t>
            </a:r>
            <a:r>
              <a:rPr lang="en-US" altLang="zh-CN" sz="1400" dirty="0">
                <a:latin typeface="Times New Roman" panose="02020603050405020304" pitchFamily="18" charset="0"/>
                <a:cs typeface="Times New Roman" panose="02020603050405020304" pitchFamily="18" charset="0"/>
              </a:rPr>
              <a:t>Object Server</a:t>
            </a:r>
            <a:r>
              <a:rPr lang="zh-CN" altLang="en-US" sz="1400" dirty="0">
                <a:latin typeface="Times New Roman" panose="02020603050405020304" pitchFamily="18" charset="0"/>
                <a:cs typeface="Times New Roman" panose="02020603050405020304" pitchFamily="18" charset="0"/>
              </a:rPr>
              <a:t>需要底层文件系统提供扩展属性。</a:t>
            </a:r>
            <a:endParaRPr lang="en-US" altLang="zh-CN" sz="1400" dirty="0">
              <a:latin typeface="Times New Roman" panose="02020603050405020304" pitchFamily="18" charset="0"/>
              <a:cs typeface="Times New Roman" panose="02020603050405020304" pitchFamily="18" charset="0"/>
            </a:endParaRPr>
          </a:p>
          <a:p>
            <a:pPr marL="285750" indent="-285750">
              <a:lnSpc>
                <a:spcPct val="150000"/>
              </a:lnSpc>
              <a:buClr>
                <a:srgbClr val="0070C0"/>
              </a:buClr>
              <a:buFont typeface="Wingdings" panose="05000000000000000000" pitchFamily="2" charset="2"/>
              <a:buChar char="ü"/>
            </a:pPr>
            <a:r>
              <a:rPr lang="en-US" altLang="zh-CN" sz="1400" dirty="0">
                <a:latin typeface="Times New Roman" panose="02020603050405020304" pitchFamily="18" charset="0"/>
                <a:cs typeface="Times New Roman" panose="02020603050405020304" pitchFamily="18" charset="0"/>
              </a:rPr>
              <a:t>        </a:t>
            </a:r>
            <a:r>
              <a:rPr lang="en-US" altLang="zh-CN" sz="1400" dirty="0">
                <a:solidFill>
                  <a:srgbClr val="FF0000"/>
                </a:solidFill>
                <a:latin typeface="Times New Roman" panose="02020603050405020304" pitchFamily="18" charset="0"/>
                <a:cs typeface="Times New Roman" panose="02020603050405020304" pitchFamily="18" charset="0"/>
              </a:rPr>
              <a:t>Container Server</a:t>
            </a:r>
            <a:r>
              <a:rPr lang="zh-CN" altLang="en-US" sz="1400" dirty="0">
                <a:solidFill>
                  <a:srgbClr val="FF0000"/>
                </a:solidFill>
                <a:latin typeface="Times New Roman" panose="02020603050405020304" pitchFamily="18" charset="0"/>
                <a:cs typeface="Times New Roman" panose="02020603050405020304" pitchFamily="18" charset="0"/>
              </a:rPr>
              <a:t>：</a:t>
            </a:r>
            <a:r>
              <a:rPr lang="zh-CN" altLang="en-US" sz="1400" dirty="0">
                <a:latin typeface="Times New Roman" panose="02020603050405020304" pitchFamily="18" charset="0"/>
                <a:cs typeface="Times New Roman" panose="02020603050405020304" pitchFamily="18" charset="0"/>
              </a:rPr>
              <a:t>容器</a:t>
            </a:r>
            <a:r>
              <a:rPr lang="en-US" altLang="zh-CN" sz="1400" dirty="0">
                <a:latin typeface="Times New Roman" panose="02020603050405020304" pitchFamily="18" charset="0"/>
                <a:cs typeface="Times New Roman" panose="02020603050405020304" pitchFamily="18" charset="0"/>
              </a:rPr>
              <a:t>【</a:t>
            </a:r>
            <a:r>
              <a:rPr lang="zh-CN" altLang="en-US" sz="1400" dirty="0">
                <a:latin typeface="Times New Roman" panose="02020603050405020304" pitchFamily="18" charset="0"/>
                <a:cs typeface="Times New Roman" panose="02020603050405020304" pitchFamily="18" charset="0"/>
              </a:rPr>
              <a:t>用于存放数据</a:t>
            </a:r>
            <a:r>
              <a:rPr lang="en-US" altLang="zh-CN" sz="1400" dirty="0">
                <a:latin typeface="Times New Roman" panose="02020603050405020304" pitchFamily="18" charset="0"/>
                <a:cs typeface="Times New Roman" panose="02020603050405020304" pitchFamily="18" charset="0"/>
              </a:rPr>
              <a:t>】</a:t>
            </a:r>
            <a:r>
              <a:rPr lang="zh-CN" altLang="en-US" sz="1400" dirty="0">
                <a:latin typeface="Times New Roman" panose="02020603050405020304" pitchFamily="18" charset="0"/>
                <a:cs typeface="Times New Roman" panose="02020603050405020304" pitchFamily="18" charset="0"/>
              </a:rPr>
              <a:t>服务主要是处理对象列表。容器服务管理的是从容器到对象的单一的映射关系。容器服务并不知道对象存放在哪个容器中，但是却知道容器上存放了哪些对象。这部分信息以文件的形式采用完全均匀随机多份存储。唯一不同的是，文件格式采用的是</a:t>
            </a:r>
            <a:r>
              <a:rPr lang="en-US" altLang="zh-CN" sz="1400" dirty="0">
                <a:latin typeface="Times New Roman" panose="02020603050405020304" pitchFamily="18" charset="0"/>
                <a:cs typeface="Times New Roman" panose="02020603050405020304" pitchFamily="18" charset="0"/>
              </a:rPr>
              <a:t>SQLite</a:t>
            </a:r>
            <a:r>
              <a:rPr lang="zh-CN" altLang="en-US" sz="1400" dirty="0">
                <a:latin typeface="Times New Roman" panose="02020603050405020304" pitchFamily="18" charset="0"/>
                <a:cs typeface="Times New Roman" panose="02020603050405020304" pitchFamily="18" charset="0"/>
              </a:rPr>
              <a:t>格式进行存储。       </a:t>
            </a:r>
            <a:r>
              <a:rPr lang="en-US" altLang="zh-CN" sz="1400" dirty="0">
                <a:latin typeface="Times New Roman" panose="02020603050405020304" pitchFamily="18" charset="0"/>
                <a:cs typeface="Times New Roman" panose="02020603050405020304" pitchFamily="18" charset="0"/>
              </a:rPr>
              <a:t>              </a:t>
            </a:r>
          </a:p>
          <a:p>
            <a:pPr marL="285750" indent="-285750">
              <a:lnSpc>
                <a:spcPct val="150000"/>
              </a:lnSpc>
              <a:buClr>
                <a:srgbClr val="0070C0"/>
              </a:buClr>
              <a:buFont typeface="Wingdings" panose="05000000000000000000" pitchFamily="2" charset="2"/>
              <a:buChar char="ü"/>
            </a:pPr>
            <a:r>
              <a:rPr lang="en-US" altLang="zh-CN" sz="1400" dirty="0">
                <a:latin typeface="Times New Roman" panose="02020603050405020304" pitchFamily="18" charset="0"/>
                <a:cs typeface="Times New Roman" panose="02020603050405020304" pitchFamily="18" charset="0"/>
              </a:rPr>
              <a:t>         </a:t>
            </a:r>
            <a:r>
              <a:rPr lang="en-US" altLang="zh-CN" sz="1400" dirty="0">
                <a:solidFill>
                  <a:srgbClr val="FF0000"/>
                </a:solidFill>
                <a:latin typeface="Times New Roman" panose="02020603050405020304" pitchFamily="18" charset="0"/>
                <a:cs typeface="Times New Roman" panose="02020603050405020304" pitchFamily="18" charset="0"/>
              </a:rPr>
              <a:t>Account Server ：</a:t>
            </a:r>
            <a:r>
              <a:rPr lang="zh-CN" altLang="en-US" sz="1400" dirty="0">
                <a:latin typeface="Times New Roman" panose="02020603050405020304" pitchFamily="18" charset="0"/>
                <a:cs typeface="Times New Roman" panose="02020603050405020304" pitchFamily="18" charset="0"/>
              </a:rPr>
              <a:t>账户服务处理的对象主要是容器列表。</a:t>
            </a:r>
            <a:endParaRPr lang="en-US" altLang="zh-CN" sz="1400" dirty="0">
              <a:latin typeface="Times New Roman" panose="02020603050405020304" pitchFamily="18" charset="0"/>
              <a:cs typeface="Times New Roman" panose="02020603050405020304" pitchFamily="18" charset="0"/>
            </a:endParaRPr>
          </a:p>
        </p:txBody>
      </p:sp>
      <p:sp>
        <p:nvSpPr>
          <p:cNvPr id="29" name="矩形 28"/>
          <p:cNvSpPr/>
          <p:nvPr/>
        </p:nvSpPr>
        <p:spPr>
          <a:xfrm>
            <a:off x="944361" y="5784538"/>
            <a:ext cx="9767986" cy="707886"/>
          </a:xfrm>
          <a:prstGeom prst="rect">
            <a:avLst/>
          </a:prstGeom>
        </p:spPr>
        <p:txBody>
          <a:bodyPr wrap="square">
            <a:spAutoFit/>
          </a:bodyPr>
          <a:lstStyle/>
          <a:p>
            <a:r>
              <a:rPr lang="zh-CN" altLang="en-US" sz="2000" dirty="0">
                <a:latin typeface="Times New Roman" panose="02020603050405020304" pitchFamily="18" charset="0"/>
                <a:cs typeface="Times New Roman" panose="02020603050405020304" pitchFamily="18" charset="0"/>
              </a:rPr>
              <a:t>       以上的三种服务都运行在存储节点上，如果采用这种部署方式，硬件配置相同的情况下，</a:t>
            </a:r>
            <a:r>
              <a:rPr lang="en-US" altLang="zh-CN" sz="2000" dirty="0">
                <a:latin typeface="Times New Roman" panose="02020603050405020304" pitchFamily="18" charset="0"/>
                <a:cs typeface="Times New Roman" panose="02020603050405020304" pitchFamily="18" charset="0"/>
              </a:rPr>
              <a:t>Storage Node</a:t>
            </a:r>
            <a:r>
              <a:rPr lang="zh-CN" altLang="en-US" sz="2000" dirty="0">
                <a:latin typeface="Times New Roman" panose="02020603050405020304" pitchFamily="18" charset="0"/>
                <a:cs typeface="Times New Roman" panose="02020603050405020304" pitchFamily="18" charset="0"/>
              </a:rPr>
              <a:t>之间的地位是平等的。</a:t>
            </a:r>
            <a:endParaRPr lang="zh-CN" altLang="en-US" sz="2000" dirty="0"/>
          </a:p>
        </p:txBody>
      </p:sp>
    </p:spTree>
    <p:extLst>
      <p:ext uri="{BB962C8B-B14F-4D97-AF65-F5344CB8AC3E}">
        <p14:creationId xmlns:p14="http://schemas.microsoft.com/office/powerpoint/2010/main" val="2795387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022975" y="1945528"/>
            <a:ext cx="3640182" cy="143610"/>
          </a:xfrm>
          <a:prstGeom prst="rect">
            <a:avLst/>
          </a:prstGeom>
          <a:solidFill>
            <a:srgbClr val="FFC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rot="10800000">
            <a:off x="9617437" y="1297452"/>
            <a:ext cx="2592640" cy="1065542"/>
            <a:chOff x="-3884" y="1297773"/>
            <a:chExt cx="2592640" cy="1065542"/>
          </a:xfrm>
        </p:grpSpPr>
        <p:sp>
          <p:nvSpPr>
            <p:cNvPr id="6" name="矩形 5"/>
            <p:cNvSpPr/>
            <p:nvPr/>
          </p:nvSpPr>
          <p:spPr>
            <a:xfrm>
              <a:off x="-3884" y="1379730"/>
              <a:ext cx="495299" cy="5334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72046" y="1879600"/>
              <a:ext cx="266702" cy="2872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00597" y="1571628"/>
              <a:ext cx="342898" cy="36927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43495" y="2037009"/>
              <a:ext cx="266702" cy="28721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543037" y="1596441"/>
              <a:ext cx="45719"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flipV="1">
              <a:off x="491415" y="2076097"/>
              <a:ext cx="266702" cy="287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898724" y="1867051"/>
              <a:ext cx="106680" cy="11488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221544" y="1932488"/>
              <a:ext cx="266702" cy="28721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679145" y="2037009"/>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227144" y="1715237"/>
              <a:ext cx="266702" cy="287218"/>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038748" y="1297773"/>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131974" y="-1"/>
            <a:ext cx="11520000" cy="2053082"/>
            <a:chOff x="131974" y="-1"/>
            <a:chExt cx="11520000" cy="2053082"/>
          </a:xfrm>
        </p:grpSpPr>
        <p:grpSp>
          <p:nvGrpSpPr>
            <p:cNvPr id="20" name="组合 19"/>
            <p:cNvGrpSpPr/>
            <p:nvPr/>
          </p:nvGrpSpPr>
          <p:grpSpPr>
            <a:xfrm>
              <a:off x="131974" y="-1"/>
              <a:ext cx="11520000" cy="1016152"/>
              <a:chOff x="131974" y="-1"/>
              <a:chExt cx="11520000" cy="1016152"/>
            </a:xfrm>
          </p:grpSpPr>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22" name="文本框 21"/>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文本框 22"/>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的故障处理</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2" name="矩形 1"/>
          <p:cNvSpPr/>
          <p:nvPr/>
        </p:nvSpPr>
        <p:spPr>
          <a:xfrm>
            <a:off x="944362" y="2014337"/>
            <a:ext cx="8773585" cy="1015663"/>
          </a:xfrm>
          <a:prstGeom prst="rect">
            <a:avLst/>
          </a:prstGeom>
        </p:spPr>
        <p:txBody>
          <a:bodyPr wrap="square">
            <a:spAutoFit/>
          </a:bodyPr>
          <a:lstStyle/>
          <a:p>
            <a:r>
              <a:rPr lang="en-US" altLang="zh-CN" sz="2000" dirty="0">
                <a:latin typeface="Times New Roman" panose="02020603050405020304" pitchFamily="18" charset="0"/>
                <a:cs typeface="Times New Roman" panose="02020603050405020304" pitchFamily="18" charset="0"/>
              </a:rPr>
              <a:t>       Swift</a:t>
            </a:r>
            <a:r>
              <a:rPr lang="zh-CN" altLang="en-US" sz="2000" dirty="0">
                <a:latin typeface="Times New Roman" panose="02020603050405020304" pitchFamily="18" charset="0"/>
                <a:cs typeface="Times New Roman" panose="02020603050405020304" pitchFamily="18" charset="0"/>
              </a:rPr>
              <a:t>存储系统在设计时，就设计了故障处理机制来保证数据的一致性。主要要</a:t>
            </a:r>
            <a:r>
              <a:rPr lang="zh-CN" altLang="en-US" sz="2000" dirty="0">
                <a:solidFill>
                  <a:srgbClr val="FF0000"/>
                </a:solidFill>
                <a:latin typeface="Times New Roman" panose="02020603050405020304" pitchFamily="18" charset="0"/>
                <a:cs typeface="Times New Roman" panose="02020603050405020304" pitchFamily="18" charset="0"/>
              </a:rPr>
              <a:t>三个服务来进行故障处理。</a:t>
            </a:r>
          </a:p>
          <a:p>
            <a:endParaRPr lang="zh-CN" altLang="en-US" sz="2000" dirty="0"/>
          </a:p>
        </p:txBody>
      </p:sp>
      <p:sp>
        <p:nvSpPr>
          <p:cNvPr id="17" name="矩形 16"/>
          <p:cNvSpPr/>
          <p:nvPr/>
        </p:nvSpPr>
        <p:spPr>
          <a:xfrm>
            <a:off x="944362" y="2648684"/>
            <a:ext cx="6099175" cy="400110"/>
          </a:xfrm>
          <a:prstGeom prst="rect">
            <a:avLst/>
          </a:prstGeom>
        </p:spPr>
        <p:txBody>
          <a:bodyPr>
            <a:spAutoFit/>
          </a:bodyPr>
          <a:lstStyle/>
          <a:p>
            <a:pPr marL="342900" indent="-342900">
              <a:buClr>
                <a:srgbClr val="0070C0"/>
              </a:buClr>
              <a:buFont typeface="Wingdings" panose="05000000000000000000" pitchFamily="2" charset="2"/>
              <a:buChar char="Ø"/>
            </a:pPr>
            <a:r>
              <a:rPr lang="en-US" altLang="zh-CN" sz="2000" dirty="0">
                <a:latin typeface="Times New Roman" panose="02020603050405020304" pitchFamily="18" charset="0"/>
                <a:ea typeface="Microsoft YaHei" panose="020B0503020204020204" pitchFamily="34" charset="-122"/>
                <a:cs typeface="Times New Roman" panose="02020603050405020304" pitchFamily="18" charset="0"/>
              </a:rPr>
              <a:t>Auditor</a:t>
            </a:r>
            <a:r>
              <a:rPr lang="zh-CN" altLang="en-US" sz="2000" dirty="0">
                <a:latin typeface="Times New Roman" panose="02020603050405020304" pitchFamily="18" charset="0"/>
                <a:ea typeface="Microsoft YaHei"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3" name="矩形 2"/>
          <p:cNvSpPr/>
          <p:nvPr/>
        </p:nvSpPr>
        <p:spPr>
          <a:xfrm>
            <a:off x="1081451" y="2976319"/>
            <a:ext cx="10275524" cy="652486"/>
          </a:xfrm>
          <a:prstGeom prst="rect">
            <a:avLst/>
          </a:prstGeom>
        </p:spPr>
        <p:txBody>
          <a:bodyPr wrap="square">
            <a:spAutoFit/>
          </a:bodyPr>
          <a:lstStyle/>
          <a:p>
            <a:pPr>
              <a:lnSpc>
                <a:spcPct val="130000"/>
              </a:lnSpc>
            </a:pPr>
            <a:r>
              <a:rPr lang="en-US" altLang="zh-CN" sz="1400" dirty="0">
                <a:latin typeface="Times New Roman" panose="02020603050405020304" pitchFamily="18" charset="0"/>
                <a:cs typeface="Times New Roman" panose="02020603050405020304" pitchFamily="18" charset="0"/>
              </a:rPr>
              <a:t>       </a:t>
            </a:r>
            <a:r>
              <a:rPr lang="zh-CN" altLang="en-US" sz="1400" dirty="0">
                <a:latin typeface="Times New Roman" panose="02020603050405020304" pitchFamily="18" charset="0"/>
                <a:cs typeface="Times New Roman" panose="02020603050405020304" pitchFamily="18" charset="0"/>
              </a:rPr>
              <a:t>审计器会在本地服务器</a:t>
            </a:r>
            <a:r>
              <a:rPr lang="zh-CN" altLang="en-US" sz="1400" dirty="0">
                <a:solidFill>
                  <a:srgbClr val="FF0000"/>
                </a:solidFill>
                <a:latin typeface="Times New Roman" panose="02020603050405020304" pitchFamily="18" charset="0"/>
                <a:cs typeface="Times New Roman" panose="02020603050405020304" pitchFamily="18" charset="0"/>
              </a:rPr>
              <a:t>反复地检测容器、账户和对象的一致性</a:t>
            </a:r>
            <a:r>
              <a:rPr lang="zh-CN" altLang="en-US" sz="1400" dirty="0">
                <a:latin typeface="Times New Roman" panose="02020603050405020304" pitchFamily="18" charset="0"/>
                <a:cs typeface="Times New Roman" panose="02020603050405020304" pitchFamily="18" charset="0"/>
              </a:rPr>
              <a:t>。一旦发现某个文件的数据不完整，该文件就会被隔离。然后，</a:t>
            </a:r>
            <a:r>
              <a:rPr lang="en-US" altLang="zh-CN" sz="1400" dirty="0">
                <a:latin typeface="Times New Roman" panose="02020603050405020304" pitchFamily="18" charset="0"/>
                <a:cs typeface="Times New Roman" panose="02020603050405020304" pitchFamily="18" charset="0"/>
              </a:rPr>
              <a:t>Auditor</a:t>
            </a:r>
            <a:r>
              <a:rPr lang="zh-CN" altLang="en-US" sz="1400" dirty="0">
                <a:latin typeface="Times New Roman" panose="02020603050405020304" pitchFamily="18" charset="0"/>
                <a:cs typeface="Times New Roman" panose="02020603050405020304" pitchFamily="18" charset="0"/>
              </a:rPr>
              <a:t>会通知</a:t>
            </a:r>
            <a:r>
              <a:rPr lang="en-US" altLang="zh-CN" sz="1400" dirty="0">
                <a:latin typeface="Times New Roman" panose="02020603050405020304" pitchFamily="18" charset="0"/>
                <a:cs typeface="Times New Roman" panose="02020603050405020304" pitchFamily="18" charset="0"/>
              </a:rPr>
              <a:t>Replication</a:t>
            </a:r>
            <a:r>
              <a:rPr lang="zh-CN" altLang="en-US" sz="1400" dirty="0">
                <a:latin typeface="Times New Roman" panose="02020603050405020304" pitchFamily="18" charset="0"/>
                <a:cs typeface="Times New Roman" panose="02020603050405020304" pitchFamily="18" charset="0"/>
              </a:rPr>
              <a:t>复制器。把此类错误记录到日志文件中。</a:t>
            </a:r>
          </a:p>
        </p:txBody>
      </p:sp>
      <p:sp>
        <p:nvSpPr>
          <p:cNvPr id="27" name="矩形 26"/>
          <p:cNvSpPr/>
          <p:nvPr/>
        </p:nvSpPr>
        <p:spPr>
          <a:xfrm>
            <a:off x="944362" y="3649196"/>
            <a:ext cx="6099175" cy="400110"/>
          </a:xfrm>
          <a:prstGeom prst="rect">
            <a:avLst/>
          </a:prstGeom>
        </p:spPr>
        <p:txBody>
          <a:bodyPr>
            <a:spAutoFit/>
          </a:bodyPr>
          <a:lstStyle/>
          <a:p>
            <a:pPr marL="342900" indent="-342900">
              <a:buClr>
                <a:srgbClr val="0070C0"/>
              </a:buClr>
              <a:buFont typeface="Wingdings" panose="05000000000000000000" pitchFamily="2" charset="2"/>
              <a:buChar char="Ø"/>
            </a:pPr>
            <a:r>
              <a:rPr lang="en-US" altLang="zh-CN" sz="2000" dirty="0">
                <a:latin typeface="Times New Roman" panose="02020603050405020304" pitchFamily="18" charset="0"/>
                <a:ea typeface="Microsoft YaHei" panose="020B0503020204020204" pitchFamily="34" charset="-122"/>
                <a:cs typeface="Times New Roman" panose="02020603050405020304" pitchFamily="18" charset="0"/>
              </a:rPr>
              <a:t>Updater</a:t>
            </a:r>
            <a:r>
              <a:rPr lang="zh-CN" altLang="en-US" sz="2000" dirty="0">
                <a:latin typeface="Times New Roman" panose="02020603050405020304" pitchFamily="18" charset="0"/>
                <a:ea typeface="Microsoft YaHei"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8" name="矩形 17"/>
          <p:cNvSpPr/>
          <p:nvPr/>
        </p:nvSpPr>
        <p:spPr>
          <a:xfrm>
            <a:off x="1081451" y="4058504"/>
            <a:ext cx="10133343" cy="1492716"/>
          </a:xfrm>
          <a:prstGeom prst="rect">
            <a:avLst/>
          </a:prstGeom>
        </p:spPr>
        <p:txBody>
          <a:bodyPr wrap="square">
            <a:spAutoFit/>
          </a:bodyPr>
          <a:lstStyle/>
          <a:p>
            <a:pPr algn="just">
              <a:lnSpc>
                <a:spcPct val="130000"/>
              </a:lnSpc>
            </a:pPr>
            <a:r>
              <a:rPr lang="zh-CN" altLang="en-US" sz="1400" dirty="0"/>
              <a:t>      更新器的</a:t>
            </a:r>
            <a:r>
              <a:rPr lang="zh-CN" altLang="en-US" sz="1400" dirty="0">
                <a:solidFill>
                  <a:srgbClr val="FF0000"/>
                </a:solidFill>
              </a:rPr>
              <a:t>主要作用是延迟更新</a:t>
            </a:r>
            <a:r>
              <a:rPr lang="zh-CN" altLang="en-US" sz="1400" dirty="0"/>
              <a:t>。在设计应用中，由于各种原因的干扰，比如网络断开、系统高度负荷、磁盘写等待都有可能导致更新失败。当某个更新失败之后，此次更新操作会被加入到更新队列中，友</a:t>
            </a:r>
            <a:r>
              <a:rPr lang="en-US" altLang="zh-CN" sz="1400" dirty="0"/>
              <a:t>Updater</a:t>
            </a:r>
            <a:r>
              <a:rPr lang="zh-CN" altLang="en-US" sz="1400" dirty="0"/>
              <a:t>来处理这些失败的更新工作。正常的更新顺序。当用户的数据上传成功之后，</a:t>
            </a:r>
            <a:r>
              <a:rPr lang="en-US" altLang="zh-CN" sz="1400" dirty="0"/>
              <a:t>Object server</a:t>
            </a:r>
            <a:r>
              <a:rPr lang="zh-CN" altLang="en-US" sz="1400" dirty="0"/>
              <a:t>会向</a:t>
            </a:r>
            <a:r>
              <a:rPr lang="en-US" altLang="zh-CN" sz="1400" dirty="0"/>
              <a:t>Container Server</a:t>
            </a:r>
            <a:r>
              <a:rPr lang="zh-CN" altLang="en-US" sz="1400" dirty="0"/>
              <a:t>接受到该通知，通知</a:t>
            </a:r>
            <a:r>
              <a:rPr lang="en-US" altLang="zh-CN" sz="1400" dirty="0"/>
              <a:t>Container Server</a:t>
            </a:r>
            <a:r>
              <a:rPr lang="zh-CN" altLang="en-US" sz="1400" dirty="0"/>
              <a:t>中新加入了一个</a:t>
            </a:r>
            <a:r>
              <a:rPr lang="en-US" altLang="zh-CN" sz="1400" dirty="0"/>
              <a:t>Object</a:t>
            </a:r>
            <a:r>
              <a:rPr lang="zh-CN" altLang="en-US" sz="1400" dirty="0"/>
              <a:t>，当</a:t>
            </a:r>
            <a:r>
              <a:rPr lang="en-US" altLang="zh-CN" sz="1400" dirty="0"/>
              <a:t>Container Server</a:t>
            </a:r>
            <a:r>
              <a:rPr lang="zh-CN" altLang="en-US" sz="1400" dirty="0"/>
              <a:t>接收到该通知，更新好</a:t>
            </a:r>
            <a:r>
              <a:rPr lang="en-US" altLang="zh-CN" sz="1400" dirty="0"/>
              <a:t>Object</a:t>
            </a:r>
            <a:r>
              <a:rPr lang="zh-CN" altLang="en-US" sz="1400" dirty="0"/>
              <a:t>列表之后，在向</a:t>
            </a:r>
            <a:r>
              <a:rPr lang="en-US" altLang="zh-CN" sz="1400" dirty="0"/>
              <a:t>Account Server</a:t>
            </a:r>
            <a:r>
              <a:rPr lang="zh-CN" altLang="en-US" sz="1400" dirty="0"/>
              <a:t>发送通知。</a:t>
            </a:r>
            <a:r>
              <a:rPr lang="en-US" altLang="zh-CN" sz="1400" dirty="0"/>
              <a:t>Account Server</a:t>
            </a:r>
            <a:r>
              <a:rPr lang="zh-CN" altLang="en-US" sz="1400" dirty="0"/>
              <a:t>接受到此通知，更新</a:t>
            </a:r>
            <a:r>
              <a:rPr lang="en-US" altLang="zh-CN" sz="1400" dirty="0"/>
              <a:t>Container</a:t>
            </a:r>
            <a:r>
              <a:rPr lang="zh-CN" altLang="en-US" sz="1400" dirty="0"/>
              <a:t>列表。</a:t>
            </a:r>
          </a:p>
        </p:txBody>
      </p:sp>
      <p:sp>
        <p:nvSpPr>
          <p:cNvPr id="30" name="矩形 29"/>
          <p:cNvSpPr/>
          <p:nvPr/>
        </p:nvSpPr>
        <p:spPr>
          <a:xfrm>
            <a:off x="944362" y="5532718"/>
            <a:ext cx="6099175" cy="400110"/>
          </a:xfrm>
          <a:prstGeom prst="rect">
            <a:avLst/>
          </a:prstGeom>
        </p:spPr>
        <p:txBody>
          <a:bodyPr>
            <a:spAutoFit/>
          </a:bodyPr>
          <a:lstStyle/>
          <a:p>
            <a:pPr marL="342900" indent="-342900">
              <a:buClr>
                <a:srgbClr val="0070C0"/>
              </a:buClr>
              <a:buFont typeface="Wingdings" panose="05000000000000000000" pitchFamily="2" charset="2"/>
              <a:buChar char="Ø"/>
            </a:pPr>
            <a:r>
              <a:rPr lang="en-US" altLang="zh-CN" sz="2000" dirty="0">
                <a:latin typeface="Times New Roman" panose="02020603050405020304" pitchFamily="18" charset="0"/>
                <a:ea typeface="Microsoft YaHei" panose="020B0503020204020204" pitchFamily="34" charset="-122"/>
                <a:cs typeface="Times New Roman" panose="02020603050405020304" pitchFamily="18" charset="0"/>
              </a:rPr>
              <a:t>Replicator</a:t>
            </a:r>
            <a:r>
              <a:rPr lang="zh-CN" altLang="en-US" sz="2000" dirty="0">
                <a:latin typeface="Times New Roman" panose="02020603050405020304" pitchFamily="18" charset="0"/>
                <a:ea typeface="Microsoft YaHei" panose="020B0503020204020204" pitchFamily="34" charset="-122"/>
                <a:cs typeface="Times New Roman" panose="02020603050405020304" pitchFamily="18" charset="0"/>
              </a:rPr>
              <a:t>：</a:t>
            </a:r>
            <a:endParaRPr lang="en-US" altLang="zh-CN" sz="2000" dirty="0">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8" name="矩形 27"/>
          <p:cNvSpPr/>
          <p:nvPr/>
        </p:nvSpPr>
        <p:spPr>
          <a:xfrm>
            <a:off x="990350" y="5951964"/>
            <a:ext cx="10366625" cy="652486"/>
          </a:xfrm>
          <a:prstGeom prst="rect">
            <a:avLst/>
          </a:prstGeom>
        </p:spPr>
        <p:txBody>
          <a:bodyPr wrap="square">
            <a:spAutoFit/>
          </a:bodyPr>
          <a:lstStyle/>
          <a:p>
            <a:pPr>
              <a:lnSpc>
                <a:spcPct val="130000"/>
              </a:lnSpc>
            </a:pPr>
            <a:r>
              <a:rPr lang="zh-CN" altLang="en-US" sz="1400" dirty="0"/>
              <a:t>       复制器</a:t>
            </a:r>
            <a:r>
              <a:rPr lang="zh-CN" altLang="en-US" sz="1400" dirty="0">
                <a:solidFill>
                  <a:srgbClr val="FF0000"/>
                </a:solidFill>
              </a:rPr>
              <a:t>复制将完好的副本替换损坏的数据，每个一段时间会扫描一下本地的文件的</a:t>
            </a:r>
            <a:r>
              <a:rPr lang="en-US" altLang="zh-CN" sz="1400" dirty="0">
                <a:solidFill>
                  <a:srgbClr val="FF0000"/>
                </a:solidFill>
              </a:rPr>
              <a:t>Hash</a:t>
            </a:r>
            <a:r>
              <a:rPr lang="zh-CN" altLang="en-US" sz="1400" dirty="0">
                <a:solidFill>
                  <a:srgbClr val="FF0000"/>
                </a:solidFill>
              </a:rPr>
              <a:t>值。</a:t>
            </a:r>
            <a:r>
              <a:rPr lang="zh-CN" altLang="en-US" sz="1400" dirty="0"/>
              <a:t>并且与远端的其他副本的</a:t>
            </a:r>
            <a:r>
              <a:rPr lang="en-US" altLang="zh-CN" sz="1400" dirty="0"/>
              <a:t>Hash</a:t>
            </a:r>
            <a:r>
              <a:rPr lang="zh-CN" altLang="en-US" sz="1400" dirty="0"/>
              <a:t>值进行比较。如果不相同，则会进行相应的复制替换操作。</a:t>
            </a:r>
          </a:p>
        </p:txBody>
      </p:sp>
    </p:spTree>
    <p:extLst>
      <p:ext uri="{BB962C8B-B14F-4D97-AF65-F5344CB8AC3E}">
        <p14:creationId xmlns:p14="http://schemas.microsoft.com/office/powerpoint/2010/main" val="9702872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022975" y="1945528"/>
            <a:ext cx="3640182" cy="143610"/>
          </a:xfrm>
          <a:prstGeom prst="rect">
            <a:avLst/>
          </a:prstGeom>
          <a:solidFill>
            <a:srgbClr val="FFC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rot="10800000">
            <a:off x="9617437" y="1297452"/>
            <a:ext cx="2592640" cy="1065542"/>
            <a:chOff x="-3884" y="1297773"/>
            <a:chExt cx="2592640" cy="1065542"/>
          </a:xfrm>
        </p:grpSpPr>
        <p:sp>
          <p:nvSpPr>
            <p:cNvPr id="6" name="矩形 5"/>
            <p:cNvSpPr/>
            <p:nvPr/>
          </p:nvSpPr>
          <p:spPr>
            <a:xfrm>
              <a:off x="-3884" y="1379730"/>
              <a:ext cx="495299" cy="5334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72046" y="1879600"/>
              <a:ext cx="266702" cy="2872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00597" y="1571628"/>
              <a:ext cx="342898" cy="36927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43495" y="2037009"/>
              <a:ext cx="266702" cy="28721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543037" y="1596441"/>
              <a:ext cx="45719" cy="4571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flipV="1">
              <a:off x="491415" y="2076097"/>
              <a:ext cx="266702" cy="287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898724" y="1867051"/>
              <a:ext cx="106680" cy="11488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221544" y="1932488"/>
              <a:ext cx="266702" cy="28721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679145" y="2037009"/>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227144" y="1715237"/>
              <a:ext cx="266702" cy="287218"/>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038748" y="1297773"/>
              <a:ext cx="266702" cy="28721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a:off x="131974" y="-1"/>
            <a:ext cx="11520000" cy="2053082"/>
            <a:chOff x="131974" y="-1"/>
            <a:chExt cx="11520000" cy="2053082"/>
          </a:xfrm>
        </p:grpSpPr>
        <p:grpSp>
          <p:nvGrpSpPr>
            <p:cNvPr id="20" name="组合 19"/>
            <p:cNvGrpSpPr/>
            <p:nvPr/>
          </p:nvGrpSpPr>
          <p:grpSpPr>
            <a:xfrm>
              <a:off x="131974" y="-1"/>
              <a:ext cx="11520000" cy="1016152"/>
              <a:chOff x="131974" y="-1"/>
              <a:chExt cx="11520000" cy="1016152"/>
            </a:xfrm>
          </p:grpSpPr>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简介</a:t>
                </a:r>
              </a:p>
            </p:txBody>
          </p:sp>
        </p:grpSp>
        <p:sp>
          <p:nvSpPr>
            <p:cNvPr id="22" name="文本框 21"/>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文本框 22"/>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的集群部署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21" name="矩形 20"/>
          <p:cNvSpPr/>
          <p:nvPr/>
        </p:nvSpPr>
        <p:spPr>
          <a:xfrm>
            <a:off x="606712" y="2383746"/>
            <a:ext cx="10592772" cy="2997872"/>
          </a:xfrm>
          <a:prstGeom prst="rect">
            <a:avLst/>
          </a:prstGeom>
        </p:spPr>
        <p:txBody>
          <a:bodyPr wrap="square">
            <a:spAutoFit/>
          </a:bodyPr>
          <a:lstStyle/>
          <a:p>
            <a:pPr algn="just">
              <a:lnSpc>
                <a:spcPct val="150000"/>
              </a:lnSpc>
            </a:pPr>
            <a:r>
              <a:rPr lang="en-US" altLang="zh-CN" sz="1800" dirty="0">
                <a:latin typeface="Times New Roman" panose="02020603050405020304" pitchFamily="18" charset="0"/>
                <a:cs typeface="Times New Roman" panose="02020603050405020304" pitchFamily="18" charset="0"/>
              </a:rPr>
              <a:t>         </a:t>
            </a:r>
            <a:r>
              <a:rPr lang="en-US" altLang="zh-CN" sz="2000" b="1" dirty="0">
                <a:latin typeface="Times New Roman" panose="02020603050405020304" pitchFamily="18" charset="0"/>
                <a:cs typeface="Times New Roman" panose="02020603050405020304" pitchFamily="18" charset="0"/>
              </a:rPr>
              <a:t>Swift</a:t>
            </a:r>
            <a:r>
              <a:rPr lang="zh-CN" altLang="en-US" sz="1800" dirty="0">
                <a:latin typeface="Times New Roman" panose="02020603050405020304" pitchFamily="18" charset="0"/>
                <a:cs typeface="Times New Roman" panose="02020603050405020304" pitchFamily="18" charset="0"/>
              </a:rPr>
              <a:t>出于</a:t>
            </a:r>
            <a:r>
              <a:rPr lang="zh-CN" altLang="en-US" sz="1800" dirty="0">
                <a:solidFill>
                  <a:srgbClr val="FF0000"/>
                </a:solidFill>
                <a:latin typeface="Times New Roman" panose="02020603050405020304" pitchFamily="18" charset="0"/>
                <a:cs typeface="Times New Roman" panose="02020603050405020304" pitchFamily="18" charset="0"/>
              </a:rPr>
              <a:t>安全、地理位置和隔离的考虑</a:t>
            </a:r>
            <a:r>
              <a:rPr lang="zh-CN" altLang="en-US" sz="1800" dirty="0">
                <a:latin typeface="Times New Roman" panose="02020603050405020304" pitchFamily="18" charset="0"/>
                <a:cs typeface="Times New Roman" panose="02020603050405020304" pitchFamily="18" charset="0"/>
              </a:rPr>
              <a:t>，引入了</a:t>
            </a:r>
            <a:r>
              <a:rPr lang="en-US" altLang="zh-CN" sz="1800" dirty="0">
                <a:solidFill>
                  <a:srgbClr val="FF0000"/>
                </a:solidFill>
                <a:latin typeface="Times New Roman" panose="02020603050405020304" pitchFamily="18" charset="0"/>
                <a:cs typeface="Times New Roman" panose="02020603050405020304" pitchFamily="18" charset="0"/>
              </a:rPr>
              <a:t>zone</a:t>
            </a:r>
            <a:r>
              <a:rPr lang="zh-CN" altLang="en-US" sz="1800" dirty="0">
                <a:solidFill>
                  <a:srgbClr val="FF0000"/>
                </a:solidFill>
                <a:latin typeface="Times New Roman" panose="02020603050405020304" pitchFamily="18" charset="0"/>
                <a:cs typeface="Times New Roman" panose="02020603050405020304" pitchFamily="18" charset="0"/>
              </a:rPr>
              <a:t>的概念</a:t>
            </a:r>
            <a:r>
              <a:rPr lang="zh-CN" altLang="en-US" sz="1800" dirty="0">
                <a:latin typeface="Times New Roman" panose="02020603050405020304" pitchFamily="18" charset="0"/>
                <a:cs typeface="Times New Roman" panose="02020603050405020304" pitchFamily="18" charset="0"/>
              </a:rPr>
              <a:t>，可以根据不同的需要。比如地理位置，安全。网络等因素。把不同的</a:t>
            </a:r>
            <a:r>
              <a:rPr lang="en-US" altLang="zh-CN" sz="1800" dirty="0">
                <a:latin typeface="Times New Roman" panose="02020603050405020304" pitchFamily="18" charset="0"/>
                <a:cs typeface="Times New Roman" panose="02020603050405020304" pitchFamily="18" charset="0"/>
              </a:rPr>
              <a:t>Storage Node</a:t>
            </a:r>
            <a:r>
              <a:rPr lang="zh-CN" altLang="en-US" sz="1800" dirty="0">
                <a:latin typeface="Times New Roman" panose="02020603050405020304" pitchFamily="18" charset="0"/>
                <a:cs typeface="Times New Roman" panose="02020603050405020304" pitchFamily="18" charset="0"/>
              </a:rPr>
              <a:t>划分到不同的</a:t>
            </a:r>
            <a:r>
              <a:rPr lang="en-US" altLang="zh-CN" sz="1800" dirty="0">
                <a:latin typeface="Times New Roman" panose="02020603050405020304" pitchFamily="18" charset="0"/>
                <a:cs typeface="Times New Roman" panose="02020603050405020304" pitchFamily="18" charset="0"/>
              </a:rPr>
              <a:t>Zone</a:t>
            </a:r>
            <a:r>
              <a:rPr lang="zh-CN" altLang="en-US" sz="1800" dirty="0">
                <a:latin typeface="Times New Roman" panose="02020603050405020304" pitchFamily="18" charset="0"/>
                <a:cs typeface="Times New Roman" panose="02020603050405020304" pitchFamily="18" charset="0"/>
              </a:rPr>
              <a:t>中。</a:t>
            </a:r>
            <a:r>
              <a:rPr lang="en-US" altLang="zh-CN" sz="1800" dirty="0">
                <a:solidFill>
                  <a:srgbClr val="FF0000"/>
                </a:solidFill>
                <a:latin typeface="Times New Roman" panose="02020603050405020304" pitchFamily="18" charset="0"/>
                <a:cs typeface="Times New Roman" panose="02020603050405020304" pitchFamily="18" charset="0"/>
              </a:rPr>
              <a:t>Zone</a:t>
            </a:r>
            <a:r>
              <a:rPr lang="zh-CN" altLang="en-US" sz="1800" dirty="0">
                <a:solidFill>
                  <a:srgbClr val="FF0000"/>
                </a:solidFill>
                <a:latin typeface="Times New Roman" panose="02020603050405020304" pitchFamily="18" charset="0"/>
                <a:cs typeface="Times New Roman" panose="02020603050405020304" pitchFamily="18" charset="0"/>
              </a:rPr>
              <a:t>的划分是人为操作的</a:t>
            </a:r>
            <a:r>
              <a:rPr lang="zh-CN" altLang="en-US" sz="1800" dirty="0">
                <a:latin typeface="Times New Roman" panose="02020603050405020304" pitchFamily="18" charset="0"/>
                <a:cs typeface="Times New Roman" panose="02020603050405020304" pitchFamily="18" charset="0"/>
              </a:rPr>
              <a:t>，可以是一个</a:t>
            </a:r>
            <a:r>
              <a:rPr lang="en-US" altLang="zh-CN" sz="1800" dirty="0">
                <a:latin typeface="Times New Roman" panose="02020603050405020304" pitchFamily="18" charset="0"/>
                <a:cs typeface="Times New Roman" panose="02020603050405020304" pitchFamily="18" charset="0"/>
              </a:rPr>
              <a:t>Storage Node </a:t>
            </a:r>
            <a:r>
              <a:rPr lang="zh-CN" altLang="en-US" sz="1800" dirty="0">
                <a:latin typeface="Times New Roman" panose="02020603050405020304" pitchFamily="18" charset="0"/>
                <a:cs typeface="Times New Roman" panose="02020603050405020304" pitchFamily="18" charset="0"/>
              </a:rPr>
              <a:t>，一个机房，或者一个数据中心。</a:t>
            </a:r>
            <a:endParaRPr lang="en-US" altLang="zh-CN" sz="1800" dirty="0">
              <a:latin typeface="Times New Roman" panose="02020603050405020304" pitchFamily="18" charset="0"/>
              <a:cs typeface="Times New Roman" panose="02020603050405020304" pitchFamily="18" charset="0"/>
            </a:endParaRPr>
          </a:p>
          <a:p>
            <a:pPr algn="just">
              <a:lnSpc>
                <a:spcPct val="150000"/>
              </a:lnSpc>
            </a:pPr>
            <a:r>
              <a:rPr lang="en-US" altLang="zh-CN" sz="1800" dirty="0">
                <a:latin typeface="Times New Roman" panose="02020603050405020304" pitchFamily="18" charset="0"/>
                <a:cs typeface="Times New Roman" panose="02020603050405020304" pitchFamily="18" charset="0"/>
              </a:rPr>
              <a:t>         </a:t>
            </a:r>
            <a:r>
              <a:rPr lang="zh-CN" altLang="en-US" sz="1800" dirty="0">
                <a:latin typeface="Times New Roman" panose="02020603050405020304" pitchFamily="18" charset="0"/>
                <a:cs typeface="Times New Roman" panose="02020603050405020304" pitchFamily="18" charset="0"/>
              </a:rPr>
              <a:t>当存放在某个</a:t>
            </a:r>
            <a:r>
              <a:rPr lang="en-US" altLang="zh-CN" sz="1800" dirty="0">
                <a:latin typeface="Times New Roman" panose="02020603050405020304" pitchFamily="18" charset="0"/>
                <a:cs typeface="Times New Roman" panose="02020603050405020304" pitchFamily="18" charset="0"/>
              </a:rPr>
              <a:t>Storage Node</a:t>
            </a:r>
            <a:r>
              <a:rPr lang="zh-CN" altLang="en-US" sz="1800" dirty="0">
                <a:latin typeface="Times New Roman" panose="02020603050405020304" pitchFamily="18" charset="0"/>
                <a:cs typeface="Times New Roman" panose="02020603050405020304" pitchFamily="18" charset="0"/>
              </a:rPr>
              <a:t>或某个</a:t>
            </a:r>
            <a:r>
              <a:rPr lang="en-US" altLang="zh-CN" sz="1800" dirty="0">
                <a:latin typeface="Times New Roman" panose="02020603050405020304" pitchFamily="18" charset="0"/>
                <a:cs typeface="Times New Roman" panose="02020603050405020304" pitchFamily="18" charset="0"/>
              </a:rPr>
              <a:t>Zone</a:t>
            </a:r>
            <a:r>
              <a:rPr lang="zh-CN" altLang="en-US" sz="1800" dirty="0">
                <a:latin typeface="Times New Roman" panose="02020603050405020304" pitchFamily="18" charset="0"/>
                <a:cs typeface="Times New Roman" panose="02020603050405020304" pitchFamily="18" charset="0"/>
              </a:rPr>
              <a:t>中，此策略保证，当某个</a:t>
            </a:r>
            <a:r>
              <a:rPr lang="en-US" altLang="zh-CN" sz="1800" dirty="0">
                <a:latin typeface="Times New Roman" panose="02020603050405020304" pitchFamily="18" charset="0"/>
                <a:cs typeface="Times New Roman" panose="02020603050405020304" pitchFamily="18" charset="0"/>
              </a:rPr>
              <a:t>Storage Node</a:t>
            </a:r>
            <a:r>
              <a:rPr lang="zh-CN" altLang="en-US" sz="1800" dirty="0">
                <a:latin typeface="Times New Roman" panose="02020603050405020304" pitchFamily="18" charset="0"/>
                <a:cs typeface="Times New Roman" panose="02020603050405020304" pitchFamily="18" charset="0"/>
              </a:rPr>
              <a:t>或者某个</a:t>
            </a:r>
            <a:r>
              <a:rPr lang="en-US" altLang="zh-CN" sz="1800" dirty="0">
                <a:latin typeface="Times New Roman" panose="02020603050405020304" pitchFamily="18" charset="0"/>
                <a:cs typeface="Times New Roman" panose="02020603050405020304" pitchFamily="18" charset="0"/>
              </a:rPr>
              <a:t>Zone</a:t>
            </a:r>
            <a:r>
              <a:rPr lang="zh-CN" altLang="en-US" sz="1800" dirty="0">
                <a:latin typeface="Times New Roman" panose="02020603050405020304" pitchFamily="18" charset="0"/>
                <a:cs typeface="Times New Roman" panose="02020603050405020304" pitchFamily="18" charset="0"/>
              </a:rPr>
              <a:t>失效的时候，仍然能够得取得有效数据。当硬件配置相同的时候，</a:t>
            </a:r>
            <a:r>
              <a:rPr lang="en-US" altLang="zh-CN" sz="1800" dirty="0">
                <a:latin typeface="Times New Roman" panose="02020603050405020304" pitchFamily="18" charset="0"/>
                <a:cs typeface="Times New Roman" panose="02020603050405020304" pitchFamily="18" charset="0"/>
              </a:rPr>
              <a:t>Swift</a:t>
            </a:r>
            <a:r>
              <a:rPr lang="zh-CN" altLang="en-US" sz="1800" dirty="0">
                <a:latin typeface="Times New Roman" panose="02020603050405020304" pitchFamily="18" charset="0"/>
                <a:cs typeface="Times New Roman" panose="02020603050405020304" pitchFamily="18" charset="0"/>
              </a:rPr>
              <a:t>的每个节点的作用是对等的，满足对称性的要求。在实际应用中，并不能够完全保证每个节点的硬件配置都是完全相同。</a:t>
            </a:r>
            <a:r>
              <a:rPr lang="en-US" altLang="zh-CN" sz="1800" dirty="0">
                <a:latin typeface="Times New Roman" panose="02020603050405020304" pitchFamily="18" charset="0"/>
                <a:cs typeface="Times New Roman" panose="02020603050405020304" pitchFamily="18" charset="0"/>
              </a:rPr>
              <a:t>Swift</a:t>
            </a:r>
            <a:r>
              <a:rPr lang="zh-CN" altLang="en-US" sz="1800" dirty="0">
                <a:latin typeface="Times New Roman" panose="02020603050405020304" pitchFamily="18" charset="0"/>
                <a:cs typeface="Times New Roman" panose="02020603050405020304" pitchFamily="18" charset="0"/>
              </a:rPr>
              <a:t>为了处理这种情况，</a:t>
            </a:r>
            <a:r>
              <a:rPr lang="zh-CN" altLang="en-US" sz="1800" dirty="0">
                <a:solidFill>
                  <a:srgbClr val="FF0000"/>
                </a:solidFill>
                <a:latin typeface="Times New Roman" panose="02020603050405020304" pitchFamily="18" charset="0"/>
                <a:cs typeface="Times New Roman" panose="02020603050405020304" pitchFamily="18" charset="0"/>
              </a:rPr>
              <a:t>引入了</a:t>
            </a:r>
            <a:r>
              <a:rPr lang="en-US" altLang="zh-CN" sz="1800" dirty="0">
                <a:solidFill>
                  <a:srgbClr val="FF0000"/>
                </a:solidFill>
                <a:latin typeface="Times New Roman" panose="02020603050405020304" pitchFamily="18" charset="0"/>
                <a:cs typeface="Times New Roman" panose="02020603050405020304" pitchFamily="18" charset="0"/>
              </a:rPr>
              <a:t>Weight</a:t>
            </a:r>
            <a:r>
              <a:rPr lang="zh-CN" altLang="en-US" sz="1800" dirty="0">
                <a:latin typeface="Times New Roman" panose="02020603050405020304" pitchFamily="18" charset="0"/>
                <a:cs typeface="Times New Roman" panose="02020603050405020304" pitchFamily="18" charset="0"/>
              </a:rPr>
              <a:t>，当添加更大容量的</a:t>
            </a:r>
            <a:r>
              <a:rPr lang="en-US" altLang="zh-CN" sz="1800" dirty="0">
                <a:latin typeface="Times New Roman" panose="02020603050405020304" pitchFamily="18" charset="0"/>
                <a:cs typeface="Times New Roman" panose="02020603050405020304" pitchFamily="18" charset="0"/>
              </a:rPr>
              <a:t>Storage Node</a:t>
            </a:r>
            <a:r>
              <a:rPr lang="zh-CN" altLang="en-US" sz="1800" dirty="0">
                <a:latin typeface="Times New Roman" panose="02020603050405020304" pitchFamily="18" charset="0"/>
                <a:cs typeface="Times New Roman" panose="02020603050405020304" pitchFamily="18" charset="0"/>
              </a:rPr>
              <a:t>时。可以得到更大的权重。</a:t>
            </a:r>
          </a:p>
        </p:txBody>
      </p:sp>
    </p:spTree>
    <p:extLst>
      <p:ext uri="{BB962C8B-B14F-4D97-AF65-F5344CB8AC3E}">
        <p14:creationId xmlns:p14="http://schemas.microsoft.com/office/powerpoint/2010/main" val="25782730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8" name="组合 5"/>
          <p:cNvGrpSpPr>
            <a:grpSpLocks/>
          </p:cNvGrpSpPr>
          <p:nvPr/>
        </p:nvGrpSpPr>
        <p:grpSpPr bwMode="auto">
          <a:xfrm rot="-5400000">
            <a:off x="1031170" y="3620276"/>
            <a:ext cx="4038600" cy="152436"/>
            <a:chOff x="0" y="3259138"/>
            <a:chExt cx="9144000" cy="195262"/>
          </a:xfrm>
        </p:grpSpPr>
        <p:sp>
          <p:nvSpPr>
            <p:cNvPr id="76" name="Rectangle 3"/>
            <p:cNvSpPr>
              <a:spLocks noChangeArrowheads="1"/>
            </p:cNvSpPr>
            <p:nvPr/>
          </p:nvSpPr>
          <p:spPr bwMode="gray">
            <a:xfrm>
              <a:off x="1" y="3259139"/>
              <a:ext cx="9144000" cy="54918"/>
            </a:xfrm>
            <a:prstGeom prst="rect">
              <a:avLst/>
            </a:prstGeom>
            <a:gradFill rotWithShape="1">
              <a:gsLst>
                <a:gs pos="0">
                  <a:srgbClr val="808080"/>
                </a:gs>
                <a:gs pos="100000">
                  <a:srgbClr val="ECECEC"/>
                </a:gs>
              </a:gsLst>
              <a:lin ang="5400000" scaled="1"/>
            </a:gradFill>
            <a:ln w="9525" algn="ctr">
              <a:noFill/>
              <a:miter lim="800000"/>
              <a:headEnd/>
              <a:tailEnd/>
            </a:ln>
          </p:spPr>
          <p:txBody>
            <a:bodyPr wrap="none" anchor="ctr"/>
            <a:lstStyle/>
            <a:p>
              <a:pPr>
                <a:defRPr/>
              </a:pPr>
              <a:endParaRPr lang="zh-CN" altLang="en-US" sz="3201" kern="0">
                <a:solidFill>
                  <a:sysClr val="windowText" lastClr="000000"/>
                </a:solidFill>
                <a:latin typeface="+mn-ea"/>
              </a:endParaRPr>
            </a:p>
          </p:txBody>
        </p:sp>
        <p:sp>
          <p:nvSpPr>
            <p:cNvPr id="77" name="Rectangle 4"/>
            <p:cNvSpPr>
              <a:spLocks noChangeArrowheads="1"/>
            </p:cNvSpPr>
            <p:nvPr/>
          </p:nvSpPr>
          <p:spPr bwMode="gray">
            <a:xfrm>
              <a:off x="1" y="3312022"/>
              <a:ext cx="9144000" cy="142379"/>
            </a:xfrm>
            <a:prstGeom prst="rect">
              <a:avLst/>
            </a:prstGeom>
            <a:gradFill rotWithShape="1">
              <a:gsLst>
                <a:gs pos="0">
                  <a:srgbClr val="CFCFCF"/>
                </a:gs>
                <a:gs pos="100000">
                  <a:srgbClr val="5F5F5F"/>
                </a:gs>
              </a:gsLst>
              <a:lin ang="5400000" scaled="1"/>
            </a:gradFill>
            <a:ln w="9525" algn="ctr">
              <a:noFill/>
              <a:miter lim="800000"/>
              <a:headEnd/>
              <a:tailEnd/>
            </a:ln>
          </p:spPr>
          <p:txBody>
            <a:bodyPr wrap="none" anchor="ctr"/>
            <a:lstStyle/>
            <a:p>
              <a:pPr>
                <a:defRPr/>
              </a:pPr>
              <a:endParaRPr lang="zh-CN" altLang="en-US" sz="3201" kern="0">
                <a:solidFill>
                  <a:sysClr val="windowText" lastClr="000000"/>
                </a:solidFill>
                <a:latin typeface="+mn-ea"/>
              </a:endParaRPr>
            </a:p>
          </p:txBody>
        </p:sp>
      </p:grpSp>
      <p:grpSp>
        <p:nvGrpSpPr>
          <p:cNvPr id="3" name="组合 2"/>
          <p:cNvGrpSpPr/>
          <p:nvPr/>
        </p:nvGrpSpPr>
        <p:grpSpPr>
          <a:xfrm>
            <a:off x="2578051" y="1841509"/>
            <a:ext cx="6326064" cy="861638"/>
            <a:chOff x="2593164" y="1657734"/>
            <a:chExt cx="6326064" cy="922552"/>
          </a:xfrm>
        </p:grpSpPr>
        <p:grpSp>
          <p:nvGrpSpPr>
            <p:cNvPr id="8197" name="组合 62"/>
            <p:cNvGrpSpPr>
              <a:grpSpLocks/>
            </p:cNvGrpSpPr>
            <p:nvPr/>
          </p:nvGrpSpPr>
          <p:grpSpPr bwMode="auto">
            <a:xfrm>
              <a:off x="2974252" y="1810168"/>
              <a:ext cx="5944976" cy="626254"/>
              <a:chOff x="1752601" y="2209800"/>
              <a:chExt cx="6934200" cy="625705"/>
            </a:xfrm>
          </p:grpSpPr>
          <p:sp>
            <p:nvSpPr>
              <p:cNvPr id="73" name="AutoShape 4"/>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lang="zh-CN" altLang="en-US" sz="3201" kern="0">
                  <a:solidFill>
                    <a:sysClr val="windowText" lastClr="000000"/>
                  </a:solidFill>
                  <a:latin typeface="+mn-ea"/>
                </a:endParaRPr>
              </a:p>
            </p:txBody>
          </p:sp>
          <p:sp>
            <p:nvSpPr>
              <p:cNvPr id="8254" name="Text Box 9"/>
              <p:cNvSpPr txBox="1">
                <a:spLocks noChangeArrowheads="1"/>
              </p:cNvSpPr>
              <p:nvPr/>
            </p:nvSpPr>
            <p:spPr bwMode="gray">
              <a:xfrm>
                <a:off x="2513808" y="2209800"/>
                <a:ext cx="5700713" cy="625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en-US" altLang="zh-CN" sz="3201" dirty="0">
                    <a:ea typeface="黑体" panose="02010609060101010101" pitchFamily="49" charset="-122"/>
                    <a:cs typeface="Times New Roman" panose="02020603050405020304" pitchFamily="18" charset="0"/>
                  </a:rPr>
                  <a:t>Swift</a:t>
                </a:r>
                <a:r>
                  <a:rPr lang="zh-CN" altLang="en-US" sz="3201" dirty="0">
                    <a:ea typeface="黑体" panose="02010609060101010101" pitchFamily="49" charset="-122"/>
                    <a:cs typeface="Times New Roman" panose="02020603050405020304" pitchFamily="18" charset="0"/>
                  </a:rPr>
                  <a:t>简介</a:t>
                </a:r>
              </a:p>
            </p:txBody>
          </p:sp>
        </p:grpSp>
        <p:grpSp>
          <p:nvGrpSpPr>
            <p:cNvPr id="8199" name="Group 65"/>
            <p:cNvGrpSpPr>
              <a:grpSpLocks/>
            </p:cNvGrpSpPr>
            <p:nvPr/>
          </p:nvGrpSpPr>
          <p:grpSpPr bwMode="auto">
            <a:xfrm>
              <a:off x="2593164" y="1657734"/>
              <a:ext cx="854273" cy="922552"/>
              <a:chOff x="2789" y="1625"/>
              <a:chExt cx="847" cy="915"/>
            </a:xfrm>
          </p:grpSpPr>
          <p:sp>
            <p:nvSpPr>
              <p:cNvPr id="79"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lang="zh-CN" altLang="en-US" sz="3201" kern="0">
                  <a:solidFill>
                    <a:sysClr val="windowText" lastClr="000000"/>
                  </a:solidFill>
                  <a:latin typeface="+mn-ea"/>
                </a:endParaRPr>
              </a:p>
            </p:txBody>
          </p:sp>
          <p:sp>
            <p:nvSpPr>
              <p:cNvPr id="80"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lang="zh-CN" altLang="en-US" sz="3201" kern="0">
                  <a:solidFill>
                    <a:sysClr val="windowText" lastClr="000000"/>
                  </a:solidFill>
                  <a:latin typeface="+mn-ea"/>
                </a:endParaRPr>
              </a:p>
            </p:txBody>
          </p:sp>
          <p:sp>
            <p:nvSpPr>
              <p:cNvPr id="81"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sp>
            <p:nvSpPr>
              <p:cNvPr id="82"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sp>
            <p:nvSpPr>
              <p:cNvPr id="83"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grpSp>
            <p:nvGrpSpPr>
              <p:cNvPr id="8246" name="Group 71"/>
              <p:cNvGrpSpPr>
                <a:grpSpLocks/>
              </p:cNvGrpSpPr>
              <p:nvPr/>
            </p:nvGrpSpPr>
            <p:grpSpPr bwMode="auto">
              <a:xfrm>
                <a:off x="2899" y="1735"/>
                <a:ext cx="687" cy="688"/>
                <a:chOff x="4166" y="1706"/>
                <a:chExt cx="1252" cy="1252"/>
              </a:xfrm>
            </p:grpSpPr>
            <p:sp>
              <p:nvSpPr>
                <p:cNvPr id="85"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86"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87"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88"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grpSp>
        </p:grpSp>
        <p:sp>
          <p:nvSpPr>
            <p:cNvPr id="62" name="矩形 61"/>
            <p:cNvSpPr/>
            <p:nvPr/>
          </p:nvSpPr>
          <p:spPr>
            <a:xfrm>
              <a:off x="2740836" y="1845102"/>
              <a:ext cx="597038" cy="584335"/>
            </a:xfrm>
            <a:prstGeom prst="rect">
              <a:avLst/>
            </a:prstGeom>
          </p:spPr>
          <p:txBody>
            <a:bodyPr wrap="none">
              <a:spAutoFit/>
            </a:bodyPr>
            <a:lstStyle/>
            <a:p>
              <a:pPr eaLnBrk="1" hangingPunct="1">
                <a:defRPr/>
              </a:pPr>
              <a:r>
                <a:rPr lang="zh-CN" altLang="en-US" sz="3201" kern="0" dirty="0">
                  <a:solidFill>
                    <a:sysClr val="windowText" lastClr="000000"/>
                  </a:solidFill>
                  <a:latin typeface="+mn-ea"/>
                </a:rPr>
                <a:t>一</a:t>
              </a:r>
              <a:endParaRPr lang="zh-CN" altLang="en-US" sz="3201" dirty="0">
                <a:latin typeface="+mn-ea"/>
              </a:endParaRPr>
            </a:p>
          </p:txBody>
        </p:sp>
      </p:grpSp>
      <p:grpSp>
        <p:nvGrpSpPr>
          <p:cNvPr id="4" name="组合 3"/>
          <p:cNvGrpSpPr/>
          <p:nvPr/>
        </p:nvGrpSpPr>
        <p:grpSpPr>
          <a:xfrm>
            <a:off x="2593164" y="3015682"/>
            <a:ext cx="6326064" cy="877458"/>
            <a:chOff x="2593164" y="2724781"/>
            <a:chExt cx="6326064" cy="922552"/>
          </a:xfrm>
        </p:grpSpPr>
        <p:grpSp>
          <p:nvGrpSpPr>
            <p:cNvPr id="8194" name="组合 63"/>
            <p:cNvGrpSpPr>
              <a:grpSpLocks/>
            </p:cNvGrpSpPr>
            <p:nvPr/>
          </p:nvGrpSpPr>
          <p:grpSpPr bwMode="auto">
            <a:xfrm>
              <a:off x="2974252" y="2877217"/>
              <a:ext cx="5944976" cy="614964"/>
              <a:chOff x="1752601" y="2209798"/>
              <a:chExt cx="6934200" cy="614424"/>
            </a:xfrm>
          </p:grpSpPr>
          <p:sp>
            <p:nvSpPr>
              <p:cNvPr id="64"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lang="zh-CN" altLang="en-US" sz="3201" kern="0">
                  <a:solidFill>
                    <a:sysClr val="windowText" lastClr="000000"/>
                  </a:solidFill>
                  <a:latin typeface="+mn-ea"/>
                </a:endParaRPr>
              </a:p>
            </p:txBody>
          </p:sp>
          <p:sp>
            <p:nvSpPr>
              <p:cNvPr id="8260" name="Text Box 9"/>
              <p:cNvSpPr txBox="1">
                <a:spLocks noChangeArrowheads="1"/>
              </p:cNvSpPr>
              <p:nvPr/>
            </p:nvSpPr>
            <p:spPr bwMode="gray">
              <a:xfrm>
                <a:off x="2513808" y="2209798"/>
                <a:ext cx="5700713" cy="614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en-US" altLang="zh-CN" sz="3201" dirty="0">
                    <a:ea typeface="黑体" panose="02010609060101010101" pitchFamily="49" charset="-122"/>
                    <a:cs typeface="Times New Roman" panose="02020603050405020304" pitchFamily="18" charset="0"/>
                  </a:rPr>
                  <a:t>Swift</a:t>
                </a:r>
                <a:r>
                  <a:rPr lang="zh-CN" altLang="en-US" sz="3201" dirty="0">
                    <a:ea typeface="黑体" panose="02010609060101010101" pitchFamily="49" charset="-122"/>
                    <a:cs typeface="Times New Roman" panose="02020603050405020304" pitchFamily="18" charset="0"/>
                  </a:rPr>
                  <a:t>安装部署</a:t>
                </a:r>
              </a:p>
            </p:txBody>
          </p:sp>
        </p:grpSp>
        <p:grpSp>
          <p:nvGrpSpPr>
            <p:cNvPr id="8200" name="Group 65"/>
            <p:cNvGrpSpPr>
              <a:grpSpLocks/>
            </p:cNvGrpSpPr>
            <p:nvPr/>
          </p:nvGrpSpPr>
          <p:grpSpPr bwMode="auto">
            <a:xfrm>
              <a:off x="2593164" y="2724781"/>
              <a:ext cx="854273" cy="922552"/>
              <a:chOff x="2789" y="1625"/>
              <a:chExt cx="847" cy="915"/>
            </a:xfrm>
          </p:grpSpPr>
          <p:sp>
            <p:nvSpPr>
              <p:cNvPr id="90"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lang="zh-CN" altLang="en-US" sz="3201" kern="0">
                  <a:solidFill>
                    <a:sysClr val="windowText" lastClr="000000"/>
                  </a:solidFill>
                  <a:latin typeface="+mn-ea"/>
                </a:endParaRPr>
              </a:p>
            </p:txBody>
          </p:sp>
          <p:sp>
            <p:nvSpPr>
              <p:cNvPr id="91"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lang="zh-CN" altLang="en-US" sz="3201" kern="0">
                  <a:solidFill>
                    <a:sysClr val="windowText" lastClr="000000"/>
                  </a:solidFill>
                  <a:latin typeface="+mn-ea"/>
                </a:endParaRPr>
              </a:p>
            </p:txBody>
          </p:sp>
          <p:sp>
            <p:nvSpPr>
              <p:cNvPr id="92"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sp>
            <p:nvSpPr>
              <p:cNvPr id="93"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sp>
            <p:nvSpPr>
              <p:cNvPr id="94"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grpSp>
            <p:nvGrpSpPr>
              <p:cNvPr id="8236" name="Group 71"/>
              <p:cNvGrpSpPr>
                <a:grpSpLocks/>
              </p:cNvGrpSpPr>
              <p:nvPr/>
            </p:nvGrpSpPr>
            <p:grpSpPr bwMode="auto">
              <a:xfrm>
                <a:off x="2899" y="1735"/>
                <a:ext cx="687" cy="688"/>
                <a:chOff x="4166" y="1706"/>
                <a:chExt cx="1252" cy="1252"/>
              </a:xfrm>
            </p:grpSpPr>
            <p:sp>
              <p:nvSpPr>
                <p:cNvPr id="96"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97"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98"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99"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grpSp>
        </p:grpSp>
        <p:sp>
          <p:nvSpPr>
            <p:cNvPr id="63" name="矩形 62"/>
            <p:cNvSpPr/>
            <p:nvPr/>
          </p:nvSpPr>
          <p:spPr>
            <a:xfrm>
              <a:off x="2740836" y="2858162"/>
              <a:ext cx="597038" cy="584335"/>
            </a:xfrm>
            <a:prstGeom prst="rect">
              <a:avLst/>
            </a:prstGeom>
          </p:spPr>
          <p:txBody>
            <a:bodyPr wrap="none">
              <a:spAutoFit/>
            </a:bodyPr>
            <a:lstStyle/>
            <a:p>
              <a:pPr eaLnBrk="1" hangingPunct="1">
                <a:defRPr/>
              </a:pPr>
              <a:r>
                <a:rPr lang="zh-CN" altLang="en-US" sz="3201" kern="0" dirty="0">
                  <a:solidFill>
                    <a:sysClr val="windowText" lastClr="000000"/>
                  </a:solidFill>
                  <a:latin typeface="+mn-ea"/>
                </a:rPr>
                <a:t>二</a:t>
              </a:r>
              <a:endParaRPr lang="zh-CN" altLang="en-US" sz="3201" dirty="0">
                <a:latin typeface="+mn-ea"/>
              </a:endParaRPr>
            </a:p>
          </p:txBody>
        </p:sp>
      </p:grpSp>
      <p:grpSp>
        <p:nvGrpSpPr>
          <p:cNvPr id="5" name="组合 4"/>
          <p:cNvGrpSpPr/>
          <p:nvPr/>
        </p:nvGrpSpPr>
        <p:grpSpPr>
          <a:xfrm>
            <a:off x="2677901" y="4158175"/>
            <a:ext cx="6318125" cy="876206"/>
            <a:chOff x="2593164" y="3791828"/>
            <a:chExt cx="6318125" cy="922552"/>
          </a:xfrm>
        </p:grpSpPr>
        <p:grpSp>
          <p:nvGrpSpPr>
            <p:cNvPr id="8195" name="组合 66"/>
            <p:cNvGrpSpPr>
              <a:grpSpLocks/>
            </p:cNvGrpSpPr>
            <p:nvPr/>
          </p:nvGrpSpPr>
          <p:grpSpPr bwMode="auto">
            <a:xfrm>
              <a:off x="2966313" y="3934734"/>
              <a:ext cx="5944976" cy="615841"/>
              <a:chOff x="1752601" y="2209798"/>
              <a:chExt cx="6934200" cy="615301"/>
            </a:xfrm>
          </p:grpSpPr>
          <p:sp>
            <p:nvSpPr>
              <p:cNvPr id="67"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lang="zh-CN" altLang="en-US" sz="3201" kern="0">
                  <a:solidFill>
                    <a:sysClr val="windowText" lastClr="000000"/>
                  </a:solidFill>
                  <a:latin typeface="+mn-ea"/>
                </a:endParaRPr>
              </a:p>
            </p:txBody>
          </p:sp>
          <p:sp>
            <p:nvSpPr>
              <p:cNvPr id="8258"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en-US" altLang="zh-CN" sz="3201" dirty="0" err="1">
                    <a:ea typeface="黑体" panose="02010609060101010101" pitchFamily="49" charset="-122"/>
                    <a:cs typeface="Times New Roman" panose="02020603050405020304" pitchFamily="18" charset="0"/>
                  </a:rPr>
                  <a:t>jclouds</a:t>
                </a:r>
                <a:r>
                  <a:rPr lang="en-US" altLang="zh-CN" sz="3201" dirty="0">
                    <a:ea typeface="黑体" panose="02010609060101010101" pitchFamily="49" charset="-122"/>
                    <a:cs typeface="Times New Roman" panose="02020603050405020304" pitchFamily="18" charset="0"/>
                  </a:rPr>
                  <a:t>-swift</a:t>
                </a:r>
                <a:r>
                  <a:rPr lang="zh-CN" altLang="en-US" sz="3201" dirty="0">
                    <a:ea typeface="黑体" panose="02010609060101010101" pitchFamily="49" charset="-122"/>
                    <a:cs typeface="Times New Roman" panose="02020603050405020304" pitchFamily="18" charset="0"/>
                  </a:rPr>
                  <a:t>编程</a:t>
                </a:r>
              </a:p>
            </p:txBody>
          </p:sp>
        </p:grpSp>
        <p:grpSp>
          <p:nvGrpSpPr>
            <p:cNvPr id="8202" name="Group 65"/>
            <p:cNvGrpSpPr>
              <a:grpSpLocks/>
            </p:cNvGrpSpPr>
            <p:nvPr/>
          </p:nvGrpSpPr>
          <p:grpSpPr bwMode="auto">
            <a:xfrm>
              <a:off x="2593164" y="3791828"/>
              <a:ext cx="854273" cy="922552"/>
              <a:chOff x="2789" y="1625"/>
              <a:chExt cx="847" cy="915"/>
            </a:xfrm>
          </p:grpSpPr>
          <p:sp>
            <p:nvSpPr>
              <p:cNvPr id="11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lang="zh-CN" altLang="en-US" sz="3201" kern="0">
                  <a:solidFill>
                    <a:sysClr val="windowText" lastClr="000000"/>
                  </a:solidFill>
                  <a:latin typeface="+mn-ea"/>
                </a:endParaRPr>
              </a:p>
            </p:txBody>
          </p:sp>
          <p:sp>
            <p:nvSpPr>
              <p:cNvPr id="11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lang="zh-CN" altLang="en-US" sz="3201" kern="0">
                  <a:solidFill>
                    <a:sysClr val="windowText" lastClr="000000"/>
                  </a:solidFill>
                  <a:latin typeface="+mn-ea"/>
                </a:endParaRPr>
              </a:p>
            </p:txBody>
          </p:sp>
          <p:sp>
            <p:nvSpPr>
              <p:cNvPr id="11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sp>
            <p:nvSpPr>
              <p:cNvPr id="11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sp>
            <p:nvSpPr>
              <p:cNvPr id="116"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grpSp>
            <p:nvGrpSpPr>
              <p:cNvPr id="8216" name="Group 71"/>
              <p:cNvGrpSpPr>
                <a:grpSpLocks/>
              </p:cNvGrpSpPr>
              <p:nvPr/>
            </p:nvGrpSpPr>
            <p:grpSpPr bwMode="auto">
              <a:xfrm>
                <a:off x="2899" y="1735"/>
                <a:ext cx="687" cy="688"/>
                <a:chOff x="4166" y="1706"/>
                <a:chExt cx="1252" cy="1252"/>
              </a:xfrm>
            </p:grpSpPr>
            <p:sp>
              <p:nvSpPr>
                <p:cNvPr id="11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11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12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12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grpSp>
        </p:grpSp>
        <p:sp>
          <p:nvSpPr>
            <p:cNvPr id="66" name="矩形 65"/>
            <p:cNvSpPr/>
            <p:nvPr/>
          </p:nvSpPr>
          <p:spPr>
            <a:xfrm>
              <a:off x="2715430" y="3968082"/>
              <a:ext cx="597038" cy="585923"/>
            </a:xfrm>
            <a:prstGeom prst="rect">
              <a:avLst/>
            </a:prstGeom>
          </p:spPr>
          <p:txBody>
            <a:bodyPr wrap="none">
              <a:spAutoFit/>
            </a:bodyPr>
            <a:lstStyle/>
            <a:p>
              <a:pPr eaLnBrk="1" hangingPunct="1">
                <a:defRPr/>
              </a:pPr>
              <a:r>
                <a:rPr lang="zh-CN" altLang="en-US" sz="3201" kern="0" dirty="0">
                  <a:solidFill>
                    <a:sysClr val="windowText" lastClr="000000"/>
                  </a:solidFill>
                  <a:latin typeface="+mn-ea"/>
                </a:rPr>
                <a:t>三</a:t>
              </a:r>
              <a:endParaRPr lang="zh-CN" altLang="en-US" sz="3201" dirty="0">
                <a:latin typeface="+mn-ea"/>
              </a:endParaRPr>
            </a:p>
          </p:txBody>
        </p:sp>
      </p:grpSp>
      <p:sp>
        <p:nvSpPr>
          <p:cNvPr id="8209" name="Rectangle 35"/>
          <p:cNvSpPr>
            <a:spLocks noChangeArrowheads="1"/>
          </p:cNvSpPr>
          <p:nvPr/>
        </p:nvSpPr>
        <p:spPr bwMode="blackWhite">
          <a:xfrm>
            <a:off x="1735109" y="6512795"/>
            <a:ext cx="8288668" cy="198483"/>
          </a:xfrm>
          <a:prstGeom prst="rect">
            <a:avLst/>
          </a:prstGeom>
          <a:solidFill>
            <a:schemeClr val="bg1">
              <a:alpha val="74901"/>
            </a:schemeClr>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Tahoma" panose="020B0604030504040204" pitchFamily="34" charset="0"/>
            </a:endParaRPr>
          </a:p>
        </p:txBody>
      </p:sp>
      <p:pic>
        <p:nvPicPr>
          <p:cNvPr id="72" name="图片 7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74" name="矩形 73"/>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8" name="标题 1"/>
          <p:cNvSpPr>
            <a:spLocks/>
          </p:cNvSpPr>
          <p:nvPr/>
        </p:nvSpPr>
        <p:spPr bwMode="auto">
          <a:xfrm>
            <a:off x="5865536" y="312428"/>
            <a:ext cx="5786438" cy="533400"/>
          </a:xfrm>
          <a:prstGeom prst="rect">
            <a:avLst/>
          </a:prstGeom>
          <a:noFill/>
          <a:ln>
            <a:noFill/>
          </a:ln>
        </p:spPr>
        <p:txBody>
          <a:bodyPr anchor="b"/>
          <a:lstStyle/>
          <a:p>
            <a:pPr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目录</a:t>
            </a:r>
          </a:p>
        </p:txBody>
      </p:sp>
      <p:pic>
        <p:nvPicPr>
          <p:cNvPr id="8210" name="图片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909559" y="4085651"/>
            <a:ext cx="8291844" cy="17489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图片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877616" y="1632889"/>
            <a:ext cx="8291844" cy="12640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58468885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0" y="2498885"/>
            <a:ext cx="12198350" cy="303594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0" y="2394120"/>
            <a:ext cx="121983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031112" y="1930947"/>
            <a:ext cx="1556482" cy="405509"/>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3953202" y="1931627"/>
            <a:ext cx="1556481" cy="400110"/>
          </a:xfrm>
          <a:prstGeom prst="rect">
            <a:avLst/>
          </a:prstGeom>
          <a:noFill/>
        </p:spPr>
        <p:txBody>
          <a:bodyPr wrap="square" rtlCol="0">
            <a:spAutoFit/>
          </a:bodyPr>
          <a:lstStyle/>
          <a:p>
            <a:r>
              <a:rPr lang="en-US" altLang="zh-CN" sz="2000" dirty="0">
                <a:latin typeface="+mn-ea"/>
              </a:rPr>
              <a:t>【</a:t>
            </a:r>
            <a:r>
              <a:rPr lang="zh-CN" altLang="en-US" sz="2000" dirty="0">
                <a:latin typeface="+mn-ea"/>
              </a:rPr>
              <a:t>任务内容</a:t>
            </a:r>
            <a:r>
              <a:rPr lang="en-US" altLang="zh-CN" sz="2000" dirty="0">
                <a:latin typeface="+mn-ea"/>
              </a:rPr>
              <a:t>】</a:t>
            </a:r>
          </a:p>
        </p:txBody>
      </p:sp>
      <p:sp>
        <p:nvSpPr>
          <p:cNvPr id="8" name="内容占位符 2"/>
          <p:cNvSpPr>
            <a:spLocks noGrp="1"/>
          </p:cNvSpPr>
          <p:nvPr>
            <p:ph idx="4294967295"/>
          </p:nvPr>
        </p:nvSpPr>
        <p:spPr>
          <a:xfrm>
            <a:off x="402399" y="2501770"/>
            <a:ext cx="10979150" cy="3062288"/>
          </a:xfrm>
          <a:prstGeom prst="rect">
            <a:avLst/>
          </a:prstGeom>
        </p:spPr>
        <p:txBody>
          <a:bodyPr>
            <a:noAutofit/>
          </a:bodyPr>
          <a:lstStyle/>
          <a:p>
            <a:pPr marL="0" indent="0" algn="just">
              <a:buNone/>
            </a:pPr>
            <a:r>
              <a:rPr lang="zh-CN" altLang="en-US" dirty="0"/>
              <a:t>        在</a:t>
            </a:r>
            <a:r>
              <a:rPr lang="en-US" altLang="zh-CN" dirty="0" err="1">
                <a:solidFill>
                  <a:srgbClr val="FF0000"/>
                </a:solidFill>
              </a:rPr>
              <a:t>CentOS</a:t>
            </a:r>
            <a:r>
              <a:rPr lang="zh-CN" altLang="en-US" dirty="0"/>
              <a:t>系统安装部署</a:t>
            </a:r>
            <a:r>
              <a:rPr lang="en-US" altLang="zh-CN" dirty="0">
                <a:solidFill>
                  <a:srgbClr val="FF0000"/>
                </a:solidFill>
              </a:rPr>
              <a:t>OpenStack Swift</a:t>
            </a:r>
            <a:r>
              <a:rPr lang="zh-CN" altLang="en-US" dirty="0"/>
              <a:t>，需要下载相关软件，本任务使用的软件为</a:t>
            </a:r>
            <a:r>
              <a:rPr lang="en-US" altLang="zh-CN" dirty="0">
                <a:solidFill>
                  <a:srgbClr val="FF0000"/>
                </a:solidFill>
              </a:rPr>
              <a:t>openstack-icehouse</a:t>
            </a:r>
            <a:r>
              <a:rPr lang="zh-CN" altLang="en-US" dirty="0"/>
              <a:t>版本，使用</a:t>
            </a:r>
            <a:r>
              <a:rPr lang="en-US" altLang="zh-CN" dirty="0"/>
              <a:t>4</a:t>
            </a:r>
            <a:r>
              <a:rPr lang="zh-CN" altLang="en-US" dirty="0"/>
              <a:t>台节点机，每台节点机上安装</a:t>
            </a:r>
            <a:r>
              <a:rPr lang="en-US" altLang="zh-CN" dirty="0"/>
              <a:t>CentOS-6.5-x86_64</a:t>
            </a:r>
            <a:r>
              <a:rPr lang="zh-CN" altLang="en-US" dirty="0"/>
              <a:t>系统，</a:t>
            </a:r>
            <a:r>
              <a:rPr lang="en-US" altLang="zh-CN" dirty="0"/>
              <a:t>IP</a:t>
            </a:r>
            <a:r>
              <a:rPr lang="zh-CN" altLang="en-US" dirty="0"/>
              <a:t>地址分别为：</a:t>
            </a:r>
            <a:r>
              <a:rPr lang="en-US" altLang="zh-CN" dirty="0"/>
              <a:t>192.168.23.111</a:t>
            </a:r>
            <a:r>
              <a:rPr lang="zh-CN" altLang="en-US" dirty="0"/>
              <a:t>、</a:t>
            </a:r>
            <a:r>
              <a:rPr lang="en-US" altLang="zh-CN" dirty="0"/>
              <a:t>192.168.23.112</a:t>
            </a:r>
            <a:r>
              <a:rPr lang="zh-CN" altLang="en-US" dirty="0"/>
              <a:t>、</a:t>
            </a:r>
            <a:r>
              <a:rPr lang="en-US" altLang="zh-CN" dirty="0"/>
              <a:t>192.168.23.113</a:t>
            </a:r>
            <a:r>
              <a:rPr lang="zh-CN" altLang="en-US" dirty="0"/>
              <a:t>、</a:t>
            </a:r>
            <a:r>
              <a:rPr lang="en-US" altLang="zh-CN" dirty="0"/>
              <a:t>192.168.23.114</a:t>
            </a:r>
            <a:r>
              <a:rPr lang="zh-CN" altLang="en-US" dirty="0"/>
              <a:t>，对应节点主机名为：</a:t>
            </a:r>
            <a:r>
              <a:rPr lang="en-US" altLang="zh-CN" dirty="0"/>
              <a:t>node1</a:t>
            </a:r>
            <a:r>
              <a:rPr lang="zh-CN" altLang="en-US" dirty="0"/>
              <a:t>、</a:t>
            </a:r>
            <a:r>
              <a:rPr lang="en-US" altLang="zh-CN" dirty="0"/>
              <a:t>node2</a:t>
            </a:r>
            <a:r>
              <a:rPr lang="zh-CN" altLang="en-US" dirty="0"/>
              <a:t>、</a:t>
            </a:r>
            <a:r>
              <a:rPr lang="en-US" altLang="zh-CN" dirty="0"/>
              <a:t>node3</a:t>
            </a:r>
            <a:r>
              <a:rPr lang="zh-CN" altLang="en-US" dirty="0"/>
              <a:t>、</a:t>
            </a:r>
            <a:r>
              <a:rPr lang="en-US" altLang="zh-CN" dirty="0"/>
              <a:t>node4</a:t>
            </a:r>
            <a:r>
              <a:rPr lang="zh-CN" altLang="en-US" dirty="0"/>
              <a:t>，节点机</a:t>
            </a:r>
            <a:r>
              <a:rPr lang="en-US" altLang="zh-CN" dirty="0"/>
              <a:t>node1</a:t>
            </a:r>
            <a:r>
              <a:rPr lang="zh-CN" altLang="en-US" dirty="0"/>
              <a:t>作为</a:t>
            </a:r>
            <a:r>
              <a:rPr lang="en-US" altLang="zh-CN" dirty="0"/>
              <a:t>Keystone</a:t>
            </a:r>
            <a:r>
              <a:rPr lang="zh-CN" altLang="en-US" dirty="0"/>
              <a:t>，节点机</a:t>
            </a:r>
            <a:r>
              <a:rPr lang="en-US" altLang="zh-CN" dirty="0"/>
              <a:t>node2</a:t>
            </a:r>
            <a:r>
              <a:rPr lang="zh-CN" altLang="en-US" dirty="0"/>
              <a:t>作为</a:t>
            </a:r>
            <a:r>
              <a:rPr lang="en-US" altLang="zh-CN" dirty="0"/>
              <a:t>Swift Proxy</a:t>
            </a:r>
            <a:r>
              <a:rPr lang="zh-CN" altLang="en-US" dirty="0"/>
              <a:t>，节点机</a:t>
            </a:r>
            <a:r>
              <a:rPr lang="en-US" altLang="zh-CN" dirty="0"/>
              <a:t>node3</a:t>
            </a:r>
            <a:r>
              <a:rPr lang="zh-CN" altLang="en-US" dirty="0"/>
              <a:t>和</a:t>
            </a:r>
            <a:r>
              <a:rPr lang="en-US" altLang="zh-CN" dirty="0"/>
              <a:t>node4</a:t>
            </a:r>
            <a:r>
              <a:rPr lang="zh-CN" altLang="en-US" dirty="0"/>
              <a:t>作为</a:t>
            </a:r>
            <a:r>
              <a:rPr lang="en-US" altLang="zh-CN" dirty="0"/>
              <a:t>Swift Object Storage</a:t>
            </a:r>
            <a:r>
              <a:rPr lang="zh-CN" altLang="en-US" dirty="0"/>
              <a:t>。</a:t>
            </a:r>
          </a:p>
        </p:txBody>
      </p:sp>
      <p:sp>
        <p:nvSpPr>
          <p:cNvPr id="9" name="矩形 8"/>
          <p:cNvSpPr/>
          <p:nvPr/>
        </p:nvSpPr>
        <p:spPr>
          <a:xfrm>
            <a:off x="-14514" y="5534829"/>
            <a:ext cx="121983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4514" y="5592492"/>
            <a:ext cx="12212863" cy="1267096"/>
          </a:xfrm>
          <a:prstGeom prst="rect">
            <a:avLst/>
          </a:prstGeom>
          <a:solidFill>
            <a:schemeClr val="bg2">
              <a:lumMod val="1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p:nvSpPr>
        <p:spPr>
          <a:xfrm>
            <a:off x="10213975"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a:off x="10594975"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nvSpPr>
        <p:spPr>
          <a:xfrm>
            <a:off x="11360603"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p:nvSpPr>
        <p:spPr>
          <a:xfrm>
            <a:off x="8308975"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p:nvSpPr>
        <p:spPr>
          <a:xfrm>
            <a:off x="9090025"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a:xfrm>
            <a:off x="131974" y="-1"/>
            <a:ext cx="11520000" cy="2053082"/>
            <a:chOff x="131974" y="-1"/>
            <a:chExt cx="11520000" cy="2053082"/>
          </a:xfrm>
        </p:grpSpPr>
        <p:grpSp>
          <p:nvGrpSpPr>
            <p:cNvPr id="21" name="组合 20"/>
            <p:cNvGrpSpPr/>
            <p:nvPr/>
          </p:nvGrpSpPr>
          <p:grpSpPr>
            <a:xfrm>
              <a:off x="131974" y="-1"/>
              <a:ext cx="11520000" cy="1016152"/>
              <a:chOff x="131974" y="-1"/>
              <a:chExt cx="11520000" cy="1016152"/>
            </a:xfrm>
          </p:grpSpPr>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安装部署</a:t>
                </a:r>
              </a:p>
            </p:txBody>
          </p:sp>
        </p:grpSp>
        <p:sp>
          <p:nvSpPr>
            <p:cNvPr id="22" name="文本框 21"/>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文本框 22"/>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的安装部署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35328423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0" y="0"/>
            <a:ext cx="1219835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extLst>
              <p:ext uri="{D42A27DB-BD31-4B8C-83A1-F6EECF244321}">
                <p14:modId xmlns:p14="http://schemas.microsoft.com/office/powerpoint/2010/main" val="2986648688"/>
              </p:ext>
            </p:extLst>
          </p:nvPr>
        </p:nvGraphicFramePr>
        <p:xfrm>
          <a:off x="2301874" y="2178458"/>
          <a:ext cx="7594600" cy="3505200"/>
        </p:xfrm>
        <a:graphic>
          <a:graphicData uri="http://schemas.openxmlformats.org/presentationml/2006/ole">
            <mc:AlternateContent xmlns:mc="http://schemas.openxmlformats.org/markup-compatibility/2006">
              <mc:Choice xmlns:v="urn:schemas-microsoft-com:vml" Requires="v">
                <p:oleObj spid="_x0000_s5167" name="Picture" r:id="rId3" imgW="3303270" imgH="1525704" progId="Word.Picture.8">
                  <p:embed/>
                </p:oleObj>
              </mc:Choice>
              <mc:Fallback>
                <p:oleObj name="Picture" r:id="rId3" imgW="3303270" imgH="1525704" progId="Word.Picture.8">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01874" y="2178458"/>
                        <a:ext cx="7594600" cy="3505200"/>
                      </a:xfrm>
                      <a:prstGeom prst="rect">
                        <a:avLst/>
                      </a:prstGeom>
                      <a:noFill/>
                    </p:spPr>
                  </p:pic>
                </p:oleObj>
              </mc:Fallback>
            </mc:AlternateContent>
          </a:graphicData>
        </a:graphic>
      </p:graphicFrame>
      <p:sp>
        <p:nvSpPr>
          <p:cNvPr id="11" name="矩形 10"/>
          <p:cNvSpPr/>
          <p:nvPr/>
        </p:nvSpPr>
        <p:spPr>
          <a:xfrm>
            <a:off x="5237400" y="6168529"/>
            <a:ext cx="1723549" cy="461665"/>
          </a:xfrm>
          <a:prstGeom prst="rect">
            <a:avLst/>
          </a:prstGeom>
        </p:spPr>
        <p:txBody>
          <a:bodyPr wrap="none">
            <a:spAutoFit/>
          </a:bodyPr>
          <a:lstStyle/>
          <a:p>
            <a:r>
              <a:rPr lang="zh-CN" altLang="zh-CN" b="1" dirty="0"/>
              <a:t>简单拓扑图</a:t>
            </a:r>
            <a:endParaRPr lang="zh-CN" altLang="en-US" b="1" dirty="0"/>
          </a:p>
        </p:txBody>
      </p:sp>
      <p:grpSp>
        <p:nvGrpSpPr>
          <p:cNvPr id="7" name="组合 6"/>
          <p:cNvGrpSpPr/>
          <p:nvPr/>
        </p:nvGrpSpPr>
        <p:grpSpPr>
          <a:xfrm>
            <a:off x="131974" y="-1"/>
            <a:ext cx="11520000" cy="2053082"/>
            <a:chOff x="131974" y="-1"/>
            <a:chExt cx="11520000" cy="2053082"/>
          </a:xfrm>
        </p:grpSpPr>
        <p:grpSp>
          <p:nvGrpSpPr>
            <p:cNvPr id="8" name="组合 7"/>
            <p:cNvGrpSpPr/>
            <p:nvPr/>
          </p:nvGrpSpPr>
          <p:grpSpPr>
            <a:xfrm>
              <a:off x="131974" y="-1"/>
              <a:ext cx="11520000" cy="1016152"/>
              <a:chOff x="131974" y="-1"/>
              <a:chExt cx="11520000" cy="1016152"/>
            </a:xfrm>
          </p:grpSpPr>
          <p:pic>
            <p:nvPicPr>
              <p:cNvPr id="13" name="图片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4" name="矩形 13"/>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5" name="标题 1"/>
              <p:cNvSpPr>
                <a:spLocks/>
              </p:cNvSpPr>
              <p:nvPr/>
            </p:nvSpPr>
            <p:spPr bwMode="auto">
              <a:xfrm>
                <a:off x="5865536" y="305594"/>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安装部署</a:t>
                </a:r>
              </a:p>
            </p:txBody>
          </p:sp>
        </p:grpSp>
        <p:sp>
          <p:nvSpPr>
            <p:cNvPr id="9" name="文本框 8"/>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2" name="文本框 11"/>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的安装部署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23748902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0" y="2279942"/>
            <a:ext cx="12198350" cy="265494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0" y="2175177"/>
            <a:ext cx="121983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3660775" y="1677194"/>
            <a:ext cx="3326725"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内容占位符 2"/>
          <p:cNvSpPr>
            <a:spLocks noGrp="1"/>
          </p:cNvSpPr>
          <p:nvPr>
            <p:ph idx="4294967295"/>
          </p:nvPr>
        </p:nvSpPr>
        <p:spPr>
          <a:xfrm>
            <a:off x="571953" y="2780692"/>
            <a:ext cx="10979150" cy="1905000"/>
          </a:xfrm>
          <a:prstGeom prst="rect">
            <a:avLst/>
          </a:prstGeom>
        </p:spPr>
        <p:txBody>
          <a:bodyPr>
            <a:normAutofit/>
          </a:bodyPr>
          <a:lstStyle/>
          <a:p>
            <a:pPr marL="0" indent="0">
              <a:buNone/>
            </a:pPr>
            <a:r>
              <a:rPr lang="zh-CN" altLang="en-US" dirty="0"/>
              <a:t>       本子任务完成</a:t>
            </a:r>
            <a:r>
              <a:rPr lang="en-US" altLang="zh-CN" dirty="0"/>
              <a:t>4</a:t>
            </a:r>
            <a:r>
              <a:rPr lang="zh-CN" altLang="en-US" dirty="0"/>
              <a:t>台节点机的</a:t>
            </a:r>
            <a:r>
              <a:rPr lang="zh-CN" altLang="en-US" dirty="0">
                <a:solidFill>
                  <a:srgbClr val="FF0000"/>
                </a:solidFill>
              </a:rPr>
              <a:t>系统环境设置</a:t>
            </a:r>
            <a:r>
              <a:rPr lang="zh-CN" altLang="en-US" dirty="0"/>
              <a:t>、</a:t>
            </a:r>
            <a:r>
              <a:rPr lang="zh-CN" altLang="en-US" dirty="0">
                <a:solidFill>
                  <a:srgbClr val="FF0000"/>
                </a:solidFill>
              </a:rPr>
              <a:t>安全设置</a:t>
            </a:r>
            <a:r>
              <a:rPr lang="zh-CN" altLang="en-US" dirty="0"/>
              <a:t>，</a:t>
            </a:r>
            <a:r>
              <a:rPr lang="zh-CN" altLang="en-US" dirty="0">
                <a:solidFill>
                  <a:srgbClr val="FF0000"/>
                </a:solidFill>
              </a:rPr>
              <a:t>配置</a:t>
            </a:r>
            <a:r>
              <a:rPr lang="en-US" altLang="zh-CN" dirty="0">
                <a:solidFill>
                  <a:srgbClr val="FF0000"/>
                </a:solidFill>
              </a:rPr>
              <a:t>hosts</a:t>
            </a:r>
            <a:r>
              <a:rPr lang="zh-CN" altLang="en-US" dirty="0"/>
              <a:t>，</a:t>
            </a:r>
            <a:r>
              <a:rPr lang="zh-CN" altLang="en-US" dirty="0">
                <a:solidFill>
                  <a:srgbClr val="FF0000"/>
                </a:solidFill>
              </a:rPr>
              <a:t>配置</a:t>
            </a:r>
            <a:r>
              <a:rPr lang="en-US" altLang="zh-CN" dirty="0">
                <a:solidFill>
                  <a:srgbClr val="FF0000"/>
                </a:solidFill>
              </a:rPr>
              <a:t>IP</a:t>
            </a:r>
            <a:r>
              <a:rPr lang="zh-CN" altLang="en-US" dirty="0">
                <a:solidFill>
                  <a:srgbClr val="FF0000"/>
                </a:solidFill>
              </a:rPr>
              <a:t>地址</a:t>
            </a:r>
            <a:r>
              <a:rPr lang="zh-CN" altLang="en-US" dirty="0"/>
              <a:t>，</a:t>
            </a:r>
            <a:r>
              <a:rPr lang="zh-CN" altLang="en-US" dirty="0">
                <a:solidFill>
                  <a:srgbClr val="FF0000"/>
                </a:solidFill>
              </a:rPr>
              <a:t>检查网络是否连通</a:t>
            </a:r>
            <a:r>
              <a:rPr lang="zh-CN" altLang="en-US" dirty="0"/>
              <a:t>，</a:t>
            </a:r>
            <a:r>
              <a:rPr lang="zh-CN" altLang="en-US" dirty="0">
                <a:solidFill>
                  <a:srgbClr val="FF0000"/>
                </a:solidFill>
              </a:rPr>
              <a:t>安装</a:t>
            </a:r>
            <a:r>
              <a:rPr lang="en-US" altLang="zh-CN" dirty="0" err="1">
                <a:solidFill>
                  <a:srgbClr val="FF0000"/>
                </a:solidFill>
              </a:rPr>
              <a:t>jdk</a:t>
            </a:r>
            <a:r>
              <a:rPr lang="zh-CN" altLang="en-US" dirty="0">
                <a:solidFill>
                  <a:srgbClr val="FF0000"/>
                </a:solidFill>
              </a:rPr>
              <a:t>软件包</a:t>
            </a:r>
            <a:r>
              <a:rPr lang="zh-CN" altLang="en-US" dirty="0"/>
              <a:t>。</a:t>
            </a:r>
          </a:p>
        </p:txBody>
      </p:sp>
      <p:sp>
        <p:nvSpPr>
          <p:cNvPr id="4" name="TextBox 3"/>
          <p:cNvSpPr txBox="1"/>
          <p:nvPr/>
        </p:nvSpPr>
        <p:spPr>
          <a:xfrm>
            <a:off x="3821163" y="1734284"/>
            <a:ext cx="3156633" cy="400110"/>
          </a:xfrm>
          <a:prstGeom prst="rect">
            <a:avLst/>
          </a:prstGeom>
          <a:noFill/>
        </p:spPr>
        <p:txBody>
          <a:bodyPr wrap="none" rtlCol="0">
            <a:spAutoFit/>
          </a:bodyPr>
          <a:lstStyle/>
          <a:p>
            <a:r>
              <a:rPr lang="zh-CN" altLang="en-US" sz="2000" dirty="0">
                <a:latin typeface="+mn-ea"/>
              </a:rPr>
              <a:t>任务内容</a:t>
            </a:r>
            <a:r>
              <a:rPr lang="en-US" altLang="zh-CN" sz="2000" dirty="0">
                <a:latin typeface="+mn-ea"/>
              </a:rPr>
              <a:t>1</a:t>
            </a:r>
            <a:r>
              <a:rPr lang="zh-CN" altLang="en-US" sz="2000" dirty="0">
                <a:latin typeface="+mn-ea"/>
              </a:rPr>
              <a:t>：</a:t>
            </a:r>
            <a:r>
              <a:rPr lang="zh-CN" altLang="en-US" sz="2000" dirty="0"/>
              <a:t>系统环境设置</a:t>
            </a:r>
            <a:endParaRPr lang="en-US" altLang="zh-CN" sz="2000" dirty="0">
              <a:latin typeface="+mn-ea"/>
            </a:endParaRPr>
          </a:p>
        </p:txBody>
      </p:sp>
      <p:sp>
        <p:nvSpPr>
          <p:cNvPr id="9" name="矩形 8"/>
          <p:cNvSpPr/>
          <p:nvPr/>
        </p:nvSpPr>
        <p:spPr>
          <a:xfrm>
            <a:off x="0" y="4934886"/>
            <a:ext cx="121983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4514" y="5592492"/>
            <a:ext cx="12212863" cy="1267096"/>
          </a:xfrm>
          <a:prstGeom prst="rect">
            <a:avLst/>
          </a:prstGeom>
          <a:solidFill>
            <a:schemeClr val="bg2">
              <a:lumMod val="1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a:off x="10213975"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a:off x="10594975"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p:nvSpPr>
        <p:spPr>
          <a:xfrm>
            <a:off x="11360603"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p:nvSpPr>
        <p:spPr>
          <a:xfrm>
            <a:off x="8308975"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a:off x="9090025"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139962" y="-1"/>
            <a:ext cx="11520000" cy="2053082"/>
            <a:chOff x="131974" y="-1"/>
            <a:chExt cx="11520000" cy="2053082"/>
          </a:xfrm>
        </p:grpSpPr>
        <p:grpSp>
          <p:nvGrpSpPr>
            <p:cNvPr id="18" name="组合 17"/>
            <p:cNvGrpSpPr/>
            <p:nvPr/>
          </p:nvGrpSpPr>
          <p:grpSpPr>
            <a:xfrm>
              <a:off x="131974" y="-1"/>
              <a:ext cx="11520000" cy="1016152"/>
              <a:chOff x="131974" y="-1"/>
              <a:chExt cx="11520000" cy="1016152"/>
            </a:xfrm>
          </p:grpSpPr>
          <p:pic>
            <p:nvPicPr>
              <p:cNvPr id="21" name="图片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2" name="矩形 21"/>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3"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安装部署</a:t>
                </a:r>
              </a:p>
            </p:txBody>
          </p:sp>
        </p:grpSp>
        <p:sp>
          <p:nvSpPr>
            <p:cNvPr id="19" name="文本框 18"/>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 name="文本框 19"/>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的安装部署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204216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612775" y="2900859"/>
            <a:ext cx="10820400" cy="3352800"/>
          </a:xfrm>
          <a:prstGeom prst="roundRect">
            <a:avLst>
              <a:gd name="adj" fmla="val 5822"/>
            </a:avLst>
          </a:prstGeom>
          <a:solidFill>
            <a:schemeClr val="bg1">
              <a:lumMod val="95000"/>
            </a:schemeClr>
          </a:solidFill>
          <a:ln w="38100">
            <a:solidFill>
              <a:srgbClr val="FF993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3775" y="2466324"/>
            <a:ext cx="107505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536575" y="2134394"/>
            <a:ext cx="2031325" cy="461665"/>
          </a:xfrm>
          <a:prstGeom prst="rect">
            <a:avLst/>
          </a:prstGeom>
          <a:solidFill>
            <a:srgbClr val="00B0F0"/>
          </a:solidFill>
        </p:spPr>
        <p:txBody>
          <a:bodyPr wrap="none" rtlCol="0">
            <a:spAutoFit/>
          </a:bodyPr>
          <a:lstStyle/>
          <a:p>
            <a:r>
              <a:rPr lang="en-US" altLang="zh-CN" dirty="0">
                <a:latin typeface="+mn-ea"/>
              </a:rPr>
              <a:t>【</a:t>
            </a:r>
            <a:r>
              <a:rPr lang="zh-CN" altLang="en-US" dirty="0">
                <a:latin typeface="+mn-ea"/>
              </a:rPr>
              <a:t>实施步骤</a:t>
            </a:r>
            <a:r>
              <a:rPr lang="en-US" altLang="zh-CN" dirty="0">
                <a:latin typeface="+mn-ea"/>
              </a:rPr>
              <a:t>】</a:t>
            </a:r>
          </a:p>
        </p:txBody>
      </p:sp>
      <p:sp>
        <p:nvSpPr>
          <p:cNvPr id="13" name="内容占位符 2"/>
          <p:cNvSpPr txBox="1">
            <a:spLocks/>
          </p:cNvSpPr>
          <p:nvPr/>
        </p:nvSpPr>
        <p:spPr>
          <a:xfrm>
            <a:off x="1144588" y="2951574"/>
            <a:ext cx="9829800" cy="2925349"/>
          </a:xfrm>
          <a:prstGeom prst="rect">
            <a:avLst/>
          </a:prstGeom>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en-US" altLang="zh-CN" sz="2400" dirty="0">
                <a:solidFill>
                  <a:schemeClr val="tx1">
                    <a:lumMod val="95000"/>
                    <a:lumOff val="5000"/>
                  </a:schemeClr>
                </a:solidFill>
              </a:rPr>
              <a:t>1</a:t>
            </a:r>
            <a:r>
              <a:rPr lang="zh-CN" altLang="en-US" sz="2400" dirty="0">
                <a:solidFill>
                  <a:schemeClr val="tx1">
                    <a:lumMod val="95000"/>
                    <a:lumOff val="5000"/>
                  </a:schemeClr>
                </a:solidFill>
              </a:rPr>
              <a:t>、关闭</a:t>
            </a:r>
            <a:r>
              <a:rPr lang="en-US" altLang="zh-CN" sz="2400" dirty="0" err="1">
                <a:solidFill>
                  <a:schemeClr val="tx1">
                    <a:lumMod val="95000"/>
                    <a:lumOff val="5000"/>
                  </a:schemeClr>
                </a:solidFill>
              </a:rPr>
              <a:t>NetworkManager</a:t>
            </a:r>
            <a:r>
              <a:rPr lang="zh-CN" altLang="en-US" sz="2400" dirty="0">
                <a:solidFill>
                  <a:schemeClr val="tx1">
                    <a:lumMod val="95000"/>
                    <a:lumOff val="5000"/>
                  </a:schemeClr>
                </a:solidFill>
              </a:rPr>
              <a:t>服务</a:t>
            </a:r>
          </a:p>
          <a:p>
            <a:pPr marL="0" indent="0">
              <a:buNone/>
            </a:pPr>
            <a:r>
              <a:rPr lang="en-US" altLang="zh-CN" sz="2400" dirty="0">
                <a:solidFill>
                  <a:schemeClr val="tx1">
                    <a:lumMod val="95000"/>
                    <a:lumOff val="5000"/>
                  </a:schemeClr>
                </a:solidFill>
              </a:rPr>
              <a:t>2</a:t>
            </a:r>
            <a:r>
              <a:rPr lang="zh-CN" altLang="en-US" sz="2400" dirty="0">
                <a:solidFill>
                  <a:schemeClr val="tx1">
                    <a:lumMod val="95000"/>
                    <a:lumOff val="5000"/>
                  </a:schemeClr>
                </a:solidFill>
              </a:rPr>
              <a:t>、配置每台节点机的</a:t>
            </a:r>
            <a:r>
              <a:rPr lang="en-US" altLang="zh-CN" sz="2400" dirty="0">
                <a:solidFill>
                  <a:schemeClr val="tx1">
                    <a:lumMod val="95000"/>
                    <a:lumOff val="5000"/>
                  </a:schemeClr>
                </a:solidFill>
              </a:rPr>
              <a:t>IP</a:t>
            </a:r>
            <a:r>
              <a:rPr lang="zh-CN" altLang="en-US" sz="2400" dirty="0">
                <a:solidFill>
                  <a:schemeClr val="tx1">
                    <a:lumMod val="95000"/>
                    <a:lumOff val="5000"/>
                  </a:schemeClr>
                </a:solidFill>
              </a:rPr>
              <a:t>地址，测试其连通性。</a:t>
            </a:r>
          </a:p>
          <a:p>
            <a:pPr marL="0" indent="0">
              <a:buNone/>
            </a:pPr>
            <a:r>
              <a:rPr lang="en-US" altLang="zh-CN" sz="2400" dirty="0">
                <a:solidFill>
                  <a:schemeClr val="tx1">
                    <a:lumMod val="95000"/>
                    <a:lumOff val="5000"/>
                  </a:schemeClr>
                </a:solidFill>
              </a:rPr>
              <a:t>3</a:t>
            </a:r>
            <a:r>
              <a:rPr lang="zh-CN" altLang="en-US" sz="2400" dirty="0">
                <a:solidFill>
                  <a:schemeClr val="tx1">
                    <a:lumMod val="95000"/>
                    <a:lumOff val="5000"/>
                  </a:schemeClr>
                </a:solidFill>
              </a:rPr>
              <a:t>、为了方便操作，每台节点机都关闭系统放火墙，关闭</a:t>
            </a:r>
            <a:r>
              <a:rPr lang="en-US" altLang="zh-CN" sz="2400" dirty="0" err="1">
                <a:solidFill>
                  <a:schemeClr val="tx1">
                    <a:lumMod val="95000"/>
                    <a:lumOff val="5000"/>
                  </a:schemeClr>
                </a:solidFill>
              </a:rPr>
              <a:t>selinux</a:t>
            </a:r>
            <a:endParaRPr lang="en-US" altLang="zh-CN" sz="2400" dirty="0">
              <a:solidFill>
                <a:schemeClr val="tx1">
                  <a:lumMod val="95000"/>
                  <a:lumOff val="5000"/>
                </a:schemeClr>
              </a:solidFill>
            </a:endParaRPr>
          </a:p>
          <a:p>
            <a:pPr marL="0" indent="0">
              <a:buNone/>
            </a:pPr>
            <a:r>
              <a:rPr lang="en-US" altLang="zh-CN" sz="2400" dirty="0">
                <a:solidFill>
                  <a:schemeClr val="tx1">
                    <a:lumMod val="95000"/>
                    <a:lumOff val="5000"/>
                  </a:schemeClr>
                </a:solidFill>
              </a:rPr>
              <a:t>4</a:t>
            </a:r>
            <a:r>
              <a:rPr lang="zh-CN" altLang="en-US" sz="2400" dirty="0">
                <a:solidFill>
                  <a:schemeClr val="tx1">
                    <a:lumMod val="95000"/>
                    <a:lumOff val="5000"/>
                  </a:schemeClr>
                </a:solidFill>
              </a:rPr>
              <a:t>、配置每台节点机的</a:t>
            </a:r>
            <a:r>
              <a:rPr lang="en-US" altLang="zh-CN" sz="2400" dirty="0">
                <a:solidFill>
                  <a:schemeClr val="tx1">
                    <a:lumMod val="95000"/>
                    <a:lumOff val="5000"/>
                  </a:schemeClr>
                </a:solidFill>
              </a:rPr>
              <a:t>hosts</a:t>
            </a:r>
            <a:r>
              <a:rPr lang="zh-CN" altLang="en-US" sz="2400" dirty="0">
                <a:solidFill>
                  <a:schemeClr val="tx1">
                    <a:lumMod val="95000"/>
                    <a:lumOff val="5000"/>
                  </a:schemeClr>
                </a:solidFill>
              </a:rPr>
              <a:t>文件</a:t>
            </a:r>
          </a:p>
          <a:p>
            <a:pPr marL="0" indent="0">
              <a:buNone/>
            </a:pPr>
            <a:r>
              <a:rPr lang="en-US" altLang="zh-CN" sz="2400" dirty="0">
                <a:solidFill>
                  <a:schemeClr val="tx1">
                    <a:lumMod val="95000"/>
                    <a:lumOff val="5000"/>
                  </a:schemeClr>
                </a:solidFill>
              </a:rPr>
              <a:t>5</a:t>
            </a:r>
            <a:r>
              <a:rPr lang="zh-CN" altLang="en-US" sz="2400" dirty="0">
                <a:solidFill>
                  <a:schemeClr val="tx1">
                    <a:lumMod val="95000"/>
                    <a:lumOff val="5000"/>
                  </a:schemeClr>
                </a:solidFill>
              </a:rPr>
              <a:t>、每台节点机都需要安装</a:t>
            </a:r>
            <a:r>
              <a:rPr lang="en-US" altLang="zh-CN" sz="2400" dirty="0">
                <a:solidFill>
                  <a:schemeClr val="tx1">
                    <a:lumMod val="95000"/>
                    <a:lumOff val="5000"/>
                  </a:schemeClr>
                </a:solidFill>
              </a:rPr>
              <a:t>Java</a:t>
            </a:r>
            <a:r>
              <a:rPr lang="zh-CN" altLang="en-US" sz="2400" dirty="0">
                <a:solidFill>
                  <a:schemeClr val="tx1">
                    <a:lumMod val="95000"/>
                    <a:lumOff val="5000"/>
                  </a:schemeClr>
                </a:solidFill>
              </a:rPr>
              <a:t>的</a:t>
            </a:r>
            <a:r>
              <a:rPr lang="en-US" altLang="zh-CN" sz="2400" dirty="0" err="1">
                <a:solidFill>
                  <a:schemeClr val="tx1">
                    <a:lumMod val="95000"/>
                    <a:lumOff val="5000"/>
                  </a:schemeClr>
                </a:solidFill>
              </a:rPr>
              <a:t>jdk</a:t>
            </a:r>
            <a:r>
              <a:rPr lang="zh-CN" altLang="en-US" sz="2400" dirty="0">
                <a:solidFill>
                  <a:schemeClr val="tx1">
                    <a:lumMod val="95000"/>
                    <a:lumOff val="5000"/>
                  </a:schemeClr>
                </a:solidFill>
              </a:rPr>
              <a:t>软件包</a:t>
            </a:r>
          </a:p>
        </p:txBody>
      </p:sp>
      <p:grpSp>
        <p:nvGrpSpPr>
          <p:cNvPr id="14" name="组合 13"/>
          <p:cNvGrpSpPr/>
          <p:nvPr/>
        </p:nvGrpSpPr>
        <p:grpSpPr>
          <a:xfrm>
            <a:off x="10314213" y="5262011"/>
            <a:ext cx="1877787" cy="1129564"/>
            <a:chOff x="9675584" y="5175723"/>
            <a:chExt cx="1877787" cy="1129564"/>
          </a:xfrm>
        </p:grpSpPr>
        <p:sp>
          <p:nvSpPr>
            <p:cNvPr id="15" name="矩形 14"/>
            <p:cNvSpPr/>
            <p:nvPr/>
          </p:nvSpPr>
          <p:spPr>
            <a:xfrm>
              <a:off x="11286669" y="5640179"/>
              <a:ext cx="266702" cy="66188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0642146" y="5828865"/>
              <a:ext cx="266702" cy="4764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10241641" y="5175723"/>
              <a:ext cx="266702" cy="112956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9675584" y="5974341"/>
              <a:ext cx="266702" cy="33094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9" name="矩形 18"/>
          <p:cNvSpPr/>
          <p:nvPr/>
        </p:nvSpPr>
        <p:spPr>
          <a:xfrm>
            <a:off x="0" y="6391575"/>
            <a:ext cx="12192000" cy="466425"/>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solidFill>
            </a:endParaRPr>
          </a:p>
        </p:txBody>
      </p:sp>
      <p:sp>
        <p:nvSpPr>
          <p:cNvPr id="20" name="矩形 19"/>
          <p:cNvSpPr/>
          <p:nvPr/>
        </p:nvSpPr>
        <p:spPr>
          <a:xfrm>
            <a:off x="3660775" y="1677194"/>
            <a:ext cx="3326725"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TextBox 3"/>
          <p:cNvSpPr txBox="1"/>
          <p:nvPr/>
        </p:nvSpPr>
        <p:spPr>
          <a:xfrm>
            <a:off x="3821163" y="1734284"/>
            <a:ext cx="3156633" cy="400110"/>
          </a:xfrm>
          <a:prstGeom prst="rect">
            <a:avLst/>
          </a:prstGeom>
          <a:noFill/>
        </p:spPr>
        <p:txBody>
          <a:bodyPr wrap="none" rtlCol="0">
            <a:spAutoFit/>
          </a:bodyPr>
          <a:lstStyle/>
          <a:p>
            <a:r>
              <a:rPr lang="zh-CN" altLang="en-US" sz="2000" dirty="0">
                <a:latin typeface="+mn-ea"/>
              </a:rPr>
              <a:t>任务</a:t>
            </a:r>
            <a:r>
              <a:rPr lang="en-US" altLang="zh-CN" sz="2000" dirty="0">
                <a:latin typeface="+mn-ea"/>
              </a:rPr>
              <a:t>1</a:t>
            </a:r>
            <a:r>
              <a:rPr lang="zh-CN" altLang="en-US" sz="2000" dirty="0">
                <a:latin typeface="+mn-ea"/>
              </a:rPr>
              <a:t>步骤：</a:t>
            </a:r>
            <a:r>
              <a:rPr lang="zh-CN" altLang="en-US" sz="2000" dirty="0"/>
              <a:t>系统环境设置</a:t>
            </a:r>
            <a:endParaRPr lang="en-US" altLang="zh-CN" sz="2000" dirty="0">
              <a:latin typeface="+mn-ea"/>
            </a:endParaRPr>
          </a:p>
        </p:txBody>
      </p:sp>
      <p:grpSp>
        <p:nvGrpSpPr>
          <p:cNvPr id="22" name="组合 21"/>
          <p:cNvGrpSpPr/>
          <p:nvPr/>
        </p:nvGrpSpPr>
        <p:grpSpPr>
          <a:xfrm>
            <a:off x="139962" y="-1"/>
            <a:ext cx="11520000" cy="2053082"/>
            <a:chOff x="131974" y="-1"/>
            <a:chExt cx="11520000" cy="2053082"/>
          </a:xfrm>
        </p:grpSpPr>
        <p:grpSp>
          <p:nvGrpSpPr>
            <p:cNvPr id="23" name="组合 22"/>
            <p:cNvGrpSpPr/>
            <p:nvPr/>
          </p:nvGrpSpPr>
          <p:grpSpPr>
            <a:xfrm>
              <a:off x="131974" y="-1"/>
              <a:ext cx="11520000" cy="1016152"/>
              <a:chOff x="131974" y="-1"/>
              <a:chExt cx="11520000" cy="1016152"/>
            </a:xfrm>
          </p:grpSpPr>
          <p:pic>
            <p:nvPicPr>
              <p:cNvPr id="26" name="图片 2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7" name="矩形 26"/>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8"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安装部署</a:t>
                </a:r>
              </a:p>
            </p:txBody>
          </p:sp>
        </p:grpSp>
        <p:sp>
          <p:nvSpPr>
            <p:cNvPr id="24" name="文本框 23"/>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5" name="文本框 24"/>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的安装部署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5247652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0" y="2391559"/>
            <a:ext cx="12198350" cy="265494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0" y="2286794"/>
            <a:ext cx="121983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内容占位符 2"/>
          <p:cNvSpPr>
            <a:spLocks noGrp="1"/>
          </p:cNvSpPr>
          <p:nvPr>
            <p:ph idx="4294967295"/>
          </p:nvPr>
        </p:nvSpPr>
        <p:spPr>
          <a:xfrm>
            <a:off x="0" y="3065463"/>
            <a:ext cx="10979150" cy="1905000"/>
          </a:xfrm>
          <a:prstGeom prst="rect">
            <a:avLst/>
          </a:prstGeom>
        </p:spPr>
        <p:txBody>
          <a:bodyPr>
            <a:normAutofit/>
          </a:bodyPr>
          <a:lstStyle/>
          <a:p>
            <a:pPr marL="0" indent="0">
              <a:buNone/>
            </a:pPr>
            <a:r>
              <a:rPr lang="zh-CN" altLang="en-US" dirty="0"/>
              <a:t>       本子任务在</a:t>
            </a:r>
            <a:r>
              <a:rPr lang="en-US" altLang="zh-CN" dirty="0">
                <a:solidFill>
                  <a:srgbClr val="FF0000"/>
                </a:solidFill>
              </a:rPr>
              <a:t>node1</a:t>
            </a:r>
            <a:r>
              <a:rPr lang="zh-CN" altLang="en-US" dirty="0">
                <a:solidFill>
                  <a:srgbClr val="FF0000"/>
                </a:solidFill>
              </a:rPr>
              <a:t>节点</a:t>
            </a:r>
            <a:r>
              <a:rPr lang="zh-CN" altLang="en-US" dirty="0"/>
              <a:t>机上</a:t>
            </a:r>
            <a:r>
              <a:rPr lang="zh-CN" altLang="en-US" dirty="0">
                <a:solidFill>
                  <a:srgbClr val="FF0000"/>
                </a:solidFill>
              </a:rPr>
              <a:t>安装</a:t>
            </a:r>
            <a:r>
              <a:rPr lang="en-US" altLang="zh-CN" dirty="0">
                <a:solidFill>
                  <a:srgbClr val="FF0000"/>
                </a:solidFill>
              </a:rPr>
              <a:t>VSFTP</a:t>
            </a:r>
            <a:r>
              <a:rPr lang="zh-CN" altLang="en-US" dirty="0">
                <a:solidFill>
                  <a:srgbClr val="FF0000"/>
                </a:solidFill>
              </a:rPr>
              <a:t>服务器和</a:t>
            </a:r>
            <a:r>
              <a:rPr lang="en-US" altLang="zh-CN" dirty="0">
                <a:solidFill>
                  <a:srgbClr val="FF0000"/>
                </a:solidFill>
              </a:rPr>
              <a:t>FTP</a:t>
            </a:r>
            <a:r>
              <a:rPr lang="zh-CN" altLang="en-US" dirty="0">
                <a:solidFill>
                  <a:srgbClr val="FF0000"/>
                </a:solidFill>
              </a:rPr>
              <a:t>工具</a:t>
            </a:r>
            <a:r>
              <a:rPr lang="zh-CN" altLang="en-US" dirty="0"/>
              <a:t>，下载</a:t>
            </a:r>
            <a:r>
              <a:rPr lang="en-US" altLang="zh-CN" dirty="0"/>
              <a:t>openstack-icehouse</a:t>
            </a:r>
            <a:r>
              <a:rPr lang="zh-CN" altLang="en-US" dirty="0"/>
              <a:t>软件包，搭建</a:t>
            </a:r>
            <a:r>
              <a:rPr lang="en-US" altLang="zh-CN" dirty="0"/>
              <a:t>yum</a:t>
            </a:r>
            <a:r>
              <a:rPr lang="zh-CN" altLang="en-US" dirty="0"/>
              <a:t>源，创建</a:t>
            </a:r>
            <a:r>
              <a:rPr lang="en-US" altLang="zh-CN" dirty="0"/>
              <a:t>repo</a:t>
            </a:r>
            <a:r>
              <a:rPr lang="zh-CN" altLang="en-US" dirty="0"/>
              <a:t>文件。</a:t>
            </a:r>
          </a:p>
        </p:txBody>
      </p:sp>
      <p:sp>
        <p:nvSpPr>
          <p:cNvPr id="9" name="矩形 8"/>
          <p:cNvSpPr/>
          <p:nvPr/>
        </p:nvSpPr>
        <p:spPr>
          <a:xfrm>
            <a:off x="0" y="5046503"/>
            <a:ext cx="121983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4514" y="5592492"/>
            <a:ext cx="12212863" cy="1267096"/>
          </a:xfrm>
          <a:prstGeom prst="rect">
            <a:avLst/>
          </a:prstGeom>
          <a:solidFill>
            <a:schemeClr val="bg2">
              <a:lumMod val="1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a:off x="10213975"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a:off x="10594975"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p:nvSpPr>
        <p:spPr>
          <a:xfrm>
            <a:off x="11360603"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p:nvSpPr>
        <p:spPr>
          <a:xfrm>
            <a:off x="8308975"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a:off x="9090025"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3660775" y="1677194"/>
            <a:ext cx="3326725"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3"/>
          <p:cNvSpPr txBox="1"/>
          <p:nvPr/>
        </p:nvSpPr>
        <p:spPr>
          <a:xfrm>
            <a:off x="3821163" y="1734284"/>
            <a:ext cx="2484976" cy="400110"/>
          </a:xfrm>
          <a:prstGeom prst="rect">
            <a:avLst/>
          </a:prstGeom>
          <a:noFill/>
        </p:spPr>
        <p:txBody>
          <a:bodyPr wrap="none" rtlCol="0">
            <a:spAutoFit/>
          </a:bodyPr>
          <a:lstStyle/>
          <a:p>
            <a:r>
              <a:rPr lang="zh-CN" altLang="en-US" sz="2000" dirty="0">
                <a:latin typeface="+mn-ea"/>
              </a:rPr>
              <a:t>任务</a:t>
            </a:r>
            <a:r>
              <a:rPr lang="en-US" altLang="zh-CN" sz="2000" dirty="0">
                <a:latin typeface="+mn-ea"/>
              </a:rPr>
              <a:t>2</a:t>
            </a:r>
            <a:r>
              <a:rPr lang="zh-CN" altLang="en-US" sz="2000" dirty="0">
                <a:latin typeface="+mn-ea"/>
              </a:rPr>
              <a:t>：配置</a:t>
            </a:r>
            <a:r>
              <a:rPr lang="en-US" altLang="zh-CN" sz="2000" dirty="0">
                <a:latin typeface="+mn-ea"/>
              </a:rPr>
              <a:t>yum </a:t>
            </a:r>
            <a:r>
              <a:rPr lang="zh-CN" altLang="en-US" sz="2000" dirty="0">
                <a:latin typeface="+mn-ea"/>
              </a:rPr>
              <a:t>源</a:t>
            </a:r>
            <a:endParaRPr lang="en-US" altLang="zh-CN" sz="2000" dirty="0">
              <a:latin typeface="+mn-ea"/>
            </a:endParaRPr>
          </a:p>
        </p:txBody>
      </p:sp>
      <p:grpSp>
        <p:nvGrpSpPr>
          <p:cNvPr id="19" name="组合 18"/>
          <p:cNvGrpSpPr/>
          <p:nvPr/>
        </p:nvGrpSpPr>
        <p:grpSpPr>
          <a:xfrm>
            <a:off x="139962" y="-1"/>
            <a:ext cx="11520000" cy="2053082"/>
            <a:chOff x="131974" y="-1"/>
            <a:chExt cx="11520000" cy="2053082"/>
          </a:xfrm>
        </p:grpSpPr>
        <p:grpSp>
          <p:nvGrpSpPr>
            <p:cNvPr id="20" name="组合 19"/>
            <p:cNvGrpSpPr/>
            <p:nvPr/>
          </p:nvGrpSpPr>
          <p:grpSpPr>
            <a:xfrm>
              <a:off x="131974" y="-1"/>
              <a:ext cx="11520000" cy="1016152"/>
              <a:chOff x="131974" y="-1"/>
              <a:chExt cx="11520000" cy="1016152"/>
            </a:xfrm>
          </p:grpSpPr>
          <p:pic>
            <p:nvPicPr>
              <p:cNvPr id="23" name="图片 2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4" name="矩形 23"/>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5"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安装部署</a:t>
                </a:r>
              </a:p>
            </p:txBody>
          </p:sp>
        </p:grpSp>
        <p:sp>
          <p:nvSpPr>
            <p:cNvPr id="21" name="文本框 20"/>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2" name="文本框 21"/>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的安装部署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12699502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612775" y="2692764"/>
            <a:ext cx="10820400" cy="3785030"/>
          </a:xfrm>
          <a:prstGeom prst="roundRect">
            <a:avLst>
              <a:gd name="adj" fmla="val 5822"/>
            </a:avLst>
          </a:prstGeom>
          <a:solidFill>
            <a:schemeClr val="bg1">
              <a:lumMod val="95000"/>
            </a:schemeClr>
          </a:solidFill>
          <a:ln w="38100">
            <a:solidFill>
              <a:srgbClr val="FF993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3775" y="2422643"/>
            <a:ext cx="107505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536575" y="2090713"/>
            <a:ext cx="2031325" cy="461665"/>
          </a:xfrm>
          <a:prstGeom prst="rect">
            <a:avLst/>
          </a:prstGeom>
          <a:solidFill>
            <a:srgbClr val="00B0F0"/>
          </a:solidFill>
        </p:spPr>
        <p:txBody>
          <a:bodyPr wrap="none" rtlCol="0">
            <a:spAutoFit/>
          </a:bodyPr>
          <a:lstStyle/>
          <a:p>
            <a:r>
              <a:rPr lang="en-US" altLang="zh-CN" dirty="0">
                <a:latin typeface="+mn-ea"/>
              </a:rPr>
              <a:t>【</a:t>
            </a:r>
            <a:r>
              <a:rPr lang="zh-CN" altLang="en-US" dirty="0">
                <a:latin typeface="+mn-ea"/>
              </a:rPr>
              <a:t>实施步骤</a:t>
            </a:r>
            <a:r>
              <a:rPr lang="en-US" altLang="zh-CN" dirty="0">
                <a:latin typeface="+mn-ea"/>
              </a:rPr>
              <a:t>】</a:t>
            </a:r>
          </a:p>
        </p:txBody>
      </p:sp>
      <p:sp>
        <p:nvSpPr>
          <p:cNvPr id="13" name="内容占位符 2"/>
          <p:cNvSpPr txBox="1">
            <a:spLocks/>
          </p:cNvSpPr>
          <p:nvPr/>
        </p:nvSpPr>
        <p:spPr>
          <a:xfrm>
            <a:off x="1108075" y="2667794"/>
            <a:ext cx="9829800" cy="3276600"/>
          </a:xfrm>
          <a:prstGeom prst="rect">
            <a:avLst/>
          </a:prstGeom>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en-US" altLang="zh-CN" sz="2400" dirty="0">
                <a:solidFill>
                  <a:schemeClr val="tx1">
                    <a:lumMod val="95000"/>
                    <a:lumOff val="5000"/>
                  </a:schemeClr>
                </a:solidFill>
              </a:rPr>
              <a:t>1</a:t>
            </a:r>
            <a:r>
              <a:rPr lang="zh-CN" altLang="en-US" sz="2400" dirty="0">
                <a:solidFill>
                  <a:schemeClr val="tx1">
                    <a:lumMod val="95000"/>
                    <a:lumOff val="5000"/>
                  </a:schemeClr>
                </a:solidFill>
              </a:rPr>
              <a:t>、下载软件包或者直接使用已下载好的软件包</a:t>
            </a:r>
            <a:endParaRPr lang="en-US" altLang="zh-CN" sz="2400" dirty="0">
              <a:solidFill>
                <a:schemeClr val="tx1">
                  <a:lumMod val="95000"/>
                  <a:lumOff val="5000"/>
                </a:schemeClr>
              </a:solidFill>
            </a:endParaRPr>
          </a:p>
          <a:p>
            <a:pPr marL="0" indent="0">
              <a:buNone/>
            </a:pPr>
            <a:r>
              <a:rPr lang="en-US" altLang="zh-CN" sz="2400" dirty="0">
                <a:solidFill>
                  <a:schemeClr val="tx1">
                    <a:lumMod val="95000"/>
                    <a:lumOff val="5000"/>
                  </a:schemeClr>
                </a:solidFill>
              </a:rPr>
              <a:t>2</a:t>
            </a:r>
            <a:r>
              <a:rPr lang="zh-CN" altLang="en-US" sz="2400" dirty="0">
                <a:solidFill>
                  <a:schemeClr val="tx1">
                    <a:lumMod val="95000"/>
                    <a:lumOff val="5000"/>
                  </a:schemeClr>
                </a:solidFill>
              </a:rPr>
              <a:t>、下载好的软件包直接拷贝到</a:t>
            </a:r>
            <a:r>
              <a:rPr lang="en-US" altLang="zh-CN" sz="2400" dirty="0">
                <a:solidFill>
                  <a:schemeClr val="tx1">
                    <a:lumMod val="95000"/>
                    <a:lumOff val="5000"/>
                  </a:schemeClr>
                </a:solidFill>
              </a:rPr>
              <a:t>/opt</a:t>
            </a:r>
            <a:r>
              <a:rPr lang="zh-CN" altLang="en-US" sz="2400" dirty="0">
                <a:solidFill>
                  <a:schemeClr val="tx1">
                    <a:lumMod val="95000"/>
                    <a:lumOff val="5000"/>
                  </a:schemeClr>
                </a:solidFill>
              </a:rPr>
              <a:t>目录下，创建</a:t>
            </a:r>
            <a:r>
              <a:rPr lang="en-US" altLang="zh-CN" sz="2400" dirty="0" err="1">
                <a:solidFill>
                  <a:schemeClr val="tx1">
                    <a:lumMod val="95000"/>
                    <a:lumOff val="5000"/>
                  </a:schemeClr>
                </a:solidFill>
              </a:rPr>
              <a:t>repodata</a:t>
            </a:r>
            <a:r>
              <a:rPr lang="zh-CN" altLang="en-US" sz="2400" dirty="0">
                <a:solidFill>
                  <a:schemeClr val="tx1">
                    <a:lumMod val="95000"/>
                    <a:lumOff val="5000"/>
                  </a:schemeClr>
                </a:solidFill>
              </a:rPr>
              <a:t>信息</a:t>
            </a:r>
          </a:p>
          <a:p>
            <a:pPr marL="0" indent="0">
              <a:buNone/>
            </a:pPr>
            <a:r>
              <a:rPr lang="en-US" altLang="zh-CN" sz="2400" dirty="0">
                <a:solidFill>
                  <a:schemeClr val="tx1">
                    <a:lumMod val="95000"/>
                    <a:lumOff val="5000"/>
                  </a:schemeClr>
                </a:solidFill>
              </a:rPr>
              <a:t>3</a:t>
            </a:r>
            <a:r>
              <a:rPr lang="zh-CN" altLang="en-US" sz="2400" dirty="0">
                <a:solidFill>
                  <a:schemeClr val="tx1">
                    <a:lumMod val="95000"/>
                    <a:lumOff val="5000"/>
                  </a:schemeClr>
                </a:solidFill>
              </a:rPr>
              <a:t>、登录</a:t>
            </a:r>
            <a:r>
              <a:rPr lang="en-US" altLang="zh-CN" sz="2400" dirty="0">
                <a:solidFill>
                  <a:schemeClr val="tx1">
                    <a:lumMod val="95000"/>
                    <a:lumOff val="5000"/>
                  </a:schemeClr>
                </a:solidFill>
              </a:rPr>
              <a:t>node1</a:t>
            </a:r>
            <a:r>
              <a:rPr lang="zh-CN" altLang="en-US" sz="2400" dirty="0">
                <a:solidFill>
                  <a:schemeClr val="tx1">
                    <a:lumMod val="95000"/>
                    <a:lumOff val="5000"/>
                  </a:schemeClr>
                </a:solidFill>
              </a:rPr>
              <a:t>节点机，安装</a:t>
            </a:r>
            <a:r>
              <a:rPr lang="en-US" altLang="zh-CN" sz="2400" dirty="0">
                <a:solidFill>
                  <a:schemeClr val="tx1">
                    <a:lumMod val="95000"/>
                    <a:lumOff val="5000"/>
                  </a:schemeClr>
                </a:solidFill>
              </a:rPr>
              <a:t>ftp</a:t>
            </a:r>
            <a:r>
              <a:rPr lang="zh-CN" altLang="en-US" sz="2400" dirty="0">
                <a:solidFill>
                  <a:schemeClr val="tx1">
                    <a:lumMod val="95000"/>
                    <a:lumOff val="5000"/>
                  </a:schemeClr>
                </a:solidFill>
              </a:rPr>
              <a:t>服务</a:t>
            </a:r>
          </a:p>
          <a:p>
            <a:pPr marL="0" indent="0">
              <a:buNone/>
            </a:pPr>
            <a:r>
              <a:rPr lang="en-US" altLang="zh-CN" sz="2400" dirty="0">
                <a:solidFill>
                  <a:schemeClr val="tx1">
                    <a:lumMod val="95000"/>
                    <a:lumOff val="5000"/>
                  </a:schemeClr>
                </a:solidFill>
              </a:rPr>
              <a:t>1</a:t>
            </a:r>
            <a:r>
              <a:rPr lang="zh-CN" altLang="en-US" sz="2400" dirty="0">
                <a:solidFill>
                  <a:schemeClr val="tx1">
                    <a:lumMod val="95000"/>
                    <a:lumOff val="5000"/>
                  </a:schemeClr>
                </a:solidFill>
              </a:rPr>
              <a:t>）安装</a:t>
            </a:r>
            <a:r>
              <a:rPr lang="en-US" altLang="zh-CN" sz="2400" dirty="0" err="1">
                <a:solidFill>
                  <a:schemeClr val="tx1">
                    <a:lumMod val="95000"/>
                    <a:lumOff val="5000"/>
                  </a:schemeClr>
                </a:solidFill>
              </a:rPr>
              <a:t>vsftp</a:t>
            </a:r>
            <a:r>
              <a:rPr lang="zh-CN" altLang="en-US" sz="2400" dirty="0">
                <a:solidFill>
                  <a:schemeClr val="tx1">
                    <a:lumMod val="95000"/>
                    <a:lumOff val="5000"/>
                  </a:schemeClr>
                </a:solidFill>
              </a:rPr>
              <a:t>服务和</a:t>
            </a:r>
            <a:r>
              <a:rPr lang="en-US" altLang="zh-CN" sz="2400" dirty="0">
                <a:solidFill>
                  <a:schemeClr val="tx1">
                    <a:lumMod val="95000"/>
                    <a:lumOff val="5000"/>
                  </a:schemeClr>
                </a:solidFill>
              </a:rPr>
              <a:t>ftp</a:t>
            </a:r>
            <a:r>
              <a:rPr lang="zh-CN" altLang="en-US" sz="2400" dirty="0">
                <a:solidFill>
                  <a:schemeClr val="tx1">
                    <a:lumMod val="95000"/>
                    <a:lumOff val="5000"/>
                  </a:schemeClr>
                </a:solidFill>
              </a:rPr>
              <a:t>工具</a:t>
            </a:r>
          </a:p>
          <a:p>
            <a:pPr marL="0" indent="0">
              <a:buNone/>
            </a:pPr>
            <a:r>
              <a:rPr lang="en-US" altLang="zh-CN" sz="2400" dirty="0">
                <a:solidFill>
                  <a:schemeClr val="tx1">
                    <a:lumMod val="95000"/>
                    <a:lumOff val="5000"/>
                  </a:schemeClr>
                </a:solidFill>
              </a:rPr>
              <a:t>2</a:t>
            </a:r>
            <a:r>
              <a:rPr lang="zh-CN" altLang="en-US" sz="2400" dirty="0">
                <a:solidFill>
                  <a:schemeClr val="tx1">
                    <a:lumMod val="95000"/>
                    <a:lumOff val="5000"/>
                  </a:schemeClr>
                </a:solidFill>
              </a:rPr>
              <a:t>）修改配置</a:t>
            </a:r>
            <a:r>
              <a:rPr lang="en-US" altLang="zh-CN" sz="2400" dirty="0" err="1">
                <a:solidFill>
                  <a:schemeClr val="tx1">
                    <a:lumMod val="95000"/>
                    <a:lumOff val="5000"/>
                  </a:schemeClr>
                </a:solidFill>
              </a:rPr>
              <a:t>vsftpd.conf</a:t>
            </a:r>
            <a:endParaRPr lang="en-US" altLang="zh-CN" sz="2400" dirty="0">
              <a:solidFill>
                <a:schemeClr val="tx1">
                  <a:lumMod val="95000"/>
                  <a:lumOff val="5000"/>
                </a:schemeClr>
              </a:solidFill>
            </a:endParaRPr>
          </a:p>
          <a:p>
            <a:pPr marL="0" indent="0">
              <a:buNone/>
            </a:pPr>
            <a:r>
              <a:rPr lang="en-US" altLang="zh-CN" sz="2400" dirty="0">
                <a:solidFill>
                  <a:schemeClr val="tx1">
                    <a:lumMod val="95000"/>
                    <a:lumOff val="5000"/>
                  </a:schemeClr>
                </a:solidFill>
              </a:rPr>
              <a:t>3</a:t>
            </a:r>
            <a:r>
              <a:rPr lang="zh-CN" altLang="en-US" sz="2400" dirty="0">
                <a:solidFill>
                  <a:schemeClr val="tx1">
                    <a:lumMod val="95000"/>
                    <a:lumOff val="5000"/>
                  </a:schemeClr>
                </a:solidFill>
              </a:rPr>
              <a:t>）启动</a:t>
            </a:r>
            <a:r>
              <a:rPr lang="en-US" altLang="zh-CN" sz="2400" dirty="0" err="1">
                <a:solidFill>
                  <a:schemeClr val="tx1">
                    <a:lumMod val="95000"/>
                    <a:lumOff val="5000"/>
                  </a:schemeClr>
                </a:solidFill>
              </a:rPr>
              <a:t>vsftpd</a:t>
            </a:r>
            <a:r>
              <a:rPr lang="zh-CN" altLang="en-US" sz="2400" dirty="0">
                <a:solidFill>
                  <a:schemeClr val="tx1">
                    <a:lumMod val="95000"/>
                    <a:lumOff val="5000"/>
                  </a:schemeClr>
                </a:solidFill>
              </a:rPr>
              <a:t>服务</a:t>
            </a:r>
          </a:p>
          <a:p>
            <a:pPr marL="0" indent="0">
              <a:buNone/>
            </a:pPr>
            <a:r>
              <a:rPr lang="en-US" altLang="zh-CN" sz="2400" dirty="0">
                <a:solidFill>
                  <a:schemeClr val="tx1">
                    <a:lumMod val="95000"/>
                    <a:lumOff val="5000"/>
                  </a:schemeClr>
                </a:solidFill>
              </a:rPr>
              <a:t>4</a:t>
            </a:r>
            <a:r>
              <a:rPr lang="zh-CN" altLang="en-US" sz="2400" dirty="0">
                <a:solidFill>
                  <a:schemeClr val="tx1">
                    <a:lumMod val="95000"/>
                    <a:lumOff val="5000"/>
                  </a:schemeClr>
                </a:solidFill>
              </a:rPr>
              <a:t>）测试</a:t>
            </a:r>
            <a:r>
              <a:rPr lang="en-US" altLang="zh-CN" sz="2400" dirty="0">
                <a:solidFill>
                  <a:schemeClr val="tx1">
                    <a:lumMod val="95000"/>
                    <a:lumOff val="5000"/>
                  </a:schemeClr>
                </a:solidFill>
              </a:rPr>
              <a:t>ftp</a:t>
            </a:r>
            <a:r>
              <a:rPr lang="zh-CN" altLang="en-US" sz="2400" dirty="0">
                <a:solidFill>
                  <a:schemeClr val="tx1">
                    <a:lumMod val="95000"/>
                    <a:lumOff val="5000"/>
                  </a:schemeClr>
                </a:solidFill>
              </a:rPr>
              <a:t>服务</a:t>
            </a:r>
          </a:p>
          <a:p>
            <a:pPr marL="0" indent="0">
              <a:buNone/>
            </a:pPr>
            <a:endParaRPr lang="zh-CN" altLang="en-US" sz="2400" dirty="0">
              <a:solidFill>
                <a:schemeClr val="tx1">
                  <a:lumMod val="95000"/>
                  <a:lumOff val="5000"/>
                </a:schemeClr>
              </a:solidFill>
            </a:endParaRPr>
          </a:p>
        </p:txBody>
      </p:sp>
      <p:grpSp>
        <p:nvGrpSpPr>
          <p:cNvPr id="8" name="组合 7"/>
          <p:cNvGrpSpPr/>
          <p:nvPr/>
        </p:nvGrpSpPr>
        <p:grpSpPr>
          <a:xfrm>
            <a:off x="10314213" y="5500630"/>
            <a:ext cx="1877787" cy="1129564"/>
            <a:chOff x="9675584" y="5175723"/>
            <a:chExt cx="1877787" cy="1129564"/>
          </a:xfrm>
        </p:grpSpPr>
        <p:sp>
          <p:nvSpPr>
            <p:cNvPr id="12" name="矩形 11"/>
            <p:cNvSpPr/>
            <p:nvPr/>
          </p:nvSpPr>
          <p:spPr>
            <a:xfrm>
              <a:off x="11286669" y="5640179"/>
              <a:ext cx="266702" cy="66188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0642146" y="5828865"/>
              <a:ext cx="266702" cy="4764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0241641" y="5175723"/>
              <a:ext cx="266702" cy="112956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9675584" y="5974341"/>
              <a:ext cx="266702" cy="33094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p:nvSpPr>
        <p:spPr>
          <a:xfrm>
            <a:off x="0" y="6594028"/>
            <a:ext cx="12192000" cy="263971"/>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solidFill>
            </a:endParaRPr>
          </a:p>
        </p:txBody>
      </p:sp>
      <p:sp>
        <p:nvSpPr>
          <p:cNvPr id="3" name="矩形 2"/>
          <p:cNvSpPr/>
          <p:nvPr/>
        </p:nvSpPr>
        <p:spPr>
          <a:xfrm>
            <a:off x="5301316" y="4469685"/>
            <a:ext cx="6099175" cy="1680460"/>
          </a:xfrm>
          <a:prstGeom prst="rect">
            <a:avLst/>
          </a:prstGeom>
        </p:spPr>
        <p:txBody>
          <a:bodyPr vert="horz" lIns="121917" tIns="60958" rIns="121917" bIns="60958" rtlCol="0">
            <a:noAutofit/>
          </a:bodyPr>
          <a:lstStyle/>
          <a:p>
            <a:pPr>
              <a:lnSpc>
                <a:spcPct val="130000"/>
              </a:lnSpc>
              <a:spcBef>
                <a:spcPct val="20000"/>
              </a:spcBef>
              <a:buSzPct val="80000"/>
              <a:buFont typeface="Wingdings" pitchFamily="2" charset="2"/>
              <a:buNone/>
            </a:pPr>
            <a:r>
              <a:rPr lang="en-US" altLang="zh-CN" dirty="0">
                <a:solidFill>
                  <a:schemeClr val="tx1">
                    <a:lumMod val="95000"/>
                    <a:lumOff val="5000"/>
                  </a:schemeClr>
                </a:solidFill>
              </a:rPr>
              <a:t>4</a:t>
            </a:r>
            <a:r>
              <a:rPr lang="zh-CN" altLang="en-US" dirty="0">
                <a:solidFill>
                  <a:schemeClr val="tx1">
                    <a:lumMod val="95000"/>
                    <a:lumOff val="5000"/>
                  </a:schemeClr>
                </a:solidFill>
              </a:rPr>
              <a:t>、挂载</a:t>
            </a:r>
            <a:r>
              <a:rPr lang="en-US" altLang="zh-CN" dirty="0" err="1">
                <a:solidFill>
                  <a:schemeClr val="tx1">
                    <a:lumMod val="95000"/>
                    <a:lumOff val="5000"/>
                  </a:schemeClr>
                </a:solidFill>
              </a:rPr>
              <a:t>CentOS</a:t>
            </a:r>
            <a:r>
              <a:rPr lang="zh-CN" altLang="en-US" dirty="0">
                <a:solidFill>
                  <a:schemeClr val="tx1">
                    <a:lumMod val="95000"/>
                    <a:lumOff val="5000"/>
                  </a:schemeClr>
                </a:solidFill>
              </a:rPr>
              <a:t>镜像文件</a:t>
            </a:r>
          </a:p>
          <a:p>
            <a:pPr>
              <a:lnSpc>
                <a:spcPct val="130000"/>
              </a:lnSpc>
              <a:spcBef>
                <a:spcPct val="20000"/>
              </a:spcBef>
              <a:buSzPct val="80000"/>
              <a:buFont typeface="Wingdings" pitchFamily="2" charset="2"/>
              <a:buNone/>
            </a:pPr>
            <a:r>
              <a:rPr lang="en-US" altLang="zh-CN" dirty="0">
                <a:solidFill>
                  <a:schemeClr val="tx1">
                    <a:lumMod val="95000"/>
                    <a:lumOff val="5000"/>
                  </a:schemeClr>
                </a:solidFill>
              </a:rPr>
              <a:t>5、</a:t>
            </a:r>
            <a:r>
              <a:rPr lang="zh-CN" altLang="en-US" dirty="0">
                <a:solidFill>
                  <a:schemeClr val="tx1">
                    <a:lumMod val="95000"/>
                    <a:lumOff val="5000"/>
                  </a:schemeClr>
                </a:solidFill>
              </a:rPr>
              <a:t>其他</a:t>
            </a:r>
            <a:r>
              <a:rPr lang="en-US" altLang="zh-CN" dirty="0">
                <a:solidFill>
                  <a:schemeClr val="tx1">
                    <a:lumMod val="95000"/>
                    <a:lumOff val="5000"/>
                  </a:schemeClr>
                </a:solidFill>
              </a:rPr>
              <a:t>3</a:t>
            </a:r>
            <a:r>
              <a:rPr lang="zh-CN" altLang="en-US" dirty="0">
                <a:solidFill>
                  <a:schemeClr val="tx1">
                    <a:lumMod val="95000"/>
                    <a:lumOff val="5000"/>
                  </a:schemeClr>
                </a:solidFill>
              </a:rPr>
              <a:t>台节点机按此方法创建</a:t>
            </a:r>
            <a:r>
              <a:rPr lang="en-US" altLang="zh-CN" dirty="0">
                <a:solidFill>
                  <a:schemeClr val="tx1">
                    <a:lumMod val="95000"/>
                    <a:lumOff val="5000"/>
                  </a:schemeClr>
                </a:solidFill>
              </a:rPr>
              <a:t>repo</a:t>
            </a:r>
            <a:r>
              <a:rPr lang="zh-CN" altLang="en-US" dirty="0">
                <a:solidFill>
                  <a:schemeClr val="tx1">
                    <a:lumMod val="95000"/>
                    <a:lumOff val="5000"/>
                  </a:schemeClr>
                </a:solidFill>
              </a:rPr>
              <a:t>文件</a:t>
            </a:r>
          </a:p>
          <a:p>
            <a:pPr>
              <a:lnSpc>
                <a:spcPct val="130000"/>
              </a:lnSpc>
              <a:spcBef>
                <a:spcPct val="20000"/>
              </a:spcBef>
              <a:buSzPct val="80000"/>
              <a:buFont typeface="Wingdings" pitchFamily="2" charset="2"/>
              <a:buNone/>
            </a:pPr>
            <a:r>
              <a:rPr lang="en-US" altLang="zh-CN" dirty="0">
                <a:solidFill>
                  <a:schemeClr val="tx1">
                    <a:lumMod val="95000"/>
                    <a:lumOff val="5000"/>
                  </a:schemeClr>
                </a:solidFill>
              </a:rPr>
              <a:t>6</a:t>
            </a:r>
            <a:r>
              <a:rPr lang="zh-CN" altLang="en-US" dirty="0">
                <a:solidFill>
                  <a:schemeClr val="tx1">
                    <a:lumMod val="95000"/>
                    <a:lumOff val="5000"/>
                  </a:schemeClr>
                </a:solidFill>
              </a:rPr>
              <a:t>、</a:t>
            </a:r>
            <a:r>
              <a:rPr lang="en-US" altLang="zh-CN" dirty="0">
                <a:solidFill>
                  <a:schemeClr val="tx1">
                    <a:lumMod val="95000"/>
                    <a:lumOff val="5000"/>
                  </a:schemeClr>
                </a:solidFill>
              </a:rPr>
              <a:t>yum</a:t>
            </a:r>
            <a:r>
              <a:rPr lang="zh-CN" altLang="en-US" dirty="0">
                <a:solidFill>
                  <a:schemeClr val="tx1">
                    <a:lumMod val="95000"/>
                    <a:lumOff val="5000"/>
                  </a:schemeClr>
                </a:solidFill>
              </a:rPr>
              <a:t>的测试</a:t>
            </a:r>
            <a:endParaRPr lang="en-US" altLang="zh-CN" dirty="0">
              <a:solidFill>
                <a:schemeClr val="tx1">
                  <a:lumMod val="95000"/>
                  <a:lumOff val="5000"/>
                </a:schemeClr>
              </a:solidFill>
            </a:endParaRPr>
          </a:p>
        </p:txBody>
      </p:sp>
      <p:sp>
        <p:nvSpPr>
          <p:cNvPr id="18" name="矩形 17"/>
          <p:cNvSpPr/>
          <p:nvPr/>
        </p:nvSpPr>
        <p:spPr>
          <a:xfrm>
            <a:off x="3660775" y="1677194"/>
            <a:ext cx="3326725"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3"/>
          <p:cNvSpPr txBox="1"/>
          <p:nvPr/>
        </p:nvSpPr>
        <p:spPr>
          <a:xfrm>
            <a:off x="3821163" y="1734284"/>
            <a:ext cx="2997937" cy="400110"/>
          </a:xfrm>
          <a:prstGeom prst="rect">
            <a:avLst/>
          </a:prstGeom>
          <a:noFill/>
        </p:spPr>
        <p:txBody>
          <a:bodyPr wrap="none" rtlCol="0">
            <a:spAutoFit/>
          </a:bodyPr>
          <a:lstStyle/>
          <a:p>
            <a:r>
              <a:rPr lang="zh-CN" altLang="en-US" sz="2000" dirty="0">
                <a:latin typeface="+mn-ea"/>
              </a:rPr>
              <a:t>任务</a:t>
            </a:r>
            <a:r>
              <a:rPr lang="en-US" altLang="zh-CN" sz="2000" dirty="0">
                <a:latin typeface="+mn-ea"/>
              </a:rPr>
              <a:t>2</a:t>
            </a:r>
            <a:r>
              <a:rPr lang="zh-CN" altLang="en-US" sz="2000" dirty="0">
                <a:latin typeface="+mn-ea"/>
              </a:rPr>
              <a:t>步骤：配置</a:t>
            </a:r>
            <a:r>
              <a:rPr lang="en-US" altLang="zh-CN" sz="2000" dirty="0">
                <a:latin typeface="+mn-ea"/>
              </a:rPr>
              <a:t>yum </a:t>
            </a:r>
            <a:r>
              <a:rPr lang="zh-CN" altLang="en-US" sz="2000" dirty="0">
                <a:latin typeface="+mn-ea"/>
              </a:rPr>
              <a:t>源</a:t>
            </a:r>
            <a:endParaRPr lang="en-US" altLang="zh-CN" sz="2000" dirty="0">
              <a:latin typeface="+mn-ea"/>
            </a:endParaRPr>
          </a:p>
        </p:txBody>
      </p:sp>
      <p:grpSp>
        <p:nvGrpSpPr>
          <p:cNvPr id="20" name="组合 19"/>
          <p:cNvGrpSpPr/>
          <p:nvPr/>
        </p:nvGrpSpPr>
        <p:grpSpPr>
          <a:xfrm>
            <a:off x="139962" y="-1"/>
            <a:ext cx="11520000" cy="2053082"/>
            <a:chOff x="131974" y="-1"/>
            <a:chExt cx="11520000" cy="2053082"/>
          </a:xfrm>
        </p:grpSpPr>
        <p:grpSp>
          <p:nvGrpSpPr>
            <p:cNvPr id="21" name="组合 20"/>
            <p:cNvGrpSpPr/>
            <p:nvPr/>
          </p:nvGrpSpPr>
          <p:grpSpPr>
            <a:xfrm>
              <a:off x="131974" y="-1"/>
              <a:ext cx="11520000" cy="1016152"/>
              <a:chOff x="131974" y="-1"/>
              <a:chExt cx="11520000" cy="1016152"/>
            </a:xfrm>
          </p:grpSpPr>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安装部署</a:t>
                </a:r>
              </a:p>
            </p:txBody>
          </p:sp>
        </p:grpSp>
        <p:sp>
          <p:nvSpPr>
            <p:cNvPr id="22" name="文本框 21"/>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文本框 22"/>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的安装部署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26127653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1" y="2563958"/>
            <a:ext cx="12193061" cy="231363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4294967295"/>
          </p:nvPr>
        </p:nvSpPr>
        <p:spPr>
          <a:xfrm>
            <a:off x="0" y="2744788"/>
            <a:ext cx="10979150" cy="1676400"/>
          </a:xfrm>
          <a:prstGeom prst="rect">
            <a:avLst/>
          </a:prstGeom>
        </p:spPr>
        <p:txBody>
          <a:bodyPr>
            <a:noAutofit/>
          </a:bodyPr>
          <a:lstStyle/>
          <a:p>
            <a:pPr marL="0" indent="0">
              <a:buNone/>
            </a:pPr>
            <a:r>
              <a:rPr lang="zh-CN" altLang="en-US" dirty="0"/>
              <a:t>       </a:t>
            </a:r>
            <a:r>
              <a:rPr lang="en-US" altLang="zh-CN" dirty="0"/>
              <a:t>Keystone</a:t>
            </a:r>
            <a:r>
              <a:rPr lang="zh-CN" altLang="en-US" dirty="0"/>
              <a:t>（</a:t>
            </a:r>
            <a:r>
              <a:rPr lang="en-US" altLang="zh-CN" dirty="0"/>
              <a:t>OpenStack Identity Service</a:t>
            </a:r>
            <a:r>
              <a:rPr lang="zh-CN" altLang="en-US" dirty="0"/>
              <a:t>）是</a:t>
            </a:r>
            <a:r>
              <a:rPr lang="en-US" altLang="zh-CN" dirty="0"/>
              <a:t>OpenStack</a:t>
            </a:r>
            <a:r>
              <a:rPr lang="zh-CN" altLang="en-US" dirty="0"/>
              <a:t>框架中负责管理身份验证、服务规则和服务令牌功能的模块。用户访问资源需要验证用户的身份与权限，服务执行操作也需要进行权限检测，这些都需要通过</a:t>
            </a:r>
            <a:r>
              <a:rPr lang="en-US" altLang="zh-CN" dirty="0"/>
              <a:t>Keystone</a:t>
            </a:r>
            <a:r>
              <a:rPr lang="zh-CN" altLang="en-US" dirty="0"/>
              <a:t>来处理。</a:t>
            </a:r>
          </a:p>
        </p:txBody>
      </p:sp>
      <p:sp>
        <p:nvSpPr>
          <p:cNvPr id="14" name="矩形 13"/>
          <p:cNvSpPr/>
          <p:nvPr/>
        </p:nvSpPr>
        <p:spPr>
          <a:xfrm>
            <a:off x="0" y="2362994"/>
            <a:ext cx="12198350" cy="214313"/>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0" y="4877594"/>
            <a:ext cx="12198350" cy="19819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内容占位符 3"/>
          <p:cNvSpPr txBox="1">
            <a:spLocks/>
          </p:cNvSpPr>
          <p:nvPr/>
        </p:nvSpPr>
        <p:spPr>
          <a:xfrm>
            <a:off x="2844347" y="6020594"/>
            <a:ext cx="1291770" cy="838199"/>
          </a:xfrm>
          <a:prstGeom prst="rect">
            <a:avLst/>
          </a:prstGeom>
          <a:solidFill>
            <a:schemeClr val="bg1">
              <a:lumMod val="75000"/>
            </a:schemeClr>
          </a:solidFill>
        </p:spPr>
        <p:txBody>
          <a:bodyPr>
            <a:normAutofit/>
          </a:bodyPr>
          <a:lstStyle>
            <a:lvl1pPr marL="360000" indent="-360000" algn="l" defTabSz="914400" rtl="0" eaLnBrk="1" latinLnBrk="0" hangingPunct="1">
              <a:lnSpc>
                <a:spcPct val="130000"/>
              </a:lnSpc>
              <a:spcBef>
                <a:spcPts val="1000"/>
              </a:spcBef>
              <a:buFont typeface="Wingdings" pitchFamily="2" charset="2"/>
              <a:buChar char="l"/>
              <a:defRPr sz="2000" kern="1200">
                <a:solidFill>
                  <a:schemeClr val="tx1">
                    <a:lumMod val="85000"/>
                    <a:lumOff val="15000"/>
                  </a:schemeClr>
                </a:solidFill>
                <a:latin typeface="微软雅黑" pitchFamily="34" charset="-122"/>
                <a:ea typeface="微软雅黑"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800" kern="1200" dirty="0" smtClean="0">
                <a:solidFill>
                  <a:schemeClr val="tx1">
                    <a:lumMod val="85000"/>
                    <a:lumOff val="15000"/>
                  </a:schemeClr>
                </a:solidFill>
                <a:latin typeface="微软雅黑" pitchFamily="34" charset="-122"/>
                <a:ea typeface="微软雅黑"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dirty="0">
              <a:solidFill>
                <a:schemeClr val="bg1"/>
              </a:solidFill>
            </a:endParaRPr>
          </a:p>
        </p:txBody>
      </p:sp>
      <p:sp>
        <p:nvSpPr>
          <p:cNvPr id="18" name="内容占位符 3"/>
          <p:cNvSpPr txBox="1">
            <a:spLocks/>
          </p:cNvSpPr>
          <p:nvPr/>
        </p:nvSpPr>
        <p:spPr>
          <a:xfrm>
            <a:off x="1639661" y="5715795"/>
            <a:ext cx="943427" cy="1142998"/>
          </a:xfrm>
          <a:prstGeom prst="rect">
            <a:avLst/>
          </a:prstGeom>
          <a:solidFill>
            <a:srgbClr val="92D050"/>
          </a:solidFill>
        </p:spPr>
        <p:txBody>
          <a:bodyPr>
            <a:normAutofit/>
          </a:bodyPr>
          <a:lstStyle>
            <a:lvl1pPr marL="360000" indent="-360000" algn="l" defTabSz="914400" rtl="0" eaLnBrk="1" latinLnBrk="0" hangingPunct="1">
              <a:lnSpc>
                <a:spcPct val="130000"/>
              </a:lnSpc>
              <a:spcBef>
                <a:spcPts val="1000"/>
              </a:spcBef>
              <a:buFont typeface="Wingdings" pitchFamily="2" charset="2"/>
              <a:buChar char="l"/>
              <a:defRPr sz="2000" kern="1200">
                <a:solidFill>
                  <a:schemeClr val="tx1">
                    <a:lumMod val="85000"/>
                    <a:lumOff val="15000"/>
                  </a:schemeClr>
                </a:solidFill>
                <a:latin typeface="微软雅黑" pitchFamily="34" charset="-122"/>
                <a:ea typeface="微软雅黑"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800" kern="1200" dirty="0" smtClean="0">
                <a:solidFill>
                  <a:schemeClr val="tx1">
                    <a:lumMod val="85000"/>
                    <a:lumOff val="15000"/>
                  </a:schemeClr>
                </a:solidFill>
                <a:latin typeface="微软雅黑" pitchFamily="34" charset="-122"/>
                <a:ea typeface="微软雅黑"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dirty="0">
              <a:solidFill>
                <a:schemeClr val="bg1"/>
              </a:solidFill>
            </a:endParaRPr>
          </a:p>
        </p:txBody>
      </p:sp>
      <p:sp>
        <p:nvSpPr>
          <p:cNvPr id="19" name="内容占位符 3"/>
          <p:cNvSpPr txBox="1">
            <a:spLocks/>
          </p:cNvSpPr>
          <p:nvPr/>
        </p:nvSpPr>
        <p:spPr>
          <a:xfrm>
            <a:off x="841375" y="6227423"/>
            <a:ext cx="522513" cy="631371"/>
          </a:xfrm>
          <a:prstGeom prst="rect">
            <a:avLst/>
          </a:prstGeom>
          <a:solidFill>
            <a:srgbClr val="FFC000"/>
          </a:solidFill>
        </p:spPr>
        <p:txBody>
          <a:bodyPr>
            <a:normAutofit/>
          </a:bodyPr>
          <a:lstStyle>
            <a:lvl1pPr marL="360000" indent="-360000" algn="l" defTabSz="914400" rtl="0" eaLnBrk="1" latinLnBrk="0" hangingPunct="1">
              <a:lnSpc>
                <a:spcPct val="130000"/>
              </a:lnSpc>
              <a:spcBef>
                <a:spcPts val="1000"/>
              </a:spcBef>
              <a:buFont typeface="Wingdings" pitchFamily="2" charset="2"/>
              <a:buChar char="l"/>
              <a:defRPr sz="2000" kern="1200">
                <a:solidFill>
                  <a:schemeClr val="tx1">
                    <a:lumMod val="85000"/>
                    <a:lumOff val="15000"/>
                  </a:schemeClr>
                </a:solidFill>
                <a:latin typeface="微软雅黑" pitchFamily="34" charset="-122"/>
                <a:ea typeface="微软雅黑"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800" kern="1200" dirty="0" smtClean="0">
                <a:solidFill>
                  <a:schemeClr val="tx1">
                    <a:lumMod val="85000"/>
                    <a:lumOff val="15000"/>
                  </a:schemeClr>
                </a:solidFill>
                <a:latin typeface="微软雅黑" pitchFamily="34" charset="-122"/>
                <a:ea typeface="微软雅黑"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dirty="0">
              <a:solidFill>
                <a:schemeClr val="bg1"/>
              </a:solidFill>
            </a:endParaRPr>
          </a:p>
        </p:txBody>
      </p:sp>
      <p:sp>
        <p:nvSpPr>
          <p:cNvPr id="10" name="内容占位符 3"/>
          <p:cNvSpPr txBox="1">
            <a:spLocks/>
          </p:cNvSpPr>
          <p:nvPr/>
        </p:nvSpPr>
        <p:spPr>
          <a:xfrm>
            <a:off x="4241800" y="5868591"/>
            <a:ext cx="522513" cy="990203"/>
          </a:xfrm>
          <a:prstGeom prst="rect">
            <a:avLst/>
          </a:prstGeom>
          <a:solidFill>
            <a:srgbClr val="1A8ABC"/>
          </a:solidFill>
        </p:spPr>
        <p:txBody>
          <a:bodyPr>
            <a:normAutofit/>
          </a:bodyPr>
          <a:lstStyle>
            <a:lvl1pPr marL="360000" indent="-360000" algn="l" defTabSz="914400" rtl="0" eaLnBrk="1" latinLnBrk="0" hangingPunct="1">
              <a:lnSpc>
                <a:spcPct val="130000"/>
              </a:lnSpc>
              <a:spcBef>
                <a:spcPts val="1000"/>
              </a:spcBef>
              <a:buFont typeface="Wingdings" pitchFamily="2" charset="2"/>
              <a:buChar char="l"/>
              <a:defRPr sz="2000" kern="1200">
                <a:solidFill>
                  <a:schemeClr val="tx1">
                    <a:lumMod val="85000"/>
                    <a:lumOff val="15000"/>
                  </a:schemeClr>
                </a:solidFill>
                <a:latin typeface="微软雅黑" pitchFamily="34" charset="-122"/>
                <a:ea typeface="微软雅黑"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800" kern="1200" dirty="0" smtClean="0">
                <a:solidFill>
                  <a:schemeClr val="tx1">
                    <a:lumMod val="85000"/>
                    <a:lumOff val="15000"/>
                  </a:schemeClr>
                </a:solidFill>
                <a:latin typeface="微软雅黑" pitchFamily="34" charset="-122"/>
                <a:ea typeface="微软雅黑"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dirty="0">
              <a:solidFill>
                <a:schemeClr val="bg1"/>
              </a:solidFill>
            </a:endParaRPr>
          </a:p>
        </p:txBody>
      </p:sp>
      <p:sp>
        <p:nvSpPr>
          <p:cNvPr id="11" name="内容占位符 3"/>
          <p:cNvSpPr txBox="1">
            <a:spLocks/>
          </p:cNvSpPr>
          <p:nvPr/>
        </p:nvSpPr>
        <p:spPr>
          <a:xfrm>
            <a:off x="4870451" y="6439693"/>
            <a:ext cx="261256" cy="419101"/>
          </a:xfrm>
          <a:prstGeom prst="rect">
            <a:avLst/>
          </a:prstGeom>
          <a:solidFill>
            <a:srgbClr val="C00000"/>
          </a:solidFill>
        </p:spPr>
        <p:txBody>
          <a:bodyPr>
            <a:normAutofit fontScale="92500" lnSpcReduction="10000"/>
          </a:bodyPr>
          <a:lstStyle>
            <a:lvl1pPr marL="360000" indent="-360000" algn="l" defTabSz="914400" rtl="0" eaLnBrk="1" latinLnBrk="0" hangingPunct="1">
              <a:lnSpc>
                <a:spcPct val="130000"/>
              </a:lnSpc>
              <a:spcBef>
                <a:spcPts val="1000"/>
              </a:spcBef>
              <a:buFont typeface="Wingdings" pitchFamily="2" charset="2"/>
              <a:buChar char="l"/>
              <a:defRPr sz="2000" kern="1200">
                <a:solidFill>
                  <a:schemeClr val="tx1">
                    <a:lumMod val="85000"/>
                    <a:lumOff val="15000"/>
                  </a:schemeClr>
                </a:solidFill>
                <a:latin typeface="微软雅黑" pitchFamily="34" charset="-122"/>
                <a:ea typeface="微软雅黑"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800" kern="1200" dirty="0" smtClean="0">
                <a:solidFill>
                  <a:schemeClr val="tx1">
                    <a:lumMod val="85000"/>
                    <a:lumOff val="15000"/>
                  </a:schemeClr>
                </a:solidFill>
                <a:latin typeface="微软雅黑" pitchFamily="34" charset="-122"/>
                <a:ea typeface="微软雅黑"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dirty="0">
              <a:solidFill>
                <a:schemeClr val="bg1"/>
              </a:solidFill>
            </a:endParaRPr>
          </a:p>
        </p:txBody>
      </p:sp>
      <p:sp>
        <p:nvSpPr>
          <p:cNvPr id="12" name="矩形 11"/>
          <p:cNvSpPr/>
          <p:nvPr/>
        </p:nvSpPr>
        <p:spPr>
          <a:xfrm>
            <a:off x="3660775" y="1677194"/>
            <a:ext cx="4413860"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3"/>
          <p:cNvSpPr txBox="1"/>
          <p:nvPr/>
        </p:nvSpPr>
        <p:spPr>
          <a:xfrm>
            <a:off x="3821163" y="1734284"/>
            <a:ext cx="3740511" cy="400110"/>
          </a:xfrm>
          <a:prstGeom prst="rect">
            <a:avLst/>
          </a:prstGeom>
          <a:noFill/>
        </p:spPr>
        <p:txBody>
          <a:bodyPr wrap="none" rtlCol="0">
            <a:spAutoFit/>
          </a:bodyPr>
          <a:lstStyle/>
          <a:p>
            <a:r>
              <a:rPr lang="zh-CN" altLang="en-US" sz="2000" dirty="0">
                <a:latin typeface="+mn-ea"/>
              </a:rPr>
              <a:t>任务</a:t>
            </a:r>
            <a:r>
              <a:rPr lang="en-US" altLang="zh-CN" sz="2000" dirty="0">
                <a:latin typeface="+mn-ea"/>
              </a:rPr>
              <a:t>3</a:t>
            </a:r>
            <a:r>
              <a:rPr lang="zh-CN" altLang="en-US" sz="2000" dirty="0">
                <a:latin typeface="+mn-ea"/>
              </a:rPr>
              <a:t>：安装配置</a:t>
            </a:r>
            <a:r>
              <a:rPr lang="en-US" altLang="zh-CN" sz="2000" dirty="0">
                <a:latin typeface="+mn-ea"/>
              </a:rPr>
              <a:t>keystone</a:t>
            </a:r>
            <a:r>
              <a:rPr lang="zh-CN" altLang="en-US" sz="2000" dirty="0">
                <a:latin typeface="+mn-ea"/>
              </a:rPr>
              <a:t>服务</a:t>
            </a:r>
            <a:endParaRPr lang="en-US" altLang="zh-CN" sz="2000" dirty="0">
              <a:latin typeface="+mn-ea"/>
            </a:endParaRPr>
          </a:p>
        </p:txBody>
      </p:sp>
      <p:grpSp>
        <p:nvGrpSpPr>
          <p:cNvPr id="20" name="组合 19"/>
          <p:cNvGrpSpPr/>
          <p:nvPr/>
        </p:nvGrpSpPr>
        <p:grpSpPr>
          <a:xfrm>
            <a:off x="139962" y="-1"/>
            <a:ext cx="11520000" cy="2053082"/>
            <a:chOff x="131974" y="-1"/>
            <a:chExt cx="11520000" cy="2053082"/>
          </a:xfrm>
        </p:grpSpPr>
        <p:grpSp>
          <p:nvGrpSpPr>
            <p:cNvPr id="21" name="组合 20"/>
            <p:cNvGrpSpPr/>
            <p:nvPr/>
          </p:nvGrpSpPr>
          <p:grpSpPr>
            <a:xfrm>
              <a:off x="131974" y="-1"/>
              <a:ext cx="11520000" cy="1016152"/>
              <a:chOff x="131974" y="-1"/>
              <a:chExt cx="11520000" cy="1016152"/>
            </a:xfrm>
          </p:grpSpPr>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安装部署</a:t>
                </a:r>
              </a:p>
            </p:txBody>
          </p:sp>
        </p:grpSp>
        <p:sp>
          <p:nvSpPr>
            <p:cNvPr id="22" name="文本框 21"/>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文本框 22"/>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的安装部署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37742046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0" y="2495443"/>
            <a:ext cx="12198350" cy="43641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4294967295"/>
          </p:nvPr>
        </p:nvSpPr>
        <p:spPr>
          <a:xfrm>
            <a:off x="410387" y="3093155"/>
            <a:ext cx="5489575" cy="3078162"/>
          </a:xfrm>
          <a:prstGeom prst="rect">
            <a:avLst/>
          </a:prstGeom>
        </p:spPr>
        <p:txBody>
          <a:bodyPr>
            <a:noAutofit/>
          </a:bodyPr>
          <a:lstStyle/>
          <a:p>
            <a:pPr marL="0" indent="0" algn="just">
              <a:buNone/>
            </a:pPr>
            <a:r>
              <a:rPr lang="zh-CN" altLang="en-US" sz="2000" dirty="0">
                <a:solidFill>
                  <a:srgbClr val="FF0000"/>
                </a:solidFill>
              </a:rPr>
              <a:t>（</a:t>
            </a:r>
            <a:r>
              <a:rPr lang="en-US" altLang="zh-CN" sz="2000" dirty="0">
                <a:solidFill>
                  <a:srgbClr val="FF0000"/>
                </a:solidFill>
              </a:rPr>
              <a:t>1</a:t>
            </a:r>
            <a:r>
              <a:rPr lang="zh-CN" altLang="en-US" sz="2000" dirty="0">
                <a:solidFill>
                  <a:srgbClr val="FF0000"/>
                </a:solidFill>
              </a:rPr>
              <a:t>）</a:t>
            </a:r>
            <a:r>
              <a:rPr lang="en-US" altLang="zh-CN" sz="2000" dirty="0">
                <a:solidFill>
                  <a:srgbClr val="FF0000"/>
                </a:solidFill>
              </a:rPr>
              <a:t>User</a:t>
            </a:r>
            <a:r>
              <a:rPr lang="zh-CN" altLang="en-US" sz="2000" dirty="0">
                <a:solidFill>
                  <a:srgbClr val="FF0000"/>
                </a:solidFill>
              </a:rPr>
              <a:t>：</a:t>
            </a:r>
            <a:r>
              <a:rPr lang="zh-CN" altLang="en-US" sz="2000" dirty="0"/>
              <a:t>顾名思义就是使用服务的用户，可以是人、服务或者是系统，只要是使用了</a:t>
            </a:r>
            <a:r>
              <a:rPr lang="en-US" altLang="zh-CN" sz="2000" dirty="0"/>
              <a:t>Openstack</a:t>
            </a:r>
            <a:r>
              <a:rPr lang="zh-CN" altLang="en-US" sz="2000" dirty="0"/>
              <a:t>服务的对象都可以称为用户。</a:t>
            </a:r>
          </a:p>
          <a:p>
            <a:pPr marL="0" indent="0" algn="just">
              <a:buNone/>
            </a:pPr>
            <a:r>
              <a:rPr lang="zh-CN" altLang="en-US" sz="2000" dirty="0">
                <a:solidFill>
                  <a:srgbClr val="FF0000"/>
                </a:solidFill>
              </a:rPr>
              <a:t>（</a:t>
            </a:r>
            <a:r>
              <a:rPr lang="en-US" altLang="zh-CN" sz="2000" dirty="0">
                <a:solidFill>
                  <a:srgbClr val="FF0000"/>
                </a:solidFill>
              </a:rPr>
              <a:t>2</a:t>
            </a:r>
            <a:r>
              <a:rPr lang="zh-CN" altLang="en-US" sz="2000" dirty="0">
                <a:solidFill>
                  <a:srgbClr val="FF0000"/>
                </a:solidFill>
              </a:rPr>
              <a:t>）</a:t>
            </a:r>
            <a:r>
              <a:rPr lang="en-US" altLang="zh-CN" sz="2000" dirty="0">
                <a:solidFill>
                  <a:srgbClr val="FF0000"/>
                </a:solidFill>
              </a:rPr>
              <a:t>Tenant</a:t>
            </a:r>
            <a:r>
              <a:rPr lang="zh-CN" altLang="en-US" sz="2000" dirty="0">
                <a:solidFill>
                  <a:srgbClr val="FF0000"/>
                </a:solidFill>
              </a:rPr>
              <a:t>：</a:t>
            </a:r>
            <a:r>
              <a:rPr lang="zh-CN" altLang="en-US" sz="2000" dirty="0"/>
              <a:t>租户，可以理解为一个人、项目或者组织拥有的资源的合集。在一个租户中可以拥有很多个用户，这些用户可以根据权限的划分使用租户中的资源。</a:t>
            </a:r>
          </a:p>
        </p:txBody>
      </p:sp>
      <p:sp>
        <p:nvSpPr>
          <p:cNvPr id="14" name="矩形 13"/>
          <p:cNvSpPr/>
          <p:nvPr/>
        </p:nvSpPr>
        <p:spPr>
          <a:xfrm flipV="1">
            <a:off x="-13758" y="2495443"/>
            <a:ext cx="12198350" cy="50244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384175" y="2411368"/>
            <a:ext cx="5124620" cy="525016"/>
          </a:xfrm>
          <a:prstGeom prst="rect">
            <a:avLst/>
          </a:prstGeom>
        </p:spPr>
        <p:txBody>
          <a:bodyPr vert="horz" lIns="121917" tIns="60958" rIns="121917" bIns="60958" rtlCol="0">
            <a:noAutofit/>
          </a:bodyPr>
          <a:lstStyle/>
          <a:p>
            <a:pPr>
              <a:lnSpc>
                <a:spcPct val="130000"/>
              </a:lnSpc>
              <a:spcBef>
                <a:spcPct val="20000"/>
              </a:spcBef>
              <a:buSzPct val="80000"/>
              <a:buFont typeface="Wingdings" pitchFamily="2" charset="2"/>
              <a:buNone/>
            </a:pPr>
            <a:r>
              <a:rPr lang="en-US" altLang="zh-CN" b="1" dirty="0">
                <a:solidFill>
                  <a:schemeClr val="tx1">
                    <a:lumMod val="95000"/>
                    <a:lumOff val="5000"/>
                  </a:schemeClr>
                </a:solidFill>
              </a:rPr>
              <a:t>Keystone</a:t>
            </a:r>
            <a:r>
              <a:rPr lang="zh-CN" altLang="en-US" b="1" dirty="0">
                <a:solidFill>
                  <a:schemeClr val="tx1">
                    <a:lumMod val="95000"/>
                    <a:lumOff val="5000"/>
                  </a:schemeClr>
                </a:solidFill>
              </a:rPr>
              <a:t>中主要涉及概念</a:t>
            </a:r>
          </a:p>
        </p:txBody>
      </p:sp>
      <p:sp>
        <p:nvSpPr>
          <p:cNvPr id="4" name="矩形 3"/>
          <p:cNvSpPr/>
          <p:nvPr/>
        </p:nvSpPr>
        <p:spPr>
          <a:xfrm>
            <a:off x="6937375" y="3048794"/>
            <a:ext cx="4800600" cy="2849877"/>
          </a:xfrm>
          <a:prstGeom prst="rect">
            <a:avLst/>
          </a:prstGeom>
        </p:spPr>
        <p:txBody>
          <a:bodyPr vert="horz" lIns="121917" tIns="60958" rIns="121917" bIns="60958" rtlCol="0">
            <a:noAutofit/>
          </a:bodyPr>
          <a:lstStyle/>
          <a:p>
            <a:pPr algn="just">
              <a:lnSpc>
                <a:spcPct val="130000"/>
              </a:lnSpc>
              <a:spcBef>
                <a:spcPct val="20000"/>
              </a:spcBef>
              <a:buSzPct val="80000"/>
              <a:buFont typeface="Wingdings" pitchFamily="2" charset="2"/>
              <a:buNone/>
            </a:pPr>
            <a:r>
              <a:rPr lang="zh-CN" altLang="en-US" sz="2000" dirty="0">
                <a:solidFill>
                  <a:srgbClr val="FF0000"/>
                </a:solidFill>
              </a:rPr>
              <a:t>（</a:t>
            </a:r>
            <a:r>
              <a:rPr lang="en-US" altLang="zh-CN" sz="2000" dirty="0">
                <a:solidFill>
                  <a:srgbClr val="FF0000"/>
                </a:solidFill>
              </a:rPr>
              <a:t>3</a:t>
            </a:r>
            <a:r>
              <a:rPr lang="zh-CN" altLang="en-US" sz="2000" dirty="0">
                <a:solidFill>
                  <a:srgbClr val="FF0000"/>
                </a:solidFill>
              </a:rPr>
              <a:t>）</a:t>
            </a:r>
            <a:r>
              <a:rPr lang="en-US" altLang="zh-CN" sz="2000" dirty="0">
                <a:solidFill>
                  <a:srgbClr val="FF0000"/>
                </a:solidFill>
              </a:rPr>
              <a:t>Role</a:t>
            </a:r>
            <a:r>
              <a:rPr lang="zh-CN" altLang="en-US" sz="2000" dirty="0">
                <a:solidFill>
                  <a:srgbClr val="FF0000"/>
                </a:solidFill>
              </a:rPr>
              <a:t>：</a:t>
            </a:r>
            <a:r>
              <a:rPr lang="zh-CN" altLang="en-US" sz="2000" dirty="0">
                <a:solidFill>
                  <a:schemeClr val="tx1">
                    <a:lumMod val="95000"/>
                    <a:lumOff val="5000"/>
                  </a:schemeClr>
                </a:solidFill>
              </a:rPr>
              <a:t>角色，用于分配操作的权限。角色可以被指定给用户，使得该用户获得角色对应的操作权限。</a:t>
            </a:r>
          </a:p>
          <a:p>
            <a:pPr algn="just">
              <a:lnSpc>
                <a:spcPct val="130000"/>
              </a:lnSpc>
              <a:spcBef>
                <a:spcPct val="20000"/>
              </a:spcBef>
              <a:buSzPct val="80000"/>
              <a:buFont typeface="Wingdings" pitchFamily="2" charset="2"/>
              <a:buNone/>
            </a:pPr>
            <a:r>
              <a:rPr lang="zh-CN" altLang="en-US" sz="2000" dirty="0">
                <a:solidFill>
                  <a:srgbClr val="FF0000"/>
                </a:solidFill>
              </a:rPr>
              <a:t>（</a:t>
            </a:r>
            <a:r>
              <a:rPr lang="en-US" altLang="zh-CN" sz="2000" dirty="0">
                <a:solidFill>
                  <a:srgbClr val="FF0000"/>
                </a:solidFill>
              </a:rPr>
              <a:t>4</a:t>
            </a:r>
            <a:r>
              <a:rPr lang="zh-CN" altLang="en-US" sz="2000" dirty="0">
                <a:solidFill>
                  <a:srgbClr val="FF0000"/>
                </a:solidFill>
              </a:rPr>
              <a:t>）</a:t>
            </a:r>
            <a:r>
              <a:rPr lang="en-US" altLang="zh-CN" sz="2000" dirty="0">
                <a:solidFill>
                  <a:srgbClr val="FF0000"/>
                </a:solidFill>
              </a:rPr>
              <a:t>Token</a:t>
            </a:r>
            <a:r>
              <a:rPr lang="zh-CN" altLang="en-US" sz="2000" dirty="0">
                <a:solidFill>
                  <a:srgbClr val="FF0000"/>
                </a:solidFill>
              </a:rPr>
              <a:t>：</a:t>
            </a:r>
            <a:r>
              <a:rPr lang="zh-CN" altLang="en-US" sz="2000" dirty="0">
                <a:solidFill>
                  <a:schemeClr val="tx1">
                    <a:lumMod val="95000"/>
                    <a:lumOff val="5000"/>
                  </a:schemeClr>
                </a:solidFill>
              </a:rPr>
              <a:t>指的是一串比特值或者字符串，用来作为访问资源的记号。</a:t>
            </a:r>
            <a:r>
              <a:rPr lang="en-US" altLang="zh-CN" sz="2000" dirty="0">
                <a:solidFill>
                  <a:schemeClr val="tx1">
                    <a:lumMod val="95000"/>
                    <a:lumOff val="5000"/>
                  </a:schemeClr>
                </a:solidFill>
              </a:rPr>
              <a:t>Token </a:t>
            </a:r>
            <a:r>
              <a:rPr lang="zh-CN" altLang="en-US" sz="2000" dirty="0">
                <a:solidFill>
                  <a:schemeClr val="tx1">
                    <a:lumMod val="95000"/>
                    <a:lumOff val="5000"/>
                  </a:schemeClr>
                </a:solidFill>
              </a:rPr>
              <a:t>中含有可访问资源的范围和有效时间。</a:t>
            </a:r>
          </a:p>
        </p:txBody>
      </p:sp>
      <p:sp>
        <p:nvSpPr>
          <p:cNvPr id="34" name="Freeform 3"/>
          <p:cNvSpPr/>
          <p:nvPr/>
        </p:nvSpPr>
        <p:spPr>
          <a:xfrm>
            <a:off x="6556376" y="2997886"/>
            <a:ext cx="107388" cy="3267111"/>
          </a:xfrm>
          <a:custGeom>
            <a:avLst/>
            <a:gdLst>
              <a:gd name="connsiteX0" fmla="*/ 6350 w 21844"/>
              <a:gd name="connsiteY0" fmla="*/ 6350 h 879855"/>
              <a:gd name="connsiteX1" fmla="*/ 6350 w 21844"/>
              <a:gd name="connsiteY1" fmla="*/ 873506 h 879855"/>
            </a:gdLst>
            <a:ahLst/>
            <a:cxnLst>
              <a:cxn ang="0">
                <a:pos x="connsiteX0" y="connsiteY0"/>
              </a:cxn>
              <a:cxn ang="1">
                <a:pos x="connsiteX1" y="connsiteY1"/>
              </a:cxn>
            </a:cxnLst>
            <a:rect l="l" t="t" r="r" b="b"/>
            <a:pathLst>
              <a:path w="21844" h="879855">
                <a:moveTo>
                  <a:pt x="6350" y="6350"/>
                </a:moveTo>
                <a:lnTo>
                  <a:pt x="6350" y="873506"/>
                </a:lnTo>
              </a:path>
            </a:pathLst>
          </a:custGeom>
          <a:ln w="12700">
            <a:solidFill>
              <a:srgbClr val="A4B3D8"/>
            </a:solidFill>
            <a:prstDash val="solid"/>
          </a:ln>
        </p:spPr>
        <p:style>
          <a:lnRef idx="1">
            <a:schemeClr val="accent1"/>
          </a:lnRef>
          <a:fillRef idx="0">
            <a:schemeClr val="accent1"/>
          </a:fillRef>
          <a:effectRef idx="0">
            <a:schemeClr val="accent1"/>
          </a:effectRef>
          <a:fontRef idx="minor">
            <a:schemeClr val="tx1"/>
          </a:fontRef>
        </p:style>
        <p:txBody>
          <a:bodyPr lIns="121963" tIns="60981" rIns="121963" bIns="60981" rtlCol="0" anchor="ctr"/>
          <a:lstStyle/>
          <a:p>
            <a:pPr algn="ctr"/>
            <a:endParaRPr lang="zh-CN" altLang="en-US"/>
          </a:p>
        </p:txBody>
      </p:sp>
      <p:sp>
        <p:nvSpPr>
          <p:cNvPr id="9" name="矩形 8"/>
          <p:cNvSpPr/>
          <p:nvPr/>
        </p:nvSpPr>
        <p:spPr>
          <a:xfrm>
            <a:off x="3660775" y="1677194"/>
            <a:ext cx="4413860"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3"/>
          <p:cNvSpPr txBox="1"/>
          <p:nvPr/>
        </p:nvSpPr>
        <p:spPr>
          <a:xfrm>
            <a:off x="3821163" y="1734284"/>
            <a:ext cx="3740511" cy="400110"/>
          </a:xfrm>
          <a:prstGeom prst="rect">
            <a:avLst/>
          </a:prstGeom>
          <a:noFill/>
        </p:spPr>
        <p:txBody>
          <a:bodyPr wrap="none" rtlCol="0">
            <a:spAutoFit/>
          </a:bodyPr>
          <a:lstStyle/>
          <a:p>
            <a:r>
              <a:rPr lang="zh-CN" altLang="en-US" sz="2000" dirty="0">
                <a:latin typeface="+mn-ea"/>
              </a:rPr>
              <a:t>任务</a:t>
            </a:r>
            <a:r>
              <a:rPr lang="en-US" altLang="zh-CN" sz="2000" dirty="0">
                <a:latin typeface="+mn-ea"/>
              </a:rPr>
              <a:t>3</a:t>
            </a:r>
            <a:r>
              <a:rPr lang="zh-CN" altLang="en-US" sz="2000" dirty="0">
                <a:latin typeface="+mn-ea"/>
              </a:rPr>
              <a:t>：安装配置</a:t>
            </a:r>
            <a:r>
              <a:rPr lang="en-US" altLang="zh-CN" sz="2000" dirty="0">
                <a:latin typeface="+mn-ea"/>
              </a:rPr>
              <a:t>keystone</a:t>
            </a:r>
            <a:r>
              <a:rPr lang="zh-CN" altLang="en-US" sz="2000" dirty="0">
                <a:latin typeface="+mn-ea"/>
              </a:rPr>
              <a:t>服务</a:t>
            </a:r>
            <a:endParaRPr lang="en-US" altLang="zh-CN" sz="2000" dirty="0">
              <a:latin typeface="+mn-ea"/>
            </a:endParaRPr>
          </a:p>
        </p:txBody>
      </p:sp>
      <p:grpSp>
        <p:nvGrpSpPr>
          <p:cNvPr id="11" name="组合 10"/>
          <p:cNvGrpSpPr/>
          <p:nvPr/>
        </p:nvGrpSpPr>
        <p:grpSpPr>
          <a:xfrm>
            <a:off x="139962" y="-1"/>
            <a:ext cx="11520000" cy="2053082"/>
            <a:chOff x="131974" y="-1"/>
            <a:chExt cx="11520000" cy="2053082"/>
          </a:xfrm>
        </p:grpSpPr>
        <p:grpSp>
          <p:nvGrpSpPr>
            <p:cNvPr id="12" name="组合 11"/>
            <p:cNvGrpSpPr/>
            <p:nvPr/>
          </p:nvGrpSpPr>
          <p:grpSpPr>
            <a:xfrm>
              <a:off x="131974" y="-1"/>
              <a:ext cx="11520000" cy="1016152"/>
              <a:chOff x="131974" y="-1"/>
              <a:chExt cx="11520000" cy="1016152"/>
            </a:xfrm>
          </p:grpSpPr>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18" name="矩形 17"/>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9"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安装部署</a:t>
                </a:r>
              </a:p>
            </p:txBody>
          </p:sp>
        </p:grpSp>
        <p:sp>
          <p:nvSpPr>
            <p:cNvPr id="15" name="文本框 14"/>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6" name="文本框 15"/>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的安装部署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8244408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0" y="2422685"/>
            <a:ext cx="12198350" cy="265494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0" y="2317920"/>
            <a:ext cx="121983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内容占位符 2"/>
          <p:cNvSpPr>
            <a:spLocks noGrp="1"/>
          </p:cNvSpPr>
          <p:nvPr>
            <p:ph idx="4294967295"/>
          </p:nvPr>
        </p:nvSpPr>
        <p:spPr>
          <a:xfrm>
            <a:off x="675520" y="3173587"/>
            <a:ext cx="10979150" cy="1828800"/>
          </a:xfrm>
          <a:prstGeom prst="rect">
            <a:avLst/>
          </a:prstGeom>
        </p:spPr>
        <p:txBody>
          <a:bodyPr>
            <a:normAutofit/>
          </a:bodyPr>
          <a:lstStyle/>
          <a:p>
            <a:pPr marL="0" indent="0" algn="just">
              <a:buNone/>
            </a:pPr>
            <a:r>
              <a:rPr lang="zh-CN" altLang="en-US" dirty="0"/>
              <a:t>      本子任务在</a:t>
            </a:r>
            <a:r>
              <a:rPr lang="en-US" altLang="zh-CN" dirty="0"/>
              <a:t>node1</a:t>
            </a:r>
            <a:r>
              <a:rPr lang="zh-CN" altLang="en-US" dirty="0"/>
              <a:t>节点机上</a:t>
            </a:r>
            <a:r>
              <a:rPr lang="zh-CN" altLang="en-US" dirty="0">
                <a:solidFill>
                  <a:srgbClr val="FF0000"/>
                </a:solidFill>
              </a:rPr>
              <a:t>安装</a:t>
            </a:r>
            <a:r>
              <a:rPr lang="en-US" altLang="zh-CN" dirty="0">
                <a:solidFill>
                  <a:srgbClr val="FF0000"/>
                </a:solidFill>
              </a:rPr>
              <a:t>Keystone</a:t>
            </a:r>
            <a:r>
              <a:rPr lang="zh-CN" altLang="en-US" dirty="0"/>
              <a:t>（</a:t>
            </a:r>
            <a:r>
              <a:rPr lang="en-US" altLang="zh-CN" dirty="0"/>
              <a:t>OpenStack Identity Service</a:t>
            </a:r>
            <a:r>
              <a:rPr lang="zh-CN" altLang="en-US" dirty="0"/>
              <a:t>），</a:t>
            </a:r>
            <a:r>
              <a:rPr lang="zh-CN" altLang="en-US" dirty="0">
                <a:solidFill>
                  <a:srgbClr val="FF0000"/>
                </a:solidFill>
              </a:rPr>
              <a:t>创建数据库，添加租户、用户、角色，验证服务。</a:t>
            </a:r>
          </a:p>
        </p:txBody>
      </p:sp>
      <p:sp>
        <p:nvSpPr>
          <p:cNvPr id="9" name="矩形 8"/>
          <p:cNvSpPr/>
          <p:nvPr/>
        </p:nvSpPr>
        <p:spPr>
          <a:xfrm>
            <a:off x="0" y="5077629"/>
            <a:ext cx="121983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4514" y="5592492"/>
            <a:ext cx="12212863" cy="1267096"/>
          </a:xfrm>
          <a:prstGeom prst="rect">
            <a:avLst/>
          </a:prstGeom>
          <a:solidFill>
            <a:schemeClr val="bg2">
              <a:lumMod val="1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a:off x="10213975"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a:off x="10594975"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p:nvSpPr>
        <p:spPr>
          <a:xfrm>
            <a:off x="11360603"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p:nvSpPr>
        <p:spPr>
          <a:xfrm>
            <a:off x="8308975"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a:off x="9090025"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3660775" y="1677194"/>
            <a:ext cx="4413860"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3"/>
          <p:cNvSpPr txBox="1"/>
          <p:nvPr/>
        </p:nvSpPr>
        <p:spPr>
          <a:xfrm>
            <a:off x="3821163" y="1734284"/>
            <a:ext cx="4253472" cy="400110"/>
          </a:xfrm>
          <a:prstGeom prst="rect">
            <a:avLst/>
          </a:prstGeom>
          <a:noFill/>
        </p:spPr>
        <p:txBody>
          <a:bodyPr wrap="none" rtlCol="0">
            <a:spAutoFit/>
          </a:bodyPr>
          <a:lstStyle/>
          <a:p>
            <a:r>
              <a:rPr lang="zh-CN" altLang="en-US" sz="2000" dirty="0">
                <a:latin typeface="+mn-ea"/>
              </a:rPr>
              <a:t>任务</a:t>
            </a:r>
            <a:r>
              <a:rPr lang="en-US" altLang="zh-CN" sz="2000" dirty="0">
                <a:latin typeface="+mn-ea"/>
              </a:rPr>
              <a:t>3</a:t>
            </a:r>
            <a:r>
              <a:rPr lang="zh-CN" altLang="en-US" sz="2000" dirty="0">
                <a:latin typeface="+mn-ea"/>
              </a:rPr>
              <a:t>内容：安装配置</a:t>
            </a:r>
            <a:r>
              <a:rPr lang="en-US" altLang="zh-CN" sz="2000" dirty="0">
                <a:latin typeface="+mn-ea"/>
              </a:rPr>
              <a:t>keystone</a:t>
            </a:r>
            <a:r>
              <a:rPr lang="zh-CN" altLang="en-US" sz="2000" dirty="0">
                <a:latin typeface="+mn-ea"/>
              </a:rPr>
              <a:t>服务</a:t>
            </a:r>
            <a:endParaRPr lang="en-US" altLang="zh-CN" sz="2000" dirty="0">
              <a:latin typeface="+mn-ea"/>
            </a:endParaRPr>
          </a:p>
        </p:txBody>
      </p:sp>
      <p:grpSp>
        <p:nvGrpSpPr>
          <p:cNvPr id="19" name="组合 18"/>
          <p:cNvGrpSpPr/>
          <p:nvPr/>
        </p:nvGrpSpPr>
        <p:grpSpPr>
          <a:xfrm>
            <a:off x="139962" y="-1"/>
            <a:ext cx="11520000" cy="2053082"/>
            <a:chOff x="131974" y="-1"/>
            <a:chExt cx="11520000" cy="2053082"/>
          </a:xfrm>
        </p:grpSpPr>
        <p:grpSp>
          <p:nvGrpSpPr>
            <p:cNvPr id="20" name="组合 19"/>
            <p:cNvGrpSpPr/>
            <p:nvPr/>
          </p:nvGrpSpPr>
          <p:grpSpPr>
            <a:xfrm>
              <a:off x="131974" y="-1"/>
              <a:ext cx="11520000" cy="1016152"/>
              <a:chOff x="131974" y="-1"/>
              <a:chExt cx="11520000" cy="1016152"/>
            </a:xfrm>
          </p:grpSpPr>
          <p:pic>
            <p:nvPicPr>
              <p:cNvPr id="23" name="图片 2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4" name="矩形 23"/>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5"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安装部署</a:t>
                </a:r>
              </a:p>
            </p:txBody>
          </p:sp>
        </p:grpSp>
        <p:sp>
          <p:nvSpPr>
            <p:cNvPr id="21" name="文本框 20"/>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2" name="文本框 21"/>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的安装部署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23522842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612775" y="3036358"/>
            <a:ext cx="10820400" cy="3441435"/>
          </a:xfrm>
          <a:prstGeom prst="roundRect">
            <a:avLst>
              <a:gd name="adj" fmla="val 5822"/>
            </a:avLst>
          </a:prstGeom>
          <a:solidFill>
            <a:schemeClr val="bg1">
              <a:lumMod val="95000"/>
            </a:schemeClr>
          </a:solidFill>
          <a:ln w="38100">
            <a:solidFill>
              <a:srgbClr val="FF993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3775" y="2694924"/>
            <a:ext cx="107505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536575" y="2362994"/>
            <a:ext cx="4267200" cy="461665"/>
          </a:xfrm>
          <a:prstGeom prst="rect">
            <a:avLst/>
          </a:prstGeom>
          <a:solidFill>
            <a:srgbClr val="00B0F0"/>
          </a:solidFill>
        </p:spPr>
        <p:txBody>
          <a:bodyPr wrap="square" rtlCol="0">
            <a:spAutoFit/>
          </a:bodyPr>
          <a:lstStyle/>
          <a:p>
            <a:r>
              <a:rPr lang="en-US" altLang="zh-CN" dirty="0">
                <a:latin typeface="+mn-ea"/>
              </a:rPr>
              <a:t>【</a:t>
            </a:r>
            <a:r>
              <a:rPr lang="zh-CN" altLang="en-US" dirty="0">
                <a:latin typeface="+mn-ea"/>
              </a:rPr>
              <a:t>实施步骤</a:t>
            </a:r>
            <a:r>
              <a:rPr lang="en-US" altLang="zh-CN" dirty="0">
                <a:latin typeface="+mn-ea"/>
              </a:rPr>
              <a:t>】1~3</a:t>
            </a:r>
          </a:p>
        </p:txBody>
      </p:sp>
      <p:sp>
        <p:nvSpPr>
          <p:cNvPr id="13" name="内容占位符 2"/>
          <p:cNvSpPr txBox="1">
            <a:spLocks/>
          </p:cNvSpPr>
          <p:nvPr/>
        </p:nvSpPr>
        <p:spPr>
          <a:xfrm>
            <a:off x="1181100" y="3036359"/>
            <a:ext cx="9829800" cy="3276600"/>
          </a:xfrm>
          <a:prstGeom prst="rect">
            <a:avLst/>
          </a:prstGeom>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en-US" altLang="zh-CN" dirty="0">
                <a:solidFill>
                  <a:schemeClr val="tx1">
                    <a:lumMod val="95000"/>
                    <a:lumOff val="5000"/>
                  </a:schemeClr>
                </a:solidFill>
              </a:rPr>
              <a:t>1</a:t>
            </a:r>
            <a:r>
              <a:rPr lang="zh-CN" altLang="en-US" dirty="0">
                <a:solidFill>
                  <a:schemeClr val="tx1">
                    <a:lumMod val="95000"/>
                    <a:lumOff val="5000"/>
                  </a:schemeClr>
                </a:solidFill>
              </a:rPr>
              <a:t>、</a:t>
            </a:r>
            <a:r>
              <a:rPr lang="en-US" altLang="zh-CN" dirty="0">
                <a:solidFill>
                  <a:schemeClr val="tx1">
                    <a:lumMod val="95000"/>
                    <a:lumOff val="5000"/>
                  </a:schemeClr>
                </a:solidFill>
              </a:rPr>
              <a:t>MySQL</a:t>
            </a:r>
            <a:r>
              <a:rPr lang="zh-CN" altLang="en-US" dirty="0">
                <a:solidFill>
                  <a:schemeClr val="tx1">
                    <a:lumMod val="95000"/>
                    <a:lumOff val="5000"/>
                  </a:schemeClr>
                </a:solidFill>
              </a:rPr>
              <a:t>数据库。</a:t>
            </a:r>
          </a:p>
          <a:p>
            <a:pPr marL="0" indent="0">
              <a:buNone/>
            </a:pPr>
            <a:r>
              <a:rPr lang="en-US" altLang="zh-CN" dirty="0">
                <a:solidFill>
                  <a:schemeClr val="tx1">
                    <a:lumMod val="95000"/>
                    <a:lumOff val="5000"/>
                  </a:schemeClr>
                </a:solidFill>
              </a:rPr>
              <a:t>1</a:t>
            </a:r>
            <a:r>
              <a:rPr lang="zh-CN" altLang="en-US" dirty="0">
                <a:solidFill>
                  <a:schemeClr val="tx1">
                    <a:lumMod val="95000"/>
                    <a:lumOff val="5000"/>
                  </a:schemeClr>
                </a:solidFill>
              </a:rPr>
              <a:t>）登录</a:t>
            </a:r>
            <a:r>
              <a:rPr lang="en-US" altLang="zh-CN" dirty="0">
                <a:solidFill>
                  <a:schemeClr val="tx1">
                    <a:lumMod val="95000"/>
                    <a:lumOff val="5000"/>
                  </a:schemeClr>
                </a:solidFill>
              </a:rPr>
              <a:t>node1</a:t>
            </a:r>
            <a:r>
              <a:rPr lang="zh-CN" altLang="en-US" dirty="0">
                <a:solidFill>
                  <a:schemeClr val="tx1">
                    <a:lumMod val="95000"/>
                    <a:lumOff val="5000"/>
                  </a:schemeClr>
                </a:solidFill>
              </a:rPr>
              <a:t>节点机，安装</a:t>
            </a:r>
            <a:r>
              <a:rPr lang="en-US" altLang="zh-CN" dirty="0">
                <a:solidFill>
                  <a:schemeClr val="tx1">
                    <a:lumMod val="95000"/>
                    <a:lumOff val="5000"/>
                  </a:schemeClr>
                </a:solidFill>
              </a:rPr>
              <a:t>MySQL</a:t>
            </a:r>
            <a:r>
              <a:rPr lang="zh-CN" altLang="en-US" dirty="0">
                <a:solidFill>
                  <a:schemeClr val="tx1">
                    <a:lumMod val="95000"/>
                    <a:lumOff val="5000"/>
                  </a:schemeClr>
                </a:solidFill>
              </a:rPr>
              <a:t>数据库</a:t>
            </a:r>
          </a:p>
          <a:p>
            <a:pPr marL="0" indent="0">
              <a:buNone/>
            </a:pPr>
            <a:r>
              <a:rPr lang="en-US" altLang="zh-CN" dirty="0">
                <a:solidFill>
                  <a:schemeClr val="tx1">
                    <a:lumMod val="95000"/>
                    <a:lumOff val="5000"/>
                  </a:schemeClr>
                </a:solidFill>
              </a:rPr>
              <a:t>2</a:t>
            </a:r>
            <a:r>
              <a:rPr lang="zh-CN" altLang="en-US" dirty="0">
                <a:solidFill>
                  <a:schemeClr val="tx1">
                    <a:lumMod val="95000"/>
                    <a:lumOff val="5000"/>
                  </a:schemeClr>
                </a:solidFill>
              </a:rPr>
              <a:t>）修改配置文件</a:t>
            </a:r>
            <a:r>
              <a:rPr lang="en-US" altLang="zh-CN" dirty="0" err="1">
                <a:solidFill>
                  <a:schemeClr val="tx1">
                    <a:lumMod val="95000"/>
                    <a:lumOff val="5000"/>
                  </a:schemeClr>
                </a:solidFill>
              </a:rPr>
              <a:t>my.cnf</a:t>
            </a:r>
            <a:r>
              <a:rPr lang="zh-CN" altLang="en-US" dirty="0">
                <a:solidFill>
                  <a:schemeClr val="tx1">
                    <a:lumMod val="95000"/>
                    <a:lumOff val="5000"/>
                  </a:schemeClr>
                </a:solidFill>
              </a:rPr>
              <a:t>，修改默认字符集</a:t>
            </a:r>
          </a:p>
          <a:p>
            <a:pPr marL="0" indent="0">
              <a:buNone/>
            </a:pPr>
            <a:r>
              <a:rPr lang="en-US" altLang="zh-CN" dirty="0">
                <a:solidFill>
                  <a:schemeClr val="tx1">
                    <a:lumMod val="95000"/>
                    <a:lumOff val="5000"/>
                  </a:schemeClr>
                </a:solidFill>
              </a:rPr>
              <a:t>3</a:t>
            </a:r>
            <a:r>
              <a:rPr lang="zh-CN" altLang="en-US" dirty="0">
                <a:solidFill>
                  <a:schemeClr val="tx1">
                    <a:lumMod val="95000"/>
                    <a:lumOff val="5000"/>
                  </a:schemeClr>
                </a:solidFill>
              </a:rPr>
              <a:t>）启动</a:t>
            </a:r>
            <a:r>
              <a:rPr lang="en-US" altLang="zh-CN" dirty="0">
                <a:solidFill>
                  <a:schemeClr val="tx1">
                    <a:lumMod val="95000"/>
                    <a:lumOff val="5000"/>
                  </a:schemeClr>
                </a:solidFill>
              </a:rPr>
              <a:t>MySQL</a:t>
            </a:r>
            <a:r>
              <a:rPr lang="zh-CN" altLang="en-US" dirty="0">
                <a:solidFill>
                  <a:schemeClr val="tx1">
                    <a:lumMod val="95000"/>
                    <a:lumOff val="5000"/>
                  </a:schemeClr>
                </a:solidFill>
              </a:rPr>
              <a:t>服务，并修改密码</a:t>
            </a:r>
          </a:p>
          <a:p>
            <a:pPr marL="0" indent="0">
              <a:buNone/>
            </a:pPr>
            <a:r>
              <a:rPr lang="en-US" altLang="zh-CN" dirty="0">
                <a:solidFill>
                  <a:schemeClr val="tx1">
                    <a:lumMod val="95000"/>
                    <a:lumOff val="5000"/>
                  </a:schemeClr>
                </a:solidFill>
              </a:rPr>
              <a:t>4</a:t>
            </a:r>
            <a:r>
              <a:rPr lang="zh-CN" altLang="en-US" dirty="0">
                <a:solidFill>
                  <a:schemeClr val="tx1">
                    <a:lumMod val="95000"/>
                    <a:lumOff val="5000"/>
                  </a:schemeClr>
                </a:solidFill>
              </a:rPr>
              <a:t>）安装</a:t>
            </a:r>
            <a:r>
              <a:rPr lang="en-US" altLang="zh-CN" dirty="0">
                <a:solidFill>
                  <a:schemeClr val="tx1">
                    <a:lumMod val="95000"/>
                    <a:lumOff val="5000"/>
                  </a:schemeClr>
                </a:solidFill>
              </a:rPr>
              <a:t>MySQL</a:t>
            </a:r>
            <a:r>
              <a:rPr lang="zh-CN" altLang="en-US" dirty="0">
                <a:solidFill>
                  <a:schemeClr val="tx1">
                    <a:lumMod val="95000"/>
                    <a:lumOff val="5000"/>
                  </a:schemeClr>
                </a:solidFill>
              </a:rPr>
              <a:t>数据库</a:t>
            </a:r>
          </a:p>
          <a:p>
            <a:pPr marL="0" indent="0">
              <a:buNone/>
            </a:pPr>
            <a:r>
              <a:rPr lang="en-US" altLang="zh-CN" dirty="0">
                <a:solidFill>
                  <a:schemeClr val="tx1">
                    <a:lumMod val="95000"/>
                    <a:lumOff val="5000"/>
                  </a:schemeClr>
                </a:solidFill>
              </a:rPr>
              <a:t>2</a:t>
            </a:r>
            <a:r>
              <a:rPr lang="zh-CN" altLang="en-US" dirty="0">
                <a:solidFill>
                  <a:schemeClr val="tx1">
                    <a:lumMod val="95000"/>
                    <a:lumOff val="5000"/>
                  </a:schemeClr>
                </a:solidFill>
              </a:rPr>
              <a:t>、安装</a:t>
            </a:r>
            <a:r>
              <a:rPr lang="en-US" altLang="zh-CN" dirty="0">
                <a:solidFill>
                  <a:schemeClr val="tx1">
                    <a:lumMod val="95000"/>
                    <a:lumOff val="5000"/>
                  </a:schemeClr>
                </a:solidFill>
              </a:rPr>
              <a:t>Keystone</a:t>
            </a:r>
            <a:r>
              <a:rPr lang="zh-CN" altLang="en-US" dirty="0">
                <a:solidFill>
                  <a:schemeClr val="tx1">
                    <a:lumMod val="95000"/>
                    <a:lumOff val="5000"/>
                  </a:schemeClr>
                </a:solidFill>
              </a:rPr>
              <a:t>认证服务</a:t>
            </a:r>
            <a:endParaRPr lang="en-US" altLang="zh-CN" dirty="0">
              <a:solidFill>
                <a:schemeClr val="tx1">
                  <a:lumMod val="95000"/>
                  <a:lumOff val="5000"/>
                </a:schemeClr>
              </a:solidFill>
            </a:endParaRPr>
          </a:p>
          <a:p>
            <a:pPr marL="0" indent="0">
              <a:buNone/>
            </a:pPr>
            <a:r>
              <a:rPr lang="en-US" altLang="zh-CN" dirty="0">
                <a:solidFill>
                  <a:schemeClr val="tx1">
                    <a:lumMod val="95000"/>
                    <a:lumOff val="5000"/>
                  </a:schemeClr>
                </a:solidFill>
              </a:rPr>
              <a:t>3</a:t>
            </a:r>
            <a:r>
              <a:rPr lang="zh-CN" altLang="en-US" dirty="0">
                <a:solidFill>
                  <a:schemeClr val="tx1">
                    <a:lumMod val="95000"/>
                    <a:lumOff val="5000"/>
                  </a:schemeClr>
                </a:solidFill>
              </a:rPr>
              <a:t>、创建</a:t>
            </a:r>
            <a:r>
              <a:rPr lang="en-US" altLang="zh-CN" dirty="0">
                <a:solidFill>
                  <a:schemeClr val="tx1">
                    <a:lumMod val="95000"/>
                    <a:lumOff val="5000"/>
                  </a:schemeClr>
                </a:solidFill>
              </a:rPr>
              <a:t>Keystone</a:t>
            </a:r>
            <a:r>
              <a:rPr lang="zh-CN" altLang="en-US" dirty="0">
                <a:solidFill>
                  <a:schemeClr val="tx1">
                    <a:lumMod val="95000"/>
                    <a:lumOff val="5000"/>
                  </a:schemeClr>
                </a:solidFill>
              </a:rPr>
              <a:t>数据库</a:t>
            </a:r>
          </a:p>
        </p:txBody>
      </p:sp>
      <p:grpSp>
        <p:nvGrpSpPr>
          <p:cNvPr id="8" name="组合 7"/>
          <p:cNvGrpSpPr/>
          <p:nvPr/>
        </p:nvGrpSpPr>
        <p:grpSpPr>
          <a:xfrm>
            <a:off x="10314213" y="5424430"/>
            <a:ext cx="1877787" cy="1129564"/>
            <a:chOff x="9675584" y="5175723"/>
            <a:chExt cx="1877787" cy="1129564"/>
          </a:xfrm>
        </p:grpSpPr>
        <p:sp>
          <p:nvSpPr>
            <p:cNvPr id="12" name="矩形 11"/>
            <p:cNvSpPr/>
            <p:nvPr/>
          </p:nvSpPr>
          <p:spPr>
            <a:xfrm>
              <a:off x="11286669" y="5640179"/>
              <a:ext cx="266702" cy="66188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0642146" y="5828865"/>
              <a:ext cx="266702" cy="4764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0241641" y="5175723"/>
              <a:ext cx="266702" cy="112956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9675584" y="5974341"/>
              <a:ext cx="266702" cy="33094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p:nvSpPr>
        <p:spPr>
          <a:xfrm>
            <a:off x="0" y="6553994"/>
            <a:ext cx="12192000" cy="304006"/>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solidFill>
            </a:endParaRPr>
          </a:p>
        </p:txBody>
      </p:sp>
      <p:sp>
        <p:nvSpPr>
          <p:cNvPr id="18" name="矩形 17"/>
          <p:cNvSpPr/>
          <p:nvPr/>
        </p:nvSpPr>
        <p:spPr>
          <a:xfrm>
            <a:off x="3660775" y="1677194"/>
            <a:ext cx="4413860"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3"/>
          <p:cNvSpPr txBox="1"/>
          <p:nvPr/>
        </p:nvSpPr>
        <p:spPr>
          <a:xfrm>
            <a:off x="3821163" y="1734284"/>
            <a:ext cx="4253472" cy="400110"/>
          </a:xfrm>
          <a:prstGeom prst="rect">
            <a:avLst/>
          </a:prstGeom>
          <a:noFill/>
        </p:spPr>
        <p:txBody>
          <a:bodyPr wrap="none" rtlCol="0">
            <a:spAutoFit/>
          </a:bodyPr>
          <a:lstStyle/>
          <a:p>
            <a:r>
              <a:rPr lang="zh-CN" altLang="en-US" sz="2000" dirty="0">
                <a:latin typeface="+mn-ea"/>
              </a:rPr>
              <a:t>任务</a:t>
            </a:r>
            <a:r>
              <a:rPr lang="en-US" altLang="zh-CN" sz="2000" dirty="0">
                <a:latin typeface="+mn-ea"/>
              </a:rPr>
              <a:t>3</a:t>
            </a:r>
            <a:r>
              <a:rPr lang="zh-CN" altLang="en-US" sz="2000" dirty="0">
                <a:latin typeface="+mn-ea"/>
              </a:rPr>
              <a:t>步骤：安装配置</a:t>
            </a:r>
            <a:r>
              <a:rPr lang="en-US" altLang="zh-CN" sz="2000" dirty="0">
                <a:latin typeface="+mn-ea"/>
              </a:rPr>
              <a:t>keystone</a:t>
            </a:r>
            <a:r>
              <a:rPr lang="zh-CN" altLang="en-US" sz="2000" dirty="0">
                <a:latin typeface="+mn-ea"/>
              </a:rPr>
              <a:t>服务</a:t>
            </a:r>
            <a:endParaRPr lang="en-US" altLang="zh-CN" sz="2000" dirty="0">
              <a:latin typeface="+mn-ea"/>
            </a:endParaRPr>
          </a:p>
        </p:txBody>
      </p:sp>
      <p:grpSp>
        <p:nvGrpSpPr>
          <p:cNvPr id="20" name="组合 19"/>
          <p:cNvGrpSpPr/>
          <p:nvPr/>
        </p:nvGrpSpPr>
        <p:grpSpPr>
          <a:xfrm>
            <a:off x="139962" y="-1"/>
            <a:ext cx="11520000" cy="2053082"/>
            <a:chOff x="131974" y="-1"/>
            <a:chExt cx="11520000" cy="2053082"/>
          </a:xfrm>
        </p:grpSpPr>
        <p:grpSp>
          <p:nvGrpSpPr>
            <p:cNvPr id="21" name="组合 20"/>
            <p:cNvGrpSpPr/>
            <p:nvPr/>
          </p:nvGrpSpPr>
          <p:grpSpPr>
            <a:xfrm>
              <a:off x="131974" y="-1"/>
              <a:ext cx="11520000" cy="1016152"/>
              <a:chOff x="131974" y="-1"/>
              <a:chExt cx="11520000" cy="1016152"/>
            </a:xfrm>
          </p:grpSpPr>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安装部署</a:t>
                </a:r>
              </a:p>
            </p:txBody>
          </p:sp>
        </p:grpSp>
        <p:sp>
          <p:nvSpPr>
            <p:cNvPr id="22" name="文本框 21"/>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文本框 22"/>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的安装部署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23117919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612775" y="2707893"/>
            <a:ext cx="10820400" cy="3769901"/>
          </a:xfrm>
          <a:prstGeom prst="roundRect">
            <a:avLst>
              <a:gd name="adj" fmla="val 5822"/>
            </a:avLst>
          </a:prstGeom>
          <a:solidFill>
            <a:schemeClr val="bg1">
              <a:lumMod val="95000"/>
            </a:schemeClr>
          </a:solidFill>
          <a:ln w="38100">
            <a:solidFill>
              <a:srgbClr val="FF993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3775" y="2538059"/>
            <a:ext cx="107505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536575" y="2206129"/>
            <a:ext cx="4267200" cy="461665"/>
          </a:xfrm>
          <a:prstGeom prst="rect">
            <a:avLst/>
          </a:prstGeom>
          <a:solidFill>
            <a:srgbClr val="00B0F0"/>
          </a:solidFill>
        </p:spPr>
        <p:txBody>
          <a:bodyPr wrap="square" rtlCol="0">
            <a:spAutoFit/>
          </a:bodyPr>
          <a:lstStyle/>
          <a:p>
            <a:r>
              <a:rPr lang="en-US" altLang="zh-CN" dirty="0">
                <a:latin typeface="+mn-ea"/>
              </a:rPr>
              <a:t>【</a:t>
            </a:r>
            <a:r>
              <a:rPr lang="zh-CN" altLang="en-US" dirty="0">
                <a:latin typeface="+mn-ea"/>
              </a:rPr>
              <a:t>实施步骤</a:t>
            </a:r>
            <a:r>
              <a:rPr lang="en-US" altLang="zh-CN" dirty="0">
                <a:latin typeface="+mn-ea"/>
              </a:rPr>
              <a:t>】4~8</a:t>
            </a:r>
          </a:p>
        </p:txBody>
      </p:sp>
      <p:sp>
        <p:nvSpPr>
          <p:cNvPr id="13" name="内容占位符 2"/>
          <p:cNvSpPr txBox="1">
            <a:spLocks/>
          </p:cNvSpPr>
          <p:nvPr/>
        </p:nvSpPr>
        <p:spPr>
          <a:xfrm>
            <a:off x="993775" y="2782420"/>
            <a:ext cx="9829800" cy="3276600"/>
          </a:xfrm>
          <a:prstGeom prst="rect">
            <a:avLst/>
          </a:prstGeom>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en-US" altLang="zh-CN" dirty="0">
                <a:solidFill>
                  <a:schemeClr val="tx1">
                    <a:lumMod val="95000"/>
                    <a:lumOff val="5000"/>
                  </a:schemeClr>
                </a:solidFill>
              </a:rPr>
              <a:t>4</a:t>
            </a:r>
            <a:r>
              <a:rPr lang="zh-CN" altLang="en-US" dirty="0">
                <a:solidFill>
                  <a:schemeClr val="tx1">
                    <a:lumMod val="95000"/>
                    <a:lumOff val="5000"/>
                  </a:schemeClr>
                </a:solidFill>
              </a:rPr>
              <a:t>、配置</a:t>
            </a:r>
            <a:r>
              <a:rPr lang="en-US" altLang="zh-CN" dirty="0" err="1">
                <a:solidFill>
                  <a:schemeClr val="tx1">
                    <a:lumMod val="95000"/>
                    <a:lumOff val="5000"/>
                  </a:schemeClr>
                </a:solidFill>
              </a:rPr>
              <a:t>keyston.conf</a:t>
            </a:r>
            <a:r>
              <a:rPr lang="zh-CN" altLang="en-US" dirty="0">
                <a:solidFill>
                  <a:schemeClr val="tx1">
                    <a:lumMod val="95000"/>
                    <a:lumOff val="5000"/>
                  </a:schemeClr>
                </a:solidFill>
              </a:rPr>
              <a:t>文件</a:t>
            </a:r>
          </a:p>
          <a:p>
            <a:pPr marL="0" indent="0">
              <a:buNone/>
            </a:pPr>
            <a:r>
              <a:rPr lang="en-US" altLang="zh-CN" dirty="0">
                <a:solidFill>
                  <a:schemeClr val="tx1">
                    <a:lumMod val="95000"/>
                    <a:lumOff val="5000"/>
                  </a:schemeClr>
                </a:solidFill>
              </a:rPr>
              <a:t>5</a:t>
            </a:r>
            <a:r>
              <a:rPr lang="zh-CN" altLang="en-US" dirty="0">
                <a:solidFill>
                  <a:schemeClr val="tx1">
                    <a:lumMod val="95000"/>
                    <a:lumOff val="5000"/>
                  </a:schemeClr>
                </a:solidFill>
              </a:rPr>
              <a:t>、同步</a:t>
            </a:r>
            <a:r>
              <a:rPr lang="en-US" altLang="zh-CN" dirty="0">
                <a:solidFill>
                  <a:schemeClr val="tx1">
                    <a:lumMod val="95000"/>
                    <a:lumOff val="5000"/>
                  </a:schemeClr>
                </a:solidFill>
              </a:rPr>
              <a:t>keystone</a:t>
            </a:r>
            <a:r>
              <a:rPr lang="zh-CN" altLang="en-US" dirty="0">
                <a:solidFill>
                  <a:schemeClr val="tx1">
                    <a:lumMod val="95000"/>
                    <a:lumOff val="5000"/>
                  </a:schemeClr>
                </a:solidFill>
              </a:rPr>
              <a:t>数据库</a:t>
            </a:r>
          </a:p>
          <a:p>
            <a:pPr marL="0" indent="0">
              <a:buNone/>
            </a:pPr>
            <a:r>
              <a:rPr lang="en-US" altLang="zh-CN" dirty="0">
                <a:solidFill>
                  <a:schemeClr val="tx1">
                    <a:lumMod val="95000"/>
                    <a:lumOff val="5000"/>
                  </a:schemeClr>
                </a:solidFill>
              </a:rPr>
              <a:t>6</a:t>
            </a:r>
            <a:r>
              <a:rPr lang="zh-CN" altLang="en-US" dirty="0">
                <a:solidFill>
                  <a:schemeClr val="tx1">
                    <a:lumMod val="95000"/>
                    <a:lumOff val="5000"/>
                  </a:schemeClr>
                </a:solidFill>
              </a:rPr>
              <a:t>、</a:t>
            </a:r>
            <a:r>
              <a:rPr lang="en-US" altLang="zh-CN" dirty="0">
                <a:solidFill>
                  <a:schemeClr val="tx1">
                    <a:lumMod val="95000"/>
                    <a:lumOff val="5000"/>
                  </a:schemeClr>
                </a:solidFill>
              </a:rPr>
              <a:t>Keystone</a:t>
            </a:r>
            <a:r>
              <a:rPr lang="zh-CN" altLang="en-US" dirty="0">
                <a:solidFill>
                  <a:schemeClr val="tx1">
                    <a:lumMod val="95000"/>
                    <a:lumOff val="5000"/>
                  </a:schemeClr>
                </a:solidFill>
              </a:rPr>
              <a:t>使用</a:t>
            </a:r>
            <a:r>
              <a:rPr lang="en-US" altLang="zh-CN" dirty="0">
                <a:solidFill>
                  <a:schemeClr val="tx1">
                    <a:lumMod val="95000"/>
                    <a:lumOff val="5000"/>
                  </a:schemeClr>
                </a:solidFill>
              </a:rPr>
              <a:t>PKI</a:t>
            </a:r>
            <a:r>
              <a:rPr lang="zh-CN" altLang="en-US" dirty="0">
                <a:solidFill>
                  <a:schemeClr val="tx1">
                    <a:lumMod val="95000"/>
                    <a:lumOff val="5000"/>
                  </a:schemeClr>
                </a:solidFill>
              </a:rPr>
              <a:t>令牌，创建签名密钥和证书</a:t>
            </a:r>
            <a:endParaRPr lang="en-US" altLang="zh-CN" dirty="0">
              <a:solidFill>
                <a:schemeClr val="tx1">
                  <a:lumMod val="95000"/>
                  <a:lumOff val="5000"/>
                </a:schemeClr>
              </a:solidFill>
            </a:endParaRPr>
          </a:p>
          <a:p>
            <a:pPr marL="0" indent="0">
              <a:buNone/>
            </a:pPr>
            <a:r>
              <a:rPr lang="en-US" altLang="zh-CN" dirty="0">
                <a:solidFill>
                  <a:schemeClr val="tx1">
                    <a:lumMod val="95000"/>
                    <a:lumOff val="5000"/>
                  </a:schemeClr>
                </a:solidFill>
              </a:rPr>
              <a:t>7</a:t>
            </a:r>
            <a:r>
              <a:rPr lang="zh-CN" altLang="en-US" dirty="0">
                <a:solidFill>
                  <a:schemeClr val="tx1">
                    <a:lumMod val="95000"/>
                    <a:lumOff val="5000"/>
                  </a:schemeClr>
                </a:solidFill>
              </a:rPr>
              <a:t>、启动</a:t>
            </a:r>
            <a:r>
              <a:rPr lang="en-US" altLang="zh-CN" dirty="0">
                <a:solidFill>
                  <a:schemeClr val="tx1">
                    <a:lumMod val="95000"/>
                    <a:lumOff val="5000"/>
                  </a:schemeClr>
                </a:solidFill>
              </a:rPr>
              <a:t>keystone</a:t>
            </a:r>
            <a:r>
              <a:rPr lang="zh-CN" altLang="en-US" dirty="0">
                <a:solidFill>
                  <a:schemeClr val="tx1">
                    <a:lumMod val="95000"/>
                    <a:lumOff val="5000"/>
                  </a:schemeClr>
                </a:solidFill>
              </a:rPr>
              <a:t>服务</a:t>
            </a:r>
          </a:p>
          <a:p>
            <a:pPr marL="0" indent="0">
              <a:buNone/>
            </a:pPr>
            <a:r>
              <a:rPr lang="en-US" altLang="zh-CN" dirty="0">
                <a:solidFill>
                  <a:schemeClr val="tx1">
                    <a:lumMod val="95000"/>
                    <a:lumOff val="5000"/>
                  </a:schemeClr>
                </a:solidFill>
              </a:rPr>
              <a:t>8</a:t>
            </a:r>
            <a:r>
              <a:rPr lang="zh-CN" altLang="en-US" dirty="0">
                <a:solidFill>
                  <a:schemeClr val="tx1">
                    <a:lumMod val="95000"/>
                    <a:lumOff val="5000"/>
                  </a:schemeClr>
                </a:solidFill>
              </a:rPr>
              <a:t>、导入环境变量</a:t>
            </a:r>
          </a:p>
          <a:p>
            <a:pPr marL="0" indent="0">
              <a:buNone/>
            </a:pPr>
            <a:r>
              <a:rPr lang="en-US" altLang="zh-CN" dirty="0">
                <a:solidFill>
                  <a:schemeClr val="tx1">
                    <a:lumMod val="95000"/>
                    <a:lumOff val="5000"/>
                  </a:schemeClr>
                </a:solidFill>
              </a:rPr>
              <a:t>1</a:t>
            </a:r>
            <a:r>
              <a:rPr lang="zh-CN" altLang="en-US" dirty="0">
                <a:solidFill>
                  <a:schemeClr val="tx1">
                    <a:lumMod val="95000"/>
                    <a:lumOff val="5000"/>
                  </a:schemeClr>
                </a:solidFill>
              </a:rPr>
              <a:t>）在终端使用</a:t>
            </a:r>
            <a:r>
              <a:rPr lang="en-US" altLang="zh-CN" dirty="0">
                <a:solidFill>
                  <a:schemeClr val="tx1">
                    <a:lumMod val="95000"/>
                    <a:lumOff val="5000"/>
                  </a:schemeClr>
                </a:solidFill>
              </a:rPr>
              <a:t>export</a:t>
            </a:r>
            <a:r>
              <a:rPr lang="zh-CN" altLang="en-US" dirty="0">
                <a:solidFill>
                  <a:schemeClr val="tx1">
                    <a:lumMod val="95000"/>
                    <a:lumOff val="5000"/>
                  </a:schemeClr>
                </a:solidFill>
              </a:rPr>
              <a:t>命令</a:t>
            </a:r>
          </a:p>
          <a:p>
            <a:pPr marL="0" indent="0">
              <a:buNone/>
            </a:pPr>
            <a:r>
              <a:rPr lang="en-US" altLang="zh-CN" dirty="0">
                <a:solidFill>
                  <a:schemeClr val="tx1">
                    <a:lumMod val="95000"/>
                    <a:lumOff val="5000"/>
                  </a:schemeClr>
                </a:solidFill>
              </a:rPr>
              <a:t>2</a:t>
            </a:r>
            <a:r>
              <a:rPr lang="zh-CN" altLang="en-US" dirty="0">
                <a:solidFill>
                  <a:schemeClr val="tx1">
                    <a:lumMod val="95000"/>
                    <a:lumOff val="5000"/>
                  </a:schemeClr>
                </a:solidFill>
              </a:rPr>
              <a:t>）修改</a:t>
            </a:r>
            <a:r>
              <a:rPr lang="en-US" altLang="zh-CN" dirty="0">
                <a:solidFill>
                  <a:schemeClr val="tx1">
                    <a:lumMod val="95000"/>
                    <a:lumOff val="5000"/>
                  </a:schemeClr>
                </a:solidFill>
              </a:rPr>
              <a:t>~/.</a:t>
            </a:r>
            <a:r>
              <a:rPr lang="en-US" altLang="zh-CN" dirty="0" err="1">
                <a:solidFill>
                  <a:schemeClr val="tx1">
                    <a:lumMod val="95000"/>
                    <a:lumOff val="5000"/>
                  </a:schemeClr>
                </a:solidFill>
              </a:rPr>
              <a:t>bashrc</a:t>
            </a:r>
            <a:r>
              <a:rPr lang="zh-CN" altLang="en-US" dirty="0">
                <a:solidFill>
                  <a:schemeClr val="tx1">
                    <a:lumMod val="95000"/>
                    <a:lumOff val="5000"/>
                  </a:schemeClr>
                </a:solidFill>
              </a:rPr>
              <a:t>文件</a:t>
            </a:r>
          </a:p>
          <a:p>
            <a:pPr marL="0" indent="0">
              <a:buNone/>
            </a:pPr>
            <a:endParaRPr lang="zh-CN" altLang="en-US" dirty="0">
              <a:solidFill>
                <a:schemeClr val="tx1">
                  <a:lumMod val="95000"/>
                  <a:lumOff val="5000"/>
                </a:schemeClr>
              </a:solidFill>
            </a:endParaRPr>
          </a:p>
        </p:txBody>
      </p:sp>
      <p:grpSp>
        <p:nvGrpSpPr>
          <p:cNvPr id="8" name="组合 7"/>
          <p:cNvGrpSpPr/>
          <p:nvPr/>
        </p:nvGrpSpPr>
        <p:grpSpPr>
          <a:xfrm>
            <a:off x="10314213" y="5262011"/>
            <a:ext cx="1877787" cy="1129564"/>
            <a:chOff x="9675584" y="5175723"/>
            <a:chExt cx="1877787" cy="1129564"/>
          </a:xfrm>
        </p:grpSpPr>
        <p:sp>
          <p:nvSpPr>
            <p:cNvPr id="12" name="矩形 11"/>
            <p:cNvSpPr/>
            <p:nvPr/>
          </p:nvSpPr>
          <p:spPr>
            <a:xfrm>
              <a:off x="11286669" y="5640179"/>
              <a:ext cx="266702" cy="66188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0642146" y="5828865"/>
              <a:ext cx="266702" cy="4764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0241641" y="5175723"/>
              <a:ext cx="266702" cy="112956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9675584" y="5974341"/>
              <a:ext cx="266702" cy="33094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p:nvSpPr>
        <p:spPr>
          <a:xfrm>
            <a:off x="0" y="6391575"/>
            <a:ext cx="12192000" cy="466425"/>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solidFill>
            </a:endParaRPr>
          </a:p>
        </p:txBody>
      </p:sp>
      <p:sp>
        <p:nvSpPr>
          <p:cNvPr id="18" name="矩形 17"/>
          <p:cNvSpPr/>
          <p:nvPr/>
        </p:nvSpPr>
        <p:spPr>
          <a:xfrm>
            <a:off x="3660775" y="1677194"/>
            <a:ext cx="4413860"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3"/>
          <p:cNvSpPr txBox="1"/>
          <p:nvPr/>
        </p:nvSpPr>
        <p:spPr>
          <a:xfrm>
            <a:off x="3821163" y="1734284"/>
            <a:ext cx="4253472" cy="400110"/>
          </a:xfrm>
          <a:prstGeom prst="rect">
            <a:avLst/>
          </a:prstGeom>
          <a:noFill/>
        </p:spPr>
        <p:txBody>
          <a:bodyPr wrap="none" rtlCol="0">
            <a:spAutoFit/>
          </a:bodyPr>
          <a:lstStyle/>
          <a:p>
            <a:r>
              <a:rPr lang="zh-CN" altLang="en-US" sz="2000" dirty="0">
                <a:latin typeface="+mn-ea"/>
              </a:rPr>
              <a:t>任务</a:t>
            </a:r>
            <a:r>
              <a:rPr lang="en-US" altLang="zh-CN" sz="2000" dirty="0">
                <a:latin typeface="+mn-ea"/>
              </a:rPr>
              <a:t>3</a:t>
            </a:r>
            <a:r>
              <a:rPr lang="zh-CN" altLang="en-US" sz="2000" dirty="0">
                <a:latin typeface="+mn-ea"/>
              </a:rPr>
              <a:t>步骤：安装配置</a:t>
            </a:r>
            <a:r>
              <a:rPr lang="en-US" altLang="zh-CN" sz="2000" dirty="0">
                <a:latin typeface="+mn-ea"/>
              </a:rPr>
              <a:t>keystone</a:t>
            </a:r>
            <a:r>
              <a:rPr lang="zh-CN" altLang="en-US" sz="2000" dirty="0">
                <a:latin typeface="+mn-ea"/>
              </a:rPr>
              <a:t>服务</a:t>
            </a:r>
            <a:endParaRPr lang="en-US" altLang="zh-CN" sz="2000" dirty="0">
              <a:latin typeface="+mn-ea"/>
            </a:endParaRPr>
          </a:p>
        </p:txBody>
      </p:sp>
      <p:grpSp>
        <p:nvGrpSpPr>
          <p:cNvPr id="20" name="组合 19"/>
          <p:cNvGrpSpPr/>
          <p:nvPr/>
        </p:nvGrpSpPr>
        <p:grpSpPr>
          <a:xfrm>
            <a:off x="139962" y="-1"/>
            <a:ext cx="11520000" cy="2053082"/>
            <a:chOff x="131974" y="-1"/>
            <a:chExt cx="11520000" cy="2053082"/>
          </a:xfrm>
        </p:grpSpPr>
        <p:grpSp>
          <p:nvGrpSpPr>
            <p:cNvPr id="21" name="组合 20"/>
            <p:cNvGrpSpPr/>
            <p:nvPr/>
          </p:nvGrpSpPr>
          <p:grpSpPr>
            <a:xfrm>
              <a:off x="131974" y="-1"/>
              <a:ext cx="11520000" cy="1016152"/>
              <a:chOff x="131974" y="-1"/>
              <a:chExt cx="11520000" cy="1016152"/>
            </a:xfrm>
          </p:grpSpPr>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安装部署</a:t>
                </a:r>
              </a:p>
            </p:txBody>
          </p:sp>
        </p:grpSp>
        <p:sp>
          <p:nvSpPr>
            <p:cNvPr id="22" name="文本框 21"/>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文本框 22"/>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的安装部署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9481412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612775" y="2896394"/>
            <a:ext cx="10820400" cy="3581400"/>
          </a:xfrm>
          <a:prstGeom prst="roundRect">
            <a:avLst>
              <a:gd name="adj" fmla="val 5822"/>
            </a:avLst>
          </a:prstGeom>
          <a:solidFill>
            <a:schemeClr val="bg1">
              <a:lumMod val="95000"/>
            </a:schemeClr>
          </a:solidFill>
          <a:ln w="38100">
            <a:solidFill>
              <a:srgbClr val="FF993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3775" y="2614259"/>
            <a:ext cx="107505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536575" y="2282329"/>
            <a:ext cx="4267200" cy="461665"/>
          </a:xfrm>
          <a:prstGeom prst="rect">
            <a:avLst/>
          </a:prstGeom>
          <a:solidFill>
            <a:srgbClr val="00B0F0"/>
          </a:solidFill>
        </p:spPr>
        <p:txBody>
          <a:bodyPr wrap="square" rtlCol="0">
            <a:spAutoFit/>
          </a:bodyPr>
          <a:lstStyle/>
          <a:p>
            <a:r>
              <a:rPr lang="en-US" altLang="zh-CN" dirty="0">
                <a:latin typeface="+mn-ea"/>
              </a:rPr>
              <a:t>【</a:t>
            </a:r>
            <a:r>
              <a:rPr lang="zh-CN" altLang="en-US" dirty="0">
                <a:latin typeface="+mn-ea"/>
              </a:rPr>
              <a:t>实施步骤</a:t>
            </a:r>
            <a:r>
              <a:rPr lang="en-US" altLang="zh-CN" dirty="0">
                <a:latin typeface="+mn-ea"/>
              </a:rPr>
              <a:t>】9~12</a:t>
            </a:r>
          </a:p>
        </p:txBody>
      </p:sp>
      <p:sp>
        <p:nvSpPr>
          <p:cNvPr id="13" name="内容占位符 2"/>
          <p:cNvSpPr txBox="1">
            <a:spLocks/>
          </p:cNvSpPr>
          <p:nvPr/>
        </p:nvSpPr>
        <p:spPr>
          <a:xfrm>
            <a:off x="1108075" y="3201194"/>
            <a:ext cx="4457700" cy="2895600"/>
          </a:xfrm>
          <a:prstGeom prst="rect">
            <a:avLst/>
          </a:prstGeom>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en-US" altLang="zh-CN" dirty="0">
                <a:solidFill>
                  <a:schemeClr val="tx1">
                    <a:lumMod val="95000"/>
                    <a:lumOff val="5000"/>
                  </a:schemeClr>
                </a:solidFill>
              </a:rPr>
              <a:t>9</a:t>
            </a:r>
            <a:r>
              <a:rPr lang="zh-CN" altLang="en-US" dirty="0">
                <a:solidFill>
                  <a:schemeClr val="tx1">
                    <a:lumMod val="95000"/>
                    <a:lumOff val="5000"/>
                  </a:schemeClr>
                </a:solidFill>
              </a:rPr>
              <a:t>、清除失效令牌和</a:t>
            </a:r>
            <a:r>
              <a:rPr lang="en-US" altLang="zh-CN" dirty="0">
                <a:solidFill>
                  <a:schemeClr val="tx1">
                    <a:lumMod val="95000"/>
                    <a:lumOff val="5000"/>
                  </a:schemeClr>
                </a:solidFill>
              </a:rPr>
              <a:t>log</a:t>
            </a:r>
            <a:r>
              <a:rPr lang="zh-CN" altLang="en-US" dirty="0">
                <a:solidFill>
                  <a:schemeClr val="tx1">
                    <a:lumMod val="95000"/>
                    <a:lumOff val="5000"/>
                  </a:schemeClr>
                </a:solidFill>
              </a:rPr>
              <a:t>文件</a:t>
            </a:r>
          </a:p>
          <a:p>
            <a:pPr marL="0" indent="0">
              <a:buNone/>
            </a:pPr>
            <a:r>
              <a:rPr lang="en-US" altLang="zh-CN" dirty="0">
                <a:solidFill>
                  <a:schemeClr val="tx1">
                    <a:lumMod val="95000"/>
                    <a:lumOff val="5000"/>
                  </a:schemeClr>
                </a:solidFill>
              </a:rPr>
              <a:t>10</a:t>
            </a:r>
            <a:r>
              <a:rPr lang="zh-CN" altLang="en-US" dirty="0">
                <a:solidFill>
                  <a:schemeClr val="tx1">
                    <a:lumMod val="95000"/>
                    <a:lumOff val="5000"/>
                  </a:schemeClr>
                </a:solidFill>
              </a:rPr>
              <a:t>、定义用户、角色、租户和服务</a:t>
            </a:r>
            <a:endParaRPr lang="en-US" altLang="zh-CN" dirty="0">
              <a:solidFill>
                <a:schemeClr val="tx1">
                  <a:lumMod val="95000"/>
                  <a:lumOff val="5000"/>
                </a:schemeClr>
              </a:solidFill>
            </a:endParaRPr>
          </a:p>
          <a:p>
            <a:pPr marL="0" indent="0">
              <a:buNone/>
            </a:pPr>
            <a:r>
              <a:rPr lang="en-US" altLang="zh-CN" dirty="0">
                <a:solidFill>
                  <a:schemeClr val="tx1">
                    <a:lumMod val="95000"/>
                    <a:lumOff val="5000"/>
                  </a:schemeClr>
                </a:solidFill>
              </a:rPr>
              <a:t>1</a:t>
            </a:r>
            <a:r>
              <a:rPr lang="zh-CN" altLang="en-US" dirty="0">
                <a:solidFill>
                  <a:schemeClr val="tx1">
                    <a:lumMod val="95000"/>
                    <a:lumOff val="5000"/>
                  </a:schemeClr>
                </a:solidFill>
              </a:rPr>
              <a:t>）创建用户</a:t>
            </a:r>
            <a:r>
              <a:rPr lang="en-US" altLang="zh-CN" dirty="0">
                <a:solidFill>
                  <a:schemeClr val="tx1">
                    <a:lumMod val="95000"/>
                    <a:lumOff val="5000"/>
                  </a:schemeClr>
                </a:solidFill>
              </a:rPr>
              <a:t>admin</a:t>
            </a:r>
            <a:r>
              <a:rPr lang="zh-CN" altLang="en-US" dirty="0">
                <a:solidFill>
                  <a:schemeClr val="tx1">
                    <a:lumMod val="95000"/>
                    <a:lumOff val="5000"/>
                  </a:schemeClr>
                </a:solidFill>
              </a:rPr>
              <a:t>、</a:t>
            </a:r>
            <a:r>
              <a:rPr lang="en-US" altLang="zh-CN" dirty="0">
                <a:solidFill>
                  <a:schemeClr val="tx1">
                    <a:lumMod val="95000"/>
                    <a:lumOff val="5000"/>
                  </a:schemeClr>
                </a:solidFill>
              </a:rPr>
              <a:t>demo</a:t>
            </a:r>
            <a:r>
              <a:rPr lang="zh-CN" altLang="en-US" dirty="0">
                <a:solidFill>
                  <a:schemeClr val="tx1">
                    <a:lumMod val="95000"/>
                    <a:lumOff val="5000"/>
                  </a:schemeClr>
                </a:solidFill>
              </a:rPr>
              <a:t>和</a:t>
            </a:r>
            <a:r>
              <a:rPr lang="en-US" altLang="zh-CN" dirty="0">
                <a:solidFill>
                  <a:schemeClr val="tx1">
                    <a:lumMod val="95000"/>
                    <a:lumOff val="5000"/>
                  </a:schemeClr>
                </a:solidFill>
              </a:rPr>
              <a:t>swift</a:t>
            </a:r>
          </a:p>
          <a:p>
            <a:pPr marL="0" indent="0">
              <a:buNone/>
            </a:pPr>
            <a:r>
              <a:rPr lang="en-US" altLang="zh-CN" dirty="0">
                <a:solidFill>
                  <a:schemeClr val="tx1">
                    <a:lumMod val="95000"/>
                    <a:lumOff val="5000"/>
                  </a:schemeClr>
                </a:solidFill>
              </a:rPr>
              <a:t>2</a:t>
            </a:r>
            <a:r>
              <a:rPr lang="zh-CN" altLang="en-US" dirty="0">
                <a:solidFill>
                  <a:schemeClr val="tx1">
                    <a:lumMod val="95000"/>
                    <a:lumOff val="5000"/>
                  </a:schemeClr>
                </a:solidFill>
              </a:rPr>
              <a:t>）创建角色</a:t>
            </a:r>
            <a:r>
              <a:rPr lang="en-US" altLang="zh-CN" dirty="0">
                <a:solidFill>
                  <a:schemeClr val="tx1">
                    <a:lumMod val="95000"/>
                    <a:lumOff val="5000"/>
                  </a:schemeClr>
                </a:solidFill>
              </a:rPr>
              <a:t>admin</a:t>
            </a:r>
            <a:r>
              <a:rPr lang="zh-CN" altLang="en-US" dirty="0">
                <a:solidFill>
                  <a:schemeClr val="tx1">
                    <a:lumMod val="95000"/>
                    <a:lumOff val="5000"/>
                  </a:schemeClr>
                </a:solidFill>
              </a:rPr>
              <a:t>和</a:t>
            </a:r>
            <a:r>
              <a:rPr lang="en-US" altLang="zh-CN" dirty="0" err="1">
                <a:solidFill>
                  <a:schemeClr val="tx1">
                    <a:lumMod val="95000"/>
                    <a:lumOff val="5000"/>
                  </a:schemeClr>
                </a:solidFill>
              </a:rPr>
              <a:t>SwiftOperator</a:t>
            </a:r>
            <a:endParaRPr lang="en-US" altLang="zh-CN" dirty="0">
              <a:solidFill>
                <a:schemeClr val="tx1">
                  <a:lumMod val="95000"/>
                  <a:lumOff val="5000"/>
                </a:schemeClr>
              </a:solidFill>
            </a:endParaRPr>
          </a:p>
          <a:p>
            <a:pPr marL="0" indent="0">
              <a:buNone/>
            </a:pPr>
            <a:r>
              <a:rPr lang="en-US" altLang="zh-CN" dirty="0">
                <a:solidFill>
                  <a:schemeClr val="tx1">
                    <a:lumMod val="95000"/>
                    <a:lumOff val="5000"/>
                  </a:schemeClr>
                </a:solidFill>
              </a:rPr>
              <a:t>3</a:t>
            </a:r>
            <a:r>
              <a:rPr lang="zh-CN" altLang="en-US" dirty="0">
                <a:solidFill>
                  <a:schemeClr val="tx1">
                    <a:lumMod val="95000"/>
                    <a:lumOff val="5000"/>
                  </a:schemeClr>
                </a:solidFill>
              </a:rPr>
              <a:t>）创建租户</a:t>
            </a:r>
            <a:r>
              <a:rPr lang="en-US" altLang="zh-CN" dirty="0">
                <a:solidFill>
                  <a:schemeClr val="tx1">
                    <a:lumMod val="95000"/>
                    <a:lumOff val="5000"/>
                  </a:schemeClr>
                </a:solidFill>
              </a:rPr>
              <a:t>admin</a:t>
            </a:r>
            <a:r>
              <a:rPr lang="zh-CN" altLang="en-US" dirty="0">
                <a:solidFill>
                  <a:schemeClr val="tx1">
                    <a:lumMod val="95000"/>
                    <a:lumOff val="5000"/>
                  </a:schemeClr>
                </a:solidFill>
              </a:rPr>
              <a:t>、</a:t>
            </a:r>
            <a:r>
              <a:rPr lang="en-US" altLang="zh-CN" dirty="0">
                <a:solidFill>
                  <a:schemeClr val="tx1">
                    <a:lumMod val="95000"/>
                    <a:lumOff val="5000"/>
                  </a:schemeClr>
                </a:solidFill>
              </a:rPr>
              <a:t>demo</a:t>
            </a:r>
            <a:r>
              <a:rPr lang="zh-CN" altLang="en-US" dirty="0">
                <a:solidFill>
                  <a:schemeClr val="tx1">
                    <a:lumMod val="95000"/>
                    <a:lumOff val="5000"/>
                  </a:schemeClr>
                </a:solidFill>
              </a:rPr>
              <a:t>和</a:t>
            </a:r>
            <a:r>
              <a:rPr lang="en-US" altLang="zh-CN" dirty="0">
                <a:solidFill>
                  <a:schemeClr val="tx1">
                    <a:lumMod val="95000"/>
                    <a:lumOff val="5000"/>
                  </a:schemeClr>
                </a:solidFill>
              </a:rPr>
              <a:t>service</a:t>
            </a:r>
          </a:p>
          <a:p>
            <a:pPr marL="0" indent="0">
              <a:buNone/>
            </a:pPr>
            <a:r>
              <a:rPr lang="en-US" altLang="zh-CN" dirty="0">
                <a:solidFill>
                  <a:schemeClr val="tx1">
                    <a:lumMod val="95000"/>
                    <a:lumOff val="5000"/>
                  </a:schemeClr>
                </a:solidFill>
              </a:rPr>
              <a:t>4</a:t>
            </a:r>
            <a:r>
              <a:rPr lang="zh-CN" altLang="en-US" dirty="0">
                <a:solidFill>
                  <a:schemeClr val="tx1">
                    <a:lumMod val="95000"/>
                    <a:lumOff val="5000"/>
                  </a:schemeClr>
                </a:solidFill>
              </a:rPr>
              <a:t>）将角色和用户关联</a:t>
            </a:r>
          </a:p>
          <a:p>
            <a:pPr marL="0" indent="0">
              <a:buNone/>
            </a:pPr>
            <a:endParaRPr lang="zh-CN" altLang="en-US" dirty="0">
              <a:solidFill>
                <a:schemeClr val="tx1">
                  <a:lumMod val="95000"/>
                  <a:lumOff val="5000"/>
                </a:schemeClr>
              </a:solidFill>
            </a:endParaRPr>
          </a:p>
          <a:p>
            <a:pPr marL="0" indent="0">
              <a:buNone/>
            </a:pPr>
            <a:endParaRPr lang="zh-CN" altLang="en-US" dirty="0">
              <a:solidFill>
                <a:schemeClr val="tx1">
                  <a:lumMod val="95000"/>
                  <a:lumOff val="5000"/>
                </a:schemeClr>
              </a:solidFill>
            </a:endParaRPr>
          </a:p>
        </p:txBody>
      </p:sp>
      <p:grpSp>
        <p:nvGrpSpPr>
          <p:cNvPr id="8" name="组合 7"/>
          <p:cNvGrpSpPr/>
          <p:nvPr/>
        </p:nvGrpSpPr>
        <p:grpSpPr>
          <a:xfrm>
            <a:off x="10314213" y="5262011"/>
            <a:ext cx="1877787" cy="1129564"/>
            <a:chOff x="9675584" y="5175723"/>
            <a:chExt cx="1877787" cy="1129564"/>
          </a:xfrm>
        </p:grpSpPr>
        <p:sp>
          <p:nvSpPr>
            <p:cNvPr id="12" name="矩形 11"/>
            <p:cNvSpPr/>
            <p:nvPr/>
          </p:nvSpPr>
          <p:spPr>
            <a:xfrm>
              <a:off x="11286669" y="5640179"/>
              <a:ext cx="266702" cy="66188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0642146" y="5828865"/>
              <a:ext cx="266702" cy="4764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0241641" y="5175723"/>
              <a:ext cx="266702" cy="112956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9675584" y="5974341"/>
              <a:ext cx="266702" cy="33094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p:nvSpPr>
        <p:spPr>
          <a:xfrm>
            <a:off x="0" y="6391575"/>
            <a:ext cx="12192000" cy="466425"/>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solidFill>
            </a:endParaRPr>
          </a:p>
        </p:txBody>
      </p:sp>
      <p:sp>
        <p:nvSpPr>
          <p:cNvPr id="18" name="矩形 17"/>
          <p:cNvSpPr/>
          <p:nvPr/>
        </p:nvSpPr>
        <p:spPr>
          <a:xfrm>
            <a:off x="6556375" y="3227076"/>
            <a:ext cx="4876800" cy="2260118"/>
          </a:xfrm>
          <a:prstGeom prst="rect">
            <a:avLst/>
          </a:prstGeom>
        </p:spPr>
        <p:txBody>
          <a:bodyPr vert="horz" lIns="121917" tIns="60958" rIns="121917" bIns="60958" rtlCol="0">
            <a:noAutofit/>
          </a:bodyPr>
          <a:lstStyle/>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rPr>
              <a:t>11</a:t>
            </a:r>
            <a:r>
              <a:rPr lang="zh-CN" altLang="en-US" sz="2000" dirty="0">
                <a:solidFill>
                  <a:schemeClr val="tx1">
                    <a:lumMod val="95000"/>
                    <a:lumOff val="5000"/>
                  </a:schemeClr>
                </a:solidFill>
              </a:rPr>
              <a:t>、创建服务端点</a:t>
            </a:r>
            <a:endParaRPr lang="en-US" altLang="zh-CN" sz="2000" dirty="0">
              <a:solidFill>
                <a:schemeClr val="tx1">
                  <a:lumMod val="95000"/>
                  <a:lumOff val="5000"/>
                </a:schemeClr>
              </a:solidFill>
            </a:endParaRPr>
          </a:p>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rPr>
              <a:t>1</a:t>
            </a:r>
            <a:r>
              <a:rPr lang="zh-CN" altLang="en-US" sz="2000" dirty="0">
                <a:solidFill>
                  <a:schemeClr val="tx1">
                    <a:lumMod val="95000"/>
                    <a:lumOff val="5000"/>
                  </a:schemeClr>
                </a:solidFill>
              </a:rPr>
              <a:t>）创建服务</a:t>
            </a:r>
            <a:r>
              <a:rPr lang="en-US" altLang="zh-CN" sz="2000" dirty="0">
                <a:solidFill>
                  <a:schemeClr val="tx1">
                    <a:lumMod val="95000"/>
                    <a:lumOff val="5000"/>
                  </a:schemeClr>
                </a:solidFill>
              </a:rPr>
              <a:t>identity</a:t>
            </a:r>
            <a:r>
              <a:rPr lang="zh-CN" altLang="en-US" sz="2000" dirty="0">
                <a:solidFill>
                  <a:schemeClr val="tx1">
                    <a:lumMod val="95000"/>
                    <a:lumOff val="5000"/>
                  </a:schemeClr>
                </a:solidFill>
              </a:rPr>
              <a:t>和</a:t>
            </a:r>
            <a:r>
              <a:rPr lang="en-US" altLang="zh-CN" sz="2000" dirty="0">
                <a:solidFill>
                  <a:schemeClr val="tx1">
                    <a:lumMod val="95000"/>
                    <a:lumOff val="5000"/>
                  </a:schemeClr>
                </a:solidFill>
              </a:rPr>
              <a:t>object-store</a:t>
            </a:r>
          </a:p>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rPr>
              <a:t>2</a:t>
            </a:r>
            <a:r>
              <a:rPr lang="zh-CN" altLang="en-US" sz="2000" dirty="0">
                <a:solidFill>
                  <a:schemeClr val="tx1">
                    <a:lumMod val="95000"/>
                    <a:lumOff val="5000"/>
                  </a:schemeClr>
                </a:solidFill>
              </a:rPr>
              <a:t>）创建</a:t>
            </a:r>
            <a:r>
              <a:rPr lang="en-US" altLang="zh-CN" sz="2000" dirty="0">
                <a:solidFill>
                  <a:schemeClr val="tx1">
                    <a:lumMod val="95000"/>
                    <a:lumOff val="5000"/>
                  </a:schemeClr>
                </a:solidFill>
              </a:rPr>
              <a:t>API Endpoint</a:t>
            </a:r>
          </a:p>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rPr>
              <a:t>12</a:t>
            </a:r>
            <a:r>
              <a:rPr lang="zh-CN" altLang="en-US" sz="2000" dirty="0">
                <a:solidFill>
                  <a:schemeClr val="tx1">
                    <a:lumMod val="95000"/>
                    <a:lumOff val="5000"/>
                  </a:schemeClr>
                </a:solidFill>
              </a:rPr>
              <a:t>、查看添加的各项内容</a:t>
            </a:r>
            <a:endParaRPr lang="en-US" altLang="zh-CN" sz="2000" dirty="0">
              <a:solidFill>
                <a:schemeClr val="tx1">
                  <a:lumMod val="95000"/>
                  <a:lumOff val="5000"/>
                </a:schemeClr>
              </a:solidFill>
            </a:endParaRPr>
          </a:p>
        </p:txBody>
      </p:sp>
      <p:sp>
        <p:nvSpPr>
          <p:cNvPr id="19" name="矩形 18"/>
          <p:cNvSpPr/>
          <p:nvPr/>
        </p:nvSpPr>
        <p:spPr>
          <a:xfrm>
            <a:off x="3660775" y="1677194"/>
            <a:ext cx="4413860"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3"/>
          <p:cNvSpPr txBox="1"/>
          <p:nvPr/>
        </p:nvSpPr>
        <p:spPr>
          <a:xfrm>
            <a:off x="3821163" y="1734284"/>
            <a:ext cx="4253472" cy="400110"/>
          </a:xfrm>
          <a:prstGeom prst="rect">
            <a:avLst/>
          </a:prstGeom>
          <a:noFill/>
        </p:spPr>
        <p:txBody>
          <a:bodyPr wrap="none" rtlCol="0">
            <a:spAutoFit/>
          </a:bodyPr>
          <a:lstStyle/>
          <a:p>
            <a:r>
              <a:rPr lang="zh-CN" altLang="en-US" sz="2000" dirty="0">
                <a:latin typeface="+mn-ea"/>
              </a:rPr>
              <a:t>任务</a:t>
            </a:r>
            <a:r>
              <a:rPr lang="en-US" altLang="zh-CN" sz="2000" dirty="0">
                <a:latin typeface="+mn-ea"/>
              </a:rPr>
              <a:t>3</a:t>
            </a:r>
            <a:r>
              <a:rPr lang="zh-CN" altLang="en-US" sz="2000" dirty="0">
                <a:latin typeface="+mn-ea"/>
              </a:rPr>
              <a:t>步骤：安装配置</a:t>
            </a:r>
            <a:r>
              <a:rPr lang="en-US" altLang="zh-CN" sz="2000" dirty="0">
                <a:latin typeface="+mn-ea"/>
              </a:rPr>
              <a:t>keystone</a:t>
            </a:r>
            <a:r>
              <a:rPr lang="zh-CN" altLang="en-US" sz="2000" dirty="0">
                <a:latin typeface="+mn-ea"/>
              </a:rPr>
              <a:t>服务</a:t>
            </a:r>
            <a:endParaRPr lang="en-US" altLang="zh-CN" sz="2000" dirty="0">
              <a:latin typeface="+mn-ea"/>
            </a:endParaRPr>
          </a:p>
        </p:txBody>
      </p:sp>
      <p:grpSp>
        <p:nvGrpSpPr>
          <p:cNvPr id="21" name="组合 20"/>
          <p:cNvGrpSpPr/>
          <p:nvPr/>
        </p:nvGrpSpPr>
        <p:grpSpPr>
          <a:xfrm>
            <a:off x="139962" y="-1"/>
            <a:ext cx="11520000" cy="2053082"/>
            <a:chOff x="131974" y="-1"/>
            <a:chExt cx="11520000" cy="2053082"/>
          </a:xfrm>
        </p:grpSpPr>
        <p:grpSp>
          <p:nvGrpSpPr>
            <p:cNvPr id="22" name="组合 21"/>
            <p:cNvGrpSpPr/>
            <p:nvPr/>
          </p:nvGrpSpPr>
          <p:grpSpPr>
            <a:xfrm>
              <a:off x="131974" y="-1"/>
              <a:ext cx="11520000" cy="1016152"/>
              <a:chOff x="131974" y="-1"/>
              <a:chExt cx="11520000" cy="1016152"/>
            </a:xfrm>
          </p:grpSpPr>
          <p:pic>
            <p:nvPicPr>
              <p:cNvPr id="25" name="图片 2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6" name="矩形 25"/>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7"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安装部署</a:t>
                </a:r>
              </a:p>
            </p:txBody>
          </p:sp>
        </p:grpSp>
        <p:sp>
          <p:nvSpPr>
            <p:cNvPr id="23" name="文本框 22"/>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4" name="文本框 23"/>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的安装部署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11484865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612775" y="2743994"/>
            <a:ext cx="10820400" cy="3733800"/>
          </a:xfrm>
          <a:prstGeom prst="roundRect">
            <a:avLst>
              <a:gd name="adj" fmla="val 5822"/>
            </a:avLst>
          </a:prstGeom>
          <a:solidFill>
            <a:schemeClr val="bg1">
              <a:lumMod val="95000"/>
            </a:schemeClr>
          </a:solidFill>
          <a:ln w="38100">
            <a:solidFill>
              <a:srgbClr val="FF993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3775" y="2538059"/>
            <a:ext cx="107505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536575" y="2206129"/>
            <a:ext cx="4267200" cy="461665"/>
          </a:xfrm>
          <a:prstGeom prst="rect">
            <a:avLst/>
          </a:prstGeom>
          <a:solidFill>
            <a:srgbClr val="00B0F0"/>
          </a:solidFill>
        </p:spPr>
        <p:txBody>
          <a:bodyPr wrap="square" rtlCol="0">
            <a:spAutoFit/>
          </a:bodyPr>
          <a:lstStyle/>
          <a:p>
            <a:r>
              <a:rPr lang="en-US" altLang="zh-CN" dirty="0">
                <a:latin typeface="+mn-ea"/>
              </a:rPr>
              <a:t>【</a:t>
            </a:r>
            <a:r>
              <a:rPr lang="zh-CN" altLang="en-US" dirty="0">
                <a:latin typeface="+mn-ea"/>
              </a:rPr>
              <a:t>实施步骤</a:t>
            </a:r>
            <a:r>
              <a:rPr lang="en-US" altLang="zh-CN" dirty="0">
                <a:latin typeface="+mn-ea"/>
              </a:rPr>
              <a:t>】13~14</a:t>
            </a:r>
          </a:p>
        </p:txBody>
      </p:sp>
      <p:sp>
        <p:nvSpPr>
          <p:cNvPr id="13" name="内容占位符 2"/>
          <p:cNvSpPr txBox="1">
            <a:spLocks/>
          </p:cNvSpPr>
          <p:nvPr/>
        </p:nvSpPr>
        <p:spPr>
          <a:xfrm>
            <a:off x="1103387" y="2930003"/>
            <a:ext cx="9029700" cy="3283398"/>
          </a:xfrm>
          <a:prstGeom prst="rect">
            <a:avLst/>
          </a:prstGeom>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en-US" altLang="zh-CN" dirty="0">
                <a:solidFill>
                  <a:schemeClr val="tx1">
                    <a:lumMod val="95000"/>
                    <a:lumOff val="5000"/>
                  </a:schemeClr>
                </a:solidFill>
              </a:rPr>
              <a:t>13</a:t>
            </a:r>
            <a:r>
              <a:rPr lang="zh-CN" altLang="en-US" dirty="0">
                <a:solidFill>
                  <a:schemeClr val="tx1">
                    <a:lumMod val="95000"/>
                    <a:lumOff val="5000"/>
                  </a:schemeClr>
                </a:solidFill>
              </a:rPr>
              <a:t>、检验</a:t>
            </a:r>
            <a:r>
              <a:rPr lang="en-US" altLang="zh-CN" dirty="0">
                <a:solidFill>
                  <a:schemeClr val="tx1">
                    <a:lumMod val="95000"/>
                    <a:lumOff val="5000"/>
                  </a:schemeClr>
                </a:solidFill>
              </a:rPr>
              <a:t>keystone</a:t>
            </a:r>
            <a:r>
              <a:rPr lang="zh-CN" altLang="en-US" dirty="0">
                <a:solidFill>
                  <a:schemeClr val="tx1">
                    <a:lumMod val="95000"/>
                    <a:lumOff val="5000"/>
                  </a:schemeClr>
                </a:solidFill>
              </a:rPr>
              <a:t>的安装</a:t>
            </a:r>
          </a:p>
          <a:p>
            <a:pPr marL="0" indent="0">
              <a:buNone/>
            </a:pPr>
            <a:r>
              <a:rPr lang="en-US" altLang="zh-CN" dirty="0">
                <a:solidFill>
                  <a:schemeClr val="tx1">
                    <a:lumMod val="95000"/>
                    <a:lumOff val="5000"/>
                  </a:schemeClr>
                </a:solidFill>
              </a:rPr>
              <a:t>1</a:t>
            </a:r>
            <a:r>
              <a:rPr lang="zh-CN" altLang="en-US" dirty="0">
                <a:solidFill>
                  <a:schemeClr val="tx1">
                    <a:lumMod val="95000"/>
                    <a:lumOff val="5000"/>
                  </a:schemeClr>
                </a:solidFill>
              </a:rPr>
              <a:t>）清除环境变量</a:t>
            </a:r>
          </a:p>
          <a:p>
            <a:pPr marL="0" indent="0">
              <a:buNone/>
            </a:pPr>
            <a:r>
              <a:rPr lang="en-US" altLang="zh-CN" dirty="0">
                <a:solidFill>
                  <a:schemeClr val="tx1">
                    <a:lumMod val="95000"/>
                    <a:lumOff val="5000"/>
                  </a:schemeClr>
                </a:solidFill>
              </a:rPr>
              <a:t>2</a:t>
            </a:r>
            <a:r>
              <a:rPr lang="zh-CN" altLang="en-US" dirty="0">
                <a:solidFill>
                  <a:schemeClr val="tx1">
                    <a:lumMod val="95000"/>
                    <a:lumOff val="5000"/>
                  </a:schemeClr>
                </a:solidFill>
              </a:rPr>
              <a:t>）通过</a:t>
            </a:r>
            <a:r>
              <a:rPr lang="en-US" altLang="zh-CN" dirty="0">
                <a:solidFill>
                  <a:schemeClr val="tx1">
                    <a:lumMod val="95000"/>
                    <a:lumOff val="5000"/>
                  </a:schemeClr>
                </a:solidFill>
              </a:rPr>
              <a:t>endpoint</a:t>
            </a:r>
            <a:r>
              <a:rPr lang="zh-CN" altLang="en-US" dirty="0">
                <a:solidFill>
                  <a:schemeClr val="tx1">
                    <a:lumMod val="95000"/>
                    <a:lumOff val="5000"/>
                  </a:schemeClr>
                </a:solidFill>
              </a:rPr>
              <a:t>的</a:t>
            </a:r>
            <a:r>
              <a:rPr lang="en-US" altLang="zh-CN" dirty="0">
                <a:solidFill>
                  <a:schemeClr val="tx1">
                    <a:lumMod val="95000"/>
                    <a:lumOff val="5000"/>
                  </a:schemeClr>
                </a:solidFill>
              </a:rPr>
              <a:t>admin</a:t>
            </a:r>
            <a:r>
              <a:rPr lang="zh-CN" altLang="en-US" dirty="0">
                <a:solidFill>
                  <a:schemeClr val="tx1">
                    <a:lumMod val="95000"/>
                    <a:lumOff val="5000"/>
                  </a:schemeClr>
                </a:solidFill>
              </a:rPr>
              <a:t>用户和密码检查令牌</a:t>
            </a:r>
          </a:p>
          <a:p>
            <a:pPr marL="0" indent="0">
              <a:buNone/>
            </a:pPr>
            <a:r>
              <a:rPr lang="en-US" altLang="zh-CN" dirty="0">
                <a:solidFill>
                  <a:schemeClr val="tx1">
                    <a:lumMod val="95000"/>
                    <a:lumOff val="5000"/>
                  </a:schemeClr>
                </a:solidFill>
              </a:rPr>
              <a:t>14</a:t>
            </a:r>
            <a:r>
              <a:rPr lang="zh-CN" altLang="en-US" dirty="0">
                <a:solidFill>
                  <a:schemeClr val="tx1">
                    <a:lumMod val="95000"/>
                    <a:lumOff val="5000"/>
                  </a:schemeClr>
                </a:solidFill>
              </a:rPr>
              <a:t>、使用</a:t>
            </a:r>
            <a:r>
              <a:rPr lang="en-US" altLang="zh-CN" dirty="0">
                <a:solidFill>
                  <a:schemeClr val="tx1">
                    <a:lumMod val="95000"/>
                    <a:lumOff val="5000"/>
                  </a:schemeClr>
                </a:solidFill>
              </a:rPr>
              <a:t>curl</a:t>
            </a:r>
            <a:r>
              <a:rPr lang="zh-CN" altLang="en-US" dirty="0">
                <a:solidFill>
                  <a:schemeClr val="tx1">
                    <a:lumMod val="95000"/>
                    <a:lumOff val="5000"/>
                  </a:schemeClr>
                </a:solidFill>
              </a:rPr>
              <a:t>命令测试</a:t>
            </a:r>
          </a:p>
          <a:p>
            <a:pPr marL="0" indent="0">
              <a:buNone/>
            </a:pPr>
            <a:r>
              <a:rPr lang="en-US" altLang="zh-CN" dirty="0">
                <a:solidFill>
                  <a:schemeClr val="tx1">
                    <a:lumMod val="95000"/>
                    <a:lumOff val="5000"/>
                  </a:schemeClr>
                </a:solidFill>
              </a:rPr>
              <a:t>1</a:t>
            </a:r>
            <a:r>
              <a:rPr lang="zh-CN" altLang="en-US" dirty="0">
                <a:solidFill>
                  <a:schemeClr val="tx1">
                    <a:lumMod val="95000"/>
                    <a:lumOff val="5000"/>
                  </a:schemeClr>
                </a:solidFill>
              </a:rPr>
              <a:t>）获取版本号</a:t>
            </a:r>
          </a:p>
          <a:p>
            <a:pPr marL="0" indent="0">
              <a:buNone/>
            </a:pPr>
            <a:r>
              <a:rPr lang="en-US" altLang="zh-CN" dirty="0">
                <a:solidFill>
                  <a:schemeClr val="tx1">
                    <a:lumMod val="95000"/>
                    <a:lumOff val="5000"/>
                  </a:schemeClr>
                </a:solidFill>
              </a:rPr>
              <a:t>2</a:t>
            </a:r>
            <a:r>
              <a:rPr lang="zh-CN" altLang="en-US" dirty="0">
                <a:solidFill>
                  <a:schemeClr val="tx1">
                    <a:lumMod val="95000"/>
                    <a:lumOff val="5000"/>
                  </a:schemeClr>
                </a:solidFill>
              </a:rPr>
              <a:t>）获得</a:t>
            </a:r>
            <a:r>
              <a:rPr lang="en-US" altLang="zh-CN" dirty="0" err="1">
                <a:solidFill>
                  <a:schemeClr val="tx1">
                    <a:lumMod val="95000"/>
                    <a:lumOff val="5000"/>
                  </a:schemeClr>
                </a:solidFill>
              </a:rPr>
              <a:t>api</a:t>
            </a:r>
            <a:r>
              <a:rPr lang="zh-CN" altLang="en-US" dirty="0">
                <a:solidFill>
                  <a:schemeClr val="tx1">
                    <a:lumMod val="95000"/>
                    <a:lumOff val="5000"/>
                  </a:schemeClr>
                </a:solidFill>
              </a:rPr>
              <a:t>扩展</a:t>
            </a:r>
          </a:p>
          <a:p>
            <a:pPr marL="0" indent="0">
              <a:buNone/>
            </a:pPr>
            <a:r>
              <a:rPr lang="en-US" altLang="zh-CN" dirty="0">
                <a:solidFill>
                  <a:schemeClr val="tx1">
                    <a:lumMod val="95000"/>
                    <a:lumOff val="5000"/>
                  </a:schemeClr>
                </a:solidFill>
              </a:rPr>
              <a:t>3</a:t>
            </a:r>
            <a:r>
              <a:rPr lang="zh-CN" altLang="en-US" dirty="0">
                <a:solidFill>
                  <a:schemeClr val="tx1">
                    <a:lumMod val="95000"/>
                    <a:lumOff val="5000"/>
                  </a:schemeClr>
                </a:solidFill>
              </a:rPr>
              <a:t>）获得</a:t>
            </a:r>
            <a:r>
              <a:rPr lang="en-US" altLang="zh-CN" dirty="0">
                <a:solidFill>
                  <a:schemeClr val="tx1">
                    <a:lumMod val="95000"/>
                    <a:lumOff val="5000"/>
                  </a:schemeClr>
                </a:solidFill>
              </a:rPr>
              <a:t>tokens</a:t>
            </a:r>
            <a:endParaRPr lang="zh-CN" altLang="en-US" dirty="0">
              <a:solidFill>
                <a:schemeClr val="tx1">
                  <a:lumMod val="95000"/>
                  <a:lumOff val="5000"/>
                </a:schemeClr>
              </a:solidFill>
            </a:endParaRPr>
          </a:p>
          <a:p>
            <a:pPr marL="0" indent="0">
              <a:buNone/>
            </a:pPr>
            <a:endParaRPr lang="zh-CN" altLang="en-US" dirty="0">
              <a:solidFill>
                <a:schemeClr val="tx1">
                  <a:lumMod val="95000"/>
                  <a:lumOff val="5000"/>
                </a:schemeClr>
              </a:solidFill>
            </a:endParaRPr>
          </a:p>
        </p:txBody>
      </p:sp>
      <p:grpSp>
        <p:nvGrpSpPr>
          <p:cNvPr id="8" name="组合 7"/>
          <p:cNvGrpSpPr/>
          <p:nvPr/>
        </p:nvGrpSpPr>
        <p:grpSpPr>
          <a:xfrm>
            <a:off x="10314213" y="5262011"/>
            <a:ext cx="1877787" cy="1129564"/>
            <a:chOff x="9675584" y="5175723"/>
            <a:chExt cx="1877787" cy="1129564"/>
          </a:xfrm>
        </p:grpSpPr>
        <p:sp>
          <p:nvSpPr>
            <p:cNvPr id="12" name="矩形 11"/>
            <p:cNvSpPr/>
            <p:nvPr/>
          </p:nvSpPr>
          <p:spPr>
            <a:xfrm>
              <a:off x="11286669" y="5640179"/>
              <a:ext cx="266702" cy="66188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0642146" y="5828865"/>
              <a:ext cx="266702" cy="4764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0241641" y="5175723"/>
              <a:ext cx="266702" cy="112956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9675584" y="5974341"/>
              <a:ext cx="266702" cy="33094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p:nvSpPr>
        <p:spPr>
          <a:xfrm>
            <a:off x="0" y="6391575"/>
            <a:ext cx="12192000" cy="466425"/>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solidFill>
            </a:endParaRPr>
          </a:p>
        </p:txBody>
      </p:sp>
      <p:sp>
        <p:nvSpPr>
          <p:cNvPr id="18" name="矩形 17"/>
          <p:cNvSpPr/>
          <p:nvPr/>
        </p:nvSpPr>
        <p:spPr>
          <a:xfrm>
            <a:off x="3660775" y="1677194"/>
            <a:ext cx="4413860"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3"/>
          <p:cNvSpPr txBox="1"/>
          <p:nvPr/>
        </p:nvSpPr>
        <p:spPr>
          <a:xfrm>
            <a:off x="3821163" y="1734284"/>
            <a:ext cx="4253472" cy="400110"/>
          </a:xfrm>
          <a:prstGeom prst="rect">
            <a:avLst/>
          </a:prstGeom>
          <a:noFill/>
        </p:spPr>
        <p:txBody>
          <a:bodyPr wrap="none" rtlCol="0">
            <a:spAutoFit/>
          </a:bodyPr>
          <a:lstStyle/>
          <a:p>
            <a:r>
              <a:rPr lang="zh-CN" altLang="en-US" sz="2000" dirty="0">
                <a:latin typeface="+mn-ea"/>
              </a:rPr>
              <a:t>任务</a:t>
            </a:r>
            <a:r>
              <a:rPr lang="en-US" altLang="zh-CN" sz="2000" dirty="0">
                <a:latin typeface="+mn-ea"/>
              </a:rPr>
              <a:t>3</a:t>
            </a:r>
            <a:r>
              <a:rPr lang="zh-CN" altLang="en-US" sz="2000" dirty="0">
                <a:latin typeface="+mn-ea"/>
              </a:rPr>
              <a:t>步骤：安装配置</a:t>
            </a:r>
            <a:r>
              <a:rPr lang="en-US" altLang="zh-CN" sz="2000" dirty="0">
                <a:latin typeface="+mn-ea"/>
              </a:rPr>
              <a:t>keystone</a:t>
            </a:r>
            <a:r>
              <a:rPr lang="zh-CN" altLang="en-US" sz="2000" dirty="0">
                <a:latin typeface="+mn-ea"/>
              </a:rPr>
              <a:t>服务</a:t>
            </a:r>
            <a:endParaRPr lang="en-US" altLang="zh-CN" sz="2000" dirty="0">
              <a:latin typeface="+mn-ea"/>
            </a:endParaRPr>
          </a:p>
        </p:txBody>
      </p:sp>
      <p:grpSp>
        <p:nvGrpSpPr>
          <p:cNvPr id="20" name="组合 19"/>
          <p:cNvGrpSpPr/>
          <p:nvPr/>
        </p:nvGrpSpPr>
        <p:grpSpPr>
          <a:xfrm>
            <a:off x="139962" y="-1"/>
            <a:ext cx="11520000" cy="2053082"/>
            <a:chOff x="131974" y="-1"/>
            <a:chExt cx="11520000" cy="2053082"/>
          </a:xfrm>
        </p:grpSpPr>
        <p:grpSp>
          <p:nvGrpSpPr>
            <p:cNvPr id="21" name="组合 20"/>
            <p:cNvGrpSpPr/>
            <p:nvPr/>
          </p:nvGrpSpPr>
          <p:grpSpPr>
            <a:xfrm>
              <a:off x="131974" y="-1"/>
              <a:ext cx="11520000" cy="1016152"/>
              <a:chOff x="131974" y="-1"/>
              <a:chExt cx="11520000" cy="1016152"/>
            </a:xfrm>
          </p:grpSpPr>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安装部署</a:t>
                </a:r>
              </a:p>
            </p:txBody>
          </p:sp>
        </p:grpSp>
        <p:sp>
          <p:nvSpPr>
            <p:cNvPr id="22" name="文本框 21"/>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文本框 22"/>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的安装部署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5166601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0" y="2848759"/>
            <a:ext cx="12198350" cy="265494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0" y="2743994"/>
            <a:ext cx="121983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791250" y="2282329"/>
            <a:ext cx="2031325"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内容占位符 2"/>
          <p:cNvSpPr>
            <a:spLocks noGrp="1"/>
          </p:cNvSpPr>
          <p:nvPr>
            <p:ph idx="4294967295"/>
          </p:nvPr>
        </p:nvSpPr>
        <p:spPr>
          <a:xfrm>
            <a:off x="688975" y="3088045"/>
            <a:ext cx="11131550" cy="1828800"/>
          </a:xfrm>
          <a:prstGeom prst="rect">
            <a:avLst/>
          </a:prstGeom>
        </p:spPr>
        <p:txBody>
          <a:bodyPr>
            <a:noAutofit/>
          </a:bodyPr>
          <a:lstStyle/>
          <a:p>
            <a:pPr marL="0" indent="0" algn="just">
              <a:buNone/>
            </a:pPr>
            <a:r>
              <a:rPr lang="zh-CN" altLang="en-US" dirty="0"/>
              <a:t>        </a:t>
            </a:r>
            <a:r>
              <a:rPr lang="zh-CN" altLang="en-US" dirty="0">
                <a:solidFill>
                  <a:srgbClr val="FF0000"/>
                </a:solidFill>
              </a:rPr>
              <a:t>代理节点</a:t>
            </a:r>
            <a:r>
              <a:rPr lang="zh-CN" altLang="en-US" dirty="0"/>
              <a:t>负责转送来自客户端的服务请求到合适的</a:t>
            </a:r>
            <a:r>
              <a:rPr lang="zh-CN" altLang="en-US" dirty="0">
                <a:solidFill>
                  <a:srgbClr val="FF0000"/>
                </a:solidFill>
              </a:rPr>
              <a:t>存储点</a:t>
            </a:r>
            <a:r>
              <a:rPr lang="zh-CN" altLang="en-US" dirty="0"/>
              <a:t>，并提供</a:t>
            </a:r>
            <a:r>
              <a:rPr lang="en-US" altLang="zh-CN" dirty="0" err="1"/>
              <a:t>TempAuth</a:t>
            </a:r>
            <a:r>
              <a:rPr lang="zh-CN" altLang="en-US" dirty="0"/>
              <a:t>身份认证服务。本子任务在</a:t>
            </a:r>
            <a:r>
              <a:rPr lang="en-US" altLang="zh-CN" dirty="0">
                <a:solidFill>
                  <a:srgbClr val="FF0000"/>
                </a:solidFill>
              </a:rPr>
              <a:t>node2</a:t>
            </a:r>
            <a:r>
              <a:rPr lang="zh-CN" altLang="en-US" dirty="0">
                <a:solidFill>
                  <a:srgbClr val="FF0000"/>
                </a:solidFill>
              </a:rPr>
              <a:t>节点机安装</a:t>
            </a:r>
            <a:r>
              <a:rPr lang="en-US" altLang="zh-CN" dirty="0">
                <a:solidFill>
                  <a:srgbClr val="FF0000"/>
                </a:solidFill>
              </a:rPr>
              <a:t>swift-proxy</a:t>
            </a:r>
            <a:r>
              <a:rPr lang="zh-CN" altLang="en-US" dirty="0"/>
              <a:t>，代理节点需要</a:t>
            </a:r>
            <a:r>
              <a:rPr lang="en-US" altLang="zh-CN" dirty="0"/>
              <a:t>python-</a:t>
            </a:r>
            <a:r>
              <a:rPr lang="en-US" altLang="zh-CN" dirty="0" err="1"/>
              <a:t>keyston</a:t>
            </a:r>
            <a:r>
              <a:rPr lang="zh-CN" altLang="en-US" dirty="0"/>
              <a:t>使用</a:t>
            </a:r>
            <a:r>
              <a:rPr lang="en-US" altLang="zh-CN" dirty="0"/>
              <a:t>Keystone</a:t>
            </a:r>
            <a:r>
              <a:rPr lang="zh-CN" altLang="en-US" dirty="0"/>
              <a:t>身份验证服务，</a:t>
            </a:r>
            <a:r>
              <a:rPr lang="en-US" altLang="zh-CN" dirty="0"/>
              <a:t>python-</a:t>
            </a:r>
            <a:r>
              <a:rPr lang="en-US" altLang="zh-CN" dirty="0" err="1"/>
              <a:t>swiftclient</a:t>
            </a:r>
            <a:r>
              <a:rPr lang="zh-CN" altLang="en-US" dirty="0"/>
              <a:t>是</a:t>
            </a:r>
            <a:r>
              <a:rPr lang="en-US" altLang="zh-CN" dirty="0"/>
              <a:t>Swift</a:t>
            </a:r>
            <a:r>
              <a:rPr lang="zh-CN" altLang="en-US" dirty="0"/>
              <a:t>的命令行工具，</a:t>
            </a:r>
            <a:r>
              <a:rPr lang="en-US" altLang="zh-CN" dirty="0" err="1"/>
              <a:t>memcached</a:t>
            </a:r>
            <a:r>
              <a:rPr lang="zh-CN" altLang="en-US" dirty="0"/>
              <a:t>是缓存服务器。</a:t>
            </a:r>
          </a:p>
        </p:txBody>
      </p:sp>
      <p:sp>
        <p:nvSpPr>
          <p:cNvPr id="4" name="TextBox 3"/>
          <p:cNvSpPr txBox="1"/>
          <p:nvPr/>
        </p:nvSpPr>
        <p:spPr>
          <a:xfrm>
            <a:off x="791250" y="2286794"/>
            <a:ext cx="2031325" cy="461665"/>
          </a:xfrm>
          <a:prstGeom prst="rect">
            <a:avLst/>
          </a:prstGeom>
          <a:noFill/>
        </p:spPr>
        <p:txBody>
          <a:bodyPr wrap="none" rtlCol="0">
            <a:spAutoFit/>
          </a:bodyPr>
          <a:lstStyle/>
          <a:p>
            <a:r>
              <a:rPr lang="en-US" altLang="zh-CN" dirty="0">
                <a:latin typeface="+mn-ea"/>
              </a:rPr>
              <a:t>【</a:t>
            </a:r>
            <a:r>
              <a:rPr lang="zh-CN" altLang="en-US" dirty="0">
                <a:latin typeface="+mn-ea"/>
              </a:rPr>
              <a:t>任务内容</a:t>
            </a:r>
            <a:r>
              <a:rPr lang="en-US" altLang="zh-CN" dirty="0">
                <a:latin typeface="+mn-ea"/>
              </a:rPr>
              <a:t>】</a:t>
            </a:r>
          </a:p>
        </p:txBody>
      </p:sp>
      <p:sp>
        <p:nvSpPr>
          <p:cNvPr id="9" name="矩形 8"/>
          <p:cNvSpPr/>
          <p:nvPr/>
        </p:nvSpPr>
        <p:spPr>
          <a:xfrm>
            <a:off x="0" y="5503703"/>
            <a:ext cx="121983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4514" y="5592492"/>
            <a:ext cx="12212863" cy="1267096"/>
          </a:xfrm>
          <a:prstGeom prst="rect">
            <a:avLst/>
          </a:prstGeom>
          <a:solidFill>
            <a:schemeClr val="bg2">
              <a:lumMod val="1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a:off x="10213975"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a:off x="10594975"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p:nvSpPr>
        <p:spPr>
          <a:xfrm>
            <a:off x="11360603"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p:nvSpPr>
        <p:spPr>
          <a:xfrm>
            <a:off x="8308975"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a:off x="9090025"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3660775" y="1677194"/>
            <a:ext cx="4413860"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3"/>
          <p:cNvSpPr txBox="1"/>
          <p:nvPr/>
        </p:nvSpPr>
        <p:spPr>
          <a:xfrm>
            <a:off x="3821163" y="1734284"/>
            <a:ext cx="3327514" cy="400110"/>
          </a:xfrm>
          <a:prstGeom prst="rect">
            <a:avLst/>
          </a:prstGeom>
          <a:noFill/>
        </p:spPr>
        <p:txBody>
          <a:bodyPr wrap="none" rtlCol="0">
            <a:spAutoFit/>
          </a:bodyPr>
          <a:lstStyle/>
          <a:p>
            <a:r>
              <a:rPr lang="zh-CN" altLang="en-US" sz="2000" dirty="0">
                <a:latin typeface="+mn-ea"/>
              </a:rPr>
              <a:t>任务</a:t>
            </a:r>
            <a:r>
              <a:rPr lang="en-US" altLang="zh-CN" sz="2000" dirty="0">
                <a:latin typeface="+mn-ea"/>
              </a:rPr>
              <a:t>4</a:t>
            </a:r>
            <a:r>
              <a:rPr lang="zh-CN" altLang="en-US" sz="2000" dirty="0">
                <a:latin typeface="+mn-ea"/>
              </a:rPr>
              <a:t>：安装配置</a:t>
            </a:r>
            <a:r>
              <a:rPr lang="en-US" altLang="zh-CN" sz="2000" dirty="0">
                <a:latin typeface="+mn-ea"/>
              </a:rPr>
              <a:t>proxy</a:t>
            </a:r>
            <a:r>
              <a:rPr lang="zh-CN" altLang="en-US" sz="2000" dirty="0">
                <a:latin typeface="+mn-ea"/>
              </a:rPr>
              <a:t>节点</a:t>
            </a:r>
            <a:endParaRPr lang="en-US" altLang="zh-CN" sz="2000" dirty="0">
              <a:latin typeface="+mn-ea"/>
            </a:endParaRPr>
          </a:p>
        </p:txBody>
      </p:sp>
      <p:grpSp>
        <p:nvGrpSpPr>
          <p:cNvPr id="19" name="组合 18"/>
          <p:cNvGrpSpPr/>
          <p:nvPr/>
        </p:nvGrpSpPr>
        <p:grpSpPr>
          <a:xfrm>
            <a:off x="139962" y="-1"/>
            <a:ext cx="11520000" cy="2053082"/>
            <a:chOff x="131974" y="-1"/>
            <a:chExt cx="11520000" cy="2053082"/>
          </a:xfrm>
        </p:grpSpPr>
        <p:grpSp>
          <p:nvGrpSpPr>
            <p:cNvPr id="20" name="组合 19"/>
            <p:cNvGrpSpPr/>
            <p:nvPr/>
          </p:nvGrpSpPr>
          <p:grpSpPr>
            <a:xfrm>
              <a:off x="131974" y="-1"/>
              <a:ext cx="11520000" cy="1016152"/>
              <a:chOff x="131974" y="-1"/>
              <a:chExt cx="11520000" cy="1016152"/>
            </a:xfrm>
          </p:grpSpPr>
          <p:pic>
            <p:nvPicPr>
              <p:cNvPr id="23" name="图片 2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4" name="矩形 23"/>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5"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安装部署</a:t>
                </a:r>
              </a:p>
            </p:txBody>
          </p:sp>
        </p:grpSp>
        <p:sp>
          <p:nvSpPr>
            <p:cNvPr id="21" name="文本框 20"/>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2" name="文本框 21"/>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的安装部署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20550141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612775" y="2896394"/>
            <a:ext cx="10820400" cy="3581400"/>
          </a:xfrm>
          <a:prstGeom prst="roundRect">
            <a:avLst>
              <a:gd name="adj" fmla="val 5822"/>
            </a:avLst>
          </a:prstGeom>
          <a:solidFill>
            <a:schemeClr val="bg1">
              <a:lumMod val="95000"/>
            </a:schemeClr>
          </a:solidFill>
          <a:ln w="38100">
            <a:solidFill>
              <a:srgbClr val="FF993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3775" y="2614259"/>
            <a:ext cx="107505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536575" y="2282329"/>
            <a:ext cx="4267200" cy="461665"/>
          </a:xfrm>
          <a:prstGeom prst="rect">
            <a:avLst/>
          </a:prstGeom>
          <a:solidFill>
            <a:srgbClr val="00B0F0"/>
          </a:solidFill>
        </p:spPr>
        <p:txBody>
          <a:bodyPr wrap="square" rtlCol="0">
            <a:spAutoFit/>
          </a:bodyPr>
          <a:lstStyle/>
          <a:p>
            <a:r>
              <a:rPr lang="en-US" altLang="zh-CN" dirty="0">
                <a:latin typeface="+mn-ea"/>
              </a:rPr>
              <a:t>【</a:t>
            </a:r>
            <a:r>
              <a:rPr lang="zh-CN" altLang="en-US" dirty="0">
                <a:latin typeface="+mn-ea"/>
              </a:rPr>
              <a:t>实施步骤</a:t>
            </a:r>
            <a:r>
              <a:rPr lang="en-US" altLang="zh-CN" dirty="0">
                <a:latin typeface="+mn-ea"/>
              </a:rPr>
              <a:t>】1~4</a:t>
            </a:r>
          </a:p>
        </p:txBody>
      </p:sp>
      <p:sp>
        <p:nvSpPr>
          <p:cNvPr id="13" name="内容占位符 2"/>
          <p:cNvSpPr txBox="1">
            <a:spLocks/>
          </p:cNvSpPr>
          <p:nvPr/>
        </p:nvSpPr>
        <p:spPr>
          <a:xfrm>
            <a:off x="1061967" y="2942755"/>
            <a:ext cx="9810295" cy="3283346"/>
          </a:xfrm>
          <a:prstGeom prst="rect">
            <a:avLst/>
          </a:prstGeom>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en-US" altLang="zh-CN" dirty="0">
                <a:solidFill>
                  <a:schemeClr val="tx1">
                    <a:lumMod val="95000"/>
                    <a:lumOff val="5000"/>
                  </a:schemeClr>
                </a:solidFill>
              </a:rPr>
              <a:t>1</a:t>
            </a:r>
            <a:r>
              <a:rPr lang="zh-CN" altLang="en-US" dirty="0">
                <a:solidFill>
                  <a:schemeClr val="tx1">
                    <a:lumMod val="95000"/>
                    <a:lumOff val="5000"/>
                  </a:schemeClr>
                </a:solidFill>
              </a:rPr>
              <a:t>、创建配置文件</a:t>
            </a:r>
            <a:r>
              <a:rPr lang="en-US" altLang="zh-CN" dirty="0" err="1">
                <a:solidFill>
                  <a:schemeClr val="tx1">
                    <a:lumMod val="95000"/>
                    <a:lumOff val="5000"/>
                  </a:schemeClr>
                </a:solidFill>
              </a:rPr>
              <a:t>swift.conf</a:t>
            </a:r>
            <a:endParaRPr lang="en-US" altLang="zh-CN" dirty="0">
              <a:solidFill>
                <a:schemeClr val="tx1">
                  <a:lumMod val="95000"/>
                  <a:lumOff val="5000"/>
                </a:schemeClr>
              </a:solidFill>
            </a:endParaRPr>
          </a:p>
          <a:p>
            <a:pPr marL="0" indent="0">
              <a:buNone/>
            </a:pPr>
            <a:r>
              <a:rPr lang="en-US" altLang="zh-CN" dirty="0">
                <a:solidFill>
                  <a:schemeClr val="tx1">
                    <a:lumMod val="95000"/>
                    <a:lumOff val="5000"/>
                  </a:schemeClr>
                </a:solidFill>
              </a:rPr>
              <a:t>2</a:t>
            </a:r>
            <a:r>
              <a:rPr lang="zh-CN" altLang="en-US" dirty="0">
                <a:solidFill>
                  <a:schemeClr val="tx1">
                    <a:lumMod val="95000"/>
                    <a:lumOff val="5000"/>
                  </a:schemeClr>
                </a:solidFill>
              </a:rPr>
              <a:t>、安装软件包</a:t>
            </a:r>
          </a:p>
          <a:p>
            <a:pPr marL="0" indent="0">
              <a:buNone/>
            </a:pPr>
            <a:r>
              <a:rPr lang="en-US" altLang="zh-CN" dirty="0">
                <a:solidFill>
                  <a:schemeClr val="tx1">
                    <a:lumMod val="95000"/>
                    <a:lumOff val="5000"/>
                  </a:schemeClr>
                </a:solidFill>
              </a:rPr>
              <a:t>3</a:t>
            </a:r>
            <a:r>
              <a:rPr lang="zh-CN" altLang="en-US" dirty="0">
                <a:solidFill>
                  <a:schemeClr val="tx1">
                    <a:lumMod val="95000"/>
                    <a:lumOff val="5000"/>
                  </a:schemeClr>
                </a:solidFill>
              </a:rPr>
              <a:t>、设置</a:t>
            </a:r>
            <a:r>
              <a:rPr lang="en-US" altLang="zh-CN" dirty="0" err="1">
                <a:solidFill>
                  <a:schemeClr val="tx1">
                    <a:lumMod val="95000"/>
                    <a:lumOff val="5000"/>
                  </a:schemeClr>
                </a:solidFill>
              </a:rPr>
              <a:t>memcache</a:t>
            </a:r>
            <a:r>
              <a:rPr lang="zh-CN" altLang="en-US" dirty="0">
                <a:solidFill>
                  <a:schemeClr val="tx1">
                    <a:lumMod val="95000"/>
                    <a:lumOff val="5000"/>
                  </a:schemeClr>
                </a:solidFill>
              </a:rPr>
              <a:t>服务</a:t>
            </a:r>
          </a:p>
          <a:p>
            <a:pPr marL="0" indent="0">
              <a:buNone/>
            </a:pPr>
            <a:r>
              <a:rPr lang="en-US" altLang="zh-CN" dirty="0">
                <a:solidFill>
                  <a:schemeClr val="tx1">
                    <a:lumMod val="95000"/>
                    <a:lumOff val="5000"/>
                  </a:schemeClr>
                </a:solidFill>
              </a:rPr>
              <a:t>1</a:t>
            </a:r>
            <a:r>
              <a:rPr lang="zh-CN" altLang="en-US" dirty="0">
                <a:solidFill>
                  <a:schemeClr val="tx1">
                    <a:lumMod val="95000"/>
                    <a:lumOff val="5000"/>
                  </a:schemeClr>
                </a:solidFill>
              </a:rPr>
              <a:t>）修改</a:t>
            </a:r>
            <a:r>
              <a:rPr lang="en-US" altLang="zh-CN" dirty="0">
                <a:solidFill>
                  <a:schemeClr val="tx1">
                    <a:lumMod val="95000"/>
                    <a:lumOff val="5000"/>
                  </a:schemeClr>
                </a:solidFill>
              </a:rPr>
              <a:t>/</a:t>
            </a:r>
            <a:r>
              <a:rPr lang="en-US" altLang="zh-CN" dirty="0" err="1">
                <a:solidFill>
                  <a:schemeClr val="tx1">
                    <a:lumMod val="95000"/>
                    <a:lumOff val="5000"/>
                  </a:schemeClr>
                </a:solidFill>
              </a:rPr>
              <a:t>etc</a:t>
            </a:r>
            <a:r>
              <a:rPr lang="en-US" altLang="zh-CN" dirty="0">
                <a:solidFill>
                  <a:schemeClr val="tx1">
                    <a:lumMod val="95000"/>
                    <a:lumOff val="5000"/>
                  </a:schemeClr>
                </a:solidFill>
              </a:rPr>
              <a:t>/</a:t>
            </a:r>
            <a:r>
              <a:rPr lang="en-US" altLang="zh-CN" dirty="0" err="1">
                <a:solidFill>
                  <a:schemeClr val="tx1">
                    <a:lumMod val="95000"/>
                    <a:lumOff val="5000"/>
                  </a:schemeClr>
                </a:solidFill>
              </a:rPr>
              <a:t>sysconfig</a:t>
            </a:r>
            <a:r>
              <a:rPr lang="en-US" altLang="zh-CN" dirty="0">
                <a:solidFill>
                  <a:schemeClr val="tx1">
                    <a:lumMod val="95000"/>
                    <a:lumOff val="5000"/>
                  </a:schemeClr>
                </a:solidFill>
              </a:rPr>
              <a:t>/</a:t>
            </a:r>
            <a:r>
              <a:rPr lang="en-US" altLang="zh-CN" dirty="0" err="1">
                <a:solidFill>
                  <a:schemeClr val="tx1">
                    <a:lumMod val="95000"/>
                    <a:lumOff val="5000"/>
                  </a:schemeClr>
                </a:solidFill>
              </a:rPr>
              <a:t>memcached</a:t>
            </a:r>
            <a:endParaRPr lang="en-US" altLang="zh-CN" dirty="0">
              <a:solidFill>
                <a:schemeClr val="tx1">
                  <a:lumMod val="95000"/>
                  <a:lumOff val="5000"/>
                </a:schemeClr>
              </a:solidFill>
            </a:endParaRPr>
          </a:p>
          <a:p>
            <a:pPr marL="0" indent="0">
              <a:buNone/>
            </a:pPr>
            <a:r>
              <a:rPr lang="en-US" altLang="zh-CN" dirty="0">
                <a:solidFill>
                  <a:schemeClr val="tx1">
                    <a:lumMod val="95000"/>
                    <a:lumOff val="5000"/>
                  </a:schemeClr>
                </a:solidFill>
              </a:rPr>
              <a:t>2</a:t>
            </a:r>
            <a:r>
              <a:rPr lang="zh-CN" altLang="en-US" dirty="0">
                <a:solidFill>
                  <a:schemeClr val="tx1">
                    <a:lumMod val="95000"/>
                    <a:lumOff val="5000"/>
                  </a:schemeClr>
                </a:solidFill>
              </a:rPr>
              <a:t>）修改</a:t>
            </a:r>
            <a:r>
              <a:rPr lang="en-US" altLang="zh-CN" dirty="0">
                <a:solidFill>
                  <a:schemeClr val="tx1">
                    <a:lumMod val="95000"/>
                    <a:lumOff val="5000"/>
                  </a:schemeClr>
                </a:solidFill>
              </a:rPr>
              <a:t>/</a:t>
            </a:r>
            <a:r>
              <a:rPr lang="en-US" altLang="zh-CN" dirty="0" err="1">
                <a:solidFill>
                  <a:schemeClr val="tx1">
                    <a:lumMod val="95000"/>
                    <a:lumOff val="5000"/>
                  </a:schemeClr>
                </a:solidFill>
              </a:rPr>
              <a:t>etc</a:t>
            </a:r>
            <a:r>
              <a:rPr lang="en-US" altLang="zh-CN" dirty="0">
                <a:solidFill>
                  <a:schemeClr val="tx1">
                    <a:lumMod val="95000"/>
                    <a:lumOff val="5000"/>
                  </a:schemeClr>
                </a:solidFill>
              </a:rPr>
              <a:t>/</a:t>
            </a:r>
            <a:r>
              <a:rPr lang="en-US" altLang="zh-CN" dirty="0" err="1">
                <a:solidFill>
                  <a:schemeClr val="tx1">
                    <a:lumMod val="95000"/>
                    <a:lumOff val="5000"/>
                  </a:schemeClr>
                </a:solidFill>
              </a:rPr>
              <a:t>sysconfig</a:t>
            </a:r>
            <a:r>
              <a:rPr lang="en-US" altLang="zh-CN" dirty="0">
                <a:solidFill>
                  <a:schemeClr val="tx1">
                    <a:lumMod val="95000"/>
                    <a:lumOff val="5000"/>
                  </a:schemeClr>
                </a:solidFill>
              </a:rPr>
              <a:t>/</a:t>
            </a:r>
            <a:r>
              <a:rPr lang="en-US" altLang="zh-CN" dirty="0" err="1">
                <a:solidFill>
                  <a:schemeClr val="tx1">
                    <a:lumMod val="95000"/>
                    <a:lumOff val="5000"/>
                  </a:schemeClr>
                </a:solidFill>
              </a:rPr>
              <a:t>memcached</a:t>
            </a:r>
            <a:endParaRPr lang="en-US" altLang="zh-CN" dirty="0">
              <a:solidFill>
                <a:schemeClr val="tx1">
                  <a:lumMod val="95000"/>
                  <a:lumOff val="5000"/>
                </a:schemeClr>
              </a:solidFill>
            </a:endParaRPr>
          </a:p>
          <a:p>
            <a:pPr>
              <a:buNone/>
            </a:pPr>
            <a:r>
              <a:rPr lang="en-US" altLang="zh-CN" dirty="0">
                <a:solidFill>
                  <a:schemeClr val="tx1">
                    <a:lumMod val="95000"/>
                    <a:lumOff val="5000"/>
                  </a:schemeClr>
                </a:solidFill>
              </a:rPr>
              <a:t>3</a:t>
            </a:r>
            <a:r>
              <a:rPr lang="zh-CN" altLang="en-US" dirty="0">
                <a:solidFill>
                  <a:schemeClr val="tx1">
                    <a:lumMod val="95000"/>
                    <a:lumOff val="5000"/>
                  </a:schemeClr>
                </a:solidFill>
              </a:rPr>
              <a:t>）启动</a:t>
            </a:r>
            <a:r>
              <a:rPr lang="en-US" altLang="zh-CN" dirty="0" err="1">
                <a:solidFill>
                  <a:schemeClr val="tx1">
                    <a:lumMod val="95000"/>
                    <a:lumOff val="5000"/>
                  </a:schemeClr>
                </a:solidFill>
              </a:rPr>
              <a:t>memcached</a:t>
            </a:r>
            <a:r>
              <a:rPr lang="zh-CN" altLang="en-US" dirty="0">
                <a:solidFill>
                  <a:schemeClr val="tx1">
                    <a:lumMod val="95000"/>
                    <a:lumOff val="5000"/>
                  </a:schemeClr>
                </a:solidFill>
              </a:rPr>
              <a:t>服务</a:t>
            </a:r>
            <a:endParaRPr lang="en-US" altLang="zh-CN" dirty="0">
              <a:solidFill>
                <a:schemeClr val="tx1">
                  <a:lumMod val="95000"/>
                  <a:lumOff val="5000"/>
                </a:schemeClr>
              </a:solidFill>
            </a:endParaRPr>
          </a:p>
          <a:p>
            <a:pPr>
              <a:buNone/>
            </a:pPr>
            <a:r>
              <a:rPr lang="en-US" altLang="zh-CN" dirty="0">
                <a:solidFill>
                  <a:schemeClr val="tx1">
                    <a:lumMod val="95000"/>
                    <a:lumOff val="5000"/>
                  </a:schemeClr>
                </a:solidFill>
              </a:rPr>
              <a:t>4</a:t>
            </a:r>
            <a:r>
              <a:rPr lang="zh-CN" altLang="en-US" dirty="0">
                <a:solidFill>
                  <a:schemeClr val="tx1">
                    <a:lumMod val="95000"/>
                    <a:lumOff val="5000"/>
                  </a:schemeClr>
                </a:solidFill>
              </a:rPr>
              <a:t>、编辑</a:t>
            </a:r>
            <a:r>
              <a:rPr lang="en-US" altLang="zh-CN" dirty="0">
                <a:solidFill>
                  <a:schemeClr val="tx1">
                    <a:lumMod val="95000"/>
                    <a:lumOff val="5000"/>
                  </a:schemeClr>
                </a:solidFill>
              </a:rPr>
              <a:t>/</a:t>
            </a:r>
            <a:r>
              <a:rPr lang="en-US" altLang="zh-CN" dirty="0" err="1">
                <a:solidFill>
                  <a:schemeClr val="tx1">
                    <a:lumMod val="95000"/>
                    <a:lumOff val="5000"/>
                  </a:schemeClr>
                </a:solidFill>
              </a:rPr>
              <a:t>etc</a:t>
            </a:r>
            <a:r>
              <a:rPr lang="en-US" altLang="zh-CN" dirty="0">
                <a:solidFill>
                  <a:schemeClr val="tx1">
                    <a:lumMod val="95000"/>
                    <a:lumOff val="5000"/>
                  </a:schemeClr>
                </a:solidFill>
              </a:rPr>
              <a:t>/swift/proxy-</a:t>
            </a:r>
            <a:r>
              <a:rPr lang="en-US" altLang="zh-CN" dirty="0" err="1">
                <a:solidFill>
                  <a:schemeClr val="tx1">
                    <a:lumMod val="95000"/>
                    <a:lumOff val="5000"/>
                  </a:schemeClr>
                </a:solidFill>
              </a:rPr>
              <a:t>server.conf</a:t>
            </a:r>
            <a:endParaRPr lang="en-US" altLang="zh-CN" dirty="0">
              <a:solidFill>
                <a:schemeClr val="tx1">
                  <a:lumMod val="95000"/>
                  <a:lumOff val="5000"/>
                </a:schemeClr>
              </a:solidFill>
            </a:endParaRPr>
          </a:p>
        </p:txBody>
      </p:sp>
      <p:grpSp>
        <p:nvGrpSpPr>
          <p:cNvPr id="8" name="组合 7"/>
          <p:cNvGrpSpPr/>
          <p:nvPr/>
        </p:nvGrpSpPr>
        <p:grpSpPr>
          <a:xfrm>
            <a:off x="10314213" y="5262011"/>
            <a:ext cx="1877787" cy="1129564"/>
            <a:chOff x="9675584" y="5175723"/>
            <a:chExt cx="1877787" cy="1129564"/>
          </a:xfrm>
        </p:grpSpPr>
        <p:sp>
          <p:nvSpPr>
            <p:cNvPr id="12" name="矩形 11"/>
            <p:cNvSpPr/>
            <p:nvPr/>
          </p:nvSpPr>
          <p:spPr>
            <a:xfrm>
              <a:off x="11286669" y="5640179"/>
              <a:ext cx="266702" cy="66188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0642146" y="5828865"/>
              <a:ext cx="266702" cy="4764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0241641" y="5175723"/>
              <a:ext cx="266702" cy="112956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9675584" y="5974341"/>
              <a:ext cx="266702" cy="33094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p:nvSpPr>
        <p:spPr>
          <a:xfrm>
            <a:off x="0" y="6391575"/>
            <a:ext cx="12192000" cy="466425"/>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solidFill>
            </a:endParaRPr>
          </a:p>
        </p:txBody>
      </p:sp>
      <p:grpSp>
        <p:nvGrpSpPr>
          <p:cNvPr id="18" name="组合 17"/>
          <p:cNvGrpSpPr/>
          <p:nvPr/>
        </p:nvGrpSpPr>
        <p:grpSpPr>
          <a:xfrm>
            <a:off x="139962" y="-1"/>
            <a:ext cx="11520000" cy="2053082"/>
            <a:chOff x="131974" y="-1"/>
            <a:chExt cx="11520000" cy="2053082"/>
          </a:xfrm>
        </p:grpSpPr>
        <p:grpSp>
          <p:nvGrpSpPr>
            <p:cNvPr id="19" name="组合 18"/>
            <p:cNvGrpSpPr/>
            <p:nvPr/>
          </p:nvGrpSpPr>
          <p:grpSpPr>
            <a:xfrm>
              <a:off x="131974" y="-1"/>
              <a:ext cx="11520000" cy="1016152"/>
              <a:chOff x="131974" y="-1"/>
              <a:chExt cx="11520000" cy="1016152"/>
            </a:xfrm>
          </p:grpSpPr>
          <p:pic>
            <p:nvPicPr>
              <p:cNvPr id="22" name="图片 2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3" name="矩形 22"/>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4"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安装部署</a:t>
                </a:r>
              </a:p>
            </p:txBody>
          </p:sp>
        </p:grpSp>
        <p:sp>
          <p:nvSpPr>
            <p:cNvPr id="20" name="文本框 19"/>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1" name="文本框 20"/>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的安装部署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
        <p:nvSpPr>
          <p:cNvPr id="25" name="矩形 24"/>
          <p:cNvSpPr/>
          <p:nvPr/>
        </p:nvSpPr>
        <p:spPr>
          <a:xfrm>
            <a:off x="3660775" y="1677194"/>
            <a:ext cx="4413860"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TextBox 3"/>
          <p:cNvSpPr txBox="1"/>
          <p:nvPr/>
        </p:nvSpPr>
        <p:spPr>
          <a:xfrm>
            <a:off x="3821163" y="1734284"/>
            <a:ext cx="3840475" cy="400110"/>
          </a:xfrm>
          <a:prstGeom prst="rect">
            <a:avLst/>
          </a:prstGeom>
          <a:noFill/>
        </p:spPr>
        <p:txBody>
          <a:bodyPr wrap="none" rtlCol="0">
            <a:spAutoFit/>
          </a:bodyPr>
          <a:lstStyle/>
          <a:p>
            <a:r>
              <a:rPr lang="zh-CN" altLang="en-US" sz="2000" dirty="0">
                <a:latin typeface="+mn-ea"/>
              </a:rPr>
              <a:t>任务</a:t>
            </a:r>
            <a:r>
              <a:rPr lang="en-US" altLang="zh-CN" sz="2000" dirty="0">
                <a:latin typeface="+mn-ea"/>
              </a:rPr>
              <a:t>4</a:t>
            </a:r>
            <a:r>
              <a:rPr lang="zh-CN" altLang="en-US" sz="2000" dirty="0">
                <a:latin typeface="+mn-ea"/>
              </a:rPr>
              <a:t>步骤：安装配置</a:t>
            </a:r>
            <a:r>
              <a:rPr lang="en-US" altLang="zh-CN" sz="2000" dirty="0">
                <a:latin typeface="+mn-ea"/>
              </a:rPr>
              <a:t>proxy</a:t>
            </a:r>
            <a:r>
              <a:rPr lang="zh-CN" altLang="en-US" sz="2000" dirty="0">
                <a:latin typeface="+mn-ea"/>
              </a:rPr>
              <a:t>节点</a:t>
            </a:r>
            <a:endParaRPr lang="en-US" altLang="zh-CN" sz="2000" dirty="0">
              <a:latin typeface="+mn-ea"/>
            </a:endParaRPr>
          </a:p>
        </p:txBody>
      </p:sp>
    </p:spTree>
    <p:extLst>
      <p:ext uri="{BB962C8B-B14F-4D97-AF65-F5344CB8AC3E}">
        <p14:creationId xmlns:p14="http://schemas.microsoft.com/office/powerpoint/2010/main" val="38740525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612775" y="2799902"/>
            <a:ext cx="10820400" cy="3677892"/>
          </a:xfrm>
          <a:prstGeom prst="roundRect">
            <a:avLst>
              <a:gd name="adj" fmla="val 5822"/>
            </a:avLst>
          </a:prstGeom>
          <a:solidFill>
            <a:schemeClr val="bg1">
              <a:lumMod val="95000"/>
            </a:schemeClr>
          </a:solidFill>
          <a:ln w="38100">
            <a:solidFill>
              <a:srgbClr val="FF993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3775" y="2538059"/>
            <a:ext cx="107505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536575" y="2206129"/>
            <a:ext cx="4267200" cy="461665"/>
          </a:xfrm>
          <a:prstGeom prst="rect">
            <a:avLst/>
          </a:prstGeom>
          <a:solidFill>
            <a:srgbClr val="00B0F0"/>
          </a:solidFill>
        </p:spPr>
        <p:txBody>
          <a:bodyPr wrap="square" rtlCol="0">
            <a:spAutoFit/>
          </a:bodyPr>
          <a:lstStyle/>
          <a:p>
            <a:r>
              <a:rPr lang="en-US" altLang="zh-CN" dirty="0">
                <a:latin typeface="+mn-ea"/>
              </a:rPr>
              <a:t>【</a:t>
            </a:r>
            <a:r>
              <a:rPr lang="zh-CN" altLang="en-US" dirty="0">
                <a:latin typeface="+mn-ea"/>
              </a:rPr>
              <a:t>实施步骤</a:t>
            </a:r>
            <a:r>
              <a:rPr lang="en-US" altLang="zh-CN" dirty="0">
                <a:latin typeface="+mn-ea"/>
              </a:rPr>
              <a:t>】5~8</a:t>
            </a:r>
          </a:p>
        </p:txBody>
      </p:sp>
      <p:grpSp>
        <p:nvGrpSpPr>
          <p:cNvPr id="8" name="组合 7"/>
          <p:cNvGrpSpPr/>
          <p:nvPr/>
        </p:nvGrpSpPr>
        <p:grpSpPr>
          <a:xfrm>
            <a:off x="10314213" y="5262011"/>
            <a:ext cx="1877787" cy="1129564"/>
            <a:chOff x="9675584" y="5175723"/>
            <a:chExt cx="1877787" cy="1129564"/>
          </a:xfrm>
        </p:grpSpPr>
        <p:sp>
          <p:nvSpPr>
            <p:cNvPr id="12" name="矩形 11"/>
            <p:cNvSpPr/>
            <p:nvPr/>
          </p:nvSpPr>
          <p:spPr>
            <a:xfrm>
              <a:off x="11286669" y="5640179"/>
              <a:ext cx="266702" cy="66188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0642146" y="5828865"/>
              <a:ext cx="266702" cy="4764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0241641" y="5175723"/>
              <a:ext cx="266702" cy="112956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9675584" y="5974341"/>
              <a:ext cx="266702" cy="33094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p:nvSpPr>
        <p:spPr>
          <a:xfrm>
            <a:off x="0" y="6477794"/>
            <a:ext cx="12192000" cy="380206"/>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solidFill>
            </a:endParaRPr>
          </a:p>
        </p:txBody>
      </p:sp>
      <p:sp>
        <p:nvSpPr>
          <p:cNvPr id="3" name="矩形 2"/>
          <p:cNvSpPr/>
          <p:nvPr/>
        </p:nvSpPr>
        <p:spPr>
          <a:xfrm>
            <a:off x="1026581" y="2754492"/>
            <a:ext cx="9734095" cy="3799502"/>
          </a:xfrm>
          <a:prstGeom prst="rect">
            <a:avLst/>
          </a:prstGeom>
        </p:spPr>
        <p:txBody>
          <a:bodyPr vert="horz" lIns="121917" tIns="60958" rIns="121917" bIns="60958" rtlCol="0">
            <a:noAutofit/>
          </a:bodyPr>
          <a:lstStyle/>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rPr>
              <a:t>5</a:t>
            </a:r>
            <a:r>
              <a:rPr lang="zh-CN" altLang="en-US" sz="2000" dirty="0">
                <a:solidFill>
                  <a:schemeClr val="tx1">
                    <a:lumMod val="95000"/>
                    <a:lumOff val="5000"/>
                  </a:schemeClr>
                </a:solidFill>
              </a:rPr>
              <a:t>、创建</a:t>
            </a:r>
            <a:r>
              <a:rPr lang="en-US" altLang="zh-CN" sz="2000" dirty="0">
                <a:solidFill>
                  <a:schemeClr val="tx1">
                    <a:lumMod val="95000"/>
                    <a:lumOff val="5000"/>
                  </a:schemeClr>
                </a:solidFill>
              </a:rPr>
              <a:t>ring</a:t>
            </a:r>
            <a:r>
              <a:rPr lang="zh-CN" altLang="en-US" sz="2000" dirty="0">
                <a:solidFill>
                  <a:schemeClr val="tx1">
                    <a:lumMod val="95000"/>
                    <a:lumOff val="5000"/>
                  </a:schemeClr>
                </a:solidFill>
              </a:rPr>
              <a:t>的</a:t>
            </a:r>
            <a:r>
              <a:rPr lang="en-US" altLang="zh-CN" sz="2000" dirty="0">
                <a:solidFill>
                  <a:schemeClr val="tx1">
                    <a:lumMod val="95000"/>
                    <a:lumOff val="5000"/>
                  </a:schemeClr>
                </a:solidFill>
              </a:rPr>
              <a:t>builder</a:t>
            </a:r>
            <a:r>
              <a:rPr lang="zh-CN" altLang="en-US" sz="2000" dirty="0">
                <a:solidFill>
                  <a:schemeClr val="tx1">
                    <a:lumMod val="95000"/>
                    <a:lumOff val="5000"/>
                  </a:schemeClr>
                </a:solidFill>
              </a:rPr>
              <a:t>文件</a:t>
            </a:r>
          </a:p>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rPr>
              <a:t>1</a:t>
            </a:r>
            <a:r>
              <a:rPr lang="zh-CN" altLang="en-US" sz="2000" dirty="0">
                <a:solidFill>
                  <a:schemeClr val="tx1">
                    <a:lumMod val="95000"/>
                    <a:lumOff val="5000"/>
                  </a:schemeClr>
                </a:solidFill>
              </a:rPr>
              <a:t>）账号（</a:t>
            </a:r>
            <a:r>
              <a:rPr lang="en-US" altLang="zh-CN" sz="2000" dirty="0">
                <a:solidFill>
                  <a:schemeClr val="tx1">
                    <a:lumMod val="95000"/>
                    <a:lumOff val="5000"/>
                  </a:schemeClr>
                </a:solidFill>
              </a:rPr>
              <a:t>account</a:t>
            </a:r>
            <a:r>
              <a:rPr lang="zh-CN" altLang="en-US" sz="2000" dirty="0">
                <a:solidFill>
                  <a:schemeClr val="tx1">
                    <a:lumMod val="95000"/>
                    <a:lumOff val="5000"/>
                  </a:schemeClr>
                </a:solidFill>
              </a:rPr>
              <a:t>）、容器（</a:t>
            </a:r>
            <a:r>
              <a:rPr lang="en-US" altLang="zh-CN" sz="2000" dirty="0">
                <a:solidFill>
                  <a:schemeClr val="tx1">
                    <a:lumMod val="95000"/>
                    <a:lumOff val="5000"/>
                  </a:schemeClr>
                </a:solidFill>
              </a:rPr>
              <a:t>container</a:t>
            </a:r>
            <a:r>
              <a:rPr lang="zh-CN" altLang="en-US" sz="2000" dirty="0">
                <a:solidFill>
                  <a:schemeClr val="tx1">
                    <a:lumMod val="95000"/>
                    <a:lumOff val="5000"/>
                  </a:schemeClr>
                </a:solidFill>
              </a:rPr>
              <a:t>）和对象（</a:t>
            </a:r>
            <a:r>
              <a:rPr lang="en-US" altLang="zh-CN" sz="2000" dirty="0">
                <a:solidFill>
                  <a:schemeClr val="tx1">
                    <a:lumMod val="95000"/>
                    <a:lumOff val="5000"/>
                  </a:schemeClr>
                </a:solidFill>
              </a:rPr>
              <a:t>object</a:t>
            </a:r>
            <a:r>
              <a:rPr lang="zh-CN" altLang="en-US" sz="2000" dirty="0">
                <a:solidFill>
                  <a:schemeClr val="tx1">
                    <a:lumMod val="95000"/>
                    <a:lumOff val="5000"/>
                  </a:schemeClr>
                </a:solidFill>
              </a:rPr>
              <a:t>）</a:t>
            </a:r>
          </a:p>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rPr>
              <a:t>2</a:t>
            </a:r>
            <a:r>
              <a:rPr lang="zh-CN" altLang="en-US" sz="2000" dirty="0">
                <a:solidFill>
                  <a:schemeClr val="tx1">
                    <a:lumMod val="95000"/>
                    <a:lumOff val="5000"/>
                  </a:schemeClr>
                </a:solidFill>
              </a:rPr>
              <a:t>）为每个节点存储设备</a:t>
            </a:r>
            <a:r>
              <a:rPr lang="en-US" altLang="zh-CN" sz="2000" dirty="0">
                <a:solidFill>
                  <a:schemeClr val="tx1">
                    <a:lumMod val="95000"/>
                    <a:lumOff val="5000"/>
                  </a:schemeClr>
                </a:solidFill>
              </a:rPr>
              <a:t>Ring</a:t>
            </a:r>
            <a:r>
              <a:rPr lang="zh-CN" altLang="en-US" sz="2000" dirty="0">
                <a:solidFill>
                  <a:schemeClr val="tx1">
                    <a:lumMod val="95000"/>
                    <a:lumOff val="5000"/>
                  </a:schemeClr>
                </a:solidFill>
              </a:rPr>
              <a:t>添加条目</a:t>
            </a:r>
            <a:endParaRPr lang="en-US" altLang="zh-CN" sz="2000" dirty="0">
              <a:solidFill>
                <a:schemeClr val="tx1">
                  <a:lumMod val="95000"/>
                  <a:lumOff val="5000"/>
                </a:schemeClr>
              </a:solidFill>
            </a:endParaRPr>
          </a:p>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rPr>
              <a:t>3</a:t>
            </a:r>
            <a:r>
              <a:rPr lang="zh-CN" altLang="en-US" sz="2000" dirty="0">
                <a:solidFill>
                  <a:schemeClr val="tx1">
                    <a:lumMod val="95000"/>
                    <a:lumOff val="5000"/>
                  </a:schemeClr>
                </a:solidFill>
              </a:rPr>
              <a:t>）校验每个环的内容</a:t>
            </a:r>
            <a:endParaRPr lang="en-US" altLang="zh-CN" sz="2000" dirty="0">
              <a:solidFill>
                <a:schemeClr val="tx1">
                  <a:lumMod val="95000"/>
                  <a:lumOff val="5000"/>
                </a:schemeClr>
              </a:solidFill>
            </a:endParaRPr>
          </a:p>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rPr>
              <a:t>4</a:t>
            </a:r>
            <a:r>
              <a:rPr lang="zh-CN" altLang="en-US" sz="2000" dirty="0">
                <a:solidFill>
                  <a:schemeClr val="tx1">
                    <a:lumMod val="95000"/>
                    <a:lumOff val="5000"/>
                  </a:schemeClr>
                </a:solidFill>
              </a:rPr>
              <a:t>）对账号、容器和对象的环进行平衡</a:t>
            </a:r>
            <a:endParaRPr lang="en-US" altLang="zh-CN" sz="2000" dirty="0">
              <a:solidFill>
                <a:schemeClr val="tx1">
                  <a:lumMod val="95000"/>
                  <a:lumOff val="5000"/>
                </a:schemeClr>
              </a:solidFill>
            </a:endParaRPr>
          </a:p>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rPr>
              <a:t>6</a:t>
            </a:r>
            <a:r>
              <a:rPr lang="zh-CN" altLang="en-US" sz="2000" dirty="0">
                <a:solidFill>
                  <a:schemeClr val="tx1">
                    <a:lumMod val="95000"/>
                    <a:lumOff val="5000"/>
                  </a:schemeClr>
                </a:solidFill>
              </a:rPr>
              <a:t>、创建和修改相关配置文件。</a:t>
            </a:r>
          </a:p>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rPr>
              <a:t>7</a:t>
            </a:r>
            <a:r>
              <a:rPr lang="zh-CN" altLang="en-US" sz="2000" dirty="0">
                <a:solidFill>
                  <a:schemeClr val="tx1">
                    <a:lumMod val="95000"/>
                    <a:lumOff val="5000"/>
                  </a:schemeClr>
                </a:solidFill>
              </a:rPr>
              <a:t>、复制配置文件到每个存储节点</a:t>
            </a:r>
          </a:p>
          <a:p>
            <a:pPr>
              <a:lnSpc>
                <a:spcPct val="130000"/>
              </a:lnSpc>
              <a:spcBef>
                <a:spcPct val="20000"/>
              </a:spcBef>
              <a:buSzPct val="80000"/>
              <a:buFont typeface="Wingdings" pitchFamily="2" charset="2"/>
              <a:buNone/>
            </a:pPr>
            <a:r>
              <a:rPr lang="en-US" altLang="zh-CN" sz="2000" dirty="0">
                <a:solidFill>
                  <a:schemeClr val="tx1">
                    <a:lumMod val="95000"/>
                    <a:lumOff val="5000"/>
                  </a:schemeClr>
                </a:solidFill>
              </a:rPr>
              <a:t>8</a:t>
            </a:r>
            <a:r>
              <a:rPr lang="zh-CN" altLang="en-US" sz="2000" dirty="0">
                <a:solidFill>
                  <a:schemeClr val="tx1">
                    <a:lumMod val="95000"/>
                    <a:lumOff val="5000"/>
                  </a:schemeClr>
                </a:solidFill>
              </a:rPr>
              <a:t>、此步骤需要等待存储节点机各服务启动后，再启动</a:t>
            </a:r>
            <a:r>
              <a:rPr lang="en-US" altLang="zh-CN" sz="2000" dirty="0">
                <a:solidFill>
                  <a:schemeClr val="tx1">
                    <a:lumMod val="95000"/>
                    <a:lumOff val="5000"/>
                  </a:schemeClr>
                </a:solidFill>
              </a:rPr>
              <a:t>proxy</a:t>
            </a:r>
            <a:r>
              <a:rPr lang="zh-CN" altLang="en-US" sz="2000" dirty="0">
                <a:solidFill>
                  <a:schemeClr val="tx1">
                    <a:lumMod val="95000"/>
                    <a:lumOff val="5000"/>
                  </a:schemeClr>
                </a:solidFill>
              </a:rPr>
              <a:t>服务</a:t>
            </a:r>
          </a:p>
        </p:txBody>
      </p:sp>
      <p:sp>
        <p:nvSpPr>
          <p:cNvPr id="18" name="矩形 17"/>
          <p:cNvSpPr/>
          <p:nvPr/>
        </p:nvSpPr>
        <p:spPr>
          <a:xfrm>
            <a:off x="3660775" y="1677194"/>
            <a:ext cx="4413860"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3"/>
          <p:cNvSpPr txBox="1"/>
          <p:nvPr/>
        </p:nvSpPr>
        <p:spPr>
          <a:xfrm>
            <a:off x="3821163" y="1734284"/>
            <a:ext cx="3840475" cy="400110"/>
          </a:xfrm>
          <a:prstGeom prst="rect">
            <a:avLst/>
          </a:prstGeom>
          <a:noFill/>
        </p:spPr>
        <p:txBody>
          <a:bodyPr wrap="none" rtlCol="0">
            <a:spAutoFit/>
          </a:bodyPr>
          <a:lstStyle/>
          <a:p>
            <a:r>
              <a:rPr lang="zh-CN" altLang="en-US" sz="2000" dirty="0">
                <a:latin typeface="+mn-ea"/>
              </a:rPr>
              <a:t>任务</a:t>
            </a:r>
            <a:r>
              <a:rPr lang="en-US" altLang="zh-CN" sz="2000" dirty="0">
                <a:latin typeface="+mn-ea"/>
              </a:rPr>
              <a:t>4</a:t>
            </a:r>
            <a:r>
              <a:rPr lang="zh-CN" altLang="en-US" sz="2000" dirty="0">
                <a:latin typeface="+mn-ea"/>
              </a:rPr>
              <a:t>步骤：安装配置</a:t>
            </a:r>
            <a:r>
              <a:rPr lang="en-US" altLang="zh-CN" sz="2000" dirty="0">
                <a:latin typeface="+mn-ea"/>
              </a:rPr>
              <a:t>proxy</a:t>
            </a:r>
            <a:r>
              <a:rPr lang="zh-CN" altLang="en-US" sz="2000" dirty="0">
                <a:latin typeface="+mn-ea"/>
              </a:rPr>
              <a:t>节点</a:t>
            </a:r>
            <a:endParaRPr lang="en-US" altLang="zh-CN" sz="2000" dirty="0">
              <a:latin typeface="+mn-ea"/>
            </a:endParaRPr>
          </a:p>
        </p:txBody>
      </p:sp>
      <p:grpSp>
        <p:nvGrpSpPr>
          <p:cNvPr id="20" name="组合 19"/>
          <p:cNvGrpSpPr/>
          <p:nvPr/>
        </p:nvGrpSpPr>
        <p:grpSpPr>
          <a:xfrm>
            <a:off x="139962" y="-1"/>
            <a:ext cx="11520000" cy="2053082"/>
            <a:chOff x="131974" y="-1"/>
            <a:chExt cx="11520000" cy="2053082"/>
          </a:xfrm>
        </p:grpSpPr>
        <p:grpSp>
          <p:nvGrpSpPr>
            <p:cNvPr id="21" name="组合 20"/>
            <p:cNvGrpSpPr/>
            <p:nvPr/>
          </p:nvGrpSpPr>
          <p:grpSpPr>
            <a:xfrm>
              <a:off x="131974" y="-1"/>
              <a:ext cx="11520000" cy="1016152"/>
              <a:chOff x="131974" y="-1"/>
              <a:chExt cx="11520000" cy="1016152"/>
            </a:xfrm>
          </p:grpSpPr>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安装部署</a:t>
                </a:r>
              </a:p>
            </p:txBody>
          </p:sp>
        </p:grpSp>
        <p:sp>
          <p:nvSpPr>
            <p:cNvPr id="22" name="文本框 21"/>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文本框 22"/>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的安装部署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5564206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0" y="2651285"/>
            <a:ext cx="12198350" cy="265494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0" y="2546520"/>
            <a:ext cx="121983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内容占位符 2"/>
          <p:cNvSpPr>
            <a:spLocks noGrp="1"/>
          </p:cNvSpPr>
          <p:nvPr>
            <p:ph idx="4294967295"/>
          </p:nvPr>
        </p:nvSpPr>
        <p:spPr>
          <a:xfrm>
            <a:off x="614700" y="3160984"/>
            <a:ext cx="11131550" cy="1490662"/>
          </a:xfrm>
          <a:prstGeom prst="rect">
            <a:avLst/>
          </a:prstGeom>
        </p:spPr>
        <p:txBody>
          <a:bodyPr>
            <a:noAutofit/>
          </a:bodyPr>
          <a:lstStyle/>
          <a:p>
            <a:pPr marL="0" indent="0">
              <a:buNone/>
            </a:pPr>
            <a:r>
              <a:rPr lang="zh-CN" altLang="en-US" dirty="0"/>
              <a:t>        本子任务在</a:t>
            </a:r>
            <a:r>
              <a:rPr lang="en-US" altLang="zh-CN" dirty="0">
                <a:solidFill>
                  <a:srgbClr val="FF0000"/>
                </a:solidFill>
              </a:rPr>
              <a:t>node3</a:t>
            </a:r>
            <a:r>
              <a:rPr lang="zh-CN" altLang="en-US" dirty="0">
                <a:solidFill>
                  <a:srgbClr val="FF0000"/>
                </a:solidFill>
              </a:rPr>
              <a:t>和</a:t>
            </a:r>
            <a:r>
              <a:rPr lang="en-US" altLang="zh-CN" dirty="0">
                <a:solidFill>
                  <a:srgbClr val="FF0000"/>
                </a:solidFill>
              </a:rPr>
              <a:t>node4</a:t>
            </a:r>
            <a:r>
              <a:rPr lang="zh-CN" altLang="en-US" dirty="0"/>
              <a:t>节点机</a:t>
            </a:r>
            <a:r>
              <a:rPr lang="zh-CN" altLang="en-US" dirty="0">
                <a:solidFill>
                  <a:srgbClr val="FF0000"/>
                </a:solidFill>
              </a:rPr>
              <a:t>安装配置</a:t>
            </a:r>
            <a:r>
              <a:rPr lang="en-US" altLang="zh-CN" dirty="0">
                <a:solidFill>
                  <a:srgbClr val="FF0000"/>
                </a:solidFill>
              </a:rPr>
              <a:t>Openstack Object Storage </a:t>
            </a:r>
            <a:r>
              <a:rPr lang="zh-CN" altLang="en-US" dirty="0">
                <a:solidFill>
                  <a:srgbClr val="FF0000"/>
                </a:solidFill>
              </a:rPr>
              <a:t>服务</a:t>
            </a:r>
            <a:r>
              <a:rPr lang="zh-CN" altLang="en-US" dirty="0"/>
              <a:t>（</a:t>
            </a:r>
            <a:r>
              <a:rPr lang="en-US" altLang="zh-CN" dirty="0"/>
              <a:t>swift</a:t>
            </a:r>
            <a:r>
              <a:rPr lang="zh-CN" altLang="en-US" dirty="0"/>
              <a:t>），</a:t>
            </a:r>
            <a:r>
              <a:rPr lang="en-US" altLang="zh-CN" dirty="0"/>
              <a:t>2</a:t>
            </a:r>
            <a:r>
              <a:rPr lang="zh-CN" altLang="en-US" dirty="0"/>
              <a:t>台节点，安装一样，配置一样。</a:t>
            </a:r>
          </a:p>
        </p:txBody>
      </p:sp>
      <p:grpSp>
        <p:nvGrpSpPr>
          <p:cNvPr id="3" name="组合 2"/>
          <p:cNvGrpSpPr/>
          <p:nvPr/>
        </p:nvGrpSpPr>
        <p:grpSpPr>
          <a:xfrm>
            <a:off x="791250" y="2087594"/>
            <a:ext cx="2031325" cy="461665"/>
            <a:chOff x="791250" y="1367929"/>
            <a:chExt cx="2031325" cy="461665"/>
          </a:xfrm>
        </p:grpSpPr>
        <p:sp>
          <p:nvSpPr>
            <p:cNvPr id="5" name="矩形 4"/>
            <p:cNvSpPr/>
            <p:nvPr/>
          </p:nvSpPr>
          <p:spPr>
            <a:xfrm>
              <a:off x="791250" y="1367929"/>
              <a:ext cx="2031325"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791250" y="1367929"/>
              <a:ext cx="2031325" cy="461665"/>
            </a:xfrm>
            <a:prstGeom prst="rect">
              <a:avLst/>
            </a:prstGeom>
            <a:noFill/>
          </p:spPr>
          <p:txBody>
            <a:bodyPr wrap="none" rtlCol="0">
              <a:spAutoFit/>
            </a:bodyPr>
            <a:lstStyle/>
            <a:p>
              <a:r>
                <a:rPr lang="en-US" altLang="zh-CN" dirty="0">
                  <a:latin typeface="+mn-ea"/>
                </a:rPr>
                <a:t>【</a:t>
              </a:r>
              <a:r>
                <a:rPr lang="zh-CN" altLang="en-US" dirty="0">
                  <a:latin typeface="+mn-ea"/>
                </a:rPr>
                <a:t>任务内容</a:t>
              </a:r>
              <a:r>
                <a:rPr lang="en-US" altLang="zh-CN" dirty="0">
                  <a:latin typeface="+mn-ea"/>
                </a:rPr>
                <a:t>】</a:t>
              </a:r>
            </a:p>
          </p:txBody>
        </p:sp>
      </p:grpSp>
      <p:sp>
        <p:nvSpPr>
          <p:cNvPr id="9" name="矩形 8"/>
          <p:cNvSpPr/>
          <p:nvPr/>
        </p:nvSpPr>
        <p:spPr>
          <a:xfrm>
            <a:off x="0" y="5306229"/>
            <a:ext cx="121983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4514" y="5592492"/>
            <a:ext cx="12212863" cy="1267096"/>
          </a:xfrm>
          <a:prstGeom prst="rect">
            <a:avLst/>
          </a:prstGeom>
          <a:solidFill>
            <a:schemeClr val="bg2">
              <a:lumMod val="1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a:off x="10213975"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a:off x="10594975"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p:nvSpPr>
        <p:spPr>
          <a:xfrm>
            <a:off x="11360603"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p:nvSpPr>
        <p:spPr>
          <a:xfrm>
            <a:off x="8308975"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a:off x="9090025"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3660775" y="1677194"/>
            <a:ext cx="4413860"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3"/>
          <p:cNvSpPr txBox="1"/>
          <p:nvPr/>
        </p:nvSpPr>
        <p:spPr>
          <a:xfrm>
            <a:off x="3821163" y="1734284"/>
            <a:ext cx="3156633" cy="400110"/>
          </a:xfrm>
          <a:prstGeom prst="rect">
            <a:avLst/>
          </a:prstGeom>
          <a:noFill/>
        </p:spPr>
        <p:txBody>
          <a:bodyPr wrap="none" rtlCol="0">
            <a:spAutoFit/>
          </a:bodyPr>
          <a:lstStyle/>
          <a:p>
            <a:r>
              <a:rPr lang="zh-CN" altLang="en-US" sz="2000" dirty="0">
                <a:latin typeface="+mn-ea"/>
              </a:rPr>
              <a:t>任务</a:t>
            </a:r>
            <a:r>
              <a:rPr lang="en-US" altLang="zh-CN" sz="2000" dirty="0">
                <a:latin typeface="+mn-ea"/>
              </a:rPr>
              <a:t>5</a:t>
            </a:r>
            <a:r>
              <a:rPr lang="zh-CN" altLang="en-US" sz="2000" dirty="0">
                <a:latin typeface="+mn-ea"/>
              </a:rPr>
              <a:t>：安装配置存储节点</a:t>
            </a:r>
            <a:endParaRPr lang="en-US" altLang="zh-CN" sz="2000" dirty="0">
              <a:latin typeface="+mn-ea"/>
            </a:endParaRPr>
          </a:p>
        </p:txBody>
      </p:sp>
      <p:grpSp>
        <p:nvGrpSpPr>
          <p:cNvPr id="19" name="组合 18"/>
          <p:cNvGrpSpPr/>
          <p:nvPr/>
        </p:nvGrpSpPr>
        <p:grpSpPr>
          <a:xfrm>
            <a:off x="139962" y="-1"/>
            <a:ext cx="11520000" cy="2053082"/>
            <a:chOff x="131974" y="-1"/>
            <a:chExt cx="11520000" cy="2053082"/>
          </a:xfrm>
        </p:grpSpPr>
        <p:grpSp>
          <p:nvGrpSpPr>
            <p:cNvPr id="20" name="组合 19"/>
            <p:cNvGrpSpPr/>
            <p:nvPr/>
          </p:nvGrpSpPr>
          <p:grpSpPr>
            <a:xfrm>
              <a:off x="131974" y="-1"/>
              <a:ext cx="11520000" cy="1016152"/>
              <a:chOff x="131974" y="-1"/>
              <a:chExt cx="11520000" cy="1016152"/>
            </a:xfrm>
          </p:grpSpPr>
          <p:pic>
            <p:nvPicPr>
              <p:cNvPr id="23" name="图片 2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4" name="矩形 23"/>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5"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安装部署</a:t>
                </a:r>
              </a:p>
            </p:txBody>
          </p:sp>
        </p:grpSp>
        <p:sp>
          <p:nvSpPr>
            <p:cNvPr id="21" name="文本框 20"/>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2" name="文本框 21"/>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的安装部署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37329549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612775" y="2950602"/>
            <a:ext cx="10820400" cy="3527192"/>
          </a:xfrm>
          <a:prstGeom prst="roundRect">
            <a:avLst>
              <a:gd name="adj" fmla="val 5822"/>
            </a:avLst>
          </a:prstGeom>
          <a:solidFill>
            <a:schemeClr val="bg1">
              <a:lumMod val="95000"/>
            </a:schemeClr>
          </a:solidFill>
          <a:ln w="38100">
            <a:solidFill>
              <a:srgbClr val="FF993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3775" y="2690459"/>
            <a:ext cx="107505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536575" y="2358529"/>
            <a:ext cx="4267200" cy="461665"/>
          </a:xfrm>
          <a:prstGeom prst="rect">
            <a:avLst/>
          </a:prstGeom>
          <a:solidFill>
            <a:srgbClr val="00B0F0"/>
          </a:solidFill>
        </p:spPr>
        <p:txBody>
          <a:bodyPr wrap="square" rtlCol="0">
            <a:spAutoFit/>
          </a:bodyPr>
          <a:lstStyle/>
          <a:p>
            <a:r>
              <a:rPr lang="en-US" altLang="zh-CN" dirty="0">
                <a:latin typeface="+mn-ea"/>
              </a:rPr>
              <a:t>【</a:t>
            </a:r>
            <a:r>
              <a:rPr lang="zh-CN" altLang="en-US" dirty="0">
                <a:latin typeface="+mn-ea"/>
              </a:rPr>
              <a:t>实施步骤</a:t>
            </a:r>
            <a:r>
              <a:rPr lang="en-US" altLang="zh-CN" dirty="0">
                <a:latin typeface="+mn-ea"/>
              </a:rPr>
              <a:t>】1~5</a:t>
            </a:r>
          </a:p>
        </p:txBody>
      </p:sp>
      <p:sp>
        <p:nvSpPr>
          <p:cNvPr id="13" name="内容占位符 2"/>
          <p:cNvSpPr txBox="1">
            <a:spLocks/>
          </p:cNvSpPr>
          <p:nvPr/>
        </p:nvSpPr>
        <p:spPr>
          <a:xfrm>
            <a:off x="1069975" y="2950602"/>
            <a:ext cx="9810295" cy="3430636"/>
          </a:xfrm>
          <a:prstGeom prst="rect">
            <a:avLst/>
          </a:prstGeom>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en-US" altLang="zh-CN" sz="2400" dirty="0">
                <a:solidFill>
                  <a:schemeClr val="tx1">
                    <a:lumMod val="95000"/>
                    <a:lumOff val="5000"/>
                  </a:schemeClr>
                </a:solidFill>
              </a:rPr>
              <a:t>1</a:t>
            </a:r>
            <a:r>
              <a:rPr lang="zh-CN" altLang="en-US" sz="2400" dirty="0">
                <a:solidFill>
                  <a:schemeClr val="tx1">
                    <a:lumMod val="95000"/>
                    <a:lumOff val="5000"/>
                  </a:schemeClr>
                </a:solidFill>
              </a:rPr>
              <a:t>、分别登录</a:t>
            </a:r>
            <a:r>
              <a:rPr lang="en-US" altLang="zh-CN" sz="2400" dirty="0">
                <a:solidFill>
                  <a:schemeClr val="tx1">
                    <a:lumMod val="95000"/>
                    <a:lumOff val="5000"/>
                  </a:schemeClr>
                </a:solidFill>
              </a:rPr>
              <a:t>node3</a:t>
            </a:r>
            <a:r>
              <a:rPr lang="zh-CN" altLang="en-US" sz="2400" dirty="0">
                <a:solidFill>
                  <a:schemeClr val="tx1">
                    <a:lumMod val="95000"/>
                    <a:lumOff val="5000"/>
                  </a:schemeClr>
                </a:solidFill>
              </a:rPr>
              <a:t>和</a:t>
            </a:r>
            <a:r>
              <a:rPr lang="en-US" altLang="zh-CN" sz="2400" dirty="0">
                <a:solidFill>
                  <a:schemeClr val="tx1">
                    <a:lumMod val="95000"/>
                    <a:lumOff val="5000"/>
                  </a:schemeClr>
                </a:solidFill>
              </a:rPr>
              <a:t>node4</a:t>
            </a:r>
            <a:r>
              <a:rPr lang="zh-CN" altLang="en-US" sz="2400" dirty="0">
                <a:solidFill>
                  <a:schemeClr val="tx1">
                    <a:lumMod val="95000"/>
                    <a:lumOff val="5000"/>
                  </a:schemeClr>
                </a:solidFill>
              </a:rPr>
              <a:t>节点机，安装存储节点软件包</a:t>
            </a:r>
          </a:p>
          <a:p>
            <a:pPr marL="0" indent="0">
              <a:buNone/>
            </a:pPr>
            <a:r>
              <a:rPr lang="en-US" altLang="zh-CN" sz="2400" dirty="0">
                <a:solidFill>
                  <a:schemeClr val="tx1">
                    <a:lumMod val="95000"/>
                    <a:lumOff val="5000"/>
                  </a:schemeClr>
                </a:solidFill>
              </a:rPr>
              <a:t>2</a:t>
            </a:r>
            <a:r>
              <a:rPr lang="zh-CN" altLang="en-US" sz="2400" dirty="0">
                <a:solidFill>
                  <a:schemeClr val="tx1">
                    <a:lumMod val="95000"/>
                    <a:lumOff val="5000"/>
                  </a:schemeClr>
                </a:solidFill>
              </a:rPr>
              <a:t>、存储节点的设置</a:t>
            </a:r>
          </a:p>
          <a:p>
            <a:pPr marL="0" indent="0">
              <a:buNone/>
            </a:pPr>
            <a:r>
              <a:rPr lang="zh-CN" altLang="en-US" sz="2400" dirty="0">
                <a:solidFill>
                  <a:schemeClr val="tx1">
                    <a:lumMod val="95000"/>
                    <a:lumOff val="5000"/>
                  </a:schemeClr>
                </a:solidFill>
              </a:rPr>
              <a:t>存储节点需要设置用来存储数据的存储点或磁盘分区。</a:t>
            </a:r>
          </a:p>
          <a:p>
            <a:pPr marL="0" indent="0">
              <a:buNone/>
            </a:pPr>
            <a:r>
              <a:rPr lang="en-US" altLang="zh-CN" sz="2400" dirty="0">
                <a:solidFill>
                  <a:schemeClr val="tx1">
                    <a:lumMod val="95000"/>
                    <a:lumOff val="5000"/>
                  </a:schemeClr>
                </a:solidFill>
              </a:rPr>
              <a:t>3</a:t>
            </a:r>
            <a:r>
              <a:rPr lang="zh-CN" altLang="en-US" sz="2400" dirty="0">
                <a:solidFill>
                  <a:schemeClr val="tx1">
                    <a:lumMod val="95000"/>
                    <a:lumOff val="5000"/>
                  </a:schemeClr>
                </a:solidFill>
              </a:rPr>
              <a:t>、创建</a:t>
            </a:r>
            <a:r>
              <a:rPr lang="en-US" altLang="zh-CN" sz="2400" dirty="0">
                <a:solidFill>
                  <a:schemeClr val="tx1">
                    <a:lumMod val="95000"/>
                    <a:lumOff val="5000"/>
                  </a:schemeClr>
                </a:solidFill>
              </a:rPr>
              <a:t>/</a:t>
            </a:r>
            <a:r>
              <a:rPr lang="en-US" altLang="zh-CN" sz="2400" dirty="0" err="1">
                <a:solidFill>
                  <a:schemeClr val="tx1">
                    <a:lumMod val="95000"/>
                    <a:lumOff val="5000"/>
                  </a:schemeClr>
                </a:solidFill>
              </a:rPr>
              <a:t>etc</a:t>
            </a:r>
            <a:r>
              <a:rPr lang="en-US" altLang="zh-CN" sz="2400" dirty="0">
                <a:solidFill>
                  <a:schemeClr val="tx1">
                    <a:lumMod val="95000"/>
                    <a:lumOff val="5000"/>
                  </a:schemeClr>
                </a:solidFill>
              </a:rPr>
              <a:t>/</a:t>
            </a:r>
            <a:r>
              <a:rPr lang="en-US" altLang="zh-CN" sz="2400" dirty="0" err="1">
                <a:solidFill>
                  <a:schemeClr val="tx1">
                    <a:lumMod val="95000"/>
                    <a:lumOff val="5000"/>
                  </a:schemeClr>
                </a:solidFill>
              </a:rPr>
              <a:t>rsyncd.conf</a:t>
            </a:r>
            <a:r>
              <a:rPr lang="zh-CN" altLang="en-US" sz="2400" dirty="0">
                <a:solidFill>
                  <a:schemeClr val="tx1">
                    <a:lumMod val="95000"/>
                    <a:lumOff val="5000"/>
                  </a:schemeClr>
                </a:solidFill>
              </a:rPr>
              <a:t>文件</a:t>
            </a:r>
          </a:p>
          <a:p>
            <a:pPr marL="0" indent="0">
              <a:buNone/>
            </a:pPr>
            <a:r>
              <a:rPr lang="en-US" altLang="zh-CN" sz="2400" dirty="0">
                <a:solidFill>
                  <a:schemeClr val="tx1">
                    <a:lumMod val="95000"/>
                    <a:lumOff val="5000"/>
                  </a:schemeClr>
                </a:solidFill>
              </a:rPr>
              <a:t>4</a:t>
            </a:r>
            <a:r>
              <a:rPr lang="zh-CN" altLang="en-US" sz="2400" dirty="0">
                <a:solidFill>
                  <a:schemeClr val="tx1">
                    <a:lumMod val="95000"/>
                    <a:lumOff val="5000"/>
                  </a:schemeClr>
                </a:solidFill>
              </a:rPr>
              <a:t>、修改</a:t>
            </a:r>
            <a:r>
              <a:rPr lang="en-US" altLang="zh-CN" sz="2400" dirty="0">
                <a:solidFill>
                  <a:schemeClr val="tx1">
                    <a:lumMod val="95000"/>
                    <a:lumOff val="5000"/>
                  </a:schemeClr>
                </a:solidFill>
              </a:rPr>
              <a:t>/</a:t>
            </a:r>
            <a:r>
              <a:rPr lang="en-US" altLang="zh-CN" sz="2400" dirty="0" err="1">
                <a:solidFill>
                  <a:schemeClr val="tx1">
                    <a:lumMod val="95000"/>
                    <a:lumOff val="5000"/>
                  </a:schemeClr>
                </a:solidFill>
              </a:rPr>
              <a:t>etc</a:t>
            </a:r>
            <a:r>
              <a:rPr lang="en-US" altLang="zh-CN" sz="2400" dirty="0">
                <a:solidFill>
                  <a:schemeClr val="tx1">
                    <a:lumMod val="95000"/>
                    <a:lumOff val="5000"/>
                  </a:schemeClr>
                </a:solidFill>
              </a:rPr>
              <a:t>/</a:t>
            </a:r>
            <a:r>
              <a:rPr lang="en-US" altLang="zh-CN" sz="2400" dirty="0" err="1">
                <a:solidFill>
                  <a:schemeClr val="tx1">
                    <a:lumMod val="95000"/>
                    <a:lumOff val="5000"/>
                  </a:schemeClr>
                </a:solidFill>
              </a:rPr>
              <a:t>xinetd.d</a:t>
            </a:r>
            <a:r>
              <a:rPr lang="en-US" altLang="zh-CN" sz="2400" dirty="0">
                <a:solidFill>
                  <a:schemeClr val="tx1">
                    <a:lumMod val="95000"/>
                    <a:lumOff val="5000"/>
                  </a:schemeClr>
                </a:solidFill>
              </a:rPr>
              <a:t>/</a:t>
            </a:r>
            <a:r>
              <a:rPr lang="en-US" altLang="zh-CN" sz="2400" dirty="0" err="1">
                <a:solidFill>
                  <a:schemeClr val="tx1">
                    <a:lumMod val="95000"/>
                    <a:lumOff val="5000"/>
                  </a:schemeClr>
                </a:solidFill>
              </a:rPr>
              <a:t>rsync</a:t>
            </a:r>
            <a:r>
              <a:rPr lang="zh-CN" altLang="en-US" sz="2400" dirty="0">
                <a:solidFill>
                  <a:schemeClr val="tx1">
                    <a:lumMod val="95000"/>
                    <a:lumOff val="5000"/>
                  </a:schemeClr>
                </a:solidFill>
              </a:rPr>
              <a:t>配置文件，并重启服务</a:t>
            </a:r>
          </a:p>
          <a:p>
            <a:pPr marL="0" indent="0">
              <a:buNone/>
            </a:pPr>
            <a:r>
              <a:rPr lang="en-US" altLang="zh-CN" sz="2400" dirty="0">
                <a:solidFill>
                  <a:schemeClr val="tx1">
                    <a:lumMod val="95000"/>
                    <a:lumOff val="5000"/>
                  </a:schemeClr>
                </a:solidFill>
              </a:rPr>
              <a:t>5</a:t>
            </a:r>
            <a:r>
              <a:rPr lang="zh-CN" altLang="en-US" sz="2400" dirty="0">
                <a:solidFill>
                  <a:schemeClr val="tx1">
                    <a:lumMod val="95000"/>
                    <a:lumOff val="5000"/>
                  </a:schemeClr>
                </a:solidFill>
              </a:rPr>
              <a:t>、创建</a:t>
            </a:r>
            <a:r>
              <a:rPr lang="en-US" altLang="zh-CN" sz="2400" dirty="0">
                <a:solidFill>
                  <a:schemeClr val="tx1">
                    <a:lumMod val="95000"/>
                    <a:lumOff val="5000"/>
                  </a:schemeClr>
                </a:solidFill>
              </a:rPr>
              <a:t>swift recon</a:t>
            </a:r>
            <a:r>
              <a:rPr lang="zh-CN" altLang="en-US" sz="2400" dirty="0">
                <a:solidFill>
                  <a:schemeClr val="tx1">
                    <a:lumMod val="95000"/>
                    <a:lumOff val="5000"/>
                  </a:schemeClr>
                </a:solidFill>
              </a:rPr>
              <a:t>缓存目录，并设置属性</a:t>
            </a:r>
          </a:p>
        </p:txBody>
      </p:sp>
      <p:grpSp>
        <p:nvGrpSpPr>
          <p:cNvPr id="8" name="组合 7"/>
          <p:cNvGrpSpPr/>
          <p:nvPr/>
        </p:nvGrpSpPr>
        <p:grpSpPr>
          <a:xfrm>
            <a:off x="10314213" y="5262011"/>
            <a:ext cx="1877787" cy="1129564"/>
            <a:chOff x="9675584" y="5175723"/>
            <a:chExt cx="1877787" cy="1129564"/>
          </a:xfrm>
        </p:grpSpPr>
        <p:sp>
          <p:nvSpPr>
            <p:cNvPr id="12" name="矩形 11"/>
            <p:cNvSpPr/>
            <p:nvPr/>
          </p:nvSpPr>
          <p:spPr>
            <a:xfrm>
              <a:off x="11286669" y="5640179"/>
              <a:ext cx="266702" cy="66188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0642146" y="5828865"/>
              <a:ext cx="266702" cy="4764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0241641" y="5175723"/>
              <a:ext cx="266702" cy="112956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9675584" y="5974341"/>
              <a:ext cx="266702" cy="33094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p:nvSpPr>
        <p:spPr>
          <a:xfrm>
            <a:off x="0" y="6391575"/>
            <a:ext cx="12192000" cy="466425"/>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solidFill>
            </a:endParaRPr>
          </a:p>
        </p:txBody>
      </p:sp>
      <p:sp>
        <p:nvSpPr>
          <p:cNvPr id="18" name="矩形 17"/>
          <p:cNvSpPr/>
          <p:nvPr/>
        </p:nvSpPr>
        <p:spPr>
          <a:xfrm>
            <a:off x="3660775" y="1677194"/>
            <a:ext cx="4413860"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3"/>
          <p:cNvSpPr txBox="1"/>
          <p:nvPr/>
        </p:nvSpPr>
        <p:spPr>
          <a:xfrm>
            <a:off x="3821163" y="1734284"/>
            <a:ext cx="3669594" cy="400110"/>
          </a:xfrm>
          <a:prstGeom prst="rect">
            <a:avLst/>
          </a:prstGeom>
          <a:noFill/>
        </p:spPr>
        <p:txBody>
          <a:bodyPr wrap="none" rtlCol="0">
            <a:spAutoFit/>
          </a:bodyPr>
          <a:lstStyle/>
          <a:p>
            <a:r>
              <a:rPr lang="zh-CN" altLang="en-US" sz="2000" dirty="0">
                <a:latin typeface="+mn-ea"/>
              </a:rPr>
              <a:t>任务</a:t>
            </a:r>
            <a:r>
              <a:rPr lang="en-US" altLang="zh-CN" sz="2000" dirty="0">
                <a:latin typeface="+mn-ea"/>
              </a:rPr>
              <a:t>5</a:t>
            </a:r>
            <a:r>
              <a:rPr lang="zh-CN" altLang="en-US" sz="2000" dirty="0">
                <a:latin typeface="+mn-ea"/>
              </a:rPr>
              <a:t>步骤：安装配置存储节点</a:t>
            </a:r>
            <a:endParaRPr lang="en-US" altLang="zh-CN" sz="2000" dirty="0">
              <a:latin typeface="+mn-ea"/>
            </a:endParaRPr>
          </a:p>
        </p:txBody>
      </p:sp>
      <p:grpSp>
        <p:nvGrpSpPr>
          <p:cNvPr id="20" name="组合 19"/>
          <p:cNvGrpSpPr/>
          <p:nvPr/>
        </p:nvGrpSpPr>
        <p:grpSpPr>
          <a:xfrm>
            <a:off x="139962" y="-1"/>
            <a:ext cx="11520000" cy="2053082"/>
            <a:chOff x="131974" y="-1"/>
            <a:chExt cx="11520000" cy="2053082"/>
          </a:xfrm>
        </p:grpSpPr>
        <p:grpSp>
          <p:nvGrpSpPr>
            <p:cNvPr id="21" name="组合 20"/>
            <p:cNvGrpSpPr/>
            <p:nvPr/>
          </p:nvGrpSpPr>
          <p:grpSpPr>
            <a:xfrm>
              <a:off x="131974" y="-1"/>
              <a:ext cx="11520000" cy="1016152"/>
              <a:chOff x="131974" y="-1"/>
              <a:chExt cx="11520000" cy="1016152"/>
            </a:xfrm>
          </p:grpSpPr>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安装部署</a:t>
                </a:r>
              </a:p>
            </p:txBody>
          </p:sp>
        </p:grpSp>
        <p:sp>
          <p:nvSpPr>
            <p:cNvPr id="22" name="文本框 21"/>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文本框 22"/>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的安装部署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31751747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612775" y="2896394"/>
            <a:ext cx="10820400" cy="3581400"/>
          </a:xfrm>
          <a:prstGeom prst="roundRect">
            <a:avLst>
              <a:gd name="adj" fmla="val 5822"/>
            </a:avLst>
          </a:prstGeom>
          <a:solidFill>
            <a:schemeClr val="bg1">
              <a:lumMod val="95000"/>
            </a:schemeClr>
          </a:solidFill>
          <a:ln w="38100">
            <a:solidFill>
              <a:srgbClr val="FF993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3775" y="2690459"/>
            <a:ext cx="107505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536575" y="2358529"/>
            <a:ext cx="4267200" cy="461665"/>
          </a:xfrm>
          <a:prstGeom prst="rect">
            <a:avLst/>
          </a:prstGeom>
          <a:solidFill>
            <a:srgbClr val="00B0F0"/>
          </a:solidFill>
        </p:spPr>
        <p:txBody>
          <a:bodyPr wrap="square" rtlCol="0">
            <a:spAutoFit/>
          </a:bodyPr>
          <a:lstStyle/>
          <a:p>
            <a:r>
              <a:rPr lang="en-US" altLang="zh-CN" dirty="0">
                <a:latin typeface="+mn-ea"/>
              </a:rPr>
              <a:t>【</a:t>
            </a:r>
            <a:r>
              <a:rPr lang="zh-CN" altLang="en-US" dirty="0">
                <a:latin typeface="+mn-ea"/>
              </a:rPr>
              <a:t>实施步骤</a:t>
            </a:r>
            <a:r>
              <a:rPr lang="en-US" altLang="zh-CN" dirty="0">
                <a:latin typeface="+mn-ea"/>
              </a:rPr>
              <a:t>】6~7</a:t>
            </a:r>
          </a:p>
        </p:txBody>
      </p:sp>
      <p:sp>
        <p:nvSpPr>
          <p:cNvPr id="13" name="内容占位符 2"/>
          <p:cNvSpPr txBox="1">
            <a:spLocks/>
          </p:cNvSpPr>
          <p:nvPr/>
        </p:nvSpPr>
        <p:spPr>
          <a:xfrm>
            <a:off x="1117827" y="2982427"/>
            <a:ext cx="9810295" cy="3495367"/>
          </a:xfrm>
          <a:prstGeom prst="rect">
            <a:avLst/>
          </a:prstGeom>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en-US" altLang="zh-CN" sz="2400" dirty="0">
                <a:solidFill>
                  <a:schemeClr val="tx1">
                    <a:lumMod val="95000"/>
                    <a:lumOff val="5000"/>
                  </a:schemeClr>
                </a:solidFill>
              </a:rPr>
              <a:t>6</a:t>
            </a:r>
            <a:r>
              <a:rPr lang="zh-CN" altLang="en-US" sz="2400" dirty="0">
                <a:solidFill>
                  <a:schemeClr val="tx1">
                    <a:lumMod val="95000"/>
                    <a:lumOff val="5000"/>
                  </a:schemeClr>
                </a:solidFill>
              </a:rPr>
              <a:t>、创建配置文件。</a:t>
            </a:r>
          </a:p>
          <a:p>
            <a:pPr marL="0" indent="0">
              <a:buNone/>
            </a:pPr>
            <a:r>
              <a:rPr lang="en-US" altLang="zh-CN" sz="2400" dirty="0">
                <a:solidFill>
                  <a:schemeClr val="tx1">
                    <a:lumMod val="95000"/>
                    <a:lumOff val="5000"/>
                  </a:schemeClr>
                </a:solidFill>
              </a:rPr>
              <a:t>1</a:t>
            </a:r>
            <a:r>
              <a:rPr lang="zh-CN" altLang="en-US" sz="2400" dirty="0">
                <a:solidFill>
                  <a:schemeClr val="tx1">
                    <a:lumMod val="95000"/>
                    <a:lumOff val="5000"/>
                  </a:schemeClr>
                </a:solidFill>
              </a:rPr>
              <a:t>）创建</a:t>
            </a:r>
            <a:r>
              <a:rPr lang="en-US" altLang="zh-CN" sz="2400" dirty="0">
                <a:solidFill>
                  <a:schemeClr val="tx1">
                    <a:lumMod val="95000"/>
                    <a:lumOff val="5000"/>
                  </a:schemeClr>
                </a:solidFill>
              </a:rPr>
              <a:t>/</a:t>
            </a:r>
            <a:r>
              <a:rPr lang="en-US" altLang="zh-CN" sz="2400" dirty="0" err="1">
                <a:solidFill>
                  <a:schemeClr val="tx1">
                    <a:lumMod val="95000"/>
                    <a:lumOff val="5000"/>
                  </a:schemeClr>
                </a:solidFill>
              </a:rPr>
              <a:t>etc</a:t>
            </a:r>
            <a:r>
              <a:rPr lang="en-US" altLang="zh-CN" sz="2400" dirty="0">
                <a:solidFill>
                  <a:schemeClr val="tx1">
                    <a:lumMod val="95000"/>
                    <a:lumOff val="5000"/>
                  </a:schemeClr>
                </a:solidFill>
              </a:rPr>
              <a:t>/swift/account-</a:t>
            </a:r>
            <a:r>
              <a:rPr lang="en-US" altLang="zh-CN" sz="2400" dirty="0" err="1">
                <a:solidFill>
                  <a:schemeClr val="tx1">
                    <a:lumMod val="95000"/>
                    <a:lumOff val="5000"/>
                  </a:schemeClr>
                </a:solidFill>
              </a:rPr>
              <a:t>server.conf</a:t>
            </a:r>
            <a:r>
              <a:rPr lang="zh-CN" altLang="en-US" sz="2400" dirty="0">
                <a:solidFill>
                  <a:schemeClr val="tx1">
                    <a:lumMod val="95000"/>
                    <a:lumOff val="5000"/>
                  </a:schemeClr>
                </a:solidFill>
              </a:rPr>
              <a:t>配置文件</a:t>
            </a:r>
          </a:p>
          <a:p>
            <a:pPr marL="0" indent="0">
              <a:buNone/>
            </a:pPr>
            <a:r>
              <a:rPr lang="en-US" altLang="zh-CN" sz="2400" dirty="0">
                <a:solidFill>
                  <a:schemeClr val="tx1">
                    <a:lumMod val="95000"/>
                    <a:lumOff val="5000"/>
                  </a:schemeClr>
                </a:solidFill>
              </a:rPr>
              <a:t>2</a:t>
            </a:r>
            <a:r>
              <a:rPr lang="zh-CN" altLang="en-US" sz="2400" dirty="0">
                <a:solidFill>
                  <a:schemeClr val="tx1">
                    <a:lumMod val="95000"/>
                    <a:lumOff val="5000"/>
                  </a:schemeClr>
                </a:solidFill>
              </a:rPr>
              <a:t>）创建</a:t>
            </a:r>
            <a:r>
              <a:rPr lang="en-US" altLang="zh-CN" sz="2400" dirty="0">
                <a:solidFill>
                  <a:schemeClr val="tx1">
                    <a:lumMod val="95000"/>
                    <a:lumOff val="5000"/>
                  </a:schemeClr>
                </a:solidFill>
              </a:rPr>
              <a:t>/</a:t>
            </a:r>
            <a:r>
              <a:rPr lang="en-US" altLang="zh-CN" sz="2400" dirty="0" err="1">
                <a:solidFill>
                  <a:schemeClr val="tx1">
                    <a:lumMod val="95000"/>
                    <a:lumOff val="5000"/>
                  </a:schemeClr>
                </a:solidFill>
              </a:rPr>
              <a:t>etc</a:t>
            </a:r>
            <a:r>
              <a:rPr lang="en-US" altLang="zh-CN" sz="2400" dirty="0">
                <a:solidFill>
                  <a:schemeClr val="tx1">
                    <a:lumMod val="95000"/>
                    <a:lumOff val="5000"/>
                  </a:schemeClr>
                </a:solidFill>
              </a:rPr>
              <a:t>/swift/container-</a:t>
            </a:r>
            <a:r>
              <a:rPr lang="en-US" altLang="zh-CN" sz="2400" dirty="0" err="1">
                <a:solidFill>
                  <a:schemeClr val="tx1">
                    <a:lumMod val="95000"/>
                    <a:lumOff val="5000"/>
                  </a:schemeClr>
                </a:solidFill>
              </a:rPr>
              <a:t>server.conf</a:t>
            </a:r>
            <a:r>
              <a:rPr lang="zh-CN" altLang="en-US" sz="2400" dirty="0">
                <a:solidFill>
                  <a:schemeClr val="tx1">
                    <a:lumMod val="95000"/>
                    <a:lumOff val="5000"/>
                  </a:schemeClr>
                </a:solidFill>
              </a:rPr>
              <a:t>配置文件</a:t>
            </a:r>
          </a:p>
          <a:p>
            <a:pPr marL="0" indent="0">
              <a:buNone/>
            </a:pPr>
            <a:r>
              <a:rPr lang="en-US" altLang="zh-CN" sz="2400" dirty="0">
                <a:solidFill>
                  <a:schemeClr val="tx1">
                    <a:lumMod val="95000"/>
                    <a:lumOff val="5000"/>
                  </a:schemeClr>
                </a:solidFill>
              </a:rPr>
              <a:t>3</a:t>
            </a:r>
            <a:r>
              <a:rPr lang="zh-CN" altLang="en-US" sz="2400" dirty="0">
                <a:solidFill>
                  <a:schemeClr val="tx1">
                    <a:lumMod val="95000"/>
                    <a:lumOff val="5000"/>
                  </a:schemeClr>
                </a:solidFill>
              </a:rPr>
              <a:t>）创建</a:t>
            </a:r>
            <a:r>
              <a:rPr lang="en-US" altLang="zh-CN" sz="2400" dirty="0">
                <a:solidFill>
                  <a:schemeClr val="tx1">
                    <a:lumMod val="95000"/>
                    <a:lumOff val="5000"/>
                  </a:schemeClr>
                </a:solidFill>
              </a:rPr>
              <a:t>/</a:t>
            </a:r>
            <a:r>
              <a:rPr lang="en-US" altLang="zh-CN" sz="2400" dirty="0" err="1">
                <a:solidFill>
                  <a:schemeClr val="tx1">
                    <a:lumMod val="95000"/>
                    <a:lumOff val="5000"/>
                  </a:schemeClr>
                </a:solidFill>
              </a:rPr>
              <a:t>etc</a:t>
            </a:r>
            <a:r>
              <a:rPr lang="en-US" altLang="zh-CN" sz="2400" dirty="0">
                <a:solidFill>
                  <a:schemeClr val="tx1">
                    <a:lumMod val="95000"/>
                    <a:lumOff val="5000"/>
                  </a:schemeClr>
                </a:solidFill>
              </a:rPr>
              <a:t>/swift/object-</a:t>
            </a:r>
            <a:r>
              <a:rPr lang="en-US" altLang="zh-CN" sz="2400" dirty="0" err="1">
                <a:solidFill>
                  <a:schemeClr val="tx1">
                    <a:lumMod val="95000"/>
                    <a:lumOff val="5000"/>
                  </a:schemeClr>
                </a:solidFill>
              </a:rPr>
              <a:t>server.conf</a:t>
            </a:r>
            <a:r>
              <a:rPr lang="zh-CN" altLang="en-US" sz="2400" dirty="0">
                <a:solidFill>
                  <a:schemeClr val="tx1">
                    <a:lumMod val="95000"/>
                    <a:lumOff val="5000"/>
                  </a:schemeClr>
                </a:solidFill>
              </a:rPr>
              <a:t>配置文件</a:t>
            </a:r>
          </a:p>
          <a:p>
            <a:pPr marL="0" indent="0">
              <a:buNone/>
            </a:pPr>
            <a:r>
              <a:rPr lang="en-US" altLang="zh-CN" sz="2400" dirty="0">
                <a:solidFill>
                  <a:schemeClr val="tx1">
                    <a:lumMod val="95000"/>
                    <a:lumOff val="5000"/>
                  </a:schemeClr>
                </a:solidFill>
              </a:rPr>
              <a:t>4</a:t>
            </a:r>
            <a:r>
              <a:rPr lang="zh-CN" altLang="en-US" sz="2400" dirty="0">
                <a:solidFill>
                  <a:schemeClr val="tx1">
                    <a:lumMod val="95000"/>
                    <a:lumOff val="5000"/>
                  </a:schemeClr>
                </a:solidFill>
              </a:rPr>
              <a:t>）移动配置文件</a:t>
            </a:r>
          </a:p>
          <a:p>
            <a:pPr marL="0" indent="0">
              <a:buNone/>
            </a:pPr>
            <a:r>
              <a:rPr lang="en-US" altLang="zh-CN" sz="2400" dirty="0">
                <a:solidFill>
                  <a:schemeClr val="tx1">
                    <a:lumMod val="95000"/>
                    <a:lumOff val="5000"/>
                  </a:schemeClr>
                </a:solidFill>
              </a:rPr>
              <a:t>7</a:t>
            </a:r>
            <a:r>
              <a:rPr lang="zh-CN" altLang="en-US" sz="2400" dirty="0">
                <a:solidFill>
                  <a:schemeClr val="tx1">
                    <a:lumMod val="95000"/>
                    <a:lumOff val="5000"/>
                  </a:schemeClr>
                </a:solidFill>
              </a:rPr>
              <a:t>、创建和修改相关配置文件</a:t>
            </a:r>
          </a:p>
        </p:txBody>
      </p:sp>
      <p:grpSp>
        <p:nvGrpSpPr>
          <p:cNvPr id="8" name="组合 7"/>
          <p:cNvGrpSpPr/>
          <p:nvPr/>
        </p:nvGrpSpPr>
        <p:grpSpPr>
          <a:xfrm>
            <a:off x="10314213" y="5262011"/>
            <a:ext cx="1877787" cy="1129564"/>
            <a:chOff x="9675584" y="5175723"/>
            <a:chExt cx="1877787" cy="1129564"/>
          </a:xfrm>
        </p:grpSpPr>
        <p:sp>
          <p:nvSpPr>
            <p:cNvPr id="12" name="矩形 11"/>
            <p:cNvSpPr/>
            <p:nvPr/>
          </p:nvSpPr>
          <p:spPr>
            <a:xfrm>
              <a:off x="11286669" y="5640179"/>
              <a:ext cx="266702" cy="66188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0642146" y="5828865"/>
              <a:ext cx="266702" cy="4764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0241641" y="5175723"/>
              <a:ext cx="266702" cy="112956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9675584" y="5974341"/>
              <a:ext cx="266702" cy="33094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p:nvSpPr>
        <p:spPr>
          <a:xfrm>
            <a:off x="0" y="6391575"/>
            <a:ext cx="12192000" cy="466425"/>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solidFill>
            </a:endParaRPr>
          </a:p>
        </p:txBody>
      </p:sp>
      <p:sp>
        <p:nvSpPr>
          <p:cNvPr id="18" name="矩形 17"/>
          <p:cNvSpPr/>
          <p:nvPr/>
        </p:nvSpPr>
        <p:spPr>
          <a:xfrm>
            <a:off x="3660775" y="1677194"/>
            <a:ext cx="4413860"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3"/>
          <p:cNvSpPr txBox="1"/>
          <p:nvPr/>
        </p:nvSpPr>
        <p:spPr>
          <a:xfrm>
            <a:off x="3821163" y="1734284"/>
            <a:ext cx="3669594" cy="400110"/>
          </a:xfrm>
          <a:prstGeom prst="rect">
            <a:avLst/>
          </a:prstGeom>
          <a:noFill/>
        </p:spPr>
        <p:txBody>
          <a:bodyPr wrap="none" rtlCol="0">
            <a:spAutoFit/>
          </a:bodyPr>
          <a:lstStyle/>
          <a:p>
            <a:r>
              <a:rPr lang="zh-CN" altLang="en-US" sz="2000" dirty="0">
                <a:latin typeface="+mn-ea"/>
              </a:rPr>
              <a:t>任务</a:t>
            </a:r>
            <a:r>
              <a:rPr lang="en-US" altLang="zh-CN" sz="2000" dirty="0">
                <a:latin typeface="+mn-ea"/>
              </a:rPr>
              <a:t>5</a:t>
            </a:r>
            <a:r>
              <a:rPr lang="zh-CN" altLang="en-US" sz="2000" dirty="0">
                <a:latin typeface="+mn-ea"/>
              </a:rPr>
              <a:t>步骤：安装配置存储节点</a:t>
            </a:r>
            <a:endParaRPr lang="en-US" altLang="zh-CN" sz="2000" dirty="0">
              <a:latin typeface="+mn-ea"/>
            </a:endParaRPr>
          </a:p>
        </p:txBody>
      </p:sp>
      <p:grpSp>
        <p:nvGrpSpPr>
          <p:cNvPr id="20" name="组合 19"/>
          <p:cNvGrpSpPr/>
          <p:nvPr/>
        </p:nvGrpSpPr>
        <p:grpSpPr>
          <a:xfrm>
            <a:off x="139962" y="-1"/>
            <a:ext cx="11520000" cy="2053082"/>
            <a:chOff x="131974" y="-1"/>
            <a:chExt cx="11520000" cy="2053082"/>
          </a:xfrm>
        </p:grpSpPr>
        <p:grpSp>
          <p:nvGrpSpPr>
            <p:cNvPr id="21" name="组合 20"/>
            <p:cNvGrpSpPr/>
            <p:nvPr/>
          </p:nvGrpSpPr>
          <p:grpSpPr>
            <a:xfrm>
              <a:off x="131974" y="-1"/>
              <a:ext cx="11520000" cy="1016152"/>
              <a:chOff x="131974" y="-1"/>
              <a:chExt cx="11520000" cy="1016152"/>
            </a:xfrm>
          </p:grpSpPr>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安装部署</a:t>
                </a:r>
              </a:p>
            </p:txBody>
          </p:sp>
        </p:grpSp>
        <p:sp>
          <p:nvSpPr>
            <p:cNvPr id="22" name="文本框 21"/>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文本框 22"/>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的安装部署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31378078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612775" y="2793737"/>
            <a:ext cx="10820400" cy="3684057"/>
          </a:xfrm>
          <a:prstGeom prst="roundRect">
            <a:avLst>
              <a:gd name="adj" fmla="val 5822"/>
            </a:avLst>
          </a:prstGeom>
          <a:solidFill>
            <a:schemeClr val="bg1">
              <a:lumMod val="95000"/>
            </a:schemeClr>
          </a:solidFill>
          <a:ln w="38100">
            <a:solidFill>
              <a:srgbClr val="FF993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3775" y="2614259"/>
            <a:ext cx="107505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536575" y="2282329"/>
            <a:ext cx="4267200" cy="461665"/>
          </a:xfrm>
          <a:prstGeom prst="rect">
            <a:avLst/>
          </a:prstGeom>
          <a:solidFill>
            <a:srgbClr val="00B0F0"/>
          </a:solidFill>
        </p:spPr>
        <p:txBody>
          <a:bodyPr wrap="square" rtlCol="0">
            <a:spAutoFit/>
          </a:bodyPr>
          <a:lstStyle/>
          <a:p>
            <a:r>
              <a:rPr lang="en-US" altLang="zh-CN" dirty="0">
                <a:latin typeface="+mn-ea"/>
              </a:rPr>
              <a:t>【</a:t>
            </a:r>
            <a:r>
              <a:rPr lang="zh-CN" altLang="en-US" dirty="0">
                <a:latin typeface="+mn-ea"/>
              </a:rPr>
              <a:t>实施步骤</a:t>
            </a:r>
            <a:r>
              <a:rPr lang="en-US" altLang="zh-CN" dirty="0">
                <a:latin typeface="+mn-ea"/>
              </a:rPr>
              <a:t>】8</a:t>
            </a:r>
          </a:p>
        </p:txBody>
      </p:sp>
      <p:sp>
        <p:nvSpPr>
          <p:cNvPr id="13" name="内容占位符 2"/>
          <p:cNvSpPr txBox="1">
            <a:spLocks/>
          </p:cNvSpPr>
          <p:nvPr/>
        </p:nvSpPr>
        <p:spPr>
          <a:xfrm>
            <a:off x="1089439" y="2737446"/>
            <a:ext cx="9810295" cy="3714266"/>
          </a:xfrm>
          <a:prstGeom prst="rect">
            <a:avLst/>
          </a:prstGeom>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en-US" altLang="zh-CN" dirty="0">
                <a:solidFill>
                  <a:schemeClr val="tx1">
                    <a:lumMod val="95000"/>
                    <a:lumOff val="5000"/>
                  </a:schemeClr>
                </a:solidFill>
              </a:rPr>
              <a:t>8</a:t>
            </a:r>
            <a:r>
              <a:rPr lang="zh-CN" altLang="en-US" dirty="0">
                <a:solidFill>
                  <a:schemeClr val="tx1">
                    <a:lumMod val="95000"/>
                    <a:lumOff val="5000"/>
                  </a:schemeClr>
                </a:solidFill>
              </a:rPr>
              <a:t>、启动存储节点服务。</a:t>
            </a:r>
          </a:p>
          <a:p>
            <a:pPr marL="0" indent="0">
              <a:buNone/>
            </a:pPr>
            <a:r>
              <a:rPr lang="en-US" altLang="zh-CN" dirty="0">
                <a:solidFill>
                  <a:schemeClr val="tx1">
                    <a:lumMod val="95000"/>
                    <a:lumOff val="5000"/>
                  </a:schemeClr>
                </a:solidFill>
              </a:rPr>
              <a:t>1</a:t>
            </a:r>
            <a:r>
              <a:rPr lang="zh-CN" altLang="en-US" dirty="0">
                <a:solidFill>
                  <a:schemeClr val="tx1">
                    <a:lumMod val="95000"/>
                    <a:lumOff val="5000"/>
                  </a:schemeClr>
                </a:solidFill>
              </a:rPr>
              <a:t>）分别登录</a:t>
            </a:r>
            <a:r>
              <a:rPr lang="en-US" altLang="zh-CN" dirty="0">
                <a:solidFill>
                  <a:schemeClr val="tx1">
                    <a:lumMod val="95000"/>
                    <a:lumOff val="5000"/>
                  </a:schemeClr>
                </a:solidFill>
              </a:rPr>
              <a:t>node3</a:t>
            </a:r>
            <a:r>
              <a:rPr lang="zh-CN" altLang="en-US" dirty="0">
                <a:solidFill>
                  <a:schemeClr val="tx1">
                    <a:lumMod val="95000"/>
                    <a:lumOff val="5000"/>
                  </a:schemeClr>
                </a:solidFill>
              </a:rPr>
              <a:t>和</a:t>
            </a:r>
            <a:r>
              <a:rPr lang="en-US" altLang="zh-CN" dirty="0">
                <a:solidFill>
                  <a:schemeClr val="tx1">
                    <a:lumMod val="95000"/>
                    <a:lumOff val="5000"/>
                  </a:schemeClr>
                </a:solidFill>
              </a:rPr>
              <a:t>node4</a:t>
            </a:r>
            <a:r>
              <a:rPr lang="zh-CN" altLang="en-US" dirty="0">
                <a:solidFill>
                  <a:schemeClr val="tx1">
                    <a:lumMod val="95000"/>
                    <a:lumOff val="5000"/>
                  </a:schemeClr>
                </a:solidFill>
              </a:rPr>
              <a:t>节点机，设置开机启动服务</a:t>
            </a:r>
          </a:p>
          <a:p>
            <a:pPr marL="0" indent="0">
              <a:buNone/>
            </a:pPr>
            <a:r>
              <a:rPr lang="en-US" altLang="zh-CN" dirty="0">
                <a:solidFill>
                  <a:schemeClr val="tx1">
                    <a:lumMod val="95000"/>
                    <a:lumOff val="5000"/>
                  </a:schemeClr>
                </a:solidFill>
              </a:rPr>
              <a:t>2</a:t>
            </a:r>
            <a:r>
              <a:rPr lang="zh-CN" altLang="en-US" dirty="0">
                <a:solidFill>
                  <a:schemeClr val="tx1">
                    <a:lumMod val="95000"/>
                    <a:lumOff val="5000"/>
                  </a:schemeClr>
                </a:solidFill>
              </a:rPr>
              <a:t>）启动服务</a:t>
            </a:r>
            <a:endParaRPr lang="en-US" altLang="zh-CN" dirty="0">
              <a:solidFill>
                <a:schemeClr val="tx1">
                  <a:lumMod val="95000"/>
                  <a:lumOff val="5000"/>
                </a:schemeClr>
              </a:solidFill>
            </a:endParaRPr>
          </a:p>
          <a:p>
            <a:pPr marL="0" indent="0">
              <a:buNone/>
            </a:pPr>
            <a:r>
              <a:rPr lang="en-US" altLang="zh-CN" dirty="0">
                <a:solidFill>
                  <a:schemeClr val="tx1">
                    <a:lumMod val="95000"/>
                    <a:lumOff val="5000"/>
                  </a:schemeClr>
                </a:solidFill>
              </a:rPr>
              <a:t>9</a:t>
            </a:r>
            <a:r>
              <a:rPr lang="zh-CN" altLang="en-US" dirty="0">
                <a:solidFill>
                  <a:schemeClr val="tx1">
                    <a:lumMod val="95000"/>
                    <a:lumOff val="5000"/>
                  </a:schemeClr>
                </a:solidFill>
              </a:rPr>
              <a:t>、检验安装系统</a:t>
            </a:r>
          </a:p>
          <a:p>
            <a:pPr marL="0" indent="0">
              <a:buNone/>
            </a:pPr>
            <a:r>
              <a:rPr lang="en-US" altLang="zh-CN" dirty="0">
                <a:solidFill>
                  <a:schemeClr val="tx1">
                    <a:lumMod val="95000"/>
                    <a:lumOff val="5000"/>
                  </a:schemeClr>
                </a:solidFill>
              </a:rPr>
              <a:t>1</a:t>
            </a:r>
            <a:r>
              <a:rPr lang="zh-CN" altLang="en-US" dirty="0">
                <a:solidFill>
                  <a:schemeClr val="tx1">
                    <a:lumMod val="95000"/>
                    <a:lumOff val="5000"/>
                  </a:schemeClr>
                </a:solidFill>
              </a:rPr>
              <a:t>）登录</a:t>
            </a:r>
            <a:r>
              <a:rPr lang="en-US" altLang="zh-CN" dirty="0">
                <a:solidFill>
                  <a:schemeClr val="tx1">
                    <a:lumMod val="95000"/>
                    <a:lumOff val="5000"/>
                  </a:schemeClr>
                </a:solidFill>
              </a:rPr>
              <a:t>node2</a:t>
            </a:r>
            <a:r>
              <a:rPr lang="zh-CN" altLang="en-US" dirty="0">
                <a:solidFill>
                  <a:schemeClr val="tx1">
                    <a:lumMod val="95000"/>
                    <a:lumOff val="5000"/>
                  </a:schemeClr>
                </a:solidFill>
              </a:rPr>
              <a:t>节点机，编辑环境变量</a:t>
            </a:r>
          </a:p>
          <a:p>
            <a:pPr marL="0" indent="0">
              <a:buNone/>
            </a:pPr>
            <a:r>
              <a:rPr lang="en-US" altLang="zh-CN" dirty="0">
                <a:solidFill>
                  <a:schemeClr val="tx1">
                    <a:lumMod val="95000"/>
                    <a:lumOff val="5000"/>
                  </a:schemeClr>
                </a:solidFill>
              </a:rPr>
              <a:t>2</a:t>
            </a:r>
            <a:r>
              <a:rPr lang="zh-CN" altLang="en-US" dirty="0">
                <a:solidFill>
                  <a:schemeClr val="tx1">
                    <a:lumMod val="95000"/>
                    <a:lumOff val="5000"/>
                  </a:schemeClr>
                </a:solidFill>
              </a:rPr>
              <a:t>）查询</a:t>
            </a:r>
            <a:r>
              <a:rPr lang="en-US" altLang="zh-CN" dirty="0">
                <a:solidFill>
                  <a:schemeClr val="tx1">
                    <a:lumMod val="95000"/>
                    <a:lumOff val="5000"/>
                  </a:schemeClr>
                </a:solidFill>
              </a:rPr>
              <a:t>swift</a:t>
            </a:r>
            <a:r>
              <a:rPr lang="zh-CN" altLang="en-US" dirty="0">
                <a:solidFill>
                  <a:schemeClr val="tx1">
                    <a:lumMod val="95000"/>
                    <a:lumOff val="5000"/>
                  </a:schemeClr>
                </a:solidFill>
              </a:rPr>
              <a:t>状态</a:t>
            </a:r>
          </a:p>
          <a:p>
            <a:pPr marL="0" indent="0">
              <a:buNone/>
            </a:pPr>
            <a:r>
              <a:rPr lang="en-US" altLang="zh-CN" dirty="0">
                <a:solidFill>
                  <a:schemeClr val="tx1">
                    <a:lumMod val="95000"/>
                    <a:lumOff val="5000"/>
                  </a:schemeClr>
                </a:solidFill>
              </a:rPr>
              <a:t>3</a:t>
            </a:r>
            <a:r>
              <a:rPr lang="zh-CN" altLang="en-US" dirty="0">
                <a:solidFill>
                  <a:schemeClr val="tx1">
                    <a:lumMod val="95000"/>
                    <a:lumOff val="5000"/>
                  </a:schemeClr>
                </a:solidFill>
              </a:rPr>
              <a:t>）创建文件</a:t>
            </a:r>
            <a:r>
              <a:rPr lang="en-US" altLang="zh-CN" dirty="0">
                <a:solidFill>
                  <a:schemeClr val="tx1">
                    <a:lumMod val="95000"/>
                    <a:lumOff val="5000"/>
                  </a:schemeClr>
                </a:solidFill>
              </a:rPr>
              <a:t>test1.txt</a:t>
            </a:r>
            <a:r>
              <a:rPr lang="zh-CN" altLang="en-US" dirty="0">
                <a:solidFill>
                  <a:schemeClr val="tx1">
                    <a:lumMod val="95000"/>
                    <a:lumOff val="5000"/>
                  </a:schemeClr>
                </a:solidFill>
              </a:rPr>
              <a:t>和文件</a:t>
            </a:r>
            <a:r>
              <a:rPr lang="en-US" altLang="zh-CN" dirty="0">
                <a:solidFill>
                  <a:schemeClr val="tx1">
                    <a:lumMod val="95000"/>
                    <a:lumOff val="5000"/>
                  </a:schemeClr>
                </a:solidFill>
              </a:rPr>
              <a:t>test2.txt</a:t>
            </a:r>
            <a:r>
              <a:rPr lang="zh-CN" altLang="en-US" dirty="0">
                <a:solidFill>
                  <a:schemeClr val="tx1">
                    <a:lumMod val="95000"/>
                    <a:lumOff val="5000"/>
                  </a:schemeClr>
                </a:solidFill>
              </a:rPr>
              <a:t>，上传文件</a:t>
            </a:r>
          </a:p>
          <a:p>
            <a:pPr marL="0" indent="0">
              <a:buNone/>
            </a:pPr>
            <a:r>
              <a:rPr lang="en-US" altLang="zh-CN" dirty="0">
                <a:solidFill>
                  <a:schemeClr val="tx1">
                    <a:lumMod val="95000"/>
                    <a:lumOff val="5000"/>
                  </a:schemeClr>
                </a:solidFill>
              </a:rPr>
              <a:t>4</a:t>
            </a:r>
            <a:r>
              <a:rPr lang="zh-CN" altLang="en-US" dirty="0">
                <a:solidFill>
                  <a:schemeClr val="tx1">
                    <a:lumMod val="95000"/>
                    <a:lumOff val="5000"/>
                  </a:schemeClr>
                </a:solidFill>
              </a:rPr>
              <a:t>）下载文件</a:t>
            </a:r>
          </a:p>
        </p:txBody>
      </p:sp>
      <p:grpSp>
        <p:nvGrpSpPr>
          <p:cNvPr id="8" name="组合 7"/>
          <p:cNvGrpSpPr/>
          <p:nvPr/>
        </p:nvGrpSpPr>
        <p:grpSpPr>
          <a:xfrm>
            <a:off x="10314213" y="5262011"/>
            <a:ext cx="1877787" cy="1129564"/>
            <a:chOff x="9675584" y="5175723"/>
            <a:chExt cx="1877787" cy="1129564"/>
          </a:xfrm>
        </p:grpSpPr>
        <p:sp>
          <p:nvSpPr>
            <p:cNvPr id="12" name="矩形 11"/>
            <p:cNvSpPr/>
            <p:nvPr/>
          </p:nvSpPr>
          <p:spPr>
            <a:xfrm>
              <a:off x="11286669" y="5640179"/>
              <a:ext cx="266702" cy="66188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0642146" y="5828865"/>
              <a:ext cx="266702" cy="4764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0241641" y="5175723"/>
              <a:ext cx="266702" cy="112956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9675584" y="5974341"/>
              <a:ext cx="266702" cy="33094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p:nvSpPr>
        <p:spPr>
          <a:xfrm>
            <a:off x="0" y="6546334"/>
            <a:ext cx="12192000" cy="311666"/>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solidFill>
            </a:endParaRPr>
          </a:p>
        </p:txBody>
      </p:sp>
      <p:sp>
        <p:nvSpPr>
          <p:cNvPr id="18" name="矩形 17"/>
          <p:cNvSpPr/>
          <p:nvPr/>
        </p:nvSpPr>
        <p:spPr>
          <a:xfrm>
            <a:off x="3660775" y="1677194"/>
            <a:ext cx="4413860"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3"/>
          <p:cNvSpPr txBox="1"/>
          <p:nvPr/>
        </p:nvSpPr>
        <p:spPr>
          <a:xfrm>
            <a:off x="3821163" y="1734284"/>
            <a:ext cx="3669594" cy="400110"/>
          </a:xfrm>
          <a:prstGeom prst="rect">
            <a:avLst/>
          </a:prstGeom>
          <a:noFill/>
        </p:spPr>
        <p:txBody>
          <a:bodyPr wrap="none" rtlCol="0">
            <a:spAutoFit/>
          </a:bodyPr>
          <a:lstStyle/>
          <a:p>
            <a:r>
              <a:rPr lang="zh-CN" altLang="en-US" sz="2000" dirty="0">
                <a:latin typeface="+mn-ea"/>
              </a:rPr>
              <a:t>任务</a:t>
            </a:r>
            <a:r>
              <a:rPr lang="en-US" altLang="zh-CN" sz="2000" dirty="0">
                <a:latin typeface="+mn-ea"/>
              </a:rPr>
              <a:t>5</a:t>
            </a:r>
            <a:r>
              <a:rPr lang="zh-CN" altLang="en-US" sz="2000" dirty="0">
                <a:latin typeface="+mn-ea"/>
              </a:rPr>
              <a:t>步骤：安装配置存储节点</a:t>
            </a:r>
            <a:endParaRPr lang="en-US" altLang="zh-CN" sz="2000" dirty="0">
              <a:latin typeface="+mn-ea"/>
            </a:endParaRPr>
          </a:p>
        </p:txBody>
      </p:sp>
      <p:grpSp>
        <p:nvGrpSpPr>
          <p:cNvPr id="20" name="组合 19"/>
          <p:cNvGrpSpPr/>
          <p:nvPr/>
        </p:nvGrpSpPr>
        <p:grpSpPr>
          <a:xfrm>
            <a:off x="139962" y="-1"/>
            <a:ext cx="11520000" cy="2053082"/>
            <a:chOff x="131974" y="-1"/>
            <a:chExt cx="11520000" cy="2053082"/>
          </a:xfrm>
        </p:grpSpPr>
        <p:grpSp>
          <p:nvGrpSpPr>
            <p:cNvPr id="21" name="组合 20"/>
            <p:cNvGrpSpPr/>
            <p:nvPr/>
          </p:nvGrpSpPr>
          <p:grpSpPr>
            <a:xfrm>
              <a:off x="131974" y="-1"/>
              <a:ext cx="11520000" cy="1016152"/>
              <a:chOff x="131974" y="-1"/>
              <a:chExt cx="11520000" cy="1016152"/>
            </a:xfrm>
          </p:grpSpPr>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安装部署</a:t>
                </a:r>
              </a:p>
            </p:txBody>
          </p:sp>
        </p:grpSp>
        <p:sp>
          <p:nvSpPr>
            <p:cNvPr id="22" name="文本框 21"/>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文本框 22"/>
            <p:cNvSpPr txBox="1"/>
            <p:nvPr/>
          </p:nvSpPr>
          <p:spPr>
            <a:xfrm>
              <a:off x="612896" y="1591416"/>
              <a:ext cx="276229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的安装部署</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10656362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8" name="组合 5"/>
          <p:cNvGrpSpPr>
            <a:grpSpLocks/>
          </p:cNvGrpSpPr>
          <p:nvPr/>
        </p:nvGrpSpPr>
        <p:grpSpPr bwMode="auto">
          <a:xfrm rot="-5400000">
            <a:off x="1031170" y="3620276"/>
            <a:ext cx="4038600" cy="152436"/>
            <a:chOff x="0" y="3259138"/>
            <a:chExt cx="9144000" cy="195262"/>
          </a:xfrm>
        </p:grpSpPr>
        <p:sp>
          <p:nvSpPr>
            <p:cNvPr id="76" name="Rectangle 3"/>
            <p:cNvSpPr>
              <a:spLocks noChangeArrowheads="1"/>
            </p:cNvSpPr>
            <p:nvPr/>
          </p:nvSpPr>
          <p:spPr bwMode="gray">
            <a:xfrm>
              <a:off x="1" y="3259139"/>
              <a:ext cx="9144000" cy="54918"/>
            </a:xfrm>
            <a:prstGeom prst="rect">
              <a:avLst/>
            </a:prstGeom>
            <a:gradFill rotWithShape="1">
              <a:gsLst>
                <a:gs pos="0">
                  <a:srgbClr val="808080"/>
                </a:gs>
                <a:gs pos="100000">
                  <a:srgbClr val="ECECEC"/>
                </a:gs>
              </a:gsLst>
              <a:lin ang="5400000" scaled="1"/>
            </a:gradFill>
            <a:ln w="9525" algn="ctr">
              <a:noFill/>
              <a:miter lim="800000"/>
              <a:headEnd/>
              <a:tailEnd/>
            </a:ln>
          </p:spPr>
          <p:txBody>
            <a:bodyPr wrap="none" anchor="ctr"/>
            <a:lstStyle/>
            <a:p>
              <a:pPr>
                <a:defRPr/>
              </a:pPr>
              <a:endParaRPr lang="zh-CN" altLang="en-US" sz="3201" kern="0">
                <a:solidFill>
                  <a:sysClr val="windowText" lastClr="000000"/>
                </a:solidFill>
                <a:latin typeface="+mn-ea"/>
              </a:endParaRPr>
            </a:p>
          </p:txBody>
        </p:sp>
        <p:sp>
          <p:nvSpPr>
            <p:cNvPr id="77" name="Rectangle 4"/>
            <p:cNvSpPr>
              <a:spLocks noChangeArrowheads="1"/>
            </p:cNvSpPr>
            <p:nvPr/>
          </p:nvSpPr>
          <p:spPr bwMode="gray">
            <a:xfrm>
              <a:off x="1" y="3312022"/>
              <a:ext cx="9144000" cy="142379"/>
            </a:xfrm>
            <a:prstGeom prst="rect">
              <a:avLst/>
            </a:prstGeom>
            <a:gradFill rotWithShape="1">
              <a:gsLst>
                <a:gs pos="0">
                  <a:srgbClr val="CFCFCF"/>
                </a:gs>
                <a:gs pos="100000">
                  <a:srgbClr val="5F5F5F"/>
                </a:gs>
              </a:gsLst>
              <a:lin ang="5400000" scaled="1"/>
            </a:gradFill>
            <a:ln w="9525" algn="ctr">
              <a:noFill/>
              <a:miter lim="800000"/>
              <a:headEnd/>
              <a:tailEnd/>
            </a:ln>
          </p:spPr>
          <p:txBody>
            <a:bodyPr wrap="none" anchor="ctr"/>
            <a:lstStyle/>
            <a:p>
              <a:pPr>
                <a:defRPr/>
              </a:pPr>
              <a:endParaRPr lang="zh-CN" altLang="en-US" sz="3201" kern="0">
                <a:solidFill>
                  <a:sysClr val="windowText" lastClr="000000"/>
                </a:solidFill>
                <a:latin typeface="+mn-ea"/>
              </a:endParaRPr>
            </a:p>
          </p:txBody>
        </p:sp>
      </p:grpSp>
      <p:grpSp>
        <p:nvGrpSpPr>
          <p:cNvPr id="3" name="组合 2"/>
          <p:cNvGrpSpPr/>
          <p:nvPr/>
        </p:nvGrpSpPr>
        <p:grpSpPr>
          <a:xfrm>
            <a:off x="2578051" y="1841509"/>
            <a:ext cx="6326064" cy="861638"/>
            <a:chOff x="2593164" y="1657734"/>
            <a:chExt cx="6326064" cy="922552"/>
          </a:xfrm>
        </p:grpSpPr>
        <p:grpSp>
          <p:nvGrpSpPr>
            <p:cNvPr id="8197" name="组合 62"/>
            <p:cNvGrpSpPr>
              <a:grpSpLocks/>
            </p:cNvGrpSpPr>
            <p:nvPr/>
          </p:nvGrpSpPr>
          <p:grpSpPr bwMode="auto">
            <a:xfrm>
              <a:off x="2974252" y="1810168"/>
              <a:ext cx="5944976" cy="626254"/>
              <a:chOff x="1752601" y="2209800"/>
              <a:chExt cx="6934200" cy="625705"/>
            </a:xfrm>
          </p:grpSpPr>
          <p:sp>
            <p:nvSpPr>
              <p:cNvPr id="73" name="AutoShape 4"/>
              <p:cNvSpPr>
                <a:spLocks noChangeArrowheads="1"/>
              </p:cNvSpPr>
              <p:nvPr/>
            </p:nvSpPr>
            <p:spPr bwMode="gray">
              <a:xfrm>
                <a:off x="1752601" y="2209800"/>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lang="zh-CN" altLang="en-US" sz="3201" kern="0">
                  <a:solidFill>
                    <a:sysClr val="windowText" lastClr="000000"/>
                  </a:solidFill>
                  <a:latin typeface="+mn-ea"/>
                </a:endParaRPr>
              </a:p>
            </p:txBody>
          </p:sp>
          <p:sp>
            <p:nvSpPr>
              <p:cNvPr id="8254" name="Text Box 9"/>
              <p:cNvSpPr txBox="1">
                <a:spLocks noChangeArrowheads="1"/>
              </p:cNvSpPr>
              <p:nvPr/>
            </p:nvSpPr>
            <p:spPr bwMode="gray">
              <a:xfrm>
                <a:off x="2513808" y="2209800"/>
                <a:ext cx="5700713" cy="625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en-US" altLang="zh-CN" sz="3201" dirty="0">
                    <a:ea typeface="黑体" panose="02010609060101010101" pitchFamily="49" charset="-122"/>
                    <a:cs typeface="Times New Roman" panose="02020603050405020304" pitchFamily="18" charset="0"/>
                  </a:rPr>
                  <a:t>Swift</a:t>
                </a:r>
                <a:r>
                  <a:rPr lang="zh-CN" altLang="en-US" sz="3201" dirty="0">
                    <a:ea typeface="黑体" panose="02010609060101010101" pitchFamily="49" charset="-122"/>
                    <a:cs typeface="Times New Roman" panose="02020603050405020304" pitchFamily="18" charset="0"/>
                  </a:rPr>
                  <a:t>简介</a:t>
                </a:r>
              </a:p>
            </p:txBody>
          </p:sp>
        </p:grpSp>
        <p:grpSp>
          <p:nvGrpSpPr>
            <p:cNvPr id="8199" name="Group 65"/>
            <p:cNvGrpSpPr>
              <a:grpSpLocks/>
            </p:cNvGrpSpPr>
            <p:nvPr/>
          </p:nvGrpSpPr>
          <p:grpSpPr bwMode="auto">
            <a:xfrm>
              <a:off x="2593164" y="1657734"/>
              <a:ext cx="854273" cy="922552"/>
              <a:chOff x="2789" y="1625"/>
              <a:chExt cx="847" cy="915"/>
            </a:xfrm>
          </p:grpSpPr>
          <p:sp>
            <p:nvSpPr>
              <p:cNvPr id="79"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lang="zh-CN" altLang="en-US" sz="3201" kern="0">
                  <a:solidFill>
                    <a:sysClr val="windowText" lastClr="000000"/>
                  </a:solidFill>
                  <a:latin typeface="+mn-ea"/>
                </a:endParaRPr>
              </a:p>
            </p:txBody>
          </p:sp>
          <p:sp>
            <p:nvSpPr>
              <p:cNvPr id="80"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lang="zh-CN" altLang="en-US" sz="3201" kern="0">
                  <a:solidFill>
                    <a:sysClr val="windowText" lastClr="000000"/>
                  </a:solidFill>
                  <a:latin typeface="+mn-ea"/>
                </a:endParaRPr>
              </a:p>
            </p:txBody>
          </p:sp>
          <p:sp>
            <p:nvSpPr>
              <p:cNvPr id="81"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sp>
            <p:nvSpPr>
              <p:cNvPr id="82"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sp>
            <p:nvSpPr>
              <p:cNvPr id="83"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grpSp>
            <p:nvGrpSpPr>
              <p:cNvPr id="8246" name="Group 71"/>
              <p:cNvGrpSpPr>
                <a:grpSpLocks/>
              </p:cNvGrpSpPr>
              <p:nvPr/>
            </p:nvGrpSpPr>
            <p:grpSpPr bwMode="auto">
              <a:xfrm>
                <a:off x="2899" y="1735"/>
                <a:ext cx="687" cy="688"/>
                <a:chOff x="4166" y="1706"/>
                <a:chExt cx="1252" cy="1252"/>
              </a:xfrm>
            </p:grpSpPr>
            <p:sp>
              <p:nvSpPr>
                <p:cNvPr id="85"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86"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87"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88"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grpSp>
        </p:grpSp>
        <p:sp>
          <p:nvSpPr>
            <p:cNvPr id="62" name="矩形 61"/>
            <p:cNvSpPr/>
            <p:nvPr/>
          </p:nvSpPr>
          <p:spPr>
            <a:xfrm>
              <a:off x="2740836" y="1845102"/>
              <a:ext cx="597038" cy="584335"/>
            </a:xfrm>
            <a:prstGeom prst="rect">
              <a:avLst/>
            </a:prstGeom>
          </p:spPr>
          <p:txBody>
            <a:bodyPr wrap="none">
              <a:spAutoFit/>
            </a:bodyPr>
            <a:lstStyle/>
            <a:p>
              <a:pPr eaLnBrk="1" hangingPunct="1">
                <a:defRPr/>
              </a:pPr>
              <a:r>
                <a:rPr lang="zh-CN" altLang="en-US" sz="3201" kern="0" dirty="0">
                  <a:solidFill>
                    <a:sysClr val="windowText" lastClr="000000"/>
                  </a:solidFill>
                  <a:latin typeface="+mn-ea"/>
                </a:rPr>
                <a:t>一</a:t>
              </a:r>
              <a:endParaRPr lang="zh-CN" altLang="en-US" sz="3201" dirty="0">
                <a:latin typeface="+mn-ea"/>
              </a:endParaRPr>
            </a:p>
          </p:txBody>
        </p:sp>
      </p:grpSp>
      <p:grpSp>
        <p:nvGrpSpPr>
          <p:cNvPr id="4" name="组合 3"/>
          <p:cNvGrpSpPr/>
          <p:nvPr/>
        </p:nvGrpSpPr>
        <p:grpSpPr>
          <a:xfrm>
            <a:off x="2593164" y="3015682"/>
            <a:ext cx="6326064" cy="877458"/>
            <a:chOff x="2593164" y="2724781"/>
            <a:chExt cx="6326064" cy="922552"/>
          </a:xfrm>
        </p:grpSpPr>
        <p:grpSp>
          <p:nvGrpSpPr>
            <p:cNvPr id="8194" name="组合 63"/>
            <p:cNvGrpSpPr>
              <a:grpSpLocks/>
            </p:cNvGrpSpPr>
            <p:nvPr/>
          </p:nvGrpSpPr>
          <p:grpSpPr bwMode="auto">
            <a:xfrm>
              <a:off x="2974252" y="2877217"/>
              <a:ext cx="5944976" cy="614964"/>
              <a:chOff x="1752601" y="2209798"/>
              <a:chExt cx="6934200" cy="614424"/>
            </a:xfrm>
          </p:grpSpPr>
          <p:sp>
            <p:nvSpPr>
              <p:cNvPr id="64"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lang="zh-CN" altLang="en-US" sz="3201" kern="0">
                  <a:solidFill>
                    <a:sysClr val="windowText" lastClr="000000"/>
                  </a:solidFill>
                  <a:latin typeface="+mn-ea"/>
                </a:endParaRPr>
              </a:p>
            </p:txBody>
          </p:sp>
          <p:sp>
            <p:nvSpPr>
              <p:cNvPr id="8260" name="Text Box 9"/>
              <p:cNvSpPr txBox="1">
                <a:spLocks noChangeArrowheads="1"/>
              </p:cNvSpPr>
              <p:nvPr/>
            </p:nvSpPr>
            <p:spPr bwMode="gray">
              <a:xfrm>
                <a:off x="2513808" y="2209798"/>
                <a:ext cx="5700713" cy="614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en-US" altLang="zh-CN" sz="3201" dirty="0">
                    <a:ea typeface="黑体" panose="02010609060101010101" pitchFamily="49" charset="-122"/>
                    <a:cs typeface="Times New Roman" panose="02020603050405020304" pitchFamily="18" charset="0"/>
                  </a:rPr>
                  <a:t>Swift</a:t>
                </a:r>
                <a:r>
                  <a:rPr lang="zh-CN" altLang="en-US" sz="3201" dirty="0">
                    <a:ea typeface="黑体" panose="02010609060101010101" pitchFamily="49" charset="-122"/>
                    <a:cs typeface="Times New Roman" panose="02020603050405020304" pitchFamily="18" charset="0"/>
                  </a:rPr>
                  <a:t>安装部署</a:t>
                </a:r>
              </a:p>
            </p:txBody>
          </p:sp>
        </p:grpSp>
        <p:grpSp>
          <p:nvGrpSpPr>
            <p:cNvPr id="8200" name="Group 65"/>
            <p:cNvGrpSpPr>
              <a:grpSpLocks/>
            </p:cNvGrpSpPr>
            <p:nvPr/>
          </p:nvGrpSpPr>
          <p:grpSpPr bwMode="auto">
            <a:xfrm>
              <a:off x="2593164" y="2724781"/>
              <a:ext cx="854273" cy="922552"/>
              <a:chOff x="2789" y="1625"/>
              <a:chExt cx="847" cy="915"/>
            </a:xfrm>
          </p:grpSpPr>
          <p:sp>
            <p:nvSpPr>
              <p:cNvPr id="90"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lang="zh-CN" altLang="en-US" sz="3201" kern="0">
                  <a:solidFill>
                    <a:sysClr val="windowText" lastClr="000000"/>
                  </a:solidFill>
                  <a:latin typeface="+mn-ea"/>
                </a:endParaRPr>
              </a:p>
            </p:txBody>
          </p:sp>
          <p:sp>
            <p:nvSpPr>
              <p:cNvPr id="91"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lang="zh-CN" altLang="en-US" sz="3201" kern="0">
                  <a:solidFill>
                    <a:sysClr val="windowText" lastClr="000000"/>
                  </a:solidFill>
                  <a:latin typeface="+mn-ea"/>
                </a:endParaRPr>
              </a:p>
            </p:txBody>
          </p:sp>
          <p:sp>
            <p:nvSpPr>
              <p:cNvPr id="92"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sp>
            <p:nvSpPr>
              <p:cNvPr id="93"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sp>
            <p:nvSpPr>
              <p:cNvPr id="94"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grpSp>
            <p:nvGrpSpPr>
              <p:cNvPr id="8236" name="Group 71"/>
              <p:cNvGrpSpPr>
                <a:grpSpLocks/>
              </p:cNvGrpSpPr>
              <p:nvPr/>
            </p:nvGrpSpPr>
            <p:grpSpPr bwMode="auto">
              <a:xfrm>
                <a:off x="2899" y="1735"/>
                <a:ext cx="687" cy="688"/>
                <a:chOff x="4166" y="1706"/>
                <a:chExt cx="1252" cy="1252"/>
              </a:xfrm>
            </p:grpSpPr>
            <p:sp>
              <p:nvSpPr>
                <p:cNvPr id="96"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97"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98"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99"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grpSp>
        </p:grpSp>
        <p:sp>
          <p:nvSpPr>
            <p:cNvPr id="63" name="矩形 62"/>
            <p:cNvSpPr/>
            <p:nvPr/>
          </p:nvSpPr>
          <p:spPr>
            <a:xfrm>
              <a:off x="2740836" y="2858162"/>
              <a:ext cx="597038" cy="584335"/>
            </a:xfrm>
            <a:prstGeom prst="rect">
              <a:avLst/>
            </a:prstGeom>
          </p:spPr>
          <p:txBody>
            <a:bodyPr wrap="none">
              <a:spAutoFit/>
            </a:bodyPr>
            <a:lstStyle/>
            <a:p>
              <a:pPr eaLnBrk="1" hangingPunct="1">
                <a:defRPr/>
              </a:pPr>
              <a:r>
                <a:rPr lang="zh-CN" altLang="en-US" sz="3201" kern="0" dirty="0">
                  <a:solidFill>
                    <a:sysClr val="windowText" lastClr="000000"/>
                  </a:solidFill>
                  <a:latin typeface="+mn-ea"/>
                </a:rPr>
                <a:t>二</a:t>
              </a:r>
              <a:endParaRPr lang="zh-CN" altLang="en-US" sz="3201" dirty="0">
                <a:latin typeface="+mn-ea"/>
              </a:endParaRPr>
            </a:p>
          </p:txBody>
        </p:sp>
      </p:grpSp>
      <p:grpSp>
        <p:nvGrpSpPr>
          <p:cNvPr id="5" name="组合 4"/>
          <p:cNvGrpSpPr/>
          <p:nvPr/>
        </p:nvGrpSpPr>
        <p:grpSpPr>
          <a:xfrm>
            <a:off x="2677901" y="4158175"/>
            <a:ext cx="6318125" cy="876206"/>
            <a:chOff x="2593164" y="3791828"/>
            <a:chExt cx="6318125" cy="922552"/>
          </a:xfrm>
        </p:grpSpPr>
        <p:grpSp>
          <p:nvGrpSpPr>
            <p:cNvPr id="8195" name="组合 66"/>
            <p:cNvGrpSpPr>
              <a:grpSpLocks/>
            </p:cNvGrpSpPr>
            <p:nvPr/>
          </p:nvGrpSpPr>
          <p:grpSpPr bwMode="auto">
            <a:xfrm>
              <a:off x="2966313" y="3934734"/>
              <a:ext cx="5944976" cy="615841"/>
              <a:chOff x="1752601" y="2209798"/>
              <a:chExt cx="6934200" cy="615301"/>
            </a:xfrm>
          </p:grpSpPr>
          <p:sp>
            <p:nvSpPr>
              <p:cNvPr id="67" name="AutoShape 4"/>
              <p:cNvSpPr>
                <a:spLocks noChangeArrowheads="1"/>
              </p:cNvSpPr>
              <p:nvPr/>
            </p:nvSpPr>
            <p:spPr bwMode="gray">
              <a:xfrm>
                <a:off x="1752601" y="2209798"/>
                <a:ext cx="6934200" cy="609206"/>
              </a:xfrm>
              <a:prstGeom prst="roundRect">
                <a:avLst>
                  <a:gd name="adj" fmla="val 10889"/>
                </a:avLst>
              </a:prstGeom>
              <a:gradFill flip="none" rotWithShape="1">
                <a:gsLst>
                  <a:gs pos="0">
                    <a:srgbClr val="FFFFFF"/>
                  </a:gs>
                  <a:gs pos="25000">
                    <a:srgbClr val="9999CC">
                      <a:lumMod val="40000"/>
                      <a:lumOff val="60000"/>
                    </a:srgbClr>
                  </a:gs>
                  <a:gs pos="75000">
                    <a:srgbClr val="9999CC">
                      <a:lumMod val="60000"/>
                      <a:lumOff val="40000"/>
                    </a:srgbClr>
                  </a:gs>
                </a:gsLst>
                <a:lin ang="5400000" scaled="0"/>
                <a:tileRect/>
              </a:gradFill>
              <a:ln w="38100">
                <a:noFill/>
                <a:round/>
                <a:headEnd/>
                <a:tailEnd/>
              </a:ln>
              <a:effectLst>
                <a:outerShdw dist="135003" dir="2928844" algn="ctr" rotWithShape="0">
                  <a:srgbClr val="000000">
                    <a:alpha val="50000"/>
                  </a:srgbClr>
                </a:outerShdw>
              </a:effectLst>
            </p:spPr>
            <p:txBody>
              <a:bodyPr wrap="none" anchor="ctr"/>
              <a:lstStyle/>
              <a:p>
                <a:pPr>
                  <a:defRPr/>
                </a:pPr>
                <a:endParaRPr lang="zh-CN" altLang="en-US" sz="3201" kern="0">
                  <a:solidFill>
                    <a:sysClr val="windowText" lastClr="000000"/>
                  </a:solidFill>
                  <a:latin typeface="+mn-ea"/>
                </a:endParaRPr>
              </a:p>
            </p:txBody>
          </p:sp>
          <p:sp>
            <p:nvSpPr>
              <p:cNvPr id="8258" name="Text Box 9"/>
              <p:cNvSpPr txBox="1">
                <a:spLocks noChangeArrowheads="1"/>
              </p:cNvSpPr>
              <p:nvPr/>
            </p:nvSpPr>
            <p:spPr bwMode="gray">
              <a:xfrm>
                <a:off x="2513807" y="2209798"/>
                <a:ext cx="5700713" cy="615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r>
                  <a:rPr lang="en-US" altLang="zh-CN" sz="3201" dirty="0" err="1">
                    <a:ea typeface="黑体" panose="02010609060101010101" pitchFamily="49" charset="-122"/>
                    <a:cs typeface="Times New Roman" panose="02020603050405020304" pitchFamily="18" charset="0"/>
                  </a:rPr>
                  <a:t>jclouds</a:t>
                </a:r>
                <a:r>
                  <a:rPr lang="en-US" altLang="zh-CN" sz="3201" dirty="0">
                    <a:ea typeface="黑体" panose="02010609060101010101" pitchFamily="49" charset="-122"/>
                    <a:cs typeface="Times New Roman" panose="02020603050405020304" pitchFamily="18" charset="0"/>
                  </a:rPr>
                  <a:t>-swift</a:t>
                </a:r>
                <a:r>
                  <a:rPr lang="zh-CN" altLang="en-US" sz="3201" dirty="0">
                    <a:ea typeface="黑体" panose="02010609060101010101" pitchFamily="49" charset="-122"/>
                    <a:cs typeface="Times New Roman" panose="02020603050405020304" pitchFamily="18" charset="0"/>
                  </a:rPr>
                  <a:t>编程</a:t>
                </a:r>
              </a:p>
            </p:txBody>
          </p:sp>
        </p:grpSp>
        <p:grpSp>
          <p:nvGrpSpPr>
            <p:cNvPr id="8202" name="Group 65"/>
            <p:cNvGrpSpPr>
              <a:grpSpLocks/>
            </p:cNvGrpSpPr>
            <p:nvPr/>
          </p:nvGrpSpPr>
          <p:grpSpPr bwMode="auto">
            <a:xfrm>
              <a:off x="2593164" y="3791828"/>
              <a:ext cx="854273" cy="922552"/>
              <a:chOff x="2789" y="1625"/>
              <a:chExt cx="847" cy="915"/>
            </a:xfrm>
          </p:grpSpPr>
          <p:sp>
            <p:nvSpPr>
              <p:cNvPr id="112" name="Oval 66"/>
              <p:cNvSpPr>
                <a:spLocks noChangeArrowheads="1"/>
              </p:cNvSpPr>
              <p:nvPr/>
            </p:nvSpPr>
            <p:spPr bwMode="gray">
              <a:xfrm>
                <a:off x="2789" y="1625"/>
                <a:ext cx="258" cy="816"/>
              </a:xfrm>
              <a:prstGeom prst="ellipse">
                <a:avLst/>
              </a:prstGeom>
              <a:gradFill rotWithShape="1">
                <a:gsLst>
                  <a:gs pos="0">
                    <a:srgbClr val="FFFFFF"/>
                  </a:gs>
                  <a:gs pos="50000">
                    <a:srgbClr val="83A6A7"/>
                  </a:gs>
                  <a:gs pos="100000">
                    <a:srgbClr val="FFFFFF"/>
                  </a:gs>
                </a:gsLst>
                <a:lin ang="2700000" scaled="1"/>
              </a:gradFill>
              <a:ln w="38100" algn="ctr">
                <a:noFill/>
                <a:round/>
                <a:headEnd/>
                <a:tailEnd/>
              </a:ln>
            </p:spPr>
            <p:txBody>
              <a:bodyPr wrap="none" anchor="ctr">
                <a:spAutoFit/>
              </a:bodyPr>
              <a:lstStyle/>
              <a:p>
                <a:pPr>
                  <a:defRPr/>
                </a:pPr>
                <a:endParaRPr lang="zh-CN" altLang="en-US" sz="3201" kern="0">
                  <a:solidFill>
                    <a:sysClr val="windowText" lastClr="000000"/>
                  </a:solidFill>
                  <a:latin typeface="+mn-ea"/>
                </a:endParaRPr>
              </a:p>
            </p:txBody>
          </p:sp>
          <p:sp>
            <p:nvSpPr>
              <p:cNvPr id="113" name="Oval 67"/>
              <p:cNvSpPr>
                <a:spLocks noChangeArrowheads="1"/>
              </p:cNvSpPr>
              <p:nvPr/>
            </p:nvSpPr>
            <p:spPr bwMode="gray">
              <a:xfrm>
                <a:off x="2789" y="1625"/>
                <a:ext cx="258" cy="816"/>
              </a:xfrm>
              <a:prstGeom prst="ellipse">
                <a:avLst/>
              </a:prstGeom>
              <a:gradFill rotWithShape="1">
                <a:gsLst>
                  <a:gs pos="0">
                    <a:srgbClr val="83A6A7">
                      <a:alpha val="32001"/>
                    </a:srgbClr>
                  </a:gs>
                  <a:gs pos="100000">
                    <a:srgbClr val="000000">
                      <a:alpha val="89998"/>
                    </a:srgbClr>
                  </a:gs>
                </a:gsLst>
                <a:lin ang="2700000" scaled="1"/>
              </a:gradFill>
              <a:ln w="38100" algn="ctr">
                <a:noFill/>
                <a:round/>
                <a:headEnd/>
                <a:tailEnd/>
              </a:ln>
            </p:spPr>
            <p:txBody>
              <a:bodyPr wrap="none" anchor="ctr">
                <a:spAutoFit/>
              </a:bodyPr>
              <a:lstStyle/>
              <a:p>
                <a:pPr>
                  <a:defRPr/>
                </a:pPr>
                <a:endParaRPr lang="zh-CN" altLang="en-US" sz="3201" kern="0">
                  <a:solidFill>
                    <a:sysClr val="windowText" lastClr="000000"/>
                  </a:solidFill>
                  <a:latin typeface="+mn-ea"/>
                </a:endParaRPr>
              </a:p>
            </p:txBody>
          </p:sp>
          <p:sp>
            <p:nvSpPr>
              <p:cNvPr id="114" name="Oval 68"/>
              <p:cNvSpPr>
                <a:spLocks noChangeArrowheads="1"/>
              </p:cNvSpPr>
              <p:nvPr/>
            </p:nvSpPr>
            <p:spPr bwMode="gray">
              <a:xfrm>
                <a:off x="2849" y="1683"/>
                <a:ext cx="787" cy="816"/>
              </a:xfrm>
              <a:prstGeom prst="ellipse">
                <a:avLst/>
              </a:prstGeom>
              <a:gradFill rotWithShape="1">
                <a:gsLst>
                  <a:gs pos="0">
                    <a:srgbClr val="475A5A"/>
                  </a:gs>
                  <a:gs pos="50000">
                    <a:srgbClr val="83A6A7"/>
                  </a:gs>
                  <a:gs pos="100000">
                    <a:srgbClr val="475A5A"/>
                  </a:gs>
                </a:gsLst>
                <a:lin ang="18900000" scaled="1"/>
              </a:gra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sp>
            <p:nvSpPr>
              <p:cNvPr id="115" name="Oval 69"/>
              <p:cNvSpPr>
                <a:spLocks noChangeArrowheads="1"/>
              </p:cNvSpPr>
              <p:nvPr/>
            </p:nvSpPr>
            <p:spPr bwMode="gray">
              <a:xfrm>
                <a:off x="2849" y="1686"/>
                <a:ext cx="787" cy="816"/>
              </a:xfrm>
              <a:prstGeom prst="ellipse">
                <a:avLst/>
              </a:prstGeom>
              <a:gradFill rotWithShape="1">
                <a:gsLst>
                  <a:gs pos="0">
                    <a:srgbClr val="53696A"/>
                  </a:gs>
                  <a:gs pos="100000">
                    <a:srgbClr val="83A6A7">
                      <a:alpha val="0"/>
                    </a:srgbClr>
                  </a:gs>
                </a:gsLst>
                <a:lin ang="2700000" scaled="1"/>
              </a:gra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sp>
            <p:nvSpPr>
              <p:cNvPr id="116" name="Oval 70"/>
              <p:cNvSpPr>
                <a:spLocks noChangeArrowheads="1"/>
              </p:cNvSpPr>
              <p:nvPr/>
            </p:nvSpPr>
            <p:spPr bwMode="gray">
              <a:xfrm>
                <a:off x="2888" y="1724"/>
                <a:ext cx="708" cy="816"/>
              </a:xfrm>
              <a:prstGeom prst="ellipse">
                <a:avLst/>
              </a:prstGeom>
              <a:solidFill>
                <a:srgbClr val="000000"/>
              </a:solidFill>
              <a:ln w="38100" algn="ctr">
                <a:noFill/>
                <a:round/>
                <a:headEnd/>
                <a:tailEnd/>
              </a:ln>
            </p:spPr>
            <p:txBody>
              <a:bodyPr anchor="ctr">
                <a:spAutoFit/>
              </a:bodyPr>
              <a:lstStyle/>
              <a:p>
                <a:pPr>
                  <a:defRPr/>
                </a:pPr>
                <a:endParaRPr lang="zh-CN" altLang="en-US" sz="3201" kern="0">
                  <a:solidFill>
                    <a:sysClr val="windowText" lastClr="000000"/>
                  </a:solidFill>
                  <a:latin typeface="+mn-ea"/>
                </a:endParaRPr>
              </a:p>
            </p:txBody>
          </p:sp>
          <p:grpSp>
            <p:nvGrpSpPr>
              <p:cNvPr id="8216" name="Group 71"/>
              <p:cNvGrpSpPr>
                <a:grpSpLocks/>
              </p:cNvGrpSpPr>
              <p:nvPr/>
            </p:nvGrpSpPr>
            <p:grpSpPr bwMode="auto">
              <a:xfrm>
                <a:off x="2899" y="1735"/>
                <a:ext cx="687" cy="688"/>
                <a:chOff x="4166" y="1706"/>
                <a:chExt cx="1252" cy="1252"/>
              </a:xfrm>
            </p:grpSpPr>
            <p:sp>
              <p:nvSpPr>
                <p:cNvPr id="118" name="Oval 72"/>
                <p:cNvSpPr>
                  <a:spLocks noChangeArrowheads="1"/>
                </p:cNvSpPr>
                <p:nvPr/>
              </p:nvSpPr>
              <p:spPr bwMode="gray">
                <a:xfrm>
                  <a:off x="4166" y="1706"/>
                  <a:ext cx="1251" cy="1252"/>
                </a:xfrm>
                <a:prstGeom prst="ellipse">
                  <a:avLst/>
                </a:prstGeom>
                <a:gradFill rotWithShape="1">
                  <a:gsLst>
                    <a:gs pos="0">
                      <a:srgbClr val="636869"/>
                    </a:gs>
                    <a:gs pos="100000">
                      <a:srgbClr val="D6E1E2"/>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119" name="Oval 73"/>
                <p:cNvSpPr>
                  <a:spLocks noChangeArrowheads="1"/>
                </p:cNvSpPr>
                <p:nvPr/>
              </p:nvSpPr>
              <p:spPr bwMode="gray">
                <a:xfrm>
                  <a:off x="4184" y="1712"/>
                  <a:ext cx="1219" cy="1224"/>
                </a:xfrm>
                <a:prstGeom prst="ellipse">
                  <a:avLst/>
                </a:prstGeom>
                <a:gradFill rotWithShape="1">
                  <a:gsLst>
                    <a:gs pos="0">
                      <a:srgbClr val="D6E1E2">
                        <a:alpha val="0"/>
                      </a:srgbClr>
                    </a:gs>
                    <a:gs pos="100000">
                      <a:srgbClr val="F1F5F5"/>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120" name="Oval 74"/>
                <p:cNvSpPr>
                  <a:spLocks noChangeArrowheads="1"/>
                </p:cNvSpPr>
                <p:nvPr/>
              </p:nvSpPr>
              <p:spPr bwMode="gray">
                <a:xfrm>
                  <a:off x="4195" y="1727"/>
                  <a:ext cx="1162" cy="1143"/>
                </a:xfrm>
                <a:prstGeom prst="ellipse">
                  <a:avLst/>
                </a:prstGeom>
                <a:gradFill rotWithShape="1">
                  <a:gsLst>
                    <a:gs pos="0">
                      <a:srgbClr val="AAB2B3"/>
                    </a:gs>
                    <a:gs pos="100000">
                      <a:srgbClr val="D6E1E2">
                        <a:alpha val="48000"/>
                      </a:srgbClr>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sp>
              <p:nvSpPr>
                <p:cNvPr id="121" name="Oval 75"/>
                <p:cNvSpPr>
                  <a:spLocks noChangeArrowheads="1"/>
                </p:cNvSpPr>
                <p:nvPr/>
              </p:nvSpPr>
              <p:spPr bwMode="gray">
                <a:xfrm>
                  <a:off x="4264" y="1758"/>
                  <a:ext cx="1033" cy="926"/>
                </a:xfrm>
                <a:prstGeom prst="ellipse">
                  <a:avLst/>
                </a:prstGeom>
                <a:gradFill rotWithShape="1">
                  <a:gsLst>
                    <a:gs pos="0">
                      <a:srgbClr val="FFFFFF"/>
                    </a:gs>
                    <a:gs pos="100000">
                      <a:srgbClr val="D6E1E2">
                        <a:alpha val="37999"/>
                      </a:srgbClr>
                    </a:gs>
                  </a:gsLst>
                  <a:lin ang="5400000" scaled="1"/>
                </a:gradFill>
                <a:ln w="9525" algn="ctr">
                  <a:noFill/>
                  <a:round/>
                  <a:headEnd/>
                  <a:tailEnd/>
                </a:ln>
              </p:spPr>
              <p:txBody>
                <a:bodyPr vert="eaVert" wrap="none" anchor="ctr"/>
                <a:lstStyle/>
                <a:p>
                  <a:pPr>
                    <a:defRPr/>
                  </a:pPr>
                  <a:endParaRPr lang="zh-CN" altLang="en-US" sz="3201" kern="0">
                    <a:solidFill>
                      <a:sysClr val="windowText" lastClr="000000"/>
                    </a:solidFill>
                    <a:latin typeface="+mn-ea"/>
                  </a:endParaRPr>
                </a:p>
              </p:txBody>
            </p:sp>
          </p:grpSp>
        </p:grpSp>
        <p:sp>
          <p:nvSpPr>
            <p:cNvPr id="66" name="矩形 65"/>
            <p:cNvSpPr/>
            <p:nvPr/>
          </p:nvSpPr>
          <p:spPr>
            <a:xfrm>
              <a:off x="2715430" y="3968082"/>
              <a:ext cx="597038" cy="585923"/>
            </a:xfrm>
            <a:prstGeom prst="rect">
              <a:avLst/>
            </a:prstGeom>
          </p:spPr>
          <p:txBody>
            <a:bodyPr wrap="none">
              <a:spAutoFit/>
            </a:bodyPr>
            <a:lstStyle/>
            <a:p>
              <a:pPr eaLnBrk="1" hangingPunct="1">
                <a:defRPr/>
              </a:pPr>
              <a:r>
                <a:rPr lang="zh-CN" altLang="en-US" sz="3201" kern="0" dirty="0">
                  <a:solidFill>
                    <a:sysClr val="windowText" lastClr="000000"/>
                  </a:solidFill>
                  <a:latin typeface="+mn-ea"/>
                </a:rPr>
                <a:t>三</a:t>
              </a:r>
              <a:endParaRPr lang="zh-CN" altLang="en-US" sz="3201" dirty="0">
                <a:latin typeface="+mn-ea"/>
              </a:endParaRPr>
            </a:p>
          </p:txBody>
        </p:sp>
      </p:grpSp>
      <p:sp>
        <p:nvSpPr>
          <p:cNvPr id="8209" name="Rectangle 35"/>
          <p:cNvSpPr>
            <a:spLocks noChangeArrowheads="1"/>
          </p:cNvSpPr>
          <p:nvPr/>
        </p:nvSpPr>
        <p:spPr bwMode="blackWhite">
          <a:xfrm>
            <a:off x="1735109" y="6512795"/>
            <a:ext cx="8288668" cy="198483"/>
          </a:xfrm>
          <a:prstGeom prst="rect">
            <a:avLst/>
          </a:prstGeom>
          <a:solidFill>
            <a:schemeClr val="bg1">
              <a:alpha val="74901"/>
            </a:schemeClr>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wrap="none" anchor="ctr"/>
          <a:lstStyle>
            <a:lvl1pPr>
              <a:defRPr kumimoji="1" sz="2400" b="1">
                <a:solidFill>
                  <a:schemeClr val="tx1"/>
                </a:solidFill>
                <a:latin typeface="Times New Roman" panose="02020603050405020304" pitchFamily="18" charset="0"/>
                <a:ea typeface="宋体" panose="02010600030101010101" pitchFamily="2" charset="-122"/>
              </a:defRPr>
            </a:lvl1pPr>
            <a:lvl2pPr marL="742950" indent="-285750">
              <a:defRPr kumimoji="1" sz="2400" b="1">
                <a:solidFill>
                  <a:schemeClr val="tx1"/>
                </a:solidFill>
                <a:latin typeface="Times New Roman" panose="02020603050405020304" pitchFamily="18" charset="0"/>
                <a:ea typeface="宋体" panose="02010600030101010101" pitchFamily="2" charset="-122"/>
              </a:defRPr>
            </a:lvl2pPr>
            <a:lvl3pPr marL="1143000" indent="-228600">
              <a:defRPr kumimoji="1" sz="2400" b="1">
                <a:solidFill>
                  <a:schemeClr val="tx1"/>
                </a:solidFill>
                <a:latin typeface="Times New Roman" panose="02020603050405020304" pitchFamily="18" charset="0"/>
                <a:ea typeface="宋体" panose="02010600030101010101" pitchFamily="2" charset="-122"/>
              </a:defRPr>
            </a:lvl3pPr>
            <a:lvl4pPr marL="1600200" indent="-228600">
              <a:defRPr kumimoji="1" sz="2400" b="1">
                <a:solidFill>
                  <a:schemeClr val="tx1"/>
                </a:solidFill>
                <a:latin typeface="Times New Roman" panose="02020603050405020304" pitchFamily="18" charset="0"/>
                <a:ea typeface="宋体" panose="02010600030101010101" pitchFamily="2" charset="-122"/>
              </a:defRPr>
            </a:lvl4pPr>
            <a:lvl5pPr marL="2057400" indent="-228600">
              <a:defRPr kumimoji="1"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b="0">
              <a:latin typeface="Tahoma" panose="020B0604030504040204" pitchFamily="34" charset="0"/>
            </a:endParaRPr>
          </a:p>
        </p:txBody>
      </p:sp>
      <p:pic>
        <p:nvPicPr>
          <p:cNvPr id="72" name="图片 7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74" name="矩形 73"/>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8" name="标题 1"/>
          <p:cNvSpPr>
            <a:spLocks/>
          </p:cNvSpPr>
          <p:nvPr/>
        </p:nvSpPr>
        <p:spPr bwMode="auto">
          <a:xfrm>
            <a:off x="5865536" y="312428"/>
            <a:ext cx="5786438" cy="533400"/>
          </a:xfrm>
          <a:prstGeom prst="rect">
            <a:avLst/>
          </a:prstGeom>
          <a:noFill/>
          <a:ln>
            <a:noFill/>
          </a:ln>
        </p:spPr>
        <p:txBody>
          <a:bodyPr anchor="b"/>
          <a:lstStyle/>
          <a:p>
            <a:pPr algn="r" defTabSz="914400" eaLnBrk="0" fontAlgn="base" hangingPunct="0">
              <a:spcBef>
                <a:spcPct val="0"/>
              </a:spcBef>
              <a:spcAft>
                <a:spcPct val="0"/>
              </a:spcAft>
              <a:defRPr/>
            </a:pP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目录</a:t>
            </a:r>
          </a:p>
        </p:txBody>
      </p:sp>
      <p:pic>
        <p:nvPicPr>
          <p:cNvPr id="58" name="图片 1"/>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877616" y="1632888"/>
            <a:ext cx="8291844" cy="232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4198185641"/>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p:nvSpPr>
        <p:spPr>
          <a:xfrm>
            <a:off x="0" y="2591593"/>
            <a:ext cx="12198350" cy="276622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内容占位符 2"/>
          <p:cNvSpPr>
            <a:spLocks noGrp="1"/>
          </p:cNvSpPr>
          <p:nvPr>
            <p:ph idx="4294967295"/>
          </p:nvPr>
        </p:nvSpPr>
        <p:spPr>
          <a:xfrm>
            <a:off x="331562" y="2755503"/>
            <a:ext cx="11277600" cy="2438400"/>
          </a:xfrm>
          <a:prstGeom prst="rect">
            <a:avLst/>
          </a:prstGeom>
        </p:spPr>
        <p:txBody>
          <a:bodyPr>
            <a:noAutofit/>
          </a:bodyPr>
          <a:lstStyle/>
          <a:p>
            <a:pPr marL="0" indent="0" algn="just">
              <a:buNone/>
            </a:pPr>
            <a:r>
              <a:rPr lang="en-US" altLang="zh-CN" sz="2000" dirty="0"/>
              <a:t>       Curl</a:t>
            </a:r>
            <a:r>
              <a:rPr lang="zh-CN" altLang="en-US" sz="2000" dirty="0"/>
              <a:t>工具通过</a:t>
            </a:r>
            <a:r>
              <a:rPr lang="en-US" altLang="zh-CN" sz="2000" dirty="0"/>
              <a:t>http</a:t>
            </a:r>
            <a:r>
              <a:rPr lang="zh-CN" altLang="en-US" sz="2000" dirty="0"/>
              <a:t>来访问</a:t>
            </a:r>
            <a:r>
              <a:rPr lang="en-US" altLang="zh-CN" sz="2000" dirty="0"/>
              <a:t>swift</a:t>
            </a:r>
            <a:r>
              <a:rPr lang="zh-CN" altLang="en-US" sz="2000" dirty="0"/>
              <a:t>，程序员可以编写</a:t>
            </a:r>
            <a:r>
              <a:rPr lang="en-US" altLang="zh-CN" sz="2000" dirty="0"/>
              <a:t>http</a:t>
            </a:r>
            <a:r>
              <a:rPr lang="zh-CN" altLang="en-US" sz="2000" dirty="0"/>
              <a:t>客户端程序访问</a:t>
            </a:r>
            <a:r>
              <a:rPr lang="en-US" altLang="zh-CN" sz="2000" dirty="0"/>
              <a:t>swift</a:t>
            </a:r>
            <a:r>
              <a:rPr lang="zh-CN" altLang="en-US" sz="2000" dirty="0"/>
              <a:t>，但过于繁琐。</a:t>
            </a:r>
            <a:r>
              <a:rPr lang="en-US" altLang="zh-CN" sz="2000" dirty="0">
                <a:solidFill>
                  <a:srgbClr val="FF0000"/>
                </a:solidFill>
              </a:rPr>
              <a:t>Swift</a:t>
            </a:r>
            <a:r>
              <a:rPr lang="zh-CN" altLang="en-US" sz="2000" dirty="0">
                <a:solidFill>
                  <a:srgbClr val="FF0000"/>
                </a:solidFill>
              </a:rPr>
              <a:t>开源的语言包为用户提供了各种语言的一个高级接口，隐藏掉细节部分，从而大大减轻程序员的工作量。</a:t>
            </a:r>
            <a:r>
              <a:rPr lang="en-US" altLang="zh-CN" sz="2000" dirty="0" err="1"/>
              <a:t>jclouds</a:t>
            </a:r>
            <a:r>
              <a:rPr lang="en-US" altLang="zh-CN" sz="2000" dirty="0"/>
              <a:t> </a:t>
            </a:r>
            <a:r>
              <a:rPr lang="zh-CN" altLang="en-US" sz="2000" dirty="0"/>
              <a:t>是一个开源的</a:t>
            </a:r>
            <a:r>
              <a:rPr lang="en-US" altLang="zh-CN" sz="2000" dirty="0"/>
              <a:t>Java</a:t>
            </a:r>
            <a:r>
              <a:rPr lang="zh-CN" altLang="en-US" sz="2000" dirty="0"/>
              <a:t>类库，用来帮你开始云计算应用开发，并可重用已有的</a:t>
            </a:r>
            <a:r>
              <a:rPr lang="en-US" altLang="zh-CN" sz="2000" dirty="0"/>
              <a:t>Java</a:t>
            </a:r>
            <a:r>
              <a:rPr lang="zh-CN" altLang="en-US" sz="2000" dirty="0"/>
              <a:t>和</a:t>
            </a:r>
            <a:r>
              <a:rPr lang="en-US" altLang="zh-CN" sz="2000" dirty="0" err="1"/>
              <a:t>Clojure</a:t>
            </a:r>
            <a:r>
              <a:rPr lang="zh-CN" altLang="en-US" sz="2000" dirty="0"/>
              <a:t>技能。该</a:t>
            </a:r>
            <a:r>
              <a:rPr lang="en-US" altLang="zh-CN" sz="2000" dirty="0"/>
              <a:t>API</a:t>
            </a:r>
            <a:r>
              <a:rPr lang="zh-CN" altLang="en-US" sz="2000" dirty="0"/>
              <a:t>提供云计算环境的可移植抽象层以及云规范特性，支持包括</a:t>
            </a:r>
            <a:r>
              <a:rPr lang="en-US" altLang="zh-CN" sz="2000" dirty="0"/>
              <a:t>Amazon</a:t>
            </a:r>
            <a:r>
              <a:rPr lang="zh-CN" altLang="en-US" sz="2000" dirty="0"/>
              <a:t>，</a:t>
            </a:r>
            <a:r>
              <a:rPr lang="en-US" altLang="zh-CN" sz="2000" dirty="0" err="1"/>
              <a:t>VMWare</a:t>
            </a:r>
            <a:r>
              <a:rPr lang="zh-CN" altLang="en-US" sz="2000" dirty="0"/>
              <a:t>，</a:t>
            </a:r>
            <a:r>
              <a:rPr lang="en-US" altLang="zh-CN" sz="2000" dirty="0"/>
              <a:t>Azure</a:t>
            </a:r>
            <a:r>
              <a:rPr lang="zh-CN" altLang="en-US" sz="2000" dirty="0"/>
              <a:t>，</a:t>
            </a:r>
            <a:r>
              <a:rPr lang="en-US" altLang="zh-CN" sz="2000" dirty="0"/>
              <a:t>Rackspace</a:t>
            </a:r>
            <a:r>
              <a:rPr lang="zh-CN" altLang="en-US" sz="2000" dirty="0"/>
              <a:t>等云计算平台。其中针对</a:t>
            </a:r>
            <a:r>
              <a:rPr lang="en-US" altLang="zh-CN" sz="2000" dirty="0"/>
              <a:t>OpenStack</a:t>
            </a:r>
            <a:r>
              <a:rPr lang="zh-CN" altLang="en-US" sz="2000" dirty="0"/>
              <a:t>，目前支持</a:t>
            </a:r>
            <a:r>
              <a:rPr lang="en-US" altLang="zh-CN" sz="2000" dirty="0"/>
              <a:t>Nova</a:t>
            </a:r>
            <a:r>
              <a:rPr lang="zh-CN" altLang="en-US" sz="2000" dirty="0"/>
              <a:t>、</a:t>
            </a:r>
            <a:r>
              <a:rPr lang="en-US" altLang="zh-CN" sz="2000" dirty="0"/>
              <a:t>cinder</a:t>
            </a:r>
            <a:r>
              <a:rPr lang="zh-CN" altLang="en-US" sz="2000" dirty="0"/>
              <a:t>、</a:t>
            </a:r>
            <a:r>
              <a:rPr lang="en-US" altLang="zh-CN" sz="2000" dirty="0"/>
              <a:t>glance</a:t>
            </a:r>
            <a:r>
              <a:rPr lang="zh-CN" altLang="en-US" sz="2000" dirty="0"/>
              <a:t>、</a:t>
            </a:r>
            <a:r>
              <a:rPr lang="en-US" altLang="zh-CN" sz="2000" dirty="0"/>
              <a:t>Neutron</a:t>
            </a:r>
            <a:r>
              <a:rPr lang="zh-CN" altLang="en-US" sz="2000" dirty="0"/>
              <a:t>、</a:t>
            </a:r>
            <a:r>
              <a:rPr lang="en-US" altLang="zh-CN" sz="2000" dirty="0"/>
              <a:t>Keystone</a:t>
            </a:r>
            <a:r>
              <a:rPr lang="zh-CN" altLang="en-US" sz="2000" dirty="0"/>
              <a:t>、</a:t>
            </a:r>
            <a:r>
              <a:rPr lang="en-US" altLang="zh-CN" sz="2000" dirty="0"/>
              <a:t>swift</a:t>
            </a:r>
            <a:r>
              <a:rPr lang="zh-CN" altLang="en-US" sz="2000" dirty="0"/>
              <a:t>等</a:t>
            </a:r>
            <a:r>
              <a:rPr lang="en-US" altLang="zh-CN" sz="2000" dirty="0"/>
              <a:t>API</a:t>
            </a:r>
            <a:r>
              <a:rPr lang="zh-CN" altLang="en-US" sz="2000" dirty="0"/>
              <a:t>接口，但是不支持</a:t>
            </a:r>
            <a:r>
              <a:rPr lang="en-US" altLang="zh-CN" sz="2000" dirty="0"/>
              <a:t>Ceilometer</a:t>
            </a:r>
            <a:r>
              <a:rPr lang="zh-CN" altLang="en-US" sz="2000" dirty="0"/>
              <a:t>的</a:t>
            </a:r>
            <a:r>
              <a:rPr lang="en-US" altLang="zh-CN" sz="2000" dirty="0"/>
              <a:t>API</a:t>
            </a:r>
            <a:r>
              <a:rPr lang="zh-CN" altLang="en-US" sz="2000" dirty="0"/>
              <a:t>接口。</a:t>
            </a:r>
          </a:p>
        </p:txBody>
      </p:sp>
      <p:sp>
        <p:nvSpPr>
          <p:cNvPr id="14" name="矩形 13"/>
          <p:cNvSpPr/>
          <p:nvPr/>
        </p:nvSpPr>
        <p:spPr>
          <a:xfrm>
            <a:off x="0" y="2236821"/>
            <a:ext cx="12198350" cy="214313"/>
          </a:xfrm>
          <a:prstGeom prst="rect">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0" y="5563394"/>
            <a:ext cx="12198350" cy="129619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内容占位符 3"/>
          <p:cNvSpPr txBox="1">
            <a:spLocks/>
          </p:cNvSpPr>
          <p:nvPr/>
        </p:nvSpPr>
        <p:spPr>
          <a:xfrm>
            <a:off x="2844347" y="6020594"/>
            <a:ext cx="1291770" cy="838199"/>
          </a:xfrm>
          <a:prstGeom prst="rect">
            <a:avLst/>
          </a:prstGeom>
          <a:solidFill>
            <a:schemeClr val="bg1">
              <a:lumMod val="75000"/>
            </a:schemeClr>
          </a:solidFill>
        </p:spPr>
        <p:txBody>
          <a:bodyPr>
            <a:normAutofit/>
          </a:bodyPr>
          <a:lstStyle>
            <a:lvl1pPr marL="360000" indent="-360000" algn="l" defTabSz="914400" rtl="0" eaLnBrk="1" latinLnBrk="0" hangingPunct="1">
              <a:lnSpc>
                <a:spcPct val="130000"/>
              </a:lnSpc>
              <a:spcBef>
                <a:spcPts val="1000"/>
              </a:spcBef>
              <a:buFont typeface="Wingdings" pitchFamily="2" charset="2"/>
              <a:buChar char="l"/>
              <a:defRPr sz="2000" kern="1200">
                <a:solidFill>
                  <a:schemeClr val="tx1">
                    <a:lumMod val="85000"/>
                    <a:lumOff val="15000"/>
                  </a:schemeClr>
                </a:solidFill>
                <a:latin typeface="微软雅黑" pitchFamily="34" charset="-122"/>
                <a:ea typeface="微软雅黑"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800" kern="1200" dirty="0" smtClean="0">
                <a:solidFill>
                  <a:schemeClr val="tx1">
                    <a:lumMod val="85000"/>
                    <a:lumOff val="15000"/>
                  </a:schemeClr>
                </a:solidFill>
                <a:latin typeface="微软雅黑" pitchFamily="34" charset="-122"/>
                <a:ea typeface="微软雅黑"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dirty="0">
              <a:solidFill>
                <a:schemeClr val="bg1"/>
              </a:solidFill>
            </a:endParaRPr>
          </a:p>
        </p:txBody>
      </p:sp>
      <p:sp>
        <p:nvSpPr>
          <p:cNvPr id="18" name="内容占位符 3"/>
          <p:cNvSpPr txBox="1">
            <a:spLocks/>
          </p:cNvSpPr>
          <p:nvPr/>
        </p:nvSpPr>
        <p:spPr>
          <a:xfrm>
            <a:off x="1639661" y="5715795"/>
            <a:ext cx="943427" cy="1142998"/>
          </a:xfrm>
          <a:prstGeom prst="rect">
            <a:avLst/>
          </a:prstGeom>
          <a:solidFill>
            <a:srgbClr val="92D050"/>
          </a:solidFill>
        </p:spPr>
        <p:txBody>
          <a:bodyPr>
            <a:normAutofit/>
          </a:bodyPr>
          <a:lstStyle>
            <a:lvl1pPr marL="360000" indent="-360000" algn="l" defTabSz="914400" rtl="0" eaLnBrk="1" latinLnBrk="0" hangingPunct="1">
              <a:lnSpc>
                <a:spcPct val="130000"/>
              </a:lnSpc>
              <a:spcBef>
                <a:spcPts val="1000"/>
              </a:spcBef>
              <a:buFont typeface="Wingdings" pitchFamily="2" charset="2"/>
              <a:buChar char="l"/>
              <a:defRPr sz="2000" kern="1200">
                <a:solidFill>
                  <a:schemeClr val="tx1">
                    <a:lumMod val="85000"/>
                    <a:lumOff val="15000"/>
                  </a:schemeClr>
                </a:solidFill>
                <a:latin typeface="微软雅黑" pitchFamily="34" charset="-122"/>
                <a:ea typeface="微软雅黑"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800" kern="1200" dirty="0" smtClean="0">
                <a:solidFill>
                  <a:schemeClr val="tx1">
                    <a:lumMod val="85000"/>
                    <a:lumOff val="15000"/>
                  </a:schemeClr>
                </a:solidFill>
                <a:latin typeface="微软雅黑" pitchFamily="34" charset="-122"/>
                <a:ea typeface="微软雅黑"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dirty="0">
              <a:solidFill>
                <a:schemeClr val="bg1"/>
              </a:solidFill>
            </a:endParaRPr>
          </a:p>
        </p:txBody>
      </p:sp>
      <p:sp>
        <p:nvSpPr>
          <p:cNvPr id="19" name="内容占位符 3"/>
          <p:cNvSpPr txBox="1">
            <a:spLocks/>
          </p:cNvSpPr>
          <p:nvPr/>
        </p:nvSpPr>
        <p:spPr>
          <a:xfrm>
            <a:off x="841375" y="6227423"/>
            <a:ext cx="522513" cy="631371"/>
          </a:xfrm>
          <a:prstGeom prst="rect">
            <a:avLst/>
          </a:prstGeom>
          <a:solidFill>
            <a:srgbClr val="FFC000"/>
          </a:solidFill>
        </p:spPr>
        <p:txBody>
          <a:bodyPr>
            <a:normAutofit/>
          </a:bodyPr>
          <a:lstStyle>
            <a:lvl1pPr marL="360000" indent="-360000" algn="l" defTabSz="914400" rtl="0" eaLnBrk="1" latinLnBrk="0" hangingPunct="1">
              <a:lnSpc>
                <a:spcPct val="130000"/>
              </a:lnSpc>
              <a:spcBef>
                <a:spcPts val="1000"/>
              </a:spcBef>
              <a:buFont typeface="Wingdings" pitchFamily="2" charset="2"/>
              <a:buChar char="l"/>
              <a:defRPr sz="2000" kern="1200">
                <a:solidFill>
                  <a:schemeClr val="tx1">
                    <a:lumMod val="85000"/>
                    <a:lumOff val="15000"/>
                  </a:schemeClr>
                </a:solidFill>
                <a:latin typeface="微软雅黑" pitchFamily="34" charset="-122"/>
                <a:ea typeface="微软雅黑"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800" kern="1200" dirty="0" smtClean="0">
                <a:solidFill>
                  <a:schemeClr val="tx1">
                    <a:lumMod val="85000"/>
                    <a:lumOff val="15000"/>
                  </a:schemeClr>
                </a:solidFill>
                <a:latin typeface="微软雅黑" pitchFamily="34" charset="-122"/>
                <a:ea typeface="微软雅黑"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dirty="0">
              <a:solidFill>
                <a:schemeClr val="bg1"/>
              </a:solidFill>
            </a:endParaRPr>
          </a:p>
        </p:txBody>
      </p:sp>
      <p:sp>
        <p:nvSpPr>
          <p:cNvPr id="10" name="内容占位符 3"/>
          <p:cNvSpPr txBox="1">
            <a:spLocks/>
          </p:cNvSpPr>
          <p:nvPr/>
        </p:nvSpPr>
        <p:spPr>
          <a:xfrm>
            <a:off x="4241800" y="5868591"/>
            <a:ext cx="522513" cy="990203"/>
          </a:xfrm>
          <a:prstGeom prst="rect">
            <a:avLst/>
          </a:prstGeom>
          <a:solidFill>
            <a:srgbClr val="1A8ABC"/>
          </a:solidFill>
        </p:spPr>
        <p:txBody>
          <a:bodyPr>
            <a:normAutofit/>
          </a:bodyPr>
          <a:lstStyle>
            <a:lvl1pPr marL="360000" indent="-360000" algn="l" defTabSz="914400" rtl="0" eaLnBrk="1" latinLnBrk="0" hangingPunct="1">
              <a:lnSpc>
                <a:spcPct val="130000"/>
              </a:lnSpc>
              <a:spcBef>
                <a:spcPts val="1000"/>
              </a:spcBef>
              <a:buFont typeface="Wingdings" pitchFamily="2" charset="2"/>
              <a:buChar char="l"/>
              <a:defRPr sz="2000" kern="1200">
                <a:solidFill>
                  <a:schemeClr val="tx1">
                    <a:lumMod val="85000"/>
                    <a:lumOff val="15000"/>
                  </a:schemeClr>
                </a:solidFill>
                <a:latin typeface="微软雅黑" pitchFamily="34" charset="-122"/>
                <a:ea typeface="微软雅黑"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800" kern="1200" dirty="0" smtClean="0">
                <a:solidFill>
                  <a:schemeClr val="tx1">
                    <a:lumMod val="85000"/>
                    <a:lumOff val="15000"/>
                  </a:schemeClr>
                </a:solidFill>
                <a:latin typeface="微软雅黑" pitchFamily="34" charset="-122"/>
                <a:ea typeface="微软雅黑"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dirty="0">
              <a:solidFill>
                <a:schemeClr val="bg1"/>
              </a:solidFill>
            </a:endParaRPr>
          </a:p>
        </p:txBody>
      </p:sp>
      <p:sp>
        <p:nvSpPr>
          <p:cNvPr id="11" name="内容占位符 3"/>
          <p:cNvSpPr txBox="1">
            <a:spLocks/>
          </p:cNvSpPr>
          <p:nvPr/>
        </p:nvSpPr>
        <p:spPr>
          <a:xfrm>
            <a:off x="4870451" y="6439693"/>
            <a:ext cx="261256" cy="419101"/>
          </a:xfrm>
          <a:prstGeom prst="rect">
            <a:avLst/>
          </a:prstGeom>
          <a:solidFill>
            <a:srgbClr val="C00000"/>
          </a:solidFill>
        </p:spPr>
        <p:txBody>
          <a:bodyPr>
            <a:normAutofit fontScale="92500" lnSpcReduction="10000"/>
          </a:bodyPr>
          <a:lstStyle>
            <a:lvl1pPr marL="360000" indent="-360000" algn="l" defTabSz="914400" rtl="0" eaLnBrk="1" latinLnBrk="0" hangingPunct="1">
              <a:lnSpc>
                <a:spcPct val="130000"/>
              </a:lnSpc>
              <a:spcBef>
                <a:spcPts val="1000"/>
              </a:spcBef>
              <a:buFont typeface="Wingdings" pitchFamily="2" charset="2"/>
              <a:buChar char="l"/>
              <a:defRPr sz="2000" kern="1200">
                <a:solidFill>
                  <a:schemeClr val="tx1">
                    <a:lumMod val="85000"/>
                    <a:lumOff val="15000"/>
                  </a:schemeClr>
                </a:solidFill>
                <a:latin typeface="微软雅黑" pitchFamily="34" charset="-122"/>
                <a:ea typeface="微软雅黑"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zh-CN" altLang="en-US" sz="1800" kern="1200" dirty="0" smtClean="0">
                <a:solidFill>
                  <a:schemeClr val="tx1">
                    <a:lumMod val="85000"/>
                    <a:lumOff val="15000"/>
                  </a:schemeClr>
                </a:solidFill>
                <a:latin typeface="微软雅黑" pitchFamily="34" charset="-122"/>
                <a:ea typeface="微软雅黑"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CN" altLang="en-US" dirty="0">
              <a:solidFill>
                <a:schemeClr val="bg1"/>
              </a:solidFill>
            </a:endParaRPr>
          </a:p>
        </p:txBody>
      </p:sp>
      <p:grpSp>
        <p:nvGrpSpPr>
          <p:cNvPr id="20" name="组合 19"/>
          <p:cNvGrpSpPr/>
          <p:nvPr/>
        </p:nvGrpSpPr>
        <p:grpSpPr>
          <a:xfrm>
            <a:off x="139962" y="-1"/>
            <a:ext cx="11520000" cy="2053082"/>
            <a:chOff x="131974" y="-1"/>
            <a:chExt cx="11520000" cy="2053082"/>
          </a:xfrm>
        </p:grpSpPr>
        <p:grpSp>
          <p:nvGrpSpPr>
            <p:cNvPr id="21" name="组合 20"/>
            <p:cNvGrpSpPr/>
            <p:nvPr/>
          </p:nvGrpSpPr>
          <p:grpSpPr>
            <a:xfrm>
              <a:off x="131974" y="-1"/>
              <a:ext cx="11520000" cy="1016152"/>
              <a:chOff x="131974" y="-1"/>
              <a:chExt cx="11520000" cy="1016152"/>
            </a:xfrm>
          </p:grpSpPr>
          <p:pic>
            <p:nvPicPr>
              <p:cNvPr id="24" name="图片 2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5" name="矩形 24"/>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err="1">
                    <a:solidFill>
                      <a:srgbClr val="002060"/>
                    </a:solidFill>
                    <a:effectLst>
                      <a:outerShdw blurRad="38100" dist="38100" dir="2700000" algn="tl">
                        <a:srgbClr val="C0C0C0"/>
                      </a:outerShdw>
                    </a:effectLst>
                    <a:latin typeface="Tahoma" pitchFamily="34" charset="0"/>
                    <a:ea typeface="黑体" pitchFamily="2" charset="-122"/>
                  </a:rPr>
                  <a:t>jclouds</a:t>
                </a: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编程</a:t>
                </a:r>
              </a:p>
            </p:txBody>
          </p:sp>
        </p:grpSp>
        <p:sp>
          <p:nvSpPr>
            <p:cNvPr id="22" name="文本框 21"/>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3" name="文本框 22"/>
            <p:cNvSpPr txBox="1"/>
            <p:nvPr/>
          </p:nvSpPr>
          <p:spPr>
            <a:xfrm>
              <a:off x="612896" y="1591416"/>
              <a:ext cx="282641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err="1">
                  <a:latin typeface="Times New Roman" panose="02020603050405020304" pitchFamily="18" charset="0"/>
                  <a:ea typeface="黑体" panose="02010609060101010101" pitchFamily="49" charset="-122"/>
                  <a:cs typeface="Times New Roman" panose="02020603050405020304" pitchFamily="18" charset="0"/>
                </a:rPr>
                <a:t>jclouds</a:t>
              </a: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编程</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1340201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0" y="2727485"/>
            <a:ext cx="12198350" cy="265494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0" y="2622720"/>
            <a:ext cx="121983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791250" y="2053729"/>
            <a:ext cx="2031325"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内容占位符 2"/>
          <p:cNvSpPr>
            <a:spLocks noGrp="1"/>
          </p:cNvSpPr>
          <p:nvPr>
            <p:ph idx="4294967295"/>
          </p:nvPr>
        </p:nvSpPr>
        <p:spPr>
          <a:xfrm>
            <a:off x="533400" y="3397525"/>
            <a:ext cx="11131550" cy="1490662"/>
          </a:xfrm>
          <a:prstGeom prst="rect">
            <a:avLst/>
          </a:prstGeom>
        </p:spPr>
        <p:txBody>
          <a:bodyPr>
            <a:noAutofit/>
          </a:bodyPr>
          <a:lstStyle/>
          <a:p>
            <a:pPr marL="0" indent="0" algn="just">
              <a:buNone/>
            </a:pPr>
            <a:r>
              <a:rPr lang="zh-CN" altLang="en-US" dirty="0"/>
              <a:t>        本子任务在</a:t>
            </a:r>
            <a:r>
              <a:rPr lang="en-US" altLang="zh-CN" dirty="0"/>
              <a:t>node2</a:t>
            </a:r>
            <a:r>
              <a:rPr lang="zh-CN" altLang="en-US" dirty="0"/>
              <a:t>节点机上，使用</a:t>
            </a:r>
            <a:r>
              <a:rPr lang="en-US" altLang="zh-CN" dirty="0"/>
              <a:t>eclipse</a:t>
            </a:r>
            <a:r>
              <a:rPr lang="zh-CN" altLang="en-US" dirty="0"/>
              <a:t>工具开发</a:t>
            </a:r>
            <a:r>
              <a:rPr lang="en-US" altLang="zh-CN" dirty="0" err="1"/>
              <a:t>jclouds</a:t>
            </a:r>
            <a:r>
              <a:rPr lang="en-US" altLang="zh-CN" dirty="0"/>
              <a:t>-swift</a:t>
            </a:r>
            <a:r>
              <a:rPr lang="zh-CN" altLang="en-US" dirty="0"/>
              <a:t>程序，实现</a:t>
            </a:r>
            <a:r>
              <a:rPr lang="en-US" altLang="zh-CN" dirty="0"/>
              <a:t>object</a:t>
            </a:r>
            <a:r>
              <a:rPr lang="zh-CN" altLang="en-US" dirty="0"/>
              <a:t>文件上传、获取</a:t>
            </a:r>
            <a:r>
              <a:rPr lang="en-US" altLang="zh-CN" dirty="0"/>
              <a:t>container</a:t>
            </a:r>
            <a:r>
              <a:rPr lang="zh-CN" altLang="en-US" dirty="0"/>
              <a:t>相关信息。</a:t>
            </a:r>
          </a:p>
        </p:txBody>
      </p:sp>
      <p:sp>
        <p:nvSpPr>
          <p:cNvPr id="4" name="TextBox 3"/>
          <p:cNvSpPr txBox="1"/>
          <p:nvPr/>
        </p:nvSpPr>
        <p:spPr>
          <a:xfrm>
            <a:off x="791250" y="2025164"/>
            <a:ext cx="2031325" cy="461665"/>
          </a:xfrm>
          <a:prstGeom prst="rect">
            <a:avLst/>
          </a:prstGeom>
          <a:noFill/>
        </p:spPr>
        <p:txBody>
          <a:bodyPr wrap="none" rtlCol="0">
            <a:spAutoFit/>
          </a:bodyPr>
          <a:lstStyle/>
          <a:p>
            <a:r>
              <a:rPr lang="en-US" altLang="zh-CN" dirty="0">
                <a:latin typeface="+mn-ea"/>
              </a:rPr>
              <a:t>【</a:t>
            </a:r>
            <a:r>
              <a:rPr lang="zh-CN" altLang="en-US" dirty="0">
                <a:latin typeface="+mn-ea"/>
              </a:rPr>
              <a:t>任务内容</a:t>
            </a:r>
            <a:r>
              <a:rPr lang="en-US" altLang="zh-CN" dirty="0">
                <a:latin typeface="+mn-ea"/>
              </a:rPr>
              <a:t>】</a:t>
            </a:r>
          </a:p>
        </p:txBody>
      </p:sp>
      <p:sp>
        <p:nvSpPr>
          <p:cNvPr id="9" name="矩形 8"/>
          <p:cNvSpPr/>
          <p:nvPr/>
        </p:nvSpPr>
        <p:spPr>
          <a:xfrm>
            <a:off x="0" y="5382429"/>
            <a:ext cx="121983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4514" y="5592492"/>
            <a:ext cx="12212863" cy="1267096"/>
          </a:xfrm>
          <a:prstGeom prst="rect">
            <a:avLst/>
          </a:prstGeom>
          <a:solidFill>
            <a:schemeClr val="bg2">
              <a:lumMod val="1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nvSpPr>
        <p:spPr>
          <a:xfrm>
            <a:off x="10213975" y="6254294"/>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a:off x="10594975" y="5840443"/>
            <a:ext cx="674915" cy="1013250"/>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p:nvSpPr>
        <p:spPr>
          <a:xfrm>
            <a:off x="11360603" y="6329700"/>
            <a:ext cx="381000" cy="513301"/>
          </a:xfrm>
          <a:prstGeom prst="triangle">
            <a:avLst/>
          </a:prstGeom>
          <a:solidFill>
            <a:srgbClr val="1A8A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p:nvSpPr>
        <p:spPr>
          <a:xfrm>
            <a:off x="8308975" y="5621722"/>
            <a:ext cx="1066800" cy="1231971"/>
          </a:xfrm>
          <a:prstGeom prs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a:off x="9090025" y="6254294"/>
            <a:ext cx="381000" cy="513301"/>
          </a:xfrm>
          <a:prstGeom prst="triangl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139962" y="-1"/>
            <a:ext cx="11520000" cy="2053082"/>
            <a:chOff x="131974" y="-1"/>
            <a:chExt cx="11520000" cy="2053082"/>
          </a:xfrm>
        </p:grpSpPr>
        <p:grpSp>
          <p:nvGrpSpPr>
            <p:cNvPr id="18" name="组合 17"/>
            <p:cNvGrpSpPr/>
            <p:nvPr/>
          </p:nvGrpSpPr>
          <p:grpSpPr>
            <a:xfrm>
              <a:off x="131974" y="-1"/>
              <a:ext cx="11520000" cy="1016152"/>
              <a:chOff x="131974" y="-1"/>
              <a:chExt cx="11520000" cy="1016152"/>
            </a:xfrm>
          </p:grpSpPr>
          <p:pic>
            <p:nvPicPr>
              <p:cNvPr id="21" name="图片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2" name="矩形 21"/>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3"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err="1">
                    <a:solidFill>
                      <a:srgbClr val="002060"/>
                    </a:solidFill>
                    <a:effectLst>
                      <a:outerShdw blurRad="38100" dist="38100" dir="2700000" algn="tl">
                        <a:srgbClr val="C0C0C0"/>
                      </a:outerShdw>
                    </a:effectLst>
                    <a:latin typeface="Tahoma" pitchFamily="34" charset="0"/>
                    <a:ea typeface="黑体" pitchFamily="2" charset="-122"/>
                  </a:rPr>
                  <a:t>jclouds</a:t>
                </a: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编程</a:t>
                </a:r>
              </a:p>
            </p:txBody>
          </p:sp>
        </p:grpSp>
        <p:sp>
          <p:nvSpPr>
            <p:cNvPr id="19" name="文本框 18"/>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0" name="文本框 19"/>
            <p:cNvSpPr txBox="1"/>
            <p:nvPr/>
          </p:nvSpPr>
          <p:spPr>
            <a:xfrm>
              <a:off x="612896" y="1591416"/>
              <a:ext cx="282641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err="1">
                  <a:latin typeface="Times New Roman" panose="02020603050405020304" pitchFamily="18" charset="0"/>
                  <a:ea typeface="黑体" panose="02010609060101010101" pitchFamily="49" charset="-122"/>
                  <a:cs typeface="Times New Roman" panose="02020603050405020304" pitchFamily="18" charset="0"/>
                </a:rPr>
                <a:t>jclouds</a:t>
              </a: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编程</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29519471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612775" y="2618724"/>
            <a:ext cx="10820400" cy="3859070"/>
          </a:xfrm>
          <a:prstGeom prst="roundRect">
            <a:avLst>
              <a:gd name="adj" fmla="val 5822"/>
            </a:avLst>
          </a:prstGeom>
          <a:solidFill>
            <a:schemeClr val="bg1">
              <a:lumMod val="95000"/>
            </a:schemeClr>
          </a:solidFill>
          <a:ln w="38100">
            <a:solidFill>
              <a:srgbClr val="FF993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3775" y="2385659"/>
            <a:ext cx="107505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536575" y="2053729"/>
            <a:ext cx="4267200" cy="461665"/>
          </a:xfrm>
          <a:prstGeom prst="rect">
            <a:avLst/>
          </a:prstGeom>
          <a:solidFill>
            <a:srgbClr val="00B0F0"/>
          </a:solidFill>
        </p:spPr>
        <p:txBody>
          <a:bodyPr wrap="square" rtlCol="0">
            <a:spAutoFit/>
          </a:bodyPr>
          <a:lstStyle/>
          <a:p>
            <a:r>
              <a:rPr lang="en-US" altLang="zh-CN" dirty="0">
                <a:latin typeface="+mn-ea"/>
              </a:rPr>
              <a:t>【</a:t>
            </a:r>
            <a:r>
              <a:rPr lang="zh-CN" altLang="en-US" dirty="0">
                <a:latin typeface="+mn-ea"/>
              </a:rPr>
              <a:t>实施步骤</a:t>
            </a:r>
            <a:r>
              <a:rPr lang="en-US" altLang="zh-CN" dirty="0">
                <a:latin typeface="+mn-ea"/>
              </a:rPr>
              <a:t>】1~3</a:t>
            </a:r>
          </a:p>
        </p:txBody>
      </p:sp>
      <p:sp>
        <p:nvSpPr>
          <p:cNvPr id="13" name="内容占位符 2"/>
          <p:cNvSpPr txBox="1">
            <a:spLocks/>
          </p:cNvSpPr>
          <p:nvPr/>
        </p:nvSpPr>
        <p:spPr>
          <a:xfrm>
            <a:off x="1069975" y="2588406"/>
            <a:ext cx="9810295" cy="3778199"/>
          </a:xfrm>
          <a:prstGeom prst="rect">
            <a:avLst/>
          </a:prstGeom>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en-US" altLang="zh-CN" sz="2400" dirty="0">
                <a:solidFill>
                  <a:schemeClr val="tx1">
                    <a:lumMod val="95000"/>
                    <a:lumOff val="5000"/>
                  </a:schemeClr>
                </a:solidFill>
              </a:rPr>
              <a:t>1</a:t>
            </a:r>
            <a:r>
              <a:rPr lang="zh-CN" altLang="en-US" sz="2400" dirty="0">
                <a:solidFill>
                  <a:schemeClr val="tx1">
                    <a:lumMod val="95000"/>
                    <a:lumOff val="5000"/>
                  </a:schemeClr>
                </a:solidFill>
              </a:rPr>
              <a:t>、开发环境</a:t>
            </a:r>
            <a:r>
              <a:rPr lang="en-US" altLang="zh-CN" sz="2400" dirty="0">
                <a:solidFill>
                  <a:schemeClr val="tx1">
                    <a:lumMod val="95000"/>
                    <a:lumOff val="5000"/>
                  </a:schemeClr>
                </a:solidFill>
              </a:rPr>
              <a:t>Eclipse</a:t>
            </a:r>
            <a:r>
              <a:rPr lang="zh-CN" altLang="en-US" sz="2400" dirty="0">
                <a:solidFill>
                  <a:schemeClr val="tx1">
                    <a:lumMod val="95000"/>
                    <a:lumOff val="5000"/>
                  </a:schemeClr>
                </a:solidFill>
              </a:rPr>
              <a:t>的搭建</a:t>
            </a:r>
          </a:p>
          <a:p>
            <a:pPr marL="0" indent="0">
              <a:buNone/>
            </a:pPr>
            <a:r>
              <a:rPr lang="en-US" altLang="zh-CN" sz="2400" dirty="0">
                <a:solidFill>
                  <a:schemeClr val="tx1">
                    <a:lumMod val="95000"/>
                    <a:lumOff val="5000"/>
                  </a:schemeClr>
                </a:solidFill>
              </a:rPr>
              <a:t>1</a:t>
            </a:r>
            <a:r>
              <a:rPr lang="zh-CN" altLang="en-US" sz="2400" dirty="0">
                <a:solidFill>
                  <a:schemeClr val="tx1">
                    <a:lumMod val="95000"/>
                    <a:lumOff val="5000"/>
                  </a:schemeClr>
                </a:solidFill>
              </a:rPr>
              <a:t>）上传</a:t>
            </a:r>
            <a:r>
              <a:rPr lang="en-US" altLang="zh-CN" sz="2400" dirty="0">
                <a:solidFill>
                  <a:schemeClr val="tx1">
                    <a:lumMod val="95000"/>
                    <a:lumOff val="5000"/>
                  </a:schemeClr>
                </a:solidFill>
              </a:rPr>
              <a:t>eclipse-java-kepler-SR2-linux-gtk-x86_64.tar.gz</a:t>
            </a:r>
            <a:r>
              <a:rPr lang="zh-CN" altLang="en-US" sz="2400" dirty="0">
                <a:solidFill>
                  <a:schemeClr val="tx1">
                    <a:lumMod val="95000"/>
                    <a:lumOff val="5000"/>
                  </a:schemeClr>
                </a:solidFill>
              </a:rPr>
              <a:t>到</a:t>
            </a:r>
            <a:r>
              <a:rPr lang="en-US" altLang="zh-CN" sz="2400" dirty="0">
                <a:solidFill>
                  <a:schemeClr val="tx1">
                    <a:lumMod val="95000"/>
                    <a:lumOff val="5000"/>
                  </a:schemeClr>
                </a:solidFill>
              </a:rPr>
              <a:t>node2</a:t>
            </a:r>
            <a:r>
              <a:rPr lang="zh-CN" altLang="en-US" sz="2400" dirty="0">
                <a:solidFill>
                  <a:schemeClr val="tx1">
                    <a:lumMod val="95000"/>
                    <a:lumOff val="5000"/>
                  </a:schemeClr>
                </a:solidFill>
              </a:rPr>
              <a:t>节点机</a:t>
            </a:r>
            <a:r>
              <a:rPr lang="en-US" altLang="zh-CN" sz="2400" dirty="0">
                <a:solidFill>
                  <a:schemeClr val="tx1">
                    <a:lumMod val="95000"/>
                    <a:lumOff val="5000"/>
                  </a:schemeClr>
                </a:solidFill>
              </a:rPr>
              <a:t>/root</a:t>
            </a:r>
            <a:r>
              <a:rPr lang="zh-CN" altLang="en-US" sz="2400" dirty="0">
                <a:solidFill>
                  <a:schemeClr val="tx1">
                    <a:lumMod val="95000"/>
                    <a:lumOff val="5000"/>
                  </a:schemeClr>
                </a:solidFill>
              </a:rPr>
              <a:t>目录下</a:t>
            </a:r>
            <a:endParaRPr lang="en-US" altLang="zh-CN" sz="2400" dirty="0">
              <a:solidFill>
                <a:schemeClr val="tx1">
                  <a:lumMod val="95000"/>
                  <a:lumOff val="5000"/>
                </a:schemeClr>
              </a:solidFill>
            </a:endParaRPr>
          </a:p>
          <a:p>
            <a:pPr marL="0" indent="0">
              <a:buNone/>
            </a:pPr>
            <a:r>
              <a:rPr lang="en-US" altLang="zh-CN" sz="2400" dirty="0">
                <a:solidFill>
                  <a:schemeClr val="tx1">
                    <a:lumMod val="95000"/>
                    <a:lumOff val="5000"/>
                  </a:schemeClr>
                </a:solidFill>
              </a:rPr>
              <a:t>2</a:t>
            </a:r>
            <a:r>
              <a:rPr lang="zh-CN" altLang="en-US" sz="2400" dirty="0">
                <a:solidFill>
                  <a:schemeClr val="tx1">
                    <a:lumMod val="95000"/>
                    <a:lumOff val="5000"/>
                  </a:schemeClr>
                </a:solidFill>
              </a:rPr>
              <a:t>）登录</a:t>
            </a:r>
            <a:r>
              <a:rPr lang="en-US" altLang="zh-CN" sz="2400" dirty="0">
                <a:solidFill>
                  <a:schemeClr val="tx1">
                    <a:lumMod val="95000"/>
                    <a:lumOff val="5000"/>
                  </a:schemeClr>
                </a:solidFill>
              </a:rPr>
              <a:t>node2</a:t>
            </a:r>
            <a:r>
              <a:rPr lang="zh-CN" altLang="en-US" sz="2400" dirty="0">
                <a:solidFill>
                  <a:schemeClr val="tx1">
                    <a:lumMod val="95000"/>
                    <a:lumOff val="5000"/>
                  </a:schemeClr>
                </a:solidFill>
              </a:rPr>
              <a:t>节点机，解压开发包到</a:t>
            </a:r>
            <a:r>
              <a:rPr lang="en-US" altLang="zh-CN" sz="2400" dirty="0">
                <a:solidFill>
                  <a:schemeClr val="tx1">
                    <a:lumMod val="95000"/>
                    <a:lumOff val="5000"/>
                  </a:schemeClr>
                </a:solidFill>
              </a:rPr>
              <a:t>/</a:t>
            </a:r>
            <a:r>
              <a:rPr lang="en-US" altLang="zh-CN" sz="2400" dirty="0" err="1">
                <a:solidFill>
                  <a:schemeClr val="tx1">
                    <a:lumMod val="95000"/>
                    <a:lumOff val="5000"/>
                  </a:schemeClr>
                </a:solidFill>
              </a:rPr>
              <a:t>usr</a:t>
            </a:r>
            <a:r>
              <a:rPr lang="en-US" altLang="zh-CN" sz="2400" dirty="0">
                <a:solidFill>
                  <a:schemeClr val="tx1">
                    <a:lumMod val="95000"/>
                    <a:lumOff val="5000"/>
                  </a:schemeClr>
                </a:solidFill>
              </a:rPr>
              <a:t>/local</a:t>
            </a:r>
            <a:r>
              <a:rPr lang="zh-CN" altLang="en-US" sz="2400" dirty="0">
                <a:solidFill>
                  <a:schemeClr val="tx1">
                    <a:lumMod val="95000"/>
                    <a:lumOff val="5000"/>
                  </a:schemeClr>
                </a:solidFill>
              </a:rPr>
              <a:t>目录下</a:t>
            </a:r>
          </a:p>
          <a:p>
            <a:pPr marL="0" indent="0">
              <a:buNone/>
            </a:pPr>
            <a:r>
              <a:rPr lang="en-US" altLang="zh-CN" sz="2400" dirty="0">
                <a:solidFill>
                  <a:schemeClr val="tx1">
                    <a:lumMod val="95000"/>
                    <a:lumOff val="5000"/>
                  </a:schemeClr>
                </a:solidFill>
              </a:rPr>
              <a:t>3</a:t>
            </a:r>
            <a:r>
              <a:rPr lang="zh-CN" altLang="en-US" sz="2400" dirty="0">
                <a:solidFill>
                  <a:schemeClr val="tx1">
                    <a:lumMod val="95000"/>
                    <a:lumOff val="5000"/>
                  </a:schemeClr>
                </a:solidFill>
              </a:rPr>
              <a:t>）登录图形界面，打开终端命令行窗口，输入命令</a:t>
            </a:r>
          </a:p>
          <a:p>
            <a:pPr marL="0" indent="0">
              <a:buNone/>
            </a:pPr>
            <a:r>
              <a:rPr lang="en-US" altLang="zh-CN" sz="2400" dirty="0">
                <a:solidFill>
                  <a:schemeClr val="tx1">
                    <a:lumMod val="95000"/>
                    <a:lumOff val="5000"/>
                  </a:schemeClr>
                </a:solidFill>
              </a:rPr>
              <a:t>4</a:t>
            </a:r>
            <a:r>
              <a:rPr lang="zh-CN" altLang="en-US" sz="2400" dirty="0">
                <a:solidFill>
                  <a:schemeClr val="tx1">
                    <a:lumMod val="95000"/>
                    <a:lumOff val="5000"/>
                  </a:schemeClr>
                </a:solidFill>
              </a:rPr>
              <a:t>）执行命令后，输入工作目录，单击</a:t>
            </a:r>
            <a:r>
              <a:rPr lang="en-US" altLang="zh-CN" sz="2400" dirty="0">
                <a:solidFill>
                  <a:schemeClr val="tx1">
                    <a:lumMod val="95000"/>
                    <a:lumOff val="5000"/>
                  </a:schemeClr>
                </a:solidFill>
              </a:rPr>
              <a:t>OK</a:t>
            </a:r>
            <a:r>
              <a:rPr lang="zh-CN" altLang="en-US" sz="2400" dirty="0">
                <a:solidFill>
                  <a:schemeClr val="tx1">
                    <a:lumMod val="95000"/>
                    <a:lumOff val="5000"/>
                  </a:schemeClr>
                </a:solidFill>
              </a:rPr>
              <a:t>后，显示</a:t>
            </a:r>
            <a:r>
              <a:rPr lang="en-US" altLang="zh-CN" sz="2400" dirty="0">
                <a:solidFill>
                  <a:schemeClr val="tx1">
                    <a:lumMod val="95000"/>
                    <a:lumOff val="5000"/>
                  </a:schemeClr>
                </a:solidFill>
              </a:rPr>
              <a:t>Eclipse</a:t>
            </a:r>
            <a:r>
              <a:rPr lang="zh-CN" altLang="en-US" sz="2400" dirty="0">
                <a:solidFill>
                  <a:schemeClr val="tx1">
                    <a:lumMod val="95000"/>
                    <a:lumOff val="5000"/>
                  </a:schemeClr>
                </a:solidFill>
              </a:rPr>
              <a:t>开发界面</a:t>
            </a:r>
          </a:p>
          <a:p>
            <a:pPr marL="0" indent="0">
              <a:buNone/>
            </a:pPr>
            <a:r>
              <a:rPr lang="en-US" altLang="zh-CN" sz="2400" dirty="0">
                <a:solidFill>
                  <a:schemeClr val="tx1">
                    <a:lumMod val="95000"/>
                    <a:lumOff val="5000"/>
                  </a:schemeClr>
                </a:solidFill>
              </a:rPr>
              <a:t>2</a:t>
            </a:r>
            <a:r>
              <a:rPr lang="zh-CN" altLang="en-US" sz="2400" dirty="0">
                <a:solidFill>
                  <a:schemeClr val="tx1">
                    <a:lumMod val="95000"/>
                    <a:lumOff val="5000"/>
                  </a:schemeClr>
                </a:solidFill>
              </a:rPr>
              <a:t>、打开</a:t>
            </a:r>
            <a:r>
              <a:rPr lang="en-US" altLang="zh-CN" sz="2400" dirty="0">
                <a:solidFill>
                  <a:schemeClr val="tx1">
                    <a:lumMod val="95000"/>
                    <a:lumOff val="5000"/>
                  </a:schemeClr>
                </a:solidFill>
              </a:rPr>
              <a:t>eclipse</a:t>
            </a:r>
            <a:r>
              <a:rPr lang="zh-CN" altLang="en-US" sz="2400" dirty="0">
                <a:solidFill>
                  <a:schemeClr val="tx1">
                    <a:lumMod val="95000"/>
                    <a:lumOff val="5000"/>
                  </a:schemeClr>
                </a:solidFill>
              </a:rPr>
              <a:t>，单击</a:t>
            </a:r>
            <a:r>
              <a:rPr lang="en-US" altLang="zh-CN" sz="2400" dirty="0">
                <a:solidFill>
                  <a:schemeClr val="tx1">
                    <a:lumMod val="95000"/>
                    <a:lumOff val="5000"/>
                  </a:schemeClr>
                </a:solidFill>
              </a:rPr>
              <a:t>New—&gt;Other</a:t>
            </a:r>
            <a:r>
              <a:rPr lang="zh-CN" altLang="en-US" sz="2400" dirty="0">
                <a:solidFill>
                  <a:schemeClr val="tx1">
                    <a:lumMod val="95000"/>
                    <a:lumOff val="5000"/>
                  </a:schemeClr>
                </a:solidFill>
              </a:rPr>
              <a:t>，选择</a:t>
            </a:r>
            <a:r>
              <a:rPr lang="en-US" altLang="zh-CN" sz="2400" dirty="0" err="1">
                <a:solidFill>
                  <a:schemeClr val="tx1">
                    <a:lumMod val="95000"/>
                    <a:lumOff val="5000"/>
                  </a:schemeClr>
                </a:solidFill>
              </a:rPr>
              <a:t>Mave</a:t>
            </a:r>
            <a:r>
              <a:rPr lang="en-US" altLang="zh-CN" sz="2400" dirty="0">
                <a:solidFill>
                  <a:schemeClr val="tx1">
                    <a:lumMod val="95000"/>
                    <a:lumOff val="5000"/>
                  </a:schemeClr>
                </a:solidFill>
              </a:rPr>
              <a:t> Project</a:t>
            </a:r>
          </a:p>
          <a:p>
            <a:pPr marL="0" indent="0">
              <a:buNone/>
            </a:pPr>
            <a:endParaRPr lang="zh-CN" altLang="en-US" sz="2400" dirty="0">
              <a:solidFill>
                <a:schemeClr val="tx1">
                  <a:lumMod val="95000"/>
                  <a:lumOff val="5000"/>
                </a:schemeClr>
              </a:solidFill>
            </a:endParaRPr>
          </a:p>
        </p:txBody>
      </p:sp>
      <p:grpSp>
        <p:nvGrpSpPr>
          <p:cNvPr id="8" name="组合 7"/>
          <p:cNvGrpSpPr/>
          <p:nvPr/>
        </p:nvGrpSpPr>
        <p:grpSpPr>
          <a:xfrm>
            <a:off x="10314213" y="5262011"/>
            <a:ext cx="1877787" cy="1129564"/>
            <a:chOff x="9675584" y="5175723"/>
            <a:chExt cx="1877787" cy="1129564"/>
          </a:xfrm>
        </p:grpSpPr>
        <p:sp>
          <p:nvSpPr>
            <p:cNvPr id="12" name="矩形 11"/>
            <p:cNvSpPr/>
            <p:nvPr/>
          </p:nvSpPr>
          <p:spPr>
            <a:xfrm>
              <a:off x="11286669" y="5640179"/>
              <a:ext cx="266702" cy="66188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0642146" y="5828865"/>
              <a:ext cx="266702" cy="4764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0241641" y="5175723"/>
              <a:ext cx="266702" cy="112956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9675584" y="5974341"/>
              <a:ext cx="266702" cy="33094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矩形 16"/>
          <p:cNvSpPr/>
          <p:nvPr/>
        </p:nvSpPr>
        <p:spPr>
          <a:xfrm>
            <a:off x="0" y="6581124"/>
            <a:ext cx="12192000" cy="276876"/>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solidFill>
            </a:endParaRPr>
          </a:p>
        </p:txBody>
      </p:sp>
      <p:grpSp>
        <p:nvGrpSpPr>
          <p:cNvPr id="18" name="组合 17"/>
          <p:cNvGrpSpPr/>
          <p:nvPr/>
        </p:nvGrpSpPr>
        <p:grpSpPr>
          <a:xfrm>
            <a:off x="139962" y="-1"/>
            <a:ext cx="11520000" cy="2053082"/>
            <a:chOff x="131974" y="-1"/>
            <a:chExt cx="11520000" cy="2053082"/>
          </a:xfrm>
        </p:grpSpPr>
        <p:grpSp>
          <p:nvGrpSpPr>
            <p:cNvPr id="19" name="组合 18"/>
            <p:cNvGrpSpPr/>
            <p:nvPr/>
          </p:nvGrpSpPr>
          <p:grpSpPr>
            <a:xfrm>
              <a:off x="131974" y="-1"/>
              <a:ext cx="11520000" cy="1016152"/>
              <a:chOff x="131974" y="-1"/>
              <a:chExt cx="11520000" cy="1016152"/>
            </a:xfrm>
          </p:grpSpPr>
          <p:pic>
            <p:nvPicPr>
              <p:cNvPr id="22" name="图片 2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3" name="矩形 22"/>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4"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err="1">
                    <a:solidFill>
                      <a:srgbClr val="002060"/>
                    </a:solidFill>
                    <a:effectLst>
                      <a:outerShdw blurRad="38100" dist="38100" dir="2700000" algn="tl">
                        <a:srgbClr val="C0C0C0"/>
                      </a:outerShdw>
                    </a:effectLst>
                    <a:latin typeface="Tahoma" pitchFamily="34" charset="0"/>
                    <a:ea typeface="黑体" pitchFamily="2" charset="-122"/>
                  </a:rPr>
                  <a:t>jclouds</a:t>
                </a: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编程</a:t>
                </a:r>
              </a:p>
            </p:txBody>
          </p:sp>
        </p:grpSp>
        <p:sp>
          <p:nvSpPr>
            <p:cNvPr id="20" name="文本框 19"/>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1" name="文本框 20"/>
            <p:cNvSpPr txBox="1"/>
            <p:nvPr/>
          </p:nvSpPr>
          <p:spPr>
            <a:xfrm>
              <a:off x="612896" y="1591416"/>
              <a:ext cx="282641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err="1">
                  <a:latin typeface="Times New Roman" panose="02020603050405020304" pitchFamily="18" charset="0"/>
                  <a:ea typeface="黑体" panose="02010609060101010101" pitchFamily="49" charset="-122"/>
                  <a:cs typeface="Times New Roman" panose="02020603050405020304" pitchFamily="18" charset="0"/>
                </a:rPr>
                <a:t>jclouds</a:t>
              </a: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编程</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34640504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612775" y="2615907"/>
            <a:ext cx="10820400" cy="4155058"/>
          </a:xfrm>
          <a:prstGeom prst="roundRect">
            <a:avLst>
              <a:gd name="adj" fmla="val 5822"/>
            </a:avLst>
          </a:prstGeom>
          <a:solidFill>
            <a:schemeClr val="bg1">
              <a:lumMod val="95000"/>
            </a:schemeClr>
          </a:solidFill>
          <a:ln w="38100">
            <a:solidFill>
              <a:srgbClr val="FF993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93775" y="2385659"/>
            <a:ext cx="10750550" cy="10476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536575" y="1116664"/>
            <a:ext cx="2031325" cy="46166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10"/>
          <p:cNvSpPr txBox="1"/>
          <p:nvPr/>
        </p:nvSpPr>
        <p:spPr>
          <a:xfrm>
            <a:off x="536575" y="2053729"/>
            <a:ext cx="4267200" cy="461665"/>
          </a:xfrm>
          <a:prstGeom prst="rect">
            <a:avLst/>
          </a:prstGeom>
          <a:solidFill>
            <a:srgbClr val="00B0F0"/>
          </a:solidFill>
        </p:spPr>
        <p:txBody>
          <a:bodyPr wrap="square" rtlCol="0">
            <a:spAutoFit/>
          </a:bodyPr>
          <a:lstStyle/>
          <a:p>
            <a:r>
              <a:rPr lang="en-US" altLang="zh-CN" dirty="0">
                <a:latin typeface="+mn-ea"/>
              </a:rPr>
              <a:t>【</a:t>
            </a:r>
            <a:r>
              <a:rPr lang="zh-CN" altLang="en-US" dirty="0">
                <a:latin typeface="+mn-ea"/>
              </a:rPr>
              <a:t>实施步骤</a:t>
            </a:r>
            <a:r>
              <a:rPr lang="en-US" altLang="zh-CN" dirty="0">
                <a:latin typeface="+mn-ea"/>
              </a:rPr>
              <a:t>】4~7</a:t>
            </a:r>
          </a:p>
        </p:txBody>
      </p:sp>
      <p:sp>
        <p:nvSpPr>
          <p:cNvPr id="13" name="内容占位符 2"/>
          <p:cNvSpPr txBox="1">
            <a:spLocks/>
          </p:cNvSpPr>
          <p:nvPr/>
        </p:nvSpPr>
        <p:spPr>
          <a:xfrm>
            <a:off x="1006932" y="2545710"/>
            <a:ext cx="9810295" cy="4225255"/>
          </a:xfrm>
          <a:prstGeom prst="rect">
            <a:avLst/>
          </a:prstGeom>
        </p:spPr>
        <p:txBody>
          <a:bodyPr vert="horz" lIns="121917" tIns="60958" rIns="121917" bIns="60958" rtlCol="0">
            <a:noAutofit/>
          </a:bodyPr>
          <a:lstStyle>
            <a:lvl1pPr marL="457360" indent="-457360" algn="l" defTabSz="1219627" rtl="0" eaLnBrk="1" latinLnBrk="0" hangingPunct="1">
              <a:lnSpc>
                <a:spcPct val="130000"/>
              </a:lnSpc>
              <a:spcBef>
                <a:spcPct val="20000"/>
              </a:spcBef>
              <a:buSzPct val="80000"/>
              <a:buFont typeface="Wingdings" pitchFamily="2" charset="2"/>
              <a:buChar char="l"/>
              <a:defRPr sz="2000" kern="1200">
                <a:solidFill>
                  <a:schemeClr val="tx1">
                    <a:lumMod val="75000"/>
                    <a:lumOff val="25000"/>
                  </a:schemeClr>
                </a:solidFill>
                <a:latin typeface="+mn-lt"/>
                <a:ea typeface="+mn-ea"/>
                <a:cs typeface="+mn-cs"/>
              </a:defRPr>
            </a:lvl1pPr>
            <a:lvl2pPr marL="990947" indent="-381133" algn="l" defTabSz="1219627" rtl="0" eaLnBrk="1" latinLnBrk="0" hangingPunct="1">
              <a:lnSpc>
                <a:spcPct val="130000"/>
              </a:lnSpc>
              <a:spcBef>
                <a:spcPct val="20000"/>
              </a:spcBef>
              <a:buFont typeface="Arial" pitchFamily="34" charset="0"/>
              <a:buChar char="–"/>
              <a:defRPr sz="1800" kern="1200">
                <a:solidFill>
                  <a:schemeClr val="tx1">
                    <a:lumMod val="75000"/>
                    <a:lumOff val="25000"/>
                  </a:schemeClr>
                </a:solidFill>
                <a:latin typeface="+mn-lt"/>
                <a:ea typeface="+mn-ea"/>
                <a:cs typeface="+mn-cs"/>
              </a:defRPr>
            </a:lvl2pPr>
            <a:lvl3pPr marL="1524533"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3pPr>
            <a:lvl4pPr marL="2134347"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4pPr>
            <a:lvl5pPr marL="2744160" indent="-304907" algn="l" defTabSz="1219627" rtl="0" eaLnBrk="1" latinLnBrk="0" hangingPunct="1">
              <a:lnSpc>
                <a:spcPct val="130000"/>
              </a:lnSpc>
              <a:spcBef>
                <a:spcPct val="20000"/>
              </a:spcBef>
              <a:buFont typeface="Arial" pitchFamily="34" charset="0"/>
              <a:buChar char="»"/>
              <a:defRPr sz="1800" kern="1200">
                <a:solidFill>
                  <a:schemeClr val="tx1"/>
                </a:solidFill>
                <a:latin typeface="+mn-lt"/>
                <a:ea typeface="+mn-ea"/>
                <a:cs typeface="+mn-cs"/>
              </a:defRPr>
            </a:lvl5pPr>
            <a:lvl6pPr marL="3353973"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3787"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3600"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3414" indent="-304907" algn="l" defTabSz="121962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buNone/>
            </a:pPr>
            <a:r>
              <a:rPr lang="en-US" altLang="zh-CN" sz="2400" dirty="0">
                <a:solidFill>
                  <a:schemeClr val="tx1">
                    <a:lumMod val="95000"/>
                    <a:lumOff val="5000"/>
                  </a:schemeClr>
                </a:solidFill>
              </a:rPr>
              <a:t>4</a:t>
            </a:r>
            <a:r>
              <a:rPr lang="zh-CN" altLang="en-US" sz="2400" dirty="0">
                <a:solidFill>
                  <a:schemeClr val="tx1">
                    <a:lumMod val="95000"/>
                    <a:lumOff val="5000"/>
                  </a:schemeClr>
                </a:solidFill>
              </a:rPr>
              <a:t>、单击</a:t>
            </a:r>
            <a:r>
              <a:rPr lang="en-US" altLang="zh-CN" sz="2400" dirty="0">
                <a:solidFill>
                  <a:schemeClr val="tx1">
                    <a:lumMod val="95000"/>
                    <a:lumOff val="5000"/>
                  </a:schemeClr>
                </a:solidFill>
              </a:rPr>
              <a:t>Finish</a:t>
            </a:r>
            <a:r>
              <a:rPr lang="zh-CN" altLang="en-US" sz="2400" dirty="0">
                <a:solidFill>
                  <a:schemeClr val="tx1">
                    <a:lumMod val="95000"/>
                    <a:lumOff val="5000"/>
                  </a:schemeClr>
                </a:solidFill>
              </a:rPr>
              <a:t>后，显示编辑窗口，编辑</a:t>
            </a:r>
            <a:r>
              <a:rPr lang="en-US" altLang="zh-CN" sz="2400" dirty="0">
                <a:solidFill>
                  <a:schemeClr val="tx1">
                    <a:lumMod val="95000"/>
                    <a:lumOff val="5000"/>
                  </a:schemeClr>
                </a:solidFill>
              </a:rPr>
              <a:t>pom.xml</a:t>
            </a:r>
            <a:r>
              <a:rPr lang="zh-CN" altLang="en-US" sz="2400" dirty="0">
                <a:solidFill>
                  <a:schemeClr val="tx1">
                    <a:lumMod val="95000"/>
                    <a:lumOff val="5000"/>
                  </a:schemeClr>
                </a:solidFill>
              </a:rPr>
              <a:t>文件</a:t>
            </a:r>
          </a:p>
          <a:p>
            <a:pPr marL="0" indent="0">
              <a:buNone/>
            </a:pPr>
            <a:r>
              <a:rPr lang="en-US" altLang="zh-CN" sz="2400" dirty="0">
                <a:solidFill>
                  <a:schemeClr val="tx1">
                    <a:lumMod val="95000"/>
                    <a:lumOff val="5000"/>
                  </a:schemeClr>
                </a:solidFill>
              </a:rPr>
              <a:t>5</a:t>
            </a:r>
            <a:r>
              <a:rPr lang="zh-CN" altLang="en-US" sz="2400" dirty="0">
                <a:solidFill>
                  <a:schemeClr val="tx1">
                    <a:lumMod val="95000"/>
                    <a:lumOff val="5000"/>
                  </a:schemeClr>
                </a:solidFill>
              </a:rPr>
              <a:t>、单击</a:t>
            </a:r>
            <a:r>
              <a:rPr lang="en-US" altLang="zh-CN" sz="2400" dirty="0">
                <a:solidFill>
                  <a:schemeClr val="tx1">
                    <a:lumMod val="95000"/>
                    <a:lumOff val="5000"/>
                  </a:schemeClr>
                </a:solidFill>
              </a:rPr>
              <a:t>Finish</a:t>
            </a:r>
            <a:r>
              <a:rPr lang="zh-CN" altLang="en-US" sz="2400" dirty="0">
                <a:solidFill>
                  <a:schemeClr val="tx1">
                    <a:lumMod val="95000"/>
                    <a:lumOff val="5000"/>
                  </a:schemeClr>
                </a:solidFill>
              </a:rPr>
              <a:t>后，右击</a:t>
            </a:r>
            <a:r>
              <a:rPr lang="en-US" altLang="zh-CN" sz="2400" dirty="0" err="1">
                <a:solidFill>
                  <a:schemeClr val="tx1">
                    <a:lumMod val="95000"/>
                    <a:lumOff val="5000"/>
                  </a:schemeClr>
                </a:solidFill>
              </a:rPr>
              <a:t>jclouds</a:t>
            </a:r>
            <a:r>
              <a:rPr lang="en-US" altLang="zh-CN" sz="2400" dirty="0">
                <a:solidFill>
                  <a:schemeClr val="tx1">
                    <a:lumMod val="95000"/>
                    <a:lumOff val="5000"/>
                  </a:schemeClr>
                </a:solidFill>
              </a:rPr>
              <a:t>-swift</a:t>
            </a:r>
            <a:r>
              <a:rPr lang="zh-CN" altLang="en-US" sz="2400" dirty="0">
                <a:solidFill>
                  <a:schemeClr val="tx1">
                    <a:lumMod val="95000"/>
                    <a:lumOff val="5000"/>
                  </a:schemeClr>
                </a:solidFill>
              </a:rPr>
              <a:t>，</a:t>
            </a:r>
            <a:r>
              <a:rPr lang="en-US" altLang="zh-CN" sz="2400" dirty="0">
                <a:solidFill>
                  <a:schemeClr val="tx1">
                    <a:lumMod val="95000"/>
                    <a:lumOff val="5000"/>
                  </a:schemeClr>
                </a:solidFill>
              </a:rPr>
              <a:t>Maven-&gt;Update Project</a:t>
            </a:r>
            <a:r>
              <a:rPr lang="zh-CN" altLang="en-US" sz="2400" dirty="0">
                <a:solidFill>
                  <a:schemeClr val="tx1">
                    <a:lumMod val="95000"/>
                    <a:lumOff val="5000"/>
                  </a:schemeClr>
                </a:solidFill>
              </a:rPr>
              <a:t>，打开</a:t>
            </a:r>
            <a:r>
              <a:rPr lang="en-US" altLang="zh-CN" sz="2400" dirty="0">
                <a:solidFill>
                  <a:schemeClr val="tx1">
                    <a:lumMod val="95000"/>
                    <a:lumOff val="5000"/>
                  </a:schemeClr>
                </a:solidFill>
              </a:rPr>
              <a:t>Update Maven Project</a:t>
            </a:r>
            <a:r>
              <a:rPr lang="zh-CN" altLang="en-US" sz="2400" dirty="0">
                <a:solidFill>
                  <a:schemeClr val="tx1">
                    <a:lumMod val="95000"/>
                    <a:lumOff val="5000"/>
                  </a:schemeClr>
                </a:solidFill>
              </a:rPr>
              <a:t>对话框。单击</a:t>
            </a:r>
            <a:r>
              <a:rPr lang="en-US" altLang="zh-CN" sz="2400" dirty="0">
                <a:solidFill>
                  <a:schemeClr val="tx1">
                    <a:lumMod val="95000"/>
                    <a:lumOff val="5000"/>
                  </a:schemeClr>
                </a:solidFill>
              </a:rPr>
              <a:t>OK</a:t>
            </a:r>
            <a:r>
              <a:rPr lang="zh-CN" altLang="en-US" sz="2400" dirty="0">
                <a:solidFill>
                  <a:schemeClr val="tx1">
                    <a:lumMod val="95000"/>
                    <a:lumOff val="5000"/>
                  </a:schemeClr>
                </a:solidFill>
              </a:rPr>
              <a:t>后，</a:t>
            </a:r>
            <a:r>
              <a:rPr lang="en-US" altLang="zh-CN" sz="2400" dirty="0">
                <a:solidFill>
                  <a:schemeClr val="tx1">
                    <a:lumMod val="95000"/>
                    <a:lumOff val="5000"/>
                  </a:schemeClr>
                </a:solidFill>
              </a:rPr>
              <a:t>Eclipse</a:t>
            </a:r>
            <a:r>
              <a:rPr lang="zh-CN" altLang="en-US" sz="2400" dirty="0">
                <a:solidFill>
                  <a:schemeClr val="tx1">
                    <a:lumMod val="95000"/>
                    <a:lumOff val="5000"/>
                  </a:schemeClr>
                </a:solidFill>
              </a:rPr>
              <a:t>会根据</a:t>
            </a:r>
            <a:r>
              <a:rPr lang="en-US" altLang="zh-CN" sz="2400" dirty="0">
                <a:solidFill>
                  <a:schemeClr val="tx1">
                    <a:lumMod val="95000"/>
                    <a:lumOff val="5000"/>
                  </a:schemeClr>
                </a:solidFill>
              </a:rPr>
              <a:t>pom.xml</a:t>
            </a:r>
            <a:r>
              <a:rPr lang="zh-CN" altLang="en-US" sz="2400" dirty="0">
                <a:solidFill>
                  <a:schemeClr val="tx1">
                    <a:lumMod val="95000"/>
                    <a:lumOff val="5000"/>
                  </a:schemeClr>
                </a:solidFill>
              </a:rPr>
              <a:t>文件从</a:t>
            </a:r>
            <a:r>
              <a:rPr lang="en-US" altLang="zh-CN" sz="2400" dirty="0">
                <a:solidFill>
                  <a:schemeClr val="tx1">
                    <a:lumMod val="95000"/>
                    <a:lumOff val="5000"/>
                  </a:schemeClr>
                </a:solidFill>
              </a:rPr>
              <a:t>maven</a:t>
            </a:r>
            <a:r>
              <a:rPr lang="zh-CN" altLang="en-US" sz="2400" dirty="0">
                <a:solidFill>
                  <a:schemeClr val="tx1">
                    <a:lumMod val="95000"/>
                    <a:lumOff val="5000"/>
                  </a:schemeClr>
                </a:solidFill>
              </a:rPr>
              <a:t>库中心下载依赖包。</a:t>
            </a:r>
            <a:endParaRPr lang="en-US" altLang="zh-CN" sz="2400" dirty="0">
              <a:solidFill>
                <a:schemeClr val="tx1">
                  <a:lumMod val="95000"/>
                  <a:lumOff val="5000"/>
                </a:schemeClr>
              </a:solidFill>
            </a:endParaRPr>
          </a:p>
          <a:p>
            <a:pPr marL="0" indent="0">
              <a:buNone/>
            </a:pPr>
            <a:r>
              <a:rPr lang="en-US" altLang="zh-CN" sz="2400" dirty="0">
                <a:solidFill>
                  <a:schemeClr val="tx1">
                    <a:lumMod val="95000"/>
                    <a:lumOff val="5000"/>
                  </a:schemeClr>
                </a:solidFill>
              </a:rPr>
              <a:t>6</a:t>
            </a:r>
            <a:r>
              <a:rPr lang="zh-CN" altLang="en-US" sz="2400" dirty="0">
                <a:solidFill>
                  <a:schemeClr val="tx1">
                    <a:lumMod val="95000"/>
                    <a:lumOff val="5000"/>
                  </a:schemeClr>
                </a:solidFill>
              </a:rPr>
              <a:t>、</a:t>
            </a:r>
            <a:r>
              <a:rPr lang="en-US" altLang="zh-CN" sz="2400" dirty="0">
                <a:solidFill>
                  <a:schemeClr val="tx1">
                    <a:lumMod val="95000"/>
                    <a:lumOff val="5000"/>
                  </a:schemeClr>
                </a:solidFill>
              </a:rPr>
              <a:t>Maven</a:t>
            </a:r>
            <a:r>
              <a:rPr lang="zh-CN" altLang="en-US" sz="2400" dirty="0">
                <a:solidFill>
                  <a:schemeClr val="tx1">
                    <a:lumMod val="95000"/>
                    <a:lumOff val="5000"/>
                  </a:schemeClr>
                </a:solidFill>
              </a:rPr>
              <a:t>项目创建完成后，</a:t>
            </a:r>
            <a:r>
              <a:rPr lang="en-US" altLang="zh-CN" sz="2400" dirty="0">
                <a:solidFill>
                  <a:schemeClr val="tx1">
                    <a:lumMod val="95000"/>
                    <a:lumOff val="5000"/>
                  </a:schemeClr>
                </a:solidFill>
              </a:rPr>
              <a:t>eclipse</a:t>
            </a:r>
            <a:r>
              <a:rPr lang="zh-CN" altLang="en-US" sz="2400" dirty="0">
                <a:solidFill>
                  <a:schemeClr val="tx1">
                    <a:lumMod val="95000"/>
                    <a:lumOff val="5000"/>
                  </a:schemeClr>
                </a:solidFill>
              </a:rPr>
              <a:t>会生成初始目录</a:t>
            </a:r>
          </a:p>
          <a:p>
            <a:pPr marL="0" indent="0">
              <a:buNone/>
            </a:pPr>
            <a:r>
              <a:rPr lang="en-US" altLang="zh-CN" sz="2400" dirty="0">
                <a:solidFill>
                  <a:schemeClr val="tx1">
                    <a:lumMod val="95000"/>
                    <a:lumOff val="5000"/>
                  </a:schemeClr>
                </a:solidFill>
              </a:rPr>
              <a:t>7</a:t>
            </a:r>
            <a:r>
              <a:rPr lang="zh-CN" altLang="en-US" sz="2400" dirty="0">
                <a:solidFill>
                  <a:schemeClr val="tx1">
                    <a:lumMod val="95000"/>
                    <a:lumOff val="5000"/>
                  </a:schemeClr>
                </a:solidFill>
              </a:rPr>
              <a:t>、单击运行按钮，使用</a:t>
            </a:r>
            <a:r>
              <a:rPr lang="en-US" altLang="zh-CN" sz="2400" dirty="0">
                <a:solidFill>
                  <a:schemeClr val="tx1">
                    <a:lumMod val="95000"/>
                    <a:lumOff val="5000"/>
                  </a:schemeClr>
                </a:solidFill>
              </a:rPr>
              <a:t>swift</a:t>
            </a:r>
            <a:r>
              <a:rPr lang="zh-CN" altLang="en-US" sz="2400" dirty="0">
                <a:solidFill>
                  <a:schemeClr val="tx1">
                    <a:lumMod val="95000"/>
                    <a:lumOff val="5000"/>
                  </a:schemeClr>
                </a:solidFill>
              </a:rPr>
              <a:t>命令查看结果如下：</a:t>
            </a:r>
          </a:p>
          <a:p>
            <a:pPr marL="0" indent="0">
              <a:buNone/>
            </a:pPr>
            <a:r>
              <a:rPr lang="en-US" altLang="zh-CN" sz="2400" dirty="0">
                <a:solidFill>
                  <a:schemeClr val="tx1">
                    <a:lumMod val="95000"/>
                    <a:lumOff val="5000"/>
                  </a:schemeClr>
                </a:solidFill>
              </a:rPr>
              <a:t># swift list </a:t>
            </a:r>
            <a:r>
              <a:rPr lang="en-US" altLang="zh-CN" sz="2400" dirty="0" err="1">
                <a:solidFill>
                  <a:schemeClr val="tx1">
                    <a:lumMod val="95000"/>
                    <a:lumOff val="5000"/>
                  </a:schemeClr>
                </a:solidFill>
              </a:rPr>
              <a:t>jclouds</a:t>
            </a:r>
            <a:r>
              <a:rPr lang="en-US" altLang="zh-CN" sz="2400" dirty="0">
                <a:solidFill>
                  <a:schemeClr val="tx1">
                    <a:lumMod val="95000"/>
                    <a:lumOff val="5000"/>
                  </a:schemeClr>
                </a:solidFill>
              </a:rPr>
              <a:t>-example</a:t>
            </a:r>
          </a:p>
          <a:p>
            <a:pPr marL="0" indent="0">
              <a:buNone/>
            </a:pPr>
            <a:r>
              <a:rPr lang="en-US" altLang="zh-CN" sz="2400" dirty="0">
                <a:solidFill>
                  <a:schemeClr val="tx1">
                    <a:lumMod val="95000"/>
                    <a:lumOff val="5000"/>
                  </a:schemeClr>
                </a:solidFill>
              </a:rPr>
              <a:t>jclouds-example.txt</a:t>
            </a:r>
          </a:p>
          <a:p>
            <a:pPr marL="0" indent="0">
              <a:buNone/>
            </a:pPr>
            <a:endParaRPr lang="zh-CN" altLang="en-US" sz="2400" dirty="0">
              <a:solidFill>
                <a:schemeClr val="tx1">
                  <a:lumMod val="95000"/>
                  <a:lumOff val="5000"/>
                </a:schemeClr>
              </a:solidFill>
            </a:endParaRPr>
          </a:p>
          <a:p>
            <a:pPr marL="0" indent="0">
              <a:buNone/>
            </a:pPr>
            <a:endParaRPr lang="zh-CN" altLang="en-US" sz="2400" dirty="0">
              <a:solidFill>
                <a:schemeClr val="tx1">
                  <a:lumMod val="95000"/>
                  <a:lumOff val="5000"/>
                </a:schemeClr>
              </a:solidFill>
            </a:endParaRPr>
          </a:p>
        </p:txBody>
      </p:sp>
      <p:grpSp>
        <p:nvGrpSpPr>
          <p:cNvPr id="8" name="组合 7"/>
          <p:cNvGrpSpPr/>
          <p:nvPr/>
        </p:nvGrpSpPr>
        <p:grpSpPr>
          <a:xfrm>
            <a:off x="10314213" y="5262011"/>
            <a:ext cx="1877787" cy="1129564"/>
            <a:chOff x="9675584" y="5175723"/>
            <a:chExt cx="1877787" cy="1129564"/>
          </a:xfrm>
        </p:grpSpPr>
        <p:sp>
          <p:nvSpPr>
            <p:cNvPr id="12" name="矩形 11"/>
            <p:cNvSpPr/>
            <p:nvPr/>
          </p:nvSpPr>
          <p:spPr>
            <a:xfrm>
              <a:off x="11286669" y="5640179"/>
              <a:ext cx="266702" cy="66188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10642146" y="5828865"/>
              <a:ext cx="266702" cy="47642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0241641" y="5175723"/>
              <a:ext cx="266702" cy="112956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9675584" y="5974341"/>
              <a:ext cx="266702" cy="33094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139962" y="-1"/>
            <a:ext cx="11520000" cy="2053082"/>
            <a:chOff x="131974" y="-1"/>
            <a:chExt cx="11520000" cy="2053082"/>
          </a:xfrm>
        </p:grpSpPr>
        <p:grpSp>
          <p:nvGrpSpPr>
            <p:cNvPr id="19" name="组合 18"/>
            <p:cNvGrpSpPr/>
            <p:nvPr/>
          </p:nvGrpSpPr>
          <p:grpSpPr>
            <a:xfrm>
              <a:off x="131974" y="-1"/>
              <a:ext cx="11520000" cy="1016152"/>
              <a:chOff x="131974" y="-1"/>
              <a:chExt cx="11520000" cy="1016152"/>
            </a:xfrm>
          </p:grpSpPr>
          <p:pic>
            <p:nvPicPr>
              <p:cNvPr id="22" name="图片 2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1974" y="-1"/>
                <a:ext cx="949477" cy="949477"/>
              </a:xfrm>
              <a:prstGeom prst="rect">
                <a:avLst/>
              </a:prstGeom>
            </p:spPr>
          </p:pic>
          <p:sp>
            <p:nvSpPr>
              <p:cNvPr id="23" name="矩形 22"/>
              <p:cNvSpPr/>
              <p:nvPr/>
            </p:nvSpPr>
            <p:spPr>
              <a:xfrm>
                <a:off x="131974" y="944151"/>
                <a:ext cx="11520000" cy="72000"/>
              </a:xfrm>
              <a:prstGeom prst="rect">
                <a:avLst/>
              </a:prstGeom>
              <a:solidFill>
                <a:srgbClr val="0070C0"/>
              </a:solidFill>
              <a:ln w="1270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4" name="标题 1"/>
              <p:cNvSpPr>
                <a:spLocks/>
              </p:cNvSpPr>
              <p:nvPr/>
            </p:nvSpPr>
            <p:spPr bwMode="auto">
              <a:xfrm>
                <a:off x="5865536" y="312428"/>
                <a:ext cx="5786438" cy="533400"/>
              </a:xfrm>
              <a:prstGeom prst="rect">
                <a:avLst/>
              </a:prstGeom>
              <a:noFill/>
              <a:ln>
                <a:noFill/>
              </a:ln>
            </p:spPr>
            <p:txBody>
              <a:bodyPr anchor="b"/>
              <a:lstStyle/>
              <a:p>
                <a:pPr lvl="0" algn="r" defTabSz="914400" eaLnBrk="0" fontAlgn="base" hangingPunct="0">
                  <a:spcBef>
                    <a:spcPct val="0"/>
                  </a:spcBef>
                  <a:spcAft>
                    <a:spcPct val="0"/>
                  </a:spcAft>
                  <a:defRPr/>
                </a:pPr>
                <a:r>
                  <a:rPr kumimoji="1" lang="en-US" altLang="zh-CN" sz="4000" b="1" dirty="0" err="1">
                    <a:solidFill>
                      <a:srgbClr val="002060"/>
                    </a:solidFill>
                    <a:effectLst>
                      <a:outerShdw blurRad="38100" dist="38100" dir="2700000" algn="tl">
                        <a:srgbClr val="C0C0C0"/>
                      </a:outerShdw>
                    </a:effectLst>
                    <a:latin typeface="Tahoma" pitchFamily="34" charset="0"/>
                    <a:ea typeface="黑体" pitchFamily="2" charset="-122"/>
                  </a:rPr>
                  <a:t>jclouds</a:t>
                </a:r>
                <a:r>
                  <a:rPr kumimoji="1" lang="en-US" altLang="zh-CN" sz="4000" b="1" dirty="0">
                    <a:solidFill>
                      <a:srgbClr val="002060"/>
                    </a:solidFill>
                    <a:effectLst>
                      <a:outerShdw blurRad="38100" dist="38100" dir="2700000" algn="tl">
                        <a:srgbClr val="C0C0C0"/>
                      </a:outerShdw>
                    </a:effectLst>
                    <a:latin typeface="Tahoma" pitchFamily="34" charset="0"/>
                    <a:ea typeface="黑体" pitchFamily="2" charset="-122"/>
                  </a:rPr>
                  <a:t>-swift</a:t>
                </a:r>
                <a:r>
                  <a:rPr kumimoji="1" lang="zh-CN" altLang="en-US" sz="4000" b="1" dirty="0">
                    <a:solidFill>
                      <a:srgbClr val="002060"/>
                    </a:solidFill>
                    <a:effectLst>
                      <a:outerShdw blurRad="38100" dist="38100" dir="2700000" algn="tl">
                        <a:srgbClr val="C0C0C0"/>
                      </a:outerShdw>
                    </a:effectLst>
                    <a:latin typeface="Tahoma" pitchFamily="34" charset="0"/>
                    <a:ea typeface="黑体" pitchFamily="2" charset="-122"/>
                  </a:rPr>
                  <a:t>编程</a:t>
                </a:r>
              </a:p>
            </p:txBody>
          </p:sp>
        </p:grpSp>
        <p:sp>
          <p:nvSpPr>
            <p:cNvPr id="20" name="文本框 19"/>
            <p:cNvSpPr txBox="1"/>
            <p:nvPr/>
          </p:nvSpPr>
          <p:spPr>
            <a:xfrm>
              <a:off x="606712" y="1080539"/>
              <a:ext cx="1330814" cy="523220"/>
            </a:xfrm>
            <a:prstGeom prst="rect">
              <a:avLst/>
            </a:prstGeom>
            <a:noFill/>
          </p:spPr>
          <p:txBody>
            <a:bodyPr wrap="none" rtlCol="0">
              <a:spAutoFit/>
            </a:bodyPr>
            <a:lstStyle/>
            <a:p>
              <a:pPr marL="342900" indent="-342900" defTabSz="914400">
                <a:buClr>
                  <a:srgbClr val="0070C0"/>
                </a:buClr>
                <a:buFont typeface="Wingdings" panose="05000000000000000000" pitchFamily="2" charset="2"/>
                <a:buChar char="p"/>
              </a:pP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Swift</a:t>
              </a:r>
              <a:endPar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1" name="文本框 20"/>
            <p:cNvSpPr txBox="1"/>
            <p:nvPr/>
          </p:nvSpPr>
          <p:spPr>
            <a:xfrm>
              <a:off x="612896" y="1591416"/>
              <a:ext cx="2826415" cy="461665"/>
            </a:xfrm>
            <a:prstGeom prst="rect">
              <a:avLst/>
            </a:prstGeom>
            <a:noFill/>
          </p:spPr>
          <p:txBody>
            <a:bodyPr wrap="none" rtlCol="0">
              <a:spAutoFit/>
            </a:bodyPr>
            <a:lstStyle/>
            <a:p>
              <a:pPr marL="342900" lvl="0" indent="-342900" defTabSz="914400">
                <a:buClr>
                  <a:srgbClr val="0070C0"/>
                </a:buClr>
                <a:buSzPct val="80000"/>
                <a:buFont typeface="Wingdings" panose="05000000000000000000" pitchFamily="2" charset="2"/>
                <a:buChar char="p"/>
              </a:pPr>
              <a:r>
                <a:rPr lang="en-US" altLang="zh-CN" b="1" dirty="0" err="1">
                  <a:latin typeface="Times New Roman" panose="02020603050405020304" pitchFamily="18" charset="0"/>
                  <a:ea typeface="黑体" panose="02010609060101010101" pitchFamily="49" charset="-122"/>
                  <a:cs typeface="Times New Roman" panose="02020603050405020304" pitchFamily="18" charset="0"/>
                </a:rPr>
                <a:t>jclouds</a:t>
              </a:r>
              <a:r>
                <a:rPr lang="en-US" altLang="zh-CN" b="1" dirty="0">
                  <a:latin typeface="Times New Roman" panose="02020603050405020304" pitchFamily="18" charset="0"/>
                  <a:ea typeface="黑体" panose="02010609060101010101" pitchFamily="49" charset="-122"/>
                  <a:cs typeface="Times New Roman" panose="02020603050405020304" pitchFamily="18" charset="0"/>
                </a:rPr>
                <a:t>-swift</a:t>
              </a:r>
              <a:r>
                <a:rPr lang="zh-CN" altLang="en-US" b="1" dirty="0">
                  <a:latin typeface="Times New Roman" panose="02020603050405020304" pitchFamily="18" charset="0"/>
                  <a:ea typeface="黑体" panose="02010609060101010101" pitchFamily="49" charset="-122"/>
                  <a:cs typeface="Times New Roman" panose="02020603050405020304" pitchFamily="18" charset="0"/>
                </a:rPr>
                <a:t>编程</a:t>
              </a:r>
              <a:endParaRPr lang="zh-CN" altLang="en-US" sz="2800" b="1" dirty="0">
                <a:latin typeface="Times New Roman" panose="02020603050405020304" pitchFamily="18" charset="0"/>
                <a:ea typeface="黑体" panose="02010609060101010101" pitchFamily="49" charset="-122"/>
                <a:cs typeface="Times New Roman" panose="02020603050405020304" pitchFamily="18" charset="0"/>
              </a:endParaRPr>
            </a:p>
          </p:txBody>
        </p:sp>
      </p:grpSp>
    </p:spTree>
    <p:extLst>
      <p:ext uri="{BB962C8B-B14F-4D97-AF65-F5344CB8AC3E}">
        <p14:creationId xmlns:p14="http://schemas.microsoft.com/office/powerpoint/2010/main" val="308524590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3769" y="0"/>
            <a:ext cx="949697" cy="949697"/>
          </a:xfrm>
          <a:prstGeom prst="rect">
            <a:avLst/>
          </a:prstGeom>
        </p:spPr>
      </p:pic>
      <p:sp>
        <p:nvSpPr>
          <p:cNvPr id="6" name="矩形 5"/>
          <p:cNvSpPr/>
          <p:nvPr/>
        </p:nvSpPr>
        <p:spPr>
          <a:xfrm>
            <a:off x="133768" y="944370"/>
            <a:ext cx="11522667" cy="72017"/>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583"/>
            <a:endParaRPr lang="zh-CN" altLang="en-US" sz="1800">
              <a:solidFill>
                <a:prstClr val="white"/>
              </a:solidFill>
              <a:latin typeface="等线" panose="020F0502020204030204"/>
              <a:ea typeface="等线" panose="02010600030101010101" pitchFamily="2" charset="-122"/>
            </a:endParaRPr>
          </a:p>
        </p:txBody>
      </p:sp>
      <p:sp>
        <p:nvSpPr>
          <p:cNvPr id="8" name="TextBox 7"/>
          <p:cNvSpPr txBox="1">
            <a:spLocks noChangeArrowheads="1"/>
          </p:cNvSpPr>
          <p:nvPr/>
        </p:nvSpPr>
        <p:spPr bwMode="auto">
          <a:xfrm>
            <a:off x="1822222" y="1960757"/>
            <a:ext cx="8145760" cy="1632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342969" indent="-342969" algn="ctr" defTabSz="914583" eaLnBrk="1" hangingPunct="1">
              <a:spcBef>
                <a:spcPct val="20000"/>
              </a:spcBef>
              <a:buClr>
                <a:srgbClr val="0563C1"/>
              </a:buClr>
              <a:buSzPct val="70000"/>
            </a:pPr>
            <a:r>
              <a:rPr lang="en-US" altLang="zh-CN" sz="10002" dirty="0">
                <a:solidFill>
                  <a:srgbClr val="002060"/>
                </a:solidFill>
                <a:latin typeface="Times New Roman" pitchFamily="18" charset="0"/>
                <a:ea typeface="黑体" pitchFamily="49" charset="-122"/>
                <a:cs typeface="Times New Roman" pitchFamily="18" charset="0"/>
              </a:rPr>
              <a:t>Thanks!</a:t>
            </a:r>
            <a:endParaRPr lang="zh-CN" altLang="en-US" sz="10002" dirty="0">
              <a:solidFill>
                <a:srgbClr val="002060"/>
              </a:solidFill>
              <a:latin typeface="Times New Roman" pitchFamily="18" charset="0"/>
              <a:ea typeface="黑体" pitchFamily="49" charset="-122"/>
              <a:cs typeface="Times New Roman" pitchFamily="18" charset="0"/>
            </a:endParaRPr>
          </a:p>
        </p:txBody>
      </p:sp>
    </p:spTree>
    <p:extLst>
      <p:ext uri="{BB962C8B-B14F-4D97-AF65-F5344CB8AC3E}">
        <p14:creationId xmlns:p14="http://schemas.microsoft.com/office/powerpoint/2010/main" val="37653332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4"/>
</p:tagLst>
</file>

<file path=ppt/tags/tag2.xml><?xml version="1.0" encoding="utf-8"?>
<p:tagLst xmlns:a="http://schemas.openxmlformats.org/drawingml/2006/main" xmlns:r="http://schemas.openxmlformats.org/officeDocument/2006/relationships" xmlns:p="http://schemas.openxmlformats.org/presentationml/2006/main">
  <p:tag name="TIMING" val="|3.4"/>
</p:tagLst>
</file>

<file path=ppt/tags/tag3.xml><?xml version="1.0" encoding="utf-8"?>
<p:tagLst xmlns:a="http://schemas.openxmlformats.org/drawingml/2006/main" xmlns:r="http://schemas.openxmlformats.org/officeDocument/2006/relationships" xmlns:p="http://schemas.openxmlformats.org/presentationml/2006/main">
  <p:tag name="TIMING" val="|3.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常用">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4354</TotalTime>
  <Words>5174</Words>
  <Application>Microsoft Office PowerPoint</Application>
  <PresentationFormat>自定义</PresentationFormat>
  <Paragraphs>385</Paragraphs>
  <Slides>51</Slides>
  <Notes>3</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51</vt:i4>
      </vt:variant>
    </vt:vector>
  </HeadingPairs>
  <TitlesOfParts>
    <vt:vector size="61" baseType="lpstr">
      <vt:lpstr>等线</vt:lpstr>
      <vt:lpstr>华文行楷</vt:lpstr>
      <vt:lpstr>华文新魏</vt:lpstr>
      <vt:lpstr>微软雅黑</vt:lpstr>
      <vt:lpstr>Arial</vt:lpstr>
      <vt:lpstr>Tahoma</vt:lpstr>
      <vt:lpstr>Times New Roman</vt:lpstr>
      <vt:lpstr>Wingdings</vt:lpstr>
      <vt:lpstr>Office Theme</vt:lpstr>
      <vt:lpstr>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CAP理论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siri</dc:creator>
  <cp:lastModifiedBy>lenovo</cp:lastModifiedBy>
  <cp:revision>236</cp:revision>
  <dcterms:created xsi:type="dcterms:W3CDTF">2006-08-16T00:00:00Z</dcterms:created>
  <dcterms:modified xsi:type="dcterms:W3CDTF">2019-09-15T14:23:29Z</dcterms:modified>
</cp:coreProperties>
</file>
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2"/>
  </p:notesMasterIdLst>
  <p:sldIdLst>
    <p:sldId id="567" r:id="rId2"/>
    <p:sldId id="554" r:id="rId3"/>
    <p:sldId id="555" r:id="rId4"/>
    <p:sldId id="556" r:id="rId5"/>
    <p:sldId id="557" r:id="rId6"/>
    <p:sldId id="558" r:id="rId7"/>
    <p:sldId id="261" r:id="rId8"/>
    <p:sldId id="262" r:id="rId9"/>
    <p:sldId id="559" r:id="rId10"/>
    <p:sldId id="560" r:id="rId11"/>
    <p:sldId id="561" r:id="rId12"/>
    <p:sldId id="562" r:id="rId13"/>
    <p:sldId id="563" r:id="rId14"/>
    <p:sldId id="564" r:id="rId15"/>
    <p:sldId id="269" r:id="rId16"/>
    <p:sldId id="270" r:id="rId17"/>
    <p:sldId id="271" r:id="rId18"/>
    <p:sldId id="273" r:id="rId19"/>
    <p:sldId id="565" r:id="rId20"/>
    <p:sldId id="566" r:id="rId21"/>
    <p:sldId id="512" r:id="rId22"/>
    <p:sldId id="574" r:id="rId23"/>
    <p:sldId id="513" r:id="rId24"/>
    <p:sldId id="514" r:id="rId25"/>
    <p:sldId id="516" r:id="rId26"/>
    <p:sldId id="517" r:id="rId27"/>
    <p:sldId id="515" r:id="rId28"/>
    <p:sldId id="518" r:id="rId29"/>
    <p:sldId id="519" r:id="rId30"/>
    <p:sldId id="520" r:id="rId31"/>
    <p:sldId id="521" r:id="rId32"/>
    <p:sldId id="522" r:id="rId33"/>
    <p:sldId id="524" r:id="rId34"/>
    <p:sldId id="523" r:id="rId35"/>
    <p:sldId id="570" r:id="rId36"/>
    <p:sldId id="571" r:id="rId37"/>
    <p:sldId id="572" r:id="rId38"/>
    <p:sldId id="542" r:id="rId39"/>
    <p:sldId id="569" r:id="rId40"/>
    <p:sldId id="568" r:id="rId41"/>
    <p:sldId id="575" r:id="rId42"/>
    <p:sldId id="525" r:id="rId43"/>
    <p:sldId id="576" r:id="rId44"/>
    <p:sldId id="527" r:id="rId45"/>
    <p:sldId id="528" r:id="rId46"/>
    <p:sldId id="533" r:id="rId47"/>
    <p:sldId id="529" r:id="rId48"/>
    <p:sldId id="552" r:id="rId49"/>
    <p:sldId id="257" r:id="rId50"/>
    <p:sldId id="310" r:id="rId51"/>
    <p:sldId id="256" r:id="rId52"/>
    <p:sldId id="258" r:id="rId53"/>
    <p:sldId id="259" r:id="rId54"/>
    <p:sldId id="260" r:id="rId55"/>
    <p:sldId id="312" r:id="rId56"/>
    <p:sldId id="263" r:id="rId57"/>
    <p:sldId id="264" r:id="rId58"/>
    <p:sldId id="265" r:id="rId59"/>
    <p:sldId id="266" r:id="rId60"/>
    <p:sldId id="267" r:id="rId61"/>
    <p:sldId id="313" r:id="rId62"/>
    <p:sldId id="268" r:id="rId63"/>
    <p:sldId id="274" r:id="rId64"/>
    <p:sldId id="275" r:id="rId65"/>
    <p:sldId id="573" r:id="rId66"/>
    <p:sldId id="276" r:id="rId67"/>
    <p:sldId id="277" r:id="rId68"/>
    <p:sldId id="279" r:id="rId69"/>
    <p:sldId id="285" r:id="rId70"/>
    <p:sldId id="290" r:id="rId7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 varScale="1">
        <p:scale>
          <a:sx n="75" d="100"/>
          <a:sy n="75" d="100"/>
        </p:scale>
        <p:origin x="3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DD5DC-F287-469C-895E-63CBBF673430}" type="datetimeFigureOut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1E8C2A-98F4-4154-912A-08250D38BA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461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BC578-C80E-4277-8554-991D486C4B00}" type="datetime1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163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B7C29-29C7-47C3-9738-821D00ADB8F3}" type="datetime1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734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76DB4D-E2FD-4A35-9442-7BF9BCC1A929}" type="datetime1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012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ED321-427C-4B71-BECD-5CEB6F30D72B}" type="datetime1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482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3628-D756-495A-AA73-4708EB11C13A}" type="datetime1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745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EC6E1C-7B1E-4172-B7C2-53060169A88E}" type="datetime1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67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62A34-79C0-408E-BDF8-5D834C7F2C22}" type="datetime1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967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F08EA-52E5-4495-9869-B30A64AC624C}" type="datetime1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4261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CB4A4E-259D-40CF-8676-A5898CCD96A8}" type="datetime1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033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FEE4A-4807-40E2-8908-0A3250A1B928}" type="datetime1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2015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5087D-FB75-423E-93DE-AD8BFAE5FFC3}" type="datetime1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037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C5333-A2AD-421C-83B0-E7A53F98053A}" type="datetime1">
              <a:rPr lang="zh-CN" altLang="en-US" smtClean="0"/>
              <a:t>2024/4/30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E1DBE-7C5B-4B8B-9859-1752495D76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79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570326" y="2216472"/>
            <a:ext cx="2287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基础</a:t>
            </a:r>
            <a:endParaRPr lang="en-US" altLang="zh-CN" sz="3600" b="1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4339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590FFFEE-07AE-4F98-AC01-B16B060869E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143250" y="2565400"/>
            <a:ext cx="6146800" cy="1485900"/>
          </a:xfrm>
        </p:spPr>
        <p:txBody>
          <a:bodyPr/>
          <a:lstStyle/>
          <a:p>
            <a:r>
              <a:rPr lang="en-US" altLang="zh-CN" sz="4000"/>
              <a:t>SSH</a:t>
            </a:r>
            <a:r>
              <a:rPr lang="zh-CN" altLang="en-US" sz="4000"/>
              <a:t>远程登录服务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1049A97-A7E9-41FB-8B71-38D20F0F4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</a:rPr>
              <a:t>SSH</a:t>
            </a:r>
            <a:r>
              <a:rPr lang="zh-CN" altLang="en-US">
                <a:solidFill>
                  <a:schemeClr val="tx1"/>
                </a:solidFill>
              </a:rPr>
              <a:t>的起源与原理 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C1F965A-440D-423E-9F13-97FF2E6DB7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/>
              <a:t>SSH</a:t>
            </a:r>
            <a:r>
              <a:rPr lang="zh-CN" altLang="en-US"/>
              <a:t>（</a:t>
            </a:r>
            <a:r>
              <a:rPr lang="en-US" altLang="zh-CN"/>
              <a:t>Secure SHell</a:t>
            </a:r>
            <a:r>
              <a:rPr lang="zh-CN" altLang="en-US"/>
              <a:t>），实现了与</a:t>
            </a:r>
            <a:r>
              <a:rPr lang="en-US" altLang="zh-CN"/>
              <a:t>Telnet</a:t>
            </a:r>
            <a:r>
              <a:rPr lang="zh-CN" altLang="en-US"/>
              <a:t>服务类似的远程登录功能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/>
              <a:t>SSH</a:t>
            </a:r>
            <a:r>
              <a:rPr lang="zh-CN" altLang="en-US"/>
              <a:t>协议在网络中使用密文传输数据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/>
              <a:t>SSH</a:t>
            </a:r>
            <a:r>
              <a:rPr lang="zh-CN" altLang="en-US"/>
              <a:t>服务器中还支持使用</a:t>
            </a:r>
            <a:r>
              <a:rPr lang="en-US" altLang="zh-CN"/>
              <a:t>scp</a:t>
            </a:r>
            <a:r>
              <a:rPr lang="zh-CN" altLang="en-US"/>
              <a:t>和</a:t>
            </a:r>
            <a:r>
              <a:rPr lang="en-US" altLang="zh-CN"/>
              <a:t>sftp</a:t>
            </a:r>
            <a:r>
              <a:rPr lang="zh-CN" altLang="en-US"/>
              <a:t>等客户端程序进行远程主机的文件复制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EDD0284-E8C3-4A2E-AA65-025F104DF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D868C-AB32-42F5-AE50-1DD2A65C2AC7}" type="datetime1">
              <a:rPr lang="zh-CN" altLang="en-US" smtClean="0"/>
              <a:t>2024/4/30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4F6C60F-4F1D-4B3D-A761-95EA59C64C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chemeClr val="tx1"/>
                </a:solidFill>
              </a:rPr>
              <a:t>SSH</a:t>
            </a:r>
            <a:r>
              <a:rPr lang="zh-CN" altLang="en-US">
                <a:solidFill>
                  <a:schemeClr val="tx1"/>
                </a:solidFill>
              </a:rPr>
              <a:t>的认证方式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38472CC9-F810-4B49-A9BF-B8EA9E59FD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/>
              <a:t>SSH</a:t>
            </a:r>
            <a:r>
              <a:rPr lang="zh-CN" altLang="en-US"/>
              <a:t>协议提供两种用户认证方式</a:t>
            </a:r>
          </a:p>
          <a:p>
            <a:pPr lvl="1"/>
            <a:r>
              <a:rPr lang="zh-CN" altLang="en-US"/>
              <a:t>基于口令的安全认证 </a:t>
            </a:r>
          </a:p>
          <a:p>
            <a:pPr lvl="2"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/>
              <a:t>与</a:t>
            </a:r>
            <a:r>
              <a:rPr lang="en-US" altLang="zh-CN"/>
              <a:t>telnet</a:t>
            </a:r>
            <a:r>
              <a:rPr lang="zh-CN" altLang="en-US"/>
              <a:t>类似，提供正确的用户口令后可以登录远程服务器</a:t>
            </a:r>
          </a:p>
          <a:p>
            <a:pPr lvl="1"/>
            <a:r>
              <a:rPr lang="zh-CN" altLang="en-US"/>
              <a:t>基于密钥的安全认证 </a:t>
            </a:r>
          </a:p>
          <a:p>
            <a:pPr lvl="2"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/>
              <a:t>使用公钥和私钥对的方式对用户进行认证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BA3CAC-1543-49DC-AF0A-1BA080AA4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563F-7C0C-4723-9488-462CD56A8ADF}" type="datetime1">
              <a:rPr lang="zh-CN" altLang="en-US" smtClean="0"/>
              <a:t>2024/4/30</a:t>
            </a:fld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BE98B3E-A2F1-406E-BFCA-927720CEBD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SSH</a:t>
            </a:r>
            <a:r>
              <a:rPr lang="zh-CN" altLang="en-US">
                <a:solidFill>
                  <a:srgbClr val="0000FF"/>
                </a:solidFill>
              </a:rPr>
              <a:t>密钥认证的原理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BFFA62C5-53A3-46BE-B273-BA22A528B0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850" y="1597025"/>
            <a:ext cx="8229600" cy="4495800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/>
              <a:t>SSH</a:t>
            </a:r>
            <a:r>
              <a:rPr lang="zh-CN" altLang="en-US"/>
              <a:t>服务中使用密钥进行用户认证</a:t>
            </a:r>
          </a:p>
        </p:txBody>
      </p:sp>
      <p:pic>
        <p:nvPicPr>
          <p:cNvPr id="5124" name="Picture 4" descr="2002">
            <a:extLst>
              <a:ext uri="{FF2B5EF4-FFF2-40B4-BE49-F238E27FC236}">
                <a16:creationId xmlns:a16="http://schemas.microsoft.com/office/drawing/2014/main" id="{5128EFFD-9593-44A8-AE36-A9CFB2040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840"/>
          <a:stretch>
            <a:fillRect/>
          </a:stretch>
        </p:blipFill>
        <p:spPr bwMode="auto">
          <a:xfrm>
            <a:off x="1919288" y="2420938"/>
            <a:ext cx="6553200" cy="3352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5" name="AutoShape 5">
            <a:extLst>
              <a:ext uri="{FF2B5EF4-FFF2-40B4-BE49-F238E27FC236}">
                <a16:creationId xmlns:a16="http://schemas.microsoft.com/office/drawing/2014/main" id="{02F5FE3D-3896-41ED-884A-28DFDCAAE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5" y="2265067"/>
            <a:ext cx="1873250" cy="1048345"/>
          </a:xfrm>
          <a:prstGeom prst="foldedCorner">
            <a:avLst>
              <a:gd name="adj" fmla="val 12500"/>
            </a:avLst>
          </a:prstGeom>
          <a:solidFill>
            <a:schemeClr val="bg2"/>
          </a:solidFill>
          <a:ln>
            <a:noFill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666699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b="1">
                <a:latin typeface="Arial" panose="020B0604020202020204" pitchFamily="34" charset="0"/>
              </a:rPr>
              <a:t>每个用户都需要生成自己的公钥和私钥对文件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126" name="AutoShape 6">
            <a:extLst>
              <a:ext uri="{FF2B5EF4-FFF2-40B4-BE49-F238E27FC236}">
                <a16:creationId xmlns:a16="http://schemas.microsoft.com/office/drawing/2014/main" id="{24ACFC42-DF34-4F3B-A620-98302B95B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5209879"/>
            <a:ext cx="1873250" cy="1048345"/>
          </a:xfrm>
          <a:prstGeom prst="foldedCorner">
            <a:avLst>
              <a:gd name="adj" fmla="val 12500"/>
            </a:avLst>
          </a:prstGeom>
          <a:solidFill>
            <a:schemeClr val="bg2"/>
          </a:solidFill>
          <a:ln>
            <a:noFill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666699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b="1">
                <a:latin typeface="Arial" panose="020B0604020202020204" pitchFamily="34" charset="0"/>
              </a:rPr>
              <a:t>用户的公钥文件需要保存在</a:t>
            </a:r>
            <a:r>
              <a:rPr lang="en-US" altLang="zh-CN" b="1">
                <a:latin typeface="Arial" panose="020B0604020202020204" pitchFamily="34" charset="0"/>
              </a:rPr>
              <a:t>SSH</a:t>
            </a:r>
            <a:r>
              <a:rPr lang="zh-CN" altLang="en-US" b="1">
                <a:latin typeface="Arial" panose="020B0604020202020204" pitchFamily="34" charset="0"/>
              </a:rPr>
              <a:t>服务器主机中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127" name="AutoShape 7">
            <a:extLst>
              <a:ext uri="{FF2B5EF4-FFF2-40B4-BE49-F238E27FC236}">
                <a16:creationId xmlns:a16="http://schemas.microsoft.com/office/drawing/2014/main" id="{F64FA60D-466B-4973-88A8-8B4292461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5" y="4489154"/>
            <a:ext cx="1873250" cy="1048345"/>
          </a:xfrm>
          <a:prstGeom prst="foldedCorner">
            <a:avLst>
              <a:gd name="adj" fmla="val 12500"/>
            </a:avLst>
          </a:prstGeom>
          <a:solidFill>
            <a:schemeClr val="bg2"/>
          </a:solidFill>
          <a:ln>
            <a:noFill/>
          </a:ln>
          <a:effectLst>
            <a:prstShdw prst="shdw17" dist="17961" dir="2700000">
              <a:schemeClr val="bg2">
                <a:gamma/>
                <a:shade val="60000"/>
                <a:invGamma/>
              </a:schemeClr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rgbClr val="666699"/>
                </a:solidFill>
                <a:round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b="1">
                <a:latin typeface="Arial" panose="020B0604020202020204" pitchFamily="34" charset="0"/>
              </a:rPr>
              <a:t>用户私钥文件保存在</a:t>
            </a:r>
            <a:r>
              <a:rPr lang="en-US" altLang="zh-CN" b="1">
                <a:latin typeface="Arial" panose="020B0604020202020204" pitchFamily="34" charset="0"/>
              </a:rPr>
              <a:t>SSH</a:t>
            </a:r>
            <a:r>
              <a:rPr lang="zh-CN" altLang="en-US" b="1">
                <a:latin typeface="Arial" panose="020B0604020202020204" pitchFamily="34" charset="0"/>
              </a:rPr>
              <a:t>客户端主机中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D28EE5-B0C1-4BC7-991B-EBDAD1747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97A5-E9BB-450E-A450-41AD08E494D5}" type="datetime1">
              <a:rPr lang="zh-CN" altLang="en-US" smtClean="0"/>
              <a:t>2024/4/30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 animBg="1"/>
      <p:bldP spid="5125" grpId="1" animBg="1"/>
      <p:bldP spid="5126" grpId="0" animBg="1"/>
      <p:bldP spid="5126" grpId="1" animBg="1"/>
      <p:bldP spid="51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6F7484B-4F9D-457A-BE88-2399C87CE2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OpenSSH</a:t>
            </a:r>
            <a:r>
              <a:rPr lang="zh-CN" altLang="en-US">
                <a:solidFill>
                  <a:srgbClr val="0000FF"/>
                </a:solidFill>
              </a:rPr>
              <a:t>服务器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722CD72-DFFC-4D6A-82EC-DD8D8C25EC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4826" y="1600201"/>
            <a:ext cx="8435975" cy="4708525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/>
              <a:t>OpenSSH</a:t>
            </a:r>
            <a:r>
              <a:rPr lang="zh-CN" altLang="en-US"/>
              <a:t>是著名的开源软件项目 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endParaRPr lang="zh-CN" altLang="en-US"/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/>
              <a:t>OpenSSH</a:t>
            </a:r>
            <a:r>
              <a:rPr lang="zh-CN" altLang="en-US"/>
              <a:t>是</a:t>
            </a:r>
            <a:r>
              <a:rPr lang="en-US" altLang="zh-CN"/>
              <a:t>SSH</a:t>
            </a:r>
            <a:r>
              <a:rPr lang="zh-CN" altLang="en-US"/>
              <a:t>协议的免费实现版本 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endParaRPr lang="zh-CN" altLang="en-US"/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/>
              <a:t>OpenSSH</a:t>
            </a:r>
            <a:r>
              <a:rPr lang="zh-CN" altLang="en-US"/>
              <a:t>可应用于大多数</a:t>
            </a:r>
            <a:r>
              <a:rPr lang="en-US" altLang="zh-CN"/>
              <a:t>UNIX</a:t>
            </a:r>
            <a:r>
              <a:rPr lang="zh-CN" altLang="en-US"/>
              <a:t>系统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endParaRPr lang="zh-CN" altLang="en-US"/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/>
              <a:t>绝大多数</a:t>
            </a:r>
            <a:r>
              <a:rPr lang="en-US" altLang="zh-CN"/>
              <a:t>Linux</a:t>
            </a:r>
            <a:r>
              <a:rPr lang="zh-CN" altLang="en-US"/>
              <a:t>发行版本都采用</a:t>
            </a:r>
            <a:r>
              <a:rPr lang="en-US" altLang="zh-CN"/>
              <a:t>OpenSSH</a:t>
            </a:r>
            <a:r>
              <a:rPr lang="zh-CN" altLang="en-US"/>
              <a:t>作为</a:t>
            </a:r>
            <a:r>
              <a:rPr lang="en-US" altLang="zh-CN"/>
              <a:t>SSH</a:t>
            </a:r>
            <a:r>
              <a:rPr lang="zh-CN" altLang="en-US"/>
              <a:t>服务器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403F393-352A-4B2E-92E9-C14326851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F6183-65CE-40A4-BCE1-7F8402C22CEC}" type="datetime1">
              <a:rPr lang="zh-CN" altLang="en-US" smtClean="0"/>
              <a:t>2024/4/30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23EA592-9922-46E4-9F83-BA3F47152C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8"/>
            <a:ext cx="8243887" cy="1022350"/>
          </a:xfrm>
        </p:spPr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OpenSSH</a:t>
            </a:r>
            <a:r>
              <a:rPr lang="zh-CN" altLang="en-US">
                <a:solidFill>
                  <a:srgbClr val="0000FF"/>
                </a:solidFill>
              </a:rPr>
              <a:t>的软件包组成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61340AF1-BE1A-4772-910E-7F6E4B0788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/>
              <a:t>RHEL4</a:t>
            </a:r>
            <a:r>
              <a:rPr lang="zh-CN" altLang="en-US"/>
              <a:t>系统中</a:t>
            </a:r>
            <a:r>
              <a:rPr lang="en-US" altLang="zh-CN"/>
              <a:t>OpenSSH</a:t>
            </a:r>
            <a:r>
              <a:rPr lang="zh-CN" altLang="en-US"/>
              <a:t>服务器和客户端软件是默认安装的 </a:t>
            </a:r>
          </a:p>
          <a:p>
            <a:pPr lvl="1"/>
            <a:r>
              <a:rPr lang="en-US" altLang="zh-CN"/>
              <a:t>openssh</a:t>
            </a:r>
            <a:r>
              <a:rPr lang="zh-CN" altLang="en-US"/>
              <a:t>软件包是实现</a:t>
            </a:r>
            <a:r>
              <a:rPr lang="en-US" altLang="zh-CN"/>
              <a:t>ssh</a:t>
            </a:r>
            <a:r>
              <a:rPr lang="zh-CN" altLang="en-US"/>
              <a:t>功能的公共软件包</a:t>
            </a:r>
          </a:p>
          <a:p>
            <a:pPr lvl="1"/>
            <a:r>
              <a:rPr lang="en-US" altLang="zh-CN"/>
              <a:t>openssh-server</a:t>
            </a:r>
            <a:r>
              <a:rPr lang="zh-CN" altLang="en-US"/>
              <a:t>软件包实现了</a:t>
            </a:r>
            <a:r>
              <a:rPr lang="en-US" altLang="zh-CN"/>
              <a:t>SSH</a:t>
            </a:r>
            <a:r>
              <a:rPr lang="zh-CN" altLang="en-US"/>
              <a:t>服务器的功能</a:t>
            </a:r>
          </a:p>
          <a:p>
            <a:pPr lvl="1"/>
            <a:r>
              <a:rPr lang="en-US" altLang="zh-CN"/>
              <a:t>openssh-clients</a:t>
            </a:r>
            <a:r>
              <a:rPr lang="zh-CN" altLang="en-US"/>
              <a:t>软件包中包含了</a:t>
            </a:r>
            <a:r>
              <a:rPr lang="en-US" altLang="zh-CN"/>
              <a:t>SSH</a:t>
            </a:r>
            <a:r>
              <a:rPr lang="zh-CN" altLang="en-US"/>
              <a:t>服务的客户端程序</a:t>
            </a:r>
          </a:p>
          <a:p>
            <a:pPr lvl="1"/>
            <a:r>
              <a:rPr lang="en-US" altLang="zh-CN"/>
              <a:t>openssh-askpass</a:t>
            </a:r>
            <a:r>
              <a:rPr lang="zh-CN" altLang="en-US"/>
              <a:t>和</a:t>
            </a:r>
            <a:r>
              <a:rPr lang="en-US" altLang="zh-CN"/>
              <a:t>openssh-askpass-gnome</a:t>
            </a:r>
            <a:r>
              <a:rPr lang="zh-CN" altLang="en-US"/>
              <a:t>只有在</a:t>
            </a:r>
            <a:r>
              <a:rPr lang="en-US" altLang="zh-CN"/>
              <a:t>Linux</a:t>
            </a:r>
            <a:r>
              <a:rPr lang="zh-CN" altLang="en-US"/>
              <a:t>的图形界面下使用</a:t>
            </a:r>
            <a:r>
              <a:rPr lang="en-US" altLang="zh-CN"/>
              <a:t>SSH</a:t>
            </a:r>
            <a:r>
              <a:rPr lang="zh-CN" altLang="en-US"/>
              <a:t>服务时才需要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46A6E8C-0BBC-4F16-93E7-B7C2B1D6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7B58-E7D8-4D83-8C69-484C4E586587}" type="datetime1">
              <a:rPr lang="zh-CN" altLang="en-US" smtClean="0"/>
              <a:t>2024/4/30</a:t>
            </a:fld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3D1701D-AB69-4C79-83E5-CACADDD882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OpenSSH</a:t>
            </a:r>
            <a:r>
              <a:rPr lang="zh-CN" altLang="en-US">
                <a:solidFill>
                  <a:srgbClr val="0000FF"/>
                </a:solidFill>
              </a:rPr>
              <a:t>服务的启动与停止 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A9F886F-361C-4308-AC1E-D621003FC0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dirty="0"/>
              <a:t>OpenSSH</a:t>
            </a:r>
            <a:r>
              <a:rPr lang="zh-CN" altLang="en-US" dirty="0"/>
              <a:t>的服务程序名称是</a:t>
            </a:r>
            <a:r>
              <a:rPr lang="en-US" altLang="zh-CN" dirty="0" err="1"/>
              <a:t>sshd</a:t>
            </a:r>
            <a:endParaRPr lang="en-US" altLang="zh-CN" dirty="0"/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dirty="0" err="1"/>
              <a:t>sshd</a:t>
            </a:r>
            <a:r>
              <a:rPr lang="zh-CN" altLang="en-US" dirty="0"/>
              <a:t>服务程序的启动脚本</a:t>
            </a:r>
          </a:p>
          <a:p>
            <a:pPr lvl="1">
              <a:buFontTx/>
              <a:buNone/>
            </a:pPr>
            <a:r>
              <a:rPr lang="fr-FR" altLang="zh-CN" b="1" dirty="0">
                <a:latin typeface="Courier New" panose="02070309020205020404" pitchFamily="49" charset="0"/>
              </a:rPr>
              <a:t>/etc/init.d/sshd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dirty="0" err="1"/>
              <a:t>sshd</a:t>
            </a:r>
            <a:r>
              <a:rPr lang="zh-CN" altLang="en-US" dirty="0"/>
              <a:t>服务程序缺省状态为自动启动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dirty="0" err="1"/>
              <a:t>sshd</a:t>
            </a:r>
            <a:r>
              <a:rPr lang="zh-CN" altLang="en-US" dirty="0"/>
              <a:t>服务的启动与停止</a:t>
            </a:r>
          </a:p>
          <a:p>
            <a:pPr lvl="1"/>
            <a:r>
              <a:rPr lang="zh-CN" altLang="en-US" dirty="0">
                <a:latin typeface="Courier New" panose="02070309020205020404" pitchFamily="49" charset="0"/>
              </a:rPr>
              <a:t>启动服务程序</a:t>
            </a: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service </a:t>
            </a:r>
            <a:r>
              <a:rPr lang="en-US" altLang="zh-CN" b="1" dirty="0" err="1">
                <a:latin typeface="Courier New" panose="02070309020205020404" pitchFamily="49" charset="0"/>
              </a:rPr>
              <a:t>sshd</a:t>
            </a:r>
            <a:r>
              <a:rPr lang="en-US" altLang="zh-CN" b="1" dirty="0">
                <a:latin typeface="Courier New" panose="02070309020205020404" pitchFamily="49" charset="0"/>
              </a:rPr>
              <a:t> start</a:t>
            </a:r>
            <a:endParaRPr lang="en-US" altLang="zh-CN" dirty="0">
              <a:latin typeface="Courier New" panose="02070309020205020404" pitchFamily="49" charset="0"/>
            </a:endParaRPr>
          </a:p>
          <a:p>
            <a:pPr lvl="1"/>
            <a:r>
              <a:rPr lang="zh-CN" altLang="en-US" dirty="0">
                <a:latin typeface="Courier New" panose="02070309020205020404" pitchFamily="49" charset="0"/>
              </a:rPr>
              <a:t>停止服务程序</a:t>
            </a: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service </a:t>
            </a:r>
            <a:r>
              <a:rPr lang="en-US" altLang="zh-CN" b="1" dirty="0" err="1">
                <a:latin typeface="Courier New" panose="02070309020205020404" pitchFamily="49" charset="0"/>
              </a:rPr>
              <a:t>sshd</a:t>
            </a:r>
            <a:r>
              <a:rPr lang="en-US" altLang="zh-CN" b="1" dirty="0">
                <a:latin typeface="Courier New" panose="02070309020205020404" pitchFamily="49" charset="0"/>
              </a:rPr>
              <a:t> stop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76E8D2-FF1C-4F17-BD3C-B7C9B1D56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18167-52C8-4449-8DB8-A975F208D208}" type="datetime1">
              <a:rPr lang="zh-CN" altLang="en-US" smtClean="0"/>
              <a:t>2024/4/30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F620B4B7-E600-4552-B089-94C7AE679F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9"/>
            <a:ext cx="8243887" cy="1093787"/>
          </a:xfrm>
        </p:spPr>
        <p:txBody>
          <a:bodyPr/>
          <a:lstStyle/>
          <a:p>
            <a:r>
              <a:rPr lang="fr-FR" altLang="zh-CN">
                <a:solidFill>
                  <a:srgbClr val="0000FF"/>
                </a:solidFill>
              </a:rPr>
              <a:t>OpenSSH</a:t>
            </a:r>
            <a:r>
              <a:rPr lang="zh-CN" altLang="en-US">
                <a:solidFill>
                  <a:srgbClr val="0000FF"/>
                </a:solidFill>
              </a:rPr>
              <a:t>服务的配置文件 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9AC3A9D-1D6D-4724-8760-843EDBF94A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47850" y="1268414"/>
            <a:ext cx="8362950" cy="5184775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配置目录</a:t>
            </a:r>
          </a:p>
          <a:p>
            <a:pPr lvl="1"/>
            <a:r>
              <a:rPr lang="en-US" altLang="zh-CN" dirty="0"/>
              <a:t>OpenSSH</a:t>
            </a:r>
            <a:r>
              <a:rPr lang="zh-CN" altLang="en-US" dirty="0"/>
              <a:t>服务器和客户机的所有配置文件都保存在同一目录中</a:t>
            </a:r>
          </a:p>
          <a:p>
            <a:pPr lvl="2">
              <a:buFontTx/>
              <a:buNone/>
            </a:pPr>
            <a:r>
              <a:rPr lang="fr-FR" altLang="zh-CN" b="1" dirty="0">
                <a:latin typeface="Courier New" panose="02070309020205020404" pitchFamily="49" charset="0"/>
              </a:rPr>
              <a:t>/etc/ssh/ 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服务器配置文件</a:t>
            </a:r>
          </a:p>
          <a:p>
            <a:pPr lvl="1"/>
            <a:r>
              <a:rPr lang="en-US" altLang="zh-CN" dirty="0"/>
              <a:t>SSH</a:t>
            </a:r>
            <a:r>
              <a:rPr lang="zh-CN" altLang="en-US" dirty="0"/>
              <a:t>服务器的配置文件是</a:t>
            </a:r>
            <a:r>
              <a:rPr lang="en-US" altLang="zh-CN" dirty="0" err="1"/>
              <a:t>sshd_config</a:t>
            </a:r>
            <a:endParaRPr lang="en-US" altLang="zh-CN" dirty="0"/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etc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sshd_config</a:t>
            </a:r>
            <a:r>
              <a:rPr lang="en-US" altLang="zh-CN" b="1" dirty="0">
                <a:latin typeface="Courier New" panose="02070309020205020404" pitchFamily="49" charset="0"/>
              </a:rPr>
              <a:t> 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客户机配置文件</a:t>
            </a:r>
          </a:p>
          <a:p>
            <a:pPr lvl="1"/>
            <a:r>
              <a:rPr lang="en-US" altLang="zh-CN" dirty="0"/>
              <a:t>SSH</a:t>
            </a:r>
            <a:r>
              <a:rPr lang="zh-CN" altLang="en-US" dirty="0"/>
              <a:t>客户程序的配置文件是</a:t>
            </a:r>
            <a:r>
              <a:rPr lang="en-US" altLang="zh-CN" dirty="0" err="1"/>
              <a:t>ssh_config</a:t>
            </a:r>
            <a:endParaRPr lang="en-US" altLang="zh-CN" dirty="0"/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etc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ssh_config</a:t>
            </a:r>
            <a:r>
              <a:rPr lang="en-US" altLang="zh-CN" b="1" dirty="0">
                <a:latin typeface="Courier New" panose="02070309020205020404" pitchFamily="49" charset="0"/>
              </a:rPr>
              <a:t> </a:t>
            </a:r>
            <a:endParaRPr lang="en-US" altLang="zh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F14073-0077-4B4A-9FA4-A3B302BB2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A2376-AFB2-4CED-8EC7-6953592767EA}" type="datetime1">
              <a:rPr lang="zh-CN" altLang="en-US" smtClean="0"/>
              <a:t>2024/4/30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8F8E49C-BCE2-4E71-B742-C702756345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9"/>
            <a:ext cx="8243887" cy="949325"/>
          </a:xfrm>
        </p:spPr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OpenSSH</a:t>
            </a:r>
            <a:r>
              <a:rPr lang="zh-CN" altLang="fr-FR">
                <a:solidFill>
                  <a:srgbClr val="0000FF"/>
                </a:solidFill>
              </a:rPr>
              <a:t>的典型用户登录 </a:t>
            </a:r>
            <a:endParaRPr lang="zh-CN" altLang="en-US">
              <a:solidFill>
                <a:srgbClr val="0000FF"/>
              </a:solidFill>
            </a:endParaRP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C6ED771B-B1B0-4E9D-8D47-7788B87E9D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125539"/>
            <a:ext cx="8229600" cy="5183187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使用</a:t>
            </a:r>
            <a:r>
              <a:rPr lang="en-US" altLang="zh-CN" dirty="0" err="1"/>
              <a:t>ssh</a:t>
            </a:r>
            <a:r>
              <a:rPr lang="zh-CN" altLang="en-US" dirty="0"/>
              <a:t>命令登录</a:t>
            </a:r>
            <a:r>
              <a:rPr lang="en-US" altLang="zh-CN" dirty="0"/>
              <a:t>SSH</a:t>
            </a:r>
            <a:r>
              <a:rPr lang="zh-CN" altLang="en-US" dirty="0"/>
              <a:t>服务器</a:t>
            </a: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# 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 root@192.168.1.2</a:t>
            </a:r>
            <a:r>
              <a:rPr lang="en-US" altLang="zh-CN" dirty="0">
                <a:latin typeface="Courier New" panose="02070309020205020404" pitchFamily="49" charset="0"/>
              </a:rPr>
              <a:t> 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首次登录</a:t>
            </a:r>
            <a:r>
              <a:rPr lang="en-US" altLang="zh-CN" dirty="0"/>
              <a:t>SSH</a:t>
            </a:r>
            <a:r>
              <a:rPr lang="zh-CN" altLang="en-US" dirty="0"/>
              <a:t>服务器</a:t>
            </a:r>
          </a:p>
          <a:p>
            <a:pPr lvl="1"/>
            <a:r>
              <a:rPr lang="zh-CN" altLang="en-US" dirty="0"/>
              <a:t>为了建立加密的</a:t>
            </a:r>
            <a:r>
              <a:rPr lang="en-US" altLang="zh-CN" dirty="0"/>
              <a:t>SSH</a:t>
            </a:r>
            <a:r>
              <a:rPr lang="zh-CN" altLang="en-US" dirty="0"/>
              <a:t>连接需要用户在客户端确认服务器发来的</a:t>
            </a:r>
            <a:r>
              <a:rPr lang="en-US" altLang="zh-CN" dirty="0"/>
              <a:t>RSA</a:t>
            </a:r>
            <a:r>
              <a:rPr lang="zh-CN" altLang="en-US" dirty="0"/>
              <a:t>密钥 （输入</a:t>
            </a:r>
            <a:r>
              <a:rPr lang="en-US" altLang="zh-CN" dirty="0"/>
              <a:t>yes</a:t>
            </a:r>
            <a:r>
              <a:rPr lang="zh-CN" altLang="en-US" dirty="0"/>
              <a:t>）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用户认证</a:t>
            </a:r>
          </a:p>
          <a:p>
            <a:pPr lvl="1"/>
            <a:r>
              <a:rPr lang="zh-CN" altLang="en-US" dirty="0"/>
              <a:t>每次登录</a:t>
            </a:r>
            <a:r>
              <a:rPr lang="en-US" altLang="zh-CN" dirty="0"/>
              <a:t>SSH</a:t>
            </a:r>
            <a:r>
              <a:rPr lang="zh-CN" altLang="en-US" dirty="0"/>
              <a:t>服务器都需要输入正确的用户口令</a:t>
            </a:r>
          </a:p>
          <a:p>
            <a:pPr lvl="1"/>
            <a:r>
              <a:rPr lang="en-US" altLang="zh-CN" dirty="0"/>
              <a:t>SSH</a:t>
            </a:r>
            <a:r>
              <a:rPr lang="zh-CN" altLang="en-US" dirty="0"/>
              <a:t>登录使用的是</a:t>
            </a:r>
            <a:r>
              <a:rPr lang="en-US" altLang="zh-CN" dirty="0"/>
              <a:t>SSH</a:t>
            </a:r>
            <a:r>
              <a:rPr lang="zh-CN" altLang="en-US" dirty="0"/>
              <a:t>服务器主机中的用户帐号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CD2E5B3-BD7C-4736-9CEF-6AA2D6C9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EB84D-B0F4-4AB9-9250-8E4FCFF8F084}" type="datetime1">
              <a:rPr lang="zh-CN" altLang="en-US" smtClean="0"/>
              <a:t>2024/4/30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5939636-5116-4309-B0CE-B4F81FF221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8"/>
            <a:ext cx="8243887" cy="804862"/>
          </a:xfrm>
        </p:spPr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SSH</a:t>
            </a:r>
            <a:r>
              <a:rPr lang="zh-CN" altLang="en-US">
                <a:solidFill>
                  <a:srgbClr val="0000FF"/>
                </a:solidFill>
              </a:rPr>
              <a:t>的用户目录 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54F3633-3BCA-4067-8CCE-4EC4352774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125539"/>
            <a:ext cx="8229600" cy="4930775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.</a:t>
            </a:r>
            <a:r>
              <a:rPr lang="en-US" altLang="zh-CN" dirty="0" err="1"/>
              <a:t>ssh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目录</a:t>
            </a:r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SSH</a:t>
            </a:r>
            <a:r>
              <a:rPr lang="zh-CN" altLang="en-US" dirty="0"/>
              <a:t>客户主机的用户宿主目录中，使用名为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.</a:t>
            </a:r>
            <a:r>
              <a:rPr lang="en-US" altLang="zh-CN" dirty="0" err="1"/>
              <a:t>ssh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的目录保存用户的</a:t>
            </a:r>
            <a:r>
              <a:rPr lang="en-US" altLang="zh-CN" dirty="0"/>
              <a:t>SSH</a:t>
            </a:r>
            <a:r>
              <a:rPr lang="zh-CN" altLang="en-US" dirty="0"/>
              <a:t>客户端信息</a:t>
            </a: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~/.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/ 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.</a:t>
            </a:r>
            <a:r>
              <a:rPr lang="en-US" altLang="zh-CN" dirty="0" err="1"/>
              <a:t>ssh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目录在用户首次进行</a:t>
            </a:r>
            <a:r>
              <a:rPr lang="en-US" altLang="zh-CN" dirty="0"/>
              <a:t>SSH</a:t>
            </a:r>
            <a:r>
              <a:rPr lang="zh-CN" altLang="en-US" dirty="0"/>
              <a:t>登录后自动建立</a:t>
            </a:r>
            <a:endParaRPr lang="zh-CN" altLang="en-US" b="1" dirty="0">
              <a:latin typeface="Courier New" panose="02070309020205020404" pitchFamily="49" charset="0"/>
            </a:endParaRP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 err="1"/>
              <a:t>known_hosts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文件</a:t>
            </a:r>
          </a:p>
          <a:p>
            <a:pPr lvl="1"/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 err="1"/>
              <a:t>known_hosts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文件位于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.</a:t>
            </a:r>
            <a:r>
              <a:rPr lang="en-US" altLang="zh-CN" dirty="0" err="1"/>
              <a:t>ssh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目录中</a:t>
            </a:r>
          </a:p>
          <a:p>
            <a:pPr lvl="1"/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 err="1"/>
              <a:t>known_hosts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文件用于保存当前用户所有登录过的</a:t>
            </a:r>
            <a:r>
              <a:rPr lang="en-US" altLang="zh-CN" dirty="0"/>
              <a:t>SSH</a:t>
            </a:r>
            <a:r>
              <a:rPr lang="zh-CN" altLang="en-US" dirty="0"/>
              <a:t>服务器的</a:t>
            </a:r>
            <a:r>
              <a:rPr lang="en-US" altLang="zh-CN" dirty="0"/>
              <a:t>RSA</a:t>
            </a:r>
            <a:r>
              <a:rPr lang="zh-CN" altLang="en-US" dirty="0"/>
              <a:t>密钥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C490F73-498E-44F5-8B16-FC6DBBFC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6009-392D-4109-B8A0-FAF378007B58}" type="datetime1">
              <a:rPr lang="zh-CN" altLang="en-US" smtClean="0"/>
              <a:t>2024/4/30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93854F6-4957-432D-A7F6-269222F168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基于密钥的</a:t>
            </a:r>
            <a:r>
              <a:rPr lang="en-US" altLang="zh-CN">
                <a:solidFill>
                  <a:srgbClr val="0000FF"/>
                </a:solidFill>
              </a:rPr>
              <a:t>SSH</a:t>
            </a:r>
            <a:r>
              <a:rPr lang="zh-CN" altLang="en-US">
                <a:solidFill>
                  <a:srgbClr val="0000FF"/>
                </a:solidFill>
              </a:rPr>
              <a:t>用户认证</a:t>
            </a:r>
            <a:r>
              <a:rPr lang="en-US" altLang="zh-CN">
                <a:solidFill>
                  <a:srgbClr val="0000FF"/>
                </a:solidFill>
              </a:rPr>
              <a:t>4-1 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0D2080A-AD47-48F6-A952-164FA29B8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33400" indent="-533400"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设置密钥认证的一般步骤</a:t>
            </a:r>
          </a:p>
          <a:p>
            <a:pPr marL="914400" lvl="1" indent="-457200">
              <a:buFont typeface="Wingdings" panose="05000000000000000000" pitchFamily="2" charset="2"/>
              <a:buAutoNum type="arabicPeriod"/>
            </a:pPr>
            <a:r>
              <a:rPr lang="zh-CN" altLang="en-US" dirty="0"/>
              <a:t>在</a:t>
            </a:r>
            <a:r>
              <a:rPr lang="en-US" altLang="zh-CN" dirty="0"/>
              <a:t>SSH</a:t>
            </a:r>
            <a:r>
              <a:rPr lang="zh-CN" altLang="en-US" dirty="0"/>
              <a:t>客户端生成用户的公钥和私钥对文件</a:t>
            </a:r>
          </a:p>
          <a:p>
            <a:pPr marL="914400" lvl="1" indent="-457200">
              <a:buFont typeface="Wingdings" panose="05000000000000000000" pitchFamily="2" charset="2"/>
              <a:buAutoNum type="arabicPeriod"/>
            </a:pPr>
            <a:r>
              <a:rPr lang="zh-CN" altLang="en-US" dirty="0"/>
              <a:t>将</a:t>
            </a:r>
            <a:r>
              <a:rPr lang="en-US" altLang="zh-CN" dirty="0"/>
              <a:t>SSH</a:t>
            </a:r>
            <a:r>
              <a:rPr lang="zh-CN" altLang="en-US" dirty="0"/>
              <a:t>客户的公钥添加到</a:t>
            </a:r>
            <a:r>
              <a:rPr lang="en-US" altLang="zh-CN" dirty="0"/>
              <a:t>SSH</a:t>
            </a:r>
            <a:r>
              <a:rPr lang="zh-CN" altLang="en-US" dirty="0"/>
              <a:t>服务器中用户的认证文件中 </a:t>
            </a:r>
          </a:p>
          <a:p>
            <a:pPr marL="914400" lvl="1" indent="-457200">
              <a:buFont typeface="Wingdings" panose="05000000000000000000" pitchFamily="2" charset="2"/>
              <a:buAutoNum type="arabicPeriod"/>
            </a:pPr>
            <a:r>
              <a:rPr lang="zh-CN" altLang="en-US" dirty="0"/>
              <a:t>验证密钥的认证 </a:t>
            </a:r>
          </a:p>
          <a:p>
            <a:pPr marL="533400" indent="-533400"/>
            <a:endParaRPr lang="zh-CN" altLang="en-US" dirty="0"/>
          </a:p>
          <a:p>
            <a:pPr marL="533400" indent="-533400"/>
            <a:endParaRPr lang="en-US" altLang="zh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56C3BF-5E93-4E7E-87F9-03DA096C8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24820-B335-40D8-84D3-CD29FF38C0C6}" type="datetime1">
              <a:rPr lang="zh-CN" altLang="en-US" smtClean="0"/>
              <a:t>2024/4/30</a:t>
            </a:fld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BCA5333-1E55-4892-9CFE-9720F9893B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基于密钥的</a:t>
            </a:r>
            <a:r>
              <a:rPr lang="en-US" altLang="zh-CN">
                <a:solidFill>
                  <a:srgbClr val="0000FF"/>
                </a:solidFill>
              </a:rPr>
              <a:t>SSH</a:t>
            </a:r>
            <a:r>
              <a:rPr lang="zh-CN" altLang="en-US">
                <a:solidFill>
                  <a:srgbClr val="0000FF"/>
                </a:solidFill>
              </a:rPr>
              <a:t>用户认证</a:t>
            </a:r>
            <a:r>
              <a:rPr lang="en-US" altLang="zh-CN">
                <a:solidFill>
                  <a:srgbClr val="0000FF"/>
                </a:solidFill>
              </a:rPr>
              <a:t>4-2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D5B367E-7686-4B49-9509-13588FFAB9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在</a:t>
            </a:r>
            <a:r>
              <a:rPr lang="en-US" altLang="zh-CN" dirty="0"/>
              <a:t>SSH</a:t>
            </a:r>
            <a:r>
              <a:rPr lang="zh-CN" altLang="en-US" dirty="0"/>
              <a:t>客户端生成用户的公钥和私钥对 </a:t>
            </a:r>
          </a:p>
          <a:p>
            <a:pPr lvl="1"/>
            <a:r>
              <a:rPr lang="zh-CN" altLang="en-US" dirty="0"/>
              <a:t>使用</a:t>
            </a:r>
            <a:r>
              <a:rPr lang="en-US" altLang="zh-CN" dirty="0" err="1"/>
              <a:t>ssh</a:t>
            </a:r>
            <a:r>
              <a:rPr lang="en-US" altLang="zh-CN" dirty="0"/>
              <a:t>-keygen</a:t>
            </a:r>
            <a:r>
              <a:rPr lang="zh-CN" altLang="en-US" dirty="0"/>
              <a:t>命令生成密钥对</a:t>
            </a: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$ 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-keygen -t </a:t>
            </a:r>
            <a:r>
              <a:rPr lang="en-US" altLang="zh-CN" b="1" dirty="0" err="1">
                <a:latin typeface="Courier New" panose="02070309020205020404" pitchFamily="49" charset="0"/>
              </a:rPr>
              <a:t>rsa</a:t>
            </a:r>
            <a:r>
              <a:rPr lang="en-US" altLang="zh-CN" dirty="0"/>
              <a:t> 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公钥和私钥文件</a:t>
            </a:r>
          </a:p>
          <a:p>
            <a:pPr lvl="1"/>
            <a:r>
              <a:rPr lang="en-US" altLang="zh-CN" dirty="0" err="1"/>
              <a:t>ssh</a:t>
            </a:r>
            <a:r>
              <a:rPr lang="en-US" altLang="zh-CN" dirty="0"/>
              <a:t>-keygen</a:t>
            </a:r>
            <a:r>
              <a:rPr lang="zh-CN" altLang="en-US" dirty="0"/>
              <a:t>命令将在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.</a:t>
            </a:r>
            <a:r>
              <a:rPr lang="en-US" altLang="zh-CN" dirty="0" err="1"/>
              <a:t>ssh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目录中生成公钥和私钥文件</a:t>
            </a:r>
          </a:p>
          <a:p>
            <a:pPr lvl="1"/>
            <a:r>
              <a:rPr lang="en-US" altLang="zh-CN" dirty="0" err="1"/>
              <a:t>id_rsa</a:t>
            </a:r>
            <a:r>
              <a:rPr lang="zh-CN" altLang="en-US" dirty="0"/>
              <a:t>是私钥文件，内容需要严格保密</a:t>
            </a:r>
          </a:p>
          <a:p>
            <a:pPr lvl="1"/>
            <a:r>
              <a:rPr lang="en-US" altLang="zh-CN" dirty="0"/>
              <a:t>id_rsa.pub</a:t>
            </a:r>
            <a:r>
              <a:rPr lang="zh-CN" altLang="en-US" dirty="0"/>
              <a:t>是公钥文件，可发布到</a:t>
            </a:r>
            <a:r>
              <a:rPr lang="en-US" altLang="zh-CN" dirty="0"/>
              <a:t>SSH</a:t>
            </a:r>
            <a:r>
              <a:rPr lang="zh-CN" altLang="en-US" dirty="0"/>
              <a:t>服务器中</a:t>
            </a:r>
          </a:p>
          <a:p>
            <a:endParaRPr lang="en-US" altLang="zh-CN" dirty="0"/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95AC92-67A5-4F3C-967F-AA673B43E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0A5E0-FD4B-46DE-8FDE-B988CF5CBCE5}" type="datetime1">
              <a:rPr lang="zh-CN" altLang="en-US" smtClean="0"/>
              <a:t>2024/4/30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7D16F687-DD75-4B65-A23F-0F3E633462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9"/>
            <a:ext cx="8243887" cy="877887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基于密钥的</a:t>
            </a:r>
            <a:r>
              <a:rPr lang="en-US" altLang="zh-CN">
                <a:solidFill>
                  <a:srgbClr val="0000FF"/>
                </a:solidFill>
              </a:rPr>
              <a:t>SSH</a:t>
            </a:r>
            <a:r>
              <a:rPr lang="zh-CN" altLang="en-US">
                <a:solidFill>
                  <a:srgbClr val="0000FF"/>
                </a:solidFill>
              </a:rPr>
              <a:t>用户认证</a:t>
            </a:r>
            <a:r>
              <a:rPr lang="en-US" altLang="zh-CN">
                <a:solidFill>
                  <a:srgbClr val="0000FF"/>
                </a:solidFill>
              </a:rPr>
              <a:t>4-3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AD58000-05D1-4AC8-B44E-E7BF12D89F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268413"/>
            <a:ext cx="8229600" cy="4824412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复制公钥文件</a:t>
            </a:r>
          </a:p>
          <a:p>
            <a:pPr lvl="1"/>
            <a:r>
              <a:rPr lang="zh-CN" altLang="en-US" dirty="0"/>
              <a:t>将客户端中的用户公钥文件复制到</a:t>
            </a:r>
            <a:r>
              <a:rPr lang="en-US" altLang="zh-CN" dirty="0"/>
              <a:t>SSH</a:t>
            </a:r>
            <a:r>
              <a:rPr lang="zh-CN" altLang="en-US" dirty="0"/>
              <a:t>服务器中</a:t>
            </a:r>
          </a:p>
          <a:p>
            <a:pPr lvl="1"/>
            <a:r>
              <a:rPr lang="zh-CN" altLang="en-US" dirty="0"/>
              <a:t>公钥文件的复制可使用软盘、</a:t>
            </a:r>
            <a:r>
              <a:rPr lang="en-US" altLang="zh-CN" dirty="0"/>
              <a:t>U</a:t>
            </a:r>
            <a:r>
              <a:rPr lang="zh-CN" altLang="en-US" dirty="0"/>
              <a:t>盘或网络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将公钥内容追加到</a:t>
            </a:r>
            <a:r>
              <a:rPr lang="en-US" altLang="zh-CN" sz="2400" dirty="0" err="1"/>
              <a:t>authorized_keys</a:t>
            </a:r>
            <a:r>
              <a:rPr lang="en-US" altLang="zh-CN" sz="2400" dirty="0"/>
              <a:t> </a:t>
            </a:r>
            <a:r>
              <a:rPr lang="zh-CN" altLang="en-US" sz="2400" dirty="0"/>
              <a:t>文件</a:t>
            </a:r>
          </a:p>
          <a:p>
            <a:pPr lvl="1"/>
            <a:r>
              <a:rPr lang="en-US" altLang="zh-CN" dirty="0" err="1"/>
              <a:t>authorized_keys</a:t>
            </a:r>
            <a:r>
              <a:rPr lang="en-US" altLang="zh-CN" dirty="0"/>
              <a:t> </a:t>
            </a:r>
            <a:r>
              <a:rPr lang="zh-CN" altLang="en-US" dirty="0"/>
              <a:t>文件保存在</a:t>
            </a:r>
            <a:r>
              <a:rPr lang="en-US" altLang="zh-CN" dirty="0"/>
              <a:t>SSH</a:t>
            </a:r>
            <a:r>
              <a:rPr lang="zh-CN" altLang="en-US" dirty="0"/>
              <a:t>服务器中用户目录的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.</a:t>
            </a:r>
            <a:r>
              <a:rPr lang="en-US" altLang="zh-CN" dirty="0" err="1"/>
              <a:t>ssh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子目录中</a:t>
            </a:r>
          </a:p>
          <a:p>
            <a:pPr lvl="1"/>
            <a:r>
              <a:rPr lang="en-US" altLang="zh-CN" dirty="0" err="1"/>
              <a:t>authorized_keys</a:t>
            </a:r>
            <a:r>
              <a:rPr lang="zh-CN" altLang="en-US" dirty="0"/>
              <a:t>用于保存所有允许以当前用户身份登录的</a:t>
            </a:r>
            <a:r>
              <a:rPr lang="en-US" altLang="zh-CN" dirty="0"/>
              <a:t>SSH</a:t>
            </a:r>
            <a:r>
              <a:rPr lang="zh-CN" altLang="en-US" dirty="0"/>
              <a:t>客户端用户的公钥内容</a:t>
            </a:r>
          </a:p>
          <a:p>
            <a:pPr lvl="1"/>
            <a:r>
              <a:rPr lang="zh-CN" altLang="en-US" dirty="0"/>
              <a:t>使用</a:t>
            </a:r>
            <a:r>
              <a:rPr lang="zh-CN" altLang="en-US" dirty="0">
                <a:latin typeface="Arial" panose="020B0604020202020204" pitchFamily="34" charset="0"/>
              </a:rPr>
              <a:t>“</a:t>
            </a:r>
            <a:r>
              <a:rPr lang="en-US" altLang="zh-CN" dirty="0"/>
              <a:t>&gt;&gt;</a:t>
            </a:r>
            <a:r>
              <a:rPr lang="en-US" altLang="zh-CN" dirty="0">
                <a:latin typeface="Arial" panose="020B0604020202020204" pitchFamily="34" charset="0"/>
              </a:rPr>
              <a:t>”</a:t>
            </a:r>
            <a:r>
              <a:rPr lang="zh-CN" altLang="en-US" dirty="0"/>
              <a:t>重定向符将用户公钥追加到</a:t>
            </a:r>
            <a:r>
              <a:rPr lang="en-US" altLang="zh-CN" dirty="0" err="1"/>
              <a:t>authorized_keys</a:t>
            </a:r>
            <a:r>
              <a:rPr lang="zh-CN" altLang="en-US" dirty="0"/>
              <a:t>文件中</a:t>
            </a: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cat id_rsa.pub &gt;&gt; ~/.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authorized_keys</a:t>
            </a:r>
            <a:r>
              <a:rPr lang="en-US" altLang="zh-CN" dirty="0"/>
              <a:t>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E9A4C67-0CD1-48FB-B3F2-EF31EDC60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C936-B1EA-4A8E-82CD-9F5DE6CA6D9A}" type="datetime1">
              <a:rPr lang="zh-CN" altLang="en-US" smtClean="0"/>
              <a:t>2024/4/30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FC7A111-F6BD-4F7E-A0B7-DDEAEE8CED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基于密钥的</a:t>
            </a:r>
            <a:r>
              <a:rPr lang="en-US" altLang="zh-CN">
                <a:solidFill>
                  <a:srgbClr val="0000FF"/>
                </a:solidFill>
              </a:rPr>
              <a:t>SSH</a:t>
            </a:r>
            <a:r>
              <a:rPr lang="zh-CN" altLang="en-US">
                <a:solidFill>
                  <a:srgbClr val="0000FF"/>
                </a:solidFill>
              </a:rPr>
              <a:t>用户认证</a:t>
            </a:r>
            <a:r>
              <a:rPr lang="en-US" altLang="zh-CN">
                <a:solidFill>
                  <a:srgbClr val="0000FF"/>
                </a:solidFill>
              </a:rPr>
              <a:t>4-4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FFC013B-4381-455D-9AB1-376AA48218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基于密钥的用户认证过程</a:t>
            </a:r>
          </a:p>
          <a:p>
            <a:pPr lvl="1"/>
            <a:r>
              <a:rPr lang="zh-CN" altLang="en-US" dirty="0"/>
              <a:t>用户使用</a:t>
            </a:r>
            <a:r>
              <a:rPr lang="en-US" altLang="zh-CN" dirty="0" err="1"/>
              <a:t>ssh</a:t>
            </a:r>
            <a:r>
              <a:rPr lang="zh-CN" altLang="en-US" dirty="0"/>
              <a:t>命令登录</a:t>
            </a:r>
            <a:r>
              <a:rPr lang="en-US" altLang="zh-CN" dirty="0"/>
              <a:t>SSH</a:t>
            </a:r>
            <a:r>
              <a:rPr lang="zh-CN" altLang="en-US" dirty="0"/>
              <a:t>服务器时，将使用客户机中的私钥与服务器中的公钥进行认证，认证成功后将允许用户登录</a:t>
            </a:r>
          </a:p>
          <a:p>
            <a:pPr lvl="1"/>
            <a:r>
              <a:rPr lang="zh-CN" altLang="en-US" dirty="0"/>
              <a:t>密钥的认证过程是</a:t>
            </a:r>
            <a:r>
              <a:rPr lang="en-US" altLang="zh-CN" dirty="0" err="1"/>
              <a:t>ssh</a:t>
            </a:r>
            <a:r>
              <a:rPr lang="zh-CN" altLang="en-US" dirty="0"/>
              <a:t>命令与</a:t>
            </a:r>
            <a:r>
              <a:rPr lang="en-US" altLang="zh-CN" dirty="0"/>
              <a:t>SSH</a:t>
            </a:r>
            <a:r>
              <a:rPr lang="zh-CN" altLang="en-US" dirty="0"/>
              <a:t>服务器自动完成的</a:t>
            </a:r>
          </a:p>
          <a:p>
            <a:pPr lvl="1"/>
            <a:r>
              <a:rPr lang="zh-CN" altLang="en-US" dirty="0"/>
              <a:t>用户登录过程中将不再提示输入用户口令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0DA0E94-8453-443C-92C8-197075227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BA6EC-F291-486C-87A7-12D6D56D4136}" type="datetime1">
              <a:rPr lang="zh-CN" altLang="en-US" smtClean="0"/>
              <a:t>2024/4/30</a:t>
            </a:fld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F93DEC27-EF76-46BC-9548-5E425348F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9"/>
            <a:ext cx="8243887" cy="949325"/>
          </a:xfrm>
        </p:spPr>
        <p:txBody>
          <a:bodyPr/>
          <a:lstStyle/>
          <a:p>
            <a:r>
              <a:rPr lang="zh-CN" altLang="en-US">
                <a:solidFill>
                  <a:srgbClr val="0000FF"/>
                </a:solidFill>
              </a:rPr>
              <a:t>禁止</a:t>
            </a:r>
            <a:r>
              <a:rPr lang="en-US" altLang="zh-CN">
                <a:solidFill>
                  <a:srgbClr val="0000FF"/>
                </a:solidFill>
              </a:rPr>
              <a:t>root</a:t>
            </a:r>
            <a:r>
              <a:rPr lang="zh-CN" altLang="en-US">
                <a:solidFill>
                  <a:srgbClr val="0000FF"/>
                </a:solidFill>
              </a:rPr>
              <a:t>用户的</a:t>
            </a:r>
            <a:r>
              <a:rPr lang="en-US" altLang="zh-CN">
                <a:solidFill>
                  <a:srgbClr val="0000FF"/>
                </a:solidFill>
              </a:rPr>
              <a:t>SSH</a:t>
            </a:r>
            <a:r>
              <a:rPr lang="zh-CN" altLang="en-US">
                <a:solidFill>
                  <a:srgbClr val="0000FF"/>
                </a:solidFill>
              </a:rPr>
              <a:t>登录 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C01F236-0D4E-40D2-94D6-4F57B3123B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4825" y="1196975"/>
            <a:ext cx="8447088" cy="5111750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为了提高</a:t>
            </a:r>
            <a:r>
              <a:rPr lang="en-US" altLang="zh-CN" dirty="0"/>
              <a:t>Linux</a:t>
            </a:r>
            <a:r>
              <a:rPr lang="zh-CN" altLang="en-US" dirty="0"/>
              <a:t>服务器的安全性，可以禁止</a:t>
            </a:r>
            <a:r>
              <a:rPr lang="en-US" altLang="zh-CN" dirty="0"/>
              <a:t>root</a:t>
            </a:r>
            <a:r>
              <a:rPr lang="zh-CN" altLang="en-US" dirty="0"/>
              <a:t>用户进行</a:t>
            </a:r>
            <a:r>
              <a:rPr lang="en-US" altLang="zh-CN" dirty="0"/>
              <a:t>SSH</a:t>
            </a:r>
            <a:r>
              <a:rPr lang="zh-CN" altLang="en-US" dirty="0"/>
              <a:t>登录</a:t>
            </a:r>
          </a:p>
          <a:p>
            <a:pPr lvl="1"/>
            <a:r>
              <a:rPr lang="zh-CN" altLang="en-US" dirty="0"/>
              <a:t>设置</a:t>
            </a:r>
            <a:r>
              <a:rPr lang="en-US" altLang="zh-CN" dirty="0" err="1"/>
              <a:t>sshd_config</a:t>
            </a:r>
            <a:r>
              <a:rPr lang="zh-CN" altLang="en-US" dirty="0"/>
              <a:t>文件</a:t>
            </a: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# vi /</a:t>
            </a:r>
            <a:r>
              <a:rPr lang="en-US" altLang="zh-CN" b="1" dirty="0" err="1">
                <a:latin typeface="Courier New" panose="02070309020205020404" pitchFamily="49" charset="0"/>
              </a:rPr>
              <a:t>etc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sshd_config</a:t>
            </a:r>
            <a:r>
              <a:rPr lang="en-US" altLang="zh-CN" dirty="0">
                <a:latin typeface="Courier New" panose="02070309020205020404" pitchFamily="49" charset="0"/>
              </a:rPr>
              <a:t> </a:t>
            </a: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//</a:t>
            </a:r>
            <a:r>
              <a:rPr lang="zh-CN" altLang="en-US" b="1" dirty="0">
                <a:latin typeface="Courier New" panose="02070309020205020404" pitchFamily="49" charset="0"/>
              </a:rPr>
              <a:t>添加设置行</a:t>
            </a:r>
          </a:p>
          <a:p>
            <a:pPr lvl="2">
              <a:buFontTx/>
              <a:buNone/>
            </a:pPr>
            <a:r>
              <a:rPr lang="en-US" altLang="zh-CN" b="1" dirty="0" err="1">
                <a:latin typeface="Courier New" panose="02070309020205020404" pitchFamily="49" charset="0"/>
              </a:rPr>
              <a:t>PermitRootLogin</a:t>
            </a:r>
            <a:r>
              <a:rPr lang="en-US" altLang="zh-CN" b="1" dirty="0">
                <a:latin typeface="Courier New" panose="02070309020205020404" pitchFamily="49" charset="0"/>
              </a:rPr>
              <a:t> no</a:t>
            </a:r>
            <a:r>
              <a:rPr lang="en-US" altLang="zh-CN" dirty="0"/>
              <a:t> 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lvl="1"/>
            <a:r>
              <a:rPr lang="zh-CN" altLang="en-US" dirty="0"/>
              <a:t>重新启动</a:t>
            </a:r>
            <a:r>
              <a:rPr lang="en-US" altLang="zh-CN" dirty="0" err="1"/>
              <a:t>sshd</a:t>
            </a:r>
            <a:r>
              <a:rPr lang="zh-CN" altLang="en-US" dirty="0"/>
              <a:t>服务程序</a:t>
            </a: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# service </a:t>
            </a:r>
            <a:r>
              <a:rPr lang="en-US" altLang="zh-CN" b="1" dirty="0" err="1">
                <a:latin typeface="Courier New" panose="02070309020205020404" pitchFamily="49" charset="0"/>
              </a:rPr>
              <a:t>sshd</a:t>
            </a:r>
            <a:r>
              <a:rPr lang="en-US" altLang="zh-CN" b="1" dirty="0">
                <a:latin typeface="Courier New" panose="02070309020205020404" pitchFamily="49" charset="0"/>
              </a:rPr>
              <a:t> restart 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再次登录</a:t>
            </a:r>
            <a:r>
              <a:rPr lang="en-US" altLang="zh-CN" dirty="0"/>
              <a:t>SSH</a:t>
            </a:r>
            <a:r>
              <a:rPr lang="zh-CN" altLang="en-US" dirty="0"/>
              <a:t>服务器时将不能使用</a:t>
            </a:r>
            <a:r>
              <a:rPr lang="en-US" altLang="zh-CN" dirty="0"/>
              <a:t>root</a:t>
            </a:r>
            <a:r>
              <a:rPr lang="zh-CN" altLang="en-US" dirty="0"/>
              <a:t>帐号进行登录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D9DB21-0CC6-491C-8E7B-4E92F701E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9B601B-873A-4FB6-92D1-530E6443D894}" type="datetime1">
              <a:rPr lang="zh-CN" altLang="en-US" smtClean="0"/>
              <a:t>2024/4/30</a:t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B774215-DEBD-4BF1-BEED-D3C117AC35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9"/>
            <a:ext cx="8243887" cy="949325"/>
          </a:xfrm>
        </p:spPr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ssh</a:t>
            </a:r>
            <a:r>
              <a:rPr lang="zh-CN" altLang="en-US">
                <a:solidFill>
                  <a:srgbClr val="0000FF"/>
                </a:solidFill>
              </a:rPr>
              <a:t>命令的基本使用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8DFC782-40B9-47A0-8B07-57817E0B56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4826" y="1196976"/>
            <a:ext cx="8435975" cy="5256213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dirty="0" err="1"/>
              <a:t>ssh</a:t>
            </a:r>
            <a:r>
              <a:rPr lang="zh-CN" altLang="en-US" dirty="0"/>
              <a:t>命令的两种格式</a:t>
            </a:r>
          </a:p>
          <a:p>
            <a:pPr lvl="1"/>
            <a:r>
              <a:rPr lang="zh-CN" altLang="en-US" dirty="0">
                <a:latin typeface="Courier New" panose="02070309020205020404" pitchFamily="49" charset="0"/>
              </a:rPr>
              <a:t>格式</a:t>
            </a:r>
            <a:r>
              <a:rPr lang="en-US" altLang="zh-CN" dirty="0">
                <a:latin typeface="Courier New" panose="02070309020205020404" pitchFamily="49" charset="0"/>
              </a:rPr>
              <a:t>1</a:t>
            </a:r>
            <a:r>
              <a:rPr lang="zh-CN" altLang="en-US" dirty="0">
                <a:latin typeface="Courier New" panose="02070309020205020404" pitchFamily="49" charset="0"/>
              </a:rPr>
              <a:t>：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 </a:t>
            </a:r>
            <a:r>
              <a:rPr lang="en-US" altLang="zh-CN" b="1" dirty="0" err="1">
                <a:latin typeface="Courier New" panose="02070309020205020404" pitchFamily="49" charset="0"/>
              </a:rPr>
              <a:t>username@sshserver</a:t>
            </a:r>
            <a:r>
              <a:rPr lang="en-US" altLang="zh-CN" b="1" dirty="0"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zh-CN" altLang="en-US" dirty="0">
                <a:latin typeface="Courier New" panose="02070309020205020404" pitchFamily="49" charset="0"/>
              </a:rPr>
              <a:t>格式</a:t>
            </a:r>
            <a:r>
              <a:rPr lang="en-US" altLang="zh-CN" dirty="0">
                <a:latin typeface="Courier New" panose="02070309020205020404" pitchFamily="49" charset="0"/>
              </a:rPr>
              <a:t>2</a:t>
            </a:r>
            <a:r>
              <a:rPr lang="zh-CN" altLang="en-US" dirty="0">
                <a:latin typeface="Courier New" panose="02070309020205020404" pitchFamily="49" charset="0"/>
              </a:rPr>
              <a:t>：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 -l username </a:t>
            </a:r>
            <a:r>
              <a:rPr lang="en-US" altLang="zh-CN" b="1" dirty="0" err="1">
                <a:latin typeface="Courier New" panose="02070309020205020404" pitchFamily="49" charset="0"/>
              </a:rPr>
              <a:t>sshserver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lvl="1"/>
            <a:r>
              <a:rPr lang="zh-CN" altLang="en-US" dirty="0">
                <a:latin typeface="Courier New" panose="02070309020205020404" pitchFamily="49" charset="0"/>
              </a:rPr>
              <a:t>两种命令格式具有相同的功能</a:t>
            </a:r>
          </a:p>
          <a:p>
            <a:pPr lvl="1"/>
            <a:r>
              <a:rPr lang="en-US" altLang="zh-CN" dirty="0" err="1">
                <a:latin typeface="Courier New" panose="02070309020205020404" pitchFamily="49" charset="0"/>
              </a:rPr>
              <a:t>ssh</a:t>
            </a:r>
            <a:r>
              <a:rPr lang="zh-CN" altLang="en-US" dirty="0">
                <a:latin typeface="Courier New" panose="02070309020205020404" pitchFamily="49" charset="0"/>
              </a:rPr>
              <a:t>命令中需指定登录的用户名和</a:t>
            </a:r>
            <a:r>
              <a:rPr lang="en-US" altLang="zh-CN" dirty="0">
                <a:latin typeface="Courier New" panose="02070309020205020404" pitchFamily="49" charset="0"/>
              </a:rPr>
              <a:t>SSH</a:t>
            </a:r>
            <a:r>
              <a:rPr lang="zh-CN" altLang="en-US" dirty="0">
                <a:latin typeface="Courier New" panose="02070309020205020404" pitchFamily="49" charset="0"/>
              </a:rPr>
              <a:t>服务器地址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不指定用户名的</a:t>
            </a:r>
            <a:r>
              <a:rPr lang="en-US" altLang="zh-CN" dirty="0" err="1"/>
              <a:t>ssh</a:t>
            </a:r>
            <a:r>
              <a:rPr lang="zh-CN" altLang="en-US" dirty="0"/>
              <a:t>命令</a:t>
            </a:r>
          </a:p>
          <a:p>
            <a:pPr lvl="1"/>
            <a:r>
              <a:rPr lang="en-US" altLang="zh-CN" dirty="0" err="1"/>
              <a:t>ssh</a:t>
            </a:r>
            <a:r>
              <a:rPr lang="zh-CN" altLang="en-US" dirty="0"/>
              <a:t>命令中如果不指定用户名，将使用</a:t>
            </a:r>
            <a:r>
              <a:rPr lang="en-US" altLang="zh-CN" dirty="0"/>
              <a:t>SSH</a:t>
            </a:r>
            <a:r>
              <a:rPr lang="zh-CN" altLang="en-US" dirty="0"/>
              <a:t>客户机中当前用户的名字登录</a:t>
            </a:r>
            <a:r>
              <a:rPr lang="en-US" altLang="zh-CN" dirty="0"/>
              <a:t>SSH</a:t>
            </a:r>
            <a:r>
              <a:rPr lang="zh-CN" altLang="en-US" dirty="0"/>
              <a:t>服务器</a:t>
            </a: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# 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 192.168.1.2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32BB588-5068-4307-9611-190B0782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08440-FCD2-4B8F-8666-AE793A677B64}" type="datetime1">
              <a:rPr lang="zh-CN" altLang="en-US" smtClean="0"/>
              <a:t>2024/4/30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6AD76D2-FFAF-41E6-8BD9-FE990186FD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9"/>
            <a:ext cx="8243887" cy="877887"/>
          </a:xfrm>
        </p:spPr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sftp</a:t>
            </a:r>
            <a:r>
              <a:rPr lang="zh-CN" altLang="en-US">
                <a:solidFill>
                  <a:srgbClr val="0000FF"/>
                </a:solidFill>
              </a:rPr>
              <a:t>的使用 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B13C95E-A7C8-4C5B-B1B7-16D1A3395F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125538"/>
            <a:ext cx="8229600" cy="4456112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sz="2400" dirty="0"/>
              <a:t>SSH</a:t>
            </a:r>
            <a:r>
              <a:rPr lang="zh-CN" altLang="en-US" sz="2400" dirty="0"/>
              <a:t>服务器对</a:t>
            </a:r>
            <a:r>
              <a:rPr lang="en-US" altLang="zh-CN" sz="2400" dirty="0"/>
              <a:t>sftp</a:t>
            </a:r>
            <a:r>
              <a:rPr lang="zh-CN" altLang="en-US" sz="2400" dirty="0"/>
              <a:t>的支持</a:t>
            </a:r>
          </a:p>
          <a:p>
            <a:pPr lvl="1"/>
            <a:r>
              <a:rPr lang="en-US" altLang="zh-CN" dirty="0"/>
              <a:t>sftp</a:t>
            </a:r>
            <a:r>
              <a:rPr lang="zh-CN" altLang="en-US" dirty="0"/>
              <a:t>是</a:t>
            </a:r>
            <a:r>
              <a:rPr lang="en-US" altLang="zh-CN" dirty="0"/>
              <a:t>SSH</a:t>
            </a:r>
            <a:r>
              <a:rPr lang="zh-CN" altLang="en-US" dirty="0"/>
              <a:t>服务器中的子系统</a:t>
            </a:r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SSH</a:t>
            </a:r>
            <a:r>
              <a:rPr lang="zh-CN" altLang="en-US" dirty="0"/>
              <a:t>服务器中需要存在对</a:t>
            </a:r>
            <a:r>
              <a:rPr lang="en-US" altLang="zh-CN" dirty="0"/>
              <a:t>sftp</a:t>
            </a:r>
            <a:r>
              <a:rPr lang="zh-CN" altLang="en-US" dirty="0"/>
              <a:t>的配置</a:t>
            </a: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# grep sftp /</a:t>
            </a:r>
            <a:r>
              <a:rPr lang="en-US" altLang="zh-CN" b="1" dirty="0" err="1">
                <a:latin typeface="Courier New" panose="02070309020205020404" pitchFamily="49" charset="0"/>
              </a:rPr>
              <a:t>etc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ssh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sshd_config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Subsystem sftp /</a:t>
            </a:r>
            <a:r>
              <a:rPr lang="en-US" altLang="zh-CN" b="1" dirty="0" err="1">
                <a:latin typeface="Courier New" panose="02070309020205020404" pitchFamily="49" charset="0"/>
              </a:rPr>
              <a:t>usr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libexec</a:t>
            </a:r>
            <a:r>
              <a:rPr lang="en-US" altLang="zh-CN" b="1" dirty="0">
                <a:latin typeface="Courier New" panose="02070309020205020404" pitchFamily="49" charset="0"/>
              </a:rPr>
              <a:t>/</a:t>
            </a:r>
            <a:r>
              <a:rPr lang="en-US" altLang="zh-CN" b="1" dirty="0" err="1">
                <a:latin typeface="Courier New" panose="02070309020205020404" pitchFamily="49" charset="0"/>
              </a:rPr>
              <a:t>openssh</a:t>
            </a:r>
            <a:r>
              <a:rPr lang="en-US" altLang="zh-CN" b="1" dirty="0">
                <a:latin typeface="Courier New" panose="02070309020205020404" pitchFamily="49" charset="0"/>
              </a:rPr>
              <a:t>/sftp-server 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sz="2400" dirty="0"/>
              <a:t>sftp</a:t>
            </a:r>
            <a:r>
              <a:rPr lang="zh-CN" altLang="en-US" sz="2400" dirty="0"/>
              <a:t>命令的使用</a:t>
            </a:r>
          </a:p>
          <a:p>
            <a:pPr lvl="1"/>
            <a:r>
              <a:rPr lang="en-US" altLang="zh-CN" dirty="0"/>
              <a:t>sftp</a:t>
            </a:r>
            <a:r>
              <a:rPr lang="zh-CN" altLang="en-US" dirty="0"/>
              <a:t>登录命令的格式与</a:t>
            </a:r>
            <a:r>
              <a:rPr lang="en-US" altLang="zh-CN" dirty="0" err="1"/>
              <a:t>ssh</a:t>
            </a:r>
            <a:r>
              <a:rPr lang="zh-CN" altLang="en-US" dirty="0"/>
              <a:t>命令类似：</a:t>
            </a:r>
          </a:p>
          <a:p>
            <a:pPr lvl="2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sftp </a:t>
            </a:r>
            <a:r>
              <a:rPr lang="en-US" altLang="zh-CN" b="1" dirty="0" err="1">
                <a:latin typeface="Courier New" panose="02070309020205020404" pitchFamily="49" charset="0"/>
              </a:rPr>
              <a:t>username@sshserver</a:t>
            </a:r>
            <a:endParaRPr lang="en-US" altLang="zh-CN" b="1" dirty="0">
              <a:latin typeface="Courier New" panose="02070309020205020404" pitchFamily="49" charset="0"/>
            </a:endParaRPr>
          </a:p>
          <a:p>
            <a:pPr lvl="1"/>
            <a:r>
              <a:rPr lang="en-US" altLang="zh-CN" dirty="0"/>
              <a:t>sftp</a:t>
            </a:r>
            <a:r>
              <a:rPr lang="zh-CN" altLang="en-US" dirty="0"/>
              <a:t>命令实现了类似</a:t>
            </a:r>
            <a:r>
              <a:rPr lang="en-US" altLang="zh-CN" dirty="0"/>
              <a:t>ftp</a:t>
            </a:r>
            <a:r>
              <a:rPr lang="zh-CN" altLang="en-US" dirty="0"/>
              <a:t>命令的功能和命令交互界面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AE69FB-2883-4B39-AE2B-79140516F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5965E-71DB-46B5-8773-3795B84D2277}" type="datetime1">
              <a:rPr lang="zh-CN" altLang="en-US" smtClean="0"/>
              <a:t>2024/4/30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A684D3F-362C-490B-9CFE-722E1F2737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9"/>
            <a:ext cx="8243887" cy="949325"/>
          </a:xfrm>
        </p:spPr>
        <p:txBody>
          <a:bodyPr/>
          <a:lstStyle/>
          <a:p>
            <a:r>
              <a:rPr lang="en-US" altLang="zh-CN">
                <a:solidFill>
                  <a:srgbClr val="0000FF"/>
                </a:solidFill>
              </a:rPr>
              <a:t>scp</a:t>
            </a:r>
            <a:r>
              <a:rPr lang="zh-CN" altLang="en-US">
                <a:solidFill>
                  <a:srgbClr val="0000FF"/>
                </a:solidFill>
              </a:rPr>
              <a:t>命令的使用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C51F5266-186B-4F28-B015-F621C1F8B6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92313" y="1196976"/>
            <a:ext cx="8229600" cy="4456113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sz="2400"/>
              <a:t>scp</a:t>
            </a:r>
            <a:r>
              <a:rPr lang="zh-CN" altLang="en-US" sz="2400" dirty="0"/>
              <a:t>命令可以实现</a:t>
            </a:r>
            <a:r>
              <a:rPr lang="en-US" altLang="zh-CN" sz="2400" dirty="0"/>
              <a:t>SSH</a:t>
            </a:r>
            <a:r>
              <a:rPr lang="zh-CN" altLang="en-US" sz="2400" dirty="0"/>
              <a:t>服务器与客户机之间的文件复制</a:t>
            </a:r>
          </a:p>
          <a:p>
            <a:pPr lvl="1"/>
            <a:r>
              <a:rPr lang="en-US" altLang="zh-CN" dirty="0" err="1"/>
              <a:t>scp</a:t>
            </a:r>
            <a:r>
              <a:rPr lang="zh-CN" altLang="en-US" dirty="0"/>
              <a:t>命令的格式类似于</a:t>
            </a:r>
            <a:r>
              <a:rPr lang="en-US" altLang="zh-CN" dirty="0"/>
              <a:t>cp</a:t>
            </a:r>
            <a:r>
              <a:rPr lang="zh-CN" altLang="en-US" dirty="0"/>
              <a:t>命令</a:t>
            </a:r>
          </a:p>
          <a:p>
            <a:pPr lvl="1"/>
            <a:r>
              <a:rPr lang="en-US" altLang="zh-CN" dirty="0"/>
              <a:t>SSH</a:t>
            </a:r>
            <a:r>
              <a:rPr lang="zh-CN" altLang="en-US" dirty="0"/>
              <a:t>服务器可以作为</a:t>
            </a:r>
            <a:r>
              <a:rPr lang="en-US" altLang="zh-CN" dirty="0" err="1"/>
              <a:t>scp</a:t>
            </a:r>
            <a:r>
              <a:rPr lang="zh-CN" altLang="en-US" dirty="0"/>
              <a:t>命令中的源文件或目标文件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zh-CN" altLang="en-US" sz="2400" dirty="0"/>
              <a:t>命令实例</a:t>
            </a:r>
          </a:p>
          <a:p>
            <a:pPr lvl="1"/>
            <a:r>
              <a:rPr lang="zh-CN" altLang="en-US" dirty="0"/>
              <a:t>将</a:t>
            </a:r>
            <a:r>
              <a:rPr lang="en-US" altLang="zh-CN" dirty="0"/>
              <a:t>SSH</a:t>
            </a:r>
            <a:r>
              <a:rPr lang="zh-CN" altLang="en-US" dirty="0"/>
              <a:t>服务器中的文件复制到客户机</a:t>
            </a: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# </a:t>
            </a:r>
            <a:r>
              <a:rPr lang="en-US" altLang="zh-CN" b="1" dirty="0" err="1">
                <a:latin typeface="Courier New" panose="02070309020205020404" pitchFamily="49" charset="0"/>
              </a:rPr>
              <a:t>scp</a:t>
            </a:r>
            <a:r>
              <a:rPr lang="en-US" altLang="zh-CN" b="1" dirty="0">
                <a:latin typeface="Courier New" panose="02070309020205020404" pitchFamily="49" charset="0"/>
              </a:rPr>
              <a:t> root@192.168.1.2:/</a:t>
            </a:r>
            <a:r>
              <a:rPr lang="en-US" altLang="zh-CN" b="1" dirty="0" err="1">
                <a:latin typeface="Courier New" panose="02070309020205020404" pitchFamily="49" charset="0"/>
              </a:rPr>
              <a:t>etc</a:t>
            </a:r>
            <a:r>
              <a:rPr lang="en-US" altLang="zh-CN" b="1" dirty="0">
                <a:latin typeface="Courier New" panose="02070309020205020404" pitchFamily="49" charset="0"/>
              </a:rPr>
              <a:t>/passwd .</a:t>
            </a:r>
            <a:r>
              <a:rPr lang="en-US" altLang="zh-CN" dirty="0"/>
              <a:t> </a:t>
            </a:r>
          </a:p>
          <a:p>
            <a:pPr lvl="1"/>
            <a:r>
              <a:rPr lang="zh-CN" altLang="en-US" dirty="0"/>
              <a:t>将客户机中的文件复制到</a:t>
            </a:r>
            <a:r>
              <a:rPr lang="en-US" altLang="zh-CN" dirty="0"/>
              <a:t>SSH</a:t>
            </a:r>
            <a:r>
              <a:rPr lang="zh-CN" altLang="en-US" dirty="0"/>
              <a:t>服务器</a:t>
            </a: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# </a:t>
            </a:r>
            <a:r>
              <a:rPr lang="en-US" altLang="zh-CN" b="1" dirty="0" err="1">
                <a:latin typeface="Courier New" panose="02070309020205020404" pitchFamily="49" charset="0"/>
              </a:rPr>
              <a:t>scp</a:t>
            </a:r>
            <a:r>
              <a:rPr lang="en-US" altLang="zh-CN" b="1" dirty="0">
                <a:latin typeface="Courier New" panose="02070309020205020404" pitchFamily="49" charset="0"/>
              </a:rPr>
              <a:t> test mike@192.168.1.2:~</a:t>
            </a:r>
            <a:r>
              <a:rPr lang="en-US" altLang="zh-CN" dirty="0"/>
              <a:t> 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DCFD07C-23A5-42B2-9A1B-BE20AFE0E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DAC3B-456D-4EDA-AF45-93474F621AB2}" type="datetime1">
              <a:rPr lang="zh-CN" altLang="en-US" smtClean="0"/>
              <a:t>2024/4/30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8B0453C5-DBF9-4C5F-8800-2A9A313E85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4" y="103188"/>
            <a:ext cx="8243887" cy="804862"/>
          </a:xfrm>
        </p:spPr>
        <p:txBody>
          <a:bodyPr/>
          <a:lstStyle/>
          <a:p>
            <a:r>
              <a:rPr lang="en-US" altLang="zh-CN" sz="4000">
                <a:solidFill>
                  <a:srgbClr val="0000FF"/>
                </a:solidFill>
              </a:rPr>
              <a:t>Windows</a:t>
            </a:r>
            <a:r>
              <a:rPr lang="zh-CN" altLang="en-US" sz="4000">
                <a:solidFill>
                  <a:srgbClr val="0000FF"/>
                </a:solidFill>
              </a:rPr>
              <a:t>下使用</a:t>
            </a:r>
            <a:r>
              <a:rPr lang="en-US" altLang="zh-CN" sz="4000">
                <a:solidFill>
                  <a:srgbClr val="0000FF"/>
                </a:solidFill>
              </a:rPr>
              <a:t>SSH</a:t>
            </a:r>
            <a:r>
              <a:rPr lang="zh-CN" altLang="en-US" sz="4000">
                <a:solidFill>
                  <a:srgbClr val="0000FF"/>
                </a:solidFill>
              </a:rPr>
              <a:t>客户端软件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281C4C53-36BB-4104-B688-595631ECAD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1" y="845032"/>
            <a:ext cx="7629524" cy="4495800"/>
          </a:xfrm>
        </p:spPr>
        <p:txBody>
          <a:bodyPr/>
          <a:lstStyle/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dirty="0"/>
              <a:t>PuTTY</a:t>
            </a:r>
          </a:p>
          <a:p>
            <a:pPr lvl="1"/>
            <a:r>
              <a:rPr lang="en-US" altLang="zh-CN" dirty="0"/>
              <a:t>PuTTY</a:t>
            </a:r>
            <a:r>
              <a:rPr lang="zh-CN" altLang="en-US" dirty="0"/>
              <a:t>是</a:t>
            </a:r>
            <a:r>
              <a:rPr lang="en-US" altLang="zh-CN" dirty="0"/>
              <a:t>Windows</a:t>
            </a:r>
            <a:r>
              <a:rPr lang="zh-CN" altLang="en-US" dirty="0"/>
              <a:t>环境中可以免费使用的</a:t>
            </a:r>
            <a:r>
              <a:rPr lang="en-US" altLang="zh-CN" dirty="0" err="1"/>
              <a:t>ssh</a:t>
            </a:r>
            <a:r>
              <a:rPr lang="zh-CN" altLang="en-US" dirty="0"/>
              <a:t>客户端软件</a:t>
            </a:r>
          </a:p>
          <a:p>
            <a:pPr lvl="1">
              <a:buFontTx/>
              <a:buNone/>
            </a:pPr>
            <a:r>
              <a:rPr lang="en-US" altLang="zh-CN" b="1" dirty="0">
                <a:latin typeface="Courier New" panose="02070309020205020404" pitchFamily="49" charset="0"/>
              </a:rPr>
              <a:t>http://www.chiark.greenend.org.uk/~sgtatham/putty/</a:t>
            </a:r>
            <a:r>
              <a:rPr lang="en-US" altLang="zh-CN" dirty="0"/>
              <a:t> </a:t>
            </a:r>
          </a:p>
          <a:p>
            <a:pPr>
              <a:buClr>
                <a:srgbClr val="9933FF"/>
              </a:buClr>
              <a:buFont typeface="Wingdings" panose="05000000000000000000" pitchFamily="2" charset="2"/>
              <a:buChar char="Ø"/>
            </a:pPr>
            <a:r>
              <a:rPr lang="en-US" altLang="zh-CN" dirty="0"/>
              <a:t>WinSCP</a:t>
            </a:r>
          </a:p>
          <a:p>
            <a:pPr lvl="1"/>
            <a:r>
              <a:rPr lang="en-US" altLang="zh-CN" dirty="0"/>
              <a:t>WinSCP</a:t>
            </a:r>
            <a:r>
              <a:rPr lang="zh-CN" altLang="en-US" dirty="0"/>
              <a:t>是知名的开源软件项目</a:t>
            </a:r>
          </a:p>
          <a:p>
            <a:pPr lvl="1"/>
            <a:r>
              <a:rPr lang="en-US" altLang="zh-CN" dirty="0"/>
              <a:t>WinSCP</a:t>
            </a:r>
            <a:r>
              <a:rPr lang="zh-CN" altLang="en-US" dirty="0"/>
              <a:t>在</a:t>
            </a:r>
            <a:r>
              <a:rPr lang="en-US" altLang="zh-CN" dirty="0"/>
              <a:t>Windows</a:t>
            </a:r>
            <a:r>
              <a:rPr lang="zh-CN" altLang="en-US" dirty="0"/>
              <a:t>环境中提供了窗口形式的</a:t>
            </a:r>
            <a:r>
              <a:rPr lang="en-US" altLang="zh-CN" dirty="0"/>
              <a:t>sftp</a:t>
            </a:r>
            <a:r>
              <a:rPr lang="zh-CN" altLang="en-US" dirty="0"/>
              <a:t>和</a:t>
            </a:r>
            <a:r>
              <a:rPr lang="en-US" altLang="zh-CN" dirty="0" err="1"/>
              <a:t>scp</a:t>
            </a:r>
            <a:r>
              <a:rPr lang="zh-CN" altLang="en-US" dirty="0"/>
              <a:t>客户端操作环境</a:t>
            </a:r>
          </a:p>
        </p:txBody>
      </p:sp>
      <p:pic>
        <p:nvPicPr>
          <p:cNvPr id="21508" name="Picture 4">
            <a:extLst>
              <a:ext uri="{FF2B5EF4-FFF2-40B4-BE49-F238E27FC236}">
                <a16:creationId xmlns:a16="http://schemas.microsoft.com/office/drawing/2014/main" id="{DAF604E3-30C5-448F-97BF-17F2955B5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246" y="4666834"/>
            <a:ext cx="5472113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09" name="Picture 5">
            <a:extLst>
              <a:ext uri="{FF2B5EF4-FFF2-40B4-BE49-F238E27FC236}">
                <a16:creationId xmlns:a16="http://schemas.microsoft.com/office/drawing/2014/main" id="{2C870675-C0FF-415A-88D7-2C7BDDB62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0025" y="1074737"/>
            <a:ext cx="4371975" cy="3267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FA56F54-9A07-46E1-93A6-FB74F9BB5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733DC-66ED-45AF-9D28-AEC8237F11A3}" type="datetime1">
              <a:rPr lang="zh-CN" altLang="en-US" smtClean="0"/>
              <a:t>2024/4/30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</a:t>
            </a:r>
            <a:r>
              <a:rPr lang="zh-CN" altLang="en-US" dirty="0"/>
              <a:t>基本命令介绍</a:t>
            </a:r>
            <a:endParaRPr lang="zh-CN" altLang="en-US" dirty="0"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ea typeface="华文宋体" pitchFamily="2" charset="-122"/>
              </a:rPr>
              <a:t>cd</a:t>
            </a:r>
            <a:r>
              <a:rPr lang="zh-CN" altLang="en-US" dirty="0">
                <a:ea typeface="华文宋体" pitchFamily="2" charset="-122"/>
              </a:rPr>
              <a:t>，</a:t>
            </a:r>
            <a:r>
              <a:rPr lang="en-US" altLang="zh-CN" dirty="0" err="1">
                <a:ea typeface="华文宋体" pitchFamily="2" charset="-122"/>
              </a:rPr>
              <a:t>pwd</a:t>
            </a:r>
            <a:endParaRPr lang="en-US" altLang="zh-CN" dirty="0">
              <a:ea typeface="华文宋体" pitchFamily="2" charset="-122"/>
            </a:endParaRPr>
          </a:p>
          <a:p>
            <a:r>
              <a:rPr lang="en-US" altLang="zh-CN" dirty="0" err="1">
                <a:ea typeface="华文宋体" pitchFamily="2" charset="-122"/>
              </a:rPr>
              <a:t>ls</a:t>
            </a:r>
            <a:endParaRPr lang="en-US" altLang="zh-CN" dirty="0">
              <a:ea typeface="华文宋体" pitchFamily="2" charset="-122"/>
            </a:endParaRPr>
          </a:p>
          <a:p>
            <a:r>
              <a:rPr lang="en-US" altLang="zh-CN" dirty="0">
                <a:ea typeface="华文宋体" pitchFamily="2" charset="-122"/>
              </a:rPr>
              <a:t>cat</a:t>
            </a:r>
            <a:r>
              <a:rPr lang="zh-CN" altLang="en-US" dirty="0">
                <a:ea typeface="华文宋体" pitchFamily="2" charset="-122"/>
              </a:rPr>
              <a:t>，</a:t>
            </a:r>
            <a:r>
              <a:rPr lang="en-US" altLang="zh-CN" dirty="0">
                <a:ea typeface="华文宋体" pitchFamily="2" charset="-122"/>
              </a:rPr>
              <a:t>more</a:t>
            </a:r>
          </a:p>
          <a:p>
            <a:r>
              <a:rPr lang="en-US" altLang="zh-CN" dirty="0" err="1">
                <a:ea typeface="华文宋体" pitchFamily="2" charset="-122"/>
              </a:rPr>
              <a:t>mkdir</a:t>
            </a:r>
            <a:r>
              <a:rPr lang="zh-CN" altLang="en-US" dirty="0">
                <a:ea typeface="华文宋体" pitchFamily="2" charset="-122"/>
              </a:rPr>
              <a:t>，</a:t>
            </a:r>
            <a:r>
              <a:rPr lang="en-US" altLang="zh-CN" dirty="0" err="1">
                <a:ea typeface="华文宋体" pitchFamily="2" charset="-122"/>
              </a:rPr>
              <a:t>rm</a:t>
            </a:r>
            <a:r>
              <a:rPr lang="zh-CN" altLang="en-US" dirty="0">
                <a:ea typeface="华文宋体" pitchFamily="2" charset="-122"/>
              </a:rPr>
              <a:t>，</a:t>
            </a:r>
            <a:r>
              <a:rPr lang="en-US" altLang="zh-CN" dirty="0">
                <a:ea typeface="华文宋体" pitchFamily="2" charset="-122"/>
              </a:rPr>
              <a:t>mv</a:t>
            </a:r>
            <a:r>
              <a:rPr lang="zh-CN" altLang="en-US" dirty="0">
                <a:ea typeface="华文宋体" pitchFamily="2" charset="-122"/>
              </a:rPr>
              <a:t>，</a:t>
            </a:r>
            <a:r>
              <a:rPr lang="en-US" altLang="zh-CN" dirty="0" err="1">
                <a:ea typeface="华文宋体" pitchFamily="2" charset="-122"/>
              </a:rPr>
              <a:t>cp</a:t>
            </a:r>
            <a:endParaRPr lang="en-US" altLang="zh-CN" dirty="0">
              <a:ea typeface="华文宋体" pitchFamily="2" charset="-122"/>
            </a:endParaRPr>
          </a:p>
          <a:p>
            <a:r>
              <a:rPr lang="en-US" altLang="zh-CN" dirty="0" err="1">
                <a:ea typeface="华文宋体" pitchFamily="2" charset="-122"/>
              </a:rPr>
              <a:t>chmod</a:t>
            </a:r>
            <a:endParaRPr lang="en-US" altLang="zh-CN" dirty="0">
              <a:ea typeface="华文宋体" pitchFamily="2" charset="-122"/>
            </a:endParaRPr>
          </a:p>
          <a:p>
            <a:r>
              <a:rPr lang="en-US" altLang="zh-CN" dirty="0" err="1">
                <a:ea typeface="华文宋体" pitchFamily="2" charset="-122"/>
              </a:rPr>
              <a:t>grep</a:t>
            </a:r>
            <a:r>
              <a:rPr lang="zh-CN" altLang="en-US" dirty="0">
                <a:ea typeface="华文宋体" pitchFamily="2" charset="-122"/>
              </a:rPr>
              <a:t>，管道符</a:t>
            </a:r>
            <a:endParaRPr lang="en-US" altLang="zh-CN" dirty="0">
              <a:ea typeface="华文宋体" pitchFamily="2" charset="-122"/>
            </a:endParaRPr>
          </a:p>
          <a:p>
            <a:r>
              <a:rPr lang="en-US" altLang="zh-CN" dirty="0">
                <a:ea typeface="华文宋体" pitchFamily="2" charset="-122"/>
              </a:rPr>
              <a:t>vi</a:t>
            </a:r>
            <a:endParaRPr lang="zh-CN" altLang="en-US" dirty="0">
              <a:ea typeface="华文宋体" pitchFamily="2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8098A91-4D92-4AD9-AAD1-9506AFF1481F}" type="datetime1">
              <a:rPr lang="zh-CN" altLang="en-US" smtClean="0"/>
              <a:t>2024/4/30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984111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文件路径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10489" y="1690688"/>
            <a:ext cx="8688388" cy="48252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绝对路径：</a:t>
            </a:r>
          </a:p>
          <a:p>
            <a:pPr marL="0" indent="0">
              <a:buNone/>
            </a:pPr>
            <a:r>
              <a:rPr lang="zh-CN" altLang="en-US" sz="1800" dirty="0"/>
              <a:t>路径的写法，由根目录 </a:t>
            </a:r>
            <a:r>
              <a:rPr lang="en-US" altLang="zh-CN" sz="1800" dirty="0"/>
              <a:t>/ </a:t>
            </a:r>
            <a:r>
              <a:rPr lang="zh-CN" altLang="en-US" sz="1800" dirty="0"/>
              <a:t>写起，例如： </a:t>
            </a:r>
            <a:r>
              <a:rPr lang="en-US" altLang="zh-CN" sz="1800" dirty="0"/>
              <a:t>/</a:t>
            </a:r>
            <a:r>
              <a:rPr lang="en-US" altLang="zh-CN" sz="1800" dirty="0" err="1"/>
              <a:t>usr</a:t>
            </a:r>
            <a:r>
              <a:rPr lang="en-US" altLang="zh-CN" sz="1800" dirty="0"/>
              <a:t>/share/doc </a:t>
            </a:r>
            <a:r>
              <a:rPr lang="zh-CN" altLang="en-US" sz="1800" dirty="0"/>
              <a:t>这个目录。</a:t>
            </a:r>
          </a:p>
          <a:p>
            <a:pPr marL="0" indent="0">
              <a:buNone/>
            </a:pPr>
            <a:endParaRPr lang="zh-CN" altLang="en-US" sz="1800" dirty="0"/>
          </a:p>
          <a:p>
            <a:pPr marL="0" indent="0">
              <a:buNone/>
            </a:pPr>
            <a:r>
              <a:rPr lang="zh-CN" altLang="en-US" sz="1800" dirty="0"/>
              <a:t>相对路径：</a:t>
            </a:r>
          </a:p>
          <a:p>
            <a:pPr marL="0" indent="0">
              <a:buNone/>
            </a:pPr>
            <a:r>
              <a:rPr lang="zh-CN" altLang="en-US" sz="1800" dirty="0"/>
              <a:t>路径的写法，不是由 </a:t>
            </a:r>
            <a:r>
              <a:rPr lang="en-US" altLang="zh-CN" sz="1800" dirty="0"/>
              <a:t>/ </a:t>
            </a:r>
            <a:r>
              <a:rPr lang="zh-CN" altLang="en-US" sz="1800" dirty="0"/>
              <a:t>写起，例如由 </a:t>
            </a:r>
            <a:r>
              <a:rPr lang="en-US" altLang="zh-CN" sz="1800" dirty="0"/>
              <a:t>/</a:t>
            </a:r>
            <a:r>
              <a:rPr lang="en-US" altLang="zh-CN" sz="1800" dirty="0" err="1"/>
              <a:t>usr</a:t>
            </a:r>
            <a:r>
              <a:rPr lang="en-US" altLang="zh-CN" sz="1800" dirty="0"/>
              <a:t>/share/doc </a:t>
            </a:r>
            <a:r>
              <a:rPr lang="zh-CN" altLang="en-US" sz="1800" dirty="0"/>
              <a:t>要到 </a:t>
            </a:r>
            <a:r>
              <a:rPr lang="en-US" altLang="zh-CN" sz="1800" dirty="0"/>
              <a:t>/</a:t>
            </a:r>
            <a:r>
              <a:rPr lang="en-US" altLang="zh-CN" sz="1800" dirty="0" err="1"/>
              <a:t>usr</a:t>
            </a:r>
            <a:r>
              <a:rPr lang="en-US" altLang="zh-CN" sz="1800" dirty="0"/>
              <a:t>/share/man </a:t>
            </a:r>
            <a:r>
              <a:rPr lang="zh-CN" altLang="en-US" sz="1800" dirty="0"/>
              <a:t>底下时，可以写成： </a:t>
            </a:r>
            <a:r>
              <a:rPr lang="en-US" altLang="zh-CN" sz="1800" dirty="0"/>
              <a:t>cd ../man </a:t>
            </a:r>
            <a:r>
              <a:rPr lang="zh-CN" altLang="en-US" sz="1800" dirty="0"/>
              <a:t>这就是相对路径的写法。</a:t>
            </a:r>
            <a:endParaRPr lang="en-US" altLang="zh-CN" sz="1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487774-DC35-4E69-ABD9-8FC279FC5951}" type="datetime1">
              <a:rPr lang="zh-CN" altLang="en-US" smtClean="0"/>
              <a:t>2024/4/30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6390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1" y="1124745"/>
            <a:ext cx="8688388" cy="48252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dirty="0"/>
              <a:t>使用方式 </a:t>
            </a:r>
            <a:r>
              <a:rPr lang="en-US" altLang="zh-CN" sz="1800" dirty="0"/>
              <a:t>:  cd [</a:t>
            </a:r>
            <a:r>
              <a:rPr lang="en-US" altLang="zh-CN" sz="1800" dirty="0" err="1"/>
              <a:t>dirName</a:t>
            </a:r>
            <a:r>
              <a:rPr lang="en-US" altLang="zh-CN" sz="1800" dirty="0"/>
              <a:t>]</a:t>
            </a:r>
          </a:p>
          <a:p>
            <a:pPr marL="0" indent="0">
              <a:buNone/>
            </a:pPr>
            <a:r>
              <a:rPr lang="zh-CN" altLang="en-US" sz="1800" dirty="0"/>
              <a:t>说明 </a:t>
            </a:r>
            <a:r>
              <a:rPr lang="en-US" altLang="zh-CN" sz="1800" dirty="0"/>
              <a:t>: </a:t>
            </a:r>
            <a:r>
              <a:rPr lang="zh-CN" altLang="en-US" sz="1800" dirty="0"/>
              <a:t>变换工作目录至 </a:t>
            </a:r>
            <a:r>
              <a:rPr lang="en-US" altLang="zh-CN" sz="1800" dirty="0" err="1"/>
              <a:t>dirName</a:t>
            </a:r>
            <a:r>
              <a:rPr lang="zh-CN" altLang="en-US" sz="1800" dirty="0"/>
              <a:t>。 其中 </a:t>
            </a:r>
            <a:r>
              <a:rPr lang="en-US" altLang="zh-CN" sz="1800" dirty="0" err="1"/>
              <a:t>dirName</a:t>
            </a:r>
            <a:r>
              <a:rPr lang="en-US" altLang="zh-CN" sz="1800" dirty="0"/>
              <a:t> </a:t>
            </a:r>
            <a:r>
              <a:rPr lang="zh-CN" altLang="en-US" sz="1800" dirty="0"/>
              <a:t>表示法可为绝对路径或相对路径。若目录名称省略，则变换至使用者的 </a:t>
            </a:r>
            <a:r>
              <a:rPr lang="en-US" altLang="zh-CN" sz="1800" dirty="0"/>
              <a:t>home directory (</a:t>
            </a:r>
            <a:r>
              <a:rPr lang="zh-CN" altLang="en-US" sz="1800" dirty="0"/>
              <a:t>也就是刚 </a:t>
            </a:r>
            <a:r>
              <a:rPr lang="en-US" altLang="zh-CN" sz="1800" dirty="0"/>
              <a:t>login </a:t>
            </a:r>
            <a:r>
              <a:rPr lang="zh-CN" altLang="en-US" sz="1800" dirty="0"/>
              <a:t>时所在的目录</a:t>
            </a:r>
            <a:r>
              <a:rPr lang="en-US" altLang="zh-CN" sz="1800" dirty="0"/>
              <a:t>)</a:t>
            </a:r>
            <a:r>
              <a:rPr lang="zh-CN" altLang="en-US" sz="1800" dirty="0"/>
              <a:t>。　　</a:t>
            </a:r>
          </a:p>
          <a:p>
            <a:pPr marL="0" indent="0">
              <a:buNone/>
            </a:pPr>
            <a:r>
              <a:rPr lang="zh-CN" altLang="en-US" sz="1800" dirty="0"/>
              <a:t>另外，</a:t>
            </a:r>
            <a:r>
              <a:rPr lang="en-US" altLang="zh-CN" sz="1800" dirty="0"/>
              <a:t>~</a:t>
            </a:r>
            <a:r>
              <a:rPr lang="zh-CN" altLang="en-US" sz="1800" dirty="0"/>
              <a:t>表示为 </a:t>
            </a:r>
            <a:r>
              <a:rPr lang="en-US" altLang="zh-CN" sz="1800" dirty="0"/>
              <a:t>home directory </a:t>
            </a:r>
            <a:r>
              <a:rPr lang="zh-CN" altLang="en-US" sz="1800" dirty="0"/>
              <a:t>的意思，</a:t>
            </a:r>
            <a:r>
              <a:rPr lang="en-US" altLang="zh-CN" sz="1800" dirty="0"/>
              <a:t>. </a:t>
            </a:r>
            <a:r>
              <a:rPr lang="zh-CN" altLang="en-US" sz="1800" dirty="0"/>
              <a:t>则是表示目前所在的目录，</a:t>
            </a:r>
            <a:r>
              <a:rPr lang="en-US" altLang="zh-CN" sz="1800" dirty="0"/>
              <a:t>.. </a:t>
            </a:r>
            <a:r>
              <a:rPr lang="zh-CN" altLang="en-US" sz="1800" dirty="0"/>
              <a:t>则表示目前目录位置的上一层目录。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比如：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绝对路径：</a:t>
            </a:r>
            <a:r>
              <a:rPr lang="en-US" altLang="zh-CN" sz="1800" dirty="0"/>
              <a:t>cd /</a:t>
            </a:r>
            <a:r>
              <a:rPr lang="en-US" altLang="zh-CN" sz="1800" dirty="0" err="1"/>
              <a:t>usr</a:t>
            </a:r>
            <a:r>
              <a:rPr lang="en-US" altLang="zh-CN" sz="1800" dirty="0"/>
              <a:t>/</a:t>
            </a:r>
            <a:r>
              <a:rPr lang="en-US" altLang="zh-CN" sz="1800" dirty="0" err="1"/>
              <a:t>src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相对路径：</a:t>
            </a:r>
            <a:r>
              <a:rPr lang="en-US" altLang="zh-CN" sz="1800" dirty="0"/>
              <a:t>cd ../</a:t>
            </a:r>
            <a:r>
              <a:rPr lang="en-US" altLang="zh-CN" sz="1800" dirty="0" err="1"/>
              <a:t>usr</a:t>
            </a:r>
            <a:r>
              <a:rPr lang="en-US" altLang="zh-CN" sz="1800" dirty="0"/>
              <a:t>/</a:t>
            </a:r>
          </a:p>
          <a:p>
            <a:pPr marL="0" indent="0">
              <a:buNone/>
            </a:pPr>
            <a:r>
              <a:rPr lang="en-US" altLang="zh-CN" sz="1800" dirty="0"/>
              <a:t>cd ~</a:t>
            </a:r>
          </a:p>
          <a:p>
            <a:pPr marL="0" indent="0">
              <a:buNone/>
            </a:pPr>
            <a:r>
              <a:rPr lang="en-US" altLang="zh-CN" sz="1800" dirty="0"/>
              <a:t>cd ..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4487774-DC35-4E69-ABD9-8FC279FC5951}" type="datetime1">
              <a:rPr lang="zh-CN" altLang="en-US" smtClean="0"/>
              <a:t>2024/4/30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98440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pwd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用于显示当前目录 </a:t>
            </a:r>
            <a:r>
              <a:rPr lang="en-US" altLang="zh-CN" dirty="0"/>
              <a:t>print work dir</a:t>
            </a:r>
          </a:p>
          <a:p>
            <a:pPr marL="0" indent="0">
              <a:buNone/>
            </a:pPr>
            <a:r>
              <a:rPr lang="zh-CN" altLang="en-US" dirty="0"/>
              <a:t>例如：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[</a:t>
            </a:r>
            <a:r>
              <a:rPr lang="en-US" altLang="zh-CN" dirty="0" err="1"/>
              <a:t>root@localhost</a:t>
            </a:r>
            <a:r>
              <a:rPr lang="en-US" altLang="zh-CN" dirty="0"/>
              <a:t> Desktop]# </a:t>
            </a:r>
            <a:r>
              <a:rPr lang="en-US" altLang="zh-CN" dirty="0" err="1"/>
              <a:t>pwd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/root/Desktop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D449249-AF64-44B1-B2B3-4A51A0497ABE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034468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用于一次显示整个文件。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例如：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600" dirty="0"/>
              <a:t>[</a:t>
            </a:r>
            <a:r>
              <a:rPr lang="en-US" altLang="zh-CN" sz="1600" dirty="0" err="1"/>
              <a:t>root@localhost</a:t>
            </a:r>
            <a:r>
              <a:rPr lang="en-US" altLang="zh-CN" sz="1600" dirty="0"/>
              <a:t> ~]# cat /</a:t>
            </a:r>
            <a:r>
              <a:rPr lang="en-US" altLang="zh-CN" sz="1600" dirty="0" err="1"/>
              <a:t>usr</a:t>
            </a:r>
            <a:r>
              <a:rPr lang="en-US" altLang="zh-CN" sz="1600" dirty="0"/>
              <a:t>/share/doc/vim-common-7.2.411/</a:t>
            </a:r>
            <a:r>
              <a:rPr lang="en-US" altLang="zh-CN" sz="1600" dirty="0" err="1"/>
              <a:t>Changelog.rpm</a:t>
            </a:r>
            <a:r>
              <a:rPr lang="en-US" altLang="zh-CN" sz="1600" dirty="0"/>
              <a:t> </a:t>
            </a:r>
          </a:p>
          <a:p>
            <a:pPr marL="0" indent="0">
              <a:buNone/>
            </a:pPr>
            <a:r>
              <a:rPr lang="en-US" altLang="zh-CN" sz="1600" dirty="0"/>
              <a:t>* Fri Jul 04 2008 </a:t>
            </a:r>
            <a:r>
              <a:rPr lang="en-US" altLang="zh-CN" sz="1600" dirty="0" err="1"/>
              <a:t>Karsten</a:t>
            </a:r>
            <a:r>
              <a:rPr lang="en-US" altLang="zh-CN" sz="1600" dirty="0"/>
              <a:t> </a:t>
            </a:r>
            <a:r>
              <a:rPr lang="en-US" altLang="zh-CN" sz="1600" dirty="0" err="1"/>
              <a:t>Hopp</a:t>
            </a:r>
            <a:r>
              <a:rPr lang="en-US" altLang="zh-CN" sz="1600" dirty="0"/>
              <a:t> &lt;karsten@redhat.com&gt; 7.1.330-2</a:t>
            </a:r>
          </a:p>
          <a:p>
            <a:pPr marL="0" indent="0">
              <a:buNone/>
            </a:pPr>
            <a:r>
              <a:rPr lang="en-US" altLang="zh-CN" sz="1600" dirty="0"/>
              <a:t>- new rpm doesn't like zero filled, 3 digit patch numbers</a:t>
            </a:r>
          </a:p>
          <a:p>
            <a:pPr marL="0" indent="0">
              <a:buNone/>
            </a:pP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* Fri Jul 04 2008 </a:t>
            </a:r>
            <a:r>
              <a:rPr lang="en-US" altLang="zh-CN" sz="1600" dirty="0" err="1"/>
              <a:t>Karsten</a:t>
            </a:r>
            <a:r>
              <a:rPr lang="en-US" altLang="zh-CN" sz="1600" dirty="0"/>
              <a:t> </a:t>
            </a:r>
            <a:r>
              <a:rPr lang="en-US" altLang="zh-CN" sz="1600" dirty="0" err="1"/>
              <a:t>Hopp</a:t>
            </a:r>
            <a:r>
              <a:rPr lang="en-US" altLang="zh-CN" sz="1600" dirty="0"/>
              <a:t> &lt;karsten@redhat.com&gt; 7.1.330-1</a:t>
            </a:r>
          </a:p>
          <a:p>
            <a:pPr marL="0" indent="0">
              <a:buNone/>
            </a:pPr>
            <a:r>
              <a:rPr lang="en-US" altLang="zh-CN" sz="1600" dirty="0"/>
              <a:t>- </a:t>
            </a:r>
            <a:r>
              <a:rPr lang="en-US" altLang="zh-CN" sz="1600" dirty="0" err="1"/>
              <a:t>patchlevel</a:t>
            </a:r>
            <a:r>
              <a:rPr lang="en-US" altLang="zh-CN" sz="1600" dirty="0"/>
              <a:t> 330</a:t>
            </a:r>
            <a:endParaRPr lang="zh-CN" altLang="en-US" sz="16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7E239C3-5156-49BD-9FED-0A0BEB81D5CC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2399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more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000" dirty="0"/>
              <a:t>类似 </a:t>
            </a:r>
            <a:r>
              <a:rPr lang="en-US" altLang="zh-CN" sz="2000" dirty="0"/>
              <a:t>cat </a:t>
            </a:r>
            <a:r>
              <a:rPr lang="zh-CN" altLang="en-US" sz="2000" dirty="0"/>
              <a:t>，不过会以一页一页的显示方便使用者逐页阅读，而最基本的指令就是按空白键（</a:t>
            </a:r>
            <a:r>
              <a:rPr lang="en-US" altLang="zh-CN" sz="2000" dirty="0"/>
              <a:t>space</a:t>
            </a:r>
            <a:r>
              <a:rPr lang="zh-CN" altLang="en-US" sz="2000" dirty="0"/>
              <a:t>）就往下一页显示，按 </a:t>
            </a:r>
            <a:r>
              <a:rPr lang="en-US" altLang="zh-CN" sz="2000" dirty="0"/>
              <a:t>b </a:t>
            </a:r>
            <a:r>
              <a:rPr lang="zh-CN" altLang="en-US" sz="2000" dirty="0"/>
              <a:t>键就会往回（</a:t>
            </a:r>
            <a:r>
              <a:rPr lang="en-US" altLang="zh-CN" sz="2000" dirty="0"/>
              <a:t>back</a:t>
            </a:r>
            <a:r>
              <a:rPr lang="zh-CN" altLang="en-US" sz="2000" dirty="0"/>
              <a:t>）一页显示。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7733C58-EF12-437B-98D3-28AC96796EF3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26467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3" y="1124745"/>
            <a:ext cx="8508876" cy="482520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功能：</a:t>
            </a:r>
            <a:r>
              <a:rPr lang="en-US" altLang="zh-CN" dirty="0" err="1"/>
              <a:t>ls</a:t>
            </a:r>
            <a:r>
              <a:rPr lang="zh-CN" altLang="en-US" dirty="0"/>
              <a:t>命令是</a:t>
            </a:r>
            <a:r>
              <a:rPr lang="en-US" altLang="zh-CN" dirty="0" err="1"/>
              <a:t>linux</a:t>
            </a:r>
            <a:r>
              <a:rPr lang="zh-CN" altLang="en-US" dirty="0"/>
              <a:t>下最常用的命令。</a:t>
            </a:r>
            <a:r>
              <a:rPr lang="en-US" altLang="zh-CN" dirty="0" err="1"/>
              <a:t>ls</a:t>
            </a:r>
            <a:r>
              <a:rPr lang="zh-CN" altLang="en-US" dirty="0"/>
              <a:t>命令就是</a:t>
            </a:r>
            <a:r>
              <a:rPr lang="en-US" altLang="zh-CN" dirty="0"/>
              <a:t>list</a:t>
            </a:r>
            <a:r>
              <a:rPr lang="zh-CN" altLang="en-US" dirty="0"/>
              <a:t>的缩写，缺省下</a:t>
            </a:r>
            <a:r>
              <a:rPr lang="en-US" altLang="zh-CN" dirty="0" err="1"/>
              <a:t>ls</a:t>
            </a:r>
            <a:r>
              <a:rPr lang="zh-CN" altLang="en-US" dirty="0"/>
              <a:t>用来打印出当前目录的清单。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语法：</a:t>
            </a:r>
            <a:r>
              <a:rPr lang="en-US" altLang="zh-CN" dirty="0" err="1"/>
              <a:t>ls</a:t>
            </a:r>
            <a:r>
              <a:rPr lang="en-US" altLang="zh-CN" dirty="0"/>
              <a:t> [</a:t>
            </a:r>
            <a:r>
              <a:rPr lang="zh-CN" altLang="en-US" dirty="0"/>
              <a:t>选项</a:t>
            </a:r>
            <a:r>
              <a:rPr lang="en-US" altLang="zh-CN" dirty="0"/>
              <a:t>] [</a:t>
            </a:r>
            <a:r>
              <a:rPr lang="zh-CN" altLang="en-US" dirty="0"/>
              <a:t>目录名</a:t>
            </a:r>
            <a:r>
              <a:rPr lang="en-US" altLang="zh-CN" dirty="0"/>
              <a:t>]</a:t>
            </a:r>
          </a:p>
          <a:p>
            <a:pPr marL="0" indent="0">
              <a:buNone/>
            </a:pPr>
            <a:r>
              <a:rPr lang="zh-CN" altLang="en-US" dirty="0"/>
              <a:t>常用选项：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800" dirty="0"/>
              <a:t>-a, –all </a:t>
            </a:r>
            <a:r>
              <a:rPr lang="zh-CN" altLang="en-US" sz="1800" dirty="0"/>
              <a:t>列出目录下的所有文件，包括以 </a:t>
            </a:r>
            <a:r>
              <a:rPr lang="en-US" altLang="zh-CN" sz="1800" dirty="0"/>
              <a:t>. </a:t>
            </a:r>
            <a:r>
              <a:rPr lang="zh-CN" altLang="en-US" sz="1800" dirty="0"/>
              <a:t>开头的隐含文件</a:t>
            </a:r>
          </a:p>
          <a:p>
            <a:pPr marL="0" indent="0">
              <a:buNone/>
            </a:pPr>
            <a:r>
              <a:rPr lang="en-US" altLang="zh-CN" sz="1800" dirty="0"/>
              <a:t>-d, –directory </a:t>
            </a:r>
            <a:r>
              <a:rPr lang="zh-CN" altLang="en-US" sz="1800" dirty="0"/>
              <a:t>将目录象文件一样显示，而不是显示其下的文件。</a:t>
            </a:r>
          </a:p>
          <a:p>
            <a:pPr marL="0" indent="0">
              <a:buNone/>
            </a:pPr>
            <a:r>
              <a:rPr lang="en-US" altLang="zh-CN" sz="1800" dirty="0"/>
              <a:t>-h, –human-readable </a:t>
            </a:r>
            <a:r>
              <a:rPr lang="zh-CN" altLang="en-US" sz="1800" dirty="0"/>
              <a:t>以容易理解的格式列出文件大小 </a:t>
            </a:r>
            <a:r>
              <a:rPr lang="en-US" altLang="zh-CN" sz="1800" dirty="0"/>
              <a:t>(</a:t>
            </a:r>
            <a:r>
              <a:rPr lang="zh-CN" altLang="en-US" sz="1800" dirty="0"/>
              <a:t>例如 </a:t>
            </a:r>
            <a:r>
              <a:rPr lang="en-US" altLang="zh-CN" sz="1800" dirty="0"/>
              <a:t>1K 234M 2G)</a:t>
            </a:r>
          </a:p>
          <a:p>
            <a:pPr marL="0" indent="0">
              <a:buNone/>
            </a:pPr>
            <a:r>
              <a:rPr lang="en-US" altLang="zh-CN" sz="1800" dirty="0"/>
              <a:t>-l </a:t>
            </a:r>
            <a:r>
              <a:rPr lang="zh-CN" altLang="en-US" sz="1800" dirty="0"/>
              <a:t>除了文件名之外，还将文件的权限、所有者、文件大小等信息详细列出来。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这些选项可以组合使用，比如</a:t>
            </a:r>
            <a:r>
              <a:rPr lang="en-US" altLang="zh-CN" sz="1800" dirty="0" err="1"/>
              <a:t>ls</a:t>
            </a:r>
            <a:r>
              <a:rPr lang="en-US" altLang="zh-CN" sz="1800" dirty="0"/>
              <a:t> –</a:t>
            </a:r>
            <a:r>
              <a:rPr lang="en-US" altLang="zh-CN" sz="1800" dirty="0" err="1"/>
              <a:t>ahl</a:t>
            </a:r>
            <a:r>
              <a:rPr lang="en-US" altLang="zh-CN" sz="1800" dirty="0"/>
              <a:t> /root/</a:t>
            </a:r>
          </a:p>
          <a:p>
            <a:pPr marL="0" indent="0">
              <a:buNone/>
            </a:pPr>
            <a:r>
              <a:rPr lang="en-US" altLang="zh-CN" sz="1800" dirty="0" err="1"/>
              <a:t>ls</a:t>
            </a:r>
            <a:r>
              <a:rPr lang="en-US" altLang="zh-CN" sz="1800" dirty="0"/>
              <a:t> –l=</a:t>
            </a:r>
            <a:r>
              <a:rPr lang="en-US" altLang="zh-CN" sz="1800" dirty="0" err="1"/>
              <a:t>ll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 err="1"/>
              <a:t>Ls</a:t>
            </a:r>
            <a:r>
              <a:rPr lang="en-US" altLang="zh-CN" sz="1800" dirty="0"/>
              <a:t> –al/</a:t>
            </a:r>
            <a:r>
              <a:rPr lang="en-US" altLang="zh-CN" sz="1800" dirty="0" err="1"/>
              <a:t>ll</a:t>
            </a:r>
            <a:r>
              <a:rPr lang="en-US" altLang="zh-CN" sz="1800" dirty="0"/>
              <a:t> -a</a:t>
            </a:r>
            <a:endParaRPr lang="zh-CN" altLang="en-US" sz="1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92BEBB-B8BA-47F4-959D-AF70DB6AAD01}" type="datetime1">
              <a:rPr lang="zh-CN" altLang="en-US" smtClean="0"/>
              <a:t>2024/4/30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595724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mkdir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功能：用来创建目录。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语法：</a:t>
            </a:r>
            <a:r>
              <a:rPr lang="en-US" altLang="zh-CN" dirty="0" err="1"/>
              <a:t>mkdir</a:t>
            </a:r>
            <a:r>
              <a:rPr lang="en-US" altLang="zh-CN" dirty="0"/>
              <a:t> [-p] {NEW_DIR}</a:t>
            </a:r>
          </a:p>
          <a:p>
            <a:pPr marL="0" indent="0">
              <a:buNone/>
            </a:pPr>
            <a:r>
              <a:rPr lang="en-US" altLang="zh-CN" dirty="0"/>
              <a:t>-p</a:t>
            </a:r>
            <a:r>
              <a:rPr lang="zh-CN" altLang="en-US" dirty="0"/>
              <a:t>参数：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如果目录路径中的某些部分不存在，该命令会自动创建。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CC318FC-05DC-4F37-961E-5ADCF5806150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56863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rm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功能：</a:t>
            </a:r>
            <a:r>
              <a:rPr lang="zh-CN" altLang="en-US" sz="1800" dirty="0"/>
              <a:t>删除文件。该命令的功能为删除一个目录中的一个或多个文件或目录，它也可以将某个目录及其下的所有文件及子目录均删除。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dirty="0"/>
              <a:t>常用参数：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600" dirty="0"/>
              <a:t>-d</a:t>
            </a:r>
            <a:r>
              <a:rPr lang="zh-CN" altLang="en-US" sz="1600" dirty="0"/>
              <a:t>　直接把欲删除的目录的硬连接数据删成</a:t>
            </a:r>
            <a:r>
              <a:rPr lang="en-US" altLang="zh-CN" sz="1600" dirty="0"/>
              <a:t>0</a:t>
            </a:r>
            <a:r>
              <a:rPr lang="zh-CN" altLang="en-US" sz="1600" dirty="0"/>
              <a:t>，删除该目录。 </a:t>
            </a:r>
          </a:p>
          <a:p>
            <a:pPr marL="0" indent="0">
              <a:buNone/>
            </a:pPr>
            <a:r>
              <a:rPr lang="en-US" altLang="zh-CN" sz="1600" dirty="0"/>
              <a:t>-f</a:t>
            </a:r>
            <a:r>
              <a:rPr lang="zh-CN" altLang="en-US" sz="1600" dirty="0"/>
              <a:t>　强制删除文件或目录。 </a:t>
            </a:r>
          </a:p>
          <a:p>
            <a:pPr marL="0" indent="0">
              <a:buNone/>
            </a:pPr>
            <a:r>
              <a:rPr lang="en-US" altLang="zh-CN" sz="1600" dirty="0"/>
              <a:t>-</a:t>
            </a:r>
            <a:r>
              <a:rPr lang="en-US" altLang="zh-CN" sz="1600" dirty="0" err="1"/>
              <a:t>i</a:t>
            </a:r>
            <a:r>
              <a:rPr lang="zh-CN" altLang="en-US" sz="1600" dirty="0"/>
              <a:t>　删除既有文件或目录之前先询问用户。 </a:t>
            </a:r>
          </a:p>
          <a:p>
            <a:pPr marL="0" indent="0">
              <a:buNone/>
            </a:pPr>
            <a:r>
              <a:rPr lang="en-US" altLang="zh-CN" sz="1600" dirty="0"/>
              <a:t>-r</a:t>
            </a:r>
            <a:r>
              <a:rPr lang="zh-CN" altLang="en-US" sz="1600" dirty="0"/>
              <a:t>　递归处理，将指定目录下的所有文件及子目录一并处理。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2A7D282-F576-4B25-A0A4-F2B1D9F0C79E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04868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语法：</a:t>
            </a:r>
            <a:r>
              <a:rPr lang="en-US" altLang="zh-CN" dirty="0"/>
              <a:t>mv [</a:t>
            </a:r>
            <a:r>
              <a:rPr lang="zh-CN" altLang="en-US" dirty="0"/>
              <a:t>选项</a:t>
            </a:r>
            <a:r>
              <a:rPr lang="en-US" altLang="zh-CN" dirty="0"/>
              <a:t>] </a:t>
            </a:r>
            <a:r>
              <a:rPr lang="zh-CN" altLang="en-US" dirty="0"/>
              <a:t>源文件或目录 目标文件或目录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功能：</a:t>
            </a:r>
            <a:r>
              <a:rPr lang="zh-CN" altLang="en-US" sz="1800" dirty="0"/>
              <a:t>视</a:t>
            </a:r>
            <a:r>
              <a:rPr lang="en-US" altLang="zh-CN" sz="1800" dirty="0"/>
              <a:t>mv</a:t>
            </a:r>
            <a:r>
              <a:rPr lang="zh-CN" altLang="en-US" sz="1800" dirty="0"/>
              <a:t>命令中第二个参数类型的不同（是目标文件还是目标目录），当第二个参数类型是目录时，</a:t>
            </a:r>
            <a:r>
              <a:rPr lang="en-US" altLang="zh-CN" sz="1800" dirty="0"/>
              <a:t>mv</a:t>
            </a:r>
            <a:r>
              <a:rPr lang="zh-CN" altLang="en-US" sz="1800" dirty="0"/>
              <a:t>命令将目录重命名或将其移至一个新的目录中。是文件时，</a:t>
            </a:r>
            <a:r>
              <a:rPr lang="en-US" altLang="zh-CN" sz="1800" dirty="0"/>
              <a:t>mv</a:t>
            </a:r>
            <a:r>
              <a:rPr lang="zh-CN" altLang="en-US" sz="1800" dirty="0"/>
              <a:t>命令完成文件重命名。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dirty="0"/>
              <a:t>参数：</a:t>
            </a:r>
            <a:r>
              <a:rPr lang="en-US" altLang="zh-CN" sz="1800" dirty="0"/>
              <a:t>-f </a:t>
            </a:r>
            <a:r>
              <a:rPr lang="zh-CN" altLang="en-US" sz="1800" dirty="0"/>
              <a:t>：</a:t>
            </a:r>
            <a:r>
              <a:rPr lang="en-US" altLang="zh-CN" sz="1800" dirty="0"/>
              <a:t>force </a:t>
            </a:r>
            <a:r>
              <a:rPr lang="zh-CN" altLang="en-US" sz="1800" dirty="0"/>
              <a:t>强制的意思，如果目标文件已经存在，不会询问而直接覆盖。</a:t>
            </a:r>
            <a:endParaRPr lang="en-US" altLang="zh-CN" sz="1800" dirty="0"/>
          </a:p>
          <a:p>
            <a:pPr marL="0" indent="0">
              <a:buNone/>
            </a:pPr>
            <a:endParaRPr lang="zh-CN" altLang="en-US" sz="1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F91FA45-5EC0-40E0-9BA9-9E1F6436D657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6884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语法：</a:t>
            </a:r>
            <a:r>
              <a:rPr lang="en-US" altLang="zh-CN" sz="1800" dirty="0" err="1"/>
              <a:t>cp</a:t>
            </a:r>
            <a:r>
              <a:rPr lang="en-US" altLang="zh-CN" sz="1800" dirty="0"/>
              <a:t> [options] &lt;</a:t>
            </a:r>
            <a:r>
              <a:rPr lang="zh-CN" altLang="en-US" sz="1800" dirty="0"/>
              <a:t>源文件或目录</a:t>
            </a:r>
            <a:r>
              <a:rPr lang="en-US" altLang="zh-CN" sz="1800" dirty="0"/>
              <a:t>&gt; &lt;</a:t>
            </a:r>
            <a:r>
              <a:rPr lang="zh-CN" altLang="en-US" sz="1800" dirty="0"/>
              <a:t>目标文件或目录</a:t>
            </a:r>
            <a:r>
              <a:rPr lang="en-US" altLang="zh-CN" sz="1800" dirty="0"/>
              <a:t>&gt;</a:t>
            </a:r>
          </a:p>
          <a:p>
            <a:pPr marL="0" indent="0">
              <a:buNone/>
            </a:pPr>
            <a:r>
              <a:rPr lang="zh-CN" altLang="en-US" dirty="0"/>
              <a:t>功能：</a:t>
            </a:r>
            <a:r>
              <a:rPr lang="en-US" altLang="zh-CN" sz="1800" dirty="0" err="1"/>
              <a:t>cp</a:t>
            </a:r>
            <a:r>
              <a:rPr lang="zh-CN" altLang="en-US" sz="1800" dirty="0"/>
              <a:t>命令可以将指定路径下的文件（目录）拷贝到（成）另一文件或目录中。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dirty="0"/>
              <a:t>选项：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800" dirty="0"/>
              <a:t>- a </a:t>
            </a:r>
            <a:r>
              <a:rPr lang="zh-CN" altLang="en-US" sz="1800" dirty="0"/>
              <a:t>保留链接和文件属性，递归拷贝目录，相当于下面的</a:t>
            </a:r>
            <a:r>
              <a:rPr lang="en-US" altLang="zh-CN" sz="1800" dirty="0"/>
              <a:t>d</a:t>
            </a:r>
            <a:r>
              <a:rPr lang="zh-CN" altLang="en-US" sz="1800" dirty="0"/>
              <a:t>、</a:t>
            </a:r>
            <a:r>
              <a:rPr lang="en-US" altLang="zh-CN" sz="1800" dirty="0"/>
              <a:t>p</a:t>
            </a:r>
            <a:r>
              <a:rPr lang="zh-CN" altLang="en-US" sz="1800" dirty="0"/>
              <a:t>、</a:t>
            </a:r>
            <a:r>
              <a:rPr lang="en-US" altLang="zh-CN" sz="1800" dirty="0"/>
              <a:t>r</a:t>
            </a:r>
            <a:r>
              <a:rPr lang="zh-CN" altLang="en-US" sz="1800" dirty="0"/>
              <a:t>三个选项组合。</a:t>
            </a:r>
          </a:p>
          <a:p>
            <a:pPr marL="0" indent="0">
              <a:buNone/>
            </a:pPr>
            <a:r>
              <a:rPr lang="en-US" altLang="zh-CN" sz="1800" dirty="0"/>
              <a:t>- f </a:t>
            </a:r>
            <a:r>
              <a:rPr lang="zh-CN" altLang="en-US" sz="1800" dirty="0"/>
              <a:t>覆盖已经存在目标文件而不提示。</a:t>
            </a:r>
          </a:p>
          <a:p>
            <a:pPr marL="0" indent="0">
              <a:buNone/>
            </a:pPr>
            <a:r>
              <a:rPr lang="en-US" altLang="zh-CN" sz="1800" dirty="0"/>
              <a:t>- p </a:t>
            </a:r>
            <a:r>
              <a:rPr lang="zh-CN" altLang="en-US" sz="1800" dirty="0"/>
              <a:t>复制源文件内容后，还将把其修改时间和访问权限也复制到新文件中。</a:t>
            </a:r>
          </a:p>
          <a:p>
            <a:pPr marL="0" indent="0">
              <a:buNone/>
            </a:pPr>
            <a:r>
              <a:rPr lang="en-US" altLang="zh-CN" sz="1800" dirty="0"/>
              <a:t>- r </a:t>
            </a:r>
            <a:r>
              <a:rPr lang="zh-CN" altLang="en-US" sz="1800" dirty="0"/>
              <a:t>若源文件是一目录文件，此时</a:t>
            </a:r>
            <a:r>
              <a:rPr lang="en-US" altLang="zh-CN" sz="1800" dirty="0" err="1"/>
              <a:t>cp</a:t>
            </a:r>
            <a:r>
              <a:rPr lang="zh-CN" altLang="en-US" sz="1800" dirty="0"/>
              <a:t>将递归复制该目录下所有的子目录和文件。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21B4ED-FE5B-4E4B-93E0-B91EAB074AA7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00809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chmod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功能：</a:t>
            </a:r>
            <a:r>
              <a:rPr lang="zh-CN" altLang="en-US" sz="1800" dirty="0"/>
              <a:t>用于改变文件或目录的访问权限。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dirty="0"/>
              <a:t>语法：</a:t>
            </a:r>
            <a:r>
              <a:rPr lang="en-US" altLang="zh-CN" sz="1800" dirty="0" err="1"/>
              <a:t>chmod</a:t>
            </a:r>
            <a:r>
              <a:rPr lang="en-US" altLang="zh-CN" sz="1800" dirty="0"/>
              <a:t> [</a:t>
            </a:r>
            <a:r>
              <a:rPr lang="zh-CN" altLang="en-US" sz="1800" dirty="0"/>
              <a:t>选项</a:t>
            </a:r>
            <a:r>
              <a:rPr lang="en-US" altLang="zh-CN" sz="1800" dirty="0"/>
              <a:t>] </a:t>
            </a:r>
            <a:r>
              <a:rPr lang="zh-CN" altLang="en-US" sz="1800" dirty="0"/>
              <a:t>目标文件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权限：</a:t>
            </a:r>
            <a:r>
              <a:rPr lang="en-US" altLang="zh-CN" sz="1800" dirty="0"/>
              <a:t>r</a:t>
            </a:r>
            <a:r>
              <a:rPr lang="zh-CN" altLang="en-US" sz="1800" dirty="0"/>
              <a:t>可读，</a:t>
            </a:r>
            <a:r>
              <a:rPr lang="en-US" altLang="zh-CN" sz="1800" dirty="0"/>
              <a:t>w</a:t>
            </a:r>
            <a:r>
              <a:rPr lang="zh-CN" altLang="en-US" sz="1800" dirty="0"/>
              <a:t>可写，</a:t>
            </a:r>
            <a:r>
              <a:rPr lang="en-US" altLang="zh-CN" sz="1800" dirty="0"/>
              <a:t>x</a:t>
            </a:r>
            <a:r>
              <a:rPr lang="zh-CN" altLang="en-US" sz="1800" dirty="0"/>
              <a:t>可执行。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dirty="0"/>
              <a:t>例如，</a:t>
            </a:r>
            <a:r>
              <a:rPr lang="zh-CN" altLang="en-US" sz="2000" dirty="0"/>
              <a:t>对文件添加执行权限：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 err="1"/>
              <a:t>chmod</a:t>
            </a:r>
            <a:r>
              <a:rPr lang="en-US" altLang="zh-CN" sz="2000" dirty="0"/>
              <a:t> +x /root/run.sh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 err="1"/>
              <a:t>chmod</a:t>
            </a:r>
            <a:r>
              <a:rPr lang="en-US" altLang="zh-CN" sz="2000" dirty="0"/>
              <a:t> 754 /root/run.sh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011B43-B88B-407A-BBC7-2130EA1CF517}" type="datetime1">
              <a:rPr lang="zh-CN" altLang="en-US" smtClean="0"/>
              <a:t>2024/4/30</a:t>
            </a:fld>
            <a:endParaRPr lang="en-US" altLang="zh-CN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F0EB38-D58C-4065-B209-B757A87F21B4}"/>
              </a:ext>
            </a:extLst>
          </p:cNvPr>
          <p:cNvSpPr txBox="1"/>
          <p:nvPr/>
        </p:nvSpPr>
        <p:spPr>
          <a:xfrm>
            <a:off x="5273565" y="572552"/>
            <a:ext cx="65190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Linux/Unix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的文件调用权限分为三级 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文件所有者（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Owner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）、用户组（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Group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）、其它用户（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Other Users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）。</a:t>
            </a:r>
            <a:endParaRPr lang="zh-CN" altLang="en-US" sz="14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3A53450-846B-4780-B4FC-8210994DA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4437" y="1095772"/>
            <a:ext cx="5612773" cy="1863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1D736FD1-BECD-42F4-85B1-D136FCA36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2095" y="2959388"/>
            <a:ext cx="5715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55742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grep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功能：</a:t>
            </a:r>
            <a:r>
              <a:rPr lang="en-US" altLang="zh-CN" sz="2000" dirty="0" err="1"/>
              <a:t>grep</a:t>
            </a:r>
            <a:r>
              <a:rPr lang="zh-CN" altLang="en-US" sz="2000" dirty="0"/>
              <a:t>命令用于查找文件里符合条件的字符串，并把匹配的行打印出来。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dirty="0"/>
              <a:t>语法：</a:t>
            </a:r>
            <a:r>
              <a:rPr lang="en-US" altLang="zh-CN" sz="2000" dirty="0" err="1"/>
              <a:t>grep</a:t>
            </a:r>
            <a:r>
              <a:rPr lang="en-US" altLang="zh-CN" sz="2000" dirty="0"/>
              <a:t> [</a:t>
            </a:r>
            <a:r>
              <a:rPr lang="zh-CN" altLang="en-US" sz="2000" dirty="0"/>
              <a:t>选项</a:t>
            </a:r>
            <a:r>
              <a:rPr lang="en-US" altLang="zh-CN" sz="2000" dirty="0"/>
              <a:t>] </a:t>
            </a:r>
            <a:r>
              <a:rPr lang="zh-CN" altLang="en-US" sz="2000" dirty="0"/>
              <a:t>要查找的字符串 要查找的文件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dirty="0"/>
              <a:t>选项：</a:t>
            </a:r>
            <a:r>
              <a:rPr lang="en-US" altLang="zh-CN" sz="2000" dirty="0"/>
              <a:t>-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</a:t>
            </a:r>
            <a:r>
              <a:rPr lang="zh-CN" altLang="en-US" sz="2000" dirty="0"/>
              <a:t>忽略大小写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dirty="0"/>
              <a:t>例如：</a:t>
            </a:r>
            <a:r>
              <a:rPr lang="en-US" altLang="zh-CN" sz="2000" dirty="0" err="1"/>
              <a:t>grep</a:t>
            </a:r>
            <a:r>
              <a:rPr lang="en-US" altLang="zh-CN" sz="2000" dirty="0"/>
              <a:t> -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home /root/test.txt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D6F2D48-49A3-46CA-B68D-3E8C1D38FEBD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18405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管道符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3" y="1431926"/>
            <a:ext cx="8508876" cy="451802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语法</a:t>
            </a:r>
            <a:r>
              <a:rPr lang="en-US" altLang="zh-CN" dirty="0"/>
              <a:t>: command1 | command2 </a:t>
            </a:r>
          </a:p>
          <a:p>
            <a:pPr marL="0" indent="0">
              <a:buNone/>
            </a:pPr>
            <a:r>
              <a:rPr lang="zh-CN" altLang="en-US" dirty="0"/>
              <a:t>功能</a:t>
            </a:r>
            <a:r>
              <a:rPr lang="en-US" altLang="zh-CN" dirty="0"/>
              <a:t>: </a:t>
            </a:r>
            <a:r>
              <a:rPr lang="zh-CN" altLang="en-US" dirty="0"/>
              <a:t>把第一个命令</a:t>
            </a:r>
            <a:r>
              <a:rPr lang="en-US" altLang="zh-CN" dirty="0"/>
              <a:t>command1</a:t>
            </a:r>
            <a:r>
              <a:rPr lang="zh-CN" altLang="en-US" dirty="0"/>
              <a:t>执行的结果作为</a:t>
            </a:r>
            <a:r>
              <a:rPr lang="en-US" altLang="zh-CN" dirty="0"/>
              <a:t>command2</a:t>
            </a:r>
            <a:r>
              <a:rPr lang="zh-CN" altLang="en-US" dirty="0"/>
              <a:t>的输入传给</a:t>
            </a:r>
            <a:r>
              <a:rPr lang="en-US" altLang="zh-CN" dirty="0"/>
              <a:t>command2</a:t>
            </a:r>
          </a:p>
          <a:p>
            <a:pPr marL="0" indent="0">
              <a:buNone/>
            </a:pPr>
            <a:r>
              <a:rPr lang="zh-CN" altLang="en-US" dirty="0"/>
              <a:t>例子：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ls</a:t>
            </a:r>
            <a:r>
              <a:rPr lang="en-US" altLang="zh-CN" dirty="0"/>
              <a:t> /root | </a:t>
            </a:r>
            <a:r>
              <a:rPr lang="en-US" altLang="zh-CN" dirty="0" err="1"/>
              <a:t>grep</a:t>
            </a:r>
            <a:r>
              <a:rPr lang="en-US" altLang="zh-CN" dirty="0"/>
              <a:t> -</a:t>
            </a:r>
            <a:r>
              <a:rPr lang="en-US" altLang="zh-CN" dirty="0" err="1"/>
              <a:t>i</a:t>
            </a:r>
            <a:r>
              <a:rPr lang="en-US" altLang="zh-CN" dirty="0"/>
              <a:t> test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66BDC99-88DB-4E7B-BA22-E5599F0DC5BE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77427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apt 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3" y="1417639"/>
            <a:ext cx="8508876" cy="453231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apt</a:t>
            </a:r>
            <a:r>
              <a:rPr lang="zh-CN" altLang="en-US" sz="2000" dirty="0"/>
              <a:t>（</a:t>
            </a:r>
            <a:r>
              <a:rPr lang="en-US" altLang="zh-CN" sz="2000" dirty="0"/>
              <a:t>Advanced Packaging Tool</a:t>
            </a:r>
            <a:r>
              <a:rPr lang="zh-CN" altLang="en-US" sz="2000" dirty="0"/>
              <a:t>）是一个在 </a:t>
            </a:r>
            <a:r>
              <a:rPr lang="en-US" altLang="zh-CN" sz="2000" dirty="0"/>
              <a:t>Debian </a:t>
            </a:r>
            <a:r>
              <a:rPr lang="zh-CN" altLang="en-US" sz="2000" dirty="0"/>
              <a:t>和 </a:t>
            </a:r>
            <a:r>
              <a:rPr lang="en-US" altLang="zh-CN" sz="2000" dirty="0"/>
              <a:t>Ubuntu </a:t>
            </a:r>
            <a:r>
              <a:rPr lang="zh-CN" altLang="en-US" sz="2000" dirty="0"/>
              <a:t>中的 </a:t>
            </a:r>
            <a:r>
              <a:rPr lang="en-US" altLang="zh-CN" sz="2000" dirty="0"/>
              <a:t>Shell </a:t>
            </a:r>
            <a:r>
              <a:rPr lang="zh-CN" altLang="en-US" sz="2000" dirty="0"/>
              <a:t>前端软件包管理器。</a:t>
            </a:r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en-US" altLang="zh-CN" sz="2000" dirty="0"/>
              <a:t>apt </a:t>
            </a:r>
            <a:r>
              <a:rPr lang="zh-CN" altLang="en-US" sz="2000" dirty="0"/>
              <a:t>命令提供了查找、安装、升级、删除某一个、一组甚至全部软件包的命令，而且命令简洁而又好记。</a:t>
            </a:r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en-US" altLang="zh-CN" sz="2000" dirty="0"/>
              <a:t>apt </a:t>
            </a:r>
            <a:r>
              <a:rPr lang="zh-CN" altLang="en-US" sz="2000" dirty="0"/>
              <a:t>命令执行需要超级管理员权限</a:t>
            </a:r>
            <a:r>
              <a:rPr lang="en-US" altLang="zh-CN" sz="2000" dirty="0"/>
              <a:t>(root)</a:t>
            </a:r>
            <a:r>
              <a:rPr lang="zh-CN" altLang="en-US" sz="2000" dirty="0"/>
              <a:t>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B009B4-B4E1-44CC-8B48-B85A679CA65A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34065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apt 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3" y="1417639"/>
            <a:ext cx="8508876" cy="45323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sz="2000" dirty="0"/>
              <a:t>列出所有可更新的软件清单命令：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update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升级软件包：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upgrade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列出可更新的软件包及版本信息：</a:t>
            </a:r>
            <a:r>
              <a:rPr lang="en-US" altLang="zh-CN" sz="2000" dirty="0"/>
              <a:t>apt list --upgradeable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升级软件包，升级前先删除需要更新软件包：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full-upgrade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安装指定的软件命令：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install &lt;</a:t>
            </a:r>
            <a:r>
              <a:rPr lang="en-US" altLang="zh-CN" sz="2000" dirty="0" err="1"/>
              <a:t>package_name</a:t>
            </a:r>
            <a:r>
              <a:rPr lang="en-US" altLang="zh-CN" sz="2000" dirty="0"/>
              <a:t>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安装多个软件包：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install &lt;package_1&gt; &lt;package_2&gt; &lt;package_3&gt;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更新指定的软件命令：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update &lt;</a:t>
            </a:r>
            <a:r>
              <a:rPr lang="en-US" altLang="zh-CN" sz="2000" dirty="0" err="1"/>
              <a:t>package_name</a:t>
            </a:r>
            <a:r>
              <a:rPr lang="en-US" altLang="zh-CN" sz="2000" dirty="0"/>
              <a:t>&gt;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B009B4-B4E1-44CC-8B48-B85A679CA65A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91851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apt 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3" y="1417639"/>
            <a:ext cx="8508876" cy="453231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sz="2000" dirty="0"/>
              <a:t>显示软件包具体信息</a:t>
            </a:r>
            <a:r>
              <a:rPr lang="en-US" altLang="zh-CN" sz="2000" dirty="0"/>
              <a:t>,</a:t>
            </a:r>
            <a:r>
              <a:rPr lang="zh-CN" altLang="en-US" sz="2000" dirty="0"/>
              <a:t>例如：版本号，安装大小，依赖关系等等：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show &lt;</a:t>
            </a:r>
            <a:r>
              <a:rPr lang="en-US" altLang="zh-CN" sz="2000" dirty="0" err="1"/>
              <a:t>package_name</a:t>
            </a:r>
            <a:r>
              <a:rPr lang="en-US" altLang="zh-CN" sz="2000" dirty="0"/>
              <a:t>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删除软件包命令：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remove &lt;</a:t>
            </a:r>
            <a:r>
              <a:rPr lang="en-US" altLang="zh-CN" sz="2000" dirty="0" err="1"/>
              <a:t>package_name</a:t>
            </a:r>
            <a:r>
              <a:rPr lang="en-US" altLang="zh-CN" sz="2000" dirty="0"/>
              <a:t>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清理不再使用的依赖和库文件</a:t>
            </a:r>
            <a:r>
              <a:rPr lang="en-US" altLang="zh-CN" sz="2000" dirty="0"/>
              <a:t>: 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</a:t>
            </a:r>
            <a:r>
              <a:rPr lang="en-US" altLang="zh-CN" sz="2000" dirty="0" err="1"/>
              <a:t>autoremove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移除软件包及配置文件</a:t>
            </a:r>
            <a:r>
              <a:rPr lang="en-US" altLang="zh-CN" sz="2000" dirty="0"/>
              <a:t>: 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purge &lt;</a:t>
            </a:r>
            <a:r>
              <a:rPr lang="en-US" altLang="zh-CN" sz="2000" dirty="0" err="1"/>
              <a:t>package_name</a:t>
            </a:r>
            <a:r>
              <a:rPr lang="en-US" altLang="zh-CN" sz="2000" dirty="0"/>
              <a:t>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查找软件包命令： 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apt search &lt;keyword&gt;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列出所有已安装的包：</a:t>
            </a:r>
            <a:r>
              <a:rPr lang="en-US" altLang="zh-CN" sz="2000" dirty="0"/>
              <a:t>apt list --installed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列出所有已安装的包的版本信息：</a:t>
            </a:r>
            <a:r>
              <a:rPr lang="en-US" altLang="zh-CN" sz="2000" dirty="0"/>
              <a:t>apt list --all-versions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B009B4-B4E1-44CC-8B48-B85A679CA65A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93595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yum 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3" y="1417639"/>
            <a:ext cx="8508876" cy="453231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yum</a:t>
            </a:r>
            <a:r>
              <a:rPr lang="zh-CN" altLang="en-US" sz="2000" dirty="0"/>
              <a:t>（ </a:t>
            </a:r>
            <a:r>
              <a:rPr lang="en-US" altLang="zh-CN" sz="2000" dirty="0"/>
              <a:t>Yellow dog Updater, Modified</a:t>
            </a:r>
            <a:r>
              <a:rPr lang="zh-CN" altLang="en-US" sz="2000" dirty="0"/>
              <a:t>）是一个在 </a:t>
            </a:r>
            <a:r>
              <a:rPr lang="en-US" altLang="zh-CN" sz="2000" dirty="0"/>
              <a:t>Fedora </a:t>
            </a:r>
            <a:r>
              <a:rPr lang="zh-CN" altLang="en-US" sz="2000" dirty="0"/>
              <a:t>和 </a:t>
            </a:r>
            <a:r>
              <a:rPr lang="en-US" altLang="zh-CN" sz="2000" dirty="0"/>
              <a:t>RedHat </a:t>
            </a:r>
            <a:r>
              <a:rPr lang="zh-CN" altLang="en-US" sz="2000" dirty="0"/>
              <a:t>以及 </a:t>
            </a:r>
            <a:r>
              <a:rPr lang="en-US" altLang="zh-CN" sz="2000" dirty="0"/>
              <a:t>SUSE </a:t>
            </a:r>
            <a:r>
              <a:rPr lang="zh-CN" altLang="en-US" sz="2000" dirty="0"/>
              <a:t>中的 </a:t>
            </a:r>
            <a:r>
              <a:rPr lang="en-US" altLang="zh-CN" sz="2000" dirty="0"/>
              <a:t>Shell </a:t>
            </a:r>
            <a:r>
              <a:rPr lang="zh-CN" altLang="en-US" sz="2000" dirty="0"/>
              <a:t>前端软件包管理器。</a:t>
            </a:r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/>
              <a:t>基于 </a:t>
            </a:r>
            <a:r>
              <a:rPr lang="en-US" altLang="zh-CN" sz="2000" dirty="0"/>
              <a:t>RPM </a:t>
            </a:r>
            <a:r>
              <a:rPr lang="zh-CN" altLang="en-US" sz="2000" dirty="0"/>
              <a:t>包管理，能够从指定的服务器自动下载 </a:t>
            </a:r>
            <a:r>
              <a:rPr lang="en-US" altLang="zh-CN" sz="2000" dirty="0"/>
              <a:t>RPM </a:t>
            </a:r>
            <a:r>
              <a:rPr lang="zh-CN" altLang="en-US" sz="2000" dirty="0"/>
              <a:t>包并且安装，可以自动处理依赖性关系，并且一次安装所有依赖的软件包，无须繁琐地一次次下载、安装。</a:t>
            </a:r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en-US" altLang="zh-CN" sz="2000" dirty="0"/>
              <a:t>yum </a:t>
            </a:r>
            <a:r>
              <a:rPr lang="zh-CN" altLang="en-US" sz="2000" dirty="0"/>
              <a:t>提供了查找、安装、删除某一个、一组甚至全部软件包的命令，而且命令简洁而又好记。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B009B4-B4E1-44CC-8B48-B85A679CA65A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43344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yum 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3" y="1417639"/>
            <a:ext cx="8508876" cy="4532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1. </a:t>
            </a:r>
            <a:r>
              <a:rPr lang="zh-CN" altLang="en-US" sz="2000" dirty="0"/>
              <a:t>列出所有可更新的软件清单命令：</a:t>
            </a:r>
            <a:r>
              <a:rPr lang="en-US" altLang="zh-CN" sz="2000" dirty="0"/>
              <a:t>yum check-update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2. </a:t>
            </a:r>
            <a:r>
              <a:rPr lang="zh-CN" altLang="en-US" sz="2000" dirty="0"/>
              <a:t>更新所有软件命令：</a:t>
            </a:r>
            <a:r>
              <a:rPr lang="en-US" altLang="zh-CN" sz="2000" dirty="0"/>
              <a:t>yum update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3. </a:t>
            </a:r>
            <a:r>
              <a:rPr lang="zh-CN" altLang="en-US" sz="2000" dirty="0"/>
              <a:t>仅安装指定的软件命令：</a:t>
            </a:r>
            <a:r>
              <a:rPr lang="en-US" altLang="zh-CN" sz="2000" dirty="0"/>
              <a:t>yum install &lt;</a:t>
            </a:r>
            <a:r>
              <a:rPr lang="en-US" altLang="zh-CN" sz="2000" dirty="0" err="1"/>
              <a:t>package_name</a:t>
            </a:r>
            <a:r>
              <a:rPr lang="en-US" altLang="zh-CN" sz="2000" dirty="0"/>
              <a:t>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4. </a:t>
            </a:r>
            <a:r>
              <a:rPr lang="zh-CN" altLang="en-US" sz="2000" dirty="0"/>
              <a:t>仅更新指定的软件命令：</a:t>
            </a:r>
            <a:r>
              <a:rPr lang="en-US" altLang="zh-CN" sz="2000" dirty="0"/>
              <a:t>yum update &lt;</a:t>
            </a:r>
            <a:r>
              <a:rPr lang="en-US" altLang="zh-CN" sz="2000" dirty="0" err="1"/>
              <a:t>package_name</a:t>
            </a:r>
            <a:r>
              <a:rPr lang="en-US" altLang="zh-CN" sz="2000" dirty="0"/>
              <a:t>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5. </a:t>
            </a:r>
            <a:r>
              <a:rPr lang="zh-CN" altLang="en-US" sz="2000" dirty="0"/>
              <a:t>列出所有可安裝的软件清单命令：</a:t>
            </a:r>
            <a:r>
              <a:rPr lang="en-US" altLang="zh-CN" sz="2000" dirty="0"/>
              <a:t>yum list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B009B4-B4E1-44CC-8B48-B85A679CA65A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59787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yum 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3" y="1417639"/>
            <a:ext cx="8508876" cy="4532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6. </a:t>
            </a:r>
            <a:r>
              <a:rPr lang="zh-CN" altLang="en-US" sz="2000" dirty="0"/>
              <a:t>删除软件包命令：</a:t>
            </a:r>
            <a:r>
              <a:rPr lang="en-US" altLang="zh-CN" sz="2000" dirty="0"/>
              <a:t>yum remove &lt;</a:t>
            </a:r>
            <a:r>
              <a:rPr lang="en-US" altLang="zh-CN" sz="2000" dirty="0" err="1"/>
              <a:t>package_name</a:t>
            </a:r>
            <a:r>
              <a:rPr lang="en-US" altLang="zh-CN" sz="2000" dirty="0"/>
              <a:t>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7. </a:t>
            </a:r>
            <a:r>
              <a:rPr lang="zh-CN" altLang="en-US" sz="2000" dirty="0"/>
              <a:t>查找软件包命令：</a:t>
            </a:r>
            <a:r>
              <a:rPr lang="en-US" altLang="zh-CN" sz="2000" dirty="0"/>
              <a:t>yum search &lt;keyword&gt;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8. </a:t>
            </a:r>
            <a:r>
              <a:rPr lang="zh-CN" altLang="en-US" sz="2000" dirty="0"/>
              <a:t>清除缓存命令</a:t>
            </a:r>
            <a:r>
              <a:rPr lang="en-US" altLang="zh-CN" sz="2000" dirty="0"/>
              <a:t>:</a:t>
            </a:r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yum clean packages: </a:t>
            </a:r>
            <a:r>
              <a:rPr lang="zh-CN" altLang="en-US" sz="2000" dirty="0"/>
              <a:t>清除缓存目录下的软件包</a:t>
            </a:r>
          </a:p>
          <a:p>
            <a:pPr marL="0" indent="0">
              <a:buNone/>
            </a:pPr>
            <a:r>
              <a:rPr lang="en-US" altLang="zh-CN" sz="2000" dirty="0"/>
              <a:t>yum clean headers: </a:t>
            </a:r>
            <a:r>
              <a:rPr lang="zh-CN" altLang="en-US" sz="2000" dirty="0"/>
              <a:t>清除缓存目录下的 </a:t>
            </a:r>
            <a:r>
              <a:rPr lang="en-US" altLang="zh-CN" sz="2000" dirty="0"/>
              <a:t>headers</a:t>
            </a:r>
          </a:p>
          <a:p>
            <a:pPr marL="0" indent="0">
              <a:buNone/>
            </a:pPr>
            <a:r>
              <a:rPr lang="en-US" altLang="zh-CN" sz="2000" dirty="0"/>
              <a:t>yum clean </a:t>
            </a:r>
            <a:r>
              <a:rPr lang="en-US" altLang="zh-CN" sz="2000" dirty="0" err="1"/>
              <a:t>oldheaders</a:t>
            </a:r>
            <a:r>
              <a:rPr lang="en-US" altLang="zh-CN" sz="2000" dirty="0"/>
              <a:t>: </a:t>
            </a:r>
            <a:r>
              <a:rPr lang="zh-CN" altLang="en-US" sz="2000" dirty="0"/>
              <a:t>清除缓存目录下旧的 </a:t>
            </a:r>
            <a:r>
              <a:rPr lang="en-US" altLang="zh-CN" sz="2000" dirty="0"/>
              <a:t>headers</a:t>
            </a:r>
          </a:p>
          <a:p>
            <a:pPr marL="0" indent="0">
              <a:buNone/>
            </a:pPr>
            <a:r>
              <a:rPr lang="en-US" altLang="zh-CN" sz="2000" dirty="0"/>
              <a:t>yum clean, yum clean all (= yum clean packages; yum clean </a:t>
            </a:r>
            <a:r>
              <a:rPr lang="en-US" altLang="zh-CN" sz="2000" dirty="0" err="1"/>
              <a:t>oldheaders</a:t>
            </a:r>
            <a:r>
              <a:rPr lang="en-US" altLang="zh-CN" sz="2000" dirty="0"/>
              <a:t>) :</a:t>
            </a:r>
            <a:r>
              <a:rPr lang="zh-CN" altLang="en-US" sz="2000" dirty="0"/>
              <a:t>清除缓存目录下的软件包及旧的 </a:t>
            </a:r>
            <a:r>
              <a:rPr lang="en-US" altLang="zh-CN" sz="2000" dirty="0"/>
              <a:t>headers</a:t>
            </a:r>
            <a:endParaRPr lang="zh-CN" altLang="en-US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B009B4-B4E1-44CC-8B48-B85A679CA65A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04961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Linux </a:t>
            </a:r>
            <a:r>
              <a:rPr lang="en-US" altLang="zh-CN" dirty="0" err="1"/>
              <a:t>sudo</a:t>
            </a:r>
            <a:r>
              <a:rPr lang="zh-CN" altLang="en-US" dirty="0"/>
              <a:t>命令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03513" y="1417639"/>
            <a:ext cx="8508876" cy="45323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/>
              <a:t>Linux </a:t>
            </a:r>
            <a:r>
              <a:rPr lang="en-US" altLang="zh-CN" sz="2000" dirty="0" err="1"/>
              <a:t>sudo</a:t>
            </a:r>
            <a:r>
              <a:rPr lang="zh-CN" altLang="en-US" sz="2000" dirty="0"/>
              <a:t>命令以系统管理者的身份执行指令，也就是说，经由 </a:t>
            </a:r>
            <a:r>
              <a:rPr lang="en-US" altLang="zh-CN" sz="2000" dirty="0" err="1"/>
              <a:t>sudo</a:t>
            </a:r>
            <a:r>
              <a:rPr lang="en-US" altLang="zh-CN" sz="2000" dirty="0"/>
              <a:t> </a:t>
            </a:r>
            <a:r>
              <a:rPr lang="zh-CN" altLang="en-US" sz="2000" dirty="0"/>
              <a:t>所执行的指令就好像是 </a:t>
            </a:r>
            <a:r>
              <a:rPr lang="en-US" altLang="zh-CN" sz="2000" dirty="0"/>
              <a:t>root </a:t>
            </a:r>
            <a:r>
              <a:rPr lang="zh-CN" altLang="en-US" sz="2000" dirty="0"/>
              <a:t>亲自执行。</a:t>
            </a:r>
          </a:p>
          <a:p>
            <a:pPr marL="0" indent="0">
              <a:buNone/>
            </a:pPr>
            <a:endParaRPr lang="zh-CN" altLang="en-US" sz="2000" dirty="0"/>
          </a:p>
          <a:p>
            <a:pPr marL="0" indent="0">
              <a:buNone/>
            </a:pPr>
            <a:r>
              <a:rPr lang="zh-CN" altLang="en-US" sz="2000" dirty="0"/>
              <a:t>使用权限：在 </a:t>
            </a:r>
            <a:r>
              <a:rPr lang="en-US" altLang="zh-CN" sz="2000" dirty="0"/>
              <a:t>/</a:t>
            </a:r>
            <a:r>
              <a:rPr lang="en-US" altLang="zh-CN" sz="2000" dirty="0" err="1"/>
              <a:t>etc</a:t>
            </a:r>
            <a:r>
              <a:rPr lang="en-US" altLang="zh-CN" sz="2000" dirty="0"/>
              <a:t>/</a:t>
            </a:r>
            <a:r>
              <a:rPr lang="en-US" altLang="zh-CN" sz="2000" dirty="0" err="1"/>
              <a:t>sudoers</a:t>
            </a:r>
            <a:r>
              <a:rPr lang="en-US" altLang="zh-CN" sz="2000" dirty="0"/>
              <a:t> </a:t>
            </a:r>
            <a:r>
              <a:rPr lang="zh-CN" altLang="en-US" sz="2000" dirty="0"/>
              <a:t>中有出现的使用者。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8B009B4-B4E1-44CC-8B48-B85A679CA65A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74717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Vi/Vim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1" y="1268761"/>
            <a:ext cx="8688388" cy="46811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1800" dirty="0"/>
              <a:t>vi</a:t>
            </a:r>
            <a:r>
              <a:rPr lang="zh-CN" altLang="en-US" sz="1800" dirty="0"/>
              <a:t>是</a:t>
            </a:r>
            <a:r>
              <a:rPr lang="en-US" altLang="zh-CN" sz="1800" dirty="0" err="1"/>
              <a:t>linux</a:t>
            </a:r>
            <a:r>
              <a:rPr lang="zh-CN" altLang="en-US" sz="1800" dirty="0"/>
              <a:t>系统下的一个文本编辑工具，</a:t>
            </a:r>
            <a:r>
              <a:rPr lang="en-US" altLang="zh-CN" sz="1800" dirty="0"/>
              <a:t>Vim </a:t>
            </a:r>
            <a:r>
              <a:rPr lang="zh-CN" altLang="en-US" sz="1800" dirty="0"/>
              <a:t>是从 </a:t>
            </a:r>
            <a:r>
              <a:rPr lang="en-US" altLang="zh-CN" sz="1800" dirty="0"/>
              <a:t>vi </a:t>
            </a:r>
            <a:r>
              <a:rPr lang="zh-CN" altLang="en-US" sz="1800" dirty="0"/>
              <a:t>发展出来的一个文本编辑器。代码补全、编译及错误跳转等方便编程的功能特别丰富，在程序员中被广泛使用。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它有</a:t>
            </a:r>
            <a:r>
              <a:rPr lang="en-US" altLang="zh-CN" sz="1800" dirty="0"/>
              <a:t>2</a:t>
            </a:r>
            <a:r>
              <a:rPr lang="zh-CN" altLang="en-US" sz="1800" dirty="0"/>
              <a:t>种模式：</a:t>
            </a:r>
            <a:endParaRPr lang="en-US" altLang="zh-CN" sz="1800" dirty="0"/>
          </a:p>
          <a:p>
            <a:pPr>
              <a:buFont typeface="Wingdings" panose="05000000000000000000" pitchFamily="2" charset="2"/>
              <a:buChar char="l"/>
            </a:pPr>
            <a:r>
              <a:rPr lang="zh-CN" altLang="en-US" sz="1800" dirty="0"/>
              <a:t>一般模式：可以查看、查找、替换、删除等操作</a:t>
            </a:r>
            <a:r>
              <a:rPr lang="en-US" altLang="zh-CN" sz="1800" dirty="0"/>
              <a:t>(</a:t>
            </a:r>
            <a:r>
              <a:rPr lang="zh-CN" altLang="en-US" sz="1800" dirty="0"/>
              <a:t>通过</a:t>
            </a:r>
            <a:r>
              <a:rPr lang="en-US" altLang="zh-CN" sz="1800" dirty="0"/>
              <a:t>”vi </a:t>
            </a:r>
            <a:r>
              <a:rPr lang="zh-CN" altLang="en-US" sz="1800" dirty="0"/>
              <a:t>文件名</a:t>
            </a:r>
            <a:r>
              <a:rPr lang="en-US" altLang="zh-CN" sz="1800" dirty="0"/>
              <a:t>”</a:t>
            </a:r>
            <a:r>
              <a:rPr lang="zh-CN" altLang="en-US" sz="1800" dirty="0"/>
              <a:t>命令打开文件，默认进入一般模式</a:t>
            </a:r>
            <a:r>
              <a:rPr lang="en-US" altLang="zh-CN" sz="1800" dirty="0"/>
              <a:t>)</a:t>
            </a:r>
          </a:p>
          <a:p>
            <a:pPr marL="0" indent="0">
              <a:buNone/>
            </a:pPr>
            <a:r>
              <a:rPr lang="en-US" altLang="zh-CN" sz="1800" dirty="0" err="1"/>
              <a:t>dd</a:t>
            </a:r>
            <a:r>
              <a:rPr lang="zh-CN" altLang="en-US" sz="1800" dirty="0"/>
              <a:t>命令：删除光标所在行；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 err="1"/>
              <a:t>dw</a:t>
            </a:r>
            <a:r>
              <a:rPr lang="zh-CN" altLang="en-US" sz="1800" dirty="0"/>
              <a:t>命令：删除光标所在的词；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 err="1"/>
              <a:t>yy</a:t>
            </a:r>
            <a:r>
              <a:rPr lang="zh-CN" altLang="en-US" sz="1800" dirty="0"/>
              <a:t>命令：复制光标所在行；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p</a:t>
            </a:r>
            <a:r>
              <a:rPr lang="zh-CN" altLang="en-US" sz="1800" dirty="0"/>
              <a:t>命令：粘贴所复制的行到光标的下一行；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:w</a:t>
            </a:r>
            <a:r>
              <a:rPr lang="zh-CN" altLang="en-US" sz="1800" dirty="0"/>
              <a:t>命令：保存当前文件；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:</a:t>
            </a:r>
            <a:r>
              <a:rPr lang="en-US" altLang="zh-CN" sz="1800" dirty="0" err="1"/>
              <a:t>wq</a:t>
            </a:r>
            <a:r>
              <a:rPr lang="zh-CN" altLang="en-US" sz="1800" dirty="0"/>
              <a:t>命令：保存文件并退出；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800" dirty="0"/>
              <a:t>:q!</a:t>
            </a:r>
            <a:r>
              <a:rPr lang="zh-CN" altLang="en-US" sz="1800" dirty="0"/>
              <a:t>命令：不保存退出。</a:t>
            </a:r>
            <a:endParaRPr lang="en-US" altLang="zh-CN" sz="1800" dirty="0"/>
          </a:p>
          <a:p>
            <a:pPr lvl="0">
              <a:buClr>
                <a:srgbClr val="333399"/>
              </a:buClr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00000"/>
                </a:solidFill>
              </a:rPr>
              <a:t>编辑模式：可以编辑文件内容</a:t>
            </a:r>
            <a:r>
              <a:rPr lang="en-US" altLang="zh-CN" sz="1800" dirty="0">
                <a:solidFill>
                  <a:srgbClr val="000000"/>
                </a:solidFill>
              </a:rPr>
              <a:t>(</a:t>
            </a:r>
            <a:r>
              <a:rPr lang="zh-CN" altLang="en-US" sz="1800" dirty="0">
                <a:solidFill>
                  <a:srgbClr val="000000"/>
                </a:solidFill>
              </a:rPr>
              <a:t>在一般模式下输入</a:t>
            </a:r>
            <a:r>
              <a:rPr lang="en-US" altLang="zh-CN" sz="1800" dirty="0">
                <a:solidFill>
                  <a:srgbClr val="000000"/>
                </a:solidFill>
              </a:rPr>
              <a:t>a</a:t>
            </a:r>
            <a:r>
              <a:rPr lang="zh-CN" altLang="en-US" sz="1800" dirty="0">
                <a:solidFill>
                  <a:srgbClr val="000000"/>
                </a:solidFill>
              </a:rPr>
              <a:t>或</a:t>
            </a:r>
            <a:r>
              <a:rPr lang="en-US" altLang="zh-CN" sz="1800" dirty="0" err="1">
                <a:solidFill>
                  <a:srgbClr val="000000"/>
                </a:solidFill>
              </a:rPr>
              <a:t>i</a:t>
            </a:r>
            <a:r>
              <a:rPr lang="zh-CN" altLang="en-US" sz="1800" dirty="0">
                <a:solidFill>
                  <a:srgbClr val="000000"/>
                </a:solidFill>
              </a:rPr>
              <a:t>或</a:t>
            </a:r>
            <a:r>
              <a:rPr lang="en-US" altLang="zh-CN" sz="1800" dirty="0">
                <a:solidFill>
                  <a:srgbClr val="000000"/>
                </a:solidFill>
              </a:rPr>
              <a:t>o</a:t>
            </a:r>
            <a:r>
              <a:rPr lang="zh-CN" altLang="en-US" sz="1800" dirty="0">
                <a:solidFill>
                  <a:srgbClr val="000000"/>
                </a:solidFill>
              </a:rPr>
              <a:t>等进入编辑模式，按</a:t>
            </a:r>
            <a:r>
              <a:rPr lang="en-US" altLang="zh-CN" sz="1800" dirty="0">
                <a:solidFill>
                  <a:srgbClr val="000000"/>
                </a:solidFill>
              </a:rPr>
              <a:t>Esc</a:t>
            </a:r>
            <a:r>
              <a:rPr lang="zh-CN" altLang="en-US" sz="1800" dirty="0">
                <a:solidFill>
                  <a:srgbClr val="000000"/>
                </a:solidFill>
              </a:rPr>
              <a:t>键离开编辑模式，进入一般模式</a:t>
            </a:r>
            <a:r>
              <a:rPr lang="en-US" altLang="zh-CN" sz="1800" dirty="0">
                <a:solidFill>
                  <a:srgbClr val="000000"/>
                </a:solidFill>
              </a:rPr>
              <a:t>)</a:t>
            </a:r>
          </a:p>
          <a:p>
            <a:pPr marL="0" indent="0">
              <a:buNone/>
            </a:pPr>
            <a:endParaRPr lang="en-US" altLang="zh-CN" sz="1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03DEF9E-7236-4DF4-93BD-BEB59993961E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98979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查看网络设备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75521" y="1431926"/>
            <a:ext cx="8436868" cy="4518025"/>
          </a:xfrm>
        </p:spPr>
        <p:txBody>
          <a:bodyPr/>
          <a:lstStyle/>
          <a:p>
            <a:r>
              <a:rPr lang="en-US" altLang="zh-CN" dirty="0"/>
              <a:t>Linux ifconfig</a:t>
            </a:r>
            <a:r>
              <a:rPr lang="zh-CN" altLang="en-US" dirty="0"/>
              <a:t>命令用于显示或设置网络设备。</a:t>
            </a:r>
          </a:p>
          <a:p>
            <a:endParaRPr lang="zh-CN" altLang="en-US" dirty="0"/>
          </a:p>
          <a:p>
            <a:r>
              <a:rPr lang="en-US" altLang="zh-CN" dirty="0"/>
              <a:t>ifconfig</a:t>
            </a:r>
            <a:r>
              <a:rPr lang="zh-CN" altLang="en-US" dirty="0"/>
              <a:t>可设置网络设备的状态，或是显示目前的设置。</a:t>
            </a:r>
            <a:endParaRPr lang="en-US" altLang="zh-CN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447CD2-F487-4199-890B-F973FFB92CE8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9883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查看硬件信息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75521" y="1431926"/>
            <a:ext cx="8436868" cy="4518025"/>
          </a:xfrm>
        </p:spPr>
        <p:txBody>
          <a:bodyPr/>
          <a:lstStyle/>
          <a:p>
            <a:r>
              <a:rPr lang="zh-CN" altLang="en-US" dirty="0"/>
              <a:t>查看</a:t>
            </a:r>
            <a:r>
              <a:rPr lang="en-US" altLang="zh-CN" dirty="0" err="1"/>
              <a:t>pci</a:t>
            </a:r>
            <a:r>
              <a:rPr lang="zh-CN" altLang="en-US" dirty="0"/>
              <a:t>设备信息：</a:t>
            </a:r>
            <a:r>
              <a:rPr lang="en-US" altLang="zh-CN" dirty="0" err="1"/>
              <a:t>lspci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600" dirty="0"/>
              <a:t>[</a:t>
            </a:r>
            <a:r>
              <a:rPr lang="en-US" altLang="zh-CN" sz="1600" dirty="0" err="1"/>
              <a:t>root@localhost</a:t>
            </a:r>
            <a:r>
              <a:rPr lang="en-US" altLang="zh-CN" sz="1600" dirty="0"/>
              <a:t> ~]# </a:t>
            </a:r>
            <a:r>
              <a:rPr lang="en-US" altLang="zh-CN" sz="1600" dirty="0" err="1"/>
              <a:t>lspci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00:00.0 Host bridge: Intel Corporation Xeon E5/Core i7 DMI2 (rev 07)</a:t>
            </a:r>
          </a:p>
          <a:p>
            <a:pPr marL="0" indent="0">
              <a:buNone/>
            </a:pPr>
            <a:r>
              <a:rPr lang="en-US" altLang="zh-CN" sz="1600" dirty="0"/>
              <a:t>06:00.0 Ethernet controller: Intel Corporation 82574L Gigabit Network Connection</a:t>
            </a:r>
          </a:p>
          <a:p>
            <a:pPr marL="0" indent="0">
              <a:buNone/>
            </a:pPr>
            <a:r>
              <a:rPr lang="en-US" altLang="zh-CN" sz="1600" dirty="0"/>
              <a:t>08:00.0 PCI bridge: ASPEED Technology, Inc. AST1150 PCI-to-PCI Bridge (rev 02)</a:t>
            </a:r>
          </a:p>
          <a:p>
            <a:pPr marL="0" indent="0">
              <a:buNone/>
            </a:pPr>
            <a:endParaRPr lang="en-US" altLang="zh-CN" sz="1600" dirty="0"/>
          </a:p>
          <a:p>
            <a:pPr marL="0" indent="0">
              <a:buNone/>
            </a:pPr>
            <a:r>
              <a:rPr lang="en-US" altLang="zh-CN" sz="2000" dirty="0" err="1"/>
              <a:t>lspci</a:t>
            </a:r>
            <a:r>
              <a:rPr lang="en-US" altLang="zh-CN" sz="2000" dirty="0"/>
              <a:t> -v</a:t>
            </a:r>
            <a:r>
              <a:rPr lang="zh-CN" altLang="en-US" sz="2000" dirty="0"/>
              <a:t>或者</a:t>
            </a:r>
            <a:r>
              <a:rPr lang="en-US" altLang="zh-CN" sz="2000" dirty="0" err="1"/>
              <a:t>lspci</a:t>
            </a:r>
            <a:r>
              <a:rPr lang="en-US" altLang="zh-CN" sz="2000" dirty="0"/>
              <a:t> -</a:t>
            </a:r>
            <a:r>
              <a:rPr lang="en-US" altLang="zh-CN" sz="2000" dirty="0" err="1"/>
              <a:t>vv</a:t>
            </a:r>
            <a:r>
              <a:rPr lang="zh-CN" altLang="en-US" sz="2000" dirty="0"/>
              <a:t>或者</a:t>
            </a:r>
            <a:r>
              <a:rPr lang="en-US" altLang="zh-CN" sz="2000" dirty="0" err="1"/>
              <a:t>lspci</a:t>
            </a:r>
            <a:r>
              <a:rPr lang="en-US" altLang="zh-CN" sz="2000" dirty="0"/>
              <a:t> -</a:t>
            </a:r>
            <a:r>
              <a:rPr lang="en-US" altLang="zh-CN" sz="2000" dirty="0" err="1"/>
              <a:t>vvv</a:t>
            </a:r>
            <a:r>
              <a:rPr lang="zh-CN" altLang="en-US" sz="2000" dirty="0"/>
              <a:t>查看更详细的</a:t>
            </a:r>
            <a:r>
              <a:rPr lang="en-US" altLang="zh-CN" sz="2000" dirty="0" err="1"/>
              <a:t>pci</a:t>
            </a:r>
            <a:r>
              <a:rPr lang="zh-CN" altLang="en-US" sz="2000" dirty="0"/>
              <a:t>信息。</a:t>
            </a:r>
            <a:endParaRPr lang="en-US" altLang="zh-CN" sz="20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C447CD2-F487-4199-890B-F973FFB92CE8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704266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58237" y="324620"/>
            <a:ext cx="8820471" cy="666161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查看</a:t>
            </a:r>
            <a:r>
              <a:rPr lang="en-US" altLang="zh-CN" dirty="0"/>
              <a:t>CPU</a:t>
            </a:r>
            <a:r>
              <a:rPr lang="zh-CN" altLang="en-US" dirty="0"/>
              <a:t>信息：</a:t>
            </a:r>
            <a:r>
              <a:rPr lang="en-US" altLang="zh-CN" dirty="0"/>
              <a:t>cat /</a:t>
            </a:r>
            <a:r>
              <a:rPr lang="en-US" altLang="zh-CN" dirty="0" err="1"/>
              <a:t>proc</a:t>
            </a:r>
            <a:r>
              <a:rPr lang="en-US" altLang="zh-CN" dirty="0"/>
              <a:t>/</a:t>
            </a:r>
            <a:r>
              <a:rPr lang="en-US" altLang="zh-CN" dirty="0" err="1"/>
              <a:t>cpuinfo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400" dirty="0"/>
              <a:t>[</a:t>
            </a:r>
            <a:r>
              <a:rPr lang="en-US" altLang="zh-CN" sz="1400" dirty="0" err="1"/>
              <a:t>root@localhost</a:t>
            </a:r>
            <a:r>
              <a:rPr lang="en-US" altLang="zh-CN" sz="1400" dirty="0"/>
              <a:t> ~]# cat /</a:t>
            </a:r>
            <a:r>
              <a:rPr lang="en-US" altLang="zh-CN" sz="1400" dirty="0" err="1"/>
              <a:t>proc</a:t>
            </a:r>
            <a:r>
              <a:rPr lang="en-US" altLang="zh-CN" sz="1400" dirty="0"/>
              <a:t>/</a:t>
            </a:r>
            <a:r>
              <a:rPr lang="en-US" altLang="zh-CN" sz="1400" dirty="0" err="1"/>
              <a:t>cpuinfo</a:t>
            </a:r>
            <a:r>
              <a:rPr lang="en-US" altLang="zh-CN" sz="1400" dirty="0"/>
              <a:t> </a:t>
            </a:r>
          </a:p>
          <a:p>
            <a:pPr marL="0" indent="0">
              <a:buNone/>
            </a:pPr>
            <a:r>
              <a:rPr lang="en-US" altLang="zh-CN" sz="1400" dirty="0"/>
              <a:t>processor	: 0</a:t>
            </a:r>
          </a:p>
          <a:p>
            <a:pPr marL="0" indent="0">
              <a:buNone/>
            </a:pPr>
            <a:r>
              <a:rPr lang="en-US" altLang="zh-CN" sz="1400" dirty="0" err="1"/>
              <a:t>vendor_id</a:t>
            </a:r>
            <a:r>
              <a:rPr lang="en-US" altLang="zh-CN" sz="1400" dirty="0"/>
              <a:t>	: </a:t>
            </a:r>
            <a:r>
              <a:rPr lang="en-US" altLang="zh-CN" sz="1400" dirty="0" err="1"/>
              <a:t>GenuineIntel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 err="1"/>
              <a:t>cpu</a:t>
            </a:r>
            <a:r>
              <a:rPr lang="en-US" altLang="zh-CN" sz="1400" dirty="0"/>
              <a:t> family	: 6</a:t>
            </a:r>
          </a:p>
          <a:p>
            <a:pPr marL="0" indent="0">
              <a:buNone/>
            </a:pPr>
            <a:r>
              <a:rPr lang="en-US" altLang="zh-CN" sz="1400" dirty="0"/>
              <a:t>model		: 45</a:t>
            </a:r>
          </a:p>
          <a:p>
            <a:pPr marL="0" indent="0">
              <a:buNone/>
            </a:pPr>
            <a:r>
              <a:rPr lang="en-US" altLang="zh-CN" sz="1400" dirty="0"/>
              <a:t>model name	: Intel(R) Xeon(R) CPU E5-2407 0 @ 2.20GHz</a:t>
            </a:r>
          </a:p>
          <a:p>
            <a:pPr marL="0" indent="0">
              <a:buNone/>
            </a:pPr>
            <a:r>
              <a:rPr lang="en-US" altLang="zh-CN" sz="1400" dirty="0"/>
              <a:t>stepping	: 7</a:t>
            </a:r>
          </a:p>
          <a:p>
            <a:pPr marL="0" indent="0">
              <a:buNone/>
            </a:pPr>
            <a:r>
              <a:rPr lang="en-US" altLang="zh-CN" sz="1400" dirty="0" err="1"/>
              <a:t>cpu</a:t>
            </a:r>
            <a:r>
              <a:rPr lang="en-US" altLang="zh-CN" sz="1400" dirty="0"/>
              <a:t> MHz		: 1200.000</a:t>
            </a:r>
          </a:p>
          <a:p>
            <a:pPr marL="0" indent="0">
              <a:buNone/>
            </a:pPr>
            <a:r>
              <a:rPr lang="en-US" altLang="zh-CN" sz="1400" dirty="0"/>
              <a:t>cache size	: 10240 KB</a:t>
            </a:r>
          </a:p>
          <a:p>
            <a:pPr marL="0" indent="0">
              <a:buNone/>
            </a:pPr>
            <a:r>
              <a:rPr lang="en-US" altLang="zh-CN" sz="1400" dirty="0"/>
              <a:t>physical id	: 0</a:t>
            </a:r>
          </a:p>
          <a:p>
            <a:pPr marL="0" indent="0">
              <a:buNone/>
            </a:pPr>
            <a:r>
              <a:rPr lang="en-US" altLang="zh-CN" sz="1400" dirty="0"/>
              <a:t>siblings	: 4</a:t>
            </a:r>
          </a:p>
          <a:p>
            <a:pPr marL="0" indent="0">
              <a:buNone/>
            </a:pPr>
            <a:r>
              <a:rPr lang="en-US" altLang="zh-CN" sz="1400" dirty="0"/>
              <a:t>core id		: 0</a:t>
            </a:r>
          </a:p>
          <a:p>
            <a:pPr marL="0" indent="0">
              <a:buNone/>
            </a:pPr>
            <a:r>
              <a:rPr lang="en-US" altLang="zh-CN" sz="1400" dirty="0" err="1"/>
              <a:t>cpu</a:t>
            </a:r>
            <a:r>
              <a:rPr lang="en-US" altLang="zh-CN" sz="1400" dirty="0"/>
              <a:t> cores	: 4</a:t>
            </a:r>
          </a:p>
          <a:p>
            <a:pPr marL="0" indent="0">
              <a:buNone/>
            </a:pPr>
            <a:r>
              <a:rPr lang="en-US" altLang="zh-CN" sz="1400" dirty="0"/>
              <a:t>flags		: </a:t>
            </a:r>
            <a:r>
              <a:rPr lang="en-US" altLang="zh-CN" sz="1400" dirty="0" err="1"/>
              <a:t>fpu</a:t>
            </a:r>
            <a:r>
              <a:rPr lang="en-US" altLang="zh-CN" sz="1400" dirty="0"/>
              <a:t> </a:t>
            </a:r>
            <a:r>
              <a:rPr lang="en-US" altLang="zh-CN" sz="1400" dirty="0" err="1"/>
              <a:t>vme</a:t>
            </a:r>
            <a:r>
              <a:rPr lang="en-US" altLang="zh-CN" sz="1400" dirty="0"/>
              <a:t> de </a:t>
            </a:r>
            <a:r>
              <a:rPr lang="en-US" altLang="zh-CN" sz="1400" dirty="0" err="1"/>
              <a:t>pse</a:t>
            </a:r>
            <a:r>
              <a:rPr lang="en-US" altLang="zh-CN" sz="1400" dirty="0"/>
              <a:t> </a:t>
            </a:r>
            <a:r>
              <a:rPr lang="en-US" altLang="zh-CN" sz="1400" dirty="0" err="1"/>
              <a:t>tsc</a:t>
            </a:r>
            <a:r>
              <a:rPr lang="en-US" altLang="zh-CN" sz="1400" dirty="0"/>
              <a:t> </a:t>
            </a:r>
            <a:r>
              <a:rPr lang="en-US" altLang="zh-CN" sz="1400" dirty="0" err="1"/>
              <a:t>msr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pae</a:t>
            </a:r>
            <a:r>
              <a:rPr lang="en-US" altLang="zh-CN" sz="1400" dirty="0"/>
              <a:t> </a:t>
            </a:r>
            <a:r>
              <a:rPr lang="en-US" altLang="zh-CN" sz="1400" dirty="0" err="1"/>
              <a:t>mce</a:t>
            </a:r>
            <a:r>
              <a:rPr lang="en-US" altLang="zh-CN" sz="1400" dirty="0"/>
              <a:t> cx8 </a:t>
            </a:r>
            <a:r>
              <a:rPr lang="en-US" altLang="zh-CN" sz="1400" dirty="0" err="1"/>
              <a:t>apic</a:t>
            </a:r>
            <a:r>
              <a:rPr lang="en-US" altLang="zh-CN" sz="1400" dirty="0"/>
              <a:t> </a:t>
            </a:r>
            <a:r>
              <a:rPr lang="en-US" altLang="zh-CN" sz="1400" dirty="0" err="1"/>
              <a:t>mtrr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pge</a:t>
            </a:r>
            <a:r>
              <a:rPr lang="en-US" altLang="zh-CN" sz="1400" dirty="0"/>
              <a:t> </a:t>
            </a:r>
            <a:r>
              <a:rPr lang="en-US" altLang="zh-CN" sz="1400" dirty="0" err="1"/>
              <a:t>mca</a:t>
            </a:r>
            <a:r>
              <a:rPr lang="en-US" altLang="zh-CN" sz="1400" dirty="0"/>
              <a:t> </a:t>
            </a:r>
            <a:r>
              <a:rPr lang="en-US" altLang="zh-CN" sz="1400" dirty="0" err="1"/>
              <a:t>cmov</a:t>
            </a:r>
            <a:r>
              <a:rPr lang="en-US" altLang="zh-CN" sz="1400" dirty="0"/>
              <a:t> pat pse36 </a:t>
            </a:r>
            <a:r>
              <a:rPr lang="en-US" altLang="zh-CN" sz="1400" dirty="0" err="1"/>
              <a:t>clflush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dts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acpi</a:t>
            </a:r>
            <a:r>
              <a:rPr lang="en-US" altLang="zh-CN" sz="1400" dirty="0"/>
              <a:t> mmx </a:t>
            </a:r>
            <a:r>
              <a:rPr lang="en-US" altLang="zh-CN" sz="1400" dirty="0" err="1"/>
              <a:t>fxsr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sse</a:t>
            </a:r>
            <a:r>
              <a:rPr lang="en-US" altLang="zh-CN" sz="1400" dirty="0"/>
              <a:t> sse2 </a:t>
            </a:r>
            <a:r>
              <a:rPr lang="en-US" altLang="zh-CN" sz="1400" dirty="0" err="1"/>
              <a:t>ss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ht</a:t>
            </a:r>
            <a:r>
              <a:rPr lang="en-US" altLang="zh-CN" sz="1400" dirty="0"/>
              <a:t> tm </a:t>
            </a:r>
            <a:r>
              <a:rPr lang="en-US" altLang="zh-CN" sz="1400" dirty="0" err="1"/>
              <a:t>pbe</a:t>
            </a:r>
            <a:r>
              <a:rPr lang="en-US" altLang="zh-CN" sz="1400" dirty="0"/>
              <a:t> </a:t>
            </a:r>
            <a:r>
              <a:rPr lang="en-US" altLang="zh-CN" sz="1400" dirty="0" err="1"/>
              <a:t>syscall</a:t>
            </a:r>
            <a:r>
              <a:rPr lang="en-US" altLang="zh-CN" sz="1400" dirty="0"/>
              <a:t> </a:t>
            </a:r>
            <a:r>
              <a:rPr lang="en-US" altLang="zh-CN" sz="1400" dirty="0" err="1"/>
              <a:t>nx</a:t>
            </a:r>
            <a:r>
              <a:rPr lang="en-US" altLang="zh-CN" sz="1400" dirty="0"/>
              <a:t> pdpe1gb </a:t>
            </a:r>
            <a:r>
              <a:rPr lang="en-US" altLang="zh-CN" sz="1400" dirty="0" err="1"/>
              <a:t>rdtscp</a:t>
            </a:r>
            <a:r>
              <a:rPr lang="en-US" altLang="zh-CN" sz="1400" dirty="0"/>
              <a:t> lm </a:t>
            </a:r>
            <a:r>
              <a:rPr lang="en-US" altLang="zh-CN" sz="1400" dirty="0" err="1"/>
              <a:t>constant_tsc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arch_perfmon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pebs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bts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rep_good</a:t>
            </a:r>
            <a:r>
              <a:rPr lang="en-US" altLang="zh-CN" sz="1400" dirty="0"/>
              <a:t> </a:t>
            </a:r>
            <a:r>
              <a:rPr lang="en-US" altLang="zh-CN" sz="1400" dirty="0" err="1"/>
              <a:t>xtopology</a:t>
            </a:r>
            <a:r>
              <a:rPr lang="en-US" altLang="zh-CN" sz="1400" dirty="0"/>
              <a:t> </a:t>
            </a:r>
            <a:r>
              <a:rPr lang="en-US" altLang="zh-CN" sz="1400" dirty="0" err="1"/>
              <a:t>nonstop_tsc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aperfmperf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pni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pclmulqdq</a:t>
            </a:r>
            <a:r>
              <a:rPr lang="en-US" altLang="zh-CN" sz="1400" dirty="0"/>
              <a:t> dtes64 monitor </a:t>
            </a:r>
            <a:r>
              <a:rPr lang="en-US" altLang="zh-CN" sz="1400" dirty="0" err="1"/>
              <a:t>ds_cpl</a:t>
            </a:r>
            <a:r>
              <a:rPr lang="en-US" altLang="zh-CN" sz="1400" dirty="0"/>
              <a:t> </a:t>
            </a:r>
            <a:r>
              <a:rPr lang="en-US" altLang="zh-CN" sz="1400" dirty="0" err="1"/>
              <a:t>vmx</a:t>
            </a:r>
            <a:r>
              <a:rPr lang="en-US" altLang="zh-CN" sz="1400" dirty="0"/>
              <a:t> </a:t>
            </a:r>
            <a:r>
              <a:rPr lang="en-US" altLang="zh-CN" sz="1400" dirty="0" err="1"/>
              <a:t>smx</a:t>
            </a:r>
            <a:r>
              <a:rPr lang="en-US" altLang="zh-CN" sz="1400" dirty="0"/>
              <a:t> </a:t>
            </a:r>
            <a:r>
              <a:rPr lang="en-US" altLang="zh-CN" sz="1400" dirty="0" err="1"/>
              <a:t>est</a:t>
            </a:r>
            <a:r>
              <a:rPr lang="en-US" altLang="zh-CN" sz="1400" dirty="0"/>
              <a:t> tm2 ssse3 cx16 </a:t>
            </a:r>
            <a:r>
              <a:rPr lang="en-US" altLang="zh-CN" sz="1400" dirty="0" err="1"/>
              <a:t>xtpr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pdcm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dca</a:t>
            </a:r>
            <a:r>
              <a:rPr lang="en-US" altLang="zh-CN" sz="1400" dirty="0"/>
              <a:t> sse4_1 sse4_2 x2apic </a:t>
            </a:r>
            <a:r>
              <a:rPr lang="en-US" altLang="zh-CN" sz="1400" dirty="0" err="1"/>
              <a:t>popcnt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aes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xsave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avx</a:t>
            </a:r>
            <a:r>
              <a:rPr lang="en-US" altLang="zh-CN" sz="1400" dirty="0"/>
              <a:t> </a:t>
            </a:r>
            <a:r>
              <a:rPr lang="en-US" altLang="zh-CN" sz="1400" dirty="0" err="1"/>
              <a:t>lahf_lm</a:t>
            </a:r>
            <a:r>
              <a:rPr lang="en-US" altLang="zh-CN" sz="1400" dirty="0"/>
              <a:t> </a:t>
            </a:r>
            <a:r>
              <a:rPr lang="en-US" altLang="zh-CN" sz="1400" dirty="0" err="1"/>
              <a:t>arat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epb</a:t>
            </a:r>
            <a:r>
              <a:rPr lang="en-US" altLang="zh-CN" sz="1400" dirty="0"/>
              <a:t> </a:t>
            </a:r>
            <a:r>
              <a:rPr lang="en-US" altLang="zh-CN" sz="1400" dirty="0" err="1"/>
              <a:t>xsaveopt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pln</a:t>
            </a:r>
            <a:r>
              <a:rPr lang="en-US" altLang="zh-CN" sz="1400" dirty="0"/>
              <a:t> </a:t>
            </a:r>
            <a:r>
              <a:rPr lang="en-US" altLang="zh-CN" sz="1400" dirty="0" err="1"/>
              <a:t>pts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dts</a:t>
            </a:r>
            <a:r>
              <a:rPr lang="en-US" altLang="zh-CN" sz="1400" dirty="0"/>
              <a:t> </a:t>
            </a:r>
            <a:r>
              <a:rPr lang="en-US" altLang="zh-CN" sz="1400" dirty="0" err="1"/>
              <a:t>tpr_shadow</a:t>
            </a:r>
            <a:r>
              <a:rPr lang="en-US" altLang="zh-CN" sz="1400" dirty="0"/>
              <a:t> </a:t>
            </a:r>
            <a:r>
              <a:rPr lang="en-US" altLang="zh-CN" sz="1400" dirty="0" err="1"/>
              <a:t>vnmi</a:t>
            </a:r>
            <a:r>
              <a:rPr lang="en-US" altLang="zh-CN" sz="1400" dirty="0"/>
              <a:t> </a:t>
            </a:r>
            <a:r>
              <a:rPr lang="en-US" altLang="zh-CN" sz="1400" dirty="0" err="1"/>
              <a:t>flexpriority</a:t>
            </a:r>
            <a:r>
              <a:rPr lang="en-US" altLang="zh-CN" sz="1400" dirty="0"/>
              <a:t> </a:t>
            </a:r>
            <a:r>
              <a:rPr lang="en-US" altLang="zh-CN" sz="1400" dirty="0" err="1"/>
              <a:t>ept</a:t>
            </a:r>
            <a:r>
              <a:rPr lang="en-US" altLang="zh-CN" sz="1400" dirty="0"/>
              <a:t> </a:t>
            </a:r>
            <a:r>
              <a:rPr lang="en-US" altLang="zh-CN" sz="1400" dirty="0" err="1"/>
              <a:t>vpid</a:t>
            </a:r>
            <a:endParaRPr lang="en-US" altLang="zh-CN" sz="1400" dirty="0"/>
          </a:p>
          <a:p>
            <a:pPr marL="0" indent="0">
              <a:buNone/>
            </a:pPr>
            <a:endParaRPr lang="en-US" altLang="zh-CN" sz="12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B630F9-0595-4F32-B417-A4B529A22A5C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34580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08214" y="260649"/>
            <a:ext cx="8004175" cy="5689302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查看</a:t>
            </a:r>
            <a:r>
              <a:rPr lang="en-US" altLang="zh-CN" dirty="0"/>
              <a:t>CPU</a:t>
            </a:r>
            <a:r>
              <a:rPr lang="zh-CN" altLang="en-US" dirty="0"/>
              <a:t>核心数量：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800" dirty="0"/>
              <a:t>[</a:t>
            </a:r>
            <a:r>
              <a:rPr lang="en-US" altLang="zh-CN" sz="1800" dirty="0" err="1"/>
              <a:t>root@localhost</a:t>
            </a:r>
            <a:r>
              <a:rPr lang="en-US" altLang="zh-CN" sz="1800" dirty="0"/>
              <a:t> ~]# cat /</a:t>
            </a:r>
            <a:r>
              <a:rPr lang="en-US" altLang="zh-CN" sz="1800" dirty="0" err="1"/>
              <a:t>proc</a:t>
            </a:r>
            <a:r>
              <a:rPr lang="en-US" altLang="zh-CN" sz="1800" dirty="0"/>
              <a:t>/</a:t>
            </a:r>
            <a:r>
              <a:rPr lang="en-US" altLang="zh-CN" sz="1800" dirty="0" err="1"/>
              <a:t>cpuinfo</a:t>
            </a:r>
            <a:r>
              <a:rPr lang="en-US" altLang="zh-CN" sz="1800" dirty="0"/>
              <a:t> |</a:t>
            </a:r>
            <a:r>
              <a:rPr lang="en-US" altLang="zh-CN" sz="1800" dirty="0" err="1"/>
              <a:t>grep</a:t>
            </a:r>
            <a:r>
              <a:rPr lang="en-US" altLang="zh-CN" sz="1800" dirty="0"/>
              <a:t> processor</a:t>
            </a:r>
          </a:p>
          <a:p>
            <a:pPr marL="0" indent="0">
              <a:buNone/>
            </a:pPr>
            <a:r>
              <a:rPr lang="en-US" altLang="zh-CN" sz="1800" dirty="0"/>
              <a:t>processor	: 0</a:t>
            </a:r>
          </a:p>
          <a:p>
            <a:pPr marL="0" indent="0">
              <a:buNone/>
            </a:pPr>
            <a:r>
              <a:rPr lang="en-US" altLang="zh-CN" sz="1800" dirty="0"/>
              <a:t>processor	: 1</a:t>
            </a:r>
          </a:p>
          <a:p>
            <a:pPr marL="0" indent="0">
              <a:buNone/>
            </a:pPr>
            <a:r>
              <a:rPr lang="en-US" altLang="zh-CN" sz="1800" dirty="0"/>
              <a:t>processor	: 2</a:t>
            </a:r>
          </a:p>
          <a:p>
            <a:pPr marL="0" indent="0">
              <a:buNone/>
            </a:pPr>
            <a:r>
              <a:rPr lang="en-US" altLang="zh-CN" sz="1800" dirty="0"/>
              <a:t>processor	: 3</a:t>
            </a:r>
            <a:endParaRPr lang="zh-CN" altLang="en-US" sz="1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8625C02-FAA5-4296-9FBA-86C2A000205D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6640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9536" y="836712"/>
            <a:ext cx="8220844" cy="56164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dirty="0"/>
              <a:t>查看内存信息：</a:t>
            </a:r>
            <a:r>
              <a:rPr lang="en-US" altLang="zh-CN" dirty="0"/>
              <a:t>cat /</a:t>
            </a:r>
            <a:r>
              <a:rPr lang="en-US" altLang="zh-CN" dirty="0" err="1"/>
              <a:t>proc</a:t>
            </a:r>
            <a:r>
              <a:rPr lang="en-US" altLang="zh-CN" dirty="0"/>
              <a:t>/</a:t>
            </a:r>
            <a:r>
              <a:rPr lang="en-US" altLang="zh-CN" dirty="0" err="1"/>
              <a:t>meminfo</a:t>
            </a:r>
            <a:r>
              <a:rPr lang="en-US" altLang="zh-CN" dirty="0"/>
              <a:t> free</a:t>
            </a:r>
          </a:p>
          <a:p>
            <a:pPr marL="0" indent="0">
              <a:buNone/>
            </a:pPr>
            <a:r>
              <a:rPr lang="en-US" altLang="zh-CN" sz="1400" dirty="0"/>
              <a:t>[</a:t>
            </a:r>
            <a:r>
              <a:rPr lang="en-US" altLang="zh-CN" sz="1400" dirty="0" err="1"/>
              <a:t>root@localhost</a:t>
            </a:r>
            <a:r>
              <a:rPr lang="en-US" altLang="zh-CN" sz="1400" dirty="0"/>
              <a:t> ~]# cat /</a:t>
            </a:r>
            <a:r>
              <a:rPr lang="en-US" altLang="zh-CN" sz="1400" dirty="0" err="1"/>
              <a:t>proc</a:t>
            </a:r>
            <a:r>
              <a:rPr lang="en-US" altLang="zh-CN" sz="1400" dirty="0"/>
              <a:t>/</a:t>
            </a:r>
            <a:r>
              <a:rPr lang="en-US" altLang="zh-CN" sz="1400" dirty="0" err="1"/>
              <a:t>meminfo</a:t>
            </a:r>
            <a:r>
              <a:rPr lang="en-US" altLang="zh-CN" sz="1400" dirty="0"/>
              <a:t> </a:t>
            </a:r>
          </a:p>
          <a:p>
            <a:pPr marL="0" indent="0">
              <a:buNone/>
            </a:pPr>
            <a:r>
              <a:rPr lang="en-US" altLang="zh-CN" sz="1400" dirty="0" err="1"/>
              <a:t>MemTotal</a:t>
            </a:r>
            <a:r>
              <a:rPr lang="en-US" altLang="zh-CN" sz="1400" dirty="0"/>
              <a:t>:       49539604 </a:t>
            </a:r>
            <a:r>
              <a:rPr lang="en-US" altLang="zh-CN" sz="1400" dirty="0" err="1"/>
              <a:t>kB</a:t>
            </a:r>
            <a:r>
              <a:rPr lang="en-US" altLang="zh-CN" sz="1400" dirty="0"/>
              <a:t>		</a:t>
            </a:r>
            <a:r>
              <a:rPr lang="en-US" altLang="zh-CN" sz="1400" dirty="0">
                <a:sym typeface="Wingdings" panose="05000000000000000000" pitchFamily="2" charset="2"/>
              </a:rPr>
              <a:t></a:t>
            </a:r>
            <a:r>
              <a:rPr lang="zh-CN" altLang="en-US" sz="1400" dirty="0">
                <a:sym typeface="Wingdings" panose="05000000000000000000" pitchFamily="2" charset="2"/>
              </a:rPr>
              <a:t>总内存容量</a:t>
            </a:r>
            <a:r>
              <a:rPr lang="en-US" altLang="zh-CN" sz="1400" dirty="0"/>
              <a:t>			</a:t>
            </a:r>
          </a:p>
          <a:p>
            <a:pPr marL="0" indent="0">
              <a:buNone/>
            </a:pPr>
            <a:r>
              <a:rPr lang="en-US" altLang="zh-CN" sz="1400" dirty="0" err="1"/>
              <a:t>MemFree</a:t>
            </a:r>
            <a:r>
              <a:rPr lang="en-US" altLang="zh-CN" sz="1400" dirty="0"/>
              <a:t>:        48843460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Buffers:           15856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Cached:            61140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 err="1"/>
              <a:t>SwapCached</a:t>
            </a:r>
            <a:r>
              <a:rPr lang="en-US" altLang="zh-CN" sz="1400" dirty="0"/>
              <a:t>:            0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Active:            48400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Inactive:          50288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Active(anon):      21908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Inactive(anon):        4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Active(file):      26492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Inactive(file):    50284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 err="1"/>
              <a:t>Unevictable</a:t>
            </a:r>
            <a:r>
              <a:rPr lang="en-US" altLang="zh-CN" sz="1400" dirty="0"/>
              <a:t>:           0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 err="1"/>
              <a:t>Mlocked</a:t>
            </a:r>
            <a:r>
              <a:rPr lang="en-US" altLang="zh-CN" sz="1400" dirty="0"/>
              <a:t>:               0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 err="1"/>
              <a:t>SwapTotal</a:t>
            </a:r>
            <a:r>
              <a:rPr lang="en-US" altLang="zh-CN" sz="1400" dirty="0"/>
              <a:t>:       2047992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 err="1"/>
              <a:t>SwapFree</a:t>
            </a:r>
            <a:r>
              <a:rPr lang="en-US" altLang="zh-CN" sz="1400" dirty="0"/>
              <a:t>:        2047992 </a:t>
            </a:r>
            <a:r>
              <a:rPr lang="en-US" altLang="zh-CN" sz="1400" dirty="0" err="1"/>
              <a:t>kB</a:t>
            </a:r>
            <a:endParaRPr lang="en-US" altLang="zh-CN" sz="1400" dirty="0"/>
          </a:p>
          <a:p>
            <a:pPr marL="0" indent="0">
              <a:buNone/>
            </a:pPr>
            <a:r>
              <a:rPr lang="en-US" altLang="zh-CN" sz="1400" dirty="0"/>
              <a:t>Dirty:                 4 </a:t>
            </a:r>
            <a:r>
              <a:rPr lang="en-US" altLang="zh-CN" sz="1400" dirty="0" err="1"/>
              <a:t>kB</a:t>
            </a:r>
            <a:endParaRPr lang="en-US" altLang="zh-CN" sz="14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92D6EB6-6879-44A1-BE8A-E8F36410373C}" type="datetime1">
              <a:rPr lang="zh-CN" altLang="en-US" smtClean="0"/>
              <a:t>2024/4/30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98634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任务管理器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40558" y="1477410"/>
            <a:ext cx="8580884" cy="475319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800" dirty="0" err="1"/>
              <a:t>linux</a:t>
            </a:r>
            <a:r>
              <a:rPr lang="zh-CN" altLang="en-US" sz="1800" dirty="0"/>
              <a:t>系统下通过</a:t>
            </a:r>
            <a:r>
              <a:rPr lang="en-US" altLang="zh-CN" sz="1800" dirty="0"/>
              <a:t>top</a:t>
            </a:r>
            <a:r>
              <a:rPr lang="zh-CN" altLang="en-US" sz="1800" dirty="0"/>
              <a:t>命令监控任务状态，默认是按照</a:t>
            </a:r>
            <a:r>
              <a:rPr lang="en-US" altLang="zh-CN" sz="1800" dirty="0"/>
              <a:t>CPU</a:t>
            </a:r>
            <a:r>
              <a:rPr lang="zh-CN" altLang="en-US" sz="1800" dirty="0"/>
              <a:t>占用降序排列：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05192B-EFB5-4D39-8224-D5B6B5CFC5F7}" type="datetime1">
              <a:rPr lang="zh-CN" altLang="en-US" smtClean="0"/>
              <a:t>2024/4/30</a:t>
            </a:fld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359" y="2018763"/>
            <a:ext cx="7056784" cy="388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5771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84770" y="2096654"/>
            <a:ext cx="5109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云服务体验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阿里云为例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089237" y="3205018"/>
            <a:ext cx="41508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------Linux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启动、配置云服务</a:t>
            </a:r>
          </a:p>
        </p:txBody>
      </p:sp>
    </p:spTree>
    <p:extLst>
      <p:ext uri="{BB962C8B-B14F-4D97-AF65-F5344CB8AC3E}">
        <p14:creationId xmlns:p14="http://schemas.microsoft.com/office/powerpoint/2010/main" val="14991466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34421" y="1893628"/>
            <a:ext cx="63674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1-1、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启动匹备阿里云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34421" y="2863449"/>
            <a:ext cx="64172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1-2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 阿里云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C390154-9B45-43F0-AEED-36A3D447C0A4}"/>
              </a:ext>
            </a:extLst>
          </p:cNvPr>
          <p:cNvSpPr txBox="1"/>
          <p:nvPr/>
        </p:nvSpPr>
        <p:spPr>
          <a:xfrm>
            <a:off x="1081451" y="5486400"/>
            <a:ext cx="82352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也可使用其他国内外云服务</a:t>
            </a:r>
          </a:p>
        </p:txBody>
      </p:sp>
    </p:spTree>
    <p:extLst>
      <p:ext uri="{BB962C8B-B14F-4D97-AF65-F5344CB8AC3E}">
        <p14:creationId xmlns:p14="http://schemas.microsoft.com/office/powerpoint/2010/main" val="22856091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649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启动匹备阿里云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39837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注册 阿里云</a:t>
            </a:r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0" i="0" dirty="0">
              <a:solidFill>
                <a:srgbClr val="E47911"/>
              </a:solidFill>
              <a:effectLst/>
              <a:latin typeface="Helvetica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6D96120-C989-413F-8067-2CC1AC29E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2310" y="1778000"/>
            <a:ext cx="6775917" cy="428752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4BF32554-56B1-4C24-B976-277B1B5E3431}"/>
              </a:ext>
            </a:extLst>
          </p:cNvPr>
          <p:cNvSpPr/>
          <p:nvPr/>
        </p:nvSpPr>
        <p:spPr>
          <a:xfrm>
            <a:off x="910605" y="2876836"/>
            <a:ext cx="30249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https://www.aliyun.com/</a:t>
            </a:r>
          </a:p>
        </p:txBody>
      </p:sp>
    </p:spTree>
    <p:extLst>
      <p:ext uri="{BB962C8B-B14F-4D97-AF65-F5344CB8AC3E}">
        <p14:creationId xmlns:p14="http://schemas.microsoft.com/office/powerpoint/2010/main" val="6967871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购置阿里云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4048415" cy="1331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购置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实例</a:t>
            </a:r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a. 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点击  产品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----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云服务器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ECS----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立即购买。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1221" y="4852761"/>
            <a:ext cx="4147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b.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选择实例配置创建和配置虚拟机。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1F89366-3E63-4EEF-9BB8-C050EB8CF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386" y="2906469"/>
            <a:ext cx="7338101" cy="296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2942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4048415" cy="1331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配置实例</a:t>
            </a:r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a.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在此屏幕中，你会看到供你选择</a:t>
            </a:r>
            <a:endParaRPr lang="en-US" altLang="zh-CN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的多种选项。</a:t>
            </a:r>
            <a:endParaRPr lang="en-US" altLang="zh-CN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D019205-8D99-4A2A-907A-3B04B3C39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28436"/>
            <a:ext cx="12079357" cy="533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89030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7351339" cy="1690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配置实例</a:t>
            </a:r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现在你将选择实例类型。不同实例类型对应不同的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CPU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、内存、存储和网络容量组合，让你可以为应用程序选择适当的搭配。</a:t>
            </a:r>
            <a:endParaRPr lang="en-US" altLang="zh-CN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endParaRPr lang="zh-CN" altLang="en-US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3F30F97-DB9A-404D-9443-DD0BF89A2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651" y="3406981"/>
            <a:ext cx="8855029" cy="316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630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690101"/>
            <a:ext cx="10633019" cy="971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配置实例</a:t>
            </a:r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配置操作系统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9834B5-DCFC-42C2-AE49-1F7841F610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10" y="2805662"/>
            <a:ext cx="10715069" cy="375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3751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341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启动匹阿里云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6847034" cy="8628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配置实例</a:t>
            </a:r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d.</a:t>
            </a:r>
            <a:r>
              <a:rPr lang="zh-CN" altLang="en-US" sz="1200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配置网络和安全组</a:t>
            </a:r>
            <a:endParaRPr lang="zh-CN" altLang="en-US" sz="1200" b="0" i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8F1232-E750-4EC5-B541-6BD1272C0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835" y="2052320"/>
            <a:ext cx="9184139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20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3835979" cy="97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配置实例</a:t>
            </a:r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e. </a:t>
            </a:r>
            <a:r>
              <a:rPr lang="zh-CN" altLang="en-US" dirty="0">
                <a:solidFill>
                  <a:srgbClr val="33333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配置密码</a:t>
            </a:r>
            <a:endParaRPr lang="zh-CN" altLang="en-US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14872C5-8E47-441E-BA6D-54FF4D855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1272" y="2306861"/>
            <a:ext cx="9545565" cy="3972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1792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3835979" cy="24115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配置实例</a:t>
            </a:r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f.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进入控制台，几分钟后，实例上的实例状态列将会变成“正在运行”，并且系统会显示一个公有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地址。</a:t>
            </a:r>
            <a:endParaRPr lang="en-US" altLang="zh-CN" b="0" i="0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复制 实例的公有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IP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地址，以便在步骤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中使用它通过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连接该实例。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EDCAAEE-8732-4D33-98F7-A6FECF821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21" y="957692"/>
            <a:ext cx="11659179" cy="545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7493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3835979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连接到您的实例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启动实例后，就可以通过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连接该实例。</a:t>
            </a:r>
          </a:p>
        </p:txBody>
      </p:sp>
      <p:sp>
        <p:nvSpPr>
          <p:cNvPr id="9" name="矩形 8"/>
          <p:cNvSpPr/>
          <p:nvPr/>
        </p:nvSpPr>
        <p:spPr>
          <a:xfrm>
            <a:off x="431221" y="3696163"/>
            <a:ext cx="5443106" cy="10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lphaLcPeriod"/>
            </a:pP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可以通过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CMD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命令行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连接云服务器或者下载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Putty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b="0" i="0" dirty="0" err="1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Xshell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ShellManager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等软件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macOS/Linux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可以通过自带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erminal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（终端）或其他软件连接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45E118D-A177-4A61-8947-2B7787189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660" y="1797743"/>
            <a:ext cx="6248001" cy="420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3714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3835979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连接到您的实例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启动实例后，就可以通过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连接该实例。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31221" y="3326831"/>
            <a:ext cx="17963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用户：</a:t>
            </a:r>
          </a:p>
        </p:txBody>
      </p:sp>
      <p:sp>
        <p:nvSpPr>
          <p:cNvPr id="9" name="矩形 8"/>
          <p:cNvSpPr/>
          <p:nvPr/>
        </p:nvSpPr>
        <p:spPr>
          <a:xfrm>
            <a:off x="431221" y="3696163"/>
            <a:ext cx="5443106" cy="7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b.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首先尝试用户名密码连接，默认用户名是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root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或者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-user</a:t>
            </a:r>
            <a:endParaRPr lang="zh-CN" altLang="en-US" sz="1400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78A39EF-2E38-436F-A0A0-763AA1B53BC1}"/>
              </a:ext>
            </a:extLst>
          </p:cNvPr>
          <p:cNvSpPr/>
          <p:nvPr/>
        </p:nvSpPr>
        <p:spPr>
          <a:xfrm>
            <a:off x="431221" y="4267825"/>
            <a:ext cx="6096000" cy="128907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格式为：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{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用户名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}@{instance IP address}</a:t>
            </a:r>
          </a:p>
          <a:p>
            <a:pPr>
              <a:lnSpc>
                <a:spcPct val="150000"/>
              </a:lnSpc>
            </a:pP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9B8BB31-C4F6-46B0-BA83-052BB73CF9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0000"/>
          <a:stretch/>
        </p:blipFill>
        <p:spPr>
          <a:xfrm>
            <a:off x="4367375" y="1647247"/>
            <a:ext cx="6686705" cy="165926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DDB9A57-A369-41A0-A65D-05CA2ABCD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375" y="3449945"/>
            <a:ext cx="4358640" cy="315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6602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3835979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连接到您的实例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启动实例后，就可以通过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连接该实例。</a:t>
            </a:r>
          </a:p>
        </p:txBody>
      </p:sp>
      <p:sp>
        <p:nvSpPr>
          <p:cNvPr id="9" name="矩形 8"/>
          <p:cNvSpPr/>
          <p:nvPr/>
        </p:nvSpPr>
        <p:spPr>
          <a:xfrm>
            <a:off x="431220" y="3696163"/>
            <a:ext cx="10929507" cy="1525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c.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配置密钥对：点击               ，选择“绑定密钥对”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----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“创建密钥对”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创建成功后，私钥文件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en-US" altLang="zh-CN" sz="16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XXX.pem</a:t>
            </a: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”会下载到本地</a:t>
            </a:r>
            <a:endParaRPr lang="en-US" altLang="zh-CN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600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重启云服务器后配置生效</a:t>
            </a:r>
            <a:endParaRPr lang="en-US" altLang="zh-CN" sz="1600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D2C4878-21B8-42C3-A431-C4DB8BE4C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385" y="3696163"/>
            <a:ext cx="514350" cy="5429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1DAC9A7-57F7-4F7E-BC69-403605FB27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030" y="1228436"/>
            <a:ext cx="5658772" cy="353868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25BC78F-89F2-4802-8916-B1FF2C3A6D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4000" y="4871041"/>
            <a:ext cx="7924802" cy="113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4898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3835979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连接到您的实例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启动实例后，就可以通过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连接该实例。</a:t>
            </a:r>
          </a:p>
        </p:txBody>
      </p:sp>
      <p:sp>
        <p:nvSpPr>
          <p:cNvPr id="9" name="矩形 8"/>
          <p:cNvSpPr/>
          <p:nvPr/>
        </p:nvSpPr>
        <p:spPr>
          <a:xfrm>
            <a:off x="431221" y="3429000"/>
            <a:ext cx="10929507" cy="2600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.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 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 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连接到您的实例。在本例中，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 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密钥存储在我们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上一步的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目录中，格式为：</a:t>
            </a:r>
          </a:p>
          <a:p>
            <a:pPr>
              <a:lnSpc>
                <a:spcPct val="150000"/>
              </a:lnSpc>
            </a:pPr>
            <a:r>
              <a:rPr lang="en-US" altLang="zh-CN" sz="1400" b="0" i="0" dirty="0" err="1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-</a:t>
            </a:r>
            <a:r>
              <a:rPr lang="en-US" altLang="zh-CN" sz="1400" b="0" i="0" dirty="0" err="1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{full path of your .</a:t>
            </a:r>
            <a:r>
              <a:rPr lang="en-US" altLang="zh-CN" sz="1400" b="0" i="0" dirty="0" err="1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pem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file} {</a:t>
            </a: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用户名</a:t>
            </a: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}r@{instance IP address}</a:t>
            </a:r>
          </a:p>
          <a:p>
            <a:pPr>
              <a:lnSpc>
                <a:spcPct val="150000"/>
              </a:lnSpc>
            </a:pPr>
            <a:endParaRPr lang="en-US" altLang="zh-CN" sz="1400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示例：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ssh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-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C:\Users\liboyang77\Desktop\cloud.pem root@182.92.108.57</a:t>
            </a:r>
            <a:endParaRPr lang="en-US" altLang="zh-CN" sz="1400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您会看到与以下内容类似的响应：</a:t>
            </a:r>
            <a:endParaRPr lang="en-US" altLang="zh-CN" sz="1400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The authenticity of host 'ec2-198-51-100-1.compute-1.amazonaws.com (10.254.142.33)' can't be established. RSA key fingerprint is 1f:51:ae:28:df:63:e9:d8:cf:38:5d:87:2d:7b:b8:ca:9f:f5:b1:6f. Are you sure you want to continue connecting (yes/no)?</a:t>
            </a:r>
          </a:p>
          <a:p>
            <a:r>
              <a:rPr lang="zh-CN" altLang="en-US" sz="1600" dirty="0">
                <a:solidFill>
                  <a:srgbClr val="FF0000"/>
                </a:solidFill>
              </a:rPr>
              <a:t>键入 </a:t>
            </a:r>
            <a:r>
              <a:rPr lang="en-US" altLang="zh-CN" sz="1600" dirty="0">
                <a:solidFill>
                  <a:srgbClr val="FF0000"/>
                </a:solidFill>
              </a:rPr>
              <a:t>yes </a:t>
            </a:r>
            <a:r>
              <a:rPr lang="zh-CN" altLang="en-US" sz="1600" dirty="0">
                <a:solidFill>
                  <a:srgbClr val="FF0000"/>
                </a:solidFill>
              </a:rPr>
              <a:t>并按 </a:t>
            </a:r>
            <a:r>
              <a:rPr lang="en-US" altLang="zh-CN" sz="1600" dirty="0">
                <a:solidFill>
                  <a:srgbClr val="FF0000"/>
                </a:solidFill>
              </a:rPr>
              <a:t>Enter</a:t>
            </a:r>
            <a:r>
              <a:rPr lang="zh-CN" altLang="en-US" sz="1600" dirty="0">
                <a:solidFill>
                  <a:srgbClr val="FF0000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906224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5507761" cy="136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终止您的实例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您可以通过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控制台轻松终止实例。事实上，最好终止不再使用的实例，以免继续为其付费。</a:t>
            </a:r>
          </a:p>
        </p:txBody>
      </p:sp>
      <p:sp>
        <p:nvSpPr>
          <p:cNvPr id="3" name="矩形 2"/>
          <p:cNvSpPr/>
          <p:nvPr/>
        </p:nvSpPr>
        <p:spPr>
          <a:xfrm>
            <a:off x="431221" y="3696163"/>
            <a:ext cx="5932634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AutoNum type="alphaLcPeriod"/>
            </a:pP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返回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控制台，选择您创建的实例旁边的框。</a:t>
            </a:r>
            <a:endParaRPr lang="en-US" altLang="zh-CN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然后单击操作按钮，导航至实例状态，然后单击终止。</a:t>
            </a:r>
          </a:p>
          <a:p>
            <a:pPr algn="just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1561E46-0EB8-431E-980C-4C059364B8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000"/>
          <a:stretch/>
        </p:blipFill>
        <p:spPr>
          <a:xfrm>
            <a:off x="5891974" y="2643567"/>
            <a:ext cx="6043630" cy="279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7734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5507761" cy="971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5.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终止您的实例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您可以通过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控制台轻松终止实例。</a:t>
            </a:r>
          </a:p>
        </p:txBody>
      </p:sp>
      <p:sp>
        <p:nvSpPr>
          <p:cNvPr id="3" name="矩形 2"/>
          <p:cNvSpPr/>
          <p:nvPr/>
        </p:nvSpPr>
        <p:spPr>
          <a:xfrm>
            <a:off x="431221" y="3696163"/>
            <a:ext cx="5932634" cy="14157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b.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系统会提示您确认终止，此时请选择是，请终止。</a:t>
            </a:r>
          </a:p>
          <a:p>
            <a:pPr algn="just"/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注意：完成此过程可能需要几秒钟时间。  终止实例后，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控制台上的“实例状态”会变为已终止。</a:t>
            </a:r>
          </a:p>
          <a:p>
            <a:pPr algn="just"/>
            <a:endParaRPr lang="zh-CN" altLang="en-US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C234004-806E-463F-A2B8-735276A85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120" y="2308397"/>
            <a:ext cx="5811228" cy="325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5607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1" y="1228436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550776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6.</a:t>
            </a:r>
            <a:r>
              <a:rPr lang="zh-CN" altLang="en-US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Linux</a:t>
            </a:r>
            <a:r>
              <a:rPr lang="zh-CN" altLang="en-US" dirty="0">
                <a:solidFill>
                  <a:srgbClr val="E4791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系统中体验命令</a:t>
            </a:r>
            <a:endParaRPr lang="zh-CN" altLang="en-US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4F75FDB-581A-4F52-91CE-46FC3902FC60}"/>
              </a:ext>
            </a:extLst>
          </p:cNvPr>
          <p:cNvSpPr/>
          <p:nvPr/>
        </p:nvSpPr>
        <p:spPr>
          <a:xfrm>
            <a:off x="525814" y="2634253"/>
            <a:ext cx="5932634" cy="2316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140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mkdir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新建一个以姓名全拼命名的文件夹；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cd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进如文件夹，使用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vim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在文件夹中新建“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hello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”文件；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在“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hello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”输入中输入    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echo “Hello Cloud Computing” 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ls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查看文件；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为“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hello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”文件增加执行权限；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执行“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hello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”查看结果；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lphaLcPeriod"/>
            </a:pP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rm</a:t>
            </a: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删除文件夹。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75065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0" y="1228436"/>
            <a:ext cx="6468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 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7" name="矩形 6"/>
          <p:cNvSpPr/>
          <p:nvPr/>
        </p:nvSpPr>
        <p:spPr>
          <a:xfrm>
            <a:off x="431221" y="1960303"/>
            <a:ext cx="8140124" cy="1449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在本教程中，您将了解如何使用 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阿里云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启动、配置和连接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。阿里云 </a:t>
            </a:r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是用来在云中创建和运行虚拟机（我们将这些虚拟机称为“实例”）的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Web Service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996798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0" y="1228436"/>
            <a:ext cx="6468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 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8" name="矩形 7"/>
          <p:cNvSpPr/>
          <p:nvPr/>
        </p:nvSpPr>
        <p:spPr>
          <a:xfrm>
            <a:off x="431221" y="1960303"/>
            <a:ext cx="5507761" cy="970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步骤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：进入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 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控制面板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endParaRPr lang="zh-CN" altLang="en-US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5BF73B0-A2F5-4DD8-BE04-9D3D20351DB8}"/>
              </a:ext>
            </a:extLst>
          </p:cNvPr>
          <p:cNvSpPr/>
          <p:nvPr/>
        </p:nvSpPr>
        <p:spPr>
          <a:xfrm>
            <a:off x="431220" y="2691823"/>
            <a:ext cx="5507761" cy="2050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步：创建和配置虚拟机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a.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您现在位于 阿里云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控制台。单击更换操作系统。</a:t>
            </a:r>
          </a:p>
          <a:p>
            <a:pPr algn="just">
              <a:lnSpc>
                <a:spcPct val="130000"/>
              </a:lnSpc>
            </a:pPr>
            <a:endParaRPr lang="zh-CN" altLang="en-US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endParaRPr lang="zh-CN" altLang="en-US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EA9763-803F-4A76-877C-FB3CCA9B09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083"/>
          <a:stretch/>
        </p:blipFill>
        <p:spPr>
          <a:xfrm>
            <a:off x="4257040" y="3726909"/>
            <a:ext cx="6918960" cy="3075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010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0" y="1228436"/>
            <a:ext cx="6468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 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8" name="矩形 7"/>
          <p:cNvSpPr/>
          <p:nvPr/>
        </p:nvSpPr>
        <p:spPr>
          <a:xfrm>
            <a:off x="431221" y="1960303"/>
            <a:ext cx="5507761" cy="971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步：创建和配置虚拟机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b.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将系统更换为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并重新启动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C923F7-E25B-4A3F-8FAA-E5E8C6AC9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01668"/>
            <a:ext cx="12192000" cy="246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1204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0" y="1228436"/>
            <a:ext cx="6468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 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8" name="矩形 7"/>
          <p:cNvSpPr/>
          <p:nvPr/>
        </p:nvSpPr>
        <p:spPr>
          <a:xfrm>
            <a:off x="431221" y="1960303"/>
            <a:ext cx="550776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步：连接实例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启动实例后，应管理员密码并使用阿里云自带的远程桌面（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RDP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）与之建立连接。</a:t>
            </a:r>
          </a:p>
          <a:p>
            <a:endParaRPr lang="zh-CN" altLang="en-US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6F98A99-F4EF-454B-8D11-FF7D6B756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950" y="2945520"/>
            <a:ext cx="6481029" cy="380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28843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4" y="-1"/>
            <a:ext cx="949477" cy="94947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31974" y="944151"/>
            <a:ext cx="11520000" cy="7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31220" y="1228436"/>
            <a:ext cx="6468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用 阿里云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ECS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启动 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 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虚拟机</a:t>
            </a:r>
          </a:p>
        </p:txBody>
      </p:sp>
      <p:sp>
        <p:nvSpPr>
          <p:cNvPr id="8" name="矩形 7"/>
          <p:cNvSpPr/>
          <p:nvPr/>
        </p:nvSpPr>
        <p:spPr>
          <a:xfrm>
            <a:off x="431221" y="1960303"/>
            <a:ext cx="5507761" cy="37210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 </a:t>
            </a:r>
            <a:r>
              <a:rPr lang="en-US" altLang="zh-CN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 </a:t>
            </a:r>
            <a:r>
              <a:rPr lang="zh-CN" altLang="en-US" b="0" i="0" dirty="0">
                <a:solidFill>
                  <a:srgbClr val="E47911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步：连接实例</a:t>
            </a:r>
          </a:p>
          <a:p>
            <a:endParaRPr lang="en-US" altLang="zh-CN" b="0" i="0" dirty="0">
              <a:solidFill>
                <a:srgbClr val="E47911"/>
              </a:solidFill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系统提示登录实例时，使用生成的用户名和密码连接虚拟机。</a:t>
            </a:r>
          </a:p>
          <a:p>
            <a:pPr algn="just">
              <a:lnSpc>
                <a:spcPct val="130000"/>
              </a:lnSpc>
            </a:pPr>
            <a:endParaRPr lang="zh-CN" altLang="en-US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>
              <a:lnSpc>
                <a:spcPct val="130000"/>
              </a:lnSpc>
            </a:pP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注意：完成此步骤后，您可能会收到一条警告，表明无法验证安全证书。只需选择“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yes”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（是）并继续完成连接 </a:t>
            </a:r>
            <a:r>
              <a:rPr lang="en-US" altLang="zh-CN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Windows Server </a:t>
            </a:r>
            <a:r>
              <a:rPr lang="zh-CN" altLang="en-US" b="0" i="0" dirty="0"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实例的过程</a:t>
            </a:r>
          </a:p>
          <a:p>
            <a:pPr algn="just">
              <a:lnSpc>
                <a:spcPct val="130000"/>
              </a:lnSpc>
            </a:pPr>
            <a:endParaRPr lang="zh-CN" altLang="en-US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zh-CN" altLang="en-US" b="0" i="0" dirty="0">
              <a:effectLst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709" y="2163503"/>
            <a:ext cx="5957017" cy="3259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06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380</TotalTime>
  <Words>4559</Words>
  <Application>Microsoft Office PowerPoint</Application>
  <PresentationFormat>宽屏</PresentationFormat>
  <Paragraphs>527</Paragraphs>
  <Slides>70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82" baseType="lpstr">
      <vt:lpstr>Helvetica Neue</vt:lpstr>
      <vt:lpstr>等线</vt:lpstr>
      <vt:lpstr>等线 Light</vt:lpstr>
      <vt:lpstr>华文宋体</vt:lpstr>
      <vt:lpstr>华文中宋</vt:lpstr>
      <vt:lpstr>微软雅黑</vt:lpstr>
      <vt:lpstr>Arial</vt:lpstr>
      <vt:lpstr>Courier New</vt:lpstr>
      <vt:lpstr>Helvetica</vt:lpstr>
      <vt:lpstr>Times New Roman</vt:lpstr>
      <vt:lpstr>Wingdings</vt:lpstr>
      <vt:lpstr>Office 主题​​</vt:lpstr>
      <vt:lpstr>PowerPoint 演示文稿</vt:lpstr>
      <vt:lpstr>PowerPoint 演示文稿</vt:lpstr>
      <vt:lpstr>SSH的起源与原理 </vt:lpstr>
      <vt:lpstr>SSH的认证方式</vt:lpstr>
      <vt:lpstr>SSH密钥认证的原理</vt:lpstr>
      <vt:lpstr>OpenSSH服务器</vt:lpstr>
      <vt:lpstr>OpenSSH的软件包组成</vt:lpstr>
      <vt:lpstr>OpenSSH服务的启动与停止 </vt:lpstr>
      <vt:lpstr>OpenSSH服务的配置文件 </vt:lpstr>
      <vt:lpstr>OpenSSH的典型用户登录 </vt:lpstr>
      <vt:lpstr>SSH的用户目录 </vt:lpstr>
      <vt:lpstr>基于密钥的SSH用户认证4-1 </vt:lpstr>
      <vt:lpstr>基于密钥的SSH用户认证4-2</vt:lpstr>
      <vt:lpstr>基于密钥的SSH用户认证4-3</vt:lpstr>
      <vt:lpstr>基于密钥的SSH用户认证4-4</vt:lpstr>
      <vt:lpstr>禁止root用户的SSH登录 </vt:lpstr>
      <vt:lpstr>ssh命令的基本使用</vt:lpstr>
      <vt:lpstr>sftp的使用 </vt:lpstr>
      <vt:lpstr>scp命令的使用</vt:lpstr>
      <vt:lpstr>Windows下使用SSH客户端软件</vt:lpstr>
      <vt:lpstr>Linux基本命令介绍</vt:lpstr>
      <vt:lpstr>文件路径</vt:lpstr>
      <vt:lpstr>cd</vt:lpstr>
      <vt:lpstr>pwd</vt:lpstr>
      <vt:lpstr>cat</vt:lpstr>
      <vt:lpstr>more</vt:lpstr>
      <vt:lpstr>ls</vt:lpstr>
      <vt:lpstr>mkdir</vt:lpstr>
      <vt:lpstr>rm</vt:lpstr>
      <vt:lpstr>mv</vt:lpstr>
      <vt:lpstr>cp</vt:lpstr>
      <vt:lpstr>chmod</vt:lpstr>
      <vt:lpstr>grep</vt:lpstr>
      <vt:lpstr>管道符</vt:lpstr>
      <vt:lpstr>Linux apt 命令</vt:lpstr>
      <vt:lpstr>Linux apt 命令</vt:lpstr>
      <vt:lpstr>Linux apt 命令</vt:lpstr>
      <vt:lpstr>Linux yum 命令</vt:lpstr>
      <vt:lpstr>Linux yum 命令</vt:lpstr>
      <vt:lpstr>Linux yum 命令</vt:lpstr>
      <vt:lpstr>Linux sudo命令</vt:lpstr>
      <vt:lpstr>Vi/Vim</vt:lpstr>
      <vt:lpstr>查看网络设备</vt:lpstr>
      <vt:lpstr>查看硬件信息</vt:lpstr>
      <vt:lpstr>PowerPoint 演示文稿</vt:lpstr>
      <vt:lpstr>PowerPoint 演示文稿</vt:lpstr>
      <vt:lpstr>PowerPoint 演示文稿</vt:lpstr>
      <vt:lpstr>任务管理器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 anbiao</dc:creator>
  <cp:lastModifiedBy>liboyang77</cp:lastModifiedBy>
  <cp:revision>63</cp:revision>
  <dcterms:created xsi:type="dcterms:W3CDTF">2019-08-21T10:27:23Z</dcterms:created>
  <dcterms:modified xsi:type="dcterms:W3CDTF">2024-04-30T03:37:40Z</dcterms:modified>
</cp:coreProperties>
</file>